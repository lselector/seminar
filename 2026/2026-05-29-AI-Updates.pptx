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oboto Mono"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D02B294-53EC-48EC-8A6A-4C240C36E81E}">
  <a:tblStyle styleId="{7D02B294-53EC-48EC-8A6A-4C240C36E81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e3527f847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g3e3527f847c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e4699318ee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3e4699318ee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e4699318ee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3e4699318ee_0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e3a696957e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3e3a696957e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a896012e9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a896012e9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e4699318e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3e4699318e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e3527f84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e3527f847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a89545f7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a89545f70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a8a1f0e3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g3a8a1f0e3a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a8a0d6281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a8a0d6281e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e41ef097cf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3e41ef097cf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e485310da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e485310da5_3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e40b879b3e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5" name="Google Shape;195;g3e40b879b3e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e367d4a8c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e367d4a8c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e3603654b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1" name="Google Shape;211;g3e3603654b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a880e182f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3a880e182f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e4699318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g3e4699318e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e41ef097cf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3e41ef097cf_2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4" name="Google Shape;264;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news.google.com/foryou"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chat.qwen.ai/?models=Qwen3.7-Max-Preview" TargetMode="External"/><Relationship Id="rId39" Type="http://schemas.openxmlformats.org/officeDocument/2006/relationships/hyperlink" Target="https://grok.com" TargetMode="External"/><Relationship Id="rId21" Type="http://schemas.openxmlformats.org/officeDocument/2006/relationships/hyperlink" Target="https://www.anthropic.com/news/claude-opus-4-5" TargetMode="External"/><Relationship Id="rId34" Type="http://schemas.openxmlformats.org/officeDocument/2006/relationships/hyperlink" Target="https://mimo.xiaomi.com/mimo-v2-5-pro/"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6" TargetMode="External"/><Relationship Id="rId29" Type="http://schemas.openxmlformats.org/officeDocument/2006/relationships/hyperlink" Target="https://docs.x.ai/developers/models/grok-4.20-multi-agent-beta-0309" TargetMode="External"/><Relationship Id="rId41" Type="http://schemas.openxmlformats.org/officeDocument/2006/relationships/hyperlink" Target="https://x.ai/news/grok-4-1"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huggingface.co/zai-org/GLM-5.1" TargetMode="External"/><Relationship Id="rId32" Type="http://schemas.openxmlformats.org/officeDocument/2006/relationships/hyperlink" Target="https://ernie.baidu.com/blog/posts/ernie-5.1-0508-release/" TargetMode="External"/><Relationship Id="rId37" Type="http://schemas.openxmlformats.org/officeDocument/2006/relationships/hyperlink" Target="https://openai.com/index/introducing-gpt-5-5/" TargetMode="External"/><Relationship Id="rId40" Type="http://schemas.openxmlformats.org/officeDocument/2006/relationships/hyperlink" Target="https://blog.google/products/gemini/gemini-3-flash"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platform.openai.com/docs/models/gpt-5.4" TargetMode="External"/><Relationship Id="rId28" Type="http://schemas.openxmlformats.org/officeDocument/2006/relationships/hyperlink" Target="https://www.kimi.com/blog/kimi-k2-6" TargetMode="External"/><Relationship Id="rId36" Type="http://schemas.openxmlformats.org/officeDocument/2006/relationships/hyperlink" Target="https://openai.com/index/gpt-5-5-instant"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7" TargetMode="External"/><Relationship Id="rId31" Type="http://schemas.openxmlformats.org/officeDocument/2006/relationships/hyperlink" Target="https://aistudio.google.com/app/prompts/new_chat?model=gemini-3-pro-preview"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meta.com/blog/introducing-muse-spark-msl/" TargetMode="External"/><Relationship Id="rId27" Type="http://schemas.openxmlformats.org/officeDocument/2006/relationships/hyperlink" Target="https://www.anthropic.com/news/claude-sonnet-4-6" TargetMode="External"/><Relationship Id="rId30" Type="http://schemas.openxmlformats.org/officeDocument/2006/relationships/hyperlink" Target="https://www.anthropic.com/news/claude-sonnet-4-5" TargetMode="External"/><Relationship Id="rId35" Type="http://schemas.openxmlformats.org/officeDocument/2006/relationships/hyperlink" Target="https://docs.x.ai/developers/models/grok-4.20-beta-0309-reasoning"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blog.google/innovation-and-ai/models-and-research/gemini-models/gemini-3-1-pro/" TargetMode="External"/><Relationship Id="rId33" Type="http://schemas.openxmlformats.org/officeDocument/2006/relationships/hyperlink" Target="https://developers.openai.com/api/docs/models/gpt-5.2-chat-latest" TargetMode="External"/><Relationship Id="rId38" Type="http://schemas.openxmlformats.org/officeDocument/2006/relationships/hyperlink" Target="https://www.anthropic.com/news/claude-opus-4-1"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news.google.com/foryou"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x.com/jeremyphoward/status/2057923197639840033"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echo.your_tunnel_domain_here/mcp"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walkinglabs/learn-harness-engineering"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www.reddit.com/r/ClaudeAI/comments/1s9jm0d/i_had_claude_read_every_harness_engineering_guide/"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O-PEeD7fymo"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github.com/affaan-m/ECC" TargetMode="Externa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hyperlink" Target="https://blog.cloudflare.com/claude-managed-agent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hyperlink" Target="https://www.nature.com/articles/s41586-026-10644-y"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hyperlink" Target="https://arxiv.org/abs/2605.20025" TargetMode="Externa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openai.com/index/model-disproves-discrete-geometry-conjecture/" TargetMode="External"/><Relationship Id="rId7" Type="http://schemas.openxmlformats.org/officeDocument/2006/relationships/hyperlink" Target="http://www.youtube.com/watch?v=LpXhy2iiaQ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github.com/ailuntx/Thinking-with-Visual-Primitives" TargetMode="External"/><Relationship Id="rId5" Type="http://schemas.openxmlformats.org/officeDocument/2006/relationships/hyperlink" Target="https://www.youtube.com/watch?v=Br4l9YjCyRU" TargetMode="External"/><Relationship Id="rId10" Type="http://schemas.openxmlformats.org/officeDocument/2006/relationships/image" Target="../media/image12.jpeg"/><Relationship Id="rId4" Type="http://schemas.openxmlformats.org/officeDocument/2006/relationships/hyperlink" Target="https://arxiv.org/abs/2605.20695v1" TargetMode="External"/><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hyperlink" Target="https://www.youtube.com/watch?v=M7imuqrQ6bY" TargetMode="External"/><Relationship Id="rId3" Type="http://schemas.openxmlformats.org/officeDocument/2006/relationships/hyperlink" Target="https://openspec.dev" TargetMode="External"/><Relationship Id="rId7" Type="http://schemas.openxmlformats.org/officeDocument/2006/relationships/hyperlink" Target="https://arxiv.org/abs/2605.17734"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github.com/wearetechnative/awesome-openspec" TargetMode="External"/><Relationship Id="rId5" Type="http://schemas.openxmlformats.org/officeDocument/2006/relationships/hyperlink" Target="https://github.com/Fission-AI/OpenSpec" TargetMode="External"/><Relationship Id="rId4" Type="http://schemas.openxmlformats.org/officeDocument/2006/relationships/hyperlink" Target="https://openspec.pro"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s://pmc.ncbi.nlm.nih.gov/articles/PMC13089341/" TargetMode="External"/><Relationship Id="rId7"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M5xTskx4SUY" TargetMode="External"/><Relationship Id="rId5" Type="http://schemas.openxmlformats.org/officeDocument/2006/relationships/hyperlink" Target="https://www.topview.ai" TargetMode="External"/><Relationship Id="rId4" Type="http://schemas.openxmlformats.org/officeDocument/2006/relationships/hyperlink" Target="https://www.youtube.com/watch?v=Ikj7f1MSUeo"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livescience.com/technology/quantum/scientists-trained-an-ai-model-using-an-ibm-quantum-computer-and-it-answered-questions-correctly-that-the-base-model-couldnt"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metatrends.substack.com/p/ai-will-deliver-wisdom"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kilo.ai/models/inclusionai-ring-2-6-1t-free" TargetMode="External"/><Relationship Id="rId3" Type="http://schemas.openxmlformats.org/officeDocument/2006/relationships/hyperlink" Target="https://huggingface.co/inclusionAI/Ring-2.6-1T" TargetMode="External"/><Relationship Id="rId7" Type="http://schemas.openxmlformats.org/officeDocument/2006/relationships/hyperlink" Target="https://openrouter.ai/inclusionai/ring-2.6-1t:free"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ant-ling.com/en/" TargetMode="External"/><Relationship Id="rId11" Type="http://schemas.openxmlformats.org/officeDocument/2006/relationships/image" Target="../media/image18.png"/><Relationship Id="rId5" Type="http://schemas.openxmlformats.org/officeDocument/2006/relationships/hyperlink" Target="https://developer.ant-ling.com/en/docs/models/ring/" TargetMode="External"/><Relationship Id="rId10" Type="http://schemas.openxmlformats.org/officeDocument/2006/relationships/hyperlink" Target="https://www.youtube.com/watch?v=WQMvR188C9Y" TargetMode="External"/><Relationship Id="rId4" Type="http://schemas.openxmlformats.org/officeDocument/2006/relationships/hyperlink" Target="https://huggingface.co/inclusionAI" TargetMode="External"/><Relationship Id="rId9"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abs/2603.28846"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hyperlink" Target="https://www.youtube.com/watch?v=H_fQXu9vigk"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medvi.org"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hyperlink" Target="https://linkedin.com/company/medvi" TargetMode="External"/><Relationship Id="rId4" Type="http://schemas.openxmlformats.org/officeDocument/2006/relationships/hyperlink" Target="https://home.medvi.or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d81xtxGFwHg"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hyperlink" Target="http://www.youtube.com/watch?v=IDqdVZwAwjw" TargetMode="Externa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hyperlink" Target="https://finance.yahoo.com/sectors/technology/article/billionaire-block-founder-jack-dorsey-suggests-radically-reshaping-manager-roles-in-the-age-of-ai-131219450.html"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hyperlink" Target="https://layoffs.fyi" TargetMode="External"/><Relationship Id="rId7"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https://trueup.io/layoff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664158"/>
            <a:ext cx="4330200" cy="1634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Crowd-sourced "LM Arena" Leaderboard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Cohere Command A+ is open sourced</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Coding today is mostly done by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DeepSeek-V4 Pro 75% Discount is permanent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Use "</a:t>
            </a:r>
            <a:r>
              <a:rPr lang="en" sz="1500" b="1" u="sng">
                <a:solidFill>
                  <a:schemeClr val="hlink"/>
                </a:solidFill>
                <a:latin typeface="Calibri"/>
                <a:ea typeface="Calibri"/>
                <a:cs typeface="Calibri"/>
                <a:sym typeface="Calibri"/>
                <a:hlinkClick r:id="rId3"/>
              </a:rPr>
              <a:t>news.google.com/foryou</a:t>
            </a:r>
            <a:r>
              <a:rPr lang="en" sz="1500" b="1">
                <a:solidFill>
                  <a:srgbClr val="3C78D8"/>
                </a:solidFill>
                <a:latin typeface="Calibri"/>
                <a:ea typeface="Calibri"/>
                <a:cs typeface="Calibri"/>
                <a:sym typeface="Calibri"/>
              </a:rPr>
              <a: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Users are Upset about Gemini 3.5 Flash</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MCP Tunnels - Anthropic &amp; OpenAI</a:t>
            </a:r>
            <a:endParaRPr sz="15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 May 29,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6607" y="4236413"/>
            <a:ext cx="4525800" cy="711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Jack Dorsey wants to flatten org chart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Bolt CEO Ryan Breslow has Fired Entire HR Team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Jobs &amp; Layoffs</a:t>
            </a:r>
            <a:endParaRPr sz="1500" b="1">
              <a:solidFill>
                <a:srgbClr val="3C78D8"/>
              </a:solidFill>
              <a:latin typeface="Calibri"/>
              <a:ea typeface="Calibri"/>
              <a:cs typeface="Calibri"/>
              <a:sym typeface="Calibri"/>
            </a:endParaRPr>
          </a:p>
        </p:txBody>
      </p:sp>
      <p:sp>
        <p:nvSpPr>
          <p:cNvPr id="66" name="Google Shape;66;p15"/>
          <p:cNvSpPr txBox="1"/>
          <p:nvPr/>
        </p:nvSpPr>
        <p:spPr>
          <a:xfrm>
            <a:off x="4628950" y="76275"/>
            <a:ext cx="4420200" cy="7080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From prompting to directing agents.</a:t>
            </a:r>
            <a:endParaRPr sz="2000" b="1" i="1">
              <a:solidFill>
                <a:srgbClr val="FF0000"/>
              </a:solidFill>
              <a:latin typeface="Calibri"/>
              <a:ea typeface="Calibri"/>
              <a:cs typeface="Calibri"/>
              <a:sym typeface="Calibri"/>
            </a:endParaRPr>
          </a:p>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Bottleneck: from capability to trust.</a:t>
            </a:r>
            <a:endParaRPr sz="2000" b="1" i="1">
              <a:solidFill>
                <a:srgbClr val="FF0000"/>
              </a:solidFill>
              <a:latin typeface="Calibri"/>
              <a:ea typeface="Calibri"/>
              <a:cs typeface="Calibri"/>
              <a:sym typeface="Calibri"/>
            </a:endParaRPr>
          </a:p>
        </p:txBody>
      </p:sp>
      <p:sp>
        <p:nvSpPr>
          <p:cNvPr id="67" name="Google Shape;67;p15"/>
          <p:cNvSpPr txBox="1"/>
          <p:nvPr/>
        </p:nvSpPr>
        <p:spPr>
          <a:xfrm>
            <a:off x="4536607" y="898732"/>
            <a:ext cx="4525800" cy="32508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OpenSpec spec-driven development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HASP (Harnessing LLM Agents with Skill Programs)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Quantum-informed AI for Chaotic Processes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Top View Agent V2 - Video Generation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Multiverse Computing - LLM + quantum blocks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AI Will Deliver Wisdom</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Ant Group - Ring 2.6-1T Model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Robots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Quantum is Breaking Encryption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Obsidian - for Memory, RAG, MCP</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Medvi.org</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9 AI Skills to Become Rich in 2026</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Startup Solo With AI Agents - Ryan Carson</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endParaRPr sz="1500" b="1">
              <a:solidFill>
                <a:srgbClr val="3C78D8"/>
              </a:solidFill>
              <a:latin typeface="Calibri"/>
              <a:ea typeface="Calibri"/>
              <a:cs typeface="Calibri"/>
              <a:sym typeface="Calibri"/>
            </a:endParaRPr>
          </a:p>
        </p:txBody>
      </p:sp>
      <p:sp>
        <p:nvSpPr>
          <p:cNvPr id="68" name="Google Shape;68;p15"/>
          <p:cNvSpPr txBox="1"/>
          <p:nvPr/>
        </p:nvSpPr>
        <p:spPr>
          <a:xfrm>
            <a:off x="100175" y="2404508"/>
            <a:ext cx="4330200" cy="2558100"/>
          </a:xfrm>
          <a:prstGeom prst="rect">
            <a:avLst/>
          </a:prstGeom>
          <a:solidFill>
            <a:srgbClr val="D0E0E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Harness engineering - a system around the model</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Agent with Zero Hallucinations</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Hermes Runs Codex and Claude In One Agent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ECC (Everything Claude Code)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Why Google invested $40B in Anthropic</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Dr. McCoy - Compassion vs AI</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Claude Managed Agents on Cloudflare</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Google AI Co-Scientist</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AutoResearchClaw</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DeepSeek "Thinking-with-Visual-Primitives" paper</a:t>
            </a:r>
            <a:endParaRPr sz="1500" b="1">
              <a:solidFill>
                <a:srgbClr val="3C78D8"/>
              </a:solidFill>
              <a:latin typeface="Calibri"/>
              <a:ea typeface="Calibri"/>
              <a:cs typeface="Calibri"/>
              <a:sym typeface="Calibri"/>
            </a:endParaRPr>
          </a:p>
          <a:p>
            <a:pPr marL="228600" marR="0" lvl="0" indent="-209550" algn="l" rtl="0">
              <a:lnSpc>
                <a:spcPct val="100000"/>
              </a:lnSpc>
              <a:spcBef>
                <a:spcPts val="0"/>
              </a:spcBef>
              <a:spcAft>
                <a:spcPts val="0"/>
              </a:spcAft>
              <a:buClr>
                <a:srgbClr val="3C78D8"/>
              </a:buClr>
              <a:buSzPts val="1500"/>
              <a:buFont typeface="Calibri"/>
              <a:buChar char="●"/>
            </a:pPr>
            <a:r>
              <a:rPr lang="en" sz="1500" b="1">
                <a:solidFill>
                  <a:srgbClr val="3C78D8"/>
                </a:solidFill>
                <a:latin typeface="Calibri"/>
                <a:ea typeface="Calibri"/>
                <a:cs typeface="Calibri"/>
                <a:sym typeface="Calibri"/>
              </a:rPr>
              <a:t>OpenAI Model solves 80y old math problem</a:t>
            </a:r>
            <a:endParaRPr sz="15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8" name="Google Shape;78;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May 17</a:t>
            </a:r>
            <a:endParaRPr sz="1000">
              <a:latin typeface="Calibri"/>
              <a:ea typeface="Calibri"/>
              <a:cs typeface="Calibri"/>
              <a:sym typeface="Calibri"/>
            </a:endParaRPr>
          </a:p>
        </p:txBody>
      </p:sp>
      <p:sp>
        <p:nvSpPr>
          <p:cNvPr id="79" name="Google Shape;79;p16"/>
          <p:cNvSpPr txBox="1"/>
          <p:nvPr/>
        </p:nvSpPr>
        <p:spPr>
          <a:xfrm>
            <a:off x="6978275" y="551325"/>
            <a:ext cx="2114400" cy="124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Baidu Ernie-5.1 - 800B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Meta muse-spark  30B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solidFill>
                  <a:schemeClr val="dk1"/>
                </a:solidFill>
                <a:latin typeface="Calibri"/>
                <a:ea typeface="Calibri"/>
                <a:cs typeface="Calibri"/>
                <a:sym typeface="Calibri"/>
              </a:rPr>
              <a:t>ByteDance </a:t>
            </a:r>
            <a:r>
              <a:rPr lang="en" sz="1000">
                <a:latin typeface="Calibri"/>
                <a:ea typeface="Calibri"/>
                <a:cs typeface="Calibri"/>
                <a:sym typeface="Calibri"/>
              </a:rPr>
              <a:t>dola-seed-2.0-pro 400B  </a:t>
            </a:r>
            <a:endParaRPr sz="1000">
              <a:latin typeface="Calibri"/>
              <a:ea typeface="Calibri"/>
              <a:cs typeface="Calibri"/>
              <a:sym typeface="Calibri"/>
            </a:endParaRPr>
          </a:p>
        </p:txBody>
      </p:sp>
      <p:graphicFrame>
        <p:nvGraphicFramePr>
          <p:cNvPr id="80" name="Google Shape;80;p16"/>
          <p:cNvGraphicFramePr/>
          <p:nvPr/>
        </p:nvGraphicFramePr>
        <p:xfrm>
          <a:off x="5742420" y="430065"/>
          <a:ext cx="3000000" cy="3000000"/>
        </p:xfrm>
        <a:graphic>
          <a:graphicData uri="http://schemas.openxmlformats.org/drawingml/2006/table">
            <a:tbl>
              <a:tblPr>
                <a:noFill/>
                <a:tableStyleId>{7D02B294-53EC-48EC-8A6A-4C240C36E81E}</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1" name="Google Shape;81;p16"/>
          <p:cNvSpPr txBox="1"/>
          <p:nvPr/>
        </p:nvSpPr>
        <p:spPr>
          <a:xfrm>
            <a:off x="5404475" y="1189675"/>
            <a:ext cx="14832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000">
                <a:solidFill>
                  <a:srgbClr val="3C78D8"/>
                </a:solidFill>
                <a:latin typeface="Calibri"/>
                <a:ea typeface="Calibri"/>
                <a:cs typeface="Calibri"/>
                <a:sym typeface="Calibri"/>
              </a:rPr>
              <a:t>deepseek-v4-pro-thinking</a:t>
            </a:r>
            <a:endParaRPr sz="1000">
              <a:solidFill>
                <a:srgbClr val="3C78D8"/>
              </a:solidFill>
              <a:latin typeface="Calibri"/>
              <a:ea typeface="Calibri"/>
              <a:cs typeface="Calibri"/>
              <a:sym typeface="Calibri"/>
            </a:endParaRPr>
          </a:p>
          <a:p>
            <a:pPr marL="0" marR="0" lvl="0" indent="0" algn="l" rtl="0">
              <a:lnSpc>
                <a:spcPct val="100000"/>
              </a:lnSpc>
              <a:spcBef>
                <a:spcPts val="0"/>
              </a:spcBef>
              <a:spcAft>
                <a:spcPts val="0"/>
              </a:spcAft>
              <a:buNone/>
            </a:pPr>
            <a:r>
              <a:rPr lang="en" sz="1000">
                <a:solidFill>
                  <a:srgbClr val="3C78D8"/>
                </a:solidFill>
                <a:latin typeface="Calibri"/>
                <a:ea typeface="Calibri"/>
                <a:cs typeface="Calibri"/>
                <a:sym typeface="Calibri"/>
              </a:rPr>
              <a:t>Qwen-3.6-plus</a:t>
            </a:r>
            <a:br>
              <a:rPr lang="en" sz="1000">
                <a:latin typeface="Calibri"/>
                <a:ea typeface="Calibri"/>
                <a:cs typeface="Calibri"/>
                <a:sym typeface="Calibri"/>
              </a:rPr>
            </a:br>
            <a:r>
              <a:rPr lang="en" sz="1000">
                <a:latin typeface="Calibri"/>
                <a:ea typeface="Calibri"/>
                <a:cs typeface="Calibri"/>
                <a:sym typeface="Calibri"/>
              </a:rPr>
              <a:t>is on 36th place </a:t>
            </a:r>
            <a:endParaRPr sz="1000">
              <a:latin typeface="Calibri"/>
              <a:ea typeface="Calibri"/>
              <a:cs typeface="Calibri"/>
              <a:sym typeface="Calibri"/>
            </a:endParaRPr>
          </a:p>
        </p:txBody>
      </p:sp>
      <p:graphicFrame>
        <p:nvGraphicFramePr>
          <p:cNvPr id="82" name="Google Shape;82;p16"/>
          <p:cNvGraphicFramePr/>
          <p:nvPr/>
        </p:nvGraphicFramePr>
        <p:xfrm>
          <a:off x="2942150" y="715825"/>
          <a:ext cx="3000000" cy="3000000"/>
        </p:xfrm>
        <a:graphic>
          <a:graphicData uri="http://schemas.openxmlformats.org/drawingml/2006/table">
            <a:tbl>
              <a:tblPr>
                <a:noFill/>
                <a:tableStyleId>{7D02B294-53EC-48EC-8A6A-4C240C36E81E}</a:tableStyleId>
              </a:tblPr>
              <a:tblGrid>
                <a:gridCol w="27622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kimi-k2.6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ernie-5.1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claude-sonnet-4-5-20250929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claude-opus-4-1-20250805-thinking-16k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3" name="Google Shape;83;p16"/>
          <p:cNvGraphicFramePr/>
          <p:nvPr/>
        </p:nvGraphicFramePr>
        <p:xfrm>
          <a:off x="202835" y="715825"/>
          <a:ext cx="3000000" cy="3000000"/>
        </p:xfrm>
        <a:graphic>
          <a:graphicData uri="http://schemas.openxmlformats.org/drawingml/2006/table">
            <a:tbl>
              <a:tblPr>
                <a:noFill/>
                <a:tableStyleId>{7D02B294-53EC-48EC-8A6A-4C240C36E81E}</a:tableStyleId>
              </a:tblPr>
              <a:tblGrid>
                <a:gridCol w="276225">
                  <a:extLst>
                    <a:ext uri="{9D8B030D-6E8A-4147-A177-3AD203B41FA5}">
                      <a16:colId xmlns:a16="http://schemas.microsoft.com/office/drawing/2014/main" val="20000"/>
                    </a:ext>
                  </a:extLst>
                </a:gridCol>
                <a:gridCol w="1724025">
                  <a:extLst>
                    <a:ext uri="{9D8B030D-6E8A-4147-A177-3AD203B41FA5}">
                      <a16:colId xmlns:a16="http://schemas.microsoft.com/office/drawing/2014/main" val="20001"/>
                    </a:ext>
                  </a:extLst>
                </a:gridCol>
                <a:gridCol w="295275">
                  <a:extLst>
                    <a:ext uri="{9D8B030D-6E8A-4147-A177-3AD203B41FA5}">
                      <a16:colId xmlns:a16="http://schemas.microsoft.com/office/drawing/2014/main" val="20002"/>
                    </a:ext>
                  </a:extLst>
                </a:gridCol>
              </a:tblGrid>
              <a:tr h="133350">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qwen3.7-max-preview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ernie-5.1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33350">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33350">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33350">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33350">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grok-4.1-thinking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33350">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p:nvPr/>
        </p:nvSpPr>
        <p:spPr>
          <a:xfrm>
            <a:off x="81775" y="3360935"/>
            <a:ext cx="44259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Stay Informed:</a:t>
            </a:r>
            <a:r>
              <a:rPr lang="en" sz="1200">
                <a:solidFill>
                  <a:schemeClr val="dk1"/>
                </a:solidFill>
                <a:latin typeface="Calibri"/>
                <a:ea typeface="Calibri"/>
                <a:cs typeface="Calibri"/>
                <a:sym typeface="Calibri"/>
              </a:rPr>
              <a:t> add this as favorite in your browser. Enjoy!</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a:t>
            </a:r>
            <a:r>
              <a:rPr lang="en" sz="1200" u="sng">
                <a:solidFill>
                  <a:schemeClr val="hlink"/>
                </a:solidFill>
                <a:latin typeface="Calibri"/>
                <a:ea typeface="Calibri"/>
                <a:cs typeface="Calibri"/>
                <a:sym typeface="Calibri"/>
                <a:hlinkClick r:id="rId3"/>
              </a:rPr>
              <a:t>https://news.google.com/foryou</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89" name="Google Shape;89;p1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90" name="Google Shape;90;p17"/>
          <p:cNvSpPr txBox="1"/>
          <p:nvPr/>
        </p:nvSpPr>
        <p:spPr>
          <a:xfrm>
            <a:off x="81775" y="474037"/>
            <a:ext cx="4425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Cohere Command A+ is open sourced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218 Bln params Sparse MoE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runs on 2 H100s GPUs</a:t>
            </a:r>
            <a:endParaRPr sz="1200">
              <a:solidFill>
                <a:schemeClr val="dk1"/>
              </a:solidFill>
              <a:latin typeface="Calibri"/>
              <a:ea typeface="Calibri"/>
              <a:cs typeface="Calibri"/>
              <a:sym typeface="Calibri"/>
            </a:endParaRPr>
          </a:p>
        </p:txBody>
      </p:sp>
      <p:sp>
        <p:nvSpPr>
          <p:cNvPr id="91" name="Google Shape;91;p17"/>
          <p:cNvSpPr txBox="1"/>
          <p:nvPr/>
        </p:nvSpPr>
        <p:spPr>
          <a:xfrm>
            <a:off x="81775" y="1128538"/>
            <a:ext cx="44259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Coding today is mostly done by AI</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says 75% of its new code is now AI-generated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- 90%</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Meta mandated 75% for most of their code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Amazon has rolled out Claude Code to every corporate employee through AWS Bedrock.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Boris Cherny's thesis is that the engineer of the future is a "builder" - someone who decides what to make and directs AI to make it, rather than writing it out themselves</a:t>
            </a:r>
            <a:endParaRPr sz="1200">
              <a:solidFill>
                <a:schemeClr val="dk1"/>
              </a:solidFill>
              <a:latin typeface="Calibri"/>
              <a:ea typeface="Calibri"/>
              <a:cs typeface="Calibri"/>
              <a:sym typeface="Calibri"/>
            </a:endParaRPr>
          </a:p>
        </p:txBody>
      </p:sp>
      <p:sp>
        <p:nvSpPr>
          <p:cNvPr id="92" name="Google Shape;92;p17"/>
          <p:cNvSpPr txBox="1"/>
          <p:nvPr/>
        </p:nvSpPr>
        <p:spPr>
          <a:xfrm>
            <a:off x="81775" y="2891238"/>
            <a:ext cx="44259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DeepSeek-V4 Pro 75% Discount is permanent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$0.43 / $0.87 in/out per 1M tokens - x10 cheaper than US models</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98" name="Google Shape;98;p18"/>
          <p:cNvSpPr txBox="1"/>
          <p:nvPr/>
        </p:nvSpPr>
        <p:spPr>
          <a:xfrm>
            <a:off x="81775" y="478751"/>
            <a:ext cx="44259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Users are Upset about Gemini 3.5 Flash</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https://x.com/jeremyphoward/status/2057923197639840033</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intelligence and speed is awesome. Absolutely amazing. It's incredible for example with RLM type tasks, full autonomy, swarms with critics.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But it's been trained to max evals. It goes off and does random crap</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It's not very useful in cooperative/iterative settings, where I want it to work with me, not for 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 want to interactively experiment. I don't want it to go off and decide to do everything for me. I want to work iteratively.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My work always involves me building a deeper understanding of the problem space I'm working in through iterative development and experimentation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tries to be "smart" about what you want instead of just executing the task; super frustrating when you need predictable outputs for production stuff. feels like they optimized for demo wow factor over actual usefulness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 think this is the natural consequence of evals that reward 'helpfulness' through proxy metrics. </a:t>
            </a:r>
            <a:r>
              <a:rPr lang="en" sz="1200" b="1">
                <a:solidFill>
                  <a:srgbClr val="FF0000"/>
                </a:solidFill>
                <a:latin typeface="Calibri"/>
                <a:ea typeface="Calibri"/>
                <a:cs typeface="Calibri"/>
                <a:sym typeface="Calibri"/>
              </a:rPr>
              <a:t>The model learned that doing extra stuff correlates with higher scores, so it generalizes that pattern everywhere. Annoying as hell but makes perfect sense</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MCP Tunnels</a:t>
            </a:r>
            <a:endParaRPr sz="2000" b="1">
              <a:solidFill>
                <a:schemeClr val="dk1"/>
              </a:solidFill>
              <a:latin typeface="Calibri"/>
              <a:ea typeface="Calibri"/>
              <a:cs typeface="Calibri"/>
              <a:sym typeface="Calibri"/>
            </a:endParaRPr>
          </a:p>
        </p:txBody>
      </p:sp>
      <p:sp>
        <p:nvSpPr>
          <p:cNvPr id="104" name="Google Shape;104;p19"/>
          <p:cNvSpPr txBox="1"/>
          <p:nvPr/>
        </p:nvSpPr>
        <p:spPr>
          <a:xfrm>
            <a:off x="81775" y="402551"/>
            <a:ext cx="44259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MCP Tunnels</a:t>
            </a:r>
            <a:r>
              <a:rPr lang="en" sz="1100">
                <a:solidFill>
                  <a:schemeClr val="dk1"/>
                </a:solidFill>
                <a:latin typeface="Calibri"/>
                <a:ea typeface="Calibri"/>
                <a:cs typeface="Calibri"/>
                <a:sym typeface="Calibri"/>
              </a:rPr>
              <a:t> (Anthropic in May 2026)</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a part of claude managed agents release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Claude Managed Agents run on Anthropic infrastructure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Suppose you have a local MCP server. How external managed agents can access internal MCP server?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3C78D8"/>
                </a:solidFill>
                <a:latin typeface="Calibri"/>
                <a:ea typeface="Calibri"/>
                <a:cs typeface="Calibri"/>
                <a:sym typeface="Calibri"/>
              </a:rPr>
              <a:t>Instead of opening inbound firewall ports, organization can establish a single outbound, encrypted mTLS connection to Anthropic's infrastructure.</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This way the credentials stay inside. The external managed agent never handles auth tokens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Both Anthropic and OpenAI now offer this capability.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feature is currently in research preview</a:t>
            </a:r>
            <a:endParaRPr sz="1100">
              <a:solidFill>
                <a:schemeClr val="dk1"/>
              </a:solidFill>
              <a:latin typeface="Calibri"/>
              <a:ea typeface="Calibri"/>
              <a:cs typeface="Calibri"/>
              <a:sym typeface="Calibri"/>
            </a:endParaRPr>
          </a:p>
        </p:txBody>
      </p:sp>
      <p:sp>
        <p:nvSpPr>
          <p:cNvPr id="105" name="Google Shape;105;p19"/>
          <p:cNvSpPr txBox="1"/>
          <p:nvPr/>
        </p:nvSpPr>
        <p:spPr>
          <a:xfrm>
            <a:off x="4649525" y="228775"/>
            <a:ext cx="3599100" cy="140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a:solidFill>
                  <a:srgbClr val="6AA84F"/>
                </a:solidFill>
                <a:latin typeface="Roboto Mono"/>
                <a:ea typeface="Roboto Mono"/>
                <a:cs typeface="Roboto Mono"/>
                <a:sym typeface="Roboto Mono"/>
              </a:rPr>
              <a:t># server.py</a:t>
            </a:r>
            <a:endParaRPr sz="900">
              <a:solidFill>
                <a:srgbClr val="6AA84F"/>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from fastmcp import FastMCP</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mcp = FastMCP("echo-server")</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@mcp.tool()</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def hello(name: str) -&gt; str:</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return f"Hello, {name}!"</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if __name__ == "__main__":</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mcp.run(transport="streamable-http", port=8000)</a:t>
            </a:r>
            <a:endParaRPr sz="900">
              <a:solidFill>
                <a:srgbClr val="3C78D8"/>
              </a:solidFill>
              <a:latin typeface="Roboto Mono"/>
              <a:ea typeface="Roboto Mono"/>
              <a:cs typeface="Roboto Mono"/>
              <a:sym typeface="Roboto Mono"/>
            </a:endParaRPr>
          </a:p>
        </p:txBody>
      </p:sp>
      <p:sp>
        <p:nvSpPr>
          <p:cNvPr id="106" name="Google Shape;106;p19"/>
          <p:cNvSpPr txBox="1"/>
          <p:nvPr/>
        </p:nvSpPr>
        <p:spPr>
          <a:xfrm>
            <a:off x="4649525" y="1704725"/>
            <a:ext cx="4425900" cy="306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import anthropic</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client = anthropic.Anthropic()</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response = client.beta.messages.create(</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model="claude-opus-4-7",</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max_tokens=1000,</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messages=[{</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"role": "user", </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"content": "Use the hello tool to greet tunnel."</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mcp_servers=[{</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"type": "url",</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"url": "</a:t>
            </a:r>
            <a:r>
              <a:rPr lang="en" sz="900" u="sng">
                <a:solidFill>
                  <a:schemeClr val="hlink"/>
                </a:solidFill>
                <a:latin typeface="Roboto Mono"/>
                <a:ea typeface="Roboto Mono"/>
                <a:cs typeface="Roboto Mono"/>
                <a:sym typeface="Roboto Mono"/>
                <a:hlinkClick r:id="rId3"/>
              </a:rPr>
              <a:t>https://echo.YOUR_TUNNEL_DOMAIN_HERE/mcp</a:t>
            </a:r>
            <a:r>
              <a:rPr lang="en" sz="900">
                <a:solidFill>
                  <a:srgbClr val="3C78D8"/>
                </a:solidFill>
                <a:latin typeface="Roboto Mono"/>
                <a:ea typeface="Roboto Mono"/>
                <a:cs typeface="Roboto Mono"/>
                <a:sym typeface="Roboto Mono"/>
              </a:rPr>
              <a:t>",</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"name": "echo",</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tools=[{"type": "mcp_toolset", </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"mcp_server_name": "echo"}],</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    betas=["mcp-client-2025-11-20"],</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a:t>
            </a: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endParaRPr sz="900">
              <a:solidFill>
                <a:srgbClr val="3C78D8"/>
              </a:solidFill>
              <a:latin typeface="Roboto Mono"/>
              <a:ea typeface="Roboto Mono"/>
              <a:cs typeface="Roboto Mono"/>
              <a:sym typeface="Roboto Mono"/>
            </a:endParaRPr>
          </a:p>
          <a:p>
            <a:pPr marL="0" marR="0" lvl="0" indent="0" algn="l" rtl="0">
              <a:lnSpc>
                <a:spcPct val="100000"/>
              </a:lnSpc>
              <a:spcBef>
                <a:spcPts val="0"/>
              </a:spcBef>
              <a:spcAft>
                <a:spcPts val="0"/>
              </a:spcAft>
              <a:buNone/>
            </a:pPr>
            <a:r>
              <a:rPr lang="en" sz="900">
                <a:solidFill>
                  <a:srgbClr val="3C78D8"/>
                </a:solidFill>
                <a:latin typeface="Roboto Mono"/>
                <a:ea typeface="Roboto Mono"/>
                <a:cs typeface="Roboto Mono"/>
                <a:sym typeface="Roboto Mono"/>
              </a:rPr>
              <a:t>print(response)</a:t>
            </a:r>
            <a:endParaRPr sz="900">
              <a:solidFill>
                <a:srgbClr val="3C78D8"/>
              </a:solidFill>
              <a:latin typeface="Roboto Mono"/>
              <a:ea typeface="Roboto Mono"/>
              <a:cs typeface="Roboto Mono"/>
              <a:sym typeface="Roboto Mono"/>
            </a:endParaRPr>
          </a:p>
        </p:txBody>
      </p:sp>
      <p:sp>
        <p:nvSpPr>
          <p:cNvPr id="107" name="Google Shape;107;p19"/>
          <p:cNvSpPr txBox="1"/>
          <p:nvPr/>
        </p:nvSpPr>
        <p:spPr>
          <a:xfrm>
            <a:off x="81775" y="3145300"/>
            <a:ext cx="44259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code on the right shows simple example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a:t>
            </a:r>
            <a:r>
              <a:rPr lang="en" sz="1100" b="1">
                <a:solidFill>
                  <a:srgbClr val="3C78D8"/>
                </a:solidFill>
                <a:latin typeface="Calibri"/>
                <a:ea typeface="Calibri"/>
                <a:cs typeface="Calibri"/>
                <a:sym typeface="Calibri"/>
              </a:rPr>
              <a:t>server.py</a:t>
            </a:r>
            <a:r>
              <a:rPr lang="en" sz="1100">
                <a:solidFill>
                  <a:schemeClr val="dk1"/>
                </a:solidFill>
                <a:latin typeface="Calibri"/>
                <a:ea typeface="Calibri"/>
                <a:cs typeface="Calibri"/>
                <a:sym typeface="Calibri"/>
              </a:rPr>
              <a:t> runs inside your private network on port 8000</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b="1">
                <a:solidFill>
                  <a:srgbClr val="FF0000"/>
                </a:solidFill>
                <a:latin typeface="Calibri"/>
                <a:ea typeface="Calibri"/>
                <a:cs typeface="Calibri"/>
                <a:sym typeface="Calibri"/>
              </a:rPr>
              <a:t>cloudflared (the tunnel agent) </a:t>
            </a:r>
            <a:r>
              <a:rPr lang="en" sz="1100">
                <a:solidFill>
                  <a:schemeClr val="dk1"/>
                </a:solidFill>
                <a:latin typeface="Calibri"/>
                <a:ea typeface="Calibri"/>
                <a:cs typeface="Calibri"/>
                <a:sym typeface="Calibri"/>
              </a:rPr>
              <a:t>creates an </a:t>
            </a:r>
            <a:r>
              <a:rPr lang="en" sz="1100" b="1">
                <a:solidFill>
                  <a:srgbClr val="3C78D8"/>
                </a:solidFill>
                <a:latin typeface="Calibri"/>
                <a:ea typeface="Calibri"/>
                <a:cs typeface="Calibri"/>
                <a:sym typeface="Calibri"/>
              </a:rPr>
              <a:t>outbound-only encrypted connection to Anthropic's edge, exposing your server at echo.YOUR_TUNNEL_DOMAIN_HERE</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Messages API call passes that tunnel URL in mcp_servers, and Claude invokes your hello tool over the tunnel</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You create your tunnel and get your YOUR_TUNNEL_DOMAIN_HERE value from the Claude Console &gt; MCP Tunnels section.</a:t>
            </a:r>
            <a:endParaRPr sz="1100">
              <a:solidFill>
                <a:schemeClr val="dk1"/>
              </a:solidFill>
              <a:latin typeface="Calibri"/>
              <a:ea typeface="Calibri"/>
              <a:cs typeface="Calibri"/>
              <a:sym typeface="Calibri"/>
            </a:endParaRPr>
          </a:p>
        </p:txBody>
      </p:sp>
      <p:sp>
        <p:nvSpPr>
          <p:cNvPr id="108" name="Google Shape;108;p19"/>
          <p:cNvSpPr txBox="1"/>
          <p:nvPr/>
        </p:nvSpPr>
        <p:spPr>
          <a:xfrm>
            <a:off x="81775" y="2512675"/>
            <a:ext cx="4425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6AA84F"/>
              </a:buClr>
              <a:buSzPts val="900"/>
              <a:buFont typeface="Roboto Mono"/>
              <a:buChar char="●"/>
            </a:pPr>
            <a:r>
              <a:rPr lang="en" sz="900">
                <a:solidFill>
                  <a:srgbClr val="6AA84F"/>
                </a:solidFill>
                <a:latin typeface="Roboto Mono"/>
                <a:ea typeface="Roboto Mono"/>
                <a:cs typeface="Roboto Mono"/>
                <a:sym typeface="Roboto Mono"/>
              </a:rPr>
              <a:t># Install cloudflared on macOS</a:t>
            </a:r>
            <a:endParaRPr sz="900">
              <a:solidFill>
                <a:srgbClr val="6AA84F"/>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brew install cloudflared</a:t>
            </a:r>
            <a:endParaRPr sz="900">
              <a:solidFill>
                <a:srgbClr val="3C78D8"/>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6AA84F"/>
              </a:buClr>
              <a:buSzPts val="900"/>
              <a:buFont typeface="Roboto Mono"/>
              <a:buChar char="●"/>
            </a:pPr>
            <a:r>
              <a:rPr lang="en" sz="900">
                <a:solidFill>
                  <a:srgbClr val="6AA84F"/>
                </a:solidFill>
                <a:latin typeface="Roboto Mono"/>
                <a:ea typeface="Roboto Mono"/>
                <a:cs typeface="Roboto Mono"/>
                <a:sym typeface="Roboto Mono"/>
              </a:rPr>
              <a:t># Start a quick tunnel pointing at your local MCP server</a:t>
            </a:r>
            <a:endParaRPr sz="900">
              <a:solidFill>
                <a:srgbClr val="6AA84F"/>
              </a:solidFill>
              <a:latin typeface="Roboto Mono"/>
              <a:ea typeface="Roboto Mono"/>
              <a:cs typeface="Roboto Mono"/>
              <a:sym typeface="Roboto Mono"/>
            </a:endParaRPr>
          </a:p>
          <a:p>
            <a:pPr marL="171450" marR="0" lvl="0" indent="-114300" algn="l" rtl="0">
              <a:lnSpc>
                <a:spcPct val="100000"/>
              </a:lnSpc>
              <a:spcBef>
                <a:spcPts val="0"/>
              </a:spcBef>
              <a:spcAft>
                <a:spcPts val="0"/>
              </a:spcAft>
              <a:buClr>
                <a:srgbClr val="3C78D8"/>
              </a:buClr>
              <a:buSzPts val="900"/>
              <a:buFont typeface="Roboto Mono"/>
              <a:buChar char="●"/>
            </a:pPr>
            <a:r>
              <a:rPr lang="en" sz="900">
                <a:solidFill>
                  <a:srgbClr val="3C78D8"/>
                </a:solidFill>
                <a:latin typeface="Roboto Mono"/>
                <a:ea typeface="Roboto Mono"/>
                <a:cs typeface="Roboto Mono"/>
                <a:sym typeface="Roboto Mono"/>
              </a:rPr>
              <a:t>cloudflared tunnel --url http://localhost:8000</a:t>
            </a:r>
            <a:endParaRPr sz="900">
              <a:solidFill>
                <a:srgbClr val="3C78D8"/>
              </a:solidFill>
              <a:latin typeface="Roboto Mono"/>
              <a:ea typeface="Roboto Mono"/>
              <a:cs typeface="Roboto Mono"/>
              <a:sym typeface="Roboto Mon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6.83K subscribers, 288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14" name="Google Shape;114;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p:nvPr/>
        </p:nvSpPr>
        <p:spPr>
          <a:xfrm>
            <a:off x="81775" y="451975"/>
            <a:ext cx="4483200" cy="371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Harness engineering - a system around the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Tools, constraints, feedback loops, and interfaces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Instead of obsessing over the perfect prompt, focus on how the agent operates over time: what it’s allowed to do, how it checks its work, and how failures are caught and corrected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https://github.com/walkinglabs/learn-harness-engineering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practical harness usually includes: </a:t>
            </a:r>
            <a:endParaRPr sz="1200">
              <a:solidFill>
                <a:schemeClr val="dk1"/>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clear task specs and guides;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a tool layer (files, VCS, linters, CI, external APIs);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state and memory (task lists, scratchpads, logs);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evaluation (tests, secondary model, or human-in-the-loop); </a:t>
            </a:r>
            <a:endParaRPr sz="1200">
              <a:solidFill>
                <a:srgbClr val="3C78D8"/>
              </a:solidFill>
              <a:latin typeface="Calibri"/>
              <a:ea typeface="Calibri"/>
              <a:cs typeface="Calibri"/>
              <a:sym typeface="Calibri"/>
            </a:endParaRPr>
          </a:p>
          <a:p>
            <a:pPr marL="45720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safety/guardrails (permissions, rate limits, rollback paths)</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 small: wrap one concrete workflow with scripted setup, deterministic checkpoints, and automated verification before and after each agent action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time the agent fails, don’t just tweak the prompt: add or refine a harness rule, tool, or check so that specific failure becomes less likely in the future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https://www.reddit.com/r/ClaudeAI/comments/1s9jm0d/i_had_claude_read_every_harness_engineering_guide/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20" name="Google Shape;120;p21"/>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21" name="Google Shape;121;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561450" y="152400"/>
            <a:ext cx="3423760" cy="483869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p:nvPr/>
        </p:nvSpPr>
        <p:spPr>
          <a:xfrm>
            <a:off x="34675" y="530700"/>
            <a:ext cx="44832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make an agent with zero Hallucinations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xxx</a:t>
            </a:r>
            <a:endParaRPr sz="1200">
              <a:solidFill>
                <a:schemeClr val="dk1"/>
              </a:solidFill>
              <a:latin typeface="Calibri"/>
              <a:ea typeface="Calibri"/>
              <a:cs typeface="Calibri"/>
              <a:sym typeface="Calibri"/>
            </a:endParaRPr>
          </a:p>
        </p:txBody>
      </p:sp>
      <p:sp>
        <p:nvSpPr>
          <p:cNvPr id="127" name="Google Shape;127;p22"/>
          <p:cNvSpPr txBox="1"/>
          <p:nvPr/>
        </p:nvSpPr>
        <p:spPr>
          <a:xfrm>
            <a:off x="81775" y="67675"/>
            <a:ext cx="4389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Agent with Zero Hallucinations</a:t>
            </a:r>
            <a:endParaRPr sz="2000" b="1">
              <a:solidFill>
                <a:schemeClr val="dk1"/>
              </a:solidFill>
              <a:latin typeface="Calibri"/>
              <a:ea typeface="Calibri"/>
              <a:cs typeface="Calibri"/>
              <a:sym typeface="Calibri"/>
            </a:endParaRPr>
          </a:p>
        </p:txBody>
      </p:sp>
      <p:sp>
        <p:nvSpPr>
          <p:cNvPr id="128" name="Google Shape;128;p22"/>
          <p:cNvSpPr txBox="1"/>
          <p:nvPr/>
        </p:nvSpPr>
        <p:spPr>
          <a:xfrm>
            <a:off x="34675" y="1370450"/>
            <a:ext cx="44832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Runs Codex and Claude In One Agent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Nemanja Mirkovic demonstrates a collaborative AI workflow by combining three top tools: Hermes Agent, Codex, and Claude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https://www.youtube.com/watch?v=O-PEeD7fymo</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29" name="Google Shape;129;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889150" y="1215325"/>
            <a:ext cx="1941501" cy="897175"/>
          </a:xfrm>
          <a:prstGeom prst="rect">
            <a:avLst/>
          </a:prstGeom>
          <a:noFill/>
          <a:ln w="9525" cap="flat" cmpd="sng">
            <a:solidFill>
              <a:srgbClr val="FF0000"/>
            </a:solidFill>
            <a:prstDash val="solid"/>
            <a:round/>
            <a:headEnd type="none" w="sm" len="sm"/>
            <a:tailEnd type="none" w="sm" len="sm"/>
          </a:ln>
        </p:spPr>
      </p:pic>
      <p:sp>
        <p:nvSpPr>
          <p:cNvPr id="130" name="Google Shape;130;p22"/>
          <p:cNvSpPr txBox="1"/>
          <p:nvPr/>
        </p:nvSpPr>
        <p:spPr>
          <a:xfrm>
            <a:off x="34675" y="2214600"/>
            <a:ext cx="4483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ECC (Everything Claude Code) </a:t>
            </a:r>
            <a:r>
              <a:rPr lang="en" sz="1200">
                <a:latin typeface="Calibri"/>
                <a:ea typeface="Calibri"/>
                <a:cs typeface="Calibri"/>
                <a:sym typeface="Calibri"/>
              </a:rPr>
              <a:t>- open-source meta-harness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Built on top of Anthropic's Claude Code coding agent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It extends Claude Code with structured skills, reusable workflows, custom slash commands, memory, and security patterns to make AI coding agents significantly more effective. The repository has earned over 182K GitHub stars and 28K forks. ECC 2.0 aims to become a universal harness compatible with other AI coding tools like Cursor and Codex, not just Claude Code. A companion tool called AgentShield scans agent configs and MCP servers for security vulnerabilities. A hosted version is available at ecc.tools starting at $19/month.</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https://github.com/affaan-m/ECC</a:t>
            </a:r>
            <a:r>
              <a:rPr lang="en" sz="1200">
                <a:solidFill>
                  <a:schemeClr val="dk1"/>
                </a:solidFill>
                <a:latin typeface="Calibri"/>
                <a:ea typeface="Calibri"/>
                <a:cs typeface="Calibri"/>
                <a:sym typeface="Calibri"/>
              </a:rPr>
              <a:t> - 192K stars</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p:nvPr/>
        </p:nvSpPr>
        <p:spPr>
          <a:xfrm>
            <a:off x="34675" y="530700"/>
            <a:ext cx="4483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Why Google invested $40B in Anthropic</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April 7 - Anthropic ARR $1B to $9B in just one year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April 20 - Amazon wires Anthropic $5B with a $20B option</a:t>
            </a:r>
            <a:r>
              <a:rPr lang="en" sz="1200">
                <a:solidFill>
                  <a:schemeClr val="dk1"/>
                </a:solidFill>
                <a:latin typeface="Calibri"/>
                <a:ea typeface="Calibri"/>
                <a:cs typeface="Calibri"/>
                <a:sym typeface="Calibri"/>
              </a:rPr>
              <a:t> on top, locking in a $100B AWS infrastructure commitment over 10 years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April 23 - OpenAI releases internal "GPT 5.5" (code-named Spud)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April 24 - Google panics and wires $10 Bln to Anthropic</a:t>
            </a:r>
            <a:r>
              <a:rPr lang="en" sz="1200" b="1">
                <a:solidFill>
                  <a:srgbClr val="FF0000"/>
                </a:solidFill>
                <a:latin typeface="Calibri"/>
                <a:ea typeface="Calibri"/>
                <a:cs typeface="Calibri"/>
                <a:sym typeface="Calibri"/>
              </a:rPr>
              <a:t> (with an agreement pledging </a:t>
            </a:r>
            <a:r>
              <a:rPr lang="en" sz="1200" b="1">
                <a:solidFill>
                  <a:srgbClr val="3C78D8"/>
                </a:solidFill>
                <a:latin typeface="Calibri"/>
                <a:ea typeface="Calibri"/>
                <a:cs typeface="Calibri"/>
                <a:sym typeface="Calibri"/>
              </a:rPr>
              <a:t>up to $30 Bln more</a:t>
            </a:r>
            <a:r>
              <a:rPr lang="en" sz="1200" b="1">
                <a:solidFill>
                  <a:srgbClr val="FF0000"/>
                </a:solidFill>
                <a:latin typeface="Calibri"/>
                <a:ea typeface="Calibri"/>
                <a:cs typeface="Calibri"/>
                <a:sym typeface="Calibri"/>
              </a:rPr>
              <a:t> in milestone payments)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China's DeepSeek drops its V4 model running on Huawei chips for pennies, completely bypassing Nvidia hardware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Google's staggering $40 billion investment in Anthropic marks a fundamental shift in the AI race, moving from simple chatbots to autonomous enterprise agents and massive infrastructure capture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was heavily pressured by the explosive rise of Claude Code, which dominates 54% of the enterprise AI coding market and runs workflows autonomously for over 30 hours.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Furthermore, Anthropic’s secret Mythos model shocked the industry by scoring 83.1% on cybersecurity benchmarks, proving capable of independently fixing decades-old infrastructure vulnerabilities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Ultimately, this deal is a proxy war over compute: Google and Amazon are leveraging Anthropic’s massive workloads on their custom TPU and Trainium chips to aggressively break Nvidia's hardware monopoly ahead of Anthropic's projected $950 billion IPO</a:t>
            </a:r>
            <a:endParaRPr sz="1200">
              <a:solidFill>
                <a:schemeClr val="dk1"/>
              </a:solidFill>
              <a:latin typeface="Calibri"/>
              <a:ea typeface="Calibri"/>
              <a:cs typeface="Calibri"/>
              <a:sym typeface="Calibri"/>
            </a:endParaRPr>
          </a:p>
        </p:txBody>
      </p:sp>
      <p:sp>
        <p:nvSpPr>
          <p:cNvPr id="136" name="Google Shape;136;p23"/>
          <p:cNvSpPr txBox="1"/>
          <p:nvPr/>
        </p:nvSpPr>
        <p:spPr>
          <a:xfrm>
            <a:off x="81775" y="67675"/>
            <a:ext cx="4389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37" name="Google Shape;137;p23"/>
          <p:cNvPicPr preferRelativeResize="0"/>
          <p:nvPr/>
        </p:nvPicPr>
        <p:blipFill>
          <a:blip r:embed="rId3">
            <a:alphaModFix/>
          </a:blip>
          <a:stretch>
            <a:fillRect/>
          </a:stretch>
        </p:blipFill>
        <p:spPr>
          <a:xfrm>
            <a:off x="4744375" y="530700"/>
            <a:ext cx="1914525" cy="2390775"/>
          </a:xfrm>
          <a:prstGeom prst="rect">
            <a:avLst/>
          </a:prstGeom>
          <a:noFill/>
          <a:ln w="9525" cap="flat" cmpd="sng">
            <a:solidFill>
              <a:srgbClr val="FF0000"/>
            </a:solidFill>
            <a:prstDash val="solid"/>
            <a:round/>
            <a:headEnd type="none" w="sm" len="sm"/>
            <a:tailEnd type="none" w="sm" len="sm"/>
          </a:ln>
        </p:spPr>
      </p:pic>
      <p:sp>
        <p:nvSpPr>
          <p:cNvPr id="138" name="Google Shape;138;p23"/>
          <p:cNvSpPr txBox="1"/>
          <p:nvPr/>
        </p:nvSpPr>
        <p:spPr>
          <a:xfrm>
            <a:off x="4996921" y="3085843"/>
            <a:ext cx="37710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closing $30 Bln funding at $900 Bln Valuation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This is the largest private AI fundraise in history.</a:t>
            </a:r>
            <a:endParaRPr sz="1200">
              <a:solidFill>
                <a:srgbClr val="000000"/>
              </a:solidFill>
              <a:latin typeface="Calibri"/>
              <a:ea typeface="Calibri"/>
              <a:cs typeface="Calibri"/>
              <a:sym typeface="Calibri"/>
            </a:endParaRPr>
          </a:p>
          <a:p>
            <a:pPr marL="171450" marR="0" lvl="0" indent="-133350" algn="l" rtl="0">
              <a:lnSpc>
                <a:spcPct val="100000"/>
              </a:lnSpc>
              <a:spcBef>
                <a:spcPts val="0"/>
              </a:spcBef>
              <a:spcAft>
                <a:spcPts val="0"/>
              </a:spcAft>
              <a:buClr>
                <a:srgbClr val="000000"/>
              </a:buClr>
              <a:buSzPts val="1200"/>
              <a:buFont typeface="Calibri"/>
              <a:buChar char="●"/>
            </a:pPr>
            <a:r>
              <a:rPr lang="en" sz="1200">
                <a:solidFill>
                  <a:srgbClr val="000000"/>
                </a:solidFill>
                <a:latin typeface="Calibri"/>
                <a:ea typeface="Calibri"/>
                <a:cs typeface="Calibri"/>
                <a:sym typeface="Calibri"/>
              </a:rPr>
              <a:t>Compare: </a:t>
            </a:r>
            <a:br>
              <a:rPr lang="en" sz="1200">
                <a:solidFill>
                  <a:srgbClr val="000000"/>
                </a:solidFill>
                <a:latin typeface="Calibri"/>
                <a:ea typeface="Calibri"/>
                <a:cs typeface="Calibri"/>
                <a:sym typeface="Calibri"/>
              </a:rPr>
            </a:br>
            <a:r>
              <a:rPr lang="en" sz="1200">
                <a:solidFill>
                  <a:srgbClr val="000000"/>
                </a:solidFill>
                <a:latin typeface="Calibri"/>
                <a:ea typeface="Calibri"/>
                <a:cs typeface="Calibri"/>
                <a:sym typeface="Calibri"/>
              </a:rPr>
              <a:t>Nvidia $5.2T, Alphabet (Google) $4.8T, Apple $4.3T, Microsoft $3.1T, Meta $1.55T, SpaceX (targeting IPO) $1.5T, OpenAI $0.85T</a:t>
            </a:r>
            <a:endParaRPr sz="1200">
              <a:solidFill>
                <a:srgbClr val="000000"/>
              </a:solidFill>
              <a:latin typeface="Calibri"/>
              <a:ea typeface="Calibri"/>
              <a:cs typeface="Calibri"/>
              <a:sym typeface="Calibri"/>
            </a:endParaRPr>
          </a:p>
        </p:txBody>
      </p:sp>
      <p:pic>
        <p:nvPicPr>
          <p:cNvPr id="139" name="Google Shape;139;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127896" y="4092143"/>
            <a:ext cx="1797125" cy="939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p:nvPr/>
        </p:nvSpPr>
        <p:spPr>
          <a:xfrm>
            <a:off x="41200" y="2450450"/>
            <a:ext cx="4483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Managed Agents on Cloudflare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Cloudflare and Anthropic have partnered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Managed Agents is a hosted service on the Anthropic platform that lets developers define and run long-horizon AI agents capable of reading files, executing code, running commands, and browsing the web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integration uses Cloudflare's global network to provide secure, isolated sandboxes for each agent session, private connectivity to internal services, and custom tool support via Cloudflare bindings like R2, D1, and KV</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describes the architecture as decoupling the "brain" (the agent loop running on Anthropic) from the "hands," the execution environment running on Cloudflare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https://blog.cloudflare.com/claude-managed-agents/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45" name="Google Shape;145;p24"/>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46" name="Google Shape;146;p24"/>
          <p:cNvPicPr preferRelativeResize="0"/>
          <p:nvPr/>
        </p:nvPicPr>
        <p:blipFill>
          <a:blip r:embed="rId4">
            <a:alphaModFix/>
          </a:blip>
          <a:stretch>
            <a:fillRect/>
          </a:stretch>
        </p:blipFill>
        <p:spPr>
          <a:xfrm>
            <a:off x="3776400" y="247700"/>
            <a:ext cx="2962275" cy="1543050"/>
          </a:xfrm>
          <a:prstGeom prst="rect">
            <a:avLst/>
          </a:prstGeom>
          <a:noFill/>
          <a:ln w="9525" cap="flat" cmpd="sng">
            <a:solidFill>
              <a:srgbClr val="FF0000"/>
            </a:solidFill>
            <a:prstDash val="solid"/>
            <a:round/>
            <a:headEnd type="none" w="sm" len="sm"/>
            <a:tailEnd type="none" w="sm" len="sm"/>
          </a:ln>
        </p:spPr>
      </p:pic>
      <p:pic>
        <p:nvPicPr>
          <p:cNvPr id="147" name="Google Shape;147;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87025" y="2669445"/>
            <a:ext cx="4047150" cy="2166317"/>
          </a:xfrm>
          <a:prstGeom prst="rect">
            <a:avLst/>
          </a:prstGeom>
          <a:noFill/>
          <a:ln w="9525" cap="flat" cmpd="sng">
            <a:solidFill>
              <a:srgbClr val="FF0000"/>
            </a:solidFill>
            <a:prstDash val="solid"/>
            <a:round/>
            <a:headEnd type="none" w="sm" len="sm"/>
            <a:tailEnd type="none" w="sm" len="sm"/>
          </a:ln>
        </p:spPr>
      </p:pic>
      <p:sp>
        <p:nvSpPr>
          <p:cNvPr id="148" name="Google Shape;148;p24"/>
          <p:cNvSpPr txBox="1"/>
          <p:nvPr/>
        </p:nvSpPr>
        <p:spPr>
          <a:xfrm>
            <a:off x="472300" y="548225"/>
            <a:ext cx="28233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a:solidFill>
                  <a:schemeClr val="dk1"/>
                </a:solidFill>
                <a:latin typeface="Calibri"/>
                <a:ea typeface="Calibri"/>
                <a:cs typeface="Calibri"/>
                <a:sym typeface="Calibri"/>
              </a:rPr>
              <a:t>"Compassion – that’s the one thing</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no machine ever had.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Maybe it’s the one thing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that keeps man ahead of them."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Dr. McCoy</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p:nvPr/>
        </p:nvSpPr>
        <p:spPr>
          <a:xfrm>
            <a:off x="81775" y="394075"/>
            <a:ext cx="44466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AI Co-Scientist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published its AI Co-Scientist research in Nature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Introducing Hypothesis Generation - a Gemini-powered tool that uses competing AI agents in "idea tournaments" to generate and rank scientific hypotheses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Inspired by AlphaGo, agents propose, critique, and refine ideas collaboratively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 one Stanford test, a Co-Scientist drug lead reduced a liver-fibrosis scarring signal by 91%</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also launched Gemini for Science, bundling Co-Scientist with AlphaEvolve and NotebookLM into a unified research toolkit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https://www.nature.com/articles/s41586-026-10644-y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54" name="Google Shape;154;p25"/>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55" name="Google Shape;155;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35325" y="298987"/>
            <a:ext cx="3540999" cy="2425175"/>
          </a:xfrm>
          <a:prstGeom prst="rect">
            <a:avLst/>
          </a:prstGeom>
          <a:noFill/>
          <a:ln w="9525" cap="flat" cmpd="sng">
            <a:solidFill>
              <a:srgbClr val="FF0000"/>
            </a:solidFill>
            <a:prstDash val="solid"/>
            <a:round/>
            <a:headEnd type="none" w="sm" len="sm"/>
            <a:tailEnd type="none" w="sm" len="sm"/>
          </a:ln>
        </p:spPr>
      </p:pic>
      <p:sp>
        <p:nvSpPr>
          <p:cNvPr id="156" name="Google Shape;156;p25"/>
          <p:cNvSpPr txBox="1"/>
          <p:nvPr/>
        </p:nvSpPr>
        <p:spPr>
          <a:xfrm>
            <a:off x="81775" y="3271425"/>
            <a:ext cx="44466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AutoResearchClaw: Self-Reinforcing Autonomous Research with Human-AI Collaboration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Open-source framework (Google, Stanford, UC Berkeley, Mea, Carnegie Mellon)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AutoResearchClaw code is hosted on GitHub, uses OpenClaw and Claw4Science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Competitors - Sakana AI's The Scientist and Aris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https://arxiv.org/abs/2605.20025</a:t>
            </a:r>
            <a:endParaRPr sz="1200">
              <a:solidFill>
                <a:schemeClr val="dk1"/>
              </a:solidFill>
              <a:latin typeface="Calibri"/>
              <a:ea typeface="Calibri"/>
              <a:cs typeface="Calibri"/>
              <a:sym typeface="Calibri"/>
            </a:endParaRPr>
          </a:p>
        </p:txBody>
      </p:sp>
      <p:pic>
        <p:nvPicPr>
          <p:cNvPr id="157" name="Google Shape;157;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35325" y="2798800"/>
            <a:ext cx="2527501" cy="2344703"/>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3" name="Google Shape;163;p26"/>
          <p:cNvSpPr txBox="1"/>
          <p:nvPr/>
        </p:nvSpPr>
        <p:spPr>
          <a:xfrm>
            <a:off x="81775" y="2484967"/>
            <a:ext cx="4483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Model solves 80y old math problem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new unreleased OpenAI reasoning model disproved a 1946 conjecture by mathematician Paul Erdős about planar unit distances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problem had stood unsolved for nearly 80 years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Top mathematicians verified the result as genuinely novel and publishable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breakthrough came by connecting discrete geometry with algebraic number theory, two fields rarely bridged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Experts say the AI didn't use exotic math, but excelled at cross-disciplinary synthesis — finding a path that human specialists could have discovered had they collaborated across fields.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https://openai.com/index/model-disproves-discrete-geometry-conjecture/</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https://arxiv.org/abs/2605.20695v1</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https://www.youtube.com/watch?v=Br4l9YjCyRU</a:t>
            </a:r>
            <a:r>
              <a:rPr lang="en" sz="900">
                <a:solidFill>
                  <a:schemeClr val="dk1"/>
                </a:solidFill>
                <a:latin typeface="Calibri"/>
                <a:ea typeface="Calibri"/>
                <a:cs typeface="Calibri"/>
                <a:sym typeface="Calibri"/>
              </a:rPr>
              <a:t> - video featuring Fields Medalist Timothy Gowers and the team</a:t>
            </a:r>
            <a:endParaRPr sz="900">
              <a:solidFill>
                <a:schemeClr val="dk1"/>
              </a:solidFill>
              <a:latin typeface="Calibri"/>
              <a:ea typeface="Calibri"/>
              <a:cs typeface="Calibri"/>
              <a:sym typeface="Calibri"/>
            </a:endParaRPr>
          </a:p>
        </p:txBody>
      </p:sp>
      <p:sp>
        <p:nvSpPr>
          <p:cNvPr id="164" name="Google Shape;164;p26"/>
          <p:cNvSpPr txBox="1"/>
          <p:nvPr/>
        </p:nvSpPr>
        <p:spPr>
          <a:xfrm>
            <a:off x="81775" y="394076"/>
            <a:ext cx="4483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"Thinking-with-Visual-Primitives" paper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https://github.com/ailuntx/Thinking-with-Visual-Primitives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Instead of describing images using text, this method allows AI to think with visual primitives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AI can seamlessly handle tasks like counting and topological reasoning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Incredibly, this system uses 90% fewer visual tokens than top commercial models, making it faster and cheaper to run while matching or beating frontier models across seven external benchmarks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http://www.youtube.com/watch?v=LpXhy2iiaQE</a:t>
            </a:r>
            <a:r>
              <a:rPr lang="en" sz="1200">
                <a:solidFill>
                  <a:schemeClr val="dk1"/>
                </a:solidFill>
                <a:latin typeface="Calibri"/>
                <a:ea typeface="Calibri"/>
                <a:cs typeface="Calibri"/>
                <a:sym typeface="Calibri"/>
              </a:rPr>
              <a:t> - video</a:t>
            </a:r>
            <a:endParaRPr sz="1200">
              <a:solidFill>
                <a:schemeClr val="dk1"/>
              </a:solidFill>
              <a:latin typeface="Calibri"/>
              <a:ea typeface="Calibri"/>
              <a:cs typeface="Calibri"/>
              <a:sym typeface="Calibri"/>
            </a:endParaRPr>
          </a:p>
        </p:txBody>
      </p:sp>
      <p:pic>
        <p:nvPicPr>
          <p:cNvPr id="165" name="Google Shape;165;p26"/>
          <p:cNvPicPr preferRelativeResize="0"/>
          <p:nvPr/>
        </p:nvPicPr>
        <p:blipFill>
          <a:blip r:embed="rId8">
            <a:alphaModFix/>
          </a:blip>
          <a:stretch>
            <a:fillRect/>
          </a:stretch>
        </p:blipFill>
        <p:spPr>
          <a:xfrm>
            <a:off x="4640827" y="2591738"/>
            <a:ext cx="1914525" cy="2390775"/>
          </a:xfrm>
          <a:prstGeom prst="rect">
            <a:avLst/>
          </a:prstGeom>
          <a:noFill/>
          <a:ln w="9525" cap="flat" cmpd="sng">
            <a:solidFill>
              <a:srgbClr val="FF0000"/>
            </a:solidFill>
            <a:prstDash val="solid"/>
            <a:round/>
            <a:headEnd type="none" w="sm" len="sm"/>
            <a:tailEnd type="none" w="sm" len="sm"/>
          </a:ln>
        </p:spPr>
      </p:pic>
      <p:pic>
        <p:nvPicPr>
          <p:cNvPr id="166" name="Google Shape;166;p26"/>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665502" y="2643663"/>
            <a:ext cx="2386659" cy="2286938"/>
          </a:xfrm>
          <a:prstGeom prst="rect">
            <a:avLst/>
          </a:prstGeom>
          <a:noFill/>
          <a:ln w="9525" cap="flat" cmpd="sng">
            <a:solidFill>
              <a:srgbClr val="FF0000"/>
            </a:solidFill>
            <a:prstDash val="solid"/>
            <a:round/>
            <a:headEnd type="none" w="sm" len="sm"/>
            <a:tailEnd type="none" w="sm" len="sm"/>
          </a:ln>
        </p:spPr>
      </p:pic>
      <p:pic>
        <p:nvPicPr>
          <p:cNvPr id="167" name="Google Shape;167;p26"/>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777925" y="509713"/>
            <a:ext cx="4274226" cy="181892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7"/>
          <p:cNvSpPr txBox="1"/>
          <p:nvPr/>
        </p:nvSpPr>
        <p:spPr>
          <a:xfrm>
            <a:off x="81775" y="511750"/>
            <a:ext cx="44172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OpenSpec spec-driven development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OpenSpec is an open-source, spec-driven development framework for AI coding assistants like Claude Code and Cursor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OpenSpec solves a core problem of preserving the intent and requirements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solves the core problem with AI-assisted coding: intent and requirements get lost across scattered chat sessions, leading to unpredictable results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OpenSpec fixes this by storing structured specification files directly in your repository, giving both developers and AI agents a shared, persistent source of truth before any code is written.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uses two folders - one for current specs and one for proposed changes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uses a simple CLI workflow to create proposals, implement them, and archive completed work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Everything is plain Markdown, checked into Git, with no API keys or external services required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https://openspec.dev</a:t>
            </a:r>
            <a:r>
              <a:rPr lang="en" sz="1200">
                <a:solidFill>
                  <a:schemeClr val="dk1"/>
                </a:solidFill>
                <a:latin typeface="Calibri"/>
                <a:ea typeface="Calibri"/>
                <a:cs typeface="Calibri"/>
                <a:sym typeface="Calibri"/>
              </a:rPr>
              <a:t> -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https://openspec.pro</a:t>
            </a:r>
            <a:r>
              <a:rPr lang="en" sz="1200">
                <a:solidFill>
                  <a:schemeClr val="dk1"/>
                </a:solidFill>
                <a:latin typeface="Calibri"/>
                <a:ea typeface="Calibri"/>
                <a:cs typeface="Calibri"/>
                <a:sym typeface="Calibri"/>
              </a:rPr>
              <a:t> -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https://github.com/Fission-AI/OpenSpec</a:t>
            </a:r>
            <a:r>
              <a:rPr lang="en" sz="1200">
                <a:solidFill>
                  <a:schemeClr val="dk1"/>
                </a:solidFill>
                <a:latin typeface="Calibri"/>
                <a:ea typeface="Calibri"/>
                <a:cs typeface="Calibri"/>
                <a:sym typeface="Calibri"/>
              </a:rPr>
              <a:t> -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https://github.com/wearetechnative/awesome-openspec</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73" name="Google Shape;173;p2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74" name="Google Shape;174;p27"/>
          <p:cNvSpPr txBox="1"/>
          <p:nvPr/>
        </p:nvSpPr>
        <p:spPr>
          <a:xfrm>
            <a:off x="4698525" y="2566525"/>
            <a:ext cx="43497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HASP (Harnessing LLM Agents with Skill Programs)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Paper by NYU and Salesforce AI - </a:t>
            </a:r>
            <a:r>
              <a:rPr lang="en" sz="1200" u="sng">
                <a:solidFill>
                  <a:schemeClr val="hlink"/>
                </a:solidFill>
                <a:latin typeface="Calibri"/>
                <a:ea typeface="Calibri"/>
                <a:cs typeface="Calibri"/>
                <a:sym typeface="Calibri"/>
                <a:hlinkClick r:id="rId7"/>
              </a:rPr>
              <a:t>https://arxiv.org/abs/2605.17734</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HASP wraps a base LLM in an external Python control harness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It converts passive textual skills into executable Program Functions (PFs) that act as strict, deterministic guardrails.</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Operating like physics' Maxwell's demon</a:t>
            </a:r>
            <a:r>
              <a:rPr lang="en" sz="1200">
                <a:latin typeface="Calibri"/>
                <a:ea typeface="Calibri"/>
                <a:cs typeface="Calibri"/>
                <a:sym typeface="Calibri"/>
              </a:rPr>
              <a:t>, the harness monitors the agent's state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When a failure-prone state is detected, the harness actively intercepts it - either overriding the action or injecting corrective context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Tests show this </a:t>
            </a:r>
            <a:r>
              <a:rPr lang="en" sz="1200" b="1">
                <a:solidFill>
                  <a:srgbClr val="FF0000"/>
                </a:solidFill>
                <a:latin typeface="Calibri"/>
                <a:ea typeface="Calibri"/>
                <a:cs typeface="Calibri"/>
                <a:sym typeface="Calibri"/>
              </a:rPr>
              <a:t>inference-time loop intervention</a:t>
            </a:r>
            <a:r>
              <a:rPr lang="en" sz="1200">
                <a:latin typeface="Calibri"/>
                <a:ea typeface="Calibri"/>
                <a:cs typeface="Calibri"/>
                <a:sym typeface="Calibri"/>
              </a:rPr>
              <a:t> </a:t>
            </a:r>
            <a:r>
              <a:rPr lang="en" sz="1200" b="1">
                <a:solidFill>
                  <a:srgbClr val="3C78D8"/>
                </a:solidFill>
                <a:latin typeface="Calibri"/>
                <a:ea typeface="Calibri"/>
                <a:cs typeface="Calibri"/>
                <a:sym typeface="Calibri"/>
              </a:rPr>
              <a:t>dramatically boosts accuracy from 31.2% to 51%</a:t>
            </a:r>
            <a:r>
              <a:rPr lang="en" sz="1200">
                <a:latin typeface="Calibri"/>
                <a:ea typeface="Calibri"/>
                <a:cs typeface="Calibri"/>
                <a:sym typeface="Calibri"/>
              </a:rPr>
              <a:t>.</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https://www.youtube.com/watch?v=M7imuqrQ6bY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p:nvPr/>
        </p:nvSpPr>
        <p:spPr>
          <a:xfrm>
            <a:off x="81775" y="511750"/>
            <a:ext cx="4349700" cy="291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Quantum-informed AI for Chaotic Processes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a:solidFill>
                  <a:srgbClr val="3C78D8"/>
                </a:solidFill>
                <a:latin typeface="Calibri"/>
                <a:ea typeface="Calibri"/>
                <a:cs typeface="Calibri"/>
                <a:sym typeface="Calibri"/>
              </a:rPr>
              <a:t>"Quantum-informed machine learning for predicting spatiotemporal chaos with practical quantum advantage"</a:t>
            </a:r>
            <a:endParaRPr sz="1200">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team at University College London has achieved a major breakthrough by </a:t>
            </a:r>
            <a:r>
              <a:rPr lang="en" sz="1200" b="1">
                <a:solidFill>
                  <a:srgbClr val="3C78D8"/>
                </a:solidFill>
                <a:latin typeface="Calibri"/>
                <a:ea typeface="Calibri"/>
                <a:cs typeface="Calibri"/>
                <a:sym typeface="Calibri"/>
              </a:rPr>
              <a:t>training AI using data processed by a quantum computer</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"quantum-informed" AI can predict highly chaotic and complex systems - such as </a:t>
            </a:r>
            <a:r>
              <a:rPr lang="en" sz="1200" b="1">
                <a:solidFill>
                  <a:srgbClr val="FF0000"/>
                </a:solidFill>
                <a:latin typeface="Calibri"/>
                <a:ea typeface="Calibri"/>
                <a:cs typeface="Calibri"/>
                <a:sym typeface="Calibri"/>
              </a:rPr>
              <a:t>weather, turbulence, and disease spread</a:t>
            </a:r>
            <a:r>
              <a:rPr lang="en" sz="1200">
                <a:solidFill>
                  <a:schemeClr val="dk1"/>
                </a:solidFill>
                <a:latin typeface="Calibri"/>
                <a:ea typeface="Calibri"/>
                <a:cs typeface="Calibri"/>
                <a:sym typeface="Calibri"/>
              </a:rPr>
              <a:t> - with roughly </a:t>
            </a:r>
            <a:r>
              <a:rPr lang="en" sz="1200" b="1">
                <a:solidFill>
                  <a:srgbClr val="3C78D8"/>
                </a:solidFill>
                <a:latin typeface="Calibri"/>
                <a:ea typeface="Calibri"/>
                <a:cs typeface="Calibri"/>
                <a:sym typeface="Calibri"/>
              </a:rPr>
              <a:t>20% greater accuracy than classical AI</a:t>
            </a:r>
            <a:r>
              <a:rPr lang="en" sz="1200">
                <a:solidFill>
                  <a:schemeClr val="dk1"/>
                </a:solidFill>
                <a:latin typeface="Calibri"/>
                <a:ea typeface="Calibri"/>
                <a:cs typeface="Calibri"/>
                <a:sym typeface="Calibri"/>
              </a:rPr>
              <a:t>, while requiring far less memory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Unlike regular models that lose accuracy over time, this system uncovers </a:t>
            </a:r>
            <a:r>
              <a:rPr lang="en" sz="1200" b="1">
                <a:solidFill>
                  <a:srgbClr val="FF0000"/>
                </a:solidFill>
                <a:latin typeface="Calibri"/>
                <a:ea typeface="Calibri"/>
                <a:cs typeface="Calibri"/>
                <a:sym typeface="Calibri"/>
              </a:rPr>
              <a:t>stable, hidden patterns within apparent randomness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This technology will revolutionize climate science, medicine, and energy grid management</a:t>
            </a:r>
            <a:endParaRPr sz="1200" b="1">
              <a:solidFill>
                <a:srgbClr val="3C78D8"/>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https://pmc.ncbi.nlm.nih.gov/articles/PMC13089341/</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4"/>
              </a:rPr>
              <a:t>https://www.youtube.com/watch?v=Ikj7f1MSUeo</a:t>
            </a:r>
            <a:r>
              <a:rPr lang="en" sz="1000">
                <a:solidFill>
                  <a:schemeClr val="dk1"/>
                </a:solidFill>
                <a:latin typeface="Calibri"/>
                <a:ea typeface="Calibri"/>
                <a:cs typeface="Calibri"/>
                <a:sym typeface="Calibri"/>
              </a:rPr>
              <a:t> - video</a:t>
            </a:r>
            <a:endParaRPr sz="1000">
              <a:solidFill>
                <a:schemeClr val="dk1"/>
              </a:solidFill>
              <a:latin typeface="Calibri"/>
              <a:ea typeface="Calibri"/>
              <a:cs typeface="Calibri"/>
              <a:sym typeface="Calibri"/>
            </a:endParaRPr>
          </a:p>
        </p:txBody>
      </p:sp>
      <p:sp>
        <p:nvSpPr>
          <p:cNvPr id="180" name="Google Shape;180;p2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1" name="Google Shape;181;p28"/>
          <p:cNvSpPr txBox="1"/>
          <p:nvPr/>
        </p:nvSpPr>
        <p:spPr>
          <a:xfrm>
            <a:off x="4698525" y="3146158"/>
            <a:ext cx="43497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Top View Agent V2 with Seedance 2.0 model from ByteDance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Generate quick, cohesive, long-form videos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https://www.topview.ai</a:t>
            </a:r>
            <a:r>
              <a:rPr lang="en" sz="1200">
                <a:latin typeface="Calibri"/>
                <a:ea typeface="Calibri"/>
                <a:cs typeface="Calibri"/>
                <a:sym typeface="Calibri"/>
              </a:rPr>
              <a:t> - monthly subscriptions ($0,$16,$44,$50)</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Top View Agent V2 collapses five distinct tools (scripts, voices, images, clips, and editing) into a single conversational interface</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Users chat with the AI agent to co-create a structured storyboard</a:t>
            </a:r>
            <a:endParaRPr sz="1200">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latin typeface="Calibri"/>
                <a:ea typeface="Calibri"/>
                <a:cs typeface="Calibri"/>
                <a:sym typeface="Calibri"/>
              </a:rPr>
              <a:t>This allows creators to adjust visual styles and scenes before generation, resulting in quick, cohesive, long-form videos with an integrated timeline editor for final touches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https://www.youtube.com/watch?v=M5xTskx4SUY</a:t>
            </a:r>
            <a:r>
              <a:rPr lang="en" sz="1200">
                <a:latin typeface="Calibri"/>
                <a:ea typeface="Calibri"/>
                <a:cs typeface="Calibri"/>
                <a:sym typeface="Calibri"/>
              </a:rPr>
              <a:t> - video</a:t>
            </a:r>
            <a:endParaRPr sz="1200">
              <a:latin typeface="Calibri"/>
              <a:ea typeface="Calibri"/>
              <a:cs typeface="Calibri"/>
              <a:sym typeface="Calibri"/>
            </a:endParaRPr>
          </a:p>
        </p:txBody>
      </p:sp>
      <p:pic>
        <p:nvPicPr>
          <p:cNvPr id="182" name="Google Shape;182;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534600" y="511750"/>
            <a:ext cx="2864825" cy="1419050"/>
          </a:xfrm>
          <a:prstGeom prst="rect">
            <a:avLst/>
          </a:prstGeom>
          <a:noFill/>
          <a:ln w="9525" cap="flat" cmpd="sng">
            <a:solidFill>
              <a:srgbClr val="FF0000"/>
            </a:solidFill>
            <a:prstDash val="solid"/>
            <a:round/>
            <a:headEnd type="none" w="sm" len="sm"/>
            <a:tailEnd type="none" w="sm" len="sm"/>
          </a:ln>
        </p:spPr>
      </p:pic>
      <p:pic>
        <p:nvPicPr>
          <p:cNvPr id="183" name="Google Shape;183;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2799077" y="3556816"/>
            <a:ext cx="1899450" cy="1522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p:nvPr/>
        </p:nvSpPr>
        <p:spPr>
          <a:xfrm>
            <a:off x="81775" y="434400"/>
            <a:ext cx="5397000" cy="195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200" b="1">
                <a:solidFill>
                  <a:srgbClr val="FF0000"/>
                </a:solidFill>
                <a:latin typeface="Calibri"/>
                <a:ea typeface="Calibri"/>
                <a:cs typeface="Calibri"/>
                <a:sym typeface="Calibri"/>
              </a:rPr>
              <a:t>Multiverse Computing - LLM + quantum blocks</a:t>
            </a:r>
            <a:endParaRPr sz="12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Meta's Llama 3.1 8B model + a small set of quantum circuit blocks (6K params)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Running this hybrid system on IBM's 156-qubit quantum processor</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Reduced the model's perplexity by 1.4%</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The improvement may sound modest, but it had meaningful real-world effects: the quantum-enhanced model correctly answered astronomy and biology questions that the original Llama model got wrong</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The team argues this result proves quantum computing can meaningfully improve AI reasoning, with gains expected to grow as quantum hardware matures</a:t>
            </a:r>
            <a:endParaRPr sz="1200">
              <a:solidFill>
                <a:schemeClr val="dk1"/>
              </a:solidFill>
              <a:latin typeface="Calibri"/>
              <a:ea typeface="Calibri"/>
              <a:cs typeface="Calibri"/>
              <a:sym typeface="Calibri"/>
            </a:endParaRPr>
          </a:p>
          <a:p>
            <a:pPr marL="171450" marR="0" lvl="0" indent="-101600" algn="l" rtl="0">
              <a:lnSpc>
                <a:spcPct val="100000"/>
              </a:lnSpc>
              <a:spcBef>
                <a:spcPts val="0"/>
              </a:spcBef>
              <a:spcAft>
                <a:spcPts val="0"/>
              </a:spcAft>
              <a:buClr>
                <a:schemeClr val="dk1"/>
              </a:buClr>
              <a:buSzPts val="700"/>
              <a:buFont typeface="Calibri"/>
              <a:buChar char="●"/>
            </a:pPr>
            <a:r>
              <a:rPr lang="en" sz="900" u="sng">
                <a:solidFill>
                  <a:schemeClr val="hlink"/>
                </a:solidFill>
                <a:latin typeface="Calibri"/>
                <a:ea typeface="Calibri"/>
                <a:cs typeface="Calibri"/>
                <a:sym typeface="Calibri"/>
                <a:hlinkClick r:id="rId3"/>
              </a:rPr>
              <a:t>https://www.livescience.com/technology/quantum/scientists-trained-an-ai-model-using-an-ibm-quantum-computer-and-it-answered-questions-correctly-that-the-base-model-couldnt</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89" name="Google Shape;189;p29"/>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0" name="Google Shape;190;p29"/>
          <p:cNvSpPr txBox="1"/>
          <p:nvPr/>
        </p:nvSpPr>
        <p:spPr>
          <a:xfrm>
            <a:off x="81775" y="2503997"/>
            <a:ext cx="53970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FF0000"/>
              </a:buClr>
              <a:buSzPts val="1000"/>
              <a:buFont typeface="Calibri"/>
              <a:buChar char="●"/>
            </a:pPr>
            <a:r>
              <a:rPr lang="en" sz="1200" b="1">
                <a:solidFill>
                  <a:srgbClr val="FF0000"/>
                </a:solidFill>
                <a:latin typeface="Calibri"/>
                <a:ea typeface="Calibri"/>
                <a:cs typeface="Calibri"/>
                <a:sym typeface="Calibri"/>
              </a:rPr>
              <a:t>AI Will Deliver Wisdom</a:t>
            </a:r>
            <a:endParaRPr sz="1200" b="1">
              <a:solidFill>
                <a:srgbClr val="FF0000"/>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Wisdom is a probabilistic pattern recognition across vast human experience</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FutureSim - a new benchmark replays real-world events and asks AI to forecast 90 days ahead</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It shows that frontier models like GPT 5.5 already outperforming crowd prediction markets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AI can simulate billions of interventions to identify optimal outcomes in medicine, economics, and geopolitics</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This "artificial wisdom" may matter more than AGI, since intelligence solves problems while wisdom chooses "which" problems to solve</a:t>
            </a:r>
            <a:endParaRPr sz="1200">
              <a:solidFill>
                <a:schemeClr val="dk1"/>
              </a:solidFill>
              <a:latin typeface="Calibri"/>
              <a:ea typeface="Calibri"/>
              <a:cs typeface="Calibri"/>
              <a:sym typeface="Calibri"/>
            </a:endParaRPr>
          </a:p>
          <a:p>
            <a:pPr marL="171450" marR="0" lvl="0" indent="-120650" algn="l" rtl="0">
              <a:lnSpc>
                <a:spcPct val="100000"/>
              </a:lnSpc>
              <a:spcBef>
                <a:spcPts val="0"/>
              </a:spcBef>
              <a:spcAft>
                <a:spcPts val="0"/>
              </a:spcAft>
              <a:buClr>
                <a:schemeClr val="dk1"/>
              </a:buClr>
              <a:buSzPts val="1000"/>
              <a:buFont typeface="Calibri"/>
              <a:buChar char="●"/>
            </a:pPr>
            <a:r>
              <a:rPr lang="en" sz="1200">
                <a:solidFill>
                  <a:schemeClr val="dk1"/>
                </a:solidFill>
                <a:latin typeface="Calibri"/>
                <a:ea typeface="Calibri"/>
                <a:cs typeface="Calibri"/>
                <a:sym typeface="Calibri"/>
              </a:rPr>
              <a:t>Peter Diamandis calls on leaders in business and government to embed predictive AI into decision-making before major choices are made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https://metatrends.substack.com/p/ai-will-deliver-wisdom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91" name="Google Shape;191;p2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543230" y="2887575"/>
            <a:ext cx="3534075" cy="1529800"/>
          </a:xfrm>
          <a:prstGeom prst="rect">
            <a:avLst/>
          </a:prstGeom>
          <a:noFill/>
          <a:ln w="9525" cap="flat" cmpd="sng">
            <a:solidFill>
              <a:srgbClr val="FF0000"/>
            </a:solidFill>
            <a:prstDash val="solid"/>
            <a:round/>
            <a:headEnd type="none" w="sm" len="sm"/>
            <a:tailEnd type="none" w="sm" len="sm"/>
          </a:ln>
        </p:spPr>
      </p:pic>
      <p:pic>
        <p:nvPicPr>
          <p:cNvPr id="192" name="Google Shape;192;p29"/>
          <p:cNvPicPr preferRelativeResize="0"/>
          <p:nvPr/>
        </p:nvPicPr>
        <p:blipFill>
          <a:blip r:embed="rId6">
            <a:alphaModFix/>
          </a:blip>
          <a:stretch>
            <a:fillRect/>
          </a:stretch>
        </p:blipFill>
        <p:spPr>
          <a:xfrm>
            <a:off x="6095250" y="837038"/>
            <a:ext cx="2028825" cy="11525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p:nvPr/>
        </p:nvSpPr>
        <p:spPr>
          <a:xfrm>
            <a:off x="81775" y="511750"/>
            <a:ext cx="4483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 Group - Ring 2.6-1T Model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1 Trillion params reasoning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Designed to execute complete, multi-step business workflows without requiring manual interventions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262K-token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https://huggingface.co/inclusionAI/Ring-2.6-1T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https://huggingface.co/inclusionAI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https://developer.ant-ling.com/en/docs/models/ring/</a:t>
            </a:r>
            <a:r>
              <a:rPr lang="en" sz="1200">
                <a:solidFill>
                  <a:schemeClr val="dk1"/>
                </a:solidFill>
                <a:latin typeface="Calibri"/>
                <a:ea typeface="Calibri"/>
                <a:cs typeface="Calibri"/>
                <a:sym typeface="Calibri"/>
              </a:rPr>
              <a:t> - docs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https://www.ant-ling.com/en/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https://openrouter.ai/inclusionai/ring-2.6-1t:free</a:t>
            </a:r>
            <a:r>
              <a:rPr lang="en" sz="1200">
                <a:solidFill>
                  <a:schemeClr val="dk1"/>
                </a:solidFill>
                <a:latin typeface="Calibri"/>
                <a:ea typeface="Calibri"/>
                <a:cs typeface="Calibri"/>
                <a:sym typeface="Calibri"/>
              </a:rPr>
              <a:t> - OpenRouter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https://kilo.ai/models/inclusionai-ring-2-6-1t-free</a:t>
            </a:r>
            <a:r>
              <a:rPr lang="en" sz="1200">
                <a:solidFill>
                  <a:schemeClr val="dk1"/>
                </a:solidFill>
                <a:latin typeface="Calibri"/>
                <a:ea typeface="Calibri"/>
                <a:cs typeface="Calibri"/>
                <a:sym typeface="Calibri"/>
              </a:rPr>
              <a:t> - Kilo Code</a:t>
            </a:r>
            <a:endParaRPr sz="1200">
              <a:solidFill>
                <a:schemeClr val="dk1"/>
              </a:solidFill>
              <a:latin typeface="Calibri"/>
              <a:ea typeface="Calibri"/>
              <a:cs typeface="Calibri"/>
              <a:sym typeface="Calibri"/>
            </a:endParaRPr>
          </a:p>
        </p:txBody>
      </p:sp>
      <p:sp>
        <p:nvSpPr>
          <p:cNvPr id="198" name="Google Shape;198;p30"/>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199" name="Google Shape;199;p30"/>
          <p:cNvPicPr preferRelativeResize="0"/>
          <p:nvPr/>
        </p:nvPicPr>
        <p:blipFill>
          <a:blip r:embed="rId9">
            <a:alphaModFix/>
          </a:blip>
          <a:stretch>
            <a:fillRect/>
          </a:stretch>
        </p:blipFill>
        <p:spPr>
          <a:xfrm>
            <a:off x="4922271" y="511750"/>
            <a:ext cx="2971800" cy="1981200"/>
          </a:xfrm>
          <a:prstGeom prst="rect">
            <a:avLst/>
          </a:prstGeom>
          <a:noFill/>
          <a:ln w="9525" cap="flat" cmpd="sng">
            <a:solidFill>
              <a:srgbClr val="FF0000"/>
            </a:solidFill>
            <a:prstDash val="solid"/>
            <a:round/>
            <a:headEnd type="none" w="sm" len="sm"/>
            <a:tailEnd type="none" w="sm" len="sm"/>
          </a:ln>
        </p:spPr>
      </p:pic>
      <p:sp>
        <p:nvSpPr>
          <p:cNvPr id="200" name="Google Shape;200;p30"/>
          <p:cNvSpPr txBox="1"/>
          <p:nvPr/>
        </p:nvSpPr>
        <p:spPr>
          <a:xfrm>
            <a:off x="81775" y="2679625"/>
            <a:ext cx="4483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Robots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Boston Dynamics upgraded its Atlas humanoid robot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Demo - Atlas efficiently lifted and carried a </a:t>
            </a:r>
            <a:r>
              <a:rPr lang="en" sz="1200" b="1">
                <a:solidFill>
                  <a:srgbClr val="FF0000"/>
                </a:solidFill>
                <a:latin typeface="Calibri"/>
                <a:ea typeface="Calibri"/>
                <a:cs typeface="Calibri"/>
                <a:sym typeface="Calibri"/>
              </a:rPr>
              <a:t>shifting, 100-pound mini-fridge</a:t>
            </a:r>
            <a:r>
              <a:rPr lang="en" sz="1200">
                <a:solidFill>
                  <a:schemeClr val="dk1"/>
                </a:solidFill>
                <a:latin typeface="Calibri"/>
                <a:ea typeface="Calibri"/>
                <a:cs typeface="Calibri"/>
                <a:sym typeface="Calibri"/>
              </a:rPr>
              <a:t> by leveraging machine-like movements humans cannot replicate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Hyundai plans to mass-produce and deploy over 25,000 Atlas units across its U.S. manufacturing facilities starting in 2028</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Unitree introduced real-time, voice-driven motion generation for its G1 humanoid robot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Gatsby launched an autonomous residential cleaning service in San Francisco using humanoid robots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10"/>
              </a:rPr>
              <a:t>https://www.youtube.com/watch?v=WQMvR188C9Y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01" name="Google Shape;201;p30"/>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922273" y="2679625"/>
            <a:ext cx="1605726" cy="223499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1"/>
          <p:cNvSpPr txBox="1"/>
          <p:nvPr/>
        </p:nvSpPr>
        <p:spPr>
          <a:xfrm>
            <a:off x="81775" y="636900"/>
            <a:ext cx="44832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Quantum is Breaking Encryption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https://arxiv.org/abs/2603.28846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"Securing Elliptic Curve Cryptocurrencies against Quantum Vulnerabilities: Resource Estimates and Mitigations"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team of Google researches demonstrated that Shor's algorithm can break the 256-bit Elliptic Curve Discrete Logarithm Problem (the backbone of Bitcoin and most blockchain cryptography) using fewer than 1,200 logical qubits and 90 million Toffoli gates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superconducting architectures with current error rates, this could execute in minutes using fewer than half a million physical qubits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paper distinguishes between fast-clock (superconducting, photonic) and slow-clock (neutral atom, ion trap) architectures and their different threat profiles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urges all vulnerable cryptocurrency communities to migrate to Post-Quantum Cryptography (PQC) without delay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https://www.youtube.com/watch?v=H_fQXu9vigk</a:t>
            </a:r>
            <a:r>
              <a:rPr lang="en" sz="1200">
                <a:solidFill>
                  <a:schemeClr val="dk1"/>
                </a:solidFill>
                <a:latin typeface="Calibri"/>
                <a:ea typeface="Calibri"/>
                <a:cs typeface="Calibri"/>
                <a:sym typeface="Calibri"/>
              </a:rPr>
              <a:t> - video</a:t>
            </a:r>
            <a:endParaRPr sz="1200">
              <a:solidFill>
                <a:schemeClr val="dk1"/>
              </a:solidFill>
              <a:latin typeface="Calibri"/>
              <a:ea typeface="Calibri"/>
              <a:cs typeface="Calibri"/>
              <a:sym typeface="Calibri"/>
            </a:endParaRPr>
          </a:p>
        </p:txBody>
      </p:sp>
      <p:sp>
        <p:nvSpPr>
          <p:cNvPr id="207" name="Google Shape;207;p31"/>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pic>
        <p:nvPicPr>
          <p:cNvPr id="208" name="Google Shape;208;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223050" y="152400"/>
            <a:ext cx="3423760" cy="483869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2"/>
          <p:cNvSpPr txBox="1"/>
          <p:nvPr/>
        </p:nvSpPr>
        <p:spPr>
          <a:xfrm>
            <a:off x="60250" y="496425"/>
            <a:ext cx="44043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Obsidian stores data as a directory tree of markdown files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t>
            </a:r>
            <a:r>
              <a:rPr lang="en" sz="1200" b="1">
                <a:solidFill>
                  <a:srgbClr val="FF0000"/>
                </a:solidFill>
                <a:latin typeface="Calibri"/>
                <a:ea typeface="Calibri"/>
                <a:cs typeface="Calibri"/>
                <a:sym typeface="Calibri"/>
              </a:rPr>
              <a:t>called "vault"</a:t>
            </a:r>
            <a:r>
              <a:rPr lang="en" sz="1200">
                <a:solidFill>
                  <a:schemeClr val="dk1"/>
                </a:solidFill>
                <a:latin typeface="Calibri"/>
                <a:ea typeface="Calibri"/>
                <a:cs typeface="Calibri"/>
                <a:sym typeface="Calibri"/>
              </a:rPr>
              <a:t>) plus a small amount of app metadata;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it is basically a personal wiki with some indexing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Each note is a plain ".md" file</a:t>
            </a:r>
            <a:r>
              <a:rPr lang="en" sz="1200">
                <a:solidFill>
                  <a:schemeClr val="dk1"/>
                </a:solidFill>
                <a:latin typeface="Calibri"/>
                <a:ea typeface="Calibri"/>
                <a:cs typeface="Calibri"/>
                <a:sym typeface="Calibri"/>
              </a:rPr>
              <a:t>. You can mix in images, PDFs, and other arbitrary files in the same tree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Obsidian adds a </a:t>
            </a:r>
            <a:r>
              <a:rPr lang="en" sz="1200" b="1">
                <a:solidFill>
                  <a:srgbClr val="FF0000"/>
                </a:solidFill>
                <a:latin typeface="Calibri"/>
                <a:ea typeface="Calibri"/>
                <a:cs typeface="Calibri"/>
                <a:sym typeface="Calibri"/>
              </a:rPr>
              <a:t>".obsidian"</a:t>
            </a:r>
            <a:r>
              <a:rPr lang="en" sz="1200">
                <a:solidFill>
                  <a:schemeClr val="dk1"/>
                </a:solidFill>
                <a:latin typeface="Calibri"/>
                <a:ea typeface="Calibri"/>
                <a:cs typeface="Calibri"/>
                <a:sym typeface="Calibri"/>
              </a:rPr>
              <a:t> folder at the root of the vault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for app config (plugins, appearance, hotkeys, workspace state, etc.); deleting it does not delete any notes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database, no proprietary format, and you can still use </a:t>
            </a:r>
            <a:r>
              <a:rPr lang="en" sz="1200" b="1">
                <a:solidFill>
                  <a:srgbClr val="FF0000"/>
                </a:solidFill>
                <a:latin typeface="Calibri"/>
                <a:ea typeface="Calibri"/>
                <a:cs typeface="Calibri"/>
                <a:sym typeface="Calibri"/>
              </a:rPr>
              <a:t>grep, rg,</a:t>
            </a:r>
            <a:r>
              <a:rPr lang="en" sz="1200">
                <a:solidFill>
                  <a:schemeClr val="dk1"/>
                </a:solidFill>
                <a:latin typeface="Calibri"/>
                <a:ea typeface="Calibri"/>
                <a:cs typeface="Calibri"/>
                <a:sym typeface="Calibri"/>
              </a:rPr>
              <a:t> etc directly over the vault if you want</a:t>
            </a:r>
            <a:endParaRPr sz="9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Obsidian uses wiki‑style links and builds its link graph from that; Internal links are written as </a:t>
            </a:r>
            <a:r>
              <a:rPr lang="en" sz="1200" b="1">
                <a:solidFill>
                  <a:srgbClr val="3C78D8"/>
                </a:solidFill>
                <a:latin typeface="Calibri"/>
                <a:ea typeface="Calibri"/>
                <a:cs typeface="Calibri"/>
                <a:sym typeface="Calibri"/>
              </a:rPr>
              <a:t>`[[Note Title]]` or `[[path/to/note|Display Text]]`</a:t>
            </a:r>
            <a:r>
              <a:rPr lang="en" sz="1200">
                <a:solidFill>
                  <a:schemeClr val="dk1"/>
                </a:solidFill>
                <a:latin typeface="Calibri"/>
                <a:ea typeface="Calibri"/>
                <a:cs typeface="Calibri"/>
                <a:sym typeface="Calibri"/>
              </a:rPr>
              <a:t>. If the target doesn’t exist yet, you can click to create a new note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vault is a folder and subfolders; Many people use folders like `docs/`, `projects/`, `attachments/`, etc. inside the vault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you paste or drag‑and‑drop an image into a note, Obsidian saves it as a file and inserts a markdown image link; You can configure where new attachments go:  Vault root, same folder as the current note, or a specific “attachments” folder or path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Obsidian does build some indices for performance and metadata, but these are auxiliary, not your source of truth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Obsidian maintains a “metadata cache” in an internal IndexedDB database and cache files, not in your notes themselves</a:t>
            </a:r>
            <a:endParaRPr sz="1200">
              <a:solidFill>
                <a:schemeClr val="dk1"/>
              </a:solidFill>
              <a:latin typeface="Calibri"/>
              <a:ea typeface="Calibri"/>
              <a:cs typeface="Calibri"/>
              <a:sym typeface="Calibri"/>
            </a:endParaRPr>
          </a:p>
        </p:txBody>
      </p:sp>
      <p:sp>
        <p:nvSpPr>
          <p:cNvPr id="214" name="Google Shape;214;p32"/>
          <p:cNvSpPr txBox="1"/>
          <p:nvPr/>
        </p:nvSpPr>
        <p:spPr>
          <a:xfrm>
            <a:off x="81775" y="67675"/>
            <a:ext cx="4404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Obsidian - for Memory, RAG, MCP</a:t>
            </a:r>
            <a:endParaRPr sz="2000" b="1">
              <a:solidFill>
                <a:schemeClr val="dk1"/>
              </a:solidFill>
              <a:latin typeface="Calibri"/>
              <a:ea typeface="Calibri"/>
              <a:cs typeface="Calibri"/>
              <a:sym typeface="Calibri"/>
            </a:endParaRPr>
          </a:p>
        </p:txBody>
      </p:sp>
      <p:pic>
        <p:nvPicPr>
          <p:cNvPr id="215" name="Google Shape;215;p32"/>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494050" y="511532"/>
            <a:ext cx="1505075" cy="1159450"/>
          </a:xfrm>
          <a:prstGeom prst="rect">
            <a:avLst/>
          </a:prstGeom>
          <a:noFill/>
          <a:ln>
            <a:noFill/>
          </a:ln>
        </p:spPr>
      </p:pic>
      <p:sp>
        <p:nvSpPr>
          <p:cNvPr id="216" name="Google Shape;216;p32"/>
          <p:cNvSpPr txBox="1"/>
          <p:nvPr/>
        </p:nvSpPr>
        <p:spPr>
          <a:xfrm>
            <a:off x="4594825" y="1801053"/>
            <a:ext cx="4404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Full‑text search in the app uses this metadata cache; from the user’s perspective it’s effectively instant for typical vault sizes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If an external agent modifies markdown files, Obsidian rescans and updates its metadata cache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“wiki engine” part (graph, backlinks, search, plugins) is provided by the app, but the content is just text files you already know how to manage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have multiple vaults (directories) - for example, personal, client1, client2,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use Google Drive to sync folders across devices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There are community plugins (e.g. “Obsidian Google Drive” and “OGD Sync”) that sync a local vault to a Drive using Drive’s API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Obsidian recommends its own Obsidian Sync service</a:t>
            </a:r>
            <a:endParaRPr sz="1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3"/>
          <p:cNvSpPr txBox="1"/>
          <p:nvPr/>
        </p:nvSpPr>
        <p:spPr>
          <a:xfrm>
            <a:off x="231700" y="497825"/>
            <a:ext cx="44832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https://medvi.org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https://home.medvi.org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https://linkedin.com/company/medvi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Matthew Gallagher, a 41-year-old self-taught coder from LA launched a GLP-1 weight-loss telehealth platform in September 2024 with just $20,000 in startup capital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company connects patients with licensed providers online, who evaluate eligibility and prescribe GLP-1 medications for weight loss, such as semaglutide and tirzepatide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Medication is shipped directly to customers' homes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is handling customer service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business model generates recurring monthly revenue from subscriptions and medication fulfillment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currently serving 250K customers with a lean two-person team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Net profit margin is 16.2%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1st year - $401 Mln in revenue, $65M net profit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2nd year - $1.8 Bln (projected), $292M net profit</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Technically, MEDVi is essentially a marketing and branding layer built on top of CareValidate's "telehealth-in-a-box" infrastructure, with licensed pharmacies handling actual drug compounding and fulfillment</a:t>
            </a:r>
            <a:endParaRPr sz="1200">
              <a:solidFill>
                <a:schemeClr val="dk1"/>
              </a:solidFill>
              <a:latin typeface="Calibri"/>
              <a:ea typeface="Calibri"/>
              <a:cs typeface="Calibri"/>
              <a:sym typeface="Calibri"/>
            </a:endParaRPr>
          </a:p>
        </p:txBody>
      </p:sp>
      <p:sp>
        <p:nvSpPr>
          <p:cNvPr id="222" name="Google Shape;222;p33"/>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Medvi.org</a:t>
            </a:r>
            <a:endParaRPr sz="2000" b="1">
              <a:solidFill>
                <a:schemeClr val="dk1"/>
              </a:solidFill>
              <a:latin typeface="Calibri"/>
              <a:ea typeface="Calibri"/>
              <a:cs typeface="Calibri"/>
              <a:sym typeface="Calibri"/>
            </a:endParaRPr>
          </a:p>
        </p:txBody>
      </p:sp>
      <p:pic>
        <p:nvPicPr>
          <p:cNvPr id="223" name="Google Shape;223;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991125" y="497825"/>
            <a:ext cx="3905225" cy="19738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4"/>
          <p:cNvSpPr txBox="1"/>
          <p:nvPr/>
        </p:nvSpPr>
        <p:spPr>
          <a:xfrm>
            <a:off x="5212400" y="99325"/>
            <a:ext cx="38478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9 essential AI skills to build wealth</a:t>
            </a:r>
            <a:r>
              <a:rPr lang="en" sz="1200">
                <a:solidFill>
                  <a:schemeClr val="dk1"/>
                </a:solidFill>
                <a:latin typeface="Calibri"/>
                <a:ea typeface="Calibri"/>
                <a:cs typeface="Calibri"/>
                <a:sym typeface="Calibri"/>
              </a:rPr>
              <a:t> - Sabrina Ramonov</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https://www.youtube.com/watch?v=d81xtxGFwHg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1. Ask AI for answers first before using search engines</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2. Always verify AI-output to catch potential hallucinations</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3. Provide rich context - info, constraints, clarifying examples</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4. Use AI for learning before consulting high-cost experts</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5. Treat AI like a new hire: Provide continuous feedback over time</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6. Allow AI to refine its own work (iterate, grade, improve)</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7. Audit and document processes - weekly automation</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8. Use AI agents with tools and everyday apps</a:t>
            </a:r>
            <a:endParaRPr sz="1100">
              <a:solidFill>
                <a:srgbClr val="3C78D8"/>
              </a:solidFill>
              <a:latin typeface="Calibri"/>
              <a:ea typeface="Calibri"/>
              <a:cs typeface="Calibri"/>
              <a:sym typeface="Calibri"/>
            </a:endParaRPr>
          </a:p>
          <a:p>
            <a:pPr marL="28575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9. Apply AI to improve and scale working processes</a:t>
            </a:r>
            <a:endParaRPr sz="1100">
              <a:solidFill>
                <a:srgbClr val="3C78D8"/>
              </a:solidFill>
              <a:latin typeface="Calibri"/>
              <a:ea typeface="Calibri"/>
              <a:cs typeface="Calibri"/>
              <a:sym typeface="Calibri"/>
            </a:endParaRPr>
          </a:p>
        </p:txBody>
      </p:sp>
      <p:sp>
        <p:nvSpPr>
          <p:cNvPr id="229" name="Google Shape;229;p34"/>
          <p:cNvSpPr txBox="1"/>
          <p:nvPr/>
        </p:nvSpPr>
        <p:spPr>
          <a:xfrm>
            <a:off x="81775" y="28511"/>
            <a:ext cx="3847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Build Business with AI</a:t>
            </a:r>
            <a:endParaRPr sz="2000" b="1">
              <a:solidFill>
                <a:schemeClr val="dk1"/>
              </a:solidFill>
              <a:latin typeface="Calibri"/>
              <a:ea typeface="Calibri"/>
              <a:cs typeface="Calibri"/>
              <a:sym typeface="Calibri"/>
            </a:endParaRPr>
          </a:p>
        </p:txBody>
      </p:sp>
      <p:pic>
        <p:nvPicPr>
          <p:cNvPr id="230" name="Google Shape;230;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3125058" y="493938"/>
            <a:ext cx="1992426" cy="1415675"/>
          </a:xfrm>
          <a:prstGeom prst="rect">
            <a:avLst/>
          </a:prstGeom>
          <a:noFill/>
          <a:ln w="9525" cap="flat" cmpd="sng">
            <a:solidFill>
              <a:srgbClr val="FF0000"/>
            </a:solidFill>
            <a:prstDash val="solid"/>
            <a:round/>
            <a:headEnd type="none" w="sm" len="sm"/>
            <a:tailEnd type="none" w="sm" len="sm"/>
          </a:ln>
        </p:spPr>
      </p:pic>
      <p:sp>
        <p:nvSpPr>
          <p:cNvPr id="231" name="Google Shape;231;p34"/>
          <p:cNvSpPr txBox="1"/>
          <p:nvPr/>
        </p:nvSpPr>
        <p:spPr>
          <a:xfrm>
            <a:off x="55993" y="2301940"/>
            <a:ext cx="5474100" cy="2773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Startup Solo With AI Agents - Ryan Carson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Start with docs, rules, skills for agents (create employees)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"Claw Chief" (cron jobs and md files) to run every 15 min - scheduling, inbox sweeps, push slack messages; The system has its own email address and GitHub account to function exactly like a human employee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Every night, the AI does lead generation via Firecrawl, writes details to a CRM Google Sheet, and drafts cold outreach emails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Devon on cloud for 100% of his software engineering (coding, PRs, testing, merging) - 10-20 PRs/day autonomously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Carson chats to Devon with Google Ads API to manage ad campaigns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is used to cut expert interviews into short segments via Descript, uploads them to Google Drive, and lets an automated nightly playbook use Gemini to watch the video and generate text copy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OpenAI’s image model handles ad and video creative</a:t>
            </a:r>
            <a:endParaRPr sz="12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http://www.youtube.com/watch?v=IDqdVZwAwjw</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32" name="Google Shape;232;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668543" y="2402005"/>
            <a:ext cx="1494711" cy="2573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5"/>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Jobs</a:t>
            </a:r>
            <a:endParaRPr sz="2000" b="1">
              <a:solidFill>
                <a:schemeClr val="dk1"/>
              </a:solidFill>
              <a:latin typeface="Calibri"/>
              <a:ea typeface="Calibri"/>
              <a:cs typeface="Calibri"/>
              <a:sym typeface="Calibri"/>
            </a:endParaRPr>
          </a:p>
        </p:txBody>
      </p:sp>
      <p:sp>
        <p:nvSpPr>
          <p:cNvPr id="238" name="Google Shape;238;p35"/>
          <p:cNvSpPr txBox="1"/>
          <p:nvPr/>
        </p:nvSpPr>
        <p:spPr>
          <a:xfrm>
            <a:off x="150000" y="680575"/>
            <a:ext cx="49806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Jack Dorsey wants to flatten org chart</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wants to collapse Block's org chart from 5 layers to 2-3</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wants to redefine managers as </a:t>
            </a:r>
            <a:r>
              <a:rPr lang="en" sz="1200" b="1">
                <a:solidFill>
                  <a:srgbClr val="3C78D8"/>
                </a:solidFill>
                <a:latin typeface="Calibri"/>
                <a:ea typeface="Calibri"/>
                <a:cs typeface="Calibri"/>
                <a:sym typeface="Calibri"/>
              </a:rPr>
              <a:t>coaches overseeing hundreds of people</a:t>
            </a:r>
            <a:r>
              <a:rPr lang="en" sz="1200">
                <a:solidFill>
                  <a:schemeClr val="dk1"/>
                </a:solidFill>
                <a:latin typeface="Calibri"/>
                <a:ea typeface="Calibri"/>
                <a:cs typeface="Calibri"/>
                <a:sym typeface="Calibri"/>
              </a:rPr>
              <a:t> rather than directive supervisors of small teams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already requires all engineering managers to contribute code directly</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https://finance.yahoo.com/sectors/technology/article/billionaire-block-founder-jack-dorsey-suggests-radically-reshaping-manager-roles-in-the-age-of-ai-131219450.html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239" name="Google Shape;239;p35"/>
          <p:cNvSpPr txBox="1"/>
          <p:nvPr/>
        </p:nvSpPr>
        <p:spPr>
          <a:xfrm>
            <a:off x="150000" y="3558850"/>
            <a:ext cx="44259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Bolt CEO Ryan Breslow has Fired Entire HR Team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for ‘Creating Problems That Didn't Exist’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'Problems Disappeared When I Let Them Go'</a:t>
            </a:r>
            <a:endParaRPr sz="1200" b="1">
              <a:solidFill>
                <a:srgbClr val="3C78D8"/>
              </a:solidFill>
              <a:latin typeface="Calibri"/>
              <a:ea typeface="Calibri"/>
              <a:cs typeface="Calibri"/>
              <a:sym typeface="Calibri"/>
            </a:endParaRPr>
          </a:p>
        </p:txBody>
      </p:sp>
      <p:pic>
        <p:nvPicPr>
          <p:cNvPr id="240" name="Google Shape;240;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83650" y="3038086"/>
            <a:ext cx="2527500" cy="1706328"/>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6"/>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46" name="Google Shape;246;p36"/>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47" name="Google Shape;247;p36"/>
          <p:cNvSpPr txBox="1"/>
          <p:nvPr/>
        </p:nvSpPr>
        <p:spPr>
          <a:xfrm>
            <a:off x="5367150" y="3435238"/>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101.6K  in 2026 </a:t>
            </a:r>
            <a:r>
              <a:rPr lang="en" sz="1000" b="1">
                <a:solidFill>
                  <a:schemeClr val="dk1"/>
                </a:solidFill>
                <a:latin typeface="Roboto Mono"/>
                <a:ea typeface="Roboto Mono"/>
                <a:cs typeface="Roboto Mono"/>
                <a:sym typeface="Roboto Mono"/>
              </a:rPr>
              <a:t>(as of May 8,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48" name="Google Shape;248;p36"/>
          <p:cNvSpPr txBox="1"/>
          <p:nvPr/>
        </p:nvSpPr>
        <p:spPr>
          <a:xfrm>
            <a:off x="5422950" y="5312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128,270</a:t>
            </a:r>
            <a:r>
              <a:rPr lang="en" sz="1200">
                <a:latin typeface="Calibri"/>
                <a:ea typeface="Calibri"/>
                <a:cs typeface="Calibri"/>
                <a:sym typeface="Calibri"/>
              </a:rPr>
              <a:t> people laid off (1,002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49" name="Google Shape;249;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452037"/>
            <a:ext cx="4950376" cy="2651808"/>
          </a:xfrm>
          <a:prstGeom prst="rect">
            <a:avLst/>
          </a:prstGeom>
          <a:noFill/>
          <a:ln w="9525" cap="flat" cmpd="sng">
            <a:solidFill>
              <a:srgbClr val="FF0000"/>
            </a:solidFill>
            <a:prstDash val="solid"/>
            <a:round/>
            <a:headEnd type="none" w="sm" len="sm"/>
            <a:tailEnd type="none" w="sm" len="sm"/>
          </a:ln>
        </p:spPr>
      </p:pic>
      <p:pic>
        <p:nvPicPr>
          <p:cNvPr id="250" name="Google Shape;250;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3157217"/>
            <a:ext cx="4950376" cy="1943133"/>
          </a:xfrm>
          <a:prstGeom prst="rect">
            <a:avLst/>
          </a:prstGeom>
          <a:noFill/>
          <a:ln w="9525" cap="flat" cmpd="sng">
            <a:solidFill>
              <a:srgbClr val="FF0000"/>
            </a:solidFill>
            <a:prstDash val="solid"/>
            <a:round/>
            <a:headEnd type="none" w="sm" len="sm"/>
            <a:tailEnd type="none" w="sm" len="sm"/>
          </a:ln>
        </p:spPr>
      </p:pic>
      <p:pic>
        <p:nvPicPr>
          <p:cNvPr id="251" name="Google Shape;251;p3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435675" y="2260300"/>
            <a:ext cx="3533449" cy="3879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Google Shape;256;p3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57" name="Google Shape;257;p37"/>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58" name="Google Shape;258;p37"/>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59" name="Google Shape;259;p3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60" name="Google Shape;260;p37"/>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61" name="Google Shape;261;p37"/>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8"/>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4989</Words>
  <Application>Microsoft Macintosh PowerPoint</Application>
  <PresentationFormat>On-screen Show (16:9)</PresentationFormat>
  <Paragraphs>555</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2026-05-25T17:36:38Z</dcterms:modified>
</cp:coreProperties>
</file>