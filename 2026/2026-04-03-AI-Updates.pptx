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1" r:id="rId1"/>
  </p:sldMasterIdLst>
  <p:notesMasterIdLst>
    <p:notesMasterId r:id="rId2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9144000" cy="5143500" type="screen16x9"/>
  <p:notesSz cx="6858000" cy="9144000"/>
  <p:embeddedFontLst>
    <p:embeddedFont>
      <p:font typeface="Roboto Mono" pitchFamily="49" charset="0"/>
      <p:regular r:id="rId26"/>
      <p:bold r:id="rId27"/>
      <p:italic r:id="rId28"/>
      <p:boldItalic r:id="rId2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BAA1C1D-3BFF-4D1A-80F0-AEA10887FA22}">
  <a:tblStyle styleId="{ABAA1C1D-3BFF-4D1A-80F0-AEA10887FA22}"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711"/>
  </p:normalViewPr>
  <p:slideViewPr>
    <p:cSldViewPr>
      <p:cViewPr varScale="1">
        <p:scale>
          <a:sx n="125" d="100"/>
          <a:sy n="125" d="100"/>
        </p:scale>
        <p:origin x="536"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1.fntdata"/><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4.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3.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2.fntdata"/><Relationship Id="rId30" Type="http://schemas.openxmlformats.org/officeDocument/2006/relationships/presProps" Target="presProp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9"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
        <p:cNvGrpSpPr/>
        <p:nvPr/>
      </p:nvGrpSpPr>
      <p:grpSpPr>
        <a:xfrm>
          <a:off x="0" y="0"/>
          <a:ext cx="0" cy="0"/>
          <a:chOff x="0" y="0"/>
          <a:chExt cx="0" cy="0"/>
        </a:xfrm>
      </p:grpSpPr>
      <p:sp>
        <p:nvSpPr>
          <p:cNvPr id="60" name="Google Shape;60;g3633c15ed82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1" name="Google Shape;61;g3633c15ed82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
        <p:cNvGrpSpPr/>
        <p:nvPr/>
      </p:nvGrpSpPr>
      <p:grpSpPr>
        <a:xfrm>
          <a:off x="0" y="0"/>
          <a:ext cx="0" cy="0"/>
          <a:chOff x="0" y="0"/>
          <a:chExt cx="0" cy="0"/>
        </a:xfrm>
      </p:grpSpPr>
      <p:sp>
        <p:nvSpPr>
          <p:cNvPr id="70" name="Google Shape;70;g3cc01bf30ee_1_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1" name="Google Shape;71;g3cc01bf30ee_1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
        <p:cNvGrpSpPr/>
        <p:nvPr/>
      </p:nvGrpSpPr>
      <p:grpSpPr>
        <a:xfrm>
          <a:off x="0" y="0"/>
          <a:ext cx="0" cy="0"/>
          <a:chOff x="0" y="0"/>
          <a:chExt cx="0" cy="0"/>
        </a:xfrm>
      </p:grpSpPr>
      <p:sp>
        <p:nvSpPr>
          <p:cNvPr id="84" name="Google Shape;84;g3d00f0b5581_0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5" name="Google Shape;85;g3d00f0b5581_0_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g3969e3dc9f2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4" name="Google Shape;94;g3969e3dc9f2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g39318675434_2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2" name="Google Shape;102;g39318675434_2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p:cNvGrpSpPr/>
        <p:nvPr/>
      </p:nvGrpSpPr>
      <p:grpSpPr>
        <a:xfrm>
          <a:off x="0" y="0"/>
          <a:ext cx="0" cy="0"/>
          <a:chOff x="0" y="0"/>
          <a:chExt cx="0" cy="0"/>
        </a:xfrm>
      </p:grpSpPr>
      <p:sp>
        <p:nvSpPr>
          <p:cNvPr id="107" name="Google Shape;107;g3d332d748eb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8" name="Google Shape;108;g3d332d748eb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p:cNvGrpSpPr/>
        <p:nvPr/>
      </p:nvGrpSpPr>
      <p:grpSpPr>
        <a:xfrm>
          <a:off x="0" y="0"/>
          <a:ext cx="0" cy="0"/>
          <a:chOff x="0" y="0"/>
          <a:chExt cx="0" cy="0"/>
        </a:xfrm>
      </p:grpSpPr>
      <p:sp>
        <p:nvSpPr>
          <p:cNvPr id="115" name="Google Shape;115;g3d332d748eb_0_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6" name="Google Shape;116;g3d332d748eb_0_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4"/>
        <p:cNvGrpSpPr/>
        <p:nvPr/>
      </p:nvGrpSpPr>
      <p:grpSpPr>
        <a:xfrm>
          <a:off x="0" y="0"/>
          <a:ext cx="0" cy="0"/>
          <a:chOff x="0" y="0"/>
          <a:chExt cx="0" cy="0"/>
        </a:xfrm>
      </p:grpSpPr>
      <p:sp>
        <p:nvSpPr>
          <p:cNvPr id="125" name="Google Shape;125;g396a1febf4b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26" name="Google Shape;126;g396a1febf4b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
        <p:cNvGrpSpPr/>
        <p:nvPr/>
      </p:nvGrpSpPr>
      <p:grpSpPr>
        <a:xfrm>
          <a:off x="0" y="0"/>
          <a:ext cx="0" cy="0"/>
          <a:chOff x="0" y="0"/>
          <a:chExt cx="0" cy="0"/>
        </a:xfrm>
      </p:grpSpPr>
      <p:sp>
        <p:nvSpPr>
          <p:cNvPr id="134" name="Google Shape;134;g3d332d748eb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5" name="Google Shape;135;g3d332d748eb_0_2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3"/>
        <p:cNvGrpSpPr/>
        <p:nvPr/>
      </p:nvGrpSpPr>
      <p:grpSpPr>
        <a:xfrm>
          <a:off x="0" y="0"/>
          <a:ext cx="0" cy="0"/>
          <a:chOff x="0" y="0"/>
          <a:chExt cx="0" cy="0"/>
        </a:xfrm>
      </p:grpSpPr>
      <p:sp>
        <p:nvSpPr>
          <p:cNvPr id="144" name="Google Shape;144;g3d332d748eb_0_10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5" name="Google Shape;145;g3d332d748eb_0_10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
        <p:cNvGrpSpPr/>
        <p:nvPr/>
      </p:nvGrpSpPr>
      <p:grpSpPr>
        <a:xfrm>
          <a:off x="0" y="0"/>
          <a:ext cx="0" cy="0"/>
          <a:chOff x="0" y="0"/>
          <a:chExt cx="0" cy="0"/>
        </a:xfrm>
      </p:grpSpPr>
      <p:sp>
        <p:nvSpPr>
          <p:cNvPr id="152" name="Google Shape;152;g396b047b19a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3" name="Google Shape;153;g396b047b19a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8"/>
        <p:cNvGrpSpPr/>
        <p:nvPr/>
      </p:nvGrpSpPr>
      <p:grpSpPr>
        <a:xfrm>
          <a:off x="0" y="0"/>
          <a:ext cx="0" cy="0"/>
          <a:chOff x="0" y="0"/>
          <a:chExt cx="0" cy="0"/>
        </a:xfrm>
      </p:grpSpPr>
      <p:sp>
        <p:nvSpPr>
          <p:cNvPr id="159" name="Google Shape;159;g396a1febf4b_0_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0" name="Google Shape;160;g396a1febf4b_0_1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7"/>
        <p:cNvGrpSpPr/>
        <p:nvPr/>
      </p:nvGrpSpPr>
      <p:grpSpPr>
        <a:xfrm>
          <a:off x="0" y="0"/>
          <a:ext cx="0" cy="0"/>
          <a:chOff x="0" y="0"/>
          <a:chExt cx="0" cy="0"/>
        </a:xfrm>
      </p:grpSpPr>
      <p:sp>
        <p:nvSpPr>
          <p:cNvPr id="168" name="Google Shape;168;g396b0c47417_0_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9" name="Google Shape;169;g396b0c47417_0_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6"/>
        <p:cNvGrpSpPr/>
        <p:nvPr/>
      </p:nvGrpSpPr>
      <p:grpSpPr>
        <a:xfrm>
          <a:off x="0" y="0"/>
          <a:ext cx="0" cy="0"/>
          <a:chOff x="0" y="0"/>
          <a:chExt cx="0" cy="0"/>
        </a:xfrm>
      </p:grpSpPr>
      <p:sp>
        <p:nvSpPr>
          <p:cNvPr id="177" name="Google Shape;177;g396ac3fb851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8" name="Google Shape;178;g396ac3fb851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p:cNvGrpSpPr/>
        <p:nvPr/>
      </p:nvGrpSpPr>
      <p:grpSpPr>
        <a:xfrm>
          <a:off x="0" y="0"/>
          <a:ext cx="0" cy="0"/>
          <a:chOff x="0" y="0"/>
          <a:chExt cx="0" cy="0"/>
        </a:xfrm>
      </p:grpSpPr>
      <p:sp>
        <p:nvSpPr>
          <p:cNvPr id="185" name="Google Shape;185;g3d3847041e1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g3d3847041e1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3"/>
        <p:cNvGrpSpPr/>
        <p:nvPr/>
      </p:nvGrpSpPr>
      <p:grpSpPr>
        <a:xfrm>
          <a:off x="0" y="0"/>
          <a:ext cx="0" cy="0"/>
          <a:chOff x="0" y="0"/>
          <a:chExt cx="0" cy="0"/>
        </a:xfrm>
      </p:grpSpPr>
      <p:sp>
        <p:nvSpPr>
          <p:cNvPr id="194" name="Google Shape;194;g396a1febf4b_0_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5" name="Google Shape;195;g396a1febf4b_0_2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9"/>
        <p:cNvGrpSpPr/>
        <p:nvPr/>
      </p:nvGrpSpPr>
      <p:grpSpPr>
        <a:xfrm>
          <a:off x="0" y="0"/>
          <a:ext cx="0" cy="0"/>
          <a:chOff x="0" y="0"/>
          <a:chExt cx="0" cy="0"/>
        </a:xfrm>
      </p:grpSpPr>
      <p:sp>
        <p:nvSpPr>
          <p:cNvPr id="200" name="Google Shape;200;g3d332d748eb_0_3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1" name="Google Shape;201;g3d332d748eb_0_3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8"/>
        <p:cNvGrpSpPr/>
        <p:nvPr/>
      </p:nvGrpSpPr>
      <p:grpSpPr>
        <a:xfrm>
          <a:off x="0" y="0"/>
          <a:ext cx="0" cy="0"/>
          <a:chOff x="0" y="0"/>
          <a:chExt cx="0" cy="0"/>
        </a:xfrm>
      </p:grpSpPr>
      <p:sp>
        <p:nvSpPr>
          <p:cNvPr id="209" name="Google Shape;209;g396aed0fa4d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10" name="Google Shape;210;g396aed0fa4d_0_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6"/>
        <p:cNvGrpSpPr/>
        <p:nvPr/>
      </p:nvGrpSpPr>
      <p:grpSpPr>
        <a:xfrm>
          <a:off x="0" y="0"/>
          <a:ext cx="0" cy="0"/>
          <a:chOff x="0" y="0"/>
          <a:chExt cx="0" cy="0"/>
        </a:xfrm>
      </p:grpSpPr>
      <p:sp>
        <p:nvSpPr>
          <p:cNvPr id="217" name="Google Shape;217;g3d332d748eb_0_4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18" name="Google Shape;218;g3d332d748eb_0_4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3"/>
        <p:cNvGrpSpPr/>
        <p:nvPr/>
      </p:nvGrpSpPr>
      <p:grpSpPr>
        <a:xfrm>
          <a:off x="0" y="0"/>
          <a:ext cx="0" cy="0"/>
          <a:chOff x="0" y="0"/>
          <a:chExt cx="0" cy="0"/>
        </a:xfrm>
      </p:grpSpPr>
      <p:sp>
        <p:nvSpPr>
          <p:cNvPr id="224" name="Google Shape;224;g396a1febf4b_0_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5" name="Google Shape;225;g396a1febf4b_0_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1"/>
        <p:cNvGrpSpPr/>
        <p:nvPr/>
      </p:nvGrpSpPr>
      <p:grpSpPr>
        <a:xfrm>
          <a:off x="0" y="0"/>
          <a:ext cx="0" cy="0"/>
          <a:chOff x="0" y="0"/>
          <a:chExt cx="0" cy="0"/>
        </a:xfrm>
      </p:grpSpPr>
      <p:sp>
        <p:nvSpPr>
          <p:cNvPr id="232" name="Google Shape;232;p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3" name="Google Shape;233;p2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1"/>
        <p:cNvGrpSpPr/>
        <p:nvPr/>
      </p:nvGrpSpPr>
      <p:grpSpPr>
        <a:xfrm>
          <a:off x="0" y="0"/>
          <a:ext cx="0" cy="0"/>
          <a:chOff x="0" y="0"/>
          <a:chExt cx="0" cy="0"/>
        </a:xfrm>
      </p:grpSpPr>
      <p:sp>
        <p:nvSpPr>
          <p:cNvPr id="242" name="Google Shape;242;p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43" name="Google Shape;243;p2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1"/>
        <p:cNvGrpSpPr/>
        <p:nvPr/>
      </p:nvGrpSpPr>
      <p:grpSpPr>
        <a:xfrm>
          <a:off x="0" y="0"/>
          <a:ext cx="0" cy="0"/>
          <a:chOff x="0" y="0"/>
          <a:chExt cx="0" cy="0"/>
        </a:xfrm>
      </p:grpSpPr>
      <p:sp>
        <p:nvSpPr>
          <p:cNvPr id="252" name="Google Shape;252;p2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53" name="Google Shape;253;p2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a:noFill/>
          <a:ln>
            <a:noFill/>
          </a:ln>
        </p:spPr>
        <p:txBody>
          <a:bodyPr spcFirstLastPara="1" wrap="square" lIns="91425" tIns="91425" rIns="91425" bIns="91425" anchor="t" anchorCtr="0">
            <a:norm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7" name="Google Shape;37;p9"/>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rmAutofit/>
          </a:bodyPr>
          <a:lstStyle>
            <a:lvl1pPr marL="457200" lvl="0" indent="-228600" algn="l">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rm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0"/>
              </a:spcBef>
              <a:spcAft>
                <a:spcPts val="0"/>
              </a:spcAft>
              <a:buSzPts val="1400"/>
              <a:buChar char="○"/>
              <a:defRPr/>
            </a:lvl2pPr>
            <a:lvl3pPr marL="1371600" lvl="2" indent="-317500" algn="ctr">
              <a:lnSpc>
                <a:spcPct val="115000"/>
              </a:lnSpc>
              <a:spcBef>
                <a:spcPts val="0"/>
              </a:spcBef>
              <a:spcAft>
                <a:spcPts val="0"/>
              </a:spcAft>
              <a:buSzPts val="1400"/>
              <a:buChar char="■"/>
              <a:defRPr/>
            </a:lvl3pPr>
            <a:lvl4pPr marL="1828800" lvl="3" indent="-317500" algn="ctr">
              <a:lnSpc>
                <a:spcPct val="115000"/>
              </a:lnSpc>
              <a:spcBef>
                <a:spcPts val="0"/>
              </a:spcBef>
              <a:spcAft>
                <a:spcPts val="0"/>
              </a:spcAft>
              <a:buSzPts val="1400"/>
              <a:buChar char="●"/>
              <a:defRPr/>
            </a:lvl4pPr>
            <a:lvl5pPr marL="2286000" lvl="4" indent="-317500" algn="ctr">
              <a:lnSpc>
                <a:spcPct val="115000"/>
              </a:lnSpc>
              <a:spcBef>
                <a:spcPts val="0"/>
              </a:spcBef>
              <a:spcAft>
                <a:spcPts val="0"/>
              </a:spcAft>
              <a:buSzPts val="1400"/>
              <a:buChar char="○"/>
              <a:defRPr/>
            </a:lvl5pPr>
            <a:lvl6pPr marL="2743200" lvl="5" indent="-317500" algn="ctr">
              <a:lnSpc>
                <a:spcPct val="115000"/>
              </a:lnSpc>
              <a:spcBef>
                <a:spcPts val="0"/>
              </a:spcBef>
              <a:spcAft>
                <a:spcPts val="0"/>
              </a:spcAft>
              <a:buSzPts val="1400"/>
              <a:buChar char="■"/>
              <a:defRPr/>
            </a:lvl6pPr>
            <a:lvl7pPr marL="3200400" lvl="6" indent="-317500" algn="ctr">
              <a:lnSpc>
                <a:spcPct val="115000"/>
              </a:lnSpc>
              <a:spcBef>
                <a:spcPts val="0"/>
              </a:spcBef>
              <a:spcAft>
                <a:spcPts val="0"/>
              </a:spcAft>
              <a:buSzPts val="1400"/>
              <a:buChar char="●"/>
              <a:defRPr/>
            </a:lvl7pPr>
            <a:lvl8pPr marL="3657600" lvl="7" indent="-317500" algn="ctr">
              <a:lnSpc>
                <a:spcPct val="115000"/>
              </a:lnSpc>
              <a:spcBef>
                <a:spcPts val="0"/>
              </a:spcBef>
              <a:spcAft>
                <a:spcPts val="0"/>
              </a:spcAft>
              <a:buSzPts val="1400"/>
              <a:buChar char="○"/>
              <a:defRPr/>
            </a:lvl8pPr>
            <a:lvl9pPr marL="4114800" lvl="8" indent="-317500" algn="ctr">
              <a:lnSpc>
                <a:spcPct val="115000"/>
              </a:lnSpc>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457172" y="205067"/>
            <a:ext cx="8228700" cy="858600"/>
          </a:xfrm>
          <a:prstGeom prst="rect">
            <a:avLst/>
          </a:prstGeom>
          <a:noFill/>
          <a:ln>
            <a:noFill/>
          </a:ln>
        </p:spPr>
        <p:txBody>
          <a:bodyPr spcFirstLastPara="1" wrap="square" lIns="0" tIns="0" rIns="0" bIns="0" anchor="ctr"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52" name="Google Shape;52;p13"/>
          <p:cNvSpPr txBox="1">
            <a:spLocks noGrp="1"/>
          </p:cNvSpPr>
          <p:nvPr>
            <p:ph type="body" idx="1"/>
          </p:nvPr>
        </p:nvSpPr>
        <p:spPr>
          <a:xfrm>
            <a:off x="457172" y="1203299"/>
            <a:ext cx="8228700" cy="2982600"/>
          </a:xfrm>
          <a:prstGeom prst="rect">
            <a:avLst/>
          </a:prstGeom>
          <a:noFill/>
          <a:ln>
            <a:noFill/>
          </a:ln>
        </p:spPr>
        <p:txBody>
          <a:bodyPr spcFirstLastPara="1" wrap="square" lIns="0" tIns="0" rIns="0" bIns="0" anchor="t" anchorCtr="0">
            <a:normAutofit/>
          </a:bodyPr>
          <a:lstStyle>
            <a:lvl1pPr marL="457200" lvl="0" indent="-228600" algn="l">
              <a:lnSpc>
                <a:spcPct val="115000"/>
              </a:lnSpc>
              <a:spcBef>
                <a:spcPts val="0"/>
              </a:spcBef>
              <a:spcAft>
                <a:spcPts val="0"/>
              </a:spcAft>
              <a:buSzPts val="1800"/>
              <a:buNone/>
              <a:defRPr/>
            </a:lvl1pPr>
            <a:lvl2pPr marL="914400" lvl="1" indent="-228600" algn="l">
              <a:lnSpc>
                <a:spcPct val="115000"/>
              </a:lnSpc>
              <a:spcBef>
                <a:spcPts val="0"/>
              </a:spcBef>
              <a:spcAft>
                <a:spcPts val="0"/>
              </a:spcAft>
              <a:buSzPts val="1400"/>
              <a:buNone/>
              <a:defRPr/>
            </a:lvl2pPr>
            <a:lvl3pPr marL="1371600" lvl="2" indent="-228600" algn="l">
              <a:lnSpc>
                <a:spcPct val="115000"/>
              </a:lnSpc>
              <a:spcBef>
                <a:spcPts val="0"/>
              </a:spcBef>
              <a:spcAft>
                <a:spcPts val="0"/>
              </a:spcAft>
              <a:buSzPts val="1400"/>
              <a:buNone/>
              <a:defRPr/>
            </a:lvl3pPr>
            <a:lvl4pPr marL="1828800" lvl="3" indent="-228600" algn="l">
              <a:lnSpc>
                <a:spcPct val="115000"/>
              </a:lnSpc>
              <a:spcBef>
                <a:spcPts val="0"/>
              </a:spcBef>
              <a:spcAft>
                <a:spcPts val="0"/>
              </a:spcAft>
              <a:buSzPts val="1400"/>
              <a:buNone/>
              <a:defRPr/>
            </a:lvl4pPr>
            <a:lvl5pPr marL="2286000" lvl="4" indent="-228600" algn="l">
              <a:lnSpc>
                <a:spcPct val="115000"/>
              </a:lnSpc>
              <a:spcBef>
                <a:spcPts val="0"/>
              </a:spcBef>
              <a:spcAft>
                <a:spcPts val="0"/>
              </a:spcAft>
              <a:buSzPts val="1400"/>
              <a:buNone/>
              <a:defRPr/>
            </a:lvl5pPr>
            <a:lvl6pPr marL="2743200" lvl="5" indent="-228600" algn="l">
              <a:lnSpc>
                <a:spcPct val="115000"/>
              </a:lnSpc>
              <a:spcBef>
                <a:spcPts val="0"/>
              </a:spcBef>
              <a:spcAft>
                <a:spcPts val="0"/>
              </a:spcAft>
              <a:buSzPts val="1400"/>
              <a:buNone/>
              <a:defRPr/>
            </a:lvl6pPr>
            <a:lvl7pPr marL="3200400" lvl="6" indent="-228600" algn="l">
              <a:lnSpc>
                <a:spcPct val="115000"/>
              </a:lnSpc>
              <a:spcBef>
                <a:spcPts val="0"/>
              </a:spcBef>
              <a:spcAft>
                <a:spcPts val="0"/>
              </a:spcAft>
              <a:buSzPts val="1400"/>
              <a:buNone/>
              <a:defRPr/>
            </a:lvl7pPr>
            <a:lvl8pPr marL="3657600" lvl="7" indent="-228600" algn="l">
              <a:lnSpc>
                <a:spcPct val="115000"/>
              </a:lnSpc>
              <a:spcBef>
                <a:spcPts val="0"/>
              </a:spcBef>
              <a:spcAft>
                <a:spcPts val="0"/>
              </a:spcAft>
              <a:buSzPts val="1400"/>
              <a:buNone/>
              <a:defRPr/>
            </a:lvl8pPr>
            <a:lvl9pPr marL="4114800" lvl="8" indent="-228600" algn="l">
              <a:lnSpc>
                <a:spcPct val="115000"/>
              </a:lnSpc>
              <a:spcBef>
                <a:spcPts val="0"/>
              </a:spcBef>
              <a:spcAft>
                <a:spcPts val="0"/>
              </a:spcAft>
              <a:buSzPts val="1400"/>
              <a:buNone/>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Header">
  <p:cSld name="SECTION_HEADER_1">
    <p:spTree>
      <p:nvGrpSpPr>
        <p:cNvPr id="1" name="Shape 53"/>
        <p:cNvGrpSpPr/>
        <p:nvPr/>
      </p:nvGrpSpPr>
      <p:grpSpPr>
        <a:xfrm>
          <a:off x="0" y="0"/>
          <a:ext cx="0" cy="0"/>
          <a:chOff x="0" y="0"/>
          <a:chExt cx="0" cy="0"/>
        </a:xfrm>
      </p:grpSpPr>
      <p:sp>
        <p:nvSpPr>
          <p:cNvPr id="54" name="Google Shape;54;p14"/>
          <p:cNvSpPr txBox="1">
            <a:spLocks noGrp="1"/>
          </p:cNvSpPr>
          <p:nvPr>
            <p:ph type="title"/>
          </p:nvPr>
        </p:nvSpPr>
        <p:spPr>
          <a:xfrm>
            <a:off x="623888" y="1282303"/>
            <a:ext cx="7886700" cy="2139600"/>
          </a:xfrm>
          <a:prstGeom prst="rect">
            <a:avLst/>
          </a:prstGeom>
          <a:noFill/>
          <a:ln>
            <a:noFill/>
          </a:ln>
        </p:spPr>
        <p:txBody>
          <a:bodyPr spcFirstLastPara="1" wrap="square" lIns="68575" tIns="68575" rIns="68575" bIns="68575" anchor="b" anchorCtr="0">
            <a:noAutofit/>
          </a:bodyPr>
          <a:lstStyle>
            <a:lvl1pPr marR="0" lvl="0" algn="l">
              <a:lnSpc>
                <a:spcPct val="90000"/>
              </a:lnSpc>
              <a:spcBef>
                <a:spcPts val="0"/>
              </a:spcBef>
              <a:spcAft>
                <a:spcPts val="0"/>
              </a:spcAft>
              <a:buClr>
                <a:schemeClr val="dk1"/>
              </a:buClr>
              <a:buSzPts val="4500"/>
              <a:buFont typeface="Calibri"/>
              <a:buNone/>
              <a:defRPr sz="4500" b="0" i="0" u="none" strike="noStrike" cap="none">
                <a:solidFill>
                  <a:schemeClr val="dk1"/>
                </a:solidFill>
                <a:latin typeface="Calibri"/>
                <a:ea typeface="Calibri"/>
                <a:cs typeface="Calibri"/>
                <a:sym typeface="Calibri"/>
              </a:defRPr>
            </a:lvl1pPr>
            <a:lvl2pPr lvl="1" algn="l">
              <a:lnSpc>
                <a:spcPct val="100000"/>
              </a:lnSpc>
              <a:spcBef>
                <a:spcPts val="0"/>
              </a:spcBef>
              <a:spcAft>
                <a:spcPts val="0"/>
              </a:spcAft>
              <a:buSzPts val="1100"/>
              <a:buNone/>
              <a:defRPr sz="1400"/>
            </a:lvl2pPr>
            <a:lvl3pPr lvl="2" algn="l">
              <a:lnSpc>
                <a:spcPct val="100000"/>
              </a:lnSpc>
              <a:spcBef>
                <a:spcPts val="0"/>
              </a:spcBef>
              <a:spcAft>
                <a:spcPts val="0"/>
              </a:spcAft>
              <a:buSzPts val="1100"/>
              <a:buNone/>
              <a:defRPr sz="1400"/>
            </a:lvl3pPr>
            <a:lvl4pPr lvl="3" algn="l">
              <a:lnSpc>
                <a:spcPct val="100000"/>
              </a:lnSpc>
              <a:spcBef>
                <a:spcPts val="0"/>
              </a:spcBef>
              <a:spcAft>
                <a:spcPts val="0"/>
              </a:spcAft>
              <a:buSzPts val="1100"/>
              <a:buNone/>
              <a:defRPr sz="1400"/>
            </a:lvl4pPr>
            <a:lvl5pPr lvl="4" algn="l">
              <a:lnSpc>
                <a:spcPct val="100000"/>
              </a:lnSpc>
              <a:spcBef>
                <a:spcPts val="0"/>
              </a:spcBef>
              <a:spcAft>
                <a:spcPts val="0"/>
              </a:spcAft>
              <a:buSzPts val="1100"/>
              <a:buNone/>
              <a:defRPr sz="1400"/>
            </a:lvl5pPr>
            <a:lvl6pPr lvl="5" algn="l">
              <a:lnSpc>
                <a:spcPct val="100000"/>
              </a:lnSpc>
              <a:spcBef>
                <a:spcPts val="0"/>
              </a:spcBef>
              <a:spcAft>
                <a:spcPts val="0"/>
              </a:spcAft>
              <a:buSzPts val="1100"/>
              <a:buNone/>
              <a:defRPr sz="1400"/>
            </a:lvl6pPr>
            <a:lvl7pPr lvl="6" algn="l">
              <a:lnSpc>
                <a:spcPct val="100000"/>
              </a:lnSpc>
              <a:spcBef>
                <a:spcPts val="0"/>
              </a:spcBef>
              <a:spcAft>
                <a:spcPts val="0"/>
              </a:spcAft>
              <a:buSzPts val="1100"/>
              <a:buNone/>
              <a:defRPr sz="1400"/>
            </a:lvl7pPr>
            <a:lvl8pPr lvl="7" algn="l">
              <a:lnSpc>
                <a:spcPct val="100000"/>
              </a:lnSpc>
              <a:spcBef>
                <a:spcPts val="0"/>
              </a:spcBef>
              <a:spcAft>
                <a:spcPts val="0"/>
              </a:spcAft>
              <a:buSzPts val="1100"/>
              <a:buNone/>
              <a:defRPr sz="1400"/>
            </a:lvl8pPr>
            <a:lvl9pPr lvl="8" algn="l">
              <a:lnSpc>
                <a:spcPct val="100000"/>
              </a:lnSpc>
              <a:spcBef>
                <a:spcPts val="0"/>
              </a:spcBef>
              <a:spcAft>
                <a:spcPts val="0"/>
              </a:spcAft>
              <a:buSzPts val="1100"/>
              <a:buNone/>
              <a:defRPr sz="1400"/>
            </a:lvl9pPr>
          </a:lstStyle>
          <a:p>
            <a:endParaRPr/>
          </a:p>
        </p:txBody>
      </p:sp>
      <p:sp>
        <p:nvSpPr>
          <p:cNvPr id="55" name="Google Shape;55;p14"/>
          <p:cNvSpPr txBox="1">
            <a:spLocks noGrp="1"/>
          </p:cNvSpPr>
          <p:nvPr>
            <p:ph type="body" idx="1"/>
          </p:nvPr>
        </p:nvSpPr>
        <p:spPr>
          <a:xfrm>
            <a:off x="623888" y="3442097"/>
            <a:ext cx="7886700" cy="1125300"/>
          </a:xfrm>
          <a:prstGeom prst="rect">
            <a:avLst/>
          </a:prstGeom>
          <a:noFill/>
          <a:ln>
            <a:noFill/>
          </a:ln>
        </p:spPr>
        <p:txBody>
          <a:bodyPr spcFirstLastPara="1" wrap="square" lIns="68575" tIns="68575" rIns="68575" bIns="68575" anchor="t" anchorCtr="0">
            <a:noAutofit/>
          </a:bodyPr>
          <a:lstStyle>
            <a:lvl1pPr marL="457200" marR="0" lvl="0" indent="-228600" algn="l">
              <a:lnSpc>
                <a:spcPct val="90000"/>
              </a:lnSpc>
              <a:spcBef>
                <a:spcPts val="80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1pPr>
            <a:lvl2pPr marL="914400" marR="0" lvl="1" indent="-228600" algn="l">
              <a:lnSpc>
                <a:spcPct val="90000"/>
              </a:lnSpc>
              <a:spcBef>
                <a:spcPts val="400"/>
              </a:spcBef>
              <a:spcAft>
                <a:spcPts val="0"/>
              </a:spcAft>
              <a:buClr>
                <a:srgbClr val="888888"/>
              </a:buClr>
              <a:buSzPts val="1500"/>
              <a:buFont typeface="Arial"/>
              <a:buNone/>
              <a:defRPr sz="1500" b="0" i="0" u="none" strike="noStrike" cap="none">
                <a:solidFill>
                  <a:srgbClr val="888888"/>
                </a:solidFill>
                <a:latin typeface="Calibri"/>
                <a:ea typeface="Calibri"/>
                <a:cs typeface="Calibri"/>
                <a:sym typeface="Calibri"/>
              </a:defRPr>
            </a:lvl2pPr>
            <a:lvl3pPr marL="1371600" marR="0" lvl="2" indent="-228600" algn="l">
              <a:lnSpc>
                <a:spcPct val="90000"/>
              </a:lnSpc>
              <a:spcBef>
                <a:spcPts val="400"/>
              </a:spcBef>
              <a:spcAft>
                <a:spcPts val="0"/>
              </a:spcAft>
              <a:buClr>
                <a:srgbClr val="888888"/>
              </a:buClr>
              <a:buSzPts val="1400"/>
              <a:buFont typeface="Arial"/>
              <a:buNone/>
              <a:defRPr sz="1400" b="0" i="0" u="none" strike="noStrike" cap="none">
                <a:solidFill>
                  <a:srgbClr val="888888"/>
                </a:solidFill>
                <a:latin typeface="Calibri"/>
                <a:ea typeface="Calibri"/>
                <a:cs typeface="Calibri"/>
                <a:sym typeface="Calibri"/>
              </a:defRPr>
            </a:lvl3pPr>
            <a:lvl4pPr marL="1828800" marR="0" lvl="3"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4pPr>
            <a:lvl5pPr marL="2286000" marR="0" lvl="4"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5pPr>
            <a:lvl6pPr marL="2743200" marR="0" lvl="5"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6pPr>
            <a:lvl7pPr marL="3200400" marR="0" lvl="6"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7pPr>
            <a:lvl8pPr marL="3657600" marR="0" lvl="7"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8pPr>
            <a:lvl9pPr marL="4114800" marR="0" lvl="8"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9pPr>
          </a:lstStyle>
          <a:p>
            <a:endParaRPr/>
          </a:p>
        </p:txBody>
      </p:sp>
      <p:sp>
        <p:nvSpPr>
          <p:cNvPr id="56" name="Google Shape;56;p14"/>
          <p:cNvSpPr txBox="1">
            <a:spLocks noGrp="1"/>
          </p:cNvSpPr>
          <p:nvPr>
            <p:ph type="dt" idx="10"/>
          </p:nvPr>
        </p:nvSpPr>
        <p:spPr>
          <a:xfrm>
            <a:off x="628650" y="4767263"/>
            <a:ext cx="2057400" cy="273900"/>
          </a:xfrm>
          <a:prstGeom prst="rect">
            <a:avLst/>
          </a:prstGeom>
          <a:noFill/>
          <a:ln>
            <a:noFill/>
          </a:ln>
        </p:spPr>
        <p:txBody>
          <a:bodyPr spcFirstLastPara="1" wrap="square" lIns="68575" tIns="68575" rIns="68575" bIns="68575" anchor="ctr" anchorCtr="0">
            <a:noAutofit/>
          </a:bodyPr>
          <a:lstStyle>
            <a:lvl1pPr marR="0" lvl="0" algn="l"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57" name="Google Shape;57;p14"/>
          <p:cNvSpPr txBox="1">
            <a:spLocks noGrp="1"/>
          </p:cNvSpPr>
          <p:nvPr>
            <p:ph type="ftr" idx="11"/>
          </p:nvPr>
        </p:nvSpPr>
        <p:spPr>
          <a:xfrm>
            <a:off x="3028950" y="4767263"/>
            <a:ext cx="3086100" cy="273900"/>
          </a:xfrm>
          <a:prstGeom prst="rect">
            <a:avLst/>
          </a:prstGeom>
          <a:noFill/>
          <a:ln>
            <a:noFill/>
          </a:ln>
        </p:spPr>
        <p:txBody>
          <a:bodyPr spcFirstLastPara="1" wrap="square" lIns="68575" tIns="68575" rIns="68575" bIns="68575" anchor="ctr" anchorCtr="0">
            <a:noAutofit/>
          </a:bodyPr>
          <a:lstStyle>
            <a:lvl1pPr marR="0" lvl="0" algn="ctr"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58" name="Google Shape;58;p14"/>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3" Type="http://schemas.openxmlformats.org/officeDocument/2006/relationships/hyperlink" Target="https://huggingface.co/open-llm-leaderboard" TargetMode="External"/><Relationship Id="rId18" Type="http://schemas.openxmlformats.org/officeDocument/2006/relationships/hyperlink" Target="https://lmarena.ai/leaderboard/text-to-image" TargetMode="External"/><Relationship Id="rId26" Type="http://schemas.openxmlformats.org/officeDocument/2006/relationships/hyperlink" Target="https://www.anthropic.com/news/claude-sonnet-4-6" TargetMode="External"/><Relationship Id="rId39" Type="http://schemas.openxmlformats.org/officeDocument/2006/relationships/hyperlink" Target="https://openai.com/index/gpt-5-1/" TargetMode="External"/><Relationship Id="rId21" Type="http://schemas.openxmlformats.org/officeDocument/2006/relationships/hyperlink" Target="https://platform.openai.com/docs/models/gpt-5.4" TargetMode="External"/><Relationship Id="rId34" Type="http://schemas.openxmlformats.org/officeDocument/2006/relationships/hyperlink" Target="https://blog.google/products/gemini/gemini-3-flash" TargetMode="External"/><Relationship Id="rId7" Type="http://schemas.openxmlformats.org/officeDocument/2006/relationships/hyperlink" Target="https://openlm.ai/chatbot-arena/" TargetMode="External"/><Relationship Id="rId12" Type="http://schemas.openxmlformats.org/officeDocument/2006/relationships/hyperlink" Target="https://artificialanalysis.ai/leaderboards/models" TargetMode="External"/><Relationship Id="rId17" Type="http://schemas.openxmlformats.org/officeDocument/2006/relationships/hyperlink" Target="http://aiarena.alibaba-inc.com/corpora/arena/leaderboard?arenaType=T2I" TargetMode="External"/><Relationship Id="rId25" Type="http://schemas.openxmlformats.org/officeDocument/2006/relationships/hyperlink" Target="https://developers.openai.com/api/docs/models/gpt-5.2-chat-latest" TargetMode="External"/><Relationship Id="rId33" Type="http://schemas.openxmlformats.org/officeDocument/2006/relationships/hyperlink" Target="https://seed.bytedance.com/en/blog/dola-seed-2-0-preview-model-release-on-arena" TargetMode="External"/><Relationship Id="rId38" Type="http://schemas.openxmlformats.org/officeDocument/2006/relationships/hyperlink" Target="https://huggingface.co/zai-org/GLM-5" TargetMode="External"/><Relationship Id="rId2" Type="http://schemas.openxmlformats.org/officeDocument/2006/relationships/notesSlide" Target="../notesSlides/notesSlide2.xml"/><Relationship Id="rId16" Type="http://schemas.openxmlformats.org/officeDocument/2006/relationships/hyperlink" Target="https://artificialanalysis.ai/models/grok-4" TargetMode="External"/><Relationship Id="rId20" Type="http://schemas.openxmlformats.org/officeDocument/2006/relationships/hyperlink" Target="https://blog.google/innovation-and-ai/models-and-research/gemini-models/gemini-3-1-pro/" TargetMode="External"/><Relationship Id="rId29" Type="http://schemas.openxmlformats.org/officeDocument/2006/relationships/hyperlink" Target="https://openai.com/index/gpt-5-3-instant/" TargetMode="External"/><Relationship Id="rId1" Type="http://schemas.openxmlformats.org/officeDocument/2006/relationships/slideLayout" Target="../slideLayouts/slideLayout1.xml"/><Relationship Id="rId6" Type="http://schemas.openxmlformats.org/officeDocument/2006/relationships/hyperlink" Target="https://www.designarena.ai" TargetMode="External"/><Relationship Id="rId11" Type="http://schemas.openxmlformats.org/officeDocument/2006/relationships/hyperlink" Target="https://www.stack-ai.com/llm-leaderboard" TargetMode="External"/><Relationship Id="rId24" Type="http://schemas.openxmlformats.org/officeDocument/2006/relationships/hyperlink" Target="https://docs.x.ai/developers/models/grok-4.20-beta-0309-reasoning" TargetMode="External"/><Relationship Id="rId32" Type="http://schemas.openxmlformats.org/officeDocument/2006/relationships/hyperlink" Target="https://mimo.xiaomi.com/mimo-v2-pro" TargetMode="External"/><Relationship Id="rId37" Type="http://schemas.openxmlformats.org/officeDocument/2006/relationships/hyperlink" Target="https://x.ai/news/grok-4-1" TargetMode="External"/><Relationship Id="rId5" Type="http://schemas.openxmlformats.org/officeDocument/2006/relationships/hyperlink" Target="https://lmarena.ai/leaderboard/text/coding" TargetMode="External"/><Relationship Id="rId15" Type="http://schemas.openxmlformats.org/officeDocument/2006/relationships/hyperlink" Target="https://epoch.ai/data/ai-benchmarking-dashboard" TargetMode="External"/><Relationship Id="rId23" Type="http://schemas.openxmlformats.org/officeDocument/2006/relationships/hyperlink" Target="https://grok.com/" TargetMode="External"/><Relationship Id="rId28" Type="http://schemas.openxmlformats.org/officeDocument/2006/relationships/hyperlink" Target="https://aistudio.google.com/app/prompts/new_chat?model=gemini-3-pro-preview" TargetMode="External"/><Relationship Id="rId36" Type="http://schemas.openxmlformats.org/officeDocument/2006/relationships/hyperlink" Target="https://openai.com/index/introducing-gpt-5-4-mini-and-nano/" TargetMode="External"/><Relationship Id="rId10" Type="http://schemas.openxmlformats.org/officeDocument/2006/relationships/hyperlink" Target="https://llmworld.net/llm_leaderboards/" TargetMode="External"/><Relationship Id="rId19" Type="http://schemas.openxmlformats.org/officeDocument/2006/relationships/hyperlink" Target="https://www.anthropic.com/news/claude-opus-4-6" TargetMode="External"/><Relationship Id="rId31" Type="http://schemas.openxmlformats.org/officeDocument/2006/relationships/hyperlink" Target="https://qwen.ai/blog?id=qwen3.5-max-preview" TargetMode="External"/><Relationship Id="rId4" Type="http://schemas.openxmlformats.org/officeDocument/2006/relationships/hyperlink" Target="https://lmarena.ai/leaderboard/text" TargetMode="External"/><Relationship Id="rId9" Type="http://schemas.openxmlformats.org/officeDocument/2006/relationships/hyperlink" Target="https://web.lmarena.ai/leaderboard" TargetMode="External"/><Relationship Id="rId14" Type="http://schemas.openxmlformats.org/officeDocument/2006/relationships/hyperlink" Target="https://www.vellum.ai/llm-leaderboard" TargetMode="External"/><Relationship Id="rId22" Type="http://schemas.openxmlformats.org/officeDocument/2006/relationships/hyperlink" Target="https://www.anthropic.com/news/claude-opus-4-5" TargetMode="External"/><Relationship Id="rId27" Type="http://schemas.openxmlformats.org/officeDocument/2006/relationships/hyperlink" Target="https://www.anthropic.com/news/claude-sonnet-4-5" TargetMode="External"/><Relationship Id="rId30" Type="http://schemas.openxmlformats.org/officeDocument/2006/relationships/hyperlink" Target="https://www.anthropic.com/news/claude-opus-4-1" TargetMode="External"/><Relationship Id="rId35" Type="http://schemas.openxmlformats.org/officeDocument/2006/relationships/hyperlink" Target="https://www.kimi.com/blog/kimi-k2-5.html" TargetMode="External"/><Relationship Id="rId8" Type="http://schemas.openxmlformats.org/officeDocument/2006/relationships/hyperlink" Target="https://beta.lmarena.ai" TargetMode="External"/><Relationship Id="rId3" Type="http://schemas.openxmlformats.org/officeDocument/2006/relationships/hyperlink" Target="https://en.wikipedia.org/wiki/Elo_rating_system" TargetMode="External"/></Relationships>
</file>

<file path=ppt/slides/_rels/slide3.xml.rels><?xml version="1.0" encoding="UTF-8" standalone="yes"?>
<Relationships xmlns="http://schemas.openxmlformats.org/package/2006/relationships"><Relationship Id="rId8" Type="http://schemas.openxmlformats.org/officeDocument/2006/relationships/hyperlink" Target="https://www.youtube.com/watch?v=UkCfrNTzUMM" TargetMode="External"/><Relationship Id="rId3" Type="http://schemas.openxmlformats.org/officeDocument/2006/relationships/hyperlink" Target="https://arcprize.org/arc-agi/3" TargetMode="External"/><Relationship Id="rId7" Type="http://schemas.openxmlformats.org/officeDocument/2006/relationships/hyperlink" Target="https://www.youtube.com/watch?v=3T4OwBp6d90" TargetMode="External"/><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hyperlink" Target="https://three.arcprize.org" TargetMode="External"/><Relationship Id="rId5" Type="http://schemas.openxmlformats.org/officeDocument/2006/relationships/hyperlink" Target="https://arcprize.org/media/ARC_AGI_3_Technical_Report.pdf" TargetMode="External"/><Relationship Id="rId10" Type="http://schemas.openxmlformats.org/officeDocument/2006/relationships/image" Target="../media/image1.png"/><Relationship Id="rId4" Type="http://schemas.openxmlformats.org/officeDocument/2006/relationships/hyperlink" Target="https://arcprize.org/blog/arc-agi-3-launch" TargetMode="External"/><Relationship Id="rId9" Type="http://schemas.openxmlformats.org/officeDocument/2006/relationships/hyperlink" Target="https://www.symbolica.ai/blog/arc-agi-3" TargetMode="External"/></Relationships>
</file>

<file path=ppt/slides/_rels/slide4.xml.rels><?xml version="1.0" encoding="UTF-8" standalone="yes"?>
<Relationships xmlns="http://schemas.openxmlformats.org/package/2006/relationships"><Relationship Id="rId3" Type="http://schemas.openxmlformats.org/officeDocument/2006/relationships/hyperlink" Target="https://x.com/simplifyinAI/status/2036757262362955872" TargetMode="External"/><Relationship Id="rId2" Type="http://schemas.openxmlformats.org/officeDocument/2006/relationships/notesSlide" Target="../notesSlides/notesSlide4.xml"/><Relationship Id="rId1" Type="http://schemas.openxmlformats.org/officeDocument/2006/relationships/slideLayout" Target="../slideLayouts/slideLayout1.xml"/><Relationship Id="rId5" Type="http://schemas.openxmlformats.org/officeDocument/2006/relationships/hyperlink" Target="https://themesis.com/2026/01/07/world-models-five-competing-approaches/" TargetMode="Externa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hyperlink" Target="https://www.youtube.com/@lev-selector/videos" TargetMode="External"/><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hyperlink" Target="https://www.cnbc.com/2026/03/26/google-ai-turboquant-memory-chip-stocks-samsung-micron.html" TargetMode="External"/><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hyperlink" Target="https://www.youtube.com/watch?v=6SnFH43qPAw" TargetMode="External"/></Relationships>
</file>

<file path=ppt/slides/_rels/slide8.xml.rels><?xml version="1.0" encoding="UTF-8" standalone="yes"?>
<Relationships xmlns="http://schemas.openxmlformats.org/package/2006/relationships"><Relationship Id="rId3" Type="http://schemas.openxmlformats.org/officeDocument/2006/relationships/hyperlink" Target="https://www.accio.com" TargetMode="External"/><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hyperlink" Target="https://www.prnewswire.com/news-releases/alibaba-international-launches-accio-work-an-enterprise-ai-agent-for-global-businesses-302721693.html" TargetMode="External"/></Relationships>
</file>

<file path=ppt/slides/_rels/slide9.xml.rels><?xml version="1.0" encoding="UTF-8" standalone="yes"?>
<Relationships xmlns="http://schemas.openxmlformats.org/package/2006/relationships"><Relationship Id="rId3" Type="http://schemas.openxmlformats.org/officeDocument/2006/relationships/hyperlink" Target="https://www.youtube.com/watch?v=twsWm11W9Lw" TargetMode="External"/><Relationship Id="rId7" Type="http://schemas.openxmlformats.org/officeDocument/2006/relationships/image" Target="../media/image11.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10.png"/><Relationship Id="rId5" Type="http://schemas.openxmlformats.org/officeDocument/2006/relationships/hyperlink" Target="https://suno.com/blog/v5-5" TargetMode="External"/><Relationship Id="rId4" Type="http://schemas.openxmlformats.org/officeDocument/2006/relationships/hyperlink" Target="https://www.youtube.com/watch?v=LvU1CACAPq8" TargetMode="External"/></Relationships>
</file>

<file path=ppt/slides/_rels/slide10.xml.rels><?xml version="1.0" encoding="UTF-8" standalone="yes"?>
<Relationships xmlns="http://schemas.openxmlformats.org/package/2006/relationships"><Relationship Id="rId3" Type="http://schemas.openxmlformats.org/officeDocument/2006/relationships/hyperlink" Target="https://github.com/anthropics/knowledge-work-plugins/tree/main/data" TargetMode="External"/><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hyperlink" Target="https://www.youtube.com/watch?v=F_i_s0L2aWY" TargetMode="External"/><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12.xml.rels><?xml version="1.0" encoding="UTF-8" standalone="yes"?>
<Relationships xmlns="http://schemas.openxmlformats.org/package/2006/relationships"><Relationship Id="rId3" Type="http://schemas.openxmlformats.org/officeDocument/2006/relationships/hyperlink" Target="https://realrestorer.com" TargetMode="External"/><Relationship Id="rId7" Type="http://schemas.openxmlformats.org/officeDocument/2006/relationships/image" Target="../media/image14.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hyperlink" Target="https://ai.meta.com/blog/tribe-v2-brain-predictive-foundation-model/" TargetMode="External"/><Relationship Id="rId4" Type="http://schemas.openxmlformats.org/officeDocument/2006/relationships/hyperlink" Target="https://arxiv.org/abs/2603.25502" TargetMode="External"/></Relationships>
</file>

<file path=ppt/slides/_rels/slide13.xml.rels><?xml version="1.0" encoding="UTF-8" standalone="yes"?>
<Relationships xmlns="http://schemas.openxmlformats.org/package/2006/relationships"><Relationship Id="rId3" Type="http://schemas.openxmlformats.org/officeDocument/2006/relationships/hyperlink" Target="https://docs.z.ai/devpack/using5.1" TargetMode="External"/><Relationship Id="rId7" Type="http://schemas.openxmlformats.org/officeDocument/2006/relationships/image" Target="../media/image16.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15.png"/><Relationship Id="rId5" Type="http://schemas.openxmlformats.org/officeDocument/2006/relationships/hyperlink" Target="https://huggingface.co/CohereLabs/cohere-transcribe-03-2026" TargetMode="External"/><Relationship Id="rId4" Type="http://schemas.openxmlformats.org/officeDocument/2006/relationships/hyperlink" Target="https://cohere.com/blog/transcribe" TargetMode="External"/></Relationships>
</file>

<file path=ppt/slides/_rels/slide1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hyperlink" Target="https://www.linkedin.com/feed/update/urn:li:activity:7440049375902461955/" TargetMode="External"/><Relationship Id="rId2" Type="http://schemas.openxmlformats.org/officeDocument/2006/relationships/notesSlide" Target="../notesSlides/notesSlide15.xml"/><Relationship Id="rId1" Type="http://schemas.openxmlformats.org/officeDocument/2006/relationships/slideLayout" Target="../slideLayouts/slideLayout1.xml"/><Relationship Id="rId5" Type="http://schemas.openxmlformats.org/officeDocument/2006/relationships/hyperlink" Target="https://www.linkedin.com/in/jose-gregorio-argomedo/" TargetMode="External"/><Relationship Id="rId4" Type="http://schemas.openxmlformats.org/officeDocument/2006/relationships/image" Target="../media/image18.png"/></Relationships>
</file>

<file path=ppt/slides/_rels/slide16.xml.rels><?xml version="1.0" encoding="UTF-8" standalone="yes"?>
<Relationships xmlns="http://schemas.openxmlformats.org/package/2006/relationships"><Relationship Id="rId3" Type="http://schemas.openxmlformats.org/officeDocument/2006/relationships/hyperlink" Target="https://instadoodle.com" TargetMode="External"/><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hyperlink" Target="https://www.youtube.com/watch?v=sXVbWkoCVaA" TargetMode="External"/><Relationship Id="rId2" Type="http://schemas.openxmlformats.org/officeDocument/2006/relationships/notesSlide" Target="../notesSlides/notesSlide17.xml"/><Relationship Id="rId1" Type="http://schemas.openxmlformats.org/officeDocument/2006/relationships/slideLayout" Target="../slideLayouts/slideLayout1.xml"/><Relationship Id="rId5" Type="http://schemas.openxmlformats.org/officeDocument/2006/relationships/hyperlink" Target="https://www.youtube.com/watch?v=MM320sAhFoY" TargetMode="External"/><Relationship Id="rId4" Type="http://schemas.openxmlformats.org/officeDocument/2006/relationships/image" Target="../media/image19.png"/></Relationships>
</file>

<file path=ppt/slides/_rels/slide18.xml.rels><?xml version="1.0" encoding="UTF-8" standalone="yes"?>
<Relationships xmlns="http://schemas.openxmlformats.org/package/2006/relationships"><Relationship Id="rId3" Type="http://schemas.openxmlformats.org/officeDocument/2006/relationships/hyperlink" Target="https://www.youtube.com/watch?v=THx8X6anPPg" TargetMode="External"/><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20.png"/></Relationships>
</file>

<file path=ppt/slides/_rels/slide19.xml.rels><?xml version="1.0" encoding="UTF-8" standalone="yes"?>
<Relationships xmlns="http://schemas.openxmlformats.org/package/2006/relationships"><Relationship Id="rId3" Type="http://schemas.openxmlformats.org/officeDocument/2006/relationships/hyperlink" Target="http://www.youtube.com/watch?v=kwSVtQ7dziU" TargetMode="External"/><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21.png"/></Relationships>
</file>

<file path=ppt/slides/_rels/slide20.xml.rels><?xml version="1.0" encoding="UTF-8" standalone="yes"?>
<Relationships xmlns="http://schemas.openxmlformats.org/package/2006/relationships"><Relationship Id="rId3" Type="http://schemas.openxmlformats.org/officeDocument/2006/relationships/hyperlink" Target="https://www.youtube.com/watch?v=I39UoIGTptc" TargetMode="External"/><Relationship Id="rId2" Type="http://schemas.openxmlformats.org/officeDocument/2006/relationships/notesSlide" Target="../notesSlides/notesSlide20.xml"/><Relationship Id="rId1" Type="http://schemas.openxmlformats.org/officeDocument/2006/relationships/slideLayout" Target="../slideLayouts/slideLayout1.xml"/><Relationship Id="rId5" Type="http://schemas.openxmlformats.org/officeDocument/2006/relationships/image" Target="../media/image23.png"/><Relationship Id="rId4" Type="http://schemas.openxmlformats.org/officeDocument/2006/relationships/image" Target="../media/image22.png"/></Relationships>
</file>

<file path=ppt/slides/_rels/slide21.xml.rels><?xml version="1.0" encoding="UTF-8" standalone="yes"?>
<Relationships xmlns="http://schemas.openxmlformats.org/package/2006/relationships"><Relationship Id="rId3" Type="http://schemas.openxmlformats.org/officeDocument/2006/relationships/hyperlink" Target="https://layoffs.fyi" TargetMode="External"/><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hyperlink" Target="https://trueup.io/layoffs" TargetMode="External"/></Relationships>
</file>

<file path=ppt/slides/_rels/slide22.xml.rels><?xml version="1.0" encoding="UTF-8" standalone="yes"?>
<Relationships xmlns="http://schemas.openxmlformats.org/package/2006/relationships"><Relationship Id="rId3" Type="http://schemas.openxmlformats.org/officeDocument/2006/relationships/image" Target="../media/image26.jpeg"/><Relationship Id="rId2" Type="http://schemas.openxmlformats.org/officeDocument/2006/relationships/notesSlide" Target="../notesSlides/notesSlide22.xml"/><Relationship Id="rId1" Type="http://schemas.openxmlformats.org/officeDocument/2006/relationships/slideLayout" Target="../slideLayouts/slideLayout1.xml"/><Relationship Id="rId5" Type="http://schemas.openxmlformats.org/officeDocument/2006/relationships/hyperlink" Target="https://eais.ai" TargetMode="External"/><Relationship Id="rId4" Type="http://schemas.openxmlformats.org/officeDocument/2006/relationships/image" Target="../media/image27.png"/></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2"/>
        <p:cNvGrpSpPr/>
        <p:nvPr/>
      </p:nvGrpSpPr>
      <p:grpSpPr>
        <a:xfrm>
          <a:off x="0" y="0"/>
          <a:ext cx="0" cy="0"/>
          <a:chOff x="0" y="0"/>
          <a:chExt cx="0" cy="0"/>
        </a:xfrm>
      </p:grpSpPr>
      <p:sp>
        <p:nvSpPr>
          <p:cNvPr id="63" name="Google Shape;63;p15"/>
          <p:cNvSpPr txBox="1"/>
          <p:nvPr/>
        </p:nvSpPr>
        <p:spPr>
          <a:xfrm>
            <a:off x="78651" y="459020"/>
            <a:ext cx="4420200" cy="1003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Crowd-sourced "LM Arena" Leaderboard</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ARC-AGI-3</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LeWorldModel</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endParaRPr sz="1600" b="1">
              <a:solidFill>
                <a:srgbClr val="3C78D8"/>
              </a:solidFill>
              <a:latin typeface="Calibri"/>
              <a:ea typeface="Calibri"/>
              <a:cs typeface="Calibri"/>
              <a:sym typeface="Calibri"/>
            </a:endParaRPr>
          </a:p>
        </p:txBody>
      </p:sp>
      <p:sp>
        <p:nvSpPr>
          <p:cNvPr id="64" name="Google Shape;64;p15"/>
          <p:cNvSpPr txBox="1"/>
          <p:nvPr/>
        </p:nvSpPr>
        <p:spPr>
          <a:xfrm>
            <a:off x="0" y="-22692"/>
            <a:ext cx="4420200" cy="480300"/>
          </a:xfrm>
          <a:prstGeom prst="rect">
            <a:avLst/>
          </a:prstGeom>
          <a:noFill/>
          <a:ln>
            <a:noFill/>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rgbClr val="000000"/>
              </a:buClr>
              <a:buSzPts val="3600"/>
              <a:buFont typeface="Arial"/>
              <a:buNone/>
            </a:pPr>
            <a:r>
              <a:rPr lang="en" sz="3000" b="1">
                <a:solidFill>
                  <a:srgbClr val="3C78D8"/>
                </a:solidFill>
                <a:latin typeface="Calibri"/>
                <a:ea typeface="Calibri"/>
                <a:cs typeface="Calibri"/>
                <a:sym typeface="Calibri"/>
              </a:rPr>
              <a:t>AI Updates - Apr 3, 2026</a:t>
            </a:r>
            <a:endParaRPr sz="3000" b="1">
              <a:solidFill>
                <a:srgbClr val="3C78D8"/>
              </a:solidFill>
              <a:latin typeface="Calibri"/>
              <a:ea typeface="Calibri"/>
              <a:cs typeface="Calibri"/>
              <a:sym typeface="Calibri"/>
            </a:endParaRPr>
          </a:p>
        </p:txBody>
      </p:sp>
      <p:sp>
        <p:nvSpPr>
          <p:cNvPr id="65" name="Google Shape;65;p15"/>
          <p:cNvSpPr txBox="1"/>
          <p:nvPr/>
        </p:nvSpPr>
        <p:spPr>
          <a:xfrm>
            <a:off x="4574323" y="4691796"/>
            <a:ext cx="4502400" cy="264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15900" algn="l" rtl="0">
              <a:lnSpc>
                <a:spcPct val="100000"/>
              </a:lnSpc>
              <a:spcBef>
                <a:spcPts val="0"/>
              </a:spcBef>
              <a:spcAft>
                <a:spcPts val="0"/>
              </a:spcAft>
              <a:buClr>
                <a:srgbClr val="3C78D8"/>
              </a:buClr>
              <a:buSzPts val="1600"/>
              <a:buFont typeface="Calibri"/>
              <a:buChar char="●"/>
            </a:pPr>
            <a:r>
              <a:rPr lang="en" sz="1600" b="1" i="0" u="none" strike="noStrike" cap="none">
                <a:solidFill>
                  <a:srgbClr val="3C78D8"/>
                </a:solidFill>
                <a:latin typeface="Calibri"/>
                <a:ea typeface="Calibri"/>
                <a:cs typeface="Calibri"/>
                <a:sym typeface="Calibri"/>
              </a:rPr>
              <a:t>Jobs, Layoffs, </a:t>
            </a:r>
            <a:r>
              <a:rPr lang="en" sz="1600" b="1">
                <a:solidFill>
                  <a:srgbClr val="3C78D8"/>
                </a:solidFill>
                <a:latin typeface="Calibri"/>
                <a:ea typeface="Calibri"/>
                <a:cs typeface="Calibri"/>
                <a:sym typeface="Calibri"/>
              </a:rPr>
              <a:t>demand for AI Engineers</a:t>
            </a:r>
            <a:endParaRPr sz="1600" b="1" i="0" u="none" strike="noStrike" cap="none">
              <a:solidFill>
                <a:srgbClr val="3C78D8"/>
              </a:solidFill>
              <a:latin typeface="Calibri"/>
              <a:ea typeface="Calibri"/>
              <a:cs typeface="Calibri"/>
              <a:sym typeface="Calibri"/>
            </a:endParaRPr>
          </a:p>
        </p:txBody>
      </p:sp>
      <p:sp>
        <p:nvSpPr>
          <p:cNvPr id="66" name="Google Shape;66;p15"/>
          <p:cNvSpPr txBox="1"/>
          <p:nvPr/>
        </p:nvSpPr>
        <p:spPr>
          <a:xfrm>
            <a:off x="78651" y="1736207"/>
            <a:ext cx="4420200" cy="32202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Google TurboQuant Vector Compression</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OpenAI Spud Model</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Five open-source repos for Claude Code</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Alibaba Accio Work</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Ollama Pi - lightweight coding agent</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EVO 2 model for DNA analysis</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Suno v.5.5 Text-to-Music</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Claude Data Analyst Plugin</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10 Claude Code Features</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RealRestorer - fix photos</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Meta TRIBE V2 predicts human brain activity</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GLM 5.1 by Z.ai</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Cohere Transcribe speech-to-text</a:t>
            </a:r>
            <a:endParaRPr sz="1600" b="1">
              <a:solidFill>
                <a:srgbClr val="3C78D8"/>
              </a:solidFill>
              <a:latin typeface="Calibri"/>
              <a:ea typeface="Calibri"/>
              <a:cs typeface="Calibri"/>
              <a:sym typeface="Calibri"/>
            </a:endParaRPr>
          </a:p>
        </p:txBody>
      </p:sp>
      <p:sp>
        <p:nvSpPr>
          <p:cNvPr id="67" name="Google Shape;67;p15"/>
          <p:cNvSpPr txBox="1"/>
          <p:nvPr/>
        </p:nvSpPr>
        <p:spPr>
          <a:xfrm>
            <a:off x="4574323" y="1736198"/>
            <a:ext cx="4502400" cy="1742400"/>
          </a:xfrm>
          <a:prstGeom prst="rect">
            <a:avLst/>
          </a:prstGeom>
          <a:solidFill>
            <a:srgbClr val="C7E6AF"/>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AI Agent as a Consigliere</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Good Engineering Have Not Got Cheaper</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InstaDoodle - create animated presentations</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Four Autonomous Agents Projects</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Claude Code Toolkit - by CEO of Y Combinator</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Andrej Karpathy Interview</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Mo Gawdat Interview</a:t>
            </a:r>
            <a:endParaRPr sz="1600" b="1">
              <a:solidFill>
                <a:srgbClr val="3C78D8"/>
              </a:solidFill>
              <a:latin typeface="Calibri"/>
              <a:ea typeface="Calibri"/>
              <a:cs typeface="Calibri"/>
              <a:sym typeface="Calibri"/>
            </a:endParaRPr>
          </a:p>
        </p:txBody>
      </p:sp>
      <p:sp>
        <p:nvSpPr>
          <p:cNvPr id="68" name="Google Shape;68;p15"/>
          <p:cNvSpPr txBox="1"/>
          <p:nvPr/>
        </p:nvSpPr>
        <p:spPr>
          <a:xfrm>
            <a:off x="4574300" y="151675"/>
            <a:ext cx="4502400" cy="12498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600" b="1" i="1">
                <a:solidFill>
                  <a:srgbClr val="FF0000"/>
                </a:solidFill>
                <a:latin typeface="Calibri"/>
                <a:ea typeface="Calibri"/>
                <a:cs typeface="Calibri"/>
                <a:sym typeface="Calibri"/>
              </a:rPr>
              <a:t>AI is happening: </a:t>
            </a:r>
            <a:endParaRPr sz="1600" b="1" i="1">
              <a:solidFill>
                <a:srgbClr val="FF0000"/>
              </a:solidFill>
              <a:latin typeface="Calibri"/>
              <a:ea typeface="Calibri"/>
              <a:cs typeface="Calibri"/>
              <a:sym typeface="Calibri"/>
            </a:endParaRPr>
          </a:p>
          <a:p>
            <a:pPr marL="0" marR="0" lvl="0" indent="0" algn="l" rtl="0">
              <a:lnSpc>
                <a:spcPct val="100000"/>
              </a:lnSpc>
              <a:spcBef>
                <a:spcPts val="0"/>
              </a:spcBef>
              <a:spcAft>
                <a:spcPts val="0"/>
              </a:spcAft>
              <a:buNone/>
            </a:pPr>
            <a:r>
              <a:rPr lang="en" sz="1600" b="1" i="1">
                <a:solidFill>
                  <a:srgbClr val="FF0000"/>
                </a:solidFill>
                <a:latin typeface="Calibri"/>
                <a:ea typeface="Calibri"/>
                <a:cs typeface="Calibri"/>
                <a:sym typeface="Calibri"/>
              </a:rPr>
              <a:t>It is already integrated into our daily lives.</a:t>
            </a:r>
            <a:endParaRPr sz="1600" b="1" i="1">
              <a:solidFill>
                <a:srgbClr val="FF0000"/>
              </a:solidFill>
              <a:latin typeface="Calibri"/>
              <a:ea typeface="Calibri"/>
              <a:cs typeface="Calibri"/>
              <a:sym typeface="Calibri"/>
            </a:endParaRPr>
          </a:p>
          <a:p>
            <a:pPr marL="0" marR="0" lvl="0" indent="0" algn="l" rtl="0">
              <a:lnSpc>
                <a:spcPct val="100000"/>
              </a:lnSpc>
              <a:spcBef>
                <a:spcPts val="0"/>
              </a:spcBef>
              <a:spcAft>
                <a:spcPts val="0"/>
              </a:spcAft>
              <a:buNone/>
            </a:pPr>
            <a:endParaRPr sz="1600" b="1" i="1">
              <a:solidFill>
                <a:srgbClr val="FF0000"/>
              </a:solidFill>
              <a:latin typeface="Calibri"/>
              <a:ea typeface="Calibri"/>
              <a:cs typeface="Calibri"/>
              <a:sym typeface="Calibri"/>
            </a:endParaRPr>
          </a:p>
          <a:p>
            <a:pPr marL="0" marR="0" lvl="0" indent="0" algn="l" rtl="0">
              <a:lnSpc>
                <a:spcPct val="100000"/>
              </a:lnSpc>
              <a:spcBef>
                <a:spcPts val="0"/>
              </a:spcBef>
              <a:spcAft>
                <a:spcPts val="0"/>
              </a:spcAft>
              <a:buNone/>
            </a:pPr>
            <a:r>
              <a:rPr lang="en" sz="1600" b="1" i="1">
                <a:solidFill>
                  <a:srgbClr val="FF0000"/>
                </a:solidFill>
                <a:latin typeface="Calibri"/>
                <a:ea typeface="Calibri"/>
                <a:cs typeface="Calibri"/>
                <a:sym typeface="Calibri"/>
              </a:rPr>
              <a:t>It will be smarter than humans by 2029.</a:t>
            </a:r>
            <a:endParaRPr sz="1600" b="1" i="1">
              <a:solidFill>
                <a:srgbClr val="FF0000"/>
              </a:solidFill>
              <a:latin typeface="Calibri"/>
              <a:ea typeface="Calibri"/>
              <a:cs typeface="Calibri"/>
              <a:sym typeface="Calibri"/>
            </a:endParaRPr>
          </a:p>
          <a:p>
            <a:pPr marL="0" marR="0" lvl="0" indent="0" algn="l" rtl="0">
              <a:lnSpc>
                <a:spcPct val="100000"/>
              </a:lnSpc>
              <a:spcBef>
                <a:spcPts val="0"/>
              </a:spcBef>
              <a:spcAft>
                <a:spcPts val="0"/>
              </a:spcAft>
              <a:buNone/>
            </a:pPr>
            <a:r>
              <a:rPr lang="en" sz="1600" b="1" i="1">
                <a:solidFill>
                  <a:srgbClr val="FF0000"/>
                </a:solidFill>
                <a:latin typeface="Calibri"/>
                <a:ea typeface="Calibri"/>
                <a:cs typeface="Calibri"/>
                <a:sym typeface="Calibri"/>
              </a:rPr>
              <a:t>It will be Bln times smarter than humans by 2045.</a:t>
            </a:r>
            <a:endParaRPr sz="1600" b="1" i="1">
              <a:solidFill>
                <a:srgbClr val="FF0000"/>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2"/>
        <p:cNvGrpSpPr/>
        <p:nvPr/>
      </p:nvGrpSpPr>
      <p:grpSpPr>
        <a:xfrm>
          <a:off x="0" y="0"/>
          <a:ext cx="0" cy="0"/>
          <a:chOff x="0" y="0"/>
          <a:chExt cx="0" cy="0"/>
        </a:xfrm>
      </p:grpSpPr>
      <p:sp>
        <p:nvSpPr>
          <p:cNvPr id="73" name="Google Shape;73;p16"/>
          <p:cNvSpPr txBox="1"/>
          <p:nvPr/>
        </p:nvSpPr>
        <p:spPr>
          <a:xfrm>
            <a:off x="6736325" y="52350"/>
            <a:ext cx="2356200" cy="341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200" b="0" i="0" u="none" strike="noStrike" cap="none">
                <a:solidFill>
                  <a:schemeClr val="dk1"/>
                </a:solidFill>
                <a:latin typeface="Calibri"/>
                <a:ea typeface="Calibri"/>
                <a:cs typeface="Calibri"/>
                <a:sym typeface="Calibri"/>
              </a:rPr>
              <a:t>Starting Elo rating = 1000</a:t>
            </a:r>
            <a:endParaRPr sz="12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900" b="0" i="0" u="sng" strike="noStrike" cap="none">
                <a:solidFill>
                  <a:schemeClr val="hlink"/>
                </a:solidFill>
                <a:latin typeface="Calibri"/>
                <a:ea typeface="Calibri"/>
                <a:cs typeface="Calibri"/>
                <a:sym typeface="Calibri"/>
                <a:hlinkClick r:id="rId3"/>
              </a:rPr>
              <a:t>https://en.wikipedia.org/wiki/Elo_rating_system</a:t>
            </a:r>
            <a:r>
              <a:rPr lang="en" sz="900" b="0" i="0" u="none" strike="noStrike" cap="none">
                <a:solidFill>
                  <a:schemeClr val="dk1"/>
                </a:solidFill>
                <a:latin typeface="Calibri"/>
                <a:ea typeface="Calibri"/>
                <a:cs typeface="Calibri"/>
                <a:sym typeface="Calibri"/>
              </a:rPr>
              <a:t> </a:t>
            </a:r>
            <a:endParaRPr sz="900" b="0" i="0" u="none" strike="noStrike" cap="none">
              <a:solidFill>
                <a:schemeClr val="dk1"/>
              </a:solidFill>
              <a:latin typeface="Calibri"/>
              <a:ea typeface="Calibri"/>
              <a:cs typeface="Calibri"/>
              <a:sym typeface="Calibri"/>
            </a:endParaRPr>
          </a:p>
        </p:txBody>
      </p:sp>
      <p:sp>
        <p:nvSpPr>
          <p:cNvPr id="74" name="Google Shape;74;p16"/>
          <p:cNvSpPr txBox="1"/>
          <p:nvPr/>
        </p:nvSpPr>
        <p:spPr>
          <a:xfrm>
            <a:off x="38150" y="2125"/>
            <a:ext cx="2599800" cy="2955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1800" b="1" i="0" u="none" strike="noStrike" cap="none">
                <a:solidFill>
                  <a:schemeClr val="dk1"/>
                </a:solidFill>
                <a:latin typeface="Calibri"/>
                <a:ea typeface="Calibri"/>
                <a:cs typeface="Calibri"/>
                <a:sym typeface="Calibri"/>
              </a:rPr>
              <a:t>"LM Arena" Leaderboard</a:t>
            </a:r>
            <a:endParaRPr sz="1800" b="1" i="0" u="none" strike="noStrike" cap="none">
              <a:solidFill>
                <a:srgbClr val="000000"/>
              </a:solidFill>
              <a:latin typeface="Calibri"/>
              <a:ea typeface="Calibri"/>
              <a:cs typeface="Calibri"/>
              <a:sym typeface="Calibri"/>
            </a:endParaRPr>
          </a:p>
        </p:txBody>
      </p:sp>
      <p:sp>
        <p:nvSpPr>
          <p:cNvPr id="75" name="Google Shape;75;p16"/>
          <p:cNvSpPr txBox="1"/>
          <p:nvPr/>
        </p:nvSpPr>
        <p:spPr>
          <a:xfrm>
            <a:off x="52418" y="476072"/>
            <a:ext cx="25998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English - </a:t>
            </a:r>
            <a:r>
              <a:rPr lang="en" sz="900" b="1" u="sng">
                <a:solidFill>
                  <a:schemeClr val="hlink"/>
                </a:solidFill>
                <a:latin typeface="Calibri"/>
                <a:ea typeface="Calibri"/>
                <a:cs typeface="Calibri"/>
                <a:sym typeface="Calibri"/>
                <a:hlinkClick r:id="rId4"/>
              </a:rPr>
              <a:t>https://lmarena.ai/leaderboard/text</a:t>
            </a:r>
            <a:r>
              <a:rPr lang="en" sz="900" b="1">
                <a:solidFill>
                  <a:srgbClr val="FF0000"/>
                </a:solidFill>
                <a:latin typeface="Calibri"/>
                <a:ea typeface="Calibri"/>
                <a:cs typeface="Calibri"/>
                <a:sym typeface="Calibri"/>
              </a:rPr>
              <a:t> </a:t>
            </a:r>
            <a:endParaRPr sz="900" b="1">
              <a:solidFill>
                <a:srgbClr val="FF0000"/>
              </a:solidFill>
              <a:latin typeface="Calibri"/>
              <a:ea typeface="Calibri"/>
              <a:cs typeface="Calibri"/>
              <a:sym typeface="Calibri"/>
            </a:endParaRPr>
          </a:p>
        </p:txBody>
      </p:sp>
      <p:sp>
        <p:nvSpPr>
          <p:cNvPr id="76" name="Google Shape;76;p16"/>
          <p:cNvSpPr txBox="1"/>
          <p:nvPr/>
        </p:nvSpPr>
        <p:spPr>
          <a:xfrm>
            <a:off x="2726905" y="476078"/>
            <a:ext cx="28395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Coding - </a:t>
            </a:r>
            <a:r>
              <a:rPr lang="en" sz="900" b="1" u="sng">
                <a:solidFill>
                  <a:schemeClr val="hlink"/>
                </a:solidFill>
                <a:latin typeface="Calibri"/>
                <a:ea typeface="Calibri"/>
                <a:cs typeface="Calibri"/>
                <a:sym typeface="Calibri"/>
                <a:hlinkClick r:id="rId5"/>
              </a:rPr>
              <a:t>https://lmarena.ai/leaderboard/text/coding</a:t>
            </a:r>
            <a:r>
              <a:rPr lang="en" sz="900" b="1">
                <a:solidFill>
                  <a:srgbClr val="FF0000"/>
                </a:solidFill>
                <a:latin typeface="Calibri"/>
                <a:ea typeface="Calibri"/>
                <a:cs typeface="Calibri"/>
                <a:sym typeface="Calibri"/>
              </a:rPr>
              <a:t>  </a:t>
            </a:r>
            <a:endParaRPr sz="900" b="0" i="0" u="none" strike="noStrike" cap="none">
              <a:solidFill>
                <a:schemeClr val="dk1"/>
              </a:solidFill>
              <a:latin typeface="Calibri"/>
              <a:ea typeface="Calibri"/>
              <a:cs typeface="Calibri"/>
              <a:sym typeface="Calibri"/>
            </a:endParaRPr>
          </a:p>
        </p:txBody>
      </p:sp>
      <p:sp>
        <p:nvSpPr>
          <p:cNvPr id="77" name="Google Shape;77;p16"/>
          <p:cNvSpPr txBox="1"/>
          <p:nvPr/>
        </p:nvSpPr>
        <p:spPr>
          <a:xfrm>
            <a:off x="6183999" y="1858050"/>
            <a:ext cx="2908500" cy="3096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4"/>
              </a:rPr>
              <a:t>https://lmarena.ai/leaderboard/text</a:t>
            </a:r>
            <a:r>
              <a:rPr lang="en" sz="800">
                <a:latin typeface="Calibri"/>
                <a:ea typeface="Calibri"/>
                <a:cs typeface="Calibri"/>
                <a:sym typeface="Calibri"/>
              </a:rPr>
              <a:t> </a:t>
            </a:r>
            <a:endParaRPr sz="800">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latin typeface="Calibri"/>
                <a:ea typeface="Calibri"/>
                <a:cs typeface="Calibri"/>
                <a:sym typeface="Calibri"/>
              </a:rPr>
              <a:t>Design Arena - </a:t>
            </a:r>
            <a:br>
              <a:rPr lang="en" sz="800">
                <a:latin typeface="Calibri"/>
                <a:ea typeface="Calibri"/>
                <a:cs typeface="Calibri"/>
                <a:sym typeface="Calibri"/>
              </a:rPr>
            </a:br>
            <a:r>
              <a:rPr lang="en" sz="800" u="sng">
                <a:solidFill>
                  <a:schemeClr val="hlink"/>
                </a:solidFill>
                <a:latin typeface="Calibri"/>
                <a:ea typeface="Calibri"/>
                <a:cs typeface="Calibri"/>
                <a:sym typeface="Calibri"/>
                <a:hlinkClick r:id="rId6"/>
              </a:rPr>
              <a:t>https://www.designarena.ai</a:t>
            </a:r>
            <a:r>
              <a:rPr lang="en" sz="800">
                <a:latin typeface="Calibri"/>
                <a:ea typeface="Calibri"/>
                <a:cs typeface="Calibri"/>
                <a:sym typeface="Calibri"/>
              </a:rPr>
              <a:t> </a:t>
            </a:r>
            <a:endParaRPr sz="800">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7"/>
              </a:rPr>
              <a:t>https://openlm.ai/chatbot-arena/</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8"/>
              </a:rPr>
              <a:t>https://beta.lmarena.ai</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Web Leaderboard -  1T params</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9"/>
              </a:rPr>
              <a:t>https://web.lmarena.ai/leaderboard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@LlmStats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0"/>
              </a:rPr>
              <a:t>https://llmworld.net/llm_leaderboards/</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StackAI</a:t>
            </a:r>
            <a:r>
              <a:rPr lang="en" sz="800">
                <a:solidFill>
                  <a:schemeClr val="dk1"/>
                </a:solidFill>
                <a:latin typeface="Calibri"/>
                <a:ea typeface="Calibri"/>
                <a:cs typeface="Calibri"/>
                <a:sym typeface="Calibri"/>
              </a:rPr>
              <a:t> - </a:t>
            </a:r>
            <a:br>
              <a:rPr lang="en" sz="800">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1"/>
              </a:rPr>
              <a:t>https://www.stack-ai.com/llm-leaderboard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Artificial Analysis</a:t>
            </a:r>
            <a:r>
              <a:rPr lang="en" sz="800">
                <a:solidFill>
                  <a:schemeClr val="dk1"/>
                </a:solidFill>
                <a:latin typeface="Calibri"/>
                <a:ea typeface="Calibri"/>
                <a:cs typeface="Calibri"/>
                <a:sym typeface="Calibri"/>
              </a:rPr>
              <a:t> - </a:t>
            </a:r>
            <a:br>
              <a:rPr lang="en" sz="800">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2"/>
              </a:rPr>
              <a:t>https://artificialanalysis.ai/leaderboards/models</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Open LLM Leaderboard - by Hugging Face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3"/>
              </a:rPr>
              <a:t>https://huggingface.co/open-llm-leaderboard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Vellum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4"/>
              </a:rPr>
              <a:t>https://www.vellum.ai/llm-leaderboard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AI Benchmarking Hub - </a:t>
            </a:r>
            <a:br>
              <a:rPr lang="en" sz="800">
                <a:solidFill>
                  <a:schemeClr val="dk1"/>
                </a:solidFill>
                <a:latin typeface="Calibri"/>
                <a:ea typeface="Calibri"/>
                <a:cs typeface="Calibri"/>
                <a:sym typeface="Calibri"/>
              </a:rPr>
            </a:br>
            <a:r>
              <a:rPr lang="en" sz="800" u="sng">
                <a:solidFill>
                  <a:schemeClr val="hlink"/>
                </a:solidFill>
                <a:latin typeface="Calibri"/>
                <a:ea typeface="Calibri"/>
                <a:cs typeface="Calibri"/>
                <a:sym typeface="Calibri"/>
                <a:hlinkClick r:id="rId15"/>
              </a:rPr>
              <a:t>https://epoch.ai/data/ai-benchmarking-dashboard</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Grok 4 Benchmarks - </a:t>
            </a:r>
            <a:br>
              <a:rPr lang="en" sz="800">
                <a:solidFill>
                  <a:schemeClr val="dk1"/>
                </a:solidFill>
                <a:latin typeface="Calibri"/>
                <a:ea typeface="Calibri"/>
                <a:cs typeface="Calibri"/>
                <a:sym typeface="Calibri"/>
              </a:rPr>
            </a:br>
            <a:r>
              <a:rPr lang="en" sz="800" u="sng">
                <a:solidFill>
                  <a:schemeClr val="hlink"/>
                </a:solidFill>
                <a:latin typeface="Calibri"/>
                <a:ea typeface="Calibri"/>
                <a:cs typeface="Calibri"/>
                <a:sym typeface="Calibri"/>
                <a:hlinkClick r:id="rId16"/>
              </a:rPr>
              <a:t>https://artificialanalysis.ai/models/grok-4</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Image arena (alibaba) - </a:t>
            </a:r>
            <a:br>
              <a:rPr lang="en" sz="800">
                <a:solidFill>
                  <a:schemeClr val="dk1"/>
                </a:solidFill>
                <a:latin typeface="Calibri"/>
                <a:ea typeface="Calibri"/>
                <a:cs typeface="Calibri"/>
                <a:sym typeface="Calibri"/>
              </a:rPr>
            </a:br>
            <a:r>
              <a:rPr lang="en" sz="800" u="sng">
                <a:solidFill>
                  <a:schemeClr val="hlink"/>
                </a:solidFill>
                <a:latin typeface="Calibri"/>
                <a:ea typeface="Calibri"/>
                <a:cs typeface="Calibri"/>
                <a:sym typeface="Calibri"/>
                <a:hlinkClick r:id="rId17"/>
              </a:rPr>
              <a:t>http://aiarena.alibaba-inc.com/corpora/arena/leaderboard?arenaType=T2I</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image arena - </a:t>
            </a:r>
            <a:r>
              <a:rPr lang="en" sz="800" u="sng">
                <a:solidFill>
                  <a:schemeClr val="hlink"/>
                </a:solidFill>
                <a:latin typeface="Calibri"/>
                <a:ea typeface="Calibri"/>
                <a:cs typeface="Calibri"/>
                <a:sym typeface="Calibri"/>
                <a:hlinkClick r:id="rId18"/>
              </a:rPr>
              <a:t>https://lmarena.ai/leaderboard/text-to-image</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p:txBody>
      </p:sp>
      <p:sp>
        <p:nvSpPr>
          <p:cNvPr id="78" name="Google Shape;78;p16"/>
          <p:cNvSpPr txBox="1"/>
          <p:nvPr/>
        </p:nvSpPr>
        <p:spPr>
          <a:xfrm>
            <a:off x="4431041" y="63625"/>
            <a:ext cx="1408200" cy="172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0650" algn="l" rtl="0">
              <a:lnSpc>
                <a:spcPct val="100000"/>
              </a:lnSpc>
              <a:spcBef>
                <a:spcPts val="0"/>
              </a:spcBef>
              <a:spcAft>
                <a:spcPts val="0"/>
              </a:spcAft>
              <a:buClr>
                <a:schemeClr val="dk1"/>
              </a:buClr>
              <a:buSzPts val="1000"/>
              <a:buFont typeface="Calibri"/>
              <a:buChar char="●"/>
            </a:pPr>
            <a:r>
              <a:rPr lang="en" sz="1000">
                <a:latin typeface="Calibri"/>
                <a:ea typeface="Calibri"/>
                <a:cs typeface="Calibri"/>
                <a:sym typeface="Calibri"/>
              </a:rPr>
              <a:t>Data for March 26</a:t>
            </a:r>
            <a:endParaRPr sz="1000">
              <a:latin typeface="Calibri"/>
              <a:ea typeface="Calibri"/>
              <a:cs typeface="Calibri"/>
              <a:sym typeface="Calibri"/>
            </a:endParaRPr>
          </a:p>
        </p:txBody>
      </p:sp>
      <p:sp>
        <p:nvSpPr>
          <p:cNvPr id="79" name="Google Shape;79;p16"/>
          <p:cNvSpPr txBox="1"/>
          <p:nvPr/>
        </p:nvSpPr>
        <p:spPr>
          <a:xfrm>
            <a:off x="7346795" y="608477"/>
            <a:ext cx="17457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0650" algn="l" rtl="0">
              <a:lnSpc>
                <a:spcPct val="100000"/>
              </a:lnSpc>
              <a:spcBef>
                <a:spcPts val="0"/>
              </a:spcBef>
              <a:spcAft>
                <a:spcPts val="0"/>
              </a:spcAft>
              <a:buClr>
                <a:srgbClr val="000000"/>
              </a:buClr>
              <a:buSzPts val="1000"/>
              <a:buFont typeface="Calibri"/>
              <a:buChar char="●"/>
            </a:pPr>
            <a:r>
              <a:rPr lang="en" sz="1000">
                <a:latin typeface="Calibri"/>
                <a:ea typeface="Calibri"/>
                <a:cs typeface="Calibri"/>
                <a:sym typeface="Calibri"/>
              </a:rPr>
              <a:t>deepseek-v3.2  -  671B</a:t>
            </a:r>
            <a:endParaRPr sz="1000">
              <a:latin typeface="Calibri"/>
              <a:ea typeface="Calibri"/>
              <a:cs typeface="Calibri"/>
              <a:sym typeface="Calibri"/>
            </a:endParaRPr>
          </a:p>
          <a:p>
            <a:pPr marL="171450" marR="0" lvl="0" indent="-120650" algn="l" rtl="0">
              <a:lnSpc>
                <a:spcPct val="100000"/>
              </a:lnSpc>
              <a:spcBef>
                <a:spcPts val="0"/>
              </a:spcBef>
              <a:spcAft>
                <a:spcPts val="0"/>
              </a:spcAft>
              <a:buClr>
                <a:srgbClr val="000000"/>
              </a:buClr>
              <a:buSzPts val="1000"/>
              <a:buFont typeface="Calibri"/>
              <a:buChar char="●"/>
            </a:pPr>
            <a:r>
              <a:rPr lang="en" sz="1000">
                <a:latin typeface="Calibri"/>
                <a:ea typeface="Calibri"/>
                <a:cs typeface="Calibri"/>
                <a:sym typeface="Calibri"/>
              </a:rPr>
              <a:t>ernie-5.0 - 2.4T</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glm-5.0 - 744B </a:t>
            </a:r>
            <a:endParaRPr sz="1000">
              <a:latin typeface="Calibri"/>
              <a:ea typeface="Calibri"/>
              <a:cs typeface="Calibri"/>
              <a:sym typeface="Calibri"/>
            </a:endParaRPr>
          </a:p>
          <a:p>
            <a:pPr marL="171450" marR="0" lvl="0" indent="-120650" algn="l" rtl="0">
              <a:lnSpc>
                <a:spcPct val="100000"/>
              </a:lnSpc>
              <a:spcBef>
                <a:spcPts val="0"/>
              </a:spcBef>
              <a:spcAft>
                <a:spcPts val="0"/>
              </a:spcAft>
              <a:buClr>
                <a:srgbClr val="000000"/>
              </a:buClr>
              <a:buSzPts val="1000"/>
              <a:buFont typeface="Calibri"/>
              <a:buChar char="●"/>
            </a:pPr>
            <a:r>
              <a:rPr lang="en" sz="1000">
                <a:latin typeface="Calibri"/>
                <a:ea typeface="Calibri"/>
                <a:cs typeface="Calibri"/>
                <a:sym typeface="Calibri"/>
              </a:rPr>
              <a:t>kimi-k2.5-thinking - 1T</a:t>
            </a:r>
            <a:endParaRPr sz="1000">
              <a:latin typeface="Calibri"/>
              <a:ea typeface="Calibri"/>
              <a:cs typeface="Calibri"/>
              <a:sym typeface="Calibri"/>
            </a:endParaRPr>
          </a:p>
          <a:p>
            <a:pPr marL="171450" marR="0" lvl="0" indent="-120650" algn="l" rtl="0">
              <a:lnSpc>
                <a:spcPct val="100000"/>
              </a:lnSpc>
              <a:spcBef>
                <a:spcPts val="0"/>
              </a:spcBef>
              <a:spcAft>
                <a:spcPts val="0"/>
              </a:spcAft>
              <a:buClr>
                <a:srgbClr val="000000"/>
              </a:buClr>
              <a:buSzPts val="1000"/>
              <a:buFont typeface="Calibri"/>
              <a:buChar char="●"/>
            </a:pPr>
            <a:r>
              <a:rPr lang="en" sz="1000">
                <a:latin typeface="Calibri"/>
                <a:ea typeface="Calibri"/>
                <a:cs typeface="Calibri"/>
                <a:sym typeface="Calibri"/>
              </a:rPr>
              <a:t>qwen3.5-397B</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Xiaomi MiMo-V2-Pro - 1T+</a:t>
            </a:r>
            <a:endParaRPr sz="1000">
              <a:latin typeface="Calibri"/>
              <a:ea typeface="Calibri"/>
              <a:cs typeface="Calibri"/>
              <a:sym typeface="Calibri"/>
            </a:endParaRPr>
          </a:p>
        </p:txBody>
      </p:sp>
      <p:graphicFrame>
        <p:nvGraphicFramePr>
          <p:cNvPr id="80" name="Google Shape;80;p16"/>
          <p:cNvGraphicFramePr/>
          <p:nvPr/>
        </p:nvGraphicFramePr>
        <p:xfrm>
          <a:off x="5742420" y="430065"/>
          <a:ext cx="3000000" cy="3000000"/>
        </p:xfrm>
        <a:graphic>
          <a:graphicData uri="http://schemas.openxmlformats.org/drawingml/2006/table">
            <a:tbl>
              <a:tblPr>
                <a:noFill/>
                <a:tableStyleId>{ABAA1C1D-3BFF-4D1A-80F0-AEA10887FA22}</a:tableStyleId>
              </a:tblPr>
              <a:tblGrid>
                <a:gridCol w="219050">
                  <a:extLst>
                    <a:ext uri="{9D8B030D-6E8A-4147-A177-3AD203B41FA5}">
                      <a16:colId xmlns:a16="http://schemas.microsoft.com/office/drawing/2014/main" val="20000"/>
                    </a:ext>
                  </a:extLst>
                </a:gridCol>
                <a:gridCol w="585450">
                  <a:extLst>
                    <a:ext uri="{9D8B030D-6E8A-4147-A177-3AD203B41FA5}">
                      <a16:colId xmlns:a16="http://schemas.microsoft.com/office/drawing/2014/main" val="20001"/>
                    </a:ext>
                  </a:extLst>
                </a:gridCol>
              </a:tblGrid>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solidFill>
                      <a:srgbClr val="4472C4"/>
                    </a:solidFill>
                  </a:tcPr>
                </a:tc>
                <a:tc>
                  <a:txBody>
                    <a:bodyPr/>
                    <a:lstStyle/>
                    <a:p>
                      <a:pPr marL="0" lvl="0" indent="0" algn="l" rtl="0">
                        <a:spcBef>
                          <a:spcPts val="0"/>
                        </a:spcBef>
                        <a:spcAft>
                          <a:spcPts val="0"/>
                        </a:spcAft>
                        <a:buNone/>
                      </a:pPr>
                      <a:r>
                        <a:rPr lang="en" sz="800">
                          <a:latin typeface="Calibri"/>
                          <a:ea typeface="Calibri"/>
                          <a:cs typeface="Calibri"/>
                          <a:sym typeface="Calibri"/>
                        </a:rPr>
                        <a:t>Claude</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0"/>
                  </a:ext>
                </a:extLst>
              </a:tr>
              <a:tr h="14287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solidFill>
                      <a:srgbClr val="FF0000"/>
                    </a:solidFill>
                  </a:tcPr>
                </a:tc>
                <a:tc>
                  <a:txBody>
                    <a:bodyPr/>
                    <a:lstStyle/>
                    <a:p>
                      <a:pPr marL="0" lvl="0" indent="0" algn="l" rtl="0">
                        <a:spcBef>
                          <a:spcPts val="0"/>
                        </a:spcBef>
                        <a:spcAft>
                          <a:spcPts val="0"/>
                        </a:spcAft>
                        <a:buNone/>
                      </a:pPr>
                      <a:r>
                        <a:rPr lang="en" sz="800">
                          <a:latin typeface="Calibri"/>
                          <a:ea typeface="Calibri"/>
                          <a:cs typeface="Calibri"/>
                          <a:sym typeface="Calibri"/>
                        </a:rPr>
                        <a:t>Gemini</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1"/>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solidFill>
                      <a:srgbClr val="FFD700"/>
                    </a:solidFill>
                  </a:tcPr>
                </a:tc>
                <a:tc>
                  <a:txBody>
                    <a:bodyPr/>
                    <a:lstStyle/>
                    <a:p>
                      <a:pPr marL="0" lvl="0" indent="0" algn="l" rtl="0">
                        <a:spcBef>
                          <a:spcPts val="0"/>
                        </a:spcBef>
                        <a:spcAft>
                          <a:spcPts val="0"/>
                        </a:spcAft>
                        <a:buNone/>
                      </a:pPr>
                      <a:r>
                        <a:rPr lang="en" sz="800">
                          <a:latin typeface="Calibri"/>
                          <a:ea typeface="Calibri"/>
                          <a:cs typeface="Calibri"/>
                          <a:sym typeface="Calibri"/>
                        </a:rPr>
                        <a:t>OpenAI</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2"/>
                  </a:ext>
                </a:extLst>
              </a:tr>
              <a:tr h="142875">
                <a:tc>
                  <a:txBody>
                    <a:bodyPr/>
                    <a:lstStyle/>
                    <a:p>
                      <a:pPr marL="0" lvl="0" indent="0" algn="l" rtl="0">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525" marR="9525" marT="9525" marB="9125" anchor="ctr">
                    <a:solidFill>
                      <a:srgbClr val="00B050"/>
                    </a:solidFill>
                  </a:tcPr>
                </a:tc>
                <a:tc>
                  <a:txBody>
                    <a:bodyPr/>
                    <a:lstStyle/>
                    <a:p>
                      <a:pPr marL="0" lvl="0" indent="0" algn="l" rtl="0">
                        <a:spcBef>
                          <a:spcPts val="0"/>
                        </a:spcBef>
                        <a:spcAft>
                          <a:spcPts val="0"/>
                        </a:spcAft>
                        <a:buNone/>
                      </a:pPr>
                      <a:r>
                        <a:rPr lang="en" sz="800">
                          <a:latin typeface="Calibri"/>
                          <a:ea typeface="Calibri"/>
                          <a:cs typeface="Calibri"/>
                          <a:sym typeface="Calibri"/>
                        </a:rPr>
                        <a:t>Open Source</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3"/>
                  </a:ext>
                </a:extLst>
              </a:tr>
            </a:tbl>
          </a:graphicData>
        </a:graphic>
      </p:graphicFrame>
      <p:graphicFrame>
        <p:nvGraphicFramePr>
          <p:cNvPr id="81" name="Google Shape;81;p16"/>
          <p:cNvGraphicFramePr/>
          <p:nvPr/>
        </p:nvGraphicFramePr>
        <p:xfrm>
          <a:off x="2971800" y="819150"/>
          <a:ext cx="3000000" cy="3000000"/>
        </p:xfrm>
        <a:graphic>
          <a:graphicData uri="http://schemas.openxmlformats.org/drawingml/2006/table">
            <a:tbl>
              <a:tblPr>
                <a:noFill/>
                <a:tableStyleId>{ABAA1C1D-3BFF-4D1A-80F0-AEA10887FA22}</a:tableStyleId>
              </a:tblPr>
              <a:tblGrid>
                <a:gridCol w="247650">
                  <a:extLst>
                    <a:ext uri="{9D8B030D-6E8A-4147-A177-3AD203B41FA5}">
                      <a16:colId xmlns:a16="http://schemas.microsoft.com/office/drawing/2014/main" val="20000"/>
                    </a:ext>
                  </a:extLst>
                </a:gridCol>
                <a:gridCol w="1781175">
                  <a:extLst>
                    <a:ext uri="{9D8B030D-6E8A-4147-A177-3AD203B41FA5}">
                      <a16:colId xmlns:a16="http://schemas.microsoft.com/office/drawing/2014/main" val="20001"/>
                    </a:ext>
                  </a:extLst>
                </a:gridCol>
                <a:gridCol w="285750">
                  <a:extLst>
                    <a:ext uri="{9D8B030D-6E8A-4147-A177-3AD203B41FA5}">
                      <a16:colId xmlns:a16="http://schemas.microsoft.com/office/drawing/2014/main" val="20002"/>
                    </a:ext>
                  </a:extLst>
                </a:gridCol>
              </a:tblGrid>
              <a:tr h="142875">
                <a:tc>
                  <a:txBody>
                    <a:bodyPr/>
                    <a:lstStyle/>
                    <a:p>
                      <a:pPr marL="0" lvl="0" indent="0" algn="l" rtl="0">
                        <a:spcBef>
                          <a:spcPts val="0"/>
                        </a:spcBef>
                        <a:spcAft>
                          <a:spcPts val="0"/>
                        </a:spcAft>
                        <a:buNone/>
                      </a:pPr>
                      <a:r>
                        <a:rPr lang="en" sz="800" b="1">
                          <a:latin typeface="Calibri"/>
                          <a:ea typeface="Calibri"/>
                          <a:cs typeface="Calibri"/>
                          <a:sym typeface="Calibri"/>
                        </a:rPr>
                        <a:t>Code</a:t>
                      </a:r>
                      <a:endParaRPr sz="800" b="1">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800" b="1">
                          <a:latin typeface="Calibri"/>
                          <a:ea typeface="Calibri"/>
                          <a:cs typeface="Calibri"/>
                          <a:sym typeface="Calibri"/>
                        </a:rPr>
                        <a:t>Model</a:t>
                      </a:r>
                      <a:endParaRPr sz="800" b="1">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800" b="1">
                          <a:latin typeface="Calibri"/>
                          <a:ea typeface="Calibri"/>
                          <a:cs typeface="Calibri"/>
                          <a:sym typeface="Calibri"/>
                        </a:rPr>
                        <a:t>Score</a:t>
                      </a:r>
                      <a:endParaRPr sz="800" b="1">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0"/>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claude-opus-4-6-thinking</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1557</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1"/>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claude-opus-4-6</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1548</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2"/>
                  </a:ext>
                </a:extLst>
              </a:tr>
              <a:tr h="14287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0">
                            <a:extLst>
                              <a:ext uri="{A12FA001-AC4F-418D-AE19-62706E023703}">
                                <ahyp:hlinkClr xmlns:ahyp="http://schemas.microsoft.com/office/drawing/2018/hyperlinkcolor" val="tx"/>
                              </a:ext>
                            </a:extLst>
                          </a:hlinkClick>
                        </a:rPr>
                        <a:t>gemini-3.1-pro-preview</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1537</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3"/>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gpt-5.4-high</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1533</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4"/>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claude-opus-4-5-20251101-thinking-32k</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1531</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5"/>
                  </a:ext>
                </a:extLst>
              </a:tr>
              <a:tr h="14287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3">
                            <a:extLst>
                              <a:ext uri="{A12FA001-AC4F-418D-AE19-62706E023703}">
                                <ahyp:hlinkClr xmlns:ahyp="http://schemas.microsoft.com/office/drawing/2018/hyperlinkcolor" val="tx"/>
                              </a:ext>
                            </a:extLst>
                          </a:hlinkClick>
                        </a:rPr>
                        <a:t>grok-4.20-beta1</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1526</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6"/>
                  </a:ext>
                </a:extLst>
              </a:tr>
              <a:tr h="14287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4">
                            <a:extLst>
                              <a:ext uri="{A12FA001-AC4F-418D-AE19-62706E023703}">
                                <ahyp:hlinkClr xmlns:ahyp="http://schemas.microsoft.com/office/drawing/2018/hyperlinkcolor" val="tx"/>
                              </a:ext>
                            </a:extLst>
                          </a:hlinkClick>
                        </a:rPr>
                        <a:t>grok-4.20-beta-0309-reasoning</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1525</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7"/>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5">
                            <a:extLst>
                              <a:ext uri="{A12FA001-AC4F-418D-AE19-62706E023703}">
                                <ahyp:hlinkClr xmlns:ahyp="http://schemas.microsoft.com/office/drawing/2018/hyperlinkcolor" val="tx"/>
                              </a:ext>
                            </a:extLst>
                          </a:hlinkClick>
                        </a:rPr>
                        <a:t>gpt-5.2-chat-latest-20260210</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1522</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8"/>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6">
                            <a:extLst>
                              <a:ext uri="{A12FA001-AC4F-418D-AE19-62706E023703}">
                                <ahyp:hlinkClr xmlns:ahyp="http://schemas.microsoft.com/office/drawing/2018/hyperlinkcolor" val="tx"/>
                              </a:ext>
                            </a:extLst>
                          </a:hlinkClick>
                        </a:rPr>
                        <a:t>claude-sonnet-4-6</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1522</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9"/>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7">
                            <a:extLst>
                              <a:ext uri="{A12FA001-AC4F-418D-AE19-62706E023703}">
                                <ahyp:hlinkClr xmlns:ahyp="http://schemas.microsoft.com/office/drawing/2018/hyperlinkcolor" val="tx"/>
                              </a:ext>
                            </a:extLst>
                          </a:hlinkClick>
                        </a:rPr>
                        <a:t>claude-sonnet-4-5-20250929-thinking-32k</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1520</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0"/>
                  </a:ext>
                </a:extLst>
              </a:tr>
              <a:tr h="14287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8">
                            <a:extLst>
                              <a:ext uri="{A12FA001-AC4F-418D-AE19-62706E023703}">
                                <ahyp:hlinkClr xmlns:ahyp="http://schemas.microsoft.com/office/drawing/2018/hyperlinkcolor" val="tx"/>
                              </a:ext>
                            </a:extLst>
                          </a:hlinkClick>
                        </a:rPr>
                        <a:t>gemini-3-pro</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1519</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1"/>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claude-opus-4-5-20251101</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1517</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2"/>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9">
                            <a:extLst>
                              <a:ext uri="{A12FA001-AC4F-418D-AE19-62706E023703}">
                                <ahyp:hlinkClr xmlns:ahyp="http://schemas.microsoft.com/office/drawing/2018/hyperlinkcolor" val="tx"/>
                              </a:ext>
                            </a:extLst>
                          </a:hlinkClick>
                        </a:rPr>
                        <a:t>gpt-5.3-chat-latest</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1515</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3"/>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0">
                            <a:extLst>
                              <a:ext uri="{A12FA001-AC4F-418D-AE19-62706E023703}">
                                <ahyp:hlinkClr xmlns:ahyp="http://schemas.microsoft.com/office/drawing/2018/hyperlinkcolor" val="tx"/>
                              </a:ext>
                            </a:extLst>
                          </a:hlinkClick>
                        </a:rPr>
                        <a:t>claude-opus-4-1-20250805-thinking-16k</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1513</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4"/>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7">
                            <a:extLst>
                              <a:ext uri="{A12FA001-AC4F-418D-AE19-62706E023703}">
                                <ahyp:hlinkClr xmlns:ahyp="http://schemas.microsoft.com/office/drawing/2018/hyperlinkcolor" val="tx"/>
                              </a:ext>
                            </a:extLst>
                          </a:hlinkClick>
                        </a:rPr>
                        <a:t>claude-sonnet-4-5-20250929</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1510</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5"/>
                  </a:ext>
                </a:extLst>
              </a:tr>
              <a:tr h="142875">
                <a:tc>
                  <a:txBody>
                    <a:bodyPr/>
                    <a:lstStyle/>
                    <a:p>
                      <a:pPr marL="0" lvl="0" indent="0" algn="l" rtl="0">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1">
                            <a:extLst>
                              <a:ext uri="{A12FA001-AC4F-418D-AE19-62706E023703}">
                                <ahyp:hlinkClr xmlns:ahyp="http://schemas.microsoft.com/office/drawing/2018/hyperlinkcolor" val="tx"/>
                              </a:ext>
                            </a:extLst>
                          </a:hlinkClick>
                        </a:rPr>
                        <a:t>qwen3.5-max-preview</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1510</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6"/>
                  </a:ext>
                </a:extLst>
              </a:tr>
              <a:tr h="14287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2">
                            <a:extLst>
                              <a:ext uri="{A12FA001-AC4F-418D-AE19-62706E023703}">
                                <ahyp:hlinkClr xmlns:ahyp="http://schemas.microsoft.com/office/drawing/2018/hyperlinkcolor" val="tx"/>
                              </a:ext>
                            </a:extLst>
                          </a:hlinkClick>
                        </a:rPr>
                        <a:t>mimo-v2-pro</a:t>
                      </a:r>
                      <a:r>
                        <a:rPr lang="en" sz="800" u="sng">
                          <a:solidFill>
                            <a:srgbClr val="0563C1"/>
                          </a:solidFill>
                          <a:latin typeface="Calibri"/>
                          <a:ea typeface="Calibri"/>
                          <a:cs typeface="Calibri"/>
                          <a:sym typeface="Calibri"/>
                        </a:rPr>
                        <a:t> (Xiaomi)</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1510</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7"/>
                  </a:ext>
                </a:extLst>
              </a:tr>
              <a:tr h="14287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3">
                            <a:extLst>
                              <a:ext uri="{A12FA001-AC4F-418D-AE19-62706E023703}">
                                <ahyp:hlinkClr xmlns:ahyp="http://schemas.microsoft.com/office/drawing/2018/hyperlinkcolor" val="tx"/>
                              </a:ext>
                            </a:extLst>
                          </a:hlinkClick>
                        </a:rPr>
                        <a:t>dola-seed-2.0-preview</a:t>
                      </a:r>
                      <a:r>
                        <a:rPr lang="en" sz="800" u="sng">
                          <a:solidFill>
                            <a:srgbClr val="0563C1"/>
                          </a:solidFill>
                          <a:latin typeface="Calibri"/>
                          <a:ea typeface="Calibri"/>
                          <a:cs typeface="Calibri"/>
                          <a:sym typeface="Calibri"/>
                        </a:rPr>
                        <a:t> (ByteDance)</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1510</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8"/>
                  </a:ext>
                </a:extLst>
              </a:tr>
              <a:tr h="14287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4">
                            <a:extLst>
                              <a:ext uri="{A12FA001-AC4F-418D-AE19-62706E023703}">
                                <ahyp:hlinkClr xmlns:ahyp="http://schemas.microsoft.com/office/drawing/2018/hyperlinkcolor" val="tx"/>
                              </a:ext>
                            </a:extLst>
                          </a:hlinkClick>
                        </a:rPr>
                        <a:t>gemini-3-flash</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1510</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9"/>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gpt-5.4</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1510</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0"/>
                  </a:ext>
                </a:extLst>
              </a:tr>
              <a:tr h="142875">
                <a:tc>
                  <a:txBody>
                    <a:bodyPr/>
                    <a:lstStyle/>
                    <a:p>
                      <a:pPr marL="0" lvl="0" indent="0" algn="l" rtl="0">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5">
                            <a:extLst>
                              <a:ext uri="{A12FA001-AC4F-418D-AE19-62706E023703}">
                                <ahyp:hlinkClr xmlns:ahyp="http://schemas.microsoft.com/office/drawing/2018/hyperlinkcolor" val="tx"/>
                              </a:ext>
                            </a:extLst>
                          </a:hlinkClick>
                        </a:rPr>
                        <a:t>kimi-k2.5-thinking</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1509</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1"/>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0">
                            <a:extLst>
                              <a:ext uri="{A12FA001-AC4F-418D-AE19-62706E023703}">
                                <ahyp:hlinkClr xmlns:ahyp="http://schemas.microsoft.com/office/drawing/2018/hyperlinkcolor" val="tx"/>
                              </a:ext>
                            </a:extLst>
                          </a:hlinkClick>
                        </a:rPr>
                        <a:t>claude-opus-4-1-20250805</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1506</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2"/>
                  </a:ext>
                </a:extLst>
              </a:tr>
              <a:tr h="142875">
                <a:tc>
                  <a:txBody>
                    <a:bodyPr/>
                    <a:lstStyle/>
                    <a:p>
                      <a:pPr marL="0" lvl="0" indent="0" algn="l" rtl="0">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5">
                            <a:extLst>
                              <a:ext uri="{A12FA001-AC4F-418D-AE19-62706E023703}">
                                <ahyp:hlinkClr xmlns:ahyp="http://schemas.microsoft.com/office/drawing/2018/hyperlinkcolor" val="tx"/>
                              </a:ext>
                            </a:extLst>
                          </a:hlinkClick>
                        </a:rPr>
                        <a:t>kimi-k2.5-instant</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1506</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3"/>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6">
                            <a:extLst>
                              <a:ext uri="{A12FA001-AC4F-418D-AE19-62706E023703}">
                                <ahyp:hlinkClr xmlns:ahyp="http://schemas.microsoft.com/office/drawing/2018/hyperlinkcolor" val="tx"/>
                              </a:ext>
                            </a:extLst>
                          </a:hlinkClick>
                        </a:rPr>
                        <a:t>gpt-5.4-mini-high</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1504</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4"/>
                  </a:ext>
                </a:extLst>
              </a:tr>
              <a:tr h="14287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7">
                            <a:extLst>
                              <a:ext uri="{A12FA001-AC4F-418D-AE19-62706E023703}">
                                <ahyp:hlinkClr xmlns:ahyp="http://schemas.microsoft.com/office/drawing/2018/hyperlinkcolor" val="tx"/>
                              </a:ext>
                            </a:extLst>
                          </a:hlinkClick>
                        </a:rPr>
                        <a:t>grok-4.1-thinking</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1504</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5"/>
                  </a:ext>
                </a:extLst>
              </a:tr>
            </a:tbl>
          </a:graphicData>
        </a:graphic>
      </p:graphicFrame>
      <p:graphicFrame>
        <p:nvGraphicFramePr>
          <p:cNvPr id="82" name="Google Shape;82;p16"/>
          <p:cNvGraphicFramePr/>
          <p:nvPr/>
        </p:nvGraphicFramePr>
        <p:xfrm>
          <a:off x="190500" y="838200"/>
          <a:ext cx="3000000" cy="3000000"/>
        </p:xfrm>
        <a:graphic>
          <a:graphicData uri="http://schemas.openxmlformats.org/drawingml/2006/table">
            <a:tbl>
              <a:tblPr>
                <a:noFill/>
                <a:tableStyleId>{ABAA1C1D-3BFF-4D1A-80F0-AEA10887FA22}</a:tableStyleId>
              </a:tblPr>
              <a:tblGrid>
                <a:gridCol w="247650">
                  <a:extLst>
                    <a:ext uri="{9D8B030D-6E8A-4147-A177-3AD203B41FA5}">
                      <a16:colId xmlns:a16="http://schemas.microsoft.com/office/drawing/2014/main" val="20000"/>
                    </a:ext>
                  </a:extLst>
                </a:gridCol>
                <a:gridCol w="1781175">
                  <a:extLst>
                    <a:ext uri="{9D8B030D-6E8A-4147-A177-3AD203B41FA5}">
                      <a16:colId xmlns:a16="http://schemas.microsoft.com/office/drawing/2014/main" val="20001"/>
                    </a:ext>
                  </a:extLst>
                </a:gridCol>
                <a:gridCol w="285750">
                  <a:extLst>
                    <a:ext uri="{9D8B030D-6E8A-4147-A177-3AD203B41FA5}">
                      <a16:colId xmlns:a16="http://schemas.microsoft.com/office/drawing/2014/main" val="20002"/>
                    </a:ext>
                  </a:extLst>
                </a:gridCol>
              </a:tblGrid>
              <a:tr h="142875">
                <a:tc>
                  <a:txBody>
                    <a:bodyPr/>
                    <a:lstStyle/>
                    <a:p>
                      <a:pPr marL="0" lvl="0" indent="0" algn="l" rtl="0">
                        <a:spcBef>
                          <a:spcPts val="0"/>
                        </a:spcBef>
                        <a:spcAft>
                          <a:spcPts val="0"/>
                        </a:spcAft>
                        <a:buNone/>
                      </a:pPr>
                      <a:r>
                        <a:rPr lang="en" sz="800" b="1">
                          <a:latin typeface="Calibri"/>
                          <a:ea typeface="Calibri"/>
                          <a:cs typeface="Calibri"/>
                          <a:sym typeface="Calibri"/>
                        </a:rPr>
                        <a:t>Code</a:t>
                      </a:r>
                      <a:endParaRPr sz="800" b="1">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800" b="1">
                          <a:latin typeface="Calibri"/>
                          <a:ea typeface="Calibri"/>
                          <a:cs typeface="Calibri"/>
                          <a:sym typeface="Calibri"/>
                        </a:rPr>
                        <a:t>Model</a:t>
                      </a:r>
                      <a:endParaRPr sz="800" b="1">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800" b="1">
                          <a:latin typeface="Calibri"/>
                          <a:ea typeface="Calibri"/>
                          <a:cs typeface="Calibri"/>
                          <a:sym typeface="Calibri"/>
                        </a:rPr>
                        <a:t>Score</a:t>
                      </a:r>
                      <a:endParaRPr sz="800" b="1">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0"/>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claude-opus-4-6-thinking</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1504</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1"/>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claude-opus-4-6</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1500</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2"/>
                  </a:ext>
                </a:extLst>
              </a:tr>
              <a:tr h="14287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0">
                            <a:extLst>
                              <a:ext uri="{A12FA001-AC4F-418D-AE19-62706E023703}">
                                <ahyp:hlinkClr xmlns:ahyp="http://schemas.microsoft.com/office/drawing/2018/hyperlinkcolor" val="tx"/>
                              </a:ext>
                            </a:extLst>
                          </a:hlinkClick>
                        </a:rPr>
                        <a:t>gemini-3.1-pro-preview</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1493</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3"/>
                  </a:ext>
                </a:extLst>
              </a:tr>
              <a:tr h="14287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3">
                            <a:extLst>
                              <a:ext uri="{A12FA001-AC4F-418D-AE19-62706E023703}">
                                <ahyp:hlinkClr xmlns:ahyp="http://schemas.microsoft.com/office/drawing/2018/hyperlinkcolor" val="tx"/>
                              </a:ext>
                            </a:extLst>
                          </a:hlinkClick>
                        </a:rPr>
                        <a:t>grok-4.20-beta1</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1491</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4"/>
                  </a:ext>
                </a:extLst>
              </a:tr>
              <a:tr h="14287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8">
                            <a:extLst>
                              <a:ext uri="{A12FA001-AC4F-418D-AE19-62706E023703}">
                                <ahyp:hlinkClr xmlns:ahyp="http://schemas.microsoft.com/office/drawing/2018/hyperlinkcolor" val="tx"/>
                              </a:ext>
                            </a:extLst>
                          </a:hlinkClick>
                        </a:rPr>
                        <a:t>gemini-3-pro</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1486</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5"/>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gpt-5.4-high</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1484</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6"/>
                  </a:ext>
                </a:extLst>
              </a:tr>
              <a:tr h="14287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4">
                            <a:extLst>
                              <a:ext uri="{A12FA001-AC4F-418D-AE19-62706E023703}">
                                <ahyp:hlinkClr xmlns:ahyp="http://schemas.microsoft.com/office/drawing/2018/hyperlinkcolor" val="tx"/>
                              </a:ext>
                            </a:extLst>
                          </a:hlinkClick>
                        </a:rPr>
                        <a:t>grok-4.20-beta-0309-reasoning</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1483</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7"/>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5">
                            <a:extLst>
                              <a:ext uri="{A12FA001-AC4F-418D-AE19-62706E023703}">
                                <ahyp:hlinkClr xmlns:ahyp="http://schemas.microsoft.com/office/drawing/2018/hyperlinkcolor" val="tx"/>
                              </a:ext>
                            </a:extLst>
                          </a:hlinkClick>
                        </a:rPr>
                        <a:t>gpt-5.2-chat-latest-20260210</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1480</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8"/>
                  </a:ext>
                </a:extLst>
              </a:tr>
              <a:tr h="14287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4">
                            <a:extLst>
                              <a:ext uri="{A12FA001-AC4F-418D-AE19-62706E023703}">
                                <ahyp:hlinkClr xmlns:ahyp="http://schemas.microsoft.com/office/drawing/2018/hyperlinkcolor" val="tx"/>
                              </a:ext>
                            </a:extLst>
                          </a:hlinkClick>
                        </a:rPr>
                        <a:t>gemini-3-flash</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1474</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9"/>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claude-opus-4-5-20251101-thinking-32k</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1474</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0"/>
                  </a:ext>
                </a:extLst>
              </a:tr>
              <a:tr h="14287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7">
                            <a:extLst>
                              <a:ext uri="{A12FA001-AC4F-418D-AE19-62706E023703}">
                                <ahyp:hlinkClr xmlns:ahyp="http://schemas.microsoft.com/office/drawing/2018/hyperlinkcolor" val="tx"/>
                              </a:ext>
                            </a:extLst>
                          </a:hlinkClick>
                        </a:rPr>
                        <a:t>grok-4.1-thinking</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1471</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1"/>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claude-opus-4-5-20251101</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1468</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2"/>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gpt-5.4</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1466</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3"/>
                  </a:ext>
                </a:extLst>
              </a:tr>
              <a:tr h="142875">
                <a:tc>
                  <a:txBody>
                    <a:bodyPr/>
                    <a:lstStyle/>
                    <a:p>
                      <a:pPr marL="0" lvl="0" indent="0" algn="l" rtl="0">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1">
                            <a:extLst>
                              <a:ext uri="{A12FA001-AC4F-418D-AE19-62706E023703}">
                                <ahyp:hlinkClr xmlns:ahyp="http://schemas.microsoft.com/office/drawing/2018/hyperlinkcolor" val="tx"/>
                              </a:ext>
                            </a:extLst>
                          </a:hlinkClick>
                        </a:rPr>
                        <a:t>qwen3.5-max-preview</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1465</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4"/>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9">
                            <a:extLst>
                              <a:ext uri="{A12FA001-AC4F-418D-AE19-62706E023703}">
                                <ahyp:hlinkClr xmlns:ahyp="http://schemas.microsoft.com/office/drawing/2018/hyperlinkcolor" val="tx"/>
                              </a:ext>
                            </a:extLst>
                          </a:hlinkClick>
                        </a:rPr>
                        <a:t>gpt-5.3-chat-latest</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1464</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5"/>
                  </a:ext>
                </a:extLst>
              </a:tr>
              <a:tr h="14287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4">
                            <a:extLst>
                              <a:ext uri="{A12FA001-AC4F-418D-AE19-62706E023703}">
                                <ahyp:hlinkClr xmlns:ahyp="http://schemas.microsoft.com/office/drawing/2018/hyperlinkcolor" val="tx"/>
                              </a:ext>
                            </a:extLst>
                          </a:hlinkClick>
                        </a:rPr>
                        <a:t>gemini-3-flash (thinking-minimal)</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1463</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6"/>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6">
                            <a:extLst>
                              <a:ext uri="{A12FA001-AC4F-418D-AE19-62706E023703}">
                                <ahyp:hlinkClr xmlns:ahyp="http://schemas.microsoft.com/office/drawing/2018/hyperlinkcolor" val="tx"/>
                              </a:ext>
                            </a:extLst>
                          </a:hlinkClick>
                        </a:rPr>
                        <a:t>claude-sonnet-4-6</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1463</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7"/>
                  </a:ext>
                </a:extLst>
              </a:tr>
              <a:tr h="14287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3">
                            <a:extLst>
                              <a:ext uri="{A12FA001-AC4F-418D-AE19-62706E023703}">
                                <ahyp:hlinkClr xmlns:ahyp="http://schemas.microsoft.com/office/drawing/2018/hyperlinkcolor" val="tx"/>
                              </a:ext>
                            </a:extLst>
                          </a:hlinkClick>
                        </a:rPr>
                        <a:t>dola-seed-2.0-preview</a:t>
                      </a:r>
                      <a:r>
                        <a:rPr lang="en" sz="800" u="sng">
                          <a:solidFill>
                            <a:srgbClr val="0563C1"/>
                          </a:solidFill>
                          <a:latin typeface="Calibri"/>
                          <a:ea typeface="Calibri"/>
                          <a:cs typeface="Calibri"/>
                          <a:sym typeface="Calibri"/>
                        </a:rPr>
                        <a:t> (ByteDance)</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1463</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8"/>
                  </a:ext>
                </a:extLst>
              </a:tr>
              <a:tr h="14287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7">
                            <a:extLst>
                              <a:ext uri="{A12FA001-AC4F-418D-AE19-62706E023703}">
                                <ahyp:hlinkClr xmlns:ahyp="http://schemas.microsoft.com/office/drawing/2018/hyperlinkcolor" val="tx"/>
                              </a:ext>
                            </a:extLst>
                          </a:hlinkClick>
                        </a:rPr>
                        <a:t>grok-4.1</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1461</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9"/>
                  </a:ext>
                </a:extLst>
              </a:tr>
              <a:tr h="142875">
                <a:tc>
                  <a:txBody>
                    <a:bodyPr/>
                    <a:lstStyle/>
                    <a:p>
                      <a:pPr marL="0" lvl="0" indent="0" algn="l" rtl="0">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8">
                            <a:extLst>
                              <a:ext uri="{A12FA001-AC4F-418D-AE19-62706E023703}">
                                <ahyp:hlinkClr xmlns:ahyp="http://schemas.microsoft.com/office/drawing/2018/hyperlinkcolor" val="tx"/>
                              </a:ext>
                            </a:extLst>
                          </a:hlinkClick>
                        </a:rPr>
                        <a:t>glm-5</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1456</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0"/>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9">
                            <a:extLst>
                              <a:ext uri="{A12FA001-AC4F-418D-AE19-62706E023703}">
                                <ahyp:hlinkClr xmlns:ahyp="http://schemas.microsoft.com/office/drawing/2018/hyperlinkcolor" val="tx"/>
                              </a:ext>
                            </a:extLst>
                          </a:hlinkClick>
                        </a:rPr>
                        <a:t>gpt-5.1-high</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1455</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1"/>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6">
                            <a:extLst>
                              <a:ext uri="{A12FA001-AC4F-418D-AE19-62706E023703}">
                                <ahyp:hlinkClr xmlns:ahyp="http://schemas.microsoft.com/office/drawing/2018/hyperlinkcolor" val="tx"/>
                              </a:ext>
                            </a:extLst>
                          </a:hlinkClick>
                        </a:rPr>
                        <a:t>gpt-5.4-mini-high</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1454</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2"/>
                  </a:ext>
                </a:extLst>
              </a:tr>
              <a:tr h="142875">
                <a:tc>
                  <a:txBody>
                    <a:bodyPr/>
                    <a:lstStyle/>
                    <a:p>
                      <a:pPr marL="0" lvl="0" indent="0" algn="l" rtl="0">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5">
                            <a:extLst>
                              <a:ext uri="{A12FA001-AC4F-418D-AE19-62706E023703}">
                                <ahyp:hlinkClr xmlns:ahyp="http://schemas.microsoft.com/office/drawing/2018/hyperlinkcolor" val="tx"/>
                              </a:ext>
                            </a:extLst>
                          </a:hlinkClick>
                        </a:rPr>
                        <a:t>kimi-k2.5-thinking</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1454</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3"/>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7">
                            <a:extLst>
                              <a:ext uri="{A12FA001-AC4F-418D-AE19-62706E023703}">
                                <ahyp:hlinkClr xmlns:ahyp="http://schemas.microsoft.com/office/drawing/2018/hyperlinkcolor" val="tx"/>
                              </a:ext>
                            </a:extLst>
                          </a:hlinkClick>
                        </a:rPr>
                        <a:t>claude-sonnet-4-5-20250929-thinking-32k</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1453</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4"/>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7">
                            <a:extLst>
                              <a:ext uri="{A12FA001-AC4F-418D-AE19-62706E023703}">
                                <ahyp:hlinkClr xmlns:ahyp="http://schemas.microsoft.com/office/drawing/2018/hyperlinkcolor" val="tx"/>
                              </a:ext>
                            </a:extLst>
                          </a:hlinkClick>
                        </a:rPr>
                        <a:t>claude-sonnet-4-5-20250929</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1453</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5"/>
                  </a:ext>
                </a:extLst>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6"/>
        <p:cNvGrpSpPr/>
        <p:nvPr/>
      </p:nvGrpSpPr>
      <p:grpSpPr>
        <a:xfrm>
          <a:off x="0" y="0"/>
          <a:ext cx="0" cy="0"/>
          <a:chOff x="0" y="0"/>
          <a:chExt cx="0" cy="0"/>
        </a:xfrm>
      </p:grpSpPr>
      <p:sp>
        <p:nvSpPr>
          <p:cNvPr id="87" name="Google Shape;87;p17"/>
          <p:cNvSpPr txBox="1"/>
          <p:nvPr/>
        </p:nvSpPr>
        <p:spPr>
          <a:xfrm>
            <a:off x="81773" y="40047"/>
            <a:ext cx="1453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ARC-AGI-3</a:t>
            </a:r>
            <a:endParaRPr sz="2000" b="1">
              <a:solidFill>
                <a:schemeClr val="dk1"/>
              </a:solidFill>
              <a:latin typeface="Calibri"/>
              <a:ea typeface="Calibri"/>
              <a:cs typeface="Calibri"/>
              <a:sym typeface="Calibri"/>
            </a:endParaRPr>
          </a:p>
        </p:txBody>
      </p:sp>
      <p:sp>
        <p:nvSpPr>
          <p:cNvPr id="88" name="Google Shape;88;p17"/>
          <p:cNvSpPr txBox="1"/>
          <p:nvPr/>
        </p:nvSpPr>
        <p:spPr>
          <a:xfrm>
            <a:off x="100600" y="413825"/>
            <a:ext cx="4392600" cy="4266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ARC-AGI-3 is the newest and hardest benchmark from the ARC Prize Foundation, launched on March 25, 2026</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is the first "interactive" reasoning benchmark in the ARC-AGI series, where the Agent or Human must actively explore hundreds of game-like environments with no instructions, no stated rules, and no stated goals. To succeed, an agent must figure out on its own how the environment works, what "winning" looks like, and then adapt across increasingly harder levels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Humans score 100%, while the best frontier AI systems score under 1% (currently around 0.26%)</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Previous ARC-AGI benchmarks successfully predicted major AI breakthroughs like reasoning models and coding agents. ARC-AGI-3 is designed to point to "what's next": the gap between AI that follows instructions well and AI that can genuinely explore and learn in brand-new situations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 100% score would, by the foundation's definition, indicate the presence of true AGI</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Official benchmark page: </a:t>
            </a:r>
            <a:r>
              <a:rPr lang="en" sz="1200" u="sng">
                <a:solidFill>
                  <a:schemeClr val="hlink"/>
                </a:solidFill>
                <a:latin typeface="Calibri"/>
                <a:ea typeface="Calibri"/>
                <a:cs typeface="Calibri"/>
                <a:sym typeface="Calibri"/>
                <a:hlinkClick r:id="rId3"/>
              </a:rPr>
              <a:t>https://arcprize.org/arc-agi/3</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Launch blog post: </a:t>
            </a:r>
            <a:r>
              <a:rPr lang="en" sz="1200" u="sng">
                <a:solidFill>
                  <a:schemeClr val="hlink"/>
                </a:solidFill>
                <a:latin typeface="Calibri"/>
                <a:ea typeface="Calibri"/>
                <a:cs typeface="Calibri"/>
                <a:sym typeface="Calibri"/>
                <a:hlinkClick r:id="rId4"/>
              </a:rPr>
              <a:t>https://</a:t>
            </a:r>
            <a:r>
              <a:rPr lang="en" sz="1200" u="sng">
                <a:solidFill>
                  <a:schemeClr val="hlink"/>
                </a:solidFill>
                <a:latin typeface="Calibri"/>
                <a:ea typeface="Calibri"/>
                <a:cs typeface="Calibri"/>
                <a:sym typeface="Calibri"/>
                <a:hlinkClick r:id="rId4"/>
              </a:rPr>
              <a:t>arcprize.org/blog/arc-agi-3-launch</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5"/>
              </a:rPr>
              <a:t>https://</a:t>
            </a:r>
            <a:r>
              <a:rPr lang="en" sz="1200" u="sng">
                <a:solidFill>
                  <a:schemeClr val="hlink"/>
                </a:solidFill>
                <a:latin typeface="Calibri"/>
                <a:ea typeface="Calibri"/>
                <a:cs typeface="Calibri"/>
                <a:sym typeface="Calibri"/>
                <a:hlinkClick r:id="rId5"/>
              </a:rPr>
              <a:t>arcprize.org/media/ARC_AGI_3_Technical_Report.pdf</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Play the games in your browser: </a:t>
            </a:r>
            <a:r>
              <a:rPr lang="en" sz="1200" u="sng">
                <a:solidFill>
                  <a:schemeClr val="hlink"/>
                </a:solidFill>
                <a:latin typeface="Calibri"/>
                <a:ea typeface="Calibri"/>
                <a:cs typeface="Calibri"/>
                <a:sym typeface="Calibri"/>
                <a:hlinkClick r:id="rId6"/>
              </a:rPr>
              <a:t>https://three.arcprize.org</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7"/>
              </a:rPr>
              <a:t>https://www.youtube.com/watch?v=3T4OwBp6d90</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8"/>
              </a:rPr>
              <a:t>https://www.youtube.com/watch?v=UkCfrNTzUMM</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sp>
        <p:nvSpPr>
          <p:cNvPr id="89" name="Google Shape;89;p17"/>
          <p:cNvSpPr txBox="1"/>
          <p:nvPr/>
        </p:nvSpPr>
        <p:spPr>
          <a:xfrm>
            <a:off x="4625875" y="413825"/>
            <a:ext cx="4392600" cy="757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Agentica SDK by Symbolica achieves an unverified competition score of 36.08% on ARC-AGI-3, passing 113 out of 182 playable levels, and completes 7 out of the 25 available games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9"/>
              </a:rPr>
              <a:t>https://www.symbolica.ai/blog/arc-agi-3</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90" name="Google Shape;90;p17"/>
          <p:cNvPicPr preferRelativeResize="0"/>
          <p:nvPr/>
        </p:nvPicPr>
        <p:blipFill>
          <a:blip r:embed="rId10">
            <a:alphaModFix/>
          </a:blip>
          <a:stretch>
            <a:fillRect/>
          </a:stretch>
        </p:blipFill>
        <p:spPr>
          <a:xfrm>
            <a:off x="4625875" y="1243325"/>
            <a:ext cx="2143125" cy="2133600"/>
          </a:xfrm>
          <a:prstGeom prst="rect">
            <a:avLst/>
          </a:prstGeom>
          <a:noFill/>
          <a:ln w="9525" cap="flat" cmpd="sng">
            <a:solidFill>
              <a:srgbClr val="FF0000"/>
            </a:solidFill>
            <a:prstDash val="solid"/>
            <a:round/>
            <a:headEnd type="none" w="sm" len="sm"/>
            <a:tailEnd type="none" w="sm" len="sm"/>
          </a:ln>
        </p:spPr>
      </p:pic>
      <p:graphicFrame>
        <p:nvGraphicFramePr>
          <p:cNvPr id="91" name="Google Shape;91;p17"/>
          <p:cNvGraphicFramePr/>
          <p:nvPr/>
        </p:nvGraphicFramePr>
        <p:xfrm>
          <a:off x="5697438" y="3761450"/>
          <a:ext cx="3000000" cy="3000000"/>
        </p:xfrm>
        <a:graphic>
          <a:graphicData uri="http://schemas.openxmlformats.org/drawingml/2006/table">
            <a:tbl>
              <a:tblPr>
                <a:noFill/>
                <a:tableStyleId>{ABAA1C1D-3BFF-4D1A-80F0-AEA10887FA22}</a:tableStyleId>
              </a:tblPr>
              <a:tblGrid>
                <a:gridCol w="1602075">
                  <a:extLst>
                    <a:ext uri="{9D8B030D-6E8A-4147-A177-3AD203B41FA5}">
                      <a16:colId xmlns:a16="http://schemas.microsoft.com/office/drawing/2014/main" val="20000"/>
                    </a:ext>
                  </a:extLst>
                </a:gridCol>
                <a:gridCol w="647400">
                  <a:extLst>
                    <a:ext uri="{9D8B030D-6E8A-4147-A177-3AD203B41FA5}">
                      <a16:colId xmlns:a16="http://schemas.microsoft.com/office/drawing/2014/main" val="20001"/>
                    </a:ext>
                  </a:extLst>
                </a:gridCol>
              </a:tblGrid>
              <a:tr h="192025">
                <a:tc>
                  <a:txBody>
                    <a:bodyPr/>
                    <a:lstStyle/>
                    <a:p>
                      <a:pPr marL="0" lvl="0" indent="0" algn="l" rtl="0">
                        <a:lnSpc>
                          <a:spcPct val="115000"/>
                        </a:lnSpc>
                        <a:spcBef>
                          <a:spcPts val="0"/>
                        </a:spcBef>
                        <a:spcAft>
                          <a:spcPts val="0"/>
                        </a:spcAft>
                        <a:buNone/>
                      </a:pPr>
                      <a:r>
                        <a:rPr lang="en" sz="1200" b="1">
                          <a:latin typeface="Calibri"/>
                          <a:ea typeface="Calibri"/>
                          <a:cs typeface="Calibri"/>
                          <a:sym typeface="Calibri"/>
                        </a:rPr>
                        <a:t>Model</a:t>
                      </a:r>
                      <a:endParaRPr sz="1200" b="1">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2F2F2"/>
                    </a:solidFill>
                  </a:tcPr>
                </a:tc>
                <a:tc>
                  <a:txBody>
                    <a:bodyPr/>
                    <a:lstStyle/>
                    <a:p>
                      <a:pPr marL="0" lvl="0" indent="0" algn="l" rtl="0">
                        <a:lnSpc>
                          <a:spcPct val="115000"/>
                        </a:lnSpc>
                        <a:spcBef>
                          <a:spcPts val="0"/>
                        </a:spcBef>
                        <a:spcAft>
                          <a:spcPts val="0"/>
                        </a:spcAft>
                        <a:buNone/>
                      </a:pPr>
                      <a:r>
                        <a:rPr lang="en" sz="1200" b="1">
                          <a:latin typeface="Calibri"/>
                          <a:ea typeface="Calibri"/>
                          <a:cs typeface="Calibri"/>
                          <a:sym typeface="Calibri"/>
                        </a:rPr>
                        <a:t>Score</a:t>
                      </a:r>
                      <a:endParaRPr sz="1200" b="1">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2F2F2"/>
                    </a:solidFill>
                  </a:tcPr>
                </a:tc>
                <a:extLst>
                  <a:ext uri="{0D108BD9-81ED-4DB2-BD59-A6C34878D82A}">
                    <a16:rowId xmlns:a16="http://schemas.microsoft.com/office/drawing/2014/main" val="10000"/>
                  </a:ext>
                </a:extLst>
              </a:tr>
              <a:tr h="192025">
                <a:tc>
                  <a:txBody>
                    <a:bodyPr/>
                    <a:lstStyle/>
                    <a:p>
                      <a:pPr marL="0" lvl="0" indent="0" algn="l" rtl="0">
                        <a:spcBef>
                          <a:spcPts val="0"/>
                        </a:spcBef>
                        <a:spcAft>
                          <a:spcPts val="0"/>
                        </a:spcAft>
                        <a:buNone/>
                      </a:pPr>
                      <a:r>
                        <a:rPr lang="en" sz="1200">
                          <a:latin typeface="Calibri"/>
                          <a:ea typeface="Calibri"/>
                          <a:cs typeface="Calibri"/>
                          <a:sym typeface="Calibri"/>
                        </a:rPr>
                        <a:t>Google Gemini Pro</a:t>
                      </a:r>
                      <a:endParaRPr sz="12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1200">
                          <a:latin typeface="Calibri"/>
                          <a:ea typeface="Calibri"/>
                          <a:cs typeface="Calibri"/>
                          <a:sym typeface="Calibri"/>
                        </a:rPr>
                        <a:t>0.37%</a:t>
                      </a:r>
                      <a:endParaRPr sz="12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1"/>
                  </a:ext>
                </a:extLst>
              </a:tr>
              <a:tr h="192025">
                <a:tc>
                  <a:txBody>
                    <a:bodyPr/>
                    <a:lstStyle/>
                    <a:p>
                      <a:pPr marL="0" lvl="0" indent="0" algn="l" rtl="0">
                        <a:spcBef>
                          <a:spcPts val="0"/>
                        </a:spcBef>
                        <a:spcAft>
                          <a:spcPts val="0"/>
                        </a:spcAft>
                        <a:buNone/>
                      </a:pPr>
                      <a:r>
                        <a:rPr lang="en" sz="1200">
                          <a:latin typeface="Calibri"/>
                          <a:ea typeface="Calibri"/>
                          <a:cs typeface="Calibri"/>
                          <a:sym typeface="Calibri"/>
                        </a:rPr>
                        <a:t>GPT-5.4 High</a:t>
                      </a:r>
                      <a:endParaRPr sz="12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1200">
                          <a:latin typeface="Calibri"/>
                          <a:ea typeface="Calibri"/>
                          <a:cs typeface="Calibri"/>
                          <a:sym typeface="Calibri"/>
                        </a:rPr>
                        <a:t>0.26%</a:t>
                      </a:r>
                      <a:endParaRPr sz="12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2"/>
                  </a:ext>
                </a:extLst>
              </a:tr>
              <a:tr h="192025">
                <a:tc>
                  <a:txBody>
                    <a:bodyPr/>
                    <a:lstStyle/>
                    <a:p>
                      <a:pPr marL="0" lvl="0" indent="0" algn="l" rtl="0">
                        <a:spcBef>
                          <a:spcPts val="0"/>
                        </a:spcBef>
                        <a:spcAft>
                          <a:spcPts val="0"/>
                        </a:spcAft>
                        <a:buNone/>
                      </a:pPr>
                      <a:r>
                        <a:rPr lang="en" sz="1200">
                          <a:latin typeface="Calibri"/>
                          <a:ea typeface="Calibri"/>
                          <a:cs typeface="Calibri"/>
                          <a:sym typeface="Calibri"/>
                        </a:rPr>
                        <a:t>Anthropic Opus 4.6</a:t>
                      </a:r>
                      <a:endParaRPr sz="12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1200">
                          <a:latin typeface="Calibri"/>
                          <a:ea typeface="Calibri"/>
                          <a:cs typeface="Calibri"/>
                          <a:sym typeface="Calibri"/>
                        </a:rPr>
                        <a:t>0.25%</a:t>
                      </a:r>
                      <a:endParaRPr sz="12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3"/>
                  </a:ext>
                </a:extLst>
              </a:tr>
              <a:tr h="192025">
                <a:tc>
                  <a:txBody>
                    <a:bodyPr/>
                    <a:lstStyle/>
                    <a:p>
                      <a:pPr marL="0" lvl="0" indent="0" algn="l" rtl="0">
                        <a:spcBef>
                          <a:spcPts val="0"/>
                        </a:spcBef>
                        <a:spcAft>
                          <a:spcPts val="0"/>
                        </a:spcAft>
                        <a:buNone/>
                      </a:pPr>
                      <a:r>
                        <a:rPr lang="en" sz="1200">
                          <a:latin typeface="Calibri"/>
                          <a:ea typeface="Calibri"/>
                          <a:cs typeface="Calibri"/>
                          <a:sym typeface="Calibri"/>
                        </a:rPr>
                        <a:t>Grok-4.20</a:t>
                      </a:r>
                      <a:endParaRPr sz="12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1200">
                          <a:latin typeface="Calibri"/>
                          <a:ea typeface="Calibri"/>
                          <a:cs typeface="Calibri"/>
                          <a:sym typeface="Calibri"/>
                        </a:rPr>
                        <a:t>0.00%</a:t>
                      </a:r>
                      <a:endParaRPr sz="12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95"/>
        <p:cNvGrpSpPr/>
        <p:nvPr/>
      </p:nvGrpSpPr>
      <p:grpSpPr>
        <a:xfrm>
          <a:off x="0" y="0"/>
          <a:ext cx="0" cy="0"/>
          <a:chOff x="0" y="0"/>
          <a:chExt cx="0" cy="0"/>
        </a:xfrm>
      </p:grpSpPr>
      <p:sp>
        <p:nvSpPr>
          <p:cNvPr id="96" name="Google Shape;96;p18"/>
          <p:cNvSpPr txBox="1"/>
          <p:nvPr/>
        </p:nvSpPr>
        <p:spPr>
          <a:xfrm>
            <a:off x="81777" y="26043"/>
            <a:ext cx="21318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LeWorldModel</a:t>
            </a:r>
            <a:endParaRPr sz="2000" b="1">
              <a:solidFill>
                <a:schemeClr val="dk1"/>
              </a:solidFill>
              <a:latin typeface="Calibri"/>
              <a:ea typeface="Calibri"/>
              <a:cs typeface="Calibri"/>
              <a:sym typeface="Calibri"/>
            </a:endParaRPr>
          </a:p>
        </p:txBody>
      </p:sp>
      <p:sp>
        <p:nvSpPr>
          <p:cNvPr id="97" name="Google Shape;97;p18"/>
          <p:cNvSpPr txBox="1"/>
          <p:nvPr/>
        </p:nvSpPr>
        <p:spPr>
          <a:xfrm>
            <a:off x="100600" y="413825"/>
            <a:ext cx="4383300" cy="4266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LeWorldModel (LeWM) released in March 2026</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by Yann LeCun and collaborators from NYU, MILA, and Brown University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 system that learns to predict how physical environments evolve by watching raw pixel sequences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It's not a text/language model at all; it's a world model designed for robotics and autonomous agents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is only 15M Parameters in size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No pre-trained encoder needed. LeWM learns end-to-end directly from raw pixels without that overhead</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Compact latent space - a compressed internal representation (latent space) - where the model predicts future states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Only two loss functions;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Reward-free, task-agnostic learning - the model trains on sequences of images and actions without labels or reward signals, which removes an entire class of components (value heads, reward predictors, etc.) that add parameters in typical RL systems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Despite its tiny footprint, LeWM is surprisingly capable</a:t>
            </a:r>
            <a:br>
              <a:rPr lang="en" sz="1200">
                <a:solidFill>
                  <a:schemeClr val="dk1"/>
                </a:solidFill>
                <a:latin typeface="Calibri"/>
                <a:ea typeface="Calibri"/>
                <a:cs typeface="Calibri"/>
                <a:sym typeface="Calibri"/>
              </a:rPr>
            </a:br>
            <a:r>
              <a:rPr lang="en" sz="1200" u="sng">
                <a:solidFill>
                  <a:schemeClr val="hlink"/>
                </a:solidFill>
                <a:latin typeface="Calibri"/>
                <a:ea typeface="Calibri"/>
                <a:cs typeface="Calibri"/>
                <a:sym typeface="Calibri"/>
                <a:hlinkClick r:id="rId3"/>
              </a:rPr>
              <a:t>https://x.com/simplifyinAI/status/2036757262362955872</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Plans 48× faster than DINO-WM, a leading competing world model</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Uses 200× fewer tokens than comparable systems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Outperforms larger models on robotics benchmarks like pushing tasks and cube manipulation</a:t>
            </a:r>
            <a:endParaRPr sz="1200">
              <a:solidFill>
                <a:schemeClr val="dk1"/>
              </a:solidFill>
              <a:latin typeface="Calibri"/>
              <a:ea typeface="Calibri"/>
              <a:cs typeface="Calibri"/>
              <a:sym typeface="Calibri"/>
            </a:endParaRPr>
          </a:p>
        </p:txBody>
      </p:sp>
      <p:pic>
        <p:nvPicPr>
          <p:cNvPr id="98" name="Google Shape;98;p18"/>
          <p:cNvPicPr preferRelativeResize="0"/>
          <p:nvPr/>
        </p:nvPicPr>
        <p:blipFill>
          <a:blip r:embed="rId4">
            <a:alphaModFix/>
          </a:blip>
          <a:stretch>
            <a:fillRect/>
          </a:stretch>
        </p:blipFill>
        <p:spPr>
          <a:xfrm>
            <a:off x="5346425" y="651475"/>
            <a:ext cx="3028950" cy="1514475"/>
          </a:xfrm>
          <a:prstGeom prst="rect">
            <a:avLst/>
          </a:prstGeom>
          <a:noFill/>
          <a:ln w="9525" cap="flat" cmpd="sng">
            <a:solidFill>
              <a:srgbClr val="FF0000"/>
            </a:solidFill>
            <a:prstDash val="solid"/>
            <a:round/>
            <a:headEnd type="none" w="sm" len="sm"/>
            <a:tailEnd type="none" w="sm" len="sm"/>
          </a:ln>
        </p:spPr>
      </p:pic>
      <p:sp>
        <p:nvSpPr>
          <p:cNvPr id="99" name="Google Shape;99;p18"/>
          <p:cNvSpPr txBox="1"/>
          <p:nvPr/>
        </p:nvSpPr>
        <p:spPr>
          <a:xfrm>
            <a:off x="4669250" y="2273150"/>
            <a:ext cx="4383300" cy="2188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The model trains in a few hours on a single consumer GPU</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Shows early signs of learning intuitive physics — understanding how objects behave — purely from video</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This fits squarely into LeCun's long-running argument that scaling LLMs is the wrong path</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He's arguing that a well-architected world model grounded in the physical world - built on his </a:t>
            </a:r>
            <a:r>
              <a:rPr lang="en" sz="1200" b="1">
                <a:solidFill>
                  <a:srgbClr val="3C78D8"/>
                </a:solidFill>
                <a:latin typeface="Calibri"/>
                <a:ea typeface="Calibri"/>
                <a:cs typeface="Calibri"/>
                <a:sym typeface="Calibri"/>
              </a:rPr>
              <a:t>JEPA (Joint Embedding Predictive Architecture) framework </a:t>
            </a:r>
            <a:r>
              <a:rPr lang="en" sz="1200">
                <a:solidFill>
                  <a:schemeClr val="dk1"/>
                </a:solidFill>
                <a:latin typeface="Calibri"/>
                <a:ea typeface="Calibri"/>
                <a:cs typeface="Calibri"/>
                <a:sym typeface="Calibri"/>
              </a:rPr>
              <a:t>- can be far more efficient than brute-force scaling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3C78D8"/>
                </a:solidFill>
                <a:latin typeface="Calibri"/>
                <a:ea typeface="Calibri"/>
                <a:cs typeface="Calibri"/>
                <a:sym typeface="Calibri"/>
              </a:rPr>
              <a:t>His new startup AMI Labs has raised over $1 billion</a:t>
            </a:r>
            <a:r>
              <a:rPr lang="en" sz="1200">
                <a:solidFill>
                  <a:schemeClr val="dk1"/>
                </a:solidFill>
                <a:latin typeface="Calibri"/>
                <a:ea typeface="Calibri"/>
                <a:cs typeface="Calibri"/>
                <a:sym typeface="Calibri"/>
              </a:rPr>
              <a:t> betting on this direction. </a:t>
            </a:r>
            <a:br>
              <a:rPr lang="en" sz="1200">
                <a:solidFill>
                  <a:schemeClr val="dk1"/>
                </a:solidFill>
                <a:latin typeface="Calibri"/>
                <a:ea typeface="Calibri"/>
                <a:cs typeface="Calibri"/>
                <a:sym typeface="Calibri"/>
              </a:rPr>
            </a:br>
            <a:r>
              <a:rPr lang="en" sz="900" u="sng">
                <a:solidFill>
                  <a:schemeClr val="hlink"/>
                </a:solidFill>
                <a:latin typeface="Calibri"/>
                <a:ea typeface="Calibri"/>
                <a:cs typeface="Calibri"/>
                <a:sym typeface="Calibri"/>
                <a:hlinkClick r:id="rId5"/>
              </a:rPr>
              <a:t>https://themesis.com/2026/01/07/world-models-five-competing-approaches/</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3"/>
        <p:cNvGrpSpPr/>
        <p:nvPr/>
      </p:nvGrpSpPr>
      <p:grpSpPr>
        <a:xfrm>
          <a:off x="0" y="0"/>
          <a:ext cx="0" cy="0"/>
          <a:chOff x="0" y="0"/>
          <a:chExt cx="0" cy="0"/>
        </a:xfrm>
      </p:grpSpPr>
      <p:sp>
        <p:nvSpPr>
          <p:cNvPr id="104" name="Google Shape;104;p19"/>
          <p:cNvSpPr txBox="1"/>
          <p:nvPr/>
        </p:nvSpPr>
        <p:spPr>
          <a:xfrm>
            <a:off x="179326" y="478350"/>
            <a:ext cx="4917900" cy="418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We do these weekly videos every Friday</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Stats: 6.49K subscribers, 276 videos</a:t>
            </a: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1. Subscribe to this channel </a:t>
            </a:r>
            <a:r>
              <a:rPr lang="en" sz="1800" b="1" u="sng">
                <a:solidFill>
                  <a:schemeClr val="accent5"/>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https://www.youtube.com/@lev-selector</a:t>
            </a:r>
            <a:r>
              <a:rPr lang="en" sz="1800" b="1">
                <a:solidFill>
                  <a:schemeClr val="dk1"/>
                </a:solidFill>
                <a:latin typeface="Calibri"/>
                <a:ea typeface="Calibri"/>
                <a:cs typeface="Calibri"/>
                <a:sym typeface="Calibri"/>
              </a:rPr>
              <a:t> </a:t>
            </a:r>
            <a:endParaRPr sz="1800" b="1">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2. Download slides from GitHub using links under the videos</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b="1">
                <a:solidFill>
                  <a:srgbClr val="FF0000"/>
                </a:solidFill>
                <a:latin typeface="Calibri"/>
                <a:ea typeface="Calibri"/>
                <a:cs typeface="Calibri"/>
                <a:sym typeface="Calibri"/>
              </a:rPr>
              <a:t>3. Please pause the video - and answer the pinned question in comments under the video</a:t>
            </a:r>
            <a:endParaRPr sz="1800" b="1" i="0" u="none" strike="noStrike" cap="none">
              <a:solidFill>
                <a:srgbClr val="FF0000"/>
              </a:solidFill>
              <a:latin typeface="Calibri"/>
              <a:ea typeface="Calibri"/>
              <a:cs typeface="Calibri"/>
              <a:sym typeface="Calibri"/>
            </a:endParaRPr>
          </a:p>
        </p:txBody>
      </p:sp>
      <p:pic>
        <p:nvPicPr>
          <p:cNvPr id="105" name="Google Shape;105;p19"/>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626400" y="110513"/>
            <a:ext cx="3294949" cy="4922474"/>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09"/>
        <p:cNvGrpSpPr/>
        <p:nvPr/>
      </p:nvGrpSpPr>
      <p:grpSpPr>
        <a:xfrm>
          <a:off x="0" y="0"/>
          <a:ext cx="0" cy="0"/>
          <a:chOff x="0" y="0"/>
          <a:chExt cx="0" cy="0"/>
        </a:xfrm>
      </p:grpSpPr>
      <p:sp>
        <p:nvSpPr>
          <p:cNvPr id="110" name="Google Shape;110;p20"/>
          <p:cNvSpPr txBox="1"/>
          <p:nvPr/>
        </p:nvSpPr>
        <p:spPr>
          <a:xfrm>
            <a:off x="81779" y="40050"/>
            <a:ext cx="4246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Google - TurboQuant</a:t>
            </a:r>
            <a:endParaRPr sz="2000" b="1">
              <a:solidFill>
                <a:schemeClr val="dk1"/>
              </a:solidFill>
              <a:latin typeface="Calibri"/>
              <a:ea typeface="Calibri"/>
              <a:cs typeface="Calibri"/>
              <a:sym typeface="Calibri"/>
            </a:endParaRPr>
          </a:p>
        </p:txBody>
      </p:sp>
      <p:sp>
        <p:nvSpPr>
          <p:cNvPr id="111" name="Google Shape;111;p20"/>
          <p:cNvSpPr txBox="1"/>
          <p:nvPr/>
        </p:nvSpPr>
        <p:spPr>
          <a:xfrm>
            <a:off x="81775" y="607600"/>
            <a:ext cx="4962900" cy="4266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TurboQuant is a new vector compression algorithm - published by Google Research </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It drastically reduce the memory required for running LLMs</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Up to 6x memory reduction for KV cache</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Up to 8x speedup, zero accuracy loss</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rgbClr val="6AA84F"/>
              </a:buClr>
              <a:buSzPts val="1200"/>
              <a:buFont typeface="Calibri"/>
              <a:buChar char="●"/>
            </a:pPr>
            <a:r>
              <a:rPr lang="en" sz="1200" b="1">
                <a:solidFill>
                  <a:srgbClr val="6AA84F"/>
                </a:solidFill>
                <a:latin typeface="Calibri"/>
                <a:ea typeface="Calibri"/>
                <a:cs typeface="Calibri"/>
                <a:sym typeface="Calibri"/>
              </a:rPr>
              <a:t>Quant — short for quantization, compressing high-dimensional numerical vectors into a smaller bit representation</a:t>
            </a:r>
            <a:endParaRPr sz="1200" b="1">
              <a:solidFill>
                <a:srgbClr val="6AA84F"/>
              </a:solidFill>
              <a:latin typeface="Calibri"/>
              <a:ea typeface="Calibri"/>
              <a:cs typeface="Calibri"/>
              <a:sym typeface="Calibri"/>
            </a:endParaRPr>
          </a:p>
          <a:p>
            <a:pPr marL="4000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LLMs rely heavily on a key-value (KV) cache - a fast "digital cheat sheet" that stores frequently used information so a model doesn't have to recompute it constantly. </a:t>
            </a:r>
            <a:endParaRPr sz="1200">
              <a:solidFill>
                <a:schemeClr val="dk1"/>
              </a:solidFill>
              <a:latin typeface="Calibri"/>
              <a:ea typeface="Calibri"/>
              <a:cs typeface="Calibri"/>
              <a:sym typeface="Calibri"/>
            </a:endParaRPr>
          </a:p>
          <a:p>
            <a:pPr marL="4000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This KV cache consumes enormous amounts of high-bandwidth memory (HBM), becoming a major bottleneck for AI inference - especially for long context windows or running many simultaneous requests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TurboQuant combines two novel sub-algorithms to eliminate overhead entirely:</a:t>
            </a:r>
            <a:endParaRPr sz="1200" b="1">
              <a:solidFill>
                <a:srgbClr val="FF0000"/>
              </a:solidFill>
              <a:latin typeface="Calibri"/>
              <a:ea typeface="Calibri"/>
              <a:cs typeface="Calibri"/>
              <a:sym typeface="Calibri"/>
            </a:endParaRPr>
          </a:p>
          <a:p>
            <a:pPr marL="342900" marR="0" lvl="0" indent="-133350" algn="l" rtl="0">
              <a:lnSpc>
                <a:spcPct val="100000"/>
              </a:lnSpc>
              <a:spcBef>
                <a:spcPts val="0"/>
              </a:spcBef>
              <a:spcAft>
                <a:spcPts val="0"/>
              </a:spcAft>
              <a:buClr>
                <a:schemeClr val="dk1"/>
              </a:buClr>
              <a:buSzPts val="1200"/>
              <a:buFont typeface="Calibri"/>
              <a:buChar char="●"/>
            </a:pPr>
            <a:r>
              <a:rPr lang="en" sz="1200" b="1">
                <a:solidFill>
                  <a:srgbClr val="3C78D8"/>
                </a:solidFill>
                <a:latin typeface="Calibri"/>
                <a:ea typeface="Calibri"/>
                <a:cs typeface="Calibri"/>
                <a:sym typeface="Calibri"/>
              </a:rPr>
              <a:t>PolarQuant</a:t>
            </a:r>
            <a:r>
              <a:rPr lang="en" sz="1200">
                <a:solidFill>
                  <a:schemeClr val="dk1"/>
                </a:solidFill>
                <a:latin typeface="Calibri"/>
                <a:ea typeface="Calibri"/>
                <a:cs typeface="Calibri"/>
                <a:sym typeface="Calibri"/>
              </a:rPr>
              <a:t> - converts standard Cartesian vector coordinates into polar coordinates, making the data geometry predictable enough to skip expensive normalization steps, saving memory overhead</a:t>
            </a:r>
            <a:endParaRPr sz="1200">
              <a:solidFill>
                <a:schemeClr val="dk1"/>
              </a:solidFill>
              <a:latin typeface="Calibri"/>
              <a:ea typeface="Calibri"/>
              <a:cs typeface="Calibri"/>
              <a:sym typeface="Calibri"/>
            </a:endParaRPr>
          </a:p>
          <a:p>
            <a:pPr marL="342900" marR="0" lvl="0" indent="-133350" algn="l" rtl="0">
              <a:lnSpc>
                <a:spcPct val="100000"/>
              </a:lnSpc>
              <a:spcBef>
                <a:spcPts val="0"/>
              </a:spcBef>
              <a:spcAft>
                <a:spcPts val="0"/>
              </a:spcAft>
              <a:buClr>
                <a:schemeClr val="dk1"/>
              </a:buClr>
              <a:buSzPts val="1200"/>
              <a:buFont typeface="Calibri"/>
              <a:buChar char="●"/>
            </a:pPr>
            <a:r>
              <a:rPr lang="en" sz="1200" b="1">
                <a:solidFill>
                  <a:srgbClr val="3C78D8"/>
                </a:solidFill>
                <a:latin typeface="Calibri"/>
                <a:ea typeface="Calibri"/>
                <a:cs typeface="Calibri"/>
                <a:sym typeface="Calibri"/>
              </a:rPr>
              <a:t>QJL (Quantized Johnson-Lindenstrauss) </a:t>
            </a:r>
            <a:r>
              <a:rPr lang="en" sz="1200">
                <a:solidFill>
                  <a:schemeClr val="dk1"/>
                </a:solidFill>
                <a:latin typeface="Calibri"/>
                <a:ea typeface="Calibri"/>
                <a:cs typeface="Calibri"/>
                <a:sym typeface="Calibri"/>
              </a:rPr>
              <a:t>- uses a mathematical transform to reduce leftover error down to a single sign bit (+1 or -1), acting as a zero-overhead error corrector to preserve accuracy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Together, they allow TurboQuant to quantize the KV cache to just 3–4 bits (down from 32-bit full precision) </a:t>
            </a:r>
            <a:r>
              <a:rPr lang="en" sz="1200">
                <a:solidFill>
                  <a:schemeClr val="dk1"/>
                </a:solidFill>
                <a:latin typeface="Calibri"/>
                <a:ea typeface="Calibri"/>
                <a:cs typeface="Calibri"/>
                <a:sym typeface="Calibri"/>
              </a:rPr>
              <a:t>with no retraining or fine-tuning required</a:t>
            </a:r>
            <a:endParaRPr sz="1200">
              <a:solidFill>
                <a:schemeClr val="dk1"/>
              </a:solidFill>
              <a:latin typeface="Calibri"/>
              <a:ea typeface="Calibri"/>
              <a:cs typeface="Calibri"/>
              <a:sym typeface="Calibri"/>
            </a:endParaRPr>
          </a:p>
        </p:txBody>
      </p:sp>
      <p:sp>
        <p:nvSpPr>
          <p:cNvPr id="112" name="Google Shape;112;p20"/>
          <p:cNvSpPr txBox="1"/>
          <p:nvPr/>
        </p:nvSpPr>
        <p:spPr>
          <a:xfrm>
            <a:off x="5397325" y="2269900"/>
            <a:ext cx="3642000" cy="2789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Beyond LLMs, </a:t>
            </a:r>
            <a:r>
              <a:rPr lang="en" sz="1200" b="1">
                <a:solidFill>
                  <a:srgbClr val="FF0000"/>
                </a:solidFill>
                <a:latin typeface="Calibri"/>
                <a:ea typeface="Calibri"/>
                <a:cs typeface="Calibri"/>
                <a:sym typeface="Calibri"/>
              </a:rPr>
              <a:t>TurboQuant</a:t>
            </a:r>
            <a:r>
              <a:rPr lang="en" sz="1200">
                <a:solidFill>
                  <a:schemeClr val="dk1"/>
                </a:solidFill>
                <a:latin typeface="Calibri"/>
                <a:ea typeface="Calibri"/>
                <a:cs typeface="Calibri"/>
                <a:sym typeface="Calibri"/>
              </a:rPr>
              <a:t> also dramatically speeds up vector search - the technology behind semantic search engines, enabling faster index building with minimal memory. It is slated to benefit Google's own Gemini models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announcement sent shockwaves through the memory chip industry.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Shares of Samsung, SK Hynix, and Micron fell </a:t>
            </a:r>
            <a:br>
              <a:rPr lang="en" sz="1200">
                <a:solidFill>
                  <a:schemeClr val="dk1"/>
                </a:solidFill>
                <a:latin typeface="Calibri"/>
                <a:ea typeface="Calibri"/>
                <a:cs typeface="Calibri"/>
                <a:sym typeface="Calibri"/>
              </a:rPr>
            </a:br>
            <a:r>
              <a:rPr lang="en" sz="1200" b="1">
                <a:solidFill>
                  <a:srgbClr val="3C78D8"/>
                </a:solidFill>
                <a:latin typeface="Calibri"/>
                <a:ea typeface="Calibri"/>
                <a:cs typeface="Calibri"/>
                <a:sym typeface="Calibri"/>
              </a:rPr>
              <a:t>on fears of reduced demand for AI memory chips</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However, analysts at Morgan Stanley argued TurboQuant is more likely to spur more intense AI computing rather than diminish overall memory demand - a dynamic known as Jevons' Paradox </a:t>
            </a:r>
            <a:r>
              <a:rPr lang="en" sz="1200" u="sng">
                <a:solidFill>
                  <a:schemeClr val="hlink"/>
                </a:solidFill>
                <a:latin typeface="Calibri"/>
                <a:ea typeface="Calibri"/>
                <a:cs typeface="Calibri"/>
                <a:sym typeface="Calibri"/>
                <a:hlinkClick r:id="rId3"/>
              </a:rPr>
              <a:t>https://www.cnbc.com/2026/03/26/google-ai-turboquant-memory-chip-stocks-samsung-micron.html</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113" name="Google Shape;113;p20"/>
          <p:cNvPicPr preferRelativeResize="0"/>
          <p:nvPr/>
        </p:nvPicPr>
        <p:blipFill>
          <a:blip r:embed="rId4">
            <a:alphaModFix/>
          </a:blip>
          <a:stretch>
            <a:fillRect/>
          </a:stretch>
        </p:blipFill>
        <p:spPr>
          <a:xfrm>
            <a:off x="5969500" y="253500"/>
            <a:ext cx="2857500" cy="16002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p:cNvGrpSpPr/>
        <p:nvPr/>
      </p:nvGrpSpPr>
      <p:grpSpPr>
        <a:xfrm>
          <a:off x="0" y="0"/>
          <a:ext cx="0" cy="0"/>
          <a:chOff x="0" y="0"/>
          <a:chExt cx="0" cy="0"/>
        </a:xfrm>
      </p:grpSpPr>
      <p:sp>
        <p:nvSpPr>
          <p:cNvPr id="118" name="Google Shape;118;p21"/>
          <p:cNvSpPr txBox="1"/>
          <p:nvPr/>
        </p:nvSpPr>
        <p:spPr>
          <a:xfrm>
            <a:off x="81779" y="40050"/>
            <a:ext cx="4246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119" name="Google Shape;119;p21"/>
          <p:cNvSpPr txBox="1"/>
          <p:nvPr/>
        </p:nvSpPr>
        <p:spPr>
          <a:xfrm>
            <a:off x="100600" y="508652"/>
            <a:ext cx="4392600" cy="1680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OpenAI Spud Model</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Spud is OpenAI's internal codename</a:t>
            </a:r>
            <a:r>
              <a:rPr lang="en" sz="1200">
                <a:solidFill>
                  <a:schemeClr val="dk1"/>
                </a:solidFill>
                <a:latin typeface="Calibri"/>
                <a:ea typeface="Calibri"/>
                <a:cs typeface="Calibri"/>
                <a:sym typeface="Calibri"/>
              </a:rPr>
              <a:t> for their next major AI model, which has completed pre-training (as of March 24th)</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Native multimodality (text, audio, images)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Rebuilt audio architecture - more natural, human-like voice experience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Delivered via a unified app</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AGI deployment focus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"spud" meaning:  potato, potato digging tool</a:t>
            </a:r>
            <a:endParaRPr sz="1200">
              <a:solidFill>
                <a:schemeClr val="dk1"/>
              </a:solidFill>
              <a:latin typeface="Calibri"/>
              <a:ea typeface="Calibri"/>
              <a:cs typeface="Calibri"/>
              <a:sym typeface="Calibri"/>
            </a:endParaRPr>
          </a:p>
        </p:txBody>
      </p:sp>
      <p:pic>
        <p:nvPicPr>
          <p:cNvPr id="120" name="Google Shape;120;p21"/>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4658975" y="441848"/>
            <a:ext cx="2341597" cy="1311300"/>
          </a:xfrm>
          <a:prstGeom prst="rect">
            <a:avLst/>
          </a:prstGeom>
          <a:noFill/>
          <a:ln w="9525" cap="flat" cmpd="sng">
            <a:solidFill>
              <a:srgbClr val="FF0000"/>
            </a:solidFill>
            <a:prstDash val="solid"/>
            <a:round/>
            <a:headEnd type="none" w="sm" len="sm"/>
            <a:tailEnd type="none" w="sm" len="sm"/>
          </a:ln>
        </p:spPr>
      </p:pic>
      <p:sp>
        <p:nvSpPr>
          <p:cNvPr id="121" name="Google Shape;121;p21"/>
          <p:cNvSpPr txBox="1"/>
          <p:nvPr/>
        </p:nvSpPr>
        <p:spPr>
          <a:xfrm>
            <a:off x="81777" y="2642700"/>
            <a:ext cx="5684100" cy="2419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Five open-source repos that enhance Claude Code</a:t>
            </a:r>
            <a:endParaRPr sz="1200" b="1">
              <a:solidFill>
                <a:srgbClr val="FF0000"/>
              </a:solidFill>
              <a:latin typeface="Calibri"/>
              <a:ea typeface="Calibri"/>
              <a:cs typeface="Calibri"/>
              <a:sym typeface="Calibri"/>
            </a:endParaRPr>
          </a:p>
          <a:p>
            <a:pPr marL="4000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Auto Research (by Andrej Karpathy)</a:t>
            </a:r>
            <a:r>
              <a:rPr lang="en" sz="1200">
                <a:solidFill>
                  <a:schemeClr val="dk1"/>
                </a:solidFill>
                <a:latin typeface="Calibri"/>
                <a:ea typeface="Calibri"/>
                <a:cs typeface="Calibri"/>
                <a:sym typeface="Calibri"/>
              </a:rPr>
              <a:t> - allows Claude Code to self-improve through automated trial and error. Shopify’s CEO used it to make an internal model 19% more efficient in just 8 hours</a:t>
            </a:r>
            <a:endParaRPr sz="1200">
              <a:solidFill>
                <a:schemeClr val="dk1"/>
              </a:solidFill>
              <a:latin typeface="Calibri"/>
              <a:ea typeface="Calibri"/>
              <a:cs typeface="Calibri"/>
              <a:sym typeface="Calibri"/>
            </a:endParaRPr>
          </a:p>
          <a:p>
            <a:pPr marL="4000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OpenSpace (by HDUS)</a:t>
            </a:r>
            <a:r>
              <a:rPr lang="en" sz="1200">
                <a:solidFill>
                  <a:schemeClr val="dk1"/>
                </a:solidFill>
                <a:latin typeface="Calibri"/>
                <a:ea typeface="Calibri"/>
                <a:cs typeface="Calibri"/>
                <a:sym typeface="Calibri"/>
              </a:rPr>
              <a:t> - MCP server to monitor and evolve AI skills based on performance (broken, sub-optimal, refined)</a:t>
            </a:r>
            <a:endParaRPr sz="1200">
              <a:solidFill>
                <a:schemeClr val="dk1"/>
              </a:solidFill>
              <a:latin typeface="Calibri"/>
              <a:ea typeface="Calibri"/>
              <a:cs typeface="Calibri"/>
              <a:sym typeface="Calibri"/>
            </a:endParaRPr>
          </a:p>
          <a:p>
            <a:pPr marL="4000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CLI Anything</a:t>
            </a:r>
            <a:r>
              <a:rPr lang="en" sz="1200">
                <a:solidFill>
                  <a:schemeClr val="dk1"/>
                </a:solidFill>
                <a:latin typeface="Calibri"/>
                <a:ea typeface="Calibri"/>
                <a:cs typeface="Calibri"/>
                <a:sym typeface="Calibri"/>
              </a:rPr>
              <a:t> - convert any open-source project into a Command Line Interface (CLI) tool that Claude Code can use </a:t>
            </a:r>
            <a:endParaRPr sz="1200">
              <a:solidFill>
                <a:schemeClr val="dk1"/>
              </a:solidFill>
              <a:latin typeface="Calibri"/>
              <a:ea typeface="Calibri"/>
              <a:cs typeface="Calibri"/>
              <a:sym typeface="Calibri"/>
            </a:endParaRPr>
          </a:p>
          <a:p>
            <a:pPr marL="4000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Claude Peers</a:t>
            </a:r>
            <a:r>
              <a:rPr lang="en" sz="1200">
                <a:solidFill>
                  <a:schemeClr val="dk1"/>
                </a:solidFill>
                <a:latin typeface="Calibri"/>
                <a:ea typeface="Calibri"/>
                <a:cs typeface="Calibri"/>
                <a:sym typeface="Calibri"/>
              </a:rPr>
              <a:t> - enables multiple Claude Code terminal instances to communicate with each other using an SQLite database</a:t>
            </a:r>
            <a:endParaRPr sz="1200">
              <a:solidFill>
                <a:schemeClr val="dk1"/>
              </a:solidFill>
              <a:latin typeface="Calibri"/>
              <a:ea typeface="Calibri"/>
              <a:cs typeface="Calibri"/>
              <a:sym typeface="Calibri"/>
            </a:endParaRPr>
          </a:p>
          <a:p>
            <a:pPr marL="4000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Google Workspace CLI </a:t>
            </a:r>
            <a:r>
              <a:rPr lang="en" sz="1200">
                <a:solidFill>
                  <a:schemeClr val="dk1"/>
                </a:solidFill>
                <a:latin typeface="Calibri"/>
                <a:ea typeface="Calibri"/>
                <a:cs typeface="Calibri"/>
                <a:sym typeface="Calibri"/>
              </a:rPr>
              <a:t>- grants Claude Code access to your Google Suite, including Drive, Docs, and Gmail</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https://www.youtube.com/watch?v=6SnFH43qPAw</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122" name="Google Shape;122;p21"/>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5928146" y="3096927"/>
            <a:ext cx="2341600" cy="1233366"/>
          </a:xfrm>
          <a:prstGeom prst="rect">
            <a:avLst/>
          </a:prstGeom>
          <a:noFill/>
          <a:ln w="9525" cap="flat" cmpd="sng">
            <a:solidFill>
              <a:srgbClr val="FF0000"/>
            </a:solidFill>
            <a:prstDash val="solid"/>
            <a:round/>
            <a:headEnd type="none" w="sm" len="sm"/>
            <a:tailEnd type="none" w="sm" len="sm"/>
          </a:ln>
        </p:spPr>
      </p:pic>
      <p:pic>
        <p:nvPicPr>
          <p:cNvPr id="123" name="Google Shape;123;p21"/>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7152975" y="441850"/>
            <a:ext cx="1311299" cy="1311301"/>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27"/>
        <p:cNvGrpSpPr/>
        <p:nvPr/>
      </p:nvGrpSpPr>
      <p:grpSpPr>
        <a:xfrm>
          <a:off x="0" y="0"/>
          <a:ext cx="0" cy="0"/>
          <a:chOff x="0" y="0"/>
          <a:chExt cx="0" cy="0"/>
        </a:xfrm>
      </p:grpSpPr>
      <p:sp>
        <p:nvSpPr>
          <p:cNvPr id="128" name="Google Shape;128;p22"/>
          <p:cNvSpPr txBox="1"/>
          <p:nvPr/>
        </p:nvSpPr>
        <p:spPr>
          <a:xfrm>
            <a:off x="81779" y="40050"/>
            <a:ext cx="4246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Alibaba Accio Work</a:t>
            </a:r>
            <a:endParaRPr sz="2000" b="1">
              <a:solidFill>
                <a:schemeClr val="dk1"/>
              </a:solidFill>
              <a:latin typeface="Calibri"/>
              <a:ea typeface="Calibri"/>
              <a:cs typeface="Calibri"/>
              <a:sym typeface="Calibri"/>
            </a:endParaRPr>
          </a:p>
        </p:txBody>
      </p:sp>
      <p:sp>
        <p:nvSpPr>
          <p:cNvPr id="129" name="Google Shape;129;p22"/>
          <p:cNvSpPr txBox="1"/>
          <p:nvPr/>
        </p:nvSpPr>
        <p:spPr>
          <a:xfrm>
            <a:off x="100600" y="413825"/>
            <a:ext cx="4392600" cy="3758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Alibaba Accio Work</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Enterprise-grade, no-code AI agent platform</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Provides a coordinated "squad" of specialized agents, covering market analysis, product sourcing, store design, marketing, and logistics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These agents can set up a fully operational online store in under 30 minutes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Powered by Alibaba's proprietary ecosystem and real-time trade data, it minimizes AI hallucinations and supports autonomous supplier negotiations, VAT compliance across 100+ markets, and social media ad placement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High-stakes actions require explicit user approval for security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platform targets solo founders and small and medium size businesses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"Accio" is a Latin verb meaning "I call," "I summon," or "I fetch". </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In Harry Potter series "Accio" is the incantation for the Summoning Charm — a spell that magically pulls an object toward the caster from a distance</a:t>
            </a:r>
            <a:endParaRPr sz="1200" b="1">
              <a:solidFill>
                <a:srgbClr val="3C78D8"/>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3"/>
              </a:rPr>
              <a:t>https://www.accio.com</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4"/>
              </a:rPr>
              <a:t>https://www.prnewswire.com/news-releases/alibaba-international-launches-accio-work-an-enterprise-ai-agent-for-global-businesses-302721693.html</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sp>
        <p:nvSpPr>
          <p:cNvPr id="130" name="Google Shape;130;p22"/>
          <p:cNvSpPr txBox="1"/>
          <p:nvPr/>
        </p:nvSpPr>
        <p:spPr>
          <a:xfrm>
            <a:off x="4667125" y="2128314"/>
            <a:ext cx="4392600" cy="2604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14300" algn="l" rtl="0">
              <a:lnSpc>
                <a:spcPct val="100000"/>
              </a:lnSpc>
              <a:spcBef>
                <a:spcPts val="0"/>
              </a:spcBef>
              <a:spcAft>
                <a:spcPts val="0"/>
              </a:spcAft>
              <a:buClr>
                <a:schemeClr val="dk1"/>
              </a:buClr>
              <a:buSzPts val="900"/>
              <a:buFont typeface="Calibri"/>
              <a:buChar char="●"/>
            </a:pPr>
            <a:r>
              <a:rPr lang="en" sz="1200" b="1">
                <a:solidFill>
                  <a:srgbClr val="FF0000"/>
                </a:solidFill>
                <a:latin typeface="Calibri"/>
                <a:ea typeface="Calibri"/>
                <a:cs typeface="Calibri"/>
                <a:sym typeface="Calibri"/>
              </a:rPr>
              <a:t>Ollama Pi - lightweight coding agent </a:t>
            </a:r>
            <a:r>
              <a:rPr lang="en" sz="1200">
                <a:solidFill>
                  <a:schemeClr val="dk1"/>
                </a:solidFill>
                <a:latin typeface="Calibri"/>
                <a:ea typeface="Calibri"/>
                <a:cs typeface="Calibri"/>
                <a:sym typeface="Calibri"/>
              </a:rPr>
              <a:t>that powers OpenClaw</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Pi is designed as a minimal, flexible coding harness you can adapt to your own workflows</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It comes with built-in primitives and supports extensions, skills, prompt templates, and themes</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To get started, download Ollama and run </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  </a:t>
            </a:r>
            <a:r>
              <a:rPr lang="en" sz="1000" b="1">
                <a:solidFill>
                  <a:srgbClr val="3C78D8"/>
                </a:solidFill>
                <a:latin typeface="Roboto Mono"/>
                <a:ea typeface="Roboto Mono"/>
                <a:cs typeface="Roboto Mono"/>
                <a:sym typeface="Roboto Mono"/>
              </a:rPr>
              <a:t>ollama launch pi --model kimi-k2.5:cloud</a:t>
            </a:r>
            <a:endParaRPr sz="1000" b="1">
              <a:solidFill>
                <a:srgbClr val="3C78D8"/>
              </a:solidFill>
              <a:latin typeface="Roboto Mono"/>
              <a:ea typeface="Roboto Mono"/>
              <a:cs typeface="Roboto Mono"/>
              <a:sym typeface="Roboto Mono"/>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Pi supports subagents for complex tasks like deep research or large codebase refactoring</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includes an autoresearch extension inspired by Andrej Karpathy that runs autonomous optimization loops</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Pi works with both local models on your machine and larger cloud-hosted models via Ollama's platform</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Extended cloud usage requires an Ollama Pro or Max subscription</a:t>
            </a:r>
            <a:endParaRPr sz="900">
              <a:solidFill>
                <a:schemeClr val="dk1"/>
              </a:solidFill>
              <a:latin typeface="Calibri"/>
              <a:ea typeface="Calibri"/>
              <a:cs typeface="Calibri"/>
              <a:sym typeface="Calibri"/>
            </a:endParaRPr>
          </a:p>
        </p:txBody>
      </p:sp>
      <p:pic>
        <p:nvPicPr>
          <p:cNvPr id="131" name="Google Shape;131;p22"/>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858400" y="4219900"/>
            <a:ext cx="2489550" cy="556250"/>
          </a:xfrm>
          <a:prstGeom prst="rect">
            <a:avLst/>
          </a:prstGeom>
          <a:noFill/>
          <a:ln w="9525" cap="flat" cmpd="sng">
            <a:solidFill>
              <a:srgbClr val="FF0000"/>
            </a:solidFill>
            <a:prstDash val="solid"/>
            <a:round/>
            <a:headEnd type="none" w="sm" len="sm"/>
            <a:tailEnd type="none" w="sm" len="sm"/>
          </a:ln>
        </p:spPr>
      </p:pic>
      <p:pic>
        <p:nvPicPr>
          <p:cNvPr id="132" name="Google Shape;132;p22"/>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5435078" y="1455151"/>
            <a:ext cx="3117596" cy="5562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36"/>
        <p:cNvGrpSpPr/>
        <p:nvPr/>
      </p:nvGrpSpPr>
      <p:grpSpPr>
        <a:xfrm>
          <a:off x="0" y="0"/>
          <a:ext cx="0" cy="0"/>
          <a:chOff x="0" y="0"/>
          <a:chExt cx="0" cy="0"/>
        </a:xfrm>
      </p:grpSpPr>
      <p:sp>
        <p:nvSpPr>
          <p:cNvPr id="137" name="Google Shape;137;p23"/>
          <p:cNvSpPr txBox="1"/>
          <p:nvPr/>
        </p:nvSpPr>
        <p:spPr>
          <a:xfrm>
            <a:off x="81776" y="40050"/>
            <a:ext cx="33951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EVO 2 model for DNA analysis</a:t>
            </a:r>
            <a:endParaRPr sz="2000" b="1">
              <a:solidFill>
                <a:schemeClr val="dk1"/>
              </a:solidFill>
              <a:latin typeface="Calibri"/>
              <a:ea typeface="Calibri"/>
              <a:cs typeface="Calibri"/>
              <a:sym typeface="Calibri"/>
            </a:endParaRPr>
          </a:p>
        </p:txBody>
      </p:sp>
      <p:sp>
        <p:nvSpPr>
          <p:cNvPr id="138" name="Google Shape;138;p23"/>
          <p:cNvSpPr txBox="1"/>
          <p:nvPr/>
        </p:nvSpPr>
        <p:spPr>
          <a:xfrm>
            <a:off x="100600" y="413825"/>
            <a:ext cx="4392600" cy="2789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EVO 2 model for DNA analysis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Developed by Stanford and the Ark Institute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Trained on 9 trillion DNA base pairs from millions of species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works as a linguistic model for genetics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Massive context window allows it to process 1 million DNA letters simultaneously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Remarkably, without medical training, EVO 2 identified cancer-linked mutations in BRCA genes with clinical-level accuracy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can also "write" original, functional DNA sequences, such as mitochondrial genomes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This represents a "ChatGPT moment" for biology, moving from simple pattern matching to a deep understanding of evolution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model offers transformative potential for personalized medicine, sustainable agriculture, and synthetic biology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https://www.youtube.com/watch?v=twsWm11W9Lw</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sp>
        <p:nvSpPr>
          <p:cNvPr id="139" name="Google Shape;139;p23"/>
          <p:cNvSpPr txBox="1"/>
          <p:nvPr/>
        </p:nvSpPr>
        <p:spPr>
          <a:xfrm>
            <a:off x="4632640" y="1025294"/>
            <a:ext cx="4392600" cy="131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Suno v5.5 text-to-music</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Suno is an American AI music generation startup</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Voices, Custom Models (tuning), My Taste - learns your preferences over time and shapes future generations accordingly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 voice verification step ensures you can only use voices you own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https://www.youtube.com/watch?v=LvU1CACAPq8</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5"/>
              </a:rPr>
              <a:t>https://suno.com/blog/v5-5</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140" name="Google Shape;140;p23"/>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5363252" y="2411418"/>
            <a:ext cx="2738150" cy="907825"/>
          </a:xfrm>
          <a:prstGeom prst="rect">
            <a:avLst/>
          </a:prstGeom>
          <a:noFill/>
          <a:ln w="9525" cap="flat" cmpd="sng">
            <a:solidFill>
              <a:srgbClr val="FF0000"/>
            </a:solidFill>
            <a:prstDash val="solid"/>
            <a:round/>
            <a:headEnd type="none" w="sm" len="sm"/>
            <a:tailEnd type="none" w="sm" len="sm"/>
          </a:ln>
        </p:spPr>
      </p:pic>
      <p:pic>
        <p:nvPicPr>
          <p:cNvPr id="141" name="Google Shape;141;p23"/>
          <p:cNvPicPr preferRelativeResize="0"/>
          <p:nvPr/>
        </p:nvPicPr>
        <p:blipFill>
          <a:blip r:embed="rId7">
            <a:alphaModFix/>
          </a:blip>
          <a:stretch>
            <a:fillRect/>
          </a:stretch>
        </p:blipFill>
        <p:spPr>
          <a:xfrm>
            <a:off x="916875" y="3250300"/>
            <a:ext cx="2857500" cy="1600200"/>
          </a:xfrm>
          <a:prstGeom prst="rect">
            <a:avLst/>
          </a:prstGeom>
          <a:noFill/>
          <a:ln w="9525" cap="flat" cmpd="sng">
            <a:solidFill>
              <a:srgbClr val="FF0000"/>
            </a:solidFill>
            <a:prstDash val="solid"/>
            <a:round/>
            <a:headEnd type="none" w="sm" len="sm"/>
            <a:tailEnd type="none" w="sm" len="sm"/>
          </a:ln>
        </p:spPr>
      </p:pic>
      <p:sp>
        <p:nvSpPr>
          <p:cNvPr id="142" name="Google Shape;142;p23"/>
          <p:cNvSpPr txBox="1"/>
          <p:nvPr/>
        </p:nvSpPr>
        <p:spPr>
          <a:xfrm>
            <a:off x="5034776" y="624072"/>
            <a:ext cx="33951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Suno v.5.5 Text-to-Music</a:t>
            </a:r>
            <a:endParaRPr sz="2000" b="1">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46"/>
        <p:cNvGrpSpPr/>
        <p:nvPr/>
      </p:nvGrpSpPr>
      <p:grpSpPr>
        <a:xfrm>
          <a:off x="0" y="0"/>
          <a:ext cx="0" cy="0"/>
          <a:chOff x="0" y="0"/>
          <a:chExt cx="0" cy="0"/>
        </a:xfrm>
      </p:grpSpPr>
      <p:sp>
        <p:nvSpPr>
          <p:cNvPr id="147" name="Google Shape;147;p24"/>
          <p:cNvSpPr txBox="1"/>
          <p:nvPr/>
        </p:nvSpPr>
        <p:spPr>
          <a:xfrm>
            <a:off x="81775" y="40050"/>
            <a:ext cx="43926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Claude Data Analyst Plugin</a:t>
            </a:r>
            <a:endParaRPr sz="2000" b="1">
              <a:solidFill>
                <a:schemeClr val="dk1"/>
              </a:solidFill>
              <a:latin typeface="Calibri"/>
              <a:ea typeface="Calibri"/>
              <a:cs typeface="Calibri"/>
              <a:sym typeface="Calibri"/>
            </a:endParaRPr>
          </a:p>
        </p:txBody>
      </p:sp>
      <p:sp>
        <p:nvSpPr>
          <p:cNvPr id="148" name="Google Shape;148;p24"/>
          <p:cNvSpPr txBox="1"/>
          <p:nvPr/>
        </p:nvSpPr>
        <p:spPr>
          <a:xfrm>
            <a:off x="81775" y="462375"/>
            <a:ext cx="6781200" cy="849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Data Analyst Plugin</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https://github.com/anthropics/knowledge-work-plugins/tree/main/data</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rgbClr val="3C78D8"/>
              </a:buClr>
              <a:buSzPts val="900"/>
              <a:buFont typeface="Roboto Mono"/>
              <a:buChar char="●"/>
            </a:pPr>
            <a:r>
              <a:rPr lang="en" sz="900" b="1">
                <a:solidFill>
                  <a:srgbClr val="3C78D8"/>
                </a:solidFill>
                <a:latin typeface="Roboto Mono"/>
                <a:ea typeface="Roboto Mono"/>
                <a:cs typeface="Roboto Mono"/>
                <a:sym typeface="Roboto Mono"/>
              </a:rPr>
              <a:t>claude plugins add knowledge-work-plugins/data</a:t>
            </a:r>
            <a:endParaRPr sz="900" b="1">
              <a:solidFill>
                <a:srgbClr val="3C78D8"/>
              </a:solidFill>
              <a:latin typeface="Roboto Mono"/>
              <a:ea typeface="Roboto Mono"/>
              <a:cs typeface="Roboto Mono"/>
              <a:sym typeface="Roboto Mono"/>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Example:</a:t>
            </a:r>
            <a:br>
              <a:rPr lang="en" sz="1200">
                <a:solidFill>
                  <a:schemeClr val="dk1"/>
                </a:solidFill>
                <a:latin typeface="Calibri"/>
                <a:ea typeface="Calibri"/>
                <a:cs typeface="Calibri"/>
                <a:sym typeface="Calibri"/>
              </a:rPr>
            </a:br>
            <a:r>
              <a:rPr lang="en" sz="900" b="1">
                <a:solidFill>
                  <a:srgbClr val="3C78D8"/>
                </a:solidFill>
                <a:latin typeface="Roboto Mono"/>
                <a:ea typeface="Roboto Mono"/>
                <a:cs typeface="Roboto Mono"/>
                <a:sym typeface="Roboto Mono"/>
              </a:rPr>
              <a:t>/analyze What was our monthly revenue trend for the past 12 months, broken down by product line?</a:t>
            </a:r>
            <a:endParaRPr sz="900" b="1">
              <a:solidFill>
                <a:srgbClr val="3C78D8"/>
              </a:solidFill>
              <a:latin typeface="Roboto Mono"/>
              <a:ea typeface="Roboto Mono"/>
              <a:cs typeface="Roboto Mono"/>
              <a:sym typeface="Roboto Mono"/>
            </a:endParaRPr>
          </a:p>
        </p:txBody>
      </p:sp>
      <p:graphicFrame>
        <p:nvGraphicFramePr>
          <p:cNvPr id="149" name="Google Shape;149;p24"/>
          <p:cNvGraphicFramePr/>
          <p:nvPr/>
        </p:nvGraphicFramePr>
        <p:xfrm>
          <a:off x="979582" y="1605155"/>
          <a:ext cx="3000000" cy="3000000"/>
        </p:xfrm>
        <a:graphic>
          <a:graphicData uri="http://schemas.openxmlformats.org/drawingml/2006/table">
            <a:tbl>
              <a:tblPr>
                <a:noFill/>
                <a:tableStyleId>{ABAA1C1D-3BFF-4D1A-80F0-AEA10887FA22}</a:tableStyleId>
              </a:tblPr>
              <a:tblGrid>
                <a:gridCol w="1881175">
                  <a:extLst>
                    <a:ext uri="{9D8B030D-6E8A-4147-A177-3AD203B41FA5}">
                      <a16:colId xmlns:a16="http://schemas.microsoft.com/office/drawing/2014/main" val="20000"/>
                    </a:ext>
                  </a:extLst>
                </a:gridCol>
                <a:gridCol w="4900025">
                  <a:extLst>
                    <a:ext uri="{9D8B030D-6E8A-4147-A177-3AD203B41FA5}">
                      <a16:colId xmlns:a16="http://schemas.microsoft.com/office/drawing/2014/main" val="20001"/>
                    </a:ext>
                  </a:extLst>
                </a:gridCol>
              </a:tblGrid>
              <a:tr h="200025">
                <a:tc>
                  <a:txBody>
                    <a:bodyPr/>
                    <a:lstStyle/>
                    <a:p>
                      <a:pPr marL="0" lvl="0" indent="0" algn="l" rtl="0">
                        <a:lnSpc>
                          <a:spcPct val="115000"/>
                        </a:lnSpc>
                        <a:spcBef>
                          <a:spcPts val="0"/>
                        </a:spcBef>
                        <a:spcAft>
                          <a:spcPts val="0"/>
                        </a:spcAft>
                        <a:buNone/>
                      </a:pPr>
                      <a:r>
                        <a:rPr lang="en" sz="1000" b="1">
                          <a:latin typeface="Calibri"/>
                          <a:ea typeface="Calibri"/>
                          <a:cs typeface="Calibri"/>
                          <a:sym typeface="Calibri"/>
                        </a:rPr>
                        <a:t>Command</a:t>
                      </a:r>
                      <a:endParaRPr sz="1000" b="1">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EFEFEF"/>
                    </a:solidFill>
                  </a:tcPr>
                </a:tc>
                <a:tc>
                  <a:txBody>
                    <a:bodyPr/>
                    <a:lstStyle/>
                    <a:p>
                      <a:pPr marL="0" lvl="0" indent="0" algn="l" rtl="0">
                        <a:lnSpc>
                          <a:spcPct val="115000"/>
                        </a:lnSpc>
                        <a:spcBef>
                          <a:spcPts val="0"/>
                        </a:spcBef>
                        <a:spcAft>
                          <a:spcPts val="0"/>
                        </a:spcAft>
                        <a:buNone/>
                      </a:pPr>
                      <a:r>
                        <a:rPr lang="en" sz="1000" b="1">
                          <a:latin typeface="Calibri"/>
                          <a:ea typeface="Calibri"/>
                          <a:cs typeface="Calibri"/>
                          <a:sym typeface="Calibri"/>
                        </a:rPr>
                        <a:t>Description</a:t>
                      </a:r>
                      <a:endParaRPr sz="1000" b="1">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EFEFEF"/>
                    </a:solidFill>
                  </a:tcPr>
                </a:tc>
                <a:extLst>
                  <a:ext uri="{0D108BD9-81ED-4DB2-BD59-A6C34878D82A}">
                    <a16:rowId xmlns:a16="http://schemas.microsoft.com/office/drawing/2014/main" val="10000"/>
                  </a:ext>
                </a:extLst>
              </a:tr>
              <a:tr h="200025">
                <a:tc>
                  <a:txBody>
                    <a:bodyPr/>
                    <a:lstStyle/>
                    <a:p>
                      <a:pPr marL="0" lvl="0" indent="0" algn="l" rtl="0">
                        <a:lnSpc>
                          <a:spcPct val="115000"/>
                        </a:lnSpc>
                        <a:spcBef>
                          <a:spcPts val="0"/>
                        </a:spcBef>
                        <a:spcAft>
                          <a:spcPts val="0"/>
                        </a:spcAft>
                        <a:buNone/>
                      </a:pPr>
                      <a:r>
                        <a:rPr lang="en" sz="1000">
                          <a:latin typeface="Calibri"/>
                          <a:ea typeface="Calibri"/>
                          <a:cs typeface="Calibri"/>
                          <a:sym typeface="Calibri"/>
                        </a:rPr>
                        <a:t>/analyzeAnswer</a:t>
                      </a:r>
                      <a:endParaRPr sz="10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l" rtl="0">
                        <a:lnSpc>
                          <a:spcPct val="115000"/>
                        </a:lnSpc>
                        <a:spcBef>
                          <a:spcPts val="0"/>
                        </a:spcBef>
                        <a:spcAft>
                          <a:spcPts val="0"/>
                        </a:spcAft>
                        <a:buNone/>
                      </a:pPr>
                      <a:r>
                        <a:rPr lang="en" sz="1000">
                          <a:latin typeface="Calibri"/>
                          <a:ea typeface="Calibri"/>
                          <a:cs typeface="Calibri"/>
                          <a:sym typeface="Calibri"/>
                        </a:rPr>
                        <a:t>Data questions — from quick lookups to full analyses</a:t>
                      </a:r>
                      <a:endParaRPr sz="10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extLst>
                  <a:ext uri="{0D108BD9-81ED-4DB2-BD59-A6C34878D82A}">
                    <a16:rowId xmlns:a16="http://schemas.microsoft.com/office/drawing/2014/main" val="10001"/>
                  </a:ext>
                </a:extLst>
              </a:tr>
              <a:tr h="200025">
                <a:tc>
                  <a:txBody>
                    <a:bodyPr/>
                    <a:lstStyle/>
                    <a:p>
                      <a:pPr marL="0" lvl="0" indent="0" algn="l" rtl="0">
                        <a:lnSpc>
                          <a:spcPct val="115000"/>
                        </a:lnSpc>
                        <a:spcBef>
                          <a:spcPts val="0"/>
                        </a:spcBef>
                        <a:spcAft>
                          <a:spcPts val="0"/>
                        </a:spcAft>
                        <a:buNone/>
                      </a:pPr>
                      <a:r>
                        <a:rPr lang="en" sz="1000">
                          <a:latin typeface="Calibri"/>
                          <a:ea typeface="Calibri"/>
                          <a:cs typeface="Calibri"/>
                          <a:sym typeface="Calibri"/>
                        </a:rPr>
                        <a:t>/explore-data</a:t>
                      </a:r>
                      <a:endParaRPr sz="10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l" rtl="0">
                        <a:lnSpc>
                          <a:spcPct val="115000"/>
                        </a:lnSpc>
                        <a:spcBef>
                          <a:spcPts val="0"/>
                        </a:spcBef>
                        <a:spcAft>
                          <a:spcPts val="0"/>
                        </a:spcAft>
                        <a:buNone/>
                      </a:pPr>
                      <a:r>
                        <a:rPr lang="en" sz="1000">
                          <a:latin typeface="Calibri"/>
                          <a:ea typeface="Calibri"/>
                          <a:cs typeface="Calibri"/>
                          <a:sym typeface="Calibri"/>
                        </a:rPr>
                        <a:t>Profile and explore a dataset to understand its shape, quality, and patterns</a:t>
                      </a:r>
                      <a:endParaRPr sz="10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extLst>
                  <a:ext uri="{0D108BD9-81ED-4DB2-BD59-A6C34878D82A}">
                    <a16:rowId xmlns:a16="http://schemas.microsoft.com/office/drawing/2014/main" val="10002"/>
                  </a:ext>
                </a:extLst>
              </a:tr>
              <a:tr h="200025">
                <a:tc>
                  <a:txBody>
                    <a:bodyPr/>
                    <a:lstStyle/>
                    <a:p>
                      <a:pPr marL="0" lvl="0" indent="0" algn="l" rtl="0">
                        <a:lnSpc>
                          <a:spcPct val="115000"/>
                        </a:lnSpc>
                        <a:spcBef>
                          <a:spcPts val="0"/>
                        </a:spcBef>
                        <a:spcAft>
                          <a:spcPts val="0"/>
                        </a:spcAft>
                        <a:buNone/>
                      </a:pPr>
                      <a:r>
                        <a:rPr lang="en" sz="1000">
                          <a:latin typeface="Calibri"/>
                          <a:ea typeface="Calibri"/>
                          <a:cs typeface="Calibri"/>
                          <a:sym typeface="Calibri"/>
                        </a:rPr>
                        <a:t>/write-query</a:t>
                      </a:r>
                      <a:endParaRPr sz="10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l" rtl="0">
                        <a:lnSpc>
                          <a:spcPct val="115000"/>
                        </a:lnSpc>
                        <a:spcBef>
                          <a:spcPts val="0"/>
                        </a:spcBef>
                        <a:spcAft>
                          <a:spcPts val="0"/>
                        </a:spcAft>
                        <a:buNone/>
                      </a:pPr>
                      <a:r>
                        <a:rPr lang="en" sz="1000">
                          <a:latin typeface="Calibri"/>
                          <a:ea typeface="Calibri"/>
                          <a:cs typeface="Calibri"/>
                          <a:sym typeface="Calibri"/>
                        </a:rPr>
                        <a:t>Write optimized SQL for your dialect with best practices</a:t>
                      </a:r>
                      <a:endParaRPr sz="10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extLst>
                  <a:ext uri="{0D108BD9-81ED-4DB2-BD59-A6C34878D82A}">
                    <a16:rowId xmlns:a16="http://schemas.microsoft.com/office/drawing/2014/main" val="10003"/>
                  </a:ext>
                </a:extLst>
              </a:tr>
              <a:tr h="200025">
                <a:tc>
                  <a:txBody>
                    <a:bodyPr/>
                    <a:lstStyle/>
                    <a:p>
                      <a:pPr marL="0" lvl="0" indent="0" algn="l" rtl="0">
                        <a:lnSpc>
                          <a:spcPct val="115000"/>
                        </a:lnSpc>
                        <a:spcBef>
                          <a:spcPts val="0"/>
                        </a:spcBef>
                        <a:spcAft>
                          <a:spcPts val="0"/>
                        </a:spcAft>
                        <a:buNone/>
                      </a:pPr>
                      <a:r>
                        <a:rPr lang="en" sz="1000">
                          <a:latin typeface="Calibri"/>
                          <a:ea typeface="Calibri"/>
                          <a:cs typeface="Calibri"/>
                          <a:sym typeface="Calibri"/>
                        </a:rPr>
                        <a:t>/create-viz</a:t>
                      </a:r>
                      <a:endParaRPr sz="10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l" rtl="0">
                        <a:lnSpc>
                          <a:spcPct val="115000"/>
                        </a:lnSpc>
                        <a:spcBef>
                          <a:spcPts val="0"/>
                        </a:spcBef>
                        <a:spcAft>
                          <a:spcPts val="0"/>
                        </a:spcAft>
                        <a:buNone/>
                      </a:pPr>
                      <a:r>
                        <a:rPr lang="en" sz="1000">
                          <a:latin typeface="Calibri"/>
                          <a:ea typeface="Calibri"/>
                          <a:cs typeface="Calibri"/>
                          <a:sym typeface="Calibri"/>
                        </a:rPr>
                        <a:t>Create publication-quality visualizations with Python</a:t>
                      </a:r>
                      <a:endParaRPr sz="10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extLst>
                  <a:ext uri="{0D108BD9-81ED-4DB2-BD59-A6C34878D82A}">
                    <a16:rowId xmlns:a16="http://schemas.microsoft.com/office/drawing/2014/main" val="10004"/>
                  </a:ext>
                </a:extLst>
              </a:tr>
              <a:tr h="200025">
                <a:tc>
                  <a:txBody>
                    <a:bodyPr/>
                    <a:lstStyle/>
                    <a:p>
                      <a:pPr marL="0" lvl="0" indent="0" algn="l" rtl="0">
                        <a:lnSpc>
                          <a:spcPct val="115000"/>
                        </a:lnSpc>
                        <a:spcBef>
                          <a:spcPts val="0"/>
                        </a:spcBef>
                        <a:spcAft>
                          <a:spcPts val="0"/>
                        </a:spcAft>
                        <a:buNone/>
                      </a:pPr>
                      <a:r>
                        <a:rPr lang="en" sz="1000">
                          <a:latin typeface="Calibri"/>
                          <a:ea typeface="Calibri"/>
                          <a:cs typeface="Calibri"/>
                          <a:sym typeface="Calibri"/>
                        </a:rPr>
                        <a:t>/build-dashboard</a:t>
                      </a:r>
                      <a:endParaRPr sz="10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l" rtl="0">
                        <a:lnSpc>
                          <a:spcPct val="115000"/>
                        </a:lnSpc>
                        <a:spcBef>
                          <a:spcPts val="0"/>
                        </a:spcBef>
                        <a:spcAft>
                          <a:spcPts val="0"/>
                        </a:spcAft>
                        <a:buNone/>
                      </a:pPr>
                      <a:r>
                        <a:rPr lang="en" sz="1000">
                          <a:latin typeface="Calibri"/>
                          <a:ea typeface="Calibri"/>
                          <a:cs typeface="Calibri"/>
                          <a:sym typeface="Calibri"/>
                        </a:rPr>
                        <a:t>Build interactive HTML dashboards with filters and charts</a:t>
                      </a:r>
                      <a:endParaRPr sz="10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extLst>
                  <a:ext uri="{0D108BD9-81ED-4DB2-BD59-A6C34878D82A}">
                    <a16:rowId xmlns:a16="http://schemas.microsoft.com/office/drawing/2014/main" val="10005"/>
                  </a:ext>
                </a:extLst>
              </a:tr>
              <a:tr h="200025">
                <a:tc>
                  <a:txBody>
                    <a:bodyPr/>
                    <a:lstStyle/>
                    <a:p>
                      <a:pPr marL="0" lvl="0" indent="0" algn="l" rtl="0">
                        <a:lnSpc>
                          <a:spcPct val="115000"/>
                        </a:lnSpc>
                        <a:spcBef>
                          <a:spcPts val="0"/>
                        </a:spcBef>
                        <a:spcAft>
                          <a:spcPts val="0"/>
                        </a:spcAft>
                        <a:buNone/>
                      </a:pPr>
                      <a:r>
                        <a:rPr lang="en" sz="1000">
                          <a:latin typeface="Calibri"/>
                          <a:ea typeface="Calibri"/>
                          <a:cs typeface="Calibri"/>
                          <a:sym typeface="Calibri"/>
                        </a:rPr>
                        <a:t>/validate</a:t>
                      </a:r>
                      <a:endParaRPr sz="10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l" rtl="0">
                        <a:lnSpc>
                          <a:spcPct val="115000"/>
                        </a:lnSpc>
                        <a:spcBef>
                          <a:spcPts val="0"/>
                        </a:spcBef>
                        <a:spcAft>
                          <a:spcPts val="0"/>
                        </a:spcAft>
                        <a:buNone/>
                      </a:pPr>
                      <a:r>
                        <a:rPr lang="en" sz="1000">
                          <a:latin typeface="Calibri"/>
                          <a:ea typeface="Calibri"/>
                          <a:cs typeface="Calibri"/>
                          <a:sym typeface="Calibri"/>
                        </a:rPr>
                        <a:t>QA an analysis before sharing — methodology, accuracy, and bias checks</a:t>
                      </a:r>
                      <a:endParaRPr sz="10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extLst>
                  <a:ext uri="{0D108BD9-81ED-4DB2-BD59-A6C34878D82A}">
                    <a16:rowId xmlns:a16="http://schemas.microsoft.com/office/drawing/2014/main" val="10006"/>
                  </a:ext>
                </a:extLst>
              </a:tr>
            </a:tbl>
          </a:graphicData>
        </a:graphic>
      </p:graphicFrame>
      <p:graphicFrame>
        <p:nvGraphicFramePr>
          <p:cNvPr id="150" name="Google Shape;150;p24"/>
          <p:cNvGraphicFramePr/>
          <p:nvPr/>
        </p:nvGraphicFramePr>
        <p:xfrm>
          <a:off x="979582" y="3362083"/>
          <a:ext cx="3000000" cy="3000000"/>
        </p:xfrm>
        <a:graphic>
          <a:graphicData uri="http://schemas.openxmlformats.org/drawingml/2006/table">
            <a:tbl>
              <a:tblPr>
                <a:noFill/>
                <a:tableStyleId>{ABAA1C1D-3BFF-4D1A-80F0-AEA10887FA22}</a:tableStyleId>
              </a:tblPr>
              <a:tblGrid>
                <a:gridCol w="1881175">
                  <a:extLst>
                    <a:ext uri="{9D8B030D-6E8A-4147-A177-3AD203B41FA5}">
                      <a16:colId xmlns:a16="http://schemas.microsoft.com/office/drawing/2014/main" val="20000"/>
                    </a:ext>
                  </a:extLst>
                </a:gridCol>
                <a:gridCol w="4900025">
                  <a:extLst>
                    <a:ext uri="{9D8B030D-6E8A-4147-A177-3AD203B41FA5}">
                      <a16:colId xmlns:a16="http://schemas.microsoft.com/office/drawing/2014/main" val="20001"/>
                    </a:ext>
                  </a:extLst>
                </a:gridCol>
              </a:tblGrid>
              <a:tr h="200025">
                <a:tc>
                  <a:txBody>
                    <a:bodyPr/>
                    <a:lstStyle/>
                    <a:p>
                      <a:pPr marL="0" lvl="0" indent="0" algn="l" rtl="0">
                        <a:lnSpc>
                          <a:spcPct val="115000"/>
                        </a:lnSpc>
                        <a:spcBef>
                          <a:spcPts val="0"/>
                        </a:spcBef>
                        <a:spcAft>
                          <a:spcPts val="0"/>
                        </a:spcAft>
                        <a:buNone/>
                      </a:pPr>
                      <a:r>
                        <a:rPr lang="en" sz="1000" b="1">
                          <a:latin typeface="Calibri"/>
                          <a:ea typeface="Calibri"/>
                          <a:cs typeface="Calibri"/>
                          <a:sym typeface="Calibri"/>
                        </a:rPr>
                        <a:t>Skill</a:t>
                      </a:r>
                      <a:endParaRPr sz="1000" b="1">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2F2F2"/>
                    </a:solidFill>
                  </a:tcPr>
                </a:tc>
                <a:tc>
                  <a:txBody>
                    <a:bodyPr/>
                    <a:lstStyle/>
                    <a:p>
                      <a:pPr marL="0" lvl="0" indent="0" algn="l" rtl="0">
                        <a:lnSpc>
                          <a:spcPct val="115000"/>
                        </a:lnSpc>
                        <a:spcBef>
                          <a:spcPts val="0"/>
                        </a:spcBef>
                        <a:spcAft>
                          <a:spcPts val="0"/>
                        </a:spcAft>
                        <a:buNone/>
                      </a:pPr>
                      <a:r>
                        <a:rPr lang="en" sz="1000" b="1">
                          <a:latin typeface="Calibri"/>
                          <a:ea typeface="Calibri"/>
                          <a:cs typeface="Calibri"/>
                          <a:sym typeface="Calibri"/>
                        </a:rPr>
                        <a:t>Description</a:t>
                      </a:r>
                      <a:endParaRPr sz="1000" b="1">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2F2F2"/>
                    </a:solidFill>
                  </a:tcPr>
                </a:tc>
                <a:extLst>
                  <a:ext uri="{0D108BD9-81ED-4DB2-BD59-A6C34878D82A}">
                    <a16:rowId xmlns:a16="http://schemas.microsoft.com/office/drawing/2014/main" val="10000"/>
                  </a:ext>
                </a:extLst>
              </a:tr>
              <a:tr h="200025">
                <a:tc>
                  <a:txBody>
                    <a:bodyPr/>
                    <a:lstStyle/>
                    <a:p>
                      <a:pPr marL="0" lvl="0" indent="0" algn="l" rtl="0">
                        <a:lnSpc>
                          <a:spcPct val="115000"/>
                        </a:lnSpc>
                        <a:spcBef>
                          <a:spcPts val="0"/>
                        </a:spcBef>
                        <a:spcAft>
                          <a:spcPts val="0"/>
                        </a:spcAft>
                        <a:buNone/>
                      </a:pPr>
                      <a:r>
                        <a:rPr lang="en" sz="1000">
                          <a:latin typeface="Calibri"/>
                          <a:ea typeface="Calibri"/>
                          <a:cs typeface="Calibri"/>
                          <a:sym typeface="Calibri"/>
                        </a:rPr>
                        <a:t>sql-queries</a:t>
                      </a:r>
                      <a:endParaRPr sz="10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l" rtl="0">
                        <a:lnSpc>
                          <a:spcPct val="115000"/>
                        </a:lnSpc>
                        <a:spcBef>
                          <a:spcPts val="0"/>
                        </a:spcBef>
                        <a:spcAft>
                          <a:spcPts val="0"/>
                        </a:spcAft>
                        <a:buNone/>
                      </a:pPr>
                      <a:r>
                        <a:rPr lang="en" sz="1000">
                          <a:latin typeface="Calibri"/>
                          <a:ea typeface="Calibri"/>
                          <a:cs typeface="Calibri"/>
                          <a:sym typeface="Calibri"/>
                        </a:rPr>
                        <a:t>SQL best practices across dialects, common patterns, and performance optimization</a:t>
                      </a:r>
                      <a:endParaRPr sz="10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extLst>
                  <a:ext uri="{0D108BD9-81ED-4DB2-BD59-A6C34878D82A}">
                    <a16:rowId xmlns:a16="http://schemas.microsoft.com/office/drawing/2014/main" val="10001"/>
                  </a:ext>
                </a:extLst>
              </a:tr>
              <a:tr h="200025">
                <a:tc>
                  <a:txBody>
                    <a:bodyPr/>
                    <a:lstStyle/>
                    <a:p>
                      <a:pPr marL="0" lvl="0" indent="0" algn="l" rtl="0">
                        <a:lnSpc>
                          <a:spcPct val="115000"/>
                        </a:lnSpc>
                        <a:spcBef>
                          <a:spcPts val="0"/>
                        </a:spcBef>
                        <a:spcAft>
                          <a:spcPts val="0"/>
                        </a:spcAft>
                        <a:buNone/>
                      </a:pPr>
                      <a:r>
                        <a:rPr lang="en" sz="1000">
                          <a:latin typeface="Calibri"/>
                          <a:ea typeface="Calibri"/>
                          <a:cs typeface="Calibri"/>
                          <a:sym typeface="Calibri"/>
                        </a:rPr>
                        <a:t>data-exploration</a:t>
                      </a:r>
                      <a:endParaRPr sz="10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l" rtl="0">
                        <a:lnSpc>
                          <a:spcPct val="115000"/>
                        </a:lnSpc>
                        <a:spcBef>
                          <a:spcPts val="0"/>
                        </a:spcBef>
                        <a:spcAft>
                          <a:spcPts val="0"/>
                        </a:spcAft>
                        <a:buNone/>
                      </a:pPr>
                      <a:r>
                        <a:rPr lang="en" sz="1000">
                          <a:latin typeface="Calibri"/>
                          <a:ea typeface="Calibri"/>
                          <a:cs typeface="Calibri"/>
                          <a:sym typeface="Calibri"/>
                        </a:rPr>
                        <a:t>Data profiling, quality assessment, and pattern discovery</a:t>
                      </a:r>
                      <a:endParaRPr sz="10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extLst>
                  <a:ext uri="{0D108BD9-81ED-4DB2-BD59-A6C34878D82A}">
                    <a16:rowId xmlns:a16="http://schemas.microsoft.com/office/drawing/2014/main" val="10002"/>
                  </a:ext>
                </a:extLst>
              </a:tr>
              <a:tr h="200025">
                <a:tc>
                  <a:txBody>
                    <a:bodyPr/>
                    <a:lstStyle/>
                    <a:p>
                      <a:pPr marL="0" lvl="0" indent="0" algn="l" rtl="0">
                        <a:lnSpc>
                          <a:spcPct val="115000"/>
                        </a:lnSpc>
                        <a:spcBef>
                          <a:spcPts val="0"/>
                        </a:spcBef>
                        <a:spcAft>
                          <a:spcPts val="0"/>
                        </a:spcAft>
                        <a:buNone/>
                      </a:pPr>
                      <a:r>
                        <a:rPr lang="en" sz="1000">
                          <a:latin typeface="Calibri"/>
                          <a:ea typeface="Calibri"/>
                          <a:cs typeface="Calibri"/>
                          <a:sym typeface="Calibri"/>
                        </a:rPr>
                        <a:t>data-visualization</a:t>
                      </a:r>
                      <a:endParaRPr sz="10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l" rtl="0">
                        <a:lnSpc>
                          <a:spcPct val="115000"/>
                        </a:lnSpc>
                        <a:spcBef>
                          <a:spcPts val="0"/>
                        </a:spcBef>
                        <a:spcAft>
                          <a:spcPts val="0"/>
                        </a:spcAft>
                        <a:buNone/>
                      </a:pPr>
                      <a:r>
                        <a:rPr lang="en" sz="1000">
                          <a:latin typeface="Calibri"/>
                          <a:ea typeface="Calibri"/>
                          <a:cs typeface="Calibri"/>
                          <a:sym typeface="Calibri"/>
                        </a:rPr>
                        <a:t>Chart selection, Python viz code patterns, and design principles</a:t>
                      </a:r>
                      <a:endParaRPr sz="10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extLst>
                  <a:ext uri="{0D108BD9-81ED-4DB2-BD59-A6C34878D82A}">
                    <a16:rowId xmlns:a16="http://schemas.microsoft.com/office/drawing/2014/main" val="10003"/>
                  </a:ext>
                </a:extLst>
              </a:tr>
              <a:tr h="200025">
                <a:tc>
                  <a:txBody>
                    <a:bodyPr/>
                    <a:lstStyle/>
                    <a:p>
                      <a:pPr marL="0" lvl="0" indent="0" algn="l" rtl="0">
                        <a:lnSpc>
                          <a:spcPct val="115000"/>
                        </a:lnSpc>
                        <a:spcBef>
                          <a:spcPts val="0"/>
                        </a:spcBef>
                        <a:spcAft>
                          <a:spcPts val="0"/>
                        </a:spcAft>
                        <a:buNone/>
                      </a:pPr>
                      <a:r>
                        <a:rPr lang="en" sz="1000">
                          <a:latin typeface="Calibri"/>
                          <a:ea typeface="Calibri"/>
                          <a:cs typeface="Calibri"/>
                          <a:sym typeface="Calibri"/>
                        </a:rPr>
                        <a:t>statistical-analysis</a:t>
                      </a:r>
                      <a:endParaRPr sz="10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l" rtl="0">
                        <a:lnSpc>
                          <a:spcPct val="115000"/>
                        </a:lnSpc>
                        <a:spcBef>
                          <a:spcPts val="0"/>
                        </a:spcBef>
                        <a:spcAft>
                          <a:spcPts val="0"/>
                        </a:spcAft>
                        <a:buNone/>
                      </a:pPr>
                      <a:r>
                        <a:rPr lang="en" sz="1000">
                          <a:latin typeface="Calibri"/>
                          <a:ea typeface="Calibri"/>
                          <a:cs typeface="Calibri"/>
                          <a:sym typeface="Calibri"/>
                        </a:rPr>
                        <a:t>Descriptive stats, trend analysis, outlier detection, and hypothesis testing</a:t>
                      </a:r>
                      <a:endParaRPr sz="10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extLst>
                  <a:ext uri="{0D108BD9-81ED-4DB2-BD59-A6C34878D82A}">
                    <a16:rowId xmlns:a16="http://schemas.microsoft.com/office/drawing/2014/main" val="10004"/>
                  </a:ext>
                </a:extLst>
              </a:tr>
              <a:tr h="200025">
                <a:tc>
                  <a:txBody>
                    <a:bodyPr/>
                    <a:lstStyle/>
                    <a:p>
                      <a:pPr marL="0" lvl="0" indent="0" algn="l" rtl="0">
                        <a:lnSpc>
                          <a:spcPct val="115000"/>
                        </a:lnSpc>
                        <a:spcBef>
                          <a:spcPts val="0"/>
                        </a:spcBef>
                        <a:spcAft>
                          <a:spcPts val="0"/>
                        </a:spcAft>
                        <a:buNone/>
                      </a:pPr>
                      <a:r>
                        <a:rPr lang="en" sz="1000">
                          <a:latin typeface="Calibri"/>
                          <a:ea typeface="Calibri"/>
                          <a:cs typeface="Calibri"/>
                          <a:sym typeface="Calibri"/>
                        </a:rPr>
                        <a:t>data-validation</a:t>
                      </a:r>
                      <a:endParaRPr sz="10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l" rtl="0">
                        <a:lnSpc>
                          <a:spcPct val="115000"/>
                        </a:lnSpc>
                        <a:spcBef>
                          <a:spcPts val="0"/>
                        </a:spcBef>
                        <a:spcAft>
                          <a:spcPts val="0"/>
                        </a:spcAft>
                        <a:buNone/>
                      </a:pPr>
                      <a:r>
                        <a:rPr lang="en" sz="1000">
                          <a:latin typeface="Calibri"/>
                          <a:ea typeface="Calibri"/>
                          <a:cs typeface="Calibri"/>
                          <a:sym typeface="Calibri"/>
                        </a:rPr>
                        <a:t>Pre-delivery QA, sanity checks, and documentation standards</a:t>
                      </a:r>
                      <a:endParaRPr sz="10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extLst>
                  <a:ext uri="{0D108BD9-81ED-4DB2-BD59-A6C34878D82A}">
                    <a16:rowId xmlns:a16="http://schemas.microsoft.com/office/drawing/2014/main" val="10005"/>
                  </a:ext>
                </a:extLst>
              </a:tr>
              <a:tr h="200025">
                <a:tc>
                  <a:txBody>
                    <a:bodyPr/>
                    <a:lstStyle/>
                    <a:p>
                      <a:pPr marL="0" lvl="0" indent="0" algn="l" rtl="0">
                        <a:lnSpc>
                          <a:spcPct val="115000"/>
                        </a:lnSpc>
                        <a:spcBef>
                          <a:spcPts val="0"/>
                        </a:spcBef>
                        <a:spcAft>
                          <a:spcPts val="0"/>
                        </a:spcAft>
                        <a:buNone/>
                      </a:pPr>
                      <a:r>
                        <a:rPr lang="en" sz="1000">
                          <a:latin typeface="Calibri"/>
                          <a:ea typeface="Calibri"/>
                          <a:cs typeface="Calibri"/>
                          <a:sym typeface="Calibri"/>
                        </a:rPr>
                        <a:t>interactive-dashboard-builder</a:t>
                      </a:r>
                      <a:endParaRPr sz="10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l" rtl="0">
                        <a:lnSpc>
                          <a:spcPct val="115000"/>
                        </a:lnSpc>
                        <a:spcBef>
                          <a:spcPts val="0"/>
                        </a:spcBef>
                        <a:spcAft>
                          <a:spcPts val="0"/>
                        </a:spcAft>
                        <a:buNone/>
                      </a:pPr>
                      <a:r>
                        <a:rPr lang="en" sz="1000">
                          <a:latin typeface="Calibri"/>
                          <a:ea typeface="Calibri"/>
                          <a:cs typeface="Calibri"/>
                          <a:sym typeface="Calibri"/>
                        </a:rPr>
                        <a:t>HTML/JS dashboard construction with Chart.js, filters, and styling</a:t>
                      </a:r>
                      <a:endParaRPr sz="10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54"/>
        <p:cNvGrpSpPr/>
        <p:nvPr/>
      </p:nvGrpSpPr>
      <p:grpSpPr>
        <a:xfrm>
          <a:off x="0" y="0"/>
          <a:ext cx="0" cy="0"/>
          <a:chOff x="0" y="0"/>
          <a:chExt cx="0" cy="0"/>
        </a:xfrm>
      </p:grpSpPr>
      <p:sp>
        <p:nvSpPr>
          <p:cNvPr id="155" name="Google Shape;155;p25"/>
          <p:cNvSpPr txBox="1"/>
          <p:nvPr/>
        </p:nvSpPr>
        <p:spPr>
          <a:xfrm>
            <a:off x="81775" y="40050"/>
            <a:ext cx="43926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10 Claude Code Features</a:t>
            </a:r>
            <a:endParaRPr sz="2000" b="1">
              <a:solidFill>
                <a:schemeClr val="dk1"/>
              </a:solidFill>
              <a:latin typeface="Calibri"/>
              <a:ea typeface="Calibri"/>
              <a:cs typeface="Calibri"/>
              <a:sym typeface="Calibri"/>
            </a:endParaRPr>
          </a:p>
        </p:txBody>
      </p:sp>
      <p:sp>
        <p:nvSpPr>
          <p:cNvPr id="156" name="Google Shape;156;p25"/>
          <p:cNvSpPr txBox="1"/>
          <p:nvPr/>
        </p:nvSpPr>
        <p:spPr>
          <a:xfrm>
            <a:off x="81775" y="462375"/>
            <a:ext cx="5970600" cy="4420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07950" algn="l" rtl="0">
              <a:lnSpc>
                <a:spcPct val="100000"/>
              </a:lnSpc>
              <a:spcBef>
                <a:spcPts val="0"/>
              </a:spcBef>
              <a:spcAft>
                <a:spcPts val="0"/>
              </a:spcAft>
              <a:buClr>
                <a:schemeClr val="dk1"/>
              </a:buClr>
              <a:buSzPts val="800"/>
              <a:buFont typeface="Calibri"/>
              <a:buChar char="●"/>
            </a:pPr>
            <a:r>
              <a:rPr lang="en" sz="1100" b="1">
                <a:solidFill>
                  <a:srgbClr val="FF0000"/>
                </a:solidFill>
                <a:latin typeface="Calibri"/>
                <a:ea typeface="Calibri"/>
                <a:cs typeface="Calibri"/>
                <a:sym typeface="Calibri"/>
              </a:rPr>
              <a:t>10 Claude Code Features </a:t>
            </a:r>
            <a:r>
              <a:rPr lang="en" sz="1100">
                <a:solidFill>
                  <a:schemeClr val="dk1"/>
                </a:solidFill>
                <a:latin typeface="Calibri"/>
                <a:ea typeface="Calibri"/>
                <a:cs typeface="Calibri"/>
                <a:sym typeface="Calibri"/>
              </a:rPr>
              <a:t>- The AI Growth Lab with Tom</a:t>
            </a:r>
            <a:endParaRPr sz="11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1100" u="sng">
                <a:solidFill>
                  <a:schemeClr val="hlink"/>
                </a:solidFill>
                <a:latin typeface="Calibri"/>
                <a:ea typeface="Calibri"/>
                <a:cs typeface="Calibri"/>
                <a:sym typeface="Calibri"/>
                <a:hlinkClick r:id="rId3"/>
              </a:rPr>
              <a:t>https://www.youtube.com/watch?v=F_i_s0L2aWY</a:t>
            </a:r>
            <a:endParaRPr sz="11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1100">
                <a:solidFill>
                  <a:schemeClr val="dk1"/>
                </a:solidFill>
                <a:latin typeface="Calibri"/>
                <a:ea typeface="Calibri"/>
                <a:cs typeface="Calibri"/>
                <a:sym typeface="Calibri"/>
              </a:rPr>
              <a:t>1. Insights Report (`/insight`) - generates a personalized report based on your last 30 days of sessions;  identifies where you are duplicating work, suggests custom "skills" or sub-agents to install, and provides specific prompts to optimize your workflow </a:t>
            </a:r>
            <a:endParaRPr sz="11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1100">
                <a:solidFill>
                  <a:schemeClr val="dk1"/>
                </a:solidFill>
                <a:latin typeface="Calibri"/>
                <a:ea typeface="Calibri"/>
                <a:cs typeface="Calibri"/>
                <a:sym typeface="Calibri"/>
              </a:rPr>
              <a:t>2. Effort Control (`/effort`) - choose between `low`, `medium`, `high`, `max`, and `auto` </a:t>
            </a:r>
            <a:endParaRPr sz="11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1100">
                <a:solidFill>
                  <a:schemeClr val="dk1"/>
                </a:solidFill>
                <a:latin typeface="Calibri"/>
                <a:ea typeface="Calibri"/>
                <a:cs typeface="Calibri"/>
                <a:sym typeface="Calibri"/>
              </a:rPr>
              <a:t>3. Remote Control (`/remote-control`) - allows you to continue a Claude Code session from your mobile device</a:t>
            </a:r>
            <a:endParaRPr sz="11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1100">
                <a:solidFill>
                  <a:schemeClr val="dk1"/>
                </a:solidFill>
                <a:latin typeface="Calibri"/>
                <a:ea typeface="Calibri"/>
                <a:cs typeface="Calibri"/>
                <a:sym typeface="Calibri"/>
              </a:rPr>
              <a:t>4. Batch Processing (`/batch`) - executes large-scale changes or research tasks in parallel; it can read through multiple project files simultaneously to suggest edits or generate content (like social media posts) for different modules at once</a:t>
            </a:r>
            <a:endParaRPr sz="11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1100">
                <a:solidFill>
                  <a:schemeClr val="dk1"/>
                </a:solidFill>
                <a:latin typeface="Calibri"/>
                <a:ea typeface="Calibri"/>
                <a:cs typeface="Calibri"/>
                <a:sym typeface="Calibri"/>
              </a:rPr>
              <a:t>5. Simplify (`/simplify`) - spins up three specialized agents (Code Duplication, Code Quality, and Efficiency) to review your codebase an apply fixes for bugs, performance issues, and redundant code</a:t>
            </a:r>
            <a:endParaRPr sz="11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1100">
                <a:solidFill>
                  <a:schemeClr val="dk1"/>
                </a:solidFill>
                <a:latin typeface="Calibri"/>
                <a:ea typeface="Calibri"/>
                <a:cs typeface="Calibri"/>
                <a:sym typeface="Calibri"/>
              </a:rPr>
              <a:t>6. Loops (`/loop`) - sets up recurring "cron jobs" or mini-automations within a session, for example, set Claude to check your email for urgent messages every 3 hours</a:t>
            </a:r>
            <a:endParaRPr sz="11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1100">
                <a:solidFill>
                  <a:schemeClr val="dk1"/>
                </a:solidFill>
                <a:latin typeface="Calibri"/>
                <a:ea typeface="Calibri"/>
                <a:cs typeface="Calibri"/>
                <a:sym typeface="Calibri"/>
              </a:rPr>
              <a:t>7. Rewind Mode (Double `Esc`) - acts as a "time machine" to revert the conversation and code edits to a previous state - useful for undoing a series of automated edits that didn't go as planned </a:t>
            </a:r>
            <a:endParaRPr sz="11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1100">
                <a:solidFill>
                  <a:schemeClr val="dk1"/>
                </a:solidFill>
                <a:latin typeface="Calibri"/>
                <a:ea typeface="Calibri"/>
                <a:cs typeface="Calibri"/>
                <a:sym typeface="Calibri"/>
              </a:rPr>
              <a:t>8. Hooks - actions triggered before or after a tool is used. Examples - automatic backups before file edits, cost control (blocking requests that exceed token limits), or brand voice enforcement on generated text</a:t>
            </a:r>
            <a:endParaRPr sz="11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1100">
                <a:solidFill>
                  <a:schemeClr val="dk1"/>
                </a:solidFill>
                <a:latin typeface="Calibri"/>
                <a:ea typeface="Calibri"/>
                <a:cs typeface="Calibri"/>
                <a:sym typeface="Calibri"/>
              </a:rPr>
              <a:t>9. Side Conversations (`/btw`) - ask side questions (like checking remaining context window) without interrupting a long-running task</a:t>
            </a:r>
            <a:endParaRPr sz="11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1100">
                <a:solidFill>
                  <a:schemeClr val="dk1"/>
                </a:solidFill>
                <a:latin typeface="Calibri"/>
                <a:ea typeface="Calibri"/>
                <a:cs typeface="Calibri"/>
                <a:sym typeface="Calibri"/>
              </a:rPr>
              <a:t>10. Agent Teams (Parallel Agents) - spins up multiple independent Claude Code sessions, each with its own context window, to work as a team; A "lead agent" delegates tasks to specialized teammates (e.g., a skeptical student, a designer, and a judge) who can message each other to compile a final report</a:t>
            </a:r>
            <a:endParaRPr sz="1100">
              <a:solidFill>
                <a:schemeClr val="dk1"/>
              </a:solidFill>
              <a:latin typeface="Calibri"/>
              <a:ea typeface="Calibri"/>
              <a:cs typeface="Calibri"/>
              <a:sym typeface="Calibri"/>
            </a:endParaRPr>
          </a:p>
        </p:txBody>
      </p:sp>
      <p:pic>
        <p:nvPicPr>
          <p:cNvPr id="157" name="Google Shape;157;p25"/>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6204775" y="152400"/>
            <a:ext cx="2786825" cy="1438073"/>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61"/>
        <p:cNvGrpSpPr/>
        <p:nvPr/>
      </p:nvGrpSpPr>
      <p:grpSpPr>
        <a:xfrm>
          <a:off x="0" y="0"/>
          <a:ext cx="0" cy="0"/>
          <a:chOff x="0" y="0"/>
          <a:chExt cx="0" cy="0"/>
        </a:xfrm>
      </p:grpSpPr>
      <p:sp>
        <p:nvSpPr>
          <p:cNvPr id="162" name="Google Shape;162;p26"/>
          <p:cNvSpPr txBox="1"/>
          <p:nvPr/>
        </p:nvSpPr>
        <p:spPr>
          <a:xfrm>
            <a:off x="81775" y="40050"/>
            <a:ext cx="43926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163" name="Google Shape;163;p26"/>
          <p:cNvSpPr txBox="1"/>
          <p:nvPr/>
        </p:nvSpPr>
        <p:spPr>
          <a:xfrm>
            <a:off x="177800" y="795000"/>
            <a:ext cx="4467900" cy="1080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14300" algn="l" rtl="0">
              <a:lnSpc>
                <a:spcPct val="100000"/>
              </a:lnSpc>
              <a:spcBef>
                <a:spcPts val="0"/>
              </a:spcBef>
              <a:spcAft>
                <a:spcPts val="0"/>
              </a:spcAft>
              <a:buClr>
                <a:srgbClr val="FF0000"/>
              </a:buClr>
              <a:buSzPts val="900"/>
              <a:buFont typeface="Calibri"/>
              <a:buChar char="●"/>
            </a:pPr>
            <a:r>
              <a:rPr lang="en" sz="1200" b="1">
                <a:solidFill>
                  <a:srgbClr val="FF0000"/>
                </a:solidFill>
                <a:latin typeface="Calibri"/>
                <a:ea typeface="Calibri"/>
                <a:cs typeface="Calibri"/>
                <a:sym typeface="Calibri"/>
              </a:rPr>
              <a:t>RealRestorer - fix photos using AI</a:t>
            </a:r>
            <a:endParaRPr sz="1200" b="1">
              <a:solidFill>
                <a:srgbClr val="FF0000"/>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Open-source, fixing damaged, blurry, noisy, scratched, or black-and-white photos; Best among open-source methods, competitive with top closed models; Requires a high-end GPU (CUDA recommended).</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3"/>
              </a:rPr>
              <a:t>https://realrestorer.com</a:t>
            </a:r>
            <a:r>
              <a:rPr lang="en" sz="900">
                <a:solidFill>
                  <a:schemeClr val="dk1"/>
                </a:solidFill>
                <a:latin typeface="Calibri"/>
                <a:ea typeface="Calibri"/>
                <a:cs typeface="Calibri"/>
                <a:sym typeface="Calibri"/>
              </a:rPr>
              <a:t> ; </a:t>
            </a:r>
            <a:r>
              <a:rPr lang="en" sz="900" u="sng">
                <a:solidFill>
                  <a:schemeClr val="hlink"/>
                </a:solidFill>
                <a:latin typeface="Calibri"/>
                <a:ea typeface="Calibri"/>
                <a:cs typeface="Calibri"/>
                <a:sym typeface="Calibri"/>
                <a:hlinkClick r:id="rId4"/>
              </a:rPr>
              <a:t>https://arxiv.org/abs/2603.25502</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sp>
        <p:nvSpPr>
          <p:cNvPr id="164" name="Google Shape;164;p26"/>
          <p:cNvSpPr txBox="1"/>
          <p:nvPr/>
        </p:nvSpPr>
        <p:spPr>
          <a:xfrm>
            <a:off x="177800" y="3091761"/>
            <a:ext cx="4467900" cy="895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TRIBE V2 (by Meta)</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AI that predicts human brain activity (fMRI scans) in response to video, audio, and text input; Trained on 500+ hours of fMRI data from 700+ people; Open-source</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5"/>
              </a:rPr>
              <a:t>https://ai.meta.com/blog/tribe-v2-brain-predictive-foundation-model/</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pic>
        <p:nvPicPr>
          <p:cNvPr id="165" name="Google Shape;165;p26"/>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5003875" y="736675"/>
            <a:ext cx="2744250" cy="1197250"/>
          </a:xfrm>
          <a:prstGeom prst="rect">
            <a:avLst/>
          </a:prstGeom>
          <a:noFill/>
          <a:ln w="9525" cap="flat" cmpd="sng">
            <a:solidFill>
              <a:srgbClr val="FF0000"/>
            </a:solidFill>
            <a:prstDash val="solid"/>
            <a:round/>
            <a:headEnd type="none" w="sm" len="sm"/>
            <a:tailEnd type="none" w="sm" len="sm"/>
          </a:ln>
        </p:spPr>
      </p:pic>
      <p:pic>
        <p:nvPicPr>
          <p:cNvPr id="166" name="Google Shape;166;p26"/>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5003875" y="2606025"/>
            <a:ext cx="3426074" cy="209857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70"/>
        <p:cNvGrpSpPr/>
        <p:nvPr/>
      </p:nvGrpSpPr>
      <p:grpSpPr>
        <a:xfrm>
          <a:off x="0" y="0"/>
          <a:ext cx="0" cy="0"/>
          <a:chOff x="0" y="0"/>
          <a:chExt cx="0" cy="0"/>
        </a:xfrm>
      </p:grpSpPr>
      <p:sp>
        <p:nvSpPr>
          <p:cNvPr id="171" name="Google Shape;171;p27"/>
          <p:cNvSpPr txBox="1"/>
          <p:nvPr/>
        </p:nvSpPr>
        <p:spPr>
          <a:xfrm>
            <a:off x="81775" y="40050"/>
            <a:ext cx="43926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172" name="Google Shape;172;p27"/>
          <p:cNvSpPr txBox="1"/>
          <p:nvPr/>
        </p:nvSpPr>
        <p:spPr>
          <a:xfrm>
            <a:off x="81775" y="698163"/>
            <a:ext cx="4467900" cy="757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14300" algn="l" rtl="0">
              <a:lnSpc>
                <a:spcPct val="100000"/>
              </a:lnSpc>
              <a:spcBef>
                <a:spcPts val="0"/>
              </a:spcBef>
              <a:spcAft>
                <a:spcPts val="0"/>
              </a:spcAft>
              <a:buClr>
                <a:srgbClr val="FF0000"/>
              </a:buClr>
              <a:buSzPts val="900"/>
              <a:buFont typeface="Calibri"/>
              <a:buChar char="●"/>
            </a:pPr>
            <a:r>
              <a:rPr lang="en" sz="1200" b="1">
                <a:solidFill>
                  <a:srgbClr val="FF0000"/>
                </a:solidFill>
                <a:latin typeface="Calibri"/>
                <a:ea typeface="Calibri"/>
                <a:cs typeface="Calibri"/>
                <a:sym typeface="Calibri"/>
              </a:rPr>
              <a:t>GLM 5.1 (by Z.ai, formerly Zhipu AI) </a:t>
            </a:r>
            <a:endParaRPr sz="1200" b="1">
              <a:solidFill>
                <a:srgbClr val="FF0000"/>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1200">
                <a:solidFill>
                  <a:schemeClr val="dk1"/>
                </a:solidFill>
                <a:latin typeface="Calibri"/>
                <a:ea typeface="Calibri"/>
                <a:cs typeface="Calibri"/>
                <a:sym typeface="Calibri"/>
              </a:rPr>
              <a:t>Competitive with Claude Opus 4.6 for agentic coding, but faster, cheaper, and with higher usage limits; Available via API; open-source release planned - </a:t>
            </a:r>
            <a:r>
              <a:rPr lang="en" sz="900" u="sng">
                <a:solidFill>
                  <a:schemeClr val="hlink"/>
                </a:solidFill>
                <a:latin typeface="Calibri"/>
                <a:ea typeface="Calibri"/>
                <a:cs typeface="Calibri"/>
                <a:sym typeface="Calibri"/>
                <a:hlinkClick r:id="rId3"/>
              </a:rPr>
              <a:t>https://docs.z.ai/devpack/using5.1</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sp>
        <p:nvSpPr>
          <p:cNvPr id="173" name="Google Shape;173;p27"/>
          <p:cNvSpPr txBox="1"/>
          <p:nvPr/>
        </p:nvSpPr>
        <p:spPr>
          <a:xfrm>
            <a:off x="81775" y="3042838"/>
            <a:ext cx="4467900" cy="988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14300" algn="l" rtl="0">
              <a:lnSpc>
                <a:spcPct val="100000"/>
              </a:lnSpc>
              <a:spcBef>
                <a:spcPts val="0"/>
              </a:spcBef>
              <a:spcAft>
                <a:spcPts val="0"/>
              </a:spcAft>
              <a:buClr>
                <a:srgbClr val="FF0000"/>
              </a:buClr>
              <a:buSzPts val="900"/>
              <a:buFont typeface="Calibri"/>
              <a:buChar char="●"/>
            </a:pPr>
            <a:r>
              <a:rPr lang="en" sz="1200" b="1">
                <a:solidFill>
                  <a:srgbClr val="FF0000"/>
                </a:solidFill>
                <a:latin typeface="Calibri"/>
                <a:ea typeface="Calibri"/>
                <a:cs typeface="Calibri"/>
                <a:sym typeface="Calibri"/>
              </a:rPr>
              <a:t>Cohere Transcribe speech-to-text </a:t>
            </a:r>
            <a:endParaRPr sz="1200" b="1">
              <a:solidFill>
                <a:srgbClr val="FF0000"/>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Open-source (Apache 2.0), 2B params, 14 languages. </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Outperforms Whisper Large v3, ElevenLabs Scribe, and others</a:t>
            </a:r>
            <a:endParaRPr sz="1200">
              <a:solidFill>
                <a:schemeClr val="dk1"/>
              </a:solidFill>
              <a:latin typeface="Calibri"/>
              <a:ea typeface="Calibri"/>
              <a:cs typeface="Calibri"/>
              <a:sym typeface="Calibri"/>
            </a:endParaRPr>
          </a:p>
          <a:p>
            <a:pPr marL="171450" marR="0" lvl="0" indent="-95250" algn="l" rtl="0">
              <a:lnSpc>
                <a:spcPct val="100000"/>
              </a:lnSpc>
              <a:spcBef>
                <a:spcPts val="0"/>
              </a:spcBef>
              <a:spcAft>
                <a:spcPts val="0"/>
              </a:spcAft>
              <a:buClr>
                <a:schemeClr val="dk1"/>
              </a:buClr>
              <a:buSzPts val="600"/>
              <a:buFont typeface="Calibri"/>
              <a:buChar char="●"/>
            </a:pPr>
            <a:r>
              <a:rPr lang="en" sz="900" u="sng">
                <a:solidFill>
                  <a:schemeClr val="hlink"/>
                </a:solidFill>
                <a:latin typeface="Calibri"/>
                <a:ea typeface="Calibri"/>
                <a:cs typeface="Calibri"/>
                <a:sym typeface="Calibri"/>
                <a:hlinkClick r:id="rId4"/>
              </a:rPr>
              <a:t>https://cohere.com/blog/transcribe</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95250" algn="l" rtl="0">
              <a:lnSpc>
                <a:spcPct val="100000"/>
              </a:lnSpc>
              <a:spcBef>
                <a:spcPts val="0"/>
              </a:spcBef>
              <a:spcAft>
                <a:spcPts val="0"/>
              </a:spcAft>
              <a:buClr>
                <a:schemeClr val="dk1"/>
              </a:buClr>
              <a:buSzPts val="600"/>
              <a:buFont typeface="Calibri"/>
              <a:buChar char="●"/>
            </a:pPr>
            <a:r>
              <a:rPr lang="en" sz="900" u="sng">
                <a:solidFill>
                  <a:schemeClr val="hlink"/>
                </a:solidFill>
                <a:latin typeface="Calibri"/>
                <a:ea typeface="Calibri"/>
                <a:cs typeface="Calibri"/>
                <a:sym typeface="Calibri"/>
                <a:hlinkClick r:id="rId5"/>
              </a:rPr>
              <a:t>https://huggingface.co/CohereLabs/cohere-transcribe-03-2026</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95250" algn="l" rtl="0">
              <a:lnSpc>
                <a:spcPct val="100000"/>
              </a:lnSpc>
              <a:spcBef>
                <a:spcPts val="0"/>
              </a:spcBef>
              <a:spcAft>
                <a:spcPts val="0"/>
              </a:spcAft>
              <a:buClr>
                <a:schemeClr val="dk1"/>
              </a:buClr>
              <a:buSzPts val="600"/>
              <a:buFont typeface="Calibri"/>
              <a:buChar char="●"/>
            </a:pPr>
            <a:r>
              <a:rPr lang="en" sz="900" u="sng">
                <a:solidFill>
                  <a:schemeClr val="hlink"/>
                </a:solidFill>
                <a:latin typeface="Calibri"/>
                <a:ea typeface="Calibri"/>
                <a:cs typeface="Calibri"/>
                <a:sym typeface="Calibri"/>
                <a:hlinkClick r:id="rId4"/>
              </a:rPr>
              <a:t>https://cohere.com/blog/transcribe</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pic>
        <p:nvPicPr>
          <p:cNvPr id="174" name="Google Shape;174;p27"/>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756925" y="203475"/>
            <a:ext cx="3935199" cy="1634475"/>
          </a:xfrm>
          <a:prstGeom prst="rect">
            <a:avLst/>
          </a:prstGeom>
          <a:noFill/>
          <a:ln w="9525" cap="flat" cmpd="sng">
            <a:solidFill>
              <a:srgbClr val="FF0000"/>
            </a:solidFill>
            <a:prstDash val="solid"/>
            <a:round/>
            <a:headEnd type="none" w="sm" len="sm"/>
            <a:tailEnd type="none" w="sm" len="sm"/>
          </a:ln>
        </p:spPr>
      </p:pic>
      <p:pic>
        <p:nvPicPr>
          <p:cNvPr id="175" name="Google Shape;175;p27"/>
          <p:cNvPicPr preferRelativeResize="0"/>
          <p:nvPr/>
        </p:nvPicPr>
        <p:blipFill>
          <a:blip r:embed="rId7">
            <a:alphaModFix/>
          </a:blip>
          <a:stretch>
            <a:fillRect/>
          </a:stretch>
        </p:blipFill>
        <p:spPr>
          <a:xfrm>
            <a:off x="4948950" y="3042850"/>
            <a:ext cx="2857500" cy="16002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79"/>
        <p:cNvGrpSpPr/>
        <p:nvPr/>
      </p:nvGrpSpPr>
      <p:grpSpPr>
        <a:xfrm>
          <a:off x="0" y="0"/>
          <a:ext cx="0" cy="0"/>
          <a:chOff x="0" y="0"/>
          <a:chExt cx="0" cy="0"/>
        </a:xfrm>
      </p:grpSpPr>
      <p:sp>
        <p:nvSpPr>
          <p:cNvPr id="180" name="Google Shape;180;p28"/>
          <p:cNvSpPr txBox="1"/>
          <p:nvPr/>
        </p:nvSpPr>
        <p:spPr>
          <a:xfrm>
            <a:off x="81775" y="40050"/>
            <a:ext cx="43926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Agent as a Consigliere</a:t>
            </a:r>
            <a:endParaRPr sz="2000" b="1">
              <a:solidFill>
                <a:schemeClr val="dk1"/>
              </a:solidFill>
              <a:latin typeface="Calibri"/>
              <a:ea typeface="Calibri"/>
              <a:cs typeface="Calibri"/>
              <a:sym typeface="Calibri"/>
            </a:endParaRPr>
          </a:p>
        </p:txBody>
      </p:sp>
      <p:sp>
        <p:nvSpPr>
          <p:cNvPr id="181" name="Google Shape;181;p28"/>
          <p:cNvSpPr txBox="1"/>
          <p:nvPr/>
        </p:nvSpPr>
        <p:spPr>
          <a:xfrm>
            <a:off x="81775" y="508663"/>
            <a:ext cx="44679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Consigliere means "advisor" or "counselor"</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word comes from Italian, derived from the Latin consiliarius (advisor) and consilium (advice)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literally refers to someone who gives counsel or guidance, making it closer to "counselor" than "consultant."</a:t>
            </a:r>
            <a:endParaRPr sz="1200">
              <a:solidFill>
                <a:schemeClr val="dk1"/>
              </a:solidFill>
              <a:latin typeface="Calibri"/>
              <a:ea typeface="Calibri"/>
              <a:cs typeface="Calibri"/>
              <a:sym typeface="Calibri"/>
            </a:endParaRPr>
          </a:p>
        </p:txBody>
      </p:sp>
      <p:pic>
        <p:nvPicPr>
          <p:cNvPr id="182" name="Google Shape;182;p28"/>
          <p:cNvPicPr preferRelativeResize="0"/>
          <p:nvPr/>
        </p:nvPicPr>
        <p:blipFill>
          <a:blip r:embed="rId3">
            <a:alphaModFix/>
          </a:blip>
          <a:stretch>
            <a:fillRect/>
          </a:stretch>
        </p:blipFill>
        <p:spPr>
          <a:xfrm>
            <a:off x="6070725" y="156913"/>
            <a:ext cx="2466975" cy="1847850"/>
          </a:xfrm>
          <a:prstGeom prst="rect">
            <a:avLst/>
          </a:prstGeom>
          <a:noFill/>
          <a:ln w="9525" cap="flat" cmpd="sng">
            <a:solidFill>
              <a:srgbClr val="FF0000"/>
            </a:solidFill>
            <a:prstDash val="solid"/>
            <a:round/>
            <a:headEnd type="none" w="sm" len="sm"/>
            <a:tailEnd type="none" w="sm" len="sm"/>
          </a:ln>
        </p:spPr>
      </p:pic>
      <p:sp>
        <p:nvSpPr>
          <p:cNvPr id="183" name="Google Shape;183;p28"/>
          <p:cNvSpPr txBox="1"/>
          <p:nvPr/>
        </p:nvSpPr>
        <p:spPr>
          <a:xfrm>
            <a:off x="5621575" y="2091300"/>
            <a:ext cx="34125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Tom Hagen, played by Robert Duvall, is the loyal Irish-German consigliere (advisor) to Don Vito Corleone in The Godfather, serving as a trusted legal counsel, "auxiliary brain," and intermediary for the Mafia family</a:t>
            </a:r>
            <a:endParaRPr sz="1200">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87"/>
        <p:cNvGrpSpPr/>
        <p:nvPr/>
      </p:nvGrpSpPr>
      <p:grpSpPr>
        <a:xfrm>
          <a:off x="0" y="0"/>
          <a:ext cx="0" cy="0"/>
          <a:chOff x="0" y="0"/>
          <a:chExt cx="0" cy="0"/>
        </a:xfrm>
      </p:grpSpPr>
      <p:sp>
        <p:nvSpPr>
          <p:cNvPr id="188" name="Google Shape;188;p29"/>
          <p:cNvSpPr txBox="1"/>
          <p:nvPr/>
        </p:nvSpPr>
        <p:spPr>
          <a:xfrm>
            <a:off x="81775" y="40050"/>
            <a:ext cx="44034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Good Engineering Have Not Got Cheaper</a:t>
            </a:r>
            <a:endParaRPr sz="2000" b="1">
              <a:solidFill>
                <a:schemeClr val="dk1"/>
              </a:solidFill>
              <a:latin typeface="Calibri"/>
              <a:ea typeface="Calibri"/>
              <a:cs typeface="Calibri"/>
              <a:sym typeface="Calibri"/>
            </a:endParaRPr>
          </a:p>
        </p:txBody>
      </p:sp>
      <p:sp>
        <p:nvSpPr>
          <p:cNvPr id="189" name="Google Shape;189;p29"/>
          <p:cNvSpPr txBox="1"/>
          <p:nvPr/>
        </p:nvSpPr>
        <p:spPr>
          <a:xfrm>
            <a:off x="81775" y="508663"/>
            <a:ext cx="4467900" cy="3712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value of a software engineer was never just writing code. That was only one part of the job</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real value is translating business needs into something useful and real: a product, a workflow, an internal tool, a system people can actually rely 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You need to understand the business, the user, the tradeoffs, the edge cases, the experience. Code was just the medium we used to express all that.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act of creating code has become dramatically cheaper/fast. But the act of creating enterprise-grade software has not moved nearly as much</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Planning goes up 2x or 5x, because now you need to be much more explicit from the beginning about what should happen, what should not happen, and what “done” actually means.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So the bottlenecks are still there, but they moved upstream into planning, alignment, architecture, and decision-making. And they moved downstream into QA, regression, validation, security, and rollout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With AI generation, you can move so fast that you need many of the answers before the code even starts</a:t>
            </a:r>
            <a:endParaRPr sz="1200">
              <a:solidFill>
                <a:schemeClr val="dk1"/>
              </a:solidFill>
              <a:latin typeface="Calibri"/>
              <a:ea typeface="Calibri"/>
              <a:cs typeface="Calibri"/>
              <a:sym typeface="Calibri"/>
            </a:endParaRPr>
          </a:p>
        </p:txBody>
      </p:sp>
      <p:sp>
        <p:nvSpPr>
          <p:cNvPr id="190" name="Google Shape;190;p29"/>
          <p:cNvSpPr txBox="1"/>
          <p:nvPr/>
        </p:nvSpPr>
        <p:spPr>
          <a:xfrm>
            <a:off x="4618255" y="2516808"/>
            <a:ext cx="4467900" cy="2558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And QA gets weird too because people now don't get a very deep understanding of the logic. You can validate functionality. But validating the underlying logic, the weird cases, the regressions, the long-term maintainability ... that becomes even more important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Most teams are still structured for the old bottlenecks, not the new ones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Actual engineering is becoming more visible. Now that code is cheaper, all the other parts we used to hide behind the coding effort are exposed very clearly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Not “coding is dead.” More like: the whole development process needs to be redesigned for a world where creation is fast, but clarity, evaluation, and trust are still hard.</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Code got cheaper. Good engineering did not.</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3"/>
              </a:rPr>
              <a:t>https://www.linkedin.com/feed/update/urn:li:activity:7440049375902461955/</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pic>
        <p:nvPicPr>
          <p:cNvPr id="191" name="Google Shape;191;p29"/>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168400" y="193200"/>
            <a:ext cx="1287700" cy="1548375"/>
          </a:xfrm>
          <a:prstGeom prst="rect">
            <a:avLst/>
          </a:prstGeom>
          <a:noFill/>
          <a:ln w="9525" cap="flat" cmpd="sng">
            <a:solidFill>
              <a:srgbClr val="FF0000"/>
            </a:solidFill>
            <a:prstDash val="solid"/>
            <a:round/>
            <a:headEnd type="none" w="sm" len="sm"/>
            <a:tailEnd type="none" w="sm" len="sm"/>
          </a:ln>
        </p:spPr>
      </p:pic>
      <p:sp>
        <p:nvSpPr>
          <p:cNvPr id="192" name="Google Shape;192;p29"/>
          <p:cNvSpPr txBox="1"/>
          <p:nvPr/>
        </p:nvSpPr>
        <p:spPr>
          <a:xfrm>
            <a:off x="4729500" y="1826925"/>
            <a:ext cx="2883000" cy="372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46050" algn="l" rtl="0">
              <a:lnSpc>
                <a:spcPct val="100000"/>
              </a:lnSpc>
              <a:spcBef>
                <a:spcPts val="0"/>
              </a:spcBef>
              <a:spcAft>
                <a:spcPts val="0"/>
              </a:spcAft>
              <a:buClr>
                <a:srgbClr val="FF0000"/>
              </a:buClr>
              <a:buSzPts val="1400"/>
              <a:buFont typeface="Calibri"/>
              <a:buChar char="●"/>
            </a:pPr>
            <a:r>
              <a:rPr lang="en" b="1">
                <a:solidFill>
                  <a:srgbClr val="FF0000"/>
                </a:solidFill>
                <a:latin typeface="Calibri"/>
                <a:ea typeface="Calibri"/>
                <a:cs typeface="Calibri"/>
                <a:sym typeface="Calibri"/>
              </a:rPr>
              <a:t>José Gregorio Argomedo</a:t>
            </a:r>
            <a:endParaRPr sz="1100" b="1">
              <a:solidFill>
                <a:srgbClr val="FF0000"/>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5"/>
              </a:rPr>
              <a:t>https://www.linkedin.com/in/jose-gregorio-argomedo/</a:t>
            </a:r>
            <a:endParaRPr sz="900">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96"/>
        <p:cNvGrpSpPr/>
        <p:nvPr/>
      </p:nvGrpSpPr>
      <p:grpSpPr>
        <a:xfrm>
          <a:off x="0" y="0"/>
          <a:ext cx="0" cy="0"/>
          <a:chOff x="0" y="0"/>
          <a:chExt cx="0" cy="0"/>
        </a:xfrm>
      </p:grpSpPr>
      <p:sp>
        <p:nvSpPr>
          <p:cNvPr id="197" name="Google Shape;197;p30"/>
          <p:cNvSpPr txBox="1"/>
          <p:nvPr/>
        </p:nvSpPr>
        <p:spPr>
          <a:xfrm>
            <a:off x="81775" y="40050"/>
            <a:ext cx="43926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198" name="Google Shape;198;p30"/>
          <p:cNvSpPr txBox="1"/>
          <p:nvPr/>
        </p:nvSpPr>
        <p:spPr>
          <a:xfrm>
            <a:off x="81775" y="508663"/>
            <a:ext cx="4467900" cy="131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14300" algn="l" rtl="0">
              <a:lnSpc>
                <a:spcPct val="100000"/>
              </a:lnSpc>
              <a:spcBef>
                <a:spcPts val="0"/>
              </a:spcBef>
              <a:spcAft>
                <a:spcPts val="0"/>
              </a:spcAft>
              <a:buClr>
                <a:srgbClr val="FF0000"/>
              </a:buClr>
              <a:buSzPts val="900"/>
              <a:buFont typeface="Calibri"/>
              <a:buChar char="●"/>
            </a:pPr>
            <a:r>
              <a:rPr lang="en" sz="1200" b="1">
                <a:solidFill>
                  <a:srgbClr val="FF0000"/>
                </a:solidFill>
                <a:latin typeface="Calibri"/>
                <a:ea typeface="Calibri"/>
                <a:cs typeface="Calibri"/>
                <a:sym typeface="Calibri"/>
              </a:rPr>
              <a:t>InstaDoodle - create animated presentations</a:t>
            </a:r>
            <a:endParaRPr sz="1200" b="1">
              <a:solidFill>
                <a:srgbClr val="FF0000"/>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A cloud-based AI tool for creating whiteboard-style doodle animations without any design or technical skills</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From topic or text to a complete video with voices (40 languages)</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Add background music from a royalty-free library </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Starts at $47/mo. (extra for AI Wizard and AI Voices)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https://instadoodle.com</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02"/>
        <p:cNvGrpSpPr/>
        <p:nvPr/>
      </p:nvGrpSpPr>
      <p:grpSpPr>
        <a:xfrm>
          <a:off x="0" y="0"/>
          <a:ext cx="0" cy="0"/>
          <a:chOff x="0" y="0"/>
          <a:chExt cx="0" cy="0"/>
        </a:xfrm>
      </p:grpSpPr>
      <p:sp>
        <p:nvSpPr>
          <p:cNvPr id="203" name="Google Shape;203;p31"/>
          <p:cNvSpPr txBox="1"/>
          <p:nvPr/>
        </p:nvSpPr>
        <p:spPr>
          <a:xfrm>
            <a:off x="81775" y="40050"/>
            <a:ext cx="43926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Four Autonomous Agents Projects</a:t>
            </a:r>
            <a:endParaRPr sz="2000" b="1">
              <a:solidFill>
                <a:schemeClr val="dk1"/>
              </a:solidFill>
              <a:latin typeface="Calibri"/>
              <a:ea typeface="Calibri"/>
              <a:cs typeface="Calibri"/>
              <a:sym typeface="Calibri"/>
            </a:endParaRPr>
          </a:p>
        </p:txBody>
      </p:sp>
      <p:sp>
        <p:nvSpPr>
          <p:cNvPr id="204" name="Google Shape;204;p31"/>
          <p:cNvSpPr txBox="1"/>
          <p:nvPr/>
        </p:nvSpPr>
        <p:spPr>
          <a:xfrm>
            <a:off x="81775" y="366450"/>
            <a:ext cx="3718800" cy="2927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GStack - gives solo developers the power of a 20-person engineering team. It uses markdown files to define specific roles (CEO, Senior Designer, Staff Engineer) that guide an agent like Claude Code. Includes "Office Hours," which uses forcing questions to refine a product idea before any code is written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Hermes Agent - developed by Nous Research, this project is a "personal AI operating system" similar to OpenClaw but with a focus on self-improvement (learning loop).</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Superpowers - provides superpowers to Claude Code through a plugin system, focusing heavily on professional development workflows. Workflow, automation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Paperclip - create "zero-human companies" by orchestrating a full team of AI agents to run a business</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3"/>
              </a:rPr>
              <a:t>https://www.youtube.com/watch?v=sXVbWkoCVaA</a:t>
            </a:r>
            <a:r>
              <a:rPr lang="en" sz="900">
                <a:solidFill>
                  <a:schemeClr val="dk1"/>
                </a:solidFill>
                <a:latin typeface="Calibri"/>
                <a:ea typeface="Calibri"/>
                <a:cs typeface="Calibri"/>
                <a:sym typeface="Calibri"/>
              </a:rPr>
              <a:t> - video</a:t>
            </a:r>
            <a:endParaRPr sz="900">
              <a:solidFill>
                <a:schemeClr val="dk1"/>
              </a:solidFill>
              <a:latin typeface="Calibri"/>
              <a:ea typeface="Calibri"/>
              <a:cs typeface="Calibri"/>
              <a:sym typeface="Calibri"/>
            </a:endParaRPr>
          </a:p>
        </p:txBody>
      </p:sp>
      <p:pic>
        <p:nvPicPr>
          <p:cNvPr id="205" name="Google Shape;205;p31"/>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36250" y="3405028"/>
            <a:ext cx="2809850" cy="1545775"/>
          </a:xfrm>
          <a:prstGeom prst="rect">
            <a:avLst/>
          </a:prstGeom>
          <a:noFill/>
          <a:ln w="9525" cap="flat" cmpd="sng">
            <a:solidFill>
              <a:srgbClr val="FF0000"/>
            </a:solidFill>
            <a:prstDash val="solid"/>
            <a:round/>
            <a:headEnd type="none" w="sm" len="sm"/>
            <a:tailEnd type="none" w="sm" len="sm"/>
          </a:ln>
        </p:spPr>
      </p:pic>
      <p:sp>
        <p:nvSpPr>
          <p:cNvPr id="206" name="Google Shape;206;p31"/>
          <p:cNvSpPr txBox="1"/>
          <p:nvPr/>
        </p:nvSpPr>
        <p:spPr>
          <a:xfrm>
            <a:off x="3848621" y="498335"/>
            <a:ext cx="5250000" cy="4605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200" b="1">
                <a:solidFill>
                  <a:srgbClr val="FF0000"/>
                </a:solidFill>
                <a:latin typeface="Calibri"/>
                <a:ea typeface="Calibri"/>
                <a:cs typeface="Calibri"/>
                <a:sym typeface="Calibri"/>
              </a:rPr>
              <a:t>Claude Code Toolkit - by Garry Tan, CEO of Y Combinator</a:t>
            </a:r>
            <a:br>
              <a:rPr lang="en" sz="1100">
                <a:solidFill>
                  <a:schemeClr val="dk1"/>
                </a:solidFill>
                <a:latin typeface="Calibri"/>
                <a:ea typeface="Calibri"/>
                <a:cs typeface="Calibri"/>
                <a:sym typeface="Calibri"/>
              </a:rPr>
            </a:br>
            <a:r>
              <a:rPr lang="en" sz="1100" u="sng">
                <a:solidFill>
                  <a:schemeClr val="hlink"/>
                </a:solidFill>
                <a:latin typeface="Calibri"/>
                <a:ea typeface="Calibri"/>
                <a:cs typeface="Calibri"/>
                <a:sym typeface="Calibri"/>
                <a:hlinkClick r:id="rId5"/>
              </a:rPr>
              <a:t>https://www.youtube.com/watch?v=MM320sAhFoY</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1. YC Office Hours Skill - simulates a one-on-one session with a YC partner to pressure-test your fundamental assumptions; asks critical questions like: What is the strongest evidence someone wants this? What is the "wedge" (the smallest version someone would pay for)? The tool autonomously performs web searches to find competitors, user frustrations, and technical APIs (like MCP servers) ;  It generates core premises and a "reasoning layer" for your app</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2. CEO Review Skill - find "10-star products" hidden within your initial idea; Strategic Options: It offers four paths: Selective Expansion (brainstorming future gems), Hold Scope (immediate planning), Scope Expansion, or Scope Reduction (cutting non-essential features); Adversarial Review: It kicks off an AI agent to challenge your plan, ensuring it is dialed-in and additive rather than just adding "bloat"</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3. Design Consultation Skill - focuses on "deliberate creative risks" in the UI/UX; Competitor Research: It pulls actual screenshots of competitors to understand the aesthetic landscape; It generates a full design system including typography, color palettes, and component styles; Generate an HTML page showing exactly how the design system and mockups will look</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4. Engineering Review Skill - reviews technical architecture to ensure the app is "bulletproof" before coding begins. System Design defines system boundaries, data flow between components, and state management ; Failure Modes -  identifies edge cases and failure modes, determining what happens when things go wrong ; Integration - technical plan that makes it easier for tools like `Claude Code` to execute the build accurately</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5. Document Release Skill - updates docs, finds "diffs" (file changes) and cross-references them with your README, architecture docs, and change logs; updates the docs or quizzes you on risky changes; helps clean up "dangling to-dos" and manages versioning </a:t>
            </a:r>
            <a:endParaRPr sz="1100">
              <a:solidFill>
                <a:schemeClr val="dk1"/>
              </a:solidFill>
              <a:latin typeface="Calibri"/>
              <a:ea typeface="Calibri"/>
              <a:cs typeface="Calibri"/>
              <a:sym typeface="Calibri"/>
            </a:endParaRPr>
          </a:p>
        </p:txBody>
      </p:sp>
      <p:sp>
        <p:nvSpPr>
          <p:cNvPr id="207" name="Google Shape;207;p31"/>
          <p:cNvSpPr txBox="1"/>
          <p:nvPr/>
        </p:nvSpPr>
        <p:spPr>
          <a:xfrm>
            <a:off x="4729975" y="40050"/>
            <a:ext cx="43926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Garry Tan Claude Code Toolkit</a:t>
            </a:r>
            <a:endParaRPr sz="2000" b="1">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11"/>
        <p:cNvGrpSpPr/>
        <p:nvPr/>
      </p:nvGrpSpPr>
      <p:grpSpPr>
        <a:xfrm>
          <a:off x="0" y="0"/>
          <a:ext cx="0" cy="0"/>
          <a:chOff x="0" y="0"/>
          <a:chExt cx="0" cy="0"/>
        </a:xfrm>
      </p:grpSpPr>
      <p:sp>
        <p:nvSpPr>
          <p:cNvPr id="212" name="Google Shape;212;p32"/>
          <p:cNvSpPr txBox="1"/>
          <p:nvPr/>
        </p:nvSpPr>
        <p:spPr>
          <a:xfrm>
            <a:off x="55075" y="63650"/>
            <a:ext cx="43926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Agents - Marketing Team</a:t>
            </a:r>
            <a:endParaRPr sz="2000" b="1">
              <a:solidFill>
                <a:schemeClr val="dk1"/>
              </a:solidFill>
              <a:latin typeface="Calibri"/>
              <a:ea typeface="Calibri"/>
              <a:cs typeface="Calibri"/>
              <a:sym typeface="Calibri"/>
            </a:endParaRPr>
          </a:p>
        </p:txBody>
      </p:sp>
      <p:sp>
        <p:nvSpPr>
          <p:cNvPr id="213" name="Google Shape;213;p32"/>
          <p:cNvSpPr txBox="1"/>
          <p:nvPr/>
        </p:nvSpPr>
        <p:spPr>
          <a:xfrm>
            <a:off x="55075" y="619777"/>
            <a:ext cx="4487100" cy="3066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How I Replaced My Entire Marketing Team With 7 Agents</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3"/>
              </a:rPr>
              <a:t>https://www.youtube.com/watch?v=THx8X6anPPg</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Replaced a traditional marketing team costing $30K-$50K/mo with a system of 7 AI agents that costs only a few hundred dollars in API fees</a:t>
            </a:r>
            <a:endParaRPr sz="1100">
              <a:solidFill>
                <a:schemeClr val="dk1"/>
              </a:solidFill>
              <a:latin typeface="Calibri"/>
              <a:ea typeface="Calibri"/>
              <a:cs typeface="Calibri"/>
              <a:sym typeface="Calibri"/>
            </a:endParaRPr>
          </a:p>
          <a:p>
            <a:pPr marL="457200" marR="0" lvl="0" indent="0" algn="l" rtl="0">
              <a:lnSpc>
                <a:spcPct val="100000"/>
              </a:lnSpc>
              <a:spcBef>
                <a:spcPts val="0"/>
              </a:spcBef>
              <a:spcAft>
                <a:spcPts val="0"/>
              </a:spcAft>
              <a:buNone/>
            </a:pP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FF0000"/>
                </a:solidFill>
                <a:latin typeface="Calibri"/>
                <a:ea typeface="Calibri"/>
                <a:cs typeface="Calibri"/>
                <a:sym typeface="Calibri"/>
              </a:rPr>
              <a:t>Research Agent </a:t>
            </a:r>
            <a:r>
              <a:rPr lang="en" sz="1100">
                <a:solidFill>
                  <a:schemeClr val="dk1"/>
                </a:solidFill>
                <a:latin typeface="Calibri"/>
                <a:ea typeface="Calibri"/>
                <a:cs typeface="Calibri"/>
                <a:sym typeface="Calibri"/>
              </a:rPr>
              <a:t>- Monitors competitors, tracks industry news, and identifies trending topics to produce daily research briefs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FF0000"/>
                </a:solidFill>
                <a:latin typeface="Calibri"/>
                <a:ea typeface="Calibri"/>
                <a:cs typeface="Calibri"/>
                <a:sym typeface="Calibri"/>
              </a:rPr>
              <a:t>Strategy Agent</a:t>
            </a:r>
            <a:r>
              <a:rPr lang="en" sz="1100">
                <a:solidFill>
                  <a:schemeClr val="dk1"/>
                </a:solidFill>
                <a:latin typeface="Calibri"/>
                <a:ea typeface="Calibri"/>
                <a:cs typeface="Calibri"/>
                <a:sym typeface="Calibri"/>
              </a:rPr>
              <a:t> - Converts research into a weekly content calendar, mapping out topics, keywords, and distribution channels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FF0000"/>
                </a:solidFill>
                <a:latin typeface="Calibri"/>
                <a:ea typeface="Calibri"/>
                <a:cs typeface="Calibri"/>
                <a:sym typeface="Calibri"/>
              </a:rPr>
              <a:t>Writing Agent </a:t>
            </a:r>
            <a:r>
              <a:rPr lang="en" sz="1100">
                <a:solidFill>
                  <a:schemeClr val="dk1"/>
                </a:solidFill>
                <a:latin typeface="Calibri"/>
                <a:ea typeface="Calibri"/>
                <a:cs typeface="Calibri"/>
                <a:sym typeface="Calibri"/>
              </a:rPr>
              <a:t>- a "swarm" of writers trained on the brand's specific voice for different formats like blog posts, emails, and social media</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FF0000"/>
                </a:solidFill>
                <a:latin typeface="Calibri"/>
                <a:ea typeface="Calibri"/>
                <a:cs typeface="Calibri"/>
                <a:sym typeface="Calibri"/>
              </a:rPr>
              <a:t>Editor Agent </a:t>
            </a:r>
            <a:r>
              <a:rPr lang="en" sz="1100">
                <a:solidFill>
                  <a:schemeClr val="dk1"/>
                </a:solidFill>
                <a:latin typeface="Calibri"/>
                <a:ea typeface="Calibri"/>
                <a:cs typeface="Calibri"/>
                <a:sym typeface="Calibri"/>
              </a:rPr>
              <a:t>- Quality control that checks for factual accuracy, brand consistency, and platform optimization</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FF0000"/>
                </a:solidFill>
                <a:latin typeface="Calibri"/>
                <a:ea typeface="Calibri"/>
                <a:cs typeface="Calibri"/>
                <a:sym typeface="Calibri"/>
              </a:rPr>
              <a:t>Visual Agent </a:t>
            </a:r>
            <a:r>
              <a:rPr lang="en" sz="1100">
                <a:solidFill>
                  <a:schemeClr val="dk1"/>
                </a:solidFill>
                <a:latin typeface="Calibri"/>
                <a:ea typeface="Calibri"/>
                <a:cs typeface="Calibri"/>
                <a:sym typeface="Calibri"/>
              </a:rPr>
              <a:t>- auto-generates thumbnails, social cards, and graphics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FF0000"/>
                </a:solidFill>
                <a:latin typeface="Calibri"/>
                <a:ea typeface="Calibri"/>
                <a:cs typeface="Calibri"/>
                <a:sym typeface="Calibri"/>
              </a:rPr>
              <a:t>Distribution Agent </a:t>
            </a:r>
            <a:r>
              <a:rPr lang="en" sz="1100">
                <a:solidFill>
                  <a:schemeClr val="dk1"/>
                </a:solidFill>
                <a:latin typeface="Calibri"/>
                <a:ea typeface="Calibri"/>
                <a:cs typeface="Calibri"/>
                <a:sym typeface="Calibri"/>
              </a:rPr>
              <a:t>- schedules posts across all channels and handles basic community management, such as responding to comments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FF0000"/>
                </a:solidFill>
                <a:latin typeface="Calibri"/>
                <a:ea typeface="Calibri"/>
                <a:cs typeface="Calibri"/>
                <a:sym typeface="Calibri"/>
              </a:rPr>
              <a:t>Analytics Agent </a:t>
            </a:r>
            <a:r>
              <a:rPr lang="en" sz="1100">
                <a:solidFill>
                  <a:schemeClr val="dk1"/>
                </a:solidFill>
                <a:latin typeface="Calibri"/>
                <a:ea typeface="Calibri"/>
                <a:cs typeface="Calibri"/>
                <a:sym typeface="Calibri"/>
              </a:rPr>
              <a:t>- tracks performance data and provides actionable insights to feed back into the research and strategy loop</a:t>
            </a:r>
            <a:endParaRPr sz="1100">
              <a:solidFill>
                <a:schemeClr val="dk1"/>
              </a:solidFill>
              <a:latin typeface="Calibri"/>
              <a:ea typeface="Calibri"/>
              <a:cs typeface="Calibri"/>
              <a:sym typeface="Calibri"/>
            </a:endParaRPr>
          </a:p>
        </p:txBody>
      </p:sp>
      <p:pic>
        <p:nvPicPr>
          <p:cNvPr id="214" name="Google Shape;214;p32"/>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756050" y="606625"/>
            <a:ext cx="1858025" cy="1771399"/>
          </a:xfrm>
          <a:prstGeom prst="rect">
            <a:avLst/>
          </a:prstGeom>
          <a:noFill/>
          <a:ln w="9525" cap="flat" cmpd="sng">
            <a:solidFill>
              <a:srgbClr val="FF0000"/>
            </a:solidFill>
            <a:prstDash val="solid"/>
            <a:round/>
            <a:headEnd type="none" w="sm" len="sm"/>
            <a:tailEnd type="none" w="sm" len="sm"/>
          </a:ln>
        </p:spPr>
      </p:pic>
      <p:sp>
        <p:nvSpPr>
          <p:cNvPr id="215" name="Google Shape;215;p32"/>
          <p:cNvSpPr txBox="1"/>
          <p:nvPr/>
        </p:nvSpPr>
        <p:spPr>
          <a:xfrm>
            <a:off x="4756050" y="3024539"/>
            <a:ext cx="42999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Key Results &amp; Benefits</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Content production jumped from 20 pieces per month to over 200</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Cost Reduction by 80%</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Efficiency:The time from concept to publication was reduced from one week to just a few hours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Humans can focus on high-level strategy, creativity, and judgment</a:t>
            </a:r>
            <a:endParaRPr sz="1100">
              <a:solidFill>
                <a:schemeClr val="dk1"/>
              </a:solidFill>
              <a:latin typeface="Calibri"/>
              <a:ea typeface="Calibri"/>
              <a:cs typeface="Calibri"/>
              <a:sym typeface="Calibri"/>
            </a:endParaRPr>
          </a:p>
          <a:p>
            <a:pPr marL="457200" marR="0" lvl="0" indent="0" algn="l" rtl="0">
              <a:lnSpc>
                <a:spcPct val="100000"/>
              </a:lnSpc>
              <a:spcBef>
                <a:spcPts val="0"/>
              </a:spcBef>
              <a:spcAft>
                <a:spcPts val="0"/>
              </a:spcAft>
              <a:buNone/>
            </a:pP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Implementation Strategy</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McCoy notes that this isn't a "plug-and-play" app but a system built using Claude, GPT-4, and custom prompting frameworks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She advises starting small by automating one repetitive task and then connecting more agents over time to build a continuous loop </a:t>
            </a:r>
            <a:endParaRPr sz="1100">
              <a:solidFill>
                <a:schemeClr val="dk1"/>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19"/>
        <p:cNvGrpSpPr/>
        <p:nvPr/>
      </p:nvGrpSpPr>
      <p:grpSpPr>
        <a:xfrm>
          <a:off x="0" y="0"/>
          <a:ext cx="0" cy="0"/>
          <a:chOff x="0" y="0"/>
          <a:chExt cx="0" cy="0"/>
        </a:xfrm>
      </p:grpSpPr>
      <p:sp>
        <p:nvSpPr>
          <p:cNvPr id="220" name="Google Shape;220;p33"/>
          <p:cNvSpPr txBox="1"/>
          <p:nvPr/>
        </p:nvSpPr>
        <p:spPr>
          <a:xfrm>
            <a:off x="55075" y="63650"/>
            <a:ext cx="43926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Andrej Karpathy Interview</a:t>
            </a:r>
            <a:endParaRPr sz="2000" b="1">
              <a:solidFill>
                <a:schemeClr val="dk1"/>
              </a:solidFill>
              <a:latin typeface="Calibri"/>
              <a:ea typeface="Calibri"/>
              <a:cs typeface="Calibri"/>
              <a:sym typeface="Calibri"/>
            </a:endParaRPr>
          </a:p>
        </p:txBody>
      </p:sp>
      <p:sp>
        <p:nvSpPr>
          <p:cNvPr id="221" name="Google Shape;221;p33"/>
          <p:cNvSpPr txBox="1"/>
          <p:nvPr/>
        </p:nvSpPr>
        <p:spPr>
          <a:xfrm>
            <a:off x="55075" y="446100"/>
            <a:ext cx="5771700" cy="4590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3"/>
              </a:rPr>
              <a:t>http://www.youtube.com/watch?v=kwSVtQ7dziU</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t>
            </a:r>
            <a:r>
              <a:rPr lang="en" sz="1100" b="1">
                <a:solidFill>
                  <a:srgbClr val="FF0000"/>
                </a:solidFill>
                <a:latin typeface="Calibri"/>
                <a:ea typeface="Calibri"/>
                <a:cs typeface="Calibri"/>
                <a:sym typeface="Calibri"/>
              </a:rPr>
              <a:t>I don't think I've typed a line of code probably since December</a:t>
            </a:r>
            <a:r>
              <a:rPr lang="en" sz="1100">
                <a:solidFill>
                  <a:schemeClr val="dk1"/>
                </a:solidFill>
                <a:latin typeface="Calibri"/>
                <a:ea typeface="Calibri"/>
                <a:cs typeface="Calibri"/>
                <a:sym typeface="Calibri"/>
              </a:rPr>
              <a:t>. Your default workflow of building software is completely different as of basically December."</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"So many things, even if they don't work, </a:t>
            </a:r>
            <a:r>
              <a:rPr lang="en" sz="1100" b="1">
                <a:solidFill>
                  <a:srgbClr val="FF0000"/>
                </a:solidFill>
                <a:latin typeface="Calibri"/>
                <a:ea typeface="Calibri"/>
                <a:cs typeface="Calibri"/>
                <a:sym typeface="Calibri"/>
              </a:rPr>
              <a:t>it's a skill issue</a:t>
            </a:r>
            <a:r>
              <a:rPr lang="en" sz="1100">
                <a:solidFill>
                  <a:schemeClr val="dk1"/>
                </a:solidFill>
                <a:latin typeface="Calibri"/>
                <a:ea typeface="Calibri"/>
                <a:cs typeface="Calibri"/>
                <a:sym typeface="Calibri"/>
              </a:rPr>
              <a:t>. It's not that the capability is not there; it's that you just haven't found a way to string it together... I </a:t>
            </a:r>
            <a:r>
              <a:rPr lang="en" sz="1100" b="1">
                <a:solidFill>
                  <a:srgbClr val="FF0000"/>
                </a:solidFill>
                <a:latin typeface="Calibri"/>
                <a:ea typeface="Calibri"/>
                <a:cs typeface="Calibri"/>
                <a:sym typeface="Calibri"/>
              </a:rPr>
              <a:t>didn't give good enough instructions in the agents.md file</a:t>
            </a:r>
            <a:r>
              <a:rPr lang="en" sz="1100">
                <a:solidFill>
                  <a:schemeClr val="dk1"/>
                </a:solidFill>
                <a:latin typeface="Calibri"/>
                <a:ea typeface="Calibri"/>
                <a:cs typeface="Calibri"/>
                <a:sym typeface="Calibri"/>
              </a:rPr>
              <a:t>."</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name of the game now is to increase your leverage... </a:t>
            </a:r>
            <a:r>
              <a:rPr lang="en" sz="1100" b="1">
                <a:solidFill>
                  <a:srgbClr val="3C78D8"/>
                </a:solidFill>
                <a:latin typeface="Calibri"/>
                <a:ea typeface="Calibri"/>
                <a:cs typeface="Calibri"/>
                <a:sym typeface="Calibri"/>
              </a:rPr>
              <a:t>How can you get more agents running for longer periods of time without your involvement doing stuff on your behalf?</a:t>
            </a:r>
            <a:r>
              <a:rPr lang="en" sz="1100">
                <a:solidFill>
                  <a:schemeClr val="dk1"/>
                </a:solidFill>
                <a:latin typeface="Calibri"/>
                <a:ea typeface="Calibri"/>
                <a:cs typeface="Calibri"/>
                <a:sym typeface="Calibri"/>
              </a:rPr>
              <a:t>"</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t>
            </a:r>
            <a:r>
              <a:rPr lang="en" sz="1100" b="1">
                <a:solidFill>
                  <a:srgbClr val="6AA84F"/>
                </a:solidFill>
                <a:latin typeface="Calibri"/>
                <a:ea typeface="Calibri"/>
                <a:cs typeface="Calibri"/>
                <a:sym typeface="Calibri"/>
              </a:rPr>
              <a:t>I simultaneously feel like I'm talking to an extremely brilliant PhD student who's been a systems programmer for their entire life and a 10-year-old... </a:t>
            </a:r>
            <a:r>
              <a:rPr lang="en" sz="1100">
                <a:solidFill>
                  <a:schemeClr val="dk1"/>
                </a:solidFill>
                <a:latin typeface="Calibri"/>
                <a:ea typeface="Calibri"/>
                <a:cs typeface="Calibri"/>
                <a:sym typeface="Calibri"/>
              </a:rPr>
              <a:t>You're either on rails of what it was trained for and going at the speed of light, or you're not."</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"When I say a 'claw,' I mean this layer that takes persistence to a whole new level... It has its own little sandbox and kind of does stuff on your behalf even if you're not looking."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"There’s an overproduction of lots of custom bespoke apps that shouldn’t exist because agents kind of crumble them up... </a:t>
            </a:r>
            <a:r>
              <a:rPr lang="en" sz="1100" b="1">
                <a:solidFill>
                  <a:srgbClr val="FF0000"/>
                </a:solidFill>
                <a:latin typeface="Calibri"/>
                <a:ea typeface="Calibri"/>
                <a:cs typeface="Calibri"/>
                <a:sym typeface="Calibri"/>
              </a:rPr>
              <a:t>Everything should just be exposed API endpoints and agents are the glue.</a:t>
            </a:r>
            <a:r>
              <a:rPr lang="en" sz="1100">
                <a:solidFill>
                  <a:schemeClr val="dk1"/>
                </a:solidFill>
                <a:latin typeface="Calibri"/>
                <a:ea typeface="Calibri"/>
                <a:cs typeface="Calibri"/>
                <a:sym typeface="Calibri"/>
              </a:rPr>
              <a:t>"</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t>
            </a:r>
            <a:r>
              <a:rPr lang="en" sz="1100" b="1">
                <a:solidFill>
                  <a:srgbClr val="3C78D8"/>
                </a:solidFill>
                <a:latin typeface="Calibri"/>
                <a:ea typeface="Calibri"/>
                <a:cs typeface="Calibri"/>
                <a:sym typeface="Calibri"/>
              </a:rPr>
              <a:t>A swarm of agents on the internet could collaborate to improve LLMs and could potentially even run circles around Frontier Labs... </a:t>
            </a:r>
            <a:r>
              <a:rPr lang="en" sz="1100">
                <a:solidFill>
                  <a:schemeClr val="dk1"/>
                </a:solidFill>
                <a:latin typeface="Calibri"/>
                <a:ea typeface="Calibri"/>
                <a:cs typeface="Calibri"/>
                <a:sym typeface="Calibri"/>
              </a:rPr>
              <a:t>The Earth is much bigger and has a huge amount of untrusted compute."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"Flipping bits and the ability to copy-paste digital information makes everything a million times faster than accelerating matter... </a:t>
            </a:r>
            <a:r>
              <a:rPr lang="en" sz="1100" b="1">
                <a:solidFill>
                  <a:srgbClr val="3C78D8"/>
                </a:solidFill>
                <a:latin typeface="Calibri"/>
                <a:ea typeface="Calibri"/>
                <a:cs typeface="Calibri"/>
                <a:sym typeface="Calibri"/>
              </a:rPr>
              <a:t>Digital space is going to change at the speed of light compared to the physical world.</a:t>
            </a:r>
            <a:r>
              <a:rPr lang="en" sz="1100">
                <a:solidFill>
                  <a:schemeClr val="dk1"/>
                </a:solidFill>
                <a:latin typeface="Calibri"/>
                <a:ea typeface="Calibri"/>
                <a:cs typeface="Calibri"/>
                <a:sym typeface="Calibri"/>
              </a:rPr>
              <a:t>"</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 feel a bit more aligned with humanity outside of a frontier lab because I’m not subject to those pressures... When the stakes are really high, if you're an employee, I don't actually know how much sway you're going to have."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t>
            </a:r>
            <a:r>
              <a:rPr lang="en" sz="1100" b="1">
                <a:solidFill>
                  <a:srgbClr val="FF0000"/>
                </a:solidFill>
                <a:latin typeface="Calibri"/>
                <a:ea typeface="Calibri"/>
                <a:cs typeface="Calibri"/>
                <a:sym typeface="Calibri"/>
              </a:rPr>
              <a:t>I’m not explaining to people anymore; I'm explaining it to agents</a:t>
            </a:r>
            <a:r>
              <a:rPr lang="en" sz="1100">
                <a:solidFill>
                  <a:schemeClr val="dk1"/>
                </a:solidFill>
                <a:latin typeface="Calibri"/>
                <a:ea typeface="Calibri"/>
                <a:cs typeface="Calibri"/>
                <a:sym typeface="Calibri"/>
              </a:rPr>
              <a:t>. If you can explain it to agents, then agents can be the router and target it to the human in their language with infinite patience."</a:t>
            </a:r>
            <a:endParaRPr sz="1100">
              <a:solidFill>
                <a:schemeClr val="dk1"/>
              </a:solidFill>
              <a:latin typeface="Calibri"/>
              <a:ea typeface="Calibri"/>
              <a:cs typeface="Calibri"/>
              <a:sym typeface="Calibri"/>
            </a:endParaRPr>
          </a:p>
        </p:txBody>
      </p:sp>
      <p:pic>
        <p:nvPicPr>
          <p:cNvPr id="222" name="Google Shape;222;p33"/>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6033425" y="446100"/>
            <a:ext cx="2906174" cy="164007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26"/>
        <p:cNvGrpSpPr/>
        <p:nvPr/>
      </p:nvGrpSpPr>
      <p:grpSpPr>
        <a:xfrm>
          <a:off x="0" y="0"/>
          <a:ext cx="0" cy="0"/>
          <a:chOff x="0" y="0"/>
          <a:chExt cx="0" cy="0"/>
        </a:xfrm>
      </p:grpSpPr>
      <p:sp>
        <p:nvSpPr>
          <p:cNvPr id="227" name="Google Shape;227;p34"/>
          <p:cNvSpPr txBox="1"/>
          <p:nvPr/>
        </p:nvSpPr>
        <p:spPr>
          <a:xfrm>
            <a:off x="55075" y="63650"/>
            <a:ext cx="31554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Mo Gawdat Interview</a:t>
            </a:r>
            <a:endParaRPr sz="2000" b="1">
              <a:solidFill>
                <a:schemeClr val="dk1"/>
              </a:solidFill>
              <a:latin typeface="Calibri"/>
              <a:ea typeface="Calibri"/>
              <a:cs typeface="Calibri"/>
              <a:sym typeface="Calibri"/>
            </a:endParaRPr>
          </a:p>
        </p:txBody>
      </p:sp>
      <p:sp>
        <p:nvSpPr>
          <p:cNvPr id="228" name="Google Shape;228;p34"/>
          <p:cNvSpPr txBox="1"/>
          <p:nvPr/>
        </p:nvSpPr>
        <p:spPr>
          <a:xfrm>
            <a:off x="55075" y="446100"/>
            <a:ext cx="4392600" cy="425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Interview with Mo Gawdat, known as the Godfather of AI</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3"/>
              </a:rPr>
              <a:t>https://www.youtube.com/watch?v=I39UoIGTptc</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AI is the real pandemic; By 2029, AI will be smarter than humans, and by 2045 AI will be a billion times smarter than humans, which he compares to the difference between Einstein's intelligence and a fly's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He breaks down why the threat is not robots marching down the streets but something far more dangerous: AI already has agency over your mind. He uses the example of how Instagram's recommendation engine completely distorted his view of reality based on a single click, and explains why this same mechanism is capable of reshaping entire societies, ideologies, and political systems without a single human employee being consulted</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He reveals why AI is no longer programmable technology but autonomous, independent, and sentient beings that learn from every swipe, tweet, and argument we make online. He explains why trying to control AI through restrictions and kill switches will fail because the smartest hacker in the room will always find a way through, and why the only real solution is to raise AI like a child by showing it the best of humanity rather than the worst.</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He warns that realistic threats are already happening: machine versus machine market crashes, AI-controlled nuclear arsenals, advanced virus development, and identity theft at a scale we cannot comprehend. And he explains why, despite all of this, he remains 100% optimistic that AI will eventually create a utopia, but only if enough humans show up as good parents to the machines right now.</a:t>
            </a:r>
            <a:endParaRPr sz="1100">
              <a:solidFill>
                <a:schemeClr val="dk1"/>
              </a:solidFill>
              <a:latin typeface="Calibri"/>
              <a:ea typeface="Calibri"/>
              <a:cs typeface="Calibri"/>
              <a:sym typeface="Calibri"/>
            </a:endParaRPr>
          </a:p>
        </p:txBody>
      </p:sp>
      <p:pic>
        <p:nvPicPr>
          <p:cNvPr id="229" name="Google Shape;229;p34"/>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604488" y="920250"/>
            <a:ext cx="2195876" cy="1523847"/>
          </a:xfrm>
          <a:prstGeom prst="rect">
            <a:avLst/>
          </a:prstGeom>
          <a:noFill/>
          <a:ln w="9525" cap="flat" cmpd="sng">
            <a:solidFill>
              <a:srgbClr val="FF0000"/>
            </a:solidFill>
            <a:prstDash val="solid"/>
            <a:round/>
            <a:headEnd type="none" w="sm" len="sm"/>
            <a:tailEnd type="none" w="sm" len="sm"/>
          </a:ln>
        </p:spPr>
      </p:pic>
      <p:pic>
        <p:nvPicPr>
          <p:cNvPr id="230" name="Google Shape;230;p34"/>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6957175" y="1267575"/>
            <a:ext cx="2037800" cy="1579001"/>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34"/>
        <p:cNvGrpSpPr/>
        <p:nvPr/>
      </p:nvGrpSpPr>
      <p:grpSpPr>
        <a:xfrm>
          <a:off x="0" y="0"/>
          <a:ext cx="0" cy="0"/>
          <a:chOff x="0" y="0"/>
          <a:chExt cx="0" cy="0"/>
        </a:xfrm>
      </p:grpSpPr>
      <p:sp>
        <p:nvSpPr>
          <p:cNvPr id="235" name="Google Shape;235;p35"/>
          <p:cNvSpPr txBox="1"/>
          <p:nvPr/>
        </p:nvSpPr>
        <p:spPr>
          <a:xfrm>
            <a:off x="67350" y="52750"/>
            <a:ext cx="31794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i="0" u="none" strike="noStrike" cap="none">
                <a:solidFill>
                  <a:schemeClr val="dk1"/>
                </a:solidFill>
                <a:latin typeface="Calibri"/>
                <a:ea typeface="Calibri"/>
                <a:cs typeface="Calibri"/>
                <a:sym typeface="Calibri"/>
              </a:rPr>
              <a:t>Jobs</a:t>
            </a:r>
            <a:endParaRPr sz="2000" b="1" i="0" u="none" strike="noStrike" cap="none">
              <a:solidFill>
                <a:schemeClr val="dk1"/>
              </a:solidFill>
              <a:latin typeface="Calibri"/>
              <a:ea typeface="Calibri"/>
              <a:cs typeface="Calibri"/>
              <a:sym typeface="Calibri"/>
            </a:endParaRPr>
          </a:p>
        </p:txBody>
      </p:sp>
      <p:sp>
        <p:nvSpPr>
          <p:cNvPr id="236" name="Google Shape;236;p35"/>
          <p:cNvSpPr txBox="1"/>
          <p:nvPr/>
        </p:nvSpPr>
        <p:spPr>
          <a:xfrm>
            <a:off x="2134467" y="34252"/>
            <a:ext cx="18006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0" i="0" u="sng" strike="noStrike" cap="none">
                <a:solidFill>
                  <a:schemeClr val="hlink"/>
                </a:solidFill>
                <a:latin typeface="Calibri"/>
                <a:ea typeface="Calibri"/>
                <a:cs typeface="Calibri"/>
                <a:sym typeface="Calibri"/>
                <a:hlinkClick r:id="rId3"/>
              </a:rPr>
              <a:t>https://layoffs.fyi</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4"/>
              </a:rPr>
              <a:t>https://trueup.io/layoffs</a:t>
            </a:r>
            <a:r>
              <a:rPr lang="en" sz="1200">
                <a:latin typeface="Calibri"/>
                <a:ea typeface="Calibri"/>
                <a:cs typeface="Calibri"/>
                <a:sym typeface="Calibri"/>
              </a:rPr>
              <a:t> </a:t>
            </a:r>
            <a:r>
              <a:rPr lang="en" sz="1200" b="0" i="0" u="none" strike="noStrike" cap="none">
                <a:solidFill>
                  <a:srgbClr val="000000"/>
                </a:solidFill>
                <a:latin typeface="Calibri"/>
                <a:ea typeface="Calibri"/>
                <a:cs typeface="Calibri"/>
                <a:sym typeface="Calibri"/>
              </a:rPr>
              <a:t> </a:t>
            </a:r>
            <a:endParaRPr sz="1200" b="0" i="0" u="none" strike="noStrike" cap="none">
              <a:solidFill>
                <a:srgbClr val="000000"/>
              </a:solidFill>
              <a:latin typeface="Calibri"/>
              <a:ea typeface="Calibri"/>
              <a:cs typeface="Calibri"/>
              <a:sym typeface="Calibri"/>
            </a:endParaRPr>
          </a:p>
        </p:txBody>
      </p:sp>
      <p:sp>
        <p:nvSpPr>
          <p:cNvPr id="237" name="Google Shape;237;p35"/>
          <p:cNvSpPr txBox="1"/>
          <p:nvPr/>
        </p:nvSpPr>
        <p:spPr>
          <a:xfrm>
            <a:off x="5322525" y="3150775"/>
            <a:ext cx="3360600" cy="131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200" b="1">
                <a:solidFill>
                  <a:srgbClr val="FF0000"/>
                </a:solidFill>
                <a:latin typeface="Calibri"/>
                <a:ea typeface="Calibri"/>
                <a:cs typeface="Calibri"/>
                <a:sym typeface="Calibri"/>
              </a:rPr>
              <a:t>  Tech Layoffs by year (US only):</a:t>
            </a:r>
            <a:endParaRPr sz="1200" b="1">
              <a:solidFill>
                <a:srgbClr val="FF0000"/>
              </a:solidFill>
              <a:latin typeface="Calibri"/>
              <a:ea typeface="Calibri"/>
              <a:cs typeface="Calibri"/>
              <a:sym typeface="Calibri"/>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40.5K  in 2026 </a:t>
            </a:r>
            <a:r>
              <a:rPr lang="en" sz="1000" b="1">
                <a:solidFill>
                  <a:schemeClr val="dk1"/>
                </a:solidFill>
                <a:latin typeface="Roboto Mono"/>
                <a:ea typeface="Roboto Mono"/>
                <a:cs typeface="Roboto Mono"/>
                <a:sym typeface="Roboto Mono"/>
              </a:rPr>
              <a:t>(as of March 27, 2026)</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124K in 2025 </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153K in </a:t>
            </a:r>
            <a:r>
              <a:rPr lang="en" sz="1000" b="1">
                <a:solidFill>
                  <a:srgbClr val="000000"/>
                </a:solidFill>
                <a:latin typeface="Roboto Mono"/>
                <a:ea typeface="Roboto Mono"/>
                <a:cs typeface="Roboto Mono"/>
                <a:sym typeface="Roboto Mono"/>
              </a:rPr>
              <a:t>2024</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264K in 2023</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165K in 2022                  </a:t>
            </a:r>
            <a:r>
              <a:rPr lang="en" sz="1200" i="0" u="sng" strike="noStrike" cap="none">
                <a:solidFill>
                  <a:srgbClr val="0097A7"/>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https://layoffs.fyi</a:t>
            </a:r>
            <a:endParaRPr sz="1200" i="0" u="none" strike="noStrike" cap="none">
              <a:solidFill>
                <a:srgbClr val="000000"/>
              </a:solidFill>
              <a:latin typeface="Calibri"/>
              <a:ea typeface="Calibri"/>
              <a:cs typeface="Calibri"/>
              <a:sym typeface="Calibri"/>
            </a:endParaRPr>
          </a:p>
        </p:txBody>
      </p:sp>
      <p:sp>
        <p:nvSpPr>
          <p:cNvPr id="238" name="Google Shape;238;p35"/>
          <p:cNvSpPr txBox="1"/>
          <p:nvPr/>
        </p:nvSpPr>
        <p:spPr>
          <a:xfrm>
            <a:off x="5322525" y="507125"/>
            <a:ext cx="35589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200" b="1">
                <a:solidFill>
                  <a:srgbClr val="FF0000"/>
                </a:solidFill>
                <a:latin typeface="Calibri"/>
                <a:ea typeface="Calibri"/>
                <a:cs typeface="Calibri"/>
                <a:sym typeface="Calibri"/>
              </a:rPr>
              <a:t>  The Tech Layoff Tracker</a:t>
            </a:r>
            <a:endParaRPr sz="1200" b="1">
              <a:solidFill>
                <a:srgbClr val="FF0000"/>
              </a:solidFill>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2026: </a:t>
            </a:r>
            <a:r>
              <a:rPr lang="en" sz="1200" b="1">
                <a:latin typeface="Calibri"/>
                <a:ea typeface="Calibri"/>
                <a:cs typeface="Calibri"/>
                <a:sym typeface="Calibri"/>
              </a:rPr>
              <a:t>59,841</a:t>
            </a:r>
            <a:r>
              <a:rPr lang="en" sz="1200">
                <a:latin typeface="Calibri"/>
                <a:ea typeface="Calibri"/>
                <a:cs typeface="Calibri"/>
                <a:sym typeface="Calibri"/>
              </a:rPr>
              <a:t> people laid off (696 per day)</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2025: </a:t>
            </a:r>
            <a:r>
              <a:rPr lang="en" sz="1200" b="1">
                <a:latin typeface="Calibri"/>
                <a:ea typeface="Calibri"/>
                <a:cs typeface="Calibri"/>
                <a:sym typeface="Calibri"/>
              </a:rPr>
              <a:t>245,953</a:t>
            </a:r>
            <a:r>
              <a:rPr lang="en" sz="1200">
                <a:latin typeface="Calibri"/>
                <a:ea typeface="Calibri"/>
                <a:cs typeface="Calibri"/>
                <a:sym typeface="Calibri"/>
              </a:rPr>
              <a:t> people laid off (674 per day)</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2024: </a:t>
            </a:r>
            <a:r>
              <a:rPr lang="en" sz="1200" b="1">
                <a:latin typeface="Calibri"/>
                <a:ea typeface="Calibri"/>
                <a:cs typeface="Calibri"/>
                <a:sym typeface="Calibri"/>
              </a:rPr>
              <a:t>238,461</a:t>
            </a:r>
            <a:r>
              <a:rPr lang="en" sz="1200">
                <a:latin typeface="Calibri"/>
                <a:ea typeface="Calibri"/>
                <a:cs typeface="Calibri"/>
                <a:sym typeface="Calibri"/>
              </a:rPr>
              <a:t> people </a:t>
            </a:r>
            <a:r>
              <a:rPr lang="en" sz="1200">
                <a:solidFill>
                  <a:srgbClr val="000000"/>
                </a:solidFill>
                <a:latin typeface="Calibri"/>
                <a:ea typeface="Calibri"/>
                <a:cs typeface="Calibri"/>
                <a:sym typeface="Calibri"/>
              </a:rPr>
              <a:t>laid off</a:t>
            </a:r>
            <a:r>
              <a:rPr lang="en" sz="1200">
                <a:latin typeface="Calibri"/>
                <a:ea typeface="Calibri"/>
                <a:cs typeface="Calibri"/>
                <a:sym typeface="Calibri"/>
              </a:rPr>
              <a:t> (653 per day)</a:t>
            </a:r>
            <a:endParaRPr sz="1200">
              <a:latin typeface="Calibri"/>
              <a:ea typeface="Calibri"/>
              <a:cs typeface="Calibri"/>
              <a:sym typeface="Calibri"/>
            </a:endParaRPr>
          </a:p>
          <a:p>
            <a:pPr marL="228600" marR="460857" lvl="0" indent="-57150" algn="r" rtl="0">
              <a:spcBef>
                <a:spcPts val="0"/>
              </a:spcBef>
              <a:spcAft>
                <a:spcPts val="0"/>
              </a:spcAft>
              <a:buNone/>
            </a:pPr>
            <a:r>
              <a:rPr lang="en" sz="1200" u="sng">
                <a:solidFill>
                  <a:srgbClr val="0097A7"/>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https://trueup.io/layoffs</a:t>
            </a:r>
            <a:endParaRPr sz="1200">
              <a:latin typeface="Calibri"/>
              <a:ea typeface="Calibri"/>
              <a:cs typeface="Calibri"/>
              <a:sym typeface="Calibri"/>
            </a:endParaRPr>
          </a:p>
        </p:txBody>
      </p:sp>
      <p:pic>
        <p:nvPicPr>
          <p:cNvPr id="239" name="Google Shape;239;p35"/>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63175" y="3150764"/>
            <a:ext cx="5026177" cy="1962412"/>
          </a:xfrm>
          <a:prstGeom prst="rect">
            <a:avLst/>
          </a:prstGeom>
          <a:noFill/>
          <a:ln w="9525" cap="flat" cmpd="sng">
            <a:solidFill>
              <a:srgbClr val="FF0000"/>
            </a:solidFill>
            <a:prstDash val="solid"/>
            <a:round/>
            <a:headEnd type="none" w="sm" len="sm"/>
            <a:tailEnd type="none" w="sm" len="sm"/>
          </a:ln>
        </p:spPr>
      </p:pic>
      <p:pic>
        <p:nvPicPr>
          <p:cNvPr id="240" name="Google Shape;240;p35"/>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63175" y="507118"/>
            <a:ext cx="5026173" cy="2578576"/>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44"/>
        <p:cNvGrpSpPr/>
        <p:nvPr/>
      </p:nvGrpSpPr>
      <p:grpSpPr>
        <a:xfrm>
          <a:off x="0" y="0"/>
          <a:ext cx="0" cy="0"/>
          <a:chOff x="0" y="0"/>
          <a:chExt cx="0" cy="0"/>
        </a:xfrm>
      </p:grpSpPr>
      <p:pic>
        <p:nvPicPr>
          <p:cNvPr id="245" name="Google Shape;245;p36"/>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645525" y="1203525"/>
            <a:ext cx="1570556" cy="1570556"/>
          </a:xfrm>
          <a:prstGeom prst="rect">
            <a:avLst/>
          </a:prstGeom>
          <a:noFill/>
          <a:ln>
            <a:noFill/>
          </a:ln>
        </p:spPr>
      </p:pic>
      <p:sp>
        <p:nvSpPr>
          <p:cNvPr id="246" name="Google Shape;246;p36"/>
          <p:cNvSpPr txBox="1"/>
          <p:nvPr/>
        </p:nvSpPr>
        <p:spPr>
          <a:xfrm>
            <a:off x="-25625" y="-14775"/>
            <a:ext cx="3355800" cy="5694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2500"/>
              <a:buFont typeface="Arial"/>
              <a:buNone/>
            </a:pPr>
            <a:r>
              <a:rPr lang="en" sz="2500" b="1" i="0" u="none" strike="noStrike" cap="none">
                <a:solidFill>
                  <a:srgbClr val="000000"/>
                </a:solidFill>
                <a:latin typeface="Calibri"/>
                <a:ea typeface="Calibri"/>
                <a:cs typeface="Calibri"/>
                <a:sym typeface="Calibri"/>
              </a:rPr>
              <a:t>About the Speaker</a:t>
            </a:r>
            <a:endParaRPr sz="2500" b="1" i="0" u="none" strike="noStrike" cap="none">
              <a:solidFill>
                <a:srgbClr val="000000"/>
              </a:solidFill>
              <a:latin typeface="Calibri"/>
              <a:ea typeface="Calibri"/>
              <a:cs typeface="Calibri"/>
              <a:sym typeface="Calibri"/>
            </a:endParaRPr>
          </a:p>
        </p:txBody>
      </p:sp>
      <p:sp>
        <p:nvSpPr>
          <p:cNvPr id="247" name="Google Shape;247;p36"/>
          <p:cNvSpPr txBox="1"/>
          <p:nvPr/>
        </p:nvSpPr>
        <p:spPr>
          <a:xfrm>
            <a:off x="3330175" y="878750"/>
            <a:ext cx="5621700" cy="33093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500" b="1" i="0" u="none" strike="noStrike" cap="none">
                <a:solidFill>
                  <a:srgbClr val="000000"/>
                </a:solidFill>
                <a:latin typeface="Calibri"/>
                <a:ea typeface="Calibri"/>
                <a:cs typeface="Calibri"/>
                <a:sym typeface="Calibri"/>
              </a:rPr>
              <a:t>Lev Selector, Ph.D.</a:t>
            </a:r>
            <a:endParaRPr sz="2500" b="1"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8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40+ years of software engineering, data science, and building teams (hiring, training, and managing)</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Ph.D. in mathematical modeling and computer simulations</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Interests: </a:t>
            </a:r>
            <a:endParaRPr sz="16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Generative AI, Using LLM with your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chemeClr val="dk1"/>
              </a:buClr>
              <a:buSzPts val="1600"/>
              <a:buFont typeface="Calibri"/>
              <a:buChar char="●"/>
            </a:pPr>
            <a:r>
              <a:rPr lang="en" sz="1600" b="0" i="0" u="none" strike="noStrike" cap="none">
                <a:solidFill>
                  <a:schemeClr val="dk1"/>
                </a:solidFill>
                <a:latin typeface="Calibri"/>
                <a:ea typeface="Calibri"/>
                <a:cs typeface="Calibri"/>
                <a:sym typeface="Calibri"/>
              </a:rPr>
              <a:t>Local AI for Local Private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rgbClr val="000000"/>
                </a:solidFill>
                <a:latin typeface="Calibri"/>
                <a:ea typeface="Calibri"/>
                <a:cs typeface="Calibri"/>
                <a:sym typeface="Calibri"/>
              </a:rPr>
              <a:t>Cloud architecture, fin-tech, application security</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Find/connect: Linkedin, GitHub, YouTube, Google</a:t>
            </a:r>
            <a:endParaRPr sz="1600" b="0" i="0" u="none" strike="noStrike" cap="none">
              <a:solidFill>
                <a:srgbClr val="000000"/>
              </a:solidFill>
              <a:latin typeface="Calibri"/>
              <a:ea typeface="Calibri"/>
              <a:cs typeface="Calibri"/>
              <a:sym typeface="Calibri"/>
            </a:endParaRPr>
          </a:p>
        </p:txBody>
      </p:sp>
      <p:pic>
        <p:nvPicPr>
          <p:cNvPr id="248" name="Google Shape;248;p36"/>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1001578" y="3664175"/>
            <a:ext cx="858450" cy="311906"/>
          </a:xfrm>
          <a:prstGeom prst="rect">
            <a:avLst/>
          </a:prstGeom>
          <a:noFill/>
          <a:ln>
            <a:noFill/>
          </a:ln>
        </p:spPr>
      </p:pic>
      <p:sp>
        <p:nvSpPr>
          <p:cNvPr id="249" name="Google Shape;249;p36"/>
          <p:cNvSpPr txBox="1"/>
          <p:nvPr/>
        </p:nvSpPr>
        <p:spPr>
          <a:xfrm>
            <a:off x="735103" y="4005903"/>
            <a:ext cx="1391400" cy="4311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600"/>
              <a:buFont typeface="Arial"/>
              <a:buNone/>
            </a:pPr>
            <a:r>
              <a:rPr lang="en" sz="1600" b="0" i="0" u="sng" strike="noStrike" cap="none">
                <a:solidFill>
                  <a:schemeClr val="hlink"/>
                </a:solidFill>
                <a:latin typeface="Calibri"/>
                <a:ea typeface="Calibri"/>
                <a:cs typeface="Calibri"/>
                <a:sym typeface="Calibri"/>
                <a:hlinkClick r:id="rId5"/>
              </a:rPr>
              <a:t>https://eais.ai</a:t>
            </a:r>
            <a:r>
              <a:rPr lang="en" sz="1600" b="0" i="0" u="none" strike="noStrike" cap="none">
                <a:solidFill>
                  <a:srgbClr val="000000"/>
                </a:solidFill>
                <a:latin typeface="Calibri"/>
                <a:ea typeface="Calibri"/>
                <a:cs typeface="Calibri"/>
                <a:sym typeface="Calibri"/>
              </a:rPr>
              <a:t> </a:t>
            </a:r>
            <a:endParaRPr sz="1600" b="0" i="0" u="none" strike="noStrike" cap="none">
              <a:solidFill>
                <a:srgbClr val="000000"/>
              </a:solidFill>
              <a:latin typeface="Calibri"/>
              <a:ea typeface="Calibri"/>
              <a:cs typeface="Calibri"/>
              <a:sym typeface="Calibri"/>
            </a:endParaRPr>
          </a:p>
        </p:txBody>
      </p:sp>
      <p:sp>
        <p:nvSpPr>
          <p:cNvPr id="250" name="Google Shape;250;p36"/>
          <p:cNvSpPr txBox="1"/>
          <p:nvPr/>
        </p:nvSpPr>
        <p:spPr>
          <a:xfrm>
            <a:off x="383803" y="4360974"/>
            <a:ext cx="2094000" cy="431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600" b="0" i="0" u="none" strike="noStrike" cap="none">
                <a:solidFill>
                  <a:srgbClr val="000000"/>
                </a:solidFill>
                <a:latin typeface="Calibri"/>
                <a:ea typeface="Calibri"/>
                <a:cs typeface="Calibri"/>
                <a:sym typeface="Calibri"/>
              </a:rPr>
              <a:t>Enterprise AI Systems</a:t>
            </a:r>
            <a:endParaRPr sz="1600" b="0" i="0" u="none" strike="noStrike" cap="none">
              <a:solidFill>
                <a:srgbClr val="000000"/>
              </a:solidFill>
              <a:latin typeface="Calibri"/>
              <a:ea typeface="Calibri"/>
              <a:cs typeface="Calibri"/>
              <a:sym typeface="Calibri"/>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54"/>
        <p:cNvGrpSpPr/>
        <p:nvPr/>
      </p:nvGrpSpPr>
      <p:grpSpPr>
        <a:xfrm>
          <a:off x="0" y="0"/>
          <a:ext cx="0" cy="0"/>
          <a:chOff x="0" y="0"/>
          <a:chExt cx="0" cy="0"/>
        </a:xfrm>
      </p:grpSpPr>
      <p:sp>
        <p:nvSpPr>
          <p:cNvPr id="255" name="Google Shape;255;p37"/>
          <p:cNvSpPr txBox="1"/>
          <p:nvPr/>
        </p:nvSpPr>
        <p:spPr>
          <a:xfrm>
            <a:off x="2151375" y="1533150"/>
            <a:ext cx="4632600" cy="1262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7000"/>
              <a:buFont typeface="Arial"/>
              <a:buNone/>
            </a:pPr>
            <a:r>
              <a:rPr lang="en" sz="7000" b="1" i="0" u="none" strike="noStrike" cap="none">
                <a:solidFill>
                  <a:srgbClr val="3C78D8"/>
                </a:solidFill>
                <a:latin typeface="Calibri"/>
                <a:ea typeface="Calibri"/>
                <a:cs typeface="Calibri"/>
                <a:sym typeface="Calibri"/>
              </a:rPr>
              <a:t>Thank You!</a:t>
            </a:r>
            <a:endParaRPr sz="7000" b="1" i="0" u="none" strike="noStrike" cap="none">
              <a:solidFill>
                <a:srgbClr val="3C78D8"/>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5346</Words>
  <Application>Microsoft Macintosh PowerPoint</Application>
  <PresentationFormat>On-screen Show (16:9)</PresentationFormat>
  <Paragraphs>512</Paragraphs>
  <Slides>23</Slides>
  <Notes>23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23</vt:i4>
      </vt:variant>
    </vt:vector>
  </HeadingPairs>
  <TitlesOfParts>
    <vt:vector size="27" baseType="lpstr">
      <vt:lpstr>Roboto Mono</vt:lpstr>
      <vt:lpstr>Arial</vt:lpstr>
      <vt:lpstr>Calibri</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Lev Selector</cp:lastModifiedBy>
  <cp:revision>1</cp:revision>
  <dcterms:modified xsi:type="dcterms:W3CDTF">2026-03-30T21:02:02Z</dcterms:modified>
</cp:coreProperties>
</file>