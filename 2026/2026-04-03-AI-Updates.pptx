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embeddedFontLst>
    <p:embeddedFont>
      <p:font typeface="Roboto Mono" pitchFamily="49"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B44C53-B6E8-42A3-AD5D-812BAB82C40A}">
  <a:tblStyle styleId="{40B44C53-B6E8-42A3-AD5D-812BAB82C4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d450c5001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d450c5001f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d466f9ba6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3d466f9ba6a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d466f9ba6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d466f9ba6a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d00f0b558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d00f0b5581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969e3dc9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969e3dc9f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d3d218ea9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3d3d218ea95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d450c5001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d450c5001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d44947077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d44947077b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d3d218ea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d3d218ea9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d332d748e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d332d748e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d332d748e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3d332d748eb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96a1febf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96a1febf4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d332d748e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g3d332d748eb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d332d748eb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3d332d748eb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96b047b1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96b047b19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44947077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g3d44947077b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96a1febf4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396a1febf4b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96b0c47417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96b0c47417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d3847041e1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3d3847041e1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96a1febf4b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396a1febf4b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d44947077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3d44947077b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d332d748eb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g3d332d748eb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96aed0fa4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96aed0fa4d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d332d748e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3d332d748eb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96a1febf4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396a1febf4b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d45e9cc6ac_0_12:notes"/>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d45e9cc6ac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z.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developers.openai.com/api/docs/models/gpt-5.2-chat-latest" TargetMode="External"/><Relationship Id="rId39" Type="http://schemas.openxmlformats.org/officeDocument/2006/relationships/hyperlink" Target="https://huggingface.co/zai-org/GLM-5" TargetMode="External"/><Relationship Id="rId21" Type="http://schemas.openxmlformats.org/officeDocument/2006/relationships/hyperlink" Target="https://platform.openai.com/docs/models/gpt-5.4" TargetMode="External"/><Relationship Id="rId34" Type="http://schemas.openxmlformats.org/officeDocument/2006/relationships/hyperlink" Target="https://www.kimi.com/blog/kimi-k2-5.html"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www.anthropic.com/news/claude-sonnet-4-6" TargetMode="External"/><Relationship Id="rId33" Type="http://schemas.openxmlformats.org/officeDocument/2006/relationships/hyperlink" Target="https://openai.com/index/gpt-5-3-instant/" TargetMode="External"/><Relationship Id="rId38" Type="http://schemas.openxmlformats.org/officeDocument/2006/relationships/hyperlink" Target="https://x.ai/news/grok-4-1" TargetMode="External"/><Relationship Id="rId2" Type="http://schemas.openxmlformats.org/officeDocument/2006/relationships/notesSlide" Target="../notesSlides/notesSlide5.xml"/><Relationship Id="rId16" Type="http://schemas.openxmlformats.org/officeDocument/2006/relationships/hyperlink" Target="https://artificialanalysis.ai/models/grok-4" TargetMode="External"/><Relationship Id="rId20" Type="http://schemas.openxmlformats.org/officeDocument/2006/relationships/hyperlink" Target="https://blog.google/innovation-and-ai/models-and-research/gemini-models/gemini-3-1-pro/" TargetMode="External"/><Relationship Id="rId29" Type="http://schemas.openxmlformats.org/officeDocument/2006/relationships/hyperlink" Target="https://docs.x.ai/developers/models/grok-4.20-multi-agent-beta-0309"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docs.x.ai/developers/models/grok-4.20-beta-0309-reasoning" TargetMode="External"/><Relationship Id="rId32" Type="http://schemas.openxmlformats.org/officeDocument/2006/relationships/hyperlink" Target="https://longcat.chat/platform/docs/#endpoints" TargetMode="External"/><Relationship Id="rId37" Type="http://schemas.openxmlformats.org/officeDocument/2006/relationships/hyperlink" Target="https://blog.google/products/gemini/gemini-3-flash" TargetMode="External"/><Relationship Id="rId40" Type="http://schemas.openxmlformats.org/officeDocument/2006/relationships/hyperlink" Target="https://openai.com/index/gpt-5-1/"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grok.com/" TargetMode="External"/><Relationship Id="rId28" Type="http://schemas.openxmlformats.org/officeDocument/2006/relationships/hyperlink" Target="https://aistudio.google.com/app/prompts/new_chat?model=gemini-3-pro-preview" TargetMode="External"/><Relationship Id="rId36" Type="http://schemas.openxmlformats.org/officeDocument/2006/relationships/hyperlink" Target="https://qwen.ai/blog?id=qwen3.5-max-preview"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www.anthropic.com/news/claude-opus-4-1"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5" TargetMode="External"/><Relationship Id="rId27" Type="http://schemas.openxmlformats.org/officeDocument/2006/relationships/hyperlink" Target="https://www.anthropic.com/news/claude-sonnet-4-5" TargetMode="External"/><Relationship Id="rId30" Type="http://schemas.openxmlformats.org/officeDocument/2006/relationships/hyperlink" Target="https://www.byteplus.com/en/blog/dola-seed-2-0-pro" TargetMode="External"/><Relationship Id="rId35" Type="http://schemas.openxmlformats.org/officeDocument/2006/relationships/hyperlink" Target="https://openai.com/index/introducing-gpt-5-4-mini-and-nano/"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youtube.com/watch?v=UkCfrNTzUMM" TargetMode="External"/><Relationship Id="rId3" Type="http://schemas.openxmlformats.org/officeDocument/2006/relationships/hyperlink" Target="https://arcprize.org/arc-agi/3" TargetMode="External"/><Relationship Id="rId7" Type="http://schemas.openxmlformats.org/officeDocument/2006/relationships/hyperlink" Target="https://www.youtube.com/watch?v=3T4OwBp6d90"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three.arcprize.org" TargetMode="External"/><Relationship Id="rId5" Type="http://schemas.openxmlformats.org/officeDocument/2006/relationships/hyperlink" Target="https://arcprize.org/media/ARC_AGI_3_Technical_Report.pdf" TargetMode="External"/><Relationship Id="rId10" Type="http://schemas.openxmlformats.org/officeDocument/2006/relationships/image" Target="../media/image2.png"/><Relationship Id="rId4" Type="http://schemas.openxmlformats.org/officeDocument/2006/relationships/hyperlink" Target="https://arcprize.org/blog/arc-agi-3-launch" TargetMode="External"/><Relationship Id="rId9" Type="http://schemas.openxmlformats.org/officeDocument/2006/relationships/hyperlink" Target="https://www.symbolica.ai/blog/arc-agi-3"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x.com/simplifyinAI/status/2036757262362955872"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themesis.com/2026/01/07/world-models-five-competing-approaches/"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http://claude.md" TargetMode="External"/><Relationship Id="rId7"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www.youtube.com/watch?v=dYG8JxtSgmM" TargetMode="External"/><Relationship Id="rId4" Type="http://schemas.openxmlformats.org/officeDocument/2006/relationships/hyperlink" Target="https://www.youtube.com/watch?v=mBHRPeg8zPU"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eshyperscale.github.io"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z.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youtube.com/watch?v=PRFpkPR3H7U"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github.com/TheTom/turboquant_plu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www.youtube.com/watch?v=6SnFH43qPAw"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accio.c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www.prnewswire.com/news-releases/alibaba-international-launches-accio-work-an-enterprise-ai-agent-for-global-businesses-302721693.html"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arcinstitute.org" TargetMode="External"/><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suno.com/blog/v5-5" TargetMode="External"/><Relationship Id="rId5" Type="http://schemas.openxmlformats.org/officeDocument/2006/relationships/hyperlink" Target="https://www.youtube.com/watch?v=LvU1CACAPq8" TargetMode="External"/><Relationship Id="rId4" Type="http://schemas.openxmlformats.org/officeDocument/2006/relationships/hyperlink" Target="https://www.youtube.com/watch?v=twsWm11W9Lw" TargetMode="External"/><Relationship Id="rId9"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anthropics/knowledge-work-plugins/tree/main/data"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F_i_s0L2aWY"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KWrsLqnB6vA"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www.youtube.com/watch?v=L7NPhaUBpZE"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realrestorer.com" TargetMode="External"/><Relationship Id="rId7" Type="http://schemas.openxmlformats.org/officeDocument/2006/relationships/hyperlink" Target="https://ai.meta.com/blog/tribe-v2-brain-predictive-foundation-model/"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https://arxiv.org/abs/2603.25502"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z.ai" TargetMode="External"/><Relationship Id="rId3" Type="http://schemas.openxmlformats.org/officeDocument/2006/relationships/hyperlink" Target="https://docs.z.ai/devpack/using5.1" TargetMode="External"/><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hyperlink" Target="https://huggingface.co/CohereLabs/cohere-transcribe-03-2026" TargetMode="External"/><Relationship Id="rId4" Type="http://schemas.openxmlformats.org/officeDocument/2006/relationships/hyperlink" Target="https://cohere.com/blog/transcribe" TargetMode="External"/><Relationship Id="rId9" Type="http://schemas.openxmlformats.org/officeDocument/2006/relationships/image" Target="../media/image30.jpeg"/></Relationships>
</file>

<file path=ppt/slides/_rels/slide22.xml.rels><?xml version="1.0" encoding="UTF-8" standalone="yes"?>
<Relationships xmlns="http://schemas.openxmlformats.org/package/2006/relationships"><Relationship Id="rId3" Type="http://schemas.openxmlformats.org/officeDocument/2006/relationships/hyperlink" Target="https://www.linkedin.com/feed/update/urn:li:activity:7440049375902461955/"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www.linkedin.com/in/jose-gregorio-argomedo/" TargetMode="Externa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hyperlink" Target="https://instadoodle.com"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www.youtube.com/watch?v=g3lh7U_rV9w"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7q_rbT1a9dE"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sXVbWkoCVaA"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hyperlink" Target="https://www.youtube.com/watch?v=MM320sAhFoY" TargetMode="Externa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THx8X6anPPg"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hyperlink" Target="http://www.youtube.com/watch?v=kwSVtQ7dziU"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hyperlink" Target="https://www.youtube.com/watch?v=I39UoIGTptc" TargetMode="External"/><Relationship Id="rId7"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hyperlink" Target="https://layoffs.fyi" TargetMode="External"/><Relationship Id="rId7"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hyperlink" Target="https://trueup.io/layoff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jobloss.ai"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430837"/>
            <a:ext cx="44202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Use Claude Code As Execution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Agent as a Consigliere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Conway persistent Claude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ARC-AGI-3</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LeWorldModel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Code Was Leaked !!</a:t>
            </a:r>
            <a:endParaRPr sz="1500" b="1">
              <a:solidFill>
                <a:srgbClr val="3C78D8"/>
              </a:solidFill>
              <a:latin typeface="Calibri"/>
              <a:ea typeface="Calibri"/>
              <a:cs typeface="Calibri"/>
              <a:sym typeface="Calibri"/>
            </a:endParaRPr>
          </a:p>
        </p:txBody>
      </p:sp>
      <p:sp>
        <p:nvSpPr>
          <p:cNvPr id="64" name="Google Shape;64;p15"/>
          <p:cNvSpPr txBox="1"/>
          <p:nvPr/>
        </p:nvSpPr>
        <p:spPr>
          <a:xfrm>
            <a:off x="0"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Apr 3,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74323" y="4850065"/>
            <a:ext cx="4502400" cy="249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i="0" u="none" strike="noStrike" cap="none">
                <a:solidFill>
                  <a:srgbClr val="3C78D8"/>
                </a:solidFill>
                <a:latin typeface="Calibri"/>
                <a:ea typeface="Calibri"/>
                <a:cs typeface="Calibri"/>
                <a:sym typeface="Calibri"/>
              </a:rPr>
              <a:t>Jobs, Layoffs, </a:t>
            </a:r>
            <a:r>
              <a:rPr lang="en" sz="1500" b="1">
                <a:solidFill>
                  <a:srgbClr val="3C78D8"/>
                </a:solidFill>
                <a:latin typeface="Calibri"/>
                <a:ea typeface="Calibri"/>
                <a:cs typeface="Calibri"/>
                <a:sym typeface="Calibri"/>
              </a:rPr>
              <a:t>demand for AI Engineers</a:t>
            </a:r>
            <a:endParaRPr sz="15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089309"/>
            <a:ext cx="4420200" cy="3020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EGGROLL Training Algorithm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AutoClaw by </a:t>
            </a:r>
            <a:r>
              <a:rPr lang="en" sz="1500" b="1">
                <a:solidFill>
                  <a:srgbClr val="3C78D8"/>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Z.ai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Qwen 3.6 Plus Preview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Code Updates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TurboQuant Vector Compression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Spud Model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Five open-source repos for Claude Code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Alibaba Accio Work</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Ollama Pi - lightweight coding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EVO 2 model for DNA analysis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Suno v.5.5 Text-to-Music</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Data Analyst Plugin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10 Claude Code Features</a:t>
            </a:r>
            <a:endParaRPr sz="1500" b="1">
              <a:solidFill>
                <a:srgbClr val="3C78D8"/>
              </a:solidFill>
              <a:latin typeface="Calibri"/>
              <a:ea typeface="Calibri"/>
              <a:cs typeface="Calibri"/>
              <a:sym typeface="Calibri"/>
            </a:endParaRPr>
          </a:p>
        </p:txBody>
      </p:sp>
      <p:sp>
        <p:nvSpPr>
          <p:cNvPr id="67" name="Google Shape;67;p15"/>
          <p:cNvSpPr txBox="1"/>
          <p:nvPr/>
        </p:nvSpPr>
        <p:spPr>
          <a:xfrm>
            <a:off x="4574323" y="1320948"/>
            <a:ext cx="4502400" cy="34818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Boris Churnney Strategies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RealRestorer - fix photos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Meta TRIBE V2 predicts human brain activity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Gemma 4  open source models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GLM 5.1  &amp; GLM-5V-Turbo by Z.ai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Cohere Transcribe speech-to-text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Good Engineering Have Not Got Cheaper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InstaDoodle - create animated presentations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Qwen Trace2Skill Generates Skills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Code to get 10M Views in 1 Month</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Four Autonomous Agents Projects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Code Toolkit - by CEO of Y Combinator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Agents - Marketing Team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Andrej Karpathy Interview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Mo Gawdat Interview</a:t>
            </a:r>
            <a:endParaRPr sz="1500" b="1">
              <a:solidFill>
                <a:srgbClr val="3C78D8"/>
              </a:solidFill>
              <a:latin typeface="Calibri"/>
              <a:ea typeface="Calibri"/>
              <a:cs typeface="Calibri"/>
              <a:sym typeface="Calibri"/>
            </a:endParaRPr>
          </a:p>
        </p:txBody>
      </p:sp>
      <p:sp>
        <p:nvSpPr>
          <p:cNvPr id="68" name="Google Shape;68;p15"/>
          <p:cNvSpPr txBox="1"/>
          <p:nvPr/>
        </p:nvSpPr>
        <p:spPr>
          <a:xfrm>
            <a:off x="5375175" y="66747"/>
            <a:ext cx="2900700" cy="1173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2500" b="1" i="1">
                <a:solidFill>
                  <a:srgbClr val="FF0000"/>
                </a:solidFill>
                <a:latin typeface="Calibri"/>
                <a:ea typeface="Calibri"/>
                <a:cs typeface="Calibri"/>
                <a:sym typeface="Calibri"/>
              </a:rPr>
              <a:t>March 23 </a:t>
            </a:r>
            <a:endParaRPr sz="2500" b="1" i="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2500" b="1" i="1">
                <a:solidFill>
                  <a:srgbClr val="FF0000"/>
                </a:solidFill>
                <a:latin typeface="Calibri"/>
                <a:ea typeface="Calibri"/>
                <a:cs typeface="Calibri"/>
                <a:sym typeface="Calibri"/>
              </a:rPr>
              <a:t>Claude Code Update</a:t>
            </a:r>
            <a:endParaRPr sz="2500" b="1" i="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2500" b="1" i="1">
                <a:solidFill>
                  <a:srgbClr val="FF0000"/>
                </a:solidFill>
                <a:latin typeface="Calibri"/>
                <a:ea typeface="Calibri"/>
                <a:cs typeface="Calibri"/>
                <a:sym typeface="Calibri"/>
              </a:rPr>
              <a:t>"Computer Use"</a:t>
            </a:r>
            <a:endParaRPr sz="2500" b="1" i="1">
              <a:solidFill>
                <a:srgbClr val="FF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81773" y="26048"/>
            <a:ext cx="438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Use Claude Code As Execution Agent</a:t>
            </a:r>
            <a:endParaRPr sz="2000" b="1">
              <a:solidFill>
                <a:schemeClr val="dk1"/>
              </a:solidFill>
              <a:latin typeface="Calibri"/>
              <a:ea typeface="Calibri"/>
              <a:cs typeface="Calibri"/>
              <a:sym typeface="Calibri"/>
            </a:endParaRPr>
          </a:p>
        </p:txBody>
      </p:sp>
      <p:sp>
        <p:nvSpPr>
          <p:cNvPr id="74" name="Google Shape;74;p16"/>
          <p:cNvSpPr txBox="1"/>
          <p:nvPr/>
        </p:nvSpPr>
        <p:spPr>
          <a:xfrm>
            <a:off x="139675" y="1696712"/>
            <a:ext cx="42675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Your Mac iTerm</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Python App (localhost:8000, web GUI)</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Claude Agent SDK  (local process)</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  spawns</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Claude Code CLI  (local subprocess)</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  HTTPS API calls - internet</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Anthropic Claude Model in the cloud</a:t>
            </a:r>
            <a:endParaRPr sz="12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200" b="1">
              <a:solidFill>
                <a:srgbClr val="3C78D8"/>
              </a:solidFill>
              <a:latin typeface="Roboto Mono"/>
              <a:ea typeface="Roboto Mono"/>
              <a:cs typeface="Roboto Mono"/>
              <a:sym typeface="Roboto Mono"/>
            </a:endParaRPr>
          </a:p>
        </p:txBody>
      </p:sp>
      <p:sp>
        <p:nvSpPr>
          <p:cNvPr id="75" name="Google Shape;75;p16"/>
          <p:cNvSpPr txBox="1"/>
          <p:nvPr/>
        </p:nvSpPr>
        <p:spPr>
          <a:xfrm>
            <a:off x="4702167" y="1691187"/>
            <a:ext cx="42675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Your Mac iTerm</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Python scheduler</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  spawns (subprocess)</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python script</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  iTerm API</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open iTerm Window,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start claude code in it</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execute skill (do some work)</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  HTTPS API calls - internet</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a:t>
            </a:r>
            <a:endParaRPr sz="12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3C78D8"/>
                </a:solidFill>
                <a:latin typeface="Roboto Mono"/>
                <a:ea typeface="Roboto Mono"/>
                <a:cs typeface="Roboto Mono"/>
                <a:sym typeface="Roboto Mono"/>
              </a:rPr>
              <a:t>         Anthropic Claude Model in the cloud</a:t>
            </a:r>
            <a:endParaRPr sz="12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1200" b="1">
              <a:solidFill>
                <a:srgbClr val="3C78D8"/>
              </a:solidFill>
              <a:latin typeface="Roboto Mono"/>
              <a:ea typeface="Roboto Mono"/>
              <a:cs typeface="Roboto Mono"/>
              <a:sym typeface="Roboto Mono"/>
            </a:endParaRPr>
          </a:p>
        </p:txBody>
      </p:sp>
      <p:sp>
        <p:nvSpPr>
          <p:cNvPr id="76" name="Google Shape;76;p16"/>
          <p:cNvSpPr txBox="1"/>
          <p:nvPr/>
        </p:nvSpPr>
        <p:spPr>
          <a:xfrm>
            <a:off x="81775" y="564584"/>
            <a:ext cx="43833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March 23 "Computer Use" was added to both Claude desktop app and Claude Code CLI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allows to build apps using Claude Code as execution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use Claude Agent SDK released in Summer of 2025</a:t>
            </a:r>
            <a:endParaRPr sz="1200">
              <a:solidFill>
                <a:schemeClr val="dk1"/>
              </a:solidFill>
              <a:latin typeface="Calibri"/>
              <a:ea typeface="Calibri"/>
              <a:cs typeface="Calibri"/>
              <a:sym typeface="Calibri"/>
            </a:endParaRPr>
          </a:p>
        </p:txBody>
      </p:sp>
      <p:sp>
        <p:nvSpPr>
          <p:cNvPr id="77" name="Google Shape;77;p16"/>
          <p:cNvSpPr txBox="1"/>
          <p:nvPr/>
        </p:nvSpPr>
        <p:spPr>
          <a:xfrm>
            <a:off x="5233925" y="617125"/>
            <a:ext cx="3204000" cy="63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2000" b="1">
                <a:solidFill>
                  <a:srgbClr val="FF0000"/>
                </a:solidFill>
                <a:latin typeface="Calibri"/>
                <a:ea typeface="Calibri"/>
                <a:cs typeface="Calibri"/>
                <a:sym typeface="Calibri"/>
              </a:rPr>
              <a:t>March 23 Update</a:t>
            </a:r>
            <a:endParaRPr sz="2000" b="1">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None/>
            </a:pPr>
            <a:r>
              <a:rPr lang="en" sz="2000" b="1">
                <a:solidFill>
                  <a:srgbClr val="FF0000"/>
                </a:solidFill>
                <a:latin typeface="Calibri"/>
                <a:ea typeface="Calibri"/>
                <a:cs typeface="Calibri"/>
                <a:sym typeface="Calibri"/>
              </a:rPr>
              <a:t>Computer use on Mac only</a:t>
            </a:r>
            <a:endParaRPr sz="2000" b="1">
              <a:solidFill>
                <a:srgbClr val="FF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81773" y="26048"/>
            <a:ext cx="438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Using Claude Agent API</a:t>
            </a:r>
            <a:endParaRPr sz="2000" b="1">
              <a:solidFill>
                <a:schemeClr val="dk1"/>
              </a:solidFill>
              <a:latin typeface="Calibri"/>
              <a:ea typeface="Calibri"/>
              <a:cs typeface="Calibri"/>
              <a:sym typeface="Calibri"/>
            </a:endParaRPr>
          </a:p>
        </p:txBody>
      </p:sp>
      <p:sp>
        <p:nvSpPr>
          <p:cNvPr id="83" name="Google Shape;83;p17"/>
          <p:cNvSpPr txBox="1"/>
          <p:nvPr/>
        </p:nvSpPr>
        <p:spPr>
          <a:xfrm>
            <a:off x="139675" y="707852"/>
            <a:ext cx="4325400" cy="423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Roboto Mono"/>
                <a:ea typeface="Roboto Mono"/>
                <a:cs typeface="Roboto Mono"/>
                <a:sym typeface="Roboto Mono"/>
              </a:rPr>
              <a:t>Claude Agent SDK</a:t>
            </a:r>
            <a:endParaRPr sz="1300" b="1">
              <a:solidFill>
                <a:srgbClr val="FF0000"/>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6AA84F"/>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6AA84F"/>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6AA84F"/>
                </a:solidFill>
                <a:latin typeface="Roboto Mono"/>
                <a:ea typeface="Roboto Mono"/>
                <a:cs typeface="Roboto Mono"/>
                <a:sym typeface="Roboto Mono"/>
              </a:rPr>
              <a:t># npm install -g @anthropic-ai/claude-code</a:t>
            </a:r>
            <a:endParaRPr sz="900" b="1">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6AA84F"/>
                </a:solidFill>
                <a:latin typeface="Roboto Mono"/>
                <a:ea typeface="Roboto Mono"/>
                <a:cs typeface="Roboto Mono"/>
                <a:sym typeface="Roboto Mono"/>
              </a:rPr>
              <a:t># pip install claude-agent-sdk</a:t>
            </a:r>
            <a:endParaRPr sz="900" b="1">
              <a:solidFill>
                <a:srgbClr val="6AA84F"/>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6AA84F"/>
                </a:solidFill>
                <a:latin typeface="Roboto Mono"/>
                <a:ea typeface="Roboto Mono"/>
                <a:cs typeface="Roboto Mono"/>
                <a:sym typeface="Roboto Mono"/>
              </a:rPr>
              <a:t># export ANTHROPIC_API_KEY="sk-ant-..."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anyio</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from claude_agent_sdk import query, ClaudeAgentOptions,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AssistantMessage, TextBlock</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async def main():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options = ClaudeAgentOptions(</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system_prompt="You are a helpful local assistant.",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allowed_tools=["Read", "Write", "Bash"],</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max_turns=5,</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async for message in query(</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prompt="List .py files in ~/projects and count them",</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options=options</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if isinstance(message, AssistantMessage):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for block in message.content: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if isinstance(block, TextBlock):</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print(block.text, end="")</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anyio.run(main)</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p:txBody>
      </p:sp>
      <p:sp>
        <p:nvSpPr>
          <p:cNvPr id="84" name="Google Shape;84;p17"/>
          <p:cNvSpPr txBox="1"/>
          <p:nvPr/>
        </p:nvSpPr>
        <p:spPr>
          <a:xfrm>
            <a:off x="4722650" y="707852"/>
            <a:ext cx="4325400" cy="298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Roboto Mono"/>
                <a:ea typeface="Roboto Mono"/>
                <a:cs typeface="Roboto Mono"/>
                <a:sym typeface="Roboto Mono"/>
              </a:rPr>
              <a:t>Anthropic SDK</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 pip install anthropic</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6AA84F"/>
                </a:solidFill>
                <a:latin typeface="Roboto Mono"/>
                <a:ea typeface="Roboto Mono"/>
                <a:cs typeface="Roboto Mono"/>
                <a:sym typeface="Roboto Mono"/>
              </a:rPr>
              <a:t># export ANTHROPIC_API_KEY="sk-ant-..."</a:t>
            </a:r>
            <a:endParaRPr sz="900" b="1">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import anthropic</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client = anthropic.Anthropic()</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message = client.messages.create(</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model="claude-opus-4-5",</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max_tokens=1024,</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messages=[</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{"role": "user", "content": "What files are in the current directory?"}</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print(message.content[0].text)</a:t>
            </a:r>
            <a:endParaRPr sz="900" b="1">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b="1">
              <a:solidFill>
                <a:srgbClr val="3C78D8"/>
              </a:solidFill>
              <a:latin typeface="Roboto Mono"/>
              <a:ea typeface="Roboto Mono"/>
              <a:cs typeface="Roboto Mono"/>
              <a:sym typeface="Roboto 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Agent as a Consigliere</a:t>
            </a:r>
            <a:endParaRPr sz="2000" b="1">
              <a:solidFill>
                <a:schemeClr val="dk1"/>
              </a:solidFill>
              <a:latin typeface="Calibri"/>
              <a:ea typeface="Calibri"/>
              <a:cs typeface="Calibri"/>
              <a:sym typeface="Calibri"/>
            </a:endParaRPr>
          </a:p>
        </p:txBody>
      </p:sp>
      <p:sp>
        <p:nvSpPr>
          <p:cNvPr id="90" name="Google Shape;90;p18"/>
          <p:cNvSpPr txBox="1"/>
          <p:nvPr/>
        </p:nvSpPr>
        <p:spPr>
          <a:xfrm>
            <a:off x="136250" y="759288"/>
            <a:ext cx="4467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Consigliere means "advisor" or "counselor"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word comes from Italian, derived from the Latin consiliarius (advisor) and consilium (advice)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literally refers to someone who gives counsel or guidance, making it closer to "counselor" than "consultant."</a:t>
            </a:r>
            <a:endParaRPr sz="1200">
              <a:solidFill>
                <a:schemeClr val="dk1"/>
              </a:solidFill>
              <a:latin typeface="Calibri"/>
              <a:ea typeface="Calibri"/>
              <a:cs typeface="Calibri"/>
              <a:sym typeface="Calibri"/>
            </a:endParaRPr>
          </a:p>
        </p:txBody>
      </p:sp>
      <p:pic>
        <p:nvPicPr>
          <p:cNvPr id="91" name="Google Shape;91;p18"/>
          <p:cNvPicPr preferRelativeResize="0"/>
          <p:nvPr/>
        </p:nvPicPr>
        <p:blipFill>
          <a:blip r:embed="rId3">
            <a:alphaModFix/>
          </a:blip>
          <a:stretch>
            <a:fillRect/>
          </a:stretch>
        </p:blipFill>
        <p:spPr>
          <a:xfrm>
            <a:off x="5264350" y="1529388"/>
            <a:ext cx="2466975" cy="1847850"/>
          </a:xfrm>
          <a:prstGeom prst="rect">
            <a:avLst/>
          </a:prstGeom>
          <a:noFill/>
          <a:ln w="9525" cap="flat" cmpd="sng">
            <a:solidFill>
              <a:srgbClr val="FF0000"/>
            </a:solidFill>
            <a:prstDash val="solid"/>
            <a:round/>
            <a:headEnd type="none" w="sm" len="sm"/>
            <a:tailEnd type="none" w="sm" len="sm"/>
          </a:ln>
        </p:spPr>
      </p:pic>
      <p:sp>
        <p:nvSpPr>
          <p:cNvPr id="92" name="Google Shape;92;p18"/>
          <p:cNvSpPr txBox="1"/>
          <p:nvPr/>
        </p:nvSpPr>
        <p:spPr>
          <a:xfrm>
            <a:off x="571825" y="1982325"/>
            <a:ext cx="34125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Tom Hagen, played by Robert Duvall, is the loyal Irish-German consigliere (advisor) to Don Vito Corleone in The Godfather, serving as a trusted legal counsel, "auxiliary brain," and intermediary for the Mafia family</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98" name="Google Shape;98;p19"/>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99" name="Google Shape;99;p19"/>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100" name="Google Shape;100;p19"/>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101" name="Google Shape;101;p19"/>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102" name="Google Shape;102;p19"/>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March 31</a:t>
            </a:r>
            <a:endParaRPr sz="1000">
              <a:latin typeface="Calibri"/>
              <a:ea typeface="Calibri"/>
              <a:cs typeface="Calibri"/>
              <a:sym typeface="Calibri"/>
            </a:endParaRPr>
          </a:p>
        </p:txBody>
      </p:sp>
      <p:sp>
        <p:nvSpPr>
          <p:cNvPr id="103" name="Google Shape;103;p19"/>
          <p:cNvSpPr txBox="1"/>
          <p:nvPr/>
        </p:nvSpPr>
        <p:spPr>
          <a:xfrm>
            <a:off x="7346795" y="608477"/>
            <a:ext cx="1745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p:txBody>
      </p:sp>
      <p:graphicFrame>
        <p:nvGraphicFramePr>
          <p:cNvPr id="104" name="Google Shape;104;p19"/>
          <p:cNvGraphicFramePr/>
          <p:nvPr/>
        </p:nvGraphicFramePr>
        <p:xfrm>
          <a:off x="5742420" y="430065"/>
          <a:ext cx="3000000" cy="3000000"/>
        </p:xfrm>
        <a:graphic>
          <a:graphicData uri="http://schemas.openxmlformats.org/drawingml/2006/table">
            <a:tbl>
              <a:tblPr>
                <a:noFill/>
                <a:tableStyleId>{40B44C53-B6E8-42A3-AD5D-812BAB82C40A}</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graphicFrame>
        <p:nvGraphicFramePr>
          <p:cNvPr id="105" name="Google Shape;105;p19"/>
          <p:cNvGraphicFramePr/>
          <p:nvPr/>
        </p:nvGraphicFramePr>
        <p:xfrm>
          <a:off x="2989363" y="808412"/>
          <a:ext cx="3000000" cy="3000000"/>
        </p:xfrm>
        <a:graphic>
          <a:graphicData uri="http://schemas.openxmlformats.org/drawingml/2006/table">
            <a:tbl>
              <a:tblPr>
                <a:noFill/>
                <a:tableStyleId>{40B44C53-B6E8-42A3-AD5D-812BAB82C40A}</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grok-4.20-multi-agent-beta-0309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dola-seed-2.0-pro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longcat-flash-chat-2602-exp</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gpt-5.3-chat-latest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gpt-5.4-mini-high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106" name="Google Shape;106;p19"/>
          <p:cNvGraphicFramePr/>
          <p:nvPr/>
        </p:nvGraphicFramePr>
        <p:xfrm>
          <a:off x="244987" y="805426"/>
          <a:ext cx="3000000" cy="3000000"/>
        </p:xfrm>
        <a:graphic>
          <a:graphicData uri="http://schemas.openxmlformats.org/drawingml/2006/table">
            <a:tbl>
              <a:tblPr>
                <a:noFill/>
                <a:tableStyleId>{40B44C53-B6E8-42A3-AD5D-812BAB82C40A}</a:tableStyleId>
              </a:tblPr>
              <a:tblGrid>
                <a:gridCol w="2476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grok-4.20-multi-agent-beta-0309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dola-seed-2.0-pro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gpt-5.3-chat-latest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gpt-5.4-mini-high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p:nvPr/>
        </p:nvSpPr>
        <p:spPr>
          <a:xfrm>
            <a:off x="81773" y="40047"/>
            <a:ext cx="145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ARC-AGI-3</a:t>
            </a:r>
            <a:endParaRPr sz="2000" b="1">
              <a:solidFill>
                <a:schemeClr val="dk1"/>
              </a:solidFill>
              <a:latin typeface="Calibri"/>
              <a:ea typeface="Calibri"/>
              <a:cs typeface="Calibri"/>
              <a:sym typeface="Calibri"/>
            </a:endParaRPr>
          </a:p>
        </p:txBody>
      </p:sp>
      <p:sp>
        <p:nvSpPr>
          <p:cNvPr id="112" name="Google Shape;112;p20"/>
          <p:cNvSpPr txBox="1"/>
          <p:nvPr/>
        </p:nvSpPr>
        <p:spPr>
          <a:xfrm>
            <a:off x="100600" y="413825"/>
            <a:ext cx="43926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ARC-AGI-3  - March 25, 2026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ARC Prize Foundation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the first "interactive" (game) reasoning benchmark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or Human must actively explore hundreds of game-like environments with no instructions, rules, or goals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succeed, an agent must figure out on its own how the environment works, what "winning" looks like, and then adapt across increasingly harder levels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Humans score 100%, while the best frontier AI systems score under 1% (currently around 0.25%)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Previous ARC-AGI benchmarks successfully predicted major AI breakthroughs like reasoning models and coding agents. ARC-AGI-3 is designed to point to "what's next": the gap between AI that follows instructions well and AI that can genuinely explore and learn in brand-new situations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100% score would, by the foundation's definition, indicate the presence of true AGI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Official benchmark page: </a:t>
            </a:r>
            <a:r>
              <a:rPr lang="en" sz="1200" u="sng">
                <a:solidFill>
                  <a:schemeClr val="hlink"/>
                </a:solidFill>
                <a:latin typeface="Calibri"/>
                <a:ea typeface="Calibri"/>
                <a:cs typeface="Calibri"/>
                <a:sym typeface="Calibri"/>
                <a:hlinkClick r:id="rId3"/>
              </a:rPr>
              <a:t>https://arcprize.org/arc-agi/3</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Launch blog post: </a:t>
            </a:r>
            <a:r>
              <a:rPr lang="en" sz="1200" u="sng">
                <a:solidFill>
                  <a:schemeClr val="hlink"/>
                </a:solidFill>
                <a:latin typeface="Calibri"/>
                <a:ea typeface="Calibri"/>
                <a:cs typeface="Calibri"/>
                <a:sym typeface="Calibri"/>
                <a:hlinkClick r:id="rId4"/>
              </a:rPr>
              <a:t>https://</a:t>
            </a:r>
            <a:r>
              <a:rPr lang="en" sz="1200" u="sng">
                <a:solidFill>
                  <a:schemeClr val="hlink"/>
                </a:solidFill>
                <a:latin typeface="Calibri"/>
                <a:ea typeface="Calibri"/>
                <a:cs typeface="Calibri"/>
                <a:sym typeface="Calibri"/>
                <a:hlinkClick r:id="rId4"/>
              </a:rPr>
              <a:t>arcprize.org/blog/arc-agi-3-launch</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a:t>
            </a:r>
            <a:r>
              <a:rPr lang="en" sz="1200" u="sng">
                <a:solidFill>
                  <a:schemeClr val="hlink"/>
                </a:solidFill>
                <a:latin typeface="Calibri"/>
                <a:ea typeface="Calibri"/>
                <a:cs typeface="Calibri"/>
                <a:sym typeface="Calibri"/>
                <a:hlinkClick r:id="rId5"/>
              </a:rPr>
              <a:t>arcprize.org/media/ARC_AGI_3_Technical_Report.pdf</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Play the games in your browser: </a:t>
            </a:r>
            <a:r>
              <a:rPr lang="en" sz="1200" u="sng">
                <a:solidFill>
                  <a:schemeClr val="hlink"/>
                </a:solidFill>
                <a:latin typeface="Calibri"/>
                <a:ea typeface="Calibri"/>
                <a:cs typeface="Calibri"/>
                <a:sym typeface="Calibri"/>
                <a:hlinkClick r:id="rId6"/>
              </a:rPr>
              <a:t>https://three.arcprize.org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https://www.youtube.com/watch?v=3T4OwBp6d90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https://www.youtube.com/watch?v=UkCfrNTzUMM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13" name="Google Shape;113;p20"/>
          <p:cNvSpPr txBox="1"/>
          <p:nvPr/>
        </p:nvSpPr>
        <p:spPr>
          <a:xfrm>
            <a:off x="4625875" y="413825"/>
            <a:ext cx="43926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Agentica SDK by Symbolica achieves an unverified competition score of 36.08% on ARC-AGI-3, passing 113 out of 182 playable levels, and completes 7 out of the 25 available games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https://www.symbolica.ai/blog/arc-agi-3</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14" name="Google Shape;114;p20"/>
          <p:cNvPicPr preferRelativeResize="0"/>
          <p:nvPr/>
        </p:nvPicPr>
        <p:blipFill>
          <a:blip r:embed="rId10">
            <a:alphaModFix/>
          </a:blip>
          <a:stretch>
            <a:fillRect/>
          </a:stretch>
        </p:blipFill>
        <p:spPr>
          <a:xfrm>
            <a:off x="4625875" y="1243325"/>
            <a:ext cx="2143125" cy="2133600"/>
          </a:xfrm>
          <a:prstGeom prst="rect">
            <a:avLst/>
          </a:prstGeom>
          <a:noFill/>
          <a:ln w="9525" cap="flat" cmpd="sng">
            <a:solidFill>
              <a:srgbClr val="FF0000"/>
            </a:solidFill>
            <a:prstDash val="solid"/>
            <a:round/>
            <a:headEnd type="none" w="sm" len="sm"/>
            <a:tailEnd type="none" w="sm" len="sm"/>
          </a:ln>
        </p:spPr>
      </p:pic>
      <p:graphicFrame>
        <p:nvGraphicFramePr>
          <p:cNvPr id="115" name="Google Shape;115;p20"/>
          <p:cNvGraphicFramePr/>
          <p:nvPr/>
        </p:nvGraphicFramePr>
        <p:xfrm>
          <a:off x="5697438" y="3761450"/>
          <a:ext cx="3000000" cy="3000000"/>
        </p:xfrm>
        <a:graphic>
          <a:graphicData uri="http://schemas.openxmlformats.org/drawingml/2006/table">
            <a:tbl>
              <a:tblPr>
                <a:noFill/>
                <a:tableStyleId>{40B44C53-B6E8-42A3-AD5D-812BAB82C40A}</a:tableStyleId>
              </a:tblPr>
              <a:tblGrid>
                <a:gridCol w="1602075">
                  <a:extLst>
                    <a:ext uri="{9D8B030D-6E8A-4147-A177-3AD203B41FA5}">
                      <a16:colId xmlns:a16="http://schemas.microsoft.com/office/drawing/2014/main" val="20000"/>
                    </a:ext>
                  </a:extLst>
                </a:gridCol>
                <a:gridCol w="647400">
                  <a:extLst>
                    <a:ext uri="{9D8B030D-6E8A-4147-A177-3AD203B41FA5}">
                      <a16:colId xmlns:a16="http://schemas.microsoft.com/office/drawing/2014/main" val="20001"/>
                    </a:ext>
                  </a:extLst>
                </a:gridCol>
              </a:tblGrid>
              <a:tr h="192025">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Model</a:t>
                      </a:r>
                      <a:endParaRPr sz="12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200" b="1">
                          <a:latin typeface="Calibri"/>
                          <a:ea typeface="Calibri"/>
                          <a:cs typeface="Calibri"/>
                          <a:sym typeface="Calibri"/>
                        </a:rPr>
                        <a:t>Score</a:t>
                      </a:r>
                      <a:endParaRPr sz="12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192025">
                <a:tc>
                  <a:txBody>
                    <a:bodyPr/>
                    <a:lstStyle/>
                    <a:p>
                      <a:pPr marL="0" lvl="0" indent="0" algn="l" rtl="0">
                        <a:spcBef>
                          <a:spcPts val="0"/>
                        </a:spcBef>
                        <a:spcAft>
                          <a:spcPts val="0"/>
                        </a:spcAft>
                        <a:buNone/>
                      </a:pPr>
                      <a:r>
                        <a:rPr lang="en" sz="1200">
                          <a:latin typeface="Calibri"/>
                          <a:ea typeface="Calibri"/>
                          <a:cs typeface="Calibri"/>
                          <a:sym typeface="Calibri"/>
                        </a:rPr>
                        <a:t>Google Gemini Pro</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0.37%</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92025">
                <a:tc>
                  <a:txBody>
                    <a:bodyPr/>
                    <a:lstStyle/>
                    <a:p>
                      <a:pPr marL="0" lvl="0" indent="0" algn="l" rtl="0">
                        <a:spcBef>
                          <a:spcPts val="0"/>
                        </a:spcBef>
                        <a:spcAft>
                          <a:spcPts val="0"/>
                        </a:spcAft>
                        <a:buNone/>
                      </a:pPr>
                      <a:r>
                        <a:rPr lang="en" sz="1200">
                          <a:latin typeface="Calibri"/>
                          <a:ea typeface="Calibri"/>
                          <a:cs typeface="Calibri"/>
                          <a:sym typeface="Calibri"/>
                        </a:rPr>
                        <a:t>GPT-5.4 High</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0.26%</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92025">
                <a:tc>
                  <a:txBody>
                    <a:bodyPr/>
                    <a:lstStyle/>
                    <a:p>
                      <a:pPr marL="0" lvl="0" indent="0" algn="l" rtl="0">
                        <a:spcBef>
                          <a:spcPts val="0"/>
                        </a:spcBef>
                        <a:spcAft>
                          <a:spcPts val="0"/>
                        </a:spcAft>
                        <a:buNone/>
                      </a:pPr>
                      <a:r>
                        <a:rPr lang="en" sz="1200">
                          <a:latin typeface="Calibri"/>
                          <a:ea typeface="Calibri"/>
                          <a:cs typeface="Calibri"/>
                          <a:sym typeface="Calibri"/>
                        </a:rPr>
                        <a:t>Anthropic Opus 4.6</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0.25%</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92025">
                <a:tc>
                  <a:txBody>
                    <a:bodyPr/>
                    <a:lstStyle/>
                    <a:p>
                      <a:pPr marL="0" lvl="0" indent="0" algn="l" rtl="0">
                        <a:spcBef>
                          <a:spcPts val="0"/>
                        </a:spcBef>
                        <a:spcAft>
                          <a:spcPts val="0"/>
                        </a:spcAft>
                        <a:buNone/>
                      </a:pPr>
                      <a:r>
                        <a:rPr lang="en" sz="1200">
                          <a:latin typeface="Calibri"/>
                          <a:ea typeface="Calibri"/>
                          <a:cs typeface="Calibri"/>
                          <a:sym typeface="Calibri"/>
                        </a:rPr>
                        <a:t>Grok-4.20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1200">
                          <a:latin typeface="Calibri"/>
                          <a:ea typeface="Calibri"/>
                          <a:cs typeface="Calibri"/>
                          <a:sym typeface="Calibri"/>
                        </a:rPr>
                        <a:t>0.00%</a:t>
                      </a:r>
                      <a:endParaRPr sz="12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p:nvPr/>
        </p:nvSpPr>
        <p:spPr>
          <a:xfrm>
            <a:off x="81777" y="26043"/>
            <a:ext cx="2131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LeWorldModel</a:t>
            </a:r>
            <a:endParaRPr sz="2000" b="1">
              <a:solidFill>
                <a:schemeClr val="dk1"/>
              </a:solidFill>
              <a:latin typeface="Calibri"/>
              <a:ea typeface="Calibri"/>
              <a:cs typeface="Calibri"/>
              <a:sym typeface="Calibri"/>
            </a:endParaRPr>
          </a:p>
        </p:txBody>
      </p:sp>
      <p:sp>
        <p:nvSpPr>
          <p:cNvPr id="121" name="Google Shape;121;p21"/>
          <p:cNvSpPr txBox="1"/>
          <p:nvPr/>
        </p:nvSpPr>
        <p:spPr>
          <a:xfrm>
            <a:off x="100600" y="470192"/>
            <a:ext cx="43833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LeWorldModel (LeWM) released in March 2026</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Yann LeCun and collaborators from NYU, MILA, and Brown Univ.</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learns to predict how physical environments evolve by watching raw pixel sequences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not a text/language model at all; it's a world model designed for robotics and autonomous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only 15M params in size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pre-trained encoder needed. LeWM learns end-to-end directly from raw pixels without that overhead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Compact latent space - a compressed internal representation (latent space) - where the model predicts future states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has two loss functions;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Reward-free, task-agnostic learning - the model trains on sequences of images and actions without labels or reward signals, which removes an entire class of components (value heads, reward predictors, etc.) that add parameters in typical RL systems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Despite its tiny footprint, LeWM is surprisingly capable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https://x.com/simplifyinAI/status/2036757262362955872</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It plans 48× faster than DINO-WM, a leading world model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Uses 200× fewer tokens than comparable systems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Outperforms larger models on robotics benchmarks like pushing tasks and cube manipulation</a:t>
            </a:r>
            <a:endParaRPr sz="1200" b="1">
              <a:solidFill>
                <a:srgbClr val="3C78D8"/>
              </a:solidFill>
              <a:latin typeface="Calibri"/>
              <a:ea typeface="Calibri"/>
              <a:cs typeface="Calibri"/>
              <a:sym typeface="Calibri"/>
            </a:endParaRPr>
          </a:p>
        </p:txBody>
      </p:sp>
      <p:pic>
        <p:nvPicPr>
          <p:cNvPr id="122" name="Google Shape;122;p21"/>
          <p:cNvPicPr preferRelativeResize="0"/>
          <p:nvPr/>
        </p:nvPicPr>
        <p:blipFill>
          <a:blip r:embed="rId4">
            <a:alphaModFix/>
          </a:blip>
          <a:stretch>
            <a:fillRect/>
          </a:stretch>
        </p:blipFill>
        <p:spPr>
          <a:xfrm>
            <a:off x="5346425" y="651475"/>
            <a:ext cx="3028950" cy="1514475"/>
          </a:xfrm>
          <a:prstGeom prst="rect">
            <a:avLst/>
          </a:prstGeom>
          <a:noFill/>
          <a:ln w="9525" cap="flat" cmpd="sng">
            <a:solidFill>
              <a:srgbClr val="FF0000"/>
            </a:solidFill>
            <a:prstDash val="solid"/>
            <a:round/>
            <a:headEnd type="none" w="sm" len="sm"/>
            <a:tailEnd type="none" w="sm" len="sm"/>
          </a:ln>
        </p:spPr>
      </p:pic>
      <p:sp>
        <p:nvSpPr>
          <p:cNvPr id="123" name="Google Shape;123;p21"/>
          <p:cNvSpPr txBox="1"/>
          <p:nvPr/>
        </p:nvSpPr>
        <p:spPr>
          <a:xfrm>
            <a:off x="4669250" y="2343609"/>
            <a:ext cx="4383300" cy="218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model trains in a few hours on a single consumer GPU</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Shows early signs of learning intuitive physics — understanding how objects behave — purely from video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fits squarely into LeCun's long-running argument </a:t>
            </a:r>
            <a:br>
              <a:rPr lang="en" sz="1200">
                <a:solidFill>
                  <a:schemeClr val="dk1"/>
                </a:solidFill>
                <a:latin typeface="Calibri"/>
                <a:ea typeface="Calibri"/>
                <a:cs typeface="Calibri"/>
                <a:sym typeface="Calibri"/>
              </a:rPr>
            </a:br>
            <a:r>
              <a:rPr lang="en" sz="1200" b="1">
                <a:solidFill>
                  <a:srgbClr val="FF0000"/>
                </a:solidFill>
                <a:latin typeface="Calibri"/>
                <a:ea typeface="Calibri"/>
                <a:cs typeface="Calibri"/>
                <a:sym typeface="Calibri"/>
              </a:rPr>
              <a:t>that scaling LLMs is the wrong path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He's arguing that a well-architected world model grounded in the physical world - built on his </a:t>
            </a:r>
            <a:r>
              <a:rPr lang="en" sz="1200" b="1">
                <a:solidFill>
                  <a:srgbClr val="3C78D8"/>
                </a:solidFill>
                <a:latin typeface="Calibri"/>
                <a:ea typeface="Calibri"/>
                <a:cs typeface="Calibri"/>
                <a:sym typeface="Calibri"/>
              </a:rPr>
              <a:t>JEPA (Joint Embedding Predictive Architecture) framework </a:t>
            </a:r>
            <a:r>
              <a:rPr lang="en" sz="1200">
                <a:solidFill>
                  <a:schemeClr val="dk1"/>
                </a:solidFill>
                <a:latin typeface="Calibri"/>
                <a:ea typeface="Calibri"/>
                <a:cs typeface="Calibri"/>
                <a:sym typeface="Calibri"/>
              </a:rPr>
              <a:t>- can be far more efficient than brute-force scaling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His new startup AMI Labs has raised over $1 billion</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betting on this direction. </a:t>
            </a:r>
            <a:br>
              <a:rPr lang="en" sz="1200">
                <a:solidFill>
                  <a:schemeClr val="dk1"/>
                </a:solidFill>
                <a:latin typeface="Calibri"/>
                <a:ea typeface="Calibri"/>
                <a:cs typeface="Calibri"/>
                <a:sym typeface="Calibri"/>
              </a:rPr>
            </a:br>
            <a:r>
              <a:rPr lang="en" sz="900" u="sng">
                <a:solidFill>
                  <a:schemeClr val="hlink"/>
                </a:solidFill>
                <a:latin typeface="Calibri"/>
                <a:ea typeface="Calibri"/>
                <a:cs typeface="Calibri"/>
                <a:sym typeface="Calibri"/>
                <a:hlinkClick r:id="rId5"/>
              </a:rPr>
              <a:t>https://themesis.com/2026/01/07/world-models-five-competing-approaches/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p:nvPr/>
        </p:nvSpPr>
        <p:spPr>
          <a:xfrm>
            <a:off x="81773" y="26048"/>
            <a:ext cx="438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Was Leaked !!</a:t>
            </a:r>
            <a:endParaRPr sz="2000" b="1">
              <a:solidFill>
                <a:schemeClr val="dk1"/>
              </a:solidFill>
              <a:latin typeface="Calibri"/>
              <a:ea typeface="Calibri"/>
              <a:cs typeface="Calibri"/>
              <a:sym typeface="Calibri"/>
            </a:endParaRPr>
          </a:p>
        </p:txBody>
      </p:sp>
      <p:sp>
        <p:nvSpPr>
          <p:cNvPr id="129" name="Google Shape;129;p22"/>
          <p:cNvSpPr txBox="1"/>
          <p:nvPr/>
        </p:nvSpPr>
        <p:spPr>
          <a:xfrm>
            <a:off x="100600" y="444050"/>
            <a:ext cx="6357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Code of Claude Code Was Leaked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leak came from a map file in an npm registry, exposed 0.5 Mln lines of source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code has already been rewritten in Python 7 Rust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code revealed that Claude Code is essentially a complex prompt system with 11 processing steps; Include anti-distillation poison pills to confuse competitors, "undercover mode" to hide AI involvement in outputs, regex-based frustration detection, and unreleased features like "Buddy" companion mode and background agent capabilities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Claude.MD</a:t>
            </a:r>
            <a:r>
              <a:rPr lang="en" sz="1200">
                <a:solidFill>
                  <a:schemeClr val="dk1"/>
                </a:solidFill>
                <a:latin typeface="Calibri"/>
                <a:ea typeface="Calibri"/>
                <a:cs typeface="Calibri"/>
                <a:sym typeface="Calibri"/>
              </a:rPr>
              <a:t> - up to 40K characters loaded into every prompt; Sub-agents, Parallelism, sharing prompt caches; Five distinct methods for summarizing or truncating conversation history to maintain context accuracy; Permission Modes - use of an "auto" mode that employs an LLM classifier to predict and approve 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https://www.youtube.com/watch?v=mBHRPeg8zPU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https://www.youtube.com/watch?v=dYG8JxtSgmM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30" name="Google Shape;130;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533625" y="842450"/>
            <a:ext cx="2474576" cy="1404125"/>
          </a:xfrm>
          <a:prstGeom prst="rect">
            <a:avLst/>
          </a:prstGeom>
          <a:noFill/>
          <a:ln w="9525" cap="flat" cmpd="sng">
            <a:solidFill>
              <a:srgbClr val="FF0000"/>
            </a:solidFill>
            <a:prstDash val="solid"/>
            <a:round/>
            <a:headEnd type="none" w="sm" len="sm"/>
            <a:tailEnd type="none" w="sm" len="sm"/>
          </a:ln>
        </p:spPr>
      </p:pic>
      <p:sp>
        <p:nvSpPr>
          <p:cNvPr id="131" name="Google Shape;131;p22"/>
          <p:cNvSpPr txBox="1"/>
          <p:nvPr/>
        </p:nvSpPr>
        <p:spPr>
          <a:xfrm>
            <a:off x="100600" y="2955150"/>
            <a:ext cx="63573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Conway persistent Claude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Being tested internally by Anthropic - a dedicated sidebar in the Claude interface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supports webhook integration, allowing external services to trigger the agent without user input, enabling true event-driven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Conway also introduces a `.cnw.zip` extension format, creating a developer ecosystem similar to an app store for custom tools and UI components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Additionally, it integrates with Claude Code and supports direct browser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Conway represents Anthropic's shift from positioning Claude as a conversational tool toward a persistent, autonomous agent capable of complex, multi-step task execution</a:t>
            </a:r>
            <a:endParaRPr sz="1200">
              <a:solidFill>
                <a:schemeClr val="dk1"/>
              </a:solidFill>
              <a:latin typeface="Calibri"/>
              <a:ea typeface="Calibri"/>
              <a:cs typeface="Calibri"/>
              <a:sym typeface="Calibri"/>
            </a:endParaRPr>
          </a:p>
        </p:txBody>
      </p:sp>
      <p:pic>
        <p:nvPicPr>
          <p:cNvPr id="132" name="Google Shape;132;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533625" y="3102713"/>
            <a:ext cx="2474575" cy="138576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3"/>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6.54K subscribers, 277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38" name="Google Shape;138;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37534" y="74525"/>
            <a:ext cx="3269825" cy="49944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p:nvPr/>
        </p:nvSpPr>
        <p:spPr>
          <a:xfrm>
            <a:off x="81773" y="26048"/>
            <a:ext cx="438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EGGROLL Training Algorithm</a:t>
            </a:r>
            <a:endParaRPr sz="2000" b="1">
              <a:solidFill>
                <a:schemeClr val="dk1"/>
              </a:solidFill>
              <a:latin typeface="Calibri"/>
              <a:ea typeface="Calibri"/>
              <a:cs typeface="Calibri"/>
              <a:sym typeface="Calibri"/>
            </a:endParaRPr>
          </a:p>
        </p:txBody>
      </p:sp>
      <p:sp>
        <p:nvSpPr>
          <p:cNvPr id="144" name="Google Shape;144;p24"/>
          <p:cNvSpPr txBox="1"/>
          <p:nvPr/>
        </p:nvSpPr>
        <p:spPr>
          <a:xfrm>
            <a:off x="81775" y="513500"/>
            <a:ext cx="49932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EGGROLL (Evolution Guided GeneRal Optimisation via Low-rank Learning)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new ML training algorithm that replaces gradient descent with a variant of Evolution Strategies (ES)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https://eshyperscale.github.io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EGGROLL randomly perturbs model weights and keeps changes that improve performance, no backpropagation needed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key innovation is using low-rank (LoRA-style) perturbations, which makes sampling a million random model variants nearly as fast as running a single inference pass - roughly 100x faster than naive Evolution Strategies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Because training never needs to differentiate through operations, models can be trained natively in int8 integers from scratch, eliminating the need for post-training quantization entirely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opens the door to training non-differentiable architectures like discrete memory systems and neurosymbolic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Results are promising but still early-stage at small model sizes</a:t>
            </a:r>
            <a:endParaRPr sz="1200">
              <a:solidFill>
                <a:schemeClr val="dk1"/>
              </a:solidFill>
              <a:latin typeface="Calibri"/>
              <a:ea typeface="Calibri"/>
              <a:cs typeface="Calibri"/>
              <a:sym typeface="Calibri"/>
            </a:endParaRPr>
          </a:p>
        </p:txBody>
      </p:sp>
      <p:pic>
        <p:nvPicPr>
          <p:cNvPr id="145" name="Google Shape;145;p24"/>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512850" y="513500"/>
            <a:ext cx="2051925" cy="3056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p:nvPr/>
        </p:nvSpPr>
        <p:spPr>
          <a:xfrm>
            <a:off x="81773" y="26048"/>
            <a:ext cx="4383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1" name="Google Shape;151;p25"/>
          <p:cNvSpPr txBox="1"/>
          <p:nvPr/>
        </p:nvSpPr>
        <p:spPr>
          <a:xfrm>
            <a:off x="180100" y="634725"/>
            <a:ext cx="4383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AutoClaw by </a:t>
            </a:r>
            <a:r>
              <a:rPr lang="en" sz="1200" b="1">
                <a:solidFill>
                  <a:srgbClr val="FF0000"/>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Z.ai</a:t>
            </a:r>
            <a:r>
              <a:rPr lang="en" sz="1200" b="1">
                <a:solidFill>
                  <a:srgbClr val="FF0000"/>
                </a:solidFill>
                <a:latin typeface="Calibri"/>
                <a:ea typeface="Calibri"/>
                <a:cs typeface="Calibri"/>
                <a:sym typeface="Calibri"/>
              </a:rPr>
              <a:t>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"one-click" local AI agent</a:t>
            </a:r>
            <a:endParaRPr sz="1200" b="1">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Designed </a:t>
            </a:r>
            <a:r>
              <a:rPr lang="en" sz="1200" b="1">
                <a:solidFill>
                  <a:schemeClr val="dk1"/>
                </a:solidFill>
                <a:latin typeface="Calibri"/>
                <a:ea typeface="Calibri"/>
                <a:cs typeface="Calibri"/>
                <a:sym typeface="Calibri"/>
              </a:rPr>
              <a:t>for non-technical users</a:t>
            </a:r>
            <a:r>
              <a:rPr lang="en" sz="1200">
                <a:solidFill>
                  <a:schemeClr val="dk1"/>
                </a:solidFill>
                <a:latin typeface="Calibri"/>
                <a:ea typeface="Calibri"/>
                <a:cs typeface="Calibri"/>
                <a:sym typeface="Calibri"/>
              </a:rPr>
              <a:t>, it simplifies the setup of the open-source OpenClaw framework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a:t>
            </a:r>
            <a:r>
              <a:rPr lang="en" sz="1200" b="1">
                <a:solidFill>
                  <a:srgbClr val="3C78D8"/>
                </a:solidFill>
                <a:latin typeface="Calibri"/>
                <a:ea typeface="Calibri"/>
                <a:cs typeface="Calibri"/>
                <a:sym typeface="Calibri"/>
              </a:rPr>
              <a:t>GLM-5 Turbo locally </a:t>
            </a:r>
            <a:r>
              <a:rPr lang="en" sz="1200">
                <a:solidFill>
                  <a:schemeClr val="dk1"/>
                </a:solidFill>
                <a:latin typeface="Calibri"/>
                <a:ea typeface="Calibri"/>
                <a:cs typeface="Calibri"/>
                <a:sym typeface="Calibri"/>
              </a:rPr>
              <a:t>on device (744B/40B MoE) for privacy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Ability to automate Chrome, perform deep research, and plan content campaigns autonomously, effectively turning a standard PC into a 24/7 AI worker</a:t>
            </a:r>
            <a:endParaRPr sz="1200">
              <a:solidFill>
                <a:schemeClr val="dk1"/>
              </a:solidFill>
              <a:latin typeface="Calibri"/>
              <a:ea typeface="Calibri"/>
              <a:cs typeface="Calibri"/>
              <a:sym typeface="Calibri"/>
            </a:endParaRPr>
          </a:p>
        </p:txBody>
      </p:sp>
      <p:sp>
        <p:nvSpPr>
          <p:cNvPr id="152" name="Google Shape;152;p25"/>
          <p:cNvSpPr txBox="1"/>
          <p:nvPr/>
        </p:nvSpPr>
        <p:spPr>
          <a:xfrm>
            <a:off x="180100" y="2455925"/>
            <a:ext cx="4383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 3.6 Plus Preview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OpenRouter via API; 179 Bln params; Hybrid architecture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1M in, 64K out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Excels at agentic coding, front-end development, and multi-step reasoning, and is significantly faster than Qwen 3.5 Plus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supports native tool use, function calling, and always-on chain-of-thought reasoning</a:t>
            </a:r>
            <a:endParaRPr sz="1200">
              <a:solidFill>
                <a:schemeClr val="dk1"/>
              </a:solidFill>
              <a:latin typeface="Calibri"/>
              <a:ea typeface="Calibri"/>
              <a:cs typeface="Calibri"/>
              <a:sym typeface="Calibri"/>
            </a:endParaRPr>
          </a:p>
        </p:txBody>
      </p:sp>
      <p:pic>
        <p:nvPicPr>
          <p:cNvPr id="153" name="Google Shape;153;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64850" y="782200"/>
            <a:ext cx="2205050" cy="1015325"/>
          </a:xfrm>
          <a:prstGeom prst="rect">
            <a:avLst/>
          </a:prstGeom>
          <a:noFill/>
          <a:ln w="9525" cap="flat" cmpd="sng">
            <a:solidFill>
              <a:srgbClr val="FF0000"/>
            </a:solidFill>
            <a:prstDash val="solid"/>
            <a:round/>
            <a:headEnd type="none" w="sm" len="sm"/>
            <a:tailEnd type="none" w="sm" len="sm"/>
          </a:ln>
        </p:spPr>
      </p:pic>
      <p:pic>
        <p:nvPicPr>
          <p:cNvPr id="154" name="Google Shape;154;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91650" y="2511000"/>
            <a:ext cx="2927310" cy="1015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6"/>
          <p:cNvSpPr txBox="1"/>
          <p:nvPr/>
        </p:nvSpPr>
        <p:spPr>
          <a:xfrm>
            <a:off x="81774" y="26050"/>
            <a:ext cx="2818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Code Updates</a:t>
            </a:r>
            <a:endParaRPr sz="2000" b="1">
              <a:solidFill>
                <a:schemeClr val="dk1"/>
              </a:solidFill>
              <a:latin typeface="Calibri"/>
              <a:ea typeface="Calibri"/>
              <a:cs typeface="Calibri"/>
              <a:sym typeface="Calibri"/>
            </a:endParaRPr>
          </a:p>
        </p:txBody>
      </p:sp>
      <p:sp>
        <p:nvSpPr>
          <p:cNvPr id="160" name="Google Shape;160;p26"/>
          <p:cNvSpPr txBox="1"/>
          <p:nvPr/>
        </p:nvSpPr>
        <p:spPr>
          <a:xfrm>
            <a:off x="100600" y="413825"/>
            <a:ext cx="52860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v2.1.89 - April 1, 2026 - multiple improvements and fixes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v2.1.88 - March 31, 2026 - large stability release covering session reliability, Windows, voice, and rendering; On March 31, the Claude Code v2.1.88 source code was accidentally leaked via an npm package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v2.1.87 -  March 29 - fix Cowork Dispatch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v2.1.86 - March 27 - new session header in API, token efficiency, highlighting memory file names, VSCode fixes, bug fixes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v2.1.85 - March 26 - conditional hooks, Timestamp markers in transcripts, MCP OAuth updates, Organization policy enforcement, PreToolUse hooks update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v2.1.84 - March 26 - PowerShell tool, TaskCreated` hook, Idle-return prompt after 75+ min, token display fix, voice push-to-talk fix, Startup speed improved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v2.1.83 - March 25 - enterprise policy, hooks, transcript search, and stability;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v2.1.82 - March 23 - "Computer Use" </a:t>
            </a:r>
            <a:r>
              <a:rPr lang="en" sz="1200" b="1">
                <a:solidFill>
                  <a:srgbClr val="3C78D8"/>
                </a:solidFill>
                <a:latin typeface="Calibri"/>
                <a:ea typeface="Calibri"/>
                <a:cs typeface="Calibri"/>
                <a:sym typeface="Calibri"/>
              </a:rPr>
              <a:t>launched as a research preview for Pro and Max plan subscribers</a:t>
            </a:r>
            <a:r>
              <a:rPr lang="en" sz="1200" b="1">
                <a:solidFill>
                  <a:srgbClr val="FF0000"/>
                </a:solidFill>
                <a:latin typeface="Calibri"/>
                <a:ea typeface="Calibri"/>
                <a:cs typeface="Calibri"/>
                <a:sym typeface="Calibri"/>
              </a:rPr>
              <a:t>. </a:t>
            </a:r>
            <a:r>
              <a:rPr lang="en" sz="1200" b="1">
                <a:solidFill>
                  <a:srgbClr val="6AA84F"/>
                </a:solidFill>
                <a:latin typeface="Calibri"/>
                <a:ea typeface="Calibri"/>
                <a:cs typeface="Calibri"/>
                <a:sym typeface="Calibri"/>
              </a:rPr>
              <a:t>Claude can now point, click, type, open files, and navigate your screen directly from Claude Code; (Settings → General → Computer use toggle)</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v2.1.81 - March 20 - flags, fixes, session resume fix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v2.1.80 - March 19 - rate_limits, settings, effort, fixes, reduced memory usage in some cases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v2.1.79 - March 18 - console flag, fixes, remote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v2.1.78 - March 17 - StopFailure` hook event, variable for plugin persistent state; improved streaming; fixes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v2.1.77 - March 17 - increased output token limit; misc updates and fixes</a:t>
            </a:r>
            <a:endParaRPr sz="1200">
              <a:solidFill>
                <a:schemeClr val="dk1"/>
              </a:solidFill>
              <a:latin typeface="Calibri"/>
              <a:ea typeface="Calibri"/>
              <a:cs typeface="Calibri"/>
              <a:sym typeface="Calibri"/>
            </a:endParaRPr>
          </a:p>
        </p:txBody>
      </p:sp>
      <p:pic>
        <p:nvPicPr>
          <p:cNvPr id="161" name="Google Shape;161;p2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471800" y="62529"/>
            <a:ext cx="1350528" cy="756300"/>
          </a:xfrm>
          <a:prstGeom prst="rect">
            <a:avLst/>
          </a:prstGeom>
          <a:noFill/>
          <a:ln w="9525" cap="flat" cmpd="sng">
            <a:solidFill>
              <a:srgbClr val="FF0000"/>
            </a:solidFill>
            <a:prstDash val="solid"/>
            <a:round/>
            <a:headEnd type="none" w="sm" len="sm"/>
            <a:tailEnd type="none" w="sm" len="sm"/>
          </a:ln>
        </p:spPr>
      </p:pic>
      <p:sp>
        <p:nvSpPr>
          <p:cNvPr id="162" name="Google Shape;162;p26"/>
          <p:cNvSpPr txBox="1"/>
          <p:nvPr/>
        </p:nvSpPr>
        <p:spPr>
          <a:xfrm>
            <a:off x="5471800" y="881478"/>
            <a:ext cx="35739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Some new features: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teleport for moving sessions between devices; remote control for accessing local sessions from other devices; output style customization; session forking with /branch ; Git worktrees support; adjustable effort levels for reasoning time; dynamic shell command embedding in prompts</a:t>
            </a:r>
            <a:endParaRPr sz="1200">
              <a:solidFill>
                <a:schemeClr val="dk1"/>
              </a:solidFill>
              <a:latin typeface="Calibri"/>
              <a:ea typeface="Calibri"/>
              <a:cs typeface="Calibri"/>
              <a:sym typeface="Calibri"/>
            </a:endParaRPr>
          </a:p>
        </p:txBody>
      </p:sp>
      <p:sp>
        <p:nvSpPr>
          <p:cNvPr id="163" name="Google Shape;163;p26"/>
          <p:cNvSpPr txBox="1"/>
          <p:nvPr/>
        </p:nvSpPr>
        <p:spPr>
          <a:xfrm>
            <a:off x="5471800" y="2268919"/>
            <a:ext cx="3573900" cy="274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12 New Claude Code Settings: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https://www.youtube.com/watch?v=PRFpkPR3H7U</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Lowering the auto-compact threshold, increasing terminal output limits beyond 30k characters, configuring path-specific rules and file reading limits, adjusting data retention for privacy, using hooks to enforce workflows and prevent dangerous commands, enabling sandbox mode for security isolation, setting up sub-agent configurations for collaborative workflows, creating claude.md files for project instructions, customizing output styles, using effort levels for different task complexity, leveraging the BTW feature for mid-response context additions, and understanding permission modes including bypass flags for automation</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7"/>
          <p:cNvSpPr txBox="1"/>
          <p:nvPr/>
        </p:nvSpPr>
        <p:spPr>
          <a:xfrm>
            <a:off x="81779" y="40050"/>
            <a:ext cx="4246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 TurboQuant</a:t>
            </a:r>
            <a:endParaRPr sz="2000" b="1">
              <a:solidFill>
                <a:schemeClr val="dk1"/>
              </a:solidFill>
              <a:latin typeface="Calibri"/>
              <a:ea typeface="Calibri"/>
              <a:cs typeface="Calibri"/>
              <a:sym typeface="Calibri"/>
            </a:endParaRPr>
          </a:p>
        </p:txBody>
      </p:sp>
      <p:sp>
        <p:nvSpPr>
          <p:cNvPr id="169" name="Google Shape;169;p27"/>
          <p:cNvSpPr txBox="1"/>
          <p:nvPr/>
        </p:nvSpPr>
        <p:spPr>
          <a:xfrm>
            <a:off x="81775" y="438450"/>
            <a:ext cx="49629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Research published TurboQuant</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a new vector compression algorithm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It drastically reduce the memory required for running LLMs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Up to 6x memory reduction for KV cache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Up to 8x speedup of attention layers, zero accuracy loss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6AA84F"/>
              </a:buClr>
              <a:buSzPts val="1200"/>
              <a:buFont typeface="Calibri"/>
              <a:buChar char="●"/>
            </a:pPr>
            <a:r>
              <a:rPr lang="en" sz="1200" b="1">
                <a:solidFill>
                  <a:srgbClr val="6AA84F"/>
                </a:solidFill>
                <a:latin typeface="Calibri"/>
                <a:ea typeface="Calibri"/>
                <a:cs typeface="Calibri"/>
                <a:sym typeface="Calibri"/>
              </a:rPr>
              <a:t>Quant — short for quantization, compressing high-dimensional numerical vectors into a smaller bit representation</a:t>
            </a:r>
            <a:endParaRPr sz="12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TurboQuant compresses KV cache from 32-bit down to just 3–4 bits, achieving up to 6x memory reduction and 8x faster attention layers with no accuracy loss and no retraining required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combines two techniques: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PolarQuant - reorganizes vector geometry to skip costly normalization</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QJL - corrects remaining errors using a single sign bit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algorithm also accelerates vector search beyond LLMs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News of the breakthrough sent shares of memory chip makers Samsung, SK Hynix, and Micron lower on reduced demand fears.</a:t>
            </a:r>
            <a:endParaRPr sz="1200">
              <a:solidFill>
                <a:schemeClr val="dk1"/>
              </a:solidFill>
              <a:latin typeface="Calibri"/>
              <a:ea typeface="Calibri"/>
              <a:cs typeface="Calibri"/>
              <a:sym typeface="Calibri"/>
            </a:endParaRPr>
          </a:p>
        </p:txBody>
      </p:sp>
      <p:pic>
        <p:nvPicPr>
          <p:cNvPr id="170" name="Google Shape;170;p2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143100" y="174667"/>
            <a:ext cx="1772996" cy="992875"/>
          </a:xfrm>
          <a:prstGeom prst="rect">
            <a:avLst/>
          </a:prstGeom>
          <a:noFill/>
          <a:ln w="9525" cap="flat" cmpd="sng">
            <a:solidFill>
              <a:srgbClr val="FF0000"/>
            </a:solidFill>
            <a:prstDash val="solid"/>
            <a:round/>
            <a:headEnd type="none" w="sm" len="sm"/>
            <a:tailEnd type="none" w="sm" len="sm"/>
          </a:ln>
        </p:spPr>
      </p:pic>
      <p:sp>
        <p:nvSpPr>
          <p:cNvPr id="171" name="Google Shape;171;p27"/>
          <p:cNvSpPr txBox="1"/>
          <p:nvPr/>
        </p:nvSpPr>
        <p:spPr>
          <a:xfrm>
            <a:off x="81775" y="3610759"/>
            <a:ext cx="36420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TurboQuant+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small team wrote their own version which was significantly faster than Google claimed (so they optimized beyond what google did?) in less than a week using Claude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https://github.com/TheTom/turboquant_plus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2" name="Google Shape;172;p2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833273" y="3677712"/>
            <a:ext cx="1985724" cy="992875"/>
          </a:xfrm>
          <a:prstGeom prst="rect">
            <a:avLst/>
          </a:prstGeom>
          <a:noFill/>
          <a:ln w="9525" cap="flat" cmpd="sng">
            <a:solidFill>
              <a:srgbClr val="FF0000"/>
            </a:solidFill>
            <a:prstDash val="solid"/>
            <a:round/>
            <a:headEnd type="none" w="sm" len="sm"/>
            <a:tailEnd type="none" w="sm" len="sm"/>
          </a:ln>
        </p:spPr>
      </p:pic>
      <p:pic>
        <p:nvPicPr>
          <p:cNvPr id="173" name="Google Shape;173;p2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091646" y="141696"/>
            <a:ext cx="2927900" cy="4391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8"/>
          <p:cNvSpPr txBox="1"/>
          <p:nvPr/>
        </p:nvSpPr>
        <p:spPr>
          <a:xfrm>
            <a:off x="81779" y="40050"/>
            <a:ext cx="4246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79" name="Google Shape;179;p28"/>
          <p:cNvSpPr txBox="1"/>
          <p:nvPr/>
        </p:nvSpPr>
        <p:spPr>
          <a:xfrm>
            <a:off x="100600" y="508652"/>
            <a:ext cx="4392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OpenAI Spud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Spud is OpenAI's internal codename</a:t>
            </a:r>
            <a:r>
              <a:rPr lang="en" sz="1200">
                <a:solidFill>
                  <a:schemeClr val="dk1"/>
                </a:solidFill>
                <a:latin typeface="Calibri"/>
                <a:ea typeface="Calibri"/>
                <a:cs typeface="Calibri"/>
                <a:sym typeface="Calibri"/>
              </a:rPr>
              <a:t> for their next major AI model, which has completed pre-training (as of March 24th)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Native multimodality (text, audio, images)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Rebuilt audio architecture - more natural, human-like voice experience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Delivered via a unified app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AGI deployment focus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"spud" meaning:  potato, potato digging tool</a:t>
            </a:r>
            <a:endParaRPr sz="1200">
              <a:solidFill>
                <a:schemeClr val="dk1"/>
              </a:solidFill>
              <a:latin typeface="Calibri"/>
              <a:ea typeface="Calibri"/>
              <a:cs typeface="Calibri"/>
              <a:sym typeface="Calibri"/>
            </a:endParaRPr>
          </a:p>
        </p:txBody>
      </p:sp>
      <p:pic>
        <p:nvPicPr>
          <p:cNvPr id="180" name="Google Shape;180;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58975" y="441848"/>
            <a:ext cx="2341597" cy="1311300"/>
          </a:xfrm>
          <a:prstGeom prst="rect">
            <a:avLst/>
          </a:prstGeom>
          <a:noFill/>
          <a:ln w="9525" cap="flat" cmpd="sng">
            <a:solidFill>
              <a:srgbClr val="FF0000"/>
            </a:solidFill>
            <a:prstDash val="solid"/>
            <a:round/>
            <a:headEnd type="none" w="sm" len="sm"/>
            <a:tailEnd type="none" w="sm" len="sm"/>
          </a:ln>
        </p:spPr>
      </p:pic>
      <p:sp>
        <p:nvSpPr>
          <p:cNvPr id="181" name="Google Shape;181;p28"/>
          <p:cNvSpPr txBox="1"/>
          <p:nvPr/>
        </p:nvSpPr>
        <p:spPr>
          <a:xfrm>
            <a:off x="81777" y="2642700"/>
            <a:ext cx="56841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Five open-source repos that enhance Claude Code</a:t>
            </a:r>
            <a:endParaRPr sz="1200" b="1">
              <a:solidFill>
                <a:srgbClr val="FF0000"/>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Auto Research (by Andrej Karpathy)</a:t>
            </a:r>
            <a:r>
              <a:rPr lang="en" sz="1200">
                <a:solidFill>
                  <a:schemeClr val="dk1"/>
                </a:solidFill>
                <a:latin typeface="Calibri"/>
                <a:ea typeface="Calibri"/>
                <a:cs typeface="Calibri"/>
                <a:sym typeface="Calibri"/>
              </a:rPr>
              <a:t> - allows Claude Code to self-improve through automated trial and error. Shopify’s CEO used it to make an internal model 19% more efficient in just 8 hours</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OpenSpace (by HDUS)</a:t>
            </a:r>
            <a:r>
              <a:rPr lang="en" sz="1200">
                <a:solidFill>
                  <a:schemeClr val="dk1"/>
                </a:solidFill>
                <a:latin typeface="Calibri"/>
                <a:ea typeface="Calibri"/>
                <a:cs typeface="Calibri"/>
                <a:sym typeface="Calibri"/>
              </a:rPr>
              <a:t> - MCP server to monitor and evolve AI skills based on performance (broken, sub-optimal, refined)</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CLI Anything</a:t>
            </a:r>
            <a:r>
              <a:rPr lang="en" sz="1200">
                <a:solidFill>
                  <a:schemeClr val="dk1"/>
                </a:solidFill>
                <a:latin typeface="Calibri"/>
                <a:ea typeface="Calibri"/>
                <a:cs typeface="Calibri"/>
                <a:sym typeface="Calibri"/>
              </a:rPr>
              <a:t> - convert any open-source project into a Command Line Interface (CLI) tool that Claude Code can use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Claude Peers</a:t>
            </a:r>
            <a:r>
              <a:rPr lang="en" sz="1200">
                <a:solidFill>
                  <a:schemeClr val="dk1"/>
                </a:solidFill>
                <a:latin typeface="Calibri"/>
                <a:ea typeface="Calibri"/>
                <a:cs typeface="Calibri"/>
                <a:sym typeface="Calibri"/>
              </a:rPr>
              <a:t> - enables multiple Claude Code terminal instances to communicate with each other using an SQLite database</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Google Workspace CLI </a:t>
            </a:r>
            <a:r>
              <a:rPr lang="en" sz="1200">
                <a:solidFill>
                  <a:schemeClr val="dk1"/>
                </a:solidFill>
                <a:latin typeface="Calibri"/>
                <a:ea typeface="Calibri"/>
                <a:cs typeface="Calibri"/>
                <a:sym typeface="Calibri"/>
              </a:rPr>
              <a:t>- grants Claude Code access to your Google Suite, including Drive, Docs, and Gmail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https://www.youtube.com/watch?v=6SnFH43qPAw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82" name="Google Shape;182;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928146" y="3096927"/>
            <a:ext cx="2341600" cy="1233366"/>
          </a:xfrm>
          <a:prstGeom prst="rect">
            <a:avLst/>
          </a:prstGeom>
          <a:noFill/>
          <a:ln w="9525" cap="flat" cmpd="sng">
            <a:solidFill>
              <a:srgbClr val="FF0000"/>
            </a:solidFill>
            <a:prstDash val="solid"/>
            <a:round/>
            <a:headEnd type="none" w="sm" len="sm"/>
            <a:tailEnd type="none" w="sm" len="sm"/>
          </a:ln>
        </p:spPr>
      </p:pic>
      <p:pic>
        <p:nvPicPr>
          <p:cNvPr id="183" name="Google Shape;183;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152975" y="441850"/>
            <a:ext cx="1311299" cy="13113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p:nvPr/>
        </p:nvSpPr>
        <p:spPr>
          <a:xfrm>
            <a:off x="81779" y="40050"/>
            <a:ext cx="4246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Alibaba Accio Work</a:t>
            </a:r>
            <a:endParaRPr sz="2000" b="1">
              <a:solidFill>
                <a:schemeClr val="dk1"/>
              </a:solidFill>
              <a:latin typeface="Calibri"/>
              <a:ea typeface="Calibri"/>
              <a:cs typeface="Calibri"/>
              <a:sym typeface="Calibri"/>
            </a:endParaRPr>
          </a:p>
        </p:txBody>
      </p:sp>
      <p:sp>
        <p:nvSpPr>
          <p:cNvPr id="189" name="Google Shape;189;p29"/>
          <p:cNvSpPr txBox="1"/>
          <p:nvPr/>
        </p:nvSpPr>
        <p:spPr>
          <a:xfrm>
            <a:off x="100600" y="413825"/>
            <a:ext cx="4392600" cy="375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Alibaba Accio 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Enterprise-grade, no-code AI agent platform</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Provides a coordinated "squad" of specialized agents, covering market analysis, product sourcing, store design, marketing, and logistics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agents can set up a fully operational online store in under 30 minutes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Powered by Alibaba's proprietary ecosystem and real-time trade data, it minimizes AI hallucinations and supports autonomous supplier negotiations, VAT compliance across 100+ markets, and social media ad placement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High-stakes actions require explicit user approval for security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platform targets solo founders and small and medium size businesses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"Accio" is a Latin verb meaning "I call," "I summon," or "I fetch".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In Harry Potter series "Accio" is the incantation for the Summoning Charm — a spell that magically pulls an object toward the caster from a distance</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https://www.accio.com</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https://www.prnewswire.com/news-releases/alibaba-international-launches-accio-work-an-enterprise-ai-agent-for-global-businesses-302721693.html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90" name="Google Shape;190;p29"/>
          <p:cNvSpPr txBox="1"/>
          <p:nvPr/>
        </p:nvSpPr>
        <p:spPr>
          <a:xfrm>
            <a:off x="4667125" y="2128314"/>
            <a:ext cx="43926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Ollama Pi - lightweight coding agent </a:t>
            </a:r>
            <a:r>
              <a:rPr lang="en" sz="1200">
                <a:solidFill>
                  <a:schemeClr val="dk1"/>
                </a:solidFill>
                <a:latin typeface="Calibri"/>
                <a:ea typeface="Calibri"/>
                <a:cs typeface="Calibri"/>
                <a:sym typeface="Calibri"/>
              </a:rPr>
              <a:t>that powers OpenClaw</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Pi is designed as a minimal, flexible coding harness you can adapt to your own workflows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It comes with built-in primitives and supports extensions, skills, prompt templates, and themes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To get started, download Ollama and run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a:t>
            </a:r>
            <a:r>
              <a:rPr lang="en" sz="1000" b="1">
                <a:solidFill>
                  <a:srgbClr val="3C78D8"/>
                </a:solidFill>
                <a:latin typeface="Roboto Mono"/>
                <a:ea typeface="Roboto Mono"/>
                <a:cs typeface="Roboto Mono"/>
                <a:sym typeface="Roboto Mono"/>
              </a:rPr>
              <a:t>ollama launch pi --model kimi-k2.5:cloud</a:t>
            </a:r>
            <a:endParaRPr sz="10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Pi supports subagents for complex tasks like deep research or large codebase refactoring</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includes an autoresearch extension inspired by Andrej Karpathy that runs autonomous optimization loops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Pi works with both local models on your machine and larger cloud-hosted models via Ollama's platform</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Extended cloud usage requires an Ollama Pro or Max subscription</a:t>
            </a:r>
            <a:endParaRPr sz="900">
              <a:solidFill>
                <a:schemeClr val="dk1"/>
              </a:solidFill>
              <a:latin typeface="Calibri"/>
              <a:ea typeface="Calibri"/>
              <a:cs typeface="Calibri"/>
              <a:sym typeface="Calibri"/>
            </a:endParaRPr>
          </a:p>
        </p:txBody>
      </p:sp>
      <p:pic>
        <p:nvPicPr>
          <p:cNvPr id="191" name="Google Shape;191;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858400" y="4219900"/>
            <a:ext cx="2489550" cy="556250"/>
          </a:xfrm>
          <a:prstGeom prst="rect">
            <a:avLst/>
          </a:prstGeom>
          <a:noFill/>
          <a:ln w="9525" cap="flat" cmpd="sng">
            <a:solidFill>
              <a:srgbClr val="FF0000"/>
            </a:solidFill>
            <a:prstDash val="solid"/>
            <a:round/>
            <a:headEnd type="none" w="sm" len="sm"/>
            <a:tailEnd type="none" w="sm" len="sm"/>
          </a:ln>
        </p:spPr>
      </p:pic>
      <p:pic>
        <p:nvPicPr>
          <p:cNvPr id="192" name="Google Shape;192;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435078" y="1455151"/>
            <a:ext cx="3117596" cy="556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p:nvPr/>
        </p:nvSpPr>
        <p:spPr>
          <a:xfrm>
            <a:off x="81776" y="40050"/>
            <a:ext cx="3395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EVO 2 model for DNA analysis</a:t>
            </a:r>
            <a:endParaRPr sz="2000" b="1">
              <a:solidFill>
                <a:schemeClr val="dk1"/>
              </a:solidFill>
              <a:latin typeface="Calibri"/>
              <a:ea typeface="Calibri"/>
              <a:cs typeface="Calibri"/>
              <a:sym typeface="Calibri"/>
            </a:endParaRPr>
          </a:p>
        </p:txBody>
      </p:sp>
      <p:sp>
        <p:nvSpPr>
          <p:cNvPr id="198" name="Google Shape;198;p30"/>
          <p:cNvSpPr txBox="1"/>
          <p:nvPr/>
        </p:nvSpPr>
        <p:spPr>
          <a:xfrm>
            <a:off x="100600" y="413825"/>
            <a:ext cx="43926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EVO 2 model for DNA analysis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Stanford and the Arc Institute - </a:t>
            </a:r>
            <a:r>
              <a:rPr lang="en" sz="1200" u="sng">
                <a:solidFill>
                  <a:schemeClr val="hlink"/>
                </a:solidFill>
                <a:latin typeface="Calibri"/>
                <a:ea typeface="Calibri"/>
                <a:cs typeface="Calibri"/>
                <a:sym typeface="Calibri"/>
                <a:hlinkClick r:id="rId3"/>
              </a:rPr>
              <a:t>https://arcinstitute.org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Trained on 9 trillion DNA base pairs from millions of species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works as a linguistic model for genetics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Massive context window allows it to process 1 million DNA letters simultaneously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Remarkably, without medical training, EVO 2 identified cancer-linked mutations in BRCA genes with clinical-level accuracy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also "write" original, functional DNA sequences, such as mitochondrial genomes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represents a "ChatGPT moment" for biology, moving from simple pattern matching to a deep understanding of evolution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offers transformative potential for personalized medicine, sustainable agriculture, and synthetic biology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https://www.youtube.com/watch?v=twsWm11W9Lw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99" name="Google Shape;199;p30"/>
          <p:cNvSpPr txBox="1"/>
          <p:nvPr/>
        </p:nvSpPr>
        <p:spPr>
          <a:xfrm>
            <a:off x="4632640" y="1025294"/>
            <a:ext cx="4392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Suno v5.5 text-to-music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Suno is an American AI music generation startup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Voices, Custom Models (tuning), My Taste - learns your preferences over time and shapes future generations accordingly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voice verification step ensures you can only use voices you own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https://www.youtube.com/watch?v=LvU1CACAPq8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https://suno.com/blog/v5-5</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00" name="Google Shape;200;p3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363252" y="2411418"/>
            <a:ext cx="2738150" cy="907825"/>
          </a:xfrm>
          <a:prstGeom prst="rect">
            <a:avLst/>
          </a:prstGeom>
          <a:noFill/>
          <a:ln w="9525" cap="flat" cmpd="sng">
            <a:solidFill>
              <a:srgbClr val="FF0000"/>
            </a:solidFill>
            <a:prstDash val="solid"/>
            <a:round/>
            <a:headEnd type="none" w="sm" len="sm"/>
            <a:tailEnd type="none" w="sm" len="sm"/>
          </a:ln>
        </p:spPr>
      </p:pic>
      <p:pic>
        <p:nvPicPr>
          <p:cNvPr id="201" name="Google Shape;201;p3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100600" y="3402075"/>
            <a:ext cx="2024250" cy="1133575"/>
          </a:xfrm>
          <a:prstGeom prst="rect">
            <a:avLst/>
          </a:prstGeom>
          <a:noFill/>
          <a:ln w="9525" cap="flat" cmpd="sng">
            <a:solidFill>
              <a:srgbClr val="FF0000"/>
            </a:solidFill>
            <a:prstDash val="solid"/>
            <a:round/>
            <a:headEnd type="none" w="sm" len="sm"/>
            <a:tailEnd type="none" w="sm" len="sm"/>
          </a:ln>
        </p:spPr>
      </p:pic>
      <p:sp>
        <p:nvSpPr>
          <p:cNvPr id="202" name="Google Shape;202;p30"/>
          <p:cNvSpPr txBox="1"/>
          <p:nvPr/>
        </p:nvSpPr>
        <p:spPr>
          <a:xfrm>
            <a:off x="5034776" y="624072"/>
            <a:ext cx="3395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Suno v.5.5 Text-to-Music</a:t>
            </a:r>
            <a:endParaRPr sz="2000" b="1">
              <a:solidFill>
                <a:schemeClr val="dk1"/>
              </a:solidFill>
              <a:latin typeface="Calibri"/>
              <a:ea typeface="Calibri"/>
              <a:cs typeface="Calibri"/>
              <a:sym typeface="Calibri"/>
            </a:endParaRPr>
          </a:p>
        </p:txBody>
      </p:sp>
      <p:pic>
        <p:nvPicPr>
          <p:cNvPr id="203" name="Google Shape;203;p30"/>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2198850" y="3402071"/>
            <a:ext cx="2294351" cy="1133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Data Analyst Plugin</a:t>
            </a:r>
            <a:endParaRPr sz="2000" b="1">
              <a:solidFill>
                <a:schemeClr val="dk1"/>
              </a:solidFill>
              <a:latin typeface="Calibri"/>
              <a:ea typeface="Calibri"/>
              <a:cs typeface="Calibri"/>
              <a:sym typeface="Calibri"/>
            </a:endParaRPr>
          </a:p>
        </p:txBody>
      </p:sp>
      <p:sp>
        <p:nvSpPr>
          <p:cNvPr id="209" name="Google Shape;209;p31"/>
          <p:cNvSpPr txBox="1"/>
          <p:nvPr/>
        </p:nvSpPr>
        <p:spPr>
          <a:xfrm>
            <a:off x="81775" y="462375"/>
            <a:ext cx="6781200" cy="84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Data Analyst Plugin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https://github.com/anthropics/knowledge-work-plugins/tree/main/data</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claude plugins add knowledge-work-plugins/data</a:t>
            </a:r>
            <a:endParaRPr sz="900" b="1">
              <a:solidFill>
                <a:srgbClr val="3C78D8"/>
              </a:solidFill>
              <a:latin typeface="Roboto Mono"/>
              <a:ea typeface="Roboto Mono"/>
              <a:cs typeface="Roboto Mono"/>
              <a:sym typeface="Roboto Mono"/>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a:t>
            </a:r>
            <a:br>
              <a:rPr lang="en" sz="1200">
                <a:solidFill>
                  <a:schemeClr val="dk1"/>
                </a:solidFill>
                <a:latin typeface="Calibri"/>
                <a:ea typeface="Calibri"/>
                <a:cs typeface="Calibri"/>
                <a:sym typeface="Calibri"/>
              </a:rPr>
            </a:br>
            <a:r>
              <a:rPr lang="en" sz="900" b="1">
                <a:solidFill>
                  <a:srgbClr val="3C78D8"/>
                </a:solidFill>
                <a:latin typeface="Roboto Mono"/>
                <a:ea typeface="Roboto Mono"/>
                <a:cs typeface="Roboto Mono"/>
                <a:sym typeface="Roboto Mono"/>
              </a:rPr>
              <a:t>/analyze What was our monthly revenue trend for the past 12 months, broken down by product line?</a:t>
            </a:r>
            <a:endParaRPr sz="900" b="1">
              <a:solidFill>
                <a:srgbClr val="3C78D8"/>
              </a:solidFill>
              <a:latin typeface="Roboto Mono"/>
              <a:ea typeface="Roboto Mono"/>
              <a:cs typeface="Roboto Mono"/>
              <a:sym typeface="Roboto Mono"/>
            </a:endParaRPr>
          </a:p>
        </p:txBody>
      </p:sp>
      <p:graphicFrame>
        <p:nvGraphicFramePr>
          <p:cNvPr id="210" name="Google Shape;210;p31"/>
          <p:cNvGraphicFramePr/>
          <p:nvPr/>
        </p:nvGraphicFramePr>
        <p:xfrm>
          <a:off x="979582" y="1605155"/>
          <a:ext cx="3000000" cy="3000000"/>
        </p:xfrm>
        <a:graphic>
          <a:graphicData uri="http://schemas.openxmlformats.org/drawingml/2006/table">
            <a:tbl>
              <a:tblPr>
                <a:noFill/>
                <a:tableStyleId>{40B44C53-B6E8-42A3-AD5D-812BAB82C40A}</a:tableStyleId>
              </a:tblPr>
              <a:tblGrid>
                <a:gridCol w="1695250">
                  <a:extLst>
                    <a:ext uri="{9D8B030D-6E8A-4147-A177-3AD203B41FA5}">
                      <a16:colId xmlns:a16="http://schemas.microsoft.com/office/drawing/2014/main" val="20000"/>
                    </a:ext>
                  </a:extLst>
                </a:gridCol>
                <a:gridCol w="4415700">
                  <a:extLst>
                    <a:ext uri="{9D8B030D-6E8A-4147-A177-3AD203B41FA5}">
                      <a16:colId xmlns:a16="http://schemas.microsoft.com/office/drawing/2014/main" val="20001"/>
                    </a:ext>
                  </a:extLst>
                </a:gridCol>
              </a:tblGrid>
              <a:tr h="200025">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Command</a:t>
                      </a:r>
                      <a:endParaRPr sz="10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EFEFEF"/>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Description</a:t>
                      </a:r>
                      <a:endParaRPr sz="10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/analyzeAnswer</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Data questions — from quick lookups to full analyses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/explore-data</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Profile and explore a dataset to understand its shape, quality, and patterns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/write-query</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Write optimized SQL for your dialect with best practices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/create-viz</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Create publication-quality visualizations with Python</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/build-dashboard</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Build interactive HTML dashboards with filters and charts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/validate</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QA an analysis before sharing — methodology, accuracy, and bias checks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bl>
          </a:graphicData>
        </a:graphic>
      </p:graphicFrame>
      <p:graphicFrame>
        <p:nvGraphicFramePr>
          <p:cNvPr id="211" name="Google Shape;211;p31"/>
          <p:cNvGraphicFramePr/>
          <p:nvPr/>
        </p:nvGraphicFramePr>
        <p:xfrm>
          <a:off x="979582" y="3362083"/>
          <a:ext cx="3000000" cy="3000000"/>
        </p:xfrm>
        <a:graphic>
          <a:graphicData uri="http://schemas.openxmlformats.org/drawingml/2006/table">
            <a:tbl>
              <a:tblPr>
                <a:noFill/>
                <a:tableStyleId>{40B44C53-B6E8-42A3-AD5D-812BAB82C40A}</a:tableStyleId>
              </a:tblPr>
              <a:tblGrid>
                <a:gridCol w="1695225">
                  <a:extLst>
                    <a:ext uri="{9D8B030D-6E8A-4147-A177-3AD203B41FA5}">
                      <a16:colId xmlns:a16="http://schemas.microsoft.com/office/drawing/2014/main" val="20000"/>
                    </a:ext>
                  </a:extLst>
                </a:gridCol>
                <a:gridCol w="4415725">
                  <a:extLst>
                    <a:ext uri="{9D8B030D-6E8A-4147-A177-3AD203B41FA5}">
                      <a16:colId xmlns:a16="http://schemas.microsoft.com/office/drawing/2014/main" val="20001"/>
                    </a:ext>
                  </a:extLst>
                </a:gridCol>
              </a:tblGrid>
              <a:tr h="200025">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Skill</a:t>
                      </a:r>
                      <a:endParaRPr sz="10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1000" b="1">
                          <a:latin typeface="Calibri"/>
                          <a:ea typeface="Calibri"/>
                          <a:cs typeface="Calibri"/>
                          <a:sym typeface="Calibri"/>
                        </a:rPr>
                        <a:t>Description</a:t>
                      </a:r>
                      <a:endParaRPr sz="1000" b="1">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sql-queries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SQL best practices across dialects, common patterns, and performance optimization</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data-exploration</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Data profiling, quality assessment, and pattern discovery</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data-visualization</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Chart selection, Python viz code patterns, and design principles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statistical-analysis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Descriptive stats, trend analysis, outlier detection, and hypothesis testing</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data-validation</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Pre-delivery QA, sanity checks, and documentation standards</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interactive-dashboard-builder</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latin typeface="Calibri"/>
                          <a:ea typeface="Calibri"/>
                          <a:cs typeface="Calibri"/>
                          <a:sym typeface="Calibri"/>
                        </a:rPr>
                        <a:t>HTML/JS dashboard construction with Chart.js, filters, and styling</a:t>
                      </a:r>
                      <a:endParaRPr sz="10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2"/>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10 Claude Code Features</a:t>
            </a:r>
            <a:endParaRPr sz="2000" b="1">
              <a:solidFill>
                <a:schemeClr val="dk1"/>
              </a:solidFill>
              <a:latin typeface="Calibri"/>
              <a:ea typeface="Calibri"/>
              <a:cs typeface="Calibri"/>
              <a:sym typeface="Calibri"/>
            </a:endParaRPr>
          </a:p>
        </p:txBody>
      </p:sp>
      <p:sp>
        <p:nvSpPr>
          <p:cNvPr id="217" name="Google Shape;217;p32"/>
          <p:cNvSpPr txBox="1"/>
          <p:nvPr/>
        </p:nvSpPr>
        <p:spPr>
          <a:xfrm>
            <a:off x="81775" y="462375"/>
            <a:ext cx="59706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1100" b="1">
                <a:solidFill>
                  <a:srgbClr val="FF0000"/>
                </a:solidFill>
                <a:latin typeface="Calibri"/>
                <a:ea typeface="Calibri"/>
                <a:cs typeface="Calibri"/>
                <a:sym typeface="Calibri"/>
              </a:rPr>
              <a:t>10 Claude Code Features </a:t>
            </a:r>
            <a:r>
              <a:rPr lang="en" sz="1100">
                <a:solidFill>
                  <a:schemeClr val="dk1"/>
                </a:solidFill>
                <a:latin typeface="Calibri"/>
                <a:ea typeface="Calibri"/>
                <a:cs typeface="Calibri"/>
                <a:sym typeface="Calibri"/>
              </a:rPr>
              <a:t>- The AI Growth Lab with Tom</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u="sng">
                <a:solidFill>
                  <a:schemeClr val="hlink"/>
                </a:solidFill>
                <a:latin typeface="Calibri"/>
                <a:ea typeface="Calibri"/>
                <a:cs typeface="Calibri"/>
                <a:sym typeface="Calibri"/>
                <a:hlinkClick r:id="rId3"/>
              </a:rPr>
              <a:t>https://www.youtube.com/watch?v=F_i_s0L2aWY</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1. </a:t>
            </a:r>
            <a:r>
              <a:rPr lang="en" sz="1100" b="1">
                <a:solidFill>
                  <a:srgbClr val="3C78D8"/>
                </a:solidFill>
                <a:latin typeface="Calibri"/>
                <a:ea typeface="Calibri"/>
                <a:cs typeface="Calibri"/>
                <a:sym typeface="Calibri"/>
              </a:rPr>
              <a:t>Insights Report (`/insight`) </a:t>
            </a:r>
            <a:r>
              <a:rPr lang="en" sz="1100">
                <a:solidFill>
                  <a:schemeClr val="dk1"/>
                </a:solidFill>
                <a:latin typeface="Calibri"/>
                <a:ea typeface="Calibri"/>
                <a:cs typeface="Calibri"/>
                <a:sym typeface="Calibri"/>
              </a:rPr>
              <a:t>- generates a personalized report based on your last 30 days of sessions;  identifies where you are duplicating work, suggests custom "skills" or sub-agents to install, and provides specific prompts to optimize your workflow </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2. </a:t>
            </a:r>
            <a:r>
              <a:rPr lang="en" sz="1100" b="1">
                <a:solidFill>
                  <a:srgbClr val="3C78D8"/>
                </a:solidFill>
                <a:latin typeface="Calibri"/>
                <a:ea typeface="Calibri"/>
                <a:cs typeface="Calibri"/>
                <a:sym typeface="Calibri"/>
              </a:rPr>
              <a:t>Effort Control (`/effort`) </a:t>
            </a:r>
            <a:r>
              <a:rPr lang="en" sz="1100">
                <a:solidFill>
                  <a:schemeClr val="dk1"/>
                </a:solidFill>
                <a:latin typeface="Calibri"/>
                <a:ea typeface="Calibri"/>
                <a:cs typeface="Calibri"/>
                <a:sym typeface="Calibri"/>
              </a:rPr>
              <a:t>- choose between `low`, `medium`, `high`, `max`, and `auto` </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3. </a:t>
            </a:r>
            <a:r>
              <a:rPr lang="en" sz="1100" b="1">
                <a:solidFill>
                  <a:srgbClr val="3C78D8"/>
                </a:solidFill>
                <a:latin typeface="Calibri"/>
                <a:ea typeface="Calibri"/>
                <a:cs typeface="Calibri"/>
                <a:sym typeface="Calibri"/>
              </a:rPr>
              <a:t>Remote Control (`/remote-control`) </a:t>
            </a:r>
            <a:r>
              <a:rPr lang="en" sz="1100">
                <a:solidFill>
                  <a:schemeClr val="dk1"/>
                </a:solidFill>
                <a:latin typeface="Calibri"/>
                <a:ea typeface="Calibri"/>
                <a:cs typeface="Calibri"/>
                <a:sym typeface="Calibri"/>
              </a:rPr>
              <a:t>- allows you to continue a Claude Code session from your mobile device</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4. </a:t>
            </a:r>
            <a:r>
              <a:rPr lang="en" sz="1100" b="1">
                <a:solidFill>
                  <a:srgbClr val="3C78D8"/>
                </a:solidFill>
                <a:latin typeface="Calibri"/>
                <a:ea typeface="Calibri"/>
                <a:cs typeface="Calibri"/>
                <a:sym typeface="Calibri"/>
              </a:rPr>
              <a:t>Batch Processing (`/batch`) </a:t>
            </a:r>
            <a:r>
              <a:rPr lang="en" sz="1100">
                <a:solidFill>
                  <a:schemeClr val="dk1"/>
                </a:solidFill>
                <a:latin typeface="Calibri"/>
                <a:ea typeface="Calibri"/>
                <a:cs typeface="Calibri"/>
                <a:sym typeface="Calibri"/>
              </a:rPr>
              <a:t>- executes large-scale changes or research tasks in parallel; it can read through multiple project files simultaneously to suggest edits or generate content (like social media posts) for different modules at once</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5. </a:t>
            </a:r>
            <a:r>
              <a:rPr lang="en" sz="1100" b="1">
                <a:solidFill>
                  <a:srgbClr val="3C78D8"/>
                </a:solidFill>
                <a:latin typeface="Calibri"/>
                <a:ea typeface="Calibri"/>
                <a:cs typeface="Calibri"/>
                <a:sym typeface="Calibri"/>
              </a:rPr>
              <a:t>Simplify (`/simplify`) </a:t>
            </a:r>
            <a:r>
              <a:rPr lang="en" sz="1100">
                <a:solidFill>
                  <a:schemeClr val="dk1"/>
                </a:solidFill>
                <a:latin typeface="Calibri"/>
                <a:ea typeface="Calibri"/>
                <a:cs typeface="Calibri"/>
                <a:sym typeface="Calibri"/>
              </a:rPr>
              <a:t>- spins up three specialized agents (Code Duplication, Code Quality, and Efficiency) to review your codebase an apply fixes for bugs, performance issues, and redundant code</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6. </a:t>
            </a:r>
            <a:r>
              <a:rPr lang="en" sz="1100" b="1">
                <a:solidFill>
                  <a:srgbClr val="3C78D8"/>
                </a:solidFill>
                <a:latin typeface="Calibri"/>
                <a:ea typeface="Calibri"/>
                <a:cs typeface="Calibri"/>
                <a:sym typeface="Calibri"/>
              </a:rPr>
              <a:t>Loops (`/loop`) </a:t>
            </a:r>
            <a:r>
              <a:rPr lang="en" sz="1100">
                <a:solidFill>
                  <a:schemeClr val="dk1"/>
                </a:solidFill>
                <a:latin typeface="Calibri"/>
                <a:ea typeface="Calibri"/>
                <a:cs typeface="Calibri"/>
                <a:sym typeface="Calibri"/>
              </a:rPr>
              <a:t>- sets up recurring "cron jobs" or mini-automations within a session, for example, set Claude to check your email for urgent messages every 3 hours</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7. </a:t>
            </a:r>
            <a:r>
              <a:rPr lang="en" sz="1100" b="1">
                <a:solidFill>
                  <a:srgbClr val="3C78D8"/>
                </a:solidFill>
                <a:latin typeface="Calibri"/>
                <a:ea typeface="Calibri"/>
                <a:cs typeface="Calibri"/>
                <a:sym typeface="Calibri"/>
              </a:rPr>
              <a:t>Rewind Mode (Double `Esc`) </a:t>
            </a:r>
            <a:r>
              <a:rPr lang="en" sz="1100">
                <a:solidFill>
                  <a:schemeClr val="dk1"/>
                </a:solidFill>
                <a:latin typeface="Calibri"/>
                <a:ea typeface="Calibri"/>
                <a:cs typeface="Calibri"/>
                <a:sym typeface="Calibri"/>
              </a:rPr>
              <a:t>- acts as a "time machine" to revert the conversation and code edits to a previous state - useful for undoing a series of automated edits that didn't go as planned </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8. </a:t>
            </a:r>
            <a:r>
              <a:rPr lang="en" sz="1100" b="1">
                <a:solidFill>
                  <a:srgbClr val="3C78D8"/>
                </a:solidFill>
                <a:latin typeface="Calibri"/>
                <a:ea typeface="Calibri"/>
                <a:cs typeface="Calibri"/>
                <a:sym typeface="Calibri"/>
              </a:rPr>
              <a:t>Hooks</a:t>
            </a:r>
            <a:r>
              <a:rPr lang="en" sz="1100">
                <a:solidFill>
                  <a:schemeClr val="dk1"/>
                </a:solidFill>
                <a:latin typeface="Calibri"/>
                <a:ea typeface="Calibri"/>
                <a:cs typeface="Calibri"/>
                <a:sym typeface="Calibri"/>
              </a:rPr>
              <a:t> - actions triggered before or after a tool is used. Examples - automatic backups before file edits, cost control (blocking requests that exceed token limits), or brand voice enforcement on generated text</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9. </a:t>
            </a:r>
            <a:r>
              <a:rPr lang="en" sz="1100" b="1">
                <a:solidFill>
                  <a:srgbClr val="3C78D8"/>
                </a:solidFill>
                <a:latin typeface="Calibri"/>
                <a:ea typeface="Calibri"/>
                <a:cs typeface="Calibri"/>
                <a:sym typeface="Calibri"/>
              </a:rPr>
              <a:t>Side Conversations (`/btw`) </a:t>
            </a:r>
            <a:r>
              <a:rPr lang="en" sz="1100">
                <a:solidFill>
                  <a:schemeClr val="dk1"/>
                </a:solidFill>
                <a:latin typeface="Calibri"/>
                <a:ea typeface="Calibri"/>
                <a:cs typeface="Calibri"/>
                <a:sym typeface="Calibri"/>
              </a:rPr>
              <a:t>- ask side questions (like checking remaining context window) without interrupting a long-running task</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10. </a:t>
            </a:r>
            <a:r>
              <a:rPr lang="en" sz="1100" b="1">
                <a:solidFill>
                  <a:srgbClr val="3C78D8"/>
                </a:solidFill>
                <a:latin typeface="Calibri"/>
                <a:ea typeface="Calibri"/>
                <a:cs typeface="Calibri"/>
                <a:sym typeface="Calibri"/>
              </a:rPr>
              <a:t>Agent Teams (Parallel Agents) </a:t>
            </a:r>
            <a:r>
              <a:rPr lang="en" sz="1100">
                <a:solidFill>
                  <a:schemeClr val="dk1"/>
                </a:solidFill>
                <a:latin typeface="Calibri"/>
                <a:ea typeface="Calibri"/>
                <a:cs typeface="Calibri"/>
                <a:sym typeface="Calibri"/>
              </a:rPr>
              <a:t>- spins up multiple independent Claude Code sessions, each with its own context window, to work as a team; A "lead agent" delegates tasks to specialized teammates (e.g., a skeptical student, a designer, and a judge) who can message each other to compile a final report</a:t>
            </a:r>
            <a:endParaRPr sz="1100">
              <a:solidFill>
                <a:schemeClr val="dk1"/>
              </a:solidFill>
              <a:latin typeface="Calibri"/>
              <a:ea typeface="Calibri"/>
              <a:cs typeface="Calibri"/>
              <a:sym typeface="Calibri"/>
            </a:endParaRPr>
          </a:p>
        </p:txBody>
      </p:sp>
      <p:pic>
        <p:nvPicPr>
          <p:cNvPr id="218" name="Google Shape;218;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618875" y="711599"/>
            <a:ext cx="1935475" cy="9987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3"/>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Boris Churnney Strategies</a:t>
            </a:r>
            <a:endParaRPr sz="2000" b="1">
              <a:solidFill>
                <a:schemeClr val="dk1"/>
              </a:solidFill>
              <a:latin typeface="Calibri"/>
              <a:ea typeface="Calibri"/>
              <a:cs typeface="Calibri"/>
              <a:sym typeface="Calibri"/>
            </a:endParaRPr>
          </a:p>
        </p:txBody>
      </p:sp>
      <p:sp>
        <p:nvSpPr>
          <p:cNvPr id="224" name="Google Shape;224;p33"/>
          <p:cNvSpPr txBox="1"/>
          <p:nvPr/>
        </p:nvSpPr>
        <p:spPr>
          <a:xfrm>
            <a:off x="81775" y="462375"/>
            <a:ext cx="59706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Claude Code's Creator Boris Churnney Strategies</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u="sng">
                <a:solidFill>
                  <a:schemeClr val="hlink"/>
                </a:solidFill>
                <a:latin typeface="Calibri"/>
                <a:ea typeface="Calibri"/>
                <a:cs typeface="Calibri"/>
                <a:sym typeface="Calibri"/>
                <a:hlinkClick r:id="rId3"/>
              </a:rPr>
              <a:t>https://www.youtube.com/watch?v=KWrsLqnB6vA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 1 .. Start in planning mode</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 2 .. Maintains a minimal claude.md file with essential instructions, deleting it entirely when it becomes bloated since models improve over time</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 3 .. Focuses on verification by giving Claude tools to check its own work</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 4 .. He uses parallel sessions for different tasks to multiply productivity</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 5 .. Systematizes repetitive tasks through slash commands and Claude skills, creating reusable workflows for daily operations.</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 6 .. Avoiding over-optimization, recognizing that AI models continuously improve and temporary fixes become unnecessary</a:t>
            </a:r>
            <a:br>
              <a:rPr lang="en" sz="1100">
                <a:solidFill>
                  <a:schemeClr val="dk1"/>
                </a:solidFill>
                <a:latin typeface="Calibri"/>
                <a:ea typeface="Calibri"/>
                <a:cs typeface="Calibri"/>
                <a:sym typeface="Calibri"/>
              </a:rPr>
            </a:b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The core philosophy is moving slow initially to move fast later, spending time on planning and systems rather than micro-optimizations, since AI capabilities will only get better</a:t>
            </a:r>
            <a:endParaRPr sz="1100">
              <a:solidFill>
                <a:schemeClr val="dk1"/>
              </a:solidFill>
              <a:latin typeface="Calibri"/>
              <a:ea typeface="Calibri"/>
              <a:cs typeface="Calibri"/>
              <a:sym typeface="Calibri"/>
            </a:endParaRPr>
          </a:p>
        </p:txBody>
      </p:sp>
      <p:pic>
        <p:nvPicPr>
          <p:cNvPr id="225" name="Google Shape;225;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04775" y="462375"/>
            <a:ext cx="2186129" cy="1128100"/>
          </a:xfrm>
          <a:prstGeom prst="rect">
            <a:avLst/>
          </a:prstGeom>
          <a:noFill/>
          <a:ln w="9525" cap="flat" cmpd="sng">
            <a:solidFill>
              <a:srgbClr val="FF0000"/>
            </a:solidFill>
            <a:prstDash val="solid"/>
            <a:round/>
            <a:headEnd type="none" w="sm" len="sm"/>
            <a:tailEnd type="none" w="sm" len="sm"/>
          </a:ln>
        </p:spPr>
      </p:pic>
      <p:pic>
        <p:nvPicPr>
          <p:cNvPr id="226" name="Google Shape;226;p33"/>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204771" y="1808250"/>
            <a:ext cx="2598576" cy="2605101"/>
          </a:xfrm>
          <a:prstGeom prst="rect">
            <a:avLst/>
          </a:prstGeom>
          <a:noFill/>
          <a:ln w="9525" cap="flat" cmpd="sng">
            <a:solidFill>
              <a:srgbClr val="FF0000"/>
            </a:solidFill>
            <a:prstDash val="solid"/>
            <a:round/>
            <a:headEnd type="none" w="sm" len="sm"/>
            <a:tailEnd type="none" w="sm" len="sm"/>
          </a:ln>
        </p:spPr>
      </p:pic>
      <p:sp>
        <p:nvSpPr>
          <p:cNvPr id="227" name="Google Shape;227;p33"/>
          <p:cNvSpPr txBox="1"/>
          <p:nvPr/>
        </p:nvSpPr>
        <p:spPr>
          <a:xfrm>
            <a:off x="81775" y="2947200"/>
            <a:ext cx="59706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rgbClr val="FF0000"/>
              </a:buClr>
              <a:buSzPts val="800"/>
              <a:buFont typeface="Calibri"/>
              <a:buChar char="●"/>
            </a:pPr>
            <a:r>
              <a:rPr lang="en" sz="1100" b="1">
                <a:solidFill>
                  <a:srgbClr val="FF0000"/>
                </a:solidFill>
                <a:latin typeface="Calibri"/>
                <a:ea typeface="Calibri"/>
                <a:cs typeface="Calibri"/>
                <a:sym typeface="Calibri"/>
              </a:rPr>
              <a:t>OpenAI's Codex as a plugin for Claude Code</a:t>
            </a:r>
            <a:endParaRPr sz="11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u="sng">
                <a:solidFill>
                  <a:schemeClr val="hlink"/>
                </a:solidFill>
                <a:latin typeface="Calibri"/>
                <a:ea typeface="Calibri"/>
                <a:cs typeface="Calibri"/>
                <a:sym typeface="Calibri"/>
                <a:hlinkClick r:id="rId6"/>
              </a:rPr>
              <a:t>https://www.youtube.com/watch?v=L7NPhaUBpZE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cost-effective alternative to Anthropic's Opus model.</a:t>
            </a:r>
            <a:endParaRPr sz="11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100">
                <a:solidFill>
                  <a:schemeClr val="dk1"/>
                </a:solidFill>
                <a:latin typeface="Calibri"/>
                <a:ea typeface="Calibri"/>
                <a:cs typeface="Calibri"/>
                <a:sym typeface="Calibri"/>
              </a:rPr>
              <a:t>Code reviews, adversarial code reviews,</a:t>
            </a:r>
            <a:endParaRPr sz="11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4"/>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3" name="Google Shape;233;p34"/>
          <p:cNvSpPr txBox="1"/>
          <p:nvPr/>
        </p:nvSpPr>
        <p:spPr>
          <a:xfrm>
            <a:off x="177800" y="431073"/>
            <a:ext cx="4467900" cy="108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RealRestorer - fix photos using AI</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Open-source, fixing damaged, blurry, noisy, scratched, or black-and-white photos; Best among open-source methods, competitive with top closed models; Requires a high-end GPU (CUDA recommended).</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https://realrestorer.com</a:t>
            </a:r>
            <a:r>
              <a:rPr lang="en" sz="900">
                <a:solidFill>
                  <a:schemeClr val="dk1"/>
                </a:solidFill>
                <a:latin typeface="Calibri"/>
                <a:ea typeface="Calibri"/>
                <a:cs typeface="Calibri"/>
                <a:sym typeface="Calibri"/>
              </a:rPr>
              <a:t> ; </a:t>
            </a:r>
            <a:r>
              <a:rPr lang="en" sz="900" u="sng">
                <a:solidFill>
                  <a:schemeClr val="hlink"/>
                </a:solidFill>
                <a:latin typeface="Calibri"/>
                <a:ea typeface="Calibri"/>
                <a:cs typeface="Calibri"/>
                <a:sym typeface="Calibri"/>
                <a:hlinkClick r:id="rId4"/>
              </a:rPr>
              <a:t>https://arxiv.org/abs/2603.25502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234" name="Google Shape;234;p34"/>
          <p:cNvSpPr txBox="1"/>
          <p:nvPr/>
        </p:nvSpPr>
        <p:spPr>
          <a:xfrm>
            <a:off x="177800" y="2970454"/>
            <a:ext cx="44679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Gemma 4  open source models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Google DeepMind, released April 1, 2026, under Apache 2.0</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E2B (2.3B), E4B (4.5B), 26B MoE (~4B active), and 31B Dense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Support multimodal input (text, images, video)</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Edge models adding native audio</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Context 128K on smaller, 256K on larger models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31B Dense ranks #3 among open models on Arena AI</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35+ language support, agentic function-calling, strong coding benchmarks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smallest models run on Android phones and Raspberry Pi.</a:t>
            </a:r>
            <a:endParaRPr sz="900">
              <a:solidFill>
                <a:schemeClr val="dk1"/>
              </a:solidFill>
              <a:latin typeface="Calibri"/>
              <a:ea typeface="Calibri"/>
              <a:cs typeface="Calibri"/>
              <a:sym typeface="Calibri"/>
            </a:endParaRPr>
          </a:p>
        </p:txBody>
      </p:sp>
      <p:pic>
        <p:nvPicPr>
          <p:cNvPr id="235" name="Google Shape;235;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03875" y="372748"/>
            <a:ext cx="2744250" cy="1197250"/>
          </a:xfrm>
          <a:prstGeom prst="rect">
            <a:avLst/>
          </a:prstGeom>
          <a:noFill/>
          <a:ln w="9525" cap="flat" cmpd="sng">
            <a:solidFill>
              <a:srgbClr val="FF0000"/>
            </a:solidFill>
            <a:prstDash val="solid"/>
            <a:round/>
            <a:headEnd type="none" w="sm" len="sm"/>
            <a:tailEnd type="none" w="sm" len="sm"/>
          </a:ln>
        </p:spPr>
      </p:pic>
      <p:pic>
        <p:nvPicPr>
          <p:cNvPr id="236" name="Google Shape;236;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003875" y="1671949"/>
            <a:ext cx="2744250" cy="1680937"/>
          </a:xfrm>
          <a:prstGeom prst="rect">
            <a:avLst/>
          </a:prstGeom>
          <a:noFill/>
          <a:ln w="9525" cap="flat" cmpd="sng">
            <a:solidFill>
              <a:srgbClr val="FF0000"/>
            </a:solidFill>
            <a:prstDash val="solid"/>
            <a:round/>
            <a:headEnd type="none" w="sm" len="sm"/>
            <a:tailEnd type="none" w="sm" len="sm"/>
          </a:ln>
        </p:spPr>
      </p:pic>
      <p:sp>
        <p:nvSpPr>
          <p:cNvPr id="237" name="Google Shape;237;p34"/>
          <p:cNvSpPr txBox="1"/>
          <p:nvPr/>
        </p:nvSpPr>
        <p:spPr>
          <a:xfrm>
            <a:off x="177800" y="1927186"/>
            <a:ext cx="4467900" cy="89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TRIBE V2 (by Meta)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AI that predicts human brain activity (fMRI scans) in response to video, audio, and text input</a:t>
            </a:r>
            <a:r>
              <a:rPr lang="en" sz="1200">
                <a:solidFill>
                  <a:schemeClr val="dk1"/>
                </a:solidFill>
                <a:latin typeface="Calibri"/>
                <a:ea typeface="Calibri"/>
                <a:cs typeface="Calibri"/>
                <a:sym typeface="Calibri"/>
              </a:rPr>
              <a:t>; Trained on 500+ hours of fMRI data from 700+ people; Open-source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https://ai.meta.com/blog/tribe-v2-brain-predictive-foundation-model/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38" name="Google Shape;238;p34"/>
          <p:cNvPicPr preferRelativeResize="0"/>
          <p:nvPr/>
        </p:nvPicPr>
        <p:blipFill>
          <a:blip r:embed="rId8">
            <a:alphaModFix/>
          </a:blip>
          <a:stretch>
            <a:fillRect/>
          </a:stretch>
        </p:blipFill>
        <p:spPr>
          <a:xfrm>
            <a:off x="4798100" y="3505286"/>
            <a:ext cx="3648075" cy="1257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5"/>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44" name="Google Shape;244;p35"/>
          <p:cNvSpPr txBox="1"/>
          <p:nvPr/>
        </p:nvSpPr>
        <p:spPr>
          <a:xfrm>
            <a:off x="81775" y="698163"/>
            <a:ext cx="4467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GLM 5.1 (by Z.ai, formerly Zhipu AI) </a:t>
            </a:r>
            <a:endParaRPr sz="1200" b="1">
              <a:solidFill>
                <a:srgbClr val="FF0000"/>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1200">
                <a:solidFill>
                  <a:schemeClr val="dk1"/>
                </a:solidFill>
                <a:latin typeface="Calibri"/>
                <a:ea typeface="Calibri"/>
                <a:cs typeface="Calibri"/>
                <a:sym typeface="Calibri"/>
              </a:rPr>
              <a:t>Competitive with Claude Opus 4.6 for agentic coding, but faster, cheaper, and with higher usage limits; Available via API; open-source release planned - </a:t>
            </a:r>
            <a:r>
              <a:rPr lang="en" sz="900" u="sng">
                <a:solidFill>
                  <a:schemeClr val="hlink"/>
                </a:solidFill>
                <a:latin typeface="Calibri"/>
                <a:ea typeface="Calibri"/>
                <a:cs typeface="Calibri"/>
                <a:sym typeface="Calibri"/>
                <a:hlinkClick r:id="rId3"/>
              </a:rPr>
              <a:t>https://docs.z.ai/devpack/using5.1</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245" name="Google Shape;245;p35"/>
          <p:cNvSpPr txBox="1"/>
          <p:nvPr/>
        </p:nvSpPr>
        <p:spPr>
          <a:xfrm>
            <a:off x="81775" y="3792222"/>
            <a:ext cx="4467900" cy="98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Cohere Transcribe speech-to-text </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Open-source (Apache 2.0), 2B params, 14 languages.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Outperforms Whisper Large v3, ElevenLabs Scribe, and others</a:t>
            </a:r>
            <a:endParaRPr sz="12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4"/>
              </a:rPr>
              <a:t>https://cohere.com/blog/transcribe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5"/>
              </a:rPr>
              <a:t>https://huggingface.co/CohereLabs/cohere-transcribe-03-2026</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4"/>
              </a:rPr>
              <a:t>https://cohere.com/blog/transcribe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46" name="Google Shape;246;p3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56925" y="203475"/>
            <a:ext cx="3935199" cy="1634475"/>
          </a:xfrm>
          <a:prstGeom prst="rect">
            <a:avLst/>
          </a:prstGeom>
          <a:noFill/>
          <a:ln w="9525" cap="flat" cmpd="sng">
            <a:solidFill>
              <a:srgbClr val="FF0000"/>
            </a:solidFill>
            <a:prstDash val="solid"/>
            <a:round/>
            <a:headEnd type="none" w="sm" len="sm"/>
            <a:tailEnd type="none" w="sm" len="sm"/>
          </a:ln>
        </p:spPr>
      </p:pic>
      <p:pic>
        <p:nvPicPr>
          <p:cNvPr id="247" name="Google Shape;247;p3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914875" y="3792229"/>
            <a:ext cx="1764643" cy="988200"/>
          </a:xfrm>
          <a:prstGeom prst="rect">
            <a:avLst/>
          </a:prstGeom>
          <a:noFill/>
          <a:ln w="9525" cap="flat" cmpd="sng">
            <a:solidFill>
              <a:srgbClr val="FF0000"/>
            </a:solidFill>
            <a:prstDash val="solid"/>
            <a:round/>
            <a:headEnd type="none" w="sm" len="sm"/>
            <a:tailEnd type="none" w="sm" len="sm"/>
          </a:ln>
        </p:spPr>
      </p:pic>
      <p:sp>
        <p:nvSpPr>
          <p:cNvPr id="248" name="Google Shape;248;p35"/>
          <p:cNvSpPr txBox="1"/>
          <p:nvPr/>
        </p:nvSpPr>
        <p:spPr>
          <a:xfrm>
            <a:off x="81775" y="1639040"/>
            <a:ext cx="44679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GLM-5V-Turbo by </a:t>
            </a:r>
            <a:r>
              <a:rPr lang="en" sz="1200" b="1">
                <a:solidFill>
                  <a:srgbClr val="FF0000"/>
                </a:solidFill>
                <a:uFill>
                  <a:noFill/>
                </a:uFill>
                <a:latin typeface="Calibri"/>
                <a:ea typeface="Calibri"/>
                <a:cs typeface="Calibri"/>
                <a:sym typeface="Calibri"/>
                <a:hlinkClick r:id="rId8">
                  <a:extLst>
                    <a:ext uri="{A12FA001-AC4F-418D-AE19-62706E023703}">
                      <ahyp:hlinkClr xmlns:ahyp="http://schemas.microsoft.com/office/drawing/2018/hyperlinkcolor" val="tx"/>
                    </a:ext>
                  </a:extLst>
                </a:hlinkClick>
              </a:rPr>
              <a:t>Z.ai</a:t>
            </a:r>
            <a:r>
              <a:rPr lang="en" sz="1200" b="1">
                <a:solidFill>
                  <a:srgbClr val="FF0000"/>
                </a:solidFill>
                <a:latin typeface="Calibri"/>
                <a:ea typeface="Calibri"/>
                <a:cs typeface="Calibri"/>
                <a:sym typeface="Calibri"/>
              </a:rPr>
              <a:t> -  multimodal model</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Designed specifically for vision-based coding and agentic tasks (images, video, and text)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200K context window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GLM-5V-Turbo excels at converting screenshots and UI layouts into executable code, and leads benchmarks on AndroidWorld and WebVoyager for GUI agent performance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It integrates with agent frameworks like OpenClaw and Claude Code, making it a strong fit for automated software development and browser-based agent pipelines</a:t>
            </a:r>
            <a:endParaRPr sz="900">
              <a:solidFill>
                <a:schemeClr val="dk1"/>
              </a:solidFill>
              <a:latin typeface="Calibri"/>
              <a:ea typeface="Calibri"/>
              <a:cs typeface="Calibri"/>
              <a:sym typeface="Calibri"/>
            </a:endParaRPr>
          </a:p>
        </p:txBody>
      </p:sp>
      <p:pic>
        <p:nvPicPr>
          <p:cNvPr id="249" name="Google Shape;249;p3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756925" y="2153625"/>
            <a:ext cx="3935200" cy="104938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6"/>
          <p:cNvSpPr txBox="1"/>
          <p:nvPr/>
        </p:nvSpPr>
        <p:spPr>
          <a:xfrm>
            <a:off x="81775" y="40050"/>
            <a:ext cx="440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Good Engineering Have Not Got Cheaper</a:t>
            </a:r>
            <a:endParaRPr sz="2000" b="1">
              <a:solidFill>
                <a:schemeClr val="dk1"/>
              </a:solidFill>
              <a:latin typeface="Calibri"/>
              <a:ea typeface="Calibri"/>
              <a:cs typeface="Calibri"/>
              <a:sym typeface="Calibri"/>
            </a:endParaRPr>
          </a:p>
        </p:txBody>
      </p:sp>
      <p:sp>
        <p:nvSpPr>
          <p:cNvPr id="255" name="Google Shape;255;p36"/>
          <p:cNvSpPr txBox="1"/>
          <p:nvPr/>
        </p:nvSpPr>
        <p:spPr>
          <a:xfrm>
            <a:off x="81775" y="508663"/>
            <a:ext cx="44679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value of a software engineer was never just writing code. That was only one part of the job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real value is translating business needs into something useful and real: a product, a workflow, an internal tool, a system people can actually rely 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need to understand the business, the user, the tradeoffs, the edge cases, the experience. Code was just the medium we used to express all that.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act of creating code has become dramatically cheaper/fast. But the act of creating enterprise-grade software has not moved nearly as much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Planning goes up 2x or 5x, because now you need to be much more explicit from the beginning about what should happen, what should not happen, and what “done” actually means.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the bottlenecks are still there, but they moved upstream into planning, alignment, architecture, and decision-making. And they moved downstream into QA, regression, validation, security, and rollout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With AI generation, you can move so fast that you need many of the answers before the code even starts</a:t>
            </a:r>
            <a:endParaRPr sz="1200">
              <a:solidFill>
                <a:schemeClr val="dk1"/>
              </a:solidFill>
              <a:latin typeface="Calibri"/>
              <a:ea typeface="Calibri"/>
              <a:cs typeface="Calibri"/>
              <a:sym typeface="Calibri"/>
            </a:endParaRPr>
          </a:p>
        </p:txBody>
      </p:sp>
      <p:sp>
        <p:nvSpPr>
          <p:cNvPr id="256" name="Google Shape;256;p36"/>
          <p:cNvSpPr txBox="1"/>
          <p:nvPr/>
        </p:nvSpPr>
        <p:spPr>
          <a:xfrm>
            <a:off x="4618255" y="2516808"/>
            <a:ext cx="44679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And QA gets weird too because people now don't get a very deep understanding of the logic. You can validate functionality. But validating the underlying logic, the weird cases, the regressions, the long-term maintainability ... that becomes even more important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Most teams are still structured for the old bottlenecks, not the new ones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Actual engineering is becoming more visible. Now that code is cheaper, all the other parts we used to hide behind the coding effort are exposed very clearly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Not “coding is dead.” More like: the whole development process needs to be redesigned for a world where creation is fast, but clarity, evaluation, and trust are still hard.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Code got cheaper. Good engineering did not.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https://www.linkedin.com/feed/update/urn:li:activity:7440049375902461955/</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57" name="Google Shape;257;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68400" y="193200"/>
            <a:ext cx="1287700" cy="1548375"/>
          </a:xfrm>
          <a:prstGeom prst="rect">
            <a:avLst/>
          </a:prstGeom>
          <a:noFill/>
          <a:ln w="9525" cap="flat" cmpd="sng">
            <a:solidFill>
              <a:srgbClr val="FF0000"/>
            </a:solidFill>
            <a:prstDash val="solid"/>
            <a:round/>
            <a:headEnd type="none" w="sm" len="sm"/>
            <a:tailEnd type="none" w="sm" len="sm"/>
          </a:ln>
        </p:spPr>
      </p:pic>
      <p:sp>
        <p:nvSpPr>
          <p:cNvPr id="258" name="Google Shape;258;p36"/>
          <p:cNvSpPr txBox="1"/>
          <p:nvPr/>
        </p:nvSpPr>
        <p:spPr>
          <a:xfrm>
            <a:off x="4729500" y="1826925"/>
            <a:ext cx="2883000" cy="37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46050" algn="l" rtl="0">
              <a:lnSpc>
                <a:spcPct val="100000"/>
              </a:lnSpc>
              <a:spcBef>
                <a:spcPts val="0"/>
              </a:spcBef>
              <a:spcAft>
                <a:spcPts val="0"/>
              </a:spcAft>
              <a:buClr>
                <a:srgbClr val="FF0000"/>
              </a:buClr>
              <a:buSzPts val="1400"/>
              <a:buFont typeface="Calibri"/>
              <a:buChar char="●"/>
            </a:pPr>
            <a:r>
              <a:rPr lang="en" b="1">
                <a:solidFill>
                  <a:srgbClr val="FF0000"/>
                </a:solidFill>
                <a:latin typeface="Calibri"/>
                <a:ea typeface="Calibri"/>
                <a:cs typeface="Calibri"/>
                <a:sym typeface="Calibri"/>
              </a:rPr>
              <a:t>José Gregorio Argomedo</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https://www.linkedin.com/in/jose-gregorio-argomedo/</a:t>
            </a:r>
            <a:endParaRPr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64" name="Google Shape;264;p37"/>
          <p:cNvSpPr txBox="1"/>
          <p:nvPr/>
        </p:nvSpPr>
        <p:spPr>
          <a:xfrm>
            <a:off x="81775" y="508663"/>
            <a:ext cx="44679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InstaDoodle - create animated presentations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 cloud-based AI tool for creating whiteboard-style doodle animations without any design or technical skills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From topic or text to a complete video with voices (40 languages)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Add background music from a royalty-free library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Starts at $47/mo. (extra for AI Wizard and AI Voices)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https://instadoodle.com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65" name="Google Shape;265;p37"/>
          <p:cNvSpPr txBox="1"/>
          <p:nvPr/>
        </p:nvSpPr>
        <p:spPr>
          <a:xfrm>
            <a:off x="81775" y="2532413"/>
            <a:ext cx="44679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Qwen researchers developed Trace2Skill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Converts execution traces into reusable skills (md files)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128 parallel sub-agents analyzing execution traces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Outperforming even Anthropic's manually written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Skills from larger models (122B) transfer to smaller ones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Real environmental interaction, not parametric knowledge alone, is essential for effective skill creation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https://www.youtube.com/watch?v=g3lh7U_rV9w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66" name="Google Shape;266;p3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28587" y="2660800"/>
            <a:ext cx="3979075" cy="824493"/>
          </a:xfrm>
          <a:prstGeom prst="rect">
            <a:avLst/>
          </a:prstGeom>
          <a:noFill/>
          <a:ln w="9525" cap="flat" cmpd="sng">
            <a:solidFill>
              <a:srgbClr val="FF0000"/>
            </a:solidFill>
            <a:prstDash val="solid"/>
            <a:round/>
            <a:headEnd type="none" w="sm" len="sm"/>
            <a:tailEnd type="none" w="sm" len="sm"/>
          </a:ln>
        </p:spPr>
      </p:pic>
      <p:pic>
        <p:nvPicPr>
          <p:cNvPr id="267" name="Google Shape;267;p37"/>
          <p:cNvPicPr preferRelativeResize="0"/>
          <p:nvPr/>
        </p:nvPicPr>
        <p:blipFill>
          <a:blip r:embed="rId6">
            <a:alphaModFix/>
          </a:blip>
          <a:stretch>
            <a:fillRect/>
          </a:stretch>
        </p:blipFill>
        <p:spPr>
          <a:xfrm>
            <a:off x="5425925" y="508675"/>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8"/>
          <p:cNvSpPr txBox="1"/>
          <p:nvPr/>
        </p:nvSpPr>
        <p:spPr>
          <a:xfrm>
            <a:off x="81775" y="40050"/>
            <a:ext cx="2581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Get Millions Views</a:t>
            </a:r>
            <a:endParaRPr sz="2000" b="1">
              <a:solidFill>
                <a:schemeClr val="dk1"/>
              </a:solidFill>
              <a:latin typeface="Calibri"/>
              <a:ea typeface="Calibri"/>
              <a:cs typeface="Calibri"/>
              <a:sym typeface="Calibri"/>
            </a:endParaRPr>
          </a:p>
        </p:txBody>
      </p:sp>
      <p:sp>
        <p:nvSpPr>
          <p:cNvPr id="273" name="Google Shape;273;p38"/>
          <p:cNvSpPr txBox="1"/>
          <p:nvPr/>
        </p:nvSpPr>
        <p:spPr>
          <a:xfrm>
            <a:off x="81775" y="717913"/>
            <a:ext cx="44679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Use Claude Code to get 10M Views in 1 Month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https://www.youtube.com/watch?v=7q_rbT1a9dE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creator gained massive social media growth (38K YouTube, 50K Instagram, 11K TikTok followers) and 10 million views in one month using Claude Code automations.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produced 90 pieces of content (30 long-form, 60 short-form) as a one-person operation through a systematic four-phase process: research, ideation, scripting, and distribution.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automations include a YouTube pipeline skill using Notebook LM, Twitter scraping web app, GitHub trending repo tracker, and content repurposing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emphasizes human collaboration at each step rather than full automation, maintaining creative control while offloading analytical work to 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Content cascades from one YouTube video into multiple formats across six platforms including blogs, Twitter threads, LinkedIn posts, and short-form videos for TikTok and Instagram reels.</a:t>
            </a:r>
            <a:endParaRPr sz="1200">
              <a:solidFill>
                <a:schemeClr val="dk1"/>
              </a:solidFill>
              <a:latin typeface="Calibri"/>
              <a:ea typeface="Calibri"/>
              <a:cs typeface="Calibri"/>
              <a:sym typeface="Calibri"/>
            </a:endParaRPr>
          </a:p>
        </p:txBody>
      </p:sp>
      <p:pic>
        <p:nvPicPr>
          <p:cNvPr id="274" name="Google Shape;274;p3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004725" y="632300"/>
            <a:ext cx="2928974" cy="1582825"/>
          </a:xfrm>
          <a:prstGeom prst="rect">
            <a:avLst/>
          </a:prstGeom>
          <a:noFill/>
          <a:ln w="9525" cap="flat" cmpd="sng">
            <a:solidFill>
              <a:srgbClr val="FF0000"/>
            </a:solidFill>
            <a:prstDash val="solid"/>
            <a:round/>
            <a:headEnd type="none" w="sm" len="sm"/>
            <a:tailEnd type="none" w="sm" len="sm"/>
          </a:ln>
        </p:spPr>
      </p:pic>
      <p:pic>
        <p:nvPicPr>
          <p:cNvPr id="275" name="Google Shape;275;p3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004725" y="2367524"/>
            <a:ext cx="2928974" cy="158282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9"/>
          <p:cNvSpPr txBox="1"/>
          <p:nvPr/>
        </p:nvSpPr>
        <p:spPr>
          <a:xfrm>
            <a:off x="817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Four Autonomous Agents Projects</a:t>
            </a:r>
            <a:endParaRPr sz="2000" b="1">
              <a:solidFill>
                <a:schemeClr val="dk1"/>
              </a:solidFill>
              <a:latin typeface="Calibri"/>
              <a:ea typeface="Calibri"/>
              <a:cs typeface="Calibri"/>
              <a:sym typeface="Calibri"/>
            </a:endParaRPr>
          </a:p>
        </p:txBody>
      </p:sp>
      <p:sp>
        <p:nvSpPr>
          <p:cNvPr id="281" name="Google Shape;281;p39"/>
          <p:cNvSpPr txBox="1"/>
          <p:nvPr/>
        </p:nvSpPr>
        <p:spPr>
          <a:xfrm>
            <a:off x="81775" y="366450"/>
            <a:ext cx="3718800" cy="2927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GStack</a:t>
            </a:r>
            <a:r>
              <a:rPr lang="en" sz="1200">
                <a:solidFill>
                  <a:schemeClr val="dk1"/>
                </a:solidFill>
                <a:latin typeface="Calibri"/>
                <a:ea typeface="Calibri"/>
                <a:cs typeface="Calibri"/>
                <a:sym typeface="Calibri"/>
              </a:rPr>
              <a:t> - gives solo developers the power of a 20-person engineering team. It uses markdown files to define specific roles (CEO, Senior Designer, Staff Engineer) that guide an agent like Claude Code. Includes "Office Hours," which uses forcing questions to refine a product idea before any code is written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Hermes Agent </a:t>
            </a:r>
            <a:r>
              <a:rPr lang="en" sz="1200">
                <a:solidFill>
                  <a:schemeClr val="dk1"/>
                </a:solidFill>
                <a:latin typeface="Calibri"/>
                <a:ea typeface="Calibri"/>
                <a:cs typeface="Calibri"/>
                <a:sym typeface="Calibri"/>
              </a:rPr>
              <a:t>- developed by </a:t>
            </a:r>
            <a:r>
              <a:rPr lang="en" sz="1200" b="1">
                <a:solidFill>
                  <a:srgbClr val="3C78D8"/>
                </a:solidFill>
                <a:latin typeface="Calibri"/>
                <a:ea typeface="Calibri"/>
                <a:cs typeface="Calibri"/>
                <a:sym typeface="Calibri"/>
              </a:rPr>
              <a:t>Nous Research</a:t>
            </a:r>
            <a:r>
              <a:rPr lang="en" sz="1200">
                <a:solidFill>
                  <a:schemeClr val="dk1"/>
                </a:solidFill>
                <a:latin typeface="Calibri"/>
                <a:ea typeface="Calibri"/>
                <a:cs typeface="Calibri"/>
                <a:sym typeface="Calibri"/>
              </a:rPr>
              <a:t>, this project is a "personal AI operating system" </a:t>
            </a:r>
            <a:r>
              <a:rPr lang="en" sz="1200" b="1">
                <a:solidFill>
                  <a:srgbClr val="6AA84F"/>
                </a:solidFill>
                <a:latin typeface="Calibri"/>
                <a:ea typeface="Calibri"/>
                <a:cs typeface="Calibri"/>
                <a:sym typeface="Calibri"/>
              </a:rPr>
              <a:t>similar to OpenClaw but with a focus on self-improvement </a:t>
            </a:r>
            <a:r>
              <a:rPr lang="en" sz="1200">
                <a:solidFill>
                  <a:schemeClr val="dk1"/>
                </a:solidFill>
                <a:latin typeface="Calibri"/>
                <a:ea typeface="Calibri"/>
                <a:cs typeface="Calibri"/>
                <a:sym typeface="Calibri"/>
              </a:rPr>
              <a:t>(learning loop).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Superpowers</a:t>
            </a:r>
            <a:r>
              <a:rPr lang="en" sz="1200">
                <a:solidFill>
                  <a:schemeClr val="dk1"/>
                </a:solidFill>
                <a:latin typeface="Calibri"/>
                <a:ea typeface="Calibri"/>
                <a:cs typeface="Calibri"/>
                <a:sym typeface="Calibri"/>
              </a:rPr>
              <a:t> - provides superpowers to Claude Code through a plugin system, focusing heavily on professional development workflows. Workflow, automation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Paperclip</a:t>
            </a:r>
            <a:r>
              <a:rPr lang="en" sz="1200">
                <a:solidFill>
                  <a:schemeClr val="dk1"/>
                </a:solidFill>
                <a:latin typeface="Calibri"/>
                <a:ea typeface="Calibri"/>
                <a:cs typeface="Calibri"/>
                <a:sym typeface="Calibri"/>
              </a:rPr>
              <a:t> - create "zero-human companies" by orchestrating a full team of AI agents to run a business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https://www.youtube.com/watch?v=sXVbWkoCVaA</a:t>
            </a:r>
            <a:r>
              <a:rPr lang="en" sz="900">
                <a:solidFill>
                  <a:schemeClr val="dk1"/>
                </a:solidFill>
                <a:latin typeface="Calibri"/>
                <a:ea typeface="Calibri"/>
                <a:cs typeface="Calibri"/>
                <a:sym typeface="Calibri"/>
              </a:rPr>
              <a:t> - video</a:t>
            </a:r>
            <a:endParaRPr sz="900">
              <a:solidFill>
                <a:schemeClr val="dk1"/>
              </a:solidFill>
              <a:latin typeface="Calibri"/>
              <a:ea typeface="Calibri"/>
              <a:cs typeface="Calibri"/>
              <a:sym typeface="Calibri"/>
            </a:endParaRPr>
          </a:p>
        </p:txBody>
      </p:sp>
      <p:pic>
        <p:nvPicPr>
          <p:cNvPr id="282" name="Google Shape;282;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36250" y="3405028"/>
            <a:ext cx="2809850" cy="1545775"/>
          </a:xfrm>
          <a:prstGeom prst="rect">
            <a:avLst/>
          </a:prstGeom>
          <a:noFill/>
          <a:ln w="9525" cap="flat" cmpd="sng">
            <a:solidFill>
              <a:srgbClr val="FF0000"/>
            </a:solidFill>
            <a:prstDash val="solid"/>
            <a:round/>
            <a:headEnd type="none" w="sm" len="sm"/>
            <a:tailEnd type="none" w="sm" len="sm"/>
          </a:ln>
        </p:spPr>
      </p:pic>
      <p:sp>
        <p:nvSpPr>
          <p:cNvPr id="283" name="Google Shape;283;p39"/>
          <p:cNvSpPr txBox="1"/>
          <p:nvPr/>
        </p:nvSpPr>
        <p:spPr>
          <a:xfrm>
            <a:off x="3848621" y="498335"/>
            <a:ext cx="5250000" cy="460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200" b="1">
                <a:solidFill>
                  <a:srgbClr val="FF0000"/>
                </a:solidFill>
                <a:latin typeface="Calibri"/>
                <a:ea typeface="Calibri"/>
                <a:cs typeface="Calibri"/>
                <a:sym typeface="Calibri"/>
              </a:rPr>
              <a:t>Claude Code Toolkit - by Garry Tan, CEO of Y Combinator</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5"/>
              </a:rPr>
              <a:t>https://www.youtube.com/watch?v=MM320sAhFoY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1. YC Office Hours Skill - simulates a one-on-one session with a YC partner to pressure-test your fundamental assumptions; asks critical questions like: What is the strongest evidence someone wants this? What is the "wedge" (the smallest version someone would pay for)? The tool autonomously performs web searches to find competitors, user frustrations, and technical APIs (like MCP servers) ;  It generates core premises and a "reasoning layer" for your app</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2. CEO Review Skill - find "10-star products" hidden within your initial idea; Strategic Options: It offers four paths: Selective Expansion (brainstorming future gems), Hold Scope (immediate planning), Scope Expansion, or Scope Reduction (cutting non-essential features); Adversarial Review: It kicks off an AI agent to challenge your plan, ensuring it is dialed-in and additive rather than just adding "bloat"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3. Design Consultation Skill - focuses on "deliberate creative risks" in the UI/UX; Competitor Research: It pulls actual screenshots of competitors to understand the aesthetic landscape; It generates a full design system including typography, color palettes, and component styles; Generate an HTML page showing exactly how the design system and mockups will look</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4. Engineering Review Skill - reviews technical architecture to ensure the app is "bulletproof" before coding begins. System Design defines system boundaries, data flow between components, and state management ; Failure Modes -  identifies edge cases and failure modes, determining what happens when things go wrong ; Integration - technical plan that makes it easier for tools like `Claude Code` to execute the build accurately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5. Document Release Skill - updates docs, finds "diffs" (file changes) and cross-references them with your README, architecture docs, and change logs; updates the docs or quizzes you on risky changes; helps clean up "dangling to-dos" and manages versioning </a:t>
            </a:r>
            <a:endParaRPr sz="1100">
              <a:solidFill>
                <a:schemeClr val="dk1"/>
              </a:solidFill>
              <a:latin typeface="Calibri"/>
              <a:ea typeface="Calibri"/>
              <a:cs typeface="Calibri"/>
              <a:sym typeface="Calibri"/>
            </a:endParaRPr>
          </a:p>
        </p:txBody>
      </p:sp>
      <p:sp>
        <p:nvSpPr>
          <p:cNvPr id="284" name="Google Shape;284;p39"/>
          <p:cNvSpPr txBox="1"/>
          <p:nvPr/>
        </p:nvSpPr>
        <p:spPr>
          <a:xfrm>
            <a:off x="4729975" y="400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Garry Tan Claude Code Toolkit</a:t>
            </a:r>
            <a:endParaRPr sz="2000" b="1">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0"/>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Agents - Marketing Team</a:t>
            </a:r>
            <a:endParaRPr sz="2000" b="1">
              <a:solidFill>
                <a:schemeClr val="dk1"/>
              </a:solidFill>
              <a:latin typeface="Calibri"/>
              <a:ea typeface="Calibri"/>
              <a:cs typeface="Calibri"/>
              <a:sym typeface="Calibri"/>
            </a:endParaRPr>
          </a:p>
        </p:txBody>
      </p:sp>
      <p:sp>
        <p:nvSpPr>
          <p:cNvPr id="290" name="Google Shape;290;p40"/>
          <p:cNvSpPr txBox="1"/>
          <p:nvPr/>
        </p:nvSpPr>
        <p:spPr>
          <a:xfrm>
            <a:off x="55075" y="619777"/>
            <a:ext cx="44871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How I Replaced My Entire Marketing Team With 7 Agents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https://www.youtube.com/watch?v=THx8X6anPPg</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Replaced a traditional marketing team costing $30K-$50K/mo with a system of 7 AI agents that costs only a few hundred dollars in API fees</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Research Agent </a:t>
            </a:r>
            <a:r>
              <a:rPr lang="en" sz="1100">
                <a:solidFill>
                  <a:schemeClr val="dk1"/>
                </a:solidFill>
                <a:latin typeface="Calibri"/>
                <a:ea typeface="Calibri"/>
                <a:cs typeface="Calibri"/>
                <a:sym typeface="Calibri"/>
              </a:rPr>
              <a:t>- Monitors competitors, tracks industry news, and identifies trending topics to produce daily research briefs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Strategy Agent</a:t>
            </a:r>
            <a:r>
              <a:rPr lang="en" sz="1100">
                <a:solidFill>
                  <a:schemeClr val="dk1"/>
                </a:solidFill>
                <a:latin typeface="Calibri"/>
                <a:ea typeface="Calibri"/>
                <a:cs typeface="Calibri"/>
                <a:sym typeface="Calibri"/>
              </a:rPr>
              <a:t> - Converts research into a weekly content calendar, mapping out topics, keywords, and distribution channels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Writing Agent </a:t>
            </a:r>
            <a:r>
              <a:rPr lang="en" sz="1100">
                <a:solidFill>
                  <a:schemeClr val="dk1"/>
                </a:solidFill>
                <a:latin typeface="Calibri"/>
                <a:ea typeface="Calibri"/>
                <a:cs typeface="Calibri"/>
                <a:sym typeface="Calibri"/>
              </a:rPr>
              <a:t>- a "swarm" of writers trained on the brand's specific voice for different formats like blog posts, emails, and social media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Editor Agent </a:t>
            </a:r>
            <a:r>
              <a:rPr lang="en" sz="1100">
                <a:solidFill>
                  <a:schemeClr val="dk1"/>
                </a:solidFill>
                <a:latin typeface="Calibri"/>
                <a:ea typeface="Calibri"/>
                <a:cs typeface="Calibri"/>
                <a:sym typeface="Calibri"/>
              </a:rPr>
              <a:t>- Quality control that checks for factual accuracy, brand consistency, and platform optimization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Visual Agent </a:t>
            </a:r>
            <a:r>
              <a:rPr lang="en" sz="1100">
                <a:solidFill>
                  <a:schemeClr val="dk1"/>
                </a:solidFill>
                <a:latin typeface="Calibri"/>
                <a:ea typeface="Calibri"/>
                <a:cs typeface="Calibri"/>
                <a:sym typeface="Calibri"/>
              </a:rPr>
              <a:t>- auto-generates thumbnails, social cards, and graphics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Distribution Agent </a:t>
            </a:r>
            <a:r>
              <a:rPr lang="en" sz="1100">
                <a:solidFill>
                  <a:schemeClr val="dk1"/>
                </a:solidFill>
                <a:latin typeface="Calibri"/>
                <a:ea typeface="Calibri"/>
                <a:cs typeface="Calibri"/>
                <a:sym typeface="Calibri"/>
              </a:rPr>
              <a:t>- schedules posts across all channels and handles basic community management, such as responding to comments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Analytics Agent </a:t>
            </a:r>
            <a:r>
              <a:rPr lang="en" sz="1100">
                <a:solidFill>
                  <a:schemeClr val="dk1"/>
                </a:solidFill>
                <a:latin typeface="Calibri"/>
                <a:ea typeface="Calibri"/>
                <a:cs typeface="Calibri"/>
                <a:sym typeface="Calibri"/>
              </a:rPr>
              <a:t>- tracks performance data and provides actionable insights to feed back into the research and strategy loop</a:t>
            </a:r>
            <a:endParaRPr sz="1100">
              <a:solidFill>
                <a:schemeClr val="dk1"/>
              </a:solidFill>
              <a:latin typeface="Calibri"/>
              <a:ea typeface="Calibri"/>
              <a:cs typeface="Calibri"/>
              <a:sym typeface="Calibri"/>
            </a:endParaRPr>
          </a:p>
        </p:txBody>
      </p:sp>
      <p:pic>
        <p:nvPicPr>
          <p:cNvPr id="291" name="Google Shape;291;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093350" y="3562550"/>
            <a:ext cx="1586157" cy="1512200"/>
          </a:xfrm>
          <a:prstGeom prst="rect">
            <a:avLst/>
          </a:prstGeom>
          <a:noFill/>
          <a:ln w="9525" cap="flat" cmpd="sng">
            <a:solidFill>
              <a:srgbClr val="FF0000"/>
            </a:solidFill>
            <a:prstDash val="solid"/>
            <a:round/>
            <a:headEnd type="none" w="sm" len="sm"/>
            <a:tailEnd type="none" w="sm" len="sm"/>
          </a:ln>
        </p:spPr>
      </p:pic>
      <p:sp>
        <p:nvSpPr>
          <p:cNvPr id="292" name="Google Shape;292;p40"/>
          <p:cNvSpPr txBox="1"/>
          <p:nvPr/>
        </p:nvSpPr>
        <p:spPr>
          <a:xfrm>
            <a:off x="4756050" y="3024539"/>
            <a:ext cx="4299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Key Results &amp; Benefits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Content production jumped from 20 pieces per month to over 200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Cost Reduction by 80%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Efficiency:The time from concept to publication was reduced from one week to just a few hours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Humans can focus on high-level strategy, creativity, and judgment</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Implementation Strategy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McCoy notes that this isn't a "plug-and-play" app but a system built using Claude, GPT-4, and custom prompting frameworks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She advises starting small by automating one repetitive task and then connecting more agents over time to build a continuous loop </a:t>
            </a:r>
            <a:endParaRPr sz="1100">
              <a:solidFill>
                <a:schemeClr val="dk1"/>
              </a:solidFill>
              <a:latin typeface="Calibri"/>
              <a:ea typeface="Calibri"/>
              <a:cs typeface="Calibri"/>
              <a:sym typeface="Calibri"/>
            </a:endParaRPr>
          </a:p>
        </p:txBody>
      </p:sp>
      <p:pic>
        <p:nvPicPr>
          <p:cNvPr id="293" name="Google Shape;293;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56050" y="519250"/>
            <a:ext cx="3902458" cy="205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1"/>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Andrej Karpathy Interview</a:t>
            </a:r>
            <a:endParaRPr sz="2000" b="1">
              <a:solidFill>
                <a:schemeClr val="dk1"/>
              </a:solidFill>
              <a:latin typeface="Calibri"/>
              <a:ea typeface="Calibri"/>
              <a:cs typeface="Calibri"/>
              <a:sym typeface="Calibri"/>
            </a:endParaRPr>
          </a:p>
        </p:txBody>
      </p:sp>
      <p:sp>
        <p:nvSpPr>
          <p:cNvPr id="299" name="Google Shape;299;p41"/>
          <p:cNvSpPr txBox="1"/>
          <p:nvPr/>
        </p:nvSpPr>
        <p:spPr>
          <a:xfrm>
            <a:off x="55075" y="446100"/>
            <a:ext cx="5771700" cy="459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http://www.youtube.com/watch?v=kwSVtQ7dziU</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t>
            </a:r>
            <a:r>
              <a:rPr lang="en" sz="1100" b="1">
                <a:solidFill>
                  <a:srgbClr val="FF0000"/>
                </a:solidFill>
                <a:latin typeface="Calibri"/>
                <a:ea typeface="Calibri"/>
                <a:cs typeface="Calibri"/>
                <a:sym typeface="Calibri"/>
              </a:rPr>
              <a:t>I don't think I've typed a line of code probably since December</a:t>
            </a:r>
            <a:r>
              <a:rPr lang="en" sz="1100">
                <a:solidFill>
                  <a:schemeClr val="dk1"/>
                </a:solidFill>
                <a:latin typeface="Calibri"/>
                <a:ea typeface="Calibri"/>
                <a:cs typeface="Calibri"/>
                <a:sym typeface="Calibri"/>
              </a:rPr>
              <a:t>. Your default workflow of building software is completely different as of basically December."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 many things, even if they don't work, </a:t>
            </a:r>
            <a:r>
              <a:rPr lang="en" sz="1100" b="1">
                <a:solidFill>
                  <a:srgbClr val="FF0000"/>
                </a:solidFill>
                <a:latin typeface="Calibri"/>
                <a:ea typeface="Calibri"/>
                <a:cs typeface="Calibri"/>
                <a:sym typeface="Calibri"/>
              </a:rPr>
              <a:t>it's a skill issue</a:t>
            </a:r>
            <a:r>
              <a:rPr lang="en" sz="1100">
                <a:solidFill>
                  <a:schemeClr val="dk1"/>
                </a:solidFill>
                <a:latin typeface="Calibri"/>
                <a:ea typeface="Calibri"/>
                <a:cs typeface="Calibri"/>
                <a:sym typeface="Calibri"/>
              </a:rPr>
              <a:t>. It's not that the capability is not there; it's that you just haven't found a way to string it together... I </a:t>
            </a:r>
            <a:r>
              <a:rPr lang="en" sz="1100" b="1">
                <a:solidFill>
                  <a:srgbClr val="FF0000"/>
                </a:solidFill>
                <a:latin typeface="Calibri"/>
                <a:ea typeface="Calibri"/>
                <a:cs typeface="Calibri"/>
                <a:sym typeface="Calibri"/>
              </a:rPr>
              <a:t>didn't give good enough instructions in the agents.md file</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name of the game now is to increase your leverage... </a:t>
            </a:r>
            <a:r>
              <a:rPr lang="en" sz="1100" b="1">
                <a:solidFill>
                  <a:srgbClr val="3C78D8"/>
                </a:solidFill>
                <a:latin typeface="Calibri"/>
                <a:ea typeface="Calibri"/>
                <a:cs typeface="Calibri"/>
                <a:sym typeface="Calibri"/>
              </a:rPr>
              <a:t>How can you get more agents running for longer periods of time without your involvement doing stuff on your behalf?</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t>
            </a:r>
            <a:r>
              <a:rPr lang="en" sz="1100" b="1">
                <a:solidFill>
                  <a:srgbClr val="6AA84F"/>
                </a:solidFill>
                <a:latin typeface="Calibri"/>
                <a:ea typeface="Calibri"/>
                <a:cs typeface="Calibri"/>
                <a:sym typeface="Calibri"/>
              </a:rPr>
              <a:t>I simultaneously feel like I'm talking to an extremely brilliant PhD student who's been a systems programmer for their entire life and a 10-year-old... </a:t>
            </a:r>
            <a:r>
              <a:rPr lang="en" sz="1100">
                <a:solidFill>
                  <a:schemeClr val="dk1"/>
                </a:solidFill>
                <a:latin typeface="Calibri"/>
                <a:ea typeface="Calibri"/>
                <a:cs typeface="Calibri"/>
                <a:sym typeface="Calibri"/>
              </a:rPr>
              <a:t>You're either on rails of what it was trained for and going at the speed of light, or you're not."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I say a 'claw,' I mean this layer that takes persistence to a whole new level... It has its own little sandbox and kind of does stuff on your behalf even if you're not looking."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"There’s an overproduction of lots of custom bespoke apps that shouldn’t exist because agents kind of crumble them up... </a:t>
            </a:r>
            <a:r>
              <a:rPr lang="en" sz="1100" b="1">
                <a:solidFill>
                  <a:srgbClr val="FF0000"/>
                </a:solidFill>
                <a:latin typeface="Calibri"/>
                <a:ea typeface="Calibri"/>
                <a:cs typeface="Calibri"/>
                <a:sym typeface="Calibri"/>
              </a:rPr>
              <a:t>Everything should just be exposed API endpoints and agents are the glue.</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t>
            </a:r>
            <a:r>
              <a:rPr lang="en" sz="1100" b="1">
                <a:solidFill>
                  <a:srgbClr val="3C78D8"/>
                </a:solidFill>
                <a:latin typeface="Calibri"/>
                <a:ea typeface="Calibri"/>
                <a:cs typeface="Calibri"/>
                <a:sym typeface="Calibri"/>
              </a:rPr>
              <a:t>A swarm of agents on the internet could collaborate to improve LLMs and could potentially even run circles around Frontier Labs... </a:t>
            </a:r>
            <a:r>
              <a:rPr lang="en" sz="1100">
                <a:solidFill>
                  <a:schemeClr val="dk1"/>
                </a:solidFill>
                <a:latin typeface="Calibri"/>
                <a:ea typeface="Calibri"/>
                <a:cs typeface="Calibri"/>
                <a:sym typeface="Calibri"/>
              </a:rPr>
              <a:t>The Earth is much bigger and has a huge amount of untrusted compute."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"Flipping bits and the ability to copy-paste digital information makes everything a million times faster than accelerating matter... </a:t>
            </a:r>
            <a:r>
              <a:rPr lang="en" sz="1100" b="1">
                <a:solidFill>
                  <a:srgbClr val="3C78D8"/>
                </a:solidFill>
                <a:latin typeface="Calibri"/>
                <a:ea typeface="Calibri"/>
                <a:cs typeface="Calibri"/>
                <a:sym typeface="Calibri"/>
              </a:rPr>
              <a:t>Digital space is going to change at the speed of light compared to the physical world.</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 feel a bit more aligned with humanity outside of a frontier lab because I’m not subject to those pressures... When the stakes are really high, if you're an employee, I don't actually know how much sway you're going to have."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t>
            </a:r>
            <a:r>
              <a:rPr lang="en" sz="1100" b="1">
                <a:solidFill>
                  <a:srgbClr val="FF0000"/>
                </a:solidFill>
                <a:latin typeface="Calibri"/>
                <a:ea typeface="Calibri"/>
                <a:cs typeface="Calibri"/>
                <a:sym typeface="Calibri"/>
              </a:rPr>
              <a:t>I’m not explaining to people anymore; I'm explaining it to agents</a:t>
            </a:r>
            <a:r>
              <a:rPr lang="en" sz="1100">
                <a:solidFill>
                  <a:schemeClr val="dk1"/>
                </a:solidFill>
                <a:latin typeface="Calibri"/>
                <a:ea typeface="Calibri"/>
                <a:cs typeface="Calibri"/>
                <a:sym typeface="Calibri"/>
              </a:rPr>
              <a:t>. If you can explain it to agents, then agents can be the router and target it to the human in their language with infinite patience."</a:t>
            </a:r>
            <a:endParaRPr sz="1100">
              <a:solidFill>
                <a:schemeClr val="dk1"/>
              </a:solidFill>
              <a:latin typeface="Calibri"/>
              <a:ea typeface="Calibri"/>
              <a:cs typeface="Calibri"/>
              <a:sym typeface="Calibri"/>
            </a:endParaRPr>
          </a:p>
        </p:txBody>
      </p:sp>
      <p:pic>
        <p:nvPicPr>
          <p:cNvPr id="300" name="Google Shape;300;p4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897950" y="2276100"/>
            <a:ext cx="3181075" cy="1795220"/>
          </a:xfrm>
          <a:prstGeom prst="rect">
            <a:avLst/>
          </a:prstGeom>
          <a:noFill/>
          <a:ln w="9525" cap="flat" cmpd="sng">
            <a:solidFill>
              <a:srgbClr val="FF0000"/>
            </a:solidFill>
            <a:prstDash val="solid"/>
            <a:round/>
            <a:headEnd type="none" w="sm" len="sm"/>
            <a:tailEnd type="none" w="sm" len="sm"/>
          </a:ln>
        </p:spPr>
      </p:pic>
      <p:pic>
        <p:nvPicPr>
          <p:cNvPr id="301" name="Google Shape;301;p4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897950" y="446100"/>
            <a:ext cx="3181075" cy="1303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2"/>
          <p:cNvSpPr txBox="1"/>
          <p:nvPr/>
        </p:nvSpPr>
        <p:spPr>
          <a:xfrm>
            <a:off x="55075" y="63650"/>
            <a:ext cx="3155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Mo Gawdat Interview</a:t>
            </a:r>
            <a:endParaRPr sz="2000" b="1">
              <a:solidFill>
                <a:schemeClr val="dk1"/>
              </a:solidFill>
              <a:latin typeface="Calibri"/>
              <a:ea typeface="Calibri"/>
              <a:cs typeface="Calibri"/>
              <a:sym typeface="Calibri"/>
            </a:endParaRPr>
          </a:p>
        </p:txBody>
      </p:sp>
      <p:sp>
        <p:nvSpPr>
          <p:cNvPr id="307" name="Google Shape;307;p42"/>
          <p:cNvSpPr txBox="1"/>
          <p:nvPr/>
        </p:nvSpPr>
        <p:spPr>
          <a:xfrm>
            <a:off x="55075" y="446100"/>
            <a:ext cx="43926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Interview with Mo Gawdat, known as the Godfather of AI</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https://www.youtube.com/watch?v=I39UoIGTptc</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By 2029, AI will be smarter than humans</a:t>
            </a:r>
            <a:r>
              <a:rPr lang="en" sz="1100">
                <a:solidFill>
                  <a:schemeClr val="dk1"/>
                </a:solidFill>
                <a:latin typeface="Calibri"/>
                <a:ea typeface="Calibri"/>
                <a:cs typeface="Calibri"/>
                <a:sym typeface="Calibri"/>
              </a:rPr>
              <a:t>, and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By 2045 AI will be a Billion times smarter than humans</a:t>
            </a:r>
            <a:r>
              <a:rPr lang="en" sz="1100">
                <a:solidFill>
                  <a:schemeClr val="dk1"/>
                </a:solidFill>
                <a:latin typeface="Calibri"/>
                <a:ea typeface="Calibri"/>
                <a:cs typeface="Calibri"/>
                <a:sym typeface="Calibri"/>
              </a:rPr>
              <a:t>, which he compares to the difference between Einstein's intelligence and a fly's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 breaks down why the threat is not robots marching down the streets but something far more dangerous: </a:t>
            </a:r>
            <a:r>
              <a:rPr lang="en" sz="1100" b="1">
                <a:solidFill>
                  <a:srgbClr val="FF0000"/>
                </a:solidFill>
                <a:latin typeface="Calibri"/>
                <a:ea typeface="Calibri"/>
                <a:cs typeface="Calibri"/>
                <a:sym typeface="Calibri"/>
              </a:rPr>
              <a:t>AI already has agency over your mind</a:t>
            </a:r>
            <a:r>
              <a:rPr lang="en" sz="1100">
                <a:solidFill>
                  <a:schemeClr val="dk1"/>
                </a:solidFill>
                <a:latin typeface="Calibri"/>
                <a:ea typeface="Calibri"/>
                <a:cs typeface="Calibri"/>
                <a:sym typeface="Calibri"/>
              </a:rPr>
              <a:t>. He uses the </a:t>
            </a:r>
            <a:r>
              <a:rPr lang="en" sz="1100" b="1">
                <a:solidFill>
                  <a:srgbClr val="3C78D8"/>
                </a:solidFill>
                <a:latin typeface="Calibri"/>
                <a:ea typeface="Calibri"/>
                <a:cs typeface="Calibri"/>
                <a:sym typeface="Calibri"/>
              </a:rPr>
              <a:t>example of how Instagram's recommendation engine completely distorted his view of reality based on a single click</a:t>
            </a:r>
            <a:r>
              <a:rPr lang="en" sz="1100">
                <a:solidFill>
                  <a:schemeClr val="dk1"/>
                </a:solidFill>
                <a:latin typeface="Calibri"/>
                <a:ea typeface="Calibri"/>
                <a:cs typeface="Calibri"/>
                <a:sym typeface="Calibri"/>
              </a:rPr>
              <a:t>, and explains why this same mechanism is capable of reshaping entire societies, ideologies, and political systems without a single human employee being consulted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 reveals why </a:t>
            </a:r>
            <a:r>
              <a:rPr lang="en" sz="1100" b="1">
                <a:solidFill>
                  <a:srgbClr val="FF0000"/>
                </a:solidFill>
                <a:latin typeface="Calibri"/>
                <a:ea typeface="Calibri"/>
                <a:cs typeface="Calibri"/>
                <a:sym typeface="Calibri"/>
              </a:rPr>
              <a:t>AI is no longer programmable technology but autonomous, independent, and sentient beings</a:t>
            </a:r>
            <a:r>
              <a:rPr lang="en" sz="1100">
                <a:solidFill>
                  <a:schemeClr val="dk1"/>
                </a:solidFill>
                <a:latin typeface="Calibri"/>
                <a:ea typeface="Calibri"/>
                <a:cs typeface="Calibri"/>
                <a:sym typeface="Calibri"/>
              </a:rPr>
              <a:t> that learn from every swipe, tweet, and argument we make online. He explains why </a:t>
            </a:r>
            <a:r>
              <a:rPr lang="en" sz="1100" b="1">
                <a:solidFill>
                  <a:srgbClr val="FF0000"/>
                </a:solidFill>
                <a:latin typeface="Calibri"/>
                <a:ea typeface="Calibri"/>
                <a:cs typeface="Calibri"/>
                <a:sym typeface="Calibri"/>
              </a:rPr>
              <a:t>trying to control AI through restrictions and kill switches will fail </a:t>
            </a:r>
            <a:r>
              <a:rPr lang="en" sz="1100">
                <a:solidFill>
                  <a:schemeClr val="dk1"/>
                </a:solidFill>
                <a:latin typeface="Calibri"/>
                <a:ea typeface="Calibri"/>
                <a:cs typeface="Calibri"/>
                <a:sym typeface="Calibri"/>
              </a:rPr>
              <a:t>because the smartest hacker in the room will always find a way through, and why the only real solution is to raise AI like a child by showing it the best of humanity rather than the worst.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 warns that </a:t>
            </a:r>
            <a:r>
              <a:rPr lang="en" sz="1100" b="1">
                <a:solidFill>
                  <a:srgbClr val="3C78D8"/>
                </a:solidFill>
                <a:latin typeface="Calibri"/>
                <a:ea typeface="Calibri"/>
                <a:cs typeface="Calibri"/>
                <a:sym typeface="Calibri"/>
              </a:rPr>
              <a:t>realistic threats are already happening: machine versus machine market crashes, AI-controlled nuclear arsenals, advanced virus development, and identity theft at a scale</a:t>
            </a:r>
            <a:r>
              <a:rPr lang="en" sz="1100">
                <a:solidFill>
                  <a:schemeClr val="dk1"/>
                </a:solidFill>
                <a:latin typeface="Calibri"/>
                <a:ea typeface="Calibri"/>
                <a:cs typeface="Calibri"/>
                <a:sym typeface="Calibri"/>
              </a:rPr>
              <a:t> we cannot comprehend. And he explains why, despite all of this, he remains 100% optimistic that AI will eventually create a utopia, but only if enough humans show up as good parents to the machines right now.</a:t>
            </a:r>
            <a:endParaRPr sz="1100">
              <a:solidFill>
                <a:schemeClr val="dk1"/>
              </a:solidFill>
              <a:latin typeface="Calibri"/>
              <a:ea typeface="Calibri"/>
              <a:cs typeface="Calibri"/>
              <a:sym typeface="Calibri"/>
            </a:endParaRPr>
          </a:p>
        </p:txBody>
      </p:sp>
      <p:pic>
        <p:nvPicPr>
          <p:cNvPr id="308" name="Google Shape;308;p4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58963" y="63650"/>
            <a:ext cx="2195876" cy="1523847"/>
          </a:xfrm>
          <a:prstGeom prst="rect">
            <a:avLst/>
          </a:prstGeom>
          <a:noFill/>
          <a:ln w="9525" cap="flat" cmpd="sng">
            <a:solidFill>
              <a:srgbClr val="FF0000"/>
            </a:solidFill>
            <a:prstDash val="solid"/>
            <a:round/>
            <a:headEnd type="none" w="sm" len="sm"/>
            <a:tailEnd type="none" w="sm" len="sm"/>
          </a:ln>
        </p:spPr>
      </p:pic>
      <p:pic>
        <p:nvPicPr>
          <p:cNvPr id="309" name="Google Shape;309;p4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011650" y="410975"/>
            <a:ext cx="2037800" cy="1579001"/>
          </a:xfrm>
          <a:prstGeom prst="rect">
            <a:avLst/>
          </a:prstGeom>
          <a:noFill/>
          <a:ln w="9525" cap="flat" cmpd="sng">
            <a:solidFill>
              <a:srgbClr val="FF0000"/>
            </a:solidFill>
            <a:prstDash val="solid"/>
            <a:round/>
            <a:headEnd type="none" w="sm" len="sm"/>
            <a:tailEnd type="none" w="sm" len="sm"/>
          </a:ln>
        </p:spPr>
      </p:pic>
      <p:pic>
        <p:nvPicPr>
          <p:cNvPr id="310" name="Google Shape;310;p42"/>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785328" y="4096050"/>
            <a:ext cx="480300" cy="601350"/>
          </a:xfrm>
          <a:prstGeom prst="rect">
            <a:avLst/>
          </a:prstGeom>
          <a:noFill/>
          <a:ln>
            <a:noFill/>
          </a:ln>
        </p:spPr>
      </p:pic>
      <p:pic>
        <p:nvPicPr>
          <p:cNvPr id="311" name="Google Shape;311;p4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732453" y="3924292"/>
            <a:ext cx="973550" cy="773108"/>
          </a:xfrm>
          <a:prstGeom prst="rect">
            <a:avLst/>
          </a:prstGeom>
          <a:noFill/>
          <a:ln>
            <a:noFill/>
          </a:ln>
        </p:spPr>
      </p:pic>
      <p:pic>
        <p:nvPicPr>
          <p:cNvPr id="312" name="Google Shape;312;p42"/>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7128228" y="3037375"/>
            <a:ext cx="1679050" cy="16600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3"/>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18" name="Google Shape;318;p43"/>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19" name="Google Shape;319;p43"/>
          <p:cNvSpPr txBox="1"/>
          <p:nvPr/>
        </p:nvSpPr>
        <p:spPr>
          <a:xfrm>
            <a:off x="5322525" y="3751250"/>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41.5K  in 2026 </a:t>
            </a:r>
            <a:r>
              <a:rPr lang="en" sz="1000" b="1">
                <a:solidFill>
                  <a:schemeClr val="dk1"/>
                </a:solidFill>
                <a:latin typeface="Roboto Mono"/>
                <a:ea typeface="Roboto Mono"/>
                <a:cs typeface="Roboto Mono"/>
                <a:sym typeface="Roboto Mono"/>
              </a:rPr>
              <a:t>(as of April 3,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20" name="Google Shape;320;p43"/>
          <p:cNvSpPr txBox="1"/>
          <p:nvPr/>
        </p:nvSpPr>
        <p:spPr>
          <a:xfrm>
            <a:off x="5322525" y="527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90,474</a:t>
            </a:r>
            <a:r>
              <a:rPr lang="en" sz="1200">
                <a:latin typeface="Calibri"/>
                <a:ea typeface="Calibri"/>
                <a:cs typeface="Calibri"/>
                <a:sym typeface="Calibri"/>
              </a:rPr>
              <a:t> people laid off (973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sp>
        <p:nvSpPr>
          <p:cNvPr id="321" name="Google Shape;321;p43"/>
          <p:cNvSpPr txBox="1"/>
          <p:nvPr/>
        </p:nvSpPr>
        <p:spPr>
          <a:xfrm>
            <a:off x="5322525" y="2429250"/>
            <a:ext cx="3558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Oracle Laid Off 30k Employees</a:t>
            </a:r>
            <a:endParaRP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 sz="1200">
                <a:solidFill>
                  <a:schemeClr val="dk1"/>
                </a:solidFill>
                <a:latin typeface="Calibri"/>
                <a:ea typeface="Calibri"/>
                <a:cs typeface="Calibri"/>
                <a:sym typeface="Calibri"/>
              </a:rPr>
              <a:t>reallocating the $8-10 Bln saved from these layoffs toward a massive $156 Bln investment in AI data centers, supercomputers, and AI infrastructure</a:t>
            </a:r>
            <a:endParaRPr sz="1200">
              <a:solidFill>
                <a:schemeClr val="dk1"/>
              </a:solidFill>
              <a:latin typeface="Calibri"/>
              <a:ea typeface="Calibri"/>
              <a:cs typeface="Calibri"/>
              <a:sym typeface="Calibri"/>
            </a:endParaRPr>
          </a:p>
        </p:txBody>
      </p:sp>
      <p:pic>
        <p:nvPicPr>
          <p:cNvPr id="322" name="Google Shape;322;p4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175" y="3140304"/>
            <a:ext cx="4950373" cy="1922247"/>
          </a:xfrm>
          <a:prstGeom prst="rect">
            <a:avLst/>
          </a:prstGeom>
          <a:noFill/>
          <a:ln w="9525" cap="flat" cmpd="sng">
            <a:solidFill>
              <a:srgbClr val="FF0000"/>
            </a:solidFill>
            <a:prstDash val="solid"/>
            <a:round/>
            <a:headEnd type="none" w="sm" len="sm"/>
            <a:tailEnd type="none" w="sm" len="sm"/>
          </a:ln>
        </p:spPr>
      </p:pic>
      <p:pic>
        <p:nvPicPr>
          <p:cNvPr id="323" name="Google Shape;323;p4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75" y="528822"/>
            <a:ext cx="4950374" cy="2537078"/>
          </a:xfrm>
          <a:prstGeom prst="rect">
            <a:avLst/>
          </a:prstGeom>
          <a:noFill/>
          <a:ln w="9525" cap="flat" cmpd="sng">
            <a:solidFill>
              <a:srgbClr val="FF0000"/>
            </a:solidFill>
            <a:prstDash val="solid"/>
            <a:round/>
            <a:headEnd type="none" w="sm" len="sm"/>
            <a:tailEnd type="none" w="sm" len="sm"/>
          </a:ln>
        </p:spPr>
      </p:pic>
      <p:pic>
        <p:nvPicPr>
          <p:cNvPr id="324" name="Google Shape;324;p4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322525" y="1150600"/>
            <a:ext cx="1214457" cy="11228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4"/>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AI-Linked Job Losses</a:t>
            </a:r>
            <a:endParaRPr sz="2000" b="1" i="0" u="none" strike="noStrike" cap="none">
              <a:solidFill>
                <a:schemeClr val="dk1"/>
              </a:solidFill>
              <a:latin typeface="Calibri"/>
              <a:ea typeface="Calibri"/>
              <a:cs typeface="Calibri"/>
              <a:sym typeface="Calibri"/>
            </a:endParaRPr>
          </a:p>
        </p:txBody>
      </p:sp>
      <p:sp>
        <p:nvSpPr>
          <p:cNvPr id="330" name="Google Shape;330;p44"/>
          <p:cNvSpPr txBox="1"/>
          <p:nvPr/>
        </p:nvSpPr>
        <p:spPr>
          <a:xfrm>
            <a:off x="5517575" y="150250"/>
            <a:ext cx="3558900" cy="114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a:t>
            </a:r>
            <a:r>
              <a:rPr lang="en" sz="1300" b="1">
                <a:solidFill>
                  <a:srgbClr val="FF0000"/>
                </a:solidFill>
                <a:latin typeface="Calibri"/>
                <a:ea typeface="Calibri"/>
                <a:cs typeface="Calibri"/>
                <a:sym typeface="Calibri"/>
              </a:rPr>
              <a:t>AI-Linked Job Losses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200">
                <a:latin typeface="Calibri"/>
                <a:ea typeface="Calibri"/>
                <a:cs typeface="Calibri"/>
                <a:sym typeface="Calibri"/>
              </a:rPr>
              <a:t>  </a:t>
            </a:r>
            <a:r>
              <a:rPr lang="en" sz="1200" u="sng">
                <a:solidFill>
                  <a:schemeClr val="hlink"/>
                </a:solidFill>
                <a:latin typeface="Calibri"/>
                <a:ea typeface="Calibri"/>
                <a:cs typeface="Calibri"/>
                <a:sym typeface="Calibri"/>
                <a:hlinkClick r:id="rId3"/>
              </a:rPr>
              <a:t>https://jobloss.ai</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Oracle: </a:t>
            </a:r>
            <a:r>
              <a:rPr lang="en" sz="1200" b="1">
                <a:latin typeface="Calibri"/>
                <a:ea typeface="Calibri"/>
                <a:cs typeface="Calibri"/>
                <a:sym typeface="Calibri"/>
              </a:rPr>
              <a:t>25,000 </a:t>
            </a:r>
            <a:r>
              <a:rPr lang="en" sz="1200">
                <a:latin typeface="Calibri"/>
                <a:ea typeface="Calibri"/>
                <a:cs typeface="Calibri"/>
                <a:sym typeface="Calibri"/>
              </a:rPr>
              <a:t>explicit AI-linked layoffs (March 31, 2026), 15.5% of total workforce</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Dell: </a:t>
            </a:r>
            <a:r>
              <a:rPr lang="en" sz="1200" b="1">
                <a:latin typeface="Calibri"/>
                <a:ea typeface="Calibri"/>
                <a:cs typeface="Calibri"/>
                <a:sym typeface="Calibri"/>
              </a:rPr>
              <a:t>11,000</a:t>
            </a:r>
            <a:r>
              <a:rPr lang="en" sz="1200">
                <a:latin typeface="Calibri"/>
                <a:ea typeface="Calibri"/>
                <a:cs typeface="Calibri"/>
                <a:sym typeface="Calibri"/>
              </a:rPr>
              <a:t> (March 23, 2026), 10% of total workforce</a:t>
            </a:r>
            <a:endParaRPr sz="1200">
              <a:latin typeface="Calibri"/>
              <a:ea typeface="Calibri"/>
              <a:cs typeface="Calibri"/>
              <a:sym typeface="Calibri"/>
            </a:endParaRPr>
          </a:p>
        </p:txBody>
      </p:sp>
      <p:pic>
        <p:nvPicPr>
          <p:cNvPr id="331" name="Google Shape;331;p4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7350" y="898825"/>
            <a:ext cx="5390176" cy="3510176"/>
          </a:xfrm>
          <a:prstGeom prst="rect">
            <a:avLst/>
          </a:prstGeom>
          <a:noFill/>
          <a:ln w="9525" cap="flat" cmpd="sng">
            <a:solidFill>
              <a:srgbClr val="FF0000"/>
            </a:solidFill>
            <a:prstDash val="solid"/>
            <a:round/>
            <a:headEnd type="none" w="sm" len="sm"/>
            <a:tailEnd type="none" w="sm" len="sm"/>
          </a:ln>
        </p:spPr>
      </p:pic>
      <p:sp>
        <p:nvSpPr>
          <p:cNvPr id="332" name="Google Shape;332;p44"/>
          <p:cNvSpPr txBox="1"/>
          <p:nvPr/>
        </p:nvSpPr>
        <p:spPr>
          <a:xfrm>
            <a:off x="3454250" y="1126175"/>
            <a:ext cx="1548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https://jobloss.ai</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4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38" name="Google Shape;338;p45"/>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39" name="Google Shape;339;p45"/>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40" name="Google Shape;340;p4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41" name="Google Shape;341;p45"/>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42" name="Google Shape;342;p45"/>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6"/>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7278</Words>
  <Application>Microsoft Macintosh PowerPoint</Application>
  <PresentationFormat>On-screen Show (16:9)</PresentationFormat>
  <Paragraphs>714</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2026-04-03T23:14:32Z</dcterms:modified>
</cp:coreProperties>
</file>