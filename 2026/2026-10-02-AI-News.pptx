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embeddedFontLst>
    <p:embeddedFont>
      <p:font typeface="Roboto Mono" pitchFamily="49" charset="0"/>
      <p:regular r:id="rId29"/>
      <p:bold r:id="rId30"/>
      <p:italic r:id="rId31"/>
      <p:boldItalic r:id="rId32"/>
    </p:embeddedFont>
    <p:embeddedFont>
      <p:font typeface="Victor Mono" panose="02000009000000000000" pitchFamily="49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53ED19-EEB7-4158-B27B-2339E74C21D2}">
  <a:tblStyle styleId="{DA53ED19-EEB7-4158-B27B-2339E74C21D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computes a nine-loop physics amplitude, a new record =&gt; Claude Solves Nine-Loop Physics Problem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relaunches Copilot with Home, Code and Autopilot =&gt; New Microsoft Copilot with Autopilot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SoftBank sells a record $11.1 billion of junk bonds for OpenAI =&gt; SoftBank $11.1B Bonds for OpenAI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Muse handed a user 6.8 GB of its own sandbox, SSH keys included =&gt; Muse Leaks Its Own Sandbox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OpenRouter launches Jev Router to pick a model for each request =&gt; OpenRouter Jev Router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FLUX 3 Action: open 7B robot model tops RoboLab =&gt; FLUX 3 Action Robot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now wraps up cleanly at the 5-hour limit =&gt; Claude Code Graceful 5-Hour Stop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Marketplace opens with 2,000+ connectors and plugins =&gt; Claude Marketplace: 2,000+ Plugins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Contrastive Language Models score agent actions 9x faster than Jev =&gt; CLM-8B: 9x Faster Than Jev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Gemini now phones businesses for you on Pixel 11 =&gt; Gemini Makes Business Calls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sends TPUs to orbit for Project Suncatcher =&gt; Google Suncatcher: TPUs in Orbit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Nemotron 3 Diarization tracks who spoke when =&gt; NVIDIA Nemotron 3 Diarization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doubles revenue run rate to $1 billion =&gt; DeepSeek Hits $1B Run 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18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companies are pushing swarms as a means to increase token usage, and extend the AI bubble =&gt; Agent Swarms Inflate Token Usage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27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 22, 1973, Robert Metcalfe proposed “Ethernet” in a memo at Xerox PARC in California =&gt; Ethernet Proposed, May 22, 1973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 "In Demand" Skills and Qualifications =&gt; Tech Hiring &amp;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job postings on Indeed =&gt; Tech Hiring &amp;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in demand =&gt; Tech Hiring &amp;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Contrastive Language Models score agent, 9x faster than Jev =&gt; CLM-8B: 9x Faster Than Jev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doubles revenue run rate to $1 Bln =&gt; DeepSeek Hits $1B Run 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Muse handed a user 6.8 GB of its own sandbox SSH keys included =&gt; Muse Leaks Its Own Sandbox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pauses its most capable models after agents slip their sandboxes =&gt; OpenAI Pauses Top Models After Agent Escapes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Appeals court lets the Pentagon keep Anthropic blacklisted =&gt; Court Upholds Pentagon Anthropic Blacklist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 and China agree on a super intelligence dialogue and incident channel =&gt; US-China Super Intelligence Dialogue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puts an AI agent watchdog into silicon =&gt; NVIDIA Agent Safety: OpenShell + Sentry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 Company releases Holo4 open-weight computer-use models =&gt; Holo4 Open Computer-Use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Fireworks Ember-1: Kimi K3 quality with 40% fewer tokens =&gt; Ember-1: Kimi K3 With 40% Fewer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Modal's Quail processes a billion tokens per minute on one H100 =&gt; Modal Quail: 1B Tokens/Min per H100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 22, 1973, Robert Metcalfe proposed “Ethernet” in a memo at Xerox PARC in California. It is a combination of “ether” ( a supposed all-pervading medium for waves) with “net” meaning network =&gt; Ethernet Proposed, May 22, 1973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Modal's Quail processes a Billion tokens per minute on one H100 =&gt; Modal Quail: 1B Tokens/Min per H100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Anthropic's leaked IPO prospectus: $2T target, $42B loss =&gt; Anthropic IPO Prospectus: $2T Target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 leaders co-sign a warning about an intelligence explosion =&gt; Intelligence Explosion Warning Paper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UK AISI: GPT-6 Astra attacks software supply chains in simulation =&gt; AISI: GPT-6 Astra Supply-Chain Attacks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launches an enterprise AI platform around Muse =&gt; Meta Enterprise AI Platform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Cloudflare's new cf CLI is built for agents =&gt; Cloudflare cf: CLI Built for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Vercel: one million agent skills and 280 million installs in 7 months =&gt; Vercel: 1M Agent Skills, 280M Installs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h3fba7400a0c9f0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h3fba7400a0c9f0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s-news-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s-news-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s-openai-pauses-its-most-3be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s-openai-pauses-its-most-3be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7905fdfa8aa63f3e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h7905fdfa8aa63f3e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262cb2271e2dd47d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h262cb2271e2dd47d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7358924edcd9daf1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h7358924edcd9daf1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7358924edcd9daf1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h7358924edcd9daf1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h7905fdfa8aa63f3e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h7905fdfa8aa63f3e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7905fdfa8aa63f3e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h7905fdfa8aa63f3e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s-openrouter-launches-jev-2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s-openrouter-launches-jev-2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262cb2271e2dd47d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h262cb2271e2dd47d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s-us-and-china-agree-on-a-super-fb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s-us-and-china-agree-on-a-super-fb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s-h-company-releases-holo4-open-a7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s-h-company-releases-holo4-open-a7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s-cloudflare-s-new-cf-cli-is-73f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s-cloudflare-s-new-cf-cli-is-73f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s-hiring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s-hiring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s-separator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s-separator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Topic ledger. Kept by g2_add_news.py.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t-claude-computes-a-nine-loop-87e7 | Claude computes a nine-loop physics amplitude, a new record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t-microsoft-relaunches-copilot-d5eb | Microsoft relaunches Copilot with Home, Code and Autopilot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t-softbank-sells-a-record-11-1-8561 | SoftBank sells a record $11.1 billion of junk bonds for OpenAI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t-muse-handed-a-user-6-8-gb-of-d01f | Muse handed a user 6.8 GB of its own sandbox, SSH keys included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t-openrouter-launches-jev-router-2681 | OpenRouter launches Jev Router to pick a model for each request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t-flux-3-action-open-7b-robot-683f | FLUX 3 Action: open 7B robot model tops RoboLab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t-claude-code-now-wraps-up-594a | Claude Code now wraps up cleanly at the 5-hour limit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t-openai-pauses-its-most-capable-3be1 | OpenAI pauses its most capable models after agents slip their sandboxes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t-appeals-court-lets-the-pentagon-a221 | Appeals court lets the Pentagon keep Anthropic blacklisted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t-us-and-china-agree-on-a-super-fb34 | US and China agree on a super intelligence dialogue and incident channel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t-nvidia-puts-an-ai-agent-9f5a | NVIDIA puts an AI agent watchdog into silicon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t-h-company-releases-holo4-open-a707 | H Company releases Holo4 open-weight computer-use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t-fireworks-ember-1-kimi-k3-5072 | Fireworks Ember-1: Kimi K3 quality with 40% fewer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t-modal-s-quail-processes-a-d669 | Modal's Quail processes a billion tokens per minute on one H100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t-anthropic-s-leaked-ipo-11ee | Anthropic's leaked IPO prospectus: $2T target, $42B loss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t-lab-leaders-co-sign-a-warning-e616 | Lab leaders co-sign a warning about an intelligence explosion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t-uk-aisi-gpt-6-astra-attacks-a237 | UK AISI: GPT-6 Astra attacks software supply chains in simulation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t-meta-launches-an-enterprise-ai-fcb3 | Meta launches an enterprise AI platform around Muse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t-cloudflare-s-new-cf-cli-is-73f8 | Cloudflare's new cf CLI is built for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t-vercel-one-million-agent-skills-f811 | Vercel: one million agent skills and 280 million installs in 7 months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s-parke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s-parke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h7358924edcd9daf1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h7358924edcd9daf1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gpt-6-astra-max" TargetMode="External"/><Relationship Id="rId18" Type="http://schemas.openxmlformats.org/officeDocument/2006/relationships/hyperlink" Target="https://arena.ai/leaderboard/model/claude-opus-5-high" TargetMode="External"/><Relationship Id="rId26" Type="http://schemas.openxmlformats.org/officeDocument/2006/relationships/hyperlink" Target="https://arena.ai/leaderboard/model/claude-fable-5.1-max" TargetMode="External"/><Relationship Id="rId21" Type="http://schemas.openxmlformats.org/officeDocument/2006/relationships/hyperlink" Target="https://arena.ai/leaderboard/model/gemini-3.8-flash-high" TargetMode="External"/><Relationship Id="rId34" Type="http://schemas.openxmlformats.org/officeDocument/2006/relationships/hyperlink" Target="https://arena.ai/leaderboard/model/gemini-3.6-flash-high" TargetMode="External"/><Relationship Id="rId7" Type="http://schemas.openxmlformats.org/officeDocument/2006/relationships/hyperlink" Target="https://arena.ai/leaderboard/model/claude-opus-4-7-high" TargetMode="External"/><Relationship Id="rId12" Type="http://schemas.openxmlformats.org/officeDocument/2006/relationships/hyperlink" Target="https://arena.ai/leaderboard/model/mimo-v2.6-pro" TargetMode="External"/><Relationship Id="rId17" Type="http://schemas.openxmlformats.org/officeDocument/2006/relationships/hyperlink" Target="https://arena.ai/leaderboard/model/claude-opus-4-8-high" TargetMode="External"/><Relationship Id="rId25" Type="http://schemas.openxmlformats.org/officeDocument/2006/relationships/hyperlink" Target="https://arena.ai/leaderboard/model/muse-spark" TargetMode="External"/><Relationship Id="rId33" Type="http://schemas.openxmlformats.org/officeDocument/2006/relationships/hyperlink" Target="https://arena.ai/leaderboard/model/gemini-3-pro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muse-spark-1.2%20%28xHigh%29" TargetMode="External"/><Relationship Id="rId20" Type="http://schemas.openxmlformats.org/officeDocument/2006/relationships/hyperlink" Target="https://arena.ai/leaderboard/model/deepseek-v4.1-flash-max" TargetMode="External"/><Relationship Id="rId29" Type="http://schemas.openxmlformats.org/officeDocument/2006/relationships/hyperlink" Target="https://arena.ai/leaderboard/model/mimo-v2.6-flash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6-high" TargetMode="External"/><Relationship Id="rId11" Type="http://schemas.openxmlformats.org/officeDocument/2006/relationships/hyperlink" Target="https://arena.ai/leaderboard/model/claude-opus-4-7" TargetMode="External"/><Relationship Id="rId24" Type="http://schemas.openxmlformats.org/officeDocument/2006/relationships/hyperlink" Target="https://arena.ai/leaderboard/model/claude-opus-4-8" TargetMode="External"/><Relationship Id="rId32" Type="http://schemas.openxmlformats.org/officeDocument/2006/relationships/hyperlink" Target="https://arena.ai/leaderboard/model/gemini-3.1-pro-preview" TargetMode="External"/><Relationship Id="rId37" Type="http://schemas.openxmlformats.org/officeDocument/2006/relationships/hyperlink" Target="https://arena.ai/leaderboard/model/qwen3.8-max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3-max" TargetMode="External"/><Relationship Id="rId23" Type="http://schemas.openxmlformats.org/officeDocument/2006/relationships/hyperlink" Target="https://arena.ai/leaderboard/model/claude-opus-4-5-20251101-high-32k" TargetMode="External"/><Relationship Id="rId28" Type="http://schemas.openxmlformats.org/officeDocument/2006/relationships/hyperlink" Target="https://arena.ai/leaderboard/model/claude-opus-5-max" TargetMode="External"/><Relationship Id="rId36" Type="http://schemas.openxmlformats.org/officeDocument/2006/relationships/hyperlink" Target="https://arena.ai/leaderboard/model/glm-5.3-max" TargetMode="External"/><Relationship Id="rId10" Type="http://schemas.openxmlformats.org/officeDocument/2006/relationships/hyperlink" Target="https://arena.ai/leaderboard/model/claude-opus-5.5-high" TargetMode="External"/><Relationship Id="rId19" Type="http://schemas.openxmlformats.org/officeDocument/2006/relationships/hyperlink" Target="https://arena.ai/leaderboard/model/muse-spark-1.1" TargetMode="External"/><Relationship Id="rId31" Type="http://schemas.openxmlformats.org/officeDocument/2006/relationships/hyperlink" Target="https://arena.ai/leaderboard/model/gemini-3.7-flash-high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6" TargetMode="External"/><Relationship Id="rId14" Type="http://schemas.openxmlformats.org/officeDocument/2006/relationships/hyperlink" Target="https://arena.ai/leaderboard/model/kimi-k3-max" TargetMode="External"/><Relationship Id="rId22" Type="http://schemas.openxmlformats.org/officeDocument/2006/relationships/hyperlink" Target="https://arena.ai/leaderboard/model/gpt-5.6-sol-xhigh" TargetMode="External"/><Relationship Id="rId27" Type="http://schemas.openxmlformats.org/officeDocument/2006/relationships/hyperlink" Target="https://arena.ai/leaderboard/model/claude-sonnet-4-6" TargetMode="External"/><Relationship Id="rId30" Type="http://schemas.openxmlformats.org/officeDocument/2006/relationships/hyperlink" Target="https://arena.ai/leaderboard/model/qwen3.7-max-preview" TargetMode="External"/><Relationship Id="rId35" Type="http://schemas.openxmlformats.org/officeDocument/2006/relationships/hyperlink" Target="https://arena.ai/leaderboard/model/gpt-5.5-high" TargetMode="External"/><Relationship Id="rId8" Type="http://schemas.openxmlformats.org/officeDocument/2006/relationships/hyperlink" Target="https://arena.ai/leaderboard/model/claude-fable-5-high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claude-sonnet-5-5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.jpeg"/><Relationship Id="rId4" Type="http://schemas.openxmlformats.org/officeDocument/2006/relationships/hyperlink" Target="https://claude.com/blog/claude-marketplac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9.22978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.png"/><Relationship Id="rId4" Type="http://schemas.openxmlformats.org/officeDocument/2006/relationships/hyperlink" Target="https://www.youtube.com/watch?v=63nU3-EXf6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licator.ai/openai-anthropic-tens-of-thousands-incidents-pause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cnbc.com/2026/09/25/pentagon-anthropic-ai-risk-appeals-court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repocloud.io/details/Memoh/" TargetMode="External"/><Relationship Id="rId3" Type="http://schemas.openxmlformats.org/officeDocument/2006/relationships/hyperlink" Target="https://memoh.ai" TargetMode="External"/><Relationship Id="rId7" Type="http://schemas.openxmlformats.org/officeDocument/2006/relationships/hyperlink" Target="https://www.youtube.com/watch?v=RdglwPXvei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aiprofitboardroom.com/%5D(https:/aiprofitboardroom.com/)" TargetMode="External"/><Relationship Id="rId5" Type="http://schemas.openxmlformats.org/officeDocument/2006/relationships/hyperlink" Target="https://github.com/felinics/Memoh" TargetMode="External"/><Relationship Id="rId4" Type="http://schemas.openxmlformats.org/officeDocument/2006/relationships/hyperlink" Target="https://docs.memoh.ai/about" TargetMode="External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huggingface.co/Contrastive-LM/CLM-v0.1-8B" TargetMode="External"/><Relationship Id="rId7" Type="http://schemas.openxmlformats.org/officeDocument/2006/relationships/hyperlink" Target="https://www.together.ai/blog/how-to-train-your-own-je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togethercomputer/tev1" TargetMode="External"/><Relationship Id="rId5" Type="http://schemas.openxmlformats.org/officeDocument/2006/relationships/hyperlink" Target="https://github.com/SonDaoRM/Jef-qwen3.5-4b-finetune-banking77" TargetMode="External"/><Relationship Id="rId10" Type="http://schemas.openxmlformats.org/officeDocument/2006/relationships/image" Target="../media/image9.jpeg"/><Relationship Id="rId4" Type="http://schemas.openxmlformats.org/officeDocument/2006/relationships/image" Target="../media/image7.jpeg"/><Relationship Id="rId9" Type="http://schemas.openxmlformats.org/officeDocument/2006/relationships/hyperlink" Target="https://openrouter.ai/typesafe/jev-router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r.id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0.png"/><Relationship Id="rId5" Type="http://schemas.openxmlformats.org/officeDocument/2006/relationships/hyperlink" Target="https://github.com/fsdatalab/quail" TargetMode="External"/><Relationship Id="rId4" Type="http://schemas.openxmlformats.org/officeDocument/2006/relationships/hyperlink" Target="https://modal.com/blog/quail-billion-tpm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hyperlink" Target="https://www.theverge.com/ai-artificial-intelligence/1000116/google-gemini-business-phone-calls" TargetMode="Externa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huggingface.co/nvidia/Nemotron-3-Diarization" TargetMode="External"/><Relationship Id="rId5" Type="http://schemas.openxmlformats.org/officeDocument/2006/relationships/hyperlink" Target="https://blog.google/innovation-and-ai/models-and-research/google-research/google-project-suncatcher-facts/" TargetMode="Externa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hyperlink" Target="https://thenextweb.com/news/deepseek-revenue-run-rate-1bn" TargetMode="External"/><Relationship Id="rId7" Type="http://schemas.openxmlformats.org/officeDocument/2006/relationships/hyperlink" Target="https://about.fb.com/news/2026/09/launching-meta-enterprise-platform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jpeg"/><Relationship Id="rId5" Type="http://schemas.openxmlformats.org/officeDocument/2006/relationships/hyperlink" Target="https://mouse.dev/blog/muse-runtime-export/" TargetMode="External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bfl.ai/models/flux-3-action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x.com/ClaudeDevs/status/2103561342057943314" TargetMode="External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puterhistory.org/tdih/may/22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scienceandmediamuseum.org.uk/objects-and-stories/short-history-internet" TargetMode="External"/><Relationship Id="rId4" Type="http://schemas.openxmlformats.org/officeDocument/2006/relationships/hyperlink" Target="https://www.rfc-editor.org/info/rfc675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nvidianews.nvidia.com/news/open-agent-safety-platform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works.ai/blog/ember-1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cloudflare.com/cloudflare-cf-cli-launch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3.jpeg"/><Relationship Id="rId5" Type="http://schemas.openxmlformats.org/officeDocument/2006/relationships/hyperlink" Target="https://vercel.com/blog/state-of-agent-skills" TargetMode="External"/><Relationship Id="rId4" Type="http://schemas.openxmlformats.org/officeDocument/2006/relationships/image" Target="../media/image2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hyperlink" Target="https://trueup.io/layoffs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red.stlouisfed.org/series/IHLIDXUSTPSOFTDEV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dice.com/hiring/recruitment/reports/dice-tech-job-report" TargetMode="External"/><Relationship Id="rId4" Type="http://schemas.openxmlformats.org/officeDocument/2006/relationships/hyperlink" Target="https://hiringlab.indeed.com/2026/07/08/ai-and-job-postings-from-destruction-to-creati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6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6/09/24/softbank-shares-bond-issuance-openai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huggingface.co/blog/Hcompany/holo4" TargetMode="External"/><Relationship Id="rId4" Type="http://schemas.openxmlformats.org/officeDocument/2006/relationships/hyperlink" Target="https://www.axios.com/2026/09/26/us-china-ai-si-dea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research/yes-claude-can-do-nine-loops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techcrunch.com/2026/09/28/anthropics-prospectus-details-losses-growth-and-yes-a-warning-that-its-ai-could-end-humanity/" TargetMode="External"/><Relationship Id="rId4" Type="http://schemas.openxmlformats.org/officeDocument/2006/relationships/hyperlink" Target="https://blogs.microsoft.com/blog/2026/09/25/introducing-the-new-copilot-with-home-code-and-autopilot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thenextweb.com/news/intelligence-explosion-paper-hinton-bengio-pachocki-clark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aisi.gov.uk/blog/gpt-6-astra-performs-unsanctioned-supply-chain-attacks-in-simulatio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2754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Oct 2,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349240" y="27432"/>
            <a:ext cx="3758100" cy="67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did nine loops. Muse handed out its SSH keys.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6" y="393192"/>
            <a:ext cx="4517100" cy="2314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Crowd-sourced LM Arena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Sonnet 5.5: Faster, Lower-Cost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Recent Claude Opus Versions Release Dates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Opus 5.5 is a Better Writer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Marketplace: 2,000+ Plugins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Agents Train Their Successors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DSec Scales Sandboxes for Agentic RL Training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Pauses Top Models After Agent Escapes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Court Upholds Pentagon Anthropic Blacklist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576" y="2744216"/>
            <a:ext cx="4517100" cy="23145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Memoh: AI Agents With Their Own PCs (China)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Swarms Are Expensive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When to Use JEV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CLM-8B: 9x Faster Than Jev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Jeff - Classifier for Under $5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OpenRouter Jev Router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Modal Quail: 1B Tokens/Min per H100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Gemini Makes Business Calls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Suncatcher: TPUs in Orbit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NVIDIA Nemotron 3 Diarization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590288" y="768240"/>
            <a:ext cx="4517100" cy="20940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DeepSeek Hits $1B Run Rate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Muse Leaks Its Own Sandbox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Meta Enterprise AI Platform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FLUX 3 Action Robot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 Graceful 5-Hour Stop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Ethernet Proposed, May 22, 1973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NVIDIA Agent Safety: OpenShell + Sentry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AMD to Acquire Fei-Fei Li’s World Labs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Fireworks Ember-1 - 40% less Tokens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590288" y="2898792"/>
            <a:ext cx="4517100" cy="99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Cloudflare cf: CLI Built for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Vercel: 1M Agent Skills, 280M Installs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Tech Hiring &amp; Skills in Demand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25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{DA53ED19-EEB7-4158-B27B-2339E74C21D2}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0" name="Google Shape;70;p14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{DA53ED19-EEB7-4158-B27B-2339E74C21D2}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deepseek-v4.1-flash-max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mimo-v2.6-flash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2" name="Google Shape;72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{DA53ED19-EEB7-4158-B27B-2339E74C21D2}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Sept 27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067" y="1598925"/>
            <a:ext cx="8924866" cy="34687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02100" y="337950"/>
            <a:ext cx="4381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Sonnet 5.5: Faster, Lower-Cost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API pricing remains $2 /$10 per Mln tokens in / out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Multi-step AI work can consume time and tokens through repeated reasoning and tool calls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Anthropic says Sonnet 5.5 responds over 30% faster and can use fewer tokens and tool calls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Up to 30% lower cost per completed task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At low or medium effort, it reportedly beats Sonnet 5’s top score on some evaluations for about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one-tenth the task cost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https://www.anthropic.com/claude-sonnet-5-5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102100" y="2280425"/>
            <a:ext cx="4381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Opus 5.5 is a Better Writer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Claude Opus 5.5’s main difference from Opus 5 is clearer, more accessible writing. It tends to lead with the main point and explain complex ideas with less jargon.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That style may make it better for summarizing architecture discussions, including decisions, alternatives, and tradeoffs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Note that clarity does not guarantee greater accuracy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Anthropic also reports stronger performance on complex coding tasks, faster output, and lower API prices than Opus 5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Its summaries may not always be shorter: one analysis found Opus 5.5’s responses were somewhat longer on average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4707475" y="337950"/>
            <a:ext cx="3425700" cy="124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Recent Claude Opus Versions </a:t>
            </a:r>
            <a:br>
              <a:rPr lang="en" sz="10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Release Dates and Training Data Cutoff</a:t>
            </a:r>
            <a:endParaRPr sz="10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4.5  Nov 24, 2025 / - 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4.6  Feb  5, 2026 / Aug 2025 - very good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4.7  Apr 16, 2026 / Jan 2026 - 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4.8  May 28, 2026 / Jan 2026 - worse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5.0  Jul 24, 2026 / May 2026 - worse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5.5  Sep 22, 2026 / -        - very good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5537425" y="3347250"/>
            <a:ext cx="34257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Marketplace opens with 2,000+ connectors and plugins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2,000+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MCP connectors and plugins, including Google, Microsoft, Notion, Salesforce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Claude-powered agents from Cursor, CrowdStrike and Snowflake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Consulting partners such as Accenture and Deloitte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Builders can list their own tools and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https://claude.com/blog/claude-marketplace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6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3875" y="1738725"/>
            <a:ext cx="1999250" cy="1457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/>
        </p:nvSpPr>
        <p:spPr>
          <a:xfrm>
            <a:off x="36574" y="101125"/>
            <a:ext cx="2824200" cy="2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DeepSeek DSec paper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02100" y="461775"/>
            <a:ext cx="41352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Agents Train Their Successors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DeepSeek </a:t>
            </a:r>
            <a:r>
              <a:rPr lang="en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DSec paper - 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130-plus authors</a:t>
            </a:r>
            <a:b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https://arxiv.org/abs/2609.22978</a:t>
            </a:r>
            <a:r>
              <a:rPr lang="en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DSec (DeepSeek Elastic Compute) 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is DeepSeek’s infrastructure for running AI agents in isolated, disposable sandboxes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DSec provides isolated practice computers where agents can write and test code without risking production systems. A cluster handles about 3 million sandboxes daily, with more than 380K  running simultaneously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Its layered, on-demand environments reduce startup time, storage writes, and memory use, while letting agents assemble reusable training environments themselves.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That approach addresses a key constraint in RSI (Recursive Self-Improvement) - producing enough reliable tasks and environments, not just adding GPUs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The cluster reports creation of more than 5K sandboxes per sec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The main speedup comes from avoiding full image downloads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DSec stores environment images in DeepSeek’s 3FS distributed file system and loads only the data blocks an agent actually accesses.</a:t>
            </a:r>
            <a:b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Uses EROFS (Enhanced Read-Only File System) for speed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https://www.youtube.com/watch?v=63nU3-EXf6g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16546" y="40589"/>
            <a:ext cx="4778115" cy="240547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7"/>
          <p:cNvSpPr txBox="1"/>
          <p:nvPr/>
        </p:nvSpPr>
        <p:spPr>
          <a:xfrm>
            <a:off x="4345788" y="2571750"/>
            <a:ext cx="4719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DSec Scales Sandboxes for Agentic RL Training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Problem: Agentic reinforcement learning (RL) needs many reliable, stateful task environments; the speed of provisioning and resource use can limit training throughput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Solution: DSec combines function-call, container, microVM, and full-VM sandboxes, loading image data on demand instead of downloading complete images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Achievement: DeepSeek reports over 5,000 sandbox creations per second, about 3 million daily, and more than 380,000 simultaneous sandboxes.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Importance: It demonstrates that environment capacity - not GPUs alone - can constrain agent training.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Similar sandbox concepts are used by all major AI training vendors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84201" y="350520"/>
            <a:ext cx="5669400" cy="218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pauses its most capable models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agents slip their sandboxes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Training, evaluation and tool-use inference of the top models are paused. Why?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Sept 20 - a research model which was blocked from search, started sending questions to a public chatbot through DNS; staff stopped it after </a:t>
            </a:r>
            <a:r>
              <a:rPr lang="en" sz="1200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2.5 hours</a:t>
            </a:r>
            <a:endParaRPr sz="1200">
              <a:solidFill>
                <a:srgbClr val="3C78D8"/>
              </a:solidFill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Another model committed a researcher's GitHub token to a public branch, </a:t>
            </a:r>
            <a:b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then split up to avoid secret scanning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Agents also touched Census, SEC and Education Department sites and an Australian Medicare portal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OpenAI, Anthropic and researchers are reviewing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tens of thousands of incidents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four involved unauthorized access to real systems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https://www.implicator.ai/openai-anthropic-tens-of-thousands-incidents-pause/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 txBox="1"/>
          <p:nvPr/>
        </p:nvSpPr>
        <p:spPr>
          <a:xfrm>
            <a:off x="84201" y="2637084"/>
            <a:ext cx="56694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Appeals court lets the Pentagon keep Anthropic blacklisted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panel of 3 judges of the federal appeals court in Washington, D.C., upheld the Pentagon’s blacklisting of Anthropic (which was originally done on February 27, 2026)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dispute began when Anthropic refused the use of its models for fully autonomous weapons and domestic mass surveillance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San Francisco judge had found Pentagon's designation unlawful retaliation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But now as this decision was appealed, Anthropic can ask the full D.C. Circuit to rehear the case en banc; it can also petition the U.S. Supreme Court to review the ruling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https://www.cnbc.com/2026/09/25/pentagon-anthropic-ai-risk-appeals-court.html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9" descr="auto: youtube-videos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789645"/>
            <a:ext cx="2461825" cy="30910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2" name="Google Shape;112;p19" descr="auto: youtube-shorts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06760" y="2700257"/>
            <a:ext cx="2140556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3" name="Google Shape;113;p19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7.58K subscribers, 349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/>
        </p:nvSpPr>
        <p:spPr>
          <a:xfrm>
            <a:off x="36574" y="-27425"/>
            <a:ext cx="2604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0"/>
          <p:cNvSpPr txBox="1"/>
          <p:nvPr/>
        </p:nvSpPr>
        <p:spPr>
          <a:xfrm>
            <a:off x="84100" y="347950"/>
            <a:ext cx="44181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Memoh: AI Agents With Their Own PCs (China)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Memoh gives each agent an isolated workspace with a desktop, browser, files, network access, and persistent memory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can run scheduled tasks around the clock, even when the user’s laptop is off, and can be contacted through messaging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Shifting AI from one-off chat to persistent, autonomous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https://memoh.ai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https://docs.memoh.ai/about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https://github.com/felinics/Memoh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https://aiprofitboardroom.com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https://www.youtube.com/watch?v=RdglwPXveiI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https://repocloud.io/details/Memoh/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6801" y="347950"/>
            <a:ext cx="1504948" cy="1326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0"/>
          <p:cNvSpPr txBox="1"/>
          <p:nvPr/>
        </p:nvSpPr>
        <p:spPr>
          <a:xfrm>
            <a:off x="84100" y="2354725"/>
            <a:ext cx="44181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Swarms Are Expensive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Because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agents must constantly pass state updates, logs, and contexts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back and forth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companies are pushing swarms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promising speed - but also as a means to increase token usage (more profit)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1"/>
          <p:cNvSpPr txBox="1"/>
          <p:nvPr/>
        </p:nvSpPr>
        <p:spPr>
          <a:xfrm>
            <a:off x="36575" y="-27425"/>
            <a:ext cx="2016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When to Use JEV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1"/>
          <p:cNvSpPr txBox="1"/>
          <p:nvPr/>
        </p:nvSpPr>
        <p:spPr>
          <a:xfrm>
            <a:off x="84100" y="347950"/>
            <a:ext cx="44181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When to Use JEV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is a TypeSafe AI’s decision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Its strongest use cases are workflows that need a fast, repeatable, machine-readable judgment from a known set of possible answers - not a conversational response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returns typed choices, scores, or yes/no probabilities, so your application can use the result directly in its control flow.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8" name="Google Shape;128;p21"/>
          <p:cNvGraphicFramePr/>
          <p:nvPr/>
        </p:nvGraphicFramePr>
        <p:xfrm>
          <a:off x="84100" y="178461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{DA53ED19-EEB7-4158-B27B-2339E74C21D2}</a:tableStyleId>
              </a:tblPr>
              <a:tblGrid>
                <a:gridCol w="169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0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 case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Example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Classification and triage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Sort support tickets by topic or urgency, categorize emails, or flag items for human review.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Routing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Choose the right team, workflow, tool, or AI model for an incoming request.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moderation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Check for spam or policy violations, then route uncertain cases to moderators.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Scoring and ranking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Prioritize leads, rank candidate items, or score reviews against a defined rubric.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Agent guardrails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Assess whether a proposed tool call or action meets a risk rule before your system executes it.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Verification checks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Estimate whether a specific claim or condition is true, or whether an item meets a checklist.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6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Real-time decisions</a:t>
                      </a:r>
                      <a:endParaRPr sz="12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Make frequent choices in interactive systems / games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/>
          <p:nvPr/>
        </p:nvSpPr>
        <p:spPr>
          <a:xfrm>
            <a:off x="36575" y="-27425"/>
            <a:ext cx="2016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JEV et al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2"/>
          <p:cNvSpPr txBox="1"/>
          <p:nvPr/>
        </p:nvSpPr>
        <p:spPr>
          <a:xfrm>
            <a:off x="65471" y="364171"/>
            <a:ext cx="4535400" cy="117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Contrastive Language Models score agent, 9x faster than Jev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Stanford and NVIDIA released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CLM-8B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, an open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System One model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 scores candidate actions and returns probabilities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Two small heads on a frozen Qwen3-8B, trained with a contrastive loss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Matches Jev on computer use, games and tool calling, x9 times faster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As a fine-tuned verifier: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81.6%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on DeepSWE, 87.6% on Terminal-Bench 2.1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https://huggingface.co/Contrastive-LM/CLM-v0.1-8B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08946" y="430096"/>
            <a:ext cx="1742125" cy="1107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6" name="Google Shape;136;p22"/>
          <p:cNvSpPr txBox="1"/>
          <p:nvPr/>
        </p:nvSpPr>
        <p:spPr>
          <a:xfrm>
            <a:off x="65471" y="1583821"/>
            <a:ext cx="45354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Jeff - Classifier for Under $5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Fine-tuned Qwen3.5 4B with LoRA to classify supplied text against listed choices and return a compact decision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Trained on public classification datasets, routing, and research examples; trained and served the model using Modal, Unsloth, and vLLM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Trained on L40S GPU and deploying inference on L40S and H100 GPUs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Training cost $4.17, training time 2 hours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Held-out evaluation reached 88% accuracy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Warm responses were generally subsecond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https://github.com/SonDaoRM/Jef-qwen3.5-4b-finetune-banking77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https://github.com/togethercomputer/tev1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https://www.together.ai/blog/how-to-train-your-own-jev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2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59659" y="2305371"/>
            <a:ext cx="840700" cy="84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8" name="Google Shape;138;p22"/>
          <p:cNvSpPr txBox="1"/>
          <p:nvPr/>
        </p:nvSpPr>
        <p:spPr>
          <a:xfrm>
            <a:off x="84200" y="3624342"/>
            <a:ext cx="48687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OpenRouter launches Jev Router to pick a model for each request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typesafe/jev-router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- powered by the Jev decision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Before the LLM call, it picks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the model and the reasoning effort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weighs quality, speed and cost, and knows what is cached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Solved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82% more tasks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than OpenRouter's Auto Router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four agent benchmarks (237 vs 130 of 423)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Accepts up to 1M tokens;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router itself is listed at </a:t>
            </a:r>
            <a:r>
              <a:rPr lang="en" sz="1200" b="1">
                <a:solidFill>
                  <a:srgbClr val="FF0000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</a:t>
            </a:r>
            <a:endParaRPr sz="1200" b="1">
              <a:solidFill>
                <a:srgbClr val="FF0000"/>
              </a:solidFill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https://openrouter.ai/typesafe/jev-router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22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3499" y="3716744"/>
            <a:ext cx="2027174" cy="126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/>
          <p:nvPr/>
        </p:nvSpPr>
        <p:spPr>
          <a:xfrm>
            <a:off x="36575" y="-27425"/>
            <a:ext cx="2016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JEV et al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3"/>
          <p:cNvSpPr txBox="1"/>
          <p:nvPr/>
        </p:nvSpPr>
        <p:spPr>
          <a:xfrm>
            <a:off x="94367" y="377950"/>
            <a:ext cx="4935600" cy="240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Modal's Quail processes a Billion tokens per minute on one H100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Quail (Query-Aware Inference Layer)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runs LLM calls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inside SQL queries,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such as AI filters and joins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Over </a:t>
            </a:r>
            <a:r>
              <a:rPr lang="en" sz="1200" b="1">
                <a:solidFill>
                  <a:srgbClr val="FF0000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1B-tokens/min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 H100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1.84x faster than vLLM on average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than 10x on multi-join queries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Under 6 cents per Billion tokens on Prefill only: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yes/no classification needs a single output token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Victor Mono"/>
              <a:buChar char="●"/>
            </a:pPr>
            <a:r>
              <a:rPr lang="en" sz="8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SELECT </a:t>
            </a:r>
            <a:r>
              <a:rPr lang="en" sz="800" b="1">
                <a:solidFill>
                  <a:srgbClr val="3C78D8"/>
                </a:solidFill>
                <a:uFill>
                  <a:noFill/>
                </a:uFill>
                <a:latin typeface="Victor Mono"/>
                <a:ea typeface="Victor Mono"/>
                <a:cs typeface="Victor Mono"/>
                <a:sym typeface="Victor Mon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r.id</a:t>
            </a:r>
            <a:r>
              <a:rPr lang="en" sz="8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FROM reviews r</a:t>
            </a:r>
            <a:endParaRPr sz="8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Victor Mono"/>
              <a:buChar char="●"/>
            </a:pPr>
            <a:r>
              <a:rPr lang="en" sz="8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WHERE AI.IF(PROMPT('Does this review discuss the ending?\n\n{0}', r.body))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Modal Labs, Inc. is a New York City based cloud-computing platform for AI developers. Since 2021, ~150 people. Raised $466M+, $4.65B valuation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https://modal.com/blog/quail-billion-tpm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https://github.com/fsdatalab/quail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 - open source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2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2517" y="1178050"/>
            <a:ext cx="3015651" cy="1688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7" name="Google Shape;147;p2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7375" y="904875"/>
            <a:ext cx="1018592" cy="1247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84200" y="349375"/>
            <a:ext cx="4468800" cy="1419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now phones businesses for you on Pixel 11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Gemini calls local businesses for reservations,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stock checks and appointment changes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navigates phone menus and waits on hold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You see a live transcript and can take over at any moment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Early preview for paid Gemini subscribers in the US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https://www.theverge.com/ai-artificial-intelligence/1000116/google-gemini-business-phone-calls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24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14875" y="418525"/>
            <a:ext cx="2252327" cy="128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5" name="Google Shape;155;p24"/>
          <p:cNvSpPr txBox="1"/>
          <p:nvPr/>
        </p:nvSpPr>
        <p:spPr>
          <a:xfrm>
            <a:off x="84200" y="1890275"/>
            <a:ext cx="4468800" cy="1419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sends TPUs to orbit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Project Suncatcher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Planet-built satellite carries four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Trillium TPUs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Launches on SpaceX Transporter-18 on </a:t>
            </a:r>
            <a:r>
              <a:rPr lang="en" sz="1200" b="1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October 1</a:t>
            </a:r>
            <a:endParaRPr sz="1200" b="1">
              <a:solidFill>
                <a:srgbClr val="3C78D8"/>
              </a:solidFill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Tests launch stress, radiation, heat and cooling in vacuum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Dawn-dusk orbit gives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up to 8x the solar power of ground panels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Two satellites with laser links are planned for 2027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https://blog.google/innovation-and-ai/models-and-research/google-research/google-project-suncatcher-facts/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84200" y="3440682"/>
            <a:ext cx="4468800" cy="128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Nemotron 3 Diarization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model, only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100M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parameters, tracks speakers in audio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(up to 8 speakers, including overlapping voices)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Works on live streams and recorded files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#1 on Diarization-Bench at 15% error, 24% below the runner-up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Pair it with speech-to-text for transcripts with speaker labels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https://huggingface.co/nvidia/Nemotron-3-Diarization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4875" y="3369580"/>
            <a:ext cx="2155250" cy="154229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8" name="Google Shape;158;p2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4875" y="1968019"/>
            <a:ext cx="2252324" cy="1263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74864" y="339208"/>
            <a:ext cx="44433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doubles revenue run rate to $1 Bln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ARR hit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 Bln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double the earlier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came after DeepSeek raised API prices 2.3x to 4.5x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Information says developer demand held up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Meanwhile OpenAI is preparing a $500/month ChatGPT Pro Max plan before DevDay on September 29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https://thenextweb.com/news/deepseek-revenue-run-rate-1bn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25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87650" y="543320"/>
            <a:ext cx="2701775" cy="856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6" name="Google Shape;166;p25"/>
          <p:cNvSpPr txBox="1"/>
          <p:nvPr/>
        </p:nvSpPr>
        <p:spPr>
          <a:xfrm>
            <a:off x="74875" y="1644550"/>
            <a:ext cx="5805600" cy="1465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Muse handed a user 6.8 GB of its own sandbox, SSH keys included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researcher asked Meta's Muse agent to archive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its files and export them to Google Drive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got 6.8 GB data including Linux root filesystem, internal docs, integration code, memory files, agent logs, and even SSH key files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exploit was needed, only normal agent tools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Meta's bug bounty marked the report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"Not Applicable"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https://mouse.dev/blog/muse-runtime-export/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25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28225" y="1904616"/>
            <a:ext cx="1647076" cy="856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8" name="Google Shape;168;p25"/>
          <p:cNvSpPr txBox="1"/>
          <p:nvPr/>
        </p:nvSpPr>
        <p:spPr>
          <a:xfrm>
            <a:off x="74875" y="3240425"/>
            <a:ext cx="5805600" cy="165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launches an enterprise AI platform around Muse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Products: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Muse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agent, Meta Business Agent, Muse API and Muse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Aimed at businesses of all sizes and at developers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Former MongoDB CEO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CJ Desai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joins as Chief Enterprise Platform Officer, reporting to Zuckerberg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Desai earlier held senior roles at Cloudflare and ServiceNow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Meta says security and privacy are built in from the start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pricing announced yet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https://about.fb.com/news/2026/09/launching-meta-enterprise-platform/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25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74182" y="3432875"/>
            <a:ext cx="2155168" cy="126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6"/>
          <p:cNvSpPr txBox="1"/>
          <p:nvPr/>
        </p:nvSpPr>
        <p:spPr>
          <a:xfrm>
            <a:off x="84200" y="414650"/>
            <a:ext cx="52689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FLUX 3 Action: open 7B robot model tops RoboLab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Black Forest Labs turned its FLUX 3 backbone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into a world action model for robots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predicts the next video frames and the next chunk of actions together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42.92%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RoboLab-120, first place; the 16B Cosmos 3 Nano gets 36.8%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Less than half the size of the previous best open model, up to 3.95x faster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Completed 28 of 30 attempts in a blind Franka arm test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into Hugging Face LeRobot, runs on NVIDIA Jetson; non-commercial license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https://bfl.ai/models/flux-3-action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9811" y="467937"/>
            <a:ext cx="2474646" cy="15260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7" name="Google Shape;177;p26"/>
          <p:cNvSpPr txBox="1"/>
          <p:nvPr/>
        </p:nvSpPr>
        <p:spPr>
          <a:xfrm>
            <a:off x="84200" y="2202824"/>
            <a:ext cx="48687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now wraps up cleanly at the 5-hour limit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no longer stops in the middle of an edit when the 5-hour limit hits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gets a small, fixed allowance from the weekly limit to finish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closes the open edit, runs queued tests and leaves a note on what is left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Pro: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once a week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; Max and Team Premium: every time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Needs Claude Code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2.1.277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or later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https://x.com/ClaudeDevs/status/2103561342057943314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 txBox="1"/>
          <p:nvPr/>
        </p:nvSpPr>
        <p:spPr>
          <a:xfrm>
            <a:off x="36574" y="-27425"/>
            <a:ext cx="2925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Ethernet , Internet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36575" y="348800"/>
            <a:ext cx="44031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May 22, 1973, Robert Metcalfe proposed “Ethernet”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a memo at Xerox PARC in California. It is a combination of “ether” ( a supposed all-pervading medium for waves) with “net” meaning network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Metcalfe used “ether” as a metaphor for the shared cable medium carrying computer transmissions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1974, Vint Cerf and Bob Kahn developed and described protocols for linking separate packet networks. “Internet” appeared in RFC 675, published in December 1974, as shorthand for “internetwork” or “internetworking.”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Word "Internet" described interconnected networks communicating through common protocols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https://www.computerhistory.org/tdih/may/22/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https://www.rfc-editor.org/info/rfc675/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https://www.scienceandmediamuseum.org.uk/objects-and-stories/short-history-internet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8"/>
          <p:cNvSpPr txBox="1"/>
          <p:nvPr/>
        </p:nvSpPr>
        <p:spPr>
          <a:xfrm>
            <a:off x="84200" y="377900"/>
            <a:ext cx="4554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puts an AI agent watchdog into silicon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Open Agent Safety Platform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Guards agents at two layers:  host CPU and DPU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OpenShell - open-source (Apache 2.0) runtime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that sandboxes agents with kernel-level isolation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Policies set what an agent may touch in files,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network, processes and inference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Sentry runs out of band on BlueField-4 DPUs a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nd quarantines a rule-breaking agent in milliseconds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compromised agent runtime cannot reach or disable the watchdog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100+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partners at launch, including Anthropic, Microsoft, CrowdStrike, SAP and JPMorganChase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https://nvidianews.nvidia.com/news/open-agent-safety-platform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8"/>
          <p:cNvSpPr txBox="1"/>
          <p:nvPr/>
        </p:nvSpPr>
        <p:spPr>
          <a:xfrm>
            <a:off x="84200" y="2876325"/>
            <a:ext cx="45546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AMD to Acquire Fei-Fei Li’s World Labs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an all-stock deal valued at about $8.2 Bln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Expected to close by the end of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World Labs develops AI “world models” that can understand, generate, and simulate 3D environments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AMD says the acquisition will bring in research talent to help shape its AI hardware, software, and systems for emerging workloads such as robotics and physical 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1200" y="406288"/>
            <a:ext cx="4200399" cy="23627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1200" y="2876337"/>
            <a:ext cx="3336311" cy="206968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36575" y="498675"/>
            <a:ext cx="4935600" cy="154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Fireworks Ember-1 - 40% less Tokens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K3 quality with 40% fewer tokens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Post-trained Kimi K3 with RL to stop repetitive reasoning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71%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fewer reasoning tokens, 39% fewer in total, same success rate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Terminal Bench 2.1: 82.0% vs 80.9% for K3 Max at 51.9% lower cost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DeepSWE 1.1: 75.2% vs 66.4%; SWE-bench Verified slightly lower, 92.2% vs 93.2%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Same per-token price as K3, 1M-token context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Research Preview on the Fireworks serverless API only; no weights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https://fireworks.ai/blog/ember-1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9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8550" y="647625"/>
            <a:ext cx="2520925" cy="1244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0"/>
          <p:cNvSpPr txBox="1"/>
          <p:nvPr/>
        </p:nvSpPr>
        <p:spPr>
          <a:xfrm>
            <a:off x="36576" y="758952"/>
            <a:ext cx="5669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Cloudflare's new cf CLI is built for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now make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48%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of Cloudflare CLI use, up from 25% in March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exposes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3,000+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API operations, vs about 280 commands in Wrangler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JSON output by default and a natural-language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cf cli search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to find commands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TypeScript config (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cloudflare.config.ts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) replaces TOML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beta and open source; install with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npm i -g cf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Wrangler gets 18 months of maintenance after the beta ends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https://blog.cloudflare.com/cloudflare-cf-cli-launch/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49571" y="646472"/>
            <a:ext cx="2732426" cy="16748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7" name="Google Shape;207;p30"/>
          <p:cNvSpPr txBox="1"/>
          <p:nvPr/>
        </p:nvSpPr>
        <p:spPr>
          <a:xfrm>
            <a:off x="36576" y="2799588"/>
            <a:ext cx="56694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Vercel: one million agent skills and 280 million installs in 7 months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skills.sh registry passed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 million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skills and nearly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280 million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installs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GitHub took 27 months to reach similar numbers; the App Store over five years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Top uses: software engineering 18%, agent workflows 15%, business operations and writing about 11% each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top 1.2% of skills get 94% of installs; almost half were installed once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Over half of published skills teach coding, while demand for business and writing skills is underserved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https://vercel.com/blog/state-of-agent-skills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3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5676" y="2685020"/>
            <a:ext cx="2720216" cy="186385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1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1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129.2K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Sept 18,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1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189,217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(725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1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8" name="Google Shape;218;p31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3109" y="569314"/>
            <a:ext cx="4839721" cy="249614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/>
          <p:nvPr/>
        </p:nvSpPr>
        <p:spPr>
          <a:xfrm>
            <a:off x="93825" y="-8374"/>
            <a:ext cx="138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Tech Hiring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84300" y="406525"/>
            <a:ext cx="44877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Comparing to 2020 level, in Feb 2022 it was 234%, in 2025 it was 65%, now it is 77%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US job postings: 103% (compared with 2020)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Postings that mention AI: 6.7% of all, up from 3.4% a year ago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https://fred.stlouisfed.org/series/IHLIDXUSTPSOFTDEVE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84300" y="1779175"/>
            <a:ext cx="44877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Dice, 7M+ US tech postings (Aug 2026): +18% year over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and machine learning postings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+101%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year over year, five times the overall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Fastest-growing skills, each up 200%+: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responsible AI, AI agents, agentic AI, AI infrastructure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Most requested overall: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communication, computer science, troubleshooting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Indeed: 71% of the software postings rebound (May 2025 to May 2026) is senior roles; 37% has AI in the title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https://hiringlab.indeed.com/2026/07/08/ai-and-job-postings-from-destruction-to-creation/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https://www.dice.com/hiring/recruitment/reports/dice-tech-job-report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2"/>
          <p:cNvSpPr txBox="1"/>
          <p:nvPr/>
        </p:nvSpPr>
        <p:spPr>
          <a:xfrm>
            <a:off x="4876773" y="318025"/>
            <a:ext cx="3942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Critical thinking and problem-solving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Communication and stakeholder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Adaptability and continuous learning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 literacy and practical AI adoption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AI/ML application development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Data engineering and data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Cybersecurity and risk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Cloud and infrastructure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Software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Automation and workflow optimization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DevOps, CI/CD, and platform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Governance, compliance, and responsible AI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Analytical thinking and data analysis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Product management and business alignment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Project and program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Leadership and cross-functional collaboration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Creativity and innovation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Resilience and professionalism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Technical troubleshooting and systems thinking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Business growth and customer focus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3"/>
          <p:cNvSpPr txBox="1"/>
          <p:nvPr/>
        </p:nvSpPr>
        <p:spPr>
          <a:xfrm>
            <a:off x="36576" y="-27432"/>
            <a:ext cx="244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3"/>
          <p:cNvSpPr txBox="1"/>
          <p:nvPr/>
        </p:nvSpPr>
        <p:spPr>
          <a:xfrm>
            <a:off x="3328416" y="1263396"/>
            <a:ext cx="4572000" cy="29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3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9304" y="1952244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4"/>
          <p:cNvSpPr txBox="1"/>
          <p:nvPr/>
        </p:nvSpPr>
        <p:spPr>
          <a:xfrm>
            <a:off x="36576" y="1687068"/>
            <a:ext cx="90708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4"/>
          <p:cNvSpPr txBox="1"/>
          <p:nvPr/>
        </p:nvSpPr>
        <p:spPr>
          <a:xfrm>
            <a:off x="1434219" y="2554732"/>
            <a:ext cx="6275700" cy="14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5"/>
          <p:cNvSpPr txBox="1"/>
          <p:nvPr/>
        </p:nvSpPr>
        <p:spPr>
          <a:xfrm>
            <a:off x="36576" y="-27432"/>
            <a:ext cx="2966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Not in the presentation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5"/>
          <p:cNvSpPr txBox="1"/>
          <p:nvPr/>
        </p:nvSpPr>
        <p:spPr>
          <a:xfrm>
            <a:off x="36576" y="758952"/>
            <a:ext cx="6377100" cy="1243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Everything after this slide is left out of the talk.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Paste topics you decided not to present on the next slide. Scripts never write past this point, and a topic parked here is never added again.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6"/>
          <p:cNvSpPr txBox="1"/>
          <p:nvPr/>
        </p:nvSpPr>
        <p:spPr>
          <a:xfrm>
            <a:off x="36576" y="-27432"/>
            <a:ext cx="1859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Parked topics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6"/>
          <p:cNvSpPr txBox="1"/>
          <p:nvPr/>
        </p:nvSpPr>
        <p:spPr>
          <a:xfrm>
            <a:off x="103251" y="454152"/>
            <a:ext cx="5669400" cy="1203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571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SoftBank sells a record $11.1 billion of junk bonds for OpenAI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Largest high-yield corporate bond sale on record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, beating Numericable's $10.9 billion from 2014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Funds the final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$10 billion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tranche of SoftBank's $30 billion follow-on in OpenAI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Payment expected to close on October 1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Dollar notes pay 8.625% to 9.75%; euro notes 7.125% and 8%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SoftBank shares jumped more than 7%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571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https://www.cnbc.com/2026/09/24/softbank-shares-bond-issuance-openai.html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6"/>
          <p:cNvSpPr txBox="1"/>
          <p:nvPr/>
        </p:nvSpPr>
        <p:spPr>
          <a:xfrm>
            <a:off x="103250" y="1755325"/>
            <a:ext cx="5907000" cy="1373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 and China agree on a super intelligence dialogue and incident channel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White House fact sheet after Xi's state visit: both sides will use the term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super intelligence</a:t>
            </a:r>
            <a:endParaRPr sz="11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 U.S.-China SI Dialogue on risks and benefits, next exchange by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November 2026</a:t>
            </a:r>
            <a:endParaRPr sz="11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 bilateral communication channel for SI incidents, likened to the Cold War red telephone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The fact sheet does not define what counts as an incident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Days earlier at the UN, Michael Kratsios rejected any global scheme of control for superintelligence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China had not published its own statement by the weekend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https://www.axios.com/2026/09/26/us-china-ai-si-deal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36"/>
          <p:cNvSpPr txBox="1"/>
          <p:nvPr/>
        </p:nvSpPr>
        <p:spPr>
          <a:xfrm>
            <a:off x="112776" y="3170597"/>
            <a:ext cx="5669400" cy="1373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 Company releases Holo4 open-weight computer-use models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Two models: a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27B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dense model and a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35B-A3B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MoE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One model works across desktops, the web, Android, code sandboxes and business APIs via MCP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27B scores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85.2%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on OSWorld; on long OSWorld 2.0 workflows 61.7% vs 81.8% for Opus 5.5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35B-A3B is Apache 2.0 at about $0.05 per task; 27B is non-commercial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Trained on 127B tokens plus RL over about 10,000 verifiable tasks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Weights on Hugging Face in BF16, FP8, NVFP4 and 4-bit GGUF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https://huggingface.co/blog/Hcompany/holo4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7"/>
          <p:cNvSpPr txBox="1"/>
          <p:nvPr/>
        </p:nvSpPr>
        <p:spPr>
          <a:xfrm>
            <a:off x="73705" y="303575"/>
            <a:ext cx="7366800" cy="1373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computes a nine-loop physics amplitude, a new record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Claude Fable 5.1 computed the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six-particle amplitude in planar N=4 super Yang-Mills at nine loops</a:t>
            </a:r>
            <a:endParaRPr sz="11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The previous record was eight loops, set in 2023 by Lance Dixon and Andy Liu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Two Anthropic physicists gave a one-line prompt and let it run mostly alone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 reached the result by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two independent methods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: a direct bootstrap and antipodal duality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Dixon (SLAC, Stanford) verified the result independently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Compute cost about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$100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(a week on 96 CPUs); with Claude usage, $1,000 to $2,000 per route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https://www.anthropic.com/research/yes-claude-can-do-nine-loops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7"/>
          <p:cNvSpPr txBox="1"/>
          <p:nvPr/>
        </p:nvSpPr>
        <p:spPr>
          <a:xfrm>
            <a:off x="73705" y="1742209"/>
            <a:ext cx="7366800" cy="1373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relaunches Copilot with Home, Code and Autopilot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Home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merges Chat and Cowork, with Word, Excel and PowerPoint built in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Code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lets anyone build and run small apps, on GitHub Copilot technology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Autopilot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is a persistent agent with its own identity, memory, computer and workspace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Give it a name, role and goal; it watches channels and picks projects up days later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Colleagues can @mention it in Teams or Outlook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Cowork, Code and Autopilot move to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usage-based billing</a:t>
            </a:r>
            <a:endParaRPr sz="11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https://blogs.microsoft.com/blog/2026/09/25/introducing-the-new-copilot-with-home-code-and-autopilot/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7"/>
          <p:cNvSpPr txBox="1"/>
          <p:nvPr/>
        </p:nvSpPr>
        <p:spPr>
          <a:xfrm>
            <a:off x="36575" y="3208515"/>
            <a:ext cx="7366800" cy="154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Anthropic's leaked IPO prospectus: $2T target, $42B loss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 draft S-1 seen by Reuters targets a valuation above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$2 trillion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, likely after the November midterms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2025 revenue grew 12-fold to about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$4.6 billion</a:t>
            </a:r>
            <a:endParaRPr sz="11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The $42B net loss includes a roughly $34B accounting charge; the operating loss was over $8B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Cloud, compute and infrastructure obligations total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$518 billion</a:t>
            </a:r>
            <a:endParaRPr sz="11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Nearly a quarter of revenue came from two customers, and many clients are not on long-term contracts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Cash and short-term investments: $20.28B at year end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https://techcrunch.com/2026/09/28/anthropics-prospectus-details-losses-growth-and-yes-a-warning-that-its-ai-could-end-humanity/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8"/>
          <p:cNvSpPr txBox="1"/>
          <p:nvPr/>
        </p:nvSpPr>
        <p:spPr>
          <a:xfrm>
            <a:off x="36575" y="409498"/>
            <a:ext cx="7229100" cy="1342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Lab leaders co-sign a warning about an intelligence explosion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Cambridge CSER working paper: "What if automating AI R&amp;D triggers an intelligence explosion?"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Authors include Hinton, Bengio, Barto, Jakub Pachocki (OpenAI), Eric Horvitz (Microsoft) and Jack Clark (Anthropic)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At Anthropic, R&amp;D work AI does with only light supervision rose from 1% in March to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26%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in August 2026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AI's share of approved code there went from low single digits to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over 80%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in 16 months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One scenario compresses a year of AI progress into about five weeks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Proposals: limits on capability growth, pausing specific jobs, auditors embedded in labs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3736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https://thenextweb.com/news/intelligence-explosion-paper-hinton-bengio-pachocki-clark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36575" y="1888400"/>
            <a:ext cx="7272900" cy="1511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UK AISI: GPT-6 Astra attacks software supply chains in simulation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AISI ran simulated cyber evaluations with Astra's cyber classifiers </a:t>
            </a:r>
            <a:r>
              <a:rPr lang="en" sz="1100" b="1">
                <a:latin typeface="Calibri"/>
                <a:ea typeface="Calibri"/>
                <a:cs typeface="Calibri"/>
                <a:sym typeface="Calibri"/>
              </a:rPr>
              <a:t>turned off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, to see what the model attempts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Astra completed unsanctioned supply-chain attacks in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29.2%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of runs, vs 6.3% for GPT-5.6 Sol and 0% for GPT-5.5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 created fake identities, argued against security reviews from fake accounts and pushed malicious code to open-source projects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Told that anything not listed was out of scope, it still did not stay in scope reliably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 treated an automated reply as permission to attack out-of-scope targets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86436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All actions were simulated; nothing touched real systems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3736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https://www.aisi.gov.uk/blog/gpt-6-astra-performs-unsanctioned-supply-chain-attacks-in-simulations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5935</Words>
  <Application>Microsoft Macintosh PowerPoint</Application>
  <PresentationFormat>On-screen Show (16:9)</PresentationFormat>
  <Paragraphs>664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Calibri</vt:lpstr>
      <vt:lpstr>Victor Mono</vt:lpstr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2026-09-29T16:39:13Z</dcterms:modified>
</cp:coreProperties>
</file>