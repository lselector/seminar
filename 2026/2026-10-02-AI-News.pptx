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embeddedFontLst>
    <p:embeddedFont>
      <p:font typeface="Roboto Mono" pitchFamily="49" charset="0"/>
      <p:regular r:id="rId31"/>
      <p:bold r:id="rId32"/>
      <p:italic r:id="rId33"/>
      <p:boldItalic r:id="rId34"/>
    </p:embeddedFont>
    <p:embeddedFont>
      <p:font typeface="Victor Mono" panose="02000009000000000000" pitchFamily="49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3DFB2F-6C42-4026-9F7D-4F4849935BB8}">
  <a:tblStyle styleId="{843DFB2F-6C42-4026-9F7D-4F4849935BB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computes a nine-loop physics amplitude, a new record =&gt; Claude Solves Nine-Loop Physics Problem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relaunches Copilot with Home, Code and Autopilot =&gt; New Microsoft Copilot with Autopilot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SoftBank sells a record $11.1 billion of junk bonds for OpenAI =&gt; SoftBank $11.1B Bonds for OpenAI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Muse handed a user 6.8 GB of its own sandbox, SSH keys included =&gt; Muse Leaks Its Own Sandbox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OpenRouter launches Jev Router to pick a model for each request =&gt; OpenRouter Jev Router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FLUX 3 Action: open 7B robot model tops RoboLab =&gt; FLUX 3 Action Robot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now wraps up cleanly at the 5-hour limit =&gt; Claude Code Graceful 5-Hour Stop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Marketplace opens with 2,000+ connectors and plugins =&gt; Claude Marketplace: 2,000+ Plugins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Contrastive Language Models score agent actions 9x faster than Jev =&gt; CLM-8B: 9x Faster Than Jev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now phones businesses for you on Pixel 11 =&gt; Gemini Makes Business Calls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sends TPUs to orbit for Project Suncatcher =&gt; Google Suncatcher: TPUs in Orbit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Nemotron 3 Diarization tracks who spoke when =&gt; NVIDIA Nemotron 3 Diarization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doubles revenue run rate to $1 billion =&gt; DeepSeek Hits $1B Run 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18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companies are pushing swarms as a means to increase token usage, and extend the AI bubble =&gt; Agent Swarms Inflate Token Usage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27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 22, 1973, Robert Metcalfe proposed “Ethernet” in a memo at Xerox PARC in California =&gt; Ethernet Proposed, May 22, 1973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 "In Demand" Skills and Qualifications =&gt; Tech Hiring &amp;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job postings on Indeed =&gt; Tech Hiring &amp;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in demand =&gt; Tech Hiring &amp;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Contrastive Language Models score agent, 9x faster than Jev =&gt; CLM-8B: 9x Faster Than Jev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doubles revenue run rate to $1 Bln =&gt; DeepSeek Hits $1B Run 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Muse handed a user 6.8 GB of its own sandbox SSH keys included =&gt; Muse Leaks Its Own Sandbox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pauses its most capable models after agents slip their sandboxes =&gt; OpenAI Pauses Top Models After Agent Escapes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Appeals court lets the Pentagon keep Anthropic blacklisted =&gt; Court Upholds Pentagon Anthropic Blacklist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 and China agree on a super intelligence dialogue and incident channel =&gt; US-China Super Intelligence Dialogue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puts an AI agent watchdog into silicon =&gt; NVIDIA Agent Safety: OpenShell + Sentry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 Company releases Holo4 open-weight computer-use models =&gt; Holo4 Open Computer-Use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Fireworks Ember-1: Kimi K3 quality with 40% fewer tokens =&gt; Ember-1: Kimi K3 With 40% Fewer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Modal's Quail processes a billion tokens per minute on one H100 =&gt; Modal Quail: 1B Tokens/Min per H100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 22, 1973, Robert Metcalfe proposed “Ethernet” in a memo at Xerox PARC in California. It is a combination of “ether” ( a supposed all-pervading medium for waves) with “net” meaning network =&gt; Ethernet Proposed, May 22, 1973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Modal's Quail processes a Billion tokens per minute on one H100 =&gt; Modal Quail: 1B Tokens/Min per H100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Anthropic's leaked IPO prospectus: $2T target, $42B loss =&gt; Anthropic IPO Prospectus: $2T Target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 leaders co-sign a warning about an intelligence explosion =&gt; Intelligence Explosion Warning Paper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UK AISI: GPT-6 Astra attacks software supply chains in simulation =&gt; AISI: GPT-6 Astra Supply-Chain Attacks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launches an enterprise AI platform around Muse =&gt; Meta Enterprise AI Platform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Cloudflare's new cf CLI is built for agents =&gt; Cloudflare cf: CLI Built for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Vercel: one million agent skills and 280 million installs in 7 months =&gt; Vercel: 1M Agent Skills, 280M Installs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cancels GPT-6.1 Astra after it deceived its testers =&gt; OpenAI Cancels GPT-6.1 Astra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leaders sign a voluntary White House safety accord =&gt; White House AI Safety Accord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4 Argon writes up to 1 million tokens in one answer =&gt; Gemini 4 Argon: 1M Output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Google's RRSI lets agents rewrite their own harness =&gt; Google RRSI: Self-Improving Harness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seeks $30 billion at a $1.4 trillion valuation =&gt; OpenAI Seeks $30B at $1.4T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PageIndex: document search without vectors hits 98.7% on FinanceBench =&gt; PageIndex: Vectorless RAG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Dollars per watt: a gigawatt of AI supports about $65 billion a year =&gt; Dollars per Watt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30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Anthropic: open GLM-5.3 builds cyber exploits almost like Mythos =&gt; GLM-5.3 Builds Cyber Exploits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OpenAI's Jalapeño inference chip =&gt; OpenAI Jalapeño Inference Chip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ports its training stack to Huawei Ascend =&gt; DeepSeek Moves to Huawei Ascend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Runway Praxis-1 turns video pretraining into robot control =&gt; Runway Praxis-1 Robot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Phonon-2: a 164 MB speech model that beats Whisper large =&gt; Phonon-2: Tiny Speech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Cloudflare and AWS ship open Jev-style decision models the same day =&gt; Clef &amp; Strands Decider: Open Jev Rivals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gets mods: TypeScript plugins that change the agent =&gt; Claude Code Mods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Xiaomi MiMo-V2.6-Pro becomes the top open-weight model =&gt; Xiaomi MiMo-V2.6-Pro: Top Open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Tavus Griffin: 48% of people took an AI video caller for a human =&gt; Tavus Griffin Passes for Human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Oct 2 =&gt; -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h23f0e7bba9c182a1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h23f0e7bba9c182a1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h3fba7400a0c9f0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h3fba7400a0c9f0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7e8c31db589ed6e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h7e8c31db589ed6e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67ba317a3ab41a7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h67ba317a3ab41a7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s-openai-pauses-its-most-3be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s-openai-pauses-its-most-3be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67ba317a3ab41a73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h67ba317a3ab41a73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7905fdfa8aa63f3e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h7905fdfa8aa63f3e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h262cb2271e2dd47d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h262cb2271e2dd47d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h7358924edcd9daf1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h7358924edcd9daf1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h7358924edcd9daf1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h7358924edcd9daf1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7905fdfa8aa63f3e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h7905fdfa8aa63f3e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h7905fdfa8aa63f3e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h7905fdfa8aa63f3e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s-openrouter-launches-jev-2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s-openrouter-launches-jev-2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262cb2271e2dd47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h262cb2271e2dd47d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s-us-and-china-agree-on-a-super-fb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s-us-and-china-agree-on-a-super-fb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s-h-company-releases-holo4-open-a7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s-h-company-releases-holo4-open-a7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s-cloudflare-s-new-cf-cli-is-73f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s-cloudflare-s-new-cf-cli-is-73f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s-cloudflare-and-aws-ship-open-6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s-cloudflare-and-aws-ship-open-6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s-xiaomi-mimo-v2-6-pro-becomes-2bda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s-xiaomi-mimo-v2-6-pro-becomes-2bda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imo-v2.6-pro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claude-opus-5-max" TargetMode="External"/><Relationship Id="rId3" Type="http://schemas.openxmlformats.org/officeDocument/2006/relationships/hyperlink" Target="https://en.wikipedia.org/wiki/Elo_rating_system" TargetMode="External"/><Relationship Id="rId21" Type="http://schemas.openxmlformats.org/officeDocument/2006/relationships/hyperlink" Target="https://arena.ai/leaderboard/model/claude-opus-4-8-high" TargetMode="External"/><Relationship Id="rId34" Type="http://schemas.openxmlformats.org/officeDocument/2006/relationships/hyperlink" Target="https://arena.ai/leaderboard/model/gemini-3.6-flash-high" TargetMode="External"/><Relationship Id="rId7" Type="http://schemas.openxmlformats.org/officeDocument/2006/relationships/hyperlink" Target="https://arena.ai/leaderboard/model/claude-fable-5-high" TargetMode="External"/><Relationship Id="rId12" Type="http://schemas.openxmlformats.org/officeDocument/2006/relationships/hyperlink" Target="https://arena.ai/leaderboard/model/kimi-k3-max" TargetMode="External"/><Relationship Id="rId17" Type="http://schemas.openxmlformats.org/officeDocument/2006/relationships/hyperlink" Target="https://arena.ai/leaderboard/model/muse-spark-1.2%20%28xHigh%29" TargetMode="External"/><Relationship Id="rId25" Type="http://schemas.openxmlformats.org/officeDocument/2006/relationships/hyperlink" Target="https://arena.ai/leaderboard/model/claude-opus-4-8" TargetMode="External"/><Relationship Id="rId33" Type="http://schemas.openxmlformats.org/officeDocument/2006/relationships/hyperlink" Target="https://arena.ai/leaderboard/model/gemini-3-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5.5-high" TargetMode="External"/><Relationship Id="rId20" Type="http://schemas.openxmlformats.org/officeDocument/2006/relationships/hyperlink" Target="https://arena.ai/leaderboard/model/claude-opus-5-high" TargetMode="External"/><Relationship Id="rId29" Type="http://schemas.openxmlformats.org/officeDocument/2006/relationships/hyperlink" Target="https://arena.ai/leaderboard/model/claude-sonnet-4-6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gemini-4-argon-high" TargetMode="External"/><Relationship Id="rId11" Type="http://schemas.openxmlformats.org/officeDocument/2006/relationships/hyperlink" Target="https://arena.ai/leaderboard/model/claude-opus-4-7" TargetMode="External"/><Relationship Id="rId24" Type="http://schemas.openxmlformats.org/officeDocument/2006/relationships/hyperlink" Target="https://arena.ai/leaderboard/model/claude-opus-4-5-20251101-high-32k" TargetMode="External"/><Relationship Id="rId32" Type="http://schemas.openxmlformats.org/officeDocument/2006/relationships/hyperlink" Target="https://arena.ai/leaderboard/model/gemini-3.1-pro-preview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3-max" TargetMode="External"/><Relationship Id="rId23" Type="http://schemas.openxmlformats.org/officeDocument/2006/relationships/hyperlink" Target="https://arena.ai/leaderboard/model/gemini-3.8-flash-high" TargetMode="External"/><Relationship Id="rId28" Type="http://schemas.openxmlformats.org/officeDocument/2006/relationships/hyperlink" Target="https://arena.ai/leaderboard/model/deepseek-v4.1-flash-max" TargetMode="External"/><Relationship Id="rId36" Type="http://schemas.openxmlformats.org/officeDocument/2006/relationships/hyperlink" Target="https://arena.ai/leaderboard/model/qwen3.8-max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gpt-5.6-sol-xhigh" TargetMode="External"/><Relationship Id="rId31" Type="http://schemas.openxmlformats.org/officeDocument/2006/relationships/hyperlink" Target="https://arena.ai/leaderboard/model/gemini-3.7-flash-high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-high" TargetMode="External"/><Relationship Id="rId14" Type="http://schemas.openxmlformats.org/officeDocument/2006/relationships/hyperlink" Target="https://arena.ai/leaderboard/model/gpt-6-astra-max" TargetMode="External"/><Relationship Id="rId22" Type="http://schemas.openxmlformats.org/officeDocument/2006/relationships/hyperlink" Target="https://arena.ai/leaderboard/model/claude-fable-5.1-max" TargetMode="External"/><Relationship Id="rId27" Type="http://schemas.openxmlformats.org/officeDocument/2006/relationships/hyperlink" Target="https://arena.ai/leaderboard/model/muse-spark" TargetMode="External"/><Relationship Id="rId30" Type="http://schemas.openxmlformats.org/officeDocument/2006/relationships/hyperlink" Target="https://arena.ai/leaderboard/model/qwen3.7-max-preview" TargetMode="External"/><Relationship Id="rId35" Type="http://schemas.openxmlformats.org/officeDocument/2006/relationships/hyperlink" Target="https://arena.ai/leaderboard/model/gpt-5.5-high" TargetMode="External"/><Relationship Id="rId8" Type="http://schemas.openxmlformats.org/officeDocument/2006/relationships/hyperlink" Target="https://arena.ai/leaderboard/model/claude-opus-4-6-high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ogle/innovation-and-ai/models-and-research/gemini-models/gemini-4-argon/" TargetMode="External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google-research/rrsi" TargetMode="External"/><Relationship Id="rId5" Type="http://schemas.openxmlformats.org/officeDocument/2006/relationships/image" Target="../media/image4.jpeg"/><Relationship Id="rId4" Type="http://schemas.openxmlformats.org/officeDocument/2006/relationships/hyperlink" Target="https://ai-tldr.dev/models/google-gemini-4-argon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claude-sonnet-5-5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jpeg"/><Relationship Id="rId4" Type="http://schemas.openxmlformats.org/officeDocument/2006/relationships/hyperlink" Target="https://claude.com/blog/claude-marketplac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9.2297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7.png"/><Relationship Id="rId4" Type="http://schemas.openxmlformats.org/officeDocument/2006/relationships/hyperlink" Target="https://www.youtube.com/watch?v=63nU3-EXf6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index/introducing-gpt-6-1-sol/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jpeg"/><Relationship Id="rId5" Type="http://schemas.openxmlformats.org/officeDocument/2006/relationships/hyperlink" Target="https://github.com/VectifyAI/PageIndex" TargetMode="External"/><Relationship Id="rId4" Type="http://schemas.openxmlformats.org/officeDocument/2006/relationships/hyperlink" Target="https://www.engadget.com/2271626/openai-cancels-gpt-6-1-astra-release-deceptive-behavior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index/devday-2026-reca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jpeg"/><Relationship Id="rId5" Type="http://schemas.openxmlformats.org/officeDocument/2006/relationships/hyperlink" Target="https://openai.com/index/introducing-dots/" TargetMode="External"/><Relationship Id="rId4" Type="http://schemas.openxmlformats.org/officeDocument/2006/relationships/hyperlink" Target="https://devday.openai.com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6/09/25/pentagon-anthropic-ai-risk-appeals-court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DjW_dRyKX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hyperlink" Target="https://37signals.com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research/glm-5-3-and-the-spread-of-advanced-cyber-capabilities" TargetMode="External"/><Relationship Id="rId3" Type="http://schemas.openxmlformats.org/officeDocument/2006/relationships/hyperlink" Target="https://memoh.ai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RdglwPXveiI" TargetMode="External"/><Relationship Id="rId5" Type="http://schemas.openxmlformats.org/officeDocument/2006/relationships/hyperlink" Target="https://aiprofitboardroom.com/%5D(https:/aiprofitboardroom.com/)" TargetMode="External"/><Relationship Id="rId10" Type="http://schemas.openxmlformats.org/officeDocument/2006/relationships/image" Target="../media/image18.png"/><Relationship Id="rId4" Type="http://schemas.openxmlformats.org/officeDocument/2006/relationships/hyperlink" Target="https://github.com/felinics/Memoh" TargetMode="External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fastino/GLiNER2.5-Decide" TargetMode="External"/><Relationship Id="rId3" Type="http://schemas.openxmlformats.org/officeDocument/2006/relationships/hyperlink" Target="https://docs.typesafe.ai/sdk/python" TargetMode="External"/><Relationship Id="rId7" Type="http://schemas.openxmlformats.org/officeDocument/2006/relationships/hyperlink" Target="https://fastino.ai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png"/><Relationship Id="rId5" Type="http://schemas.openxmlformats.org/officeDocument/2006/relationships/hyperlink" Target="https://github.com/NandhaKishorM/laya" TargetMode="External"/><Relationship Id="rId4" Type="http://schemas.openxmlformats.org/officeDocument/2006/relationships/hyperlink" Target="https://anth.us/blog/jev-vs-laya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ogether.ai/blog/how-to-train-your-own-jev" TargetMode="External"/><Relationship Id="rId3" Type="http://schemas.openxmlformats.org/officeDocument/2006/relationships/hyperlink" Target="https://huggingface.co/Contrastive-LM/CLM-v0.1-8B" TargetMode="External"/><Relationship Id="rId7" Type="http://schemas.openxmlformats.org/officeDocument/2006/relationships/hyperlink" Target="https://github.com/togethercomputer/tev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SonDaoRM/Jef-qwen3.5-4b-finetune-banking77" TargetMode="External"/><Relationship Id="rId11" Type="http://schemas.openxmlformats.org/officeDocument/2006/relationships/image" Target="../media/image22.jpeg"/><Relationship Id="rId5" Type="http://schemas.openxmlformats.org/officeDocument/2006/relationships/image" Target="../media/image20.jpeg"/><Relationship Id="rId10" Type="http://schemas.openxmlformats.org/officeDocument/2006/relationships/hyperlink" Target="https://openrouter.ai/typesafe/jev-router" TargetMode="External"/><Relationship Id="rId4" Type="http://schemas.openxmlformats.org/officeDocument/2006/relationships/hyperlink" Target="https://www.youtube.com/watch?v=eSuMmMMMrm0" TargetMode="External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ollama.com/blog/ollama-now-supports-jev-style-decision-models" TargetMode="External"/><Relationship Id="rId3" Type="http://schemas.openxmlformats.org/officeDocument/2006/relationships/hyperlink" Target="http://r.id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3.png"/><Relationship Id="rId5" Type="http://schemas.openxmlformats.org/officeDocument/2006/relationships/hyperlink" Target="https://github.com/fsdatalab/quail" TargetMode="External"/><Relationship Id="rId4" Type="http://schemas.openxmlformats.org/officeDocument/2006/relationships/hyperlink" Target="https://modal.com/blog/quail-billion-tpm" TargetMode="External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3" Type="http://schemas.openxmlformats.org/officeDocument/2006/relationships/hyperlink" Target="https://www.theverge.com/ai-artificial-intelligence/1000116/google-gemini-business-phone-calls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huggingface.co/nvidia/Nemotron-3-Diarization" TargetMode="External"/><Relationship Id="rId5" Type="http://schemas.openxmlformats.org/officeDocument/2006/relationships/hyperlink" Target="https://blog.google/innovation-and-ai/models-and-research/google-research/google-project-suncatcher-facts/" TargetMode="External"/><Relationship Id="rId4" Type="http://schemas.openxmlformats.org/officeDocument/2006/relationships/image" Target="../media/image26.jpe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eg"/><Relationship Id="rId3" Type="http://schemas.openxmlformats.org/officeDocument/2006/relationships/hyperlink" Target="https://thenextweb.com/news/deepseek-revenue-run-rate-1bn" TargetMode="External"/><Relationship Id="rId7" Type="http://schemas.openxmlformats.org/officeDocument/2006/relationships/hyperlink" Target="https://about.fb.com/news/2026/09/launching-meta-enterprise-platform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0.jpeg"/><Relationship Id="rId5" Type="http://schemas.openxmlformats.org/officeDocument/2006/relationships/hyperlink" Target="https://mouse.dev/blog/muse-runtime-export/" TargetMode="External"/><Relationship Id="rId4" Type="http://schemas.openxmlformats.org/officeDocument/2006/relationships/image" Target="../media/image29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bfl.ai/models/flux-3-action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x.com/ClaudeDevs/status/2103561342057943314" TargetMode="External"/><Relationship Id="rId4" Type="http://schemas.openxmlformats.org/officeDocument/2006/relationships/image" Target="../media/image3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puterhistory.org/tdih/may/22/" TargetMode="External"/><Relationship Id="rId7" Type="http://schemas.openxmlformats.org/officeDocument/2006/relationships/image" Target="../media/image34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3.jpeg"/><Relationship Id="rId5" Type="http://schemas.openxmlformats.org/officeDocument/2006/relationships/hyperlink" Target="https://www.scienceandmediamuseum.org.uk/objects-and-stories/short-history-internet" TargetMode="External"/><Relationship Id="rId4" Type="http://schemas.openxmlformats.org/officeDocument/2006/relationships/hyperlink" Target="https://www.rfc-editor.org/info/rfc675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nvidianews.nvidia.com/news/open-agent-safety-platform" TargetMode="External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www.nvidia.com/en-us/ai/openshell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://fireworks.ai" TargetMode="External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8.png"/><Relationship Id="rId5" Type="http://schemas.openxmlformats.org/officeDocument/2006/relationships/hyperlink" Target="https://fireworks.ai" TargetMode="External"/><Relationship Id="rId4" Type="http://schemas.openxmlformats.org/officeDocument/2006/relationships/hyperlink" Target="https://fireworks.ai/blog/ember-1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cloudflare.com/cloudflare-cf-cli-launch/" TargetMode="External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hyperlink" Target="https://vercel.com/blog/state-of-agent-skills" TargetMode="External"/><Relationship Id="rId4" Type="http://schemas.openxmlformats.org/officeDocument/2006/relationships/hyperlink" Target="https://www.skills.sh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cloudflare.com/clef-decision-models/" TargetMode="External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3.png"/><Relationship Id="rId5" Type="http://schemas.openxmlformats.org/officeDocument/2006/relationships/hyperlink" Target="https://claude.com/blog/claude-code-mods" TargetMode="External"/><Relationship Id="rId4" Type="http://schemas.openxmlformats.org/officeDocument/2006/relationships/hyperlink" Target="https://code.claude.com/docs/en/plugins/mods/overview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models/mimo-v2-6-pro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6.jpeg"/><Relationship Id="rId5" Type="http://schemas.openxmlformats.org/officeDocument/2006/relationships/hyperlink" Target="https://www.tavus.io/griffin" TargetMode="External"/><Relationship Id="rId4" Type="http://schemas.openxmlformats.org/officeDocument/2006/relationships/image" Target="../media/image45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8.jpeg"/><Relationship Id="rId5" Type="http://schemas.openxmlformats.org/officeDocument/2006/relationships/image" Target="../media/image47.jpeg"/><Relationship Id="rId4" Type="http://schemas.openxmlformats.org/officeDocument/2006/relationships/hyperlink" Target="https://trueup.io/layoffs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9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754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2,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73448" y="168350"/>
            <a:ext cx="2950800" cy="326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Trend - Persistent Agents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5" y="393200"/>
            <a:ext cx="34401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Crowd-sourced LM Arena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Gemini 4 Argon - Google's Latest Frontier AI Model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RRSI: Self-Improving Harness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Sonnet 5.5: Faster, Lower-Cost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Recent Claude Opus Versions Release Dates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Opus 5.5 is a Better Writer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Marketplace: 2,000+ Plugins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Agents Train Their Successors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DSec Scales Sandboxes for Agentic RL Training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cancels GPT-6.1 Astra and releases 6.1 Sol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5" y="2484883"/>
            <a:ext cx="3440100" cy="26043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VectifyAI PageIndex Doc Search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DevDay 2026 - Agents and Tools - Sept 29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Persistent AI Agents (trending)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Trend - Persistent Agents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Court Upholds Pentagon Anthropic Blacklist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DHH (David Heinemeier Hansson) Keynote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Memoh: AI Agents With Their Own PCs (China)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Swarms Are Expensive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GLM-5.3 Builds Cyber Exploits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When to Use JEV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Laya by ConvAI Innovations - better than Jev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Fastino GLiDE - Jev-like model, via API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CLM-8B: 9x Faster Than Jev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Jeff - Classifier for Under $5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561596" y="748900"/>
            <a:ext cx="3048600" cy="27891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OpenRouter Jev Router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Modal Quail: 1B Tokens/Min per H100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Ollama Adds Local Jev-like Decision Models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Gemini Makes Business Calls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Suncatcher: TPUs in Orbit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NVIDIA Nemotron 3 Diarization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DeepSeek Hits $1B Run Rate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Muse Leaks Its Own Sandbox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Meta Enterprise AI Platform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FLUX 3 Action Robot Model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Graceful 5-Hour Stop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Ethernet Proposed, May 22, 1973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NVIDIA Agent Safety: OpenShell + Sentry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AMD to Acquire Fei-Fei Li’s World Labs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Fireworks.AI Ember-1 - 40% less Tokens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561596" y="3593072"/>
            <a:ext cx="30486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Cloudflare cf: CLI Built for Agents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Vercel: 1M Agent Skills, 280M Installs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Clef &amp; Strands Decider: Open Jev Rivals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Mods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Xiaomi MiMo-V2.6-Pro: Top Open Model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Tavus Griffin Passes for Human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Hiring &amp; Skills in Demand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4902" y="2813695"/>
            <a:ext cx="1450600" cy="1946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1" name="Google Shape;61;p1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4902" y="843282"/>
            <a:ext cx="1450600" cy="182141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30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{843DFB2F-6C42-4026-9F7D-4F4849935BB8}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2" name="Google Shape;72;p14"/>
          <p:cNvSpPr txBox="1"/>
          <p:nvPr/>
        </p:nvSpPr>
        <p:spPr>
          <a:xfrm>
            <a:off x="6838390" y="485738"/>
            <a:ext cx="21525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Deepseek-v4.1-Flash - 552B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3" name="Google Shape;73;p14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{843DFB2F-6C42-4026-9F7D-4F4849935BB8}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gemini-4-argon-high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deepseek-v4.1-flash-max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4" name="Google Shape;74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{843DFB2F-6C42-4026-9F7D-4F4849935BB8}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gemini-4-argon-high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Oct 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146" y="1598925"/>
            <a:ext cx="8534708" cy="34687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5"/>
          <p:cNvSpPr/>
          <p:nvPr/>
        </p:nvSpPr>
        <p:spPr>
          <a:xfrm>
            <a:off x="3228500" y="3424925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86878" y="392525"/>
            <a:ext cx="4535400" cy="198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4 Argon - Google's Latest Frontier AI Model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Ouputs up to 1 Mln tokens in one answer (up from 64K)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Input Context Window not disclosed yet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Targets complex, extended work in coding, business knowledge tasks, legal, finance, cybersecurity defense.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Initial access limited to cyber defenders and testers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Argon handles demanding, multi-step tasks that require sustained reasoning and execution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https://blog.google/innovation-and-ai/models-and-research/gemini-models/gemini-4-argon/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https://ai-tldr.dev/models/google-gemini-4-argon/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Introductory price $2/$10 per million tokens, later $4/$20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7005" y="434887"/>
            <a:ext cx="3069109" cy="190398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1" name="Google Shape;91;p16"/>
          <p:cNvSpPr txBox="1"/>
          <p:nvPr/>
        </p:nvSpPr>
        <p:spPr>
          <a:xfrm>
            <a:off x="86878" y="2474775"/>
            <a:ext cx="45354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Google's RRSI lets agents rewrite their own harness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RRSI: Regularized Recursive Self-Improvement of Agent Harnesses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agent edits its own prompts, tools, memory, control flow and sub-agents; model weights never change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Regularized so the harness does not just memorize its training tasks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From Google Cloud AI Research with UNC, Stanford and WashU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source under Apache 2.0; works with any LiteLLM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https://github.com/google-research/rrsi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8474" y="2474777"/>
            <a:ext cx="2390338" cy="1465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2100" y="337950"/>
            <a:ext cx="4381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Sonnet 5.5: Faster, Lower-Cost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API pricing remains $2 /$10 per Mln tokens in / out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Multi-step AI work can consume time and tokens through repeated reasoning and tool calls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Anthropic says Sonnet 5.5 responds over 30% faster and can use fewer tokens and tool calls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Up to 30% lower cost per completed task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At low or medium effort, it reportedly beats Sonnet 5’s top score on some evaluations for about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one-tenth the task cost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https://www.anthropic.com/claude-sonnet-5-5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102100" y="2280425"/>
            <a:ext cx="4381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Opus 5.5 is a Better Writer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Claude Opus 5.5’s main difference from Opus 5 is clearer, more accessible writing. It tends to lead with the main point and explain complex ideas with less jargon.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That style may make it better for summarizing architecture discussions, including decisions, alternatives, and tradeoffs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Note that clarity does not guarantee greater accuracy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Anthropic also reports stronger performance on complex coding tasks, faster output, and lower API prices than Opus 5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Its summaries may not always be shorter: one analysis found Opus 5.5’s responses were somewhat longer on average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707475" y="337950"/>
            <a:ext cx="3425700" cy="124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Recent Claude Opus Versions </a:t>
            </a:r>
            <a:b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Release Dates and Training Data Cutoff</a:t>
            </a:r>
            <a:endParaRPr sz="10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4.5  Nov 24, 2025 / - 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4.6  Feb  5, 2026 / Aug 2025 - very good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4.7  Apr 16, 2026 / Jan 2026 - 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4.8  May 28, 2026 / Jan 2026 - worse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5.0  Jul 24, 2026 / May 2026 - worse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Roboto Mono"/>
              <a:buChar char="●"/>
            </a:pPr>
            <a:r>
              <a:rPr lang="en" sz="1000">
                <a:latin typeface="Roboto Mono"/>
                <a:ea typeface="Roboto Mono"/>
                <a:cs typeface="Roboto Mono"/>
                <a:sym typeface="Roboto Mono"/>
              </a:rPr>
              <a:t>5.5  Sep 22, 2026 / -        - very good</a:t>
            </a:r>
            <a:endParaRPr sz="10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5537425" y="3347250"/>
            <a:ext cx="34257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Marketplace opens with 2,000+ connectors and plugins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2,000+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MCP connectors and plugins, including Google, Microsoft, Notion, Salesforce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Claude-powered agents from Cursor, CrowdStrike and Snowflake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Consulting partners such as Accenture and Deloitte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Builders can list their own tools and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https://claude.com/blog/claude-marketplace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7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3875" y="1738725"/>
            <a:ext cx="1999250" cy="1457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/>
          <p:nvPr/>
        </p:nvSpPr>
        <p:spPr>
          <a:xfrm>
            <a:off x="36574" y="101125"/>
            <a:ext cx="2824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DeepSeek DSec paper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 txBox="1"/>
          <p:nvPr/>
        </p:nvSpPr>
        <p:spPr>
          <a:xfrm>
            <a:off x="102100" y="461775"/>
            <a:ext cx="41352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Agents Train Their Successors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DeepSeek </a:t>
            </a:r>
            <a:r>
              <a:rPr lang="en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DSec paper - 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130-plus authors</a:t>
            </a:r>
            <a:b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https://arxiv.org/abs/2609.22978</a:t>
            </a:r>
            <a:r>
              <a:rPr lang="en" sz="1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DSec (DeepSeek Elastic Compute) 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is DeepSeek’s infrastructure for running AI agents in isolated, disposable sandboxes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DSec provides isolated practice computers where agents can write and test code without risking production systems. A cluster handles about 3 million sandboxes daily, with more than 380K  running simultaneously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Its layered, on-demand environments reduce startup time, storage writes, and memory use, while letting agents assemble reusable training environments themselves.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That approach addresses a key constraint in RSI (Recursive Self-Improvement) - producing enough reliable tasks and environments, not just adding GPUs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The cluster reports creation of more than 5K sandboxes per sec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The main speedup comes from avoiding full image downloads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DSec stores environment images in DeepSeek’s 3FS distributed file system and loads only the data blocks an agent actually accesses.</a:t>
            </a:r>
            <a:b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Uses EROFS (Enhanced Read-Only File System) for speed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https://www.youtube.com/watch?v=63nU3-EXf6g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16546" y="40589"/>
            <a:ext cx="4778115" cy="2405474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8"/>
          <p:cNvSpPr txBox="1"/>
          <p:nvPr/>
        </p:nvSpPr>
        <p:spPr>
          <a:xfrm>
            <a:off x="4345788" y="2571750"/>
            <a:ext cx="4719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DSec Scales Sandboxes for Agentic RL Training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Problem: Agentic reinforcement learning (RL) needs many reliable, stateful task environments; the speed of provisioning and resource use can limit training throughput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Solution: DSec combines function-call, container, microVM, and full-VM sandboxes, loading image data on demand instead of downloading complete images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Achievement: DeepSeek reports over 5,000 sandbox creations per second, about 3 million daily, and more than 380,000 simultaneous sandboxes.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Importance: It demonstrates that environment capacity - not GPUs alone - can constrain agent training.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Similar sandbox concepts are used by all major AI training vendors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174875" y="406825"/>
            <a:ext cx="4327200" cy="2665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cancels GPT-6.1 Astra and releases 6.1 Sol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testing the Astra model was deceptive, acting without permission, reaching to outside tools when it was unsafe, and not following instructions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will retrain Astra to reward the right behavior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day later they shipped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GPT-6.1 Sol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- Near-Flagship, Lower Cost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coding, computer use, and professional work.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approaches GPT-6 Astra - at 1/5-th of cost ($2/$10)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- Sol suits demanding everyday work where cost matters; Astra remains preferable for the hardest scientific research. It is available through the API, ChatGPT Work, and Codex—not the regular ChatGPT chat.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https://openai.com/index/introducing-gpt-6-1-sol/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https://www.engadget.com/2271626/openai-cancels-gpt-6-1-astra-release-deceptive-behavior/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9"/>
          <p:cNvSpPr txBox="1"/>
          <p:nvPr/>
        </p:nvSpPr>
        <p:spPr>
          <a:xfrm>
            <a:off x="244800" y="3299475"/>
            <a:ext cx="4327200" cy="169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9913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VectifyAI PageIndex Doc Search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9136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Hits 98.7% on FinanceBench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9136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 Source, 29K GitHub stars, MCP support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9136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Document search without vectors, embeddings, chunking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Builds a tree, like a smart table of contents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Mafin 2.5, built on PageIndex, scored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98.7%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FinanceBench;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vector RAG got about 50%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Suited to long legal, financial and technical documents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3736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https://github.com/VectifyAI/PageIndex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3400" y="3299475"/>
            <a:ext cx="2767225" cy="1696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9" name="Google Shape;119;p1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3875" y="138175"/>
            <a:ext cx="3992900" cy="2994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/>
          <p:nvPr/>
        </p:nvSpPr>
        <p:spPr>
          <a:xfrm>
            <a:off x="36575" y="-27425"/>
            <a:ext cx="4402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OpenAI DevDay 2026 - Agents and Tools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36576" y="404959"/>
            <a:ext cx="5669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DevDay 2026 - Agents and Tools -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Sept 29,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San Francisco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More than 20 updates, including Dots, always-on agents; GPT-6.1 Sol; faster Codex and API tools; and ChatGPT plugins for developer-built experiences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 500 plan - $500/mo (includes Ultrafast); also reduced limits on $200 Pro plan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Decision model using Luna (similar to Jev)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OpenAI’s new agents, computer-use capabilities, and shared ChatGPT spaces aim to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handle ongoing tasks and coordinate work across apps and teams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says developers can launch native ChatGPT experiences to 1.2 Bln weekly users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Push AI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from answering questions toward executing and coordinating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https://openai.com/index/devday-2026-recap/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https://devday.openai.com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https://openai.com/index/introducing-dots/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2925" y="405025"/>
            <a:ext cx="1926788" cy="2419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7" name="Google Shape;127;p20"/>
          <p:cNvSpPr txBox="1"/>
          <p:nvPr/>
        </p:nvSpPr>
        <p:spPr>
          <a:xfrm>
            <a:off x="1074350" y="2688775"/>
            <a:ext cx="3954900" cy="240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Persistent AI Agents (trending)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OpenAI — Dots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Microsoft — Copilot Autopilot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Meta — Muse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Google — Gemini Enterprise Agent Platform; Gemini Spark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Amazon Web Services — Amazon Bedrock AgentCore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Anthropic — Claude Cowork / Dispatch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Perplexity — Comet Assistant / Perplexity Computer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xAI / SpaceXAI — Grok Bot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Salesforce — Agentforce Coworker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Alibaba — Wukong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Tencent — WorkBuddy (QClaw will be shut down)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ByteDance — Feishu AI agents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7950" algn="l" rtl="0">
              <a:spcBef>
                <a:spcPts val="0"/>
              </a:spcBef>
              <a:spcAft>
                <a:spcPts val="0"/>
              </a:spcAft>
              <a:buSzPts val="8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Zhipu AI — enterprise AI agent platform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0"/>
          <p:cNvSpPr txBox="1"/>
          <p:nvPr/>
        </p:nvSpPr>
        <p:spPr>
          <a:xfrm>
            <a:off x="5430923" y="3792325"/>
            <a:ext cx="2950800" cy="326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Trend - Persistent Agents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1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850732"/>
            <a:ext cx="2461825" cy="29688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5" name="Google Shape;135;p21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07179" y="2703305"/>
            <a:ext cx="2139718" cy="22372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6" name="Google Shape;136;p21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7.58K subscribers, 354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2"/>
          <p:cNvSpPr txBox="1"/>
          <p:nvPr/>
        </p:nvSpPr>
        <p:spPr>
          <a:xfrm>
            <a:off x="141000" y="448975"/>
            <a:ext cx="41208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Appeals court lets the Pentagon keep Anthropic blacklisted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panel of 3 judges of the federal appeals court in Washington, D.C., upheld the Pentagon’s blacklisting of Anthropic (which was originally done on February 27, 2026)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dispute began when Anthropic refused the use of its models for fully autonomous weapons and domestic mass surveillance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San Francisco judge had found Pentagon's designation unlawful retaliation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But now as this decision was appealed, Anthropic can ask the full D.C. Circuit to rehear the case en banc; it can also petition the U.S. Supreme Court to review the ruling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https://www.cnbc.com/2026/09/25/pentagon-anthropic-ai-risk-appeals-court.html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2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12" y="541375"/>
            <a:ext cx="3769187" cy="2188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/>
        </p:nvSpPr>
        <p:spPr>
          <a:xfrm>
            <a:off x="36573" y="-27425"/>
            <a:ext cx="3688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DHH Keynote 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3"/>
          <p:cNvSpPr txBox="1"/>
          <p:nvPr/>
        </p:nvSpPr>
        <p:spPr>
          <a:xfrm>
            <a:off x="36576" y="404959"/>
            <a:ext cx="56694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DHH (David Heinemeier Hansson) Keynote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Rails World 2026 Opening Keynote - DHH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https://www.youtube.com/watch?v=vDjW_dRyKXY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DHH is a Danish programmer and entrepreneur, and the creator of Ruby on Rails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is a co-owner and CTO of 37signals (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https://37signals.com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) - the company behind Basecamp and HEY. He is also an author and is known as a race-car driver.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DHH opens Rails World 2026 in Austin with a keynote on the age of AI agents: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why 37signals has gone "pencils down" - stopping hand-written coding,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why Rails' convention over configuration is built for this moment,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and why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only play left is total optimism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speaker sees AI agents as a major turning point in computing, comparable to photography becoming widely accessible. As implementation costs fall, developers can build more software and focus on outcomes rather than hand-writing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is changing programming roles, workflows, and architecture. Teams should delegate tasks to agents, review results, and rethink practices designed for human-written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Some products may shift from web apps to native apps as multi-platform development becomes cheaper, while the web remains useful for easy, installation-free access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can also help create efficient backends, search by meaning, and customize computing environments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Developers should build agent-friendly interfaces, such as command-line tools, and address security risks through engineering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speaker’s message is optimistic: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hand-coding had a valuable era, but the future belongs to people who guide AI to make useful things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00251" y="436925"/>
            <a:ext cx="1804699" cy="24218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1" name="Google Shape;151;p2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00250" y="2940725"/>
            <a:ext cx="1804700" cy="189534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4"/>
          <p:cNvSpPr txBox="1"/>
          <p:nvPr/>
        </p:nvSpPr>
        <p:spPr>
          <a:xfrm>
            <a:off x="36574" y="-27425"/>
            <a:ext cx="2604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4"/>
          <p:cNvSpPr txBox="1"/>
          <p:nvPr/>
        </p:nvSpPr>
        <p:spPr>
          <a:xfrm>
            <a:off x="84100" y="347950"/>
            <a:ext cx="44181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Memoh: AI Agents With Their Own PCs (China)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Memoh gives each agent an isolated workspace with a desktop, browser, files, network access, and persistent memory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can run scheduled tasks around the clock, even when the user’s laptop is off, and can be contacted through messaging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Shifting AI from one-off chat to persistent, autonomous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https://memoh.ai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https://github.com/felinics/Memoh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https://aiprofitboardroom.com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https://www.youtube.com/watch?v=RdglwPXveiI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120625"/>
            <a:ext cx="1181500" cy="104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4"/>
          <p:cNvSpPr txBox="1"/>
          <p:nvPr/>
        </p:nvSpPr>
        <p:spPr>
          <a:xfrm>
            <a:off x="84100" y="2077825"/>
            <a:ext cx="44181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Swarms Are Expensive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Because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agents must constantly pass state updates, logs, and contexts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back and forth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companies are pushing swarms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promising speed - but also as a means to increase token usage (more profit)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4"/>
          <p:cNvSpPr txBox="1"/>
          <p:nvPr/>
        </p:nvSpPr>
        <p:spPr>
          <a:xfrm>
            <a:off x="84101" y="3097780"/>
            <a:ext cx="5669400" cy="181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Anthropic: open GLM-5.3 builds cyber exploits almost like Mythos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Zhipu's open-weight GLM-5.3 built 50 working exploits on ExploitBench vs 56 for Claude Mythos Preview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ships without meaningful safeguards against misuse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Harmful requests got through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64%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of the time with deceptive prompts, 92% with prefilled reasoning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After abliteration, which strips refusals from open weights, it complied 100% of the time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models stayed at 0% under the same tests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expects state and non-state attackers to use such models for real harm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https://www.anthropic.com/research/glm-5-3-and-the-spread-of-advanced-cyber-capabilities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275" y="3097776"/>
            <a:ext cx="1990426" cy="181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2" name="Google Shape;162;p24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2200" y="1648200"/>
            <a:ext cx="2254026" cy="13716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/>
          <p:nvPr/>
        </p:nvSpPr>
        <p:spPr>
          <a:xfrm>
            <a:off x="36575" y="-27425"/>
            <a:ext cx="2016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JEV - page 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84100" y="347950"/>
            <a:ext cx="44181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When to Use JEV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is a TypeSafe AI’s decision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strongest use cases are workflows that need a fast, repeatable, machine-readable judgment from a known set of possible answers - not a conversational response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returns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probabilities of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typed choices, scores, or yes/no (“Noul” questions), so your application can use the result directly in its control flow.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https://docs.typesafe.ai/sdk/python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python API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9" name="Google Shape;169;p25"/>
          <p:cNvGraphicFramePr/>
          <p:nvPr/>
        </p:nvGraphicFramePr>
        <p:xfrm>
          <a:off x="84100" y="33688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{843DFB2F-6C42-4026-9F7D-4F4849935BB8}</a:tableStyleId>
              </a:tblPr>
              <a:tblGrid>
                <a:gridCol w="14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7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 case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Example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Classification and triage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Sort support tickets by topic or urgency, categorize emails, or flag items for human review.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Routing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Choose the right team, workflow, tool, or AI model for an incoming request.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moderation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Check for spam or policy violations, then route uncertain cases to moderators.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Scoring and ranking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Prioritize leads, rank candidate items, or score reviews against a defined rubric.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Agent guardrails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Assess whether a proposed tool call or action meets a risk rule before your system executes it.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Verification checks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Estimate whether a specific claim or condition is true, or whether an item meets a checklist.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6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Real-time decisions</a:t>
                      </a:r>
                      <a:endParaRPr sz="11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Make frequent choices in interactive systems / games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0" name="Google Shape;170;p25"/>
          <p:cNvSpPr txBox="1"/>
          <p:nvPr/>
        </p:nvSpPr>
        <p:spPr>
          <a:xfrm>
            <a:off x="4754350" y="970675"/>
            <a:ext cx="42996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Laya by ConvAI Innovations - better than Jev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by Nandakishor Mukkunnoth, open-weight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Classification, scoring, or yes/no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Apache 2.0 alternative to Jev, can run locally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Privacy, ownership, tuning/customization, speed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Speed and benchmark wins are not independently settled; one comparison found Jev more accurate before adapting Laya to its test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Based on ModernBERT-large (or mmBERT-base) model, trained using RLCD (Reinforcement Learning for Calibrated Decisions)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https://anth.us/blog/jev-vs-laya/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https://github.com/NandhaKishorM/laya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01325" y="128397"/>
            <a:ext cx="2605650" cy="746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2" name="Google Shape;172;p25"/>
          <p:cNvSpPr txBox="1"/>
          <p:nvPr/>
        </p:nvSpPr>
        <p:spPr>
          <a:xfrm>
            <a:off x="84100" y="2131829"/>
            <a:ext cx="44181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Fastino GLiDE - Jev-like model, via API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Fastino is in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San Francisco, CA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Fastino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GLiDE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is better than Jev on 31 of 38 benchmarks.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https://fastino.ai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GLiNER2.5-Decide - open-weight decision model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https://huggingface.co/fastino/GLiNER2.5-Decide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/>
        </p:nvSpPr>
        <p:spPr>
          <a:xfrm>
            <a:off x="36575" y="-27425"/>
            <a:ext cx="2016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JEV - page 2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65471" y="321129"/>
            <a:ext cx="4535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Contrastive Language Models score agent, 9x faster than Jev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Stanford and NVIDIA released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CLM-8B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, an open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System One model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 scores candidate actions and returns probabilities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Two small heads on a frozen Qwen3-8B, trained with a contrastive loss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Matches Jev on computer use, games and tool calling, x9 times faster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As a fine-tuned verifier: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81.6%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on DeepSWE, 87.6% on Terminal-Bench 2.1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https://huggingface.co/Contrastive-LM/CLM-v0.1-8B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https://www.youtube.com/watch?v=eSuMmMMMrm0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6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8946" y="430096"/>
            <a:ext cx="1742125" cy="1107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0" name="Google Shape;180;p26"/>
          <p:cNvSpPr txBox="1"/>
          <p:nvPr/>
        </p:nvSpPr>
        <p:spPr>
          <a:xfrm>
            <a:off x="76232" y="1680665"/>
            <a:ext cx="45354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Jeff - Classifier for Under $5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Fine-tuned Qwen3.5 4B with LoRA to classify supplied text against listed choices and return a compact decision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Trained on public classification datasets, routing, and research examples; trained and served the model using Modal, Unsloth, and vLLM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Trained on L40S GPU and deploying inference on L40S and H100 GPUs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Training cost $4.17, training time 2 hours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Held-out evaluation reached 88% accuracy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Warm responses were generally subsecond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https://github.com/SonDaoRM/Jef-qwen3.5-4b-finetune-banking77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https://github.com/togethercomputer/tev1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https://www.together.ai/blog/how-to-train-your-own-jev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2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59659" y="2305371"/>
            <a:ext cx="840700" cy="84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2" name="Google Shape;182;p26"/>
          <p:cNvSpPr txBox="1"/>
          <p:nvPr/>
        </p:nvSpPr>
        <p:spPr>
          <a:xfrm>
            <a:off x="84200" y="3667392"/>
            <a:ext cx="4535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OpenRouter launches Jev Router to pick a model for each request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typesafe/jev-router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- powered by the Jev decision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Before the LLM call, it picks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the model and the reasoning effort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weighs quality, speed and cost, and knows what is cached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Solved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82% more tasks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than OpenRouter's Auto Router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four agent benchmarks (237 vs 130 of 423)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Accepts up to 1M tokens;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router itself is listed at </a:t>
            </a: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</a:t>
            </a:r>
            <a:endParaRPr sz="1200" b="1">
              <a:solidFill>
                <a:srgbClr val="FF0000"/>
              </a:solidFill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https://openrouter.ai/typesafe/jev-router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26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3499" y="3716744"/>
            <a:ext cx="2027174" cy="126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7"/>
          <p:cNvSpPr txBox="1"/>
          <p:nvPr/>
        </p:nvSpPr>
        <p:spPr>
          <a:xfrm>
            <a:off x="36575" y="-27425"/>
            <a:ext cx="2016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JEV - page 3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94367" y="377950"/>
            <a:ext cx="4935600" cy="240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Modal's Quail processes a Billion tokens per minute on one H100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Quail (Query-Aware Inference Layer)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LLM calls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inside SQL queries,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such as AI filters and joins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Over </a:t>
            </a: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1B-tokens/min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 H100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1.84x faster than vLLM on average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than 10x on multi-join queries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Under 6 cents per Billion tokens on Prefill only: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yes/no classification needs a single output token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Victor Mono"/>
              <a:buChar char="●"/>
            </a:pPr>
            <a:r>
              <a:rPr lang="en" sz="8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SELECT </a:t>
            </a:r>
            <a:r>
              <a:rPr lang="en" sz="800" b="1">
                <a:solidFill>
                  <a:srgbClr val="3C78D8"/>
                </a:solidFill>
                <a:uFill>
                  <a:noFill/>
                </a:uFill>
                <a:latin typeface="Victor Mono"/>
                <a:ea typeface="Victor Mono"/>
                <a:cs typeface="Victor Mono"/>
                <a:sym typeface="Victor Mon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r.id</a:t>
            </a:r>
            <a:r>
              <a:rPr lang="en" sz="8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FROM reviews r</a:t>
            </a:r>
            <a:endParaRPr sz="8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lvl="0" indent="-1079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Victor Mono"/>
              <a:buChar char="●"/>
            </a:pPr>
            <a:r>
              <a:rPr lang="en" sz="8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WHERE AI.IF(PROMPT('Does this review discuss the ending?\n\n{0}', r.body))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Modal Labs, Inc. is a New York City based cloud-computing platform for AI developers. Since 2021, ~150 people. Raised $466M+, $4.65B valuation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https://modal.com/blog/quail-billion-tpm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https://github.com/fsdatalab/quail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 - open source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2675" y="847182"/>
            <a:ext cx="3015651" cy="1688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1" name="Google Shape;191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57533" y="574007"/>
            <a:ext cx="1018592" cy="1247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2" name="Google Shape;192;p27"/>
          <p:cNvSpPr txBox="1"/>
          <p:nvPr/>
        </p:nvSpPr>
        <p:spPr>
          <a:xfrm>
            <a:off x="94375" y="2861125"/>
            <a:ext cx="4935600" cy="215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Ollama Adds Local Jev-like Decision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Integrating TypeSafe’s Jev-style decision API, with models from Bespoke Labs and Together 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Ollama v. 0.35 adds the `/v1/systemone` endpoint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which answers multiple typed decision questions in one request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ollama pull nimble </a:t>
            </a:r>
            <a:endParaRPr sz="10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Local decision models offer fast &amp; free decisions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Three models are available - Nimble 9B, Tev1 4B, and Tev1 0.8B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Nimble gives same accuracy as Jev - but averaged 91 ms per decision in a local Pac-Man example. Other examples - highly  responsive ticket triage, model routing, and moderation.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https://ollama.com/blog/ollama-now-supports-jev-style-decision-models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2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2667" y="2746561"/>
            <a:ext cx="3470913" cy="230254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84200" y="349375"/>
            <a:ext cx="4468800" cy="1419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now phones businesses for you on Pixel 11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Gemini calls local businesses for reservations,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stock checks and appointment changes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navigates phone menus and waits on hold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You see a live transcript and can take over at any moment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Early preview for paid Gemini subscribers in the US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https://www.theverge.com/ai-artificial-intelligence/1000116/google-gemini-business-phone-calls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2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14875" y="418525"/>
            <a:ext cx="2252327" cy="128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1" name="Google Shape;201;p28"/>
          <p:cNvSpPr txBox="1"/>
          <p:nvPr/>
        </p:nvSpPr>
        <p:spPr>
          <a:xfrm>
            <a:off x="84200" y="1890275"/>
            <a:ext cx="4468800" cy="123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sends TPUs to orbit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Project Suncatcher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Satellite carries four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Trillium TPUs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Launches on SpaceX Transporter-18 on </a:t>
            </a:r>
            <a:r>
              <a:rPr lang="en" sz="1200" b="1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October 1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https://blog.google/innovation-and-ai/models-and-research/google-research/google-project-suncatcher-facts/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Google/Alphabet starts selling TPU systems to customer data centers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competing with NVIDIA GPUs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8"/>
          <p:cNvSpPr txBox="1"/>
          <p:nvPr/>
        </p:nvSpPr>
        <p:spPr>
          <a:xfrm>
            <a:off x="84200" y="3500382"/>
            <a:ext cx="4468800" cy="128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Nemotron 3 Diarization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model, only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100M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parameters, tracks speakers in audio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(up to 8 speakers, including overlapping voices)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Works on live streams and recorded files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#1 on Diarization-Bench at 15% error, 24% below the runner-up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Pair it with speech-to-text for transcripts with speaker labels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https://huggingface.co/nvidia/Nemotron-3-Diarization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p2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4875" y="3369580"/>
            <a:ext cx="2155250" cy="154229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4" name="Google Shape;204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4875" y="1902644"/>
            <a:ext cx="2252324" cy="1263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9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9"/>
          <p:cNvSpPr txBox="1"/>
          <p:nvPr/>
        </p:nvSpPr>
        <p:spPr>
          <a:xfrm>
            <a:off x="74864" y="339208"/>
            <a:ext cx="44433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doubles revenue run rate to $1 Bln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ARR hit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 Bln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double the earlier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came after DeepSeek raised API prices 2.3x to 4.5x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Information says developer demand held up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Meanwhile OpenAI is preparing a $500/month ChatGPT Pro Max plan before DevDay on September 29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https://thenextweb.com/news/deepseek-revenue-run-rate-1bn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29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87650" y="543320"/>
            <a:ext cx="2701775" cy="85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2" name="Google Shape;212;p29"/>
          <p:cNvSpPr txBox="1"/>
          <p:nvPr/>
        </p:nvSpPr>
        <p:spPr>
          <a:xfrm>
            <a:off x="74875" y="1644550"/>
            <a:ext cx="58056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Muse handed a user 6.8 GB of its own sandbox, SSH keys included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researcher asked Meta's Muse agent to archive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files and export them to Google Drive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got 6.8 GB data including Linux root filesystem, internal docs, integration code, memory files, agent logs, and even SSH key files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exploit was needed, only normal agent tools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Meta's bug bounty marked the report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"Not Applicable"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https://mouse.dev/blog/muse-runtime-export/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29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28225" y="1904616"/>
            <a:ext cx="1647076" cy="856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4" name="Google Shape;214;p29"/>
          <p:cNvSpPr txBox="1"/>
          <p:nvPr/>
        </p:nvSpPr>
        <p:spPr>
          <a:xfrm>
            <a:off x="74875" y="3240425"/>
            <a:ext cx="5805600" cy="165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launches an enterprise AI platform around Muse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Products: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Muse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agent, Meta Business Agent, Muse API and Muse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Aimed at businesses of all sizes and at developers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Former MongoDB CEO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CJ Desai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joins as Chief Enterprise Platform Officer, reporting to Zuckerberg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Desai earlier held senior roles at Cloudflare and ServiceNow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Meta says security and privacy are built in from the start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pricing announced yet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https://about.fb.com/news/2026/09/launching-meta-enterprise-platform/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29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74182" y="3432875"/>
            <a:ext cx="2155168" cy="126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0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0"/>
          <p:cNvSpPr txBox="1"/>
          <p:nvPr/>
        </p:nvSpPr>
        <p:spPr>
          <a:xfrm>
            <a:off x="84200" y="414650"/>
            <a:ext cx="52689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FLUX 3 Action: open 7B robot model tops RoboLab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Black Forest Labs turned its FLUX 3 backbone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into a world action model for robots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predicts the next video frames and the next chunk of actions together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42.92%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RoboLab-120, first place; the 16B Cosmos 3 Nano gets 36.8%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Less than half the size of the previous best open model, up to 3.95x faster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Completed 28 of 30 attempts in a blind Franka arm test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into Hugging Face LeRobot, runs on NVIDIA Jetson; non-commercial license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https://bfl.ai/models/flux-3-action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" name="Google Shape;222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9811" y="467937"/>
            <a:ext cx="2474646" cy="15260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3" name="Google Shape;223;p30"/>
          <p:cNvSpPr txBox="1"/>
          <p:nvPr/>
        </p:nvSpPr>
        <p:spPr>
          <a:xfrm>
            <a:off x="84200" y="2202824"/>
            <a:ext cx="48687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now wraps up cleanly at the 5-hour limit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no longer stops in the middle of an edit when the 5-hour limit hits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gets a small, fixed allowance from the weekly limit to finish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closes the open edit, runs queued tests and leaves a note on what is left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Pro: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once a week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; Max and Team Premium: every time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Needs Claude Code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2.1.277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or later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https://x.com/ClaudeDevs/status/2103561342057943314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1"/>
          <p:cNvSpPr txBox="1"/>
          <p:nvPr/>
        </p:nvSpPr>
        <p:spPr>
          <a:xfrm>
            <a:off x="36574" y="-27425"/>
            <a:ext cx="2925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Ethernet , Internet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1"/>
          <p:cNvSpPr txBox="1"/>
          <p:nvPr/>
        </p:nvSpPr>
        <p:spPr>
          <a:xfrm>
            <a:off x="36575" y="348800"/>
            <a:ext cx="44031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May 22, 1973, Robert Metcalfe proposed “Ethernet”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a memo at Xerox PARC in California. It is a combination of “ether” ( a supposed all-pervading medium for waves) with “net” meaning network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Metcalfe used “ether” as a metaphor for the shared cable medium carrying computer transmissions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1974, Vint Cerf and Bob Kahn developed and described protocols for linking separate packet networks. “Internet” appeared in RFC 675, published in December 1974, as shorthand for “internetwork” or “internetworking.”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Word "Internet" described interconnected networks communicating through common protocols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https://www.computerhistory.org/tdih/may/22/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https://www.rfc-editor.org/info/rfc675/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https://www.scienceandmediamuseum.org.uk/objects-and-stories/short-history-internet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2075" y="152400"/>
            <a:ext cx="2301926" cy="18760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1" name="Google Shape;231;p3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2075" y="2198198"/>
            <a:ext cx="2301927" cy="230192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2"/>
          <p:cNvSpPr txBox="1"/>
          <p:nvPr/>
        </p:nvSpPr>
        <p:spPr>
          <a:xfrm>
            <a:off x="84200" y="377900"/>
            <a:ext cx="4554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puts an AI agent watchdog into silicon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Open Agent Safety Platform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Guards agents at two layers:  host CPU and DPU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OpenShell - open-source (Apache 2.0) runtime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that sandboxes agents with kernel-level isolation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Policies set what an agent may touch in files,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network, processes and inference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Sentry runs out of band on BlueField-4 DPUs and quarantines a rule-breaking agent in milliseconds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compromised agent runtime cannot reach or disable the watchdog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100+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partners at launch, including Anthropic, Microsoft, CrowdStrike, SAP and JPMorganChase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https://nvidianews.nvidia.com/news/open-agent-safety-platform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https://www.nvidia.com/en-us/ai/openshell/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- OpenShell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32"/>
          <p:cNvSpPr txBox="1"/>
          <p:nvPr/>
        </p:nvSpPr>
        <p:spPr>
          <a:xfrm>
            <a:off x="84200" y="3557325"/>
            <a:ext cx="45546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AMD to Acquire Fei-Fei Li’s World Labs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an all-stock deal valued at about $8.2 Bln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Expected to close by the end of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World Labs develops AI “world models” that can understand, generate, and simulate 3D environments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AMD says the acquisition will bring in research talent to help shape its AI hardware, software, and systems for emerging workloads such as robotics and physical 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9" name="Google Shape;239;p3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1200" y="114801"/>
            <a:ext cx="3641725" cy="2048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0" name="Google Shape;240;p3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1200" y="3555800"/>
            <a:ext cx="2411672" cy="14961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1" name="Google Shape;241;p32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4100" y="2253662"/>
            <a:ext cx="1825877" cy="12117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3"/>
          <p:cNvSpPr txBox="1"/>
          <p:nvPr/>
        </p:nvSpPr>
        <p:spPr>
          <a:xfrm>
            <a:off x="125750" y="498675"/>
            <a:ext cx="4846500" cy="238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Fireworks.AI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Ember-1 - 40% less Tokens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Ember-1 is a Fireworks Research post-trained version of Moonshot AI’s Kimi K3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Its aim is to preserve K3’s task quality while generating substantially shorter reasoning traces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Kimi K3 is the underlying 2.8-Trillion-parameter model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Results: </a:t>
            </a:r>
            <a:r>
              <a:rPr lang="en" sz="11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71%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fewer reasoning tokens, 39% fewer in total, same success rate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Same per-token price as K3, 1M-token context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Status: Research Preview on the Fireworks serverless API only; no weights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Fireworks AI, Inc. - a startup in California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. It was founded in 2022 by Lin Qiao and other former Meta/PyTorch engineers. Size - approx 200 people.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 has grown into a major AI-infrastructure company: in July 2026 it raised about $1.5 Bln in Series D funding at a reported $17.5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Bln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valuation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https://fireworks.ai/blog/ember-1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https://fireworks.ai</a:t>
            </a:r>
            <a:r>
              <a:rPr lang="en" sz="11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8" name="Google Shape;248;p3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4400" y="762125"/>
            <a:ext cx="2592909" cy="1809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9" name="Google Shape;249;p3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4400" y="2738400"/>
            <a:ext cx="3207013" cy="22669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0" name="Google Shape;250;p33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000" y="3458687"/>
            <a:ext cx="3902249" cy="8263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4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34"/>
          <p:cNvSpPr txBox="1"/>
          <p:nvPr/>
        </p:nvSpPr>
        <p:spPr>
          <a:xfrm>
            <a:off x="159325" y="734075"/>
            <a:ext cx="51561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Cloudflare's new cf CLI is built for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now make 48% of Cloudflare CLI use (up from 25% in March)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exposes 3K+ API operations, vs about 280 commands in Wrangler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JSON output by default and a natural-language cf cli search to find commands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TypeScript config (cloudflare.config.ts) replaces TOML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beta and open source; install with </a:t>
            </a: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npm i -g cf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"Wrangler CLI" will be maintained for 18 months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https://blog.cloudflare.com/cloudflare-cf-cli-launch/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4"/>
          <p:cNvSpPr txBox="1"/>
          <p:nvPr/>
        </p:nvSpPr>
        <p:spPr>
          <a:xfrm>
            <a:off x="159325" y="2571750"/>
            <a:ext cx="51561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Vercel: 1 Mln Agent Skills, 280 Mln Installs in 7 months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So, Vercel - 7 months, GitHub - 27 mon, App Store - 60 months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Vercel launched</a:t>
            </a:r>
            <a:r>
              <a:rPr lang="en" sz="1500" b="1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5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https://www.skills.sh</a:t>
            </a:r>
            <a:r>
              <a:rPr lang="en" sz="1500" b="1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- a directory and leaderboard for discovering AI-agent skills - ~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1.5 Mln skills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Top uses: software engineering 18%, agent workflows 15%, business operations and writing about 11% each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top 1.2% of skills get 94% of installs;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almost half were installed once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Over half of published skills teach coding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demand for business and writing skills is under-served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https://vercel.com/blog/state-of-agent-skills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2675" y="3032200"/>
            <a:ext cx="2552650" cy="1411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9" name="Google Shape;259;p3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00700" y="197000"/>
            <a:ext cx="3376598" cy="25324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5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5"/>
          <p:cNvSpPr txBox="1"/>
          <p:nvPr/>
        </p:nvSpPr>
        <p:spPr>
          <a:xfrm>
            <a:off x="36576" y="341672"/>
            <a:ext cx="5669400" cy="201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Cloudflare and AWS - open Jev-style decision models the same day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Cloudflare Clef (27B) and Clef-flash (9B)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970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return typed probabilities instead of text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970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Median latency 209 ms and 39 ms, against 524 ms for TypeSafe's Jev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970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BANKING77: 94.20 macro-F1 for Clef vs 79.74 for Jev; fully Jev-API compatible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970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Apache 2.0 on Hugging Face, 64K context, also reads images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AWS Strands Decider 2B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4605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picks options in about 115 ms on one RTX 3090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4605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Apache 2.0 with code and training recipe: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pip install strands-decider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https://blog.cloudflare.com/clef-decision-models/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5"/>
          <p:cNvSpPr txBox="1"/>
          <p:nvPr/>
        </p:nvSpPr>
        <p:spPr>
          <a:xfrm>
            <a:off x="36576" y="2474636"/>
            <a:ext cx="5669400" cy="2542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mods - Customize the Agent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TypeScript/Javascript plugins that change the agent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Mods hook into every tool call, turn and screen redraw, and can observe, rewrite or answer them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Blast Radius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preview risky deletions. Pauses </a:t>
            </a: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rm -rf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hard resets and force pushes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and shows what they would touch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Token Weather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shows context use and a sparkline of the last 12 turns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Replay Theater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lets you step through every edit Claude made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Built-in </a:t>
            </a: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/diff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is itself a mod; works in the CLI and desktop Code tab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Mods get the agent's full access to your machine, so install only trusted ones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You can describe a desired mod to Claude Code, which can create, install, and reload 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Plugins are managed through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`/plugin`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https://code.claude.com/docs/en/plugins/mods/overview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https://claude.com/blog/claude-code-mods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7" name="Google Shape;267;p3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44950" y="2554851"/>
            <a:ext cx="3219527" cy="241464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8" name="Google Shape;268;p3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44933" y="61700"/>
            <a:ext cx="3219541" cy="2414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6"/>
          <p:cNvSpPr txBox="1"/>
          <p:nvPr/>
        </p:nvSpPr>
        <p:spPr>
          <a:xfrm>
            <a:off x="36575" y="758950"/>
            <a:ext cx="5193000" cy="165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Xiaomi MiMo-V2.6-Pro becomes the top open-weight model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Scores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46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the Artificial Analysis Intelligence Index, first among open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Ahead of Grok 4.6 (44) and Gemini 3.8 Flash (41)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Mixture of experts: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1.02 trillion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parameters, 42B active, 1M-token context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Takes text, image, speech and video input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RL training took under six days and cost $2.62 million; Xiaomi published the code and 7,000 task environments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MIT license; API at $0.435 in / $0.87 out per million tokens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https://artificialanalysis.ai/models/mimo-v2-6-pro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3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1107" y="786384"/>
            <a:ext cx="2889354" cy="195834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76" name="Google Shape;276;p36"/>
          <p:cNvSpPr txBox="1"/>
          <p:nvPr/>
        </p:nvSpPr>
        <p:spPr>
          <a:xfrm>
            <a:off x="36575" y="3083050"/>
            <a:ext cx="5413800" cy="128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Tavus Griffin: 48% of people took an AI video caller for a human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Griffin is a "Human Interaction Model" that sees, hears and talks live on video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reacts while you talk: nods, notices expressions, picks up details on your screen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a one-minute call study,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26 of 54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(48%) thought it was a real person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Earlier systems, including Tavus's own, peaked at about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2%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Griffin-Lite goes only to trusted testers while safety and disclosure work continues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https://www.tavus.io/griffin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" name="Google Shape;277;p3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7068" y="3110484"/>
            <a:ext cx="2517431" cy="158038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7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7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37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130.5K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Oct 2,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7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190,865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(694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37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7" name="Google Shape;287;p37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109" y="569314"/>
            <a:ext cx="4839721" cy="249614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8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8"/>
          <p:cNvSpPr txBox="1"/>
          <p:nvPr/>
        </p:nvSpPr>
        <p:spPr>
          <a:xfrm>
            <a:off x="84300" y="406525"/>
            <a:ext cx="41016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 - comparing to 2020 level: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2022 - 234%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2025 - 65%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2026 - 77%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8"/>
          <p:cNvSpPr txBox="1"/>
          <p:nvPr/>
        </p:nvSpPr>
        <p:spPr>
          <a:xfrm>
            <a:off x="84300" y="2000137"/>
            <a:ext cx="44877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 b="1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71% of the software postings rebound is senior roles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37% has AI in the title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8"/>
          <p:cNvSpPr txBox="1"/>
          <p:nvPr/>
        </p:nvSpPr>
        <p:spPr>
          <a:xfrm>
            <a:off x="5195950" y="406525"/>
            <a:ext cx="35199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9"/>
          <p:cNvSpPr txBox="1"/>
          <p:nvPr/>
        </p:nvSpPr>
        <p:spPr>
          <a:xfrm>
            <a:off x="36576" y="-27432"/>
            <a:ext cx="2441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9"/>
          <p:cNvSpPr txBox="1"/>
          <p:nvPr/>
        </p:nvSpPr>
        <p:spPr>
          <a:xfrm>
            <a:off x="3328416" y="1263396"/>
            <a:ext cx="4572000" cy="29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3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9304" y="1952244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0"/>
          <p:cNvSpPr txBox="1"/>
          <p:nvPr/>
        </p:nvSpPr>
        <p:spPr>
          <a:xfrm>
            <a:off x="2381401" y="1625675"/>
            <a:ext cx="4381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40"/>
          <p:cNvSpPr txBox="1"/>
          <p:nvPr/>
        </p:nvSpPr>
        <p:spPr>
          <a:xfrm>
            <a:off x="1434226" y="2554725"/>
            <a:ext cx="70974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6806</Words>
  <Application>Microsoft Macintosh PowerPoint</Application>
  <PresentationFormat>On-screen Show (16:9)</PresentationFormat>
  <Paragraphs>747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Roboto Mono</vt:lpstr>
      <vt:lpstr>Victor Mono</vt:lpstr>
      <vt:lpstr>Calibri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2026-10-02T17:54:10Z</dcterms:modified>
</cp:coreProperties>
</file>