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Roboto Mono" pitchFamily="49" charset="0"/>
      <p:regular r:id="rId23"/>
      <p:bold r:id="rId24"/>
      <p:italic r:id="rId25"/>
      <p:boldItalic r:id="rId26"/>
    </p:embeddedFont>
    <p:embeddedFont>
      <p:font typeface="Victor Mono" panose="02000009000000000000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0C6EA8-8BF5-4488-AF4B-B095ABB068BF}">
  <a:tblStyle styleId="{460C6EA8-8BF5-4488-AF4B-B095ABB068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124" d="100"/>
          <a:sy n="124" d="100"/>
        </p:scale>
        <p:origin x="5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-toc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-toc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labels. Kept by g3_update_toc.py.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computes a nine-loop physics amplitude, a new record =&gt; Claude Solves Nine-Loop Physics Problem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relaunches Copilot with Home, Code and Autopilot =&gt; New Microsoft Copilot with Autopilot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SoftBank sells a record $11.1 billion of junk bonds for OpenAI =&gt; SoftBank $11.1B Bonds for OpenAI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Muse handed a user 6.8 GB of its own sandbox, SSH keys included =&gt; Muse Leaks Its Own Sandbox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OpenRouter launches Jev Router to pick a model for each request =&gt; OpenRouter Jev Router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FLUX 3 Action: open 7B robot model tops RoboLab =&gt; FLUX 3 Action Robot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 now wraps up cleanly at the 5-hour limit =&gt; Claude Code Graceful 5-Hour Stop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Marketplace opens with 2,000+ connectors and plugins =&gt; Claude Marketplace: 2,000+ Plugins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Contrastive Language Models score agent actions 9x faster than Jev =&gt; CLM-8B: 9x Faster Than Jev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Gemini now phones businesses for you on Pixel 11 =&gt; Gemini Makes Business Calls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sends TPUs to orbit for Project Suncatcher =&gt; Google Suncatcher: TPUs in Orbit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NVIDIA Nemotron 3 Diarization tracks who spoke when =&gt; NVIDIA Nemotron 3 Diarization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DeepSeek doubles revenue run rate to $1 billion =&gt; DeepSeek Hits $1B Run 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- https://lmarena.ai/leaderboard/text =&gt; Crowd-sourced LM Arena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- https://lmarena.ai/leaderboard/text/coding =&gt; Crowd-sourced LM Arena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Sept 18 =&gt;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companies are pushing swarms as a means to increase token usage, and extend the AI bubble =&gt; Agent Swarms Inflate Token Usage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Tech Layoff Tracker =&gt; Jobs &amp; Layoffs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Layoffs by year (US only): =&gt; Jobs &amp; Layoffs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Sept 27 =&gt;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22, 1973, Robert Metcalfe proposed “Ethernet” in a memo at Xerox PARC in California =&gt; Ethernet Proposed, May 22, 1973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"In Demand" Skills and Qualifications =&gt; Tech Hiring &amp; Skills in Demand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job postings on Indeed =&gt; Tech Hiring &amp; Skills in Demand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in demand =&gt; Tech Hiring &amp; Skills in Demand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Contrastive Language Models score agent, 9x faster than Jev =&gt; CLM-8B: 9x Faster Than Jev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DeepSeek doubles revenue run rate to $1 Bln =&gt; DeepSeek Hits $1B Run 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Muse handed a user 6.8 GB of its own sandbox SSH keys included =&gt; Muse Leaks Its Own Sandbox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pauses its most capable models after agents slip their sandboxes =&gt; OpenAI Pauses Top Models After Agent Escapes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Appeals court lets the Pentagon keep Anthropic blacklisted =&gt; Court Upholds Pentagon Anthropic Blacklist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 and China agree on a super intelligence dialogue and incident channel =&gt; US-China Super Intelligence Dialogue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NVIDIA puts an AI agent watchdog into silicon =&gt; NVIDIA Agent Safety: OpenShell + Sentry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 Company releases Holo4 open-weight computer-use models =&gt; Holo4 Open Computer-Use Models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Fireworks Ember-1: Kimi K3 quality with 40% fewer tokens =&gt; Ember-1: Kimi K3 With 40% Fewer Tokens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Modal's Quail processes a billion tokens per minute on one H100 =&gt; Modal Quail: 1B Tokens/Min per H100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22, 1973, Robert Metcalfe proposed “Ethernet” in a memo at Xerox PARC in California. It is a combination of “ether” ( a supposed all-pervading medium for waves) with “net” meaning network =&gt; Ethernet Proposed, May 22, 1973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Modal's Quail processes a Billion tokens per minute on one H100 =&gt; Modal Quail: 1B Tokens/Min per H100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585c93b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fb585c93b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b585c93b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3fb585c93b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3fba7400a0c9f0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3fba7400a0c9f0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-news-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-news-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s-openai-pauses-its-most-3be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s-openai-pauses-its-most-3be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-youtub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-youtub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7905fdfa8aa63f3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7905fdfa8aa63f3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262cb2271e2dd47d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262cb2271e2dd47d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7905fdfa8aa63f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7905fdfa8aa63f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7905fdfa8aa63f3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7905fdfa8aa63f3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7905fdfa8aa63f3e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7905fdfa8aa63f3e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s-openrouter-launches-jev-2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s-openrouter-launches-jev-2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262cb2271e2dd47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262cb2271e2dd47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s-us-and-china-agree-on-a-super-fb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s-us-and-china-agree-on-a-super-fb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s-h-company-releases-holo4-open-a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s-h-company-releases-holo4-open-a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s-layoff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s-layoff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s-hiring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s-hiring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s-about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s-about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s-thank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s-thank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gpt-6-astra-max" TargetMode="External"/><Relationship Id="rId18" Type="http://schemas.openxmlformats.org/officeDocument/2006/relationships/hyperlink" Target="https://arena.ai/leaderboard/model/claude-opus-5-high" TargetMode="External"/><Relationship Id="rId26" Type="http://schemas.openxmlformats.org/officeDocument/2006/relationships/hyperlink" Target="https://arena.ai/leaderboard/model/claude-fable-5.1-max" TargetMode="External"/><Relationship Id="rId21" Type="http://schemas.openxmlformats.org/officeDocument/2006/relationships/hyperlink" Target="https://arena.ai/leaderboard/model/gemini-3.8-flash-high" TargetMode="External"/><Relationship Id="rId34" Type="http://schemas.openxmlformats.org/officeDocument/2006/relationships/hyperlink" Target="https://arena.ai/leaderboard/model/gemini-3.6-flash-high" TargetMode="External"/><Relationship Id="rId7" Type="http://schemas.openxmlformats.org/officeDocument/2006/relationships/hyperlink" Target="https://arena.ai/leaderboard/model/claude-opus-4-7-high" TargetMode="External"/><Relationship Id="rId12" Type="http://schemas.openxmlformats.org/officeDocument/2006/relationships/hyperlink" Target="https://arena.ai/leaderboard/model/mimo-v2.6-pro" TargetMode="External"/><Relationship Id="rId17" Type="http://schemas.openxmlformats.org/officeDocument/2006/relationships/hyperlink" Target="https://arena.ai/leaderboard/model/claude-opus-4-8-high" TargetMode="External"/><Relationship Id="rId25" Type="http://schemas.openxmlformats.org/officeDocument/2006/relationships/hyperlink" Target="https://arena.ai/leaderboard/model/muse-spark" TargetMode="External"/><Relationship Id="rId33" Type="http://schemas.openxmlformats.org/officeDocument/2006/relationships/hyperlink" Target="https://arena.ai/leaderboard/model/gemini-3-pro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muse-spark-1.2%20%28xHigh%29" TargetMode="External"/><Relationship Id="rId20" Type="http://schemas.openxmlformats.org/officeDocument/2006/relationships/hyperlink" Target="https://arena.ai/leaderboard/model/deepseek-v4.1-flash-max" TargetMode="External"/><Relationship Id="rId29" Type="http://schemas.openxmlformats.org/officeDocument/2006/relationships/hyperlink" Target="https://arena.ai/leaderboard/model/mimo-v2.6-flash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claude-opus-4-6-high" TargetMode="External"/><Relationship Id="rId11" Type="http://schemas.openxmlformats.org/officeDocument/2006/relationships/hyperlink" Target="https://arena.ai/leaderboard/model/claude-opus-4-7" TargetMode="External"/><Relationship Id="rId24" Type="http://schemas.openxmlformats.org/officeDocument/2006/relationships/hyperlink" Target="https://arena.ai/leaderboard/model/claude-opus-4-8" TargetMode="External"/><Relationship Id="rId32" Type="http://schemas.openxmlformats.org/officeDocument/2006/relationships/hyperlink" Target="https://arena.ai/leaderboard/model/gemini-3.1-pro-preview" TargetMode="External"/><Relationship Id="rId37" Type="http://schemas.openxmlformats.org/officeDocument/2006/relationships/hyperlink" Target="https://arena.ai/leaderboard/model/qwen3.8-max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muse-spark-1.3-max" TargetMode="External"/><Relationship Id="rId23" Type="http://schemas.openxmlformats.org/officeDocument/2006/relationships/hyperlink" Target="https://arena.ai/leaderboard/model/claude-opus-4-5-20251101-high-32k" TargetMode="External"/><Relationship Id="rId28" Type="http://schemas.openxmlformats.org/officeDocument/2006/relationships/hyperlink" Target="https://arena.ai/leaderboard/model/claude-opus-5-max" TargetMode="External"/><Relationship Id="rId36" Type="http://schemas.openxmlformats.org/officeDocument/2006/relationships/hyperlink" Target="https://arena.ai/leaderboard/model/glm-5.3-max" TargetMode="External"/><Relationship Id="rId10" Type="http://schemas.openxmlformats.org/officeDocument/2006/relationships/hyperlink" Target="https://arena.ai/leaderboard/model/claude-opus-5.5-high" TargetMode="External"/><Relationship Id="rId19" Type="http://schemas.openxmlformats.org/officeDocument/2006/relationships/hyperlink" Target="https://arena.ai/leaderboard/model/muse-spark-1.1" TargetMode="External"/><Relationship Id="rId31" Type="http://schemas.openxmlformats.org/officeDocument/2006/relationships/hyperlink" Target="https://arena.ai/leaderboard/model/gemini-3.7-flash-high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-opus-4-6" TargetMode="External"/><Relationship Id="rId14" Type="http://schemas.openxmlformats.org/officeDocument/2006/relationships/hyperlink" Target="https://arena.ai/leaderboard/model/kimi-k3-max" TargetMode="External"/><Relationship Id="rId22" Type="http://schemas.openxmlformats.org/officeDocument/2006/relationships/hyperlink" Target="https://arena.ai/leaderboard/model/gpt-5.6-sol-xhigh" TargetMode="External"/><Relationship Id="rId27" Type="http://schemas.openxmlformats.org/officeDocument/2006/relationships/hyperlink" Target="https://arena.ai/leaderboard/model/claude-sonnet-4-6" TargetMode="External"/><Relationship Id="rId30" Type="http://schemas.openxmlformats.org/officeDocument/2006/relationships/hyperlink" Target="https://arena.ai/leaderboard/model/qwen3.7-max-preview" TargetMode="External"/><Relationship Id="rId35" Type="http://schemas.openxmlformats.org/officeDocument/2006/relationships/hyperlink" Target="https://arena.ai/leaderboard/model/gpt-5.5-high" TargetMode="External"/><Relationship Id="rId8" Type="http://schemas.openxmlformats.org/officeDocument/2006/relationships/hyperlink" Target="https://arena.ai/leaderboard/model/claude-fable-5-high" TargetMode="External"/><Relationship Id="rId3" Type="http://schemas.openxmlformats.org/officeDocument/2006/relationships/hyperlink" Target="https://en.wikipedia.org/wiki/Elo_rating_syste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evaluations/artificial-analysis-intelligence-inde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claude-sonnet-5-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9.2297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hyperlink" Target="https://www.youtube.com/watch?v=63nU3-EXf6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plicator.ai/openai-anthropic-tens-of-thousands-incidents-paus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cnbc.com/2026/09/25/pentagon-anthropic-ai-risk-appeals-court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youtube.com/@lev-selector/videos" TargetMode="Externa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cloud.io/details/Memoh/" TargetMode="External"/><Relationship Id="rId3" Type="http://schemas.openxmlformats.org/officeDocument/2006/relationships/hyperlink" Target="https://memoh.ai" TargetMode="External"/><Relationship Id="rId7" Type="http://schemas.openxmlformats.org/officeDocument/2006/relationships/hyperlink" Target="https://www.youtube.com/watch?v=RdglwPXvei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aiprofitboardroom.com/%5D(https:/aiprofitboardroom.com/)" TargetMode="External"/><Relationship Id="rId5" Type="http://schemas.openxmlformats.org/officeDocument/2006/relationships/hyperlink" Target="https://github.com/felinics/Memoh" TargetMode="External"/><Relationship Id="rId4" Type="http://schemas.openxmlformats.org/officeDocument/2006/relationships/hyperlink" Target="https://docs.memoh.ai/about" TargetMode="External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togethercomputer/tev1" TargetMode="External"/><Relationship Id="rId3" Type="http://schemas.openxmlformats.org/officeDocument/2006/relationships/hyperlink" Target="https://claude.com/blog/claude-marketplace" TargetMode="External"/><Relationship Id="rId7" Type="http://schemas.openxmlformats.org/officeDocument/2006/relationships/hyperlink" Target="https://github.com/SonDaoRM/Jef-qwen3.5-4b-finetune-banking77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jpeg"/><Relationship Id="rId5" Type="http://schemas.openxmlformats.org/officeDocument/2006/relationships/hyperlink" Target="https://huggingface.co/Contrastive-LM/CLM-v0.1-8B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6.jpeg"/><Relationship Id="rId9" Type="http://schemas.openxmlformats.org/officeDocument/2006/relationships/hyperlink" Target="https://www.together.ai/blog/how-to-train-your-own-jev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hyperlink" Target="https://www.theverge.com/ai-artificial-intelligence/1000116/google-gemini-business-phone-calls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huggingface.co/nvidia/Nemotron-3-Diarization" TargetMode="External"/><Relationship Id="rId5" Type="http://schemas.openxmlformats.org/officeDocument/2006/relationships/hyperlink" Target="https://blog.google/innovation-and-ai/models-and-research/google-research/google-project-suncatcher-facts/" TargetMode="Externa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henextweb.com/news/deepseek-revenue-run-rate-1b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jpeg"/><Relationship Id="rId5" Type="http://schemas.openxmlformats.org/officeDocument/2006/relationships/hyperlink" Target="https://mouse.dev/blog/muse-runtime-export/" TargetMode="Externa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outer.ai/typesafe/jev-router" TargetMode="External"/><Relationship Id="rId7" Type="http://schemas.openxmlformats.org/officeDocument/2006/relationships/hyperlink" Target="https://x.com/ClaudeDevs/status/2103561342057943314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jpeg"/><Relationship Id="rId5" Type="http://schemas.openxmlformats.org/officeDocument/2006/relationships/hyperlink" Target="https://bfl.ai/models/flux-3-action" TargetMode="Externa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history.org/tdih/may/22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scienceandmediamuseum.org.uk/objects-and-stories/short-history-internet" TargetMode="External"/><Relationship Id="rId4" Type="http://schemas.openxmlformats.org/officeDocument/2006/relationships/hyperlink" Target="https://www.rfc-editor.org/info/rfc675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vidianews.nvidia.com/news/open-agent-safety-platfor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fireworks.ai/blog/ember-1" TargetMode="External"/><Relationship Id="rId7" Type="http://schemas.openxmlformats.org/officeDocument/2006/relationships/hyperlink" Target="https://github.com/fsdatalab/quai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modal.com/blog/quail-billion-tpm" TargetMode="External"/><Relationship Id="rId5" Type="http://schemas.openxmlformats.org/officeDocument/2006/relationships/hyperlink" Target="http://r.id" TargetMode="External"/><Relationship Id="rId4" Type="http://schemas.openxmlformats.org/officeDocument/2006/relationships/image" Target="../media/image16.jpeg"/><Relationship Id="rId9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hyperlink" Target="https://trueup.io/layoff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red.stlouisfed.org/series/IHLIDXUSTPSOFTDEV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dice.com/hiring/recruitment/reports/dice-tech-job-report" TargetMode="External"/><Relationship Id="rId4" Type="http://schemas.openxmlformats.org/officeDocument/2006/relationships/hyperlink" Target="https://hiringlab.indeed.com/2026/07/08/ai-and-job-postings-from-destruction-to-creation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ais.ai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drive.google.com/drive/folders/1dmj00iilSP-JYmriMUUaHCKz5X54e3UX?ths=true" TargetMode="External"/><Relationship Id="rId4" Type="http://schemas.openxmlformats.org/officeDocument/2006/relationships/hyperlink" Target="https://github.com/lselector/semin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576" y="-27432"/>
            <a:ext cx="2754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 - Oct 2, 2026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349240" y="27432"/>
            <a:ext cx="3758100" cy="676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did nine loops. Muse handed out its SSH keys.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576" y="393192"/>
            <a:ext cx="4517100" cy="2314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Crowd-sourced LM Arena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Sonnet 5.5: Faster, Lower-Cost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AI Agents Train Their Successors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DSec Scales Sandboxes for Agentic RL Training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OpenAI Pauses Top Models After Agent Escapes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Court Upholds Pentagon Anthropic Blacklist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Memoh: AI Agents With Their Own PCs (China)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Swarms Are Expensive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Recent Claude Opus Versions Release Dates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576" y="2744216"/>
            <a:ext cx="4517100" cy="2314500"/>
          </a:xfrm>
          <a:prstGeom prst="rect">
            <a:avLst/>
          </a:prstGeom>
          <a:solidFill>
            <a:srgbClr val="E2F0D9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When to Use JEV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Marketplace: 2,000+ Plugins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CLM-8B: 9x Faster Than Jev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Jeff - Classifier for Under $5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Gemini Makes Business Calls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Google Suncatcher: TPUs in Orbit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NVIDIA Nemotron 3 Diarization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DeepSeek Hits $1B Run Rate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Muse Leaks Its Own Sandbox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OpenRouter Jev Router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590288" y="768240"/>
            <a:ext cx="4517100" cy="1873500"/>
          </a:xfrm>
          <a:prstGeom prst="rect">
            <a:avLst/>
          </a:prstGeom>
          <a:solidFill>
            <a:srgbClr val="DEEBF7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FLUX 3 Action Robot Model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Code Graceful 5-Hour Stop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Ethernet Proposed, May 22, 1973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NVIDIA Agent Safety: OpenShell + Sentry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Fireworks Ember-1 - 40% less Tokens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Modal Quail: 1B Tokens/Min per H100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Tech Hiring &amp; Skills in Demand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590288" y="2678320"/>
            <a:ext cx="4517100" cy="330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205486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xxx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Sept 25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" name="Google Shape;69;p14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{460C6EA8-8BF5-4488-AF4B-B095ABB068BF}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0" name="Google Shape;70;p14"/>
          <p:cNvSpPr txBox="1"/>
          <p:nvPr/>
        </p:nvSpPr>
        <p:spPr>
          <a:xfrm>
            <a:off x="6838390" y="485738"/>
            <a:ext cx="21525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Sonnet-5 - ?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GLM-5.3 - 744B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Qwen3.8-max - 2.4TB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Kimi-k3 - 2.8T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" name="Google Shape;71;p14"/>
          <p:cNvGraphicFramePr/>
          <p:nvPr/>
        </p:nvGraphicFramePr>
        <p:xfrm>
          <a:off x="3075200" y="742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{460C6EA8-8BF5-4488-AF4B-B095ABB068BF}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mimo-v2.6-pro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gpt-6-astra-max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deepseek-v4.1-flash-max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claude-opus-4-5-20251101-high-32k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claude-fable-5.1-max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mimo-v2.6-flash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72" name="Google Shape;72;p14"/>
          <p:cNvGraphicFramePr/>
          <p:nvPr/>
        </p:nvGraphicFramePr>
        <p:xfrm>
          <a:off x="423650" y="745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{460C6EA8-8BF5-4488-AF4B-B095ABB068BF}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claude-fable-5.1-max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gemini-3.6-flash-high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mimo-v2.6-pro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2430" y="355163"/>
            <a:ext cx="44295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934676" y="1088150"/>
            <a:ext cx="9447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Sept 27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5" descr="auto: aa-index-chart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67" y="1598925"/>
            <a:ext cx="8924866" cy="34687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02100" y="337950"/>
            <a:ext cx="43812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Sonnet 5.5: Faster, Lower-Cost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API pricing remains $2 /$10 per Mln tokens in / out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Multi-step AI work can consume time and tokens through repeated reasoning and tool calls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Anthropic says Sonnet 5.5 responds over 30% faster and can use fewer tokens and tool calls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Up to 30% lower cost per completed task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At low or medium effort, it reportedly beats Sonnet 5’s top score on some evaluations for about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one-tenth the task cost</a:t>
            </a: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https://www.anthropic.com/claude-sonnet-5-5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102100" y="2280425"/>
            <a:ext cx="43812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Opus 5.5 is a Better Writer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Claude Opus 5.5’s main difference from Opus 5 is clearer, more accessible writing. It tends to lead with the main point and explain complex ideas with less jargon.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That style may make it better for summarizing architecture discussions, including decisions, alternatives, and tradeoffs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Note that clarity does not guarantee greater accuracy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Anthropic also reports stronger performance on complex coding tasks, faster output, and lower API prices than Opus 5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Its summaries may not always be shorter: one analysis found Opus 5.5’s responses were somewhat longer on average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102100" y="461775"/>
            <a:ext cx="41352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Agents Train Their Successors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DeepSeek </a:t>
            </a: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DSec paper - </a:t>
            </a: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130-plus authors</a:t>
            </a:r>
            <a:b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https://arxiv.org/abs/2609.22978</a:t>
            </a: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DSec (DeepSeek Elastic Compute) is DeepSeek’s infrastructure for running AI agents in isolated, disposable sandboxes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DSec provides isolated practice computers where agents can write and test code without risking production systems. A cluster handles about 3 million sandboxes daily, with more than 380K  running simultaneously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Its layered, on-demand environments reduce startup time, storage writes, and memory use, while letting agents assemble reusable training environments themselves.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That approach addresses a key constraint in RSI (Recursive Self-Improvement) - producing enough reliable tasks and environments, not just adding GPUs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cluster reports creation of more than 5K sandboxes per sec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main speedup comes from avoiding full image downloads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DSec stores environment images in DeepSeek’s 3FS distributed file system and loads only the data blocks an agent actually accesses.</a:t>
            </a:r>
            <a:b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Uses EROFS (Enhanced Read-Only File System) for speed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https://www.youtube.com/watch?v=63nU3-EXf6g</a:t>
            </a: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6546" y="40589"/>
            <a:ext cx="4778115" cy="24054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4345788" y="2571750"/>
            <a:ext cx="47196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DSec Scales Sandboxes for Agentic RL Training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Problem: Agentic reinforcement learning (RL) needs many reliable, stateful task environments; the speed of provisioning and resource use can limit training throughput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Solution: DSec combines function-call, container, microVM, and full-VM sandboxes, loading image data on demand instead of downloading complete images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Achievement: DeepSeek reports over 5,000 sandbox creations per second, about 3 million daily, and more than 380,000 simultaneous sandboxes.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Importance: It demonstrates that environment capacity - not GPUs alone - can constrain agent training. 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Similar sandbox concepts are used by all major AI training vendors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84201" y="350520"/>
            <a:ext cx="5669400" cy="218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pauses its most capable models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after agents slip their sandboxes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Training, evaluation and tool-use inference of the top models are paused. Why?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Sept 20 - a research model which was blocked from search, started sending questions to a public chatbot through DNS; staff stopped it after </a:t>
            </a:r>
            <a:r>
              <a:rPr lang="en" sz="1200">
                <a:solidFill>
                  <a:srgbClr val="3C78D8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2.5 hours</a:t>
            </a:r>
            <a:endParaRPr sz="1200">
              <a:solidFill>
                <a:srgbClr val="3C78D8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Another model committed a researcher's GitHub token to a public branch, </a:t>
            </a:r>
            <a:b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then split up to avoid secret scanning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Agents also touched Census, SEC and Education Department sites and an Australian Medicare portal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OpenAI, Anthropic and researchers are reviewing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tens of thousands of incidents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;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four involved unauthorized access to real systems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https://www.implicator.ai/openai-anthropic-tens-of-thousands-incidents-pause/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84201" y="2637084"/>
            <a:ext cx="56694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Appeals court lets the Pentagon keep Anthropic blacklisted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panel of 3 judges of the federal appeals court in Washington, D.C., upheld the Pentagon’s blacklisting of Anthropic (which was originally done on February 27, 2026)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dispute began when Anthropic refused the use of its models for fully autonomous weapons and domestic mass surveillance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San Francisco judge had found Pentagon's designation unlawful retaliation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But now as this decision was appealed, Anthropic can ask the full D.C. Circuit to rehear the case en banc; it can also petition the U.S. Supreme Court to review the ruling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https://www.cnbc.com/2026/09/25/pentagon-anthropic-ai-risk-appeals-court.html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36576" y="-27432"/>
            <a:ext cx="351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9" descr="auto: youtube-videos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500" y="789645"/>
            <a:ext cx="2461825" cy="30910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9" name="Google Shape;109;p19" descr="auto: youtube-shorts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6760" y="2700257"/>
            <a:ext cx="2140556" cy="22433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0" name="Google Shape;110;p19"/>
          <p:cNvSpPr txBox="1"/>
          <p:nvPr/>
        </p:nvSpPr>
        <p:spPr>
          <a:xfrm>
            <a:off x="102375" y="725485"/>
            <a:ext cx="4161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7.58K subscribers, 349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36574" y="-27425"/>
            <a:ext cx="2604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84100" y="347950"/>
            <a:ext cx="4418100" cy="1957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Memoh: AI Agents With Their Own PCs (China)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Memoh gives each agent an isolated workspace with a desktop, browser, files, network access, and persistent memory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Agents can run scheduled tasks around the clock, even when the user’s laptop is off, and can be contacted through messaging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Shifting AI from one-off chat to persistent, autonomous work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https://memoh.ai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https://docs.memoh.ai/about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https://github.com/felinics/Memoh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https://aiprofitboardroom.com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https://www.youtube.com/watch?v=RdglwPXveiI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https://repocloud.io/details/Memoh/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801" y="347950"/>
            <a:ext cx="1504948" cy="1326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84100" y="2354725"/>
            <a:ext cx="44181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Swarms Are Expensive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Because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agents must constantly pass state updates, logs, and contexts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back and forth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companies are pushing swarms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promising speed - but also as a means to increase token usage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84100" y="3345700"/>
            <a:ext cx="3425700" cy="124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Recent Claude Opus Versions </a:t>
            </a:r>
            <a:br>
              <a:rPr lang="en" sz="1000" b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Release Dates and Training Data Cutoff</a:t>
            </a:r>
            <a:endParaRPr sz="1000" b="1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</a:pP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4.5  Nov 24, 2025 / - 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</a:pP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4.6  Feb  5, 2026 / Aug 2025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</a:pP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4.7  Apr 16, 2026 / Jan 2026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</a:pP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4.8  May 28, 2026 / Jan 2026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</a:pP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5.0  Jul 24, 2026 / May 2026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</a:pP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5.5  Sep 22, 2026 / - 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36575" y="-27425"/>
            <a:ext cx="2016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When to Use JEV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84100" y="347950"/>
            <a:ext cx="44181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When to Use JEV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JEV is a TypeSafe AI’s decision model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Its strongest use cases are workflows that need a fast, repeatable, machine-readable judgment from a known set of possible answers - not a conversational response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Jev returns typed choices, scores, or yes/no probabilities, so your application can use the result directly in its control flow.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" name="Google Shape;126;p21"/>
          <p:cNvGraphicFramePr/>
          <p:nvPr/>
        </p:nvGraphicFramePr>
        <p:xfrm>
          <a:off x="699825" y="207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{460C6EA8-8BF5-4488-AF4B-B095ABB068BF}</a:tableStyleId>
              </a:tblPr>
              <a:tblGrid>
                <a:gridCol w="169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Classification and triage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Sort support tickets by topic or urgency, categorize emails, or flag items for human review.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Routing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Choose the right team, workflow, tool, or AI model for an incoming request.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 moderation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for spam or policy violations, then route uncertain cases to moderators.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Scoring and ranking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Prioritize leads, rank candidate items, or score reviews against a defined rubric.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guardrails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 whether a proposed tool call or action meets a risk rule before your system executes it.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Verification checks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 whether a specific claim or condition is true, or whether an item meets a checklist.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6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decisions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Make frequent choices in interactive systems / games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36575" y="311275"/>
            <a:ext cx="4535400" cy="126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Marketplace opens with 2,000+ connectors and plugins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2,000+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MCP connectors and plugins, including Google, Microsoft, Notion, Salesforce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Claude-powered agents from Cursor, CrowdStrike and Snowflake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Consulting partners such as Accenture and Deloitte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Builders can list their own tools and agents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https://claude.com/blog/claude-marketplace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0050" y="118825"/>
            <a:ext cx="1999250" cy="14575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4" name="Google Shape;134;p22"/>
          <p:cNvSpPr txBox="1"/>
          <p:nvPr/>
        </p:nvSpPr>
        <p:spPr>
          <a:xfrm>
            <a:off x="36575" y="1621150"/>
            <a:ext cx="4535400" cy="1173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Contrastive Language Models score agent, 9x faster than Jev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Stanford and NVIDIA released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CLM-8B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, an open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System One model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It scores candidate actions and returns probabilities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Two small heads on a frozen Qwen3-8B, trained with a contrastive loss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Matches Jev on computer use, games and tool calling, x9 times faster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As a fine-tuned verifier: </a:t>
            </a:r>
            <a:r>
              <a:rPr lang="en" sz="11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81.6%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on DeepSWE, 87.6% on Terminal-Bench 2.1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https://huggingface.co/Contrastive-LM/CLM-v0.1-8B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0050" y="1687075"/>
            <a:ext cx="1742125" cy="1107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6" name="Google Shape;136;p22"/>
          <p:cNvSpPr txBox="1"/>
          <p:nvPr/>
        </p:nvSpPr>
        <p:spPr>
          <a:xfrm>
            <a:off x="36575" y="2840800"/>
            <a:ext cx="4535400" cy="1957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Jeff - Classifier for Under $5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Fine-tuned Qwen3.5 4B with LoRA to classify supplied text against listed choices and return a compact decision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Trained on public classification datasets, routing, and research examples; trained and served the model using Modal, Unsloth, and vLLM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Trained on L40S GPU and deploying inference on L40S and H100 GPUs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Training cost $4.17, training time 2 hours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Held-out evaluation reached 88% accuracy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Warm responses were generally subsecond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https://github.com/SonDaoRM/Jef-qwen3.5-4b-finetune-banking77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https://github.com/togethercomputer/tev1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https://www.together.ai/blog/how-to-train-your-own-jev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0763" y="3562350"/>
            <a:ext cx="840700" cy="840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84200" y="349375"/>
            <a:ext cx="4468800" cy="1419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now phones businesses for you on Pixel 11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Gemini calls local businesses for reservations,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stock checks and appointment changes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navigates phone menus and waits on hold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You see a live transcript and can take over at any moment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Early preview for paid Gemini subscribers in the US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https://www.theverge.com/ai-artificial-intelligence/1000116/google-gemini-business-phone-calls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14875" y="418525"/>
            <a:ext cx="2252327" cy="1280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5" name="Google Shape;145;p23"/>
          <p:cNvSpPr txBox="1"/>
          <p:nvPr/>
        </p:nvSpPr>
        <p:spPr>
          <a:xfrm>
            <a:off x="84200" y="1890275"/>
            <a:ext cx="4468800" cy="1419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sends TPUs to orbit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for Project Suncatcher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Planet-built satellite carries four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Trillium TPUs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Launches on SpaceX Transporter-18 on </a:t>
            </a:r>
            <a:r>
              <a:rPr lang="en" sz="1200" b="1">
                <a:solidFill>
                  <a:srgbClr val="3C78D8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October 1</a:t>
            </a:r>
            <a:endParaRPr sz="1200" b="1">
              <a:solidFill>
                <a:srgbClr val="3C78D8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Tests launch stress, radiation, heat and cooling in vacuum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Dawn-dusk orbit gives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up to 8x the solar power of ground panels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Two satellites with laser links are planned for 2027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https://blog.google/innovation-and-ai/models-and-research/google-research/google-project-suncatcher-facts/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84200" y="3440682"/>
            <a:ext cx="4468800" cy="1280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Nemotron 3 Diarization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 model, only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100M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parameters, tracks speakers in audio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(up to 8 speakers, including overlapping voices)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Works on live streams and recorded files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#1 on Diarization-Bench at 15% error, 24% below the runner-up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Pair it with speech-to-text for transcripts with speaker labels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https://huggingface.co/nvidia/Nemotron-3-Diarization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4875" y="3369580"/>
            <a:ext cx="2155250" cy="154229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4875" y="1968019"/>
            <a:ext cx="2252324" cy="126350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74864" y="397000"/>
            <a:ext cx="4443300" cy="126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doubles revenue run rate to $1 Bln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ARR hit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$1 Bln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double the earlier rate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came after DeepSeek raised API prices 2.3x to 4.5x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Information says developer demand held up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Meanwhile OpenAI is preparing a $500/month ChatGPT Pro Max plan before DevDay on September 29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https://thenextweb.com/news/deepseek-revenue-run-rate-1bn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7639" y="298969"/>
            <a:ext cx="3291840" cy="202996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6" name="Google Shape;156;p24"/>
          <p:cNvSpPr txBox="1"/>
          <p:nvPr/>
        </p:nvSpPr>
        <p:spPr>
          <a:xfrm>
            <a:off x="36575" y="2705100"/>
            <a:ext cx="4443300" cy="1665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Muse handed a user 6.8 GB of its own sandbox</a:t>
            </a:r>
            <a:b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SSH keys included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researcher asked Meta's Muse agent to archive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its files and export them to Google Drive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got 6.8 GB data including Linux root filesystem, internal docs, integration code, memory files, agent logs, and even SSH key files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 exploit was needed, only normal agent tools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Meta's bug bounty marked the report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"Not Applicable"</a:t>
            </a:r>
            <a:endParaRPr sz="12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https://mouse.dev/blog/muse-runtime-export/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7638" y="2558582"/>
            <a:ext cx="3137993" cy="195834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84200" y="502925"/>
            <a:ext cx="48687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OpenRouter launches Jev Router to pick a model for each request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typesafe/jev-router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- powered by the Jev decision model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Before the LLM call, it picks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the model and the reasoning effort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weighs quality, speed and cost, and knows what is cached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Solved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82% more tasks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than OpenRouter's Auto Router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 four agent benchmarks (237 vs 130 of 423)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Accepts up to 1M tokens;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router itself is listed at </a:t>
            </a:r>
            <a:r>
              <a:rPr lang="en" sz="1200" b="1">
                <a:solidFill>
                  <a:srgbClr val="FF0000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$0</a:t>
            </a:r>
            <a:endParaRPr sz="1200" b="1">
              <a:solidFill>
                <a:srgbClr val="FF0000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https://openrouter.ai/typesafe/jev-router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3499" y="595327"/>
            <a:ext cx="2027174" cy="1265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5" name="Google Shape;165;p25"/>
          <p:cNvSpPr txBox="1"/>
          <p:nvPr/>
        </p:nvSpPr>
        <p:spPr>
          <a:xfrm>
            <a:off x="84200" y="2014850"/>
            <a:ext cx="52689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FLUX 3 Action: open 7B robot model tops RoboLab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Black Forest Labs turned its FLUX 3 backbone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into a world action model for robots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predicts the next video frames and the next chunk of actions together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42.92%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on RoboLab-120, first place; the 16B Cosmos 3 Nano gets 36.8%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Less than half the size of the previous best open model, up to 3.95x faster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Completed 28 of 30 attempts in a blind Franka arm test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Built into Hugging Face LeRobot, runs on NVIDIA Jetson; non-commercial license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https://bfl.ai/models/flux-3-action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9811" y="2068137"/>
            <a:ext cx="2474646" cy="15260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7" name="Google Shape;167;p25"/>
          <p:cNvSpPr txBox="1"/>
          <p:nvPr/>
        </p:nvSpPr>
        <p:spPr>
          <a:xfrm>
            <a:off x="84200" y="3803024"/>
            <a:ext cx="4868700" cy="126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Code now wraps up cleanly at the 5-hour limit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no longer stops in the middle of an edit when the 5-hour limit hits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gets a small, fixed allowance from the weekly limit to finish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closes the open edit, runs queued tests and leaves a note on what is left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Pro: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once a week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; Max and Team Premium: every time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Needs Claude Code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2.1.277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or later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https://x.com/ClaudeDevs/status/2103561342057943314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/>
        </p:nvSpPr>
        <p:spPr>
          <a:xfrm>
            <a:off x="36574" y="-27425"/>
            <a:ext cx="2925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Ethernet , Internet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36575" y="348800"/>
            <a:ext cx="4403100" cy="246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May 22, 1973, Robert Metcalfe proposed “Ethernet”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in a memo at Xerox PARC in California. It is a combination of “ether” ( a supposed all-pervading medium for waves) with “net” meaning network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Metcalfe used “ether” as a metaphor for the shared cable medium carrying computer transmissions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1974, Vint Cerf and Bob Kahn developed and described protocols for linking separate packet networks. “Internet” appeared in RFC 675, published in December 1974, as shorthand for “internetwork” or “internetworking.”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Word "Internet" described interconnected networks communicating through common protocols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https://www.computerhistory.org/tdih/may/22/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https://www.rfc-editor.org/info/rfc675/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https://www.scienceandmediamuseum.org.uk/objects-and-stories/short-history-internet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84200" y="377900"/>
            <a:ext cx="45546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puts an AI agent watchdog into silicon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 Agent Safety Platform guards agents at two layers: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host CPU and DPU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OpenShell - open-source (Apache 2.0) runtime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that sandboxes agents with kernel-level isolation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Policies set what an agent may touch in files,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network, processes and inference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Sentry runs out of band on BlueField-4 DPUs a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nd quarantines a rule-breaking agent in milliseconds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compromised agent runtime cannot reach or disable the watchdog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100+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partners at launch, including Anthropic, Microsoft, CrowdStrike, SAP and JPMorganChase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https://nvidianews.nvidia.com/news/open-agent-safety-platform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36575" y="498675"/>
            <a:ext cx="4935600" cy="154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Fireworks Ember-1 - 40% less Tokens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Kimi K3 quality with 40% fewer tokens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Post-trained Kimi K3 with RL to stop repetitive reasoning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71%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fewer reasoning tokens, 39% fewer in total, same success rate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Terminal Bench 2.1: 82.0% vs 80.9% for K3 Max at 51.9% lower cost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DeepSWE 1.1: 75.2% vs 66.4%; SWE-bench Verified slightly lower, 92.2% vs 93.2%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Same per-token price as K3, 1M-token context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Research Preview on the Fireworks serverless API only; no weights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https://fireworks.ai/blog/ember-1</a:t>
            </a:r>
            <a:endParaRPr sz="11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8550" y="647625"/>
            <a:ext cx="2520925" cy="1244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7" name="Google Shape;187;p28"/>
          <p:cNvSpPr txBox="1"/>
          <p:nvPr/>
        </p:nvSpPr>
        <p:spPr>
          <a:xfrm>
            <a:off x="36575" y="2130550"/>
            <a:ext cx="4935600" cy="2404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Modal's Quail processes a Billion tokens per minute on one H100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Quail (Query-Aware Inference Layer)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runs LLM calls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inside SQL queries,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such as AI filters and joins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Over </a:t>
            </a:r>
            <a:r>
              <a:rPr lang="en" sz="1200" b="1">
                <a:solidFill>
                  <a:srgbClr val="FF0000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1B-tokens/min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 H100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1.84x faster than vLLM on average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more than 10x on multi-join queries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Under 6 cents per Billion tokens on Prefill only: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yes/no classification needs a single output token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Victor Mono"/>
              <a:buChar char="●"/>
            </a:pPr>
            <a:r>
              <a:rPr lang="en" sz="800" b="1">
                <a:solidFill>
                  <a:srgbClr val="3C78D8"/>
                </a:solidFill>
                <a:latin typeface="Victor Mono"/>
                <a:ea typeface="Victor Mono"/>
                <a:cs typeface="Victor Mono"/>
                <a:sym typeface="Victor Mono"/>
              </a:rPr>
              <a:t>SELECT </a:t>
            </a:r>
            <a:r>
              <a:rPr lang="en" sz="800" b="1">
                <a:solidFill>
                  <a:srgbClr val="3C78D8"/>
                </a:solidFill>
                <a:uFill>
                  <a:noFill/>
                </a:uFill>
                <a:latin typeface="Victor Mono"/>
                <a:ea typeface="Victor Mono"/>
                <a:cs typeface="Victor Mono"/>
                <a:sym typeface="Victor Mon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r.id</a:t>
            </a:r>
            <a:r>
              <a:rPr lang="en" sz="800" b="1">
                <a:solidFill>
                  <a:srgbClr val="3C78D8"/>
                </a:solidFill>
                <a:latin typeface="Victor Mono"/>
                <a:ea typeface="Victor Mono"/>
                <a:cs typeface="Victor Mono"/>
                <a:sym typeface="Victor Mono"/>
              </a:rPr>
              <a:t> FROM reviews r</a:t>
            </a:r>
            <a:endParaRPr sz="800" b="1">
              <a:solidFill>
                <a:srgbClr val="3C78D8"/>
              </a:solidFill>
              <a:latin typeface="Victor Mono"/>
              <a:ea typeface="Victor Mono"/>
              <a:cs typeface="Victor Mono"/>
              <a:sym typeface="Victor Mono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Victor Mono"/>
              <a:buChar char="●"/>
            </a:pPr>
            <a:r>
              <a:rPr lang="en" sz="800" b="1">
                <a:solidFill>
                  <a:srgbClr val="3C78D8"/>
                </a:solidFill>
                <a:latin typeface="Victor Mono"/>
                <a:ea typeface="Victor Mono"/>
                <a:cs typeface="Victor Mono"/>
                <a:sym typeface="Victor Mono"/>
              </a:rPr>
              <a:t>WHERE AI.IF(PROMPT('Does this review discuss the ending?\n\n{0}', r.body))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Modal Labs, Inc. is a New York City based cloud-computing platform for AI developers. Since 2021, ~150 people. Raised $466M+, $4.65B valuation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https://modal.com/blog/quail-billion-tpm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https://github.com/fsdatalab/quail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 - open source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4725" y="2930650"/>
            <a:ext cx="3015651" cy="16889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9" name="Google Shape;189;p2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583" y="2657475"/>
            <a:ext cx="1018592" cy="1247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/>
        </p:nvSpPr>
        <p:spPr>
          <a:xfrm>
            <a:off x="83398" y="50600"/>
            <a:ext cx="1923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Jobs and Layoffs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2771397" y="198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5690525" y="3510625"/>
            <a:ext cx="32868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129.2K in 2026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(as of Sept 18,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123K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266K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5690530" y="1158774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189,217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(725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9" descr="auto: layoffs-fyi-chart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736" y="3407672"/>
            <a:ext cx="4634459" cy="1548885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9" name="Google Shape;199;p29" descr="auto: trueup-chart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109" y="569314"/>
            <a:ext cx="4839721" cy="2496148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93825" y="-8374"/>
            <a:ext cx="138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Tech Hiring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84300" y="406525"/>
            <a:ext cx="44877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Software job postings on Indeed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Comparing to 2020 level, in Feb 2022 it was 234%, in 2025 it was 65%, now it is 77%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All US job postings: 103% (compared with 2020)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Postings that mention AI: 6.7% of all, up from 3.4% a year ago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https://fred.stlouisfed.org/series/IHLIDXUSTPSOFTDEVE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84300" y="1779175"/>
            <a:ext cx="44877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Skills in demand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Dice, 7M+ US tech postings (Aug 2026): +18% year over year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AI and machine learning postings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+101%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year over year, five times the overall rate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Fastest-growing skills, each up 200%+: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responsible AI, AI agents, agentic AI, AI infrastructure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Most requested overall: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communication, computer science, troubleshooting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Indeed: 71% of the software postings rebound (May 2025 to May 2026) is senior roles; 37% has AI in the title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https://hiringlab.indeed.com/2026/07/08/ai-and-job-postings-from-destruction-to-creation/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https://www.dice.com/hiring/recruitment/reports/dice-tech-job-report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4876773" y="318025"/>
            <a:ext cx="39426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 "In Demand" Skills and Qualifications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Critical thinking and problem-solving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Communication and stakeholder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Adaptability and continuous learning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AI literacy and practical AI adoption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AI/ML application development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Data engineering and data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Cybersecurity and risk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Cloud and infrastructure engineering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Software engineering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Automation and workflow optimization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DevOps, CI/CD, and platform engineering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Governance, compliance, and responsible AI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Analytical thinking and data analysis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Product management and business alignment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Project and program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Leadership and cross-functional collaboration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Creativity and innovation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Resilience and professionalism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Technical troubleshooting and systems thinking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Business growth and customer focus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/>
        </p:nvSpPr>
        <p:spPr>
          <a:xfrm>
            <a:off x="36576" y="-27432"/>
            <a:ext cx="2441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3328416" y="1263396"/>
            <a:ext cx="4572000" cy="29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Interests: Generative AI, using LLMs with your data, local AI for local private data, cloud architecture, fin-tech, application security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Find and connect: LinkedIn, GitHub, YouTube, Google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https://eais.ai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3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9304" y="1952244"/>
            <a:ext cx="1572768" cy="157276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/>
        </p:nvSpPr>
        <p:spPr>
          <a:xfrm>
            <a:off x="36576" y="1687068"/>
            <a:ext cx="9070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4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1434219" y="2554732"/>
            <a:ext cx="62757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Videos of every seminar are on YouTube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GitHub. Click a pptx file, then the download button on the right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https://github.com/lselector/seminar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Google Drive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https://drive.google.com/drive/folders/1dmj00iilSP-JYmriMUUaHCKz5X54e3UX?ths=true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4242</Words>
  <Application>Microsoft Macintosh PowerPoint</Application>
  <PresentationFormat>On-screen Show (16:9)</PresentationFormat>
  <Paragraphs>533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Arial</vt:lpstr>
      <vt:lpstr>Roboto Mono</vt:lpstr>
      <vt:lpstr>Victor Mono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2026-09-28T23:38:09Z</dcterms:modified>
</cp:coreProperties>
</file>