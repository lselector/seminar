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embeddedFontLst>
    <p:embeddedFont>
      <p:font typeface="Roboto Mono" pitchFamily="49" charset="0"/>
      <p:regular r:id="rId39"/>
      <p:bold r:id="rId40"/>
      <p:italic r:id="rId41"/>
      <p:boldItalic r:id="rId4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A9F2A30-7393-4319-9D2C-A430CC5F3A92}">
  <a:tblStyle styleId="{7A9F2A30-7393-4319-9D2C-A430CC5F3A92}"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395d0766152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 name="Google Shape;70;g395d0766152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cc01bf30ee_1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6" name="Google Shape;76;g3cc01bf30ee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95d076615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 name="Google Shape;90;g395d076615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95736e1bce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 name="Google Shape;97;g395736e1bce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
        <p:cNvGrpSpPr/>
        <p:nvPr/>
      </p:nvGrpSpPr>
      <p:grpSpPr>
        <a:xfrm>
          <a:off x="0" y="0"/>
          <a:ext cx="0" cy="0"/>
          <a:chOff x="0" y="0"/>
          <a:chExt cx="0" cy="0"/>
        </a:xfrm>
      </p:grpSpPr>
      <p:sp>
        <p:nvSpPr>
          <p:cNvPr id="107" name="Google Shape;107;g386d2ac23e9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8" name="Google Shape;108;g386d2ac23e9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86d2ac23e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9" name="Google Shape;119;g386d2ac23e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95c188d97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 name="Google Shape;130;g395c188d97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95a5d888a8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8" name="Google Shape;138;g395a5d888a8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9318675434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7" name="Google Shape;147;g39318675434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95a18cf80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g395a18cf80a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3cb3f8c728f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4" name="Google Shape;164;g3cb3f8c728f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ca5765053f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ca5765053f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cd1e03804d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2" name="Google Shape;192;g3cd1e03804d_0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9590ea23af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1" name="Google Shape;201;g39590ea23af_1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39576fc3ff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0" name="Google Shape;210;g39576fc3ff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9576fc3ffe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9576fc3ffe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95829ae7a5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7" name="Google Shape;227;g395829ae7a5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cd1e03804d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8" name="Google Shape;238;g3cd1e03804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395c188d979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5" name="Google Shape;245;g395c188d979_1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9556db8b7b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4" name="Google Shape;254;g39556db8b7b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39556db8b7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3" name="Google Shape;263;g39556db8b7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ccc4319be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4" name="Google Shape;274;g3ccc4319be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3cb3f8c728f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3" name="Google Shape;283;g3cb3f8c728f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cb586dc133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4" name="Google Shape;294;g3cb586dc133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cbe044245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5" name="Google Shape;305;g3cbe044245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3cc01bf30e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5" name="Google Shape;315;g3cc01bf30e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3ccc84aced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3" name="Google Shape;323;g3ccc84aced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3cbe0442455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6" name="Google Shape;336;g3cbe0442455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cbe0442455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5" name="Google Shape;345;g3cbe0442455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395829ae7a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4" name="Google Shape;354;g395829ae7a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g3cc7856c08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5" name="Google Shape;365;g3cc7856c08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95a0f730c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4" name="Google Shape;374;g395a0f730c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1" name="Google Shape;38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1" name="Google Shape;391;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1" name="Google Shape;401;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memory.m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lmarena.ai/leaderboard/text-to-image" TargetMode="External"/><Relationship Id="rId26" Type="http://schemas.openxmlformats.org/officeDocument/2006/relationships/hyperlink" Target="https://x.ai/news/grok-4-1" TargetMode="External"/><Relationship Id="rId39" Type="http://schemas.openxmlformats.org/officeDocument/2006/relationships/hyperlink" Target="https://www.anthropic.com/news/claude-4" TargetMode="External"/><Relationship Id="rId21" Type="http://schemas.openxmlformats.org/officeDocument/2006/relationships/hyperlink" Target="https://grok.com/" TargetMode="External"/><Relationship Id="rId34" Type="http://schemas.openxmlformats.org/officeDocument/2006/relationships/hyperlink" Target="https://www.anthropic.com/news/claude-sonnet-4-5"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arena.alibaba-inc.com/corpora/arena/leaderboard?arenaType=T2I" TargetMode="External"/><Relationship Id="rId25" Type="http://schemas.openxmlformats.org/officeDocument/2006/relationships/hyperlink" Target="https://blog.google/products/gemini/gemini-3-flash" TargetMode="External"/><Relationship Id="rId33" Type="http://schemas.openxmlformats.org/officeDocument/2006/relationships/hyperlink" Target="https://ernie.baidu.com/blog/posts/ernie-5.0-0110-release-on-lmarena/" TargetMode="External"/><Relationship Id="rId38" Type="http://schemas.openxmlformats.org/officeDocument/2006/relationships/hyperlink" Target="https://www.anthropic.com/news/claude-opus-4-1" TargetMode="External"/><Relationship Id="rId2" Type="http://schemas.openxmlformats.org/officeDocument/2006/relationships/notesSlide" Target="../notesSlides/notesSlide3.xml"/><Relationship Id="rId16" Type="http://schemas.openxmlformats.org/officeDocument/2006/relationships/hyperlink" Target="https://artificialanalysis.ai/models/grok-4" TargetMode="External"/><Relationship Id="rId20" Type="http://schemas.openxmlformats.org/officeDocument/2006/relationships/hyperlink" Target="https://blog.google/innovation-and-ai/models-and-research/gemini-models/gemini-3-1-pro/" TargetMode="External"/><Relationship Id="rId29" Type="http://schemas.openxmlformats.org/officeDocument/2006/relationships/hyperlink" Target="https://www.anthropic.com/news/claude-sonnet-4-6"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platform.openai.com/docs/models/gpt-5.4" TargetMode="External"/><Relationship Id="rId32" Type="http://schemas.openxmlformats.org/officeDocument/2006/relationships/hyperlink" Target="https://huggingface.co/Qwen/Qwen3.5-397B-A17B" TargetMode="External"/><Relationship Id="rId37" Type="http://schemas.openxmlformats.org/officeDocument/2006/relationships/hyperlink" Target="https://ernie.baidu.com/blog/posts/ernie-5.0-preview-1203-release-on-lmarena/" TargetMode="External"/><Relationship Id="rId40" Type="http://schemas.openxmlformats.org/officeDocument/2006/relationships/hyperlink" Target="https://openai.com/index/introducing-gpt-5-2"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developers.openai.com/api/docs/models/gpt-5.2-chat-latest" TargetMode="External"/><Relationship Id="rId28" Type="http://schemas.openxmlformats.org/officeDocument/2006/relationships/hyperlink" Target="https://seed.bytedance.com/en/blog/dola-seed-2-0-preview-model-release-on-arena" TargetMode="External"/><Relationship Id="rId36" Type="http://schemas.openxmlformats.org/officeDocument/2006/relationships/hyperlink" Target="https://aistudio.google.com/app/prompts/new_chat?model=gemini-2.5-pro"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6" TargetMode="External"/><Relationship Id="rId31" Type="http://schemas.openxmlformats.org/officeDocument/2006/relationships/hyperlink" Target="https://huggingface.co/zai-org/GLM-5"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istudio.google.com/app/prompts/new_chat?model=gemini-3-pro-preview" TargetMode="External"/><Relationship Id="rId27" Type="http://schemas.openxmlformats.org/officeDocument/2006/relationships/hyperlink" Target="https://www.anthropic.com/news/claude-opus-4-5" TargetMode="External"/><Relationship Id="rId30" Type="http://schemas.openxmlformats.org/officeDocument/2006/relationships/hyperlink" Target="https://openai.com/index/gpt-5-1/" TargetMode="External"/><Relationship Id="rId35" Type="http://schemas.openxmlformats.org/officeDocument/2006/relationships/hyperlink" Target="https://www.kimi.com/blog/kimi-k2-5.html"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reddit.com/r/singularity/comments/1rbku8f/anthropic_could_surpass_openai_in_annualized/"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www.youtube.com/watch?v=Bqdf6Um_8OE" TargetMode="External"/><Relationship Id="rId7"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openai.com/index/gpt-5-3-instant/" TargetMode="External"/><Relationship Id="rId11" Type="http://schemas.openxmlformats.org/officeDocument/2006/relationships/image" Target="../media/image4.png"/><Relationship Id="rId5" Type="http://schemas.openxmlformats.org/officeDocument/2006/relationships/hyperlink" Target="https://openai.com/index/introducing-gpt-5-3-codex-spark/" TargetMode="External"/><Relationship Id="rId10" Type="http://schemas.openxmlformats.org/officeDocument/2006/relationships/hyperlink" Target="http://www.youtube.com/watch?v=vuSdbbwY8YU" TargetMode="External"/><Relationship Id="rId4" Type="http://schemas.openxmlformats.org/officeDocument/2006/relationships/hyperlink" Target="https://www.neowin.net/news/openai-releases-gpt-53-instant-a-model-thats-supposed-to-be-less-cringe/" TargetMode="External"/><Relationship Id="rId9" Type="http://schemas.openxmlformats.org/officeDocument/2006/relationships/hyperlink" Target="https://openai.com/index/gpt-5-4-thinking-system-card/"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arena.ai" TargetMode="External"/><Relationship Id="rId7"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deepmind.google/models/model-cards/gemini-3-1-flash-lite/"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YxPfWjII3oQ" TargetMode="External"/><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x.com/UnslothAI/status/2025944058171204079"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anthropics/skills/tree/main/skills/skill-creator"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hyperlink" Target="https://www.youtube.com/watch?v=UxfeF4bSBYI"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memory.md"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hyperlink" Target="https://code.claude.com/docs/en/memory"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hyperlink" Target="https://www.alibabacloud.com/en/product/modelstudio" TargetMode="External"/><Relationship Id="rId3" Type="http://schemas.openxmlformats.org/officeDocument/2006/relationships/hyperlink" Target="https://copaw.bot" TargetMode="External"/><Relationship Id="rId7" Type="http://schemas.openxmlformats.org/officeDocument/2006/relationships/hyperlink" Target="https://modelscope.cn/home" TargetMode="External"/><Relationship Id="rId12"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github.com/agentscope-ai/agentscope" TargetMode="External"/><Relationship Id="rId11" Type="http://schemas.openxmlformats.org/officeDocument/2006/relationships/image" Target="../media/image19.png"/><Relationship Id="rId5" Type="http://schemas.openxmlformats.org/officeDocument/2006/relationships/hyperlink" Target="https://copaw.agentscope.io" TargetMode="External"/><Relationship Id="rId10" Type="http://schemas.openxmlformats.org/officeDocument/2006/relationships/image" Target="../media/image18.png"/><Relationship Id="rId4" Type="http://schemas.openxmlformats.org/officeDocument/2006/relationships/hyperlink" Target="https://github.com/agentscope-ai/CoPaw" TargetMode="External"/><Relationship Id="rId9" Type="http://schemas.openxmlformats.org/officeDocument/2006/relationships/image" Target="../media/image17.png"/></Relationships>
</file>

<file path=ppt/slides/_rels/slide12.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www.youtube.com/watch?v=9f38h_GooA8" TargetMode="External"/><Relationship Id="rId7" Type="http://schemas.openxmlformats.org/officeDocument/2006/relationships/hyperlink" Target="https://claude.com/import-memory"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hyperlink" Target="https://code.claude.com/docs/en/remote-control" TargetMode="External"/><Relationship Id="rId4" Type="http://schemas.openxmlformats.org/officeDocument/2006/relationships/hyperlink" Target="http://www.youtube.com/watch?v=xpxamtoApYU" TargetMode="External"/><Relationship Id="rId9"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machinae/awesome-claws"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Qbw40hXdImc"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hyperlink" Target="https://www.youtube.com/watch?v=Q5hoKlpft9A" TargetMode="Externa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8" Type="http://schemas.openxmlformats.org/officeDocument/2006/relationships/hyperlink" Target="https://github.com/nullclaw/nullclaw" TargetMode="External"/><Relationship Id="rId3" Type="http://schemas.openxmlformats.org/officeDocument/2006/relationships/hyperlink" Target="https://www.youtube.com/watch?v=eskNOq7x_go" TargetMode="External"/><Relationship Id="rId7" Type="http://schemas.openxmlformats.org/officeDocument/2006/relationships/hyperlink" Target="https://blog.themenonlab.com/blog/accomplish-ai-desktop-agent"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i-scoop.eu/accomplish-ai/" TargetMode="External"/><Relationship Id="rId11" Type="http://schemas.openxmlformats.org/officeDocument/2006/relationships/image" Target="../media/image27.png"/><Relationship Id="rId5" Type="http://schemas.openxmlformats.org/officeDocument/2006/relationships/hyperlink" Target="https://accomplish.ai" TargetMode="External"/><Relationship Id="rId10" Type="http://schemas.openxmlformats.org/officeDocument/2006/relationships/image" Target="../media/image26.png"/><Relationship Id="rId4" Type="http://schemas.openxmlformats.org/officeDocument/2006/relationships/hyperlink" Target="https://github.com/accomplish-ai/accomplish" TargetMode="External"/><Relationship Id="rId9" Type="http://schemas.openxmlformats.org/officeDocument/2006/relationships/hyperlink" Target="https://nullclaw.github.io" TargetMode="Externa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1Ohf2aeSPFA"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0RvF4k0bt9w"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hyperlink" Target="https://www.youtube.com/watch?v=wXTqHgIfyuE" TargetMode="External"/><Relationship Id="rId7" Type="http://schemas.openxmlformats.org/officeDocument/2006/relationships/hyperlink" Target="https://www.youtube.com/watch?v=s4EeKwJnCUs"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www.youtube.com/watch?v=Nt03hgxv5TE" TargetMode="External"/><Relationship Id="rId5" Type="http://schemas.openxmlformats.org/officeDocument/2006/relationships/hyperlink" Target="https://www.youtube.com/watch?v=aahMd7s_EDM" TargetMode="External"/><Relationship Id="rId4" Type="http://schemas.openxmlformats.org/officeDocument/2006/relationships/hyperlink" Target="https://www.youtube.com/watch?v=w_fsQttQ9fY" TargetMode="External"/></Relationships>
</file>

<file path=ppt/slides/_rels/slide19.xml.rels><?xml version="1.0" encoding="UTF-8" standalone="yes"?>
<Relationships xmlns="http://schemas.openxmlformats.org/package/2006/relationships"><Relationship Id="rId8" Type="http://schemas.openxmlformats.org/officeDocument/2006/relationships/hyperlink" Target="https://github.com/vercel-labs/agent-browser" TargetMode="External"/><Relationship Id="rId3" Type="http://schemas.openxmlformats.org/officeDocument/2006/relationships/hyperlink" Target="https://www.youtube.com/watch?v=QvfqAMUJTT4" TargetMode="External"/><Relationship Id="rId7" Type="http://schemas.openxmlformats.org/officeDocument/2006/relationships/hyperlink" Target="https://docs.openclaw.ai/concepts/memory#qmd-backend-experimental"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github.com/tobi/qmd" TargetMode="External"/><Relationship Id="rId5" Type="http://schemas.openxmlformats.org/officeDocument/2006/relationships/hyperlink" Target="https://clawhub.ai/adboio/agentmail" TargetMode="External"/><Relationship Id="rId4" Type="http://schemas.openxmlformats.org/officeDocument/2006/relationships/hyperlink" Target="https://www.agentmail.to" TargetMode="External"/><Relationship Id="rId9" Type="http://schemas.openxmlformats.org/officeDocument/2006/relationships/image" Target="../media/image32.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FyRwcYXAWGg"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hyperlink" Target="https://www.youtube.com/watch?v=VTgA-_X9wuI"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RnhgSdeLtVw"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jpeg"/><Relationship Id="rId4" Type="http://schemas.openxmlformats.org/officeDocument/2006/relationships/image" Target="../media/image38.png"/></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O_5vugzgoik"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hyperlink" Target="https://www.youtube.com/watch?v=9B3efFw6_HQ" TargetMode="Externa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3" Type="http://schemas.openxmlformats.org/officeDocument/2006/relationships/hyperlink" Target="http://www.youtube.com/watch?v=khWnSVIfMQM" TargetMode="External"/><Relationship Id="rId7"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hyperlink" Target="https://x.com/AravSrinivas/status/2027096219198394614"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venturebeat.com/orchestration/8-billion-tokens-a-day-forced-at-and-t-to-rethink-ai-orchestration-and-cut" TargetMode="External"/><Relationship Id="rId7" Type="http://schemas.openxmlformats.org/officeDocument/2006/relationships/image" Target="../media/image48.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hyperlink" Target="https://www.youtube.com/watch?v=KomAKiGIn2c&amp;t=31s" TargetMode="External"/></Relationships>
</file>

<file path=ppt/slides/_rels/slide26.xml.rels><?xml version="1.0" encoding="UTF-8" standalone="yes"?>
<Relationships xmlns="http://schemas.openxmlformats.org/package/2006/relationships"><Relationship Id="rId8" Type="http://schemas.openxmlformats.org/officeDocument/2006/relationships/hyperlink" Target="https://github.com/CodebuffAI/codebuff" TargetMode="External"/><Relationship Id="rId13" Type="http://schemas.openxmlformats.org/officeDocument/2006/relationships/hyperlink" Target="https://aiagentindex.mit.edu/2024/codebuff/" TargetMode="External"/><Relationship Id="rId3" Type="http://schemas.openxmlformats.org/officeDocument/2006/relationships/hyperlink" Target="https://www.youtube.com/watch?v=6vrLB-G7XZc" TargetMode="External"/><Relationship Id="rId7" Type="http://schemas.openxmlformats.org/officeDocument/2006/relationships/hyperlink" Target="https://www.youtube.com/watch?v=4H_an5xtyr0" TargetMode="External"/><Relationship Id="rId12" Type="http://schemas.openxmlformats.org/officeDocument/2006/relationships/hyperlink" Target="https://www.codebuff.com/docs/tips" TargetMode="External"/><Relationship Id="rId17" Type="http://schemas.openxmlformats.org/officeDocument/2006/relationships/image" Target="../media/image50.png"/><Relationship Id="rId2" Type="http://schemas.openxmlformats.org/officeDocument/2006/relationships/notesSlide" Target="../notesSlides/notesSlide26.xml"/><Relationship Id="rId16" Type="http://schemas.openxmlformats.org/officeDocument/2006/relationships/image" Target="../media/image49.png"/><Relationship Id="rId1" Type="http://schemas.openxmlformats.org/officeDocument/2006/relationships/slideLayout" Target="../slideLayouts/slideLayout1.xml"/><Relationship Id="rId6" Type="http://schemas.openxmlformats.org/officeDocument/2006/relationships/hyperlink" Target="https://ollama.com/library/lfm2:24b-a2b" TargetMode="External"/><Relationship Id="rId11" Type="http://schemas.openxmlformats.org/officeDocument/2006/relationships/hyperlink" Target="https://www.codebuff.com/docs/help" TargetMode="External"/><Relationship Id="rId5" Type="http://schemas.openxmlformats.org/officeDocument/2006/relationships/hyperlink" Target="https://huggingface.co/LiquidAI/LFM2-24B-A2B" TargetMode="External"/><Relationship Id="rId15" Type="http://schemas.openxmlformats.org/officeDocument/2006/relationships/hyperlink" Target="https://jimmysong.io/ai/codebuff/" TargetMode="External"/><Relationship Id="rId10" Type="http://schemas.openxmlformats.org/officeDocument/2006/relationships/hyperlink" Target="https://www.codebuff.com" TargetMode="External"/><Relationship Id="rId4" Type="http://schemas.openxmlformats.org/officeDocument/2006/relationships/hyperlink" Target="https://www.youtube.com/watch?v=1GxtSavXUMk" TargetMode="External"/><Relationship Id="rId9" Type="http://schemas.openxmlformats.org/officeDocument/2006/relationships/hyperlink" Target="https://github.com/CodebuffAI" TargetMode="External"/><Relationship Id="rId14" Type="http://schemas.openxmlformats.org/officeDocument/2006/relationships/hyperlink" Target="https://www.ycombinator.com/companies/codebuff"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www.youtube.com/shorts/AgOPGltPJCM" TargetMode="External"/><Relationship Id="rId7"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1.png"/><Relationship Id="rId5" Type="http://schemas.openxmlformats.org/officeDocument/2006/relationships/hyperlink" Target="https://en.wikipedia.org/wiki/Wikipedia:Signs_of_AI_writing" TargetMode="External"/><Relationship Id="rId4" Type="http://schemas.openxmlformats.org/officeDocument/2006/relationships/hyperlink" Target="https://github.com/blader/humanizer"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55.png"/><Relationship Id="rId4" Type="http://schemas.openxmlformats.org/officeDocument/2006/relationships/image" Target="../media/image54.png"/></Relationships>
</file>

<file path=ppt/slides/_rels/slide29.xml.rels><?xml version="1.0" encoding="UTF-8" standalone="yes"?>
<Relationships xmlns="http://schemas.openxmlformats.org/package/2006/relationships"><Relationship Id="rId3" Type="http://schemas.openxmlformats.org/officeDocument/2006/relationships/hyperlink" Target="https://www.anthropic.com/news/statement-department-of-war" TargetMode="External"/><Relationship Id="rId7" Type="http://schemas.openxmlformats.org/officeDocument/2006/relationships/hyperlink" Target="https://techcrunch.com/2026/03/05/anthropic-ceo-dario-amodei-could-still-be-trying-to-make-a-deal-with-pentagon/"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7.png"/><Relationship Id="rId5" Type="http://schemas.openxmlformats.org/officeDocument/2006/relationships/image" Target="../media/image56.png"/><Relationship Id="rId4" Type="http://schemas.openxmlformats.org/officeDocument/2006/relationships/hyperlink" Target="https://www.youtube.com/watch?v=rgqxrw26twA"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www.youtube.com/watch?v=MPTNHrq_4LU" TargetMode="External"/><Relationship Id="rId7" Type="http://schemas.openxmlformats.org/officeDocument/2006/relationships/image" Target="../media/image59.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hyperlink" Target="https://www.youtube.com/watch?v=SDKr_qh30lo" TargetMode="External"/><Relationship Id="rId5" Type="http://schemas.openxmlformats.org/officeDocument/2006/relationships/image" Target="../media/image58.png"/><Relationship Id="rId4" Type="http://schemas.openxmlformats.org/officeDocument/2006/relationships/hyperlink" Target="https://www.cbsnews.com/news/anthropic-ceo-dario-amodei-full-transcript/"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62.jpeg"/><Relationship Id="rId4" Type="http://schemas.openxmlformats.org/officeDocument/2006/relationships/image" Target="../media/image61.png"/></Relationships>
</file>

<file path=ppt/slides/_rels/slide32.xml.rels><?xml version="1.0" encoding="UTF-8" standalone="yes"?>
<Relationships xmlns="http://schemas.openxmlformats.org/package/2006/relationships"><Relationship Id="rId3" Type="http://schemas.openxmlformats.org/officeDocument/2006/relationships/hyperlink" Target="https://www.youtube.com/watch?v=dmtvGKuRE64&amp;t=76s"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64.jpeg"/><Relationship Id="rId5" Type="http://schemas.openxmlformats.org/officeDocument/2006/relationships/hyperlink" Target="https://www.youtube.com/watch?v=4vzmTKUFtxg" TargetMode="External"/><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hyperlink" Target="http://www.youtube.com/watch?v=deEri629Nnw" TargetMode="External"/><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34.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67.png"/><Relationship Id="rId5" Type="http://schemas.openxmlformats.org/officeDocument/2006/relationships/image" Target="../media/image66.png"/><Relationship Id="rId4" Type="http://schemas.openxmlformats.org/officeDocument/2006/relationships/hyperlink" Target="https://trueup.io/layoffs"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68.jpe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69.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442463"/>
            <a:ext cx="4420200" cy="217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Crowd-sourced "LM Arena" Leaderboard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Mercury 2 by Inception Labs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OpenAI GPT-5.4 &amp; GPT-5.3 Instant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Google Gemini 3.1 Flash-Lite &amp; Pro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Gemini Nano Banana 2</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Qwen3-Coder-Next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Co-Work Can Schedule Tasks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Anthropic Skill Creator tool (skill)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a:t>
            </a:r>
            <a:r>
              <a:rPr lang="en" b="1" u="sng">
                <a:solidFill>
                  <a:schemeClr val="hlink"/>
                </a:solidFill>
                <a:latin typeface="Calibri"/>
                <a:ea typeface="Calibri"/>
                <a:cs typeface="Calibri"/>
                <a:sym typeface="Calibri"/>
                <a:hlinkClick r:id="rId3"/>
              </a:rPr>
              <a:t>MEMORY.md</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voice mode feature</a:t>
            </a:r>
            <a:endParaRPr b="1">
              <a:solidFill>
                <a:srgbClr val="3C78D8"/>
              </a:solidFill>
              <a:latin typeface="Calibri"/>
              <a:ea typeface="Calibri"/>
              <a:cs typeface="Calibri"/>
              <a:sym typeface="Calibri"/>
            </a:endParaRPr>
          </a:p>
        </p:txBody>
      </p:sp>
      <p:sp>
        <p:nvSpPr>
          <p:cNvPr id="64" name="Google Shape;64;p15"/>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a:solidFill>
                  <a:srgbClr val="3C78D8"/>
                </a:solidFill>
                <a:latin typeface="Calibri"/>
                <a:ea typeface="Calibri"/>
                <a:cs typeface="Calibri"/>
                <a:sym typeface="Calibri"/>
              </a:rPr>
              <a:t>AI Updates - Mar 06, 2026</a:t>
            </a:r>
            <a:endParaRPr sz="3000" b="1">
              <a:solidFill>
                <a:srgbClr val="3C78D8"/>
              </a:solidFill>
              <a:latin typeface="Calibri"/>
              <a:ea typeface="Calibri"/>
              <a:cs typeface="Calibri"/>
              <a:sym typeface="Calibri"/>
            </a:endParaRPr>
          </a:p>
        </p:txBody>
      </p:sp>
      <p:sp>
        <p:nvSpPr>
          <p:cNvPr id="65" name="Google Shape;65;p15"/>
          <p:cNvSpPr txBox="1"/>
          <p:nvPr/>
        </p:nvSpPr>
        <p:spPr>
          <a:xfrm>
            <a:off x="4574323" y="4141390"/>
            <a:ext cx="45024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Moonshots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Interview with Andrew 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SaaS Collapse into Personal AI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i="0" u="none" strike="noStrike" cap="none">
                <a:solidFill>
                  <a:srgbClr val="3C78D8"/>
                </a:solidFill>
                <a:latin typeface="Calibri"/>
                <a:ea typeface="Calibri"/>
                <a:cs typeface="Calibri"/>
                <a:sym typeface="Calibri"/>
              </a:rPr>
              <a:t>Jobs, Layoffs, </a:t>
            </a:r>
            <a:r>
              <a:rPr lang="en" b="1">
                <a:solidFill>
                  <a:srgbClr val="3C78D8"/>
                </a:solidFill>
                <a:latin typeface="Calibri"/>
                <a:ea typeface="Calibri"/>
                <a:cs typeface="Calibri"/>
                <a:sym typeface="Calibri"/>
              </a:rPr>
              <a:t>demand for AI Engineers</a:t>
            </a:r>
            <a:endParaRPr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653454"/>
            <a:ext cx="4420200" cy="23889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Alibaba’s CoPaw, ModelScope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vs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supports Remote Control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now remembers your work habits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From Apps &amp; SaaS to Generic Agent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ClawX - FREE Desktop App for OpenClaw AI Agents!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 Simflow AI Phone Voice Agent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Accomplish (Openwork) - AI Desktop Agent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NullClaw against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Harness Engineering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MaxClaw - Minimax's agent</a:t>
            </a:r>
            <a:endParaRPr b="1">
              <a:solidFill>
                <a:srgbClr val="3C78D8"/>
              </a:solidFill>
              <a:latin typeface="Calibri"/>
              <a:ea typeface="Calibri"/>
              <a:cs typeface="Calibri"/>
              <a:sym typeface="Calibri"/>
            </a:endParaRPr>
          </a:p>
        </p:txBody>
      </p:sp>
      <p:sp>
        <p:nvSpPr>
          <p:cNvPr id="67" name="Google Shape;67;p15"/>
          <p:cNvSpPr txBox="1"/>
          <p:nvPr/>
        </p:nvSpPr>
        <p:spPr>
          <a:xfrm>
            <a:off x="4574323" y="442467"/>
            <a:ext cx="4502400" cy="36819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Qwen3.5‑9B - text,  images, short videos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OpenClaw Tips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Tools That Make OpenClaw Actually Useful</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Toggle - browser agent skill for OpenClaw</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SHARE + Sidecar - Model That Learns</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Kane AI (KaneAI) software testing assistant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Claude Code + Telegram bot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Apple Updates (M5, Neo)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AI Agent Making Money and Doing Marketing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The 2028 Global Intelligence Crisis" report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AT&amp;T cuts costs 90% by using multi-agent architecture</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Perplexity Computer with Max Plan $200/mo</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"Ilya Didn’t Leave OpenAI for Nothing"</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LFM2-24B-A2B Open Model from Liquid AI</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CodeBuff, a new open-source AI coding agent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Humanize Text, Remove AI Accent</a:t>
            </a:r>
            <a:endParaRPr b="1">
              <a:solidFill>
                <a:srgbClr val="3C78D8"/>
              </a:solidFill>
              <a:latin typeface="Calibri"/>
              <a:ea typeface="Calibri"/>
              <a:cs typeface="Calibri"/>
              <a:sym typeface="Calibri"/>
            </a:endParaRPr>
          </a:p>
          <a:p>
            <a:pPr marL="228600" marR="0" lvl="0" indent="-203200" algn="l" rtl="0">
              <a:lnSpc>
                <a:spcPct val="100000"/>
              </a:lnSpc>
              <a:spcBef>
                <a:spcPts val="0"/>
              </a:spcBef>
              <a:spcAft>
                <a:spcPts val="0"/>
              </a:spcAft>
              <a:buClr>
                <a:srgbClr val="3C78D8"/>
              </a:buClr>
              <a:buSzPts val="1400"/>
              <a:buFont typeface="Calibri"/>
              <a:buChar char="●"/>
            </a:pPr>
            <a:r>
              <a:rPr lang="en" b="1">
                <a:solidFill>
                  <a:srgbClr val="3C78D8"/>
                </a:solidFill>
                <a:latin typeface="Calibri"/>
                <a:ea typeface="Calibri"/>
                <a:cs typeface="Calibri"/>
                <a:sym typeface="Calibri"/>
              </a:rPr>
              <a:t>Antropic vs US Dept of Defense</a:t>
            </a:r>
            <a:endParaRPr b="1">
              <a:solidFill>
                <a:srgbClr val="3C78D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6"/>
          <p:cNvSpPr txBox="1"/>
          <p:nvPr/>
        </p:nvSpPr>
        <p:spPr>
          <a:xfrm>
            <a:off x="0" y="-753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Mar 06, 2026</a:t>
            </a:r>
            <a:endParaRPr sz="2200" b="1" i="0" u="none" strike="noStrike" cap="none">
              <a:solidFill>
                <a:srgbClr val="3C78D8"/>
              </a:solidFill>
              <a:latin typeface="Calibri"/>
              <a:ea typeface="Calibri"/>
              <a:cs typeface="Calibri"/>
              <a:sym typeface="Calibri"/>
            </a:endParaRPr>
          </a:p>
        </p:txBody>
      </p:sp>
      <p:sp>
        <p:nvSpPr>
          <p:cNvPr id="73" name="Google Shape;73;p16"/>
          <p:cNvSpPr txBox="1"/>
          <p:nvPr/>
        </p:nvSpPr>
        <p:spPr>
          <a:xfrm>
            <a:off x="205950" y="639041"/>
            <a:ext cx="8732100" cy="4266600"/>
          </a:xfrm>
          <a:prstGeom prst="rect">
            <a:avLst/>
          </a:prstGeom>
          <a:noFill/>
          <a:ln>
            <a:noFill/>
          </a:ln>
        </p:spPr>
        <p:txBody>
          <a:bodyPr spcFirstLastPara="1" wrap="square" lIns="9125" tIns="9125" rIns="9125" bIns="9125" anchor="t" anchorCtr="0">
            <a:spAutoFit/>
          </a:bodyPr>
          <a:lstStyle/>
          <a:p>
            <a:pPr marL="457200" marR="0" lvl="0" indent="-374650" algn="l" rtl="0">
              <a:lnSpc>
                <a:spcPct val="100000"/>
              </a:lnSpc>
              <a:spcBef>
                <a:spcPts val="0"/>
              </a:spcBef>
              <a:spcAft>
                <a:spcPts val="0"/>
              </a:spcAft>
              <a:buClr>
                <a:srgbClr val="3C78D8"/>
              </a:buClr>
              <a:buSzPts val="2300"/>
              <a:buFont typeface="Calibri"/>
              <a:buChar char="●"/>
            </a:pPr>
            <a:r>
              <a:rPr lang="en" sz="2300" b="1" i="1">
                <a:solidFill>
                  <a:srgbClr val="FF0000"/>
                </a:solidFill>
                <a:latin typeface="Calibri"/>
                <a:ea typeface="Calibri"/>
                <a:cs typeface="Calibri"/>
                <a:sym typeface="Calibri"/>
              </a:rPr>
              <a:t>"AI isn't a bubble but a 'wrecking ball' destroying traditional Software-as-a-Service (SaaS) business models" - Wes Roth</a:t>
            </a:r>
            <a:br>
              <a:rPr lang="en" sz="2300" b="1" i="1">
                <a:solidFill>
                  <a:srgbClr val="3C78D8"/>
                </a:solidFill>
                <a:latin typeface="Calibri"/>
                <a:ea typeface="Calibri"/>
                <a:cs typeface="Calibri"/>
                <a:sym typeface="Calibri"/>
              </a:rPr>
            </a:br>
            <a:endParaRPr sz="2300" b="1" i="1">
              <a:solidFill>
                <a:srgbClr val="3C78D8"/>
              </a:solidFill>
              <a:latin typeface="Calibri"/>
              <a:ea typeface="Calibri"/>
              <a:cs typeface="Calibri"/>
              <a:sym typeface="Calibri"/>
            </a:endParaRPr>
          </a:p>
          <a:p>
            <a:pPr marL="457200" marR="0" lvl="0" indent="-374650" algn="l" rtl="0">
              <a:lnSpc>
                <a:spcPct val="100000"/>
              </a:lnSpc>
              <a:spcBef>
                <a:spcPts val="0"/>
              </a:spcBef>
              <a:spcAft>
                <a:spcPts val="0"/>
              </a:spcAft>
              <a:buClr>
                <a:srgbClr val="3C78D8"/>
              </a:buClr>
              <a:buSzPts val="2300"/>
              <a:buFont typeface="Calibri"/>
              <a:buChar char="●"/>
            </a:pPr>
            <a:r>
              <a:rPr lang="en" sz="2300" b="1" i="1">
                <a:solidFill>
                  <a:srgbClr val="6AA84F"/>
                </a:solidFill>
                <a:latin typeface="Calibri"/>
                <a:ea typeface="Calibri"/>
                <a:cs typeface="Calibri"/>
                <a:sym typeface="Calibri"/>
              </a:rPr>
              <a:t>"Skills instead of SaaS"</a:t>
            </a:r>
            <a:br>
              <a:rPr lang="en" sz="2300" b="1" i="1">
                <a:solidFill>
                  <a:srgbClr val="3C78D8"/>
                </a:solidFill>
                <a:latin typeface="Calibri"/>
                <a:ea typeface="Calibri"/>
                <a:cs typeface="Calibri"/>
                <a:sym typeface="Calibri"/>
              </a:rPr>
            </a:br>
            <a:endParaRPr sz="2300" b="1" i="1">
              <a:solidFill>
                <a:srgbClr val="3C78D8"/>
              </a:solidFill>
              <a:latin typeface="Calibri"/>
              <a:ea typeface="Calibri"/>
              <a:cs typeface="Calibri"/>
              <a:sym typeface="Calibri"/>
            </a:endParaRPr>
          </a:p>
          <a:p>
            <a:pPr marL="457200" marR="0" lvl="0" indent="-374650" algn="l" rtl="0">
              <a:lnSpc>
                <a:spcPct val="100000"/>
              </a:lnSpc>
              <a:spcBef>
                <a:spcPts val="0"/>
              </a:spcBef>
              <a:spcAft>
                <a:spcPts val="0"/>
              </a:spcAft>
              <a:buClr>
                <a:srgbClr val="3C78D8"/>
              </a:buClr>
              <a:buSzPts val="2300"/>
              <a:buFont typeface="Calibri"/>
              <a:buChar char="●"/>
            </a:pPr>
            <a:r>
              <a:rPr lang="en" sz="2300" b="1" i="1">
                <a:solidFill>
                  <a:srgbClr val="3C78D8"/>
                </a:solidFill>
                <a:latin typeface="Calibri"/>
                <a:ea typeface="Calibri"/>
                <a:cs typeface="Calibri"/>
                <a:sym typeface="Calibri"/>
              </a:rPr>
              <a:t>"... in future users will interact with one central agent to automate their lives, making traditional apps and SaaS obsolete"</a:t>
            </a:r>
            <a:br>
              <a:rPr lang="en" sz="2300" b="1" i="1">
                <a:solidFill>
                  <a:srgbClr val="3C78D8"/>
                </a:solidFill>
                <a:latin typeface="Calibri"/>
                <a:ea typeface="Calibri"/>
                <a:cs typeface="Calibri"/>
                <a:sym typeface="Calibri"/>
              </a:rPr>
            </a:br>
            <a:endParaRPr sz="2300" b="1" i="1">
              <a:solidFill>
                <a:srgbClr val="3C78D8"/>
              </a:solidFill>
              <a:latin typeface="Calibri"/>
              <a:ea typeface="Calibri"/>
              <a:cs typeface="Calibri"/>
              <a:sym typeface="Calibri"/>
            </a:endParaRPr>
          </a:p>
          <a:p>
            <a:pPr marL="457200" marR="0" lvl="0" indent="-374650" algn="l" rtl="0">
              <a:lnSpc>
                <a:spcPct val="100000"/>
              </a:lnSpc>
              <a:spcBef>
                <a:spcPts val="0"/>
              </a:spcBef>
              <a:spcAft>
                <a:spcPts val="0"/>
              </a:spcAft>
              <a:buClr>
                <a:srgbClr val="3C78D8"/>
              </a:buClr>
              <a:buSzPts val="2300"/>
              <a:buFont typeface="Calibri"/>
              <a:buChar char="●"/>
            </a:pPr>
            <a:r>
              <a:rPr lang="en" sz="2300" b="1" i="1">
                <a:solidFill>
                  <a:srgbClr val="6AA84F"/>
                </a:solidFill>
                <a:latin typeface="Calibri"/>
                <a:ea typeface="Calibri"/>
                <a:cs typeface="Calibri"/>
                <a:sym typeface="Calibri"/>
              </a:rPr>
              <a:t>"From Question-Answer Chat to Autonomous Operator"</a:t>
            </a:r>
            <a:br>
              <a:rPr lang="en" sz="2300" b="1" i="1">
                <a:solidFill>
                  <a:srgbClr val="3C78D8"/>
                </a:solidFill>
                <a:latin typeface="Calibri"/>
                <a:ea typeface="Calibri"/>
                <a:cs typeface="Calibri"/>
                <a:sym typeface="Calibri"/>
              </a:rPr>
            </a:br>
            <a:endParaRPr sz="2300" b="1" i="1">
              <a:solidFill>
                <a:srgbClr val="3C78D8"/>
              </a:solidFill>
              <a:latin typeface="Calibri"/>
              <a:ea typeface="Calibri"/>
              <a:cs typeface="Calibri"/>
              <a:sym typeface="Calibri"/>
            </a:endParaRPr>
          </a:p>
          <a:p>
            <a:pPr marL="457200" marR="0" lvl="0" indent="-374650" algn="l" rtl="0">
              <a:lnSpc>
                <a:spcPct val="100000"/>
              </a:lnSpc>
              <a:spcBef>
                <a:spcPts val="0"/>
              </a:spcBef>
              <a:spcAft>
                <a:spcPts val="0"/>
              </a:spcAft>
              <a:buClr>
                <a:srgbClr val="3C78D8"/>
              </a:buClr>
              <a:buSzPts val="2300"/>
              <a:buFont typeface="Calibri"/>
              <a:buChar char="●"/>
            </a:pPr>
            <a:r>
              <a:rPr lang="en" sz="2300" b="1" i="1">
                <a:solidFill>
                  <a:srgbClr val="FF0000"/>
                </a:solidFill>
                <a:latin typeface="Calibri"/>
                <a:ea typeface="Calibri"/>
                <a:cs typeface="Calibri"/>
                <a:sym typeface="Calibri"/>
              </a:rPr>
              <a:t>"Your Job is to Onboard AI Agents" - Peter Yang</a:t>
            </a:r>
            <a:br>
              <a:rPr lang="en" sz="2300" b="1" i="1">
                <a:solidFill>
                  <a:srgbClr val="3C78D8"/>
                </a:solidFill>
                <a:latin typeface="Calibri"/>
                <a:ea typeface="Calibri"/>
                <a:cs typeface="Calibri"/>
                <a:sym typeface="Calibri"/>
              </a:rPr>
            </a:br>
            <a:endParaRPr sz="2300" b="1" i="1">
              <a:solidFill>
                <a:srgbClr val="3C78D8"/>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7"/>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9" name="Google Shape;79;p17"/>
          <p:cNvSpPr txBox="1"/>
          <p:nvPr/>
        </p:nvSpPr>
        <p:spPr>
          <a:xfrm>
            <a:off x="38150" y="2125"/>
            <a:ext cx="25998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"LM Arena" Leaderboard</a:t>
            </a:r>
            <a:endParaRPr sz="1800" b="1" i="0" u="none" strike="noStrike" cap="none">
              <a:solidFill>
                <a:srgbClr val="000000"/>
              </a:solidFill>
              <a:latin typeface="Calibri"/>
              <a:ea typeface="Calibri"/>
              <a:cs typeface="Calibri"/>
              <a:sym typeface="Calibri"/>
            </a:endParaRPr>
          </a:p>
        </p:txBody>
      </p:sp>
      <p:sp>
        <p:nvSpPr>
          <p:cNvPr id="80" name="Google Shape;80;p17"/>
          <p:cNvSpPr txBox="1"/>
          <p:nvPr/>
        </p:nvSpPr>
        <p:spPr>
          <a:xfrm>
            <a:off x="52418" y="476072"/>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81" name="Google Shape;81;p17"/>
          <p:cNvSpPr txBox="1"/>
          <p:nvPr/>
        </p:nvSpPr>
        <p:spPr>
          <a:xfrm>
            <a:off x="2726905" y="476078"/>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82" name="Google Shape;82;p17"/>
          <p:cNvSpPr txBox="1"/>
          <p:nvPr/>
        </p:nvSpPr>
        <p:spPr>
          <a:xfrm>
            <a:off x="6183999" y="1858050"/>
            <a:ext cx="2908500" cy="309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(alibaba)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7"/>
              </a:rPr>
              <a:t>http://aiarena.alibaba-inc.com/corpora/arena/leaderboard?arenaType=T2I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image arena - </a:t>
            </a:r>
            <a:r>
              <a:rPr lang="en" sz="800" u="sng">
                <a:solidFill>
                  <a:schemeClr val="hlink"/>
                </a:solidFill>
                <a:latin typeface="Calibri"/>
                <a:ea typeface="Calibri"/>
                <a:cs typeface="Calibri"/>
                <a:sym typeface="Calibri"/>
                <a:hlinkClick r:id="rId18"/>
              </a:rPr>
              <a:t>https://lmarena.ai/leaderboard/text-to-image</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3" name="Google Shape;83;p17"/>
          <p:cNvSpPr txBox="1"/>
          <p:nvPr/>
        </p:nvSpPr>
        <p:spPr>
          <a:xfrm>
            <a:off x="4431041"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March 05</a:t>
            </a:r>
            <a:endParaRPr sz="1000">
              <a:latin typeface="Calibri"/>
              <a:ea typeface="Calibri"/>
              <a:cs typeface="Calibri"/>
              <a:sym typeface="Calibri"/>
            </a:endParaRPr>
          </a:p>
        </p:txBody>
      </p:sp>
      <p:sp>
        <p:nvSpPr>
          <p:cNvPr id="84" name="Google Shape;84;p17"/>
          <p:cNvSpPr txBox="1"/>
          <p:nvPr/>
        </p:nvSpPr>
        <p:spPr>
          <a:xfrm>
            <a:off x="7346795" y="608477"/>
            <a:ext cx="1745700" cy="78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deepseek-v3.2  -  671B</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ernie-5.0 - 2.4T</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glm-5.0 - 744B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kimi-k2.5-thinking - 1T</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a:latin typeface="Calibri"/>
                <a:ea typeface="Calibri"/>
                <a:cs typeface="Calibri"/>
                <a:sym typeface="Calibri"/>
              </a:rPr>
              <a:t>qwen3.5-397B</a:t>
            </a:r>
            <a:endParaRPr sz="1000">
              <a:latin typeface="Calibri"/>
              <a:ea typeface="Calibri"/>
              <a:cs typeface="Calibri"/>
              <a:sym typeface="Calibri"/>
            </a:endParaRPr>
          </a:p>
        </p:txBody>
      </p:sp>
      <p:graphicFrame>
        <p:nvGraphicFramePr>
          <p:cNvPr id="85" name="Google Shape;85;p17"/>
          <p:cNvGraphicFramePr/>
          <p:nvPr/>
        </p:nvGraphicFramePr>
        <p:xfrm>
          <a:off x="5742420" y="430065"/>
          <a:ext cx="3000000" cy="3000000"/>
        </p:xfrm>
        <a:graphic>
          <a:graphicData uri="http://schemas.openxmlformats.org/drawingml/2006/table">
            <a:tbl>
              <a:tblPr>
                <a:noFill/>
                <a:tableStyleId>{7A9F2A30-7393-4319-9D2C-A430CC5F3A92}</a:tableStyleId>
              </a:tblPr>
              <a:tblGrid>
                <a:gridCol w="219050">
                  <a:extLst>
                    <a:ext uri="{9D8B030D-6E8A-4147-A177-3AD203B41FA5}">
                      <a16:colId xmlns:a16="http://schemas.microsoft.com/office/drawing/2014/main" val="20000"/>
                    </a:ext>
                  </a:extLst>
                </a:gridCol>
                <a:gridCol w="585450">
                  <a:extLst>
                    <a:ext uri="{9D8B030D-6E8A-4147-A177-3AD203B41FA5}">
                      <a16:colId xmlns:a16="http://schemas.microsoft.com/office/drawing/2014/main" val="20001"/>
                    </a:ext>
                  </a:extLst>
                </a:gridCol>
              </a:tblGrid>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solidFill>
                      <a:srgbClr val="4472C4"/>
                    </a:solidFill>
                  </a:tcPr>
                </a:tc>
                <a:tc>
                  <a:txBody>
                    <a:bodyPr/>
                    <a:lstStyle/>
                    <a:p>
                      <a:pPr marL="0" lvl="0" indent="0" algn="l" rtl="0">
                        <a:spcBef>
                          <a:spcPts val="0"/>
                        </a:spcBef>
                        <a:spcAft>
                          <a:spcPts val="0"/>
                        </a:spcAft>
                        <a:buNone/>
                      </a:pPr>
                      <a:r>
                        <a:rPr lang="en" sz="800">
                          <a:latin typeface="Calibri"/>
                          <a:ea typeface="Calibri"/>
                          <a:cs typeface="Calibri"/>
                          <a:sym typeface="Calibri"/>
                        </a:rPr>
                        <a:t>Claude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solidFill>
                      <a:srgbClr val="FF0000"/>
                    </a:solidFill>
                  </a:tcPr>
                </a:tc>
                <a:tc>
                  <a:txBody>
                    <a:bodyPr/>
                    <a:lstStyle/>
                    <a:p>
                      <a:pPr marL="0" lvl="0" indent="0" algn="l" rtl="0">
                        <a:spcBef>
                          <a:spcPts val="0"/>
                        </a:spcBef>
                        <a:spcAft>
                          <a:spcPts val="0"/>
                        </a:spcAft>
                        <a:buNone/>
                      </a:pPr>
                      <a:r>
                        <a:rPr lang="en" sz="800">
                          <a:latin typeface="Calibri"/>
                          <a:ea typeface="Calibri"/>
                          <a:cs typeface="Calibri"/>
                          <a:sym typeface="Calibri"/>
                        </a:rPr>
                        <a:t>Gemini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solidFill>
                      <a:srgbClr val="FFD700"/>
                    </a:solidFill>
                  </a:tcPr>
                </a:tc>
                <a:tc>
                  <a:txBody>
                    <a:bodyPr/>
                    <a:lstStyle/>
                    <a:p>
                      <a:pPr marL="0" lvl="0" indent="0" algn="l" rtl="0">
                        <a:spcBef>
                          <a:spcPts val="0"/>
                        </a:spcBef>
                        <a:spcAft>
                          <a:spcPts val="0"/>
                        </a:spcAft>
                        <a:buNone/>
                      </a:pPr>
                      <a:r>
                        <a:rPr lang="en" sz="800">
                          <a:latin typeface="Calibri"/>
                          <a:ea typeface="Calibri"/>
                          <a:cs typeface="Calibri"/>
                          <a:sym typeface="Calibri"/>
                        </a:rPr>
                        <a:t>OpenAI</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solidFill>
                      <a:srgbClr val="00B050"/>
                    </a:solidFill>
                  </a:tcPr>
                </a:tc>
                <a:tc>
                  <a:txBody>
                    <a:bodyPr/>
                    <a:lstStyle/>
                    <a:p>
                      <a:pPr marL="0" lvl="0" indent="0" algn="l" rtl="0">
                        <a:spcBef>
                          <a:spcPts val="0"/>
                        </a:spcBef>
                        <a:spcAft>
                          <a:spcPts val="0"/>
                        </a:spcAft>
                        <a:buNone/>
                      </a:pPr>
                      <a:r>
                        <a:rPr lang="en" sz="800">
                          <a:latin typeface="Calibri"/>
                          <a:ea typeface="Calibri"/>
                          <a:cs typeface="Calibri"/>
                          <a:sym typeface="Calibri"/>
                        </a:rPr>
                        <a:t>Open Source</a:t>
                      </a:r>
                      <a:endParaRPr sz="800">
                        <a:latin typeface="Calibri"/>
                        <a:ea typeface="Calibri"/>
                        <a:cs typeface="Calibri"/>
                        <a:sym typeface="Calibri"/>
                      </a:endParaRPr>
                    </a:p>
                  </a:txBody>
                  <a:tcPr marL="9525" marR="9525" marT="9525" marB="9125" anchor="b"/>
                </a:tc>
                <a:extLst>
                  <a:ext uri="{0D108BD9-81ED-4DB2-BD59-A6C34878D82A}">
                    <a16:rowId xmlns:a16="http://schemas.microsoft.com/office/drawing/2014/main" val="10003"/>
                  </a:ext>
                </a:extLst>
              </a:tr>
            </a:tbl>
          </a:graphicData>
        </a:graphic>
      </p:graphicFrame>
      <p:graphicFrame>
        <p:nvGraphicFramePr>
          <p:cNvPr id="86" name="Google Shape;86;p17"/>
          <p:cNvGraphicFramePr/>
          <p:nvPr/>
        </p:nvGraphicFramePr>
        <p:xfrm>
          <a:off x="197615" y="762000"/>
          <a:ext cx="3000000" cy="3000000"/>
        </p:xfrm>
        <a:graphic>
          <a:graphicData uri="http://schemas.openxmlformats.org/drawingml/2006/table">
            <a:tbl>
              <a:tblPr>
                <a:noFill/>
                <a:tableStyleId>{7A9F2A30-7393-4319-9D2C-A430CC5F3A92}</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1480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1471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grok-4.1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1461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gpt-5.1-high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glm-5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qwen3.5-397b-a17b</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ernie-5.0-0110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1450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gemini-2.5-pro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ernie-5.0-preview-1203</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1449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graphicFrame>
        <p:nvGraphicFramePr>
          <p:cNvPr id="87" name="Google Shape;87;p17"/>
          <p:cNvGraphicFramePr/>
          <p:nvPr/>
        </p:nvGraphicFramePr>
        <p:xfrm>
          <a:off x="2996590" y="762000"/>
          <a:ext cx="3000000" cy="3000000"/>
        </p:xfrm>
        <a:graphic>
          <a:graphicData uri="http://schemas.openxmlformats.org/drawingml/2006/table">
            <a:tbl>
              <a:tblPr>
                <a:noFill/>
                <a:tableStyleId>{7A9F2A30-7393-4319-9D2C-A430CC5F3A92}</a:tableStyleId>
              </a:tblPr>
              <a:tblGrid>
                <a:gridCol w="247650">
                  <a:extLst>
                    <a:ext uri="{9D8B030D-6E8A-4147-A177-3AD203B41FA5}">
                      <a16:colId xmlns:a16="http://schemas.microsoft.com/office/drawing/2014/main" val="20000"/>
                    </a:ext>
                  </a:extLst>
                </a:gridCol>
                <a:gridCol w="1781175">
                  <a:extLst>
                    <a:ext uri="{9D8B030D-6E8A-4147-A177-3AD203B41FA5}">
                      <a16:colId xmlns:a16="http://schemas.microsoft.com/office/drawing/2014/main" val="20001"/>
                    </a:ext>
                  </a:extLst>
                </a:gridCol>
                <a:gridCol w="285750">
                  <a:extLst>
                    <a:ext uri="{9D8B030D-6E8A-4147-A177-3AD203B41FA5}">
                      <a16:colId xmlns:a16="http://schemas.microsoft.com/office/drawing/2014/main" val="20002"/>
                    </a:ext>
                  </a:extLst>
                </a:gridCol>
              </a:tblGrid>
              <a:tr h="142875">
                <a:tc>
                  <a:txBody>
                    <a:bodyPr/>
                    <a:lstStyle/>
                    <a:p>
                      <a:pPr marL="0" lvl="0" indent="0" algn="l" rtl="0">
                        <a:spcBef>
                          <a:spcPts val="0"/>
                        </a:spcBef>
                        <a:spcAft>
                          <a:spcPts val="0"/>
                        </a:spcAft>
                        <a:buNone/>
                      </a:pPr>
                      <a:r>
                        <a:rPr lang="en" sz="800" b="1">
                          <a:latin typeface="Calibri"/>
                          <a:ea typeface="Calibri"/>
                          <a:cs typeface="Calibri"/>
                          <a:sym typeface="Calibri"/>
                        </a:rPr>
                        <a:t>Code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Model</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l" rtl="0">
                        <a:spcBef>
                          <a:spcPts val="0"/>
                        </a:spcBef>
                        <a:spcAft>
                          <a:spcPts val="0"/>
                        </a:spcAft>
                        <a:buNone/>
                      </a:pPr>
                      <a:r>
                        <a:rPr lang="en" sz="800" b="1">
                          <a:latin typeface="Calibri"/>
                          <a:ea typeface="Calibri"/>
                          <a:cs typeface="Calibri"/>
                          <a:sym typeface="Calibri"/>
                        </a:rPr>
                        <a:t>Score</a:t>
                      </a:r>
                      <a:endParaRPr sz="800" b="1">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1553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gemini-3.1-pro-preview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1542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claude-opus-4-5-20251101-thinking-32k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1534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grok-4.20-beta1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gpt-5.2-chat-latest-20260210</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claude-sonnet-4-6</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1521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gemini-3-pro</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claude-sonnet-4-5-20250929-thinking-32k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gpt-5.4</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claude-opus-4-5-20251101</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1"/>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dola-seed-2.0-preview</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2"/>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gpt-5.4-high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1513</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3"/>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claude-opus-4-1-20250805-thinking-16k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1512</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4"/>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kimi-k2.5-thinking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1511</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5"/>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kimi-k2.5-instant</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1509</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6"/>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claude-sonnet-4-5-20250929</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7"/>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gemini-3-flash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8"/>
                  </a:ext>
                </a:extLst>
              </a:tr>
              <a:tr h="142875">
                <a:tc>
                  <a:txBody>
                    <a:bodyPr/>
                    <a:lstStyle/>
                    <a:p>
                      <a:pPr marL="0" lvl="0" indent="0" algn="l" rtl="0">
                        <a:spcBef>
                          <a:spcPts val="0"/>
                        </a:spcBef>
                        <a:spcAft>
                          <a:spcPts val="0"/>
                        </a:spcAft>
                        <a:buNone/>
                      </a:pPr>
                      <a:r>
                        <a:rPr lang="en" sz="800">
                          <a:solidFill>
                            <a:srgbClr val="D9D9D9"/>
                          </a:solidFill>
                          <a:latin typeface="Calibri"/>
                          <a:ea typeface="Calibri"/>
                          <a:cs typeface="Calibri"/>
                          <a:sym typeface="Calibri"/>
                        </a:rPr>
                        <a:t>■</a:t>
                      </a:r>
                      <a:endParaRPr sz="800">
                        <a:solidFill>
                          <a:srgbClr val="D9D9D9"/>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D9D9D9"/>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grok-4.1-thinking</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1506</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9"/>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claude-opus-4-1-20250805</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1504</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0"/>
                  </a:ext>
                </a:extLst>
              </a:tr>
              <a:tr h="142875">
                <a:tc>
                  <a:txBody>
                    <a:bodyPr/>
                    <a:lstStyle/>
                    <a:p>
                      <a:pPr marL="0" lvl="0" indent="0" algn="l" rtl="0">
                        <a:spcBef>
                          <a:spcPts val="0"/>
                        </a:spcBef>
                        <a:spcAft>
                          <a:spcPts val="0"/>
                        </a:spcAft>
                        <a:buNone/>
                      </a:pPr>
                      <a:r>
                        <a:rPr lang="en" sz="800">
                          <a:solidFill>
                            <a:srgbClr val="FF0000"/>
                          </a:solidFill>
                          <a:latin typeface="Calibri"/>
                          <a:ea typeface="Calibri"/>
                          <a:cs typeface="Calibri"/>
                          <a:sym typeface="Calibri"/>
                        </a:rPr>
                        <a:t>■</a:t>
                      </a:r>
                      <a:endParaRPr sz="800">
                        <a:solidFill>
                          <a:srgbClr val="FF00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00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gemini-3-flash (thinking-minimal)</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1500</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1"/>
                  </a:ext>
                </a:extLst>
              </a:tr>
              <a:tr h="142875">
                <a:tc>
                  <a:txBody>
                    <a:bodyPr/>
                    <a:lstStyle/>
                    <a:p>
                      <a:pPr marL="0" lvl="0" indent="0" algn="l" rtl="0">
                        <a:spcBef>
                          <a:spcPts val="0"/>
                        </a:spcBef>
                        <a:spcAft>
                          <a:spcPts val="0"/>
                        </a:spcAft>
                        <a:buNone/>
                      </a:pPr>
                      <a:r>
                        <a:rPr lang="en" sz="800">
                          <a:solidFill>
                            <a:srgbClr val="00B050"/>
                          </a:solidFill>
                          <a:latin typeface="Calibri"/>
                          <a:ea typeface="Calibri"/>
                          <a:cs typeface="Calibri"/>
                          <a:sym typeface="Calibri"/>
                        </a:rPr>
                        <a:t>■</a:t>
                      </a:r>
                      <a:endParaRPr sz="800">
                        <a:solidFill>
                          <a:srgbClr val="00B05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00B05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qwen3.5-397b-a17b</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1498</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2"/>
                  </a:ext>
                </a:extLst>
              </a:tr>
              <a:tr h="142875">
                <a:tc>
                  <a:txBody>
                    <a:bodyPr/>
                    <a:lstStyle/>
                    <a:p>
                      <a:pPr marL="0" lvl="0" indent="0" algn="l" rtl="0">
                        <a:spcBef>
                          <a:spcPts val="0"/>
                        </a:spcBef>
                        <a:spcAft>
                          <a:spcPts val="0"/>
                        </a:spcAft>
                        <a:buNone/>
                      </a:pPr>
                      <a:r>
                        <a:rPr lang="en" sz="800">
                          <a:solidFill>
                            <a:srgbClr val="4472C4"/>
                          </a:solidFill>
                          <a:latin typeface="Calibri"/>
                          <a:ea typeface="Calibri"/>
                          <a:cs typeface="Calibri"/>
                          <a:sym typeface="Calibri"/>
                        </a:rPr>
                        <a:t>■</a:t>
                      </a:r>
                      <a:endParaRPr sz="800">
                        <a:solidFill>
                          <a:srgbClr val="4472C4"/>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4472C4"/>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claude-opus-4-20250514-thinking-16k</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3"/>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gpt-5.2</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1497</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4"/>
                  </a:ext>
                </a:extLst>
              </a:tr>
              <a:tr h="142875">
                <a:tc>
                  <a:txBody>
                    <a:bodyPr/>
                    <a:lstStyle/>
                    <a:p>
                      <a:pPr marL="0" lvl="0" indent="0" algn="l" rtl="0">
                        <a:spcBef>
                          <a:spcPts val="0"/>
                        </a:spcBef>
                        <a:spcAft>
                          <a:spcPts val="0"/>
                        </a:spcAft>
                        <a:buNone/>
                      </a:pPr>
                      <a:r>
                        <a:rPr lang="en" sz="800">
                          <a:solidFill>
                            <a:srgbClr val="FFD700"/>
                          </a:solidFill>
                          <a:latin typeface="Calibri"/>
                          <a:ea typeface="Calibri"/>
                          <a:cs typeface="Calibri"/>
                          <a:sym typeface="Calibri"/>
                        </a:rPr>
                        <a:t>■</a:t>
                      </a:r>
                      <a:endParaRPr sz="800">
                        <a:solidFill>
                          <a:srgbClr val="FFD700"/>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D700"/>
                    </a:solidFill>
                  </a:tcPr>
                </a:tc>
                <a:tc>
                  <a:txBody>
                    <a:bodyPr/>
                    <a:lstStyle/>
                    <a:p>
                      <a:pPr marL="0" lvl="0" indent="0" algn="l" rtl="0">
                        <a:spcBef>
                          <a:spcPts val="0"/>
                        </a:spcBef>
                        <a:spcAft>
                          <a:spcPts val="0"/>
                        </a:spcAft>
                        <a:buNone/>
                      </a:pPr>
                      <a:r>
                        <a:rPr lang="en" sz="800" u="sng">
                          <a:solidFill>
                            <a:srgbClr val="0563C1"/>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gpt-5.2-high</a:t>
                      </a:r>
                      <a:endParaRPr sz="800" u="sng">
                        <a:solidFill>
                          <a:srgbClr val="0563C1"/>
                        </a:solidFill>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latin typeface="Calibri"/>
                          <a:ea typeface="Calibri"/>
                          <a:cs typeface="Calibri"/>
                          <a:sym typeface="Calibri"/>
                        </a:rPr>
                        <a:t>1495</a:t>
                      </a:r>
                      <a:endParaRPr sz="800">
                        <a:latin typeface="Calibri"/>
                        <a:ea typeface="Calibri"/>
                        <a:cs typeface="Calibri"/>
                        <a:sym typeface="Calibri"/>
                      </a:endParaRPr>
                    </a:p>
                  </a:txBody>
                  <a:tcPr marL="9525" marR="9525" marT="9525" marB="9125" anchor="ctr">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25"/>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p18"/>
          <p:cNvSpPr txBox="1"/>
          <p:nvPr/>
        </p:nvSpPr>
        <p:spPr>
          <a:xfrm>
            <a:off x="84627" y="110572"/>
            <a:ext cx="4454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a:solidFill>
                  <a:schemeClr val="dk1"/>
                </a:solidFill>
                <a:latin typeface="Calibri"/>
                <a:ea typeface="Calibri"/>
                <a:cs typeface="Calibri"/>
                <a:sym typeface="Calibri"/>
              </a:rPr>
              <a:t>Anthropic vs OpenAI Annualized Revenue </a:t>
            </a:r>
            <a:endParaRPr sz="1800" b="1" i="0" u="none" strike="noStrike" cap="none">
              <a:solidFill>
                <a:srgbClr val="000000"/>
              </a:solidFill>
              <a:latin typeface="Calibri"/>
              <a:ea typeface="Calibri"/>
              <a:cs typeface="Calibri"/>
              <a:sym typeface="Calibri"/>
            </a:endParaRPr>
          </a:p>
        </p:txBody>
      </p:sp>
      <p:sp>
        <p:nvSpPr>
          <p:cNvPr id="93" name="Google Shape;93;p18"/>
          <p:cNvSpPr txBox="1"/>
          <p:nvPr/>
        </p:nvSpPr>
        <p:spPr>
          <a:xfrm>
            <a:off x="136924" y="571825"/>
            <a:ext cx="53634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a:latin typeface="Calibri"/>
                <a:ea typeface="Calibri"/>
                <a:cs typeface="Calibri"/>
                <a:sym typeface="Calibri"/>
              </a:rPr>
              <a:t>Anthropic could surpass OpenAI in annualized revenue by mid-2026 (EpochAI)</a:t>
            </a:r>
            <a:br>
              <a:rPr lang="en" sz="1200">
                <a:latin typeface="Calibri"/>
                <a:ea typeface="Calibri"/>
                <a:cs typeface="Calibri"/>
                <a:sym typeface="Calibri"/>
              </a:rPr>
            </a:br>
            <a:r>
              <a:rPr lang="en" sz="900" u="sng">
                <a:solidFill>
                  <a:schemeClr val="hlink"/>
                </a:solidFill>
                <a:latin typeface="Calibri"/>
                <a:ea typeface="Calibri"/>
                <a:cs typeface="Calibri"/>
                <a:sym typeface="Calibri"/>
                <a:hlinkClick r:id="rId3"/>
              </a:rPr>
              <a:t>https://www.reddit.com/r/singularity/comments/1rbku8f/anthropic_could_surpass_openai_in_annualized/</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94" name="Google Shape;94;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36925" y="1172397"/>
            <a:ext cx="5363447" cy="37891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00" name="Google Shape;100;p19"/>
          <p:cNvSpPr txBox="1"/>
          <p:nvPr/>
        </p:nvSpPr>
        <p:spPr>
          <a:xfrm>
            <a:off x="43825" y="398725"/>
            <a:ext cx="42402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Mercury 2 by Inception Labs (closed model, via API)</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first diffusion-based LLM that incorporates advanced reasoning and "thinking" capabilities, comparable with Claude Haiku</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Unlike traditional auto-regressive models (such as GPT or Gemini) that generate text sequentially, Mercury 2 utilizes parallel generation to achieve significantly faster inference speeds, reaching up to 1,000 tokens per second </a:t>
            </a:r>
            <a:r>
              <a:rPr lang="en" sz="1100" u="sng">
                <a:solidFill>
                  <a:schemeClr val="hlink"/>
                </a:solidFill>
                <a:latin typeface="Calibri"/>
                <a:ea typeface="Calibri"/>
                <a:cs typeface="Calibri"/>
                <a:sym typeface="Calibri"/>
                <a:hlinkClick r:id="rId3"/>
              </a:rPr>
              <a:t>http://www.youtube.com/watch?v=Bqdf6Um_8OE</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model offers three levels of reasoning effort (low, medium, high), highly effective for complex instruction following and coding tasks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It also includes integrated web search and tool-calling abilities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Designed as a "workhorse" model, </a:t>
            </a:r>
            <a:r>
              <a:rPr lang="en" sz="1100" b="1">
                <a:solidFill>
                  <a:srgbClr val="FF0000"/>
                </a:solidFill>
                <a:latin typeface="Calibri"/>
                <a:ea typeface="Calibri"/>
                <a:cs typeface="Calibri"/>
                <a:sym typeface="Calibri"/>
              </a:rPr>
              <a:t>Mercury 2</a:t>
            </a:r>
            <a:r>
              <a:rPr lang="en" sz="1100">
                <a:latin typeface="Calibri"/>
                <a:ea typeface="Calibri"/>
                <a:cs typeface="Calibri"/>
                <a:sym typeface="Calibri"/>
              </a:rPr>
              <a:t> is optimized for real-time agentic applications like voice assistants and document retrieval systems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Very fast - 1K tokens / sec ($0.25 / $0.75 in/out per 1M tokens)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128K context window</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 high-performance alternative for latency-sensitive AI workflows </a:t>
            </a:r>
            <a:endParaRPr sz="1100">
              <a:latin typeface="Calibri"/>
              <a:ea typeface="Calibri"/>
              <a:cs typeface="Calibri"/>
              <a:sym typeface="Calibri"/>
            </a:endParaRPr>
          </a:p>
        </p:txBody>
      </p:sp>
      <p:sp>
        <p:nvSpPr>
          <p:cNvPr id="101" name="Google Shape;101;p19"/>
          <p:cNvSpPr txBox="1"/>
          <p:nvPr/>
        </p:nvSpPr>
        <p:spPr>
          <a:xfrm>
            <a:off x="55075" y="3218625"/>
            <a:ext cx="3586200" cy="124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OpenAI GPT-5.3 Instant</a:t>
            </a:r>
            <a:r>
              <a:rPr lang="en" sz="1100">
                <a:latin typeface="Calibri"/>
                <a:ea typeface="Calibri"/>
                <a:cs typeface="Calibri"/>
                <a:sym typeface="Calibri"/>
              </a:rPr>
              <a:t> =  </a:t>
            </a:r>
            <a:r>
              <a:rPr lang="en" sz="1100">
                <a:solidFill>
                  <a:schemeClr val="dk1"/>
                </a:solidFill>
                <a:latin typeface="Calibri"/>
                <a:ea typeface="Calibri"/>
                <a:cs typeface="Calibri"/>
                <a:sym typeface="Calibri"/>
              </a:rPr>
              <a:t>gpt-5.3-chat-latest</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https://www.neowin.net/news/openai-releases-gpt-53-instant-a-model-thats-supposed-to-be-less-cringe/</a:t>
            </a:r>
            <a:endParaRPr sz="9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https://openai.com/index/introducing-gpt-5-3-codex-spark/</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https://openai.com/index/gpt-5-3-instant/</a:t>
            </a:r>
            <a:r>
              <a:rPr lang="en" sz="900">
                <a:latin typeface="Calibri"/>
                <a:ea typeface="Calibri"/>
                <a:cs typeface="Calibri"/>
                <a:sym typeface="Calibri"/>
              </a:rPr>
              <a:t> </a:t>
            </a:r>
            <a:endParaRPr sz="9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Smoother conversations, better accuracy, web result integration, reducing hallucinations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a:t>
            </a:r>
            <a:r>
              <a:rPr lang="en" sz="1000">
                <a:solidFill>
                  <a:srgbClr val="3C78D8"/>
                </a:solidFill>
                <a:latin typeface="Roboto Mono"/>
                <a:ea typeface="Roboto Mono"/>
                <a:cs typeface="Roboto Mono"/>
                <a:sym typeface="Roboto Mono"/>
              </a:rPr>
              <a:t>Pricing: $1.75 / $14 (in/out per 1M tokens) </a:t>
            </a:r>
            <a:endParaRPr sz="1100">
              <a:latin typeface="Calibri"/>
              <a:ea typeface="Calibri"/>
              <a:cs typeface="Calibri"/>
              <a:sym typeface="Calibri"/>
            </a:endParaRPr>
          </a:p>
        </p:txBody>
      </p:sp>
      <p:pic>
        <p:nvPicPr>
          <p:cNvPr id="102" name="Google Shape;102;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380250" y="526750"/>
            <a:ext cx="2095249" cy="637146"/>
          </a:xfrm>
          <a:prstGeom prst="rect">
            <a:avLst/>
          </a:prstGeom>
          <a:noFill/>
          <a:ln w="9525" cap="flat" cmpd="sng">
            <a:solidFill>
              <a:srgbClr val="FF0000"/>
            </a:solidFill>
            <a:prstDash val="solid"/>
            <a:round/>
            <a:headEnd type="none" w="sm" len="sm"/>
            <a:tailEnd type="none" w="sm" len="sm"/>
          </a:ln>
        </p:spPr>
      </p:pic>
      <p:pic>
        <p:nvPicPr>
          <p:cNvPr id="103" name="Google Shape;103;p1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1275300" y="4560725"/>
            <a:ext cx="2354724" cy="468875"/>
          </a:xfrm>
          <a:prstGeom prst="rect">
            <a:avLst/>
          </a:prstGeom>
          <a:noFill/>
          <a:ln w="9525" cap="flat" cmpd="sng">
            <a:solidFill>
              <a:srgbClr val="FF0000"/>
            </a:solidFill>
            <a:prstDash val="solid"/>
            <a:round/>
            <a:headEnd type="none" w="sm" len="sm"/>
            <a:tailEnd type="none" w="sm" len="sm"/>
          </a:ln>
        </p:spPr>
      </p:pic>
      <p:sp>
        <p:nvSpPr>
          <p:cNvPr id="104" name="Google Shape;104;p19"/>
          <p:cNvSpPr txBox="1"/>
          <p:nvPr/>
        </p:nvSpPr>
        <p:spPr>
          <a:xfrm>
            <a:off x="4504195" y="2017693"/>
            <a:ext cx="4503900" cy="3004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GPT-5.4</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1Mln context window</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Users can interrupt and steer the model's thinking</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Multimodality &amp; Computer Use - 90% accuracy.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model can take screenshots and navigate interfaces to perform actions like creating calendar invites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Uses fewer tokens for reasoning tasks, leading to faster response times and lower latency</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Already accessible via the OpenAI Dev. Platform, Cursor, and Codex</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Better at creating spreadsheets and slides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Internal Chain of Thought (avoids getting stuck)</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Comparable to Anrthropic Opus 4.6</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9"/>
              </a:rPr>
              <a:t>https://openai.com/index/gpt-5-4-thinking-system-card/</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10"/>
              </a:rPr>
              <a:t>http://www.youtube.com/watch?v=vuSdbbwY8YU</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0650" algn="l" rtl="0">
              <a:lnSpc>
                <a:spcPct val="100000"/>
              </a:lnSpc>
              <a:spcBef>
                <a:spcPts val="0"/>
              </a:spcBef>
              <a:spcAft>
                <a:spcPts val="0"/>
              </a:spcAft>
              <a:buClr>
                <a:srgbClr val="3C78D8"/>
              </a:buClr>
              <a:buSzPts val="1000"/>
              <a:buFont typeface="Roboto Mono"/>
              <a:buChar char="●"/>
            </a:pPr>
            <a:r>
              <a:rPr lang="en" sz="1000">
                <a:solidFill>
                  <a:srgbClr val="3C78D8"/>
                </a:solidFill>
                <a:latin typeface="Roboto Mono"/>
                <a:ea typeface="Roboto Mono"/>
                <a:cs typeface="Roboto Mono"/>
                <a:sym typeface="Roboto Mono"/>
              </a:rPr>
              <a:t>Pricing: (in/out per 1M tokens)</a:t>
            </a:r>
            <a:endParaRPr sz="1000">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a:solidFill>
                  <a:srgbClr val="3C78D8"/>
                </a:solidFill>
                <a:latin typeface="Roboto Mono"/>
                <a:ea typeface="Roboto Mono"/>
                <a:cs typeface="Roboto Mono"/>
                <a:sym typeface="Roboto Mono"/>
              </a:rPr>
              <a:t>Standard (&lt;272K context):  $2.50 /  $15.0</a:t>
            </a:r>
            <a:endParaRPr sz="1000">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a:solidFill>
                  <a:srgbClr val="3C78D8"/>
                </a:solidFill>
                <a:latin typeface="Roboto Mono"/>
                <a:ea typeface="Roboto Mono"/>
                <a:cs typeface="Roboto Mono"/>
                <a:sym typeface="Roboto Mono"/>
              </a:rPr>
              <a:t>Long     (&gt;272K context):  $5    /  $22.50</a:t>
            </a:r>
            <a:endParaRPr sz="1000">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a:solidFill>
                  <a:srgbClr val="3C78D8"/>
                </a:solidFill>
                <a:latin typeface="Roboto Mono"/>
                <a:ea typeface="Roboto Mono"/>
                <a:cs typeface="Roboto Mono"/>
                <a:sym typeface="Roboto Mono"/>
              </a:rPr>
              <a:t>Pro     (deep reasoning):  $30   / $180</a:t>
            </a:r>
            <a:endParaRPr sz="1000">
              <a:solidFill>
                <a:srgbClr val="3C78D8"/>
              </a:solidFill>
              <a:latin typeface="Roboto Mono"/>
              <a:ea typeface="Roboto Mono"/>
              <a:cs typeface="Roboto Mono"/>
              <a:sym typeface="Roboto Mono"/>
            </a:endParaRPr>
          </a:p>
        </p:txBody>
      </p:sp>
      <p:pic>
        <p:nvPicPr>
          <p:cNvPr id="105" name="Google Shape;105;p19"/>
          <p:cNvPicPr preferRelativeResize="0"/>
          <p:nvPr/>
        </p:nvPicPr>
        <p:blipFill rotWithShape="1">
          <a:blip r:embed="rId11" cstate="email">
            <a:alphaModFix/>
            <a:extLst>
              <a:ext uri="{28A0092B-C50C-407E-A947-70E740481C1C}">
                <a14:useLocalDpi xmlns:a14="http://schemas.microsoft.com/office/drawing/2010/main"/>
              </a:ext>
            </a:extLst>
          </a:blip>
          <a:srcRect/>
          <a:stretch/>
        </p:blipFill>
        <p:spPr>
          <a:xfrm>
            <a:off x="6912850" y="867575"/>
            <a:ext cx="2095252" cy="100700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9"/>
        <p:cNvGrpSpPr/>
        <p:nvPr/>
      </p:nvGrpSpPr>
      <p:grpSpPr>
        <a:xfrm>
          <a:off x="0" y="0"/>
          <a:ext cx="0" cy="0"/>
          <a:chOff x="0" y="0"/>
          <a:chExt cx="0" cy="0"/>
        </a:xfrm>
      </p:grpSpPr>
      <p:sp>
        <p:nvSpPr>
          <p:cNvPr id="110" name="Google Shape;110;p20"/>
          <p:cNvSpPr txBox="1"/>
          <p:nvPr/>
        </p:nvSpPr>
        <p:spPr>
          <a:xfrm>
            <a:off x="55075" y="63650"/>
            <a:ext cx="2230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Gemini 3.1</a:t>
            </a:r>
            <a:endParaRPr sz="2000" b="1">
              <a:solidFill>
                <a:schemeClr val="dk1"/>
              </a:solidFill>
              <a:latin typeface="Calibri"/>
              <a:ea typeface="Calibri"/>
              <a:cs typeface="Calibri"/>
              <a:sym typeface="Calibri"/>
            </a:endParaRPr>
          </a:p>
        </p:txBody>
      </p:sp>
      <p:sp>
        <p:nvSpPr>
          <p:cNvPr id="111" name="Google Shape;111;p20"/>
          <p:cNvSpPr txBox="1"/>
          <p:nvPr/>
        </p:nvSpPr>
        <p:spPr>
          <a:xfrm>
            <a:off x="55074" y="492225"/>
            <a:ext cx="3986400" cy="1834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Gemini 3.1 Flash-Lite in Preview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2.5x faster time to first token than Gemini 2.5 Flash, 45% higher output speed</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Elo score of 1432 on </a:t>
            </a:r>
            <a:r>
              <a:rPr lang="en" sz="1200" u="sng">
                <a:solidFill>
                  <a:schemeClr val="hlink"/>
                </a:solidFill>
                <a:latin typeface="Calibri"/>
                <a:ea typeface="Calibri"/>
                <a:cs typeface="Calibri"/>
                <a:sym typeface="Calibri"/>
                <a:hlinkClick r:id="rId3"/>
              </a:rPr>
              <a:t>Arena.ai</a:t>
            </a:r>
            <a:r>
              <a:rPr lang="en" sz="1200">
                <a:latin typeface="Calibri"/>
                <a:ea typeface="Calibri"/>
                <a:cs typeface="Calibri"/>
                <a:sym typeface="Calibri"/>
              </a:rPr>
              <a:t>, strong benchmarks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Priced  $0.25 / $1.50  in/out per Mln tokens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text, images, audio, video inputs up to 1M context window</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Adjustable "thinking levels"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Ideal for high-volume tasks like translation, UI generation, and simulations via Gemini API and Vertex AI</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https://deepmind.google/models/model-cards/gemini-3-1-flash-lite/</a:t>
            </a:r>
            <a:r>
              <a:rPr lang="en" sz="1000">
                <a:latin typeface="Calibri"/>
                <a:ea typeface="Calibri"/>
                <a:cs typeface="Calibri"/>
                <a:sym typeface="Calibri"/>
              </a:rPr>
              <a:t> </a:t>
            </a:r>
            <a:endParaRPr sz="1000">
              <a:latin typeface="Calibri"/>
              <a:ea typeface="Calibri"/>
              <a:cs typeface="Calibri"/>
              <a:sym typeface="Calibri"/>
            </a:endParaRPr>
          </a:p>
        </p:txBody>
      </p:sp>
      <p:pic>
        <p:nvPicPr>
          <p:cNvPr id="112" name="Google Shape;112;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172399" y="636365"/>
            <a:ext cx="4923850" cy="2772225"/>
          </a:xfrm>
          <a:prstGeom prst="rect">
            <a:avLst/>
          </a:prstGeom>
          <a:noFill/>
          <a:ln w="9525" cap="flat" cmpd="sng">
            <a:solidFill>
              <a:srgbClr val="FF0000"/>
            </a:solidFill>
            <a:prstDash val="solid"/>
            <a:round/>
            <a:headEnd type="none" w="sm" len="sm"/>
            <a:tailEnd type="none" w="sm" len="sm"/>
          </a:ln>
        </p:spPr>
      </p:pic>
      <p:pic>
        <p:nvPicPr>
          <p:cNvPr id="113" name="Google Shape;113;p20"/>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55075" y="3530850"/>
            <a:ext cx="2514600" cy="1562100"/>
          </a:xfrm>
          <a:prstGeom prst="rect">
            <a:avLst/>
          </a:prstGeom>
          <a:noFill/>
          <a:ln w="9525" cap="flat" cmpd="sng">
            <a:solidFill>
              <a:srgbClr val="FF0000"/>
            </a:solidFill>
            <a:prstDash val="solid"/>
            <a:round/>
            <a:headEnd type="none" w="sm" len="sm"/>
            <a:tailEnd type="none" w="sm" len="sm"/>
          </a:ln>
        </p:spPr>
      </p:pic>
      <p:sp>
        <p:nvSpPr>
          <p:cNvPr id="114" name="Google Shape;114;p20"/>
          <p:cNvSpPr txBox="1"/>
          <p:nvPr/>
        </p:nvSpPr>
        <p:spPr>
          <a:xfrm>
            <a:off x="55074" y="2377800"/>
            <a:ext cx="39864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Gemini 3.1 Pro</a:t>
            </a:r>
            <a:endParaRPr sz="1200" b="1">
              <a:solidFill>
                <a:srgbClr val="FF0000"/>
              </a:solidFill>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200">
                <a:latin typeface="Calibri"/>
                <a:ea typeface="Calibri"/>
                <a:cs typeface="Calibri"/>
                <a:sym typeface="Calibri"/>
              </a:rPr>
              <a:t>ARC-AGI-2 jump from ~31% to 77.1%</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200">
                <a:latin typeface="Calibri"/>
                <a:ea typeface="Calibri"/>
                <a:cs typeface="Calibri"/>
                <a:sym typeface="Calibri"/>
              </a:rPr>
              <a:t>Better coding on real-world benchmarks like SWE-Bench.</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200">
                <a:latin typeface="Calibri"/>
                <a:ea typeface="Calibri"/>
                <a:cs typeface="Calibri"/>
                <a:sym typeface="Calibri"/>
              </a:rPr>
              <a:t>New configurable “thinking levels” (low/medium/high)</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200">
                <a:latin typeface="Calibri"/>
                <a:ea typeface="Calibri"/>
                <a:cs typeface="Calibri"/>
                <a:sym typeface="Calibri"/>
              </a:rPr>
              <a:t>More stable long tasks and multi-step agent workflows</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200">
                <a:latin typeface="Calibri"/>
                <a:ea typeface="Calibri"/>
                <a:cs typeface="Calibri"/>
                <a:sym typeface="Calibri"/>
              </a:rPr>
              <a:t>Better quality with fewer tokens, ~15% efficiency gain</a:t>
            </a:r>
            <a:endParaRPr sz="1200">
              <a:latin typeface="Calibri"/>
              <a:ea typeface="Calibri"/>
              <a:cs typeface="Calibri"/>
              <a:sym typeface="Calibri"/>
            </a:endParaRPr>
          </a:p>
        </p:txBody>
      </p:sp>
      <p:pic>
        <p:nvPicPr>
          <p:cNvPr id="115" name="Google Shape;115;p20"/>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2778450" y="3609400"/>
            <a:ext cx="3846651" cy="997275"/>
          </a:xfrm>
          <a:prstGeom prst="rect">
            <a:avLst/>
          </a:prstGeom>
          <a:noFill/>
          <a:ln w="9525" cap="flat" cmpd="sng">
            <a:solidFill>
              <a:srgbClr val="FF0000"/>
            </a:solidFill>
            <a:prstDash val="solid"/>
            <a:round/>
            <a:headEnd type="none" w="sm" len="sm"/>
            <a:tailEnd type="none" w="sm" len="sm"/>
          </a:ln>
        </p:spPr>
      </p:pic>
      <p:pic>
        <p:nvPicPr>
          <p:cNvPr id="116" name="Google Shape;116;p2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172400" y="63650"/>
            <a:ext cx="2990675" cy="5090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1"/>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22" name="Google Shape;122;p21"/>
          <p:cNvSpPr txBox="1"/>
          <p:nvPr/>
        </p:nvSpPr>
        <p:spPr>
          <a:xfrm>
            <a:off x="55070" y="2157073"/>
            <a:ext cx="45039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Claude Co-Work Can Schedule Tasks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Co-work only runs when your computer is on and the app is open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https://www.youtube.com/watch?v=YxPfWjII3oQ</a:t>
            </a:r>
            <a:r>
              <a:rPr lang="en" sz="1100">
                <a:latin typeface="Calibri"/>
                <a:ea typeface="Calibri"/>
                <a:cs typeface="Calibri"/>
                <a:sym typeface="Calibri"/>
              </a:rPr>
              <a:t> </a:t>
            </a:r>
            <a:endParaRPr sz="1100">
              <a:latin typeface="Calibri"/>
              <a:ea typeface="Calibri"/>
              <a:cs typeface="Calibri"/>
              <a:sym typeface="Calibri"/>
            </a:endParaRPr>
          </a:p>
        </p:txBody>
      </p:sp>
      <p:sp>
        <p:nvSpPr>
          <p:cNvPr id="123" name="Google Shape;123;p21"/>
          <p:cNvSpPr txBox="1"/>
          <p:nvPr/>
        </p:nvSpPr>
        <p:spPr>
          <a:xfrm>
            <a:off x="55070" y="1358463"/>
            <a:ext cx="45039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Qwen3-Coder-Next </a:t>
            </a:r>
            <a:r>
              <a:rPr lang="en" sz="1100">
                <a:latin typeface="Calibri"/>
                <a:ea typeface="Calibri"/>
                <a:cs typeface="Calibri"/>
                <a:sym typeface="Calibri"/>
              </a:rPr>
              <a:t>GGUF is now the most downloaded model on Unsloth!</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80B coding LLM runs on a 36GB RAM Mac / device.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via Claude Code and OpenAI Codex locally.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https://x.com/UnslothAI/status/2025944058171204079</a:t>
            </a:r>
            <a:r>
              <a:rPr lang="en" sz="1100">
                <a:latin typeface="Calibri"/>
                <a:ea typeface="Calibri"/>
                <a:cs typeface="Calibri"/>
                <a:sym typeface="Calibri"/>
              </a:rPr>
              <a:t> </a:t>
            </a:r>
            <a:endParaRPr sz="1100">
              <a:latin typeface="Calibri"/>
              <a:ea typeface="Calibri"/>
              <a:cs typeface="Calibri"/>
              <a:sym typeface="Calibri"/>
            </a:endParaRPr>
          </a:p>
        </p:txBody>
      </p:sp>
      <p:pic>
        <p:nvPicPr>
          <p:cNvPr id="124" name="Google Shape;124;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57250" y="1462555"/>
            <a:ext cx="3320270" cy="487500"/>
          </a:xfrm>
          <a:prstGeom prst="rect">
            <a:avLst/>
          </a:prstGeom>
          <a:noFill/>
          <a:ln w="9525" cap="flat" cmpd="sng">
            <a:solidFill>
              <a:srgbClr val="FF0000"/>
            </a:solidFill>
            <a:prstDash val="solid"/>
            <a:round/>
            <a:headEnd type="none" w="sm" len="sm"/>
            <a:tailEnd type="none" w="sm" len="sm"/>
          </a:ln>
        </p:spPr>
      </p:pic>
      <p:pic>
        <p:nvPicPr>
          <p:cNvPr id="125" name="Google Shape;125;p2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57246" y="2157071"/>
            <a:ext cx="1914880" cy="526500"/>
          </a:xfrm>
          <a:prstGeom prst="rect">
            <a:avLst/>
          </a:prstGeom>
          <a:noFill/>
          <a:ln w="9525" cap="flat" cmpd="sng">
            <a:solidFill>
              <a:srgbClr val="FF0000"/>
            </a:solidFill>
            <a:prstDash val="solid"/>
            <a:round/>
            <a:headEnd type="none" w="sm" len="sm"/>
            <a:tailEnd type="none" w="sm" len="sm"/>
          </a:ln>
        </p:spPr>
      </p:pic>
      <p:sp>
        <p:nvSpPr>
          <p:cNvPr id="126" name="Google Shape;126;p21"/>
          <p:cNvSpPr txBox="1"/>
          <p:nvPr/>
        </p:nvSpPr>
        <p:spPr>
          <a:xfrm>
            <a:off x="55075" y="458447"/>
            <a:ext cx="4503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Nano Banana 2</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is better than previous version, and twice faster, but Pro version still better in character consistency and following complex instructions.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https://www.youtube.com/watch?v=_oiBHvwTtGs</a:t>
            </a:r>
            <a:endParaRPr sz="1200">
              <a:latin typeface="Calibri"/>
              <a:ea typeface="Calibri"/>
              <a:cs typeface="Calibri"/>
              <a:sym typeface="Calibri"/>
            </a:endParaRPr>
          </a:p>
        </p:txBody>
      </p:sp>
      <p:pic>
        <p:nvPicPr>
          <p:cNvPr id="127" name="Google Shape;127;p2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857250" y="458447"/>
            <a:ext cx="1889262" cy="757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2"/>
          <p:cNvSpPr txBox="1"/>
          <p:nvPr/>
        </p:nvSpPr>
        <p:spPr>
          <a:xfrm>
            <a:off x="55075" y="63650"/>
            <a:ext cx="358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Skill Creator tool (skill)</a:t>
            </a:r>
            <a:endParaRPr sz="2000" b="1">
              <a:solidFill>
                <a:schemeClr val="dk1"/>
              </a:solidFill>
              <a:latin typeface="Calibri"/>
              <a:ea typeface="Calibri"/>
              <a:cs typeface="Calibri"/>
              <a:sym typeface="Calibri"/>
            </a:endParaRPr>
          </a:p>
        </p:txBody>
      </p:sp>
      <p:sp>
        <p:nvSpPr>
          <p:cNvPr id="133" name="Google Shape;133;p22"/>
          <p:cNvSpPr txBox="1"/>
          <p:nvPr/>
        </p:nvSpPr>
        <p:spPr>
          <a:xfrm>
            <a:off x="105425" y="532575"/>
            <a:ext cx="44343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Skill Creator tool (skill)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Enables evaluation through automated A/B testing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Two types of skills: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capability uplift skills that fill knowledge gaps (like PDF handling)</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workflow/preference skills that encode your specific processes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tool creates test cases, runs parallel evaluations (A/B tests), grades results, and provides detailed benchmarking reports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Users can optimize skill descriptions to ensure reliable triggering.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https://github.com/anthropics/skills/tree/main/skills/skill-creator</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https://www.youtube.com/watch?v=UxfeF4bSBYI</a:t>
            </a:r>
            <a:r>
              <a:rPr lang="en" sz="1200">
                <a:solidFill>
                  <a:schemeClr val="dk1"/>
                </a:solidFill>
                <a:latin typeface="Calibri"/>
                <a:ea typeface="Calibri"/>
                <a:cs typeface="Calibri"/>
                <a:sym typeface="Calibri"/>
              </a:rPr>
              <a:t> - video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Optimizing Triggers - tunes the descriptions of your skills so Claude Code knows exactly when to use them, preventing false triggers or the AI failing to fire the skill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To use it, you can simply type /plugin in Claude Code, search for "skill creator," install it, and restart the application</a:t>
            </a:r>
            <a:endParaRPr sz="1200">
              <a:solidFill>
                <a:schemeClr val="dk1"/>
              </a:solidFill>
              <a:latin typeface="Calibri"/>
              <a:ea typeface="Calibri"/>
              <a:cs typeface="Calibri"/>
              <a:sym typeface="Calibri"/>
            </a:endParaRPr>
          </a:p>
        </p:txBody>
      </p:sp>
      <p:pic>
        <p:nvPicPr>
          <p:cNvPr id="134" name="Google Shape;134;p2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03307" y="532572"/>
            <a:ext cx="4299475" cy="3274107"/>
          </a:xfrm>
          <a:prstGeom prst="rect">
            <a:avLst/>
          </a:prstGeom>
          <a:noFill/>
          <a:ln w="9525" cap="flat" cmpd="sng">
            <a:solidFill>
              <a:srgbClr val="FF0000"/>
            </a:solidFill>
            <a:prstDash val="solid"/>
            <a:round/>
            <a:headEnd type="none" w="sm" len="sm"/>
            <a:tailEnd type="none" w="sm" len="sm"/>
          </a:ln>
        </p:spPr>
      </p:pic>
      <p:pic>
        <p:nvPicPr>
          <p:cNvPr id="135" name="Google Shape;135;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105425" y="3464200"/>
            <a:ext cx="2824625" cy="14523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3"/>
          <p:cNvSpPr txBox="1"/>
          <p:nvPr/>
        </p:nvSpPr>
        <p:spPr>
          <a:xfrm>
            <a:off x="55075" y="63650"/>
            <a:ext cx="3589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Claude Code MEMORY.md</a:t>
            </a:r>
            <a:endParaRPr sz="2000" b="1">
              <a:solidFill>
                <a:schemeClr val="dk1"/>
              </a:solidFill>
              <a:latin typeface="Calibri"/>
              <a:ea typeface="Calibri"/>
              <a:cs typeface="Calibri"/>
              <a:sym typeface="Calibri"/>
            </a:endParaRPr>
          </a:p>
        </p:txBody>
      </p:sp>
      <p:sp>
        <p:nvSpPr>
          <p:cNvPr id="141" name="Google Shape;141;p23"/>
          <p:cNvSpPr txBox="1"/>
          <p:nvPr/>
        </p:nvSpPr>
        <p:spPr>
          <a:xfrm>
            <a:off x="55075" y="798368"/>
            <a:ext cx="5520300" cy="245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Roboto Mono"/>
              <a:buChar char="●"/>
            </a:pPr>
            <a:r>
              <a:rPr lang="en" sz="1000" b="1">
                <a:solidFill>
                  <a:srgbClr val="FF0000"/>
                </a:solidFill>
                <a:latin typeface="Roboto Mono"/>
                <a:ea typeface="Roboto Mono"/>
                <a:cs typeface="Roboto Mono"/>
                <a:sym typeface="Roboto Mono"/>
              </a:rPr>
              <a:t>Claude Code </a:t>
            </a:r>
            <a:r>
              <a:rPr lang="en" sz="1000" b="1" u="sng">
                <a:solidFill>
                  <a:srgbClr val="FF0000"/>
                </a:solidFill>
                <a:latin typeface="Roboto Mono"/>
                <a:ea typeface="Roboto Mono"/>
                <a:cs typeface="Roboto Mono"/>
                <a:sym typeface="Roboto Mono"/>
                <a:hlinkClick r:id="rId3">
                  <a:extLst>
                    <a:ext uri="{A12FA001-AC4F-418D-AE19-62706E023703}">
                      <ahyp:hlinkClr xmlns:ahyp="http://schemas.microsoft.com/office/drawing/2018/hyperlinkcolor" val="tx"/>
                    </a:ext>
                  </a:extLst>
                </a:hlinkClick>
              </a:rPr>
              <a:t>MEMORY.md</a:t>
            </a:r>
            <a:endParaRPr sz="1000" b="1">
              <a:solidFill>
                <a:srgbClr val="FF0000"/>
              </a:solidFill>
              <a:latin typeface="Roboto Mono"/>
              <a:ea typeface="Roboto Mono"/>
              <a:cs typeface="Roboto Mono"/>
              <a:sym typeface="Roboto Mono"/>
            </a:endParaRPr>
          </a:p>
          <a:p>
            <a:pPr marL="171450" marR="0" lvl="0" indent="-120650" algn="l" rtl="0">
              <a:lnSpc>
                <a:spcPct val="100000"/>
              </a:lnSpc>
              <a:spcBef>
                <a:spcPts val="0"/>
              </a:spcBef>
              <a:spcAft>
                <a:spcPts val="0"/>
              </a:spcAft>
              <a:buSzPts val="1000"/>
              <a:buFont typeface="Roboto Mono"/>
              <a:buChar char="●"/>
            </a:pPr>
            <a:r>
              <a:rPr lang="en" sz="1000">
                <a:latin typeface="Roboto Mono"/>
                <a:ea typeface="Roboto Mono"/>
                <a:cs typeface="Roboto Mono"/>
                <a:sym typeface="Roboto Mono"/>
              </a:rPr>
              <a:t>---------------</a:t>
            </a:r>
            <a:endParaRPr sz="1000">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a:solidFill>
                  <a:srgbClr val="3C78D8"/>
                </a:solidFill>
                <a:latin typeface="Roboto Mono"/>
                <a:ea typeface="Roboto Mono"/>
                <a:cs typeface="Roboto Mono"/>
                <a:sym typeface="Roboto Mono"/>
              </a:rPr>
              <a:t>~/.claude/projects/&lt;project&gt;/memory/</a:t>
            </a:r>
            <a:endParaRPr sz="1000">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a:solidFill>
                  <a:srgbClr val="3C78D8"/>
                </a:solidFill>
                <a:latin typeface="Roboto Mono"/>
                <a:ea typeface="Roboto Mono"/>
                <a:cs typeface="Roboto Mono"/>
                <a:sym typeface="Roboto Mono"/>
              </a:rPr>
              <a:t>├── MEMORY.md          </a:t>
            </a:r>
            <a:r>
              <a:rPr lang="en" sz="1000">
                <a:solidFill>
                  <a:srgbClr val="6AA84F"/>
                </a:solidFill>
                <a:latin typeface="Roboto Mono"/>
                <a:ea typeface="Roboto Mono"/>
                <a:cs typeface="Roboto Mono"/>
                <a:sym typeface="Roboto Mono"/>
              </a:rPr>
              <a:t># Concise index, loaded into every session</a:t>
            </a:r>
            <a:endParaRPr sz="1000">
              <a:solidFill>
                <a:srgbClr val="6AA84F"/>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a:solidFill>
                  <a:srgbClr val="3C78D8"/>
                </a:solidFill>
                <a:latin typeface="Roboto Mono"/>
                <a:ea typeface="Roboto Mono"/>
                <a:cs typeface="Roboto Mono"/>
                <a:sym typeface="Roboto Mono"/>
              </a:rPr>
              <a:t>├── debugging.md       </a:t>
            </a:r>
            <a:r>
              <a:rPr lang="en" sz="1000">
                <a:solidFill>
                  <a:srgbClr val="6AA84F"/>
                </a:solidFill>
                <a:latin typeface="Roboto Mono"/>
                <a:ea typeface="Roboto Mono"/>
                <a:cs typeface="Roboto Mono"/>
                <a:sym typeface="Roboto Mono"/>
              </a:rPr>
              <a:t># Detailed notes on debugging patterns</a:t>
            </a:r>
            <a:endParaRPr sz="1000">
              <a:solidFill>
                <a:srgbClr val="6AA84F"/>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a:solidFill>
                  <a:srgbClr val="3C78D8"/>
                </a:solidFill>
                <a:latin typeface="Roboto Mono"/>
                <a:ea typeface="Roboto Mono"/>
                <a:cs typeface="Roboto Mono"/>
                <a:sym typeface="Roboto Mono"/>
              </a:rPr>
              <a:t>├── api-conventions.md </a:t>
            </a:r>
            <a:r>
              <a:rPr lang="en" sz="1000">
                <a:solidFill>
                  <a:srgbClr val="6AA84F"/>
                </a:solidFill>
                <a:latin typeface="Roboto Mono"/>
                <a:ea typeface="Roboto Mono"/>
                <a:cs typeface="Roboto Mono"/>
                <a:sym typeface="Roboto Mono"/>
              </a:rPr>
              <a:t># API design decisions</a:t>
            </a:r>
            <a:endParaRPr sz="1000">
              <a:solidFill>
                <a:srgbClr val="6AA84F"/>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a:solidFill>
                  <a:srgbClr val="3C78D8"/>
                </a:solidFill>
                <a:latin typeface="Roboto Mono"/>
                <a:ea typeface="Roboto Mono"/>
                <a:cs typeface="Roboto Mono"/>
                <a:sym typeface="Roboto Mono"/>
              </a:rPr>
              <a:t>└── ...                </a:t>
            </a:r>
            <a:r>
              <a:rPr lang="en" sz="1000">
                <a:solidFill>
                  <a:srgbClr val="6AA84F"/>
                </a:solidFill>
                <a:latin typeface="Roboto Mono"/>
                <a:ea typeface="Roboto Mono"/>
                <a:cs typeface="Roboto Mono"/>
                <a:sym typeface="Roboto Mono"/>
              </a:rPr>
              <a:t># Any other topic files Claude creates</a:t>
            </a:r>
            <a:endParaRPr sz="1000">
              <a:solidFill>
                <a:srgbClr val="6AA84F"/>
              </a:solidFill>
              <a:latin typeface="Roboto Mono"/>
              <a:ea typeface="Roboto Mono"/>
              <a:cs typeface="Roboto Mono"/>
              <a:sym typeface="Roboto Mono"/>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 memory is on by default.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To toggle it, open /memory in a session and use the auto memory toggle,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or set autoMemoryEnabled in your project settings:</a:t>
            </a:r>
            <a:br>
              <a:rPr lang="en" sz="1200">
                <a:solidFill>
                  <a:schemeClr val="dk1"/>
                </a:solidFill>
                <a:latin typeface="Calibri"/>
                <a:ea typeface="Calibri"/>
                <a:cs typeface="Calibri"/>
                <a:sym typeface="Calibri"/>
              </a:rPr>
            </a:br>
            <a:r>
              <a:rPr lang="en" sz="1000">
                <a:solidFill>
                  <a:srgbClr val="3C78D8"/>
                </a:solidFill>
                <a:latin typeface="Roboto Mono"/>
                <a:ea typeface="Roboto Mono"/>
                <a:cs typeface="Roboto Mono"/>
                <a:sym typeface="Roboto Mono"/>
              </a:rPr>
              <a:t>{</a:t>
            </a:r>
            <a:br>
              <a:rPr lang="en" sz="1000">
                <a:solidFill>
                  <a:srgbClr val="3C78D8"/>
                </a:solidFill>
                <a:latin typeface="Roboto Mono"/>
                <a:ea typeface="Roboto Mono"/>
                <a:cs typeface="Roboto Mono"/>
                <a:sym typeface="Roboto Mono"/>
              </a:rPr>
            </a:br>
            <a:r>
              <a:rPr lang="en" sz="1000">
                <a:solidFill>
                  <a:srgbClr val="3C78D8"/>
                </a:solidFill>
                <a:latin typeface="Roboto Mono"/>
                <a:ea typeface="Roboto Mono"/>
                <a:cs typeface="Roboto Mono"/>
                <a:sym typeface="Roboto Mono"/>
              </a:rPr>
              <a:t>  "autoMemoryEnabled": false</a:t>
            </a:r>
            <a:br>
              <a:rPr lang="en" sz="1000">
                <a:solidFill>
                  <a:srgbClr val="3C78D8"/>
                </a:solidFill>
                <a:latin typeface="Roboto Mono"/>
                <a:ea typeface="Roboto Mono"/>
                <a:cs typeface="Roboto Mono"/>
                <a:sym typeface="Roboto Mono"/>
              </a:rPr>
            </a:br>
            <a:r>
              <a:rPr lang="en" sz="1000">
                <a:solidFill>
                  <a:srgbClr val="3C78D8"/>
                </a:solidFill>
                <a:latin typeface="Roboto Mono"/>
                <a:ea typeface="Roboto Mono"/>
                <a:cs typeface="Roboto Mono"/>
                <a:sym typeface="Roboto Mono"/>
              </a:rPr>
              <a:t>}</a:t>
            </a:r>
            <a:endParaRPr sz="1000">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SzPts val="1000"/>
              <a:buFont typeface="Roboto Mono"/>
              <a:buChar char="●"/>
            </a:pPr>
            <a:r>
              <a:rPr lang="en" sz="1000" u="sng">
                <a:solidFill>
                  <a:schemeClr val="hlink"/>
                </a:solidFill>
                <a:latin typeface="Roboto Mono"/>
                <a:ea typeface="Roboto Mono"/>
                <a:cs typeface="Roboto Mono"/>
                <a:sym typeface="Roboto Mono"/>
                <a:hlinkClick r:id="rId4"/>
              </a:rPr>
              <a:t>https://code.claude.com/docs/en/memory</a:t>
            </a:r>
            <a:r>
              <a:rPr lang="en" sz="1000">
                <a:latin typeface="Roboto Mono"/>
                <a:ea typeface="Roboto Mono"/>
                <a:cs typeface="Roboto Mono"/>
                <a:sym typeface="Roboto Mono"/>
              </a:rPr>
              <a:t> </a:t>
            </a:r>
            <a:endParaRPr sz="1000">
              <a:latin typeface="Roboto Mono"/>
              <a:ea typeface="Roboto Mono"/>
              <a:cs typeface="Roboto Mono"/>
              <a:sym typeface="Roboto Mono"/>
            </a:endParaRPr>
          </a:p>
        </p:txBody>
      </p:sp>
      <p:sp>
        <p:nvSpPr>
          <p:cNvPr id="142" name="Google Shape;142;p23"/>
          <p:cNvSpPr txBox="1"/>
          <p:nvPr/>
        </p:nvSpPr>
        <p:spPr>
          <a:xfrm>
            <a:off x="55075" y="3507425"/>
            <a:ext cx="44343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voice mode feature (in beta)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Activate voice mode by typing "/voice" and then hold the spacebar to speak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AI transcribes speech in real-time; Developers can talk to code editor, request functions, debugging, and modifications through natural speech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Voice transcription doesn't count against token limits</a:t>
            </a:r>
            <a:endParaRPr sz="1200">
              <a:solidFill>
                <a:schemeClr val="dk1"/>
              </a:solidFill>
              <a:latin typeface="Calibri"/>
              <a:ea typeface="Calibri"/>
              <a:cs typeface="Calibri"/>
              <a:sym typeface="Calibri"/>
            </a:endParaRPr>
          </a:p>
        </p:txBody>
      </p:sp>
      <p:pic>
        <p:nvPicPr>
          <p:cNvPr id="143" name="Google Shape;143;p23"/>
          <p:cNvPicPr preferRelativeResize="0"/>
          <p:nvPr/>
        </p:nvPicPr>
        <p:blipFill>
          <a:blip r:embed="rId5">
            <a:alphaModFix/>
          </a:blip>
          <a:stretch>
            <a:fillRect/>
          </a:stretch>
        </p:blipFill>
        <p:spPr>
          <a:xfrm>
            <a:off x="5929050" y="1114018"/>
            <a:ext cx="2857500" cy="1600200"/>
          </a:xfrm>
          <a:prstGeom prst="rect">
            <a:avLst/>
          </a:prstGeom>
          <a:noFill/>
          <a:ln w="9525" cap="flat" cmpd="sng">
            <a:solidFill>
              <a:srgbClr val="FF0000"/>
            </a:solidFill>
            <a:prstDash val="solid"/>
            <a:round/>
            <a:headEnd type="none" w="sm" len="sm"/>
            <a:tailEnd type="none" w="sm" len="sm"/>
          </a:ln>
        </p:spPr>
      </p:pic>
      <p:pic>
        <p:nvPicPr>
          <p:cNvPr id="144" name="Google Shape;144;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929050" y="3389968"/>
            <a:ext cx="2857500" cy="14287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4"/>
          <p:cNvSpPr txBox="1"/>
          <p:nvPr/>
        </p:nvSpPr>
        <p:spPr>
          <a:xfrm>
            <a:off x="179326" y="47835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6.38K subscribers, 271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1. Subscribe to this channel </a:t>
            </a: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2. 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3. </a:t>
            </a: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50" name="Google Shape;150;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740700" y="119306"/>
            <a:ext cx="3302049" cy="49181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5"/>
          <p:cNvSpPr txBox="1"/>
          <p:nvPr/>
        </p:nvSpPr>
        <p:spPr>
          <a:xfrm>
            <a:off x="143275" y="63650"/>
            <a:ext cx="4026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Alibaba’s CoPaw</a:t>
            </a:r>
            <a:endParaRPr sz="2000" b="1">
              <a:solidFill>
                <a:schemeClr val="dk1"/>
              </a:solidFill>
              <a:latin typeface="Calibri"/>
              <a:ea typeface="Calibri"/>
              <a:cs typeface="Calibri"/>
              <a:sym typeface="Calibri"/>
            </a:endParaRPr>
          </a:p>
        </p:txBody>
      </p:sp>
      <p:sp>
        <p:nvSpPr>
          <p:cNvPr id="156" name="Google Shape;156;p25"/>
          <p:cNvSpPr txBox="1"/>
          <p:nvPr/>
        </p:nvSpPr>
        <p:spPr>
          <a:xfrm>
            <a:off x="63500" y="507300"/>
            <a:ext cx="49011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Alibaba’s CoPaw</a:t>
            </a:r>
            <a:r>
              <a:rPr lang="en" sz="1200">
                <a:solidFill>
                  <a:schemeClr val="dk1"/>
                </a:solidFill>
                <a:latin typeface="Calibri"/>
                <a:ea typeface="Calibri"/>
                <a:cs typeface="Calibri"/>
                <a:sym typeface="Calibri"/>
              </a:rPr>
              <a:t> - Open‑source "personal agent" - a key application within the broader </a:t>
            </a:r>
            <a:r>
              <a:rPr lang="en" sz="1200" b="1">
                <a:solidFill>
                  <a:srgbClr val="FF0000"/>
                </a:solidFill>
                <a:latin typeface="Calibri"/>
                <a:ea typeface="Calibri"/>
                <a:cs typeface="Calibri"/>
                <a:sym typeface="Calibri"/>
              </a:rPr>
              <a:t>AgentScope</a:t>
            </a:r>
            <a:r>
              <a:rPr lang="en" sz="1200">
                <a:solidFill>
                  <a:schemeClr val="dk1"/>
                </a:solidFill>
                <a:latin typeface="Calibri"/>
                <a:ea typeface="Calibri"/>
                <a:cs typeface="Calibri"/>
                <a:sym typeface="Calibri"/>
              </a:rPr>
              <a:t> ecosystem from Alibaba</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AgentScope as an open‑source multi‑agent framework released by Alibaba/ModelScope team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CoPaw is a desktop and server framework for running and orchestrating AI agents locally or in the cloud</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Focused on privacy, extensibility, and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CoPaw acts as a control center where multiple agents, tools, and models can work together on tasks such as messaging, document handling, and workflow automation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It is model‑agnostic, supporting both local LLMs (via runtimes like Ollama or llama.cpp) and remote APIs, including Alibaba’s own model services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CoPaw emphasizes a plugin/skills system and protocol support (like MCP) so agents can interact with external apps, APIs, and services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It targets developers and power users who want a customizable, local‑first alternative to hosted assistants, but is also suitable for teams that need an always‑on AI “operator” integrated into their communication and productivity stack</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https://copaw.bot</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https://github.com/agentscope-ai/CoPaw</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https://copaw.agentscope.io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https://github.com/agentscope-ai/agentscope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https://modelscope.cn/home</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https://www.alibabacloud.com/en/product/modelstudio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157" name="Google Shape;157;p25"/>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656588" y="3094993"/>
            <a:ext cx="2759324" cy="649236"/>
          </a:xfrm>
          <a:prstGeom prst="rect">
            <a:avLst/>
          </a:prstGeom>
          <a:noFill/>
          <a:ln w="7350" cap="flat" cmpd="sng">
            <a:solidFill>
              <a:srgbClr val="FF0000"/>
            </a:solidFill>
            <a:prstDash val="solid"/>
            <a:round/>
            <a:headEnd type="none" w="sm" len="sm"/>
            <a:tailEnd type="none" w="sm" len="sm"/>
          </a:ln>
        </p:spPr>
      </p:pic>
      <p:pic>
        <p:nvPicPr>
          <p:cNvPr id="158" name="Google Shape;158;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6410765" y="3831225"/>
            <a:ext cx="1250971" cy="1250971"/>
          </a:xfrm>
          <a:prstGeom prst="rect">
            <a:avLst/>
          </a:prstGeom>
          <a:noFill/>
          <a:ln w="7350" cap="flat" cmpd="sng">
            <a:solidFill>
              <a:srgbClr val="FF0000"/>
            </a:solidFill>
            <a:prstDash val="solid"/>
            <a:round/>
            <a:headEnd type="none" w="sm" len="sm"/>
            <a:tailEnd type="none" w="sm" len="sm"/>
          </a:ln>
        </p:spPr>
      </p:pic>
      <p:pic>
        <p:nvPicPr>
          <p:cNvPr id="159" name="Google Shape;159;p25"/>
          <p:cNvPicPr preferRelativeResize="0"/>
          <p:nvPr/>
        </p:nvPicPr>
        <p:blipFill>
          <a:blip r:embed="rId11">
            <a:alphaModFix/>
          </a:blip>
          <a:stretch>
            <a:fillRect/>
          </a:stretch>
        </p:blipFill>
        <p:spPr>
          <a:xfrm>
            <a:off x="5169350" y="1217297"/>
            <a:ext cx="3733800" cy="876300"/>
          </a:xfrm>
          <a:prstGeom prst="rect">
            <a:avLst/>
          </a:prstGeom>
          <a:noFill/>
          <a:ln w="9525" cap="flat" cmpd="sng">
            <a:solidFill>
              <a:srgbClr val="FF0000"/>
            </a:solidFill>
            <a:prstDash val="solid"/>
            <a:round/>
            <a:headEnd type="none" w="sm" len="sm"/>
            <a:tailEnd type="none" w="sm" len="sm"/>
          </a:ln>
        </p:spPr>
      </p:pic>
      <p:pic>
        <p:nvPicPr>
          <p:cNvPr id="160" name="Google Shape;160;p25"/>
          <p:cNvPicPr preferRelativeResize="0"/>
          <p:nvPr/>
        </p:nvPicPr>
        <p:blipFill>
          <a:blip r:embed="rId12">
            <a:alphaModFix/>
          </a:blip>
          <a:stretch>
            <a:fillRect/>
          </a:stretch>
        </p:blipFill>
        <p:spPr>
          <a:xfrm>
            <a:off x="5559875" y="63500"/>
            <a:ext cx="2952750" cy="876300"/>
          </a:xfrm>
          <a:prstGeom prst="rect">
            <a:avLst/>
          </a:prstGeom>
          <a:noFill/>
          <a:ln w="9525" cap="flat" cmpd="sng">
            <a:solidFill>
              <a:srgbClr val="FF0000"/>
            </a:solidFill>
            <a:prstDash val="solid"/>
            <a:round/>
            <a:headEnd type="none" w="sm" len="sm"/>
            <a:tailEnd type="none" w="sm" len="sm"/>
          </a:ln>
        </p:spPr>
      </p:pic>
      <p:sp>
        <p:nvSpPr>
          <p:cNvPr id="161" name="Google Shape;161;p25"/>
          <p:cNvSpPr txBox="1"/>
          <p:nvPr/>
        </p:nvSpPr>
        <p:spPr>
          <a:xfrm>
            <a:off x="5721050" y="2191563"/>
            <a:ext cx="26304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ModelScope in China plays a role very similar to Hugging Face in the US</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6"/>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67" name="Google Shape;167;p26"/>
          <p:cNvSpPr txBox="1"/>
          <p:nvPr/>
        </p:nvSpPr>
        <p:spPr>
          <a:xfrm>
            <a:off x="55075" y="592850"/>
            <a:ext cx="46461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vs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Code</a:t>
            </a:r>
            <a:r>
              <a:rPr lang="en" sz="1200">
                <a:latin typeface="Calibri"/>
                <a:ea typeface="Calibri"/>
                <a:cs typeface="Calibri"/>
                <a:sym typeface="Calibri"/>
              </a:rPr>
              <a:t> is ready for production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OpenClaw is not ready, brittle, hindered by a difficult setup, frequent stability issues, and significant security risks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https://www.youtube.com/watch?v=9f38h_GooA8</a:t>
            </a:r>
            <a:endParaRPr sz="1200">
              <a:latin typeface="Calibri"/>
              <a:ea typeface="Calibri"/>
              <a:cs typeface="Calibri"/>
              <a:sym typeface="Calibri"/>
            </a:endParaRPr>
          </a:p>
        </p:txBody>
      </p:sp>
      <p:sp>
        <p:nvSpPr>
          <p:cNvPr id="168" name="Google Shape;168;p26"/>
          <p:cNvSpPr txBox="1"/>
          <p:nvPr/>
        </p:nvSpPr>
        <p:spPr>
          <a:xfrm>
            <a:off x="55075" y="1567515"/>
            <a:ext cx="46461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supports Remote Control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can  start a local coding session on your Mac - and continue managing it from a mobile device or another computer via a secure URL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the “Share” or “Remote Control” option in the Claude Code UI to generate a secure URL for that session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standard cloud sessions, the processing and file access remain strictly on the user's local machine, providing both power and privacy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Available only for Claude Max subscribers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http://www.youtube.com/watch?v=xpxamtoApYU</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https://code.claude.com/docs/en/remote-control</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69" name="Google Shape;169;p2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87323" y="1567520"/>
            <a:ext cx="2433431" cy="1865399"/>
          </a:xfrm>
          <a:prstGeom prst="rect">
            <a:avLst/>
          </a:prstGeom>
          <a:noFill/>
          <a:ln w="9525" cap="flat" cmpd="sng">
            <a:solidFill>
              <a:srgbClr val="FF0000"/>
            </a:solidFill>
            <a:prstDash val="solid"/>
            <a:round/>
            <a:headEnd type="none" w="sm" len="sm"/>
            <a:tailEnd type="none" w="sm" len="sm"/>
          </a:ln>
        </p:spPr>
      </p:pic>
      <p:sp>
        <p:nvSpPr>
          <p:cNvPr id="170" name="Google Shape;170;p26"/>
          <p:cNvSpPr txBox="1"/>
          <p:nvPr/>
        </p:nvSpPr>
        <p:spPr>
          <a:xfrm>
            <a:off x="55075" y="3465565"/>
            <a:ext cx="4646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now remembers your work habits</a:t>
            </a:r>
            <a:r>
              <a:rPr lang="en" sz="1200">
                <a:latin typeface="Calibri"/>
                <a:ea typeface="Calibri"/>
                <a:cs typeface="Calibri"/>
                <a:sym typeface="Calibri"/>
              </a:rPr>
              <a:t>, project patterns, and coding preferences permanently across all sessions, saving you the hassle of re-explaining context every time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Co-work allows scheduling recurring daily, weekly, or monthly tasks automatically in the background, provided your machine remains turned 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You can import memory into Claude from other systems</a:t>
            </a:r>
            <a:r>
              <a:rPr lang="en" sz="1200">
                <a:latin typeface="Calibri"/>
                <a:ea typeface="Calibri"/>
                <a:cs typeface="Calibri"/>
                <a:sym typeface="Calibri"/>
              </a:rPr>
              <a: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https://claude.com/import-memory</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71" name="Google Shape;171;p2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87325" y="3518225"/>
            <a:ext cx="2433425" cy="1362711"/>
          </a:xfrm>
          <a:prstGeom prst="rect">
            <a:avLst/>
          </a:prstGeom>
          <a:noFill/>
          <a:ln w="9525" cap="flat" cmpd="sng">
            <a:solidFill>
              <a:srgbClr val="FF0000"/>
            </a:solidFill>
            <a:prstDash val="solid"/>
            <a:round/>
            <a:headEnd type="none" w="sm" len="sm"/>
            <a:tailEnd type="none" w="sm" len="sm"/>
          </a:ln>
        </p:spPr>
      </p:pic>
      <p:pic>
        <p:nvPicPr>
          <p:cNvPr id="172" name="Google Shape;172;p26"/>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787325" y="119507"/>
            <a:ext cx="2433425" cy="136271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27"/>
          <p:cNvSpPr/>
          <p:nvPr/>
        </p:nvSpPr>
        <p:spPr>
          <a:xfrm>
            <a:off x="136900" y="1231675"/>
            <a:ext cx="1784400" cy="2292900"/>
          </a:xfrm>
          <a:prstGeom prst="roundRect">
            <a:avLst>
              <a:gd name="adj" fmla="val 16667"/>
            </a:avLst>
          </a:prstGeom>
          <a:solidFill>
            <a:schemeClr val="lt2"/>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8" name="Google Shape;178;p27"/>
          <p:cNvSpPr/>
          <p:nvPr/>
        </p:nvSpPr>
        <p:spPr>
          <a:xfrm>
            <a:off x="6274450" y="1270375"/>
            <a:ext cx="2764200" cy="2292900"/>
          </a:xfrm>
          <a:prstGeom prst="roundRect">
            <a:avLst>
              <a:gd name="adj" fmla="val 16667"/>
            </a:avLst>
          </a:prstGeom>
          <a:solidFill>
            <a:schemeClr val="lt2"/>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79" name="Google Shape;179;p27"/>
          <p:cNvSpPr txBox="1"/>
          <p:nvPr/>
        </p:nvSpPr>
        <p:spPr>
          <a:xfrm>
            <a:off x="55075" y="77450"/>
            <a:ext cx="4437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From Apps &amp; SaaS to Generic Agent</a:t>
            </a:r>
            <a:endParaRPr sz="2000" b="1">
              <a:solidFill>
                <a:schemeClr val="dk1"/>
              </a:solidFill>
              <a:latin typeface="Calibri"/>
              <a:ea typeface="Calibri"/>
              <a:cs typeface="Calibri"/>
              <a:sym typeface="Calibri"/>
            </a:endParaRPr>
          </a:p>
        </p:txBody>
      </p:sp>
      <p:sp>
        <p:nvSpPr>
          <p:cNvPr id="180" name="Google Shape;180;p27"/>
          <p:cNvSpPr txBox="1"/>
          <p:nvPr/>
        </p:nvSpPr>
        <p:spPr>
          <a:xfrm>
            <a:off x="2252876" y="3199950"/>
            <a:ext cx="3690000" cy="17424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46050" algn="l" rtl="0">
              <a:lnSpc>
                <a:spcPct val="100000"/>
              </a:lnSpc>
              <a:spcBef>
                <a:spcPts val="0"/>
              </a:spcBef>
              <a:spcAft>
                <a:spcPts val="0"/>
              </a:spcAft>
              <a:buClr>
                <a:schemeClr val="dk1"/>
              </a:buClr>
              <a:buSzPts val="1400"/>
              <a:buFont typeface="Calibri"/>
              <a:buChar char="●"/>
            </a:pPr>
            <a:r>
              <a:rPr lang="en">
                <a:solidFill>
                  <a:schemeClr val="dk1"/>
                </a:solidFill>
                <a:latin typeface="Calibri"/>
                <a:ea typeface="Calibri"/>
                <a:cs typeface="Calibri"/>
                <a:sym typeface="Calibri"/>
              </a:rPr>
              <a:t>Model training / tuning</a:t>
            </a:r>
            <a:endParaRPr>
              <a:solidFill>
                <a:schemeClr val="dk1"/>
              </a:solidFill>
              <a:latin typeface="Calibri"/>
              <a:ea typeface="Calibri"/>
              <a:cs typeface="Calibri"/>
              <a:sym typeface="Calibri"/>
            </a:endParaRPr>
          </a:p>
          <a:p>
            <a:pPr marL="171450" marR="0" lvl="0" indent="-146050" algn="l" rtl="0">
              <a:lnSpc>
                <a:spcPct val="100000"/>
              </a:lnSpc>
              <a:spcBef>
                <a:spcPts val="0"/>
              </a:spcBef>
              <a:spcAft>
                <a:spcPts val="0"/>
              </a:spcAft>
              <a:buClr>
                <a:schemeClr val="dk1"/>
              </a:buClr>
              <a:buSzPts val="1400"/>
              <a:buFont typeface="Calibri"/>
              <a:buChar char="●"/>
            </a:pPr>
            <a:r>
              <a:rPr lang="en">
                <a:solidFill>
                  <a:schemeClr val="dk1"/>
                </a:solidFill>
                <a:latin typeface="Calibri"/>
                <a:ea typeface="Calibri"/>
                <a:cs typeface="Calibri"/>
                <a:sym typeface="Calibri"/>
              </a:rPr>
              <a:t>Chat - for simple Q &amp; A, prompt engineering</a:t>
            </a:r>
            <a:endParaRPr>
              <a:solidFill>
                <a:schemeClr val="dk1"/>
              </a:solidFill>
              <a:latin typeface="Calibri"/>
              <a:ea typeface="Calibri"/>
              <a:cs typeface="Calibri"/>
              <a:sym typeface="Calibri"/>
            </a:endParaRPr>
          </a:p>
          <a:p>
            <a:pPr marL="171450" marR="0" lvl="0" indent="-146050" algn="l" rtl="0">
              <a:lnSpc>
                <a:spcPct val="100000"/>
              </a:lnSpc>
              <a:spcBef>
                <a:spcPts val="0"/>
              </a:spcBef>
              <a:spcAft>
                <a:spcPts val="0"/>
              </a:spcAft>
              <a:buClr>
                <a:schemeClr val="dk1"/>
              </a:buClr>
              <a:buSzPts val="1400"/>
              <a:buFont typeface="Calibri"/>
              <a:buChar char="●"/>
            </a:pPr>
            <a:r>
              <a:rPr lang="en">
                <a:solidFill>
                  <a:schemeClr val="dk1"/>
                </a:solidFill>
                <a:latin typeface="Calibri"/>
                <a:ea typeface="Calibri"/>
                <a:cs typeface="Calibri"/>
                <a:sym typeface="Calibri"/>
              </a:rPr>
              <a:t>Add using data (MCP)</a:t>
            </a:r>
            <a:endParaRPr>
              <a:solidFill>
                <a:schemeClr val="dk1"/>
              </a:solidFill>
              <a:latin typeface="Calibri"/>
              <a:ea typeface="Calibri"/>
              <a:cs typeface="Calibri"/>
              <a:sym typeface="Calibri"/>
            </a:endParaRPr>
          </a:p>
          <a:p>
            <a:pPr marL="171450" marR="0" lvl="0" indent="-146050" algn="l" rtl="0">
              <a:lnSpc>
                <a:spcPct val="100000"/>
              </a:lnSpc>
              <a:spcBef>
                <a:spcPts val="0"/>
              </a:spcBef>
              <a:spcAft>
                <a:spcPts val="0"/>
              </a:spcAft>
              <a:buClr>
                <a:schemeClr val="dk1"/>
              </a:buClr>
              <a:buSzPts val="1400"/>
              <a:buFont typeface="Calibri"/>
              <a:buChar char="●"/>
            </a:pPr>
            <a:r>
              <a:rPr lang="en">
                <a:solidFill>
                  <a:schemeClr val="dk1"/>
                </a:solidFill>
                <a:latin typeface="Calibri"/>
                <a:ea typeface="Calibri"/>
                <a:cs typeface="Calibri"/>
                <a:sym typeface="Calibri"/>
              </a:rPr>
              <a:t>Agent - creates a plan - then executes it</a:t>
            </a:r>
            <a:endParaRPr>
              <a:solidFill>
                <a:schemeClr val="dk1"/>
              </a:solidFill>
              <a:latin typeface="Calibri"/>
              <a:ea typeface="Calibri"/>
              <a:cs typeface="Calibri"/>
              <a:sym typeface="Calibri"/>
            </a:endParaRPr>
          </a:p>
          <a:p>
            <a:pPr marL="171450" marR="0" lvl="0" indent="-146050" algn="l" rtl="0">
              <a:lnSpc>
                <a:spcPct val="100000"/>
              </a:lnSpc>
              <a:spcBef>
                <a:spcPts val="0"/>
              </a:spcBef>
              <a:spcAft>
                <a:spcPts val="0"/>
              </a:spcAft>
              <a:buClr>
                <a:schemeClr val="dk1"/>
              </a:buClr>
              <a:buSzPts val="1400"/>
              <a:buFont typeface="Calibri"/>
              <a:buChar char="●"/>
            </a:pPr>
            <a:r>
              <a:rPr lang="en">
                <a:solidFill>
                  <a:schemeClr val="dk1"/>
                </a:solidFill>
                <a:latin typeface="Calibri"/>
                <a:ea typeface="Calibri"/>
                <a:cs typeface="Calibri"/>
                <a:sym typeface="Calibri"/>
              </a:rPr>
              <a:t>Add using skills</a:t>
            </a:r>
            <a:endParaRPr>
              <a:solidFill>
                <a:schemeClr val="dk1"/>
              </a:solidFill>
              <a:latin typeface="Calibri"/>
              <a:ea typeface="Calibri"/>
              <a:cs typeface="Calibri"/>
              <a:sym typeface="Calibri"/>
            </a:endParaRPr>
          </a:p>
          <a:p>
            <a:pPr marL="171450" marR="0" lvl="0" indent="-146050" algn="l" rtl="0">
              <a:lnSpc>
                <a:spcPct val="100000"/>
              </a:lnSpc>
              <a:spcBef>
                <a:spcPts val="0"/>
              </a:spcBef>
              <a:spcAft>
                <a:spcPts val="0"/>
              </a:spcAft>
              <a:buClr>
                <a:schemeClr val="dk1"/>
              </a:buClr>
              <a:buSzPts val="1400"/>
              <a:buFont typeface="Calibri"/>
              <a:buChar char="●"/>
            </a:pPr>
            <a:r>
              <a:rPr lang="en">
                <a:solidFill>
                  <a:schemeClr val="dk1"/>
                </a:solidFill>
                <a:latin typeface="Calibri"/>
                <a:ea typeface="Calibri"/>
                <a:cs typeface="Calibri"/>
                <a:sym typeface="Calibri"/>
              </a:rPr>
              <a:t>Add memory</a:t>
            </a:r>
            <a:endParaRPr>
              <a:solidFill>
                <a:schemeClr val="dk1"/>
              </a:solidFill>
              <a:latin typeface="Calibri"/>
              <a:ea typeface="Calibri"/>
              <a:cs typeface="Calibri"/>
              <a:sym typeface="Calibri"/>
            </a:endParaRPr>
          </a:p>
          <a:p>
            <a:pPr marL="171450" marR="0" lvl="0" indent="-146050" algn="l" rtl="0">
              <a:lnSpc>
                <a:spcPct val="100000"/>
              </a:lnSpc>
              <a:spcBef>
                <a:spcPts val="0"/>
              </a:spcBef>
              <a:spcAft>
                <a:spcPts val="0"/>
              </a:spcAft>
              <a:buClr>
                <a:schemeClr val="dk1"/>
              </a:buClr>
              <a:buSzPts val="1400"/>
              <a:buFont typeface="Calibri"/>
              <a:buChar char="●"/>
            </a:pPr>
            <a:r>
              <a:rPr lang="en">
                <a:solidFill>
                  <a:schemeClr val="dk1"/>
                </a:solidFill>
                <a:latin typeface="Calibri"/>
                <a:ea typeface="Calibri"/>
                <a:cs typeface="Calibri"/>
                <a:sym typeface="Calibri"/>
              </a:rPr>
              <a:t>Generic desktop app + skills</a:t>
            </a:r>
            <a:endParaRPr>
              <a:solidFill>
                <a:schemeClr val="dk1"/>
              </a:solidFill>
              <a:latin typeface="Calibri"/>
              <a:ea typeface="Calibri"/>
              <a:cs typeface="Calibri"/>
              <a:sym typeface="Calibri"/>
            </a:endParaRPr>
          </a:p>
          <a:p>
            <a:pPr marL="171450" marR="0" lvl="0" indent="-146050" algn="l" rtl="0">
              <a:lnSpc>
                <a:spcPct val="100000"/>
              </a:lnSpc>
              <a:spcBef>
                <a:spcPts val="0"/>
              </a:spcBef>
              <a:spcAft>
                <a:spcPts val="0"/>
              </a:spcAft>
              <a:buClr>
                <a:schemeClr val="dk1"/>
              </a:buClr>
              <a:buSzPts val="1400"/>
              <a:buFont typeface="Calibri"/>
              <a:buChar char="●"/>
            </a:pPr>
            <a:r>
              <a:rPr lang="en">
                <a:solidFill>
                  <a:schemeClr val="dk1"/>
                </a:solidFill>
                <a:latin typeface="Calibri"/>
                <a:ea typeface="Calibri"/>
                <a:cs typeface="Calibri"/>
                <a:sym typeface="Calibri"/>
              </a:rPr>
              <a:t>Add scheduling and remote control</a:t>
            </a:r>
            <a:endParaRPr>
              <a:solidFill>
                <a:schemeClr val="dk1"/>
              </a:solidFill>
              <a:latin typeface="Calibri"/>
              <a:ea typeface="Calibri"/>
              <a:cs typeface="Calibri"/>
              <a:sym typeface="Calibri"/>
            </a:endParaRPr>
          </a:p>
        </p:txBody>
      </p:sp>
      <p:sp>
        <p:nvSpPr>
          <p:cNvPr id="181" name="Google Shape;181;p27"/>
          <p:cNvSpPr txBox="1"/>
          <p:nvPr/>
        </p:nvSpPr>
        <p:spPr>
          <a:xfrm>
            <a:off x="289160" y="1726337"/>
            <a:ext cx="14460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800">
                <a:solidFill>
                  <a:schemeClr val="dk1"/>
                </a:solidFill>
                <a:latin typeface="Calibri"/>
                <a:ea typeface="Calibri"/>
                <a:cs typeface="Calibri"/>
                <a:sym typeface="Calibri"/>
              </a:rPr>
              <a:t>Specialized Local Apps</a:t>
            </a:r>
            <a:endParaRPr sz="1800">
              <a:solidFill>
                <a:schemeClr val="dk1"/>
              </a:solidFill>
              <a:latin typeface="Calibri"/>
              <a:ea typeface="Calibri"/>
              <a:cs typeface="Calibri"/>
              <a:sym typeface="Calibri"/>
            </a:endParaRPr>
          </a:p>
        </p:txBody>
      </p:sp>
      <p:sp>
        <p:nvSpPr>
          <p:cNvPr id="182" name="Google Shape;182;p27"/>
          <p:cNvSpPr txBox="1"/>
          <p:nvPr/>
        </p:nvSpPr>
        <p:spPr>
          <a:xfrm>
            <a:off x="289160" y="2532212"/>
            <a:ext cx="14460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800">
                <a:solidFill>
                  <a:schemeClr val="dk1"/>
                </a:solidFill>
                <a:latin typeface="Calibri"/>
                <a:ea typeface="Calibri"/>
                <a:cs typeface="Calibri"/>
                <a:sym typeface="Calibri"/>
              </a:rPr>
              <a:t>SaaS apps and services</a:t>
            </a:r>
            <a:endParaRPr sz="1800">
              <a:solidFill>
                <a:schemeClr val="dk1"/>
              </a:solidFill>
              <a:latin typeface="Calibri"/>
              <a:ea typeface="Calibri"/>
              <a:cs typeface="Calibri"/>
              <a:sym typeface="Calibri"/>
            </a:endParaRPr>
          </a:p>
        </p:txBody>
      </p:sp>
      <p:sp>
        <p:nvSpPr>
          <p:cNvPr id="183" name="Google Shape;183;p27"/>
          <p:cNvSpPr txBox="1"/>
          <p:nvPr/>
        </p:nvSpPr>
        <p:spPr>
          <a:xfrm>
            <a:off x="6814024" y="2091775"/>
            <a:ext cx="1784400" cy="572700"/>
          </a:xfrm>
          <a:prstGeom prst="rect">
            <a:avLst/>
          </a:prstGeom>
          <a:solidFill>
            <a:srgbClr val="F4CC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800">
                <a:solidFill>
                  <a:schemeClr val="dk1"/>
                </a:solidFill>
                <a:latin typeface="Calibri"/>
                <a:ea typeface="Calibri"/>
                <a:cs typeface="Calibri"/>
                <a:sym typeface="Calibri"/>
              </a:rPr>
              <a:t>Generic Agent App</a:t>
            </a:r>
            <a:endParaRPr sz="180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None/>
            </a:pPr>
            <a:r>
              <a:rPr lang="en" sz="1800">
                <a:solidFill>
                  <a:schemeClr val="dk1"/>
                </a:solidFill>
                <a:latin typeface="Calibri"/>
                <a:ea typeface="Calibri"/>
                <a:cs typeface="Calibri"/>
                <a:sym typeface="Calibri"/>
              </a:rPr>
              <a:t>(Claw, Claude, ...)</a:t>
            </a:r>
            <a:endParaRPr sz="1800">
              <a:solidFill>
                <a:schemeClr val="dk1"/>
              </a:solidFill>
              <a:latin typeface="Calibri"/>
              <a:ea typeface="Calibri"/>
              <a:cs typeface="Calibri"/>
              <a:sym typeface="Calibri"/>
            </a:endParaRPr>
          </a:p>
        </p:txBody>
      </p:sp>
      <p:sp>
        <p:nvSpPr>
          <p:cNvPr id="184" name="Google Shape;184;p27"/>
          <p:cNvSpPr txBox="1"/>
          <p:nvPr/>
        </p:nvSpPr>
        <p:spPr>
          <a:xfrm>
            <a:off x="6527522" y="3027450"/>
            <a:ext cx="7152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a:solidFill>
                  <a:schemeClr val="dk1"/>
                </a:solidFill>
                <a:latin typeface="Calibri"/>
                <a:ea typeface="Calibri"/>
                <a:cs typeface="Calibri"/>
                <a:sym typeface="Calibri"/>
              </a:rPr>
              <a:t>Skills</a:t>
            </a:r>
            <a:endParaRPr>
              <a:solidFill>
                <a:schemeClr val="dk1"/>
              </a:solidFill>
              <a:latin typeface="Calibri"/>
              <a:ea typeface="Calibri"/>
              <a:cs typeface="Calibri"/>
              <a:sym typeface="Calibri"/>
            </a:endParaRPr>
          </a:p>
        </p:txBody>
      </p:sp>
      <p:sp>
        <p:nvSpPr>
          <p:cNvPr id="185" name="Google Shape;185;p27"/>
          <p:cNvSpPr/>
          <p:nvPr/>
        </p:nvSpPr>
        <p:spPr>
          <a:xfrm>
            <a:off x="2602725" y="1921075"/>
            <a:ext cx="3105300" cy="914100"/>
          </a:xfrm>
          <a:prstGeom prst="rightArrow">
            <a:avLst>
              <a:gd name="adj1" fmla="val 50000"/>
              <a:gd name="adj2" fmla="val 50000"/>
            </a:avLst>
          </a:prstGeom>
          <a:solidFill>
            <a:schemeClr val="lt2"/>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6" name="Google Shape;186;p27"/>
          <p:cNvSpPr txBox="1"/>
          <p:nvPr/>
        </p:nvSpPr>
        <p:spPr>
          <a:xfrm>
            <a:off x="6324250" y="4213900"/>
            <a:ext cx="2664600" cy="44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800" b="1">
                <a:solidFill>
                  <a:srgbClr val="3C78D8"/>
                </a:solidFill>
                <a:latin typeface="Calibri"/>
                <a:ea typeface="Calibri"/>
                <a:cs typeface="Calibri"/>
                <a:sym typeface="Calibri"/>
              </a:rPr>
              <a:t>20+ Awesome Claws</a:t>
            </a:r>
            <a:endParaRPr sz="1800" b="1">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r>
              <a:rPr lang="en" sz="1000" u="sng">
                <a:solidFill>
                  <a:schemeClr val="hlink"/>
                </a:solidFill>
                <a:latin typeface="Calibri"/>
                <a:ea typeface="Calibri"/>
                <a:cs typeface="Calibri"/>
                <a:sym typeface="Calibri"/>
                <a:hlinkClick r:id="rId3"/>
              </a:rPr>
              <a:t>https://github.com/machinae/awesome-claws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187" name="Google Shape;187;p27"/>
          <p:cNvSpPr txBox="1"/>
          <p:nvPr/>
        </p:nvSpPr>
        <p:spPr>
          <a:xfrm>
            <a:off x="8182702" y="3027450"/>
            <a:ext cx="7152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a:solidFill>
                  <a:schemeClr val="dk1"/>
                </a:solidFill>
                <a:latin typeface="Calibri"/>
                <a:ea typeface="Calibri"/>
                <a:cs typeface="Calibri"/>
                <a:sym typeface="Calibri"/>
              </a:rPr>
              <a:t>Skills</a:t>
            </a:r>
            <a:endParaRPr>
              <a:solidFill>
                <a:schemeClr val="dk1"/>
              </a:solidFill>
              <a:latin typeface="Calibri"/>
              <a:ea typeface="Calibri"/>
              <a:cs typeface="Calibri"/>
              <a:sym typeface="Calibri"/>
            </a:endParaRPr>
          </a:p>
        </p:txBody>
      </p:sp>
      <p:sp>
        <p:nvSpPr>
          <p:cNvPr id="188" name="Google Shape;188;p27"/>
          <p:cNvSpPr txBox="1"/>
          <p:nvPr/>
        </p:nvSpPr>
        <p:spPr>
          <a:xfrm>
            <a:off x="7355112" y="3027450"/>
            <a:ext cx="715200" cy="23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a:solidFill>
                  <a:schemeClr val="dk1"/>
                </a:solidFill>
                <a:latin typeface="Calibri"/>
                <a:ea typeface="Calibri"/>
                <a:cs typeface="Calibri"/>
                <a:sym typeface="Calibri"/>
              </a:rPr>
              <a:t>Skills</a:t>
            </a:r>
            <a:endParaRPr>
              <a:solidFill>
                <a:schemeClr val="dk1"/>
              </a:solidFill>
              <a:latin typeface="Calibri"/>
              <a:ea typeface="Calibri"/>
              <a:cs typeface="Calibri"/>
              <a:sym typeface="Calibri"/>
            </a:endParaRPr>
          </a:p>
        </p:txBody>
      </p:sp>
      <p:sp>
        <p:nvSpPr>
          <p:cNvPr id="189" name="Google Shape;189;p27"/>
          <p:cNvSpPr txBox="1"/>
          <p:nvPr/>
        </p:nvSpPr>
        <p:spPr>
          <a:xfrm>
            <a:off x="6820499" y="1348375"/>
            <a:ext cx="1784400" cy="2955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800" b="1">
                <a:solidFill>
                  <a:schemeClr val="dk1"/>
                </a:solidFill>
                <a:latin typeface="Calibri"/>
                <a:ea typeface="Calibri"/>
                <a:cs typeface="Calibri"/>
                <a:sym typeface="Calibri"/>
              </a:rPr>
              <a:t>Digital Employee</a:t>
            </a:r>
            <a:endParaRPr sz="1800" b="1">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8"/>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195" name="Google Shape;195;p28"/>
          <p:cNvSpPr txBox="1"/>
          <p:nvPr/>
        </p:nvSpPr>
        <p:spPr>
          <a:xfrm>
            <a:off x="55075" y="464325"/>
            <a:ext cx="44535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ClawX - FREE Desktop App for OpenClaw AI 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https://www.youtube.com/watch?v=Qbw40hXdImc</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ClawX offers a clean, intuitive GUI that eliminates the need for technical setup or terminal commands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Easy installation through a setup wizard, connections to platforms like Discord, Telegram, and WhatsApp, a mission control dashboard, support for multiple AI providers including Anthropic and OpenAI, and the ability to manage scheduled tasks.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ClawX significantly simplifies the user experience and makes AI automation more accessible to non-technical users.</a:t>
            </a:r>
            <a:endParaRPr sz="1200">
              <a:latin typeface="Calibri"/>
              <a:ea typeface="Calibri"/>
              <a:cs typeface="Calibri"/>
              <a:sym typeface="Calibri"/>
            </a:endParaRPr>
          </a:p>
        </p:txBody>
      </p:sp>
      <p:pic>
        <p:nvPicPr>
          <p:cNvPr id="196" name="Google Shape;196;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0850" y="464325"/>
            <a:ext cx="1198300" cy="1365500"/>
          </a:xfrm>
          <a:prstGeom prst="rect">
            <a:avLst/>
          </a:prstGeom>
          <a:noFill/>
          <a:ln w="9525" cap="flat" cmpd="sng">
            <a:solidFill>
              <a:srgbClr val="FF0000"/>
            </a:solidFill>
            <a:prstDash val="solid"/>
            <a:round/>
            <a:headEnd type="none" w="sm" len="sm"/>
            <a:tailEnd type="none" w="sm" len="sm"/>
          </a:ln>
        </p:spPr>
      </p:pic>
      <p:sp>
        <p:nvSpPr>
          <p:cNvPr id="197" name="Google Shape;197;p28"/>
          <p:cNvSpPr txBox="1"/>
          <p:nvPr/>
        </p:nvSpPr>
        <p:spPr>
          <a:xfrm>
            <a:off x="55070" y="2413913"/>
            <a:ext cx="45039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OpenClaw + Simflow AI Phone Voice Agent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Can make and receive phone calls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5"/>
              </a:rPr>
              <a:t>https://www.youtube.com/watch?v=Q5hoKlpft9A</a:t>
            </a:r>
            <a:endParaRPr sz="1200">
              <a:latin typeface="Calibri"/>
              <a:ea typeface="Calibri"/>
              <a:cs typeface="Calibri"/>
              <a:sym typeface="Calibri"/>
            </a:endParaRPr>
          </a:p>
        </p:txBody>
      </p:sp>
      <p:pic>
        <p:nvPicPr>
          <p:cNvPr id="198" name="Google Shape;198;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76150" y="2104884"/>
            <a:ext cx="1072999" cy="88174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29"/>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04" name="Google Shape;204;p29"/>
          <p:cNvSpPr txBox="1"/>
          <p:nvPr/>
        </p:nvSpPr>
        <p:spPr>
          <a:xfrm>
            <a:off x="143275" y="484500"/>
            <a:ext cx="4297800" cy="155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Accomplish (formerly Openwork) - AI Desktop Agent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https://www.youtube.com/watch?v=eskNOq7x_go</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Accomplish offers a simpler alternative to OpenClaw; cleaner UI, can run locally for free using Ollama, and provides step-by-step breakdowns of tasks</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https://github.com/accomplish-ai/accomplish</a:t>
            </a:r>
            <a:r>
              <a:rPr lang="en" sz="1000">
                <a:latin typeface="Calibri"/>
                <a:ea typeface="Calibri"/>
                <a:cs typeface="Calibri"/>
                <a:sym typeface="Calibri"/>
              </a:rPr>
              <a:t> - GitHub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https://accomplish.ai</a:t>
            </a:r>
            <a:r>
              <a:rPr lang="en" sz="1000">
                <a:latin typeface="Calibri"/>
                <a:ea typeface="Calibri"/>
                <a:cs typeface="Calibri"/>
                <a:sym typeface="Calibri"/>
              </a:rPr>
              <a:t> -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a:t>
            </a:r>
            <a:r>
              <a:rPr lang="en" sz="1000" u="sng">
                <a:solidFill>
                  <a:schemeClr val="hlink"/>
                </a:solidFill>
                <a:latin typeface="Calibri"/>
                <a:ea typeface="Calibri"/>
                <a:cs typeface="Calibri"/>
                <a:sym typeface="Calibri"/>
                <a:hlinkClick r:id="rId6"/>
              </a:rPr>
              <a:t>https://www.i-scoop.eu/accomplish-ai/</a:t>
            </a:r>
            <a:r>
              <a:rPr lang="en" sz="1000">
                <a:latin typeface="Calibri"/>
                <a:ea typeface="Calibri"/>
                <a:cs typeface="Calibri"/>
                <a:sym typeface="Calibri"/>
              </a:rPr>
              <a:t> -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a:t>
            </a:r>
            <a:r>
              <a:rPr lang="en" sz="1000" u="sng">
                <a:solidFill>
                  <a:schemeClr val="hlink"/>
                </a:solidFill>
                <a:latin typeface="Calibri"/>
                <a:ea typeface="Calibri"/>
                <a:cs typeface="Calibri"/>
                <a:sym typeface="Calibri"/>
                <a:hlinkClick r:id="rId7"/>
              </a:rPr>
              <a:t>https://blog.themenonlab.com/blog/accomplish-ai-desktop-agent</a:t>
            </a:r>
            <a:r>
              <a:rPr lang="en" sz="1000">
                <a:latin typeface="Calibri"/>
                <a:ea typeface="Calibri"/>
                <a:cs typeface="Calibri"/>
                <a:sym typeface="Calibri"/>
              </a:rPr>
              <a:t> </a:t>
            </a:r>
            <a:endParaRPr sz="1200">
              <a:latin typeface="Calibri"/>
              <a:ea typeface="Calibri"/>
              <a:cs typeface="Calibri"/>
              <a:sym typeface="Calibri"/>
            </a:endParaRPr>
          </a:p>
        </p:txBody>
      </p:sp>
      <p:sp>
        <p:nvSpPr>
          <p:cNvPr id="205" name="Google Shape;205;p29"/>
          <p:cNvSpPr txBox="1"/>
          <p:nvPr/>
        </p:nvSpPr>
        <p:spPr>
          <a:xfrm>
            <a:off x="143275" y="2136550"/>
            <a:ext cx="42978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NullClaw against OpenClaw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NullClaw is significantly smaller, faster, and runs on cheaper hardware compared to OpenClaw</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1MB versus over 1GB of memory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Startup times under 8 milliseconds versus 500 seconds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Built in Zig rather than TypeScript, NullClaw can run locally with models like Ollama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But .. complex technical setup requiring terminal commands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Zig is a modern programming language designed as a safer, simpler replacement for 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8"/>
              </a:rPr>
              <a:t>https://github.com/nullclaw/nullclaw</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9"/>
              </a:rPr>
              <a:t>https://nullclaw.github.io</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06" name="Google Shape;206;p29"/>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563750" y="484500"/>
            <a:ext cx="3721476" cy="736550"/>
          </a:xfrm>
          <a:prstGeom prst="rect">
            <a:avLst/>
          </a:prstGeom>
          <a:noFill/>
          <a:ln w="9525" cap="flat" cmpd="sng">
            <a:solidFill>
              <a:srgbClr val="FF0000"/>
            </a:solidFill>
            <a:prstDash val="solid"/>
            <a:round/>
            <a:headEnd type="none" w="sm" len="sm"/>
            <a:tailEnd type="none" w="sm" len="sm"/>
          </a:ln>
        </p:spPr>
      </p:pic>
      <p:pic>
        <p:nvPicPr>
          <p:cNvPr id="207" name="Google Shape;207;p29"/>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4495103" y="2133700"/>
            <a:ext cx="4611925" cy="95011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0"/>
          <p:cNvSpPr txBox="1"/>
          <p:nvPr/>
        </p:nvSpPr>
        <p:spPr>
          <a:xfrm>
            <a:off x="55075" y="63650"/>
            <a:ext cx="2505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Harness Engineering</a:t>
            </a:r>
            <a:endParaRPr sz="2000" b="1">
              <a:solidFill>
                <a:schemeClr val="dk1"/>
              </a:solidFill>
              <a:latin typeface="Calibri"/>
              <a:ea typeface="Calibri"/>
              <a:cs typeface="Calibri"/>
              <a:sym typeface="Calibri"/>
            </a:endParaRPr>
          </a:p>
        </p:txBody>
      </p:sp>
      <p:sp>
        <p:nvSpPr>
          <p:cNvPr id="213" name="Google Shape;213;p30"/>
          <p:cNvSpPr txBox="1"/>
          <p:nvPr/>
        </p:nvSpPr>
        <p:spPr>
          <a:xfrm>
            <a:off x="150255" y="777404"/>
            <a:ext cx="45039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Model Doesn't Matter Anymore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https://www.youtube.com/watch?v=1Ohf2aeSPFA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Top frontier models only complete 24% of real-world professional tasks despite scoring over 90% on benchmarks.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The key insight is that the "harness" - the infrastructure wrapped around AI models - matters more than the model itself.</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harness manages what the AI can see, what tools it uses, error recovery, and long-term tracking.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Major companies like OpenAI and Anthropic are emphasizing harness engineering.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Surprisingly, simpler harnesses often work better than complex ones.</a:t>
            </a:r>
            <a:r>
              <a:rPr lang="en" sz="1200">
                <a:latin typeface="Calibri"/>
                <a:ea typeface="Calibri"/>
                <a:cs typeface="Calibri"/>
                <a:sym typeface="Calibri"/>
              </a:rPr>
              <a:t> One company improved accuracy from 80% to 100% by removing 80% of specialized tools and using basic command-line tools instead.</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As models get smarter, harnesses should become simpler, not more complex.</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The video predicts 2026 will be the "year of harnesses" following 2025's "year of agents."</a:t>
            </a:r>
            <a:endParaRPr sz="1200" b="1">
              <a:solidFill>
                <a:srgbClr val="6AA84F"/>
              </a:solidFill>
              <a:latin typeface="Calibri"/>
              <a:ea typeface="Calibri"/>
              <a:cs typeface="Calibri"/>
              <a:sym typeface="Calibri"/>
            </a:endParaRPr>
          </a:p>
        </p:txBody>
      </p:sp>
      <p:sp>
        <p:nvSpPr>
          <p:cNvPr id="214" name="Google Shape;214;p30"/>
          <p:cNvSpPr txBox="1"/>
          <p:nvPr/>
        </p:nvSpPr>
        <p:spPr>
          <a:xfrm>
            <a:off x="4846501" y="703133"/>
            <a:ext cx="4016100" cy="109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46050" algn="l" rtl="0">
              <a:lnSpc>
                <a:spcPct val="100000"/>
              </a:lnSpc>
              <a:spcBef>
                <a:spcPts val="0"/>
              </a:spcBef>
              <a:spcAft>
                <a:spcPts val="0"/>
              </a:spcAft>
              <a:buClr>
                <a:schemeClr val="dk1"/>
              </a:buClr>
              <a:buSzPts val="1400"/>
              <a:buFont typeface="Calibri"/>
              <a:buChar char="●"/>
            </a:pPr>
            <a:r>
              <a:rPr lang="en">
                <a:latin typeface="Calibri"/>
                <a:ea typeface="Calibri"/>
                <a:cs typeface="Calibri"/>
                <a:sym typeface="Calibri"/>
              </a:rPr>
              <a:t>Focus (bottleneck) shift: </a:t>
            </a:r>
            <a:endParaRPr>
              <a:latin typeface="Calibri"/>
              <a:ea typeface="Calibri"/>
              <a:cs typeface="Calibri"/>
              <a:sym typeface="Calibri"/>
            </a:endParaRPr>
          </a:p>
          <a:p>
            <a:pPr marL="171450" marR="0" lvl="0" indent="-146050" algn="l" rtl="0">
              <a:lnSpc>
                <a:spcPct val="100000"/>
              </a:lnSpc>
              <a:spcBef>
                <a:spcPts val="0"/>
              </a:spcBef>
              <a:spcAft>
                <a:spcPts val="0"/>
              </a:spcAft>
              <a:buClr>
                <a:schemeClr val="dk1"/>
              </a:buClr>
              <a:buSzPts val="1400"/>
              <a:buFont typeface="Calibri"/>
              <a:buChar char="●"/>
            </a:pPr>
            <a:r>
              <a:rPr lang="en">
                <a:latin typeface="Calibri"/>
                <a:ea typeface="Calibri"/>
                <a:cs typeface="Calibri"/>
                <a:sym typeface="Calibri"/>
              </a:rPr>
              <a:t>from trying to choose the best model to orchestration of multiple models and doing self-planning and splitting responsibilities between models</a:t>
            </a:r>
            <a:endParaRPr>
              <a:latin typeface="Calibri"/>
              <a:ea typeface="Calibri"/>
              <a:cs typeface="Calibri"/>
              <a:sym typeface="Calibri"/>
            </a:endParaRPr>
          </a:p>
        </p:txBody>
      </p:sp>
      <p:pic>
        <p:nvPicPr>
          <p:cNvPr id="215" name="Google Shape;215;p30"/>
          <p:cNvPicPr preferRelativeResize="0"/>
          <p:nvPr/>
        </p:nvPicPr>
        <p:blipFill>
          <a:blip r:embed="rId4">
            <a:alphaModFix/>
          </a:blip>
          <a:stretch>
            <a:fillRect/>
          </a:stretch>
        </p:blipFill>
        <p:spPr>
          <a:xfrm>
            <a:off x="4846505" y="2084733"/>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1"/>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21" name="Google Shape;221;p31"/>
          <p:cNvSpPr txBox="1"/>
          <p:nvPr/>
        </p:nvSpPr>
        <p:spPr>
          <a:xfrm>
            <a:off x="150250" y="464325"/>
            <a:ext cx="43083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MaxClaw - Miniax's agent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https://www.youtube.com/watch?v=0RvF4k0bt9w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Similar to OpenClaw, but easy to deploy in 10 sec through a web interface, runs 24/7 in the cloud, and integrates with Telegram, WhatsApp, Discord, and Slack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$19/mo - cheaper than alternatives like Manus at $49/month.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While OpenClaw offers more control for developers and privacy-conscious users, MaxClaw suits beginners who want functionality without technical complexity</a:t>
            </a:r>
            <a:endParaRPr sz="1200">
              <a:latin typeface="Calibri"/>
              <a:ea typeface="Calibri"/>
              <a:cs typeface="Calibri"/>
              <a:sym typeface="Calibri"/>
            </a:endParaRPr>
          </a:p>
        </p:txBody>
      </p:sp>
      <p:sp>
        <p:nvSpPr>
          <p:cNvPr id="222" name="Google Shape;222;p31"/>
          <p:cNvSpPr txBox="1"/>
          <p:nvPr/>
        </p:nvSpPr>
        <p:spPr>
          <a:xfrm>
            <a:off x="4661850" y="1179933"/>
            <a:ext cx="43956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Qwen3.5‑9B - text,  images, short videos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9B params, multimodal, 32-layer transformer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long contexts (hundreds of thousands of tokens)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Apache‑2.0 license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Good reasoning, and coding benchmarks, while remaining practical on consumer GPUs. In practice it runs unquantized on 18–20 GB VRAM, or in 4‑bit quantization around 5–6 GB, making it suitable for single‑GPU setups, higher‑end laptops, and common local‑LLM toolchains.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Qwen3.5 family of models:</a:t>
            </a:r>
            <a:endParaRPr sz="1200">
              <a:latin typeface="Calibri"/>
              <a:ea typeface="Calibri"/>
              <a:cs typeface="Calibri"/>
              <a:sym typeface="Calibri"/>
            </a:endParaRPr>
          </a:p>
          <a:p>
            <a:pPr marL="6286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Qwen3.5‑397B‑A17B</a:t>
            </a:r>
            <a:endParaRPr sz="1200">
              <a:solidFill>
                <a:srgbClr val="6AA84F"/>
              </a:solidFill>
              <a:latin typeface="Calibri"/>
              <a:ea typeface="Calibri"/>
              <a:cs typeface="Calibri"/>
              <a:sym typeface="Calibri"/>
            </a:endParaRPr>
          </a:p>
          <a:p>
            <a:pPr marL="6286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Qwen3.5‑122B‑A10B</a:t>
            </a:r>
            <a:endParaRPr sz="1200">
              <a:solidFill>
                <a:srgbClr val="6AA84F"/>
              </a:solidFill>
              <a:latin typeface="Calibri"/>
              <a:ea typeface="Calibri"/>
              <a:cs typeface="Calibri"/>
              <a:sym typeface="Calibri"/>
            </a:endParaRPr>
          </a:p>
          <a:p>
            <a:pPr marL="6286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Qwen3.5‑35B‑A3B</a:t>
            </a:r>
            <a:endParaRPr sz="1200">
              <a:solidFill>
                <a:srgbClr val="6AA84F"/>
              </a:solidFill>
              <a:latin typeface="Calibri"/>
              <a:ea typeface="Calibri"/>
              <a:cs typeface="Calibri"/>
              <a:sym typeface="Calibri"/>
            </a:endParaRPr>
          </a:p>
          <a:p>
            <a:pPr marL="6286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Qwen3.5‑27B</a:t>
            </a:r>
            <a:endParaRPr sz="1200">
              <a:solidFill>
                <a:srgbClr val="6AA84F"/>
              </a:solidFill>
              <a:latin typeface="Calibri"/>
              <a:ea typeface="Calibri"/>
              <a:cs typeface="Calibri"/>
              <a:sym typeface="Calibri"/>
            </a:endParaRPr>
          </a:p>
          <a:p>
            <a:pPr marL="6286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Qwen3.5‑9B</a:t>
            </a:r>
            <a:endParaRPr sz="1200">
              <a:solidFill>
                <a:srgbClr val="6AA84F"/>
              </a:solidFill>
              <a:latin typeface="Calibri"/>
              <a:ea typeface="Calibri"/>
              <a:cs typeface="Calibri"/>
              <a:sym typeface="Calibri"/>
            </a:endParaRPr>
          </a:p>
          <a:p>
            <a:pPr marL="6286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Qwen3.5‑4B</a:t>
            </a:r>
            <a:endParaRPr sz="1200">
              <a:solidFill>
                <a:srgbClr val="6AA84F"/>
              </a:solidFill>
              <a:latin typeface="Calibri"/>
              <a:ea typeface="Calibri"/>
              <a:cs typeface="Calibri"/>
              <a:sym typeface="Calibri"/>
            </a:endParaRPr>
          </a:p>
          <a:p>
            <a:pPr marL="6286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Qwen3.5‑2B</a:t>
            </a:r>
            <a:endParaRPr sz="1200">
              <a:solidFill>
                <a:srgbClr val="6AA84F"/>
              </a:solidFill>
              <a:latin typeface="Calibri"/>
              <a:ea typeface="Calibri"/>
              <a:cs typeface="Calibri"/>
              <a:sym typeface="Calibri"/>
            </a:endParaRPr>
          </a:p>
          <a:p>
            <a:pPr marL="628650" marR="0" lvl="0"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Qwen3.5‑0.8B</a:t>
            </a:r>
            <a:endParaRPr sz="1200">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100" b="1">
                <a:solidFill>
                  <a:srgbClr val="3C78D8"/>
                </a:solidFill>
                <a:latin typeface="Roboto Mono"/>
                <a:ea typeface="Roboto Mono"/>
                <a:cs typeface="Roboto Mono"/>
                <a:sym typeface="Roboto Mono"/>
              </a:rPr>
              <a:t>ollama run qwen3.5:9b|4b|2b|0.8b</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with tool calling + thinking + multimodal</a:t>
            </a:r>
            <a:endParaRPr sz="1200">
              <a:solidFill>
                <a:schemeClr val="dk1"/>
              </a:solidFill>
              <a:latin typeface="Calibri"/>
              <a:ea typeface="Calibri"/>
              <a:cs typeface="Calibri"/>
              <a:sym typeface="Calibri"/>
            </a:endParaRPr>
          </a:p>
        </p:txBody>
      </p:sp>
      <p:pic>
        <p:nvPicPr>
          <p:cNvPr id="223" name="Google Shape;223;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50250" y="2219500"/>
            <a:ext cx="2692400" cy="935250"/>
          </a:xfrm>
          <a:prstGeom prst="rect">
            <a:avLst/>
          </a:prstGeom>
          <a:noFill/>
          <a:ln w="9525" cap="flat" cmpd="sng">
            <a:solidFill>
              <a:srgbClr val="FF0000"/>
            </a:solidFill>
            <a:prstDash val="solid"/>
            <a:round/>
            <a:headEnd type="none" w="sm" len="sm"/>
            <a:tailEnd type="none" w="sm" len="sm"/>
          </a:ln>
        </p:spPr>
      </p:pic>
      <p:pic>
        <p:nvPicPr>
          <p:cNvPr id="224" name="Google Shape;224;p31"/>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6963924" y="464325"/>
            <a:ext cx="2093527" cy="635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2"/>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OpenClaw Tips</a:t>
            </a:r>
            <a:endParaRPr sz="2000" b="1">
              <a:solidFill>
                <a:schemeClr val="dk1"/>
              </a:solidFill>
              <a:latin typeface="Calibri"/>
              <a:ea typeface="Calibri"/>
              <a:cs typeface="Calibri"/>
              <a:sym typeface="Calibri"/>
            </a:endParaRPr>
          </a:p>
        </p:txBody>
      </p:sp>
      <p:sp>
        <p:nvSpPr>
          <p:cNvPr id="230" name="Google Shape;230;p32"/>
          <p:cNvSpPr txBox="1"/>
          <p:nvPr/>
        </p:nvSpPr>
        <p:spPr>
          <a:xfrm>
            <a:off x="43820" y="398733"/>
            <a:ext cx="4503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OpenClaw - how to reduce token usage by 97%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https://www.youtube.com/watch?v=wXTqHgIfyuE</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Keep response lengths concise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 sub-agents for complex tasks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Implement spending limits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Reset sessions regularly</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 OpenRouter for model flexibility</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 tools like n8n for automation that bypass OpenClaw's tokens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Use session commands like compact and new to manage context</a:t>
            </a:r>
            <a:endParaRPr sz="1100">
              <a:latin typeface="Calibri"/>
              <a:ea typeface="Calibri"/>
              <a:cs typeface="Calibri"/>
              <a:sym typeface="Calibri"/>
            </a:endParaRPr>
          </a:p>
        </p:txBody>
      </p:sp>
      <p:sp>
        <p:nvSpPr>
          <p:cNvPr id="231" name="Google Shape;231;p32"/>
          <p:cNvSpPr txBox="1"/>
          <p:nvPr/>
        </p:nvSpPr>
        <p:spPr>
          <a:xfrm>
            <a:off x="43820" y="1949695"/>
            <a:ext cx="4503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Secure OpenClaw AI Agent Setup for Document Intelligence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https://www.youtube.com/watch?v=w_fsQttQ9fY</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Advice - run OpenClaw in an isolated Docker container with restricted folder access and mandatory permission requests for every tool execution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This sandboxed approach allows users to gradually enable capabilities while maintaining security.</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setup involves binding specific folders, configuring environmental variables, enabling multi-channel approval notifications, and requiring explicit permission for all operations</a:t>
            </a:r>
            <a:endParaRPr sz="1100">
              <a:latin typeface="Calibri"/>
              <a:ea typeface="Calibri"/>
              <a:cs typeface="Calibri"/>
              <a:sym typeface="Calibri"/>
            </a:endParaRPr>
          </a:p>
        </p:txBody>
      </p:sp>
      <p:sp>
        <p:nvSpPr>
          <p:cNvPr id="232" name="Google Shape;232;p32"/>
          <p:cNvSpPr txBox="1"/>
          <p:nvPr/>
        </p:nvSpPr>
        <p:spPr>
          <a:xfrm>
            <a:off x="43820" y="3491994"/>
            <a:ext cx="4503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How to Make OpenClaw 10X Better</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https://www.youtube.com/watch?v=aahMd7s_EDM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Skill Boss (costs $15)</a:t>
            </a:r>
            <a:r>
              <a:rPr lang="en" sz="1100">
                <a:latin typeface="Calibri"/>
                <a:ea typeface="Calibri"/>
                <a:cs typeface="Calibri"/>
                <a:sym typeface="Calibri"/>
              </a:rPr>
              <a:t> - connects OpenClaw to over 100 AI models and services for generating images, videos, audio, hosting websites, and accessing Hugging Face models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OpenClaw Awesome Skills</a:t>
            </a:r>
            <a:r>
              <a:rPr lang="en" sz="1100">
                <a:latin typeface="Calibri"/>
                <a:ea typeface="Calibri"/>
                <a:cs typeface="Calibri"/>
                <a:sym typeface="Calibri"/>
              </a:rPr>
              <a:t>, a catalog of 2,800 community-built skills for specific tasks like marketing and SEO</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Mission Control </a:t>
            </a:r>
            <a:r>
              <a:rPr lang="en" sz="1100">
                <a:latin typeface="Calibri"/>
                <a:ea typeface="Calibri"/>
                <a:cs typeface="Calibri"/>
                <a:sym typeface="Calibri"/>
              </a:rPr>
              <a:t>- managing multiple AI agents simultaneously with a Trello-like task board interface.</a:t>
            </a:r>
            <a:endParaRPr sz="1100">
              <a:latin typeface="Calibri"/>
              <a:ea typeface="Calibri"/>
              <a:cs typeface="Calibri"/>
              <a:sym typeface="Calibri"/>
            </a:endParaRPr>
          </a:p>
        </p:txBody>
      </p:sp>
      <p:sp>
        <p:nvSpPr>
          <p:cNvPr id="233" name="Google Shape;233;p32"/>
          <p:cNvSpPr txBox="1"/>
          <p:nvPr/>
        </p:nvSpPr>
        <p:spPr>
          <a:xfrm>
            <a:off x="4668625" y="73109"/>
            <a:ext cx="43668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Openclaw Memory Mistake You're Making Right Now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https://www.youtube.com/watch?v=Nt03hgxv5TE</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OpenClaw agents often use a single huge memory file, which confuses the model and wastes tokens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Better memory strategies for persistent, efficient context:</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Method 1: structured markdown folders for goals, decisions, preferences, and knowledge, updated each session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Method 2: enabling OpenClaw’s built‑in memory search with embeddings, which requires OpenAI, Gemini, or Voyage keys even if you mainly use Claude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Method 3: the Mem0 plugin for automatic long‑term conversational memory</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Method 4: storing dense structured data in a native SQLite database for precise querying, combining all methods into a layered “memory architecture.”</a:t>
            </a:r>
            <a:endParaRPr sz="1100">
              <a:latin typeface="Calibri"/>
              <a:ea typeface="Calibri"/>
              <a:cs typeface="Calibri"/>
              <a:sym typeface="Calibri"/>
            </a:endParaRPr>
          </a:p>
        </p:txBody>
      </p:sp>
      <p:sp>
        <p:nvSpPr>
          <p:cNvPr id="234" name="Google Shape;234;p32"/>
          <p:cNvSpPr txBox="1"/>
          <p:nvPr/>
        </p:nvSpPr>
        <p:spPr>
          <a:xfrm>
            <a:off x="4668625" y="2715411"/>
            <a:ext cx="43668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Three-layer memory solution for OpenClaw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7"/>
              </a:rPr>
              <a:t>https://www.youtube.com/watch?v=s4EeKwJnCUs</a:t>
            </a:r>
            <a:r>
              <a:rPr lang="en" sz="1100">
                <a:latin typeface="Calibri"/>
                <a:ea typeface="Calibri"/>
                <a:cs typeface="Calibri"/>
                <a:sym typeface="Calibri"/>
              </a:rPr>
              <a:t> </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daily notes (raw logs)</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curated memory files</a:t>
            </a:r>
            <a:endParaRPr sz="1100">
              <a:latin typeface="Calibri"/>
              <a:ea typeface="Calibri"/>
              <a:cs typeface="Calibri"/>
              <a:sym typeface="Calibri"/>
            </a:endParaRPr>
          </a:p>
          <a:p>
            <a:pPr marL="45720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semantic search with vector database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Memory updates itself without manual intervention. This method achieves 99% memory retention</a:t>
            </a:r>
            <a:endParaRPr sz="1100">
              <a:latin typeface="Calibri"/>
              <a:ea typeface="Calibri"/>
              <a:cs typeface="Calibri"/>
              <a:sym typeface="Calibri"/>
            </a:endParaRPr>
          </a:p>
        </p:txBody>
      </p:sp>
      <p:pic>
        <p:nvPicPr>
          <p:cNvPr id="235" name="Google Shape;235;p32"/>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034514" y="4094025"/>
            <a:ext cx="3635025" cy="768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3"/>
          <p:cNvSpPr txBox="1"/>
          <p:nvPr/>
        </p:nvSpPr>
        <p:spPr>
          <a:xfrm>
            <a:off x="55075" y="63650"/>
            <a:ext cx="4726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Tools That Make OpenClaw Actually Useful</a:t>
            </a:r>
            <a:endParaRPr sz="2000" b="1">
              <a:solidFill>
                <a:schemeClr val="dk1"/>
              </a:solidFill>
              <a:latin typeface="Calibri"/>
              <a:ea typeface="Calibri"/>
              <a:cs typeface="Calibri"/>
              <a:sym typeface="Calibri"/>
            </a:endParaRPr>
          </a:p>
        </p:txBody>
      </p:sp>
      <p:sp>
        <p:nvSpPr>
          <p:cNvPr id="241" name="Google Shape;241;p33"/>
          <p:cNvSpPr txBox="1"/>
          <p:nvPr/>
        </p:nvSpPr>
        <p:spPr>
          <a:xfrm>
            <a:off x="55075" y="422100"/>
            <a:ext cx="44217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Tools That Make OpenClaw Actually Useful</a:t>
            </a:r>
            <a:br>
              <a:rPr lang="en" sz="1100" b="1">
                <a:solidFill>
                  <a:srgbClr val="FF0000"/>
                </a:solidFill>
                <a:latin typeface="Calibri"/>
                <a:ea typeface="Calibri"/>
                <a:cs typeface="Calibri"/>
                <a:sym typeface="Calibri"/>
              </a:rPr>
            </a:br>
            <a:r>
              <a:rPr lang="en" sz="1100" u="sng">
                <a:solidFill>
                  <a:schemeClr val="hlink"/>
                </a:solidFill>
                <a:latin typeface="Calibri"/>
                <a:ea typeface="Calibri"/>
                <a:cs typeface="Calibri"/>
                <a:sym typeface="Calibri"/>
                <a:hlinkClick r:id="rId3"/>
              </a:rPr>
              <a:t>https://www.youtube.com/watch?v=QvfqAMUJTT4</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Agent Mail </a:t>
            </a:r>
            <a:r>
              <a:rPr lang="en" sz="1100">
                <a:latin typeface="Calibri"/>
                <a:ea typeface="Calibri"/>
                <a:cs typeface="Calibri"/>
                <a:sym typeface="Calibri"/>
              </a:rPr>
              <a:t> - email service for AI agents - email handling without risk of account bans from traditional providers</a:t>
            </a:r>
            <a:br>
              <a:rPr lang="en" sz="1100">
                <a:latin typeface="Calibri"/>
                <a:ea typeface="Calibri"/>
                <a:cs typeface="Calibri"/>
                <a:sym typeface="Calibri"/>
              </a:rPr>
            </a:br>
            <a:r>
              <a:rPr lang="en" sz="1100">
                <a:latin typeface="Calibri"/>
                <a:ea typeface="Calibri"/>
                <a:cs typeface="Calibri"/>
                <a:sym typeface="Calibri"/>
              </a:rPr>
              <a:t>.. </a:t>
            </a:r>
            <a:r>
              <a:rPr lang="en" sz="1100" u="sng">
                <a:solidFill>
                  <a:schemeClr val="hlink"/>
                </a:solidFill>
                <a:latin typeface="Calibri"/>
                <a:ea typeface="Calibri"/>
                <a:cs typeface="Calibri"/>
                <a:sym typeface="Calibri"/>
                <a:hlinkClick r:id="rId4"/>
              </a:rPr>
              <a:t>https://www.agentmail.to</a:t>
            </a:r>
            <a:r>
              <a:rPr lang="en" sz="1100">
                <a:latin typeface="Calibri"/>
                <a:ea typeface="Calibri"/>
                <a:cs typeface="Calibri"/>
                <a:sym typeface="Calibri"/>
              </a:rPr>
              <a:t> </a:t>
            </a:r>
            <a:br>
              <a:rPr lang="en" sz="1100">
                <a:latin typeface="Calibri"/>
                <a:ea typeface="Calibri"/>
                <a:cs typeface="Calibri"/>
                <a:sym typeface="Calibri"/>
              </a:rPr>
            </a:br>
            <a:r>
              <a:rPr lang="en" sz="1100">
                <a:latin typeface="Calibri"/>
                <a:ea typeface="Calibri"/>
                <a:cs typeface="Calibri"/>
                <a:sym typeface="Calibri"/>
              </a:rPr>
              <a:t>.. </a:t>
            </a:r>
            <a:r>
              <a:rPr lang="en" sz="1100" u="sng">
                <a:solidFill>
                  <a:schemeClr val="hlink"/>
                </a:solidFill>
                <a:latin typeface="Calibri"/>
                <a:ea typeface="Calibri"/>
                <a:cs typeface="Calibri"/>
                <a:sym typeface="Calibri"/>
                <a:hlinkClick r:id="rId5"/>
              </a:rPr>
              <a:t>https://clawhub.ai/adboio/agentmail</a:t>
            </a:r>
            <a:r>
              <a:rPr lang="en" sz="1100">
                <a:latin typeface="Calibri"/>
                <a:ea typeface="Calibri"/>
                <a:cs typeface="Calibri"/>
                <a:sym typeface="Calibri"/>
              </a:rPr>
              <a:t> </a:t>
            </a:r>
            <a:br>
              <a:rPr lang="en" sz="1100">
                <a:latin typeface="Calibri"/>
                <a:ea typeface="Calibri"/>
                <a:cs typeface="Calibri"/>
                <a:sym typeface="Calibri"/>
              </a:rPr>
            </a:b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QMD replaces OpenClaw's basic keyword-based memory system</a:t>
            </a:r>
            <a:r>
              <a:rPr lang="en" sz="1100">
                <a:latin typeface="Calibri"/>
                <a:ea typeface="Calibri"/>
                <a:cs typeface="Calibri"/>
                <a:sym typeface="Calibri"/>
              </a:rPr>
              <a:t> with a hybrid search engine that combines keyword, vector, and LLM-powered re-ranking for much better recall of past interactions</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6"/>
              </a:rPr>
              <a:t>https://github.com/tobi/qmd</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7"/>
              </a:rPr>
              <a:t>https://docs.openclaw.ai/concepts/memory#qmd-backend-experimental</a:t>
            </a:r>
            <a:r>
              <a:rPr lang="en" sz="1100">
                <a:latin typeface="Calibri"/>
                <a:ea typeface="Calibri"/>
                <a:cs typeface="Calibri"/>
                <a:sym typeface="Calibri"/>
              </a:rPr>
              <a:t> </a:t>
            </a:r>
            <a:br>
              <a:rPr lang="en" sz="1100">
                <a:latin typeface="Calibri"/>
                <a:ea typeface="Calibri"/>
                <a:cs typeface="Calibri"/>
                <a:sym typeface="Calibri"/>
              </a:rPr>
            </a:b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b="1">
                <a:solidFill>
                  <a:srgbClr val="FF0000"/>
                </a:solidFill>
                <a:latin typeface="Calibri"/>
                <a:ea typeface="Calibri"/>
                <a:cs typeface="Calibri"/>
                <a:sym typeface="Calibri"/>
              </a:rPr>
              <a:t>Agent Browser</a:t>
            </a:r>
            <a:r>
              <a:rPr lang="en" sz="1100">
                <a:latin typeface="Calibri"/>
                <a:ea typeface="Calibri"/>
                <a:cs typeface="Calibri"/>
                <a:sym typeface="Calibri"/>
              </a:rPr>
              <a:t> - a command-line web browsing tool that uses </a:t>
            </a:r>
            <a:r>
              <a:rPr lang="en" sz="1100" b="1">
                <a:solidFill>
                  <a:srgbClr val="FF0000"/>
                </a:solidFill>
                <a:latin typeface="Calibri"/>
                <a:ea typeface="Calibri"/>
                <a:cs typeface="Calibri"/>
                <a:sym typeface="Calibri"/>
              </a:rPr>
              <a:t>93% fewer tokens </a:t>
            </a:r>
            <a:r>
              <a:rPr lang="en" sz="1100">
                <a:latin typeface="Calibri"/>
                <a:ea typeface="Calibri"/>
                <a:cs typeface="Calibri"/>
                <a:sym typeface="Calibri"/>
              </a:rPr>
              <a:t>than traditional browser automation tools while providing the same functionality including clicking, form filling, and screenshot capabilities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8"/>
              </a:rPr>
              <a:t>https://github.com/vercel-labs/agent-browser</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42" name="Google Shape;242;p3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661600" y="422100"/>
            <a:ext cx="4047775" cy="19957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34"/>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48" name="Google Shape;248;p34"/>
          <p:cNvSpPr txBox="1"/>
          <p:nvPr/>
        </p:nvSpPr>
        <p:spPr>
          <a:xfrm>
            <a:off x="55070" y="2150715"/>
            <a:ext cx="4503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SHARE + Sidecar - Model That Learns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SHARE framework prevents "catastrophic forgetting" by organizing new tasks into shared mathematical subspaces rather than overwriting old data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Sidecar acts as an "online learning" partner, using "novelty energy" and "emotional salience" to decide which real-time information is important enough to remember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By merging these, AI can mimic biological memory—consolidating short-term experiences into long-term knowledge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https://www.youtube.com/watch?v=FyRwcYXAWGg</a:t>
            </a:r>
            <a:endParaRPr sz="1100">
              <a:latin typeface="Calibri"/>
              <a:ea typeface="Calibri"/>
              <a:cs typeface="Calibri"/>
              <a:sym typeface="Calibri"/>
            </a:endParaRPr>
          </a:p>
        </p:txBody>
      </p:sp>
      <p:sp>
        <p:nvSpPr>
          <p:cNvPr id="249" name="Google Shape;249;p34"/>
          <p:cNvSpPr txBox="1"/>
          <p:nvPr/>
        </p:nvSpPr>
        <p:spPr>
          <a:xfrm>
            <a:off x="55070" y="492233"/>
            <a:ext cx="45039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Toggle</a:t>
            </a:r>
            <a:r>
              <a:rPr lang="en" sz="1100">
                <a:latin typeface="Calibri"/>
                <a:ea typeface="Calibri"/>
                <a:cs typeface="Calibri"/>
                <a:sym typeface="Calibri"/>
              </a:rPr>
              <a:t> - browser agent skill for OpenClaw (in Beta)</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https://www.youtube.com/watch?v=VTgA-_X9wuI</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Toggle installs as a Chrome extension that monitors browser activity across Google Sheets, Gmail, Slack, and Notion, feeding this context to OpenClaw</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tool provides productivity features like daily digest reports, alerts for abandoned projects, and context switch warnings when jumping between too many tabs without focus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It automatically suggests automation opportunities based on repetitive browser patterns and maintains a focus score.</a:t>
            </a:r>
            <a:endParaRPr sz="1100">
              <a:latin typeface="Calibri"/>
              <a:ea typeface="Calibri"/>
              <a:cs typeface="Calibri"/>
              <a:sym typeface="Calibri"/>
            </a:endParaRPr>
          </a:p>
        </p:txBody>
      </p:sp>
      <p:pic>
        <p:nvPicPr>
          <p:cNvPr id="250" name="Google Shape;250;p3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57250" y="2150723"/>
            <a:ext cx="3297762" cy="1542300"/>
          </a:xfrm>
          <a:prstGeom prst="rect">
            <a:avLst/>
          </a:prstGeom>
          <a:noFill/>
          <a:ln w="9525" cap="flat" cmpd="sng">
            <a:solidFill>
              <a:srgbClr val="FF0000"/>
            </a:solidFill>
            <a:prstDash val="solid"/>
            <a:round/>
            <a:headEnd type="none" w="sm" len="sm"/>
            <a:tailEnd type="none" w="sm" len="sm"/>
          </a:ln>
        </p:spPr>
      </p:pic>
      <p:pic>
        <p:nvPicPr>
          <p:cNvPr id="251" name="Google Shape;251;p34"/>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57250" y="161875"/>
            <a:ext cx="3297776" cy="187265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35"/>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57" name="Google Shape;257;p35"/>
          <p:cNvSpPr txBox="1"/>
          <p:nvPr/>
        </p:nvSpPr>
        <p:spPr>
          <a:xfrm>
            <a:off x="55075" y="464325"/>
            <a:ext cx="44535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Kane AI (KaneAI) software testing assistant from LambdaTest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Helps QA and development teams plan, create, run, and debug tests using natural language instead of code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acts as an end‑to‑end testing agent, generating and evolving test cases, exporting code in multiple programming languages, and supporting web, mobile, API, and cloud-based testing workflows. Key capabilities include intelligent test planning, self‑healing tests that adapt to UI changes, smart debugging, auto bug detection, and tight integrations with tools like Jira, Slack, GitHub, and CI/CD pipelines. By turning plain-language prompts into executable automated tests, Kane AI lowers the barrier to test automation and accelerates quality engineering for both manual testers and automation engineers. [qable](https://www.qable.io/blog/kane-ai-test-automation-for-testers)</a:t>
            </a:r>
            <a:endParaRPr sz="1200">
              <a:latin typeface="Calibri"/>
              <a:ea typeface="Calibri"/>
              <a:cs typeface="Calibri"/>
              <a:sym typeface="Calibri"/>
            </a:endParaRPr>
          </a:p>
        </p:txBody>
      </p:sp>
      <p:sp>
        <p:nvSpPr>
          <p:cNvPr id="258" name="Google Shape;258;p35"/>
          <p:cNvSpPr txBox="1"/>
          <p:nvPr/>
        </p:nvSpPr>
        <p:spPr>
          <a:xfrm>
            <a:off x="4742175" y="1706725"/>
            <a:ext cx="43290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Code + Telegram bot (in Russian)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https://www.youtube.com/watch?v=RnhgSdeLtVw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a secure bridge connecting Claude Code CLI with Telegram and WhatsApp.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setup involves deploying a 900-line "mega-prompt" that creates the bridge connection (Telegram, WhatsApp, and all MCP tools). You give it access to skills and tools once, and it can use them anywhere - in the terminal, in your Claude web interface, or through this assistant bot.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author sells membership which gives access to his prompts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deployment procedure takes 10-15 min using using VSCode, Claude Code subscription, Telegram API key, and Chat ID for authorization.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method maintains all of Claude Code's advanced features including MCP server connections, file systems, memory, and internet search while providing the convenience of smartphone-based interaction without compromising security or violating platform terms of service.</a:t>
            </a:r>
            <a:endParaRPr sz="1200">
              <a:latin typeface="Calibri"/>
              <a:ea typeface="Calibri"/>
              <a:cs typeface="Calibri"/>
              <a:sym typeface="Calibri"/>
            </a:endParaRPr>
          </a:p>
        </p:txBody>
      </p:sp>
      <p:pic>
        <p:nvPicPr>
          <p:cNvPr id="259" name="Google Shape;259;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84225" y="43225"/>
            <a:ext cx="1970800" cy="1071381"/>
          </a:xfrm>
          <a:prstGeom prst="rect">
            <a:avLst/>
          </a:prstGeom>
          <a:noFill/>
          <a:ln w="9525" cap="flat" cmpd="sng">
            <a:solidFill>
              <a:srgbClr val="FF0000"/>
            </a:solidFill>
            <a:prstDash val="solid"/>
            <a:round/>
            <a:headEnd type="none" w="sm" len="sm"/>
            <a:tailEnd type="none" w="sm" len="sm"/>
          </a:ln>
        </p:spPr>
      </p:pic>
      <p:pic>
        <p:nvPicPr>
          <p:cNvPr id="260" name="Google Shape;260;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100375" y="193325"/>
            <a:ext cx="1970800" cy="1418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36"/>
          <p:cNvSpPr txBox="1"/>
          <p:nvPr/>
        </p:nvSpPr>
        <p:spPr>
          <a:xfrm>
            <a:off x="55075" y="63650"/>
            <a:ext cx="3025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Apple Updates:</a:t>
            </a:r>
            <a:endParaRPr sz="2000" b="1">
              <a:solidFill>
                <a:schemeClr val="dk1"/>
              </a:solidFill>
              <a:latin typeface="Calibri"/>
              <a:ea typeface="Calibri"/>
              <a:cs typeface="Calibri"/>
              <a:sym typeface="Calibri"/>
            </a:endParaRPr>
          </a:p>
        </p:txBody>
      </p:sp>
      <p:sp>
        <p:nvSpPr>
          <p:cNvPr id="266" name="Google Shape;266;p36"/>
          <p:cNvSpPr txBox="1"/>
          <p:nvPr/>
        </p:nvSpPr>
        <p:spPr>
          <a:xfrm>
            <a:off x="92725" y="710717"/>
            <a:ext cx="29502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Apple Updates:</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iPhone 17e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iPad Air M4 (11‑inch and 13‑inch)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Studio Display (new generation)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Studio Display XDR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MacBook Air M5 (13‑inch and 15‑inch)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MacBook Pro M5 Pro  </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MacBook Pro M5 Max</a:t>
            </a:r>
            <a:endParaRPr sz="1200">
              <a:latin typeface="Calibri"/>
              <a:ea typeface="Calibri"/>
              <a:cs typeface="Calibri"/>
              <a:sym typeface="Calibri"/>
            </a:endParaRPr>
          </a:p>
          <a:p>
            <a:pPr marL="4000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Mac Neo</a:t>
            </a:r>
            <a:endParaRPr sz="1200">
              <a:latin typeface="Calibri"/>
              <a:ea typeface="Calibri"/>
              <a:cs typeface="Calibri"/>
              <a:sym typeface="Calibri"/>
            </a:endParaRPr>
          </a:p>
        </p:txBody>
      </p:sp>
      <p:pic>
        <p:nvPicPr>
          <p:cNvPr id="267" name="Google Shape;267;p3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777000" y="2488450"/>
            <a:ext cx="1340275" cy="1054650"/>
          </a:xfrm>
          <a:prstGeom prst="rect">
            <a:avLst/>
          </a:prstGeom>
          <a:noFill/>
          <a:ln w="7875" cap="flat" cmpd="sng">
            <a:solidFill>
              <a:srgbClr val="FF0000"/>
            </a:solidFill>
            <a:prstDash val="solid"/>
            <a:round/>
            <a:headEnd type="none" w="sm" len="sm"/>
            <a:tailEnd type="none" w="sm" len="sm"/>
          </a:ln>
        </p:spPr>
      </p:pic>
      <p:pic>
        <p:nvPicPr>
          <p:cNvPr id="268" name="Google Shape;268;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14523" y="582692"/>
            <a:ext cx="1447150" cy="1002284"/>
          </a:xfrm>
          <a:prstGeom prst="rect">
            <a:avLst/>
          </a:prstGeom>
          <a:noFill/>
          <a:ln w="7875" cap="flat" cmpd="sng">
            <a:solidFill>
              <a:srgbClr val="FF0000"/>
            </a:solidFill>
            <a:prstDash val="solid"/>
            <a:round/>
            <a:headEnd type="none" w="sm" len="sm"/>
            <a:tailEnd type="none" w="sm" len="sm"/>
          </a:ln>
        </p:spPr>
      </p:pic>
      <p:pic>
        <p:nvPicPr>
          <p:cNvPr id="269" name="Google Shape;269;p3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814528" y="2513834"/>
            <a:ext cx="1340275" cy="1003894"/>
          </a:xfrm>
          <a:prstGeom prst="rect">
            <a:avLst/>
          </a:prstGeom>
          <a:noFill/>
          <a:ln w="7875" cap="flat" cmpd="sng">
            <a:solidFill>
              <a:srgbClr val="FF0000"/>
            </a:solidFill>
            <a:prstDash val="solid"/>
            <a:round/>
            <a:headEnd type="none" w="sm" len="sm"/>
            <a:tailEnd type="none" w="sm" len="sm"/>
          </a:ln>
        </p:spPr>
      </p:pic>
      <p:pic>
        <p:nvPicPr>
          <p:cNvPr id="270" name="Google Shape;270;p3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413613" y="582688"/>
            <a:ext cx="2294251" cy="1295624"/>
          </a:xfrm>
          <a:prstGeom prst="rect">
            <a:avLst/>
          </a:prstGeom>
          <a:noFill/>
          <a:ln w="9525" cap="flat" cmpd="sng">
            <a:solidFill>
              <a:srgbClr val="FF0000"/>
            </a:solidFill>
            <a:prstDash val="solid"/>
            <a:round/>
            <a:headEnd type="none" w="sm" len="sm"/>
            <a:tailEnd type="none" w="sm" len="sm"/>
          </a:ln>
        </p:spPr>
      </p:pic>
      <p:sp>
        <p:nvSpPr>
          <p:cNvPr id="271" name="Google Shape;271;p36"/>
          <p:cNvSpPr txBox="1"/>
          <p:nvPr/>
        </p:nvSpPr>
        <p:spPr>
          <a:xfrm>
            <a:off x="115425" y="2513817"/>
            <a:ext cx="42630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entry-level devices priced at $600: </a:t>
            </a:r>
            <a:br>
              <a:rPr lang="en" sz="1200">
                <a:latin typeface="Calibri"/>
                <a:ea typeface="Calibri"/>
                <a:cs typeface="Calibri"/>
                <a:sym typeface="Calibri"/>
              </a:rPr>
            </a:br>
            <a:r>
              <a:rPr lang="en" sz="1200">
                <a:latin typeface="Calibri"/>
                <a:ea typeface="Calibri"/>
                <a:cs typeface="Calibri"/>
                <a:sym typeface="Calibri"/>
              </a:rPr>
              <a:t>MacBook Neo | iPad Air | iPhone 17e</a:t>
            </a:r>
            <a:br>
              <a:rPr lang="en" sz="1200">
                <a:latin typeface="Calibri"/>
                <a:ea typeface="Calibri"/>
                <a:cs typeface="Calibri"/>
                <a:sym typeface="Calibri"/>
              </a:rPr>
            </a:b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M5 Pro/Max - modular "chiplet" architecture fuses CPU and GPU dies sharing unified memory into one SoC (System on a Chip).</a:t>
            </a:r>
            <a:br>
              <a:rPr lang="en" sz="1200">
                <a:latin typeface="Calibri"/>
                <a:ea typeface="Calibri"/>
                <a:cs typeface="Calibri"/>
                <a:sym typeface="Calibri"/>
              </a:rPr>
            </a:br>
            <a:r>
              <a:rPr lang="en" sz="1200">
                <a:latin typeface="Calibri"/>
                <a:ea typeface="Calibri"/>
                <a:cs typeface="Calibri"/>
                <a:sym typeface="Calibri"/>
              </a:rPr>
              <a:t>Result - </a:t>
            </a:r>
            <a:r>
              <a:rPr lang="en" sz="1200" b="1">
                <a:solidFill>
                  <a:srgbClr val="FF0000"/>
                </a:solidFill>
                <a:latin typeface="Calibri"/>
                <a:ea typeface="Calibri"/>
                <a:cs typeface="Calibri"/>
                <a:sym typeface="Calibri"/>
              </a:rPr>
              <a:t>AI speed is 4x faster than M4 and 8x faster than M1</a:t>
            </a:r>
            <a:endParaRPr sz="1200" b="1">
              <a:solidFill>
                <a:srgbClr val="FF0000"/>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7"/>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77" name="Google Shape;277;p37"/>
          <p:cNvSpPr txBox="1"/>
          <p:nvPr/>
        </p:nvSpPr>
        <p:spPr>
          <a:xfrm>
            <a:off x="43820" y="398733"/>
            <a:ext cx="45039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Agent Making Money</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Kris has run his AI agent ran autonomously on a Mac Mini for 504 consecutive hours (3 weeks)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Operating through a custom loop connected to WhatsApp, the agent utilized various "skills" to manage social media and sales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experiment yielded impressive results: the agent’s X account gained over 850 followers and nearly one million impressions; its YouTube channel grew by 322 subscribers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Financially, the agent managed an online store that generated $141 in revenue, covering its own operating costs and turning a small profit</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https://www.youtube.com/watch?v=O_5vugzgoik</a:t>
            </a:r>
            <a:endParaRPr sz="1100">
              <a:latin typeface="Calibri"/>
              <a:ea typeface="Calibri"/>
              <a:cs typeface="Calibri"/>
              <a:sym typeface="Calibri"/>
            </a:endParaRPr>
          </a:p>
        </p:txBody>
      </p:sp>
      <p:pic>
        <p:nvPicPr>
          <p:cNvPr id="278" name="Google Shape;278;p3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62000" y="527287"/>
            <a:ext cx="2984551" cy="1623875"/>
          </a:xfrm>
          <a:prstGeom prst="rect">
            <a:avLst/>
          </a:prstGeom>
          <a:noFill/>
          <a:ln w="9525" cap="flat" cmpd="sng">
            <a:solidFill>
              <a:srgbClr val="FF0000"/>
            </a:solidFill>
            <a:prstDash val="solid"/>
            <a:round/>
            <a:headEnd type="none" w="sm" len="sm"/>
            <a:tailEnd type="none" w="sm" len="sm"/>
          </a:ln>
        </p:spPr>
      </p:pic>
      <p:sp>
        <p:nvSpPr>
          <p:cNvPr id="279" name="Google Shape;279;p37"/>
          <p:cNvSpPr txBox="1"/>
          <p:nvPr/>
        </p:nvSpPr>
        <p:spPr>
          <a:xfrm>
            <a:off x="43820" y="2356658"/>
            <a:ext cx="4503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OpenClaw Marketing Team</a:t>
            </a:r>
            <a:endParaRPr sz="1100" b="1">
              <a:solidFill>
                <a:srgbClr val="FF0000"/>
              </a:solidFill>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Ads Analyst - for competitor research</a:t>
            </a:r>
            <a:endParaRPr sz="1100">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Head of Marketing - for strategy and branding</a:t>
            </a:r>
            <a:endParaRPr sz="1100">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Creative Director - for generating landing pages and ads</a:t>
            </a:r>
            <a:endParaRPr sz="1100">
              <a:latin typeface="Calibri"/>
              <a:ea typeface="Calibri"/>
              <a:cs typeface="Calibri"/>
              <a:sym typeface="Calibri"/>
            </a:endParaRPr>
          </a:p>
          <a:p>
            <a:pPr marL="4000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Performance Marketer - to push campaigns live via API.</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 workflow is powered by simple markdown files containing instructions, requiring no coding knowledge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Each role automatically hands off tasks to the next, creating a seamless, automated pipeline</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This technology saves hundreds of hours by replacing manual marketing tasks with efficient, 24/7 AI collaboration</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https://www.youtube.com/watch?v=9B3efFw6_HQ</a:t>
            </a:r>
            <a:endParaRPr sz="1100">
              <a:latin typeface="Calibri"/>
              <a:ea typeface="Calibri"/>
              <a:cs typeface="Calibri"/>
              <a:sym typeface="Calibri"/>
            </a:endParaRPr>
          </a:p>
        </p:txBody>
      </p:sp>
      <p:pic>
        <p:nvPicPr>
          <p:cNvPr id="280" name="Google Shape;280;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862002" y="2569812"/>
            <a:ext cx="2984551" cy="162386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38"/>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86" name="Google Shape;286;p38"/>
          <p:cNvSpPr txBox="1"/>
          <p:nvPr/>
        </p:nvSpPr>
        <p:spPr>
          <a:xfrm>
            <a:off x="43820" y="398733"/>
            <a:ext cx="4503900" cy="238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t>
            </a:r>
            <a:r>
              <a:rPr lang="en" sz="1100" b="1">
                <a:solidFill>
                  <a:srgbClr val="FF0000"/>
                </a:solidFill>
                <a:latin typeface="Calibri"/>
                <a:ea typeface="Calibri"/>
                <a:cs typeface="Calibri"/>
                <a:sym typeface="Calibri"/>
              </a:rPr>
              <a:t>The 2028 Global Intelligence Crisis." - by Citrini Research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AI-driven "vibe coding" allows single developers to replicate expensive software, destroying the pricing power of major tech firms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This leads to a "displacement spiral" where white-collar workers are laid off, flooding lower-wage sectors like ride-sharing and causing a massive compression in wages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This shift triggers defaults in private credit and mortgages, as high earners can no longer afford the lives they financed</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While the video creator critiques the report for overlooking corporate bureaucracy, security liabilities, and logistical moats like those of DoorDash, the core message serves as a warning: our financial systems are built on the scarcity of human intelligence, and a sudden abundance of machine intelligence could fundamentally break that foundation </a:t>
            </a:r>
            <a:r>
              <a:rPr lang="en" sz="1100" u="sng">
                <a:solidFill>
                  <a:schemeClr val="hlink"/>
                </a:solidFill>
                <a:latin typeface="Calibri"/>
                <a:ea typeface="Calibri"/>
                <a:cs typeface="Calibri"/>
                <a:sym typeface="Calibri"/>
                <a:hlinkClick r:id="rId3"/>
              </a:rPr>
              <a:t>http://www.youtube.com/watch?v=khWnSVIfMQM</a:t>
            </a:r>
            <a:r>
              <a:rPr lang="en" sz="1100">
                <a:latin typeface="Calibri"/>
                <a:ea typeface="Calibri"/>
                <a:cs typeface="Calibri"/>
                <a:sym typeface="Calibri"/>
              </a:rPr>
              <a:t> </a:t>
            </a:r>
            <a:endParaRPr sz="1100">
              <a:latin typeface="Calibri"/>
              <a:ea typeface="Calibri"/>
              <a:cs typeface="Calibri"/>
              <a:sym typeface="Calibri"/>
            </a:endParaRPr>
          </a:p>
        </p:txBody>
      </p:sp>
      <p:sp>
        <p:nvSpPr>
          <p:cNvPr id="287" name="Google Shape;287;p38"/>
          <p:cNvSpPr txBox="1"/>
          <p:nvPr/>
        </p:nvSpPr>
        <p:spPr>
          <a:xfrm>
            <a:off x="43820" y="4256383"/>
            <a:ext cx="45039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Perplexity has the industry leading search embedding models</a:t>
            </a:r>
            <a:r>
              <a:rPr lang="en" sz="1200">
                <a:latin typeface="Calibri"/>
                <a:ea typeface="Calibri"/>
                <a:cs typeface="Calibri"/>
                <a:sym typeface="Calibri"/>
              </a:rPr>
              <a:t>, surpassing Google and Alibaba</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4"/>
              </a:rPr>
              <a:t>https://x.com/AravSrinivas/status/2027096219198394614</a:t>
            </a:r>
            <a:r>
              <a:rPr lang="en" sz="1200">
                <a:latin typeface="Calibri"/>
                <a:ea typeface="Calibri"/>
                <a:cs typeface="Calibri"/>
                <a:sym typeface="Calibri"/>
              </a:rPr>
              <a:t> </a:t>
            </a:r>
            <a:endParaRPr sz="1200">
              <a:latin typeface="Calibri"/>
              <a:ea typeface="Calibri"/>
              <a:cs typeface="Calibri"/>
              <a:sym typeface="Calibri"/>
            </a:endParaRPr>
          </a:p>
        </p:txBody>
      </p:sp>
      <p:sp>
        <p:nvSpPr>
          <p:cNvPr id="288" name="Google Shape;288;p38"/>
          <p:cNvSpPr txBox="1"/>
          <p:nvPr/>
        </p:nvSpPr>
        <p:spPr>
          <a:xfrm>
            <a:off x="43820" y="3028908"/>
            <a:ext cx="45039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ServiceNow launches AI workforce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ServiceNow just launched new AI tools called Autonomous Workforce &amp; EmployeeWorks. These AI specialists can handle entire jobs in IT &amp; HR, like fixing tech issues, without human help. The company says its internal use resolves 90% of requests 99% faster than people. This moves AI from assisting to fully executing tasks.</a:t>
            </a:r>
            <a:endParaRPr sz="1100">
              <a:latin typeface="Calibri"/>
              <a:ea typeface="Calibri"/>
              <a:cs typeface="Calibri"/>
              <a:sym typeface="Calibri"/>
            </a:endParaRPr>
          </a:p>
        </p:txBody>
      </p:sp>
      <p:pic>
        <p:nvPicPr>
          <p:cNvPr id="289" name="Google Shape;289;p3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21300" y="3237387"/>
            <a:ext cx="3527149" cy="617425"/>
          </a:xfrm>
          <a:prstGeom prst="rect">
            <a:avLst/>
          </a:prstGeom>
          <a:noFill/>
          <a:ln w="9525" cap="flat" cmpd="sng">
            <a:solidFill>
              <a:srgbClr val="FF0000"/>
            </a:solidFill>
            <a:prstDash val="solid"/>
            <a:round/>
            <a:headEnd type="none" w="sm" len="sm"/>
            <a:tailEnd type="none" w="sm" len="sm"/>
          </a:ln>
        </p:spPr>
      </p:pic>
      <p:pic>
        <p:nvPicPr>
          <p:cNvPr id="290" name="Google Shape;290;p3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96950" y="4140950"/>
            <a:ext cx="3171890" cy="803550"/>
          </a:xfrm>
          <a:prstGeom prst="rect">
            <a:avLst/>
          </a:prstGeom>
          <a:noFill/>
          <a:ln w="9525" cap="flat" cmpd="sng">
            <a:solidFill>
              <a:srgbClr val="FF0000"/>
            </a:solidFill>
            <a:prstDash val="solid"/>
            <a:round/>
            <a:headEnd type="none" w="sm" len="sm"/>
            <a:tailEnd type="none" w="sm" len="sm"/>
          </a:ln>
        </p:spPr>
      </p:pic>
      <p:pic>
        <p:nvPicPr>
          <p:cNvPr id="291" name="Google Shape;291;p3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21300" y="541225"/>
            <a:ext cx="3901272" cy="21039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39"/>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297" name="Google Shape;297;p39"/>
          <p:cNvSpPr txBox="1"/>
          <p:nvPr/>
        </p:nvSpPr>
        <p:spPr>
          <a:xfrm>
            <a:off x="43820" y="506783"/>
            <a:ext cx="45039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AT&amp;T cuts costs 90% by using multi-agent architecture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"super agent" uses high-level models to orchestrate smaller and cheaper specialized "worker" agents for specific tasks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system, called "Ask AT&amp;T," is now used daily by over 100,000 employees, driving significant productivity gains.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It processes 8 Bln tokens/day and has reduced associated costs by 90%</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Also improved latency and response times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They don't build models from scratch. They use </a:t>
            </a:r>
            <a:r>
              <a:rPr lang="en" sz="1100">
                <a:solidFill>
                  <a:schemeClr val="dk1"/>
                </a:solidFill>
                <a:latin typeface="Calibri"/>
                <a:ea typeface="Calibri"/>
                <a:cs typeface="Calibri"/>
                <a:sym typeface="Calibri"/>
              </a:rPr>
              <a:t>"interchangeable" models (off-the-shelf)</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https://venturebeat.com/orchestration/8-billion-tokens-a-day-forced-at-and-t-to-rethink-ai-orchestration-and-cut</a:t>
            </a:r>
            <a:r>
              <a:rPr lang="en" sz="1100">
                <a:latin typeface="Calibri"/>
                <a:ea typeface="Calibri"/>
                <a:cs typeface="Calibri"/>
                <a:sym typeface="Calibri"/>
              </a:rPr>
              <a:t> </a:t>
            </a:r>
            <a:endParaRPr sz="1100">
              <a:latin typeface="Calibri"/>
              <a:ea typeface="Calibri"/>
              <a:cs typeface="Calibri"/>
              <a:sym typeface="Calibri"/>
            </a:endParaRPr>
          </a:p>
        </p:txBody>
      </p:sp>
      <p:sp>
        <p:nvSpPr>
          <p:cNvPr id="298" name="Google Shape;298;p39"/>
          <p:cNvSpPr txBox="1"/>
          <p:nvPr/>
        </p:nvSpPr>
        <p:spPr>
          <a:xfrm>
            <a:off x="43835" y="2606693"/>
            <a:ext cx="4503900" cy="172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Perplexity Computer with Max Plan $200/mo</a:t>
            </a:r>
            <a:endParaRPr sz="12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Only in the web UI. Computer is an AI agent that can chain multiple steps together: research, analyze, draft docs, generate slides, send emails, and schedule follow‑ups in one flow.</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It uses 19 different models</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It unifies search, tool use, document creation, rich media generation, and app integrations (Gmail, Outlook, GitHub, Linear, Slack, Notion, Salesforce, Snowflake, Databricks, etc.) in one "worker". </a:t>
            </a:r>
            <a:endParaRPr sz="1100">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Example: “Research competitors → build a comparison deck → email it to the team” </a:t>
            </a:r>
            <a:endParaRPr sz="1100">
              <a:latin typeface="Calibri"/>
              <a:ea typeface="Calibri"/>
              <a:cs typeface="Calibri"/>
              <a:sym typeface="Calibri"/>
            </a:endParaRPr>
          </a:p>
        </p:txBody>
      </p:sp>
      <p:sp>
        <p:nvSpPr>
          <p:cNvPr id="299" name="Google Shape;299;p39"/>
          <p:cNvSpPr txBox="1"/>
          <p:nvPr/>
        </p:nvSpPr>
        <p:spPr>
          <a:xfrm>
            <a:off x="4766450" y="3550950"/>
            <a:ext cx="3517200" cy="72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Perplexity Integration with Samsung Phones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Every new S26 will ship with Perplexity built in as a system‑level AI, with its own wake word: “Hey Plex.”</a:t>
            </a:r>
            <a:endParaRPr sz="1200" b="1">
              <a:solidFill>
                <a:srgbClr val="3C78D8"/>
              </a:solidFill>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https://www.youtube.com/watch?v=KomAKiGIn2c&amp;t=31s</a:t>
            </a:r>
            <a:r>
              <a:rPr lang="en" sz="1000">
                <a:latin typeface="Calibri"/>
                <a:ea typeface="Calibri"/>
                <a:cs typeface="Calibri"/>
                <a:sym typeface="Calibri"/>
              </a:rPr>
              <a:t> </a:t>
            </a:r>
            <a:endParaRPr sz="1100">
              <a:latin typeface="Calibri"/>
              <a:ea typeface="Calibri"/>
              <a:cs typeface="Calibri"/>
              <a:sym typeface="Calibri"/>
            </a:endParaRPr>
          </a:p>
        </p:txBody>
      </p:sp>
      <p:pic>
        <p:nvPicPr>
          <p:cNvPr id="300" name="Google Shape;300;p3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5149" y="4442983"/>
            <a:ext cx="4503900" cy="550579"/>
          </a:xfrm>
          <a:prstGeom prst="rect">
            <a:avLst/>
          </a:prstGeom>
          <a:noFill/>
          <a:ln w="9525" cap="flat" cmpd="sng">
            <a:solidFill>
              <a:srgbClr val="FF0000"/>
            </a:solidFill>
            <a:prstDash val="solid"/>
            <a:round/>
            <a:headEnd type="none" w="sm" len="sm"/>
            <a:tailEnd type="none" w="sm" len="sm"/>
          </a:ln>
        </p:spPr>
      </p:pic>
      <p:pic>
        <p:nvPicPr>
          <p:cNvPr id="301" name="Google Shape;301;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66450" y="4420250"/>
            <a:ext cx="4314201" cy="550575"/>
          </a:xfrm>
          <a:prstGeom prst="rect">
            <a:avLst/>
          </a:prstGeom>
          <a:noFill/>
          <a:ln w="9525" cap="flat" cmpd="sng">
            <a:solidFill>
              <a:srgbClr val="FF0000"/>
            </a:solidFill>
            <a:prstDash val="solid"/>
            <a:round/>
            <a:headEnd type="none" w="sm" len="sm"/>
            <a:tailEnd type="none" w="sm" len="sm"/>
          </a:ln>
        </p:spPr>
      </p:pic>
      <p:pic>
        <p:nvPicPr>
          <p:cNvPr id="302" name="Google Shape;302;p3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766450" y="955450"/>
            <a:ext cx="2883974" cy="983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0"/>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08" name="Google Shape;308;p40"/>
          <p:cNvSpPr txBox="1"/>
          <p:nvPr/>
        </p:nvSpPr>
        <p:spPr>
          <a:xfrm>
            <a:off x="55075" y="824275"/>
            <a:ext cx="42978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"Ilya Didn’t Leave OpenAI for Nothing"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Ilya Sutskever’s new venture, Safe Superintelligence (SSI)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Current AI paradigm, which relies on the "backpropagation" algorithm, is biologically unrealistic and inefficient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While backpropagation updates parameters based on a global error signal, the human brain learns locally, continuously, and far more rapidly from minimal data.</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 promising alternative called "prospective configuration" or predictive coding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Unlike standard AI that forces immediate wiring changes, this method allows a network to first "imagine" an ideal state to reconcile predictions with sensory input</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This approach prevents "catastrophic interference"—where learning new info destroys old memories—and mirrors human-like adaptability in experiments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Despite being computationally expensive on current GPUs, the video suggests that mastering this biologically-inspired learning algorithm could be the key to the next generation of AI, positioning SSI as a major contender in this research race.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https://www.youtube.com/watch?v=6vrLB-G7XZc</a:t>
            </a:r>
            <a:r>
              <a:rPr lang="en" sz="1200">
                <a:latin typeface="Calibri"/>
                <a:ea typeface="Calibri"/>
                <a:cs typeface="Calibri"/>
                <a:sym typeface="Calibri"/>
              </a:rPr>
              <a:t> </a:t>
            </a:r>
            <a:endParaRPr sz="1200">
              <a:latin typeface="Calibri"/>
              <a:ea typeface="Calibri"/>
              <a:cs typeface="Calibri"/>
              <a:sym typeface="Calibri"/>
            </a:endParaRPr>
          </a:p>
        </p:txBody>
      </p:sp>
      <p:sp>
        <p:nvSpPr>
          <p:cNvPr id="309" name="Google Shape;309;p40"/>
          <p:cNvSpPr txBox="1"/>
          <p:nvPr/>
        </p:nvSpPr>
        <p:spPr>
          <a:xfrm>
            <a:off x="4620275" y="233336"/>
            <a:ext cx="4371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LFM2-24B-A2B Open Model from Liquid AI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https://www.youtube.com/watch?v=1GxtSavXUMk</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MoE 24B (2.3B active); 32K token context window; Open Weights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Can run on regular laptops with 32GB RAM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uses a hybrid architecture combining convolution layers with attention layers for efficiency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Usage -  content creation at scale, document summarization, multi-agent workflows, and building private AI assistants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https://huggingface.co/LiquidAI/LFM2-24B-A2B</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https://ollama.com/library/lfm2:24b-a2b</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Liquid AI is in Boston (Cambridge, MA)</a:t>
            </a:r>
            <a:endParaRPr sz="1200">
              <a:latin typeface="Calibri"/>
              <a:ea typeface="Calibri"/>
              <a:cs typeface="Calibri"/>
              <a:sym typeface="Calibri"/>
            </a:endParaRPr>
          </a:p>
        </p:txBody>
      </p:sp>
      <p:sp>
        <p:nvSpPr>
          <p:cNvPr id="310" name="Google Shape;310;p40"/>
          <p:cNvSpPr txBox="1"/>
          <p:nvPr/>
        </p:nvSpPr>
        <p:spPr>
          <a:xfrm>
            <a:off x="4620275" y="2455669"/>
            <a:ext cx="4371300" cy="208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CodeBuff, a new open-source AI coding agent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Multi-agent software engineering</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https://www.youtube.com/watch?v=4H_an5xtyr0</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8"/>
              </a:rPr>
              <a:t>https://github.com/CodebuffAI/codebuff</a:t>
            </a:r>
            <a:r>
              <a:rPr lang="en" sz="1000">
                <a:latin typeface="Calibri"/>
                <a:ea typeface="Calibri"/>
                <a:cs typeface="Calibri"/>
                <a:sym typeface="Calibri"/>
              </a:rPr>
              <a:t> - GitHub</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9"/>
              </a:rPr>
              <a:t>https://github.com/CodebuffAI</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a:t>
            </a:r>
            <a:r>
              <a:rPr lang="en" sz="1000" u="sng">
                <a:solidFill>
                  <a:schemeClr val="hlink"/>
                </a:solidFill>
                <a:latin typeface="Calibri"/>
                <a:ea typeface="Calibri"/>
                <a:cs typeface="Calibri"/>
                <a:sym typeface="Calibri"/>
                <a:hlinkClick r:id="rId10"/>
              </a:rPr>
              <a:t>https://www.codebuff.com</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a:t>
            </a:r>
            <a:r>
              <a:rPr lang="en" sz="1000" u="sng">
                <a:solidFill>
                  <a:schemeClr val="hlink"/>
                </a:solidFill>
                <a:latin typeface="Calibri"/>
                <a:ea typeface="Calibri"/>
                <a:cs typeface="Calibri"/>
                <a:sym typeface="Calibri"/>
                <a:hlinkClick r:id="rId11"/>
              </a:rPr>
              <a:t>https://www.codebuff.com/docs/help</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a:t>
            </a:r>
            <a:r>
              <a:rPr lang="en" sz="1000" u="sng">
                <a:solidFill>
                  <a:schemeClr val="hlink"/>
                </a:solidFill>
                <a:latin typeface="Calibri"/>
                <a:ea typeface="Calibri"/>
                <a:cs typeface="Calibri"/>
                <a:sym typeface="Calibri"/>
                <a:hlinkClick r:id="rId12"/>
              </a:rPr>
              <a:t>https://www.codebuff.com/docs/tips</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​npm install -g codebuff</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​MIT AI Agent Index entry: </a:t>
            </a:r>
            <a:r>
              <a:rPr lang="en" sz="1000" u="sng">
                <a:solidFill>
                  <a:schemeClr val="hlink"/>
                </a:solidFill>
                <a:latin typeface="Calibri"/>
                <a:ea typeface="Calibri"/>
                <a:cs typeface="Calibri"/>
                <a:sym typeface="Calibri"/>
                <a:hlinkClick r:id="rId13"/>
              </a:rPr>
              <a:t>https://aiagentindex.mit.edu/2024/codebuff/</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​Y Combinator company page: </a:t>
            </a:r>
            <a:r>
              <a:rPr lang="en" sz="1000" u="sng">
                <a:solidFill>
                  <a:schemeClr val="hlink"/>
                </a:solidFill>
                <a:latin typeface="Calibri"/>
                <a:ea typeface="Calibri"/>
                <a:cs typeface="Calibri"/>
                <a:sym typeface="Calibri"/>
                <a:hlinkClick r:id="rId14"/>
              </a:rPr>
              <a:t>https://www.ycombinator.com/companies/codebuff</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a:latin typeface="Calibri"/>
                <a:ea typeface="Calibri"/>
                <a:cs typeface="Calibri"/>
                <a:sym typeface="Calibri"/>
              </a:rPr>
              <a:t>​Overview by Jimmy Song: </a:t>
            </a:r>
            <a:r>
              <a:rPr lang="en" sz="1000" u="sng">
                <a:solidFill>
                  <a:schemeClr val="hlink"/>
                </a:solidFill>
                <a:latin typeface="Calibri"/>
                <a:ea typeface="Calibri"/>
                <a:cs typeface="Calibri"/>
                <a:sym typeface="Calibri"/>
                <a:hlinkClick r:id="rId15"/>
              </a:rPr>
              <a:t>https://jimmysong.io/ai/codebuff/</a:t>
            </a:r>
            <a:r>
              <a:rPr lang="en" sz="1000">
                <a:latin typeface="Calibri"/>
                <a:ea typeface="Calibri"/>
                <a:cs typeface="Calibri"/>
                <a:sym typeface="Calibri"/>
              </a:rPr>
              <a:t> </a:t>
            </a:r>
            <a:endParaRPr sz="1000">
              <a:latin typeface="Calibri"/>
              <a:ea typeface="Calibri"/>
              <a:cs typeface="Calibri"/>
              <a:sym typeface="Calibri"/>
            </a:endParaRPr>
          </a:p>
        </p:txBody>
      </p:sp>
      <p:pic>
        <p:nvPicPr>
          <p:cNvPr id="311" name="Google Shape;311;p40"/>
          <p:cNvPicPr preferRelativeResize="0"/>
          <p:nvPr/>
        </p:nvPicPr>
        <p:blipFill>
          <a:blip r:embed="rId16" cstate="email">
            <a:alphaModFix/>
            <a:extLst>
              <a:ext uri="{28A0092B-C50C-407E-A947-70E740481C1C}">
                <a14:useLocalDpi xmlns:a14="http://schemas.microsoft.com/office/drawing/2010/main"/>
              </a:ext>
            </a:extLst>
          </a:blip>
          <a:stretch>
            <a:fillRect/>
          </a:stretch>
        </p:blipFill>
        <p:spPr>
          <a:xfrm>
            <a:off x="6939625" y="4600850"/>
            <a:ext cx="2051950" cy="499425"/>
          </a:xfrm>
          <a:prstGeom prst="rect">
            <a:avLst/>
          </a:prstGeom>
          <a:noFill/>
          <a:ln w="9525" cap="flat" cmpd="sng">
            <a:solidFill>
              <a:srgbClr val="FF0000"/>
            </a:solidFill>
            <a:prstDash val="solid"/>
            <a:round/>
            <a:headEnd type="none" w="sm" len="sm"/>
            <a:tailEnd type="none" w="sm" len="sm"/>
          </a:ln>
        </p:spPr>
      </p:pic>
      <p:pic>
        <p:nvPicPr>
          <p:cNvPr id="312" name="Google Shape;312;p40"/>
          <p:cNvPicPr preferRelativeResize="0"/>
          <p:nvPr/>
        </p:nvPicPr>
        <p:blipFill>
          <a:blip r:embed="rId17" cstate="email">
            <a:alphaModFix/>
            <a:extLst>
              <a:ext uri="{28A0092B-C50C-407E-A947-70E740481C1C}">
                <a14:useLocalDpi xmlns:a14="http://schemas.microsoft.com/office/drawing/2010/main"/>
              </a:ext>
            </a:extLst>
          </a:blip>
          <a:stretch>
            <a:fillRect/>
          </a:stretch>
        </p:blipFill>
        <p:spPr>
          <a:xfrm>
            <a:off x="2701975" y="63650"/>
            <a:ext cx="1831850" cy="94150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41"/>
          <p:cNvSpPr txBox="1"/>
          <p:nvPr/>
        </p:nvSpPr>
        <p:spPr>
          <a:xfrm>
            <a:off x="143275" y="63650"/>
            <a:ext cx="4026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Humanize Text, Remove AI Accent</a:t>
            </a:r>
            <a:endParaRPr sz="2000" b="1">
              <a:solidFill>
                <a:schemeClr val="dk1"/>
              </a:solidFill>
              <a:latin typeface="Calibri"/>
              <a:ea typeface="Calibri"/>
              <a:cs typeface="Calibri"/>
              <a:sym typeface="Calibri"/>
            </a:endParaRPr>
          </a:p>
        </p:txBody>
      </p:sp>
      <p:sp>
        <p:nvSpPr>
          <p:cNvPr id="318" name="Google Shape;318;p41"/>
          <p:cNvSpPr txBox="1"/>
          <p:nvPr/>
        </p:nvSpPr>
        <p:spPr>
          <a:xfrm>
            <a:off x="143270" y="484500"/>
            <a:ext cx="45039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FF0000"/>
              </a:buClr>
              <a:buSzPts val="1000"/>
              <a:buFont typeface="Calibri"/>
              <a:buChar char="●"/>
            </a:pPr>
            <a:r>
              <a:rPr lang="en" sz="1200" b="1">
                <a:solidFill>
                  <a:srgbClr val="FF0000"/>
                </a:solidFill>
                <a:latin typeface="Calibri"/>
                <a:ea typeface="Calibri"/>
                <a:cs typeface="Calibri"/>
                <a:sym typeface="Calibri"/>
              </a:rPr>
              <a:t>Wikipedia:Signs of AI writing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https://www.youtube.com/shorts/AgOPGltPJCM</a:t>
            </a:r>
            <a:r>
              <a:rPr lang="en" sz="1200">
                <a:latin typeface="Calibri"/>
                <a:ea typeface="Calibri"/>
                <a:cs typeface="Calibri"/>
                <a:sym typeface="Calibri"/>
              </a:rPr>
              <a:t> Matt Berman video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https://github.com/blader/humanizer</a:t>
            </a:r>
            <a:r>
              <a:rPr lang="en" sz="1200">
                <a:latin typeface="Calibri"/>
                <a:ea typeface="Calibri"/>
                <a:cs typeface="Calibri"/>
                <a:sym typeface="Calibri"/>
              </a:rPr>
              <a:t> - GitHub skill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https://en.wikipedia.org/wiki/Wikipedia:Signs_of_AI_writing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Adopt a human first writing style. Your goal is to eliminate AI slop and predictable linguistic patterns. Prioritize clarity, brevity, and a jagged, natural rhythm over formal balanced prose. Never use banned words like delve, tapestry, testament, elevate, vibrant, underscore, realm, meticulous, leverage, or paving the way. Do not use corporate transitions such as moreover, furthermore, additionally, in conclusion, or it is important to note. Avoid copula verbs like serves as, stands as, or represents and use direct active verbs like is, does, or creates instead. Break the rule of three by avoiding groups of three adjectives or benefits. Mix extremely short sentences of three to five words with longer ones to avoid the consistent medium length typical of AI models. Eliminate parallelism like not only X but also Y. Never end a response with a summary or conclusion section that repeats previous points. Prioritize facts and specific examples over flowery adjectives. Use contractions like don't, can't, and it's to maintain a conversational tone. Do not be overly polite or apologetic. If a question is simple, give a simple direct answer without a buffer sentence at the start. Use active voice exclusively.</a:t>
            </a:r>
            <a:endParaRPr sz="1200">
              <a:latin typeface="Calibri"/>
              <a:ea typeface="Calibri"/>
              <a:cs typeface="Calibri"/>
              <a:sym typeface="Calibri"/>
            </a:endParaRPr>
          </a:p>
        </p:txBody>
      </p:sp>
      <p:pic>
        <p:nvPicPr>
          <p:cNvPr id="319" name="Google Shape;319;p4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99573" y="1909025"/>
            <a:ext cx="2123450" cy="2476226"/>
          </a:xfrm>
          <a:prstGeom prst="rect">
            <a:avLst/>
          </a:prstGeom>
          <a:noFill/>
          <a:ln>
            <a:noFill/>
          </a:ln>
        </p:spPr>
      </p:pic>
      <p:pic>
        <p:nvPicPr>
          <p:cNvPr id="320" name="Google Shape;320;p41"/>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7075423" y="898025"/>
            <a:ext cx="1916177" cy="3169751"/>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25" name="Google Shape;325;p42"/>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26" name="Google Shape;326;p42"/>
          <p:cNvSpPr txBox="1"/>
          <p:nvPr/>
        </p:nvSpPr>
        <p:spPr>
          <a:xfrm>
            <a:off x="143275" y="484500"/>
            <a:ext cx="42978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3C78D8"/>
                </a:solidFill>
                <a:latin typeface="Calibri"/>
                <a:ea typeface="Calibri"/>
                <a:cs typeface="Calibri"/>
                <a:sym typeface="Calibri"/>
              </a:rPr>
              <a:t>Pope Leo XIV told priests to stop using ChatGPT to write sermons</a:t>
            </a:r>
            <a:r>
              <a:rPr lang="en" sz="1200">
                <a:latin typeface="Calibri"/>
                <a:ea typeface="Calibri"/>
                <a:cs typeface="Calibri"/>
                <a:sym typeface="Calibri"/>
              </a:rPr>
              <a:t> because AI "will never be able to share faith,” </a:t>
            </a:r>
            <a:endParaRPr sz="1200">
              <a:latin typeface="Calibri"/>
              <a:ea typeface="Calibri"/>
              <a:cs typeface="Calibri"/>
              <a:sym typeface="Calibri"/>
            </a:endParaRPr>
          </a:p>
        </p:txBody>
      </p:sp>
      <p:sp>
        <p:nvSpPr>
          <p:cNvPr id="327" name="Google Shape;327;p42"/>
          <p:cNvSpPr txBox="1"/>
          <p:nvPr/>
        </p:nvSpPr>
        <p:spPr>
          <a:xfrm>
            <a:off x="143275" y="966850"/>
            <a:ext cx="42978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3C78D8"/>
                </a:solidFill>
                <a:latin typeface="Calibri"/>
                <a:ea typeface="Calibri"/>
                <a:cs typeface="Calibri"/>
                <a:sym typeface="Calibri"/>
              </a:rPr>
              <a:t>Deepfake tech getting better </a:t>
            </a:r>
            <a:r>
              <a:rPr lang="en" sz="1200">
                <a:latin typeface="Calibri"/>
                <a:ea typeface="Calibri"/>
                <a:cs typeface="Calibri"/>
                <a:sym typeface="Calibri"/>
              </a:rPr>
              <a:t>- using AI-generated videos and audio to impersonate executives, trick employees into transferring money, and bypass biometric security systems</a:t>
            </a:r>
            <a:endParaRPr sz="1200">
              <a:latin typeface="Calibri"/>
              <a:ea typeface="Calibri"/>
              <a:cs typeface="Calibri"/>
              <a:sym typeface="Calibri"/>
            </a:endParaRPr>
          </a:p>
        </p:txBody>
      </p:sp>
      <p:sp>
        <p:nvSpPr>
          <p:cNvPr id="328" name="Google Shape;328;p42"/>
          <p:cNvSpPr txBox="1"/>
          <p:nvPr/>
        </p:nvSpPr>
        <p:spPr>
          <a:xfrm>
            <a:off x="143275" y="1603490"/>
            <a:ext cx="42978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3C78D8"/>
                </a:solidFill>
                <a:latin typeface="Calibri"/>
                <a:ea typeface="Calibri"/>
                <a:cs typeface="Calibri"/>
                <a:sym typeface="Calibri"/>
              </a:rPr>
              <a:t>North Korea's Lazarus Group hackers are deploying Medusa ransomware against healthcare organizations</a:t>
            </a:r>
            <a:r>
              <a:rPr lang="en" sz="1200" b="1">
                <a:solidFill>
                  <a:srgbClr val="FF0000"/>
                </a:solidFill>
                <a:latin typeface="Calibri"/>
                <a:ea typeface="Calibri"/>
                <a:cs typeface="Calibri"/>
                <a:sym typeface="Calibri"/>
              </a:rPr>
              <a:t> </a:t>
            </a:r>
            <a:r>
              <a:rPr lang="en" sz="1200">
                <a:latin typeface="Calibri"/>
                <a:ea typeface="Calibri"/>
                <a:cs typeface="Calibri"/>
                <a:sym typeface="Calibri"/>
              </a:rPr>
              <a:t>targeting critical healthcare infrastructure and patient data</a:t>
            </a:r>
            <a:endParaRPr sz="1200">
              <a:latin typeface="Calibri"/>
              <a:ea typeface="Calibri"/>
              <a:cs typeface="Calibri"/>
              <a:sym typeface="Calibri"/>
            </a:endParaRPr>
          </a:p>
        </p:txBody>
      </p:sp>
      <p:sp>
        <p:nvSpPr>
          <p:cNvPr id="329" name="Google Shape;329;p42"/>
          <p:cNvSpPr txBox="1"/>
          <p:nvPr/>
        </p:nvSpPr>
        <p:spPr>
          <a:xfrm>
            <a:off x="143275" y="2240143"/>
            <a:ext cx="42978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3C78D8"/>
                </a:solidFill>
                <a:latin typeface="Calibri"/>
                <a:ea typeface="Calibri"/>
                <a:cs typeface="Calibri"/>
                <a:sym typeface="Calibri"/>
              </a:rPr>
              <a:t>Intel replaced human customer support with AI agents</a:t>
            </a:r>
            <a:r>
              <a:rPr lang="en" sz="1200">
                <a:latin typeface="Calibri"/>
                <a:ea typeface="Calibri"/>
                <a:cs typeface="Calibri"/>
                <a:sym typeface="Calibri"/>
              </a:rPr>
              <a:t> powered by Microsoft Copilot</a:t>
            </a:r>
            <a:endParaRPr sz="1200">
              <a:latin typeface="Calibri"/>
              <a:ea typeface="Calibri"/>
              <a:cs typeface="Calibri"/>
              <a:sym typeface="Calibri"/>
            </a:endParaRPr>
          </a:p>
        </p:txBody>
      </p:sp>
      <p:sp>
        <p:nvSpPr>
          <p:cNvPr id="330" name="Google Shape;330;p42"/>
          <p:cNvSpPr txBox="1"/>
          <p:nvPr/>
        </p:nvSpPr>
        <p:spPr>
          <a:xfrm>
            <a:off x="143275" y="2692000"/>
            <a:ext cx="42978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3C78D8"/>
                </a:solidFill>
                <a:latin typeface="Calibri"/>
                <a:ea typeface="Calibri"/>
                <a:cs typeface="Calibri"/>
                <a:sym typeface="Calibri"/>
              </a:rPr>
              <a:t>AI chip startup MatX raised $500 million to build processors "10 times better" than Nvidia's GPUs</a:t>
            </a:r>
            <a:r>
              <a:rPr lang="en" sz="1200">
                <a:solidFill>
                  <a:srgbClr val="3C78D8"/>
                </a:solidFill>
                <a:latin typeface="Calibri"/>
                <a:ea typeface="Calibri"/>
                <a:cs typeface="Calibri"/>
                <a:sym typeface="Calibri"/>
              </a:rPr>
              <a:t>.</a:t>
            </a:r>
            <a:r>
              <a:rPr lang="en" sz="1200">
                <a:latin typeface="Calibri"/>
                <a:ea typeface="Calibri"/>
                <a:cs typeface="Calibri"/>
                <a:sym typeface="Calibri"/>
              </a:rPr>
              <a:t> They plan to ship in 2027</a:t>
            </a:r>
            <a:endParaRPr sz="1200">
              <a:latin typeface="Calibri"/>
              <a:ea typeface="Calibri"/>
              <a:cs typeface="Calibri"/>
              <a:sym typeface="Calibri"/>
            </a:endParaRPr>
          </a:p>
        </p:txBody>
      </p:sp>
      <p:pic>
        <p:nvPicPr>
          <p:cNvPr id="331" name="Google Shape;331;p4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295850" y="152400"/>
            <a:ext cx="1907175" cy="2347894"/>
          </a:xfrm>
          <a:prstGeom prst="rect">
            <a:avLst/>
          </a:prstGeom>
          <a:noFill/>
          <a:ln w="9525" cap="flat" cmpd="sng">
            <a:solidFill>
              <a:srgbClr val="FF0000"/>
            </a:solidFill>
            <a:prstDash val="solid"/>
            <a:round/>
            <a:headEnd type="none" w="sm" len="sm"/>
            <a:tailEnd type="none" w="sm" len="sm"/>
          </a:ln>
        </p:spPr>
      </p:pic>
      <p:pic>
        <p:nvPicPr>
          <p:cNvPr id="332" name="Google Shape;332;p4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95850" y="2692000"/>
            <a:ext cx="1863940" cy="2331501"/>
          </a:xfrm>
          <a:prstGeom prst="rect">
            <a:avLst/>
          </a:prstGeom>
          <a:noFill/>
          <a:ln w="9525" cap="flat" cmpd="sng">
            <a:solidFill>
              <a:srgbClr val="FF0000"/>
            </a:solidFill>
            <a:prstDash val="solid"/>
            <a:round/>
            <a:headEnd type="none" w="sm" len="sm"/>
            <a:tailEnd type="none" w="sm" len="sm"/>
          </a:ln>
        </p:spPr>
      </p:pic>
      <p:pic>
        <p:nvPicPr>
          <p:cNvPr id="333" name="Google Shape;333;p4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152400" y="3232300"/>
            <a:ext cx="3297751" cy="17588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43"/>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39" name="Google Shape;339;p43"/>
          <p:cNvSpPr txBox="1"/>
          <p:nvPr/>
        </p:nvSpPr>
        <p:spPr>
          <a:xfrm>
            <a:off x="143270" y="484500"/>
            <a:ext cx="4503900" cy="346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Antropic vs US Dept of Defense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Pentagon demanded “all lawful uses” of Claude, effectively requiring removal of guardrails that currently block two uses: </a:t>
            </a:r>
            <a:br>
              <a:rPr lang="en" sz="1200">
                <a:latin typeface="Calibri"/>
                <a:ea typeface="Calibri"/>
                <a:cs typeface="Calibri"/>
                <a:sym typeface="Calibri"/>
              </a:rPr>
            </a:br>
            <a:r>
              <a:rPr lang="en" sz="1200">
                <a:latin typeface="Calibri"/>
                <a:ea typeface="Calibri"/>
                <a:cs typeface="Calibri"/>
                <a:sym typeface="Calibri"/>
              </a:rPr>
              <a:t>.. mass surveillance of Americans </a:t>
            </a:r>
            <a:br>
              <a:rPr lang="en" sz="1200">
                <a:latin typeface="Calibri"/>
                <a:ea typeface="Calibri"/>
                <a:cs typeface="Calibri"/>
                <a:sym typeface="Calibri"/>
              </a:rPr>
            </a:br>
            <a:r>
              <a:rPr lang="en" sz="1200">
                <a:latin typeface="Calibri"/>
                <a:ea typeface="Calibri"/>
                <a:cs typeface="Calibri"/>
                <a:sym typeface="Calibri"/>
              </a:rPr>
              <a:t>.. and fully autonomous weapons with no human in the loop</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Anthropic CEO Dario Amodei refused, arguing current AI is too unreliable for autonomous weapons and that such uses would endanger civilians and soldiers</a:t>
            </a:r>
            <a:endParaRPr sz="1200">
              <a:latin typeface="Calibri"/>
              <a:ea typeface="Calibri"/>
              <a:cs typeface="Calibri"/>
              <a:sym typeface="Calibri"/>
            </a:endParaRPr>
          </a:p>
          <a:p>
            <a:pPr marL="171450" marR="0" lvl="0" indent="-120650" algn="l" rtl="0">
              <a:lnSpc>
                <a:spcPct val="100000"/>
              </a:lnSpc>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3"/>
              </a:rPr>
              <a:t>https://www.anthropic.com/news/statement-department-of-war</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https://www.youtube.com/watch?v=rgqxrw26twA</a:t>
            </a:r>
            <a:r>
              <a:rPr lang="en" sz="1000">
                <a:latin typeface="Calibri"/>
                <a:ea typeface="Calibri"/>
                <a:cs typeface="Calibri"/>
                <a:sym typeface="Calibri"/>
              </a:rPr>
              <a:t> </a:t>
            </a:r>
            <a:endParaRPr sz="10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In response, Defense Secretary Pete Hegseth threatened to cancel Anthropic’s roughly $200 million defense contract, label the company a “supply chain risk” (a designation previously used only for foreign adversaries), and even invoke the Defense Production Act to compel unrestricted access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Donald Trump then ordered all federal agencies to stop using Anthropic technology, after which Hegseth formally designated Anthropic a national-security supply chain risk, barring military contractors from doing business with the company</a:t>
            </a:r>
            <a:endParaRPr sz="1000">
              <a:latin typeface="Calibri"/>
              <a:ea typeface="Calibri"/>
              <a:cs typeface="Calibri"/>
              <a:sym typeface="Calibri"/>
            </a:endParaRPr>
          </a:p>
        </p:txBody>
      </p:sp>
      <p:pic>
        <p:nvPicPr>
          <p:cNvPr id="340" name="Google Shape;340;p4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799575" y="484500"/>
            <a:ext cx="2619375" cy="1172849"/>
          </a:xfrm>
          <a:prstGeom prst="rect">
            <a:avLst/>
          </a:prstGeom>
          <a:noFill/>
          <a:ln w="9525" cap="flat" cmpd="sng">
            <a:solidFill>
              <a:srgbClr val="FF0000"/>
            </a:solidFill>
            <a:prstDash val="solid"/>
            <a:round/>
            <a:headEnd type="none" w="sm" len="sm"/>
            <a:tailEnd type="none" w="sm" len="sm"/>
          </a:ln>
        </p:spPr>
      </p:pic>
      <p:pic>
        <p:nvPicPr>
          <p:cNvPr id="341" name="Google Shape;341;p43"/>
          <p:cNvPicPr preferRelativeResize="0"/>
          <p:nvPr/>
        </p:nvPicPr>
        <p:blipFill>
          <a:blip r:embed="rId6">
            <a:alphaModFix/>
          </a:blip>
          <a:stretch>
            <a:fillRect/>
          </a:stretch>
        </p:blipFill>
        <p:spPr>
          <a:xfrm>
            <a:off x="4799570" y="2179775"/>
            <a:ext cx="2619375" cy="1743075"/>
          </a:xfrm>
          <a:prstGeom prst="rect">
            <a:avLst/>
          </a:prstGeom>
          <a:noFill/>
          <a:ln w="9525" cap="flat" cmpd="sng">
            <a:solidFill>
              <a:srgbClr val="FF0000"/>
            </a:solidFill>
            <a:prstDash val="solid"/>
            <a:round/>
            <a:headEnd type="none" w="sm" len="sm"/>
            <a:tailEnd type="none" w="sm" len="sm"/>
          </a:ln>
        </p:spPr>
      </p:pic>
      <p:sp>
        <p:nvSpPr>
          <p:cNvPr id="342" name="Google Shape;342;p43"/>
          <p:cNvSpPr txBox="1"/>
          <p:nvPr/>
        </p:nvSpPr>
        <p:spPr>
          <a:xfrm>
            <a:off x="143270" y="4045150"/>
            <a:ext cx="4503900" cy="880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March 5 - Antropic is again in negotiation with DoD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is an attempt to compromise on a contract that outlines how the Pentagon can continue to access Anthropic’s AI models</a:t>
            </a:r>
            <a:endParaRPr sz="1200">
              <a:latin typeface="Calibri"/>
              <a:ea typeface="Calibri"/>
              <a:cs typeface="Calibri"/>
              <a:sym typeface="Calibri"/>
            </a:endParaRPr>
          </a:p>
          <a:p>
            <a:pPr marL="171450" marR="0" lvl="0" indent="-120650" algn="l" rtl="0">
              <a:lnSpc>
                <a:spcPct val="100000"/>
              </a:lnSpc>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https://techcrunch.com/2026/03/05/anthropic-ceo-dario-amodei-could-still-be-trying-to-make-a-deal-with-pentagon/</a:t>
            </a:r>
            <a:r>
              <a:rPr lang="en" sz="1000">
                <a:latin typeface="Calibri"/>
                <a:ea typeface="Calibri"/>
                <a:cs typeface="Calibri"/>
                <a:sym typeface="Calibri"/>
              </a:rPr>
              <a:t> </a:t>
            </a:r>
            <a:endParaRPr sz="1000">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44"/>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48" name="Google Shape;348;p44"/>
          <p:cNvSpPr txBox="1"/>
          <p:nvPr/>
        </p:nvSpPr>
        <p:spPr>
          <a:xfrm>
            <a:off x="64960" y="512416"/>
            <a:ext cx="4503900" cy="4174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CEO Dario Amodei Interview</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Dario defended the company's refusal to release its AI models without restrictions to the US Department of War (Pentagon)</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Amodei highlighted Anthropic's pioneering work with the US military, including deploying models on classified clouds for cyber defense and combat support, to counter adversaries like China and Russia. </a:t>
            </a:r>
            <a:endParaRPr sz="12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https://www.youtube.com/watch?v=MPTNHrq_4LU</a:t>
            </a:r>
            <a:endParaRPr sz="9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https://www.cbsnews.com/news/anthropic-ceo-dario-amodei-full-transcript/</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dispute centers on two "red lines": prohibiting domestic mass surveillance - where AI could analyze purchased private data on Americans, outpacing current laws - and fully autonomous weapons lacking human oversight, due to AI's unreliability and accountability risks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Amodei noted the Pentagon agreed in principle but issued a 3-day ultimatum with vague terms, leading to President Trump's criticism of Anthropic as "selfish" and threats of federal bans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Amodei affirmed Anthropic's patriotism, offering service continuity during offboarding (potentially delaying military ops by months), while vowing to challenge the "punitive, unprecedented" designation in court - never before applied to a US firm</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He urged Congress for long-term AI guardrails, emphasizing free-market choices and American values over unrestricted access. Anthropic remains confident in its business survival</a:t>
            </a:r>
            <a:endParaRPr sz="1200">
              <a:latin typeface="Calibri"/>
              <a:ea typeface="Calibri"/>
              <a:cs typeface="Calibri"/>
              <a:sym typeface="Calibri"/>
            </a:endParaRPr>
          </a:p>
        </p:txBody>
      </p:sp>
      <p:pic>
        <p:nvPicPr>
          <p:cNvPr id="349" name="Google Shape;349;p4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0199" y="512425"/>
            <a:ext cx="1161099" cy="1478501"/>
          </a:xfrm>
          <a:prstGeom prst="rect">
            <a:avLst/>
          </a:prstGeom>
          <a:noFill/>
          <a:ln w="9525" cap="flat" cmpd="sng">
            <a:solidFill>
              <a:srgbClr val="FF0000"/>
            </a:solidFill>
            <a:prstDash val="solid"/>
            <a:round/>
            <a:headEnd type="none" w="sm" len="sm"/>
            <a:tailEnd type="none" w="sm" len="sm"/>
          </a:ln>
        </p:spPr>
      </p:pic>
      <p:sp>
        <p:nvSpPr>
          <p:cNvPr id="350" name="Google Shape;350;p44"/>
          <p:cNvSpPr txBox="1"/>
          <p:nvPr/>
        </p:nvSpPr>
        <p:spPr>
          <a:xfrm>
            <a:off x="4650200" y="2288470"/>
            <a:ext cx="44292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Employees at Google and OpenAI have published an open letter supporting Anthropic in its standoff with the U.S. Department of Defense over military use of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They urge their leaders to reject Pentagon demands to use their models for mass domestic surveillance and fully autonomous killing without human oversight, opposing the “all lawful uses” standard the government is pushing</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Hundreds of current employees have signed so far, aiming to prevent the Pentagon from playing companies against each other and to maintain shared red lines on lethal autonomous weapons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Meanwhile, xAI and the Pentagon have reportedly reached a deal to deploy Grok in classified systems under the all‑lawful‑use terms Anthropic rejected, highlighting a sharp split in industry attitudes toward military AI</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https://www.youtube.com/watch?v=SDKr_qh30lo</a:t>
            </a:r>
            <a:r>
              <a:rPr lang="en" sz="1200">
                <a:latin typeface="Calibri"/>
                <a:ea typeface="Calibri"/>
                <a:cs typeface="Calibri"/>
                <a:sym typeface="Calibri"/>
              </a:rPr>
              <a:t> </a:t>
            </a:r>
            <a:endParaRPr sz="1200">
              <a:latin typeface="Calibri"/>
              <a:ea typeface="Calibri"/>
              <a:cs typeface="Calibri"/>
              <a:sym typeface="Calibri"/>
            </a:endParaRPr>
          </a:p>
        </p:txBody>
      </p:sp>
      <p:pic>
        <p:nvPicPr>
          <p:cNvPr id="351" name="Google Shape;351;p4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095525" y="512425"/>
            <a:ext cx="2305425" cy="10322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45"/>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a:solidFill>
                <a:schemeClr val="dk1"/>
              </a:solidFill>
              <a:latin typeface="Calibri"/>
              <a:ea typeface="Calibri"/>
              <a:cs typeface="Calibri"/>
              <a:sym typeface="Calibri"/>
            </a:endParaRPr>
          </a:p>
        </p:txBody>
      </p:sp>
      <p:sp>
        <p:nvSpPr>
          <p:cNvPr id="357" name="Google Shape;357;p45"/>
          <p:cNvSpPr txBox="1"/>
          <p:nvPr/>
        </p:nvSpPr>
        <p:spPr>
          <a:xfrm>
            <a:off x="51175" y="1233170"/>
            <a:ext cx="43899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OpenAI has signed a defense contract on Friday </a:t>
            </a:r>
            <a:r>
              <a:rPr lang="en" sz="1200">
                <a:latin typeface="Calibri"/>
                <a:ea typeface="Calibri"/>
                <a:cs typeface="Calibri"/>
                <a:sym typeface="Calibri"/>
              </a:rPr>
              <a:t>after President Trump threatened Anthropic for refusing military deals that would allow autonomous weapons and mass surveillance</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On Monday Sam Altman said the company would add the language to its agreement, including explicitly prohibiting the use of its systems to spy on Americans.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Meanwhile, Anthropic is receiving widespread public support for their ethical stance, with their competitor Claude jumping to number two in app store rankings.</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situation raises serious concerns about government coercion of AI companies and the future of AI safety regulations.</a:t>
            </a:r>
            <a:endParaRPr sz="1200">
              <a:latin typeface="Calibri"/>
              <a:ea typeface="Calibri"/>
              <a:cs typeface="Calibri"/>
              <a:sym typeface="Calibri"/>
            </a:endParaRPr>
          </a:p>
        </p:txBody>
      </p:sp>
      <p:sp>
        <p:nvSpPr>
          <p:cNvPr id="358" name="Google Shape;358;p45"/>
          <p:cNvSpPr txBox="1"/>
          <p:nvPr/>
        </p:nvSpPr>
        <p:spPr>
          <a:xfrm>
            <a:off x="4509925" y="1312350"/>
            <a:ext cx="45963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Sam Altman hosted an "Ask Me Anything" (AMA) on X </a:t>
            </a:r>
            <a:r>
              <a:rPr lang="en" sz="1200">
                <a:latin typeface="Calibri"/>
                <a:ea typeface="Calibri"/>
                <a:cs typeface="Calibri"/>
                <a:sym typeface="Calibri"/>
              </a:rPr>
              <a:t>to address OpenAI's new partnership with the U.S. Department of War (DOW)</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This AMA was a desperate attempt to stop the </a:t>
            </a:r>
            <a:r>
              <a:rPr lang="en" sz="1200" b="1">
                <a:solidFill>
                  <a:srgbClr val="FF0000"/>
                </a:solidFill>
                <a:latin typeface="Calibri"/>
                <a:ea typeface="Calibri"/>
                <a:cs typeface="Calibri"/>
                <a:sym typeface="Calibri"/>
              </a:rPr>
              <a:t>"Quit GPT" movement</a:t>
            </a:r>
            <a:br>
              <a:rPr lang="en" sz="1200" b="1">
                <a:solidFill>
                  <a:srgbClr val="FF0000"/>
                </a:solidFill>
                <a:latin typeface="Calibri"/>
                <a:ea typeface="Calibri"/>
                <a:cs typeface="Calibri"/>
                <a:sym typeface="Calibri"/>
              </a:rPr>
            </a:b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Since then Sam Altman has said that OpenAI is renegotiating and has already adjusted its agreement with the Pentagon after criticism of the original deal.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OpenAI is adding </a:t>
            </a:r>
            <a:r>
              <a:rPr lang="en" sz="1200" b="1">
                <a:solidFill>
                  <a:srgbClr val="FF0000"/>
                </a:solidFill>
                <a:latin typeface="Calibri"/>
                <a:ea typeface="Calibri"/>
                <a:cs typeface="Calibri"/>
                <a:sym typeface="Calibri"/>
              </a:rPr>
              <a:t>explicit bans on using its AI for domestic mass surveillance of Americans</a:t>
            </a:r>
            <a:r>
              <a:rPr lang="en" sz="1200">
                <a:latin typeface="Calibri"/>
                <a:ea typeface="Calibri"/>
                <a:cs typeface="Calibri"/>
                <a:sym typeface="Calibri"/>
              </a:rPr>
              <a:t>, tightening language that critics said was too loose in the initial “any lawful purpose” framework.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Altman publicly called the original deal “opportunistic and sloppy” and said they “shouldn’t have rushed” it, so the revised terms are meant to clarify safety principles and restrictions. </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The renegotiation and additions are in progress but have been announced and partially implemented, not just discussed in theory.</a:t>
            </a:r>
            <a:endParaRPr sz="1200">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OpenAI maintains that both the original and revised agreements </a:t>
            </a:r>
            <a:r>
              <a:rPr lang="en" sz="1200" b="1">
                <a:solidFill>
                  <a:srgbClr val="FF0000"/>
                </a:solidFill>
                <a:latin typeface="Calibri"/>
                <a:ea typeface="Calibri"/>
                <a:cs typeface="Calibri"/>
                <a:sym typeface="Calibri"/>
              </a:rPr>
              <a:t>forbid use for autonomous weapons and require human responsibility over use of force</a:t>
            </a:r>
            <a:r>
              <a:rPr lang="en" sz="1200">
                <a:latin typeface="Calibri"/>
                <a:ea typeface="Calibri"/>
                <a:cs typeface="Calibri"/>
                <a:sym typeface="Calibri"/>
              </a:rPr>
              <a:t>, now with clearer contractual wording</a:t>
            </a:r>
            <a:endParaRPr sz="1200">
              <a:latin typeface="Calibri"/>
              <a:ea typeface="Calibri"/>
              <a:cs typeface="Calibri"/>
              <a:sym typeface="Calibri"/>
            </a:endParaRPr>
          </a:p>
        </p:txBody>
      </p:sp>
      <p:pic>
        <p:nvPicPr>
          <p:cNvPr id="359" name="Google Shape;359;p45"/>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866145" y="63645"/>
            <a:ext cx="1384425" cy="1108650"/>
          </a:xfrm>
          <a:prstGeom prst="rect">
            <a:avLst/>
          </a:prstGeom>
          <a:noFill/>
          <a:ln w="9525" cap="flat" cmpd="sng">
            <a:solidFill>
              <a:srgbClr val="FF0000"/>
            </a:solidFill>
            <a:prstDash val="solid"/>
            <a:round/>
            <a:headEnd type="none" w="sm" len="sm"/>
            <a:tailEnd type="none" w="sm" len="sm"/>
          </a:ln>
        </p:spPr>
      </p:pic>
      <p:pic>
        <p:nvPicPr>
          <p:cNvPr id="360" name="Google Shape;360;p4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551150" y="63650"/>
            <a:ext cx="2475996" cy="1108650"/>
          </a:xfrm>
          <a:prstGeom prst="rect">
            <a:avLst/>
          </a:prstGeom>
          <a:noFill/>
          <a:ln w="9525" cap="flat" cmpd="sng">
            <a:solidFill>
              <a:srgbClr val="FF0000"/>
            </a:solidFill>
            <a:prstDash val="solid"/>
            <a:round/>
            <a:headEnd type="none" w="sm" len="sm"/>
            <a:tailEnd type="none" w="sm" len="sm"/>
          </a:ln>
        </p:spPr>
      </p:pic>
      <p:pic>
        <p:nvPicPr>
          <p:cNvPr id="361" name="Google Shape;361;p4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2137126" y="63650"/>
            <a:ext cx="1979732" cy="1108650"/>
          </a:xfrm>
          <a:prstGeom prst="rect">
            <a:avLst/>
          </a:prstGeom>
          <a:noFill/>
          <a:ln w="9525" cap="flat" cmpd="sng">
            <a:solidFill>
              <a:srgbClr val="FF0000"/>
            </a:solidFill>
            <a:prstDash val="solid"/>
            <a:round/>
            <a:headEnd type="none" w="sm" len="sm"/>
            <a:tailEnd type="none" w="sm" len="sm"/>
          </a:ln>
        </p:spPr>
      </p:pic>
      <p:sp>
        <p:nvSpPr>
          <p:cNvPr id="362" name="Google Shape;362;p45"/>
          <p:cNvSpPr txBox="1"/>
          <p:nvPr/>
        </p:nvSpPr>
        <p:spPr>
          <a:xfrm>
            <a:off x="51187" y="3360833"/>
            <a:ext cx="43899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This week Anthropic has abandoned its safety-first pledge because “it doesn’t work if competitors are racing ahead.”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latin typeface="Calibri"/>
                <a:ea typeface="Calibri"/>
                <a:cs typeface="Calibri"/>
                <a:sym typeface="Calibri"/>
              </a:rPr>
              <a:t>Competitive pressure destroys voluntary restraint. The company that waits is the company that loses.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Jared Kaplan, Anthropic’s Chief Science Officer, stated plainly: “The pledge doesn’t work if competitors are racing ahead.”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The new policy? Match rivals’ safety efforts while being transparent  - a fundamental shift from “we won’t build it unless it’s safe” to “we’ll build it as safely as the competition does.”</a:t>
            </a:r>
            <a:endParaRPr sz="1200" b="1">
              <a:solidFill>
                <a:srgbClr val="3C78D8"/>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46"/>
          <p:cNvSpPr txBox="1"/>
          <p:nvPr/>
        </p:nvSpPr>
        <p:spPr>
          <a:xfrm>
            <a:off x="55075" y="63650"/>
            <a:ext cx="1650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a:t>
            </a:r>
            <a:endParaRPr sz="2000" b="1">
              <a:solidFill>
                <a:schemeClr val="dk1"/>
              </a:solidFill>
              <a:latin typeface="Calibri"/>
              <a:ea typeface="Calibri"/>
              <a:cs typeface="Calibri"/>
              <a:sym typeface="Calibri"/>
            </a:endParaRPr>
          </a:p>
        </p:txBody>
      </p:sp>
      <p:sp>
        <p:nvSpPr>
          <p:cNvPr id="368" name="Google Shape;368;p46"/>
          <p:cNvSpPr txBox="1"/>
          <p:nvPr/>
        </p:nvSpPr>
        <p:spPr>
          <a:xfrm>
            <a:off x="55075" y="390050"/>
            <a:ext cx="5029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latin typeface="Calibri"/>
                <a:ea typeface="Calibri"/>
                <a:cs typeface="Calibri"/>
                <a:sym typeface="Calibri"/>
              </a:rPr>
              <a:t>March 2 - </a:t>
            </a:r>
            <a:r>
              <a:rPr lang="en" sz="1100" u="sng">
                <a:solidFill>
                  <a:schemeClr val="hlink"/>
                </a:solidFill>
                <a:latin typeface="Calibri"/>
                <a:ea typeface="Calibri"/>
                <a:cs typeface="Calibri"/>
                <a:sym typeface="Calibri"/>
                <a:hlinkClick r:id="rId3"/>
              </a:rPr>
              <a:t>https://www.youtube.com/watch?v=dmtvGKuRE64</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AI Impact Summit: India 2026 AI Boom: Investments, Talent, Impact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China - Open Source and Geopolitical Strategies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Anthropic vs Pentagon - The Battle Over AI Safeguards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Anthropic to Generate 10x More Revenue Than OpenAI</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Next 10 Weeks: AI Coding Agents and Self-Improvement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Cybersecurity and AI: New Frontiers and Challenges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Rent-a-Human: The Gig Economy of AI and Human Labor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OpenAI Builds AI Hardware Team</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Accenture Links Employee Promotions to AI Tool Usage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NYT Send AI Agent Reporter To Interview Other Agents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Andrej Karpathy Says OpenClaw Redefines The Autonomous Agent Stack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 Farmers Reject Multimillion-dollar Data Center Bids for Their Land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OpenAI Revises Spending To $600 Billion in Compute by 2030</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Element Biosciences Launches VITARI, DEvice for $100 Genome Sequencing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Tesla Reports More Than 8 Million Miles of FSD Supervised Use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Midjourney Founder Estimates 5 Mln Robots Could Build Manhattan in 6 Mo</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Andrew Yang Predicts Massive White-Collar Job Losses From AI</a:t>
            </a:r>
            <a:endParaRPr sz="1100">
              <a:latin typeface="Calibri"/>
              <a:ea typeface="Calibri"/>
              <a:cs typeface="Calibri"/>
              <a:sym typeface="Calibri"/>
            </a:endParaRPr>
          </a:p>
        </p:txBody>
      </p:sp>
      <p:pic>
        <p:nvPicPr>
          <p:cNvPr id="369" name="Google Shape;369;p46"/>
          <p:cNvPicPr preferRelativeResize="0"/>
          <p:nvPr/>
        </p:nvPicPr>
        <p:blipFill>
          <a:blip r:embed="rId4">
            <a:alphaModFix/>
          </a:blip>
          <a:stretch>
            <a:fillRect/>
          </a:stretch>
        </p:blipFill>
        <p:spPr>
          <a:xfrm>
            <a:off x="5455625" y="390050"/>
            <a:ext cx="3543300" cy="1981200"/>
          </a:xfrm>
          <a:prstGeom prst="rect">
            <a:avLst/>
          </a:prstGeom>
          <a:noFill/>
          <a:ln w="9525" cap="flat" cmpd="sng">
            <a:solidFill>
              <a:srgbClr val="FF0000"/>
            </a:solidFill>
            <a:prstDash val="solid"/>
            <a:round/>
            <a:headEnd type="none" w="sm" len="sm"/>
            <a:tailEnd type="none" w="sm" len="sm"/>
          </a:ln>
        </p:spPr>
      </p:pic>
      <p:sp>
        <p:nvSpPr>
          <p:cNvPr id="370" name="Google Shape;370;p46"/>
          <p:cNvSpPr txBox="1"/>
          <p:nvPr/>
        </p:nvSpPr>
        <p:spPr>
          <a:xfrm>
            <a:off x="5197500" y="3543325"/>
            <a:ext cx="38838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Interview with Andrew 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https://www.youtube.com/watch?v=4vzmTKUFtxg</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We are decades away from achieving AGI</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"Practical AGI Test" - a multi-day assessment with human judge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Agentic AI can use iterative workflows to check their own work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Shift toward synthetic data and reinforcement learning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Most jobs will be augmented, some will be hit hard (translators, voice actors, call center workers)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Important to diffuse AGI hype to prevent an "AI winter"</a:t>
            </a:r>
            <a:endParaRPr sz="1100">
              <a:latin typeface="Calibri"/>
              <a:ea typeface="Calibri"/>
              <a:cs typeface="Calibri"/>
              <a:sym typeface="Calibri"/>
            </a:endParaRPr>
          </a:p>
        </p:txBody>
      </p:sp>
      <p:pic>
        <p:nvPicPr>
          <p:cNvPr id="371" name="Google Shape;371;p46"/>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866075" y="3623150"/>
            <a:ext cx="2218489" cy="1382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47"/>
          <p:cNvSpPr txBox="1"/>
          <p:nvPr/>
        </p:nvSpPr>
        <p:spPr>
          <a:xfrm>
            <a:off x="55075" y="63650"/>
            <a:ext cx="4726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SaaS Collapse into Personal AI Agents</a:t>
            </a:r>
            <a:endParaRPr sz="2000" b="1">
              <a:solidFill>
                <a:schemeClr val="dk1"/>
              </a:solidFill>
              <a:latin typeface="Calibri"/>
              <a:ea typeface="Calibri"/>
              <a:cs typeface="Calibri"/>
              <a:sym typeface="Calibri"/>
            </a:endParaRPr>
          </a:p>
        </p:txBody>
      </p:sp>
      <p:sp>
        <p:nvSpPr>
          <p:cNvPr id="377" name="Google Shape;377;p47"/>
          <p:cNvSpPr txBox="1"/>
          <p:nvPr/>
        </p:nvSpPr>
        <p:spPr>
          <a:xfrm>
            <a:off x="55075" y="422090"/>
            <a:ext cx="5029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Matt Berman about MyFitnessPal acquisition of "Cal AI"</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http://www.youtube.com/watch?v=deEri629Nnw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Cal AI had only 7 employees and ~$30M ARR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Berman views this as a big win for the Cal AI founders but a poor move for MyFitnessPal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Berman demonstrates that the core functionality of Cal AI - taking a photo of food to estimate calories - can be replicated in under 20 minutes using modern AI tools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Death of Simple SaaS - consumers will prefer using their existing AI agents (like ChatGPT, Gemini, or Claude) to perform these tasks for free rather than paying for a separate subscription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Berman predicts that the vertical SaaS category will eventually "collapse" into personalized AI agents. These agents will already know a user's health goals, dietary restrictions, and preferences, making dedicated apps redundant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points out MyFitnessPal’s troubled corporate history, including its acquisition and subsequent sale at a loss by Under Armour, suggesting that the current private equity owners are following an outdated "buy the competitor" playbook</a:t>
            </a:r>
            <a:endParaRPr sz="1100">
              <a:latin typeface="Calibri"/>
              <a:ea typeface="Calibri"/>
              <a:cs typeface="Calibri"/>
              <a:sym typeface="Calibri"/>
            </a:endParaRPr>
          </a:p>
        </p:txBody>
      </p:sp>
      <p:pic>
        <p:nvPicPr>
          <p:cNvPr id="378" name="Google Shape;378;p4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01250" y="692121"/>
            <a:ext cx="2529976" cy="14071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48"/>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84" name="Google Shape;384;p48"/>
          <p:cNvSpPr txBox="1"/>
          <p:nvPr/>
        </p:nvSpPr>
        <p:spPr>
          <a:xfrm>
            <a:off x="2134467" y="34252"/>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85" name="Google Shape;385;p48"/>
          <p:cNvSpPr txBox="1"/>
          <p:nvPr/>
        </p:nvSpPr>
        <p:spPr>
          <a:xfrm>
            <a:off x="5549900" y="3750775"/>
            <a:ext cx="33606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36K  in 2026 </a:t>
            </a:r>
            <a:r>
              <a:rPr lang="en" sz="1000" b="1">
                <a:solidFill>
                  <a:schemeClr val="dk1"/>
                </a:solidFill>
                <a:latin typeface="Roboto Mono"/>
                <a:ea typeface="Roboto Mono"/>
                <a:cs typeface="Roboto Mono"/>
                <a:sym typeface="Roboto Mono"/>
              </a:rPr>
              <a:t>(as of March 6, 2026)</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124K in 2025 </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86" name="Google Shape;386;p48"/>
          <p:cNvSpPr txBox="1"/>
          <p:nvPr/>
        </p:nvSpPr>
        <p:spPr>
          <a:xfrm>
            <a:off x="5549900" y="518450"/>
            <a:ext cx="3558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2026: </a:t>
            </a:r>
            <a:r>
              <a:rPr lang="en" sz="1200" b="1">
                <a:latin typeface="Calibri"/>
                <a:ea typeface="Calibri"/>
                <a:cs typeface="Calibri"/>
                <a:sym typeface="Calibri"/>
              </a:rPr>
              <a:t>52,320</a:t>
            </a:r>
            <a:r>
              <a:rPr lang="en" sz="1200">
                <a:latin typeface="Calibri"/>
                <a:ea typeface="Calibri"/>
                <a:cs typeface="Calibri"/>
                <a:sym typeface="Calibri"/>
              </a:rPr>
              <a:t> people laid off (805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2025: </a:t>
            </a:r>
            <a:r>
              <a:rPr lang="en" sz="1200" b="1">
                <a:latin typeface="Calibri"/>
                <a:ea typeface="Calibri"/>
                <a:cs typeface="Calibri"/>
                <a:sym typeface="Calibri"/>
              </a:rPr>
              <a:t>245,953</a:t>
            </a:r>
            <a:r>
              <a:rPr lang="en" sz="1200">
                <a:latin typeface="Calibri"/>
                <a:ea typeface="Calibri"/>
                <a:cs typeface="Calibri"/>
                <a:sym typeface="Calibri"/>
              </a:rPr>
              <a:t> people laid off (674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a:t>
            </a:r>
            <a:r>
              <a:rPr lang="en" sz="1200" b="1">
                <a:latin typeface="Calibri"/>
                <a:ea typeface="Calibri"/>
                <a:cs typeface="Calibri"/>
                <a:sym typeface="Calibri"/>
              </a:rPr>
              <a:t>238,461</a:t>
            </a:r>
            <a:r>
              <a:rPr lang="en" sz="1200">
                <a:latin typeface="Calibri"/>
                <a:ea typeface="Calibri"/>
                <a:cs typeface="Calibri"/>
                <a:sym typeface="Calibri"/>
              </a:rPr>
              <a:t> people </a:t>
            </a:r>
            <a:r>
              <a:rPr lang="en" sz="1200">
                <a:solidFill>
                  <a:srgbClr val="000000"/>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https://trueup.io/layoffs</a:t>
            </a:r>
            <a:endParaRPr sz="1200">
              <a:latin typeface="Calibri"/>
              <a:ea typeface="Calibri"/>
              <a:cs typeface="Calibri"/>
              <a:sym typeface="Calibri"/>
            </a:endParaRPr>
          </a:p>
        </p:txBody>
      </p:sp>
      <p:pic>
        <p:nvPicPr>
          <p:cNvPr id="387" name="Google Shape;387;p4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175" y="3151150"/>
            <a:ext cx="5198627" cy="2031874"/>
          </a:xfrm>
          <a:prstGeom prst="rect">
            <a:avLst/>
          </a:prstGeom>
          <a:noFill/>
          <a:ln w="9525" cap="flat" cmpd="sng">
            <a:solidFill>
              <a:srgbClr val="FF0000"/>
            </a:solidFill>
            <a:prstDash val="solid"/>
            <a:round/>
            <a:headEnd type="none" w="sm" len="sm"/>
            <a:tailEnd type="none" w="sm" len="sm"/>
          </a:ln>
        </p:spPr>
      </p:pic>
      <p:pic>
        <p:nvPicPr>
          <p:cNvPr id="388" name="Google Shape;388;p4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3175" y="431084"/>
            <a:ext cx="5198626" cy="269269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pic>
        <p:nvPicPr>
          <p:cNvPr id="393" name="Google Shape;393;p4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94" name="Google Shape;394;p49"/>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95" name="Google Shape;395;p49"/>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96" name="Google Shape;396;p49"/>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97" name="Google Shape;397;p49"/>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98" name="Google Shape;398;p49"/>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0"/>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7459</Words>
  <Application>Microsoft Macintosh PowerPoint</Application>
  <PresentationFormat>On-screen Show (16:9)</PresentationFormat>
  <Paragraphs>707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2026-03-06T19:59:21Z</dcterms:modified>
</cp:coreProperties>
</file>