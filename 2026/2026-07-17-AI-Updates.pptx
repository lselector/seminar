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Roboto Mono" pitchFamily="49" charset="0"/>
      <p:regular r:id="rId25"/>
      <p:bold r:id="rId26"/>
      <p:italic r:id="rId27"/>
      <p:boldItalic r:id="rId28"/>
    </p:embeddedFont>
    <p:embeddedFont>
      <p:font typeface="Victor Mono" panose="02000009000000000000" pitchFamily="49"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6AFE7F9-774E-4868-B593-13FC6A8877AD}">
  <a:tblStyle styleId="{C6AFE7F9-774E-4868-B593-13FC6A8877A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f4a04e163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3f4a04e163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f360dca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f360dcafd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f52716aee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g3f52716aee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f4a04d86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f4a04d869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f4e64b349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f4e64b349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f4c8ed9e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f4c8ed9e9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f509162d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f509162dd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f514d4e41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g3f514d4e414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f514d4e414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3f514d4e414_1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f514d4e414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3f514d4e414_1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f514d4e414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3f514d4e414_1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f520565fc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3f520565fc3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f520565fc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f520565fc3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f520565fc3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g3f520565fc3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f524d7ed28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3f524d7ed28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f524d7ed2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g3f524d7ed2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f50be731e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g3f50be731e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d971967e09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3d971967e09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d971967e0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g3d971967e09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d971967e0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g3d971967e09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arena.ai/leaderboard/model/muse-spark-1.1" TargetMode="External"/><Relationship Id="rId39" Type="http://schemas.openxmlformats.org/officeDocument/2006/relationships/hyperlink" Target="https://arena.ai/leaderboard/model/gemini-3-pro" TargetMode="External"/><Relationship Id="rId21" Type="http://schemas.openxmlformats.org/officeDocument/2006/relationships/hyperlink" Target="https://arena.ai/leaderboard/model/claude-opus-4-6-thinking" TargetMode="External"/><Relationship Id="rId34" Type="http://schemas.openxmlformats.org/officeDocument/2006/relationships/hyperlink" Target="https://arena.ai/leaderboard/model/claude-sonnet-5-high" TargetMode="External"/><Relationship Id="rId42" Type="http://schemas.openxmlformats.org/officeDocument/2006/relationships/hyperlink" Target="https://arena.ai/leaderboard/model/gpt-5.2-chat-latest-20260210" TargetMode="External"/><Relationship Id="rId47" Type="http://schemas.openxmlformats.org/officeDocument/2006/relationships/hyperlink" Target="https://arena.ai/leaderboard/model/gpt-5.5" TargetMode="External"/><Relationship Id="rId50" Type="http://schemas.openxmlformats.org/officeDocument/2006/relationships/hyperlink" Target="https://arena.ai/leaderboard/model/gpt-5.5-instant"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9" Type="http://schemas.openxmlformats.org/officeDocument/2006/relationships/hyperlink" Target="https://arena.ai/leaderboard/model/claude-sonnet-4-6" TargetMode="External"/><Relationship Id="rId11" Type="http://schemas.openxmlformats.org/officeDocument/2006/relationships/hyperlink" Target="https://www.stack-ai.com/llm-leaderboard" TargetMode="External"/><Relationship Id="rId24" Type="http://schemas.openxmlformats.org/officeDocument/2006/relationships/hyperlink" Target="https://arena.ai/leaderboard/model/claude-opus-4-8-thinking" TargetMode="External"/><Relationship Id="rId32" Type="http://schemas.openxmlformats.org/officeDocument/2006/relationships/hyperlink" Target="https://arena.ai/leaderboard/model/grok-4.5" TargetMode="External"/><Relationship Id="rId37" Type="http://schemas.openxmlformats.org/officeDocument/2006/relationships/hyperlink" Target="https://arena.ai/leaderboard/model/gpt-5.4-high" TargetMode="External"/><Relationship Id="rId40" Type="http://schemas.openxmlformats.org/officeDocument/2006/relationships/hyperlink" Target="https://arena.ai/leaderboard/model/gpt-5.5-high" TargetMode="External"/><Relationship Id="rId45" Type="http://schemas.openxmlformats.org/officeDocument/2006/relationships/hyperlink" Target="https://arena.ai/leaderboard/model/gemini-3.5-flash-medium"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arena.ai/leaderboard/model/claude-opus-4-6" TargetMode="External"/><Relationship Id="rId28" Type="http://schemas.openxmlformats.org/officeDocument/2006/relationships/hyperlink" Target="https://arena.ai/leaderboard/model/gpt-5.6-sol-xhigh" TargetMode="External"/><Relationship Id="rId36" Type="http://schemas.openxmlformats.org/officeDocument/2006/relationships/hyperlink" Target="https://arena.ai/leaderboard/model/glm-5.1" TargetMode="External"/><Relationship Id="rId49" Type="http://schemas.openxmlformats.org/officeDocument/2006/relationships/hyperlink" Target="https://arena.ai/leaderboard/model/gemini-3-flash" TargetMode="External"/><Relationship Id="rId10" Type="http://schemas.openxmlformats.org/officeDocument/2006/relationships/hyperlink" Target="https://llmworld.net/llm_leaderboards/" TargetMode="External"/><Relationship Id="rId19" Type="http://schemas.openxmlformats.org/officeDocument/2006/relationships/hyperlink" Target="https://arena.ai/leaderboard/model/claude-fable-5" TargetMode="External"/><Relationship Id="rId31" Type="http://schemas.openxmlformats.org/officeDocument/2006/relationships/hyperlink" Target="https://arena.ai/leaderboard/model/muse-spark" TargetMode="External"/><Relationship Id="rId44" Type="http://schemas.openxmlformats.org/officeDocument/2006/relationships/hyperlink" Target="https://arena.ai/leaderboard/model/gemini-3.5-flash-high"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arena.ai/leaderboard/model/claude-opus-4-7" TargetMode="External"/><Relationship Id="rId27" Type="http://schemas.openxmlformats.org/officeDocument/2006/relationships/hyperlink" Target="https://arena.ai/leaderboard/model/claude-opus-4-5-20251101-thinking-32k" TargetMode="External"/><Relationship Id="rId30" Type="http://schemas.openxmlformats.org/officeDocument/2006/relationships/hyperlink" Target="https://arena.ai/leaderboard/model/qwen3.7-max-preview" TargetMode="External"/><Relationship Id="rId35" Type="http://schemas.openxmlformats.org/officeDocument/2006/relationships/hyperlink" Target="https://arena.ai/leaderboard/model/gemini-3.1-pro-preview" TargetMode="External"/><Relationship Id="rId43" Type="http://schemas.openxmlformats.org/officeDocument/2006/relationships/hyperlink" Target="https://arena.ai/leaderboard/model/kimi-k2.6" TargetMode="External"/><Relationship Id="rId48" Type="http://schemas.openxmlformats.org/officeDocument/2006/relationships/hyperlink" Target="https://arena.ai/leaderboard/model/grok-4.20-beta-0309-reasoning"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arena.ai/leaderboard/model/claude-opus-4-8" TargetMode="External"/><Relationship Id="rId33" Type="http://schemas.openxmlformats.org/officeDocument/2006/relationships/hyperlink" Target="https://arena.ai/leaderboard/model/claude-opus-4-5-20251101" TargetMode="External"/><Relationship Id="rId38" Type="http://schemas.openxmlformats.org/officeDocument/2006/relationships/hyperlink" Target="https://arena.ai/leaderboard/model/claude-sonnet-4-5-20250929-thinking-32k" TargetMode="External"/><Relationship Id="rId46" Type="http://schemas.openxmlformats.org/officeDocument/2006/relationships/hyperlink" Target="https://arena.ai/leaderboard/model/grok-4.20-beta1" TargetMode="External"/><Relationship Id="rId20" Type="http://schemas.openxmlformats.org/officeDocument/2006/relationships/hyperlink" Target="https://arena.ai/leaderboard/model/claude-opus-4-7-thinking" TargetMode="External"/><Relationship Id="rId41" Type="http://schemas.openxmlformats.org/officeDocument/2006/relationships/hyperlink" Target="https://arena.ai/leaderboard/model/mimo-v2.5-pro"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gI5d2czu9JE"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www.youtube.com/watch?v=kURZuF5FLdo"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hyperlink" Target="https://hermes-agent.nousresearch.com/docs/" TargetMode="External"/><Relationship Id="rId13" Type="http://schemas.openxmlformats.org/officeDocument/2006/relationships/image" Target="../media/image4.png"/><Relationship Id="rId3" Type="http://schemas.openxmlformats.org/officeDocument/2006/relationships/hyperlink" Target="https://nousresearch.com" TargetMode="External"/><Relationship Id="rId7" Type="http://schemas.openxmlformats.org/officeDocument/2006/relationships/hyperlink" Target="https://github.com/NousResearch/DisTrO" TargetMode="External"/><Relationship Id="rId12" Type="http://schemas.openxmlformats.org/officeDocument/2006/relationships/image" Target="../media/image3.png"/><Relationship Id="rId2" Type="http://schemas.openxmlformats.org/officeDocument/2006/relationships/notesSlide" Target="../notesSlides/notesSlide4.xml"/><Relationship Id="rId16"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hyperlink" Target="https://sp-edge.com/companies/3929124" TargetMode="External"/><Relationship Id="rId11" Type="http://schemas.openxmlformats.org/officeDocument/2006/relationships/hyperlink" Target="https://siliconangle.com/2025/04/25/nous-research-raises-50m-decentralized-ai-training-led-paradigm/" TargetMode="External"/><Relationship Id="rId5" Type="http://schemas.openxmlformats.org/officeDocument/2006/relationships/hyperlink" Target="https://huggingface.co/NousResearch" TargetMode="External"/><Relationship Id="rId15" Type="http://schemas.openxmlformats.org/officeDocument/2006/relationships/image" Target="../media/image6.png"/><Relationship Id="rId10" Type="http://schemas.openxmlformats.org/officeDocument/2006/relationships/hyperlink" Target="https://nousresearch.com/nous-psyche" TargetMode="External"/><Relationship Id="rId4" Type="http://schemas.openxmlformats.org/officeDocument/2006/relationships/hyperlink" Target="https://www.linkedin.com/company/nousresearch" TargetMode="External"/><Relationship Id="rId9" Type="http://schemas.openxmlformats.org/officeDocument/2006/relationships/hyperlink" Target="https://github.com/nousresearch/hermes-agent" TargetMode="External"/><Relationship Id="rId1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hyperlink" Target="https://simple.wikipedia.org/wiki/Qualcomm" TargetMode="External"/><Relationship Id="rId13" Type="http://schemas.openxmlformats.org/officeDocument/2006/relationships/hyperlink" Target="https://www.khronos.org" TargetMode="External"/><Relationship Id="rId3" Type="http://schemas.openxmlformats.org/officeDocument/2006/relationships/hyperlink" Target="https://www.youtube.com/watch?v=oZagkCkBkww" TargetMode="External"/><Relationship Id="rId7" Type="http://schemas.openxmlformats.org/officeDocument/2006/relationships/image" Target="../media/image9.png"/><Relationship Id="rId12"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modular.com" TargetMode="External"/><Relationship Id="rId11" Type="http://schemas.openxmlformats.org/officeDocument/2006/relationships/image" Target="../media/image10.png"/><Relationship Id="rId5" Type="http://schemas.openxmlformats.org/officeDocument/2006/relationships/hyperlink" Target="https://mojolang.org" TargetMode="External"/><Relationship Id="rId10" Type="http://schemas.openxmlformats.org/officeDocument/2006/relationships/hyperlink" Target="https://en.wikipedia.org/wiki/Vulkan" TargetMode="External"/><Relationship Id="rId4" Type="http://schemas.openxmlformats.org/officeDocument/2006/relationships/hyperlink" Target="https://www.vulkan.org" TargetMode="External"/><Relationship Id="rId9" Type="http://schemas.openxmlformats.org/officeDocument/2006/relationships/hyperlink" Target="https://github.khronos.org"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xda-developers.com/i-ditched-ollama-after-using-llama-cpp-webui-and-im-not-going-back/"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https://docs.openwebui.com/getting-started/quick-start/connect-a-provider/starting-with-llama-cpp/" TargetMode="External"/><Relationship Id="rId4" Type="http://schemas.openxmlformats.org/officeDocument/2006/relationships/hyperlink" Target="http://localhost:808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hyperlink" Target="https://mojolang.org/docs/manual/python/" TargetMode="External"/><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modular.com/open-source/max" TargetMode="Externa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hyperlink" Target="https://www.microsoft.com/en-us/research/blog/lazygraphrag-setting-a-new-standard-for-quality-and-cos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youtube.com/watch?v=psSL3Fi5zJE" TargetMode="External"/><Relationship Id="rId5" Type="http://schemas.openxmlformats.org/officeDocument/2006/relationships/hyperlink" Target="https://www.youtube.com/watch?v=noWZ8AyD8kI" TargetMode="Externa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AwWmUhm4xYA"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e80nlacPl84"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www.youtube.com/watch?v=U8yzw0rc-RI"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5m-ez2sW_vo"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www.youtube.com/watch?v=J0bce9WQJ-g"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cwf2vEAigKA"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KoDohnhLpJ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FpbIPqVuNFw"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www.youtube.com/watch?v=9pj3-zDw4eU"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PqlnPcae5OQ"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hyperlink" Target="https://www.theregister.com/ai-and-ml/2026/07/13/microsoft-chief-turns-hostile-on-frontier-ai-labs-warns-companies-to-guard-their-ip/5270628" TargetMode="Externa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etduwo9Lu3M"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hyperlink" Target="https://openai.com/chatgpt-work/" TargetMode="Externa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ThePrimeTimeagen"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hyperlink" Target="https://layoffs.fyi" TargetMode="External"/><Relationship Id="rId7"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hyperlink" Target="https://trueup.io/layoff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00175" y="475141"/>
            <a:ext cx="4330200" cy="1173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"LM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Meta Muse Spark 1.1 for Agents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Hermes Cloud offers VPS agents in 60 sec</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Nous Research $75 Mn at $1.5 B valuation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Nous Research is an open-source AI lab</a:t>
            </a:r>
            <a:endParaRPr sz="1500"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July 17,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37121" y="4571325"/>
            <a:ext cx="4525800" cy="480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Xbox planning to cut 50% jobs in 2027</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Jobs &amp; Layoffs</a:t>
            </a:r>
            <a:endParaRPr sz="1500" b="1">
              <a:solidFill>
                <a:srgbClr val="3C78D8"/>
              </a:solidFill>
              <a:latin typeface="Calibri"/>
              <a:ea typeface="Calibri"/>
              <a:cs typeface="Calibri"/>
              <a:sym typeface="Calibri"/>
            </a:endParaRPr>
          </a:p>
        </p:txBody>
      </p:sp>
      <p:sp>
        <p:nvSpPr>
          <p:cNvPr id="66" name="Google Shape;66;p15"/>
          <p:cNvSpPr txBox="1"/>
          <p:nvPr/>
        </p:nvSpPr>
        <p:spPr>
          <a:xfrm>
            <a:off x="4993325" y="61800"/>
            <a:ext cx="3796200" cy="7080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2000" b="1" i="1">
                <a:solidFill>
                  <a:srgbClr val="FF0000"/>
                </a:solidFill>
                <a:latin typeface="Calibri"/>
                <a:ea typeface="Calibri"/>
                <a:cs typeface="Calibri"/>
                <a:sym typeface="Calibri"/>
              </a:rPr>
              <a:t>Vulkan and Mojo are challenging Nvidia CUDA</a:t>
            </a:r>
            <a:endParaRPr sz="2000" b="1" i="1">
              <a:solidFill>
                <a:srgbClr val="FF0000"/>
              </a:solidFill>
              <a:latin typeface="Calibri"/>
              <a:ea typeface="Calibri"/>
              <a:cs typeface="Calibri"/>
              <a:sym typeface="Calibri"/>
            </a:endParaRPr>
          </a:p>
        </p:txBody>
      </p:sp>
      <p:sp>
        <p:nvSpPr>
          <p:cNvPr id="67" name="Google Shape;67;p15"/>
          <p:cNvSpPr txBox="1"/>
          <p:nvPr/>
        </p:nvSpPr>
        <p:spPr>
          <a:xfrm>
            <a:off x="4537132" y="841788"/>
            <a:ext cx="4525800" cy="30201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Docker Swarm vs Kubernetes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WebAssembly (WASM) vs Docker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Hyper-specific Marketing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Leya - legal AI platform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ElevenLabs - $600 Mln ARR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Second Brain wiki knowledge system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Self-Improving AI Agents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/workflow in Claude Code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Helps Quantum Computers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"Compete Mode" technique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Satya Nadella - “reverse information paradox.”</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How to Use Codex</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ChatGPT Work - an autonomous agent</a:t>
            </a:r>
            <a:endParaRPr sz="1500" b="1">
              <a:solidFill>
                <a:srgbClr val="3C78D8"/>
              </a:solidFill>
              <a:latin typeface="Calibri"/>
              <a:ea typeface="Calibri"/>
              <a:cs typeface="Calibri"/>
              <a:sym typeface="Calibri"/>
            </a:endParaRPr>
          </a:p>
        </p:txBody>
      </p:sp>
      <p:sp>
        <p:nvSpPr>
          <p:cNvPr id="68" name="Google Shape;68;p15"/>
          <p:cNvSpPr txBox="1"/>
          <p:nvPr/>
        </p:nvSpPr>
        <p:spPr>
          <a:xfrm>
            <a:off x="100175" y="1896248"/>
            <a:ext cx="4330200" cy="2558100"/>
          </a:xfrm>
          <a:prstGeom prst="rect">
            <a:avLst/>
          </a:prstGeom>
          <a:solidFill>
            <a:srgbClr val="D0E0E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Vulkan and Mojo vs Nvidia CUDA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Qualcomm, Vulkan, Khronos Group</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llama.cpp vs Ollama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Ollama vs llama.cpp vs vLLM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Mojo language, MAX inference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How to use Mojo from Python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LazyGraphRAG is x25 cheaper (Nov 2024)</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Fable 5 orchestrator +  ChatGPT's Codex Worker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SQLite vs Pinecone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GPT Live Voice Models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How to summarize YouTube videos on MacOS</a:t>
            </a:r>
            <a:endParaRPr sz="1500"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txBox="1"/>
          <p:nvPr/>
        </p:nvSpPr>
        <p:spPr>
          <a:xfrm>
            <a:off x="6041375" y="2449450"/>
            <a:ext cx="30510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1600" algn="l" rtl="0">
              <a:lnSpc>
                <a:spcPct val="100000"/>
              </a:lnSpc>
              <a:spcBef>
                <a:spcPts val="0"/>
              </a:spcBef>
              <a:spcAft>
                <a:spcPts val="0"/>
              </a:spcAft>
              <a:buClr>
                <a:schemeClr val="dk1"/>
              </a:buClr>
              <a:buSzPts val="700"/>
              <a:buFont typeface="Calibri"/>
              <a:buChar char="●"/>
            </a:pPr>
            <a:r>
              <a:rPr lang="en" sz="700" u="sng">
                <a:solidFill>
                  <a:schemeClr val="hlink"/>
                </a:solidFill>
                <a:latin typeface="Calibri"/>
                <a:ea typeface="Calibri"/>
                <a:cs typeface="Calibri"/>
                <a:sym typeface="Calibri"/>
                <a:hlinkClick r:id="rId4"/>
              </a:rPr>
              <a:t>https://lmarena.ai/leaderboard/text</a:t>
            </a:r>
            <a:r>
              <a:rPr lang="en" sz="700">
                <a:latin typeface="Calibri"/>
                <a:ea typeface="Calibri"/>
                <a:cs typeface="Calibri"/>
                <a:sym typeface="Calibri"/>
              </a:rPr>
              <a:t> </a:t>
            </a:r>
            <a:endParaRPr sz="700">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latin typeface="Calibri"/>
                <a:ea typeface="Calibri"/>
                <a:cs typeface="Calibri"/>
                <a:sym typeface="Calibri"/>
              </a:rPr>
              <a:t>Design Arena -    </a:t>
            </a:r>
            <a:br>
              <a:rPr lang="en" sz="700">
                <a:latin typeface="Calibri"/>
                <a:ea typeface="Calibri"/>
                <a:cs typeface="Calibri"/>
                <a:sym typeface="Calibri"/>
              </a:rPr>
            </a:br>
            <a:r>
              <a:rPr lang="en" sz="700" u="sng">
                <a:solidFill>
                  <a:schemeClr val="hlink"/>
                </a:solidFill>
                <a:latin typeface="Calibri"/>
                <a:ea typeface="Calibri"/>
                <a:cs typeface="Calibri"/>
                <a:sym typeface="Calibri"/>
                <a:hlinkClick r:id="rId6"/>
              </a:rPr>
              <a:t>https://www.designarena.ai</a:t>
            </a:r>
            <a:r>
              <a:rPr lang="en" sz="700">
                <a:latin typeface="Calibri"/>
                <a:ea typeface="Calibri"/>
                <a:cs typeface="Calibri"/>
                <a:sym typeface="Calibri"/>
              </a:rPr>
              <a:t> </a:t>
            </a:r>
            <a:endParaRPr sz="700">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u="sng">
                <a:solidFill>
                  <a:schemeClr val="hlink"/>
                </a:solidFill>
                <a:latin typeface="Calibri"/>
                <a:ea typeface="Calibri"/>
                <a:cs typeface="Calibri"/>
                <a:sym typeface="Calibri"/>
                <a:hlinkClick r:id="rId7"/>
              </a:rPr>
              <a:t>https://openlm.ai/chatbot-arena/</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u="sng">
                <a:solidFill>
                  <a:schemeClr val="hlink"/>
                </a:solidFill>
                <a:latin typeface="Calibri"/>
                <a:ea typeface="Calibri"/>
                <a:cs typeface="Calibri"/>
                <a:sym typeface="Calibri"/>
                <a:hlinkClick r:id="rId8"/>
              </a:rPr>
              <a:t>https://beta.lmarena.ai</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Web Leaderboard -  1T params</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9"/>
              </a:rPr>
              <a:t>https://web.lmarena.ai/leaderboard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@LlmStats - </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0"/>
              </a:rPr>
              <a:t>https://llmworld.net/llm_leaderboards/</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StackAI</a:t>
            </a:r>
            <a:r>
              <a:rPr lang="en" sz="700">
                <a:solidFill>
                  <a:schemeClr val="dk1"/>
                </a:solidFill>
                <a:latin typeface="Calibri"/>
                <a:ea typeface="Calibri"/>
                <a:cs typeface="Calibri"/>
                <a:sym typeface="Calibri"/>
              </a:rPr>
              <a:t> - </a:t>
            </a:r>
            <a:br>
              <a:rPr lang="en" sz="700">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1"/>
              </a:rPr>
              <a:t>https://www.stack-ai.com/llm-leaderboard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Artificial Analysis</a:t>
            </a:r>
            <a:r>
              <a:rPr lang="en" sz="700">
                <a:solidFill>
                  <a:schemeClr val="dk1"/>
                </a:solidFill>
                <a:latin typeface="Calibri"/>
                <a:ea typeface="Calibri"/>
                <a:cs typeface="Calibri"/>
                <a:sym typeface="Calibri"/>
              </a:rPr>
              <a:t> - </a:t>
            </a:r>
            <a:br>
              <a:rPr lang="en" sz="700">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2"/>
              </a:rPr>
              <a:t>https://artificialanalysis.ai/leaderboards/models</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Open LLM Leaderboard - by Hugging Face - </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3"/>
              </a:rPr>
              <a:t>https://huggingface.co/open-llm-leaderboard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Vellum - </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4"/>
              </a:rPr>
              <a:t>https://www.vellum.ai/llm-leaderboard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AI Benchmarking Hub - </a:t>
            </a:r>
            <a:br>
              <a:rPr lang="en" sz="700">
                <a:solidFill>
                  <a:schemeClr val="dk1"/>
                </a:solidFill>
                <a:latin typeface="Calibri"/>
                <a:ea typeface="Calibri"/>
                <a:cs typeface="Calibri"/>
                <a:sym typeface="Calibri"/>
              </a:rPr>
            </a:br>
            <a:r>
              <a:rPr lang="en" sz="700" u="sng">
                <a:solidFill>
                  <a:schemeClr val="hlink"/>
                </a:solidFill>
                <a:latin typeface="Calibri"/>
                <a:ea typeface="Calibri"/>
                <a:cs typeface="Calibri"/>
                <a:sym typeface="Calibri"/>
                <a:hlinkClick r:id="rId15"/>
              </a:rPr>
              <a:t>https://epoch.ai/data/ai-benchmarking-dashboard</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Grok 4 Benchmarks - </a:t>
            </a:r>
            <a:br>
              <a:rPr lang="en" sz="700">
                <a:solidFill>
                  <a:schemeClr val="dk1"/>
                </a:solidFill>
                <a:latin typeface="Calibri"/>
                <a:ea typeface="Calibri"/>
                <a:cs typeface="Calibri"/>
                <a:sym typeface="Calibri"/>
              </a:rPr>
            </a:br>
            <a:r>
              <a:rPr lang="en" sz="700" u="sng">
                <a:solidFill>
                  <a:schemeClr val="hlink"/>
                </a:solidFill>
                <a:latin typeface="Calibri"/>
                <a:ea typeface="Calibri"/>
                <a:cs typeface="Calibri"/>
                <a:sym typeface="Calibri"/>
                <a:hlinkClick r:id="rId16"/>
              </a:rPr>
              <a:t>https://artificialanalysis.ai/models/grok-4</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Image arena (alibaba) - </a:t>
            </a:r>
            <a:br>
              <a:rPr lang="en" sz="700">
                <a:solidFill>
                  <a:schemeClr val="dk1"/>
                </a:solidFill>
                <a:latin typeface="Calibri"/>
                <a:ea typeface="Calibri"/>
                <a:cs typeface="Calibri"/>
                <a:sym typeface="Calibri"/>
              </a:rPr>
            </a:br>
            <a:r>
              <a:rPr lang="en" sz="700" u="sng">
                <a:solidFill>
                  <a:schemeClr val="hlink"/>
                </a:solidFill>
                <a:latin typeface="Calibri"/>
                <a:ea typeface="Calibri"/>
                <a:cs typeface="Calibri"/>
                <a:sym typeface="Calibri"/>
                <a:hlinkClick r:id="rId17"/>
              </a:rPr>
              <a:t>http://aiarena.alibaba-inc.com/corpora/arena/leaderboard?arenaType=T2I</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image arena - </a:t>
            </a:r>
            <a:r>
              <a:rPr lang="en" sz="700" u="sng">
                <a:solidFill>
                  <a:schemeClr val="hlink"/>
                </a:solidFill>
                <a:latin typeface="Calibri"/>
                <a:ea typeface="Calibri"/>
                <a:cs typeface="Calibri"/>
                <a:sym typeface="Calibri"/>
                <a:hlinkClick r:id="rId18"/>
              </a:rPr>
              <a:t>https://lmarena.ai/leaderboard/text-to-image</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p:txBody>
      </p:sp>
      <p:sp>
        <p:nvSpPr>
          <p:cNvPr id="78" name="Google Shape;78;p16"/>
          <p:cNvSpPr txBox="1"/>
          <p:nvPr/>
        </p:nvSpPr>
        <p:spPr>
          <a:xfrm>
            <a:off x="3437903"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a:latin typeface="Calibri"/>
                <a:ea typeface="Calibri"/>
                <a:cs typeface="Calibri"/>
                <a:sym typeface="Calibri"/>
              </a:rPr>
              <a:t>Data for July 10</a:t>
            </a:r>
            <a:endParaRPr sz="1000">
              <a:latin typeface="Calibri"/>
              <a:ea typeface="Calibri"/>
              <a:cs typeface="Calibri"/>
              <a:sym typeface="Calibri"/>
            </a:endParaRPr>
          </a:p>
        </p:txBody>
      </p:sp>
      <p:graphicFrame>
        <p:nvGraphicFramePr>
          <p:cNvPr id="79" name="Google Shape;79;p16"/>
          <p:cNvGraphicFramePr/>
          <p:nvPr/>
        </p:nvGraphicFramePr>
        <p:xfrm>
          <a:off x="5742420" y="430065"/>
          <a:ext cx="3000000" cy="3000000"/>
        </p:xfrm>
        <a:graphic>
          <a:graphicData uri="http://schemas.openxmlformats.org/drawingml/2006/table">
            <a:tbl>
              <a:tblPr>
                <a:noFill/>
                <a:tableStyleId>{C6AFE7F9-774E-4868-B593-13FC6A8877AD}</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80" name="Google Shape;80;p16"/>
          <p:cNvSpPr txBox="1"/>
          <p:nvPr/>
        </p:nvSpPr>
        <p:spPr>
          <a:xfrm>
            <a:off x="6838390" y="485738"/>
            <a:ext cx="21525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Fable-5 - 6TB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Opus-4.8 - 5TB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Sonnet-4.5 - 1TB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Meta muse-spark - 16 x 70B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Qwen3.7-max-preview - 745B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Kimi-k2.6 - 1T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Minimax M3  -  456B</a:t>
            </a:r>
            <a:endParaRPr sz="1000">
              <a:latin typeface="Calibri"/>
              <a:ea typeface="Calibri"/>
              <a:cs typeface="Calibri"/>
              <a:sym typeface="Calibri"/>
            </a:endParaRPr>
          </a:p>
        </p:txBody>
      </p:sp>
      <p:graphicFrame>
        <p:nvGraphicFramePr>
          <p:cNvPr id="81" name="Google Shape;81;p16"/>
          <p:cNvGraphicFramePr/>
          <p:nvPr/>
        </p:nvGraphicFramePr>
        <p:xfrm>
          <a:off x="2960788" y="809851"/>
          <a:ext cx="3000000" cy="3000000"/>
        </p:xfrm>
        <a:graphic>
          <a:graphicData uri="http://schemas.openxmlformats.org/drawingml/2006/table">
            <a:tbl>
              <a:tblPr>
                <a:noFill/>
                <a:tableStyleId>{C6AFE7F9-774E-4868-B593-13FC6A8877AD}</a:tableStyleId>
              </a:tblPr>
              <a:tblGrid>
                <a:gridCol w="276225">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claude-fable-5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1564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claude-opus-4-8-thinking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claude-opus-4-8</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muse-spark-1.1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gpt-5.6-sol-xhigh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grok-4.5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claude-sonnet-5-high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claude-sonnet-4-5-20250929-thinking-32k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9"/>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0"/>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1"/>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2"/>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3"/>
                        </a:rPr>
                        <a:t>kimi-k2.6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2" name="Google Shape;82;p16"/>
          <p:cNvGraphicFramePr/>
          <p:nvPr/>
        </p:nvGraphicFramePr>
        <p:xfrm>
          <a:off x="221462" y="809850"/>
          <a:ext cx="3000000" cy="3000000"/>
        </p:xfrm>
        <a:graphic>
          <a:graphicData uri="http://schemas.openxmlformats.org/drawingml/2006/table">
            <a:tbl>
              <a:tblPr>
                <a:noFill/>
                <a:tableStyleId>{C6AFE7F9-774E-4868-B593-13FC6A8877AD}</a:tableStyleId>
              </a:tblPr>
              <a:tblGrid>
                <a:gridCol w="276225">
                  <a:extLst>
                    <a:ext uri="{9D8B030D-6E8A-4147-A177-3AD203B41FA5}">
                      <a16:colId xmlns:a16="http://schemas.microsoft.com/office/drawing/2014/main" val="20000"/>
                    </a:ext>
                  </a:extLst>
                </a:gridCol>
                <a:gridCol w="17240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claude-fable-5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muse-spark-1.1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gpt-5.6-sol-xhigh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9"/>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claude-opus-4-8-thinking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0"/>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4"/>
                        </a:rPr>
                        <a:t>gemini-3.5-flash-high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5"/>
                        </a:rPr>
                        <a:t>gemini-3.5-flash-medium</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2"/>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claude-opus-4-8</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6"/>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7"/>
                        </a:rPr>
                        <a:t>gpt-5.5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8"/>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9"/>
                        </a:rPr>
                        <a:t>gemini-3-flash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50"/>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88" name="Google Shape;88;p17"/>
          <p:cNvSpPr txBox="1"/>
          <p:nvPr/>
        </p:nvSpPr>
        <p:spPr>
          <a:xfrm>
            <a:off x="81775" y="387010"/>
            <a:ext cx="4368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Meta Muse Spark 1.1 Multimodal reasoning model for Agents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Highly competitive in coding, computer use, and tool calling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Outperforms Gemini 3.1 Pro and matches or beats expensive models like Opus 4.8 in agentic coding tasks at just 20% of the cost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Length 1 Mln tokens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Supports parallel agents across apps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Excels in computer use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Robust code generation capabilities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Superior multimodal vision reasoning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 be used from Claude Code, similar to Opus 4.8, much cheaper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https://www.youtube.com/watch?v=gI5d2czu9JE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89" name="Google Shape;89;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17350" y="246250"/>
            <a:ext cx="3381875" cy="747450"/>
          </a:xfrm>
          <a:prstGeom prst="rect">
            <a:avLst/>
          </a:prstGeom>
          <a:noFill/>
          <a:ln w="9525" cap="flat" cmpd="sng">
            <a:solidFill>
              <a:srgbClr val="FF0000"/>
            </a:solidFill>
            <a:prstDash val="solid"/>
            <a:round/>
            <a:headEnd type="none" w="sm" len="sm"/>
            <a:tailEnd type="none" w="sm" len="sm"/>
          </a:ln>
        </p:spPr>
      </p:pic>
      <p:sp>
        <p:nvSpPr>
          <p:cNvPr id="90" name="Google Shape;90;p17"/>
          <p:cNvSpPr txBox="1"/>
          <p:nvPr/>
        </p:nvSpPr>
        <p:spPr>
          <a:xfrm>
            <a:off x="81775" y="2497810"/>
            <a:ext cx="43683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Cloud allows to deploy agents to a VPS in 60 sec</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New features include an outreach lead-generation tool powered by Hunter’s API and Hermes Oracle, which pulls trending industry news from Twitter to recommend unique content angles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 Apollo offers a voice-controlled agent capable of building apps and websites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 Astros for competitor analysis linked to an Obsidian memory 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video agent for automated scripting and animation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multi-agent group chat that brainstorms and queues app development ideas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https://www.youtube.com/watch?v=kURZuF5FLdo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91" name="Google Shape;91;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17362" y="1261014"/>
            <a:ext cx="2331200" cy="1311300"/>
          </a:xfrm>
          <a:prstGeom prst="rect">
            <a:avLst/>
          </a:prstGeom>
          <a:noFill/>
          <a:ln w="9525" cap="flat" cmpd="sng">
            <a:solidFill>
              <a:srgbClr val="FF0000"/>
            </a:solidFill>
            <a:prstDash val="solid"/>
            <a:round/>
            <a:headEnd type="none" w="sm" len="sm"/>
            <a:tailEnd type="none" w="sm" len="sm"/>
          </a:ln>
        </p:spPr>
      </p:pic>
      <p:sp>
        <p:nvSpPr>
          <p:cNvPr id="92" name="Google Shape;92;p17"/>
          <p:cNvSpPr txBox="1"/>
          <p:nvPr/>
        </p:nvSpPr>
        <p:spPr>
          <a:xfrm>
            <a:off x="4617362" y="2695274"/>
            <a:ext cx="43683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Nous Research seeks funding $75 Mn at $1.5 billion valuation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Hermes Agent (on GitHub and HuggingFace) has built massive developer adoption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Nous Research follows the Red Hat/HashiCorp playbook: give away the model, monetize at the infrastructure and services layer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Agent-specific fine-tuning creates real switching costs, making Hermes stickier than general-purpose LLMs</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p:nvPr/>
        </p:nvSpPr>
        <p:spPr>
          <a:xfrm>
            <a:off x="81775" y="0"/>
            <a:ext cx="446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Nous Research is an open-source AI lab</a:t>
            </a:r>
            <a:endParaRPr sz="2000" b="1">
              <a:solidFill>
                <a:schemeClr val="dk1"/>
              </a:solidFill>
              <a:latin typeface="Calibri"/>
              <a:ea typeface="Calibri"/>
              <a:cs typeface="Calibri"/>
              <a:sym typeface="Calibri"/>
            </a:endParaRPr>
          </a:p>
        </p:txBody>
      </p:sp>
      <p:sp>
        <p:nvSpPr>
          <p:cNvPr id="98" name="Google Shape;98;p18"/>
          <p:cNvSpPr txBox="1"/>
          <p:nvPr/>
        </p:nvSpPr>
        <p:spPr>
          <a:xfrm>
            <a:off x="81775" y="499631"/>
            <a:ext cx="5412000" cy="4359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Nous Research is an open-source AI lab</a:t>
            </a:r>
            <a:br>
              <a:rPr lang="en" sz="12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3"/>
              </a:rPr>
              <a:t>https://nousresearch.com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Founded in 2022 as an anonymous online research community, formally incorporated in 2023</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~20-person team, led by CEO Jeffrey Quesnelle and Head of Post-Training "Teknium", has built one of the most-used open-weight model families in existence: the Hermes series, downloaded over 55 Mln times on HuggingFace - </a:t>
            </a:r>
            <a:r>
              <a:rPr lang="en" sz="900" u="sng">
                <a:solidFill>
                  <a:schemeClr val="hlink"/>
                </a:solidFill>
                <a:latin typeface="Calibri"/>
                <a:ea typeface="Calibri"/>
                <a:cs typeface="Calibri"/>
                <a:sym typeface="Calibri"/>
                <a:hlinkClick r:id="rId4"/>
              </a:rPr>
              <a:t>https://www.linkedin.com/company/nousresearch</a:t>
            </a:r>
            <a:r>
              <a:rPr lang="en" sz="900">
                <a:solidFill>
                  <a:schemeClr val="dk1"/>
                </a:solidFill>
                <a:latin typeface="Calibri"/>
                <a:ea typeface="Calibri"/>
                <a:cs typeface="Calibri"/>
                <a:sym typeface="Calibri"/>
              </a:rPr>
              <a:t> </a:t>
            </a:r>
            <a:br>
              <a:rPr lang="en" sz="9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5"/>
              </a:rPr>
              <a:t>https://huggingface.co/NousResearch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Their technical flagship is </a:t>
            </a:r>
            <a:r>
              <a:rPr lang="en" sz="1200" b="1">
                <a:solidFill>
                  <a:srgbClr val="FF0000"/>
                </a:solidFill>
                <a:latin typeface="Calibri"/>
                <a:ea typeface="Calibri"/>
                <a:cs typeface="Calibri"/>
                <a:sym typeface="Calibri"/>
              </a:rPr>
              <a:t>DisTrO (Distributed Training Over-the-Internet)</a:t>
            </a:r>
            <a:r>
              <a:rPr lang="en" sz="1200">
                <a:solidFill>
                  <a:schemeClr val="dk1"/>
                </a:solidFill>
                <a:latin typeface="Calibri"/>
                <a:ea typeface="Calibri"/>
                <a:cs typeface="Calibri"/>
                <a:sym typeface="Calibri"/>
              </a:rPr>
              <a:t>, which reduces inter-GPU communication bandwidth by up to x10K, enabling large model pre-training over standard internet connections rather than datacenter supercluster interconnects </a:t>
            </a:r>
            <a:r>
              <a:rPr lang="en" sz="900" u="sng">
                <a:solidFill>
                  <a:schemeClr val="hlink"/>
                </a:solidFill>
                <a:latin typeface="Calibri"/>
                <a:ea typeface="Calibri"/>
                <a:cs typeface="Calibri"/>
                <a:sym typeface="Calibri"/>
                <a:hlinkClick r:id="rId6"/>
              </a:rPr>
              <a:t>https://sp-edge.com/companies/3929124</a:t>
            </a:r>
            <a:r>
              <a:rPr lang="en" sz="900">
                <a:solidFill>
                  <a:schemeClr val="dk1"/>
                </a:solidFill>
                <a:latin typeface="Calibri"/>
                <a:ea typeface="Calibri"/>
                <a:cs typeface="Calibri"/>
                <a:sym typeface="Calibri"/>
              </a:rPr>
              <a:t>  ; </a:t>
            </a:r>
            <a:r>
              <a:rPr lang="en" sz="900" u="sng">
                <a:solidFill>
                  <a:schemeClr val="hlink"/>
                </a:solidFill>
                <a:latin typeface="Calibri"/>
                <a:ea typeface="Calibri"/>
                <a:cs typeface="Calibri"/>
                <a:sym typeface="Calibri"/>
                <a:hlinkClick r:id="rId7"/>
              </a:rPr>
              <a:t>https://github.com/NousResearch/DisTrO</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Hermes Agent </a:t>
            </a:r>
            <a:r>
              <a:rPr lang="en" sz="1200">
                <a:solidFill>
                  <a:schemeClr val="dk1"/>
                </a:solidFill>
                <a:latin typeface="Calibri"/>
                <a:ea typeface="Calibri"/>
                <a:cs typeface="Calibri"/>
                <a:sym typeface="Calibri"/>
              </a:rPr>
              <a:t>- released Feb 2026 - is their open-source self-improving agent framework featuring a built-in learning loop that creates and refines skills from experience, with MCP support, multi-provider compatibility (Ollama, vLLM, Anthropic, etc.), and 20+ messaging platform integrations</a:t>
            </a:r>
            <a:br>
              <a:rPr lang="en" sz="12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8"/>
              </a:rPr>
              <a:t>https://hermes-agent.nousresearch.com/docs/</a:t>
            </a:r>
            <a:r>
              <a:rPr lang="en" sz="900">
                <a:solidFill>
                  <a:schemeClr val="dk1"/>
                </a:solidFill>
                <a:latin typeface="Calibri"/>
                <a:ea typeface="Calibri"/>
                <a:cs typeface="Calibri"/>
                <a:sym typeface="Calibri"/>
              </a:rPr>
              <a:t> </a:t>
            </a:r>
            <a:br>
              <a:rPr lang="en" sz="9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9"/>
              </a:rPr>
              <a:t>https://github.com/nousresearch/hermes-agent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company has raised ~$70M total, with a $50M Series A led by Paradigm in April 2025. Currently raising $75 Mln at 1.5 Bln valuation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Their </a:t>
            </a:r>
            <a:r>
              <a:rPr lang="en" sz="1200" b="1">
                <a:solidFill>
                  <a:srgbClr val="FF0000"/>
                </a:solidFill>
                <a:latin typeface="Calibri"/>
                <a:ea typeface="Calibri"/>
                <a:cs typeface="Calibri"/>
                <a:sym typeface="Calibri"/>
              </a:rPr>
              <a:t>Psyche Network</a:t>
            </a:r>
            <a:r>
              <a:rPr lang="en" sz="1200">
                <a:solidFill>
                  <a:schemeClr val="dk1"/>
                </a:solidFill>
                <a:latin typeface="Calibri"/>
                <a:ea typeface="Calibri"/>
                <a:cs typeface="Calibri"/>
                <a:sym typeface="Calibri"/>
              </a:rPr>
              <a:t> uses Solana blockchain to coordinate globally distributed GPU compute for collaborative model training</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10"/>
              </a:rPr>
              <a:t>https://nousresearch.com/nous-psyche</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11"/>
              </a:rPr>
              <a:t>https://siliconangle.com/2025/04/25/nous-research-raises-50m-decentralized-ai-training-led-paradigm/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99" name="Google Shape;99;p18"/>
          <p:cNvPicPr preferRelativeResize="0"/>
          <p:nvPr/>
        </p:nvPicPr>
        <p:blipFill rotWithShape="1">
          <a:blip r:embed="rId12" cstate="email">
            <a:alphaModFix/>
            <a:extLst>
              <a:ext uri="{28A0092B-C50C-407E-A947-70E740481C1C}">
                <a14:useLocalDpi xmlns:a14="http://schemas.microsoft.com/office/drawing/2010/main"/>
              </a:ext>
            </a:extLst>
          </a:blip>
          <a:srcRect/>
          <a:stretch/>
        </p:blipFill>
        <p:spPr>
          <a:xfrm>
            <a:off x="5804983" y="499631"/>
            <a:ext cx="1010400" cy="1202350"/>
          </a:xfrm>
          <a:prstGeom prst="rect">
            <a:avLst/>
          </a:prstGeom>
          <a:noFill/>
          <a:ln w="9525" cap="flat" cmpd="sng">
            <a:solidFill>
              <a:srgbClr val="FF0000"/>
            </a:solidFill>
            <a:prstDash val="solid"/>
            <a:round/>
            <a:headEnd type="none" w="sm" len="sm"/>
            <a:tailEnd type="none" w="sm" len="sm"/>
          </a:ln>
        </p:spPr>
      </p:pic>
      <p:sp>
        <p:nvSpPr>
          <p:cNvPr id="100" name="Google Shape;100;p18"/>
          <p:cNvSpPr txBox="1"/>
          <p:nvPr/>
        </p:nvSpPr>
        <p:spPr>
          <a:xfrm>
            <a:off x="5606533" y="1763606"/>
            <a:ext cx="14073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Jeffrey Quesnelle</a:t>
            </a:r>
            <a:endParaRPr sz="12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Nous Research CEO </a:t>
            </a:r>
            <a:endParaRPr sz="1200">
              <a:solidFill>
                <a:schemeClr val="dk1"/>
              </a:solidFill>
              <a:latin typeface="Calibri"/>
              <a:ea typeface="Calibri"/>
              <a:cs typeface="Calibri"/>
              <a:sym typeface="Calibri"/>
            </a:endParaRPr>
          </a:p>
        </p:txBody>
      </p:sp>
      <p:pic>
        <p:nvPicPr>
          <p:cNvPr id="101" name="Google Shape;101;p18"/>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7466683" y="734207"/>
            <a:ext cx="1093300" cy="1093300"/>
          </a:xfrm>
          <a:prstGeom prst="rect">
            <a:avLst/>
          </a:prstGeom>
          <a:noFill/>
          <a:ln w="9525" cap="flat" cmpd="sng">
            <a:solidFill>
              <a:srgbClr val="FF0000"/>
            </a:solidFill>
            <a:prstDash val="solid"/>
            <a:round/>
            <a:headEnd type="none" w="sm" len="sm"/>
            <a:tailEnd type="none" w="sm" len="sm"/>
          </a:ln>
        </p:spPr>
      </p:pic>
      <p:pic>
        <p:nvPicPr>
          <p:cNvPr id="102" name="Google Shape;102;p18"/>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5810949" y="3195210"/>
            <a:ext cx="2698974" cy="462000"/>
          </a:xfrm>
          <a:prstGeom prst="rect">
            <a:avLst/>
          </a:prstGeom>
          <a:noFill/>
          <a:ln w="9525" cap="flat" cmpd="sng">
            <a:solidFill>
              <a:srgbClr val="FF0000"/>
            </a:solidFill>
            <a:prstDash val="solid"/>
            <a:round/>
            <a:headEnd type="none" w="sm" len="sm"/>
            <a:tailEnd type="none" w="sm" len="sm"/>
          </a:ln>
        </p:spPr>
      </p:pic>
      <p:pic>
        <p:nvPicPr>
          <p:cNvPr id="103" name="Google Shape;103;p18"/>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a:off x="7189206" y="1991331"/>
            <a:ext cx="1854002" cy="1040050"/>
          </a:xfrm>
          <a:prstGeom prst="rect">
            <a:avLst/>
          </a:prstGeom>
          <a:noFill/>
          <a:ln w="9525" cap="flat" cmpd="sng">
            <a:solidFill>
              <a:srgbClr val="FF0000"/>
            </a:solidFill>
            <a:prstDash val="solid"/>
            <a:round/>
            <a:headEnd type="none" w="sm" len="sm"/>
            <a:tailEnd type="none" w="sm" len="sm"/>
          </a:ln>
        </p:spPr>
      </p:pic>
      <p:pic>
        <p:nvPicPr>
          <p:cNvPr id="104" name="Google Shape;104;p18"/>
          <p:cNvPicPr preferRelativeResize="0"/>
          <p:nvPr/>
        </p:nvPicPr>
        <p:blipFill>
          <a:blip r:embed="rId16" cstate="email">
            <a:alphaModFix/>
            <a:extLst>
              <a:ext uri="{28A0092B-C50C-407E-A947-70E740481C1C}">
                <a14:useLocalDpi xmlns:a14="http://schemas.microsoft.com/office/drawing/2010/main"/>
              </a:ext>
            </a:extLst>
          </a:blip>
          <a:stretch>
            <a:fillRect/>
          </a:stretch>
        </p:blipFill>
        <p:spPr>
          <a:xfrm>
            <a:off x="6047283" y="3741010"/>
            <a:ext cx="2226304" cy="4620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7K subscribers, 295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10" name="Google Shape;110;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33650" y="80363"/>
            <a:ext cx="2541900" cy="4982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p:nvPr/>
        </p:nvSpPr>
        <p:spPr>
          <a:xfrm>
            <a:off x="81775" y="0"/>
            <a:ext cx="3570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Vulkan and Mojo</a:t>
            </a:r>
            <a:endParaRPr sz="2000" b="1">
              <a:solidFill>
                <a:schemeClr val="dk1"/>
              </a:solidFill>
              <a:latin typeface="Calibri"/>
              <a:ea typeface="Calibri"/>
              <a:cs typeface="Calibri"/>
              <a:sym typeface="Calibri"/>
            </a:endParaRPr>
          </a:p>
        </p:txBody>
      </p:sp>
      <p:sp>
        <p:nvSpPr>
          <p:cNvPr id="116" name="Google Shape;116;p20"/>
          <p:cNvSpPr txBox="1"/>
          <p:nvPr/>
        </p:nvSpPr>
        <p:spPr>
          <a:xfrm>
            <a:off x="81775" y="387000"/>
            <a:ext cx="44424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chemeClr val="dk1"/>
              </a:buClr>
              <a:buSzPts val="900"/>
              <a:buFont typeface="Calibri"/>
              <a:buChar char="●"/>
            </a:pPr>
            <a:r>
              <a:rPr lang="en" sz="1200" b="1">
                <a:solidFill>
                  <a:srgbClr val="FF0000"/>
                </a:solidFill>
                <a:latin typeface="Calibri"/>
                <a:ea typeface="Calibri"/>
                <a:cs typeface="Calibri"/>
                <a:sym typeface="Calibri"/>
              </a:rPr>
              <a:t>Vulkan and Mojo vs Nvidia CUDA</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https://www.youtube.com/watch?v=oZagkCkBkww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For 15 years Nvidia's CUDA had a monopoly. But now we have convenient alternatives - Vulkan and Mojo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b="1">
                <a:solidFill>
                  <a:srgbClr val="FF0000"/>
                </a:solidFill>
                <a:latin typeface="Calibri"/>
                <a:ea typeface="Calibri"/>
                <a:cs typeface="Calibri"/>
                <a:sym typeface="Calibri"/>
              </a:rPr>
              <a:t>Vulkan</a:t>
            </a:r>
            <a:r>
              <a:rPr lang="en" sz="1200">
                <a:solidFill>
                  <a:schemeClr val="dk1"/>
                </a:solidFill>
                <a:latin typeface="Calibri"/>
                <a:ea typeface="Calibri"/>
                <a:cs typeface="Calibri"/>
                <a:sym typeface="Calibri"/>
              </a:rPr>
              <a:t> is an open graphics API from video gaming. It allows users to run local LLMs seamlessly on almost any GPU, including AMD, Intel, and Apple Silicon. In many benchmarks, Vulkan runs even faster than AMD's official software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https://www.vulkan.org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b="1">
                <a:solidFill>
                  <a:srgbClr val="FF0000"/>
                </a:solidFill>
                <a:latin typeface="Calibri"/>
                <a:ea typeface="Calibri"/>
                <a:cs typeface="Calibri"/>
                <a:sym typeface="Calibri"/>
              </a:rPr>
              <a:t>Mojo</a:t>
            </a:r>
            <a:r>
              <a:rPr lang="en" sz="1200">
                <a:solidFill>
                  <a:schemeClr val="dk1"/>
                </a:solidFill>
                <a:latin typeface="Calibri"/>
                <a:ea typeface="Calibri"/>
                <a:cs typeface="Calibri"/>
                <a:sym typeface="Calibri"/>
              </a:rPr>
              <a:t> is a new programming language designed to replace CUDA entirely. It allows developers to write clean, Python-like code that compiles directly to any hardware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b="1">
                <a:solidFill>
                  <a:srgbClr val="FF0000"/>
                </a:solidFill>
                <a:latin typeface="Calibri"/>
                <a:ea typeface="Calibri"/>
                <a:cs typeface="Calibri"/>
                <a:sym typeface="Calibri"/>
              </a:rPr>
              <a:t>Mojo</a:t>
            </a:r>
            <a:r>
              <a:rPr lang="en" sz="1200">
                <a:solidFill>
                  <a:schemeClr val="dk1"/>
                </a:solidFill>
                <a:latin typeface="Calibri"/>
                <a:ea typeface="Calibri"/>
                <a:cs typeface="Calibri"/>
                <a:sym typeface="Calibri"/>
              </a:rPr>
              <a:t> matched Nvidia's own hand-tuned CUDA performance on its flagship chip using a fraction of the code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https://mojolang.org</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Qualcomm has acquired </a:t>
            </a:r>
            <a:r>
              <a:rPr lang="en" sz="1200" b="1">
                <a:solidFill>
                  <a:srgbClr val="FF0000"/>
                </a:solidFill>
                <a:latin typeface="Calibri"/>
                <a:ea typeface="Calibri"/>
                <a:cs typeface="Calibri"/>
                <a:sym typeface="Calibri"/>
              </a:rPr>
              <a:t>Mojo's</a:t>
            </a:r>
            <a:r>
              <a:rPr lang="en" sz="1200">
                <a:solidFill>
                  <a:schemeClr val="dk1"/>
                </a:solidFill>
                <a:latin typeface="Calibri"/>
                <a:ea typeface="Calibri"/>
                <a:cs typeface="Calibri"/>
                <a:sym typeface="Calibri"/>
              </a:rPr>
              <a:t> parent company </a:t>
            </a:r>
            <a:r>
              <a:rPr lang="en" sz="1200" b="1">
                <a:solidFill>
                  <a:srgbClr val="FF0000"/>
                </a:solidFill>
                <a:latin typeface="Calibri"/>
                <a:ea typeface="Calibri"/>
                <a:cs typeface="Calibri"/>
                <a:sym typeface="Calibri"/>
              </a:rPr>
              <a:t>Modular</a:t>
            </a:r>
            <a:r>
              <a:rPr lang="en" sz="1200">
                <a:solidFill>
                  <a:schemeClr val="dk1"/>
                </a:solidFill>
                <a:latin typeface="Calibri"/>
                <a:ea typeface="Calibri"/>
                <a:cs typeface="Calibri"/>
                <a:sym typeface="Calibri"/>
              </a:rPr>
              <a:t> for ~ $4 Bln - </a:t>
            </a:r>
            <a:r>
              <a:rPr lang="en" sz="1200" u="sng">
                <a:solidFill>
                  <a:schemeClr val="hlink"/>
                </a:solidFill>
                <a:latin typeface="Calibri"/>
                <a:ea typeface="Calibri"/>
                <a:cs typeface="Calibri"/>
                <a:sym typeface="Calibri"/>
                <a:hlinkClick r:id="rId6"/>
              </a:rPr>
              <a:t>https://www.modular.com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17" name="Google Shape;117;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15200" y="148774"/>
            <a:ext cx="1835699" cy="1156995"/>
          </a:xfrm>
          <a:prstGeom prst="rect">
            <a:avLst/>
          </a:prstGeom>
          <a:noFill/>
          <a:ln w="9525" cap="flat" cmpd="sng">
            <a:solidFill>
              <a:srgbClr val="FF0000"/>
            </a:solidFill>
            <a:prstDash val="solid"/>
            <a:round/>
            <a:headEnd type="none" w="sm" len="sm"/>
            <a:tailEnd type="none" w="sm" len="sm"/>
          </a:ln>
        </p:spPr>
      </p:pic>
      <p:sp>
        <p:nvSpPr>
          <p:cNvPr id="118" name="Google Shape;118;p20"/>
          <p:cNvSpPr txBox="1"/>
          <p:nvPr/>
        </p:nvSpPr>
        <p:spPr>
          <a:xfrm>
            <a:off x="81775" y="3606000"/>
            <a:ext cx="44424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Qualcomm is a global semiconductor and wireless technology company headquartered in San Diego, California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designs and sells Snapdragon processors, 5G modems, and connectivity chips that power smartphones and other connected devices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earns additional revenue by licensing its extensive portfolio of wireless communication patents worldwide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https://simple.wikipedia.org/</a:t>
            </a:r>
            <a:r>
              <a:rPr lang="en" sz="1200" u="sng">
                <a:solidFill>
                  <a:schemeClr val="hlink"/>
                </a:solidFill>
                <a:latin typeface="Calibri"/>
                <a:ea typeface="Calibri"/>
                <a:cs typeface="Calibri"/>
                <a:sym typeface="Calibri"/>
                <a:hlinkClick r:id="rId8"/>
              </a:rPr>
              <a:t>wi</a:t>
            </a:r>
            <a:r>
              <a:rPr lang="en" sz="1200" u="sng">
                <a:solidFill>
                  <a:schemeClr val="hlink"/>
                </a:solidFill>
                <a:latin typeface="Calibri"/>
                <a:ea typeface="Calibri"/>
                <a:cs typeface="Calibri"/>
                <a:sym typeface="Calibri"/>
                <a:hlinkClick r:id="rId8"/>
              </a:rPr>
              <a:t>ki/Qualcomm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19" name="Google Shape;119;p20"/>
          <p:cNvSpPr txBox="1"/>
          <p:nvPr/>
        </p:nvSpPr>
        <p:spPr>
          <a:xfrm>
            <a:off x="4615200" y="1466450"/>
            <a:ext cx="44424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Vulkan is a cross‑platform graphics and compute API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Created by the Khronos Group as a modern successor to OpenGL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Vulkan 1.0 spec was released on 16 Feb 2016</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Khronos hosts Vulkan’s core ecosystem on GitHub via the organization `KhronosGroup`, including key repositories such as `Vulkan-Docs`, `Vulkan-Headers`, and `Vulkan-Loader`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official entry point promoted in Khronos materials is </a:t>
            </a:r>
            <a:r>
              <a:rPr lang="en" sz="1200" u="sng">
                <a:solidFill>
                  <a:schemeClr val="hlink"/>
                </a:solidFill>
                <a:latin typeface="Calibri"/>
                <a:ea typeface="Calibri"/>
                <a:cs typeface="Calibri"/>
                <a:sym typeface="Calibri"/>
                <a:hlinkClick r:id="rId9"/>
              </a:rPr>
              <a:t>https://github.khronos.org</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which routes into these Vulkan-related repositories and other tools maintained by the group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10"/>
              </a:rPr>
              <a:t>https://en.wikipedia.org/wiki/Vulkan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20" name="Google Shape;120;p20"/>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6541918" y="148775"/>
            <a:ext cx="1414032" cy="649675"/>
          </a:xfrm>
          <a:prstGeom prst="rect">
            <a:avLst/>
          </a:prstGeom>
          <a:noFill/>
          <a:ln w="9525" cap="flat" cmpd="sng">
            <a:solidFill>
              <a:srgbClr val="FF0000"/>
            </a:solidFill>
            <a:prstDash val="solid"/>
            <a:round/>
            <a:headEnd type="none" w="sm" len="sm"/>
            <a:tailEnd type="none" w="sm" len="sm"/>
          </a:ln>
        </p:spPr>
      </p:pic>
      <p:pic>
        <p:nvPicPr>
          <p:cNvPr id="121" name="Google Shape;121;p20"/>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6541925" y="882226"/>
            <a:ext cx="1414026" cy="500439"/>
          </a:xfrm>
          <a:prstGeom prst="rect">
            <a:avLst/>
          </a:prstGeom>
          <a:noFill/>
          <a:ln w="9525" cap="flat" cmpd="sng">
            <a:solidFill>
              <a:srgbClr val="FF0000"/>
            </a:solidFill>
            <a:prstDash val="solid"/>
            <a:round/>
            <a:headEnd type="none" w="sm" len="sm"/>
            <a:tailEnd type="none" w="sm" len="sm"/>
          </a:ln>
        </p:spPr>
      </p:pic>
      <p:sp>
        <p:nvSpPr>
          <p:cNvPr id="122" name="Google Shape;122;p20"/>
          <p:cNvSpPr txBox="1"/>
          <p:nvPr/>
        </p:nvSpPr>
        <p:spPr>
          <a:xfrm>
            <a:off x="4615188" y="3600425"/>
            <a:ext cx="44424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t>
            </a:r>
            <a:r>
              <a:rPr lang="en" sz="1200" b="1">
                <a:solidFill>
                  <a:srgbClr val="FF0000"/>
                </a:solidFill>
                <a:latin typeface="Calibri"/>
                <a:ea typeface="Calibri"/>
                <a:cs typeface="Calibri"/>
                <a:sym typeface="Calibri"/>
              </a:rPr>
              <a:t>Khronos Group</a:t>
            </a:r>
            <a:r>
              <a:rPr lang="en" sz="1200">
                <a:solidFill>
                  <a:schemeClr val="dk1"/>
                </a:solidFill>
                <a:latin typeface="Calibri"/>
                <a:ea typeface="Calibri"/>
                <a:cs typeface="Calibri"/>
                <a:sym typeface="Calibri"/>
              </a:rPr>
              <a:t> is a non‑profit, member‑driven industry consortium that creates open, royalty‑free standards for graphics, compute, XR, and related domains.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standards portfolio includes OpenGL, WebGL, Vulkan, OpenCL, OpenXR, SYCL, OpenVX, glTF, etc.</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150–180 member organizations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Headquarters located in Beaverton, Oregon, USA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13"/>
              </a:rPr>
              <a:t>https://www.khronos.org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1"/>
          <p:cNvSpPr txBox="1"/>
          <p:nvPr/>
        </p:nvSpPr>
        <p:spPr>
          <a:xfrm>
            <a:off x="81775" y="0"/>
            <a:ext cx="3570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llama.cpp vs Ollama</a:t>
            </a:r>
            <a:endParaRPr sz="2000" b="1">
              <a:solidFill>
                <a:schemeClr val="dk1"/>
              </a:solidFill>
              <a:latin typeface="Calibri"/>
              <a:ea typeface="Calibri"/>
              <a:cs typeface="Calibri"/>
              <a:sym typeface="Calibri"/>
            </a:endParaRPr>
          </a:p>
        </p:txBody>
      </p:sp>
      <p:sp>
        <p:nvSpPr>
          <p:cNvPr id="128" name="Google Shape;128;p21"/>
          <p:cNvSpPr txBox="1"/>
          <p:nvPr/>
        </p:nvSpPr>
        <p:spPr>
          <a:xfrm>
            <a:off x="81775" y="387000"/>
            <a:ext cx="4442400" cy="340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Switching from Ollama to the new llama.cpp WebUI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llama.cpp is lighter, faster to start, and more transparent, with simpler dependencies and direct control over GGUF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WebUI and CLI give enough usability that Ollama’s “batteries included” wrapper no longer feels worth the overhead and limitations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Better GPU utilization (including Vulkan) and lower disk footprint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than relying on Ollama’s curated layer</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https://www.xda-developers.com/i-ditched-ollama-after-using-llama-cpp-webui-and-im-not-going-back/</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llama.cpp WebUI can run fully locally on a Mac Apple Silicon</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and run local or hf (HuggingFace)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includes llama-server with Metal acceleration for M‑series GPUs</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brew install llama.cpp</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llama-cli -m /path/to/model.gguf</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llama-server -m /path/to/model.gguf</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llama-server -hf nzgnzg73/llama_cpp_WebUI:Q4_K_S</a:t>
            </a:r>
            <a:endParaRPr sz="1000" b="1">
              <a:solidFill>
                <a:srgbClr val="3C78D8"/>
              </a:solidFill>
              <a:latin typeface="Roboto Mono"/>
              <a:ea typeface="Roboto Mono"/>
              <a:cs typeface="Roboto Mono"/>
              <a:sym typeface="Roboto Mono"/>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Hit </a:t>
            </a:r>
            <a:r>
              <a:rPr lang="en" sz="1200" u="sng">
                <a:solidFill>
                  <a:schemeClr val="hlink"/>
                </a:solidFill>
                <a:latin typeface="Calibri"/>
                <a:ea typeface="Calibri"/>
                <a:cs typeface="Calibri"/>
                <a:sym typeface="Calibri"/>
                <a:hlinkClick r:id="rId4"/>
              </a:rPr>
              <a:t>http://localhost:8080/</a:t>
            </a:r>
            <a:r>
              <a:rPr lang="en" sz="1200">
                <a:solidFill>
                  <a:schemeClr val="dk1"/>
                </a:solidFill>
                <a:latin typeface="Calibri"/>
                <a:ea typeface="Calibri"/>
                <a:cs typeface="Calibri"/>
                <a:sym typeface="Calibri"/>
              </a:rPr>
              <a:t>  in the browser to reach the WebUI</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https://docs.openwebui.com/getting-started/quick-start/connect-a-provider/starting-with-llama-cpp/</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29" name="Google Shape;129;p21"/>
          <p:cNvSpPr txBox="1"/>
          <p:nvPr/>
        </p:nvSpPr>
        <p:spPr>
          <a:xfrm>
            <a:off x="81775" y="3938200"/>
            <a:ext cx="4986000" cy="84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curl http://127.0.0.1:8080/v1/chat/completions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-H "Content-Type: application/json"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-d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"model": "local-model",</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"messages": [{"role":"user","content":"Say hi from llama.cpp"}]</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t>
            </a:r>
            <a:endParaRPr sz="900" b="1">
              <a:solidFill>
                <a:srgbClr val="3C78D8"/>
              </a:solidFill>
              <a:latin typeface="Roboto Mono"/>
              <a:ea typeface="Roboto Mono"/>
              <a:cs typeface="Roboto Mono"/>
              <a:sym typeface="Roboto Mono"/>
            </a:endParaRPr>
          </a:p>
        </p:txBody>
      </p:sp>
      <p:sp>
        <p:nvSpPr>
          <p:cNvPr id="130" name="Google Shape;130;p21"/>
          <p:cNvSpPr txBox="1"/>
          <p:nvPr/>
        </p:nvSpPr>
        <p:spPr>
          <a:xfrm>
            <a:off x="5453650" y="2152600"/>
            <a:ext cx="3570600" cy="2635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endParaRPr sz="10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6AA84F"/>
                </a:solidFill>
                <a:latin typeface="Roboto Mono"/>
                <a:ea typeface="Roboto Mono"/>
                <a:cs typeface="Roboto Mono"/>
                <a:sym typeface="Roboto Mono"/>
              </a:rPr>
              <a:t># pip install llama-cpp-python</a:t>
            </a:r>
            <a:endParaRPr sz="10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from llama_cpp import Llama</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llm = Llama(</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    model_path="/path/to/model.gguf",</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    n_gpu_layers=-1,  # use GPU if available</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    n_ctx=4096,</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out = llm(</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    "Q: Name solar system's planets.\nA:",</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    max_tokens=128,</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    stop=["Q:", "\n"])</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print(out["choices"][0]["text"])</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000" b="1">
              <a:solidFill>
                <a:srgbClr val="3C78D8"/>
              </a:solidFill>
              <a:latin typeface="Roboto Mono"/>
              <a:ea typeface="Roboto Mono"/>
              <a:cs typeface="Roboto Mono"/>
              <a:sym typeface="Roboto Mono"/>
            </a:endParaRPr>
          </a:p>
        </p:txBody>
      </p:sp>
      <p:sp>
        <p:nvSpPr>
          <p:cNvPr id="131" name="Google Shape;131;p21"/>
          <p:cNvSpPr txBox="1"/>
          <p:nvPr/>
        </p:nvSpPr>
        <p:spPr>
          <a:xfrm>
            <a:off x="5453650" y="689900"/>
            <a:ext cx="3570600" cy="48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000" b="1">
                <a:solidFill>
                  <a:srgbClr val="6AA84F"/>
                </a:solidFill>
                <a:latin typeface="Roboto Mono"/>
                <a:ea typeface="Roboto Mono"/>
                <a:cs typeface="Roboto Mono"/>
                <a:sym typeface="Roboto Mono"/>
              </a:rPr>
              <a:t># Running llama.cpp with Vulkan engine</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GGML_VULKAN=ON</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llama-cli -m /path/to/model.gguf -ngl 50</a:t>
            </a:r>
            <a:endParaRPr sz="1000" b="1">
              <a:solidFill>
                <a:srgbClr val="3C78D8"/>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p:nvPr/>
        </p:nvSpPr>
        <p:spPr>
          <a:xfrm>
            <a:off x="81775" y="0"/>
            <a:ext cx="3608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Ollama vs llama.cpp vs vLLM</a:t>
            </a:r>
            <a:endParaRPr sz="2000" b="1">
              <a:solidFill>
                <a:schemeClr val="dk1"/>
              </a:solidFill>
              <a:latin typeface="Calibri"/>
              <a:ea typeface="Calibri"/>
              <a:cs typeface="Calibri"/>
              <a:sym typeface="Calibri"/>
            </a:endParaRPr>
          </a:p>
        </p:txBody>
      </p:sp>
      <p:sp>
        <p:nvSpPr>
          <p:cNvPr id="137" name="Google Shape;137;p22"/>
          <p:cNvSpPr txBox="1"/>
          <p:nvPr/>
        </p:nvSpPr>
        <p:spPr>
          <a:xfrm>
            <a:off x="81775" y="373650"/>
            <a:ext cx="44424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Ollama - developer-friendly local runner that wraps a llama.cpp‑style GGUF engine, prioritizing simplicity, easy installs, and single-user or low-concurrency use</a:t>
            </a:r>
            <a:endParaRPr sz="900">
              <a:solidFill>
                <a:schemeClr val="dk1"/>
              </a:solidFill>
              <a:latin typeface="Calibri"/>
              <a:ea typeface="Calibri"/>
              <a:cs typeface="Calibri"/>
              <a:sym typeface="Calibri"/>
            </a:endParaRPr>
          </a:p>
        </p:txBody>
      </p:sp>
      <p:pic>
        <p:nvPicPr>
          <p:cNvPr id="138" name="Google Shape;138;p2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63925" y="1584558"/>
            <a:ext cx="1456002" cy="728001"/>
          </a:xfrm>
          <a:prstGeom prst="rect">
            <a:avLst/>
          </a:prstGeom>
          <a:noFill/>
          <a:ln>
            <a:noFill/>
          </a:ln>
        </p:spPr>
      </p:pic>
      <p:pic>
        <p:nvPicPr>
          <p:cNvPr id="139" name="Google Shape;139;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63925" y="136475"/>
            <a:ext cx="2110151" cy="728001"/>
          </a:xfrm>
          <a:prstGeom prst="rect">
            <a:avLst/>
          </a:prstGeom>
          <a:noFill/>
          <a:ln>
            <a:noFill/>
          </a:ln>
        </p:spPr>
      </p:pic>
      <p:pic>
        <p:nvPicPr>
          <p:cNvPr id="140" name="Google Shape;140;p22"/>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735645" y="930601"/>
            <a:ext cx="1312563" cy="587816"/>
          </a:xfrm>
          <a:prstGeom prst="rect">
            <a:avLst/>
          </a:prstGeom>
          <a:noFill/>
          <a:ln>
            <a:noFill/>
          </a:ln>
        </p:spPr>
      </p:pic>
      <p:sp>
        <p:nvSpPr>
          <p:cNvPr id="141" name="Google Shape;141;p22"/>
          <p:cNvSpPr txBox="1"/>
          <p:nvPr/>
        </p:nvSpPr>
        <p:spPr>
          <a:xfrm>
            <a:off x="81775" y="3025200"/>
            <a:ext cx="44424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Mojo is a new language used to implement fast kernels for ML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MAX (Modular Accelerated Xecution) AI inference platform for Mojo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Modular’s booth at GTC 2026 showed:</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Live GPU programming in Mojo on Blackwell</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 port of a CUTLASS Blackwell Conv2D kernel to Mojo, with claims of up to 6.6× faster performance than cuDNN on B200</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DeepSeek V3 and FLUX.2 image generation running on B200</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Mojo is approaching "production" (ver. 1.0.0b2 beta)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Mojo will need to prove itself against years of optimization in llama.cpp and vLLM</a:t>
            </a:r>
            <a:endParaRPr sz="1200">
              <a:solidFill>
                <a:schemeClr val="dk1"/>
              </a:solidFill>
              <a:latin typeface="Calibri"/>
              <a:ea typeface="Calibri"/>
              <a:cs typeface="Calibri"/>
              <a:sym typeface="Calibri"/>
            </a:endParaRPr>
          </a:p>
        </p:txBody>
      </p:sp>
      <p:pic>
        <p:nvPicPr>
          <p:cNvPr id="142" name="Google Shape;142;p22"/>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713500" y="3700425"/>
            <a:ext cx="1871254" cy="673199"/>
          </a:xfrm>
          <a:prstGeom prst="rect">
            <a:avLst/>
          </a:prstGeom>
          <a:noFill/>
          <a:ln>
            <a:noFill/>
          </a:ln>
        </p:spPr>
      </p:pic>
      <p:pic>
        <p:nvPicPr>
          <p:cNvPr id="143" name="Google Shape;143;p2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774075" y="3744851"/>
            <a:ext cx="1671333" cy="584350"/>
          </a:xfrm>
          <a:prstGeom prst="rect">
            <a:avLst/>
          </a:prstGeom>
          <a:noFill/>
          <a:ln>
            <a:noFill/>
          </a:ln>
        </p:spPr>
      </p:pic>
      <p:sp>
        <p:nvSpPr>
          <p:cNvPr id="144" name="Google Shape;144;p22"/>
          <p:cNvSpPr txBox="1"/>
          <p:nvPr/>
        </p:nvSpPr>
        <p:spPr>
          <a:xfrm>
            <a:off x="81775" y="1569941"/>
            <a:ext cx="44424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vLLM is a production inference server optimized for NVIDIA GPUs, high throughput, and many concurrent requests, with features like PagedAttention, continuous batching, and long-context optimizations</a:t>
            </a:r>
            <a:endParaRPr sz="900">
              <a:solidFill>
                <a:schemeClr val="dk1"/>
              </a:solidFill>
              <a:latin typeface="Calibri"/>
              <a:ea typeface="Calibri"/>
              <a:cs typeface="Calibri"/>
              <a:sym typeface="Calibri"/>
            </a:endParaRPr>
          </a:p>
        </p:txBody>
      </p:sp>
      <p:sp>
        <p:nvSpPr>
          <p:cNvPr id="145" name="Google Shape;145;p22"/>
          <p:cNvSpPr txBox="1"/>
          <p:nvPr/>
        </p:nvSpPr>
        <p:spPr>
          <a:xfrm>
            <a:off x="81775" y="970214"/>
            <a:ext cx="44424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llama.cpp is the low-level C++ workhorse: extremely portable, CPU-friendly, and great with aggressive quantization, ideal for edge devices and fine-grained control</a:t>
            </a:r>
            <a:endParaRPr sz="900">
              <a:solidFill>
                <a:schemeClr val="dk1"/>
              </a:solidFill>
              <a:latin typeface="Calibri"/>
              <a:ea typeface="Calibri"/>
              <a:cs typeface="Calibri"/>
              <a:sym typeface="Calibri"/>
            </a:endParaRPr>
          </a:p>
        </p:txBody>
      </p:sp>
      <p:sp>
        <p:nvSpPr>
          <p:cNvPr id="146" name="Google Shape;146;p22"/>
          <p:cNvSpPr txBox="1"/>
          <p:nvPr/>
        </p:nvSpPr>
        <p:spPr>
          <a:xfrm>
            <a:off x="81775" y="2389825"/>
            <a:ext cx="4442400" cy="5727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local tinkering, Ollama or llama.cpp are usually best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multi-agent systems, long histories, and multi-user backends, vLLM typically wins on effective throughput and scalability</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p:nvPr/>
        </p:nvSpPr>
        <p:spPr>
          <a:xfrm>
            <a:off x="81775" y="0"/>
            <a:ext cx="3608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How to use Mojo from Python</a:t>
            </a:r>
            <a:endParaRPr sz="2000" b="1">
              <a:solidFill>
                <a:schemeClr val="dk1"/>
              </a:solidFill>
              <a:latin typeface="Calibri"/>
              <a:ea typeface="Calibri"/>
              <a:cs typeface="Calibri"/>
              <a:sym typeface="Calibri"/>
            </a:endParaRPr>
          </a:p>
        </p:txBody>
      </p:sp>
      <p:sp>
        <p:nvSpPr>
          <p:cNvPr id="152" name="Google Shape;152;p23"/>
          <p:cNvSpPr txBox="1"/>
          <p:nvPr/>
        </p:nvSpPr>
        <p:spPr>
          <a:xfrm>
            <a:off x="81775" y="677675"/>
            <a:ext cx="4442400" cy="3989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How to use Mojo from Python</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https://mojolang.org/docs/manual/python/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9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900" b="1">
                <a:solidFill>
                  <a:srgbClr val="CC0000"/>
                </a:solidFill>
                <a:latin typeface="Roboto Mono"/>
                <a:ea typeface="Roboto Mono"/>
                <a:cs typeface="Roboto Mono"/>
                <a:sym typeface="Roboto Mono"/>
              </a:rPr>
              <a:t>math_mod.mojo</a:t>
            </a:r>
            <a:endParaRPr sz="900" b="1">
              <a:solidFill>
                <a:srgbClr val="CC0000"/>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from std.python import PythonObject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from std.python.bindings import PythonModuleBuilder</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def add(a: PythonObject, b: PythonObject) -&gt; PythonObject: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return Int(py=a) + Int(py=b)</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@export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def PyInit_math_mod() -&gt; PythonObject: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var mb = PythonModuleBuilder("math_mod")</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mb.def_function[add]("add")</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return mb.finalize()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CC0000"/>
                </a:solidFill>
                <a:latin typeface="Roboto Mono"/>
                <a:ea typeface="Roboto Mono"/>
                <a:cs typeface="Roboto Mono"/>
                <a:sym typeface="Roboto Mono"/>
              </a:rPr>
              <a:t>main.py</a:t>
            </a:r>
            <a:endParaRPr sz="900" b="1">
              <a:solidFill>
                <a:srgbClr val="CC0000"/>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import mojo.importer</a:t>
            </a:r>
            <a:r>
              <a:rPr lang="en" sz="900" b="1">
                <a:solidFill>
                  <a:srgbClr val="6AA84F"/>
                </a:solidFill>
                <a:latin typeface="Roboto Mono"/>
                <a:ea typeface="Roboto Mono"/>
                <a:cs typeface="Roboto Mono"/>
                <a:sym typeface="Roboto Mono"/>
              </a:rPr>
              <a:t>   # install Mojo import hook</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import math_mod  </a:t>
            </a:r>
            <a:r>
              <a:rPr lang="en" sz="900" b="1">
                <a:solidFill>
                  <a:srgbClr val="6AA84F"/>
                </a:solidFill>
                <a:latin typeface="Roboto Mono"/>
                <a:ea typeface="Roboto Mono"/>
                <a:cs typeface="Roboto Mono"/>
                <a:sym typeface="Roboto Mono"/>
              </a:rPr>
              <a:t>      # compiles and loads math_mod.mojo</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print(math_mod.add(2, 3))  # 5</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On first import, Mojo compiles math_mod.mojo to a shared library and caches it; subsequent imports just load the compiled module</a:t>
            </a:r>
            <a:endParaRPr sz="1200">
              <a:solidFill>
                <a:schemeClr val="dk1"/>
              </a:solidFill>
              <a:latin typeface="Calibri"/>
              <a:ea typeface="Calibri"/>
              <a:cs typeface="Calibri"/>
              <a:sym typeface="Calibri"/>
            </a:endParaRPr>
          </a:p>
        </p:txBody>
      </p:sp>
      <p:pic>
        <p:nvPicPr>
          <p:cNvPr id="153" name="Google Shape;153;p2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760414" y="907827"/>
            <a:ext cx="2317521" cy="833750"/>
          </a:xfrm>
          <a:prstGeom prst="rect">
            <a:avLst/>
          </a:prstGeom>
          <a:noFill/>
          <a:ln>
            <a:noFill/>
          </a:ln>
        </p:spPr>
      </p:pic>
      <p:pic>
        <p:nvPicPr>
          <p:cNvPr id="154" name="Google Shape;154;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675400" y="81321"/>
            <a:ext cx="2487550" cy="734750"/>
          </a:xfrm>
          <a:prstGeom prst="rect">
            <a:avLst/>
          </a:prstGeom>
          <a:noFill/>
          <a:ln>
            <a:noFill/>
          </a:ln>
        </p:spPr>
      </p:pic>
      <p:sp>
        <p:nvSpPr>
          <p:cNvPr id="155" name="Google Shape;155;p23"/>
          <p:cNvSpPr txBox="1"/>
          <p:nvPr/>
        </p:nvSpPr>
        <p:spPr>
          <a:xfrm>
            <a:off x="4648067" y="2493825"/>
            <a:ext cx="44424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MAX (Modular Accelerated Xecution) AI inference platform</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6"/>
              </a:rPr>
              <a:t>https://www.modular.com/open-source/max</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High-performance AI inference framework from Modular</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Lets you build, optimize, and serve models across CPUs and GPUs</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Includes the MAX Engine (graph compiler and runtime), MAX Graph (Python API for building pipelines), and MAX Serve (OpenAI‑style serving layer)</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MAX allows deep customization using Mojo-written kernels</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MAX is mostly open source. MAX Python API, serving library, GPU kernel stack, and open‑weight model pipelines are already open‑sourced under Apache‑2.0 and live in the modular repo</a:t>
            </a:r>
            <a:endParaRPr sz="1200">
              <a:solidFill>
                <a:schemeClr val="dk1"/>
              </a:solidFill>
              <a:latin typeface="Calibri"/>
              <a:ea typeface="Calibri"/>
              <a:cs typeface="Calibri"/>
              <a:sym typeface="Calibri"/>
            </a:endParaRPr>
          </a:p>
        </p:txBody>
      </p:sp>
      <p:pic>
        <p:nvPicPr>
          <p:cNvPr id="156" name="Google Shape;156;p2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909200" y="1825529"/>
            <a:ext cx="1671333" cy="584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4"/>
          <p:cNvSpPr txBox="1"/>
          <p:nvPr/>
        </p:nvSpPr>
        <p:spPr>
          <a:xfrm>
            <a:off x="67350" y="52750"/>
            <a:ext cx="4418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162" name="Google Shape;162;p24"/>
          <p:cNvSpPr txBox="1"/>
          <p:nvPr/>
        </p:nvSpPr>
        <p:spPr>
          <a:xfrm>
            <a:off x="67348" y="524100"/>
            <a:ext cx="4418700" cy="269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LazyGraphRAG is x25 cheaper (Nov 2024)</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is a graph‑based RAG method that skips expensive corpus‑wide LLM summarization at indexing time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Instead it builds and uses graph structure “just in time” while answering queries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makes indexing cost roughly equal to plain vector RAG</a:t>
            </a:r>
            <a:br>
              <a:rPr lang="en" sz="1200">
                <a:latin typeface="Calibri"/>
                <a:ea typeface="Calibri"/>
                <a:cs typeface="Calibri"/>
                <a:sym typeface="Calibri"/>
              </a:rPr>
            </a:br>
            <a:r>
              <a:rPr lang="en" sz="1200">
                <a:latin typeface="Calibri"/>
                <a:ea typeface="Calibri"/>
                <a:cs typeface="Calibri"/>
                <a:sym typeface="Calibri"/>
              </a:rPr>
              <a:t>and about 0.1% of traditional GraphRAG’s cost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At query time, it combines vector search with iterative deepening over lightweight graph neighborhoods, spending LLM tokens only where they improve relevance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Benchmarks show it outperforms other RAG methods, including full GraphRAG, for both local and global queries while using as little as 4% of GraphRAG’s query cost</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https://www.microsoft.com/en-us/research/blog/lazygraphrag-setting-a-new-standard-for-quality-and-cost/</a:t>
            </a:r>
            <a:r>
              <a:rPr lang="en" sz="900">
                <a:latin typeface="Calibri"/>
                <a:ea typeface="Calibri"/>
                <a:cs typeface="Calibri"/>
                <a:sym typeface="Calibri"/>
              </a:rPr>
              <a:t> </a:t>
            </a:r>
            <a:endParaRPr sz="900" b="0" i="0" u="none" strike="noStrike" cap="none">
              <a:solidFill>
                <a:srgbClr val="000000"/>
              </a:solidFill>
              <a:latin typeface="Calibri"/>
              <a:ea typeface="Calibri"/>
              <a:cs typeface="Calibri"/>
              <a:sym typeface="Calibri"/>
            </a:endParaRPr>
          </a:p>
        </p:txBody>
      </p:sp>
      <p:pic>
        <p:nvPicPr>
          <p:cNvPr id="163" name="Google Shape;163;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86325" y="1109949"/>
            <a:ext cx="2228851" cy="1525000"/>
          </a:xfrm>
          <a:prstGeom prst="rect">
            <a:avLst/>
          </a:prstGeom>
          <a:noFill/>
          <a:ln w="9525" cap="flat" cmpd="sng">
            <a:solidFill>
              <a:srgbClr val="FF0000"/>
            </a:solidFill>
            <a:prstDash val="solid"/>
            <a:round/>
            <a:headEnd type="none" w="sm" len="sm"/>
            <a:tailEnd type="none" w="sm" len="sm"/>
          </a:ln>
        </p:spPr>
      </p:pic>
      <p:sp>
        <p:nvSpPr>
          <p:cNvPr id="164" name="Google Shape;164;p24"/>
          <p:cNvSpPr txBox="1"/>
          <p:nvPr/>
        </p:nvSpPr>
        <p:spPr>
          <a:xfrm>
            <a:off x="67348" y="3876900"/>
            <a:ext cx="44187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Fable 5 orchestrator +  ChatGPT's Codex Worker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Fable 5 by itself is costly and slow</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Fable 5 + Claude Opus 4.8 - mediocre results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Opus prompted to mimic Fable - failed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Fable 5 orchestrator +  ChatGPT's Codex Worker - winner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5"/>
              </a:rPr>
              <a:t>https://www.youtube.com/watch?v=noWZ8AyD8kI</a:t>
            </a:r>
            <a:r>
              <a:rPr lang="en" sz="1100">
                <a:latin typeface="Calibri"/>
                <a:ea typeface="Calibri"/>
                <a:cs typeface="Calibri"/>
                <a:sym typeface="Calibri"/>
              </a:rPr>
              <a:t> </a:t>
            </a:r>
            <a:endParaRPr sz="1100">
              <a:latin typeface="Calibri"/>
              <a:ea typeface="Calibri"/>
              <a:cs typeface="Calibri"/>
              <a:sym typeface="Calibri"/>
            </a:endParaRPr>
          </a:p>
        </p:txBody>
      </p:sp>
      <p:sp>
        <p:nvSpPr>
          <p:cNvPr id="165" name="Google Shape;165;p24"/>
          <p:cNvSpPr txBox="1"/>
          <p:nvPr/>
        </p:nvSpPr>
        <p:spPr>
          <a:xfrm>
            <a:off x="4619623" y="2800575"/>
            <a:ext cx="44187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SQLite vs Pinecone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SQLite is a 25-year-old database installed on billions of devices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It has sqlite-vec extension that allows to store and query vector embeddings within a single local file using standard SQL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Instead of using complex, expensive cloud-hosted databases like Pinecone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The local setup eliminates network latency, slashes bills, and keeps user data secure on-device, even running in-browser via WebAssembly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Companies like Turso are rebuilding SQLite in Rust to handle concurrent writes for agentic AI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While dedicated engines are still necessary for massive-scale vector searches, SQLite + AI offers a highly efficient, private, and zero-cost alternative for most applications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https://www.youtube.com/watch?v=psSL3Fi5zJE</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5"/>
          <p:cNvSpPr txBox="1"/>
          <p:nvPr/>
        </p:nvSpPr>
        <p:spPr>
          <a:xfrm>
            <a:off x="67350" y="52750"/>
            <a:ext cx="4418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171" name="Google Shape;171;p25"/>
          <p:cNvSpPr txBox="1"/>
          <p:nvPr/>
        </p:nvSpPr>
        <p:spPr>
          <a:xfrm>
            <a:off x="67348" y="466950"/>
            <a:ext cx="44187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OpenAI GPT Live Voice Models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GPT Live 1 &amp; GPT Live 1 Mini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full-duplex interaction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rapid voice responses while a reasoning model like GPT 5.5 handles heavy background tasks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Massive performance leap in complex, noisy telecommunications environments compared to previous voice modes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Examples - real-time visual outfit critiques, interactive data browsing on screen, seamless multi-language translation, and precise temporal awareness for tracking real-time tasks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https://www.youtube.com/watch?v=AwWmUhm4xYA</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172" name="Google Shape;172;p25"/>
          <p:cNvSpPr txBox="1"/>
          <p:nvPr/>
        </p:nvSpPr>
        <p:spPr>
          <a:xfrm>
            <a:off x="67348" y="2533875"/>
            <a:ext cx="44187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How to summarize YouTube videos on MacOS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 System Settings → Keyboard → Text Replacements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Click the "+" button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the Replace field, type a short trigger string, for example: ,,s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the With field, paste: Please make a short 100-120 words plain text summary of this -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Press Enter to save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 Google Gemini, click into chat field, press ,,s followed by space , then paste the YouTube URL</a:t>
            </a:r>
            <a:endParaRPr sz="11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6"/>
          <p:cNvSpPr txBox="1"/>
          <p:nvPr/>
        </p:nvSpPr>
        <p:spPr>
          <a:xfrm>
            <a:off x="67350" y="52750"/>
            <a:ext cx="4418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178" name="Google Shape;178;p26"/>
          <p:cNvSpPr txBox="1"/>
          <p:nvPr/>
        </p:nvSpPr>
        <p:spPr>
          <a:xfrm>
            <a:off x="67350" y="400275"/>
            <a:ext cx="4466700" cy="272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Docker Swarm is a lightweight alternative to Kubernetes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Kubernetes is over-engineered for roughly 85% of cases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Docker Swarm is a Docker’s built‑in container orchestration system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lets you manage a cluster of Docker Engines as if they were a single virtual host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You enable “swarm mode” on one Docker node, which becomes a manager, then join other nodes as workers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Together they form a swarm cluster. You define services (essentially replicated containers) and a desired state, such as “run 5 replicas of this image,” using the Docker CLI or Compose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manager schedules tasks onto workers, constantly reconciling actual state with desired state—if a node dies, the manager reschedules the missing replicas elsewhere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Swarm also provides built‑in overlay networking, internal DNS and load balancing for services, plus rolling updates and automatic rollback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https://www.youtube.com/watch?v=e80nlacPl84</a:t>
            </a:r>
            <a:endParaRPr sz="1100">
              <a:solidFill>
                <a:schemeClr val="dk1"/>
              </a:solidFill>
              <a:latin typeface="Calibri"/>
              <a:ea typeface="Calibri"/>
              <a:cs typeface="Calibri"/>
              <a:sym typeface="Calibri"/>
            </a:endParaRPr>
          </a:p>
        </p:txBody>
      </p:sp>
      <p:sp>
        <p:nvSpPr>
          <p:cNvPr id="179" name="Google Shape;179;p26"/>
          <p:cNvSpPr txBox="1"/>
          <p:nvPr/>
        </p:nvSpPr>
        <p:spPr>
          <a:xfrm>
            <a:off x="67350" y="3172050"/>
            <a:ext cx="44667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WebAssembly (WASM) vs Docker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WASM module is a lightweight binary that executes compiled bytecode inside a compact, secure sandbox</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structure slashes startup times from seconds to under a millisecond and cuts memory footprints down to a few megabytes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Major platforms like Cloudflare and Akamai are already deploying WASM at massive scale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While Docker remains dominant for heavy, stateful jobs like databases and machine learning, WASM is becoming the go-to standard for edge computing, serverless functions, and untrusted AI tool execution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https://www.youtube.com/watch?v=U8yzw0rc-RI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7"/>
          <p:cNvSpPr txBox="1"/>
          <p:nvPr/>
        </p:nvSpPr>
        <p:spPr>
          <a:xfrm>
            <a:off x="67350" y="52750"/>
            <a:ext cx="4418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185" name="Google Shape;185;p27"/>
          <p:cNvSpPr txBox="1"/>
          <p:nvPr/>
        </p:nvSpPr>
        <p:spPr>
          <a:xfrm>
            <a:off x="67350" y="400275"/>
            <a:ext cx="44667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Hyper-specific Marketing</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Julia McCoy argues that generic niches are dead, and 76% of e-commerce stores fail due to picking the wrong audience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 succeed, sellers must target hyperspecific "micro-aesthetics" by combining identities, interests, and contexts (e.g., " Corgi eating ramen").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Using an AI research stack consisting of Google Trends, Exploding Topics, and TikTok, creators can identify rising trends before validating them on Etsy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McCoy recommends using Printify’s low-risk, print-on-demand model to cheaply test up to 20 micro-niches simultaneously, advising sellers to ruthlessly kill underperforming niches while scaling the immediate winners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https://www.youtube.com/watch?v=5m-ez2sW_vo</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186" name="Google Shape;186;p27"/>
          <p:cNvSpPr txBox="1"/>
          <p:nvPr/>
        </p:nvSpPr>
        <p:spPr>
          <a:xfrm>
            <a:off x="67350" y="2761500"/>
            <a:ext cx="44667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Leya - legal AI platform</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Their AI tool compiles global case law to automate complex legal research</a:t>
            </a:r>
            <a:endParaRPr sz="1100">
              <a:solidFill>
                <a:schemeClr val="dk1"/>
              </a:solidFill>
              <a:latin typeface="Calibri"/>
              <a:ea typeface="Calibri"/>
              <a:cs typeface="Calibri"/>
              <a:sym typeface="Calibri"/>
            </a:endParaRPr>
          </a:p>
        </p:txBody>
      </p:sp>
      <p:sp>
        <p:nvSpPr>
          <p:cNvPr id="187" name="Google Shape;187;p27"/>
          <p:cNvSpPr txBox="1"/>
          <p:nvPr/>
        </p:nvSpPr>
        <p:spPr>
          <a:xfrm>
            <a:off x="43350" y="3607900"/>
            <a:ext cx="44667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ElevenLabs - $600 Mln ARR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Scale their human-like voice synthesis while deploying strict safety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https://www.youtube.com/watch?v=J0bce9WQJ-g</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8"/>
          <p:cNvSpPr txBox="1"/>
          <p:nvPr/>
        </p:nvSpPr>
        <p:spPr>
          <a:xfrm>
            <a:off x="67350" y="52750"/>
            <a:ext cx="4418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Second-Brain Wiki</a:t>
            </a:r>
            <a:endParaRPr sz="2000" b="1" i="0" u="none" strike="noStrike" cap="none">
              <a:solidFill>
                <a:schemeClr val="dk1"/>
              </a:solidFill>
              <a:latin typeface="Calibri"/>
              <a:ea typeface="Calibri"/>
              <a:cs typeface="Calibri"/>
              <a:sym typeface="Calibri"/>
            </a:endParaRPr>
          </a:p>
        </p:txBody>
      </p:sp>
      <p:sp>
        <p:nvSpPr>
          <p:cNvPr id="193" name="Google Shape;193;p28"/>
          <p:cNvSpPr txBox="1"/>
          <p:nvPr/>
        </p:nvSpPr>
        <p:spPr>
          <a:xfrm>
            <a:off x="150425" y="520575"/>
            <a:ext cx="44667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Second Brain wiki knowledge system</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By Wes Roth - following Andre Karpathy Obsidian wiki idea using md files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uses Claude Code to ingest, cross-link, and summarize raw notes, tweets, and research papers into a flat folder structure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creates an evolving knowledge graph that allows users to query their personal data for actionable insights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Ultimately, it automates workflows like tracking projects or schedules while ensuring users retain total data ownership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https://www.youtube.com/watch?v=cwf2vEAigKA</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194" name="Google Shape;194;p28"/>
          <p:cNvSpPr txBox="1"/>
          <p:nvPr/>
        </p:nvSpPr>
        <p:spPr>
          <a:xfrm>
            <a:off x="150425" y="2459975"/>
            <a:ext cx="7158900" cy="237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Your-Second-Brain/</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.cursor/ or .claude/       # Configuration directories for your local AI tools</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Inbox/                     # Quick text captures, dictations, and unorganized notes</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Raw/                       # Immutable source files (web scrapes, transcripts, raw API data)</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Wiki/                      # The Compounding Knowledge Base (Managed by the AI Librarian)</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 Concepts/              # Broad topic overviews (e.g., [[Machine Learning]])</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 Entities/              # Specific elements (e.g., [[OpenAI]], [[Wes Roth]])</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 Summaries/             # AI-generated cliff notes and metadata summaries of Raw documents</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Dashboards/                # Actionable visualization layers</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 Projects.md            # Kanban board or task dashboard</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 Index.md               # Dynamic structural anchor for human browsing</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 Log.md                 # System operational changelog</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claude.md                  # The AI System Rulebook (The "Employee Handbook")</a:t>
            </a:r>
            <a:endParaRPr sz="900" b="1">
              <a:solidFill>
                <a:srgbClr val="3C78D8"/>
              </a:solidFill>
              <a:latin typeface="Victor Mono"/>
              <a:ea typeface="Victor Mono"/>
              <a:cs typeface="Victor Mono"/>
              <a:sym typeface="Victor Mono"/>
            </a:endParaRPr>
          </a:p>
        </p:txBody>
      </p:sp>
      <p:pic>
        <p:nvPicPr>
          <p:cNvPr id="195" name="Google Shape;195;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69525" y="152400"/>
            <a:ext cx="3303423" cy="21551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9"/>
          <p:cNvSpPr txBox="1"/>
          <p:nvPr/>
        </p:nvSpPr>
        <p:spPr>
          <a:xfrm>
            <a:off x="67350" y="52750"/>
            <a:ext cx="4418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201" name="Google Shape;201;p29"/>
          <p:cNvSpPr txBox="1"/>
          <p:nvPr/>
        </p:nvSpPr>
        <p:spPr>
          <a:xfrm>
            <a:off x="150425" y="520575"/>
            <a:ext cx="44667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Self-Improving AI Agents </a:t>
            </a:r>
            <a:r>
              <a:rPr lang="en" sz="1100" b="1">
                <a:solidFill>
                  <a:srgbClr val="3C78D8"/>
                </a:solidFill>
                <a:latin typeface="Calibri"/>
                <a:ea typeface="Calibri"/>
                <a:cs typeface="Calibri"/>
                <a:sym typeface="Calibri"/>
              </a:rPr>
              <a:t>| Evolving the Harness, Not the Model</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https://www.youtube.com/watch?v=KoDohnhLpJM</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Explores "loop engineering" - the practice of improving AI agents by iteratively modifying their "harness" (the surrounding software code, prompts, and tools)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Through a real-world experiment, the creator demonstrates how a secondary, stronger AI model successfully diagnoses an agent's failure to process long log files, pinpointing a data clamping bottleneck in the harness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By raising a configuration value within a strictly defined "editable surface," the fixing model resolves the issue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Crucially, the video advocates for a safe, human-in-the-loop workflow, verifying updates against hidden tests and submitting manual pull requests rather than deploying changes automatically</a:t>
            </a:r>
            <a:endParaRPr sz="1100">
              <a:solidFill>
                <a:schemeClr val="dk1"/>
              </a:solidFill>
              <a:latin typeface="Calibri"/>
              <a:ea typeface="Calibri"/>
              <a:cs typeface="Calibri"/>
              <a:sym typeface="Calibri"/>
            </a:endParaRPr>
          </a:p>
        </p:txBody>
      </p:sp>
      <p:pic>
        <p:nvPicPr>
          <p:cNvPr id="202" name="Google Shape;202;p2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69525" y="680725"/>
            <a:ext cx="3231475" cy="17234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0"/>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08" name="Google Shape;208;p30"/>
          <p:cNvSpPr txBox="1"/>
          <p:nvPr/>
        </p:nvSpPr>
        <p:spPr>
          <a:xfrm>
            <a:off x="81775" y="2745185"/>
            <a:ext cx="4368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Helps Quantum Computers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Q-day - when quantum computers can break modern encryption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many qbits needed? Number dropped x40 times from 20 Mln to 0.5 Mln.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Cloudflare, and IBM have moved their post-quantum security deadlines up to 2029</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Julia McCoy warns about the immediate threat of "harvest now, decrypt later," where adversaries steal data today to decrypt in the future. She advises businesses to audit their security stacks immediately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https://www.youtube.com/watch?v=FpbIPqVuNFw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09" name="Google Shape;209;p30"/>
          <p:cNvSpPr txBox="1"/>
          <p:nvPr/>
        </p:nvSpPr>
        <p:spPr>
          <a:xfrm>
            <a:off x="81775" y="510697"/>
            <a:ext cx="4368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/workflow in Claude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writes typescript to orchestrate multi-agent systems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single project can deploy dozens of background sub-agents across structured phases: understanding, researching, refactoring, and verifying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Running asynchronously from the primary session thread, these workflows execute complex codebase-wide tasks such as deep vulnerability sweeps or game development optimization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Developers must actively manage their token budgets, caps, and agent sizing to control costs effectively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https://www.youtube.com/watch?v=9pj3-zDw4eU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1"/>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15" name="Google Shape;215;p31"/>
          <p:cNvSpPr txBox="1"/>
          <p:nvPr/>
        </p:nvSpPr>
        <p:spPr>
          <a:xfrm>
            <a:off x="81775" y="346607"/>
            <a:ext cx="4368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"Compete Mode" technique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powerful prompting strategy for Claude Code, originally shared by Anthropic’s head of product, Angela Jen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Prompting Claude to spawn multiple parallel sub-agents</a:t>
            </a:r>
            <a:r>
              <a:rPr lang="en" sz="1200">
                <a:solidFill>
                  <a:schemeClr val="dk1"/>
                </a:solidFill>
                <a:latin typeface="Calibri"/>
                <a:ea typeface="Calibri"/>
                <a:cs typeface="Calibri"/>
                <a:sym typeface="Calibri"/>
              </a:rPr>
              <a:t> - such as an operator, a strategist, and a skeptic - that work independently on a task without seeing each other's progress. A separate blind </a:t>
            </a:r>
            <a:r>
              <a:rPr lang="en" sz="1200" b="1">
                <a:solidFill>
                  <a:srgbClr val="FF0000"/>
                </a:solidFill>
                <a:latin typeface="Calibri"/>
                <a:ea typeface="Calibri"/>
                <a:cs typeface="Calibri"/>
                <a:sym typeface="Calibri"/>
              </a:rPr>
              <a:t>judge agent evaluates their final outputs</a:t>
            </a:r>
            <a:r>
              <a:rPr lang="en" sz="1200">
                <a:solidFill>
                  <a:schemeClr val="dk1"/>
                </a:solidFill>
                <a:latin typeface="Calibri"/>
                <a:ea typeface="Calibri"/>
                <a:cs typeface="Calibri"/>
                <a:sym typeface="Calibri"/>
              </a:rPr>
              <a:t> to select and refine the winning version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competition approach produces a cleaner, significantly more interactive website with less filler text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However, because it consumes more time and tokens, the creator advises saving this tactic for high-priority projects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https://www.youtube.com/watch?v=PqlnPcae5OQ</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16" name="Google Shape;216;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52650" y="831961"/>
            <a:ext cx="2818675" cy="1576726"/>
          </a:xfrm>
          <a:prstGeom prst="rect">
            <a:avLst/>
          </a:prstGeom>
          <a:noFill/>
          <a:ln w="9525" cap="flat" cmpd="sng">
            <a:solidFill>
              <a:srgbClr val="FF0000"/>
            </a:solidFill>
            <a:prstDash val="solid"/>
            <a:round/>
            <a:headEnd type="none" w="sm" len="sm"/>
            <a:tailEnd type="none" w="sm" len="sm"/>
          </a:ln>
        </p:spPr>
      </p:pic>
      <p:sp>
        <p:nvSpPr>
          <p:cNvPr id="217" name="Google Shape;217;p31"/>
          <p:cNvSpPr txBox="1"/>
          <p:nvPr/>
        </p:nvSpPr>
        <p:spPr>
          <a:xfrm>
            <a:off x="81775" y="2824692"/>
            <a:ext cx="4368300" cy="214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Satya Nadella - “reverse information paradox.”</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Companies using AI are taking a risk of giving away valuable proprietary knowledge along with paying for AI services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They share their data, prompts, and corrections - which can be used to train models and benefiting providers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creates growing information asymmetry and potential competitive risk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ironic to hear this from Microsoft because Microsoft itself is engaged in advancing AI and collecting user data through tools like Copilot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https://www.theregister.com/ai-and-ml/2026/07/13/microsoft-chief-turns-hostile-on-frontier-ai-labs-warns-companies-to-guard-their-ip/5270628</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18" name="Google Shape;218;p31"/>
          <p:cNvPicPr preferRelativeResize="0"/>
          <p:nvPr/>
        </p:nvPicPr>
        <p:blipFill>
          <a:blip r:embed="rId6">
            <a:alphaModFix/>
          </a:blip>
          <a:stretch>
            <a:fillRect/>
          </a:stretch>
        </p:blipFill>
        <p:spPr>
          <a:xfrm>
            <a:off x="4752650" y="3076861"/>
            <a:ext cx="3009900" cy="16383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2"/>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24" name="Google Shape;224;p32"/>
          <p:cNvSpPr txBox="1"/>
          <p:nvPr/>
        </p:nvSpPr>
        <p:spPr>
          <a:xfrm>
            <a:off x="81775" y="349456"/>
            <a:ext cx="48366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Use Codex</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Matthew Berman shares advanced tips and tricks for using Codex</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to strategically match task difficulty with the correct GPT-5.6 model sizes (Soul, Terra, and Luna) and adjustments to thinking efforts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to effectively cross-manage and delegate tasks using parallel Codex threads, clean up outdated rules within the configurations, and add features through integrations like Zapier plugins and community-sourced skill libraries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Using "goals" automation loops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Controlling desktop sessions from mobile devices via QR codes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Setting up strict lifecycle hooks and approval filters to prevent accidental file deletion or security breaches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https://www.youtube.com/watch?v=etduwo9Lu3M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25" name="Google Shape;225;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04725" y="774996"/>
            <a:ext cx="2942350" cy="1641626"/>
          </a:xfrm>
          <a:prstGeom prst="rect">
            <a:avLst/>
          </a:prstGeom>
          <a:noFill/>
          <a:ln w="9525" cap="flat" cmpd="sng">
            <a:solidFill>
              <a:srgbClr val="FF0000"/>
            </a:solidFill>
            <a:prstDash val="solid"/>
            <a:round/>
            <a:headEnd type="none" w="sm" len="sm"/>
            <a:tailEnd type="none" w="sm" len="sm"/>
          </a:ln>
        </p:spPr>
      </p:pic>
      <p:sp>
        <p:nvSpPr>
          <p:cNvPr id="226" name="Google Shape;226;p32"/>
          <p:cNvSpPr txBox="1"/>
          <p:nvPr/>
        </p:nvSpPr>
        <p:spPr>
          <a:xfrm>
            <a:off x="81775" y="2839869"/>
            <a:ext cx="48366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OpenAI ChatGPT Work - an autonomous agent </a:t>
            </a:r>
            <a:r>
              <a:rPr lang="en" sz="1200">
                <a:solidFill>
                  <a:schemeClr val="dk1"/>
                </a:solidFill>
                <a:latin typeface="Calibri"/>
                <a:ea typeface="Calibri"/>
                <a:cs typeface="Calibri"/>
                <a:sym typeface="Calibri"/>
              </a:rPr>
              <a:t>that integrates into apps like Gmail and Slack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turns high-level goals into finished outputs like documents, decks, sites, and apps by orchestrating tools across your apps, files, browser, and desktop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Powered by GPT‑5.6, it is designed for long-lived projects, keeping context over hours and automating multi-step workflows, including scheduled recurring tasks such as weekly reports or marketing campaigns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can perform “computer use” via the ChatGPT desktop app, operate over team tools and data sources, and publish directly to simple hosted sites, positioning it as a collaborative work partner rather than just a chat interface - </a:t>
            </a:r>
            <a:r>
              <a:rPr lang="en" sz="1200" u="sng">
                <a:solidFill>
                  <a:schemeClr val="hlink"/>
                </a:solidFill>
                <a:latin typeface="Calibri"/>
                <a:ea typeface="Calibri"/>
                <a:cs typeface="Calibri"/>
                <a:sym typeface="Calibri"/>
                <a:hlinkClick r:id="rId5"/>
              </a:rPr>
              <a:t>https://openai.com/chatgpt-work/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27" name="Google Shape;227;p3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104725" y="3128668"/>
            <a:ext cx="2942348" cy="165506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3"/>
          <p:cNvSpPr txBox="1"/>
          <p:nvPr/>
        </p:nvSpPr>
        <p:spPr>
          <a:xfrm>
            <a:off x="67350" y="52750"/>
            <a:ext cx="4418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Xbox planning to cut 50% jobs in 2027</a:t>
            </a:r>
            <a:endParaRPr sz="2000" b="1" i="0" u="none" strike="noStrike" cap="none">
              <a:solidFill>
                <a:schemeClr val="dk1"/>
              </a:solidFill>
              <a:latin typeface="Calibri"/>
              <a:ea typeface="Calibri"/>
              <a:cs typeface="Calibri"/>
              <a:sym typeface="Calibri"/>
            </a:endParaRPr>
          </a:p>
        </p:txBody>
      </p:sp>
      <p:sp>
        <p:nvSpPr>
          <p:cNvPr id="233" name="Google Shape;233;p33"/>
          <p:cNvSpPr txBox="1"/>
          <p:nvPr/>
        </p:nvSpPr>
        <p:spPr>
          <a:xfrm>
            <a:off x="67348" y="524100"/>
            <a:ext cx="44187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Xbox planning to cut 50% jobs in 2027</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https://www.youtube.com/@ThePrimeTimeagen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Michael B. Paulson (a.k.a. ThePrimeagen) analyzes a major restructuring memo from Xbox's new CEO, Asha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Xbox is cutting approximately 3,200 jobs through fiscal year 2027, starting with 1,600 immediate terminations, while four studios will leave Xbox management altogether.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division is struggling with weak margins, high costs tied to AI, and stagnant Game Pass growth</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Most shockingly, the memo reveals that some departments operate under up to </a:t>
            </a:r>
            <a:r>
              <a:rPr lang="en" sz="1200" b="1">
                <a:solidFill>
                  <a:srgbClr val="FF0000"/>
                </a:solidFill>
                <a:latin typeface="Calibri"/>
                <a:ea typeface="Calibri"/>
                <a:cs typeface="Calibri"/>
                <a:sym typeface="Calibri"/>
              </a:rPr>
              <a:t>14 layers of management </a:t>
            </a:r>
            <a:r>
              <a:rPr lang="en" sz="1200">
                <a:latin typeface="Calibri"/>
                <a:ea typeface="Calibri"/>
                <a:cs typeface="Calibri"/>
                <a:sym typeface="Calibri"/>
              </a:rPr>
              <a: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To restore accountability, Microsoft plans to </a:t>
            </a:r>
            <a:r>
              <a:rPr lang="en" sz="1200" b="1">
                <a:solidFill>
                  <a:srgbClr val="FF0000"/>
                </a:solidFill>
                <a:latin typeface="Calibri"/>
                <a:ea typeface="Calibri"/>
                <a:cs typeface="Calibri"/>
                <a:sym typeface="Calibri"/>
              </a:rPr>
              <a:t>flatten this structure down to five or fewer layers</a:t>
            </a:r>
            <a:r>
              <a:rPr lang="en" sz="1200">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pic>
        <p:nvPicPr>
          <p:cNvPr id="234" name="Google Shape;234;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99479" y="848500"/>
            <a:ext cx="2431124" cy="14718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4"/>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40" name="Google Shape;240;p34"/>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41" name="Google Shape;241;p34"/>
          <p:cNvSpPr txBox="1"/>
          <p:nvPr/>
        </p:nvSpPr>
        <p:spPr>
          <a:xfrm>
            <a:off x="5655225" y="351062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120K in 2026 </a:t>
            </a:r>
            <a:r>
              <a:rPr lang="en" sz="1000" b="1">
                <a:solidFill>
                  <a:schemeClr val="dk1"/>
                </a:solidFill>
                <a:latin typeface="Roboto Mono"/>
                <a:ea typeface="Roboto Mono"/>
                <a:cs typeface="Roboto Mono"/>
                <a:sym typeface="Roboto Mono"/>
              </a:rPr>
              <a:t>(as of July 10,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42" name="Google Shape;242;p34"/>
          <p:cNvSpPr txBox="1"/>
          <p:nvPr/>
        </p:nvSpPr>
        <p:spPr>
          <a:xfrm>
            <a:off x="5422950" y="531250"/>
            <a:ext cx="3286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165,540</a:t>
            </a:r>
            <a:r>
              <a:rPr lang="en" sz="1200">
                <a:latin typeface="Calibri"/>
                <a:ea typeface="Calibri"/>
                <a:cs typeface="Calibri"/>
                <a:sym typeface="Calibri"/>
              </a:rPr>
              <a:t> people laid off (867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243" name="Google Shape;243;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428" y="3321399"/>
            <a:ext cx="5076321" cy="1774724"/>
          </a:xfrm>
          <a:prstGeom prst="rect">
            <a:avLst/>
          </a:prstGeom>
          <a:noFill/>
          <a:ln w="9525" cap="flat" cmpd="sng">
            <a:solidFill>
              <a:srgbClr val="FF0000"/>
            </a:solidFill>
            <a:prstDash val="solid"/>
            <a:round/>
            <a:headEnd type="none" w="sm" len="sm"/>
            <a:tailEnd type="none" w="sm" len="sm"/>
          </a:ln>
        </p:spPr>
      </p:pic>
      <p:pic>
        <p:nvPicPr>
          <p:cNvPr id="244" name="Google Shape;244;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9425" y="519560"/>
            <a:ext cx="5076325" cy="2710815"/>
          </a:xfrm>
          <a:prstGeom prst="rect">
            <a:avLst/>
          </a:prstGeom>
          <a:noFill/>
          <a:ln w="9525" cap="flat" cmpd="sng">
            <a:solidFill>
              <a:srgbClr val="FF0000"/>
            </a:solidFill>
            <a:prstDash val="solid"/>
            <a:round/>
            <a:headEnd type="none" w="sm" len="sm"/>
            <a:tailEnd type="none" w="sm" len="sm"/>
          </a:ln>
        </p:spPr>
      </p:pic>
      <p:pic>
        <p:nvPicPr>
          <p:cNvPr id="245" name="Google Shape;245;p3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402175" y="2363850"/>
            <a:ext cx="3613649" cy="3879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51" name="Google Shape;251;p35"/>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52" name="Google Shape;252;p35"/>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53" name="Google Shape;253;p3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54" name="Google Shape;254;p35"/>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55" name="Google Shape;255;p35"/>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6"/>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4779</Words>
  <Application>Microsoft Macintosh PowerPoint</Application>
  <PresentationFormat>On-screen Show (16:9)</PresentationFormat>
  <Paragraphs>549</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Roboto Mono</vt:lpstr>
      <vt:lpstr>Victor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2026-07-15T00:37:54Z</dcterms:modified>
</cp:coreProperties>
</file>