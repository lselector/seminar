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43ECC64-742B-4A3D-8D24-DCC762B4AAA5}">
  <a:tblStyle styleId="{343ECC64-742B-4A3D-8D24-DCC762B4AAA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7"/>
  </p:normalViewPr>
  <p:slideViewPr>
    <p:cSldViewPr>
      <p:cViewPr varScale="1">
        <p:scale>
          <a:sx n="124" d="100"/>
          <a:sy n="124" d="100"/>
        </p:scale>
        <p:origin x="57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cc01bf30ee_1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g3cc01bf30ee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397a5e6eeb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 name="Google Shape;85;g397a5e6eeb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df2144e99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 name="Google Shape;93;g3df2144e99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9318675434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39318675434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3db87a8823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g3db87a8823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df01cf1b7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 name="Google Shape;115;g3df01cf1b7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dd922f72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4" name="Google Shape;124;g3dd922f72b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dd922f72b8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3" name="Google Shape;133;g3dd922f72b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df01cf1b75_1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g3df01cf1b75_1_6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39a942221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1" name="Google Shape;151;g39a9422219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db88535f4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9" name="Google Shape;159;g3db88535f4c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defd2eca48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6" name="Google Shape;166;g3defd2eca48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df3897eead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3" name="Google Shape;173;g3df3897eea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df2144e99d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1" name="Google Shape;181;g3df2144e99d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df2144e99d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0" name="Google Shape;190;g3df2144e99d_2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df2144e99d_2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0" name="Google Shape;200;g3df2144e99d_2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3dba9c443f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g3dba9c443fa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dba9c443f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dba9c443fa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dba9c443fa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4" name="Google Shape;224;g3dba9c443fa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dddead7ba4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5" name="Google Shape;235;g3dddead7ba4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d971967e09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d971967e09_0_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d971967e09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d971967e09_0_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3d971967e09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8" name="Google Shape;268;g3d971967e09_0_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openai.com/index/introducing-gpt-5-5/" TargetMode="External"/><Relationship Id="rId39" Type="http://schemas.openxmlformats.org/officeDocument/2006/relationships/hyperlink" Target="https://blog.google/products/gemini/gemini-3-flash" TargetMode="External"/><Relationship Id="rId21" Type="http://schemas.openxmlformats.org/officeDocument/2006/relationships/hyperlink" Target="https://www.anthropic.com/news/claude-opus-4-5" TargetMode="External"/><Relationship Id="rId34" Type="http://schemas.openxmlformats.org/officeDocument/2006/relationships/hyperlink" Target="https://ernie.baidu.com/blog/posts/ernie-5.1-preview-0430-release-on-lmarena/" TargetMode="External"/><Relationship Id="rId42" Type="http://schemas.openxmlformats.org/officeDocument/2006/relationships/hyperlink" Target="https://mimo.xiaomi.com/mimo-v2-5-pro/"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www.anthropic.com/news/claude-opus-4-6" TargetMode="External"/><Relationship Id="rId29" Type="http://schemas.openxmlformats.org/officeDocument/2006/relationships/hyperlink" Target="https://docs.x.ai/developers/models/grok-4.20-multi-agent-beta-0309" TargetMode="External"/><Relationship Id="rId41" Type="http://schemas.openxmlformats.org/officeDocument/2006/relationships/hyperlink" Target="https://qwen.ai/blog?id=qwen3.5-max-preview"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platform.openai.com/docs/models/gpt-5.4" TargetMode="External"/><Relationship Id="rId32" Type="http://schemas.openxmlformats.org/officeDocument/2006/relationships/hyperlink" Target="https://docs.x.ai/developers/models/grok-4.20-beta-0309-reasoning" TargetMode="External"/><Relationship Id="rId37" Type="http://schemas.openxmlformats.org/officeDocument/2006/relationships/hyperlink" Target="https://grok.com/" TargetMode="External"/><Relationship Id="rId40" Type="http://schemas.openxmlformats.org/officeDocument/2006/relationships/hyperlink" Target="https://x.ai/news/grok-4-1"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blog.google/innovation-and-ai/models-and-research/gemini-models/gemini-3-1-pro/" TargetMode="External"/><Relationship Id="rId28" Type="http://schemas.openxmlformats.org/officeDocument/2006/relationships/hyperlink" Target="https://www.anthropic.com/news/claude-sonnet-4-5" TargetMode="External"/><Relationship Id="rId36" Type="http://schemas.openxmlformats.org/officeDocument/2006/relationships/hyperlink" Target="https://www.anthropic.com/news/claude-opus-4-1" TargetMode="External"/><Relationship Id="rId10" Type="http://schemas.openxmlformats.org/officeDocument/2006/relationships/hyperlink" Target="https://llmworld.net/llm_leaderboards/" TargetMode="External"/><Relationship Id="rId19" Type="http://schemas.openxmlformats.org/officeDocument/2006/relationships/hyperlink" Target="https://www.anthropic.com/news/claude-opus-4-7" TargetMode="External"/><Relationship Id="rId31" Type="http://schemas.openxmlformats.org/officeDocument/2006/relationships/hyperlink" Target="https://aistudio.google.com/app/prompts/new_chat?model=gemini-3-pro-preview"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ai.meta.com/blog/introducing-muse-spark-msl/" TargetMode="External"/><Relationship Id="rId27" Type="http://schemas.openxmlformats.org/officeDocument/2006/relationships/hyperlink" Target="https://www.anthropic.com/news/claude-sonnet-4-6" TargetMode="External"/><Relationship Id="rId30" Type="http://schemas.openxmlformats.org/officeDocument/2006/relationships/hyperlink" Target="https://developers.openai.com/api/docs/models/gpt-5.2-chat-latest" TargetMode="External"/><Relationship Id="rId35" Type="http://schemas.openxmlformats.org/officeDocument/2006/relationships/hyperlink" Target="https://www.byteplus.com/en/blog/dola-seed-2-0-pro"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huggingface.co/zai-org/GLM-5.1" TargetMode="External"/><Relationship Id="rId33" Type="http://schemas.openxmlformats.org/officeDocument/2006/relationships/hyperlink" Target="https://www.kimi.com/blog/kimi-k2-6" TargetMode="External"/><Relationship Id="rId38" Type="http://schemas.openxmlformats.org/officeDocument/2006/relationships/hyperlink" Target="https://openai.com/index/gpt-5-5-instant"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www.anthropic.com/news/higher-limits-spacex"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claude.ai"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hyperlink" Target="https://claude.com/blog/new-in-claude-managed-agents" TargetMode="External"/><Relationship Id="rId4" Type="http://schemas.openxmlformats.org/officeDocument/2006/relationships/hyperlink" Target="https://www.anthropic.com/news/claude-code-security" TargetMode="External"/></Relationships>
</file>

<file path=ppt/slides/_rels/slide5.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www.perplexity.ai/computer/workflows" TargetMode="External"/><Relationship Id="rId7"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hyperlink" Target="https://x.com/MayoClinic/status/2049536242929590709" TargetMode="External"/><Relationship Id="rId4" Type="http://schemas.openxmlformats.org/officeDocument/2006/relationships/hyperlink" Target="https://www.youtube.com/watch?v=qDI4odijz4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openclaw/openclaw" TargetMode="External"/><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hyperlink" Target="https://www.youtube.com/watch?v=XZXRg18Ofi8" TargetMode="External"/><Relationship Id="rId5" Type="http://schemas.openxmlformats.org/officeDocument/2006/relationships/image" Target="../media/image4.png"/><Relationship Id="rId4" Type="http://schemas.openxmlformats.org/officeDocument/2006/relationships/hyperlink" Target="https://github.com/openclaw/openclaw/releases"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hermes-agent.nousresearch.com/docs/user-guide/features/curator"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hyperlink" Target="https://arxiv.org/abs/2604.27891" TargetMode="Externa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arxiv.org/abs/2603.25723" TargetMode="External"/><Relationship Id="rId7" Type="http://schemas.openxmlformats.org/officeDocument/2006/relationships/hyperlink" Target="https://x.com/akshay_pachaar/status/2051589749689962949"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hyperlink" Target="https://github.com/InsForge/InsForge" TargetMode="External"/><Relationship Id="rId5" Type="http://schemas.openxmlformats.org/officeDocument/2006/relationships/image" Target="../media/image8.png"/><Relationship Id="rId4" Type="http://schemas.openxmlformats.org/officeDocument/2006/relationships/hyperlink" Target="https://arxiv.org/abs/2603.28052"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deepmind.google/blog/ai-co-clinician/"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hyperlink" Target="https://github.com/TauricResearch/TradingAgents"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hyperlink" Target="https://github.com/obra/superpowers" TargetMode="External"/><Relationship Id="rId7" Type="http://schemas.openxmlformats.org/officeDocument/2006/relationships/hyperlink" Target="https://www.youtube.com/watch?v=7cOAayWzYDY"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https://www.youtube.com/watch?v=wtzzWyrEY_A" TargetMode="External"/><Relationship Id="rId5" Type="http://schemas.openxmlformats.org/officeDocument/2006/relationships/hyperlink" Target="https://www.youtube.com/watch?v=TX91PdBn_IA" TargetMode="External"/><Relationship Id="rId4" Type="http://schemas.openxmlformats.org/officeDocument/2006/relationships/hyperlink" Target="https://github.com/obra/superpowers-lab"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96jN2OCOfLs"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hyperlink" Target="https://www.youtube.com/watch?v=pngC-TH8M0U" TargetMode="Externa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SlGRN8jh2RI"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hyperlink" Target="https://www.youtube.com/watch?v=VpetwCa7-eM" TargetMode="Externa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hyperlink" Target="https://higgsfield.ai" TargetMode="External"/><Relationship Id="rId7" Type="http://schemas.openxmlformats.org/officeDocument/2006/relationships/hyperlink" Target="https://en.wikipedia.org/wiki/Suno_(platfor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hyperlink" Target="https://suno.com" TargetMode="External"/><Relationship Id="rId5" Type="http://schemas.openxmlformats.org/officeDocument/2006/relationships/image" Target="../media/image15.png"/><Relationship Id="rId4" Type="http://schemas.openxmlformats.org/officeDocument/2006/relationships/hyperlink" Target="https://openai.com/index/higgsfield/"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ww.youtube.com/watch?v=tl4cJO_itZ4"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hyperlink" Target="https://www.youtube.com/watch?v=nov9uoIQt6g" TargetMode="External"/><Relationship Id="rId4" Type="http://schemas.openxmlformats.org/officeDocument/2006/relationships/hyperlink" Target="https://www.youtube.com/watch?v=9GxvfazA-Bg" TargetMode="External"/></Relationships>
</file>

<file path=ppt/slides/_rels/slide17.xml.rels><?xml version="1.0" encoding="UTF-8" standalone="yes"?>
<Relationships xmlns="http://schemas.openxmlformats.org/package/2006/relationships"><Relationship Id="rId3" Type="http://schemas.openxmlformats.org/officeDocument/2006/relationships/hyperlink" Target="https://hyperframes.heygen.com"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discussions.unity.com/t/unity-ai-s-open-beta-now-live-for-unity-6/1718560" TargetMode="External"/><Relationship Id="rId5" Type="http://schemas.openxmlformats.org/officeDocument/2006/relationships/hyperlink" Target="https://hyperframes.mintlify.app/guides/prompting" TargetMode="External"/><Relationship Id="rId4" Type="http://schemas.openxmlformats.org/officeDocument/2006/relationships/hyperlink" Target="https://hyperframes.mintlify.app/introduction"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en.wikipedia.org/wiki/Zed_(text_editor)" TargetMode="External"/><Relationship Id="rId3" Type="http://schemas.openxmlformats.org/officeDocument/2006/relationships/hyperlink" Target="https://zed.dev" TargetMode="External"/><Relationship Id="rId7" Type="http://schemas.openxmlformats.org/officeDocument/2006/relationships/hyperlink" Target="https://en.wikipedia.org/wiki/Atom_(text_editor)"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hyperlink" Target="https://github.com/zed-industries/zed" TargetMode="External"/><Relationship Id="rId4" Type="http://schemas.openxmlformats.org/officeDocument/2006/relationships/hyperlink" Target="https://zed.dev/docs" TargetMode="External"/><Relationship Id="rId9" Type="http://schemas.openxmlformats.org/officeDocument/2006/relationships/image" Target="../media/image18.jpeg"/></Relationships>
</file>

<file path=ppt/slides/_rels/slide19.xml.rels><?xml version="1.0" encoding="UTF-8" standalone="yes"?>
<Relationships xmlns="http://schemas.openxmlformats.org/package/2006/relationships"><Relationship Id="rId3" Type="http://schemas.openxmlformats.org/officeDocument/2006/relationships/hyperlink" Target="https://github.com/jj-vcs/jj" TargetMode="External"/><Relationship Id="rId7" Type="http://schemas.openxmlformats.org/officeDocument/2006/relationships/hyperlink" Target="https://visualjj.com" TargetMode="External"/><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hyperlink" Target="https://news.ycombinator.com/item?id=42488112" TargetMode="External"/><Relationship Id="rId4" Type="http://schemas.openxmlformats.org/officeDocument/2006/relationships/hyperlink" Target="https://tonyfinn.com/blog/jj/" TargetMode="External"/></Relationships>
</file>

<file path=ppt/slides/_rels/slide20.xml.rels><?xml version="1.0" encoding="UTF-8" standalone="yes"?>
<Relationships xmlns="http://schemas.openxmlformats.org/package/2006/relationships"><Relationship Id="rId8" Type="http://schemas.openxmlformats.org/officeDocument/2006/relationships/hyperlink" Target="https://github.com/Ataraxy-Labs/weave" TargetMode="External"/><Relationship Id="rId3" Type="http://schemas.openxmlformats.org/officeDocument/2006/relationships/image" Target="../media/image20.png"/><Relationship Id="rId7" Type="http://schemas.openxmlformats.org/officeDocument/2006/relationships/hyperlink" Target="https://ataraxy-labs.github.io/weave/"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mergiraf.org" TargetMode="Externa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hyperlink" Target="http://www.youtube.com/watch?v=QGCKh_N6Ilo" TargetMode="External"/><Relationship Id="rId7" Type="http://schemas.openxmlformats.org/officeDocument/2006/relationships/image" Target="../media/image25.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hyperlink" Target="https://www.youtube.com/watch?v=E0Q96IKXx6Q" TargetMode="External"/><Relationship Id="rId5" Type="http://schemas.openxmlformats.org/officeDocument/2006/relationships/image" Target="../media/image24.jpe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3" Type="http://schemas.openxmlformats.org/officeDocument/2006/relationships/hyperlink" Target="https://layoffs.fyi"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hyperlink" Target="https://trueup.io/layoff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100175" y="587958"/>
            <a:ext cx="4330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Crowd-sourced "LM Arena" Leaderboard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Wall Street $1.5 Bln Partnership</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SpaceX Compute Deal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Anthropic Claude Security</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New in Claude Managed 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Perplexity Workflows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Miscellaneous AI news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OpenClaw Updates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Hermes Agent Curator</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No AI Agent Orchestration Needed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Harness more important than the model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InsForge - Backend for AI Coding 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Deepmind AI co-clinician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TradingAgents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Superpowers Agentic Framework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Andre Karpathy - talk at Sequoia Event </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Boris Cherny: Why Coding Is Solved</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How Claude Code Works</a:t>
            </a:r>
            <a:endParaRPr sz="1600" b="1">
              <a:solidFill>
                <a:srgbClr val="3C78D8"/>
              </a:solidFill>
              <a:latin typeface="Calibri"/>
              <a:ea typeface="Calibri"/>
              <a:cs typeface="Calibri"/>
              <a:sym typeface="Calibri"/>
            </a:endParaRPr>
          </a:p>
        </p:txBody>
      </p:sp>
      <p:sp>
        <p:nvSpPr>
          <p:cNvPr id="64" name="Google Shape;64;p15"/>
          <p:cNvSpPr txBox="1"/>
          <p:nvPr/>
        </p:nvSpPr>
        <p:spPr>
          <a:xfrm>
            <a:off x="55167" y="-22692"/>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a:solidFill>
                  <a:srgbClr val="3C78D8"/>
                </a:solidFill>
                <a:latin typeface="Calibri"/>
                <a:ea typeface="Calibri"/>
                <a:cs typeface="Calibri"/>
                <a:sym typeface="Calibri"/>
              </a:rPr>
              <a:t>AI Updates -May 8, 2026</a:t>
            </a:r>
            <a:endParaRPr sz="3000" b="1">
              <a:solidFill>
                <a:srgbClr val="3C78D8"/>
              </a:solidFill>
              <a:latin typeface="Calibri"/>
              <a:ea typeface="Calibri"/>
              <a:cs typeface="Calibri"/>
              <a:sym typeface="Calibri"/>
            </a:endParaRPr>
          </a:p>
        </p:txBody>
      </p:sp>
      <p:sp>
        <p:nvSpPr>
          <p:cNvPr id="65" name="Google Shape;65;p15"/>
          <p:cNvSpPr txBox="1"/>
          <p:nvPr/>
        </p:nvSpPr>
        <p:spPr>
          <a:xfrm>
            <a:off x="4536607" y="4282151"/>
            <a:ext cx="4525800" cy="7572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Jack Dorsey Lays off 4K workers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Mo Gawdat on How to Position Yourself</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Jobs &amp; Layoffs</a:t>
            </a:r>
            <a:endParaRPr sz="1600" b="1">
              <a:solidFill>
                <a:srgbClr val="3C78D8"/>
              </a:solidFill>
              <a:latin typeface="Calibri"/>
              <a:ea typeface="Calibri"/>
              <a:cs typeface="Calibri"/>
              <a:sym typeface="Calibri"/>
            </a:endParaRPr>
          </a:p>
        </p:txBody>
      </p:sp>
      <p:sp>
        <p:nvSpPr>
          <p:cNvPr id="66" name="Google Shape;66;p15"/>
          <p:cNvSpPr txBox="1"/>
          <p:nvPr/>
        </p:nvSpPr>
        <p:spPr>
          <a:xfrm>
            <a:off x="5421150" y="304875"/>
            <a:ext cx="2756700" cy="708000"/>
          </a:xfrm>
          <a:prstGeom prst="rect">
            <a:avLst/>
          </a:prstGeom>
          <a:noFill/>
          <a:ln>
            <a:noFill/>
          </a:ln>
        </p:spPr>
        <p:txBody>
          <a:bodyPr spcFirstLastPara="1" wrap="square" lIns="45700" tIns="45700" rIns="45700" bIns="45700" anchor="t" anchorCtr="0">
            <a:spAutoFit/>
          </a:bodyPr>
          <a:lstStyle/>
          <a:p>
            <a:pPr marL="0" marR="0" lvl="0" indent="0" algn="l" rtl="0">
              <a:lnSpc>
                <a:spcPct val="100000"/>
              </a:lnSpc>
              <a:spcBef>
                <a:spcPts val="0"/>
              </a:spcBef>
              <a:spcAft>
                <a:spcPts val="0"/>
              </a:spcAft>
              <a:buNone/>
            </a:pPr>
            <a:r>
              <a:rPr lang="en" sz="2000" b="1" i="1">
                <a:solidFill>
                  <a:srgbClr val="FF0000"/>
                </a:solidFill>
                <a:latin typeface="Calibri"/>
                <a:ea typeface="Calibri"/>
                <a:cs typeface="Calibri"/>
                <a:sym typeface="Calibri"/>
              </a:rPr>
              <a:t>"In 2026, your agents have agents."</a:t>
            </a:r>
            <a:endParaRPr sz="2000" b="1" i="1">
              <a:solidFill>
                <a:srgbClr val="FF0000"/>
              </a:solidFill>
              <a:latin typeface="Calibri"/>
              <a:ea typeface="Calibri"/>
              <a:cs typeface="Calibri"/>
              <a:sym typeface="Calibri"/>
            </a:endParaRPr>
          </a:p>
        </p:txBody>
      </p:sp>
      <p:sp>
        <p:nvSpPr>
          <p:cNvPr id="67" name="Google Shape;67;p15"/>
          <p:cNvSpPr txBox="1"/>
          <p:nvPr/>
        </p:nvSpPr>
        <p:spPr>
          <a:xfrm>
            <a:off x="4536607" y="1214501"/>
            <a:ext cx="4525800" cy="2973900"/>
          </a:xfrm>
          <a:prstGeom prst="rect">
            <a:avLst/>
          </a:prstGeom>
          <a:solidFill>
            <a:srgbClr val="D9EAD3"/>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Higgsfield AI - Cinematic AI Videos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Suno AI Music Generation</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Microsoft Copilot Actions and Cowork</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Codex CLI's new "/goal" feature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Hermes Agent "goals" system</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Google Remy competes with OpenClaw</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OpenAI GPT 4.5 Instant</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HyperFrames open-source HTML-to-video</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Unity AI in open beta for  Unity 6 developers</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Zed Editor vs VS Code</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Jujutsu Version Control</a:t>
            </a:r>
            <a:endParaRPr sz="1600" b="1">
              <a:solidFill>
                <a:srgbClr val="3C78D8"/>
              </a:solidFill>
              <a:latin typeface="Calibri"/>
              <a:ea typeface="Calibri"/>
              <a:cs typeface="Calibri"/>
              <a:sym typeface="Calibri"/>
            </a:endParaRPr>
          </a:p>
          <a:p>
            <a:pPr marL="228600" marR="0" lvl="0" indent="-215900" algn="l" rtl="0">
              <a:lnSpc>
                <a:spcPct val="100000"/>
              </a:lnSpc>
              <a:spcBef>
                <a:spcPts val="0"/>
              </a:spcBef>
              <a:spcAft>
                <a:spcPts val="0"/>
              </a:spcAft>
              <a:buClr>
                <a:srgbClr val="3C78D8"/>
              </a:buClr>
              <a:buSzPts val="1600"/>
              <a:buFont typeface="Calibri"/>
              <a:buChar char="●"/>
            </a:pPr>
            <a:r>
              <a:rPr lang="en" sz="1600" b="1">
                <a:solidFill>
                  <a:srgbClr val="3C78D8"/>
                </a:solidFill>
                <a:latin typeface="Calibri"/>
                <a:ea typeface="Calibri"/>
                <a:cs typeface="Calibri"/>
                <a:sym typeface="Calibri"/>
              </a:rPr>
              <a:t>Weave and Mergiraf - Better Merge</a:t>
            </a:r>
            <a:endParaRPr sz="1600" b="1">
              <a:solidFill>
                <a:srgbClr val="3C78D8"/>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3" name="Google Shape;73;p16"/>
          <p:cNvSpPr txBox="1"/>
          <p:nvPr/>
        </p:nvSpPr>
        <p:spPr>
          <a:xfrm>
            <a:off x="38150" y="2125"/>
            <a:ext cx="25998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"LM Arena" Leaderboard</a:t>
            </a:r>
            <a:endParaRPr sz="1800" b="1" i="0" u="none" strike="noStrike" cap="none">
              <a:solidFill>
                <a:srgbClr val="000000"/>
              </a:solidFill>
              <a:latin typeface="Calibri"/>
              <a:ea typeface="Calibri"/>
              <a:cs typeface="Calibri"/>
              <a:sym typeface="Calibri"/>
            </a:endParaRPr>
          </a:p>
        </p:txBody>
      </p:sp>
      <p:sp>
        <p:nvSpPr>
          <p:cNvPr id="74" name="Google Shape;74;p16"/>
          <p:cNvSpPr txBox="1"/>
          <p:nvPr/>
        </p:nvSpPr>
        <p:spPr>
          <a:xfrm>
            <a:off x="52418" y="476072"/>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5" name="Google Shape;75;p16"/>
          <p:cNvSpPr txBox="1"/>
          <p:nvPr/>
        </p:nvSpPr>
        <p:spPr>
          <a:xfrm>
            <a:off x="2726905" y="476078"/>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6" name="Google Shape;76;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7" name="Google Shape;77;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May 06</a:t>
            </a:r>
            <a:endParaRPr sz="1000">
              <a:latin typeface="Calibri"/>
              <a:ea typeface="Calibri"/>
              <a:cs typeface="Calibri"/>
              <a:sym typeface="Calibri"/>
            </a:endParaRPr>
          </a:p>
        </p:txBody>
      </p:sp>
      <p:sp>
        <p:nvSpPr>
          <p:cNvPr id="78" name="Google Shape;78;p16"/>
          <p:cNvSpPr txBox="1"/>
          <p:nvPr/>
        </p:nvSpPr>
        <p:spPr>
          <a:xfrm>
            <a:off x="7346795" y="608477"/>
            <a:ext cx="17457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deepseek-v4 - 1.6T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glm-5.1 - 744B </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kimi-k2.6 - 1T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qwen3.5-397B</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Xiaomi MiMo-V2-Pro - 1T+</a:t>
            </a:r>
            <a:endParaRPr sz="1000">
              <a:latin typeface="Calibri"/>
              <a:ea typeface="Calibri"/>
              <a:cs typeface="Calibri"/>
              <a:sym typeface="Calibri"/>
            </a:endParaRPr>
          </a:p>
        </p:txBody>
      </p:sp>
      <p:graphicFrame>
        <p:nvGraphicFramePr>
          <p:cNvPr id="79" name="Google Shape;79;p16"/>
          <p:cNvGraphicFramePr/>
          <p:nvPr/>
        </p:nvGraphicFramePr>
        <p:xfrm>
          <a:off x="5742420" y="430065"/>
          <a:ext cx="3000000" cy="3000000"/>
        </p:xfrm>
        <a:graphic>
          <a:graphicData uri="http://schemas.openxmlformats.org/drawingml/2006/table">
            <a:tbl>
              <a:tblPr>
                <a:noFill/>
                <a:tableStyleId>{343ECC64-742B-4A3D-8D24-DCC762B4AAA5}</a:tableStyleId>
              </a:tblPr>
              <a:tblGrid>
                <a:gridCol w="219050">
                  <a:extLst>
                    <a:ext uri="{9D8B030D-6E8A-4147-A177-3AD203B41FA5}">
                      <a16:colId xmlns:a16="http://schemas.microsoft.com/office/drawing/2014/main" val="20000"/>
                    </a:ext>
                  </a:extLst>
                </a:gridCol>
                <a:gridCol w="585450">
                  <a:extLst>
                    <a:ext uri="{9D8B030D-6E8A-4147-A177-3AD203B41FA5}">
                      <a16:colId xmlns:a16="http://schemas.microsoft.com/office/drawing/2014/main" val="20001"/>
                    </a:ext>
                  </a:extLst>
                </a:gridCol>
              </a:tblGrid>
              <a:tr h="142875">
                <a:tc>
                  <a:txBody>
                    <a:bodyPr/>
                    <a:lstStyle/>
                    <a:p>
                      <a:pPr marL="0" lvl="0" indent="0" algn="l" rtl="0">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525" marR="9525" marT="9525" marB="9125" anchor="ctr">
                    <a:solidFill>
                      <a:srgbClr val="4472C4"/>
                    </a:solidFill>
                  </a:tcPr>
                </a:tc>
                <a:tc>
                  <a:txBody>
                    <a:bodyPr/>
                    <a:lstStyle/>
                    <a:p>
                      <a:pPr marL="0" lvl="0" indent="0" algn="l" rtl="0">
                        <a:spcBef>
                          <a:spcPts val="0"/>
                        </a:spcBef>
                        <a:spcAft>
                          <a:spcPts val="0"/>
                        </a:spcAft>
                        <a:buNone/>
                      </a:pPr>
                      <a:r>
                        <a:rPr lang="en" sz="800">
                          <a:latin typeface="Calibri"/>
                          <a:ea typeface="Calibri"/>
                          <a:cs typeface="Calibri"/>
                          <a:sym typeface="Calibri"/>
                        </a:rPr>
                        <a:t>Claude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0"/>
                  </a:ext>
                </a:extLst>
              </a:tr>
              <a:tr h="142875">
                <a:tc>
                  <a:txBody>
                    <a:bodyPr/>
                    <a:lstStyle/>
                    <a:p>
                      <a:pPr marL="0" lvl="0" indent="0" algn="l" rtl="0">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525" marR="9525" marT="9525" marB="9125" anchor="ctr">
                    <a:solidFill>
                      <a:srgbClr val="FF0000"/>
                    </a:solidFill>
                  </a:tcPr>
                </a:tc>
                <a:tc>
                  <a:txBody>
                    <a:bodyPr/>
                    <a:lstStyle/>
                    <a:p>
                      <a:pPr marL="0" lvl="0" indent="0" algn="l" rtl="0">
                        <a:spcBef>
                          <a:spcPts val="0"/>
                        </a:spcBef>
                        <a:spcAft>
                          <a:spcPts val="0"/>
                        </a:spcAft>
                        <a:buNone/>
                      </a:pPr>
                      <a:r>
                        <a:rPr lang="en" sz="800">
                          <a:latin typeface="Calibri"/>
                          <a:ea typeface="Calibri"/>
                          <a:cs typeface="Calibri"/>
                          <a:sym typeface="Calibri"/>
                        </a:rPr>
                        <a:t>Gemini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1"/>
                  </a:ext>
                </a:extLst>
              </a:tr>
              <a:tr h="142875">
                <a:tc>
                  <a:txBody>
                    <a:bodyPr/>
                    <a:lstStyle/>
                    <a:p>
                      <a:pPr marL="0" lvl="0" indent="0" algn="l" rtl="0">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525" marR="9525" marT="9525" marB="9125" anchor="ctr">
                    <a:solidFill>
                      <a:srgbClr val="FFD700"/>
                    </a:solidFill>
                  </a:tcPr>
                </a:tc>
                <a:tc>
                  <a:txBody>
                    <a:bodyPr/>
                    <a:lstStyle/>
                    <a:p>
                      <a:pPr marL="0" lvl="0" indent="0" algn="l" rtl="0">
                        <a:spcBef>
                          <a:spcPts val="0"/>
                        </a:spcBef>
                        <a:spcAft>
                          <a:spcPts val="0"/>
                        </a:spcAft>
                        <a:buNone/>
                      </a:pPr>
                      <a:r>
                        <a:rPr lang="en" sz="800">
                          <a:latin typeface="Calibri"/>
                          <a:ea typeface="Calibri"/>
                          <a:cs typeface="Calibri"/>
                          <a:sym typeface="Calibri"/>
                        </a:rPr>
                        <a:t>OpenAI</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2"/>
                  </a:ext>
                </a:extLst>
              </a:tr>
              <a:tr h="142875">
                <a:tc>
                  <a:txBody>
                    <a:bodyPr/>
                    <a:lstStyle/>
                    <a:p>
                      <a:pPr marL="0" lvl="0" indent="0" algn="l" rtl="0">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525" marR="9525" marT="9525" marB="9125" anchor="ctr">
                    <a:solidFill>
                      <a:srgbClr val="00B050"/>
                    </a:solidFill>
                  </a:tcPr>
                </a:tc>
                <a:tc>
                  <a:txBody>
                    <a:bodyPr/>
                    <a:lstStyle/>
                    <a:p>
                      <a:pPr marL="0" lvl="0" indent="0" algn="l" rtl="0">
                        <a:spcBef>
                          <a:spcPts val="0"/>
                        </a:spcBef>
                        <a:spcAft>
                          <a:spcPts val="0"/>
                        </a:spcAft>
                        <a:buNone/>
                      </a:pPr>
                      <a:r>
                        <a:rPr lang="en" sz="800">
                          <a:latin typeface="Calibri"/>
                          <a:ea typeface="Calibri"/>
                          <a:cs typeface="Calibri"/>
                          <a:sym typeface="Calibri"/>
                        </a:rPr>
                        <a:t>Open Source</a:t>
                      </a:r>
                      <a:endParaRPr sz="800">
                        <a:latin typeface="Calibri"/>
                        <a:ea typeface="Calibri"/>
                        <a:cs typeface="Calibri"/>
                        <a:sym typeface="Calibri"/>
                      </a:endParaRPr>
                    </a:p>
                  </a:txBody>
                  <a:tcPr marL="9525" marR="9525" marT="9525" marB="9125" anchor="b"/>
                </a:tc>
                <a:extLst>
                  <a:ext uri="{0D108BD9-81ED-4DB2-BD59-A6C34878D82A}">
                    <a16:rowId xmlns:a16="http://schemas.microsoft.com/office/drawing/2014/main" val="10003"/>
                  </a:ext>
                </a:extLst>
              </a:tr>
            </a:tbl>
          </a:graphicData>
        </a:graphic>
      </p:graphicFrame>
      <p:sp>
        <p:nvSpPr>
          <p:cNvPr id="80" name="Google Shape;80;p16"/>
          <p:cNvSpPr txBox="1"/>
          <p:nvPr/>
        </p:nvSpPr>
        <p:spPr>
          <a:xfrm>
            <a:off x="5566400" y="1195525"/>
            <a:ext cx="1573800" cy="480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deepseek-v4-pro-thinking</a:t>
            </a:r>
            <a:br>
              <a:rPr lang="en" sz="1000">
                <a:latin typeface="Calibri"/>
                <a:ea typeface="Calibri"/>
                <a:cs typeface="Calibri"/>
                <a:sym typeface="Calibri"/>
              </a:rPr>
            </a:br>
            <a:r>
              <a:rPr lang="en" sz="1000">
                <a:latin typeface="Calibri"/>
                <a:ea typeface="Calibri"/>
                <a:cs typeface="Calibri"/>
                <a:sym typeface="Calibri"/>
              </a:rPr>
              <a:t>is on 35th place </a:t>
            </a:r>
            <a:br>
              <a:rPr lang="en" sz="1000">
                <a:latin typeface="Calibri"/>
                <a:ea typeface="Calibri"/>
                <a:cs typeface="Calibri"/>
                <a:sym typeface="Calibri"/>
              </a:rPr>
            </a:br>
            <a:r>
              <a:rPr lang="en" sz="1000">
                <a:latin typeface="Calibri"/>
                <a:ea typeface="Calibri"/>
                <a:cs typeface="Calibri"/>
                <a:sym typeface="Calibri"/>
              </a:rPr>
              <a:t>(1502 +/- 19) for coding</a:t>
            </a:r>
            <a:endParaRPr sz="1000">
              <a:latin typeface="Calibri"/>
              <a:ea typeface="Calibri"/>
              <a:cs typeface="Calibri"/>
              <a:sym typeface="Calibri"/>
            </a:endParaRPr>
          </a:p>
        </p:txBody>
      </p:sp>
      <p:graphicFrame>
        <p:nvGraphicFramePr>
          <p:cNvPr id="81" name="Google Shape;81;p16"/>
          <p:cNvGraphicFramePr/>
          <p:nvPr/>
        </p:nvGraphicFramePr>
        <p:xfrm>
          <a:off x="2968550" y="763450"/>
          <a:ext cx="3000000" cy="3000000"/>
        </p:xfrm>
        <a:graphic>
          <a:graphicData uri="http://schemas.openxmlformats.org/drawingml/2006/table">
            <a:tbl>
              <a:tblPr>
                <a:noFill/>
                <a:tableStyleId>{343ECC64-742B-4A3D-8D24-DCC762B4AAA5}</a:tableStyleId>
              </a:tblPr>
              <a:tblGrid>
                <a:gridCol w="255625">
                  <a:extLst>
                    <a:ext uri="{9D8B030D-6E8A-4147-A177-3AD203B41FA5}">
                      <a16:colId xmlns:a16="http://schemas.microsoft.com/office/drawing/2014/main" val="20000"/>
                    </a:ext>
                  </a:extLst>
                </a:gridCol>
                <a:gridCol w="1811600">
                  <a:extLst>
                    <a:ext uri="{9D8B030D-6E8A-4147-A177-3AD203B41FA5}">
                      <a16:colId xmlns:a16="http://schemas.microsoft.com/office/drawing/2014/main" val="20001"/>
                    </a:ext>
                  </a:extLst>
                </a:gridCol>
                <a:gridCol w="288975">
                  <a:extLst>
                    <a:ext uri="{9D8B030D-6E8A-4147-A177-3AD203B41FA5}">
                      <a16:colId xmlns:a16="http://schemas.microsoft.com/office/drawing/2014/main" val="20002"/>
                    </a:ext>
                  </a:extLst>
                </a:gridCol>
              </a:tblGrid>
              <a:tr h="1128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1569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1550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1548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668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128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1530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128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128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1287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128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668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claude-sonnet-4-5-20250929-thinking-32k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128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1520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128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128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1519</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128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128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1287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3"/>
                        </a:rPr>
                        <a:t>kimi-k2.6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128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ernie-5.1-preview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128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8"/>
                        </a:rPr>
                        <a:t>claude-sonnet-4-5-20250929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128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5"/>
                        </a:rPr>
                        <a:t>dola-seed-2.0-pro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6682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6"/>
                        </a:rPr>
                        <a:t>claude-opus-4-1-20250805-thinking-16k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128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128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1510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graphicFrame>
        <p:nvGraphicFramePr>
          <p:cNvPr id="82" name="Google Shape;82;p16"/>
          <p:cNvGraphicFramePr/>
          <p:nvPr/>
        </p:nvGraphicFramePr>
        <p:xfrm>
          <a:off x="133100" y="763450"/>
          <a:ext cx="3000000" cy="3000000"/>
        </p:xfrm>
        <a:graphic>
          <a:graphicData uri="http://schemas.openxmlformats.org/drawingml/2006/table">
            <a:tbl>
              <a:tblPr>
                <a:noFill/>
                <a:tableStyleId>{343ECC64-742B-4A3D-8D24-DCC762B4AAA5}</a:tableStyleId>
              </a:tblPr>
              <a:tblGrid>
                <a:gridCol w="264025">
                  <a:extLst>
                    <a:ext uri="{9D8B030D-6E8A-4147-A177-3AD203B41FA5}">
                      <a16:colId xmlns:a16="http://schemas.microsoft.com/office/drawing/2014/main" val="20000"/>
                    </a:ext>
                  </a:extLst>
                </a:gridCol>
                <a:gridCol w="1905875">
                  <a:extLst>
                    <a:ext uri="{9D8B030D-6E8A-4147-A177-3AD203B41FA5}">
                      <a16:colId xmlns:a16="http://schemas.microsoft.com/office/drawing/2014/main" val="20001"/>
                    </a:ext>
                  </a:extLst>
                </a:gridCol>
                <a:gridCol w="273025">
                  <a:extLst>
                    <a:ext uri="{9D8B030D-6E8A-4147-A177-3AD203B41FA5}">
                      <a16:colId xmlns:a16="http://schemas.microsoft.com/office/drawing/2014/main" val="20002"/>
                    </a:ext>
                  </a:extLst>
                </a:gridCol>
              </a:tblGrid>
              <a:tr h="1530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Code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Model</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Score</a:t>
                      </a:r>
                      <a:endParaRPr sz="800" b="1">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1502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0"/>
                        </a:rPr>
                        <a:t>claude-opus-4-6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1530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3"/>
                        </a:rPr>
                        <a:t>gemini-3.1-pro-preview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19"/>
                        </a:rPr>
                        <a:t>claude-opus-4-7</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2"/>
                        </a:rPr>
                        <a:t>muse-spark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1490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6"/>
                  </a:ext>
                </a:extLst>
              </a:tr>
              <a:tr h="1530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1"/>
                        </a:rPr>
                        <a:t>gemini-3-pro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7"/>
                  </a:ext>
                </a:extLst>
              </a:tr>
              <a:tr h="1530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8"/>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7"/>
                        </a:rPr>
                        <a:t>grok-4.20-beta1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1480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9"/>
                  </a:ext>
                </a:extLst>
              </a:tr>
              <a:tr h="1530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0"/>
                        </a:rPr>
                        <a:t>gpt-5.2-chat-latest-20260210</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0"/>
                  </a:ext>
                </a:extLst>
              </a:tr>
              <a:tr h="1530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gpt-5.4-high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1"/>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2"/>
                        </a:rPr>
                        <a:t>grok-4.20-beta-0309-reasoning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2"/>
                  </a:ext>
                </a:extLst>
              </a:tr>
              <a:tr h="1530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6"/>
                        </a:rPr>
                        <a:t>gpt-5.5</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1475</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3"/>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4"/>
                        </a:rPr>
                        <a:t>ernie-5.1-preview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4"/>
                  </a:ext>
                </a:extLst>
              </a:tr>
              <a:tr h="153075">
                <a:tc>
                  <a:txBody>
                    <a:bodyPr/>
                    <a:lstStyle/>
                    <a:p>
                      <a:pPr marL="0" lvl="0" indent="0" algn="l" rtl="0">
                        <a:lnSpc>
                          <a:spcPct val="115000"/>
                        </a:lnSpc>
                        <a:spcBef>
                          <a:spcPts val="0"/>
                        </a:spcBef>
                        <a:spcAft>
                          <a:spcPts val="0"/>
                        </a:spcAft>
                        <a:buNone/>
                      </a:pPr>
                      <a:r>
                        <a:rPr lang="en" sz="800">
                          <a:solidFill>
                            <a:srgbClr val="FF0000"/>
                          </a:solidFill>
                          <a:latin typeface="Calibri"/>
                          <a:ea typeface="Calibri"/>
                          <a:cs typeface="Calibri"/>
                          <a:sym typeface="Calibri"/>
                        </a:rPr>
                        <a:t>■</a:t>
                      </a:r>
                      <a:endParaRPr sz="800">
                        <a:solidFill>
                          <a:srgbClr val="FF00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00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9"/>
                        </a:rPr>
                        <a:t>gemini-3-flash</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5"/>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9"/>
                        </a:rPr>
                        <a:t>grok-4.20-multi-agent-beta-0309</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6"/>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claude-opus-4-5-20251101-thinking-32k</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1472</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7"/>
                  </a:ext>
                </a:extLst>
              </a:tr>
              <a:tr h="15307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5"/>
                        </a:rPr>
                        <a:t>glm-5.1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1471</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8"/>
                  </a:ext>
                </a:extLst>
              </a:tr>
              <a:tr h="1530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38"/>
                        </a:rPr>
                        <a:t>gpt-5.5-instant</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1470</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19"/>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1"/>
                        </a:rPr>
                        <a:t>claude-opus-4-5-20251101</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1468</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0"/>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0"/>
                        </a:rPr>
                        <a:t>grok-4.1-thinking</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1"/>
                  </a:ext>
                </a:extLst>
              </a:tr>
              <a:tr h="153075">
                <a:tc>
                  <a:txBody>
                    <a:bodyPr/>
                    <a:lstStyle/>
                    <a:p>
                      <a:pPr marL="0" lvl="0" indent="0" algn="l" rtl="0">
                        <a:lnSpc>
                          <a:spcPct val="115000"/>
                        </a:lnSpc>
                        <a:spcBef>
                          <a:spcPts val="0"/>
                        </a:spcBef>
                        <a:spcAft>
                          <a:spcPts val="0"/>
                        </a:spcAft>
                        <a:buNone/>
                      </a:pPr>
                      <a:r>
                        <a:rPr lang="en" sz="800">
                          <a:solidFill>
                            <a:srgbClr val="FFD700"/>
                          </a:solidFill>
                          <a:latin typeface="Calibri"/>
                          <a:ea typeface="Calibri"/>
                          <a:cs typeface="Calibri"/>
                          <a:sym typeface="Calibri"/>
                        </a:rPr>
                        <a:t>■</a:t>
                      </a:r>
                      <a:endParaRPr sz="800">
                        <a:solidFill>
                          <a:srgbClr val="FFD70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FD70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4"/>
                        </a:rPr>
                        <a:t>gpt-5.4</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1467</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2"/>
                  </a:ext>
                </a:extLst>
              </a:tr>
              <a:tr h="153075">
                <a:tc>
                  <a:txBody>
                    <a:bodyPr/>
                    <a:lstStyle/>
                    <a:p>
                      <a:pPr marL="0" lvl="0" indent="0" algn="l" rtl="0">
                        <a:lnSpc>
                          <a:spcPct val="115000"/>
                        </a:lnSpc>
                        <a:spcBef>
                          <a:spcPts val="0"/>
                        </a:spcBef>
                        <a:spcAft>
                          <a:spcPts val="0"/>
                        </a:spcAft>
                        <a:buNone/>
                      </a:pPr>
                      <a:r>
                        <a:rPr lang="en" sz="800">
                          <a:solidFill>
                            <a:srgbClr val="4472C4"/>
                          </a:solidFill>
                          <a:latin typeface="Calibri"/>
                          <a:ea typeface="Calibri"/>
                          <a:cs typeface="Calibri"/>
                          <a:sym typeface="Calibri"/>
                        </a:rPr>
                        <a:t>■</a:t>
                      </a:r>
                      <a:endParaRPr sz="800">
                        <a:solidFill>
                          <a:srgbClr val="4472C4"/>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4472C4"/>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27"/>
                        </a:rPr>
                        <a:t>claude-sonnet-4-6</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1466</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3"/>
                  </a:ext>
                </a:extLst>
              </a:tr>
              <a:tr h="153075">
                <a:tc>
                  <a:txBody>
                    <a:bodyPr/>
                    <a:lstStyle/>
                    <a:p>
                      <a:pPr marL="0" lvl="0" indent="0" algn="l" rtl="0">
                        <a:lnSpc>
                          <a:spcPct val="115000"/>
                        </a:lnSpc>
                        <a:spcBef>
                          <a:spcPts val="0"/>
                        </a:spcBef>
                        <a:spcAft>
                          <a:spcPts val="0"/>
                        </a:spcAft>
                        <a:buNone/>
                      </a:pPr>
                      <a:r>
                        <a:rPr lang="en" sz="800">
                          <a:solidFill>
                            <a:srgbClr val="00B050"/>
                          </a:solidFill>
                          <a:latin typeface="Calibri"/>
                          <a:ea typeface="Calibri"/>
                          <a:cs typeface="Calibri"/>
                          <a:sym typeface="Calibri"/>
                        </a:rPr>
                        <a:t>■</a:t>
                      </a:r>
                      <a:endParaRPr sz="800">
                        <a:solidFill>
                          <a:srgbClr val="00B050"/>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00B050"/>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1"/>
                        </a:rPr>
                        <a:t>qwen3.5-max-preview</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1464</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4"/>
                  </a:ext>
                </a:extLst>
              </a:tr>
              <a:tr h="153075">
                <a:tc>
                  <a:txBody>
                    <a:bodyPr/>
                    <a:lstStyle/>
                    <a:p>
                      <a:pPr marL="0" lvl="0" indent="0" algn="l" rtl="0">
                        <a:lnSpc>
                          <a:spcPct val="115000"/>
                        </a:lnSpc>
                        <a:spcBef>
                          <a:spcPts val="0"/>
                        </a:spcBef>
                        <a:spcAft>
                          <a:spcPts val="0"/>
                        </a:spcAft>
                        <a:buNone/>
                      </a:pPr>
                      <a:r>
                        <a:rPr lang="en" sz="800">
                          <a:solidFill>
                            <a:srgbClr val="D9D9D9"/>
                          </a:solidFill>
                          <a:latin typeface="Calibri"/>
                          <a:ea typeface="Calibri"/>
                          <a:cs typeface="Calibri"/>
                          <a:sym typeface="Calibri"/>
                        </a:rPr>
                        <a:t>■</a:t>
                      </a:r>
                      <a:endParaRPr sz="800">
                        <a:solidFill>
                          <a:srgbClr val="D9D9D9"/>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D9D9D9"/>
                    </a:solidFill>
                  </a:tcPr>
                </a:tc>
                <a:tc>
                  <a:txBody>
                    <a:bodyPr/>
                    <a:lstStyle/>
                    <a:p>
                      <a:pPr marL="0" lvl="0" indent="0" algn="l" rtl="0">
                        <a:lnSpc>
                          <a:spcPct val="115000"/>
                        </a:lnSpc>
                        <a:spcBef>
                          <a:spcPts val="0"/>
                        </a:spcBef>
                        <a:spcAft>
                          <a:spcPts val="0"/>
                        </a:spcAft>
                        <a:buNone/>
                      </a:pPr>
                      <a:r>
                        <a:rPr lang="en" sz="800" u="sng">
                          <a:solidFill>
                            <a:schemeClr val="hlink"/>
                          </a:solidFill>
                          <a:latin typeface="Calibri"/>
                          <a:ea typeface="Calibri"/>
                          <a:cs typeface="Calibri"/>
                          <a:sym typeface="Calibri"/>
                          <a:hlinkClick r:id="rId42"/>
                        </a:rPr>
                        <a:t>mimo-v2.5-pro</a:t>
                      </a:r>
                      <a:endParaRPr sz="800" u="sng">
                        <a:solidFill>
                          <a:schemeClr val="hlink"/>
                        </a:solidFill>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r" rtl="0">
                        <a:lnSpc>
                          <a:spcPct val="115000"/>
                        </a:lnSpc>
                        <a:spcBef>
                          <a:spcPts val="0"/>
                        </a:spcBef>
                        <a:spcAft>
                          <a:spcPts val="0"/>
                        </a:spcAft>
                        <a:buNone/>
                      </a:pPr>
                      <a:r>
                        <a:rPr lang="en" sz="800">
                          <a:latin typeface="Calibri"/>
                          <a:ea typeface="Calibri"/>
                          <a:cs typeface="Calibri"/>
                          <a:sym typeface="Calibri"/>
                        </a:rPr>
                        <a:t>1463</a:t>
                      </a:r>
                      <a:endParaRPr sz="800">
                        <a:latin typeface="Calibri"/>
                        <a:ea typeface="Calibri"/>
                        <a:cs typeface="Calibri"/>
                        <a:sym typeface="Calibri"/>
                      </a:endParaRPr>
                    </a:p>
                  </a:txBody>
                  <a:tcPr marL="9125" marR="9125" marT="9125" marB="9125" anchor="ctr">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2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7"/>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Updates</a:t>
            </a:r>
            <a:endParaRPr sz="2000" b="1">
              <a:solidFill>
                <a:schemeClr val="dk1"/>
              </a:solidFill>
              <a:latin typeface="Calibri"/>
              <a:ea typeface="Calibri"/>
              <a:cs typeface="Calibri"/>
              <a:sym typeface="Calibri"/>
            </a:endParaRPr>
          </a:p>
        </p:txBody>
      </p:sp>
      <p:sp>
        <p:nvSpPr>
          <p:cNvPr id="88" name="Google Shape;88;p17"/>
          <p:cNvSpPr txBox="1"/>
          <p:nvPr/>
        </p:nvSpPr>
        <p:spPr>
          <a:xfrm>
            <a:off x="138925" y="499275"/>
            <a:ext cx="4383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Wall Street $1.5 Bln Partnership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Enterprise AI joint venture with Blackstone, Goldman Sachs, and Hellman &amp; Friedman to deploy Claude directly inside portfolio companies.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Also General Atlantic, Leonard Green, Apollo Global Management, GIC, Sequoia Capital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Then on May 5, CEO Dario Amodei appeared on stage with JPMorgan's Jamie Dimon in New York, unveiling ten financial services AI agents, a Microsoft 365 integration, a Moody's data partnership, and a co-built financial crimes detection tool with banking infrastructure giant FIS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moves signal Anthropic shifting from AI vendor to embedded operating layer for Wall Street</a:t>
            </a:r>
            <a:endParaRPr sz="1200">
              <a:solidFill>
                <a:schemeClr val="dk1"/>
              </a:solidFill>
              <a:latin typeface="Calibri"/>
              <a:ea typeface="Calibri"/>
              <a:cs typeface="Calibri"/>
              <a:sym typeface="Calibri"/>
            </a:endParaRPr>
          </a:p>
        </p:txBody>
      </p:sp>
      <p:sp>
        <p:nvSpPr>
          <p:cNvPr id="89" name="Google Shape;89;p17"/>
          <p:cNvSpPr txBox="1"/>
          <p:nvPr/>
        </p:nvSpPr>
        <p:spPr>
          <a:xfrm>
            <a:off x="138925" y="3069545"/>
            <a:ext cx="43830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Anthropic SpaceX Compute Deal</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Anthropic gains access to the full capacity of SpaceX's Colossus 1 data center in Memphis, Tennessee — equivalent to over 220,000 NVIDIA GPUs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3"/>
              </a:rPr>
              <a:t>https://www.anthropic.com/news/higher-limits-spacex</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partnership allows Anthropic to double 5-hour token allowance for Claude paying subscribers; also removed peak-hour throttling for Pro and Max users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two companies also planning building orbital AI compute</a:t>
            </a:r>
            <a:endParaRPr sz="1200">
              <a:solidFill>
                <a:schemeClr val="dk1"/>
              </a:solidFill>
              <a:latin typeface="Calibri"/>
              <a:ea typeface="Calibri"/>
              <a:cs typeface="Calibri"/>
              <a:sym typeface="Calibri"/>
            </a:endParaRPr>
          </a:p>
        </p:txBody>
      </p:sp>
      <p:sp>
        <p:nvSpPr>
          <p:cNvPr id="90" name="Google Shape;90;p17"/>
          <p:cNvSpPr txBox="1"/>
          <p:nvPr/>
        </p:nvSpPr>
        <p:spPr>
          <a:xfrm>
            <a:off x="4884400" y="3408250"/>
            <a:ext cx="3752400" cy="1003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58750" algn="l" rtl="0">
              <a:lnSpc>
                <a:spcPct val="100000"/>
              </a:lnSpc>
              <a:spcBef>
                <a:spcPts val="0"/>
              </a:spcBef>
              <a:spcAft>
                <a:spcPts val="0"/>
              </a:spcAft>
              <a:buClr>
                <a:srgbClr val="FF0000"/>
              </a:buClr>
              <a:buSzPts val="1600"/>
              <a:buFont typeface="Calibri"/>
              <a:buChar char="●"/>
            </a:pPr>
            <a:r>
              <a:rPr lang="en" sz="1600" b="1">
                <a:solidFill>
                  <a:srgbClr val="FF0000"/>
                </a:solidFill>
                <a:latin typeface="Calibri"/>
                <a:ea typeface="Calibri"/>
                <a:cs typeface="Calibri"/>
                <a:sym typeface="Calibri"/>
              </a:rPr>
              <a:t>Anthropic + SpaceX = compute in low Earth orbit. </a:t>
            </a:r>
            <a:br>
              <a:rPr lang="en" sz="1600" b="1">
                <a:solidFill>
                  <a:srgbClr val="FF0000"/>
                </a:solidFill>
                <a:latin typeface="Calibri"/>
                <a:ea typeface="Calibri"/>
                <a:cs typeface="Calibri"/>
                <a:sym typeface="Calibri"/>
              </a:rPr>
            </a:br>
            <a:r>
              <a:rPr lang="en" sz="1600" b="1">
                <a:solidFill>
                  <a:srgbClr val="FF0000"/>
                </a:solidFill>
                <a:latin typeface="Calibri"/>
                <a:ea typeface="Calibri"/>
                <a:cs typeface="Calibri"/>
                <a:sym typeface="Calibri"/>
              </a:rPr>
              <a:t>'Cloud computing' is now technically accurate.</a:t>
            </a:r>
            <a:endParaRPr sz="1600" b="1">
              <a:solidFill>
                <a:srgbClr val="FF0000"/>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p:nvPr/>
        </p:nvSpPr>
        <p:spPr>
          <a:xfrm>
            <a:off x="60250" y="431150"/>
            <a:ext cx="44832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Anthropic Claude Security - in public beta for Claude Enterprise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AI-powered security tool built directly into </a:t>
            </a:r>
            <a:r>
              <a:rPr lang="en" sz="1200" u="sng">
                <a:solidFill>
                  <a:schemeClr val="hlink"/>
                </a:solidFill>
                <a:latin typeface="Calibri"/>
                <a:ea typeface="Calibri"/>
                <a:cs typeface="Calibri"/>
                <a:sym typeface="Calibri"/>
                <a:hlinkClick r:id="rId3"/>
              </a:rPr>
              <a:t>Claude.ai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Claude Opus 4.7 to reason through entire codebases, trace data flows, and detect vulnerabilities across multiple files the way a real security engineer would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multi-stage validation process filters out false positives before any findings reach the developer, dramatically cutting alert noise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Validated issues come with suggested patches that teams can review and approve. Nothing is applied without human sign-off</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tool consolidates scanning, validation, and patching into one seamless workflow, replacing the fragmented security tooling most teams currently rely 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https://www.anthropic.com/news/claude-code-security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96" name="Google Shape;96;p18"/>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Anthropic Updates</a:t>
            </a:r>
            <a:endParaRPr sz="2000" b="1">
              <a:solidFill>
                <a:schemeClr val="dk1"/>
              </a:solidFill>
              <a:latin typeface="Calibri"/>
              <a:ea typeface="Calibri"/>
              <a:cs typeface="Calibri"/>
              <a:sym typeface="Calibri"/>
            </a:endParaRPr>
          </a:p>
        </p:txBody>
      </p:sp>
      <p:sp>
        <p:nvSpPr>
          <p:cNvPr id="97" name="Google Shape;97;p18"/>
          <p:cNvSpPr txBox="1"/>
          <p:nvPr/>
        </p:nvSpPr>
        <p:spPr>
          <a:xfrm>
            <a:off x="60250" y="2945750"/>
            <a:ext cx="44832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New in Claude Managed Agents: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dreaming</a:t>
            </a:r>
            <a:r>
              <a:rPr lang="en" sz="1200">
                <a:solidFill>
                  <a:schemeClr val="dk1"/>
                </a:solidFill>
                <a:latin typeface="Calibri"/>
                <a:ea typeface="Calibri"/>
                <a:cs typeface="Calibri"/>
                <a:sym typeface="Calibri"/>
              </a:rPr>
              <a:t> - a scheduled background process periodically reviews past sessions for an agent, looks for patterns in successes/failures, and then curates or compresses those into higher-quality memories (infinite context windows)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outcomes</a:t>
            </a:r>
            <a:r>
              <a:rPr lang="en" sz="1200">
                <a:solidFill>
                  <a:schemeClr val="dk1"/>
                </a:solidFill>
                <a:latin typeface="Calibri"/>
                <a:ea typeface="Calibri"/>
                <a:cs typeface="Calibri"/>
                <a:sym typeface="Calibri"/>
              </a:rPr>
              <a:t> - "goal + spec → graded loop → acceptable outcome"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multiagent orchestration</a:t>
            </a:r>
            <a:r>
              <a:rPr lang="en" sz="1200">
                <a:solidFill>
                  <a:schemeClr val="dk1"/>
                </a:solidFill>
                <a:latin typeface="Calibri"/>
                <a:ea typeface="Calibri"/>
                <a:cs typeface="Calibri"/>
                <a:sym typeface="Calibri"/>
              </a:rPr>
              <a:t> - coordinator agent spawns additional session threads at runtime, each mapped to a specialist agent with its own isolated conversation history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https://claude.com/blog/new-in-claude-managed-agents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9"/>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6.68K subscribers, 283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b="1">
                <a:solidFill>
                  <a:srgbClr val="FF0000"/>
                </a:solidFill>
                <a:latin typeface="Calibri"/>
                <a:ea typeface="Calibri"/>
                <a:cs typeface="Calibri"/>
                <a:sym typeface="Calibri"/>
              </a:rPr>
              <a:t>3. 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03" name="Google Shape;103;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6233650" y="80363"/>
            <a:ext cx="2541900" cy="49827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09" name="Google Shape;109;p20"/>
          <p:cNvSpPr txBox="1"/>
          <p:nvPr/>
        </p:nvSpPr>
        <p:spPr>
          <a:xfrm>
            <a:off x="138925" y="499275"/>
            <a:ext cx="43830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Perplexity Workflows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feature within Perplexity Computer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https://www.perplexity.ai/computer/workflows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10" name="Google Shape;110;p20"/>
          <p:cNvSpPr txBox="1"/>
          <p:nvPr/>
        </p:nvSpPr>
        <p:spPr>
          <a:xfrm>
            <a:off x="138925" y="1396514"/>
            <a:ext cx="4383000" cy="3343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Miscellaneous AI news</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4"/>
              </a:rPr>
              <a:t>https://www.youtube.com/watch?v=qDI4odijz44</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Nvidia Nemotron 3 Nano Omni </a:t>
            </a:r>
            <a:r>
              <a:rPr lang="en" sz="1200">
                <a:solidFill>
                  <a:schemeClr val="dk1"/>
                </a:solidFill>
                <a:latin typeface="Calibri"/>
                <a:ea typeface="Calibri"/>
                <a:cs typeface="Calibri"/>
                <a:sym typeface="Calibri"/>
              </a:rPr>
              <a:t>- open-weight - vision, audio, and language - for local use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Poolside AI - </a:t>
            </a:r>
            <a:r>
              <a:rPr lang="en" sz="1200" b="1">
                <a:solidFill>
                  <a:srgbClr val="3C78D8"/>
                </a:solidFill>
                <a:latin typeface="Calibri"/>
                <a:ea typeface="Calibri"/>
                <a:cs typeface="Calibri"/>
                <a:sym typeface="Calibri"/>
              </a:rPr>
              <a:t>Laguna XS2 open-weight, 33B params and Laguna M1 225B params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Alibaba Qwen Image 2.0 Pro</a:t>
            </a:r>
            <a:r>
              <a:rPr lang="en" sz="1200">
                <a:solidFill>
                  <a:schemeClr val="dk1"/>
                </a:solidFill>
                <a:latin typeface="Calibri"/>
                <a:ea typeface="Calibri"/>
                <a:cs typeface="Calibri"/>
                <a:sym typeface="Calibri"/>
              </a:rPr>
              <a:t> - ranked 9th on the Arena leaderboard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xAI ThinkFast 1.0 - low-latency voice model</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China Blocks Meta $2Bln Acquisition of Manus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Gemini can now generate and export PDFs, DOCX, XLSX files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Google Translate AI-powered pronunciation practice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11 Labs Music - discovering, creating, remixing AI-generated music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Spotify added green checkmarks for real human artists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Mayo Clinic developed an </a:t>
            </a:r>
            <a:r>
              <a:rPr lang="en" sz="1200" b="1">
                <a:solidFill>
                  <a:srgbClr val="3C78D8"/>
                </a:solidFill>
                <a:latin typeface="Calibri"/>
                <a:ea typeface="Calibri"/>
                <a:cs typeface="Calibri"/>
                <a:sym typeface="Calibri"/>
              </a:rPr>
              <a:t>AI model that can detect pancreatic cancer on CT scans up to 3 years before a clinical diagnosis is typically possible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5"/>
              </a:rPr>
              <a:t>https://x.com/MayoClinic/status/2049536242929590709</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11" name="Google Shape;111;p20"/>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27200" y="336925"/>
            <a:ext cx="2882050" cy="712600"/>
          </a:xfrm>
          <a:prstGeom prst="rect">
            <a:avLst/>
          </a:prstGeom>
          <a:noFill/>
          <a:ln w="9525" cap="flat" cmpd="sng">
            <a:solidFill>
              <a:srgbClr val="FF0000"/>
            </a:solidFill>
            <a:prstDash val="solid"/>
            <a:round/>
            <a:headEnd type="none" w="sm" len="sm"/>
            <a:tailEnd type="none" w="sm" len="sm"/>
          </a:ln>
        </p:spPr>
      </p:pic>
      <p:pic>
        <p:nvPicPr>
          <p:cNvPr id="112" name="Google Shape;112;p2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78150" y="2219127"/>
            <a:ext cx="3671849" cy="20598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1"/>
          <p:cNvSpPr txBox="1"/>
          <p:nvPr/>
        </p:nvSpPr>
        <p:spPr>
          <a:xfrm>
            <a:off x="81776" y="40050"/>
            <a:ext cx="2271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OpenClaw Updates</a:t>
            </a:r>
            <a:endParaRPr sz="2000" b="1">
              <a:solidFill>
                <a:schemeClr val="dk1"/>
              </a:solidFill>
              <a:latin typeface="Calibri"/>
              <a:ea typeface="Calibri"/>
              <a:cs typeface="Calibri"/>
              <a:sym typeface="Calibri"/>
            </a:endParaRPr>
          </a:p>
        </p:txBody>
      </p:sp>
      <p:sp>
        <p:nvSpPr>
          <p:cNvPr id="118" name="Google Shape;118;p21"/>
          <p:cNvSpPr txBox="1"/>
          <p:nvPr/>
        </p:nvSpPr>
        <p:spPr>
          <a:xfrm>
            <a:off x="100600" y="426525"/>
            <a:ext cx="4459200" cy="289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https://github.com/openclaw/openclaw</a:t>
            </a:r>
            <a:r>
              <a:rPr lang="en" sz="1100">
                <a:solidFill>
                  <a:schemeClr val="dk1"/>
                </a:solidFill>
                <a:latin typeface="Calibri"/>
                <a:ea typeface="Calibri"/>
                <a:cs typeface="Calibri"/>
                <a:sym typeface="Calibri"/>
              </a:rPr>
              <a:t>  - 369K stars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https://github.com/openclaw/openclaw/releases</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v2026.5.5 (May 6) — Feishu/LINE/Telegram/Matrix/Discord messaging fixes; xAI Grok reasoning effort fixes; iOS LAN pairing improvements; TUI + gateway + Control UI reliability hardening.</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v2026.5.4 (May 5) — Google Meet/Twilio realtime Gemini voice bridge; Slack Block Kit progress drafts; OpenRouter caching + attribution; Control UI improvements; plugin + gateway reliability fixes.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v2026.5.3 (May 3) — CalVer correction build; plugin API range + registry recovery fixes; update channel and install source handling fixes.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v2026.5.2 (May 2) — Plugin install/update/doctor repair (npm cutover, stale installs, beta fallback); leaner gateway + agent hot paths; WhatsApp Newsletter targets; Signal/Telegram/Slack/SearXNG fixes; dep refresh.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v2026.5.1 (May 1) — External plugin npm-first cutover with ClawHub metadata; plugin runtime scoping + hot-path caching; Grok 4.3 as default xAI model; Google Meet room controls; messaging + Control UI fixes.</a:t>
            </a:r>
            <a:endParaRPr sz="1100">
              <a:solidFill>
                <a:schemeClr val="dk1"/>
              </a:solidFill>
              <a:latin typeface="Calibri"/>
              <a:ea typeface="Calibri"/>
              <a:cs typeface="Calibri"/>
              <a:sym typeface="Calibri"/>
            </a:endParaRPr>
          </a:p>
        </p:txBody>
      </p:sp>
      <p:pic>
        <p:nvPicPr>
          <p:cNvPr id="119" name="Google Shape;119;p21"/>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799550" y="426525"/>
            <a:ext cx="2857500" cy="675250"/>
          </a:xfrm>
          <a:prstGeom prst="rect">
            <a:avLst/>
          </a:prstGeom>
          <a:noFill/>
          <a:ln w="9525" cap="flat" cmpd="sng">
            <a:solidFill>
              <a:srgbClr val="FF0000"/>
            </a:solidFill>
            <a:prstDash val="solid"/>
            <a:round/>
            <a:headEnd type="none" w="sm" len="sm"/>
            <a:tailEnd type="none" w="sm" len="sm"/>
          </a:ln>
        </p:spPr>
      </p:pic>
      <p:sp>
        <p:nvSpPr>
          <p:cNvPr id="120" name="Google Shape;120;p21"/>
          <p:cNvSpPr txBox="1"/>
          <p:nvPr/>
        </p:nvSpPr>
        <p:spPr>
          <a:xfrm>
            <a:off x="4634500" y="1483800"/>
            <a:ext cx="4459200" cy="15423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After 100 days using OpenClaw and Hermes AI agents, the author is shifting away from building on unreliable foundations.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OpenClaw, despite offering powerful capabilities like machine control and autonomous scheduling, constantly breaks with updates, creating daily frustrations for users.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While it introduced revolutionary features that allowed AI to work independently, its instability stems from being built on broken architecture that should be rewritten from scratch.</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6"/>
              </a:rPr>
              <a:t>https://www.youtube.com/watch?v=XZXRg18Ofi8</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21" name="Google Shape;121;p21"/>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53250" y="3189675"/>
            <a:ext cx="4021707" cy="18126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27" name="Google Shape;127;p22"/>
          <p:cNvSpPr txBox="1"/>
          <p:nvPr/>
        </p:nvSpPr>
        <p:spPr>
          <a:xfrm>
            <a:off x="81775" y="394075"/>
            <a:ext cx="4383000" cy="2188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Curator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Instead of users picking agents, tools, and models themselves, Curator automatically analyzes tasks, selects the best agents for each job, and runs them in sequence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open-source platform works with any AI model and dramatically reduces task completion time from 30 minutes to 5 minutes by picking the right agents immediately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system has three main components: a task reader, agent picker, and runner that learns from usage.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Curator works with Hermes' Kanban feature, breaking complex jobs into smaller cards and assigning appropriate agents automatically.</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https://hermes-agent.nousresearch.com/docs/user-guide/features/curator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28" name="Google Shape;128;p22"/>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08075" y="999950"/>
            <a:ext cx="2394550" cy="814650"/>
          </a:xfrm>
          <a:prstGeom prst="rect">
            <a:avLst/>
          </a:prstGeom>
          <a:noFill/>
          <a:ln w="9525" cap="flat" cmpd="sng">
            <a:solidFill>
              <a:srgbClr val="FF0000"/>
            </a:solidFill>
            <a:prstDash val="solid"/>
            <a:round/>
            <a:headEnd type="none" w="sm" len="sm"/>
            <a:tailEnd type="none" w="sm" len="sm"/>
          </a:ln>
        </p:spPr>
      </p:pic>
      <p:sp>
        <p:nvSpPr>
          <p:cNvPr id="129" name="Google Shape;129;p22"/>
          <p:cNvSpPr txBox="1"/>
          <p:nvPr/>
        </p:nvSpPr>
        <p:spPr>
          <a:xfrm>
            <a:off x="81775" y="2645100"/>
            <a:ext cx="50742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No AI Agent Orchestration Needed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https://arxiv.org/abs/2604.27891</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"In-Context Prompting Obsoletes Agent Orchestration for Procedural Tasks"</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Multi-agent frameworks like LangGraph and CrewAI may actually hurt performance rather than help.</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The researchers compared orchestrated multi-agent systems against simple in-context learning approaches using Claude 4.5.</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Findings: providing the entire procedural flowchart in a single system prompt consistently outperformed orchestrated approaches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Frontier AI models have become sophisticated enough to handle complex procedures holistically without external scaffolding, which can fragment reasoning and introduce failure modes</a:t>
            </a:r>
            <a:endParaRPr sz="1200">
              <a:solidFill>
                <a:schemeClr val="dk1"/>
              </a:solidFill>
              <a:latin typeface="Calibri"/>
              <a:ea typeface="Calibri"/>
              <a:cs typeface="Calibri"/>
              <a:sym typeface="Calibri"/>
            </a:endParaRPr>
          </a:p>
        </p:txBody>
      </p:sp>
      <p:pic>
        <p:nvPicPr>
          <p:cNvPr id="130" name="Google Shape;130;p22"/>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805792" y="2190750"/>
            <a:ext cx="2205800" cy="2851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3"/>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36" name="Google Shape;136;p23"/>
          <p:cNvSpPr txBox="1"/>
          <p:nvPr/>
        </p:nvSpPr>
        <p:spPr>
          <a:xfrm>
            <a:off x="95282" y="618200"/>
            <a:ext cx="4383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Harness more important than the model</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Stanford research reveals that the same model can </a:t>
            </a:r>
            <a:r>
              <a:rPr lang="en" sz="1200" b="1">
                <a:solidFill>
                  <a:srgbClr val="FF0000"/>
                </a:solidFill>
                <a:latin typeface="Calibri"/>
                <a:ea typeface="Calibri"/>
                <a:cs typeface="Calibri"/>
                <a:sym typeface="Calibri"/>
              </a:rPr>
              <a:t>show 6 (six)  times performance gaps depending on its harness.</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A harness is the architecture that turns a model into an agent, giving it abilities to take actions and persist until problems are solved.</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a:solidFill>
                  <a:schemeClr val="dk1"/>
                </a:solidFill>
                <a:latin typeface="Calibri"/>
                <a:ea typeface="Calibri"/>
                <a:cs typeface="Calibri"/>
                <a:sym typeface="Calibri"/>
              </a:rPr>
              <a:t>When agents underperform, audit the harness first rather than switching models.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rgbClr val="3C78D8"/>
              </a:buClr>
              <a:buSzPts val="900"/>
              <a:buFont typeface="Calibri"/>
              <a:buChar char="●"/>
            </a:pPr>
            <a:r>
              <a:rPr lang="en" sz="1200" b="1">
                <a:solidFill>
                  <a:srgbClr val="3C78D8"/>
                </a:solidFill>
                <a:latin typeface="Calibri"/>
                <a:ea typeface="Calibri"/>
                <a:cs typeface="Calibri"/>
                <a:sym typeface="Calibri"/>
              </a:rPr>
              <a:t>The critical insight is the "subtraction principle" - as models improve, successful harness engineering involves removing unnecessary components rather than adding complexity.</a:t>
            </a:r>
            <a:endParaRPr sz="1200" b="1">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1200" u="sng">
                <a:solidFill>
                  <a:schemeClr val="hlink"/>
                </a:solidFill>
                <a:latin typeface="Calibri"/>
                <a:ea typeface="Calibri"/>
                <a:cs typeface="Calibri"/>
                <a:sym typeface="Calibri"/>
                <a:hlinkClick r:id="rId3"/>
              </a:rPr>
              <a:t>https://arxiv.org/abs/2603.25723</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https://arxiv.org/abs/2603.28052</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37" name="Google Shape;137;p2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43900" y="737700"/>
            <a:ext cx="3071374" cy="2047575"/>
          </a:xfrm>
          <a:prstGeom prst="rect">
            <a:avLst/>
          </a:prstGeom>
          <a:noFill/>
          <a:ln w="9525" cap="flat" cmpd="sng">
            <a:solidFill>
              <a:srgbClr val="FF0000"/>
            </a:solidFill>
            <a:prstDash val="solid"/>
            <a:round/>
            <a:headEnd type="none" w="sm" len="sm"/>
            <a:tailEnd type="none" w="sm" len="sm"/>
          </a:ln>
        </p:spPr>
      </p:pic>
      <p:sp>
        <p:nvSpPr>
          <p:cNvPr id="138" name="Google Shape;138;p23"/>
          <p:cNvSpPr txBox="1"/>
          <p:nvPr/>
        </p:nvSpPr>
        <p:spPr>
          <a:xfrm>
            <a:off x="81775" y="3270951"/>
            <a:ext cx="43581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InsForge - Backend for AI Coding Agents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https://github.com/InsForge/InsForge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https://x.com/akshay_pachaar/status/2051589749689962949</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 used 3x fewer tokens with one change: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Before: 10.4M tokens · 10 errors · $9.21</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 After: 3.7M tokens · 0 errors · $2.81</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Used Insforge Skills + CLI as the backend context engineering layer for Claude Code (open-source and local).</a:t>
            </a:r>
            <a:endParaRPr sz="1200">
              <a:solidFill>
                <a:schemeClr val="dk1"/>
              </a:solidFill>
              <a:latin typeface="Calibri"/>
              <a:ea typeface="Calibri"/>
              <a:cs typeface="Calibri"/>
              <a:sym typeface="Calibri"/>
            </a:endParaRPr>
          </a:p>
        </p:txBody>
      </p:sp>
      <p:pic>
        <p:nvPicPr>
          <p:cNvPr id="139" name="Google Shape;139;p23"/>
          <p:cNvPicPr preferRelativeResize="0"/>
          <p:nvPr/>
        </p:nvPicPr>
        <p:blipFill rotWithShape="1">
          <a:blip r:embed="rId8" cstate="email">
            <a:alphaModFix/>
            <a:extLst>
              <a:ext uri="{28A0092B-C50C-407E-A947-70E740481C1C}">
                <a14:useLocalDpi xmlns:a14="http://schemas.microsoft.com/office/drawing/2010/main"/>
              </a:ext>
            </a:extLst>
          </a:blip>
          <a:srcRect/>
          <a:stretch/>
        </p:blipFill>
        <p:spPr>
          <a:xfrm>
            <a:off x="4643900" y="3579726"/>
            <a:ext cx="4399324" cy="878549"/>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4"/>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45" name="Google Shape;145;p24"/>
          <p:cNvSpPr txBox="1"/>
          <p:nvPr/>
        </p:nvSpPr>
        <p:spPr>
          <a:xfrm>
            <a:off x="66707" y="427700"/>
            <a:ext cx="4383000" cy="1865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Deepmind AI co-clinician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https://deepmind.google/blog/ai-co-clinician/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Co-Clinician is designed to work collaboratively alongside physicians assisting with tasks like patient history collection, diagnostic reasoning, and examination guidance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It is built on technologies like Gemini and Project Astra, and in testing it recorded zero critical errors in 97 out of 98 cases, matching or exceeding primary care doctors in nearly half of consultation areas assessed in a joint simulation study with Harvard Medical School and Stanford Medicine</a:t>
            </a:r>
            <a:endParaRPr sz="1200">
              <a:solidFill>
                <a:schemeClr val="dk1"/>
              </a:solidFill>
              <a:latin typeface="Calibri"/>
              <a:ea typeface="Calibri"/>
              <a:cs typeface="Calibri"/>
              <a:sym typeface="Calibri"/>
            </a:endParaRPr>
          </a:p>
        </p:txBody>
      </p:sp>
      <p:sp>
        <p:nvSpPr>
          <p:cNvPr id="146" name="Google Shape;146;p24"/>
          <p:cNvSpPr txBox="1"/>
          <p:nvPr/>
        </p:nvSpPr>
        <p:spPr>
          <a:xfrm>
            <a:off x="66707" y="2408900"/>
            <a:ext cx="43830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TradingAgents - </a:t>
            </a:r>
            <a:r>
              <a:rPr lang="en" sz="1200">
                <a:solidFill>
                  <a:schemeClr val="dk1"/>
                </a:solidFill>
                <a:latin typeface="Calibri"/>
                <a:ea typeface="Calibri"/>
                <a:cs typeface="Calibri"/>
                <a:sym typeface="Calibri"/>
              </a:rPr>
              <a:t>Open-source multi-agent LLM framework that </a:t>
            </a:r>
            <a:r>
              <a:rPr lang="en" sz="1200" b="1">
                <a:solidFill>
                  <a:srgbClr val="FF0000"/>
                </a:solidFill>
                <a:latin typeface="Calibri"/>
                <a:ea typeface="Calibri"/>
                <a:cs typeface="Calibri"/>
                <a:sym typeface="Calibri"/>
              </a:rPr>
              <a:t>simulates a Wall Street trading firm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Has specialized AI agents covering fundamental, sentiment, news, and technical analysis, plus debating Bull/Bear researchers, a trader agent, a risk management team, and a portfolio manager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Originally a UCLA/MIT research paper, it is built on LangGraph with full decision traceability, checkpoint resume, and support for major LLM providers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project has surpassed 53,000 GitHub stars and serves as a clean reference architecture for multi-agent AI systems, though it is intended for research use only due to significant token costs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https://github.com/TauricResearch/TradingAgents</a:t>
            </a:r>
            <a:endParaRPr sz="1200">
              <a:solidFill>
                <a:schemeClr val="dk1"/>
              </a:solidFill>
              <a:latin typeface="Calibri"/>
              <a:ea typeface="Calibri"/>
              <a:cs typeface="Calibri"/>
              <a:sym typeface="Calibri"/>
            </a:endParaRPr>
          </a:p>
        </p:txBody>
      </p:sp>
      <p:pic>
        <p:nvPicPr>
          <p:cNvPr id="147" name="Google Shape;147;p2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602100" y="137825"/>
            <a:ext cx="1835650" cy="2155275"/>
          </a:xfrm>
          <a:prstGeom prst="rect">
            <a:avLst/>
          </a:prstGeom>
          <a:noFill/>
          <a:ln w="9525" cap="flat" cmpd="sng">
            <a:solidFill>
              <a:srgbClr val="FF0000"/>
            </a:solidFill>
            <a:prstDash val="solid"/>
            <a:round/>
            <a:headEnd type="none" w="sm" len="sm"/>
            <a:tailEnd type="none" w="sm" len="sm"/>
          </a:ln>
        </p:spPr>
      </p:pic>
      <p:pic>
        <p:nvPicPr>
          <p:cNvPr id="148" name="Google Shape;148;p2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02101" y="2408900"/>
            <a:ext cx="3963692" cy="22350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5"/>
          <p:cNvSpPr txBox="1"/>
          <p:nvPr/>
        </p:nvSpPr>
        <p:spPr>
          <a:xfrm>
            <a:off x="81775" y="0"/>
            <a:ext cx="43581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Superpowers Agentic Framework</a:t>
            </a:r>
            <a:endParaRPr sz="2000" b="1">
              <a:solidFill>
                <a:schemeClr val="dk1"/>
              </a:solidFill>
              <a:latin typeface="Calibri"/>
              <a:ea typeface="Calibri"/>
              <a:cs typeface="Calibri"/>
              <a:sym typeface="Calibri"/>
            </a:endParaRPr>
          </a:p>
        </p:txBody>
      </p:sp>
      <p:sp>
        <p:nvSpPr>
          <p:cNvPr id="154" name="Google Shape;154;p25"/>
          <p:cNvSpPr txBox="1"/>
          <p:nvPr/>
        </p:nvSpPr>
        <p:spPr>
          <a:xfrm>
            <a:off x="81775" y="415200"/>
            <a:ext cx="43581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Superpowers is an agentic framework and software development methodology designed to transition AI coding from "vibe coding" to professional engineering</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Developed by Jesse Vincent</a:t>
            </a:r>
            <a:r>
              <a:rPr lang="en" sz="1200">
                <a:solidFill>
                  <a:schemeClr val="dk1"/>
                </a:solidFill>
                <a:latin typeface="Calibri"/>
                <a:ea typeface="Calibri"/>
                <a:cs typeface="Calibri"/>
                <a:sym typeface="Calibri"/>
              </a:rPr>
              <a:t>, it provides a suite of </a:t>
            </a:r>
            <a:r>
              <a:rPr lang="en" sz="1200" b="1">
                <a:solidFill>
                  <a:srgbClr val="6AA84F"/>
                </a:solidFill>
                <a:latin typeface="Calibri"/>
                <a:ea typeface="Calibri"/>
                <a:cs typeface="Calibri"/>
                <a:sym typeface="Calibri"/>
              </a:rPr>
              <a:t>composable skills for tools like Claude Code and Codex</a:t>
            </a:r>
            <a:r>
              <a:rPr lang="en" sz="1200">
                <a:solidFill>
                  <a:schemeClr val="dk1"/>
                </a:solidFill>
                <a:latin typeface="Calibri"/>
                <a:ea typeface="Calibri"/>
                <a:cs typeface="Calibri"/>
                <a:sym typeface="Calibri"/>
              </a:rPr>
              <a:t>, enforcing rigorous standards through a structured workflow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process begins with Socratic brainstorming to define specs, followed by granular task planning and strict </a:t>
            </a:r>
            <a:r>
              <a:rPr lang="en" sz="1200" b="1">
                <a:solidFill>
                  <a:srgbClr val="3C78D8"/>
                </a:solidFill>
                <a:latin typeface="Calibri"/>
                <a:ea typeface="Calibri"/>
                <a:cs typeface="Calibri"/>
                <a:sym typeface="Calibri"/>
              </a:rPr>
              <a:t>Test-Driven Development (TDD)</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framework utilizes </a:t>
            </a:r>
            <a:r>
              <a:rPr lang="en" sz="1200" b="1">
                <a:solidFill>
                  <a:srgbClr val="3C78D8"/>
                </a:solidFill>
                <a:latin typeface="Calibri"/>
                <a:ea typeface="Calibri"/>
                <a:cs typeface="Calibri"/>
                <a:sym typeface="Calibri"/>
              </a:rPr>
              <a:t>sub-agent orchestration</a:t>
            </a:r>
            <a:r>
              <a:rPr lang="en" sz="1200">
                <a:solidFill>
                  <a:schemeClr val="dk1"/>
                </a:solidFill>
                <a:latin typeface="Calibri"/>
                <a:ea typeface="Calibri"/>
                <a:cs typeface="Calibri"/>
                <a:sym typeface="Calibri"/>
              </a:rPr>
              <a:t> to isolate tasks, preventing context rot and ensuring code quality through independent reviews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Additionally, the superpowers-lab repository offers </a:t>
            </a:r>
            <a:r>
              <a:rPr lang="en" sz="1200" b="1">
                <a:solidFill>
                  <a:srgbClr val="3C78D8"/>
                </a:solidFill>
                <a:latin typeface="Calibri"/>
                <a:ea typeface="Calibri"/>
                <a:cs typeface="Calibri"/>
                <a:sym typeface="Calibri"/>
              </a:rPr>
              <a:t>experimental features like interactive tmux control and headless Windows VMs</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prioritizing management, intent, and systematic verification, Superpowers enables developers to build complex, high-fidelity software with significantly reduced hallucinations and technical debt.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https://github.com/obra/superpowers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https://github.com/obra/superpowers-lab</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https://www.youtube.com/watch?v=TX91PdBn_IA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https://www.youtube.com/watch?v=wtzzWyrEY_A</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https://www.youtube.com/watch?v=7cOAayWzYDY</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55" name="Google Shape;155;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554175" y="415200"/>
            <a:ext cx="1442175" cy="1442175"/>
          </a:xfrm>
          <a:prstGeom prst="rect">
            <a:avLst/>
          </a:prstGeom>
          <a:noFill/>
          <a:ln w="9525" cap="flat" cmpd="sng">
            <a:solidFill>
              <a:srgbClr val="FF0000"/>
            </a:solidFill>
            <a:prstDash val="solid"/>
            <a:round/>
            <a:headEnd type="none" w="sm" len="sm"/>
            <a:tailEnd type="none" w="sm" len="sm"/>
          </a:ln>
        </p:spPr>
      </p:pic>
      <p:sp>
        <p:nvSpPr>
          <p:cNvPr id="156" name="Google Shape;156;p25"/>
          <p:cNvSpPr txBox="1"/>
          <p:nvPr/>
        </p:nvSpPr>
        <p:spPr>
          <a:xfrm>
            <a:off x="4577913" y="1929675"/>
            <a:ext cx="13947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sz="1200" b="1">
                <a:solidFill>
                  <a:schemeClr val="dk1"/>
                </a:solidFill>
                <a:latin typeface="Calibri"/>
                <a:ea typeface="Calibri"/>
                <a:cs typeface="Calibri"/>
                <a:sym typeface="Calibri"/>
              </a:rPr>
              <a:t>Jesse Vincent</a:t>
            </a:r>
            <a:endParaRPr sz="1200" b="1">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6"/>
          <p:cNvSpPr txBox="1"/>
          <p:nvPr/>
        </p:nvSpPr>
        <p:spPr>
          <a:xfrm>
            <a:off x="81775" y="67675"/>
            <a:ext cx="4414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Andre Karpathy - talk at Sequoia </a:t>
            </a:r>
            <a:endParaRPr sz="2000" b="1">
              <a:solidFill>
                <a:schemeClr val="dk1"/>
              </a:solidFill>
              <a:latin typeface="Calibri"/>
              <a:ea typeface="Calibri"/>
              <a:cs typeface="Calibri"/>
              <a:sym typeface="Calibri"/>
            </a:endParaRPr>
          </a:p>
        </p:txBody>
      </p:sp>
      <p:sp>
        <p:nvSpPr>
          <p:cNvPr id="162" name="Google Shape;162;p26"/>
          <p:cNvSpPr txBox="1"/>
          <p:nvPr/>
        </p:nvSpPr>
        <p:spPr>
          <a:xfrm>
            <a:off x="138925" y="469601"/>
            <a:ext cx="6237600" cy="4420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Andre Karpathy (co-founder of OpenAI and former Tesla Autopilot lead) talk at Sequoia's annual AI event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https://www.youtube.com/watch?v=96jN2OCOfLs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4"/>
              </a:rPr>
              <a:t>https://www.youtube.com/watch?v=pngC-TH8M0U</a:t>
            </a:r>
            <a:r>
              <a:rPr lang="en" sz="1100">
                <a:solidFill>
                  <a:schemeClr val="dk1"/>
                </a:solidFill>
                <a:latin typeface="Calibri"/>
                <a:ea typeface="Calibri"/>
                <a:cs typeface="Calibri"/>
                <a:sym typeface="Calibri"/>
              </a:rPr>
              <a:t> - Matt Berman comments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Software 1.0 was explicit human-written code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Software 2.0 involved programming by arranging datasets for neural networks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Software 3.0 treats LLMs as a new computing platform; programming shifts to prompting and managing the context window (the "RAM" of this new system)</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Vibe Coding - a term coined by Karpathy - just describe the intent - model will code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Verifiability: The Secret to AI "Smartness". Karpathy explains that AI automates domains faster when the output is verifiable. Code and Math are highly verifiable (you can run code to see if it works), which is why models excel there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Jaggedness: a model can refactor a million lines of code but fail to count letters in "strawberry". If a task isn't easily verifiable or wasn't a priority for Reinforcement Learning (RL), the model's performance "stagnates"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The "Bitter Lesson": human heuristics (rules) lose to end-to-end neural networks trained on data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Example: Tesla's transition from human-coded driving rules to a pure neural network approach significantly improved performance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Agentic Engineering vs. Vibe Coding</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Vibe Coding "raises the floor," allowing anyone to build software without deep technical knowledge</a:t>
            </a:r>
            <a:endParaRPr sz="1100">
              <a:solidFill>
                <a:schemeClr val="dk1"/>
              </a:solidFill>
              <a:latin typeface="Calibri"/>
              <a:ea typeface="Calibri"/>
              <a:cs typeface="Calibri"/>
              <a:sym typeface="Calibri"/>
            </a:endParaRPr>
          </a:p>
          <a:p>
            <a:pPr marL="4000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Agentic Engineering "raises the ceiling," enabling professional engineers to orchestrate swarms of agents to maintain high quality and massive productivity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Karpathy suggests that while we can outsource "thinking" to AI, we cannot outsource understanding or taste.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Humans will move to a higher layer of abstraction, acting as "orchestrators" who provide oversight and aesthetic judgment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Internet needs to be rebuilt for agents</a:t>
            </a:r>
            <a:endParaRPr sz="1100">
              <a:solidFill>
                <a:schemeClr val="dk1"/>
              </a:solidFill>
              <a:latin typeface="Calibri"/>
              <a:ea typeface="Calibri"/>
              <a:cs typeface="Calibri"/>
              <a:sym typeface="Calibri"/>
            </a:endParaRPr>
          </a:p>
        </p:txBody>
      </p:sp>
      <p:pic>
        <p:nvPicPr>
          <p:cNvPr id="163" name="Google Shape;163;p2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471025" y="482149"/>
            <a:ext cx="2527501" cy="266998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7"/>
          <p:cNvSpPr txBox="1"/>
          <p:nvPr/>
        </p:nvSpPr>
        <p:spPr>
          <a:xfrm>
            <a:off x="81775" y="67675"/>
            <a:ext cx="4418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Boris Cherny: Why Coding Is Solved</a:t>
            </a:r>
            <a:endParaRPr sz="2000" b="1">
              <a:solidFill>
                <a:schemeClr val="dk1"/>
              </a:solidFill>
              <a:latin typeface="Calibri"/>
              <a:ea typeface="Calibri"/>
              <a:cs typeface="Calibri"/>
              <a:sym typeface="Calibri"/>
            </a:endParaRPr>
          </a:p>
        </p:txBody>
      </p:sp>
      <p:sp>
        <p:nvSpPr>
          <p:cNvPr id="169" name="Google Shape;169;p27"/>
          <p:cNvSpPr txBox="1"/>
          <p:nvPr/>
        </p:nvSpPr>
        <p:spPr>
          <a:xfrm>
            <a:off x="138925" y="469600"/>
            <a:ext cx="43617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Boris Cherny: Why Coding Is Solved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https://www.youtube.com/watch?v=SlGRN8jh2RI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Boris Cherny is creator of Claude's coding assistant Claude Code at Anthropic</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accidentally created Claude Code in late 2024 as part of Anthropic Labs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Claude Code gained exponential growth starting with the Opus 4 model release in May 2025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Cherny now writes 100% of his code using AI agents, managing hundreds of concurrent agents from his phone and using automated "loops" that continuously maintain his codebase, fix CI issues, and process feedback</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predicts coding will become as democratized as literacy after the printing press, enabling anyone to build software regardless of technical background</a:t>
            </a:r>
            <a:endParaRPr sz="1200">
              <a:solidFill>
                <a:schemeClr val="dk1"/>
              </a:solidFill>
              <a:latin typeface="Calibri"/>
              <a:ea typeface="Calibri"/>
              <a:cs typeface="Calibri"/>
              <a:sym typeface="Calibri"/>
            </a:endParaRPr>
          </a:p>
        </p:txBody>
      </p:sp>
      <p:pic>
        <p:nvPicPr>
          <p:cNvPr id="170" name="Google Shape;170;p27"/>
          <p:cNvPicPr preferRelativeResize="0"/>
          <p:nvPr/>
        </p:nvPicPr>
        <p:blipFill>
          <a:blip r:embed="rId4">
            <a:alphaModFix/>
          </a:blip>
          <a:stretch>
            <a:fillRect/>
          </a:stretch>
        </p:blipFill>
        <p:spPr>
          <a:xfrm>
            <a:off x="4749650" y="972863"/>
            <a:ext cx="3183175" cy="17825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8"/>
          <p:cNvSpPr txBox="1"/>
          <p:nvPr/>
        </p:nvSpPr>
        <p:spPr>
          <a:xfrm>
            <a:off x="81775" y="67675"/>
            <a:ext cx="28518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How Claude Code Works</a:t>
            </a:r>
            <a:endParaRPr sz="2000" b="1">
              <a:solidFill>
                <a:schemeClr val="dk1"/>
              </a:solidFill>
              <a:latin typeface="Calibri"/>
              <a:ea typeface="Calibri"/>
              <a:cs typeface="Calibri"/>
              <a:sym typeface="Calibri"/>
            </a:endParaRPr>
          </a:p>
        </p:txBody>
      </p:sp>
      <p:sp>
        <p:nvSpPr>
          <p:cNvPr id="176" name="Google Shape;176;p28"/>
          <p:cNvSpPr txBox="1"/>
          <p:nvPr/>
        </p:nvSpPr>
        <p:spPr>
          <a:xfrm>
            <a:off x="120159" y="451509"/>
            <a:ext cx="4361700" cy="3897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build a coding agent like Claude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https://www.youtube.com/watch?v=VpetwCa7-eM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Core Agent Loop:</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each agent "turn" takes a user request, inspects the repository context, selects relevant tools, runs the model, stores the transcript (including intermediate thinking), and either reports back or keeps looping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Components: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Repository mapper - scans the project, ignores .git, caches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Identifies entry points, test files, renders a short summary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Core tools: file ops (read, edit, write); run bash; describe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Search tools - glob (find files by name pattern), grep (search file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contents by regex), and read file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Permission system (read-only, workspace write, full access)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Runtime guard that validates tool calls before execution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Plan mode - for risky or multi-file tasks; the agent drafts a plan</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with steps, waits for user approval, then executes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Todo list tool - model breaks tasks into a structured to-do list</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with pending/in-progress/completed states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Session &amp; transcript - persistent conversation stored as JSON Lines, supporting append without rewriting the whole file</a:t>
            </a:r>
            <a:endParaRPr sz="1200">
              <a:solidFill>
                <a:schemeClr val="dk1"/>
              </a:solidFill>
              <a:latin typeface="Calibri"/>
              <a:ea typeface="Calibri"/>
              <a:cs typeface="Calibri"/>
              <a:sym typeface="Calibri"/>
            </a:endParaRPr>
          </a:p>
        </p:txBody>
      </p:sp>
      <p:sp>
        <p:nvSpPr>
          <p:cNvPr id="177" name="Google Shape;177;p28"/>
          <p:cNvSpPr txBox="1"/>
          <p:nvPr/>
        </p:nvSpPr>
        <p:spPr>
          <a:xfrm>
            <a:off x="4635791" y="2387192"/>
            <a:ext cx="43617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Context compaction /compact command; summarizes old messages and keeps recent ones intact to manage context length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Streaming with tool use and stop signals handled as separate event types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CLI entry point - parses arguments, creates or resumes sessions tied to a workspace fingerprint, builds the runtime, runs a turn, and prints the final answer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Design Philosophy: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runtime coordinates 4 concerns - session memory, the LLM client, tool executor, and permission policy - without mixing their logic.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Model providers are kept interchangeable; the loop doesn't care which LLM is used. Tools are registered separately and routed by the executor.</a:t>
            </a:r>
            <a:endParaRPr sz="1200">
              <a:solidFill>
                <a:schemeClr val="dk1"/>
              </a:solidFill>
              <a:latin typeface="Calibri"/>
              <a:ea typeface="Calibri"/>
              <a:cs typeface="Calibri"/>
              <a:sym typeface="Calibri"/>
            </a:endParaRPr>
          </a:p>
        </p:txBody>
      </p:sp>
      <p:sp>
        <p:nvSpPr>
          <p:cNvPr id="178" name="Google Shape;178;p28"/>
          <p:cNvSpPr txBox="1"/>
          <p:nvPr/>
        </p:nvSpPr>
        <p:spPr>
          <a:xfrm>
            <a:off x="5225297" y="742127"/>
            <a:ext cx="30414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52400" algn="l" rtl="0">
              <a:lnSpc>
                <a:spcPct val="100000"/>
              </a:lnSpc>
              <a:spcBef>
                <a:spcPts val="0"/>
              </a:spcBef>
              <a:spcAft>
                <a:spcPts val="0"/>
              </a:spcAft>
              <a:buClr>
                <a:srgbClr val="3C78D8"/>
              </a:buClr>
              <a:buSzPts val="1500"/>
              <a:buFont typeface="Calibri"/>
              <a:buChar char="●"/>
            </a:pPr>
            <a:r>
              <a:rPr lang="en" sz="1500" b="1" i="1">
                <a:solidFill>
                  <a:srgbClr val="3C78D8"/>
                </a:solidFill>
                <a:latin typeface="Calibri"/>
                <a:ea typeface="Calibri"/>
                <a:cs typeface="Calibri"/>
                <a:sym typeface="Calibri"/>
              </a:rPr>
              <a:t>Same model, different harness, 6x the performance. </a:t>
            </a:r>
            <a:endParaRPr sz="1500" b="1" i="1">
              <a:solidFill>
                <a:srgbClr val="3C78D8"/>
              </a:solidFill>
              <a:latin typeface="Calibri"/>
              <a:ea typeface="Calibri"/>
              <a:cs typeface="Calibri"/>
              <a:sym typeface="Calibri"/>
            </a:endParaRPr>
          </a:p>
          <a:p>
            <a:pPr marL="171450" marR="0" lvl="0" indent="-152400" algn="l" rtl="0">
              <a:lnSpc>
                <a:spcPct val="100000"/>
              </a:lnSpc>
              <a:spcBef>
                <a:spcPts val="0"/>
              </a:spcBef>
              <a:spcAft>
                <a:spcPts val="0"/>
              </a:spcAft>
              <a:buClr>
                <a:srgbClr val="3C78D8"/>
              </a:buClr>
              <a:buSzPts val="1500"/>
              <a:buFont typeface="Calibri"/>
              <a:buChar char="●"/>
            </a:pPr>
            <a:r>
              <a:rPr lang="en" sz="1500" b="1" i="1">
                <a:solidFill>
                  <a:srgbClr val="3C78D8"/>
                </a:solidFill>
                <a:latin typeface="Calibri"/>
                <a:ea typeface="Calibri"/>
                <a:cs typeface="Calibri"/>
                <a:sym typeface="Calibri"/>
              </a:rPr>
              <a:t>Somewhere, a PM is adding 'Harness Engineer' to LinkedIn.</a:t>
            </a:r>
            <a:endParaRPr sz="1500" b="1" i="1">
              <a:solidFill>
                <a:srgbClr val="3C78D8"/>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9"/>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Video &amp; Audio</a:t>
            </a:r>
            <a:endParaRPr sz="2000" b="1">
              <a:solidFill>
                <a:schemeClr val="dk1"/>
              </a:solidFill>
              <a:latin typeface="Calibri"/>
              <a:ea typeface="Calibri"/>
              <a:cs typeface="Calibri"/>
              <a:sym typeface="Calibri"/>
            </a:endParaRPr>
          </a:p>
        </p:txBody>
      </p:sp>
      <p:sp>
        <p:nvSpPr>
          <p:cNvPr id="184" name="Google Shape;184;p29"/>
          <p:cNvSpPr txBox="1"/>
          <p:nvPr/>
        </p:nvSpPr>
        <p:spPr>
          <a:xfrm>
            <a:off x="84158" y="428494"/>
            <a:ext cx="4383000" cy="2419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Higgsfield AI - Cinematic AI Videos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Higgsfield AI is a very fast growing startup. Founded in 2023 by Alex Mashrabov, the former Head of Generative AI at Snap, the San Francisco-based company officially became a unicorn in January 2026 after raising $80 million in a Series A extension, bringing its total Series A to $130 million and its valuation to over $1.3 billion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Produce short-form, cinematic AI videos and images from simple text prompts, product links, or visuals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Uses top AI models including Sora 2, Kling 3.0, Veo 3.1, and OpenAI's GPT-4.1/GPT-5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Generates 4 Mln videos per day</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https://higgsfield.ai</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https://openai.com/index/higgsfield/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85" name="Google Shape;185;p29"/>
          <p:cNvPicPr preferRelativeResize="0"/>
          <p:nvPr/>
        </p:nvPicPr>
        <p:blipFill rotWithShape="1">
          <a:blip r:embed="rId5" cstate="email">
            <a:alphaModFix/>
            <a:extLst>
              <a:ext uri="{28A0092B-C50C-407E-A947-70E740481C1C}">
                <a14:useLocalDpi xmlns:a14="http://schemas.microsoft.com/office/drawing/2010/main"/>
              </a:ext>
            </a:extLst>
          </a:blip>
          <a:srcRect/>
          <a:stretch/>
        </p:blipFill>
        <p:spPr>
          <a:xfrm>
            <a:off x="4619550" y="1143000"/>
            <a:ext cx="2952750" cy="790575"/>
          </a:xfrm>
          <a:prstGeom prst="rect">
            <a:avLst/>
          </a:prstGeom>
          <a:noFill/>
          <a:ln w="9525" cap="flat" cmpd="sng">
            <a:solidFill>
              <a:srgbClr val="FF0000"/>
            </a:solidFill>
            <a:prstDash val="solid"/>
            <a:round/>
            <a:headEnd type="none" w="sm" len="sm"/>
            <a:tailEnd type="none" w="sm" len="sm"/>
          </a:ln>
        </p:spPr>
      </p:pic>
      <p:sp>
        <p:nvSpPr>
          <p:cNvPr id="186" name="Google Shape;186;p29"/>
          <p:cNvSpPr txBox="1"/>
          <p:nvPr/>
        </p:nvSpPr>
        <p:spPr>
          <a:xfrm>
            <a:off x="84158" y="2980294"/>
            <a:ext cx="43830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Suno AI Music Generation</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Startup founded in 2023 in Cambridge, Massachusetts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 text prompts to generate songs - vocals, lyrics, instrumentation. Free credits cover ~ 10 songs/day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100 Mln users, generates 7+ Mln songs per day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Annualized revenue is more than $300 Mln, valuation $5 Bln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Suno faces ongoing lawsuits from major record labels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https://suno.com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https://en.wikipedia.org/wiki/Suno_(platform)</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187" name="Google Shape;187;p29"/>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45050" y="3671570"/>
            <a:ext cx="2727250" cy="670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0"/>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193" name="Google Shape;193;p30"/>
          <p:cNvSpPr txBox="1"/>
          <p:nvPr/>
        </p:nvSpPr>
        <p:spPr>
          <a:xfrm>
            <a:off x="84158" y="428494"/>
            <a:ext cx="43830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Copilot Actions and Cowork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Require Microsoft 365 business/enterprise subscriptions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Schedule meetings, send emails, perform tasks using your work data; Co-work functions as an advanced agent that can handle complex assignments like event planning by researching information, scheduling meetings, creating documents, and managing multi-step workflows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https://www.youtube.com/watch?v=tl4cJO_itZ4</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94" name="Google Shape;194;p30"/>
          <p:cNvSpPr txBox="1"/>
          <p:nvPr/>
        </p:nvSpPr>
        <p:spPr>
          <a:xfrm>
            <a:off x="84158" y="2438269"/>
            <a:ext cx="43830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Hermes Agent "goals" system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Users can assign autonomous tasks that run independently in the background, with an AI judge verifying completion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"swarm mode" allows multiple AI agents to work simultaneously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https://www.youtube.com/watch?v=9GxvfazA-Bg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195" name="Google Shape;195;p30"/>
          <p:cNvSpPr txBox="1"/>
          <p:nvPr/>
        </p:nvSpPr>
        <p:spPr>
          <a:xfrm>
            <a:off x="84158" y="3772294"/>
            <a:ext cx="43830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Remy competes with OpenClaw</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https://www.youtube.com/watch?v=nov9uoIQt6g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Cloud based, works with Gmail, Docs, Calendar, Drive, and Search</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Operates continuously in the background</a:t>
            </a:r>
            <a:endParaRPr sz="1200">
              <a:solidFill>
                <a:schemeClr val="dk1"/>
              </a:solidFill>
              <a:latin typeface="Calibri"/>
              <a:ea typeface="Calibri"/>
              <a:cs typeface="Calibri"/>
              <a:sym typeface="Calibri"/>
            </a:endParaRPr>
          </a:p>
        </p:txBody>
      </p:sp>
      <p:sp>
        <p:nvSpPr>
          <p:cNvPr id="196" name="Google Shape;196;p30"/>
          <p:cNvSpPr txBox="1"/>
          <p:nvPr/>
        </p:nvSpPr>
        <p:spPr>
          <a:xfrm>
            <a:off x="84158" y="4612894"/>
            <a:ext cx="43830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GPT 4.5 Instant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Now ChatGPT's default model, 52% fewer hallucinations</a:t>
            </a:r>
            <a:endParaRPr sz="1200">
              <a:solidFill>
                <a:schemeClr val="dk1"/>
              </a:solidFill>
              <a:latin typeface="Calibri"/>
              <a:ea typeface="Calibri"/>
              <a:cs typeface="Calibri"/>
              <a:sym typeface="Calibri"/>
            </a:endParaRPr>
          </a:p>
        </p:txBody>
      </p:sp>
      <p:sp>
        <p:nvSpPr>
          <p:cNvPr id="197" name="Google Shape;197;p30"/>
          <p:cNvSpPr txBox="1"/>
          <p:nvPr/>
        </p:nvSpPr>
        <p:spPr>
          <a:xfrm>
            <a:off x="84158" y="1981632"/>
            <a:ext cx="43830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Codex CLI's new "/goal" feature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add "goals = true" to Codex CLI config file</a:t>
            </a:r>
            <a:endParaRPr sz="1200">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1"/>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a:t>
            </a:r>
            <a:endParaRPr sz="2000" b="1">
              <a:solidFill>
                <a:schemeClr val="dk1"/>
              </a:solidFill>
              <a:latin typeface="Calibri"/>
              <a:ea typeface="Calibri"/>
              <a:cs typeface="Calibri"/>
              <a:sym typeface="Calibri"/>
            </a:endParaRPr>
          </a:p>
        </p:txBody>
      </p:sp>
      <p:sp>
        <p:nvSpPr>
          <p:cNvPr id="203" name="Google Shape;203;p31"/>
          <p:cNvSpPr txBox="1"/>
          <p:nvPr/>
        </p:nvSpPr>
        <p:spPr>
          <a:xfrm>
            <a:off x="84158" y="428494"/>
            <a:ext cx="4383000" cy="2096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HyperFrames open-source HTML-to-video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By HeyGen, released in April 2026, Apache 2.0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Developers and AI agents can create videos by writing standard HTML, CSS, and JavaScript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Renders compositions into deterministic, frame-by-frame MP4 files using headless Chrome and FFmpeg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Works with Claude Code, since every LLM already knows how to write HTML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Has tools for TTS, transcription, and background removal</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3"/>
              </a:rPr>
              <a:t>https://hyperframes.heygen.com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4"/>
              </a:rPr>
              <a:t>https://hyperframes.mintlify.app/introduction</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https://hyperframes.mintlify.app/guides/prompting</a:t>
            </a:r>
            <a:endParaRPr sz="900">
              <a:solidFill>
                <a:schemeClr val="dk1"/>
              </a:solidFill>
              <a:latin typeface="Calibri"/>
              <a:ea typeface="Calibri"/>
              <a:cs typeface="Calibri"/>
              <a:sym typeface="Calibri"/>
            </a:endParaRPr>
          </a:p>
        </p:txBody>
      </p:sp>
      <p:sp>
        <p:nvSpPr>
          <p:cNvPr id="204" name="Google Shape;204;p31"/>
          <p:cNvSpPr txBox="1"/>
          <p:nvPr/>
        </p:nvSpPr>
        <p:spPr>
          <a:xfrm>
            <a:off x="84158" y="2838594"/>
            <a:ext cx="4383000" cy="126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Unity AI in open beta for  Unity 6 developers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An agentic assistant with two modes - Ask and Agent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Can write C# scripts, generate 2D/3D assets, sprites, textures, animations, audio, and UI layouts directly inside the editor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Supports vision models, Git-integrated code diffing, and an MCP server for connecting external AI tools</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https://discussions.unity.com/t/unity-ai-s-open-beta-now-live-for-unity-6/1718560</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p:nvPr/>
        </p:nvSpPr>
        <p:spPr>
          <a:xfrm>
            <a:off x="81775" y="67675"/>
            <a:ext cx="25275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Zed Editor vs VSCode</a:t>
            </a:r>
            <a:endParaRPr sz="2000" b="1">
              <a:solidFill>
                <a:schemeClr val="dk1"/>
              </a:solidFill>
              <a:latin typeface="Calibri"/>
              <a:ea typeface="Calibri"/>
              <a:cs typeface="Calibri"/>
              <a:sym typeface="Calibri"/>
            </a:endParaRPr>
          </a:p>
        </p:txBody>
      </p:sp>
      <p:sp>
        <p:nvSpPr>
          <p:cNvPr id="210" name="Google Shape;210;p32"/>
          <p:cNvSpPr txBox="1"/>
          <p:nvPr/>
        </p:nvSpPr>
        <p:spPr>
          <a:xfrm>
            <a:off x="84158" y="428494"/>
            <a:ext cx="43830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Zed Editor vs VS Code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VS Code is a mature, Electron-based editor with a massive extension ecosystem, excellent Python/debugging tools, and deep customization - but it is heavier on memory and CPU</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Zed is built in Rust with GPU rendering, making it noticeably faster and more responsive, with lower memory usage</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Zed has Claude AI built in natively, solid MCP support, and real-time collaboration out of the box</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But Zed's extension library is smaller, its debugger is still maturing, and Markdown preview is less polished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For AI-first, speed-focused development, Zed is compelling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For full-featured Python debugging and rich extensions, VS Code still leads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3"/>
              </a:rPr>
              <a:t>https://zed.dev</a:t>
            </a:r>
            <a:r>
              <a:rPr lang="en" sz="1200">
                <a:solidFill>
                  <a:schemeClr val="dk1"/>
                </a:solidFill>
                <a:latin typeface="Calibri"/>
                <a:ea typeface="Calibri"/>
                <a:cs typeface="Calibri"/>
                <a:sym typeface="Calibri"/>
              </a:rPr>
              <a:t> ; </a:t>
            </a:r>
            <a:r>
              <a:rPr lang="en" sz="1200" u="sng">
                <a:solidFill>
                  <a:schemeClr val="hlink"/>
                </a:solidFill>
                <a:latin typeface="Calibri"/>
                <a:ea typeface="Calibri"/>
                <a:cs typeface="Calibri"/>
                <a:sym typeface="Calibri"/>
                <a:hlinkClick r:id="rId4"/>
              </a:rPr>
              <a:t>https://zed.dev/docs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https://github.com/zed-industries/zed</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1" name="Google Shape;211;p32"/>
          <p:cNvPicPr preferRelativeResize="0"/>
          <p:nvPr/>
        </p:nvPicPr>
        <p:blipFill>
          <a:blip r:embed="rId6">
            <a:alphaModFix/>
          </a:blip>
          <a:stretch>
            <a:fillRect/>
          </a:stretch>
        </p:blipFill>
        <p:spPr>
          <a:xfrm>
            <a:off x="5104708" y="322667"/>
            <a:ext cx="3351375" cy="1883050"/>
          </a:xfrm>
          <a:prstGeom prst="rect">
            <a:avLst/>
          </a:prstGeom>
          <a:noFill/>
          <a:ln w="9525" cap="flat" cmpd="sng">
            <a:solidFill>
              <a:srgbClr val="FF0000"/>
            </a:solidFill>
            <a:prstDash val="solid"/>
            <a:round/>
            <a:headEnd type="none" w="sm" len="sm"/>
            <a:tailEnd type="none" w="sm" len="sm"/>
          </a:ln>
        </p:spPr>
      </p:pic>
      <p:sp>
        <p:nvSpPr>
          <p:cNvPr id="212" name="Google Shape;212;p32"/>
          <p:cNvSpPr txBox="1"/>
          <p:nvPr/>
        </p:nvSpPr>
        <p:spPr>
          <a:xfrm>
            <a:off x="4635025" y="2270017"/>
            <a:ext cx="4445400" cy="2789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GitHub's </a:t>
            </a:r>
            <a:r>
              <a:rPr lang="en" sz="1200" b="1">
                <a:solidFill>
                  <a:srgbClr val="FF0000"/>
                </a:solidFill>
                <a:latin typeface="Calibri"/>
                <a:ea typeface="Calibri"/>
                <a:cs typeface="Calibri"/>
                <a:sym typeface="Calibri"/>
              </a:rPr>
              <a:t>Nathan Sobo</a:t>
            </a:r>
            <a:r>
              <a:rPr lang="en" sz="1200">
                <a:solidFill>
                  <a:schemeClr val="dk1"/>
                </a:solidFill>
                <a:latin typeface="Calibri"/>
                <a:ea typeface="Calibri"/>
                <a:cs typeface="Calibri"/>
                <a:sym typeface="Calibri"/>
              </a:rPr>
              <a:t> began building Atom in 2011 as a "hackable" open-source editor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Atom</a:t>
            </a:r>
            <a:r>
              <a:rPr lang="en" sz="1200">
                <a:solidFill>
                  <a:schemeClr val="dk1"/>
                </a:solidFill>
                <a:latin typeface="Calibri"/>
                <a:ea typeface="Calibri"/>
                <a:cs typeface="Calibri"/>
                <a:sym typeface="Calibri"/>
              </a:rPr>
              <a:t> launched publicly in 2014 and reached 1.3 million downloads by 2015</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Along the way, the team inadvertently created the </a:t>
            </a:r>
            <a:r>
              <a:rPr lang="en" sz="1200" b="1">
                <a:solidFill>
                  <a:srgbClr val="FF0000"/>
                </a:solidFill>
                <a:latin typeface="Calibri"/>
                <a:ea typeface="Calibri"/>
                <a:cs typeface="Calibri"/>
                <a:sym typeface="Calibri"/>
              </a:rPr>
              <a:t>Electron framework</a:t>
            </a:r>
            <a:r>
              <a:rPr lang="en" sz="1200">
                <a:solidFill>
                  <a:schemeClr val="dk1"/>
                </a:solidFill>
                <a:latin typeface="Calibri"/>
                <a:ea typeface="Calibri"/>
                <a:cs typeface="Calibri"/>
                <a:sym typeface="Calibri"/>
              </a:rPr>
              <a:t> and </a:t>
            </a:r>
            <a:r>
              <a:rPr lang="en" sz="1200" b="1">
                <a:solidFill>
                  <a:srgbClr val="FF0000"/>
                </a:solidFill>
                <a:latin typeface="Calibri"/>
                <a:ea typeface="Calibri"/>
                <a:cs typeface="Calibri"/>
                <a:sym typeface="Calibri"/>
              </a:rPr>
              <a:t>Tree-sitter parser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After Microsoft acquired GitHub in 2018, focus shifted to VS Code, and </a:t>
            </a:r>
            <a:r>
              <a:rPr lang="en" sz="1200" b="1">
                <a:solidFill>
                  <a:srgbClr val="3C78D8"/>
                </a:solidFill>
                <a:latin typeface="Calibri"/>
                <a:ea typeface="Calibri"/>
                <a:cs typeface="Calibri"/>
                <a:sym typeface="Calibri"/>
              </a:rPr>
              <a:t>Atom was officially retired on December 15, 2022</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6AA84F"/>
                </a:solidFill>
                <a:latin typeface="Calibri"/>
                <a:ea typeface="Calibri"/>
                <a:cs typeface="Calibri"/>
                <a:sym typeface="Calibri"/>
              </a:rPr>
              <a:t>Sobo and his Atom co-creators then founded Zed</a:t>
            </a:r>
            <a:r>
              <a:rPr lang="en" sz="1200">
                <a:solidFill>
                  <a:schemeClr val="dk1"/>
                </a:solidFill>
                <a:latin typeface="Calibri"/>
                <a:ea typeface="Calibri"/>
                <a:cs typeface="Calibri"/>
                <a:sym typeface="Calibri"/>
              </a:rPr>
              <a:t> Industries, rebuilding editor from scratch </a:t>
            </a:r>
            <a:r>
              <a:rPr lang="en" sz="1200" b="1">
                <a:solidFill>
                  <a:srgbClr val="6AA84F"/>
                </a:solidFill>
                <a:latin typeface="Calibri"/>
                <a:ea typeface="Calibri"/>
                <a:cs typeface="Calibri"/>
                <a:sym typeface="Calibri"/>
              </a:rPr>
              <a:t>in Rust with GPU</a:t>
            </a:r>
            <a:r>
              <a:rPr lang="en" sz="1200">
                <a:solidFill>
                  <a:schemeClr val="dk1"/>
                </a:solidFill>
                <a:latin typeface="Calibri"/>
                <a:ea typeface="Calibri"/>
                <a:cs typeface="Calibri"/>
                <a:sym typeface="Calibri"/>
              </a:rPr>
              <a:t>-accelerated rendering</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Zed was launched publicly in 2023, open-sourced in 2024, raised $32 Mln  in 2025, hit version 1.0 in April 2026</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https://en.wikipedia.org/wiki/Atom_(text_editor)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8"/>
              </a:rPr>
              <a:t>https://en.wikipedia.org/wiki/Zed_(text_editor)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13" name="Google Shape;213;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749887" y="3252025"/>
            <a:ext cx="3706688" cy="18533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3"/>
          <p:cNvSpPr txBox="1"/>
          <p:nvPr/>
        </p:nvSpPr>
        <p:spPr>
          <a:xfrm>
            <a:off x="81775" y="67675"/>
            <a:ext cx="434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Jujutsu Version Control</a:t>
            </a:r>
            <a:endParaRPr sz="2000" b="1">
              <a:solidFill>
                <a:schemeClr val="dk1"/>
              </a:solidFill>
              <a:latin typeface="Calibri"/>
              <a:ea typeface="Calibri"/>
              <a:cs typeface="Calibri"/>
              <a:sym typeface="Calibri"/>
            </a:endParaRPr>
          </a:p>
        </p:txBody>
      </p:sp>
      <p:sp>
        <p:nvSpPr>
          <p:cNvPr id="219" name="Google Shape;219;p33"/>
          <p:cNvSpPr txBox="1"/>
          <p:nvPr/>
        </p:nvSpPr>
        <p:spPr>
          <a:xfrm>
            <a:off x="105825" y="455100"/>
            <a:ext cx="4349700" cy="4266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Jujutsu—a version control system - </a:t>
            </a:r>
            <a:r>
              <a:rPr lang="en" sz="1200" u="sng">
                <a:solidFill>
                  <a:schemeClr val="hlink"/>
                </a:solidFill>
                <a:latin typeface="Calibri"/>
                <a:ea typeface="Calibri"/>
                <a:cs typeface="Calibri"/>
                <a:sym typeface="Calibri"/>
                <a:hlinkClick r:id="rId3"/>
              </a:rPr>
              <a:t>https://github.com/jj-vcs/jj</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Jujutsu ("jj") is a version control system (VCS) created by Martin von Zweigbergk at Google, designed as a modern alternative to Git with full Git compatibility</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Jujutsu separates the </a:t>
            </a:r>
            <a:r>
              <a:rPr lang="en" sz="1200" b="1">
                <a:solidFill>
                  <a:srgbClr val="FF0000"/>
                </a:solidFill>
                <a:latin typeface="Calibri"/>
                <a:ea typeface="Calibri"/>
                <a:cs typeface="Calibri"/>
                <a:sym typeface="Calibri"/>
              </a:rPr>
              <a:t>change ID</a:t>
            </a:r>
            <a:r>
              <a:rPr lang="en" sz="1200">
                <a:solidFill>
                  <a:schemeClr val="dk1"/>
                </a:solidFill>
                <a:latin typeface="Calibri"/>
                <a:ea typeface="Calibri"/>
                <a:cs typeface="Calibri"/>
                <a:sym typeface="Calibri"/>
              </a:rPr>
              <a:t> (stable across rewrites) from the </a:t>
            </a:r>
            <a:r>
              <a:rPr lang="en" sz="1200" b="1">
                <a:solidFill>
                  <a:srgbClr val="FF0000"/>
                </a:solidFill>
                <a:latin typeface="Calibri"/>
                <a:ea typeface="Calibri"/>
                <a:cs typeface="Calibri"/>
                <a:sym typeface="Calibri"/>
              </a:rPr>
              <a:t>commit ID</a:t>
            </a:r>
            <a:r>
              <a:rPr lang="en" sz="1200">
                <a:solidFill>
                  <a:schemeClr val="dk1"/>
                </a:solidFill>
                <a:latin typeface="Calibri"/>
                <a:ea typeface="Calibri"/>
                <a:cs typeface="Calibri"/>
                <a:sym typeface="Calibri"/>
              </a:rPr>
              <a:t> (changes with every rewrite)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allows "jj" to </a:t>
            </a:r>
            <a:r>
              <a:rPr lang="en" sz="1200" b="1">
                <a:solidFill>
                  <a:srgbClr val="FF0000"/>
                </a:solidFill>
                <a:latin typeface="Calibri"/>
                <a:ea typeface="Calibri"/>
                <a:cs typeface="Calibri"/>
                <a:sym typeface="Calibri"/>
              </a:rPr>
              <a:t>automatically rebase</a:t>
            </a:r>
            <a:r>
              <a:rPr lang="en" sz="1200">
                <a:solidFill>
                  <a:schemeClr val="dk1"/>
                </a:solidFill>
                <a:latin typeface="Calibri"/>
                <a:ea typeface="Calibri"/>
                <a:cs typeface="Calibri"/>
                <a:sym typeface="Calibri"/>
              </a:rPr>
              <a:t> all descendant commits whenever you amend any commit in history - </a:t>
            </a:r>
            <a:r>
              <a:rPr lang="en" sz="1200" u="sng">
                <a:solidFill>
                  <a:schemeClr val="hlink"/>
                </a:solidFill>
                <a:latin typeface="Calibri"/>
                <a:ea typeface="Calibri"/>
                <a:cs typeface="Calibri"/>
                <a:sym typeface="Calibri"/>
                <a:hlinkClick r:id="rId4"/>
              </a:rPr>
              <a:t>https://tonyfinn.com/blog/jj/</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The working copy is always a commit in "j"</a:t>
            </a:r>
            <a:r>
              <a:rPr lang="en" sz="1200">
                <a:solidFill>
                  <a:schemeClr val="dk1"/>
                </a:solidFill>
                <a:latin typeface="Calibri"/>
                <a:ea typeface="Calibri"/>
                <a:cs typeface="Calibri"/>
                <a:sym typeface="Calibri"/>
              </a:rPr>
              <a:t> . There's no staging area or index to manage. Every time a `jj` command runs, it snapshots the working copy automatically, meaning you never need to explicitly `git add` changes before committing - </a:t>
            </a:r>
            <a:r>
              <a:rPr lang="en" sz="1200" u="sng">
                <a:solidFill>
                  <a:schemeClr val="hlink"/>
                </a:solidFill>
                <a:latin typeface="Calibri"/>
                <a:ea typeface="Calibri"/>
                <a:cs typeface="Calibri"/>
                <a:sym typeface="Calibri"/>
                <a:hlinkClick r:id="rId5"/>
              </a:rPr>
              <a:t>h</a:t>
            </a:r>
            <a:r>
              <a:rPr lang="en" sz="1200" u="sng">
                <a:solidFill>
                  <a:schemeClr val="hlink"/>
                </a:solidFill>
                <a:latin typeface="Calibri"/>
                <a:ea typeface="Calibri"/>
                <a:cs typeface="Calibri"/>
                <a:sym typeface="Calibri"/>
                <a:hlinkClick r:id="rId5"/>
              </a:rPr>
              <a:t>ttps://news.ycombinator.com/item?id=42488112</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Modifying any ancestor commit automatically rebases all descendants, with conflict propagation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Conflicts are stored as commit metadata, letting you commit and share a conflicted state and resolve it later</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Every repo operation is recorded, so you can undo any action (not just the last one) or restore any previous state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No checkout/branch required: Use "jj new &lt;revision&gt;" to start working from any point; name it with "jj bookmark create" only when needed</a:t>
            </a:r>
            <a:endParaRPr sz="1200">
              <a:solidFill>
                <a:schemeClr val="dk1"/>
              </a:solidFill>
              <a:latin typeface="Calibri"/>
              <a:ea typeface="Calibri"/>
              <a:cs typeface="Calibri"/>
              <a:sym typeface="Calibri"/>
            </a:endParaRPr>
          </a:p>
        </p:txBody>
      </p:sp>
      <p:pic>
        <p:nvPicPr>
          <p:cNvPr id="220" name="Google Shape;220;p33"/>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921325" y="967300"/>
            <a:ext cx="1844500" cy="1844500"/>
          </a:xfrm>
          <a:prstGeom prst="rect">
            <a:avLst/>
          </a:prstGeom>
          <a:noFill/>
          <a:ln>
            <a:noFill/>
          </a:ln>
        </p:spPr>
      </p:pic>
      <p:sp>
        <p:nvSpPr>
          <p:cNvPr id="221" name="Google Shape;221;p33"/>
          <p:cNvSpPr txBox="1"/>
          <p:nvPr/>
        </p:nvSpPr>
        <p:spPr>
          <a:xfrm>
            <a:off x="4668725" y="3587775"/>
            <a:ext cx="43497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Safe force-push by default - equivalent to Git's "--force-with-lease", preventing accidental overwrites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`jj` works as a frontend on top of a Git repo. Coworkers see a normal Git repo and don't need to use "jj" at all. You can use it on any existing Git project without disrupting your team's workflow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VSCode extension "VisualJJ" - </a:t>
            </a:r>
            <a:r>
              <a:rPr lang="en" sz="1200" u="sng">
                <a:solidFill>
                  <a:schemeClr val="hlink"/>
                </a:solidFill>
                <a:latin typeface="Calibri"/>
                <a:ea typeface="Calibri"/>
                <a:cs typeface="Calibri"/>
                <a:sym typeface="Calibri"/>
                <a:hlinkClick r:id="rId7"/>
              </a:rPr>
              <a:t>https://visualjj.com</a:t>
            </a:r>
            <a:endParaRPr sz="12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4"/>
          <p:cNvSpPr txBox="1"/>
          <p:nvPr/>
        </p:nvSpPr>
        <p:spPr>
          <a:xfrm>
            <a:off x="81775" y="67675"/>
            <a:ext cx="434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Weave and Mergiraf - Better Merge</a:t>
            </a:r>
            <a:endParaRPr sz="2000" b="1">
              <a:solidFill>
                <a:schemeClr val="dk1"/>
              </a:solidFill>
              <a:latin typeface="Calibri"/>
              <a:ea typeface="Calibri"/>
              <a:cs typeface="Calibri"/>
              <a:sym typeface="Calibri"/>
            </a:endParaRPr>
          </a:p>
        </p:txBody>
      </p:sp>
      <p:sp>
        <p:nvSpPr>
          <p:cNvPr id="227" name="Google Shape;227;p34"/>
          <p:cNvSpPr txBox="1"/>
          <p:nvPr/>
        </p:nvSpPr>
        <p:spPr>
          <a:xfrm>
            <a:off x="105825" y="560933"/>
            <a:ext cx="43497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Weave and Mergiraf </a:t>
            </a:r>
            <a:r>
              <a:rPr lang="en" sz="1200">
                <a:solidFill>
                  <a:schemeClr val="dk1"/>
                </a:solidFill>
                <a:latin typeface="Calibri"/>
                <a:ea typeface="Calibri"/>
                <a:cs typeface="Calibri"/>
                <a:sym typeface="Calibri"/>
              </a:rPr>
              <a:t>are modern alternatives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to Git's default line-based merge strategy</a:t>
            </a:r>
            <a:endParaRPr sz="1200">
              <a:solidFill>
                <a:schemeClr val="dk1"/>
              </a:solidFill>
              <a:latin typeface="Calibri"/>
              <a:ea typeface="Calibri"/>
              <a:cs typeface="Calibri"/>
              <a:sym typeface="Calibri"/>
            </a:endParaRPr>
          </a:p>
        </p:txBody>
      </p:sp>
      <p:pic>
        <p:nvPicPr>
          <p:cNvPr id="228" name="Google Shape;228;p34"/>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544408" y="1518502"/>
            <a:ext cx="2006650" cy="697600"/>
          </a:xfrm>
          <a:prstGeom prst="rect">
            <a:avLst/>
          </a:prstGeom>
          <a:noFill/>
          <a:ln w="9525" cap="flat" cmpd="sng">
            <a:solidFill>
              <a:srgbClr val="FF0000"/>
            </a:solidFill>
            <a:prstDash val="solid"/>
            <a:round/>
            <a:headEnd type="none" w="sm" len="sm"/>
            <a:tailEnd type="none" w="sm" len="sm"/>
          </a:ln>
        </p:spPr>
      </p:pic>
      <p:pic>
        <p:nvPicPr>
          <p:cNvPr id="229" name="Google Shape;229;p34"/>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544408" y="3342128"/>
            <a:ext cx="2006709" cy="697600"/>
          </a:xfrm>
          <a:prstGeom prst="rect">
            <a:avLst/>
          </a:prstGeom>
          <a:noFill/>
          <a:ln w="9525" cap="flat" cmpd="sng">
            <a:solidFill>
              <a:srgbClr val="FF0000"/>
            </a:solidFill>
            <a:prstDash val="solid"/>
            <a:round/>
            <a:headEnd type="none" w="sm" len="sm"/>
            <a:tailEnd type="none" w="sm" len="sm"/>
          </a:ln>
        </p:spPr>
      </p:pic>
      <p:pic>
        <p:nvPicPr>
          <p:cNvPr id="230" name="Google Shape;230;p34"/>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640000" y="2825283"/>
            <a:ext cx="2413431" cy="1783049"/>
          </a:xfrm>
          <a:prstGeom prst="rect">
            <a:avLst/>
          </a:prstGeom>
          <a:noFill/>
          <a:ln w="9525" cap="flat" cmpd="sng">
            <a:solidFill>
              <a:srgbClr val="FF0000"/>
            </a:solidFill>
            <a:prstDash val="solid"/>
            <a:round/>
            <a:headEnd type="none" w="sm" len="sm"/>
            <a:tailEnd type="none" w="sm" len="sm"/>
          </a:ln>
        </p:spPr>
      </p:pic>
      <p:sp>
        <p:nvSpPr>
          <p:cNvPr id="231" name="Google Shape;231;p34"/>
          <p:cNvSpPr txBox="1"/>
          <p:nvPr/>
        </p:nvSpPr>
        <p:spPr>
          <a:xfrm>
            <a:off x="105825" y="1591942"/>
            <a:ext cx="43497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Mergiraf</a:t>
            </a:r>
            <a:r>
              <a:rPr lang="en" sz="1200">
                <a:solidFill>
                  <a:schemeClr val="dk1"/>
                </a:solidFill>
                <a:latin typeface="Calibri"/>
                <a:ea typeface="Calibri"/>
                <a:cs typeface="Calibri"/>
                <a:sym typeface="Calibri"/>
              </a:rPr>
              <a:t> parses the full syntax tree of your files and merges </a:t>
            </a:r>
            <a:br>
              <a:rPr lang="en" sz="1200">
                <a:solidFill>
                  <a:schemeClr val="dk1"/>
                </a:solidFill>
                <a:latin typeface="Calibri"/>
                <a:ea typeface="Calibri"/>
                <a:cs typeface="Calibri"/>
                <a:sym typeface="Calibri"/>
              </a:rPr>
            </a:br>
            <a:r>
              <a:rPr lang="en" sz="1200">
                <a:solidFill>
                  <a:schemeClr val="dk1"/>
                </a:solidFill>
                <a:latin typeface="Calibri"/>
                <a:ea typeface="Calibri"/>
                <a:cs typeface="Calibri"/>
                <a:sym typeface="Calibri"/>
              </a:rPr>
              <a:t>at the AST (Abstract Syntax Tree) level rather than line-by-line</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6"/>
              </a:rPr>
              <a:t>https://mergiraf.org</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
        <p:nvSpPr>
          <p:cNvPr id="232" name="Google Shape;232;p34"/>
          <p:cNvSpPr txBox="1"/>
          <p:nvPr/>
        </p:nvSpPr>
        <p:spPr>
          <a:xfrm>
            <a:off x="105825" y="2596083"/>
            <a:ext cx="43497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Weave</a:t>
            </a:r>
            <a:r>
              <a:rPr lang="en" sz="1200">
                <a:solidFill>
                  <a:schemeClr val="dk1"/>
                </a:solidFill>
                <a:latin typeface="Calibri"/>
                <a:ea typeface="Calibri"/>
                <a:cs typeface="Calibri"/>
                <a:sym typeface="Calibri"/>
              </a:rPr>
              <a:t> goes further with entity-level merging — it understands functions, classes, and methods as discrete units. Powered by tree-sitter parsing, it merges per-entity rather than per-line or even per-tree node, so two agents editing different functions in the same file always merge cleanly</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7"/>
              </a:rPr>
              <a:t>https://ataraxy-labs.github.io/weave/</a:t>
            </a:r>
            <a:r>
              <a:rPr lang="en" sz="1200">
                <a:solidFill>
                  <a:schemeClr val="dk1"/>
                </a:solidFill>
                <a:latin typeface="Calibri"/>
                <a:ea typeface="Calibri"/>
                <a:cs typeface="Calibri"/>
                <a:sym typeface="Calibri"/>
              </a:rPr>
              <a:t> </a:t>
            </a:r>
            <a:br>
              <a:rPr lang="en" sz="1200">
                <a:solidFill>
                  <a:schemeClr val="dk1"/>
                </a:solidFill>
                <a:latin typeface="Calibri"/>
                <a:ea typeface="Calibri"/>
                <a:cs typeface="Calibri"/>
                <a:sym typeface="Calibri"/>
              </a:rPr>
            </a:br>
            <a:r>
              <a:rPr lang="en" sz="1200" u="sng">
                <a:solidFill>
                  <a:schemeClr val="hlink"/>
                </a:solidFill>
                <a:latin typeface="Calibri"/>
                <a:ea typeface="Calibri"/>
                <a:cs typeface="Calibri"/>
                <a:sym typeface="Calibri"/>
                <a:hlinkClick r:id="rId8"/>
              </a:rPr>
              <a:t>https://github.com/Ataraxy-Labs/weave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Weave</a:t>
            </a:r>
            <a:r>
              <a:rPr lang="en" sz="1200">
                <a:solidFill>
                  <a:schemeClr val="dk1"/>
                </a:solidFill>
                <a:latin typeface="Calibri"/>
                <a:ea typeface="Calibri"/>
                <a:cs typeface="Calibri"/>
                <a:sym typeface="Calibri"/>
              </a:rPr>
              <a:t> is specifically designed with AI coding agents in mind (Cursor, Claude Code, Codex). It ships with an MCP server with 15 tools, letting agents claim entities before editing, check what others are touching, and preview merges before they happen</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3C78D8"/>
                </a:solidFill>
                <a:latin typeface="Calibri"/>
                <a:ea typeface="Calibri"/>
                <a:cs typeface="Calibri"/>
                <a:sym typeface="Calibri"/>
              </a:rPr>
              <a:t>brew install weave</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5"/>
          <p:cNvSpPr txBox="1"/>
          <p:nvPr/>
        </p:nvSpPr>
        <p:spPr>
          <a:xfrm>
            <a:off x="81775" y="67675"/>
            <a:ext cx="43497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Jack Dorsey Lays off 4K workers </a:t>
            </a:r>
            <a:endParaRPr sz="2000" b="1">
              <a:solidFill>
                <a:schemeClr val="dk1"/>
              </a:solidFill>
              <a:latin typeface="Calibri"/>
              <a:ea typeface="Calibri"/>
              <a:cs typeface="Calibri"/>
              <a:sym typeface="Calibri"/>
            </a:endParaRPr>
          </a:p>
        </p:txBody>
      </p:sp>
      <p:sp>
        <p:nvSpPr>
          <p:cNvPr id="238" name="Google Shape;238;p35"/>
          <p:cNvSpPr txBox="1"/>
          <p:nvPr/>
        </p:nvSpPr>
        <p:spPr>
          <a:xfrm>
            <a:off x="105825" y="447889"/>
            <a:ext cx="4349700" cy="2235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Julia McCoy discusses </a:t>
            </a:r>
            <a:r>
              <a:rPr lang="en" sz="1200" b="1">
                <a:solidFill>
                  <a:srgbClr val="FF0000"/>
                </a:solidFill>
                <a:latin typeface="Calibri"/>
                <a:ea typeface="Calibri"/>
                <a:cs typeface="Calibri"/>
                <a:sym typeface="Calibri"/>
              </a:rPr>
              <a:t>Jack Dorsey’s recent decision to lay off 4,000 employees, or 40% of his workforce</a:t>
            </a:r>
            <a:r>
              <a:rPr lang="en" sz="1200">
                <a:solidFill>
                  <a:schemeClr val="dk1"/>
                </a:solidFill>
                <a:latin typeface="Calibri"/>
                <a:ea typeface="Calibri"/>
                <a:cs typeface="Calibri"/>
                <a:sym typeface="Calibri"/>
              </a:rPr>
              <a:t>, after a three-week experiment proved that AI models like Claude and Codex could perform their roles effectively </a:t>
            </a:r>
            <a:r>
              <a:rPr lang="en" sz="1200" u="sng">
                <a:solidFill>
                  <a:schemeClr val="hlink"/>
                </a:solidFill>
                <a:latin typeface="Calibri"/>
                <a:ea typeface="Calibri"/>
                <a:cs typeface="Calibri"/>
                <a:sym typeface="Calibri"/>
                <a:hlinkClick r:id="rId3"/>
              </a:rPr>
              <a:t>http://www.youtube.com/watch?v=QGCKh_N6Ilo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rgbClr val="3C78D8"/>
              </a:buClr>
              <a:buSzPts val="1200"/>
              <a:buFont typeface="Calibri"/>
              <a:buChar char="●"/>
            </a:pPr>
            <a:r>
              <a:rPr lang="en" sz="1200" b="1">
                <a:solidFill>
                  <a:srgbClr val="3C78D8"/>
                </a:solidFill>
                <a:latin typeface="Calibri"/>
                <a:ea typeface="Calibri"/>
                <a:cs typeface="Calibri"/>
                <a:sym typeface="Calibri"/>
              </a:rPr>
              <a:t>Jack Dorsey is chairman (effectively CEO) of payments company Block, formerly known as Square. </a:t>
            </a:r>
            <a:endParaRPr sz="1200" b="1">
              <a:solidFill>
                <a:srgbClr val="3C78D8"/>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~50% of tech layoffs in early 2026 are directly attributed to AI</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To adapt, she advises business owners to:</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audit operations for AI integration</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shift from doing tasks to orchestrating AI agents</a:t>
            </a:r>
            <a:endParaRPr sz="1200">
              <a:solidFill>
                <a:schemeClr val="dk1"/>
              </a:solidFill>
              <a:latin typeface="Calibri"/>
              <a:ea typeface="Calibri"/>
              <a:cs typeface="Calibri"/>
              <a:sym typeface="Calibri"/>
            </a:endParaRPr>
          </a:p>
          <a:p>
            <a:pPr marL="4000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capitalize on the lowered costs of building new businesses </a:t>
            </a:r>
            <a:endParaRPr sz="1200">
              <a:solidFill>
                <a:schemeClr val="dk1"/>
              </a:solidFill>
              <a:latin typeface="Calibri"/>
              <a:ea typeface="Calibri"/>
              <a:cs typeface="Calibri"/>
              <a:sym typeface="Calibri"/>
            </a:endParaRPr>
          </a:p>
        </p:txBody>
      </p:sp>
      <p:pic>
        <p:nvPicPr>
          <p:cNvPr id="239" name="Google Shape;239;p35"/>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12700" y="560924"/>
            <a:ext cx="2059576" cy="1233699"/>
          </a:xfrm>
          <a:prstGeom prst="rect">
            <a:avLst/>
          </a:prstGeom>
          <a:noFill/>
          <a:ln w="9525" cap="flat" cmpd="sng">
            <a:solidFill>
              <a:srgbClr val="FF0000"/>
            </a:solidFill>
            <a:prstDash val="solid"/>
            <a:round/>
            <a:headEnd type="none" w="sm" len="sm"/>
            <a:tailEnd type="none" w="sm" len="sm"/>
          </a:ln>
        </p:spPr>
      </p:pic>
      <p:pic>
        <p:nvPicPr>
          <p:cNvPr id="240" name="Google Shape;240;p35"/>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922500" y="560925"/>
            <a:ext cx="1233700" cy="1233700"/>
          </a:xfrm>
          <a:prstGeom prst="rect">
            <a:avLst/>
          </a:prstGeom>
          <a:noFill/>
          <a:ln>
            <a:noFill/>
          </a:ln>
        </p:spPr>
      </p:pic>
      <p:sp>
        <p:nvSpPr>
          <p:cNvPr id="241" name="Google Shape;241;p35"/>
          <p:cNvSpPr txBox="1"/>
          <p:nvPr/>
        </p:nvSpPr>
        <p:spPr>
          <a:xfrm>
            <a:off x="6992225" y="1856325"/>
            <a:ext cx="1113300" cy="23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b="1">
                <a:solidFill>
                  <a:schemeClr val="dk1"/>
                </a:solidFill>
                <a:latin typeface="Calibri"/>
                <a:ea typeface="Calibri"/>
                <a:cs typeface="Calibri"/>
                <a:sym typeface="Calibri"/>
              </a:rPr>
              <a:t>Jack Dorsey</a:t>
            </a:r>
            <a:endParaRPr b="1">
              <a:solidFill>
                <a:schemeClr val="dk1"/>
              </a:solidFill>
              <a:latin typeface="Calibri"/>
              <a:ea typeface="Calibri"/>
              <a:cs typeface="Calibri"/>
              <a:sym typeface="Calibri"/>
            </a:endParaRPr>
          </a:p>
        </p:txBody>
      </p:sp>
      <p:sp>
        <p:nvSpPr>
          <p:cNvPr id="242" name="Google Shape;242;p35"/>
          <p:cNvSpPr txBox="1"/>
          <p:nvPr/>
        </p:nvSpPr>
        <p:spPr>
          <a:xfrm>
            <a:off x="5156013" y="1856325"/>
            <a:ext cx="1186500" cy="23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None/>
            </a:pPr>
            <a:r>
              <a:rPr lang="en" b="1">
                <a:solidFill>
                  <a:schemeClr val="dk1"/>
                </a:solidFill>
                <a:latin typeface="Calibri"/>
                <a:ea typeface="Calibri"/>
                <a:cs typeface="Calibri"/>
                <a:sym typeface="Calibri"/>
              </a:rPr>
              <a:t>Julia McCoy</a:t>
            </a:r>
            <a:endParaRPr b="1">
              <a:solidFill>
                <a:schemeClr val="dk1"/>
              </a:solidFill>
              <a:latin typeface="Calibri"/>
              <a:ea typeface="Calibri"/>
              <a:cs typeface="Calibri"/>
              <a:sym typeface="Calibri"/>
            </a:endParaRPr>
          </a:p>
        </p:txBody>
      </p:sp>
      <p:sp>
        <p:nvSpPr>
          <p:cNvPr id="243" name="Google Shape;243;p35"/>
          <p:cNvSpPr txBox="1"/>
          <p:nvPr/>
        </p:nvSpPr>
        <p:spPr>
          <a:xfrm>
            <a:off x="100825" y="2827164"/>
            <a:ext cx="4349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Ex-Google Exec Mo Gawdat on How to Position Yourself</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https://www.youtube.com/watch?v=E0Q96IKXx6Q</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Warns of a 10-12 year period of economic and social upheaval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will eliminate many jobs within 2-3 years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AI startup took just 6 weeks to build versus the 4 years it would have required in 2022</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Key survival skills: </a:t>
            </a:r>
            <a:r>
              <a:rPr lang="en" sz="1200" b="1">
                <a:solidFill>
                  <a:srgbClr val="3C78D8"/>
                </a:solidFill>
                <a:latin typeface="Calibri"/>
                <a:ea typeface="Calibri"/>
                <a:cs typeface="Calibri"/>
                <a:sym typeface="Calibri"/>
              </a:rPr>
              <a:t>master AI as a tool, develop extreme agility for rapid pivoting, maintain strong ethics in AI development, and critically question all information to avoid manipulation</a:t>
            </a:r>
            <a:r>
              <a:rPr lang="en" sz="1200">
                <a:solidFill>
                  <a:schemeClr val="dk1"/>
                </a:solidFill>
                <a:latin typeface="Calibri"/>
                <a:ea typeface="Calibri"/>
                <a:cs typeface="Calibri"/>
                <a:sym typeface="Calibri"/>
              </a:rPr>
              <a: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He believes entrepreneurship will shift from long-term strategic planning to daily reactive agility.</a:t>
            </a:r>
            <a:endParaRPr sz="1200">
              <a:solidFill>
                <a:schemeClr val="dk1"/>
              </a:solidFill>
              <a:latin typeface="Calibri"/>
              <a:ea typeface="Calibri"/>
              <a:cs typeface="Calibri"/>
              <a:sym typeface="Calibri"/>
            </a:endParaRPr>
          </a:p>
        </p:txBody>
      </p:sp>
      <p:pic>
        <p:nvPicPr>
          <p:cNvPr id="244" name="Google Shape;244;p35"/>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607925" y="3152150"/>
            <a:ext cx="1233700" cy="1233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6"/>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250" name="Google Shape;250;p36"/>
          <p:cNvSpPr txBox="1"/>
          <p:nvPr/>
        </p:nvSpPr>
        <p:spPr>
          <a:xfrm>
            <a:off x="2134467" y="34252"/>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sp>
        <p:nvSpPr>
          <p:cNvPr id="251" name="Google Shape;251;p36"/>
          <p:cNvSpPr txBox="1"/>
          <p:nvPr/>
        </p:nvSpPr>
        <p:spPr>
          <a:xfrm>
            <a:off x="5367150" y="3435238"/>
            <a:ext cx="33606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200" b="1">
                <a:solidFill>
                  <a:srgbClr val="FF0000"/>
                </a:solidFill>
                <a:latin typeface="Calibri"/>
                <a:ea typeface="Calibri"/>
                <a:cs typeface="Calibri"/>
                <a:sym typeface="Calibri"/>
              </a:rPr>
              <a:t>  Tech Layoffs by year (US only):</a:t>
            </a:r>
            <a:endParaRPr sz="1200" b="1">
              <a:solidFill>
                <a:srgbClr val="FF0000"/>
              </a:solidFill>
              <a:latin typeface="Calibri"/>
              <a:ea typeface="Calibri"/>
              <a:cs typeface="Calibri"/>
              <a:sym typeface="Calibri"/>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92.3K  in 2026 </a:t>
            </a:r>
            <a:r>
              <a:rPr lang="en" sz="1000" b="1">
                <a:solidFill>
                  <a:schemeClr val="dk1"/>
                </a:solidFill>
                <a:latin typeface="Roboto Mono"/>
                <a:ea typeface="Roboto Mono"/>
                <a:cs typeface="Roboto Mono"/>
                <a:sym typeface="Roboto Mono"/>
              </a:rPr>
              <a:t>(as of May 1, 2026)</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124K in 2025 </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153K in </a:t>
            </a:r>
            <a:r>
              <a:rPr lang="en" sz="1000" b="1">
                <a:solidFill>
                  <a:srgbClr val="000000"/>
                </a:solidFill>
                <a:latin typeface="Roboto Mono"/>
                <a:ea typeface="Roboto Mono"/>
                <a:cs typeface="Roboto Mono"/>
                <a:sym typeface="Roboto Mono"/>
              </a:rPr>
              <a:t>2024</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264K in 2023</a:t>
            </a:r>
            <a:endParaRPr sz="1000" b="1">
              <a:latin typeface="Roboto Mono"/>
              <a:ea typeface="Roboto Mono"/>
              <a:cs typeface="Roboto Mono"/>
              <a:sym typeface="Roboto Mono"/>
            </a:endParaRPr>
          </a:p>
          <a:p>
            <a:pPr marL="228600" marR="0" lvl="1" indent="-133350" algn="l" rtl="0">
              <a:lnSpc>
                <a:spcPct val="100000"/>
              </a:lnSpc>
              <a:spcBef>
                <a:spcPts val="0"/>
              </a:spcBef>
              <a:spcAft>
                <a:spcPts val="0"/>
              </a:spcAft>
              <a:buSzPts val="1200"/>
              <a:buFont typeface="Calibri"/>
              <a:buChar char="○"/>
            </a:pPr>
            <a:r>
              <a:rPr lang="en" sz="1000" b="1">
                <a:latin typeface="Roboto Mono"/>
                <a:ea typeface="Roboto Mono"/>
                <a:cs typeface="Roboto Mono"/>
                <a:sym typeface="Roboto Mono"/>
              </a:rPr>
              <a:t>165K in 2022                  </a:t>
            </a:r>
            <a:r>
              <a:rPr lang="en" sz="1200" i="0" u="sng" strike="noStrike" cap="none">
                <a:solidFill>
                  <a:srgbClr val="0097A7"/>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https://layoffs.fyi</a:t>
            </a:r>
            <a:endParaRPr sz="1200" i="0" u="none" strike="noStrike" cap="none">
              <a:solidFill>
                <a:srgbClr val="000000"/>
              </a:solidFill>
              <a:latin typeface="Calibri"/>
              <a:ea typeface="Calibri"/>
              <a:cs typeface="Calibri"/>
              <a:sym typeface="Calibri"/>
            </a:endParaRPr>
          </a:p>
        </p:txBody>
      </p:sp>
      <p:sp>
        <p:nvSpPr>
          <p:cNvPr id="252" name="Google Shape;252;p36"/>
          <p:cNvSpPr txBox="1"/>
          <p:nvPr/>
        </p:nvSpPr>
        <p:spPr>
          <a:xfrm>
            <a:off x="5422950" y="531250"/>
            <a:ext cx="35589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a:t>
            </a:r>
            <a:r>
              <a:rPr lang="en" sz="1200" b="1">
                <a:latin typeface="Calibri"/>
                <a:ea typeface="Calibri"/>
                <a:cs typeface="Calibri"/>
                <a:sym typeface="Calibri"/>
              </a:rPr>
              <a:t>119,565</a:t>
            </a:r>
            <a:r>
              <a:rPr lang="en" sz="1200">
                <a:latin typeface="Calibri"/>
                <a:ea typeface="Calibri"/>
                <a:cs typeface="Calibri"/>
                <a:sym typeface="Calibri"/>
              </a:rPr>
              <a:t> people laid off (988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a:t>
            </a:r>
            <a:r>
              <a:rPr lang="en" sz="1200" b="1">
                <a:latin typeface="Calibri"/>
                <a:ea typeface="Calibri"/>
                <a:cs typeface="Calibri"/>
                <a:sym typeface="Calibri"/>
              </a:rPr>
              <a:t>238,461</a:t>
            </a:r>
            <a:r>
              <a:rPr lang="en" sz="1200">
                <a:latin typeface="Calibri"/>
                <a:ea typeface="Calibri"/>
                <a:cs typeface="Calibri"/>
                <a:sym typeface="Calibri"/>
              </a:rPr>
              <a:t>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8"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pic>
        <p:nvPicPr>
          <p:cNvPr id="253" name="Google Shape;253;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3133714"/>
            <a:ext cx="4950375" cy="1946645"/>
          </a:xfrm>
          <a:prstGeom prst="rect">
            <a:avLst/>
          </a:prstGeom>
          <a:noFill/>
          <a:ln w="9525" cap="flat" cmpd="sng">
            <a:solidFill>
              <a:srgbClr val="FF0000"/>
            </a:solidFill>
            <a:prstDash val="solid"/>
            <a:round/>
            <a:headEnd type="none" w="sm" len="sm"/>
            <a:tailEnd type="none" w="sm" len="sm"/>
          </a:ln>
        </p:spPr>
      </p:pic>
      <p:pic>
        <p:nvPicPr>
          <p:cNvPr id="254" name="Google Shape;254;p36"/>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7350" y="478603"/>
            <a:ext cx="4950375" cy="2598671"/>
          </a:xfrm>
          <a:prstGeom prst="rect">
            <a:avLst/>
          </a:prstGeom>
          <a:noFill/>
          <a:ln w="9525" cap="flat" cmpd="sng">
            <a:solidFill>
              <a:srgbClr val="FF0000"/>
            </a:solidFill>
            <a:prstDash val="solid"/>
            <a:round/>
            <a:headEnd type="none" w="sm" len="sm"/>
            <a:tailEnd type="none" w="sm" len="sm"/>
          </a:ln>
        </p:spPr>
      </p:pic>
      <p:graphicFrame>
        <p:nvGraphicFramePr>
          <p:cNvPr id="255" name="Google Shape;255;p36"/>
          <p:cNvGraphicFramePr/>
          <p:nvPr/>
        </p:nvGraphicFramePr>
        <p:xfrm>
          <a:off x="5422950" y="1933350"/>
          <a:ext cx="3000000" cy="3000000"/>
        </p:xfrm>
        <a:graphic>
          <a:graphicData uri="http://schemas.openxmlformats.org/drawingml/2006/table">
            <a:tbl>
              <a:tblPr>
                <a:noFill/>
                <a:tableStyleId>{343ECC64-742B-4A3D-8D24-DCC762B4AAA5}</a:tableStyleId>
              </a:tblPr>
              <a:tblGrid>
                <a:gridCol w="835325">
                  <a:extLst>
                    <a:ext uri="{9D8B030D-6E8A-4147-A177-3AD203B41FA5}">
                      <a16:colId xmlns:a16="http://schemas.microsoft.com/office/drawing/2014/main" val="20000"/>
                    </a:ext>
                  </a:extLst>
                </a:gridCol>
                <a:gridCol w="1357350">
                  <a:extLst>
                    <a:ext uri="{9D8B030D-6E8A-4147-A177-3AD203B41FA5}">
                      <a16:colId xmlns:a16="http://schemas.microsoft.com/office/drawing/2014/main" val="20001"/>
                    </a:ext>
                  </a:extLst>
                </a:gridCol>
              </a:tblGrid>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Company</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April Employees Cut </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2F2F2"/>
                    </a:solidFill>
                  </a:tcPr>
                </a:tc>
                <a:extLst>
                  <a:ext uri="{0D108BD9-81ED-4DB2-BD59-A6C34878D82A}">
                    <a16:rowId xmlns:a16="http://schemas.microsoft.com/office/drawing/2014/main" val="10000"/>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Meta</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~8,000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Microsoft</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~8,750 (voluntary)</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Snap</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~1,000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77575">
                <a:tc>
                  <a:txBody>
                    <a:bodyPr/>
                    <a:lstStyle/>
                    <a:p>
                      <a:pPr marL="0" lvl="0" indent="0" algn="l" rtl="0">
                        <a:lnSpc>
                          <a:spcPct val="115000"/>
                        </a:lnSpc>
                        <a:spcBef>
                          <a:spcPts val="0"/>
                        </a:spcBef>
                        <a:spcAft>
                          <a:spcPts val="0"/>
                        </a:spcAft>
                        <a:buNone/>
                      </a:pPr>
                      <a:r>
                        <a:rPr lang="en" sz="800" b="1">
                          <a:latin typeface="Calibri"/>
                          <a:ea typeface="Calibri"/>
                          <a:cs typeface="Calibri"/>
                          <a:sym typeface="Calibri"/>
                        </a:rPr>
                        <a:t>Nike</a:t>
                      </a:r>
                      <a:endParaRPr sz="800" b="1">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~1,400</a:t>
                      </a:r>
                      <a:endParaRPr sz="800">
                        <a:latin typeface="Calibri"/>
                        <a:ea typeface="Calibri"/>
                        <a:cs typeface="Calibri"/>
                        <a:sym typeface="Calibri"/>
                      </a:endParaRPr>
                    </a:p>
                  </a:txBody>
                  <a:tcPr marL="9125" marR="9125" marT="9125" marB="9125">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3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261" name="Google Shape;261;p3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262" name="Google Shape;262;p3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263" name="Google Shape;263;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264" name="Google Shape;264;p37"/>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265" name="Google Shape;265;p37"/>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3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4945</Words>
  <Application>Microsoft Macintosh PowerPoint</Application>
  <PresentationFormat>On-screen Show (16:9)</PresentationFormat>
  <Paragraphs>529</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Calibri</vt:lpstr>
      <vt:lpstr>Roboto Mono</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2026-05-07T17:48:28Z</dcterms:modified>
</cp:coreProperties>
</file>