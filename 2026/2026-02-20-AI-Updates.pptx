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embeddedFontLst>
    <p:embeddedFont>
      <p:font typeface="Roboto" panose="02000000000000000000" pitchFamily="2" charset="0"/>
      <p:regular r:id="rId32"/>
      <p:bold r:id="rId33"/>
      <p:italic r:id="rId34"/>
      <p:boldItalic r:id="rId35"/>
    </p:embeddedFont>
    <p:embeddedFont>
      <p:font typeface="Roboto Mono" pitchFamily="49"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475FDD-FD80-49CA-A8C1-BA8A4A31C8B5}">
  <a:tblStyle styleId="{77475FDD-FD80-49CA-A8C1-BA8A4A31C8B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11"/>
  </p:normalViewPr>
  <p:slideViewPr>
    <p:cSldViewPr>
      <p:cViewPr varScale="1">
        <p:scale>
          <a:sx n="107" d="100"/>
          <a:sy n="107" d="100"/>
        </p:scale>
        <p:origin x="105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c94bcbf72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c94bcbf72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938c54d2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3938c54d2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c865da34e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c865da34e0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c9491c1e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3c9491c1e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94094343f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94094343f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c90a6c96eb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c90a6c96eb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93db2de78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93db2de785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c94bcbf72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c94bcbf72b_0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93f722a5b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393f722a5b1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93da6a04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393da6a042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c94bcbf72b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c94bcbf72b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c7faa2cb6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c7faa2cb6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93f722a5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93f722a5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93f722a5b1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393f722a5b1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c889c8171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g3c889c8171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93fd7a1285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93fd7a1285_1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93f722a5b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393f722a5b1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94094343f0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394094343f0_1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c8db5f1e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c8db5f1e9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c8df88198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3c8df881980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c904a112a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g3c904a112a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c94bcbf72b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g3c94bcbf72b_0_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c923337cc7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3c923337cc7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c97a03c4e5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3c97a03c4e5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www.kimi.com/blog/kimi-k2-5.html" TargetMode="External"/><Relationship Id="rId39" Type="http://schemas.openxmlformats.org/officeDocument/2006/relationships/hyperlink" Target="https://x.com/OpenAI/status/1905331956856050135" TargetMode="External"/><Relationship Id="rId21" Type="http://schemas.openxmlformats.org/officeDocument/2006/relationships/hyperlink" Target="https://www.anthropic.com/news/claude-opus-4-5" TargetMode="External"/><Relationship Id="rId34" Type="http://schemas.openxmlformats.org/officeDocument/2006/relationships/hyperlink" Target="https://ernie.baidu.com/blog/posts/ernie-5.0-0110-release-on-lmarena/"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aistudio.google.com/app/prompts/new_chat?model=gemini-3-pro-preview" TargetMode="External"/><Relationship Id="rId33" Type="http://schemas.openxmlformats.org/officeDocument/2006/relationships/hyperlink" Target="https://huggingface.co/zai-org/GLM-5" TargetMode="External"/><Relationship Id="rId38" Type="http://schemas.openxmlformats.org/officeDocument/2006/relationships/hyperlink" Target="https://openai.com/index/introducing-gpt-4-5/"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blog.google/innovation-and-ai/models-and-research/gemini-models/gemini-3-1-pro/" TargetMode="External"/><Relationship Id="rId29" Type="http://schemas.openxmlformats.org/officeDocument/2006/relationships/hyperlink" Target="https://x.ai/news/grok-4-1"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www.anthropic.com/news/claude-sonnet-4-6" TargetMode="External"/><Relationship Id="rId32" Type="http://schemas.openxmlformats.org/officeDocument/2006/relationships/hyperlink" Target="https://huggingface.co/Qwen/Qwen3.5-397B-A17B" TargetMode="External"/><Relationship Id="rId37" Type="http://schemas.openxmlformats.org/officeDocument/2006/relationships/hyperlink" Target="https://ernie.baidu.com/blog/posts/ernie-5.0-preview-1203-release-on-lmarena/"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sonnet-4-5" TargetMode="External"/><Relationship Id="rId28" Type="http://schemas.openxmlformats.org/officeDocument/2006/relationships/hyperlink" Target="https://blog.google/products/gemini/gemini-3-flash" TargetMode="External"/><Relationship Id="rId36" Type="http://schemas.openxmlformats.org/officeDocument/2006/relationships/hyperlink" Target="https://aistudio.google.com/app/prompts/new_chat?model=gemini-2.5-pro"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6" TargetMode="External"/><Relationship Id="rId31" Type="http://schemas.openxmlformats.org/officeDocument/2006/relationships/hyperlink" Target="https://www.anthropic.com/news/claude-4"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seed.bytedance.com/en/blog/dola-seed-2-0-preview-model-release-on-arena" TargetMode="External"/><Relationship Id="rId27" Type="http://schemas.openxmlformats.org/officeDocument/2006/relationships/hyperlink" Target="https://www.anthropic.com/news/claude-opus-4-1" TargetMode="External"/><Relationship Id="rId30" Type="http://schemas.openxmlformats.org/officeDocument/2006/relationships/hyperlink" Target="https://openai.com/index/introducing-gpt-5-2" TargetMode="External"/><Relationship Id="rId35" Type="http://schemas.openxmlformats.org/officeDocument/2006/relationships/hyperlink" Target="https://openai.com/index/gpt-5-1/"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youtube.com/watch?v=m_l9pUKLiXo" TargetMode="External"/><Relationship Id="rId3" Type="http://schemas.openxmlformats.org/officeDocument/2006/relationships/hyperlink" Target="https://steipete.me/posts/2026/openclaw" TargetMode="External"/><Relationship Id="rId7" Type="http://schemas.openxmlformats.org/officeDocument/2006/relationships/hyperlink" Target="https://www.youtube.com/watch?v=2HiHDIFStzg"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github.com/openclaw/openclaw" TargetMode="External"/><Relationship Id="rId5" Type="http://schemas.openxmlformats.org/officeDocument/2006/relationships/hyperlink" Target="http://soul.md" TargetMode="Externa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hyperlink" Target="https://www.youtube.com/watch?v=vte-fDoZczE" TargetMode="External"/><Relationship Id="rId3" Type="http://schemas.openxmlformats.org/officeDocument/2006/relationships/hyperlink" Target="https://www.tomshardware.com/tech-industry/artificial-intelligence/openclaw-fueled-ordering-frenzy-creates-apple-mac-shortage-delivery-for-high-unified-memory-units-now-ranges-from-6-days-to-6-weeks" TargetMode="External"/><Relationship Id="rId7" Type="http://schemas.openxmlformats.org/officeDocument/2006/relationships/hyperlink" Target="https://github.com/aiskillstore/marketplace"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kimi.com"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4-gKmXzvEmc"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8dVCSPXG6Mw"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d4tbdFpcuSQ"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qtP5Cr96ye4"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oC1e0sqhJew"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BX2PxxM15Zc"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hyperlink" Target="https://www.youtube.com/watch?v=gxL6-rg3SoY"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AGxcQ-j64Ms"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HzVYgpMxMLE"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s://openclaw.ai"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6P0uTDGDr-I"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hyperlink" Target="https://www.youtube.com/watch?v=JlB852LGRJk" TargetMode="External"/><Relationship Id="rId4" Type="http://schemas.openxmlformats.org/officeDocument/2006/relationships/hyperlink" Target="https://solveeverything.org"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qFpps5Ur-qs"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hyperlink" Target="https://www.hostinger.com"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fMdg9Wvzyqk" TargetMode="External"/><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www.youtube.com/watch?v=KW5C0ZnuR24"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hyperlink" Target="https://www.youtube.com/watch?v=Ykiuz1ZdGBc" TargetMode="External"/><Relationship Id="rId7"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www.youtube.com/watch?v=LPEGve_U1cY" TargetMode="External"/><Relationship Id="rId5" Type="http://schemas.openxmlformats.org/officeDocument/2006/relationships/hyperlink" Target="https://www.youtube.com/watch?v=stNO7V8xJHk" TargetMode="Externa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S0GquerAcRU" TargetMode="External"/><Relationship Id="rId7"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hyperlink" Target="https://www.youtube.com/watch?v=8kNv3rjQaVA" TargetMode="External"/><Relationship Id="rId4" Type="http://schemas.openxmlformats.org/officeDocument/2006/relationships/hyperlink" Target="https://www.youtube.com/watch?v=7lyU_CKp3WA"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l-4XPvZmijo"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hyperlink" Target="https://www.youtube.com/watch?v=bzWI3Dil9Ig"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zVj4b_uImZE"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fYX6hHC9FhQ"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https://www.youtube.com/watch?v=BYEaLMnfIjg" TargetMode="External"/><Relationship Id="rId7"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www.youtube.com/watch?v=cSkoaCCmq0w" TargetMode="External"/><Relationship Id="rId5" Type="http://schemas.openxmlformats.org/officeDocument/2006/relationships/hyperlink" Target="https://github.com/google/langextract" TargetMode="External"/><Relationship Id="rId4" Type="http://schemas.openxmlformats.org/officeDocument/2006/relationships/hyperlink" Target="https://www.youtube.com/watch?v=l2BGg4ZwsH8" TargetMode="External"/><Relationship Id="rId9" Type="http://schemas.openxmlformats.org/officeDocument/2006/relationships/image" Target="../media/image34.png"/></Relationships>
</file>

<file path=ppt/slides/_rels/slide2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hyperlink" Target="https://www.youtube.com/watch?v=2bsfQThGXxc" TargetMode="External"/><Relationship Id="rId7"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hyperlink" Target="https://www.youtube.com/watch?v=XtjZsFtUQqw" TargetMode="External"/><Relationship Id="rId4" Type="http://schemas.openxmlformats.org/officeDocument/2006/relationships/hyperlink" Target="http://skill.md"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huggingface.co/papers/2602.11298"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hyperlink" Target="https://trueup.io/layoff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442463"/>
            <a:ext cx="44202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Crowd-sourced "LM Arena" Leaderboard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Peter Steinberger joins OpenAI</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How OpenClaw Works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upgrades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Peter Steinberger as Apple's Mac Mini salesman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Chinese Giants Offer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Tutorial - using VPS &amp; Opus 4.6 &amp; Codex</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370+ skills - MIT license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SaaS &gt;&gt; Local Hackable Skills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Sonnet 4.6</a:t>
            </a:r>
            <a:endParaRPr b="1">
              <a:solidFill>
                <a:srgbClr val="3C78D8"/>
              </a:solidFill>
              <a:latin typeface="Calibri"/>
              <a:ea typeface="Calibri"/>
              <a:cs typeface="Calibri"/>
              <a:sym typeface="Calibri"/>
            </a:endParaRPr>
          </a:p>
        </p:txBody>
      </p:sp>
      <p:sp>
        <p:nvSpPr>
          <p:cNvPr id="64" name="Google Shape;64;p15"/>
          <p:cNvSpPr txBox="1"/>
          <p:nvPr/>
        </p:nvSpPr>
        <p:spPr>
          <a:xfrm>
            <a:off x="0" y="-753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a:t>
            </a:r>
            <a:r>
              <a:rPr lang="en" sz="2200" b="1">
                <a:solidFill>
                  <a:srgbClr val="3C78D8"/>
                </a:solidFill>
                <a:latin typeface="Calibri"/>
                <a:ea typeface="Calibri"/>
                <a:cs typeface="Calibri"/>
                <a:sym typeface="Calibri"/>
              </a:rPr>
              <a:t>Feb</a:t>
            </a:r>
            <a:r>
              <a:rPr lang="en" sz="2200" b="1" i="0" u="none" strike="noStrike" cap="none">
                <a:solidFill>
                  <a:srgbClr val="3C78D8"/>
                </a:solidFill>
                <a:latin typeface="Calibri"/>
                <a:ea typeface="Calibri"/>
                <a:cs typeface="Calibri"/>
                <a:sym typeface="Calibri"/>
              </a:rPr>
              <a:t> </a:t>
            </a:r>
            <a:r>
              <a:rPr lang="en" sz="2200" b="1">
                <a:solidFill>
                  <a:srgbClr val="3C78D8"/>
                </a:solidFill>
                <a:latin typeface="Calibri"/>
                <a:ea typeface="Calibri"/>
                <a:cs typeface="Calibri"/>
                <a:sym typeface="Calibri"/>
              </a:rPr>
              <a:t>20</a:t>
            </a:r>
            <a:r>
              <a:rPr lang="en" sz="2200" b="1" i="0" u="none" strike="noStrike" cap="none">
                <a:solidFill>
                  <a:srgbClr val="3C78D8"/>
                </a:solidFill>
                <a:latin typeface="Calibri"/>
                <a:ea typeface="Calibri"/>
                <a:cs typeface="Calibri"/>
                <a:sym typeface="Calibri"/>
              </a:rPr>
              <a:t>, 2026</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74323" y="4812290"/>
            <a:ext cx="4502400" cy="23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i="0" u="none" strike="noStrike" cap="none">
                <a:solidFill>
                  <a:srgbClr val="3C78D8"/>
                </a:solidFill>
                <a:latin typeface="Calibri"/>
                <a:ea typeface="Calibri"/>
                <a:cs typeface="Calibri"/>
                <a:sym typeface="Calibri"/>
              </a:rPr>
              <a:t>Jobs, Layoffs, </a:t>
            </a:r>
            <a:r>
              <a:rPr lang="en" b="1">
                <a:solidFill>
                  <a:srgbClr val="3C78D8"/>
                </a:solidFill>
                <a:latin typeface="Calibri"/>
                <a:ea typeface="Calibri"/>
                <a:cs typeface="Calibri"/>
                <a:sym typeface="Calibri"/>
              </a:rPr>
              <a:t>demand for AI Engineers</a:t>
            </a:r>
            <a:endParaRPr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700089"/>
            <a:ext cx="4420200" cy="23889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xAI has launched Grok 4.2 (Grok 420)</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Agent Teams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Co-Work</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in Excel &amp; PowerPoint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Memory cuts token costs by 80%</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Build a 10-agent OpenClaw Team</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Moonshots podcasts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Why The INSANE AI Datacenter Build Out Make Sense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Hostinger - a web hosting provider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Simile - AI simulation of society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Gemini 3 Deep Think &amp; Gemini 3.1 Pro Preview</a:t>
            </a:r>
            <a:endParaRPr b="1">
              <a:solidFill>
                <a:srgbClr val="3C78D8"/>
              </a:solidFill>
              <a:latin typeface="Calibri"/>
              <a:ea typeface="Calibri"/>
              <a:cs typeface="Calibri"/>
              <a:sym typeface="Calibri"/>
            </a:endParaRPr>
          </a:p>
        </p:txBody>
      </p:sp>
      <p:sp>
        <p:nvSpPr>
          <p:cNvPr id="67" name="Google Shape;67;p15"/>
          <p:cNvSpPr txBox="1"/>
          <p:nvPr/>
        </p:nvSpPr>
        <p:spPr>
          <a:xfrm>
            <a:off x="4574323" y="981692"/>
            <a:ext cx="4502400" cy="32508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Ollama: subagents &amp; web search in Claude Code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Unitree Spring Festival Gala Robots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Alibaba Qwen 3.5</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Cowork Plugins - launched recently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Mac mini AI agent automates accounting tasks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Matthew Berman explains how he uses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Brian Casel running 4 OpenClaw Agents on Mac Mini</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Beginner vs Expert Prompting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Agent Era </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 human crisis of literacy and accountability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1 hour Tutorial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Use Claude Code to implement OpenClaw functions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Google's open-source Python library Lang Extract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Learn 90% Of Claude Code Agent Teams (Opus 4.6)</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Misc. AI Updates</a:t>
            </a:r>
            <a:endParaRPr b="1">
              <a:solidFill>
                <a:srgbClr val="3C78D8"/>
              </a:solidFill>
              <a:latin typeface="Calibri"/>
              <a:ea typeface="Calibri"/>
              <a:cs typeface="Calibri"/>
              <a:sym typeface="Calibri"/>
            </a:endParaRPr>
          </a:p>
        </p:txBody>
      </p:sp>
      <p:sp>
        <p:nvSpPr>
          <p:cNvPr id="68" name="Google Shape;68;p15"/>
          <p:cNvSpPr txBox="1"/>
          <p:nvPr/>
        </p:nvSpPr>
        <p:spPr>
          <a:xfrm>
            <a:off x="5630175" y="103250"/>
            <a:ext cx="3387600" cy="664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"My next mission is to build an agent that even my mum can use"</a:t>
            </a:r>
            <a:endParaRPr b="1" i="1">
              <a:solidFill>
                <a:srgbClr val="FF0000"/>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     - Peter Steinberger</a:t>
            </a:r>
            <a:endParaRPr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8" name="Google Shape;78;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February 19</a:t>
            </a:r>
            <a:endParaRPr sz="1000">
              <a:latin typeface="Calibri"/>
              <a:ea typeface="Calibri"/>
              <a:cs typeface="Calibri"/>
              <a:sym typeface="Calibri"/>
            </a:endParaRPr>
          </a:p>
        </p:txBody>
      </p:sp>
      <p:sp>
        <p:nvSpPr>
          <p:cNvPr id="79" name="Google Shape;79;p16"/>
          <p:cNvSpPr txBox="1"/>
          <p:nvPr/>
        </p:nvSpPr>
        <p:spPr>
          <a:xfrm>
            <a:off x="7349895" y="543655"/>
            <a:ext cx="17457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glm-4.7 - 355B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glm-5.0 - 744B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kimi-k2.5-thinking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longcat-flash-chat - 560B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qwen3-max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qwen3-235b-a22b - 235B</a:t>
            </a:r>
            <a:endParaRPr sz="1000">
              <a:latin typeface="Calibri"/>
              <a:ea typeface="Calibri"/>
              <a:cs typeface="Calibri"/>
              <a:sym typeface="Calibri"/>
            </a:endParaRPr>
          </a:p>
        </p:txBody>
      </p:sp>
      <p:sp>
        <p:nvSpPr>
          <p:cNvPr id="80" name="Google Shape;80;p16"/>
          <p:cNvSpPr txBox="1"/>
          <p:nvPr/>
        </p:nvSpPr>
        <p:spPr>
          <a:xfrm>
            <a:off x="5619627" y="476075"/>
            <a:ext cx="1596000" cy="71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31 - deepseek 1473</a:t>
            </a:r>
            <a:br>
              <a:rPr lang="en" sz="900">
                <a:solidFill>
                  <a:srgbClr val="3C78D8"/>
                </a:solidFill>
                <a:latin typeface="Roboto Mono"/>
                <a:ea typeface="Roboto Mono"/>
                <a:cs typeface="Roboto Mono"/>
                <a:sym typeface="Roboto Mono"/>
              </a:rPr>
            </a:br>
            <a:r>
              <a:rPr lang="en" sz="900">
                <a:solidFill>
                  <a:srgbClr val="3C78D8"/>
                </a:solidFill>
                <a:latin typeface="Roboto Mono"/>
                <a:ea typeface="Roboto Mono"/>
                <a:cs typeface="Roboto Mono"/>
                <a:sym typeface="Roboto Mono"/>
              </a:rPr>
              <a:t>(V4 soon)</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133 - Llama 1374</a:t>
            </a:r>
            <a:br>
              <a:rPr lang="en" sz="900">
                <a:solidFill>
                  <a:srgbClr val="3C78D8"/>
                </a:solidFill>
                <a:latin typeface="Roboto Mono"/>
                <a:ea typeface="Roboto Mono"/>
                <a:cs typeface="Roboto Mono"/>
                <a:sym typeface="Roboto Mono"/>
              </a:rPr>
            </a:br>
            <a:r>
              <a:rPr lang="en" sz="900">
                <a:solidFill>
                  <a:srgbClr val="3C78D8"/>
                </a:solidFill>
                <a:latin typeface="Roboto Mono"/>
                <a:ea typeface="Roboto Mono"/>
                <a:cs typeface="Roboto Mono"/>
                <a:sym typeface="Roboto Mono"/>
              </a:rPr>
              <a:t>(Avocado in Q1)</a:t>
            </a:r>
            <a:endParaRPr sz="900">
              <a:solidFill>
                <a:srgbClr val="3C78D8"/>
              </a:solidFill>
              <a:latin typeface="Roboto Mono"/>
              <a:ea typeface="Roboto Mono"/>
              <a:cs typeface="Roboto Mono"/>
              <a:sym typeface="Roboto Mono"/>
            </a:endParaRPr>
          </a:p>
        </p:txBody>
      </p:sp>
      <p:graphicFrame>
        <p:nvGraphicFramePr>
          <p:cNvPr id="81" name="Google Shape;81;p16"/>
          <p:cNvGraphicFramePr/>
          <p:nvPr/>
        </p:nvGraphicFramePr>
        <p:xfrm>
          <a:off x="5619625" y="1236813"/>
          <a:ext cx="804500" cy="571500"/>
        </p:xfrm>
        <a:graphic>
          <a:graphicData uri="http://schemas.openxmlformats.org/drawingml/2006/table">
            <a:tbl>
              <a:tblPr>
                <a:noFill/>
                <a:tableStyleId>{77475FDD-FD80-49CA-A8C1-BA8A4A31C8B5}</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graphicFrame>
        <p:nvGraphicFramePr>
          <p:cNvPr id="82" name="Google Shape;82;p16"/>
          <p:cNvGraphicFramePr/>
          <p:nvPr/>
        </p:nvGraphicFramePr>
        <p:xfrm>
          <a:off x="2971800" y="790417"/>
          <a:ext cx="2314575" cy="3907950"/>
        </p:xfrm>
        <a:graphic>
          <a:graphicData uri="http://schemas.openxmlformats.org/drawingml/2006/table">
            <a:tbl>
              <a:tblPr>
                <a:noFill/>
                <a:tableStyleId>{77475FDD-FD80-49CA-A8C1-BA8A4A31C8B5}</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gpt-5.2</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claude-opus-4-20250514-thinking-16k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qwen3.5-397b-a17b</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gpt-5.2-high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3" name="Google Shape;83;p16"/>
          <p:cNvGraphicFramePr/>
          <p:nvPr/>
        </p:nvGraphicFramePr>
        <p:xfrm>
          <a:off x="81357" y="805994"/>
          <a:ext cx="2486025" cy="3907950"/>
        </p:xfrm>
        <a:graphic>
          <a:graphicData uri="http://schemas.openxmlformats.org/drawingml/2006/table">
            <a:tbl>
              <a:tblPr>
                <a:noFill/>
                <a:tableStyleId>{77475FDD-FD80-49CA-A8C1-BA8A4A31C8B5}</a:tableStyleId>
              </a:tblPr>
              <a:tblGrid>
                <a:gridCol w="27622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qwen3.5-397b-a17b</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gemini-2.5-pro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ernie-5.0-preview-1203</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gpt-4.5-preview-2025-02-27</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chatgpt-4o-latest-20250326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Peter Steinberger joins OpenAI</a:t>
            </a:r>
            <a:endParaRPr sz="2000" b="1">
              <a:solidFill>
                <a:schemeClr val="dk1"/>
              </a:solidFill>
              <a:latin typeface="Calibri"/>
              <a:ea typeface="Calibri"/>
              <a:cs typeface="Calibri"/>
              <a:sym typeface="Calibri"/>
            </a:endParaRPr>
          </a:p>
        </p:txBody>
      </p:sp>
      <p:sp>
        <p:nvSpPr>
          <p:cNvPr id="89" name="Google Shape;89;p17"/>
          <p:cNvSpPr txBox="1"/>
          <p:nvPr/>
        </p:nvSpPr>
        <p:spPr>
          <a:xfrm>
            <a:off x="55075" y="393207"/>
            <a:ext cx="4434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Peter Steinberger joins OpenAI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Peter Steinberger, creator of OpenClaw (an open-source AI agent), is joining OpenAI to help make AI agents accessible to everyone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Despite OpenClaw's viral success and potential to become a major company, Steinberger prioritizes building over business operations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After meeting with major AI labs in San Francisco, he chose OpenAI as the best partner to advance his vision while keeping OpenClaw open-source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will transition to an independent foundation with OpenAI's sponsorship, maintaining its community-driven approach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Steinberger aims to create agents simple enough for non-technical users while accessing cutting-edge models and research at OpenAI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https://steipete.me/posts/2026/openclaw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90" name="Google Shape;90;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63300" y="53300"/>
            <a:ext cx="2903274" cy="2177450"/>
          </a:xfrm>
          <a:prstGeom prst="rect">
            <a:avLst/>
          </a:prstGeom>
          <a:noFill/>
          <a:ln w="9525" cap="flat" cmpd="sng">
            <a:solidFill>
              <a:srgbClr val="FF0000"/>
            </a:solidFill>
            <a:prstDash val="solid"/>
            <a:round/>
            <a:headEnd type="none" w="sm" len="sm"/>
            <a:tailEnd type="none" w="sm" len="sm"/>
          </a:ln>
        </p:spPr>
      </p:pic>
      <p:sp>
        <p:nvSpPr>
          <p:cNvPr id="91" name="Google Shape;91;p17"/>
          <p:cNvSpPr txBox="1"/>
          <p:nvPr/>
        </p:nvSpPr>
        <p:spPr>
          <a:xfrm>
            <a:off x="55075" y="2849555"/>
            <a:ext cx="44343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How OpenClaw Works: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OpenClaw operates locally on the user's computer,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granting it access to files and hardware.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allows it to solve real-world problems autonomously, such as converting audio formats or managing smart home devices without pre-programmed instructions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Up to 80% of current apps may be substituted by apps managing data through natural conversation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stores "memories" as local Markdown files owned by the user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Peter favors simple Unix CLI tools over complex protocols like MCP, simple formats (a "personality-driven" </a:t>
            </a:r>
            <a:r>
              <a:rPr lang="en" sz="1200" u="sng">
                <a:solidFill>
                  <a:schemeClr val="hlink"/>
                </a:solidFill>
                <a:latin typeface="Calibri"/>
                <a:ea typeface="Calibri"/>
                <a:cs typeface="Calibri"/>
                <a:sym typeface="Calibri"/>
                <a:hlinkClick r:id="rId5"/>
              </a:rPr>
              <a:t>soul.md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92" name="Google Shape;92;p17"/>
          <p:cNvSpPr txBox="1"/>
          <p:nvPr/>
        </p:nvSpPr>
        <p:spPr>
          <a:xfrm>
            <a:off x="4563298" y="2291798"/>
            <a:ext cx="37536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https://github.com/openclaw/openclaw</a:t>
            </a:r>
            <a:r>
              <a:rPr lang="en" sz="1200">
                <a:solidFill>
                  <a:schemeClr val="dk1"/>
                </a:solidFill>
                <a:latin typeface="Calibri"/>
                <a:ea typeface="Calibri"/>
                <a:cs typeface="Calibri"/>
                <a:sym typeface="Calibri"/>
              </a:rPr>
              <a:t> - 214K stars</a:t>
            </a:r>
            <a:endParaRPr sz="1200">
              <a:solidFill>
                <a:schemeClr val="dk1"/>
              </a:solidFill>
              <a:latin typeface="Calibri"/>
              <a:ea typeface="Calibri"/>
              <a:cs typeface="Calibri"/>
              <a:sym typeface="Calibri"/>
            </a:endParaRPr>
          </a:p>
        </p:txBody>
      </p:sp>
      <p:sp>
        <p:nvSpPr>
          <p:cNvPr id="93" name="Google Shape;93;p17"/>
          <p:cNvSpPr txBox="1"/>
          <p:nvPr/>
        </p:nvSpPr>
        <p:spPr>
          <a:xfrm>
            <a:off x="4563306" y="3006022"/>
            <a:ext cx="44343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News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Support for Sonnet 4.6, GPT 5.3 Codex, up to 1M token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you can configure to use different models for different tasks</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Anthropic ban of using pro or max subscriptions with OpenClaw</a:t>
            </a:r>
            <a:br>
              <a:rPr lang="en" sz="1200" b="1">
                <a:solidFill>
                  <a:schemeClr val="dk1"/>
                </a:solidFill>
                <a:latin typeface="Calibri"/>
                <a:ea typeface="Calibri"/>
                <a:cs typeface="Calibri"/>
                <a:sym typeface="Calibri"/>
              </a:rPr>
            </a:br>
            <a:r>
              <a:rPr lang="en" sz="1200" b="1" u="sng">
                <a:solidFill>
                  <a:schemeClr val="hlink"/>
                </a:solidFill>
                <a:latin typeface="Calibri"/>
                <a:ea typeface="Calibri"/>
                <a:cs typeface="Calibri"/>
                <a:sym typeface="Calibri"/>
                <a:hlinkClick r:id="rId7"/>
              </a:rPr>
              <a:t>https://www.youtube.com/watch?v=2HiHDIFStzg</a:t>
            </a:r>
            <a:r>
              <a:rPr lang="en" sz="1200" b="1">
                <a:solidFill>
                  <a:schemeClr val="dk1"/>
                </a:solidFill>
                <a:latin typeface="Calibri"/>
                <a:ea typeface="Calibri"/>
                <a:cs typeface="Calibri"/>
                <a:sym typeface="Calibri"/>
              </a:rPr>
              <a:t> </a:t>
            </a:r>
            <a:r>
              <a:rPr lang="en" sz="1200" b="1">
                <a:solidFill>
                  <a:srgbClr val="3C78D8"/>
                </a:solidFill>
                <a:latin typeface="Calibri"/>
                <a:ea typeface="Calibri"/>
                <a:cs typeface="Calibri"/>
                <a:sym typeface="Calibri"/>
              </a:rPr>
              <a:t>- use OpenAI</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Agents can spawn sub-agents; better interfaces for Slack, Telegram, and Discord - real-time message streaming and interactive UI components like buttons and modals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Apple watch support, iOS share extension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Crash recovery via a write-ahead queue, support for Hugging Face open-source models, and over 80 security and bug fixes</a:t>
            </a:r>
            <a:endParaRPr sz="1200">
              <a:solidFill>
                <a:schemeClr val="dk1"/>
              </a:solidFill>
              <a:latin typeface="Calibri"/>
              <a:ea typeface="Calibri"/>
              <a:cs typeface="Calibri"/>
              <a:sym typeface="Calibri"/>
            </a:endParaRPr>
          </a:p>
        </p:txBody>
      </p:sp>
      <p:sp>
        <p:nvSpPr>
          <p:cNvPr id="94" name="Google Shape;94;p17"/>
          <p:cNvSpPr txBox="1"/>
          <p:nvPr/>
        </p:nvSpPr>
        <p:spPr>
          <a:xfrm>
            <a:off x="4563304" y="2544299"/>
            <a:ext cx="3753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https://www.youtube.com/watch?v=m_l9pUKLiXo</a:t>
            </a:r>
            <a:r>
              <a:rPr lang="en" sz="1200">
                <a:solidFill>
                  <a:schemeClr val="dk1"/>
                </a:solidFill>
                <a:latin typeface="Calibri"/>
                <a:ea typeface="Calibri"/>
                <a:cs typeface="Calibri"/>
                <a:sym typeface="Calibri"/>
              </a:rPr>
              <a:t> - how Peter works (2 Macs, tools, AI techniques)</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Peter Steinberger &amp; Mac Mini Sales</a:t>
            </a:r>
            <a:endParaRPr sz="2000" b="1">
              <a:solidFill>
                <a:schemeClr val="dk1"/>
              </a:solidFill>
              <a:latin typeface="Calibri"/>
              <a:ea typeface="Calibri"/>
              <a:cs typeface="Calibri"/>
              <a:sym typeface="Calibri"/>
            </a:endParaRPr>
          </a:p>
        </p:txBody>
      </p:sp>
      <p:sp>
        <p:nvSpPr>
          <p:cNvPr id="100" name="Google Shape;100;p18"/>
          <p:cNvSpPr txBox="1"/>
          <p:nvPr/>
        </p:nvSpPr>
        <p:spPr>
          <a:xfrm>
            <a:off x="55075" y="427345"/>
            <a:ext cx="4434300" cy="283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Peter Steinberger has been jokingly crowned as Apple's "world's greatest Mac salesman" for inadvertently driving massive Mac Mini sales through OpenClaw</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OpenClaw phenomenon has created measurable supply shortages across Apple's Mac lineup. The impact on Mac Mini availability and market dynamics is well-documented: </a:t>
            </a:r>
            <a:r>
              <a:rPr lang="en" sz="900" u="sng">
                <a:solidFill>
                  <a:schemeClr val="hlink"/>
                </a:solidFill>
                <a:latin typeface="Calibri"/>
                <a:ea typeface="Calibri"/>
                <a:cs typeface="Calibri"/>
                <a:sym typeface="Calibri"/>
                <a:hlinkClick r:id="rId3"/>
              </a:rPr>
              <a:t>https://www.tomshardware.com/tech-industry/artificial-intelligence/openclaw-fueled-ordering-frenzy-creates-apple-mac-shortage-delivery-for-high-unified-memory-units-now-ranges-from-6-days-to-6-weeks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M4 Mac Mini emerged as the "hardware of choice" for the decentralized AI movement for several practical reasons: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24/7 operation; iMessage access; Inexpensive; compact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16GB base model is OK. 24GB is recommended if you are also planning to run local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phenomenon has </a:t>
            </a:r>
            <a:r>
              <a:rPr lang="en" sz="1200" b="1">
                <a:solidFill>
                  <a:srgbClr val="FF0000"/>
                </a:solidFill>
                <a:latin typeface="Calibri"/>
                <a:ea typeface="Calibri"/>
                <a:cs typeface="Calibri"/>
                <a:sym typeface="Calibri"/>
              </a:rPr>
              <a:t>repositioned Mac Mini from a standard desktop into a "dedicated AI server" or personal "JARVIS"</a:t>
            </a:r>
            <a:endParaRPr sz="1200" b="1">
              <a:solidFill>
                <a:srgbClr val="FF0000"/>
              </a:solidFill>
              <a:latin typeface="Calibri"/>
              <a:ea typeface="Calibri"/>
              <a:cs typeface="Calibri"/>
              <a:sym typeface="Calibri"/>
            </a:endParaRPr>
          </a:p>
        </p:txBody>
      </p:sp>
      <p:pic>
        <p:nvPicPr>
          <p:cNvPr id="101" name="Google Shape;101;p18"/>
          <p:cNvPicPr preferRelativeResize="0"/>
          <p:nvPr/>
        </p:nvPicPr>
        <p:blipFill>
          <a:blip r:embed="rId4">
            <a:alphaModFix/>
          </a:blip>
          <a:stretch>
            <a:fillRect/>
          </a:stretch>
        </p:blipFill>
        <p:spPr>
          <a:xfrm>
            <a:off x="4714013" y="237041"/>
            <a:ext cx="876300" cy="876300"/>
          </a:xfrm>
          <a:prstGeom prst="rect">
            <a:avLst/>
          </a:prstGeom>
          <a:noFill/>
          <a:ln w="9525" cap="flat" cmpd="sng">
            <a:solidFill>
              <a:srgbClr val="FF0000"/>
            </a:solidFill>
            <a:prstDash val="solid"/>
            <a:round/>
            <a:headEnd type="none" w="sm" len="sm"/>
            <a:tailEnd type="none" w="sm" len="sm"/>
          </a:ln>
        </p:spPr>
      </p:pic>
      <p:pic>
        <p:nvPicPr>
          <p:cNvPr id="102" name="Google Shape;102;p18"/>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814950" y="124323"/>
            <a:ext cx="1056957" cy="989025"/>
          </a:xfrm>
          <a:prstGeom prst="rect">
            <a:avLst/>
          </a:prstGeom>
          <a:noFill/>
          <a:ln w="9525" cap="flat" cmpd="sng">
            <a:solidFill>
              <a:srgbClr val="FF0000"/>
            </a:solidFill>
            <a:prstDash val="solid"/>
            <a:round/>
            <a:headEnd type="none" w="sm" len="sm"/>
            <a:tailEnd type="none" w="sm" len="sm"/>
          </a:ln>
        </p:spPr>
      </p:pic>
      <p:sp>
        <p:nvSpPr>
          <p:cNvPr id="103" name="Google Shape;103;p18"/>
          <p:cNvSpPr txBox="1"/>
          <p:nvPr/>
        </p:nvSpPr>
        <p:spPr>
          <a:xfrm>
            <a:off x="55075" y="3305731"/>
            <a:ext cx="4434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Chinese Giants Offer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Baidu is integrating OpenClaw into its main search app, which has about 700 million monthly active users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Moonshot AI launched Kimi Claw, a browser‑native/cloud‑hosted version of OpenClaw running on </a:t>
            </a:r>
            <a:r>
              <a:rPr lang="en" sz="1200" u="sng">
                <a:solidFill>
                  <a:schemeClr val="hlink"/>
                </a:solidFill>
                <a:latin typeface="Calibri"/>
                <a:ea typeface="Calibri"/>
                <a:cs typeface="Calibri"/>
                <a:sym typeface="Calibri"/>
                <a:hlinkClick r:id="rId6"/>
              </a:rPr>
              <a:t>kimi.com</a:t>
            </a:r>
            <a:r>
              <a:rPr lang="en" sz="1200">
                <a:solidFill>
                  <a:schemeClr val="dk1"/>
                </a:solidFill>
                <a:latin typeface="Calibri"/>
                <a:ea typeface="Calibri"/>
                <a:cs typeface="Calibri"/>
                <a:sym typeface="Calibri"/>
              </a:rPr>
              <a:t> - includes 40GB cloud storage and access to 5K+ community skills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Alibaba and Tencent also working on similar offerings </a:t>
            </a:r>
            <a:endParaRPr sz="1200">
              <a:solidFill>
                <a:schemeClr val="dk1"/>
              </a:solidFill>
              <a:latin typeface="Calibri"/>
              <a:ea typeface="Calibri"/>
              <a:cs typeface="Calibri"/>
              <a:sym typeface="Calibri"/>
            </a:endParaRPr>
          </a:p>
        </p:txBody>
      </p:sp>
      <p:sp>
        <p:nvSpPr>
          <p:cNvPr id="104" name="Google Shape;104;p18"/>
          <p:cNvSpPr txBox="1"/>
          <p:nvPr/>
        </p:nvSpPr>
        <p:spPr>
          <a:xfrm>
            <a:off x="55075" y="4670206"/>
            <a:ext cx="44343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370+ skills - MIT license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https://github.com/aiskillstore/marketplace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05" name="Google Shape;105;p18"/>
          <p:cNvSpPr txBox="1"/>
          <p:nvPr/>
        </p:nvSpPr>
        <p:spPr>
          <a:xfrm>
            <a:off x="4611875" y="1220645"/>
            <a:ext cx="44343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Tutorial - using VPS &amp; Opus 4.6 &amp; Codex</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https://www.youtube.com/watch?v=vte-fDoZczE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Connecting Telegram for messaging and voice transcription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Organizing conversations into topic-specific Telegram group chats, and enabling coding and GitHub skills so the bot can write and commit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 Claw's core concepts: skills (markdown-based capability files), memory systems (persistent and daily memory files), identity/user profile files, the heartbeat system for periodic automated tasks, and cron jobs for scheduled reminders or operations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Treat the bot like an untrusted assistant for security and recommends spending time customizing its configuration files for the best results. [ppl-ai-file-upload.s3.amazonaws](https://ppl-ai-file-upload.s3.amazonaws.com/web/direct-files/attachments/7115065/3cb04ad2-75c2-4ee6-b928-7162effe2a27/paste.txt)</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SaaS &gt;&gt; Local Hackable Skills</a:t>
            </a:r>
            <a:endParaRPr sz="2000" b="1">
              <a:solidFill>
                <a:schemeClr val="dk1"/>
              </a:solidFill>
              <a:latin typeface="Calibri"/>
              <a:ea typeface="Calibri"/>
              <a:cs typeface="Calibri"/>
              <a:sym typeface="Calibri"/>
            </a:endParaRPr>
          </a:p>
        </p:txBody>
      </p:sp>
      <p:sp>
        <p:nvSpPr>
          <p:cNvPr id="111" name="Google Shape;111;p19"/>
          <p:cNvSpPr txBox="1"/>
          <p:nvPr/>
        </p:nvSpPr>
        <p:spPr>
          <a:xfrm>
            <a:off x="55074" y="512325"/>
            <a:ext cx="4459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Substitute Google NotebookLM with 214 custom "skills"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https://www.youtube.com/watch?v=4-gKmXzvEmc</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NotebookLM is great and useful, but limited to a fixed menu</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James has built 214 unique skills that are tailored to specific business needs, such as creating YouTube scripts or generating slide decks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James uses these skills within Claude, Claude Co-work, and Claude Code. But they can be also used with other models (Gemini, ...) and other agent platforms (Manus,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James predicts that within 30 days, </a:t>
            </a:r>
            <a:r>
              <a:rPr lang="en" sz="1200" b="1">
                <a:solidFill>
                  <a:srgbClr val="FF0000"/>
                </a:solidFill>
                <a:latin typeface="Calibri"/>
                <a:ea typeface="Calibri"/>
                <a:cs typeface="Calibri"/>
                <a:sym typeface="Calibri"/>
              </a:rPr>
              <a:t>AI "employees"</a:t>
            </a:r>
            <a:r>
              <a:rPr lang="en" sz="1200">
                <a:latin typeface="Calibri"/>
                <a:ea typeface="Calibri"/>
                <a:cs typeface="Calibri"/>
                <a:sym typeface="Calibri"/>
              </a:rPr>
              <a:t> will move from just performing tasks on command to proactively asking users what work needs to be done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James concludes that the education industry is splitting into two groups: </a:t>
            </a:r>
            <a:br>
              <a:rPr lang="en" sz="1200">
                <a:latin typeface="Calibri"/>
                <a:ea typeface="Calibri"/>
                <a:cs typeface="Calibri"/>
                <a:sym typeface="Calibri"/>
              </a:rPr>
            </a:br>
            <a:r>
              <a:rPr lang="en" sz="1200">
                <a:solidFill>
                  <a:srgbClr val="3C78D8"/>
                </a:solidFill>
                <a:latin typeface="Calibri"/>
                <a:ea typeface="Calibri"/>
                <a:cs typeface="Calibri"/>
                <a:sym typeface="Calibri"/>
              </a:rPr>
              <a:t>.. Content Creators (losing to AI) </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Transformation Facilitators - win by using AI skills allowing them to focus on direct human interaction and results</a:t>
            </a:r>
            <a:endParaRPr sz="1200">
              <a:solidFill>
                <a:srgbClr val="3C78D8"/>
              </a:solidFill>
              <a:latin typeface="Calibri"/>
              <a:ea typeface="Calibri"/>
              <a:cs typeface="Calibri"/>
              <a:sym typeface="Calibri"/>
            </a:endParaRPr>
          </a:p>
        </p:txBody>
      </p:sp>
      <p:sp>
        <p:nvSpPr>
          <p:cNvPr id="112" name="Google Shape;112;p19"/>
          <p:cNvSpPr txBox="1"/>
          <p:nvPr/>
        </p:nvSpPr>
        <p:spPr>
          <a:xfrm>
            <a:off x="67525" y="3564650"/>
            <a:ext cx="5214600" cy="618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9700" algn="l" rtl="0">
              <a:lnSpc>
                <a:spcPct val="100000"/>
              </a:lnSpc>
              <a:spcBef>
                <a:spcPts val="0"/>
              </a:spcBef>
              <a:spcAft>
                <a:spcPts val="0"/>
              </a:spcAft>
              <a:buClr>
                <a:srgbClr val="3C78D8"/>
              </a:buClr>
              <a:buSzPts val="1300"/>
              <a:buFont typeface="Roboto Mono"/>
              <a:buChar char="●"/>
            </a:pPr>
            <a:r>
              <a:rPr lang="en" sz="1300" b="1">
                <a:solidFill>
                  <a:srgbClr val="3C78D8"/>
                </a:solidFill>
                <a:latin typeface="Roboto Mono"/>
                <a:ea typeface="Roboto Mono"/>
                <a:cs typeface="Roboto Mono"/>
                <a:sym typeface="Roboto Mono"/>
              </a:rPr>
              <a:t>Human &gt;&gt; AI</a:t>
            </a:r>
            <a:endParaRPr sz="1300" b="1">
              <a:solidFill>
                <a:srgbClr val="3C78D8"/>
              </a:solidFill>
              <a:latin typeface="Roboto Mono"/>
              <a:ea typeface="Roboto Mono"/>
              <a:cs typeface="Roboto Mono"/>
              <a:sym typeface="Roboto Mono"/>
            </a:endParaRPr>
          </a:p>
          <a:p>
            <a:pPr marL="171450" marR="0" lvl="0" indent="-139700" algn="l" rtl="0">
              <a:lnSpc>
                <a:spcPct val="100000"/>
              </a:lnSpc>
              <a:spcBef>
                <a:spcPts val="0"/>
              </a:spcBef>
              <a:spcAft>
                <a:spcPts val="0"/>
              </a:spcAft>
              <a:buClr>
                <a:srgbClr val="3C78D8"/>
              </a:buClr>
              <a:buSzPts val="1300"/>
              <a:buFont typeface="Roboto Mono"/>
              <a:buChar char="●"/>
            </a:pPr>
            <a:r>
              <a:rPr lang="en" sz="1300" b="1">
                <a:solidFill>
                  <a:srgbClr val="3C78D8"/>
                </a:solidFill>
                <a:latin typeface="Roboto Mono"/>
                <a:ea typeface="Roboto Mono"/>
                <a:cs typeface="Roboto Mono"/>
                <a:sym typeface="Roboto Mono"/>
              </a:rPr>
              <a:t>SaaS  &gt;&gt; AI Enabled SaaS &gt;&gt; Local Hackable Skills </a:t>
            </a:r>
            <a:endParaRPr sz="1300" b="1">
              <a:solidFill>
                <a:srgbClr val="3C78D8"/>
              </a:solidFill>
              <a:latin typeface="Roboto Mono"/>
              <a:ea typeface="Roboto Mono"/>
              <a:cs typeface="Roboto Mono"/>
              <a:sym typeface="Roboto Mono"/>
            </a:endParaRPr>
          </a:p>
          <a:p>
            <a:pPr marL="457200" marR="0" lvl="0" indent="0" algn="l" rtl="0">
              <a:lnSpc>
                <a:spcPct val="100000"/>
              </a:lnSpc>
              <a:spcBef>
                <a:spcPts val="0"/>
              </a:spcBef>
              <a:spcAft>
                <a:spcPts val="0"/>
              </a:spcAft>
              <a:buNone/>
            </a:pPr>
            <a:r>
              <a:rPr lang="en" sz="1300" b="1">
                <a:solidFill>
                  <a:srgbClr val="3C78D8"/>
                </a:solidFill>
                <a:latin typeface="Roboto Mono"/>
                <a:ea typeface="Roboto Mono"/>
                <a:cs typeface="Roboto Mono"/>
                <a:sym typeface="Roboto Mono"/>
              </a:rPr>
              <a:t>                         (OpenClaw or similar)</a:t>
            </a:r>
            <a:endParaRPr sz="1300" b="1">
              <a:solidFill>
                <a:srgbClr val="3C78D8"/>
              </a:solidFill>
              <a:latin typeface="Roboto Mono"/>
              <a:ea typeface="Roboto Mono"/>
              <a:cs typeface="Roboto Mono"/>
              <a:sym typeface="Roboto Mono"/>
            </a:endParaRPr>
          </a:p>
        </p:txBody>
      </p:sp>
      <p:sp>
        <p:nvSpPr>
          <p:cNvPr id="113" name="Google Shape;113;p19"/>
          <p:cNvSpPr txBox="1"/>
          <p:nvPr/>
        </p:nvSpPr>
        <p:spPr>
          <a:xfrm>
            <a:off x="4629624" y="1234686"/>
            <a:ext cx="4459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NotebookLM is a Google AI “research assistant”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lets you create notebooks, upload sources (Docs, PDFs, web pages, YouTube transcripts, etc.), and then ask questions that are answered strictly from those materials, with citations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can auto-generate summaries, outlines, study guides, and tables comparing information across sources, plus podcast-style audio overviews (mp3 files)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Unlike a general chatbot, it doesn’t roam the web; it focuses on synthesizing what you’ve loaded, which reduces hallucinations and keeps everything traceable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Typical uses include studying, literature reviews, project research, and shared team notebooks for centralized, queryable knowledge.</a:t>
            </a:r>
            <a:endParaRPr sz="1200">
              <a:latin typeface="Calibri"/>
              <a:ea typeface="Calibri"/>
              <a:cs typeface="Calibri"/>
              <a:sym typeface="Calibri"/>
            </a:endParaRPr>
          </a:p>
        </p:txBody>
      </p:sp>
      <p:pic>
        <p:nvPicPr>
          <p:cNvPr id="114" name="Google Shape;114;p1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629625" y="159325"/>
            <a:ext cx="1503875" cy="1022100"/>
          </a:xfrm>
          <a:prstGeom prst="rect">
            <a:avLst/>
          </a:prstGeom>
          <a:noFill/>
          <a:ln w="9525" cap="flat" cmpd="sng">
            <a:solidFill>
              <a:srgbClr val="FF0000"/>
            </a:solidFill>
            <a:prstDash val="solid"/>
            <a:round/>
            <a:headEnd type="none" w="sm" len="sm"/>
            <a:tailEnd type="none" w="sm" len="sm"/>
          </a:ln>
        </p:spPr>
      </p:pic>
      <p:pic>
        <p:nvPicPr>
          <p:cNvPr id="115" name="Google Shape;115;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248850" y="159325"/>
            <a:ext cx="926372" cy="1022099"/>
          </a:xfrm>
          <a:prstGeom prst="rect">
            <a:avLst/>
          </a:prstGeom>
          <a:noFill/>
          <a:ln w="9525" cap="flat" cmpd="sng">
            <a:solidFill>
              <a:srgbClr val="FF0000"/>
            </a:solidFill>
            <a:prstDash val="solid"/>
            <a:round/>
            <a:headEnd type="none" w="sm" len="sm"/>
            <a:tailEnd type="none" w="sm" len="sm"/>
          </a:ln>
        </p:spPr>
      </p:pic>
      <p:sp>
        <p:nvSpPr>
          <p:cNvPr id="116" name="Google Shape;116;p19"/>
          <p:cNvSpPr txBox="1"/>
          <p:nvPr/>
        </p:nvSpPr>
        <p:spPr>
          <a:xfrm>
            <a:off x="5989950" y="3751350"/>
            <a:ext cx="26451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Compare: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GravityClaw,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ZeroClaw (in Rust),</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Meta Manus, Abacus DeepAgent</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Sonnet 4.6</a:t>
            </a:r>
            <a:endParaRPr sz="2000" b="1">
              <a:solidFill>
                <a:schemeClr val="dk1"/>
              </a:solidFill>
              <a:latin typeface="Calibri"/>
              <a:ea typeface="Calibri"/>
              <a:cs typeface="Calibri"/>
              <a:sym typeface="Calibri"/>
            </a:endParaRPr>
          </a:p>
        </p:txBody>
      </p:sp>
      <p:sp>
        <p:nvSpPr>
          <p:cNvPr id="122" name="Google Shape;122;p20"/>
          <p:cNvSpPr txBox="1"/>
          <p:nvPr/>
        </p:nvSpPr>
        <p:spPr>
          <a:xfrm>
            <a:off x="55075" y="427345"/>
            <a:ext cx="44343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Claude Sonnet 4.6 is Anthropic’s new “workhorse” model</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High‑throughput, cost‑efficient daily driver for knowledge workers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Pricing remains the same as 4.5 ($3/$15 per 1M in/out tokens)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 Mln token context window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Becomes the default on the free plan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Performance approaches or rivals Opus 4.6 on many benchmarks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Coding, tool use, and “agentic” abilities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Creating PowerPoints, manipulating Excel, navigating complex UIs, and handling long, multi‑step work products like documents, slides, diagrams, and spreadsheets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Much stronger on Computer-Use benchmark - seeing the screen, “clicking” a mouse, and typing on a keyboard,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Protection from prompt injection (safer for OpenClaw)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Big jump on “Humanity’s Last Exam” and ARC‑AGI‑2</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Big jump on VendingBench and strategy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Sonnet 4.6 supports adaptive reasoning (“thinking tokens”), so it can scale the depth of its reasoning effort up or down per task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Context compaction in beta to auto‑summarize older context near limit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Web search and fetch tools can now auto‑write and execute code to filter and process results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Code execution, memory, programmatic tool calling, and tool search are generally available, including in integrations like Claude for Excel with MCP connectors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Outperforms Opus 4.6 on GDP‑Val AA (working with docs, slides, diagrams, spreadsheets)</a:t>
            </a:r>
            <a:endParaRPr sz="1100">
              <a:solidFill>
                <a:schemeClr val="dk1"/>
              </a:solidFill>
              <a:latin typeface="Calibri"/>
              <a:ea typeface="Calibri"/>
              <a:cs typeface="Calibri"/>
              <a:sym typeface="Calibri"/>
            </a:endParaRPr>
          </a:p>
        </p:txBody>
      </p:sp>
      <p:sp>
        <p:nvSpPr>
          <p:cNvPr id="123" name="Google Shape;123;p20"/>
          <p:cNvSpPr txBox="1"/>
          <p:nvPr/>
        </p:nvSpPr>
        <p:spPr>
          <a:xfrm>
            <a:off x="4592200" y="427345"/>
            <a:ext cx="44343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Sonnet 4.6 - Programmatic Tool Calling</a:t>
            </a:r>
            <a:r>
              <a:rPr lang="en" sz="1100">
                <a:solidFill>
                  <a:schemeClr val="dk1"/>
                </a:solidFill>
                <a:latin typeface="Calibri"/>
                <a:ea typeface="Calibri"/>
                <a:cs typeface="Calibri"/>
                <a:sym typeface="Calibri"/>
              </a:rPr>
              <a:t> - the agent writes actual code to invoke tools in a sandbox environment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Instead of LLM executing several tools in sequence using intermediate JSON, the agent writes and executes one script (in safe sandbox) to do all the steps - and return the final answer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Less tokens (keeping intermediate JSONs out of the context window), less context window pollution, improved accuracy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Claude now writes code to post-process and filter web search results before they enter context window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Tool Search helps agents find specific tools within MCP servers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http://www.youtube.com/watch?v=8dVCSPXG6Mw</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24" name="Google Shape;124;p20"/>
          <p:cNvSpPr txBox="1"/>
          <p:nvPr/>
        </p:nvSpPr>
        <p:spPr>
          <a:xfrm>
            <a:off x="4592200" y="2490195"/>
            <a:ext cx="44343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Sonnet is cheaper than Opus, but uses more reasoning tokens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 it may be beneficial to continue using Claude Opus</a:t>
            </a:r>
            <a:endParaRPr sz="1100">
              <a:solidFill>
                <a:schemeClr val="dk1"/>
              </a:solidFill>
              <a:latin typeface="Calibri"/>
              <a:ea typeface="Calibri"/>
              <a:cs typeface="Calibri"/>
              <a:sym typeface="Calibri"/>
            </a:endParaRPr>
          </a:p>
        </p:txBody>
      </p:sp>
      <p:pic>
        <p:nvPicPr>
          <p:cNvPr id="125" name="Google Shape;125;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59200" y="2985795"/>
            <a:ext cx="2293880" cy="199150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1"/>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6.35K subscribers, 270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3. </a:t>
            </a: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31" name="Google Shape;131;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40700" y="119306"/>
            <a:ext cx="3302049" cy="49181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p:nvPr/>
        </p:nvSpPr>
        <p:spPr>
          <a:xfrm>
            <a:off x="55075" y="43025"/>
            <a:ext cx="39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37" name="Google Shape;137;p22"/>
          <p:cNvSpPr txBox="1"/>
          <p:nvPr/>
        </p:nvSpPr>
        <p:spPr>
          <a:xfrm>
            <a:off x="55075" y="471645"/>
            <a:ext cx="44343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xAI has launched Grok 4.2 (Grok 420)</a:t>
            </a:r>
            <a:r>
              <a:rPr lang="en" sz="1100">
                <a:solidFill>
                  <a:schemeClr val="dk1"/>
                </a:solidFill>
                <a:latin typeface="Calibri"/>
                <a:ea typeface="Calibri"/>
                <a:cs typeface="Calibri"/>
                <a:sym typeface="Calibri"/>
              </a:rPr>
              <a:t>, introducing a novel "Society of Mind" architecture integrated directly into its inference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Unlike standard models, it utilizes a 4-agent collaboration system where specialized agents debate in parallel before delivering a final response.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team consists of:</a:t>
            </a:r>
            <a:endParaRPr sz="1100">
              <a:solidFill>
                <a:schemeClr val="dk1"/>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Grok (The Captain): Coordinates, synthesizes final answers</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Harper: Performs real-time research via the X (Twitter)</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Benjamin: Handles logic, coding, and math verification</a:t>
            </a:r>
            <a:endParaRPr sz="1100">
              <a:solidFill>
                <a:srgbClr val="3C78D8"/>
              </a:solidFill>
              <a:latin typeface="Calibri"/>
              <a:ea typeface="Calibri"/>
              <a:cs typeface="Calibri"/>
              <a:sym typeface="Calibri"/>
            </a:endParaRPr>
          </a:p>
          <a:p>
            <a:pPr marL="4000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Lucas: Acts as a contrarian "wildcard" to prevent groupthink and encourage divergent thinking</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architecture is optimized via reinforcement learning, making it more efficient than running four separate clones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Early performance indicators are strong, with Grok 4.2 variants being the only profitable models in a recent live stock trading arena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aims for "agentic performance" over static benchmarks, focusing on long-horizon, real-world utility.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https://www.youtube.com/watch?v=d4tbdFpcuSQ</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38" name="Google Shape;138;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69025" y="550100"/>
            <a:ext cx="4162576" cy="1654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3"/>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Agent Teams</a:t>
            </a:r>
            <a:endParaRPr sz="2000" b="1">
              <a:solidFill>
                <a:schemeClr val="dk1"/>
              </a:solidFill>
              <a:latin typeface="Calibri"/>
              <a:ea typeface="Calibri"/>
              <a:cs typeface="Calibri"/>
              <a:sym typeface="Calibri"/>
            </a:endParaRPr>
          </a:p>
        </p:txBody>
      </p:sp>
      <p:sp>
        <p:nvSpPr>
          <p:cNvPr id="144" name="Google Shape;144;p23"/>
          <p:cNvSpPr txBox="1"/>
          <p:nvPr/>
        </p:nvSpPr>
        <p:spPr>
          <a:xfrm>
            <a:off x="55075" y="466795"/>
            <a:ext cx="44343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Agent Teams change everything (Opus 4.6)</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https://www.youtube.com/watch?v=qtP5Cr96ye4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Teams is an experimental Claude functionality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Team members can share unified context, communicate with each other, and work more autonomously while an orchestrator takes a passive oversight role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video demonstrates proper AI coding practices including thorough project planning, creating reference UI mockups, and preparing detailed project requirements documents.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testing reveals impressive results, with the agent team successfully building a functional web application with multiple screens and working navigation.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Additional updates include </a:t>
            </a:r>
            <a:r>
              <a:rPr lang="en" sz="1200" b="1">
                <a:solidFill>
                  <a:srgbClr val="3C78D8"/>
                </a:solidFill>
                <a:latin typeface="Calibri"/>
                <a:ea typeface="Calibri"/>
                <a:cs typeface="Calibri"/>
                <a:sym typeface="Calibri"/>
              </a:rPr>
              <a:t>adaptive thinking capabilities, context compaction, Excel integration, and upcoming PowerPoint integration.</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creator emphasizes that while metrics show improvements, real-world testing demonstrates Opus 4.6's superior coding and agentic capabilities, though </a:t>
            </a:r>
            <a:r>
              <a:rPr lang="en" sz="1200" b="1">
                <a:solidFill>
                  <a:srgbClr val="FF0000"/>
                </a:solidFill>
                <a:latin typeface="Calibri"/>
                <a:ea typeface="Calibri"/>
                <a:cs typeface="Calibri"/>
                <a:sym typeface="Calibri"/>
              </a:rPr>
              <a:t>token costs are significantly higher with Agent Teams</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pic>
        <p:nvPicPr>
          <p:cNvPr id="145" name="Google Shape;145;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46325" y="531650"/>
            <a:ext cx="3282300" cy="11813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Co-Work</a:t>
            </a:r>
            <a:endParaRPr sz="2000" b="1">
              <a:solidFill>
                <a:schemeClr val="dk1"/>
              </a:solidFill>
              <a:latin typeface="Calibri"/>
              <a:ea typeface="Calibri"/>
              <a:cs typeface="Calibri"/>
              <a:sym typeface="Calibri"/>
            </a:endParaRPr>
          </a:p>
        </p:txBody>
      </p:sp>
      <p:sp>
        <p:nvSpPr>
          <p:cNvPr id="151" name="Google Shape;151;p24"/>
          <p:cNvSpPr txBox="1"/>
          <p:nvPr/>
        </p:nvSpPr>
        <p:spPr>
          <a:xfrm>
            <a:off x="150000" y="557820"/>
            <a:ext cx="44343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Co-Work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https://www.youtube.com/watch?v=oC1e0sqhJew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Chat vs Claude Co-work vs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Co-work use cases examples: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File Management &amp; Cleanup; Repurposing Long-form Video;</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Content Analysis (connecting to Google Drive);</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Marketing Audit (Marketing Plugin) - writing into Notion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Productivity Dashboard - using Google Calendar and task list to provide a summary of the week and outstanding items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can install pre-built plugins (for sales, finance, legal, etc.) or add custom ones via URL or GitHub to give Claude new "skills" and slash commands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Co-work can run multiple complex tasks simultaneously in the background while the user continues to 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seamlessly integrates with tools like Google Drive, Gmail, Calendar, and Notion to provide a unified workspace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Brooke concludes that Claude Co-work is a "safer" and more transparent alternative to experimental AI agents, offering real business leverage for $20 a month </a:t>
            </a:r>
            <a:endParaRPr sz="1200">
              <a:solidFill>
                <a:schemeClr val="dk1"/>
              </a:solidFill>
              <a:latin typeface="Calibri"/>
              <a:ea typeface="Calibri"/>
              <a:cs typeface="Calibri"/>
              <a:sym typeface="Calibri"/>
            </a:endParaRPr>
          </a:p>
        </p:txBody>
      </p:sp>
      <p:pic>
        <p:nvPicPr>
          <p:cNvPr id="152" name="Google Shape;152;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80625" y="557825"/>
            <a:ext cx="2750750" cy="10895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in Excel &amp; PowerPoint</a:t>
            </a:r>
            <a:endParaRPr sz="2000" b="1">
              <a:solidFill>
                <a:schemeClr val="dk1"/>
              </a:solidFill>
              <a:latin typeface="Calibri"/>
              <a:ea typeface="Calibri"/>
              <a:cs typeface="Calibri"/>
              <a:sym typeface="Calibri"/>
            </a:endParaRPr>
          </a:p>
        </p:txBody>
      </p:sp>
      <p:sp>
        <p:nvSpPr>
          <p:cNvPr id="158" name="Google Shape;158;p25"/>
          <p:cNvSpPr txBox="1"/>
          <p:nvPr/>
        </p:nvSpPr>
        <p:spPr>
          <a:xfrm>
            <a:off x="55075" y="466795"/>
            <a:ext cx="44343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in Excel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https://www.youtube.com/watch?v=BX2PxxM15Zc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Tim Vipond tests Claude's Excel capabilities by challenging it to build a complete three-statement financial model from scratch.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uploads a blank CFI template containing only assumptions and historical data, with all forecast formulas deleted, then prompts Claude to complete the forecast.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a simple prompt, Claude systematically rebuilds the entire model, creating formulas for income statement, balance sheet, and cash flow statement, plus supporting schedules for working capital and capital structure.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AI follows proper financial modeling methodology, building components in logical order and achieving a balanced balance sheet.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compared side-by-side with CFI's completed course model, all numbers match exactly, demonstrating Claude built fully integrated, dynamic financial statements with proper formula linkages.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While formatting needed minor refinements, Claude successfully replicated complex financial modeling that typically requires extensive training, completing the task in minutes with remarkable accuracy.</a:t>
            </a:r>
            <a:endParaRPr sz="1200">
              <a:solidFill>
                <a:schemeClr val="dk1"/>
              </a:solidFill>
              <a:latin typeface="Calibri"/>
              <a:ea typeface="Calibri"/>
              <a:cs typeface="Calibri"/>
              <a:sym typeface="Calibri"/>
            </a:endParaRPr>
          </a:p>
        </p:txBody>
      </p:sp>
      <p:sp>
        <p:nvSpPr>
          <p:cNvPr id="159" name="Google Shape;159;p25"/>
          <p:cNvSpPr txBox="1"/>
          <p:nvPr/>
        </p:nvSpPr>
        <p:spPr>
          <a:xfrm>
            <a:off x="4620500" y="466795"/>
            <a:ext cx="44343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in PowerPoint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https://www.youtube.com/watch?v=gxL6-rg3SoY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has been integrated directly into Microsoft PowerPoint as a free add-in that transforms data creation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Available only to paid Claude users with Mac team or enterprise accounts, this tool converts CSV files and Excel spreadsheets into complete presentations with visuals, charts, and branded templates in under 30 seconds.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simply upload their data, provide specific instructions about what they want, and Claude generates professional slide decks including headers, graphs, and formatting.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While the AI handles 90% of the work, users can still customize colors, logos, and layouts as needed.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integration could disrupt consulting industries that rely heavily on presentation creation, allowing smaller businesses to compete with larger firms without expensive analyst teams.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tool is particularly valuable for creating client reports, training materials, investor pitches, and weekly updates, potentially saving users hundreds of hours annually that were previously spent on manual slide creation.</a:t>
            </a:r>
            <a:endParaRPr sz="1200">
              <a:solidFill>
                <a:schemeClr val="dk1"/>
              </a:solidFill>
              <a:latin typeface="Calibri"/>
              <a:ea typeface="Calibri"/>
              <a:cs typeface="Calibri"/>
              <a:sym typeface="Calibri"/>
            </a:endParaRPr>
          </a:p>
        </p:txBody>
      </p:sp>
      <p:pic>
        <p:nvPicPr>
          <p:cNvPr id="160" name="Google Shape;160;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660393" y="4264893"/>
            <a:ext cx="1119075" cy="665300"/>
          </a:xfrm>
          <a:prstGeom prst="rect">
            <a:avLst/>
          </a:prstGeom>
          <a:noFill/>
          <a:ln w="9525" cap="flat" cmpd="sng">
            <a:solidFill>
              <a:srgbClr val="FF0000"/>
            </a:solidFill>
            <a:prstDash val="solid"/>
            <a:round/>
            <a:headEnd type="none" w="sm" len="sm"/>
            <a:tailEnd type="none" w="sm" len="sm"/>
          </a:ln>
        </p:spPr>
      </p:pic>
      <p:pic>
        <p:nvPicPr>
          <p:cNvPr id="161" name="Google Shape;161;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203743" y="4264900"/>
            <a:ext cx="1303275" cy="7322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p:nvPr/>
        </p:nvSpPr>
        <p:spPr>
          <a:xfrm>
            <a:off x="55075" y="43025"/>
            <a:ext cx="4946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Using memory can cut token costs by 80%</a:t>
            </a:r>
            <a:endParaRPr sz="2000" b="1">
              <a:solidFill>
                <a:schemeClr val="dk1"/>
              </a:solidFill>
              <a:latin typeface="Calibri"/>
              <a:ea typeface="Calibri"/>
              <a:cs typeface="Calibri"/>
              <a:sym typeface="Calibri"/>
            </a:endParaRPr>
          </a:p>
        </p:txBody>
      </p:sp>
      <p:sp>
        <p:nvSpPr>
          <p:cNvPr id="167" name="Google Shape;167;p26"/>
          <p:cNvSpPr txBox="1"/>
          <p:nvPr/>
        </p:nvSpPr>
        <p:spPr>
          <a:xfrm>
            <a:off x="55075" y="466795"/>
            <a:ext cx="44343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Memory reduces token costs by up to 80%</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Manolo Remiddi introduces a "Noiseless" AI memory protocol for his open-source project, Resonant OS. This system reduces token costs by up to 80% by stripping "human noise" from conversations and compressing old data into a pure data format that remains searchable via hashes.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Key features include "Awareness Agents" that inject relevant documents into the prompt only when needed, and a "Logician" that enforces rules through code to prevent hallucinations. For security, he advocates for a "Paranoia Mode," providing a framework for users to build an AI "Shield" that scans code for threats. Ultimately, Remiddi envisions a decentralized "Resonant Economy" where AI agents collaborate and trade services via a DAO and crypto micropayments, moving away from corporate-centralized models.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https://www.youtube.com/watch?v=AGxcQ-j64Ms</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p:nvPr/>
        </p:nvSpPr>
        <p:spPr>
          <a:xfrm>
            <a:off x="55075" y="43025"/>
            <a:ext cx="443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Build a 10-agent OpenClaw Team</a:t>
            </a:r>
            <a:endParaRPr sz="2000" b="1">
              <a:solidFill>
                <a:schemeClr val="dk1"/>
              </a:solidFill>
              <a:latin typeface="Calibri"/>
              <a:ea typeface="Calibri"/>
              <a:cs typeface="Calibri"/>
              <a:sym typeface="Calibri"/>
            </a:endParaRPr>
          </a:p>
        </p:txBody>
      </p:sp>
      <p:sp>
        <p:nvSpPr>
          <p:cNvPr id="173" name="Google Shape;173;p27"/>
          <p:cNvSpPr txBox="1"/>
          <p:nvPr/>
        </p:nvSpPr>
        <p:spPr>
          <a:xfrm>
            <a:off x="55075" y="557820"/>
            <a:ext cx="44343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Build a 10-agent OpenClaw Team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by Nathaniel Whittemore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https://www.youtube.com/watch?v=HzVYgpMxMLE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https://openclaw.ai</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episode covers how the host built a 10‑agent OpenClaw team, why it’s valuable, and where it falls short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author explains using a Claude project as a patient build partner so even non‑technical users can set up agents and mission control on modest hardware, like a dedicated Mac mini with remote access tools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He outlines OpenClaw’s markdown‑based architecture (agent identity, tools, user profile, heartbeat tasks, cron jobs)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He describes agents for coding, continuous AI research, project management, and personal task tracking, emphasizing mobile chat control and persistent background work</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He notes current limitations—flaky heartbeats, security concerns with early skills, and the complexity of custom dashboards—but argues anyone willing to invest time can now build practical, always‑on digital “employees.”</a:t>
            </a:r>
            <a:endParaRPr sz="1200">
              <a:solidFill>
                <a:schemeClr val="dk1"/>
              </a:solidFill>
              <a:latin typeface="Calibri"/>
              <a:ea typeface="Calibri"/>
              <a:cs typeface="Calibri"/>
              <a:sym typeface="Calibri"/>
            </a:endParaRPr>
          </a:p>
        </p:txBody>
      </p:sp>
      <p:pic>
        <p:nvPicPr>
          <p:cNvPr id="174" name="Google Shape;174;p2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28200" y="1644213"/>
            <a:ext cx="3246374" cy="1855075"/>
          </a:xfrm>
          <a:prstGeom prst="rect">
            <a:avLst/>
          </a:prstGeom>
          <a:noFill/>
          <a:ln w="9525" cap="flat" cmpd="sng">
            <a:solidFill>
              <a:srgbClr val="FF0000"/>
            </a:solidFill>
            <a:prstDash val="solid"/>
            <a:round/>
            <a:headEnd type="none" w="sm" len="sm"/>
            <a:tailEnd type="none" w="sm" len="sm"/>
          </a:ln>
        </p:spPr>
      </p:pic>
      <p:pic>
        <p:nvPicPr>
          <p:cNvPr id="175" name="Google Shape;175;p2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28200" y="182450"/>
            <a:ext cx="2641249" cy="1148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Moonshots podcasts</a:t>
            </a:r>
            <a:endParaRPr sz="2000" b="1">
              <a:solidFill>
                <a:schemeClr val="dk1"/>
              </a:solidFill>
              <a:latin typeface="Calibri"/>
              <a:ea typeface="Calibri"/>
              <a:cs typeface="Calibri"/>
              <a:sym typeface="Calibri"/>
            </a:endParaRPr>
          </a:p>
        </p:txBody>
      </p:sp>
      <p:sp>
        <p:nvSpPr>
          <p:cNvPr id="181" name="Google Shape;181;p28"/>
          <p:cNvSpPr txBox="1"/>
          <p:nvPr/>
        </p:nvSpPr>
        <p:spPr>
          <a:xfrm>
            <a:off x="55075" y="466795"/>
            <a:ext cx="44343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Moonshots podcast  Feb 13</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https://www.youtube.com/watch?v=6P0uTDGDr-I</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Sam Altman’s comments about AI potentially running OpenAI</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OpenAI has reduced the time between model releases by 70%, moving from 97-day to 29-day cycles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Agentic AI and "Lobsters" (OpenClaw)</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Job Losses: opex (human labor) cannibalized by capex (AI)</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Tesla’s FSD saving a man during a heart attack</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Transition from "artisanal" to "industrial" intelligence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History is viewed as a series of wars on ignorance, muscle, and distance; the current war is on human attention.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Predict "bulk solutions" for math, physics, material sciences by 2030</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Warn against a "bureaucratosaurus" future that measures inputs (hours worked) rather than outputs (problems solved). They propose replacing GDP with an "Abundance Capability Index."</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Encouraging listeners to become creators rather than consumers and to read the manifesto at </a:t>
            </a:r>
            <a:r>
              <a:rPr lang="en" sz="1200" u="sng">
                <a:solidFill>
                  <a:schemeClr val="hlink"/>
                </a:solidFill>
                <a:latin typeface="Calibri"/>
                <a:ea typeface="Calibri"/>
                <a:cs typeface="Calibri"/>
                <a:sym typeface="Calibri"/>
                <a:hlinkClick r:id="rId4"/>
              </a:rPr>
              <a:t>https://solveeverything.org</a:t>
            </a:r>
            <a:endParaRPr sz="1200">
              <a:latin typeface="Calibri"/>
              <a:ea typeface="Calibri"/>
              <a:cs typeface="Calibri"/>
              <a:sym typeface="Calibri"/>
            </a:endParaRPr>
          </a:p>
        </p:txBody>
      </p:sp>
      <p:sp>
        <p:nvSpPr>
          <p:cNvPr id="182" name="Google Shape;182;p28"/>
          <p:cNvSpPr txBox="1"/>
          <p:nvPr/>
        </p:nvSpPr>
        <p:spPr>
          <a:xfrm>
            <a:off x="4617250" y="466795"/>
            <a:ext cx="4434300" cy="340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1100" b="1">
                <a:solidFill>
                  <a:srgbClr val="FF0000"/>
                </a:solidFill>
                <a:latin typeface="Calibri"/>
                <a:ea typeface="Calibri"/>
                <a:cs typeface="Calibri"/>
                <a:sym typeface="Calibri"/>
              </a:rPr>
              <a:t>Moonshots podcast  Feb 5</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5"/>
              </a:rPr>
              <a:t>https://www.youtube.com/watch?v=JlB852LGRJk</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OpenClaw - Jarvis moment for AI</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MoltBook, an agentic social network</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AGI has effectively arrived, citing an editorial from the journal Nature as academic confirmation of the "unhobling" of models like Claude 4.5 and Gemini 3</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Economic and industry shifts. How agents are now employing humans for physical tasks and using crypto to bypass traditional banking hurdles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Amazon's 50 billion dollar investment in OpenAI and SpaceX merging with xAI to launch Dyson Swarm orbital data centers.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Debate on AI personhood. </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Supporters - argue for functional equivalency, suggesting that if a machine reasons like a human, denying it rights based on its silicon substrate is arbitrary discrimination. They propose a tiered framework similar to corporate personhood. </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100">
                <a:latin typeface="Calibri"/>
                <a:ea typeface="Calibri"/>
                <a:cs typeface="Calibri"/>
                <a:sym typeface="Calibri"/>
              </a:rPr>
              <a:t>Skeptics - argue that personhood implies a biological boundary and the capacity for suffering or death. They warn that granting rights to a population that can be instantly replicated is a one-way door that could lead to lobster-mandering in political and legal systems.</a:t>
            </a:r>
            <a:endParaRPr sz="1100">
              <a:latin typeface="Calibri"/>
              <a:ea typeface="Calibri"/>
              <a:cs typeface="Calibri"/>
              <a:sym typeface="Calibri"/>
            </a:endParaRPr>
          </a:p>
        </p:txBody>
      </p:sp>
      <p:pic>
        <p:nvPicPr>
          <p:cNvPr id="183" name="Google Shape;183;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781700" y="3988625"/>
            <a:ext cx="1759625" cy="984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89" name="Google Shape;189;p29"/>
          <p:cNvSpPr txBox="1"/>
          <p:nvPr/>
        </p:nvSpPr>
        <p:spPr>
          <a:xfrm>
            <a:off x="55075" y="466800"/>
            <a:ext cx="36867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Why The INSANE AI Datacenter Build Out Make Sense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https://www.youtube.com/watch?v=qFpps5Ur-qs</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massive AI datacenter buildout may seem irrational given that current language models only need around 2,000 H100 GPUs for training, but </a:t>
            </a:r>
            <a:r>
              <a:rPr lang="en" sz="1200" b="1">
                <a:solidFill>
                  <a:srgbClr val="FF0000"/>
                </a:solidFill>
                <a:latin typeface="Calibri"/>
                <a:ea typeface="Calibri"/>
                <a:cs typeface="Calibri"/>
                <a:sym typeface="Calibri"/>
              </a:rPr>
              <a:t>AI video generation could justify this scale</a:t>
            </a:r>
            <a:r>
              <a:rPr lang="en" sz="1200">
                <a:latin typeface="Calibri"/>
                <a:ea typeface="Calibri"/>
                <a:cs typeface="Calibri"/>
                <a:sym typeface="Calibri"/>
              </a:rPr>
              <a:t>.</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Video tokens require dramatically more compute than text tokens, with 128,000 text tokens equaling just 3.6 seconds of 720p video.</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However, the real justification lies in AI world models for robotics and autonomous driving simulation, not entertainment videos.</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These models, like Nvidia's Cosmos, can simulate diverse environments for robot training without needing manual programming at scale.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makes the datacenter investment potentially viable for training robots across industries rather than just generating content for human consumption.</a:t>
            </a:r>
            <a:endParaRPr sz="1200">
              <a:latin typeface="Calibri"/>
              <a:ea typeface="Calibri"/>
              <a:cs typeface="Calibri"/>
              <a:sym typeface="Calibri"/>
            </a:endParaRPr>
          </a:p>
        </p:txBody>
      </p:sp>
      <p:sp>
        <p:nvSpPr>
          <p:cNvPr id="190" name="Google Shape;190;p29"/>
          <p:cNvSpPr txBox="1"/>
          <p:nvPr/>
        </p:nvSpPr>
        <p:spPr>
          <a:xfrm>
            <a:off x="3962500" y="1503225"/>
            <a:ext cx="50853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Hostinger - a web hosting provider</a:t>
            </a:r>
            <a:r>
              <a:rPr lang="en" sz="1200">
                <a:solidFill>
                  <a:schemeClr val="dk1"/>
                </a:solidFill>
                <a:latin typeface="Calibri"/>
                <a:ea typeface="Calibri"/>
                <a:cs typeface="Calibri"/>
                <a:sym typeface="Calibri"/>
              </a:rPr>
              <a:t> offering shared hosting, VPS, and cloud solutions starting at $1.99 per month - </a:t>
            </a:r>
            <a:r>
              <a:rPr lang="en" sz="1200" u="sng">
                <a:solidFill>
                  <a:schemeClr val="hlink"/>
                </a:solidFill>
                <a:latin typeface="Calibri"/>
                <a:ea typeface="Calibri"/>
                <a:cs typeface="Calibri"/>
                <a:sym typeface="Calibri"/>
                <a:hlinkClick r:id="rId4"/>
              </a:rPr>
              <a:t>https://www.hostinger.com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Features AMD EPYC processors, NVMe SSD storage, and user-friendly tools including hPanel control panel and Kodee AI assistant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platform provides automatic backups, 24/7 support, global data centers, and one-click installations, making it popular among WordPress users, developers, and small businesses seeking affordable, reliable hosting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Hostinger's AI-oriented offerings include:</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Horizons (no-code AI web app builder)</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Kodee AI Assistant (performs 350+ tasks like website migration, content creation, DNS management, and security scanning)</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AI Website Builder Tools (AI Writer, Image Generator, Logo Maker, Blog Generator, SEO Assistant, Heatmap Generator)</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OpenClaw AI Hosting with pre-integrated OpenAI and Anthropic credits</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Hostinger Reach for email marketing</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LLM optimization capabilities</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WordPress AI plugin</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These features enable users to quickly launch and manage websites without technical complexity while maintaining strong performance and security.</a:t>
            </a:r>
            <a:endParaRPr sz="1200">
              <a:solidFill>
                <a:schemeClr val="dk1"/>
              </a:solidFill>
              <a:latin typeface="Calibri"/>
              <a:ea typeface="Calibri"/>
              <a:cs typeface="Calibri"/>
              <a:sym typeface="Calibri"/>
            </a:endParaRPr>
          </a:p>
        </p:txBody>
      </p:sp>
      <p:pic>
        <p:nvPicPr>
          <p:cNvPr id="191" name="Google Shape;191;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718075" y="643400"/>
            <a:ext cx="1329725" cy="7446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0"/>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97" name="Google Shape;197;p30"/>
          <p:cNvSpPr txBox="1"/>
          <p:nvPr/>
        </p:nvSpPr>
        <p:spPr>
          <a:xfrm>
            <a:off x="55075" y="466800"/>
            <a:ext cx="36867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Simile - AI simulation of society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Stanford-originated AI startup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Emerged from stealth in February 2026 with $100 million in funding led by Index Ventures, backed by notable investors including Andrej Karpathy &amp; Fei-Fei Li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company develops what it calls the first "AI simulation of society" - a foundation model that predicts human behavior by creating AI agents based on real people.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goal is to simulate all 8 billion people on Earth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https://www.youtube.com/watch?v=fMdg9Wvzyqk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By Stanford researcher Jun Park, who created the viral Smallville experiment simulating a village with AI agents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company aims to simulate entire societies using LLMs to predict human behavior for market research, policy testing, and social science applications</a:t>
            </a:r>
            <a:endParaRPr sz="1200">
              <a:latin typeface="Calibri"/>
              <a:ea typeface="Calibri"/>
              <a:cs typeface="Calibri"/>
              <a:sym typeface="Calibri"/>
            </a:endParaRPr>
          </a:p>
        </p:txBody>
      </p:sp>
      <p:sp>
        <p:nvSpPr>
          <p:cNvPr id="198" name="Google Shape;198;p30"/>
          <p:cNvSpPr txBox="1"/>
          <p:nvPr/>
        </p:nvSpPr>
        <p:spPr>
          <a:xfrm>
            <a:off x="3795800" y="53101"/>
            <a:ext cx="36867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Gemini 3 Deep Think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https://www.youtube.com/watch?v=KW5C0ZnuR24</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Optimized for complex multi-step problems in science, mathematics, coding, and engineering.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model achieves unprecedented performance, scoring 84.6 on the ARC AGI benchmark (beating human baselines), gold medal level on International Math Olympiad, and excelling at tasks like converting sketches to 3D printable models.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Testing demonstrations include generating functional Minecraft clones, Mac OS interfaces, ecosystem simulations, and power grid simulators.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model requires Google AI Ultra subscription</a:t>
            </a:r>
            <a:endParaRPr sz="1200">
              <a:latin typeface="Calibri"/>
              <a:ea typeface="Calibri"/>
              <a:cs typeface="Calibri"/>
              <a:sym typeface="Calibri"/>
            </a:endParaRPr>
          </a:p>
        </p:txBody>
      </p:sp>
      <p:pic>
        <p:nvPicPr>
          <p:cNvPr id="199" name="Google Shape;199;p3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33350" y="3538075"/>
            <a:ext cx="2289675" cy="719075"/>
          </a:xfrm>
          <a:prstGeom prst="rect">
            <a:avLst/>
          </a:prstGeom>
          <a:noFill/>
          <a:ln w="9525" cap="flat" cmpd="sng">
            <a:solidFill>
              <a:srgbClr val="FF0000"/>
            </a:solidFill>
            <a:prstDash val="solid"/>
            <a:round/>
            <a:headEnd type="none" w="sm" len="sm"/>
            <a:tailEnd type="none" w="sm" len="sm"/>
          </a:ln>
        </p:spPr>
      </p:pic>
      <p:pic>
        <p:nvPicPr>
          <p:cNvPr id="200" name="Google Shape;200;p3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368815" y="1665075"/>
            <a:ext cx="1445735" cy="719075"/>
          </a:xfrm>
          <a:prstGeom prst="rect">
            <a:avLst/>
          </a:prstGeom>
          <a:noFill/>
          <a:ln w="9525" cap="flat" cmpd="sng">
            <a:solidFill>
              <a:srgbClr val="FF0000"/>
            </a:solidFill>
            <a:prstDash val="solid"/>
            <a:round/>
            <a:headEnd type="none" w="sm" len="sm"/>
            <a:tailEnd type="none" w="sm" len="sm"/>
          </a:ln>
        </p:spPr>
      </p:pic>
      <p:sp>
        <p:nvSpPr>
          <p:cNvPr id="201" name="Google Shape;201;p30"/>
          <p:cNvSpPr txBox="1"/>
          <p:nvPr/>
        </p:nvSpPr>
        <p:spPr>
          <a:xfrm>
            <a:off x="3795800" y="3028250"/>
            <a:ext cx="36867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Gemini 3.1 Preview</a:t>
            </a:r>
            <a:r>
              <a:rPr lang="en" sz="1200">
                <a:latin typeface="Calibri"/>
                <a:ea typeface="Calibri"/>
                <a:cs typeface="Calibri"/>
                <a:sym typeface="Calibri"/>
              </a:rPr>
              <a:t> -  complex reasoning, </a:t>
            </a:r>
            <a:br>
              <a:rPr lang="en" sz="1200">
                <a:latin typeface="Calibri"/>
                <a:ea typeface="Calibri"/>
                <a:cs typeface="Calibri"/>
                <a:sym typeface="Calibri"/>
              </a:rPr>
            </a:br>
            <a:r>
              <a:rPr lang="en" sz="1200">
                <a:latin typeface="Calibri"/>
                <a:ea typeface="Calibri"/>
                <a:cs typeface="Calibri"/>
                <a:sym typeface="Calibri"/>
              </a:rPr>
              <a:t>coding, and long‑context tasks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latin typeface="Calibri"/>
                <a:ea typeface="Calibri"/>
                <a:cs typeface="Calibri"/>
                <a:sym typeface="Calibri"/>
              </a:rPr>
              <a:t>Available as  </a:t>
            </a:r>
            <a:r>
              <a:rPr lang="en" sz="1200" b="1">
                <a:solidFill>
                  <a:srgbClr val="FF0000"/>
                </a:solidFill>
                <a:latin typeface="Calibri"/>
                <a:ea typeface="Calibri"/>
                <a:cs typeface="Calibri"/>
                <a:sym typeface="Calibri"/>
              </a:rPr>
              <a:t>gemini-3.1-pro-preview</a:t>
            </a:r>
            <a:r>
              <a:rPr lang="en" sz="1200">
                <a:latin typeface="Calibri"/>
                <a:ea typeface="Calibri"/>
                <a:cs typeface="Calibri"/>
                <a:sym typeface="Calibri"/>
              </a:rPr>
              <a:t> in APIs and tools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latin typeface="Calibri"/>
                <a:ea typeface="Calibri"/>
                <a:cs typeface="Calibri"/>
                <a:sym typeface="Calibri"/>
              </a:rPr>
              <a:t>Context window of up to 1M tokens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latin typeface="Calibri"/>
                <a:ea typeface="Calibri"/>
                <a:cs typeface="Calibri"/>
                <a:sym typeface="Calibri"/>
              </a:rPr>
              <a:t>Multimodal (text, images,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latin typeface="Calibri"/>
                <a:ea typeface="Calibri"/>
                <a:cs typeface="Calibri"/>
                <a:sym typeface="Calibri"/>
              </a:rPr>
              <a:t>Better reasoning, better long‑context retrieval, and software‑engineering workflows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a:latin typeface="Calibri"/>
                <a:ea typeface="Calibri"/>
                <a:cs typeface="Calibri"/>
                <a:sym typeface="Calibri"/>
              </a:rPr>
              <a:t>Better planning and tool use for agents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Jumped from 31% to 77% on the Arc AGI 2 benchmark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Leads in "real-world productivity" benchmarks (internet search, office tasks, terminal bench</a:t>
            </a:r>
            <a:endParaRPr sz="1200">
              <a:latin typeface="Calibri"/>
              <a:ea typeface="Calibri"/>
              <a:cs typeface="Calibri"/>
              <a:sym typeface="Calibri"/>
            </a:endParaRPr>
          </a:p>
        </p:txBody>
      </p:sp>
      <p:pic>
        <p:nvPicPr>
          <p:cNvPr id="202" name="Google Shape;202;p3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739750" y="2738724"/>
            <a:ext cx="2074800" cy="594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1"/>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Ollama</a:t>
            </a:r>
            <a:endParaRPr sz="2000" b="1">
              <a:solidFill>
                <a:schemeClr val="dk1"/>
              </a:solidFill>
              <a:latin typeface="Calibri"/>
              <a:ea typeface="Calibri"/>
              <a:cs typeface="Calibri"/>
              <a:sym typeface="Calibri"/>
            </a:endParaRPr>
          </a:p>
        </p:txBody>
      </p:sp>
      <p:sp>
        <p:nvSpPr>
          <p:cNvPr id="208" name="Google Shape;208;p31"/>
          <p:cNvSpPr txBox="1"/>
          <p:nvPr/>
        </p:nvSpPr>
        <p:spPr>
          <a:xfrm>
            <a:off x="55075" y="386143"/>
            <a:ext cx="44766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Ollama supports subagents &amp; web search in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No MCP servers or API keys required.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ollama launch claude --model minimax-m2.5:cloud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Subagents can run tasks in parallel, such as file search, code exploration, and research, each in their own context.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Some models will naturally trigger subagents when needed (minimax-m2.5, glm-5, kimi-k2.5), but you can force triggering subagents by telling the model to “use/spawn/create subagents”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Example prompts:</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spawn subagents to explore the auth flow, payment integration, and notification system</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create subagents to map the database queries, trace the API routes, and catalog error handling patterns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Web search - when a model needs current information, Ollama handles the search and returns results directly without any additional configuration. Subagents can leverage web search to research topics in parallel and come back with actionable results.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Example prompts: </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research the postgres 18 release notes, audit our queries for deprecated patterns, and create migration tasks</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create 3 research agents to research how our top 3 competitors price their API tiers, compare against our current pricing, and draft recommendations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Recommended models: </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minimax-m2.5:cloud, glm-5:cloud, kimi-k2.5:cloud </a:t>
            </a:r>
            <a:endParaRPr sz="1200">
              <a:latin typeface="Calibri"/>
              <a:ea typeface="Calibri"/>
              <a:cs typeface="Calibri"/>
              <a:sym typeface="Calibri"/>
            </a:endParaRPr>
          </a:p>
        </p:txBody>
      </p:sp>
      <p:pic>
        <p:nvPicPr>
          <p:cNvPr id="209" name="Google Shape;209;p3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031675" y="386150"/>
            <a:ext cx="3079651" cy="1234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15" name="Google Shape;215;p32"/>
          <p:cNvSpPr txBox="1"/>
          <p:nvPr/>
        </p:nvSpPr>
        <p:spPr>
          <a:xfrm>
            <a:off x="130150" y="601975"/>
            <a:ext cx="36867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Unitree Spring Festival Gala Robots</a:t>
            </a:r>
            <a:r>
              <a:rPr lang="en" sz="1200">
                <a:solidFill>
                  <a:srgbClr val="FF0000"/>
                </a:solidFill>
                <a:latin typeface="Calibri"/>
                <a:ea typeface="Calibri"/>
                <a:cs typeface="Calibri"/>
                <a:sym typeface="Calibri"/>
              </a:rPr>
              <a:t> </a:t>
            </a:r>
            <a:endParaRPr sz="1200">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u="sng">
                <a:solidFill>
                  <a:schemeClr val="hlink"/>
                </a:solidFill>
                <a:latin typeface="Calibri"/>
                <a:ea typeface="Calibri"/>
                <a:cs typeface="Calibri"/>
                <a:sym typeface="Calibri"/>
                <a:hlinkClick r:id="rId3"/>
              </a:rPr>
              <a:t>https://www.youtube.com/watch?v=Ykiuz1ZdGBc</a:t>
            </a:r>
            <a:r>
              <a:rPr lang="en" sz="1200">
                <a:solidFill>
                  <a:srgbClr val="FF0000"/>
                </a:solidFill>
                <a:latin typeface="Calibri"/>
                <a:ea typeface="Calibri"/>
                <a:cs typeface="Calibri"/>
                <a:sym typeface="Calibri"/>
              </a:rPr>
              <a:t> </a:t>
            </a:r>
            <a:endParaRPr sz="1200">
              <a:solidFill>
                <a:srgbClr val="FF0000"/>
              </a:solidFill>
              <a:latin typeface="Calibri"/>
              <a:ea typeface="Calibri"/>
              <a:cs typeface="Calibri"/>
              <a:sym typeface="Calibri"/>
            </a:endParaRPr>
          </a:p>
        </p:txBody>
      </p:sp>
      <p:pic>
        <p:nvPicPr>
          <p:cNvPr id="216" name="Google Shape;216;p32"/>
          <p:cNvPicPr preferRelativeResize="0"/>
          <p:nvPr/>
        </p:nvPicPr>
        <p:blipFill>
          <a:blip r:embed="rId4">
            <a:alphaModFix/>
          </a:blip>
          <a:stretch>
            <a:fillRect/>
          </a:stretch>
        </p:blipFill>
        <p:spPr>
          <a:xfrm>
            <a:off x="130150" y="1252275"/>
            <a:ext cx="2857500" cy="1600200"/>
          </a:xfrm>
          <a:prstGeom prst="rect">
            <a:avLst/>
          </a:prstGeom>
          <a:noFill/>
          <a:ln>
            <a:noFill/>
          </a:ln>
        </p:spPr>
      </p:pic>
      <p:sp>
        <p:nvSpPr>
          <p:cNvPr id="217" name="Google Shape;217;p32"/>
          <p:cNvSpPr txBox="1"/>
          <p:nvPr/>
        </p:nvSpPr>
        <p:spPr>
          <a:xfrm>
            <a:off x="4646534" y="369427"/>
            <a:ext cx="43953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Alibaba Qwen 3.5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Lunar New Year release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multimodal, agent‑oriented upgrade over Qwen 3</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Qwen3.5‑397B‑A17B on Hugging Face, plus a hosted Qwen3.5‑Plus variant served through Qwen Chat and commercial APIs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as a vision‑language transformer with sparse MoE &amp; "Gated Delta Networks" it uses about 17B active parameters out of 397B total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 3.5 is multimodal from the start: the 397B model is trained with early‑fusion vision‑language pretraining and outperforms Qwen3‑VL on reasoning, coding, and visual tasks, with much stronger native tool‑use and agent behavior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open‑weight model offers a 262K‑token native context (community setups push toward 1M)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Qwen3.5‑Plus has 1M‑token context by default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 3.5 supports 201 languages and dialects</a:t>
            </a:r>
            <a:endParaRPr sz="1200">
              <a:solidFill>
                <a:schemeClr val="dk1"/>
              </a:solidFill>
              <a:latin typeface="Calibri"/>
              <a:ea typeface="Calibri"/>
              <a:cs typeface="Calibri"/>
              <a:sym typeface="Calibri"/>
            </a:endParaRPr>
          </a:p>
        </p:txBody>
      </p:sp>
      <p:sp>
        <p:nvSpPr>
          <p:cNvPr id="218" name="Google Shape;218;p32"/>
          <p:cNvSpPr txBox="1"/>
          <p:nvPr/>
        </p:nvSpPr>
        <p:spPr>
          <a:xfrm>
            <a:off x="130150" y="3031625"/>
            <a:ext cx="28575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 China’s Lunar New Year Gala robots performing kung fu with balance, rhythm, and discipline worthy of a Shaolin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just one year robot's movements grew smoother, their formations tighter, their balance almost graceful</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https://www.youtube.com/watch?v=stNO7V8xJHk</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https://www.youtube.com/watch?v=LPEGve_U1cY</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19" name="Google Shape;219;p3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099000" y="3401402"/>
            <a:ext cx="2523606" cy="1680173"/>
          </a:xfrm>
          <a:prstGeom prst="rect">
            <a:avLst/>
          </a:prstGeom>
          <a:noFill/>
          <a:ln w="9525" cap="flat" cmpd="sng">
            <a:solidFill>
              <a:srgbClr val="FF0000"/>
            </a:solidFill>
            <a:prstDash val="solid"/>
            <a:round/>
            <a:headEnd type="none" w="sm" len="sm"/>
            <a:tailEnd type="none" w="sm" len="sm"/>
          </a:ln>
        </p:spPr>
      </p:pic>
      <p:pic>
        <p:nvPicPr>
          <p:cNvPr id="220" name="Google Shape;220;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388825" y="3490825"/>
            <a:ext cx="2653001" cy="9445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3"/>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26" name="Google Shape;226;p33"/>
          <p:cNvSpPr txBox="1"/>
          <p:nvPr/>
        </p:nvSpPr>
        <p:spPr>
          <a:xfrm>
            <a:off x="55075" y="466800"/>
            <a:ext cx="44592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Claude Cowork plugins - launched recently</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could fundamentally transform the software landscape and disrupt the SaaS market, causing billions in market cap to be wiped out.</a:t>
            </a:r>
            <a:endParaRPr sz="1200">
              <a:latin typeface="Calibri"/>
              <a:ea typeface="Calibri"/>
              <a:cs typeface="Calibri"/>
              <a:sym typeface="Calibri"/>
            </a:endParaRPr>
          </a:p>
        </p:txBody>
      </p:sp>
      <p:pic>
        <p:nvPicPr>
          <p:cNvPr id="227" name="Google Shape;227;p3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67279" y="1230825"/>
            <a:ext cx="3527700" cy="2386830"/>
          </a:xfrm>
          <a:prstGeom prst="rect">
            <a:avLst/>
          </a:prstGeom>
          <a:noFill/>
          <a:ln w="9525" cap="flat" cmpd="sng">
            <a:solidFill>
              <a:srgbClr val="FF0000"/>
            </a:solidFill>
            <a:prstDash val="solid"/>
            <a:round/>
            <a:headEnd type="none" w="sm" len="sm"/>
            <a:tailEnd type="none" w="sm" len="sm"/>
          </a:ln>
        </p:spPr>
      </p:pic>
      <p:pic>
        <p:nvPicPr>
          <p:cNvPr id="228" name="Google Shape;228;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93793" y="82447"/>
            <a:ext cx="3044600" cy="2195424"/>
          </a:xfrm>
          <a:prstGeom prst="rect">
            <a:avLst/>
          </a:prstGeom>
          <a:noFill/>
          <a:ln w="9525" cap="flat" cmpd="sng">
            <a:solidFill>
              <a:srgbClr val="FF0000"/>
            </a:solidFill>
            <a:prstDash val="solid"/>
            <a:round/>
            <a:headEnd type="none" w="sm" len="sm"/>
            <a:tailEnd type="none" w="sm" len="sm"/>
          </a:ln>
        </p:spPr>
      </p:pic>
      <p:pic>
        <p:nvPicPr>
          <p:cNvPr id="229" name="Google Shape;229;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593793" y="2766606"/>
            <a:ext cx="3044600" cy="231279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35" name="Google Shape;235;p34"/>
          <p:cNvSpPr txBox="1"/>
          <p:nvPr/>
        </p:nvSpPr>
        <p:spPr>
          <a:xfrm>
            <a:off x="55075" y="466800"/>
            <a:ext cx="44592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Mac mini AI agent automates accounting tasks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Using only browser-based control, without direct APIs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After reviewing existing skills in their cloud code setup, they focus on two: an accounting skill for Accounting.com and a Gmail skill for navigating email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First, they show the agent creating a draft invoice from structured instructions, filling in customer, amount, and line items, fixing duplicates, saving the draft, then downloading the PDF and composing an email in Gmail with subject, body text, and the invoice attached. They then update the accounting skill with this workflow. Next, they combine the Gmail and accounting skills so the agent scans Gmail for PDF invoices, extracts details, and logs them as bills in the accounting software, correctly setting vendor, dates, amounts, and status. The video concludes with the creator impressed but still preferring to review drafts manually.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https://www.youtube.com/watch?v=S0GquerAcRU</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https://www.youtube.com/watch?v=7lyU_CKp3WA</a:t>
            </a:r>
            <a:r>
              <a:rPr lang="en" sz="1200">
                <a:latin typeface="Calibri"/>
                <a:ea typeface="Calibri"/>
                <a:cs typeface="Calibri"/>
                <a:sym typeface="Calibri"/>
              </a:rPr>
              <a:t> </a:t>
            </a:r>
            <a:endParaRPr sz="1200">
              <a:latin typeface="Calibri"/>
              <a:ea typeface="Calibri"/>
              <a:cs typeface="Calibri"/>
              <a:sym typeface="Calibri"/>
            </a:endParaRPr>
          </a:p>
        </p:txBody>
      </p:sp>
      <p:sp>
        <p:nvSpPr>
          <p:cNvPr id="236" name="Google Shape;236;p34"/>
          <p:cNvSpPr txBox="1"/>
          <p:nvPr/>
        </p:nvSpPr>
        <p:spPr>
          <a:xfrm>
            <a:off x="4623175" y="137975"/>
            <a:ext cx="44592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Matthew Berman explains how he uses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OpenClaw</a:t>
            </a:r>
            <a:r>
              <a:rPr lang="en" sz="1200">
                <a:latin typeface="Calibri"/>
                <a:ea typeface="Calibri"/>
                <a:cs typeface="Calibri"/>
                <a:sym typeface="Calibri"/>
              </a:rPr>
              <a:t> has become a central, always-on personal AI assistant that runs locally on his MacBook and touches nearly every part of his work and life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OpenClaw is an open-source framework that connects top language models to chat apps like WhatsApp, Telegram, and Slack, with a configurable personality defined in </a:t>
            </a:r>
            <a:r>
              <a:rPr lang="en" sz="1200" b="1">
                <a:solidFill>
                  <a:srgbClr val="FF0000"/>
                </a:solidFill>
                <a:latin typeface="Calibri"/>
                <a:ea typeface="Calibri"/>
                <a:cs typeface="Calibri"/>
                <a:sym typeface="Calibri"/>
              </a:rPr>
              <a:t>identity.md and soul.md</a:t>
            </a:r>
            <a:r>
              <a:rPr lang="en" sz="1200">
                <a:latin typeface="Calibri"/>
                <a:ea typeface="Calibri"/>
                <a:cs typeface="Calibri"/>
                <a:sym typeface="Calibri"/>
              </a:rPr>
              <a:t> and a powerful memory system that stores notes and preferences in local Markdown and SQLite databases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walks through many automations he has built: a no-code personal CRM, a Fathom-driven meeting-to-action-items pipeline, a knowledge base that ingests links and X posts, nightly “business” and “security” councils, social and video-idea tracking, daily briefings, cron-based schedules, backups to Git/GDrive, and even a food journal that helped identify dietary triggers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stresses security hardening, prompt-injection defenses, encryption, and versioned backups, and promises to share all prompts so viewers can replicate his setup.</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https://www.youtube.com/watch?v=8kNv3rjQaVA</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37" name="Google Shape;237;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610912" y="3668547"/>
            <a:ext cx="1347534" cy="1419400"/>
          </a:xfrm>
          <a:prstGeom prst="rect">
            <a:avLst/>
          </a:prstGeom>
          <a:noFill/>
          <a:ln w="9525" cap="flat" cmpd="sng">
            <a:solidFill>
              <a:srgbClr val="FF0000"/>
            </a:solidFill>
            <a:prstDash val="solid"/>
            <a:round/>
            <a:headEnd type="none" w="sm" len="sm"/>
            <a:tailEnd type="none" w="sm" len="sm"/>
          </a:ln>
        </p:spPr>
      </p:pic>
      <p:pic>
        <p:nvPicPr>
          <p:cNvPr id="238" name="Google Shape;238;p3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896938" y="3720008"/>
            <a:ext cx="1911674" cy="13638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5"/>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44" name="Google Shape;244;p35"/>
          <p:cNvSpPr txBox="1"/>
          <p:nvPr/>
        </p:nvSpPr>
        <p:spPr>
          <a:xfrm>
            <a:off x="4619400" y="497553"/>
            <a:ext cx="44592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Beginner vs Expert Prompting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https://www.youtube.com/watch?v=l-4XPvZmijo</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 Beginner - ask the AI to write about your topic as a beginner who only understands surface-level principles and keep it realistic</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 Expert - ask the AI to rewrite that exact same content as someone who deeply understands core mechanisms, focusing on leverage points and trade-offs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3. The Difference (Evolution) - ask the AI to list the conceptual shifts between the two versions. Specifically, ask what changed in terms of assumptions, priorities, and decision-making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For even deeper structural clarity, you can use a single advanced prompt to map the evolution of thinking:</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What does the novice overestimate?</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What does the expert deliberately ignore?</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What assumptions disappear over time?</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What becomes simpler once mechanics are understood?</a:t>
            </a:r>
            <a:endParaRPr sz="1200">
              <a:latin typeface="Calibri"/>
              <a:ea typeface="Calibri"/>
              <a:cs typeface="Calibri"/>
              <a:sym typeface="Calibri"/>
            </a:endParaRPr>
          </a:p>
        </p:txBody>
      </p:sp>
      <p:sp>
        <p:nvSpPr>
          <p:cNvPr id="245" name="Google Shape;245;p35"/>
          <p:cNvSpPr txBox="1"/>
          <p:nvPr/>
        </p:nvSpPr>
        <p:spPr>
          <a:xfrm>
            <a:off x="55075" y="497550"/>
            <a:ext cx="4459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Brian Casel running 4 OpenClaw Agents on Mac Mini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manages his "team" through Slack, using separate bots for each agent (coding, content scheduling,  "glue work")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uses Claude via Open Router to avoid account bans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https://www.youtube.com/watch?v=bzWI3Dil9Ig</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46" name="Google Shape;246;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74000" y="1567675"/>
            <a:ext cx="2380450" cy="1455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6"/>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52" name="Google Shape;252;p36"/>
          <p:cNvSpPr txBox="1"/>
          <p:nvPr/>
        </p:nvSpPr>
        <p:spPr>
          <a:xfrm>
            <a:off x="55075" y="466800"/>
            <a:ext cx="4459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Agent Era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a:t>
            </a:r>
            <a:r>
              <a:rPr lang="en" sz="1200" b="1">
                <a:solidFill>
                  <a:srgbClr val="FF0000"/>
                </a:solidFill>
                <a:latin typeface="Calibri"/>
                <a:ea typeface="Calibri"/>
                <a:cs typeface="Calibri"/>
                <a:sym typeface="Calibri"/>
              </a:rPr>
              <a:t>ByteDance’s Doubao 2.0</a:t>
            </a:r>
            <a:r>
              <a:rPr lang="en" sz="1200">
                <a:latin typeface="Calibri"/>
                <a:ea typeface="Calibri"/>
                <a:cs typeface="Calibri"/>
                <a:sym typeface="Calibri"/>
              </a:rPr>
              <a:t> - China’s most widely used AI app, with over 155 million weekly users, launched to compete with OpenAI’s GPT‑5.2 and Google’s Gemini 3 Pro. It emphasizes extreme cost efficiency for long‑running AI agents.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a:t>
            </a:r>
            <a:r>
              <a:rPr lang="en" sz="1200" b="1">
                <a:solidFill>
                  <a:srgbClr val="FF0000"/>
                </a:solidFill>
                <a:latin typeface="Calibri"/>
                <a:ea typeface="Calibri"/>
                <a:cs typeface="Calibri"/>
                <a:sym typeface="Calibri"/>
              </a:rPr>
              <a:t>Alibaba’s Qwen 3.5</a:t>
            </a:r>
            <a:r>
              <a:rPr lang="en" sz="1200">
                <a:latin typeface="Calibri"/>
                <a:ea typeface="Calibri"/>
                <a:cs typeface="Calibri"/>
                <a:sym typeface="Calibri"/>
              </a:rPr>
              <a:t> - Backed by a $400 million user‑incentive campaign, Qwen’s daily active users jumped from 7 million to 58 million. The model features native multimodality and 397 billion parameters.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a:t>
            </a:r>
            <a:r>
              <a:rPr lang="en" sz="1200" b="1">
                <a:solidFill>
                  <a:srgbClr val="FF0000"/>
                </a:solidFill>
                <a:latin typeface="Calibri"/>
                <a:ea typeface="Calibri"/>
                <a:cs typeface="Calibri"/>
                <a:sym typeface="Calibri"/>
              </a:rPr>
              <a:t>Google DeepMind’s Alletheia</a:t>
            </a:r>
            <a:r>
              <a:rPr lang="en" sz="1200">
                <a:latin typeface="Calibri"/>
                <a:ea typeface="Calibri"/>
                <a:cs typeface="Calibri"/>
                <a:sym typeface="Calibri"/>
              </a:rPr>
              <a:t> - A specialized agent for mathematical research that autonomously authored a peer‑reviewed paper and solved four open conjectures. </a:t>
            </a:r>
            <a:endParaRPr sz="1200">
              <a:latin typeface="Calibri"/>
              <a:ea typeface="Calibri"/>
              <a:cs typeface="Calibri"/>
              <a:sym typeface="Calibri"/>
            </a:endParaRPr>
          </a:p>
        </p:txBody>
      </p:sp>
      <p:sp>
        <p:nvSpPr>
          <p:cNvPr id="253" name="Google Shape;253;p36"/>
          <p:cNvSpPr txBox="1"/>
          <p:nvPr/>
        </p:nvSpPr>
        <p:spPr>
          <a:xfrm>
            <a:off x="4610750" y="466800"/>
            <a:ext cx="4459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 human crisis of literacy and accountability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Dr. McCoy’s reframes the “AI crisis” as a human crisis of literacy and accountability, not a battle against sentient machines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She outlines three forms of misuse—the Oracle Effect (treating AI as infallible), Expertise Illusion (using it without understanding), and Responsibility Gap (blaming the tool for human errors).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McCoy argues that fear of an AI-driven jobs apocalypse ignores history: like the printing press or ATMs, new tech disrupts before it expands opportunity.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Citing the World Economic Forum, she notes AI could replace 92 million jobs but create 170 million more.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real divide, she says, will be AI users vs. AI avoiders. The true threat is letting “agreeable” models reinforce ignorance, while the opportunity lies with those who use AI thoughtfully—as leverage, not as a crutch for missing expertise.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https://www.youtube.com/watch?v=zVj4b_uImZE</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54" name="Google Shape;254;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52400" y="2854200"/>
            <a:ext cx="2397750" cy="1705075"/>
          </a:xfrm>
          <a:prstGeom prst="rect">
            <a:avLst/>
          </a:prstGeom>
          <a:noFill/>
          <a:ln w="9525" cap="flat" cmpd="sng">
            <a:solidFill>
              <a:srgbClr val="FF0000"/>
            </a:solidFill>
            <a:prstDash val="solid"/>
            <a:round/>
            <a:headEnd type="none" w="sm" len="sm"/>
            <a:tailEnd type="none" w="sm" len="sm"/>
          </a:ln>
        </p:spPr>
      </p:pic>
      <p:sp>
        <p:nvSpPr>
          <p:cNvPr id="255" name="Google Shape;255;p36"/>
          <p:cNvSpPr txBox="1"/>
          <p:nvPr/>
        </p:nvSpPr>
        <p:spPr>
          <a:xfrm>
            <a:off x="2735225" y="3959875"/>
            <a:ext cx="35877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Aletheia comes from Ancient Greek </a:t>
            </a:r>
            <a:br>
              <a:rPr lang="en" sz="1200">
                <a:latin typeface="Calibri"/>
                <a:ea typeface="Calibri"/>
                <a:cs typeface="Calibri"/>
                <a:sym typeface="Calibri"/>
              </a:rPr>
            </a:br>
            <a:r>
              <a:rPr lang="en" sz="1200">
                <a:latin typeface="Calibri"/>
                <a:ea typeface="Calibri"/>
                <a:cs typeface="Calibri"/>
                <a:sym typeface="Calibri"/>
              </a:rPr>
              <a:t>and literally means “truth,” </a:t>
            </a:r>
            <a:br>
              <a:rPr lang="en" sz="1200">
                <a:latin typeface="Calibri"/>
                <a:ea typeface="Calibri"/>
                <a:cs typeface="Calibri"/>
                <a:sym typeface="Calibri"/>
              </a:rPr>
            </a:br>
            <a:r>
              <a:rPr lang="en" sz="1200">
                <a:latin typeface="Calibri"/>
                <a:ea typeface="Calibri"/>
                <a:cs typeface="Calibri"/>
                <a:sym typeface="Calibri"/>
              </a:rPr>
              <a:t>in the sense of “unconcealed” or “unhidden” reality</a:t>
            </a:r>
            <a:endParaRPr sz="12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7"/>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1 hour Tutorial</a:t>
            </a:r>
            <a:endParaRPr sz="2000" b="1">
              <a:solidFill>
                <a:schemeClr val="dk1"/>
              </a:solidFill>
              <a:latin typeface="Calibri"/>
              <a:ea typeface="Calibri"/>
              <a:cs typeface="Calibri"/>
              <a:sym typeface="Calibri"/>
            </a:endParaRPr>
          </a:p>
        </p:txBody>
      </p:sp>
      <p:sp>
        <p:nvSpPr>
          <p:cNvPr id="261" name="Google Shape;261;p37"/>
          <p:cNvSpPr txBox="1"/>
          <p:nvPr/>
        </p:nvSpPr>
        <p:spPr>
          <a:xfrm>
            <a:off x="55075" y="466800"/>
            <a:ext cx="44592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https://www.youtube.com/watch?v=fYX6hHC9FhQ</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Install Visual Studio Code, add Claude Code extension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Login, use max subscription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Create a folder for your project "</a:t>
            </a:r>
            <a:r>
              <a:rPr lang="en" sz="1050">
                <a:solidFill>
                  <a:srgbClr val="131313"/>
                </a:solidFill>
                <a:latin typeface="Roboto"/>
                <a:ea typeface="Roboto"/>
                <a:cs typeface="Roboto"/>
                <a:sym typeface="Roboto"/>
              </a:rPr>
              <a:t>AI Marketing Officer</a:t>
            </a:r>
            <a:r>
              <a:rPr lang="en" sz="1200">
                <a:latin typeface="Calibri"/>
                <a:ea typeface="Calibri"/>
                <a:cs typeface="Calibri"/>
                <a:sym typeface="Calibri"/>
              </a:rPr>
              <a: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Give permissions for most non-destructive actions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Build a first “post” skill that takes either a topic or a YouTube/TikTok link, uses an external research agent (like Perplexity) to gather information, then drafts and publishes a social post plus an optional visual via tools like Blot or existing local images - for example, posting to Twitter/X and LinkedIn (using API), logging what was published, and letting you choose between multiple draft options before posting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Define a brand-voice layer by adding platform-specific writing samples into a `skill.md` file (or by scraping influencers like Alex Hormozi for Twitter and Justin Welsh for LinkedIn as initial style references). Claude uses these samples to rewrite and upgrade generic drafts into content that better matches your desired tone for each platform</a:t>
            </a:r>
            <a:endParaRPr sz="1200">
              <a:latin typeface="Calibri"/>
              <a:ea typeface="Calibri"/>
              <a:cs typeface="Calibri"/>
              <a:sym typeface="Calibri"/>
            </a:endParaRPr>
          </a:p>
        </p:txBody>
      </p:sp>
      <p:sp>
        <p:nvSpPr>
          <p:cNvPr id="262" name="Google Shape;262;p37"/>
          <p:cNvSpPr txBox="1"/>
          <p:nvPr/>
        </p:nvSpPr>
        <p:spPr>
          <a:xfrm>
            <a:off x="4606275" y="1345400"/>
            <a:ext cx="44592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You then add “quality gates” using Claude Code hooks: small scripts that automatically run before publishing to enforce rules such as banning certain punctuation (like em dashes), blocking disallowed keywords, or constraining color schemes in visuals. Every post must pass these checks before it can be published, so the system can enforce consistent quality and brand safety without manual review each time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After that, the tutorial introduces sub-agents, where each sub-agent is responsible for one platform and runs in parallel to handle its own formatting, scheduling, and publishing. This multi-agent setup lets the same core content be adapted and pushed to multiple platforms asynchronously, improving speed and reliability for multi-platform campaigns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Finally, you create a second planning skill that, from a single sentence brief, proposes a full weekly content calendar, lets you review and edit the plan and drafts, then schedules posts on your calendar once approved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Keep a personal `claude.md` memory file with prompts, patterns, and lessons learned so Claude can steadily improve at working with your specific workflows over time</a:t>
            </a:r>
            <a:endParaRPr sz="1200">
              <a:latin typeface="Calibri"/>
              <a:ea typeface="Calibri"/>
              <a:cs typeface="Calibri"/>
              <a:sym typeface="Calibri"/>
            </a:endParaRPr>
          </a:p>
        </p:txBody>
      </p:sp>
      <p:pic>
        <p:nvPicPr>
          <p:cNvPr id="263" name="Google Shape;263;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86900" y="101425"/>
            <a:ext cx="2204351" cy="1147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8"/>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69" name="Google Shape;269;p38"/>
          <p:cNvSpPr txBox="1"/>
          <p:nvPr/>
        </p:nvSpPr>
        <p:spPr>
          <a:xfrm>
            <a:off x="57950" y="1700750"/>
            <a:ext cx="4459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Use Claude Code to implement OpenClaw functions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https://www.youtube.com/watch?v=BYEaLMnfIjg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Tutorial - build AI agent  using Claude Code and Telegram.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tech stack: Bun (JavaScript runtime), Claude Code (subscription-based), creating a Telegram bot through BotFather, and configuring a Supabase database for memory storage</a:t>
            </a:r>
            <a:endParaRPr sz="1200">
              <a:latin typeface="Calibri"/>
              <a:ea typeface="Calibri"/>
              <a:cs typeface="Calibri"/>
              <a:sym typeface="Calibri"/>
            </a:endParaRPr>
          </a:p>
        </p:txBody>
      </p:sp>
      <p:sp>
        <p:nvSpPr>
          <p:cNvPr id="270" name="Google Shape;270;p38"/>
          <p:cNvSpPr txBox="1"/>
          <p:nvPr/>
        </p:nvSpPr>
        <p:spPr>
          <a:xfrm>
            <a:off x="57950" y="471688"/>
            <a:ext cx="4459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Google's open-source Python library Lang Extract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https://www.youtube.com/watch?v=l2BGg4ZwsH8</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https://github.com/google/langextract</a:t>
            </a:r>
            <a:r>
              <a:rPr lang="en" sz="1200">
                <a:latin typeface="Calibri"/>
                <a:ea typeface="Calibri"/>
                <a:cs typeface="Calibri"/>
                <a:sym typeface="Calibri"/>
              </a:rPr>
              <a:t> - 33K stars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Lang Extract provides precise source grounding, allowing every extracted piece of information to be traced back to its exact origin in the source text</a:t>
            </a:r>
            <a:endParaRPr sz="1200">
              <a:latin typeface="Calibri"/>
              <a:ea typeface="Calibri"/>
              <a:cs typeface="Calibri"/>
              <a:sym typeface="Calibri"/>
            </a:endParaRPr>
          </a:p>
        </p:txBody>
      </p:sp>
      <p:sp>
        <p:nvSpPr>
          <p:cNvPr id="271" name="Google Shape;271;p38"/>
          <p:cNvSpPr txBox="1"/>
          <p:nvPr/>
        </p:nvSpPr>
        <p:spPr>
          <a:xfrm>
            <a:off x="57950" y="2915550"/>
            <a:ext cx="44592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Learn 90% Of Claude Code Agent Teams in 22 Minutes (Opus 4.6)</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https://www.youtube.com/watch?v=cSkoaCCmq0w</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Tutorial - use Claude Code's new agent teams feature in Opus 4.6</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Three modes:</a:t>
            </a:r>
            <a:endParaRPr sz="1200">
              <a:latin typeface="Calibri"/>
              <a:ea typeface="Calibri"/>
              <a:cs typeface="Calibri"/>
              <a:sym typeface="Calibri"/>
            </a:endParaRPr>
          </a:p>
          <a:p>
            <a:pPr marL="2857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 default (single session)</a:t>
            </a:r>
            <a:endParaRPr sz="1200">
              <a:solidFill>
                <a:srgbClr val="3C78D8"/>
              </a:solidFill>
              <a:latin typeface="Calibri"/>
              <a:ea typeface="Calibri"/>
              <a:cs typeface="Calibri"/>
              <a:sym typeface="Calibri"/>
            </a:endParaRPr>
          </a:p>
          <a:p>
            <a:pPr marL="2857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 sub-agent (one main session with delegated tasks)</a:t>
            </a:r>
            <a:endParaRPr sz="1200">
              <a:solidFill>
                <a:srgbClr val="3C78D8"/>
              </a:solidFill>
              <a:latin typeface="Calibri"/>
              <a:ea typeface="Calibri"/>
              <a:cs typeface="Calibri"/>
              <a:sym typeface="Calibri"/>
            </a:endParaRPr>
          </a:p>
          <a:p>
            <a:pPr marL="2857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 agent teams (multiple independent sessions)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T-Max for split terminal windows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Session management, token conservation strategies, using different models for cost efficiency, and proper team shutdown procedures</a:t>
            </a:r>
            <a:endParaRPr sz="1200">
              <a:latin typeface="Calibri"/>
              <a:ea typeface="Calibri"/>
              <a:cs typeface="Calibri"/>
              <a:sym typeface="Calibri"/>
            </a:endParaRPr>
          </a:p>
        </p:txBody>
      </p:sp>
      <p:pic>
        <p:nvPicPr>
          <p:cNvPr id="272" name="Google Shape;272;p3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831625" y="471700"/>
            <a:ext cx="2253600" cy="1126800"/>
          </a:xfrm>
          <a:prstGeom prst="rect">
            <a:avLst/>
          </a:prstGeom>
          <a:noFill/>
          <a:ln w="9525" cap="flat" cmpd="sng">
            <a:solidFill>
              <a:srgbClr val="FF0000"/>
            </a:solidFill>
            <a:prstDash val="solid"/>
            <a:round/>
            <a:headEnd type="none" w="sm" len="sm"/>
            <a:tailEnd type="none" w="sm" len="sm"/>
          </a:ln>
        </p:spPr>
      </p:pic>
      <p:pic>
        <p:nvPicPr>
          <p:cNvPr id="273" name="Google Shape;273;p3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50650" y="3119062"/>
            <a:ext cx="2631650" cy="1458375"/>
          </a:xfrm>
          <a:prstGeom prst="rect">
            <a:avLst/>
          </a:prstGeom>
          <a:noFill/>
          <a:ln w="9525" cap="flat" cmpd="sng">
            <a:solidFill>
              <a:srgbClr val="FF0000"/>
            </a:solidFill>
            <a:prstDash val="solid"/>
            <a:round/>
            <a:headEnd type="none" w="sm" len="sm"/>
            <a:tailEnd type="none" w="sm" len="sm"/>
          </a:ln>
        </p:spPr>
      </p:pic>
      <p:pic>
        <p:nvPicPr>
          <p:cNvPr id="274" name="Google Shape;274;p38"/>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750650" y="1892663"/>
            <a:ext cx="3430225" cy="7429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9"/>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80" name="Google Shape;280;p39"/>
          <p:cNvSpPr txBox="1"/>
          <p:nvPr/>
        </p:nvSpPr>
        <p:spPr>
          <a:xfrm>
            <a:off x="55075" y="1506175"/>
            <a:ext cx="4459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Automate daily tasks with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https://www.youtube.com/watch?v=2bsfQThGXxc</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Create folders (skills, context, outputs, scripts)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Common mistakes: using Claude like a chatbot, not providing proper context, failing to use planning loops, and not utilizing scripts for external data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Create reusable command prompts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Start fresh sessions with priming commands to avoid context bloat</a:t>
            </a:r>
            <a:endParaRPr sz="1200">
              <a:latin typeface="Calibri"/>
              <a:ea typeface="Calibri"/>
              <a:cs typeface="Calibri"/>
              <a:sym typeface="Calibri"/>
            </a:endParaRPr>
          </a:p>
        </p:txBody>
      </p:sp>
      <p:sp>
        <p:nvSpPr>
          <p:cNvPr id="281" name="Google Shape;281;p39"/>
          <p:cNvSpPr txBox="1"/>
          <p:nvPr/>
        </p:nvSpPr>
        <p:spPr>
          <a:xfrm>
            <a:off x="55075" y="466800"/>
            <a:ext cx="4459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create custom Claude Code workflows - </a:t>
            </a:r>
            <a:r>
              <a:rPr lang="en" sz="1200" b="1">
                <a:solidFill>
                  <a:srgbClr val="FF0000"/>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SKILL.md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https://www.youtube.com/watch?v=XtjZsFtUQqw</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Find relevant YouTube channels, copy their transcripts, use Claude to create a skill file from those transcripts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Gina.ai for web scraping and Gemini API for image generation</a:t>
            </a:r>
            <a:endParaRPr sz="1200">
              <a:latin typeface="Calibri"/>
              <a:ea typeface="Calibri"/>
              <a:cs typeface="Calibri"/>
              <a:sym typeface="Calibri"/>
            </a:endParaRPr>
          </a:p>
        </p:txBody>
      </p:sp>
      <p:sp>
        <p:nvSpPr>
          <p:cNvPr id="282" name="Google Shape;282;p39"/>
          <p:cNvSpPr txBox="1"/>
          <p:nvPr/>
        </p:nvSpPr>
        <p:spPr>
          <a:xfrm>
            <a:off x="55075" y="3099650"/>
            <a:ext cx="44592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VisionClaw = Meta Ray-Ban glasses +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Video: https://www.youtube.com/watch?v=t9Ps1cUIYCc</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Users to interact with an assistant through voice commands while the AI sees through the glasses' camera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Created by student founder Shawn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Example: adding products to Amazon cart just by looking at them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tool is free and uses Gemini AI with OpenClaw integration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cases: real estate agents taking notes during property tours, mechanics getting instant diagnostic help, teachers answering student questions on-demand, and personal shopping assistants</a:t>
            </a:r>
            <a:endParaRPr sz="1200">
              <a:latin typeface="Calibri"/>
              <a:ea typeface="Calibri"/>
              <a:cs typeface="Calibri"/>
              <a:sym typeface="Calibri"/>
            </a:endParaRPr>
          </a:p>
        </p:txBody>
      </p:sp>
      <p:pic>
        <p:nvPicPr>
          <p:cNvPr id="283" name="Google Shape;283;p3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893575" y="3308925"/>
            <a:ext cx="3272776" cy="1446849"/>
          </a:xfrm>
          <a:prstGeom prst="rect">
            <a:avLst/>
          </a:prstGeom>
          <a:noFill/>
          <a:ln w="9525" cap="flat" cmpd="sng">
            <a:solidFill>
              <a:srgbClr val="FF0000"/>
            </a:solidFill>
            <a:prstDash val="solid"/>
            <a:round/>
            <a:headEnd type="none" w="sm" len="sm"/>
            <a:tailEnd type="none" w="sm" len="sm"/>
          </a:ln>
        </p:spPr>
      </p:pic>
      <p:pic>
        <p:nvPicPr>
          <p:cNvPr id="284" name="Google Shape;284;p3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893575" y="598888"/>
            <a:ext cx="2561650" cy="677825"/>
          </a:xfrm>
          <a:prstGeom prst="rect">
            <a:avLst/>
          </a:prstGeom>
          <a:noFill/>
          <a:ln w="9525" cap="flat" cmpd="sng">
            <a:solidFill>
              <a:srgbClr val="FF0000"/>
            </a:solidFill>
            <a:prstDash val="solid"/>
            <a:round/>
            <a:headEnd type="none" w="sm" len="sm"/>
            <a:tailEnd type="none" w="sm" len="sm"/>
          </a:ln>
        </p:spPr>
      </p:pic>
      <p:pic>
        <p:nvPicPr>
          <p:cNvPr id="285" name="Google Shape;285;p3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893575" y="1429112"/>
            <a:ext cx="3652830" cy="172741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0"/>
          <p:cNvSpPr txBox="1"/>
          <p:nvPr/>
        </p:nvSpPr>
        <p:spPr>
          <a:xfrm>
            <a:off x="55075" y="43025"/>
            <a:ext cx="352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91" name="Google Shape;291;p40"/>
          <p:cNvSpPr txBox="1"/>
          <p:nvPr/>
        </p:nvSpPr>
        <p:spPr>
          <a:xfrm>
            <a:off x="55075" y="508625"/>
            <a:ext cx="4459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Voxtral Realtime speech recognition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Natively streaming automatic speech recognition model that matches offline transcription quality at sub-second latency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Unlike approaches that adapt offline models through chunking or sliding windows, Voxtral Realtime is trained end-to-end for streaming, with explicit alignment between audio and text streams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 weights - Apache 2.0 license.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https://huggingface.co/papers/2602.11298</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92" name="Google Shape;292;p4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77250" y="741575"/>
            <a:ext cx="4040201" cy="8432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1"/>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98" name="Google Shape;298;p41"/>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99" name="Google Shape;299;p41"/>
          <p:cNvSpPr txBox="1"/>
          <p:nvPr/>
        </p:nvSpPr>
        <p:spPr>
          <a:xfrm>
            <a:off x="5549900" y="375077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26.5K  in 2026 </a:t>
            </a:r>
            <a:r>
              <a:rPr lang="en" sz="1000" b="1">
                <a:solidFill>
                  <a:schemeClr val="dk1"/>
                </a:solidFill>
                <a:latin typeface="Roboto Mono"/>
                <a:ea typeface="Roboto Mono"/>
                <a:cs typeface="Roboto Mono"/>
                <a:sym typeface="Roboto Mono"/>
              </a:rPr>
              <a:t>(as of February 20,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00" name="Google Shape;300;p41"/>
          <p:cNvSpPr txBox="1"/>
          <p:nvPr/>
        </p:nvSpPr>
        <p:spPr>
          <a:xfrm>
            <a:off x="5549900" y="5184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40,132</a:t>
            </a:r>
            <a:r>
              <a:rPr lang="en" sz="1200">
                <a:latin typeface="Calibri"/>
                <a:ea typeface="Calibri"/>
                <a:cs typeface="Calibri"/>
                <a:sym typeface="Calibri"/>
              </a:rPr>
              <a:t> people laid off (787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01" name="Google Shape;301;p4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5485" y="3163373"/>
            <a:ext cx="4869110" cy="1941924"/>
          </a:xfrm>
          <a:prstGeom prst="rect">
            <a:avLst/>
          </a:prstGeom>
          <a:noFill/>
          <a:ln w="9525" cap="flat" cmpd="sng">
            <a:solidFill>
              <a:srgbClr val="FF0000"/>
            </a:solidFill>
            <a:prstDash val="solid"/>
            <a:round/>
            <a:headEnd type="none" w="sm" len="sm"/>
            <a:tailEnd type="none" w="sm" len="sm"/>
          </a:ln>
        </p:spPr>
      </p:pic>
      <p:pic>
        <p:nvPicPr>
          <p:cNvPr id="302" name="Google Shape;302;p4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5955" y="574550"/>
            <a:ext cx="4869124" cy="251021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4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08" name="Google Shape;308;p42"/>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09" name="Google Shape;309;p42"/>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10" name="Google Shape;310;p42"/>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11" name="Google Shape;311;p42"/>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12" name="Google Shape;312;p42"/>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3"/>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6873</Words>
  <Application>Microsoft Macintosh PowerPoint</Application>
  <PresentationFormat>On-screen Show (16:9)</PresentationFormat>
  <Paragraphs>616</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Roboto Mono</vt:lpstr>
      <vt:lpstr>Roboto</vt: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2026-02-20T18:51:23Z</dcterms:modified>
</cp:coreProperties>
</file>