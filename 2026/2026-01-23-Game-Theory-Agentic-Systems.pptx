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6858000" cy="9144000"/>
  <p:embeddedFontLst>
    <p:embeddedFont>
      <p:font typeface="Lato" panose="020F0502020204030203" pitchFamily="34" charset="77"/>
      <p:regular r:id="rId29"/>
      <p:bold r:id="rId30"/>
      <p:italic r:id="rId31"/>
      <p:boldItalic r:id="rId32"/>
    </p:embeddedFont>
    <p:embeddedFont>
      <p:font typeface="Raleway" pitchFamily="2" charset="77"/>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6317A2-45C9-43B8-B4BC-E3156471A34E}">
  <a:tblStyle styleId="{086317A2-45C9-43B8-B4BC-E3156471A34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snapToGrid="0">
      <p:cViewPr varScale="1">
        <p:scale>
          <a:sx n="125" d="100"/>
          <a:sy n="125" d="100"/>
        </p:scale>
        <p:origin x="536"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b91f555a57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b91f555a57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af1daa23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af1daa23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b91f555a57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b91f555a57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b91f555a57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b91f555a57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b91f555a57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b91f555a57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b91f555a57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b91f555a57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b91f555a57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b91f555a57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b91f555a57_0_1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b91f555a57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b91f555a57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b91f555a57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b91f555a57_0_1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b91f555a57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b91f555a57_0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b91f555a57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b91f555a57_0_1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b91f555a57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b91f555a57_0_1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b91f555a57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b91f555a57_0_1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b91f555a57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bb9e221deb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bb9e221deb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bb9e221deb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bb9e221deb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bb9e221de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bb9e221de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b91f555a57_0_1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b91f555a57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b91f555a57_0_1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b91f555a57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b91f555a57_0_1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b91f555a57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b91f555a57_0_1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b91f555a57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b91f555a57_0_1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b91f555a57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b91f555a57_0_2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b91f555a57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b91f555a57_0_2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3b91f555a57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b91f555a57_0_2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b91f555a57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Game Theory and the Dynamics of Complex Agentic Systems</a:t>
            </a:r>
            <a:endParaRPr/>
          </a:p>
        </p:txBody>
      </p:sp>
      <p:sp>
        <p:nvSpPr>
          <p:cNvPr id="87" name="Google Shape;87;p13"/>
          <p:cNvSpPr txBox="1">
            <a:spLocks noGrp="1"/>
          </p:cNvSpPr>
          <p:nvPr>
            <p:ph type="subTitle" idx="1"/>
          </p:nvPr>
        </p:nvSpPr>
        <p:spPr>
          <a:xfrm>
            <a:off x="4954051" y="3467000"/>
            <a:ext cx="3267600" cy="5436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SzPts val="935"/>
              <a:buNone/>
            </a:pPr>
            <a:r>
              <a:rPr lang="en-GB" sz="1660" b="1" i="1"/>
              <a:t>By Maxim Yakimenko</a:t>
            </a:r>
            <a:br>
              <a:rPr lang="en-GB" sz="1660" b="1" i="1"/>
            </a:br>
            <a:r>
              <a:rPr lang="en-GB" sz="1660" b="1" i="1"/>
              <a:t>Assisted by Gemini 2.5 pro</a:t>
            </a:r>
            <a:endParaRPr sz="1660" b="1" i="1"/>
          </a:p>
        </p:txBody>
      </p:sp>
      <p:pic>
        <p:nvPicPr>
          <p:cNvPr id="88" name="Google Shape;88;p1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026625" y="2987150"/>
            <a:ext cx="1851550" cy="18515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Summary</a:t>
            </a:r>
            <a:endParaRPr/>
          </a:p>
        </p:txBody>
      </p:sp>
      <p:sp>
        <p:nvSpPr>
          <p:cNvPr id="94" name="Google Shape;94;p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b="1"/>
              <a:t>Multi-agent systems</a:t>
            </a:r>
            <a:r>
              <a:rPr lang="en-GB"/>
              <a:t> (MAS) fail with standard reinforcement learning because agent outcomes depend on each other's actions in constantly changing environments.</a:t>
            </a:r>
            <a:endParaRPr/>
          </a:p>
          <a:p>
            <a:pPr marL="0" lvl="0" indent="0" algn="l" rtl="0">
              <a:spcBef>
                <a:spcPts val="1200"/>
              </a:spcBef>
              <a:spcAft>
                <a:spcPts val="0"/>
              </a:spcAft>
              <a:buNone/>
            </a:pPr>
            <a:r>
              <a:rPr lang="en-GB" b="1"/>
              <a:t>Solution</a:t>
            </a:r>
            <a:r>
              <a:rPr lang="en-GB"/>
              <a:t>: Use the game theory to model inter-dependencies.</a:t>
            </a:r>
            <a:endParaRPr/>
          </a:p>
          <a:p>
            <a:pPr marL="0" lvl="0" indent="0" algn="l" rtl="0">
              <a:spcBef>
                <a:spcPts val="1200"/>
              </a:spcBef>
              <a:spcAft>
                <a:spcPts val="0"/>
              </a:spcAft>
              <a:buNone/>
            </a:pPr>
            <a:r>
              <a:rPr lang="en-GB" b="1"/>
              <a:t>Evolutionary Game Theory </a:t>
            </a:r>
            <a:r>
              <a:rPr lang="en-GB"/>
              <a:t>(EGT) - shows how successful strategies spread through populations via replicator dynamics - what works gets replicated</a:t>
            </a:r>
            <a:endParaRPr/>
          </a:p>
          <a:p>
            <a:pPr marL="0" lvl="0" indent="0" algn="l" rtl="0">
              <a:spcBef>
                <a:spcPts val="1200"/>
              </a:spcBef>
              <a:spcAft>
                <a:spcPts val="1200"/>
              </a:spcAft>
              <a:buNone/>
            </a:pPr>
            <a:r>
              <a:rPr lang="en-GB" b="1"/>
              <a:t>Key Insight</a:t>
            </a:r>
            <a:r>
              <a:rPr lang="en-GB"/>
              <a:t>: "Survival of the flattest" means robust strategies often out-compete optimal but fragile ones in realistic, high-mutation environments.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Agenda</a:t>
            </a:r>
            <a:endParaRPr/>
          </a:p>
        </p:txBody>
      </p:sp>
      <p:sp>
        <p:nvSpPr>
          <p:cNvPr id="100" name="Google Shape;100;p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Key Terminology</a:t>
            </a:r>
            <a:endParaRPr/>
          </a:p>
          <a:p>
            <a:pPr marL="0" lvl="0" indent="0" algn="l" rtl="0">
              <a:spcBef>
                <a:spcPts val="1200"/>
              </a:spcBef>
              <a:spcAft>
                <a:spcPts val="0"/>
              </a:spcAft>
              <a:buNone/>
            </a:pPr>
            <a:r>
              <a:rPr lang="en-GB"/>
              <a:t>Game Theory in Agentic Systems: The Premise</a:t>
            </a:r>
            <a:endParaRPr/>
          </a:p>
          <a:p>
            <a:pPr marL="0" lvl="0" indent="0" algn="l" rtl="0">
              <a:spcBef>
                <a:spcPts val="1200"/>
              </a:spcBef>
              <a:spcAft>
                <a:spcPts val="0"/>
              </a:spcAft>
              <a:buNone/>
            </a:pPr>
            <a:r>
              <a:rPr lang="en-GB"/>
              <a:t>Evolutionary Game Theory: Broader Concepts</a:t>
            </a:r>
            <a:endParaRPr/>
          </a:p>
          <a:p>
            <a:pPr marL="0" lvl="0" indent="0" algn="l" rtl="0">
              <a:spcBef>
                <a:spcPts val="1200"/>
              </a:spcBef>
              <a:spcAft>
                <a:spcPts val="0"/>
              </a:spcAft>
              <a:buNone/>
            </a:pPr>
            <a:r>
              <a:rPr lang="en-GB"/>
              <a:t>Limits, Issues, and Flaws of the Approach</a:t>
            </a:r>
            <a:endParaRPr/>
          </a:p>
          <a:p>
            <a:pPr marL="0" lvl="0" indent="0" algn="l" rtl="0">
              <a:spcBef>
                <a:spcPts val="1200"/>
              </a:spcBef>
              <a:spcAft>
                <a:spcPts val="1200"/>
              </a:spcAft>
              <a:buNone/>
            </a:pPr>
            <a:r>
              <a:rPr lang="en-GB"/>
              <a:t>Conclusion and Further Reading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6"/>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Key Terminology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Foundational Concepts</a:t>
            </a:r>
            <a:endParaRPr/>
          </a:p>
        </p:txBody>
      </p:sp>
      <p:sp>
        <p:nvSpPr>
          <p:cNvPr id="111" name="Google Shape;111;p1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47500" lnSpcReduction="20000"/>
          </a:bodyPr>
          <a:lstStyle/>
          <a:p>
            <a:pPr marL="0" lvl="0" indent="0" algn="l" rtl="0">
              <a:spcBef>
                <a:spcPts val="0"/>
              </a:spcBef>
              <a:spcAft>
                <a:spcPts val="0"/>
              </a:spcAft>
              <a:buNone/>
            </a:pPr>
            <a:r>
              <a:rPr lang="en-GB" sz="2600" b="1">
                <a:solidFill>
                  <a:schemeClr val="dk2"/>
                </a:solidFill>
                <a:latin typeface="Raleway"/>
                <a:ea typeface="Raleway"/>
                <a:cs typeface="Raleway"/>
                <a:sym typeface="Raleway"/>
              </a:rPr>
              <a:t>Agentic System / Multi-Agent System</a:t>
            </a:r>
            <a:r>
              <a:rPr lang="en-GB" sz="2600">
                <a:solidFill>
                  <a:schemeClr val="dk2"/>
                </a:solidFill>
                <a:latin typeface="Raleway"/>
                <a:ea typeface="Raleway"/>
                <a:cs typeface="Raleway"/>
                <a:sym typeface="Raleway"/>
              </a:rPr>
              <a:t> (MAS): A system composed of multiple autonomous, interacting agents. Each agent makes decisions based on a set of rules and its perception of the environment.</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b="1">
                <a:solidFill>
                  <a:schemeClr val="dk2"/>
                </a:solidFill>
                <a:latin typeface="Raleway"/>
                <a:ea typeface="Raleway"/>
                <a:cs typeface="Raleway"/>
                <a:sym typeface="Raleway"/>
              </a:rPr>
              <a:t>Reinforcement Learning (</a:t>
            </a:r>
            <a:r>
              <a:rPr lang="en-GB" sz="2600">
                <a:solidFill>
                  <a:schemeClr val="dk2"/>
                </a:solidFill>
                <a:latin typeface="Raleway"/>
                <a:ea typeface="Raleway"/>
                <a:cs typeface="Raleway"/>
                <a:sym typeface="Raleway"/>
              </a:rPr>
              <a:t>RL): A type of machine learning where an agent learns to achieve a goal in a complex environment by receiving rewards or penalties for its actions.</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b="1">
                <a:solidFill>
                  <a:schemeClr val="dk2"/>
                </a:solidFill>
                <a:latin typeface="Raleway"/>
                <a:ea typeface="Raleway"/>
                <a:cs typeface="Raleway"/>
                <a:sym typeface="Raleway"/>
              </a:rPr>
              <a:t>Social-Ecological System</a:t>
            </a:r>
            <a:r>
              <a:rPr lang="en-GB" sz="2600">
                <a:solidFill>
                  <a:schemeClr val="dk2"/>
                </a:solidFill>
                <a:latin typeface="Raleway"/>
                <a:ea typeface="Raleway"/>
                <a:cs typeface="Raleway"/>
                <a:sym typeface="Raleway"/>
              </a:rPr>
              <a:t> (SES): A complex, adaptive system that includes human (social) and biophysical (ecological) subsystems in a feedback loop. Example: A farming community's interaction with its local watershed.</a:t>
            </a:r>
            <a:endParaRPr sz="2600">
              <a:solidFill>
                <a:schemeClr val="dk2"/>
              </a:solidFill>
              <a:latin typeface="Raleway"/>
              <a:ea typeface="Raleway"/>
              <a:cs typeface="Raleway"/>
              <a:sym typeface="Raleway"/>
            </a:endParaRPr>
          </a:p>
          <a:p>
            <a:pPr marL="0" lvl="0" indent="0" algn="l" rtl="0">
              <a:spcBef>
                <a:spcPts val="1200"/>
              </a:spcBef>
              <a:spcAft>
                <a:spcPts val="1200"/>
              </a:spcAft>
              <a:buNone/>
            </a:pPr>
            <a:r>
              <a:rPr lang="en-GB" sz="2600" b="1">
                <a:solidFill>
                  <a:schemeClr val="dk2"/>
                </a:solidFill>
                <a:latin typeface="Raleway"/>
                <a:ea typeface="Raleway"/>
                <a:cs typeface="Raleway"/>
                <a:sym typeface="Raleway"/>
              </a:rPr>
              <a:t>Agent-Based Model</a:t>
            </a:r>
            <a:r>
              <a:rPr lang="en-GB" sz="2600">
                <a:solidFill>
                  <a:schemeClr val="dk2"/>
                </a:solidFill>
                <a:latin typeface="Raleway"/>
                <a:ea typeface="Raleway"/>
                <a:cs typeface="Raleway"/>
                <a:sym typeface="Raleway"/>
              </a:rPr>
              <a:t> (ABM): A "bottom-up" computational technique that models a system by simulating the simultaneous operations and interactions of multiple individual agents.</a:t>
            </a:r>
            <a:endParaRPr sz="2600">
              <a:solidFill>
                <a:schemeClr val="dk2"/>
              </a:solidFill>
              <a:latin typeface="Raleway"/>
              <a:ea typeface="Raleway"/>
              <a:cs typeface="Raleway"/>
              <a:sym typeface="Raleway"/>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Game Theory Concepts</a:t>
            </a:r>
            <a:endParaRPr/>
          </a:p>
        </p:txBody>
      </p:sp>
      <p:sp>
        <p:nvSpPr>
          <p:cNvPr id="117" name="Google Shape;117;p1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47500"/>
          </a:bodyPr>
          <a:lstStyle/>
          <a:p>
            <a:pPr marL="0" lvl="0" indent="0" algn="l" rtl="0">
              <a:spcBef>
                <a:spcPts val="0"/>
              </a:spcBef>
              <a:spcAft>
                <a:spcPts val="0"/>
              </a:spcAft>
              <a:buNone/>
            </a:pPr>
            <a:r>
              <a:rPr lang="en-GB" sz="2600" b="1">
                <a:solidFill>
                  <a:schemeClr val="dk2"/>
                </a:solidFill>
                <a:latin typeface="Raleway"/>
                <a:ea typeface="Raleway"/>
                <a:cs typeface="Raleway"/>
                <a:sym typeface="Raleway"/>
              </a:rPr>
              <a:t>Evolutionary Game Theory </a:t>
            </a:r>
            <a:r>
              <a:rPr lang="en-GB" sz="2600">
                <a:solidFill>
                  <a:schemeClr val="dk2"/>
                </a:solidFill>
                <a:latin typeface="Raleway"/>
                <a:ea typeface="Raleway"/>
                <a:cs typeface="Raleway"/>
                <a:sym typeface="Raleway"/>
              </a:rPr>
              <a:t>(EGT): An application of game theory to populations of evolving agents where the "payoff" is biological fitness, and strategies are passed on and replicated based on their success. It moves beyond the assumption of perfect rationality.</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b="1">
                <a:solidFill>
                  <a:schemeClr val="dk2"/>
                </a:solidFill>
                <a:latin typeface="Raleway"/>
                <a:ea typeface="Raleway"/>
                <a:cs typeface="Raleway"/>
                <a:sym typeface="Raleway"/>
              </a:rPr>
              <a:t>Evolutionarily Stable Strategy </a:t>
            </a:r>
            <a:r>
              <a:rPr lang="en-GB" sz="2600">
                <a:solidFill>
                  <a:schemeClr val="dk2"/>
                </a:solidFill>
                <a:latin typeface="Raleway"/>
                <a:ea typeface="Raleway"/>
                <a:cs typeface="Raleway"/>
                <a:sym typeface="Raleway"/>
              </a:rPr>
              <a:t>(ESS): A strategy which, if adopted by a population of players, cannot be "invaded" by any alternative (mutant) strategy. It represents a stable equilibrium point in evolution.</a:t>
            </a:r>
            <a:endParaRPr sz="2600">
              <a:solidFill>
                <a:schemeClr val="dk2"/>
              </a:solidFill>
              <a:latin typeface="Raleway"/>
              <a:ea typeface="Raleway"/>
              <a:cs typeface="Raleway"/>
              <a:sym typeface="Raleway"/>
            </a:endParaRPr>
          </a:p>
          <a:p>
            <a:pPr marL="0" lvl="0" indent="0" algn="l" rtl="0">
              <a:spcBef>
                <a:spcPts val="1200"/>
              </a:spcBef>
              <a:spcAft>
                <a:spcPts val="1200"/>
              </a:spcAft>
              <a:buNone/>
            </a:pPr>
            <a:r>
              <a:rPr lang="en-GB" sz="2600" b="1">
                <a:solidFill>
                  <a:schemeClr val="dk2"/>
                </a:solidFill>
                <a:latin typeface="Raleway"/>
                <a:ea typeface="Raleway"/>
                <a:cs typeface="Raleway"/>
                <a:sym typeface="Raleway"/>
              </a:rPr>
              <a:t>Autopoiesis:</a:t>
            </a:r>
            <a:r>
              <a:rPr lang="en-GB" sz="2600">
                <a:solidFill>
                  <a:schemeClr val="dk2"/>
                </a:solidFill>
                <a:latin typeface="Raleway"/>
                <a:ea typeface="Raleway"/>
                <a:cs typeface="Raleway"/>
                <a:sym typeface="Raleway"/>
              </a:rPr>
              <a:t> A system capable of reproducing and maintaining itself by creating its own components and boundaries. This represents the theoretical ideal of a truly autonomous, self-sufficient system.</a:t>
            </a:r>
            <a:endParaRPr sz="2600">
              <a:solidFill>
                <a:schemeClr val="dk2"/>
              </a:solidFill>
              <a:latin typeface="Raleway"/>
              <a:ea typeface="Raleway"/>
              <a:cs typeface="Raleway"/>
              <a:sym typeface="Raleway"/>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Game Theory in Agentic Systems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The Main Premise</a:t>
            </a:r>
            <a:endParaRPr/>
          </a:p>
        </p:txBody>
      </p:sp>
      <p:sp>
        <p:nvSpPr>
          <p:cNvPr id="128" name="Google Shape;128;p20"/>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55000" lnSpcReduction="20000"/>
          </a:bodyPr>
          <a:lstStyle/>
          <a:p>
            <a:pPr marL="0" lvl="0" indent="0" algn="l" rtl="0">
              <a:spcBef>
                <a:spcPts val="0"/>
              </a:spcBef>
              <a:spcAft>
                <a:spcPts val="0"/>
              </a:spcAft>
              <a:buNone/>
            </a:pPr>
            <a:r>
              <a:rPr lang="en-GB" sz="2600" b="1">
                <a:solidFill>
                  <a:schemeClr val="dk2"/>
                </a:solidFill>
                <a:latin typeface="Raleway"/>
                <a:ea typeface="Raleway"/>
                <a:cs typeface="Raleway"/>
                <a:sym typeface="Raleway"/>
              </a:rPr>
              <a:t>Problem</a:t>
            </a:r>
            <a:r>
              <a:rPr lang="en-GB" sz="2600">
                <a:solidFill>
                  <a:schemeClr val="dk2"/>
                </a:solidFill>
                <a:latin typeface="Raleway"/>
                <a:ea typeface="Raleway"/>
                <a:cs typeface="Raleway"/>
                <a:sym typeface="Raleway"/>
              </a:rPr>
              <a:t>: In a multi-agent system, the outcome for any single agent depends on the actions of all other agents. The environment is not static; it is constantly changing.</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b="1">
                <a:solidFill>
                  <a:schemeClr val="dk2"/>
                </a:solidFill>
                <a:latin typeface="Raleway"/>
                <a:ea typeface="Raleway"/>
                <a:cs typeface="Raleway"/>
                <a:sym typeface="Raleway"/>
              </a:rPr>
              <a:t>Limitation of Simple RL</a:t>
            </a:r>
            <a:r>
              <a:rPr lang="en-GB" sz="2600">
                <a:solidFill>
                  <a:schemeClr val="dk2"/>
                </a:solidFill>
                <a:latin typeface="Raleway"/>
                <a:ea typeface="Raleway"/>
                <a:cs typeface="Raleway"/>
                <a:sym typeface="Raleway"/>
              </a:rPr>
              <a:t>: Standard Reinforcement Learning guarantees convergence to an optimal strategy only in a static (Markovian) environment. This property breaks down in a multi-agent context.</a:t>
            </a:r>
            <a:endParaRPr sz="2600">
              <a:solidFill>
                <a:schemeClr val="dk2"/>
              </a:solidFill>
              <a:latin typeface="Raleway"/>
              <a:ea typeface="Raleway"/>
              <a:cs typeface="Raleway"/>
              <a:sym typeface="Raleway"/>
            </a:endParaRPr>
          </a:p>
          <a:p>
            <a:pPr marL="0" lvl="0" indent="0" algn="l" rtl="0">
              <a:spcBef>
                <a:spcPts val="1200"/>
              </a:spcBef>
              <a:spcAft>
                <a:spcPts val="1200"/>
              </a:spcAft>
              <a:buNone/>
            </a:pPr>
            <a:r>
              <a:rPr lang="en-GB" sz="2600" b="1">
                <a:solidFill>
                  <a:schemeClr val="dk2"/>
                </a:solidFill>
                <a:latin typeface="Raleway"/>
                <a:ea typeface="Raleway"/>
                <a:cs typeface="Raleway"/>
                <a:sym typeface="Raleway"/>
              </a:rPr>
              <a:t>Solution</a:t>
            </a:r>
            <a:r>
              <a:rPr lang="en-GB" sz="2600">
                <a:solidFill>
                  <a:schemeClr val="dk2"/>
                </a:solidFill>
                <a:latin typeface="Raleway"/>
                <a:ea typeface="Raleway"/>
                <a:cs typeface="Raleway"/>
                <a:sym typeface="Raleway"/>
              </a:rPr>
              <a:t>: Game theory provides the mathematical framework to analyze these strategic interdependencies, modeling the system as a game where each agent's "move" affects the payoffs of others.</a:t>
            </a:r>
            <a:endParaRPr sz="2600">
              <a:solidFill>
                <a:schemeClr val="dk2"/>
              </a:solidFill>
              <a:latin typeface="Raleway"/>
              <a:ea typeface="Raleway"/>
              <a:cs typeface="Raleway"/>
              <a:sym typeface="Raleway"/>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Modeling for Quality</a:t>
            </a:r>
            <a:endParaRPr/>
          </a:p>
        </p:txBody>
      </p:sp>
      <p:sp>
        <p:nvSpPr>
          <p:cNvPr id="134" name="Google Shape;134;p2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55000"/>
          </a:bodyPr>
          <a:lstStyle/>
          <a:p>
            <a:pPr marL="0" lvl="0" indent="0" algn="l" rtl="0">
              <a:spcBef>
                <a:spcPts val="0"/>
              </a:spcBef>
              <a:spcAft>
                <a:spcPts val="0"/>
              </a:spcAft>
              <a:buNone/>
            </a:pPr>
            <a:r>
              <a:rPr lang="en-GB" sz="2600">
                <a:solidFill>
                  <a:schemeClr val="dk2"/>
                </a:solidFill>
                <a:latin typeface="Raleway"/>
                <a:ea typeface="Raleway"/>
                <a:cs typeface="Raleway"/>
                <a:sym typeface="Raleway"/>
              </a:rPr>
              <a:t>By framing interactions as a "game," we can analyze the rules and payoffs that lead to desirable collective outcomes, such as cooperation, coordination, and stability.</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a:solidFill>
                  <a:schemeClr val="dk2"/>
                </a:solidFill>
                <a:latin typeface="Raleway"/>
                <a:ea typeface="Raleway"/>
                <a:cs typeface="Raleway"/>
                <a:sym typeface="Raleway"/>
              </a:rPr>
              <a:t>Example from Prisoner's Dilemma: Understanding why rational agents defect allows us to design systems (e.g., with reputation or punishment) that change the payoffs to encourage cooperation.</a:t>
            </a:r>
            <a:endParaRPr sz="2600">
              <a:solidFill>
                <a:schemeClr val="dk2"/>
              </a:solidFill>
              <a:latin typeface="Raleway"/>
              <a:ea typeface="Raleway"/>
              <a:cs typeface="Raleway"/>
              <a:sym typeface="Raleway"/>
            </a:endParaRPr>
          </a:p>
          <a:p>
            <a:pPr marL="0" lvl="0" indent="0" algn="l" rtl="0">
              <a:spcBef>
                <a:spcPts val="1200"/>
              </a:spcBef>
              <a:spcAft>
                <a:spcPts val="1200"/>
              </a:spcAft>
              <a:buNone/>
            </a:pPr>
            <a:r>
              <a:rPr lang="en-GB" sz="2600">
                <a:solidFill>
                  <a:schemeClr val="dk2"/>
                </a:solidFill>
                <a:latin typeface="Raleway"/>
                <a:ea typeface="Raleway"/>
                <a:cs typeface="Raleway"/>
                <a:sym typeface="Raleway"/>
              </a:rPr>
              <a:t>This allows for the design of higher-quality systems that avoid predictable failures and inefficiencies.</a:t>
            </a:r>
            <a:endParaRPr sz="2600">
              <a:solidFill>
                <a:schemeClr val="dk2"/>
              </a:solidFill>
              <a:latin typeface="Raleway"/>
              <a:ea typeface="Raleway"/>
              <a:cs typeface="Raleway"/>
              <a:sym typeface="Raleway"/>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Improving Efficiency</a:t>
            </a:r>
            <a:endParaRPr/>
          </a:p>
        </p:txBody>
      </p:sp>
      <p:sp>
        <p:nvSpPr>
          <p:cNvPr id="140" name="Google Shape;140;p2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62500" lnSpcReduction="20000"/>
          </a:bodyPr>
          <a:lstStyle/>
          <a:p>
            <a:pPr marL="0" lvl="0" indent="0" algn="l" rtl="0">
              <a:spcBef>
                <a:spcPts val="0"/>
              </a:spcBef>
              <a:spcAft>
                <a:spcPts val="0"/>
              </a:spcAft>
              <a:buNone/>
            </a:pPr>
            <a:r>
              <a:rPr lang="en-GB" sz="2600">
                <a:solidFill>
                  <a:schemeClr val="dk2"/>
                </a:solidFill>
                <a:latin typeface="Raleway"/>
                <a:ea typeface="Raleway"/>
                <a:cs typeface="Raleway"/>
                <a:sym typeface="Raleway"/>
              </a:rPr>
              <a:t>EGT helps us understand the dynamics of learning in a multi-agent system, not just the final equilibrium state.</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a:solidFill>
                  <a:schemeClr val="dk2"/>
                </a:solidFill>
                <a:latin typeface="Raleway"/>
                <a:ea typeface="Raleway"/>
                <a:cs typeface="Raleway"/>
                <a:sym typeface="Raleway"/>
              </a:rPr>
              <a:t>By understanding these dynamics (e.g., through Replicator Equations), we can construct more efficient learning algorithms for the agents.</a:t>
            </a:r>
            <a:endParaRPr sz="2600">
              <a:solidFill>
                <a:schemeClr val="dk2"/>
              </a:solidFill>
              <a:latin typeface="Raleway"/>
              <a:ea typeface="Raleway"/>
              <a:cs typeface="Raleway"/>
              <a:sym typeface="Raleway"/>
            </a:endParaRPr>
          </a:p>
          <a:p>
            <a:pPr marL="0" lvl="0" indent="0" algn="l" rtl="0">
              <a:spcBef>
                <a:spcPts val="1200"/>
              </a:spcBef>
              <a:spcAft>
                <a:spcPts val="1200"/>
              </a:spcAft>
              <a:buNone/>
            </a:pPr>
            <a:r>
              <a:rPr lang="en-GB" sz="2600">
                <a:solidFill>
                  <a:schemeClr val="dk2"/>
                </a:solidFill>
                <a:latin typeface="Raleway"/>
                <a:ea typeface="Raleway"/>
                <a:cs typeface="Raleway"/>
                <a:sym typeface="Raleway"/>
              </a:rPr>
              <a:t>In SES modeling, this translates to more efficient policy testing. By simulating how human agents might react to new regulations, policymakers can design more effective and targeted interventions</a:t>
            </a:r>
            <a:endParaRPr sz="2600">
              <a:solidFill>
                <a:schemeClr val="dk2"/>
              </a:solidFill>
              <a:latin typeface="Raleway"/>
              <a:ea typeface="Raleway"/>
              <a:cs typeface="Raleway"/>
              <a:sym typeface="Raleway"/>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Broader Concepts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Beyond Perfect Rationality</a:t>
            </a:r>
            <a:endParaRPr/>
          </a:p>
        </p:txBody>
      </p:sp>
      <p:sp>
        <p:nvSpPr>
          <p:cNvPr id="151" name="Google Shape;151;p2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47500"/>
          </a:bodyPr>
          <a:lstStyle/>
          <a:p>
            <a:pPr marL="0" lvl="0" indent="0" algn="l" rtl="0">
              <a:spcBef>
                <a:spcPts val="0"/>
              </a:spcBef>
              <a:spcAft>
                <a:spcPts val="0"/>
              </a:spcAft>
              <a:buNone/>
            </a:pPr>
            <a:r>
              <a:rPr lang="en-GB" sz="2600">
                <a:solidFill>
                  <a:schemeClr val="dk2"/>
                </a:solidFill>
                <a:latin typeface="Raleway"/>
                <a:ea typeface="Raleway"/>
                <a:cs typeface="Raleway"/>
                <a:sym typeface="Raleway"/>
              </a:rPr>
              <a:t>Classical game theory assumes "hyper-rational" players with perfect knowledge. EGT relaxes this.</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a:solidFill>
                  <a:schemeClr val="dk2"/>
                </a:solidFill>
                <a:latin typeface="Raleway"/>
                <a:ea typeface="Raleway"/>
                <a:cs typeface="Raleway"/>
                <a:sym typeface="Raleway"/>
              </a:rPr>
              <a:t>Strategies in EGT are not chosen; they are inherited or imitated. Successful strategies spread, while unsuccessful ones die out.</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a:solidFill>
                  <a:schemeClr val="dk2"/>
                </a:solidFill>
                <a:latin typeface="Raleway"/>
                <a:ea typeface="Raleway"/>
                <a:cs typeface="Raleway"/>
                <a:sym typeface="Raleway"/>
              </a:rPr>
              <a:t>This is a much better fit for agentic systems, which learn and adapt through trial-and-error (like RL) rather than through pure logical deduction.</a:t>
            </a:r>
            <a:endParaRPr sz="2600">
              <a:solidFill>
                <a:schemeClr val="dk2"/>
              </a:solidFill>
              <a:latin typeface="Raleway"/>
              <a:ea typeface="Raleway"/>
              <a:cs typeface="Raleway"/>
              <a:sym typeface="Raleway"/>
            </a:endParaRPr>
          </a:p>
          <a:p>
            <a:pPr marL="0" lvl="0" indent="0" algn="l" rtl="0">
              <a:spcBef>
                <a:spcPts val="1200"/>
              </a:spcBef>
              <a:spcAft>
                <a:spcPts val="1200"/>
              </a:spcAft>
              <a:buNone/>
            </a:pPr>
            <a:r>
              <a:rPr lang="en-GB" sz="2600">
                <a:solidFill>
                  <a:schemeClr val="dk2"/>
                </a:solidFill>
                <a:latin typeface="Raleway"/>
                <a:ea typeface="Raleway"/>
                <a:cs typeface="Raleway"/>
                <a:sym typeface="Raleway"/>
              </a:rPr>
              <a:t>This shifts the focus from a static analysis of equilibrium to a dynamic analysis of population change.</a:t>
            </a:r>
            <a:endParaRPr sz="2600">
              <a:solidFill>
                <a:schemeClr val="dk2"/>
              </a:solidFill>
              <a:latin typeface="Raleway"/>
              <a:ea typeface="Raleway"/>
              <a:cs typeface="Raleway"/>
              <a:sym typeface="Raleway"/>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Replicator Dynamics</a:t>
            </a:r>
            <a:endParaRPr/>
          </a:p>
        </p:txBody>
      </p:sp>
      <p:sp>
        <p:nvSpPr>
          <p:cNvPr id="157" name="Google Shape;157;p2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62500"/>
          </a:bodyPr>
          <a:lstStyle/>
          <a:p>
            <a:pPr marL="0" lvl="0" indent="0" algn="l" rtl="0">
              <a:spcBef>
                <a:spcPts val="0"/>
              </a:spcBef>
              <a:spcAft>
                <a:spcPts val="0"/>
              </a:spcAft>
              <a:buNone/>
            </a:pPr>
            <a:r>
              <a:rPr lang="en-GB" sz="2600">
                <a:solidFill>
                  <a:schemeClr val="dk2"/>
                </a:solidFill>
                <a:latin typeface="Raleway"/>
                <a:ea typeface="Raleway"/>
                <a:cs typeface="Raleway"/>
                <a:sym typeface="Raleway"/>
              </a:rPr>
              <a:t>Replicator Dynamics are the core mathematical model of EGT.</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a:solidFill>
                  <a:schemeClr val="dk2"/>
                </a:solidFill>
                <a:latin typeface="Raleway"/>
                <a:ea typeface="Raleway"/>
                <a:cs typeface="Raleway"/>
                <a:sym typeface="Raleway"/>
              </a:rPr>
              <a:t>The Principle: The growth rate of a strategy within a population is proportional to how much its payoff exceeds the average payoff of the entire population.</a:t>
            </a:r>
            <a:endParaRPr sz="2600">
              <a:solidFill>
                <a:schemeClr val="dk2"/>
              </a:solidFill>
              <a:latin typeface="Raleway"/>
              <a:ea typeface="Raleway"/>
              <a:cs typeface="Raleway"/>
              <a:sym typeface="Raleway"/>
            </a:endParaRPr>
          </a:p>
          <a:p>
            <a:pPr marL="0" lvl="0" indent="0" algn="l" rtl="0">
              <a:spcBef>
                <a:spcPts val="1200"/>
              </a:spcBef>
              <a:spcAft>
                <a:spcPts val="1200"/>
              </a:spcAft>
              <a:buNone/>
            </a:pPr>
            <a:r>
              <a:rPr lang="en-GB" sz="2600">
                <a:solidFill>
                  <a:schemeClr val="dk2"/>
                </a:solidFill>
                <a:latin typeface="Raleway"/>
                <a:ea typeface="Raleway"/>
                <a:cs typeface="Raleway"/>
                <a:sym typeface="Raleway"/>
              </a:rPr>
              <a:t>Essentially, "what works" gets replicated. This simple rule can produce highly complex evolutionary trajectories, showing how strategies are naturally selected and removed in an ecosystem.</a:t>
            </a:r>
            <a:endParaRPr sz="2600">
              <a:solidFill>
                <a:schemeClr val="dk2"/>
              </a:solidFill>
              <a:latin typeface="Raleway"/>
              <a:ea typeface="Raleway"/>
              <a:cs typeface="Raleway"/>
              <a:sym typeface="Raleway"/>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Mutation and Finite Populations</a:t>
            </a:r>
            <a:endParaRPr/>
          </a:p>
        </p:txBody>
      </p:sp>
      <p:sp>
        <p:nvSpPr>
          <p:cNvPr id="163" name="Google Shape;163;p2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47500" lnSpcReduction="10000"/>
          </a:bodyPr>
          <a:lstStyle/>
          <a:p>
            <a:pPr marL="0" lvl="0" indent="0" algn="l" rtl="0">
              <a:spcBef>
                <a:spcPts val="0"/>
              </a:spcBef>
              <a:spcAft>
                <a:spcPts val="0"/>
              </a:spcAft>
              <a:buNone/>
            </a:pPr>
            <a:r>
              <a:rPr lang="en-GB" sz="2600">
                <a:solidFill>
                  <a:schemeClr val="dk2"/>
                </a:solidFill>
                <a:latin typeface="Raleway"/>
                <a:ea typeface="Raleway"/>
                <a:cs typeface="Raleway"/>
                <a:sym typeface="Raleway"/>
              </a:rPr>
              <a:t>Pure mathematical EGT often assumes infinite populations and zero mutation, which are unrealistic.</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a:solidFill>
                  <a:schemeClr val="dk2"/>
                </a:solidFill>
                <a:latin typeface="Raleway"/>
                <a:ea typeface="Raleway"/>
                <a:cs typeface="Raleway"/>
                <a:sym typeface="Raleway"/>
              </a:rPr>
              <a:t>Agent-Based Models (ABMs) allow us to introduce these crucial factors:</a:t>
            </a:r>
            <a:endParaRPr sz="2600">
              <a:solidFill>
                <a:schemeClr val="dk2"/>
              </a:solidFill>
              <a:latin typeface="Raleway"/>
              <a:ea typeface="Raleway"/>
              <a:cs typeface="Raleway"/>
              <a:sym typeface="Raleway"/>
            </a:endParaRPr>
          </a:p>
          <a:p>
            <a:pPr marL="457200" lvl="0" indent="-307022" algn="l" rtl="0">
              <a:spcBef>
                <a:spcPts val="1200"/>
              </a:spcBef>
              <a:spcAft>
                <a:spcPts val="0"/>
              </a:spcAft>
              <a:buClr>
                <a:schemeClr val="dk2"/>
              </a:buClr>
              <a:buSzPct val="100000"/>
              <a:buFont typeface="Raleway"/>
              <a:buChar char="-"/>
            </a:pPr>
            <a:r>
              <a:rPr lang="en-GB" sz="2600">
                <a:solidFill>
                  <a:schemeClr val="dk2"/>
                </a:solidFill>
                <a:latin typeface="Raleway"/>
                <a:ea typeface="Raleway"/>
                <a:cs typeface="Raleway"/>
                <a:sym typeface="Raleway"/>
              </a:rPr>
              <a:t>Finite Populations: Introduces random chance (stochasticity). A superior strategy can go extinct simply due to bad luck.</a:t>
            </a:r>
            <a:endParaRPr sz="2600">
              <a:solidFill>
                <a:schemeClr val="dk2"/>
              </a:solidFill>
              <a:latin typeface="Raleway"/>
              <a:ea typeface="Raleway"/>
              <a:cs typeface="Raleway"/>
              <a:sym typeface="Raleway"/>
            </a:endParaRPr>
          </a:p>
          <a:p>
            <a:pPr marL="457200" lvl="0" indent="-307022" algn="l" rtl="0">
              <a:spcBef>
                <a:spcPts val="0"/>
              </a:spcBef>
              <a:spcAft>
                <a:spcPts val="0"/>
              </a:spcAft>
              <a:buClr>
                <a:schemeClr val="dk2"/>
              </a:buClr>
              <a:buSzPct val="100000"/>
              <a:buFont typeface="Raleway"/>
              <a:buChar char="-"/>
            </a:pPr>
            <a:r>
              <a:rPr lang="en-GB" sz="2600">
                <a:solidFill>
                  <a:schemeClr val="dk2"/>
                </a:solidFill>
                <a:latin typeface="Raleway"/>
                <a:ea typeface="Raleway"/>
                <a:cs typeface="Raleway"/>
                <a:sym typeface="Raleway"/>
              </a:rPr>
              <a:t>Mutations: Constantly introduces new strategies into the game, allowing the system to escape suboptimal states and continuously explore the "strategy space."</a:t>
            </a:r>
            <a:endParaRPr sz="2600">
              <a:solidFill>
                <a:schemeClr val="dk2"/>
              </a:solidFill>
              <a:latin typeface="Raleway"/>
              <a:ea typeface="Raleway"/>
              <a:cs typeface="Raleway"/>
              <a:sym typeface="Raleway"/>
            </a:endParaRPr>
          </a:p>
          <a:p>
            <a:pPr marL="0" lvl="0" indent="0" algn="l" rtl="0">
              <a:spcBef>
                <a:spcPts val="1200"/>
              </a:spcBef>
              <a:spcAft>
                <a:spcPts val="1200"/>
              </a:spcAft>
              <a:buNone/>
            </a:pPr>
            <a:r>
              <a:rPr lang="en-GB" sz="2600">
                <a:solidFill>
                  <a:schemeClr val="dk2"/>
                </a:solidFill>
                <a:latin typeface="Raleway"/>
                <a:ea typeface="Raleway"/>
                <a:cs typeface="Raleway"/>
                <a:sym typeface="Raleway"/>
              </a:rPr>
              <a:t>These factors can lead to evolutionary outcomes that are impossible to predict with standard mathematical equations alone.</a:t>
            </a:r>
            <a:endParaRPr sz="2600">
              <a:solidFill>
                <a:schemeClr val="dk2"/>
              </a:solidFill>
              <a:latin typeface="Raleway"/>
              <a:ea typeface="Raleway"/>
              <a:cs typeface="Raleway"/>
              <a:sym typeface="Raleway"/>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Survival of the Flattest</a:t>
            </a:r>
            <a:endParaRPr/>
          </a:p>
        </p:txBody>
      </p:sp>
      <p:sp>
        <p:nvSpPr>
          <p:cNvPr id="169" name="Google Shape;169;p2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55000"/>
          </a:bodyPr>
          <a:lstStyle/>
          <a:p>
            <a:pPr marL="0" lvl="0" indent="0" algn="l" rtl="0">
              <a:spcBef>
                <a:spcPts val="0"/>
              </a:spcBef>
              <a:spcAft>
                <a:spcPts val="0"/>
              </a:spcAft>
              <a:buNone/>
            </a:pPr>
            <a:r>
              <a:rPr lang="en-GB" sz="2600">
                <a:solidFill>
                  <a:schemeClr val="dk2"/>
                </a:solidFill>
                <a:latin typeface="Raleway"/>
                <a:ea typeface="Raleway"/>
                <a:cs typeface="Raleway"/>
                <a:sym typeface="Raleway"/>
              </a:rPr>
              <a:t>In realistic settings with high mutation rates, the "winner" is often not a single, perfect strategy (the "fittest").</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a:solidFill>
                  <a:schemeClr val="dk2"/>
                </a:solidFill>
                <a:latin typeface="Raleway"/>
                <a:ea typeface="Raleway"/>
                <a:cs typeface="Raleway"/>
                <a:sym typeface="Raleway"/>
              </a:rPr>
              <a:t>Instead, a robust cluster of similar, "good-enough" strategies that can withstand mutation, a quasistrategy, can out-compete a fragile but higher-performing strategy.</a:t>
            </a:r>
            <a:endParaRPr sz="2600">
              <a:solidFill>
                <a:schemeClr val="dk2"/>
              </a:solidFill>
              <a:latin typeface="Raleway"/>
              <a:ea typeface="Raleway"/>
              <a:cs typeface="Raleway"/>
              <a:sym typeface="Raleway"/>
            </a:endParaRPr>
          </a:p>
          <a:p>
            <a:pPr marL="0" lvl="0" indent="0" algn="l" rtl="0">
              <a:spcBef>
                <a:spcPts val="1200"/>
              </a:spcBef>
              <a:spcAft>
                <a:spcPts val="1200"/>
              </a:spcAft>
              <a:buNone/>
            </a:pPr>
            <a:r>
              <a:rPr lang="en-GB" sz="2600">
                <a:solidFill>
                  <a:schemeClr val="dk2"/>
                </a:solidFill>
                <a:latin typeface="Raleway"/>
                <a:ea typeface="Raleway"/>
                <a:cs typeface="Raleway"/>
                <a:sym typeface="Raleway"/>
              </a:rPr>
              <a:t>This is "survival of the flattest," where robustness and adaptability are more important than peak performance. This has major implications for how we design resilient agentic systems.</a:t>
            </a:r>
            <a:endParaRPr sz="2600">
              <a:solidFill>
                <a:schemeClr val="dk2"/>
              </a:solidFill>
              <a:latin typeface="Raleway"/>
              <a:ea typeface="Raleway"/>
              <a:cs typeface="Raleway"/>
              <a:sym typeface="Raleway"/>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Common agent behaviors</a:t>
            </a:r>
            <a:endParaRPr/>
          </a:p>
        </p:txBody>
      </p:sp>
      <p:sp>
        <p:nvSpPr>
          <p:cNvPr id="175" name="Google Shape;175;p28"/>
          <p:cNvSpPr txBox="1">
            <a:spLocks noGrp="1"/>
          </p:cNvSpPr>
          <p:nvPr>
            <p:ph type="body" idx="1"/>
          </p:nvPr>
        </p:nvSpPr>
        <p:spPr>
          <a:xfrm>
            <a:off x="729450" y="2078875"/>
            <a:ext cx="7688700" cy="2838900"/>
          </a:xfrm>
          <a:prstGeom prst="rect">
            <a:avLst/>
          </a:prstGeom>
        </p:spPr>
        <p:txBody>
          <a:bodyPr spcFirstLastPara="1" wrap="square" lIns="91425" tIns="91425" rIns="91425" bIns="91425" anchor="t" anchorCtr="0">
            <a:normAutofit fontScale="40000" lnSpcReduction="20000"/>
          </a:bodyPr>
          <a:lstStyle/>
          <a:p>
            <a:pPr marL="0" lvl="0" indent="0" algn="l" rtl="0">
              <a:spcBef>
                <a:spcPts val="0"/>
              </a:spcBef>
              <a:spcAft>
                <a:spcPts val="0"/>
              </a:spcAft>
              <a:buNone/>
            </a:pPr>
            <a:r>
              <a:rPr lang="en-GB" sz="2600" b="1">
                <a:solidFill>
                  <a:schemeClr val="dk2"/>
                </a:solidFill>
                <a:latin typeface="Raleway"/>
                <a:ea typeface="Raleway"/>
                <a:cs typeface="Raleway"/>
                <a:sym typeface="Raleway"/>
              </a:rPr>
              <a:t>Learning and Adapting:</a:t>
            </a:r>
            <a:r>
              <a:rPr lang="en-GB" sz="2600">
                <a:solidFill>
                  <a:schemeClr val="dk2"/>
                </a:solidFill>
                <a:latin typeface="Raleway"/>
                <a:ea typeface="Raleway"/>
                <a:cs typeface="Raleway"/>
                <a:sym typeface="Raleway"/>
              </a:rPr>
              <a:t> Agents adjust their actions or policies over time to maximize rewards or achieve desired outcomes, often in response to environmental feedback and the actions of others. (RL - Reinforcement Learning, MARL - Multi-Agent Reinforcement Learning)</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b="1">
                <a:solidFill>
                  <a:schemeClr val="dk2"/>
                </a:solidFill>
                <a:latin typeface="Raleway"/>
                <a:ea typeface="Raleway"/>
                <a:cs typeface="Raleway"/>
                <a:sym typeface="Raleway"/>
              </a:rPr>
              <a:t>Exploration-Exploitation:</a:t>
            </a:r>
            <a:r>
              <a:rPr lang="en-GB" sz="2600">
                <a:solidFill>
                  <a:schemeClr val="dk2"/>
                </a:solidFill>
                <a:latin typeface="Raleway"/>
                <a:ea typeface="Raleway"/>
                <a:cs typeface="Raleway"/>
                <a:sym typeface="Raleway"/>
              </a:rPr>
              <a:t> Agents balance trying new actions (exploration) to discover better strategies with using known good actions (exploitation) to maximize immediate rewards.</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b="1">
                <a:solidFill>
                  <a:schemeClr val="dk2"/>
                </a:solidFill>
                <a:latin typeface="Raleway"/>
                <a:ea typeface="Raleway"/>
                <a:cs typeface="Raleway"/>
                <a:sym typeface="Raleway"/>
              </a:rPr>
              <a:t>Decision-Making:</a:t>
            </a:r>
            <a:r>
              <a:rPr lang="en-GB" sz="2600">
                <a:solidFill>
                  <a:schemeClr val="dk2"/>
                </a:solidFill>
                <a:latin typeface="Raleway"/>
                <a:ea typeface="Raleway"/>
                <a:cs typeface="Raleway"/>
                <a:sym typeface="Raleway"/>
              </a:rPr>
              <a:t> Agents choose actions based on various factors, which can range from deterministic rules to probabilistic choices, or even internal evaluations (Q-values).</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b="1">
                <a:solidFill>
                  <a:schemeClr val="dk2"/>
                </a:solidFill>
                <a:latin typeface="Raleway"/>
                <a:ea typeface="Raleway"/>
                <a:cs typeface="Raleway"/>
                <a:sym typeface="Raleway"/>
              </a:rPr>
              <a:t>Punishment: </a:t>
            </a:r>
            <a:r>
              <a:rPr lang="en-GB" sz="2600">
                <a:solidFill>
                  <a:schemeClr val="dk2"/>
                </a:solidFill>
                <a:latin typeface="Raleway"/>
                <a:ea typeface="Raleway"/>
                <a:cs typeface="Raleway"/>
                <a:sym typeface="Raleway"/>
              </a:rPr>
              <a:t>Agents may incur a cost to punish defecting behaviors in others, aiming to enforce cooperation within a group.</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b="1">
                <a:solidFill>
                  <a:schemeClr val="dk2"/>
                </a:solidFill>
                <a:latin typeface="Raleway"/>
                <a:ea typeface="Raleway"/>
                <a:cs typeface="Raleway"/>
                <a:sym typeface="Raleway"/>
              </a:rPr>
              <a:t>Self-Optimization:</a:t>
            </a:r>
            <a:r>
              <a:rPr lang="en-GB" sz="2600">
                <a:solidFill>
                  <a:schemeClr val="dk2"/>
                </a:solidFill>
                <a:latin typeface="Raleway"/>
                <a:ea typeface="Raleway"/>
                <a:cs typeface="Raleway"/>
                <a:sym typeface="Raleway"/>
              </a:rPr>
              <a:t> Independent agents aim to optimize their own behavior using only local feedback, often without direct communication with other agents. (IL - Independent Learner)</a:t>
            </a:r>
            <a:endParaRPr sz="2600">
              <a:solidFill>
                <a:schemeClr val="dk2"/>
              </a:solidFill>
              <a:latin typeface="Raleway"/>
              <a:ea typeface="Raleway"/>
              <a:cs typeface="Raleway"/>
              <a:sym typeface="Raleway"/>
            </a:endParaRPr>
          </a:p>
          <a:p>
            <a:pPr marL="0" lvl="0" indent="0" algn="l" rtl="0">
              <a:spcBef>
                <a:spcPts val="1200"/>
              </a:spcBef>
              <a:spcAft>
                <a:spcPts val="1200"/>
              </a:spcAft>
              <a:buNone/>
            </a:pPr>
            <a:r>
              <a:rPr lang="en-GB" sz="2600" b="1">
                <a:solidFill>
                  <a:schemeClr val="dk2"/>
                </a:solidFill>
                <a:latin typeface="Raleway"/>
                <a:ea typeface="Raleway"/>
                <a:cs typeface="Raleway"/>
                <a:sym typeface="Raleway"/>
              </a:rPr>
              <a:t>Genetic Evolution</a:t>
            </a:r>
            <a:r>
              <a:rPr lang="en-GB" sz="2600">
                <a:solidFill>
                  <a:schemeClr val="dk2"/>
                </a:solidFill>
                <a:latin typeface="Raleway"/>
                <a:ea typeface="Raleway"/>
                <a:cs typeface="Raleway"/>
                <a:sym typeface="Raleway"/>
              </a:rPr>
              <a:t>: In evolutionary game theory, agent strategies can be "genetically encoded" and evolve through selection and mutation processes, where successful strategies reproduce more. (EGT - Evolutionary Game Theory)</a:t>
            </a:r>
            <a:endParaRPr sz="2600">
              <a:solidFill>
                <a:schemeClr val="dk2"/>
              </a:solidFill>
              <a:latin typeface="Raleway"/>
              <a:ea typeface="Raleway"/>
              <a:cs typeface="Raleway"/>
              <a:sym typeface="Raleway"/>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Common agent behaviors</a:t>
            </a:r>
            <a:endParaRPr/>
          </a:p>
        </p:txBody>
      </p:sp>
      <p:sp>
        <p:nvSpPr>
          <p:cNvPr id="181" name="Google Shape;181;p29"/>
          <p:cNvSpPr txBox="1">
            <a:spLocks noGrp="1"/>
          </p:cNvSpPr>
          <p:nvPr>
            <p:ph type="body" idx="1"/>
          </p:nvPr>
        </p:nvSpPr>
        <p:spPr>
          <a:xfrm>
            <a:off x="729450" y="2078875"/>
            <a:ext cx="7688700" cy="2828400"/>
          </a:xfrm>
          <a:prstGeom prst="rect">
            <a:avLst/>
          </a:prstGeom>
        </p:spPr>
        <p:txBody>
          <a:bodyPr spcFirstLastPara="1" wrap="square" lIns="91425" tIns="91425" rIns="91425" bIns="91425" anchor="t" anchorCtr="0">
            <a:normAutofit fontScale="47500" lnSpcReduction="10000"/>
          </a:bodyPr>
          <a:lstStyle/>
          <a:p>
            <a:pPr marL="0" lvl="0" indent="0" algn="l" rtl="0">
              <a:spcBef>
                <a:spcPts val="0"/>
              </a:spcBef>
              <a:spcAft>
                <a:spcPts val="0"/>
              </a:spcAft>
              <a:buNone/>
            </a:pPr>
            <a:r>
              <a:rPr lang="en-GB" sz="2600" b="1">
                <a:solidFill>
                  <a:schemeClr val="dk2"/>
                </a:solidFill>
                <a:latin typeface="Raleway"/>
                <a:ea typeface="Raleway"/>
                <a:cs typeface="Raleway"/>
                <a:sym typeface="Raleway"/>
              </a:rPr>
              <a:t>Strategic Interaction</a:t>
            </a:r>
            <a:r>
              <a:rPr lang="en-GB" sz="2600">
                <a:solidFill>
                  <a:schemeClr val="dk2"/>
                </a:solidFill>
                <a:latin typeface="Raleway"/>
                <a:ea typeface="Raleway"/>
                <a:cs typeface="Raleway"/>
                <a:sym typeface="Raleway"/>
              </a:rPr>
              <a:t>: Agents make decisions while considering the potential choices and payoffs of other agents in the system. This includes:</a:t>
            </a:r>
            <a:endParaRPr sz="2600">
              <a:solidFill>
                <a:schemeClr val="dk2"/>
              </a:solidFill>
              <a:latin typeface="Raleway"/>
              <a:ea typeface="Raleway"/>
              <a:cs typeface="Raleway"/>
              <a:sym typeface="Raleway"/>
            </a:endParaRPr>
          </a:p>
          <a:p>
            <a:pPr marL="457200" lvl="0" indent="-307022" algn="l" rtl="0">
              <a:spcBef>
                <a:spcPts val="1200"/>
              </a:spcBef>
              <a:spcAft>
                <a:spcPts val="0"/>
              </a:spcAft>
              <a:buClr>
                <a:schemeClr val="dk2"/>
              </a:buClr>
              <a:buSzPct val="100000"/>
              <a:buFont typeface="Raleway"/>
              <a:buChar char="-"/>
            </a:pPr>
            <a:r>
              <a:rPr lang="en-GB" sz="2600" b="1">
                <a:solidFill>
                  <a:schemeClr val="dk2"/>
                </a:solidFill>
                <a:latin typeface="Raleway"/>
                <a:ea typeface="Raleway"/>
                <a:cs typeface="Raleway"/>
                <a:sym typeface="Raleway"/>
              </a:rPr>
              <a:t>Cooperation</a:t>
            </a:r>
            <a:r>
              <a:rPr lang="en-GB" sz="2600">
                <a:solidFill>
                  <a:schemeClr val="dk2"/>
                </a:solidFill>
                <a:latin typeface="Raleway"/>
                <a:ea typeface="Raleway"/>
                <a:cs typeface="Raleway"/>
                <a:sym typeface="Raleway"/>
              </a:rPr>
              <a:t>: Choosing actions that benefit the group, even if it entails a personal cost.</a:t>
            </a:r>
            <a:endParaRPr sz="2600">
              <a:solidFill>
                <a:schemeClr val="dk2"/>
              </a:solidFill>
              <a:latin typeface="Raleway"/>
              <a:ea typeface="Raleway"/>
              <a:cs typeface="Raleway"/>
              <a:sym typeface="Raleway"/>
            </a:endParaRPr>
          </a:p>
          <a:p>
            <a:pPr marL="457200" lvl="0" indent="-307022" algn="l" rtl="0">
              <a:spcBef>
                <a:spcPts val="0"/>
              </a:spcBef>
              <a:spcAft>
                <a:spcPts val="0"/>
              </a:spcAft>
              <a:buClr>
                <a:schemeClr val="dk2"/>
              </a:buClr>
              <a:buSzPct val="100000"/>
              <a:buFont typeface="Raleway"/>
              <a:buChar char="-"/>
            </a:pPr>
            <a:r>
              <a:rPr lang="en-GB" sz="2600" b="1">
                <a:solidFill>
                  <a:schemeClr val="dk2"/>
                </a:solidFill>
                <a:latin typeface="Raleway"/>
                <a:ea typeface="Raleway"/>
                <a:cs typeface="Raleway"/>
                <a:sym typeface="Raleway"/>
              </a:rPr>
              <a:t>Defection</a:t>
            </a:r>
            <a:r>
              <a:rPr lang="en-GB" sz="2600">
                <a:solidFill>
                  <a:schemeClr val="dk2"/>
                </a:solidFill>
                <a:latin typeface="Raleway"/>
                <a:ea typeface="Raleway"/>
                <a:cs typeface="Raleway"/>
                <a:sym typeface="Raleway"/>
              </a:rPr>
              <a:t>: Choosing actions that maximize personal gain, potentially at the expense of others.</a:t>
            </a:r>
            <a:endParaRPr sz="2600" b="1">
              <a:solidFill>
                <a:schemeClr val="dk2"/>
              </a:solidFill>
              <a:latin typeface="Raleway"/>
              <a:ea typeface="Raleway"/>
              <a:cs typeface="Raleway"/>
              <a:sym typeface="Raleway"/>
            </a:endParaRPr>
          </a:p>
          <a:p>
            <a:pPr marL="457200" lvl="0" indent="-307022" algn="l" rtl="0">
              <a:spcBef>
                <a:spcPts val="0"/>
              </a:spcBef>
              <a:spcAft>
                <a:spcPts val="0"/>
              </a:spcAft>
              <a:buClr>
                <a:schemeClr val="dk2"/>
              </a:buClr>
              <a:buSzPct val="100000"/>
              <a:buFont typeface="Raleway"/>
              <a:buChar char="-"/>
            </a:pPr>
            <a:r>
              <a:rPr lang="en-GB" sz="2600" b="1">
                <a:solidFill>
                  <a:schemeClr val="dk2"/>
                </a:solidFill>
                <a:latin typeface="Raleway"/>
                <a:ea typeface="Raleway"/>
                <a:cs typeface="Raleway"/>
                <a:sym typeface="Raleway"/>
              </a:rPr>
              <a:t>Conditional Play</a:t>
            </a:r>
            <a:r>
              <a:rPr lang="en-GB" sz="2600">
                <a:solidFill>
                  <a:schemeClr val="dk2"/>
                </a:solidFill>
                <a:latin typeface="Raleway"/>
                <a:ea typeface="Raleway"/>
                <a:cs typeface="Raleway"/>
                <a:sym typeface="Raleway"/>
              </a:rPr>
              <a:t>: Modifying actions based on past interactions, such as an opponent's previous move or the number of cooperators in a group. (e.g., ZD - Zero-Determinant strategies, TfT - Tit-for-Tat)</a:t>
            </a:r>
            <a:endParaRPr sz="2600">
              <a:solidFill>
                <a:schemeClr val="dk2"/>
              </a:solidFill>
              <a:latin typeface="Raleway"/>
              <a:ea typeface="Raleway"/>
              <a:cs typeface="Raleway"/>
              <a:sym typeface="Raleway"/>
            </a:endParaRPr>
          </a:p>
          <a:p>
            <a:pPr marL="457200" lvl="0" indent="-307022" algn="l" rtl="0">
              <a:spcBef>
                <a:spcPts val="0"/>
              </a:spcBef>
              <a:spcAft>
                <a:spcPts val="0"/>
              </a:spcAft>
              <a:buClr>
                <a:schemeClr val="dk2"/>
              </a:buClr>
              <a:buSzPct val="100000"/>
              <a:buFont typeface="Raleway"/>
              <a:buChar char="-"/>
            </a:pPr>
            <a:r>
              <a:rPr lang="en-GB" sz="2600" b="1">
                <a:solidFill>
                  <a:schemeClr val="dk2"/>
                </a:solidFill>
                <a:latin typeface="Raleway"/>
                <a:ea typeface="Raleway"/>
                <a:cs typeface="Raleway"/>
                <a:sym typeface="Raleway"/>
              </a:rPr>
              <a:t>Manipulation/Extortion:</a:t>
            </a:r>
            <a:r>
              <a:rPr lang="en-GB" sz="2600">
                <a:solidFill>
                  <a:schemeClr val="dk2"/>
                </a:solidFill>
                <a:latin typeface="Raleway"/>
                <a:ea typeface="Raleway"/>
                <a:cs typeface="Raleway"/>
                <a:sym typeface="Raleway"/>
              </a:rPr>
              <a:t> Employing strategies that can force fixed or higher payoffs from opponents. (e.g., eZD - Equalizer Zero-Determinant strategies)</a:t>
            </a:r>
            <a:endParaRPr sz="2600">
              <a:solidFill>
                <a:schemeClr val="dk2"/>
              </a:solidFill>
              <a:latin typeface="Raleway"/>
              <a:ea typeface="Raleway"/>
              <a:cs typeface="Raleway"/>
              <a:sym typeface="Raleway"/>
            </a:endParaRPr>
          </a:p>
          <a:p>
            <a:pPr marL="0" lvl="0" indent="0" algn="l" rtl="0">
              <a:spcBef>
                <a:spcPts val="1200"/>
              </a:spcBef>
              <a:spcAft>
                <a:spcPts val="1200"/>
              </a:spcAft>
              <a:buNone/>
            </a:pPr>
            <a:r>
              <a:rPr lang="en-GB" sz="2600" b="1">
                <a:solidFill>
                  <a:schemeClr val="dk2"/>
                </a:solidFill>
                <a:latin typeface="Raleway"/>
                <a:ea typeface="Raleway"/>
                <a:cs typeface="Raleway"/>
                <a:sym typeface="Raleway"/>
              </a:rPr>
              <a:t>Communication</a:t>
            </a:r>
            <a:r>
              <a:rPr lang="en-GB" sz="2600">
                <a:solidFill>
                  <a:schemeClr val="dk2"/>
                </a:solidFill>
                <a:latin typeface="Raleway"/>
                <a:ea typeface="Raleway"/>
                <a:cs typeface="Raleway"/>
                <a:sym typeface="Raleway"/>
              </a:rPr>
              <a:t>: In some multi-agent settings, agents exchange information (explicitly or implicitly) to coordinate actions or reveal intentions.</a:t>
            </a:r>
            <a:endParaRPr sz="2600">
              <a:solidFill>
                <a:schemeClr val="dk2"/>
              </a:solidFill>
              <a:latin typeface="Raleway"/>
              <a:ea typeface="Raleway"/>
              <a:cs typeface="Raleway"/>
              <a:sym typeface="Raleway"/>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0"/>
          <p:cNvSpPr txBox="1">
            <a:spLocks noGrp="1"/>
          </p:cNvSpPr>
          <p:nvPr>
            <p:ph type="title"/>
          </p:nvPr>
        </p:nvSpPr>
        <p:spPr>
          <a:xfrm>
            <a:off x="176400" y="546050"/>
            <a:ext cx="87798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2040"/>
              <a:t>Case Study: Evolutionary Game Theory using Agent-based Methods</a:t>
            </a:r>
            <a:endParaRPr sz="2040"/>
          </a:p>
        </p:txBody>
      </p:sp>
      <p:graphicFrame>
        <p:nvGraphicFramePr>
          <p:cNvPr id="187" name="Google Shape;187;p30"/>
          <p:cNvGraphicFramePr/>
          <p:nvPr/>
        </p:nvGraphicFramePr>
        <p:xfrm>
          <a:off x="285338" y="1388175"/>
          <a:ext cx="3000000" cy="3000000"/>
        </p:xfrm>
        <a:graphic>
          <a:graphicData uri="http://schemas.openxmlformats.org/drawingml/2006/table">
            <a:tbl>
              <a:tblPr>
                <a:noFill/>
                <a:tableStyleId>{086317A2-45C9-43B8-B4BC-E3156471A34E}</a:tableStyleId>
              </a:tblPr>
              <a:tblGrid>
                <a:gridCol w="2240125">
                  <a:extLst>
                    <a:ext uri="{9D8B030D-6E8A-4147-A177-3AD203B41FA5}">
                      <a16:colId xmlns:a16="http://schemas.microsoft.com/office/drawing/2014/main" val="20000"/>
                    </a:ext>
                  </a:extLst>
                </a:gridCol>
                <a:gridCol w="3467825">
                  <a:extLst>
                    <a:ext uri="{9D8B030D-6E8A-4147-A177-3AD203B41FA5}">
                      <a16:colId xmlns:a16="http://schemas.microsoft.com/office/drawing/2014/main" val="20001"/>
                    </a:ext>
                  </a:extLst>
                </a:gridCol>
                <a:gridCol w="285397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GB" b="1"/>
                        <a:t>Aspect</a:t>
                      </a:r>
                      <a:endParaRPr b="1"/>
                    </a:p>
                  </a:txBody>
                  <a:tcPr marL="91425" marR="91425" marT="91425" marB="91425">
                    <a:noFill/>
                  </a:tcPr>
                </a:tc>
                <a:tc>
                  <a:txBody>
                    <a:bodyPr/>
                    <a:lstStyle/>
                    <a:p>
                      <a:pPr marL="0" lvl="0" indent="0" algn="l" rtl="0">
                        <a:spcBef>
                          <a:spcPts val="0"/>
                        </a:spcBef>
                        <a:spcAft>
                          <a:spcPts val="0"/>
                        </a:spcAft>
                        <a:buNone/>
                      </a:pPr>
                      <a:r>
                        <a:rPr lang="en-GB" b="1"/>
                        <a:t>ZD Strategies (The Fall)</a:t>
                      </a:r>
                      <a:endParaRPr b="1"/>
                    </a:p>
                  </a:txBody>
                  <a:tcPr marL="91425" marR="91425" marT="91425" marB="91425">
                    <a:noFill/>
                  </a:tcPr>
                </a:tc>
                <a:tc>
                  <a:txBody>
                    <a:bodyPr/>
                    <a:lstStyle/>
                    <a:p>
                      <a:pPr marL="0" lvl="0" indent="0" algn="l" rtl="0">
                        <a:spcBef>
                          <a:spcPts val="0"/>
                        </a:spcBef>
                        <a:spcAft>
                          <a:spcPts val="0"/>
                        </a:spcAft>
                        <a:buNone/>
                      </a:pPr>
                      <a:r>
                        <a:rPr lang="en-GB" b="1"/>
                        <a:t>GC Quasistrategies (The Rise)</a:t>
                      </a:r>
                      <a:endParaRPr b="1"/>
                    </a:p>
                  </a:txBody>
                  <a:tcPr marL="91425" marR="91425" marT="91425" marB="91425">
                    <a:no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GB"/>
                        <a:t>Strategy Concept</a:t>
                      </a:r>
                      <a:endParaRPr/>
                    </a:p>
                  </a:txBody>
                  <a:tcPr marL="91425" marR="91425" marT="91425" marB="91425">
                    <a:noFill/>
                  </a:tcPr>
                </a:tc>
                <a:tc>
                  <a:txBody>
                    <a:bodyPr/>
                    <a:lstStyle/>
                    <a:p>
                      <a:pPr marL="0" lvl="0" indent="0" algn="l" rtl="0">
                        <a:spcBef>
                          <a:spcPts val="0"/>
                        </a:spcBef>
                        <a:spcAft>
                          <a:spcPts val="0"/>
                        </a:spcAft>
                        <a:buNone/>
                      </a:pPr>
                      <a:r>
                        <a:rPr lang="en-GB"/>
                        <a:t>Individual, fixed strategies</a:t>
                      </a:r>
                      <a:endParaRPr/>
                    </a:p>
                  </a:txBody>
                  <a:tcPr marL="91425" marR="91425" marT="91425" marB="91425">
                    <a:noFill/>
                  </a:tcPr>
                </a:tc>
                <a:tc>
                  <a:txBody>
                    <a:bodyPr/>
                    <a:lstStyle/>
                    <a:p>
                      <a:pPr marL="0" lvl="0" indent="0" algn="l" rtl="0">
                        <a:spcBef>
                          <a:spcPts val="0"/>
                        </a:spcBef>
                        <a:spcAft>
                          <a:spcPts val="0"/>
                        </a:spcAft>
                        <a:buNone/>
                      </a:pPr>
                      <a:r>
                        <a:rPr lang="en-GB"/>
                        <a:t>Stable groups of mutating strategies; a "quasispecies"</a:t>
                      </a:r>
                      <a:endParaRPr/>
                    </a:p>
                  </a:txBody>
                  <a:tcPr marL="91425" marR="91425" marT="91425" marB="91425">
                    <a:no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GB"/>
                        <a:t>Theoretical Stability</a:t>
                      </a:r>
                      <a:endParaRPr/>
                    </a:p>
                  </a:txBody>
                  <a:tcPr marL="91425" marR="91425" marT="91425" marB="91425">
                    <a:noFill/>
                  </a:tcPr>
                </a:tc>
                <a:tc>
                  <a:txBody>
                    <a:bodyPr/>
                    <a:lstStyle/>
                    <a:p>
                      <a:pPr marL="0" lvl="0" indent="0" algn="l" rtl="0">
                        <a:spcBef>
                          <a:spcPts val="0"/>
                        </a:spcBef>
                        <a:spcAft>
                          <a:spcPts val="0"/>
                        </a:spcAft>
                        <a:buNone/>
                      </a:pPr>
                      <a:r>
                        <a:rPr lang="en-GB"/>
                        <a:t>Theoretically robust</a:t>
                      </a:r>
                      <a:endParaRPr/>
                    </a:p>
                  </a:txBody>
                  <a:tcPr marL="91425" marR="91425" marT="91425" marB="91425">
                    <a:noFill/>
                  </a:tcPr>
                </a:tc>
                <a:tc>
                  <a:txBody>
                    <a:bodyPr/>
                    <a:lstStyle/>
                    <a:p>
                      <a:pPr marL="0" lvl="0" indent="0" algn="l" rtl="0">
                        <a:spcBef>
                          <a:spcPts val="0"/>
                        </a:spcBef>
                        <a:spcAft>
                          <a:spcPts val="0"/>
                        </a:spcAft>
                        <a:buNone/>
                      </a:pPr>
                      <a:r>
                        <a:rPr lang="en-GB"/>
                        <a:t>Concept not fully captured, emergent</a:t>
                      </a:r>
                      <a:endParaRPr/>
                    </a:p>
                  </a:txBody>
                  <a:tcPr marL="91425" marR="91425" marT="91425" marB="91425">
                    <a:no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GB"/>
                        <a:t>Observed Stability</a:t>
                      </a:r>
                      <a:endParaRPr/>
                    </a:p>
                  </a:txBody>
                  <a:tcPr marL="91425" marR="91425" marT="91425" marB="91425">
                    <a:noFill/>
                  </a:tcPr>
                </a:tc>
                <a:tc>
                  <a:txBody>
                    <a:bodyPr/>
                    <a:lstStyle/>
                    <a:p>
                      <a:pPr marL="0" lvl="0" indent="0" algn="l" rtl="0">
                        <a:spcBef>
                          <a:spcPts val="0"/>
                        </a:spcBef>
                        <a:spcAft>
                          <a:spcPts val="0"/>
                        </a:spcAft>
                        <a:buNone/>
                      </a:pPr>
                      <a:r>
                        <a:rPr lang="en-GB"/>
                        <a:t>Unstable</a:t>
                      </a:r>
                      <a:endParaRPr/>
                    </a:p>
                  </a:txBody>
                  <a:tcPr marL="91425" marR="91425" marT="91425" marB="91425">
                    <a:noFill/>
                  </a:tcPr>
                </a:tc>
                <a:tc>
                  <a:txBody>
                    <a:bodyPr/>
                    <a:lstStyle/>
                    <a:p>
                      <a:pPr marL="0" lvl="0" indent="0" algn="l" rtl="0">
                        <a:spcBef>
                          <a:spcPts val="0"/>
                        </a:spcBef>
                        <a:spcAft>
                          <a:spcPts val="0"/>
                        </a:spcAft>
                        <a:buNone/>
                      </a:pPr>
                      <a:r>
                        <a:rPr lang="en-GB"/>
                        <a:t>Highly stable</a:t>
                      </a:r>
                      <a:endParaRPr/>
                    </a:p>
                  </a:txBody>
                  <a:tcPr marL="91425" marR="91425" marT="91425" marB="91425">
                    <a:no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GB"/>
                        <a:t>Reason for Outcome</a:t>
                      </a:r>
                      <a:endParaRPr/>
                    </a:p>
                  </a:txBody>
                  <a:tcPr marL="91425" marR="91425" marT="91425" marB="91425">
                    <a:noFill/>
                  </a:tcPr>
                </a:tc>
                <a:tc>
                  <a:txBody>
                    <a:bodyPr/>
                    <a:lstStyle/>
                    <a:p>
                      <a:pPr marL="0" lvl="0" indent="0" algn="l" rtl="0">
                        <a:spcBef>
                          <a:spcPts val="0"/>
                        </a:spcBef>
                        <a:spcAft>
                          <a:spcPts val="0"/>
                        </a:spcAft>
                        <a:buNone/>
                      </a:pPr>
                      <a:r>
                        <a:rPr lang="en-GB"/>
                        <a:t>Lack of mutational robustness</a:t>
                      </a:r>
                      <a:endParaRPr/>
                    </a:p>
                  </a:txBody>
                  <a:tcPr marL="91425" marR="91425" marT="91425" marB="91425">
                    <a:noFill/>
                  </a:tcPr>
                </a:tc>
                <a:tc>
                  <a:txBody>
                    <a:bodyPr/>
                    <a:lstStyle/>
                    <a:p>
                      <a:pPr marL="0" lvl="0" indent="0" algn="l" rtl="0">
                        <a:spcBef>
                          <a:spcPts val="0"/>
                        </a:spcBef>
                        <a:spcAft>
                          <a:spcPts val="0"/>
                        </a:spcAft>
                        <a:buNone/>
                      </a:pPr>
                      <a:r>
                        <a:rPr lang="en-GB"/>
                        <a:t>Mutational robustness</a:t>
                      </a:r>
                      <a:endParaRPr/>
                    </a:p>
                  </a:txBody>
                  <a:tcPr marL="91425" marR="91425" marT="91425" marB="91425">
                    <a:no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GB"/>
                        <a:t>Key Behavior/Mechanism</a:t>
                      </a:r>
                      <a:endParaRPr/>
                    </a:p>
                  </a:txBody>
                  <a:tcPr marL="91425" marR="91425" marT="91425" marB="91425">
                    <a:noFill/>
                  </a:tcPr>
                </a:tc>
                <a:tc>
                  <a:txBody>
                    <a:bodyPr/>
                    <a:lstStyle/>
                    <a:p>
                      <a:pPr marL="0" lvl="0" indent="0" algn="l" rtl="0">
                        <a:spcBef>
                          <a:spcPts val="0"/>
                        </a:spcBef>
                        <a:spcAft>
                          <a:spcPts val="0"/>
                        </a:spcAft>
                        <a:buNone/>
                      </a:pPr>
                      <a:r>
                        <a:rPr lang="en-GB"/>
                        <a:t>Fixed rules, limited adaptability to dynamic changes</a:t>
                      </a:r>
                      <a:endParaRPr/>
                    </a:p>
                  </a:txBody>
                  <a:tcPr marL="91425" marR="91425" marT="91425" marB="91425">
                    <a:noFill/>
                  </a:tcPr>
                </a:tc>
                <a:tc>
                  <a:txBody>
                    <a:bodyPr/>
                    <a:lstStyle/>
                    <a:p>
                      <a:pPr marL="0" lvl="0" indent="0" algn="l" rtl="0">
                        <a:spcBef>
                          <a:spcPts val="0"/>
                        </a:spcBef>
                        <a:spcAft>
                          <a:spcPts val="0"/>
                        </a:spcAft>
                        <a:buNone/>
                      </a:pPr>
                      <a:r>
                        <a:rPr lang="en-GB"/>
                        <a:t>genetic diversity and mutual support</a:t>
                      </a:r>
                      <a:endParaRPr/>
                    </a:p>
                  </a:txBody>
                  <a:tcPr marL="91425" marR="91425" marT="91425" marB="91425">
                    <a:noFill/>
                  </a:tcPr>
                </a:tc>
                <a:extLst>
                  <a:ext uri="{0D108BD9-81ED-4DB2-BD59-A6C34878D82A}">
                    <a16:rowId xmlns:a16="http://schemas.microsoft.com/office/drawing/2014/main" val="10005"/>
                  </a:ext>
                </a:extLst>
              </a:tr>
              <a:tr h="582100">
                <a:tc>
                  <a:txBody>
                    <a:bodyPr/>
                    <a:lstStyle/>
                    <a:p>
                      <a:pPr marL="0" lvl="0" indent="0" algn="l" rtl="0">
                        <a:spcBef>
                          <a:spcPts val="0"/>
                        </a:spcBef>
                        <a:spcAft>
                          <a:spcPts val="0"/>
                        </a:spcAft>
                        <a:buNone/>
                      </a:pPr>
                      <a:r>
                        <a:rPr lang="en-GB"/>
                        <a:t>Example Behavior</a:t>
                      </a:r>
                      <a:endParaRPr/>
                    </a:p>
                  </a:txBody>
                  <a:tcPr marL="91425" marR="91425" marT="91425" marB="91425">
                    <a:noFill/>
                  </a:tcPr>
                </a:tc>
                <a:tc>
                  <a:txBody>
                    <a:bodyPr/>
                    <a:lstStyle/>
                    <a:p>
                      <a:pPr marL="0" lvl="0" indent="0" algn="l" rtl="0">
                        <a:spcBef>
                          <a:spcPts val="0"/>
                        </a:spcBef>
                        <a:spcAft>
                          <a:spcPts val="0"/>
                        </a:spcAft>
                        <a:buNone/>
                      </a:pPr>
                      <a:r>
                        <a:rPr lang="en-GB"/>
                        <a:t>Manipulative (eZD) or theoretically generous but fragile (ZDR, ZDGTFT-2)</a:t>
                      </a:r>
                      <a:endParaRPr/>
                    </a:p>
                  </a:txBody>
                  <a:tcPr marL="91425" marR="91425" marT="91425" marB="91425">
                    <a:noFill/>
                  </a:tcPr>
                </a:tc>
                <a:tc>
                  <a:txBody>
                    <a:bodyPr/>
                    <a:lstStyle/>
                    <a:p>
                      <a:pPr marL="0" lvl="0" indent="0" algn="l" rtl="0">
                        <a:spcBef>
                          <a:spcPts val="0"/>
                        </a:spcBef>
                        <a:spcAft>
                          <a:spcPts val="0"/>
                        </a:spcAft>
                        <a:buNone/>
                      </a:pPr>
                      <a:r>
                        <a:rPr lang="en-GB"/>
                        <a:t>Robustly cooperative (General Cooperator - GC)</a:t>
                      </a:r>
                      <a:endParaRPr/>
                    </a:p>
                  </a:txBody>
                  <a:tcPr marL="91425" marR="91425" marT="91425" marB="91425">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1"/>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Limits, Issues, and Flaws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The Idealized World of Pure Mathematics</a:t>
            </a:r>
            <a:endParaRPr/>
          </a:p>
        </p:txBody>
      </p:sp>
      <p:sp>
        <p:nvSpPr>
          <p:cNvPr id="198" name="Google Shape;198;p3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62500" lnSpcReduction="20000"/>
          </a:bodyPr>
          <a:lstStyle/>
          <a:p>
            <a:pPr marL="0" lvl="0" indent="0" algn="l" rtl="0">
              <a:spcBef>
                <a:spcPts val="0"/>
              </a:spcBef>
              <a:spcAft>
                <a:spcPts val="0"/>
              </a:spcAft>
              <a:buNone/>
            </a:pPr>
            <a:r>
              <a:rPr lang="en-GB" sz="2600">
                <a:solidFill>
                  <a:schemeClr val="dk2"/>
                </a:solidFill>
                <a:latin typeface="Raleway"/>
                <a:ea typeface="Raleway"/>
                <a:cs typeface="Raleway"/>
                <a:sym typeface="Raleway"/>
              </a:rPr>
              <a:t>The elegant mathematical solutions of EGT (like ESS) only hold true under highly idealized conditions: infinite populations, zero mutation, and perfect mixing (any agent can interact with any other).</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a:solidFill>
                  <a:schemeClr val="dk2"/>
                </a:solidFill>
                <a:latin typeface="Raleway"/>
                <a:ea typeface="Raleway"/>
                <a:cs typeface="Raleway"/>
                <a:sym typeface="Raleway"/>
              </a:rPr>
              <a:t>These conditions are almost never met in real human organizations or natural ecosystems, which are finite, constantly changing, and spatially structured.</a:t>
            </a:r>
            <a:endParaRPr sz="2600">
              <a:solidFill>
                <a:schemeClr val="dk2"/>
              </a:solidFill>
              <a:latin typeface="Raleway"/>
              <a:ea typeface="Raleway"/>
              <a:cs typeface="Raleway"/>
              <a:sym typeface="Raleway"/>
            </a:endParaRPr>
          </a:p>
          <a:p>
            <a:pPr marL="0" lvl="0" indent="0" algn="l" rtl="0">
              <a:spcBef>
                <a:spcPts val="1200"/>
              </a:spcBef>
              <a:spcAft>
                <a:spcPts val="1200"/>
              </a:spcAft>
              <a:buNone/>
            </a:pPr>
            <a:r>
              <a:rPr lang="en-GB" sz="2600">
                <a:solidFill>
                  <a:schemeClr val="dk2"/>
                </a:solidFill>
                <a:latin typeface="Raleway"/>
                <a:ea typeface="Raleway"/>
                <a:cs typeface="Raleway"/>
                <a:sym typeface="Raleway"/>
              </a:rPr>
              <a:t>Conclusion: Mathematics provides a vital theoretical baseline, but it cannot capture the full complexity of real-world agentic dynamics.</a:t>
            </a:r>
            <a:endParaRPr sz="2600">
              <a:solidFill>
                <a:schemeClr val="dk2"/>
              </a:solidFill>
              <a:latin typeface="Raleway"/>
              <a:ea typeface="Raleway"/>
              <a:cs typeface="Raleway"/>
              <a:sym typeface="Raleway"/>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The Practical Limits of Agent-Based Models</a:t>
            </a:r>
            <a:endParaRPr/>
          </a:p>
        </p:txBody>
      </p:sp>
      <p:sp>
        <p:nvSpPr>
          <p:cNvPr id="204" name="Google Shape;204;p3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62500" lnSpcReduction="10000"/>
          </a:bodyPr>
          <a:lstStyle/>
          <a:p>
            <a:pPr marL="0" lvl="0" indent="0" algn="l" rtl="0">
              <a:spcBef>
                <a:spcPts val="0"/>
              </a:spcBef>
              <a:spcAft>
                <a:spcPts val="0"/>
              </a:spcAft>
              <a:buNone/>
            </a:pPr>
            <a:r>
              <a:rPr lang="en-GB" sz="2600">
                <a:solidFill>
                  <a:schemeClr val="dk2"/>
                </a:solidFill>
                <a:latin typeface="Raleway"/>
                <a:ea typeface="Raleway"/>
                <a:cs typeface="Raleway"/>
                <a:sym typeface="Raleway"/>
              </a:rPr>
              <a:t>ABMs are powerful but have significant practical limitations:</a:t>
            </a:r>
            <a:endParaRPr sz="2600">
              <a:solidFill>
                <a:schemeClr val="dk2"/>
              </a:solidFill>
              <a:latin typeface="Raleway"/>
              <a:ea typeface="Raleway"/>
              <a:cs typeface="Raleway"/>
              <a:sym typeface="Raleway"/>
            </a:endParaRPr>
          </a:p>
          <a:p>
            <a:pPr marL="457200" lvl="0" indent="-331787" algn="l" rtl="0">
              <a:spcBef>
                <a:spcPts val="1200"/>
              </a:spcBef>
              <a:spcAft>
                <a:spcPts val="0"/>
              </a:spcAft>
              <a:buClr>
                <a:schemeClr val="dk2"/>
              </a:buClr>
              <a:buSzPct val="100000"/>
              <a:buFont typeface="Raleway"/>
              <a:buChar char="-"/>
            </a:pPr>
            <a:r>
              <a:rPr lang="en-GB" sz="2600">
                <a:solidFill>
                  <a:schemeClr val="dk2"/>
                </a:solidFill>
                <a:latin typeface="Raleway"/>
                <a:ea typeface="Raleway"/>
                <a:cs typeface="Raleway"/>
                <a:sym typeface="Raleway"/>
              </a:rPr>
              <a:t>High Computational Demands: The complexity can grow exponentially with the number of agents, making real-time analysis difficult.</a:t>
            </a:r>
            <a:endParaRPr sz="2600">
              <a:solidFill>
                <a:schemeClr val="dk2"/>
              </a:solidFill>
              <a:latin typeface="Raleway"/>
              <a:ea typeface="Raleway"/>
              <a:cs typeface="Raleway"/>
              <a:sym typeface="Raleway"/>
            </a:endParaRPr>
          </a:p>
          <a:p>
            <a:pPr marL="457200" lvl="0" indent="-331787" algn="l" rtl="0">
              <a:spcBef>
                <a:spcPts val="0"/>
              </a:spcBef>
              <a:spcAft>
                <a:spcPts val="0"/>
              </a:spcAft>
              <a:buClr>
                <a:schemeClr val="dk2"/>
              </a:buClr>
              <a:buSzPct val="100000"/>
              <a:buFont typeface="Raleway"/>
              <a:buChar char="-"/>
            </a:pPr>
            <a:r>
              <a:rPr lang="en-GB" sz="2600">
                <a:solidFill>
                  <a:schemeClr val="dk2"/>
                </a:solidFill>
                <a:latin typeface="Raleway"/>
                <a:ea typeface="Raleway"/>
                <a:cs typeface="Raleway"/>
                <a:sym typeface="Raleway"/>
              </a:rPr>
              <a:t>Heavy Data Requirements: ABMs need extensive real-world data for calibration and validation.</a:t>
            </a:r>
            <a:endParaRPr sz="2600">
              <a:solidFill>
                <a:schemeClr val="dk2"/>
              </a:solidFill>
              <a:latin typeface="Raleway"/>
              <a:ea typeface="Raleway"/>
              <a:cs typeface="Raleway"/>
              <a:sym typeface="Raleway"/>
            </a:endParaRPr>
          </a:p>
          <a:p>
            <a:pPr marL="457200" lvl="0" indent="-331787" algn="l" rtl="0">
              <a:spcBef>
                <a:spcPts val="0"/>
              </a:spcBef>
              <a:spcAft>
                <a:spcPts val="0"/>
              </a:spcAft>
              <a:buClr>
                <a:schemeClr val="dk2"/>
              </a:buClr>
              <a:buSzPct val="100000"/>
              <a:buFont typeface="Raleway"/>
              <a:buChar char="-"/>
            </a:pPr>
            <a:r>
              <a:rPr lang="en-GB" sz="2600">
                <a:solidFill>
                  <a:schemeClr val="dk2"/>
                </a:solidFill>
                <a:latin typeface="Raleway"/>
                <a:ea typeface="Raleway"/>
                <a:cs typeface="Raleway"/>
                <a:sym typeface="Raleway"/>
              </a:rPr>
              <a:t>Complexity: The intricate nature of these models makes it hard to involve non-expert stakeholders, a key factor for successful policy integration.</a:t>
            </a:r>
            <a:endParaRPr sz="2600">
              <a:solidFill>
                <a:schemeClr val="dk2"/>
              </a:solidFill>
              <a:latin typeface="Raleway"/>
              <a:ea typeface="Raleway"/>
              <a:cs typeface="Raleway"/>
              <a:sym typeface="Raleway"/>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The Challenge of True Autonomy: Autopoiesis</a:t>
            </a:r>
            <a:endParaRPr/>
          </a:p>
        </p:txBody>
      </p:sp>
      <p:sp>
        <p:nvSpPr>
          <p:cNvPr id="210" name="Google Shape;210;p3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55000"/>
          </a:bodyPr>
          <a:lstStyle/>
          <a:p>
            <a:pPr marL="0" lvl="0" indent="0" algn="l" rtl="0">
              <a:spcBef>
                <a:spcPts val="0"/>
              </a:spcBef>
              <a:spcAft>
                <a:spcPts val="0"/>
              </a:spcAft>
              <a:buNone/>
            </a:pPr>
            <a:r>
              <a:rPr lang="en-GB" sz="2600">
                <a:solidFill>
                  <a:schemeClr val="dk2"/>
                </a:solidFill>
                <a:latin typeface="Raleway"/>
                <a:ea typeface="Raleway"/>
                <a:cs typeface="Raleway"/>
                <a:sym typeface="Raleway"/>
              </a:rPr>
              <a:t>The concept of autopoiesis, a truly self-creating and self-maintaining system, highlights a deep-seated challenge.</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a:solidFill>
                  <a:schemeClr val="dk2"/>
                </a:solidFill>
                <a:latin typeface="Raleway"/>
                <a:ea typeface="Raleway"/>
                <a:cs typeface="Raleway"/>
                <a:sym typeface="Raleway"/>
              </a:rPr>
              <a:t>The original computational model of autopoiesis was found to have a critical, undocumented flaw, and its re-creation was a major research effort.</a:t>
            </a:r>
            <a:endParaRPr sz="2600">
              <a:solidFill>
                <a:schemeClr val="dk2"/>
              </a:solidFill>
              <a:latin typeface="Raleway"/>
              <a:ea typeface="Raleway"/>
              <a:cs typeface="Raleway"/>
              <a:sym typeface="Raleway"/>
            </a:endParaRPr>
          </a:p>
          <a:p>
            <a:pPr marL="0" lvl="0" indent="0" algn="l" rtl="0">
              <a:spcBef>
                <a:spcPts val="1200"/>
              </a:spcBef>
              <a:spcAft>
                <a:spcPts val="1200"/>
              </a:spcAft>
              <a:buNone/>
            </a:pPr>
            <a:r>
              <a:rPr lang="en-GB" sz="2600">
                <a:solidFill>
                  <a:schemeClr val="dk2"/>
                </a:solidFill>
                <a:latin typeface="Raleway"/>
                <a:ea typeface="Raleway"/>
                <a:cs typeface="Raleway"/>
                <a:sym typeface="Raleway"/>
              </a:rPr>
              <a:t>The Issue: This demonstrates how difficult it is to even design a minimal, truly autonomous system. Our agentic systems are currently complex simulations, not "realisations" of self-sufficient entities. We are modeling behavior, not creating life.</a:t>
            </a:r>
            <a:endParaRPr sz="2600">
              <a:solidFill>
                <a:schemeClr val="dk2"/>
              </a:solidFill>
              <a:latin typeface="Raleway"/>
              <a:ea typeface="Raleway"/>
              <a:cs typeface="Raleway"/>
              <a:sym typeface="Raleway"/>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Computational Intractability</a:t>
            </a:r>
            <a:endParaRPr/>
          </a:p>
        </p:txBody>
      </p:sp>
      <p:sp>
        <p:nvSpPr>
          <p:cNvPr id="216" name="Google Shape;216;p3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62500" lnSpcReduction="10000"/>
          </a:bodyPr>
          <a:lstStyle/>
          <a:p>
            <a:pPr marL="0" lvl="0" indent="0" algn="l" rtl="0">
              <a:spcBef>
                <a:spcPts val="0"/>
              </a:spcBef>
              <a:spcAft>
                <a:spcPts val="0"/>
              </a:spcAft>
              <a:buNone/>
            </a:pPr>
            <a:r>
              <a:rPr lang="en-GB" sz="2600">
                <a:solidFill>
                  <a:schemeClr val="dk2"/>
                </a:solidFill>
                <a:latin typeface="Raleway"/>
                <a:ea typeface="Raleway"/>
                <a:cs typeface="Raleway"/>
                <a:sym typeface="Raleway"/>
              </a:rPr>
              <a:t>The work of Alan Turing on computability theory established a fundamental limit. The "Halting Problem" proves that it is impossible to create a universal algorithm that can predict whether any arbitrary program (including a complex ABM) will run forever or eventually stop.</a:t>
            </a:r>
            <a:endParaRPr sz="2600">
              <a:solidFill>
                <a:schemeClr val="dk2"/>
              </a:solidFill>
              <a:latin typeface="Raleway"/>
              <a:ea typeface="Raleway"/>
              <a:cs typeface="Raleway"/>
              <a:sym typeface="Raleway"/>
            </a:endParaRPr>
          </a:p>
          <a:p>
            <a:pPr marL="0" lvl="0" indent="0" algn="l" rtl="0">
              <a:spcBef>
                <a:spcPts val="1200"/>
              </a:spcBef>
              <a:spcAft>
                <a:spcPts val="1200"/>
              </a:spcAft>
              <a:buNone/>
            </a:pPr>
            <a:r>
              <a:rPr lang="en-GB" sz="2600">
                <a:solidFill>
                  <a:schemeClr val="dk2"/>
                </a:solidFill>
                <a:latin typeface="Raleway"/>
                <a:ea typeface="Raleway"/>
                <a:cs typeface="Raleway"/>
                <a:sym typeface="Raleway"/>
              </a:rPr>
              <a:t>Implication: We can never have absolute certainty about the long-term, emergent behavior of a complex multi-agent system. We can simulate and analyze probabilities, but complete prediction is fundamentally impossible.</a:t>
            </a:r>
            <a:endParaRPr sz="2600">
              <a:solidFill>
                <a:schemeClr val="dk2"/>
              </a:solidFill>
              <a:latin typeface="Raleway"/>
              <a:ea typeface="Raleway"/>
              <a:cs typeface="Raleway"/>
              <a:sym typeface="Raleway"/>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6"/>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Conclusion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Sources</a:t>
            </a:r>
            <a:endParaRPr/>
          </a:p>
        </p:txBody>
      </p:sp>
      <p:sp>
        <p:nvSpPr>
          <p:cNvPr id="227" name="Google Shape;227;p3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47500" lnSpcReduction="10000"/>
          </a:bodyPr>
          <a:lstStyle/>
          <a:p>
            <a:pPr marL="0" lvl="0" indent="0" algn="l" rtl="0">
              <a:spcBef>
                <a:spcPts val="0"/>
              </a:spcBef>
              <a:spcAft>
                <a:spcPts val="0"/>
              </a:spcAft>
              <a:buNone/>
            </a:pPr>
            <a:r>
              <a:rPr lang="en-GB" sz="2600">
                <a:solidFill>
                  <a:schemeClr val="dk2"/>
                </a:solidFill>
                <a:latin typeface="Raleway"/>
                <a:ea typeface="Raleway"/>
                <a:cs typeface="Raleway"/>
                <a:sym typeface="Raleway"/>
              </a:rPr>
              <a:t>S. Nugroho and T. Uehara, "Systematic Review of Agent-Based and System Dynamics Models for Social-Ecological System Case Studies," Systems, vol. 11, no. 11, p. 530, Oct. 2023.</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a:solidFill>
                  <a:schemeClr val="dk2"/>
                </a:solidFill>
                <a:latin typeface="Raleway"/>
                <a:ea typeface="Raleway"/>
                <a:cs typeface="Raleway"/>
                <a:sym typeface="Raleway"/>
              </a:rPr>
              <a:t>K. Tuyls and A. Nowé, "Evolutionary Game Theory and Multi-Agent Reinforcement Learning," The Knowledge Engineering Review, vol. 20, no. 1, pp. 63-90, Mar. 2005.</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a:solidFill>
                  <a:schemeClr val="dk2"/>
                </a:solidFill>
                <a:latin typeface="Raleway"/>
                <a:ea typeface="Raleway"/>
                <a:cs typeface="Raleway"/>
                <a:sym typeface="Raleway"/>
              </a:rPr>
              <a:t>C. Adami, J. Schossau, and A. Hintze, "Evolutionary Game Theory using Agent-based Methods," Physics of Life Reviews, vol. 19, pp. 1-26, Dec. 2016.</a:t>
            </a:r>
            <a:endParaRPr sz="2600">
              <a:solidFill>
                <a:schemeClr val="dk2"/>
              </a:solidFill>
              <a:latin typeface="Raleway"/>
              <a:ea typeface="Raleway"/>
              <a:cs typeface="Raleway"/>
              <a:sym typeface="Raleway"/>
            </a:endParaRPr>
          </a:p>
          <a:p>
            <a:pPr marL="0" lvl="0" indent="0" algn="l" rtl="0">
              <a:spcBef>
                <a:spcPts val="1200"/>
              </a:spcBef>
              <a:spcAft>
                <a:spcPts val="1200"/>
              </a:spcAft>
              <a:buNone/>
            </a:pPr>
            <a:r>
              <a:rPr lang="en-GB" sz="2600">
                <a:solidFill>
                  <a:schemeClr val="dk2"/>
                </a:solidFill>
                <a:latin typeface="Raleway"/>
                <a:ea typeface="Raleway"/>
                <a:cs typeface="Raleway"/>
                <a:sym typeface="Raleway"/>
              </a:rPr>
              <a:t>B. McMullin, "30 Years of Computational Autopoiesis: A Review," Artificial Life, vol. 10, no. 3, pp. 277-295, Summer 2004.</a:t>
            </a:r>
            <a:endParaRPr sz="2600">
              <a:solidFill>
                <a:schemeClr val="dk2"/>
              </a:solidFill>
              <a:latin typeface="Raleway"/>
              <a:ea typeface="Raleway"/>
              <a:cs typeface="Raleway"/>
              <a:sym typeface="Raleway"/>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Further Reading</a:t>
            </a:r>
            <a:endParaRPr/>
          </a:p>
        </p:txBody>
      </p:sp>
      <p:sp>
        <p:nvSpPr>
          <p:cNvPr id="233" name="Google Shape;233;p3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47500" lnSpcReduction="20000"/>
          </a:bodyPr>
          <a:lstStyle/>
          <a:p>
            <a:pPr marL="0" lvl="0" indent="0" algn="l" rtl="0">
              <a:spcBef>
                <a:spcPts val="0"/>
              </a:spcBef>
              <a:spcAft>
                <a:spcPts val="0"/>
              </a:spcAft>
              <a:buNone/>
            </a:pPr>
            <a:r>
              <a:rPr lang="en-GB" sz="2600">
                <a:solidFill>
                  <a:schemeClr val="dk2"/>
                </a:solidFill>
                <a:latin typeface="Raleway"/>
                <a:ea typeface="Raleway"/>
                <a:cs typeface="Raleway"/>
                <a:sym typeface="Raleway"/>
              </a:rPr>
              <a:t>J. M. Smith, Evolution and the Theory of Games. Cambridge, U.K.: Cambridge University Press, 1982.</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a:solidFill>
                  <a:schemeClr val="dk2"/>
                </a:solidFill>
                <a:latin typeface="Raleway"/>
                <a:ea typeface="Raleway"/>
                <a:cs typeface="Raleway"/>
                <a:sym typeface="Raleway"/>
              </a:rPr>
              <a:t>H. Gintis, Game Theory Evolving: A Problem-Centered Introduction to Modeling Strategic Interaction, 2nd ed. Princeton, NJ: Princeton University Press, 2009.</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a:solidFill>
                  <a:schemeClr val="dk2"/>
                </a:solidFill>
                <a:latin typeface="Raleway"/>
                <a:ea typeface="Raleway"/>
                <a:cs typeface="Raleway"/>
                <a:sym typeface="Raleway"/>
              </a:rPr>
              <a:t>J. H. Holland, Signals and Boundaries: Building Blocks for Complex Adaptive Systems. Cambridge, MA: The MIT Press, 2012.</a:t>
            </a:r>
            <a:endParaRPr sz="2600">
              <a:solidFill>
                <a:schemeClr val="dk2"/>
              </a:solidFill>
              <a:latin typeface="Raleway"/>
              <a:ea typeface="Raleway"/>
              <a:cs typeface="Raleway"/>
              <a:sym typeface="Raleway"/>
            </a:endParaRPr>
          </a:p>
          <a:p>
            <a:pPr marL="0" lvl="0" indent="0" algn="l" rtl="0">
              <a:spcBef>
                <a:spcPts val="1200"/>
              </a:spcBef>
              <a:spcAft>
                <a:spcPts val="0"/>
              </a:spcAft>
              <a:buNone/>
            </a:pPr>
            <a:r>
              <a:rPr lang="en-GB" sz="2600">
                <a:solidFill>
                  <a:schemeClr val="dk2"/>
                </a:solidFill>
                <a:latin typeface="Raleway"/>
                <a:ea typeface="Raleway"/>
                <a:cs typeface="Raleway"/>
                <a:sym typeface="Raleway"/>
              </a:rPr>
              <a:t>M. Mitchell, Complexity: A Guided Tour. New York, NY: Oxford University Press, 2009.</a:t>
            </a:r>
            <a:endParaRPr sz="2600">
              <a:solidFill>
                <a:schemeClr val="dk2"/>
              </a:solidFill>
              <a:latin typeface="Raleway"/>
              <a:ea typeface="Raleway"/>
              <a:cs typeface="Raleway"/>
              <a:sym typeface="Raleway"/>
            </a:endParaRPr>
          </a:p>
          <a:p>
            <a:pPr marL="0" lvl="0" indent="0" algn="l" rtl="0">
              <a:spcBef>
                <a:spcPts val="1200"/>
              </a:spcBef>
              <a:spcAft>
                <a:spcPts val="1200"/>
              </a:spcAft>
              <a:buNone/>
            </a:pPr>
            <a:r>
              <a:rPr lang="en-GB" sz="2600">
                <a:solidFill>
                  <a:schemeClr val="dk2"/>
                </a:solidFill>
                <a:latin typeface="Raleway"/>
                <a:ea typeface="Raleway"/>
                <a:cs typeface="Raleway"/>
                <a:sym typeface="Raleway"/>
              </a:rPr>
              <a:t>H. Maturana and F. Varela, Autopoiesis and Cognition: The Realization of the Living. Dordrecht, Holland: D. Reidel Publishing Company, 1980.</a:t>
            </a:r>
            <a:endParaRPr sz="2600">
              <a:solidFill>
                <a:schemeClr val="dk2"/>
              </a:solidFill>
              <a:latin typeface="Raleway"/>
              <a:ea typeface="Raleway"/>
              <a:cs typeface="Raleway"/>
              <a:sym typeface="Raleway"/>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2059</Words>
  <Application>Microsoft Macintosh PowerPoint</Application>
  <PresentationFormat>On-screen Show (16:9)</PresentationFormat>
  <Paragraphs>121</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Raleway</vt:lpstr>
      <vt:lpstr>Arial</vt:lpstr>
      <vt:lpstr>Lato</vt:lpstr>
      <vt:lpstr>Streamline</vt:lpstr>
      <vt:lpstr>Game Theory and the Dynamics of Complex Agentic Systems</vt:lpstr>
      <vt:lpstr>Summary</vt:lpstr>
      <vt:lpstr>Agenda</vt:lpstr>
      <vt:lpstr>Key Terminology</vt:lpstr>
      <vt:lpstr>Foundational Concepts</vt:lpstr>
      <vt:lpstr>Game Theory Concepts</vt:lpstr>
      <vt:lpstr>Game Theory in Agentic Systems</vt:lpstr>
      <vt:lpstr>The Main Premise</vt:lpstr>
      <vt:lpstr>Modeling for Quality</vt:lpstr>
      <vt:lpstr>Improving Efficiency</vt:lpstr>
      <vt:lpstr>Broader Concepts</vt:lpstr>
      <vt:lpstr>Beyond Perfect Rationality</vt:lpstr>
      <vt:lpstr>Replicator Dynamics</vt:lpstr>
      <vt:lpstr>Mutation and Finite Populations</vt:lpstr>
      <vt:lpstr>Survival of the Flattest</vt:lpstr>
      <vt:lpstr>Common agent behaviors</vt:lpstr>
      <vt:lpstr>Common agent behaviors</vt:lpstr>
      <vt:lpstr>Case Study: Evolutionary Game Theory using Agent-based Methods</vt:lpstr>
      <vt:lpstr>Limits, Issues, and Flaws</vt:lpstr>
      <vt:lpstr>The Idealized World of Pure Mathematics</vt:lpstr>
      <vt:lpstr>The Practical Limits of Agent-Based Models</vt:lpstr>
      <vt:lpstr>The Challenge of True Autonomy: Autopoiesis</vt:lpstr>
      <vt:lpstr>Computational Intractability</vt:lpstr>
      <vt:lpstr>Conclusion</vt:lpstr>
      <vt:lpstr>Sources</vt:lpstr>
      <vt:lpstr>Further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2026-01-24T19:36:19Z</dcterms:modified>
</cp:coreProperties>
</file>