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embeddedFontLst>
    <p:embeddedFont>
      <p:font typeface="Roboto Mono" pitchFamily="49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6AFFC7-12AA-42C5-A540-451698D5B660}">
  <a:tblStyle styleId="{696AFFC7-12AA-42C5-A540-451698D5B6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e87426538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g3e87426538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e4699318ee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3e4699318ee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ed3421534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ed3421534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7172dbc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6" name="Google Shape;106;g3e7172dbc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e75aa01608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3" name="Google Shape;113;g3e75aa01608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817bd81f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2" name="Google Shape;122;g3e817bd81f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318675434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g39318675434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e867b0635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9" name="Google Shape;139;g3e867b0635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e4d4e7d6d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3e4d4e7d6df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4d4e7d6d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3e4d4e7d6d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e7172dbcd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3e7172dbcd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e81d3fe52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1" name="Google Shape;171;g3e81d3fe522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e80cea21d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4" name="Google Shape;184;g3e80cea21d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e4d4e7d6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3" name="Google Shape;193;g3e4d4e7d6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e867b06356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4" name="Google Shape;204;g3e867b06356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e865cbde2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g3e865cbde2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e511f4d366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g3e511f4d366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e4d3b04dd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9" name="Google Shape;229;g3e4d3b04dd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d971967e09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g3d971967e09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7" name="Google Shape;247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huggingface.co/open-llm-leaderboard" TargetMode="External"/><Relationship Id="rId18" Type="http://schemas.openxmlformats.org/officeDocument/2006/relationships/hyperlink" Target="https://lmarena.ai/leaderboard/text-to-image" TargetMode="External"/><Relationship Id="rId26" Type="http://schemas.openxmlformats.org/officeDocument/2006/relationships/hyperlink" Target="https://www.anthropic.com/news/claude-sonnet-4-6" TargetMode="External"/><Relationship Id="rId39" Type="http://schemas.openxmlformats.org/officeDocument/2006/relationships/hyperlink" Target="https://blog.google/innovation-and-ai/models-and-research/gemini-models/gemini-3-5/" TargetMode="External"/><Relationship Id="rId21" Type="http://schemas.openxmlformats.org/officeDocument/2006/relationships/hyperlink" Target="https://www.anthropic.com/news/claude-opus-4-5" TargetMode="External"/><Relationship Id="rId34" Type="http://schemas.openxmlformats.org/officeDocument/2006/relationships/hyperlink" Target="https://mimo.xiaomi.com/mimo-v2-5-pro/" TargetMode="External"/><Relationship Id="rId42" Type="http://schemas.openxmlformats.org/officeDocument/2006/relationships/hyperlink" Target="https://x.ai/news/grok-4-1" TargetMode="External"/><Relationship Id="rId7" Type="http://schemas.openxmlformats.org/officeDocument/2006/relationships/hyperlink" Target="https://openlm.ai/chatbot-arena/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tificialanalysis.ai/models/grok-4" TargetMode="External"/><Relationship Id="rId20" Type="http://schemas.openxmlformats.org/officeDocument/2006/relationships/hyperlink" Target="https://www.anthropic.com/news/claude-opus-4-7" TargetMode="External"/><Relationship Id="rId29" Type="http://schemas.openxmlformats.org/officeDocument/2006/relationships/hyperlink" Target="https://www.anthropic.com/news/claude-sonnet-4-5" TargetMode="External"/><Relationship Id="rId41" Type="http://schemas.openxmlformats.org/officeDocument/2006/relationships/hyperlink" Target="https://blog.google/products/gemini/gemini-3-flash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designarena.ai" TargetMode="External"/><Relationship Id="rId11" Type="http://schemas.openxmlformats.org/officeDocument/2006/relationships/hyperlink" Target="https://www.stack-ai.com/llm-leaderboard" TargetMode="External"/><Relationship Id="rId24" Type="http://schemas.openxmlformats.org/officeDocument/2006/relationships/hyperlink" Target="https://blog.google/innovation-and-ai/models-and-research/gemini-models/gemini-3-1-pro/" TargetMode="External"/><Relationship Id="rId32" Type="http://schemas.openxmlformats.org/officeDocument/2006/relationships/hyperlink" Target="https://docs.x.ai/developers/models/grok-4.20-multi-agent-beta-0309" TargetMode="External"/><Relationship Id="rId37" Type="http://schemas.openxmlformats.org/officeDocument/2006/relationships/hyperlink" Target="https://qwen.ai/blog?id=qwen3.5-max-preview" TargetMode="External"/><Relationship Id="rId40" Type="http://schemas.openxmlformats.org/officeDocument/2006/relationships/hyperlink" Target="https://grok.com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epoch.ai/data/ai-benchmarking-dashboard" TargetMode="External"/><Relationship Id="rId23" Type="http://schemas.openxmlformats.org/officeDocument/2006/relationships/hyperlink" Target="https://ai.meta.com/blog/introducing-muse-spark-msl/" TargetMode="External"/><Relationship Id="rId28" Type="http://schemas.openxmlformats.org/officeDocument/2006/relationships/hyperlink" Target="https://platform.openai.com/docs/models/gpt-5.4" TargetMode="External"/><Relationship Id="rId36" Type="http://schemas.openxmlformats.org/officeDocument/2006/relationships/hyperlink" Target="https://openai.com/index/gpt-5-5-instant" TargetMode="External"/><Relationship Id="rId10" Type="http://schemas.openxmlformats.org/officeDocument/2006/relationships/hyperlink" Target="https://llmworld.net/llm_leaderboards/" TargetMode="External"/><Relationship Id="rId19" Type="http://schemas.openxmlformats.org/officeDocument/2006/relationships/hyperlink" Target="https://www.anthropic.com/news/claude-opus-4-6" TargetMode="External"/><Relationship Id="rId31" Type="http://schemas.openxmlformats.org/officeDocument/2006/relationships/hyperlink" Target="https://developers.openai.com/api/docs/models/gpt-5.2-chat-latest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web.lmarena.ai/leaderboard" TargetMode="External"/><Relationship Id="rId14" Type="http://schemas.openxmlformats.org/officeDocument/2006/relationships/hyperlink" Target="https://www.vellum.ai/llm-leaderboard" TargetMode="External"/><Relationship Id="rId22" Type="http://schemas.openxmlformats.org/officeDocument/2006/relationships/hyperlink" Target="https://huggingface.co/zai-org/GLM-5.1" TargetMode="External"/><Relationship Id="rId27" Type="http://schemas.openxmlformats.org/officeDocument/2006/relationships/hyperlink" Target="https://openai.com/index/introducing-gpt-5-5/" TargetMode="External"/><Relationship Id="rId30" Type="http://schemas.openxmlformats.org/officeDocument/2006/relationships/hyperlink" Target="https://aistudio.google.com/app/prompts/new_chat?model=gemini-3-pro-preview" TargetMode="External"/><Relationship Id="rId35" Type="http://schemas.openxmlformats.org/officeDocument/2006/relationships/hyperlink" Target="https://www.anthropic.com/news/claude-opus-4-1" TargetMode="External"/><Relationship Id="rId8" Type="http://schemas.openxmlformats.org/officeDocument/2006/relationships/hyperlink" Target="https://beta.lmarena.ai" TargetMode="External"/><Relationship Id="rId3" Type="http://schemas.openxmlformats.org/officeDocument/2006/relationships/hyperlink" Target="https://en.wikipedia.org/wiki/Elo_rating_system" TargetMode="External"/><Relationship Id="rId12" Type="http://schemas.openxmlformats.org/officeDocument/2006/relationships/hyperlink" Target="https://artificialanalysis.ai/leaderboards/models" TargetMode="External"/><Relationship Id="rId17" Type="http://schemas.openxmlformats.org/officeDocument/2006/relationships/hyperlink" Target="http://aiarena.alibaba-inc.com/corpora/arena/leaderboard?arenaType=T2I" TargetMode="External"/><Relationship Id="rId25" Type="http://schemas.openxmlformats.org/officeDocument/2006/relationships/hyperlink" Target="https://chat.qwen.ai/?models=Qwen3.7-Max-Preview" TargetMode="External"/><Relationship Id="rId33" Type="http://schemas.openxmlformats.org/officeDocument/2006/relationships/hyperlink" Target="https://ernie.baidu.com/blog/posts/ernie-5.1-0508-release/" TargetMode="External"/><Relationship Id="rId38" Type="http://schemas.openxmlformats.org/officeDocument/2006/relationships/hyperlink" Target="https://docs.x.ai/developers/models/grok-4.20-beta-0309-reasoning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router.ai/minimax/minimax-m3/provider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q_umfWm8J28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beam.ai/agentic-insights/anthropics-new-billing-split-reveals-what-ai-agents-actually-cost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deepinfra.com/blog/best-models-openclaw-agentic-workloads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lickrank.ai/llm-leaderboard/" TargetMode="External"/><Relationship Id="rId13" Type="http://schemas.openxmlformats.org/officeDocument/2006/relationships/hyperlink" Target="https://github.com/chopratejas/headroom" TargetMode="External"/><Relationship Id="rId3" Type="http://schemas.openxmlformats.org/officeDocument/2006/relationships/hyperlink" Target="https://artificialanalysis.ai" TargetMode="External"/><Relationship Id="rId7" Type="http://schemas.openxmlformats.org/officeDocument/2006/relationships/hyperlink" Target="https://onyx.app/llm-leaderboard" TargetMode="External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vellum.ai/llm-leaderboard" TargetMode="External"/><Relationship Id="rId11" Type="http://schemas.openxmlformats.org/officeDocument/2006/relationships/hyperlink" Target="https://dextralabs.com/blog/best-llm-leaderboard/" TargetMode="External"/><Relationship Id="rId5" Type="http://schemas.openxmlformats.org/officeDocument/2006/relationships/hyperlink" Target="https://arena.ai" TargetMode="External"/><Relationship Id="rId10" Type="http://schemas.openxmlformats.org/officeDocument/2006/relationships/hyperlink" Target="https://crfm.stanford.edu/helm/" TargetMode="External"/><Relationship Id="rId4" Type="http://schemas.openxmlformats.org/officeDocument/2006/relationships/hyperlink" Target="https://github.com/alexfazio/artificial-analysis-compare" TargetMode="External"/><Relationship Id="rId9" Type="http://schemas.openxmlformats.org/officeDocument/2006/relationships/hyperlink" Target="https://huggingface.co/spaces/HuggingFaceH4/open_llm_leaderboar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www.anthropic.com/engineering/how-we-contain-claude" TargetMode="External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hyperlink" Target="http://www.youtube.com/watch?v=6LwQ8RbU9as" TargetMode="External"/><Relationship Id="rId4" Type="http://schemas.openxmlformats.org/officeDocument/2006/relationships/hyperlink" Target="http://data-curve.ai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thropic-experimental/sandbox-runtime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s://github.com/containers/bubblewrap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://design.md" TargetMode="External"/><Relationship Id="rId3" Type="http://schemas.openxmlformats.org/officeDocument/2006/relationships/hyperlink" Target="https://huggingface.co/blog/JetBrains/mellum2-launch" TargetMode="External"/><Relationship Id="rId7" Type="http://schemas.openxmlformats.org/officeDocument/2006/relationships/hyperlink" Target="http://soul.md" TargetMode="External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://claude.md" TargetMode="External"/><Relationship Id="rId11" Type="http://schemas.openxmlformats.org/officeDocument/2006/relationships/image" Target="../media/image16.png"/><Relationship Id="rId5" Type="http://schemas.openxmlformats.org/officeDocument/2006/relationships/image" Target="../media/image15.png"/><Relationship Id="rId10" Type="http://schemas.openxmlformats.org/officeDocument/2006/relationships/hyperlink" Target="http://audience.md" TargetMode="External"/><Relationship Id="rId4" Type="http://schemas.openxmlformats.org/officeDocument/2006/relationships/image" Target="../media/image14.png"/><Relationship Id="rId9" Type="http://schemas.openxmlformats.org/officeDocument/2006/relationships/hyperlink" Target="http://voice.md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umantthakur.substack.com/p/the-agent-compiler-is-coming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www.youtube.com/watch?v=MgiJ5C1pQBg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unabyss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7NN6XbI3-lo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youtube.com/watch?v=uT3EQPVIEb0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605.25354" TargetMode="External"/><Relationship Id="rId7" Type="http://schemas.openxmlformats.org/officeDocument/2006/relationships/image" Target="../media/image27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hyperlink" Target="https://www.youtube.com/watch?v=l5RZOy_tqYw" TargetMode="External"/><Relationship Id="rId4" Type="http://schemas.openxmlformats.org/officeDocument/2006/relationships/hyperlink" Target="https://www.youtube.com/watch?v=9ngD_BKKtek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trueup.io/layoffs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498650"/>
            <a:ext cx="43302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 Leaderboard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MiniMax M3 - Multimodal Model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MAI-Thinking-1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CEO Jensen Huang keynote at GTC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NVIDIA RTX Spark Laptops and DGX Stations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IPO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New Billing June 15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Select Cheaper Model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Headroom context compression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June 5,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4536607" y="4447661"/>
            <a:ext cx="4525800" cy="5109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4523350" y="242250"/>
            <a:ext cx="45258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This week in AI: 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everything got smarter, cheaper, faster, and somehow more expensive</a:t>
            </a:r>
            <a:endParaRPr sz="20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4536607" y="1467756"/>
            <a:ext cx="4525800" cy="2727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5 files to personalize your Claude Code agent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 Compiler - Optimized Reusable Paths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DeepMind - Alpha Proof Nexus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Unabyss - Context Layer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Cybersecurity recruiting is accelerating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for consistent robotic work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Majorana-2 Quantum Chip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Ray Kurzweil - AGI by 2029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Context Chain-of-Thought - Context-CoT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Huawei Semiconductor "Tau (τ) Scaling"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LLM Interview Questions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2800872"/>
            <a:ext cx="4330200" cy="22350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Top Vibe Coding Tools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to contain Claude across products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DeepSWE AI coding benchmark by data-curve.ai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Anthropic's SRT (Sandbox Runtime)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Scout - based on OpenClaw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SpaceX IPO Target $170B vs $780B Valuation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JetBrains Mellum2 12B MoE Open-source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Suno raises $400M at $5.4B valuation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15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600"/>
              <a:buFont typeface="Calibri"/>
              <a:buChar char="●"/>
            </a:pPr>
            <a:r>
              <a:rPr lang="en" sz="16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Microsoft Project Solara chip-to-cloud platform</a:t>
            </a:r>
            <a:endParaRPr sz="16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6183999" y="1979646"/>
            <a:ext cx="2908500" cy="3096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Design Arena -    </a:t>
            </a:r>
            <a:br>
              <a:rPr lang="en" sz="800"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https://www.designarena.ai</a:t>
            </a:r>
            <a:r>
              <a:rPr lang="en" sz="8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https://openlm.ai/chatbot-arena/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https://beta.lmarena.ai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Leaderboard -  1T params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https://web.lmarena.ai/leaderboard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@LlmStats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https://llmworld.net/llm_leaderboards/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StackAI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https://www.stack-ai.com/llm-leaderboard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Artificial Analysis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https://artificialanalysis.ai/leaderboards/models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 LLM Leaderboard - by Hugging Face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https://huggingface.co/open-llm-leaderboard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Leaderboard - by Vellum - </a:t>
            </a:r>
            <a:b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4"/>
              </a:rPr>
              <a:t>https://www.vellum.ai/llm-leaderboard</a:t>
            </a:r>
            <a:r>
              <a:rPr lang="en" sz="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Benchmarking Hub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5"/>
              </a:rPr>
              <a:t>https://epoch.ai/data/ai-benchmarking-dashboard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Grok 4 Benchmarks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6"/>
              </a:rPr>
              <a:t>https://artificialanalysis.ai/models/grok-4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(alibaba) - </a:t>
            </a:r>
            <a:b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7"/>
              </a:rPr>
              <a:t>http://aiarena.alibaba-inc.com/corpora/arena/leaderboard?arenaType=T2I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arena - </a:t>
            </a: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8"/>
              </a:rPr>
              <a:t>https://lmarena.ai/leaderboard/text-to-image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June 4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{696AFFC7-12AA-42C5-A540-451698D5B660}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0" name="Google Shape;80;p16"/>
          <p:cNvSpPr txBox="1"/>
          <p:nvPr/>
        </p:nvSpPr>
        <p:spPr>
          <a:xfrm>
            <a:off x="6978275" y="490527"/>
            <a:ext cx="2114400" cy="1403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D9EAD3"/>
                </a:highlight>
                <a:latin typeface="Calibri"/>
                <a:ea typeface="Calibri"/>
                <a:cs typeface="Calibri"/>
                <a:sym typeface="Calibri"/>
              </a:rPr>
              <a:t>GLM-5.1 - 744B </a:t>
            </a:r>
            <a:endParaRPr sz="1000">
              <a:highlight>
                <a:srgbClr val="D9EAD3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D9EAD3"/>
                </a:highlight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highlight>
                <a:srgbClr val="D9EAD3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Kimi-k2.6 - 1T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 30B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1" name="Google Shape;81;p16"/>
          <p:cNvGraphicFramePr/>
          <p:nvPr/>
        </p:nvGraphicFramePr>
        <p:xfrm>
          <a:off x="2956159" y="76625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{696AFFC7-12AA-42C5-A540-451698D5B660}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0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claude-sonnet-4-5-20250929-thinking-32k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grok-4.20-multi-agent-beta-0309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ernie-5.1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claude-sonnet-4-5-20250929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claude-opus-4-1-20250805-thinking-16k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gpt-5.5-instant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qwen3.5-max-preview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grok-4.20-beta-0309-reasoning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gpt-5.4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2" name="Google Shape;82;p16"/>
          <p:cNvGraphicFramePr/>
          <p:nvPr/>
        </p:nvGraphicFramePr>
        <p:xfrm>
          <a:off x="200696" y="77581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{696AFFC7-12AA-42C5-A540-451698D5B660}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24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AD1D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9"/>
                        </a:rPr>
                        <a:t>gemini-3.5-flash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glm-5.1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0"/>
                        </a:rPr>
                        <a:t>grok-4.20-beta1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1"/>
                        </a:rPr>
                        <a:t>gemini-3-flash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grok-4.20-beta-0309-reasoning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claude-opus-4-5-20251101-thinking-32k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grok-4.20-multi-agent-beta-0309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gpt-5.5-instant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ernie-5.1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gpt-5.4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2"/>
                        </a:rPr>
                        <a:t>grok-4.1-thinking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1466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81775" y="472025"/>
            <a:ext cx="4953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M3 - Multimodal - text, image, and video inputs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 Mln token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long-horizon agentic workflows, coding, and tool use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https://openrouter.ai/minimax/minimax-m3/providers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MiniMax Sparse Attention (MSA) - a GQA-based mechanism that performs block-level KV selection instead of full attention, delivering 9.7× faster prefill and 15.6× faster decoding at 1M tokens compared to its M2 predecessor, at roughly 1/20 the compute cost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is open-source under a permissive, enterprise-friendly license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Outperforms GPT-5.5 and Gemini 3.1 Pro on some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Promotional pricing $0.30 / $1.20 per 1M in/out tokens (rising to $0.60/$2.40 at standard rates).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ollama launch openclaw --model minimax-m3:cloud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" name="Google Shape;89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53175" y="957875"/>
            <a:ext cx="3162300" cy="1447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0" name="Google Shape;90;p17"/>
          <p:cNvSpPr txBox="1"/>
          <p:nvPr/>
        </p:nvSpPr>
        <p:spPr>
          <a:xfrm>
            <a:off x="81775" y="2969475"/>
            <a:ext cx="4953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MAI-Thinking-1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at Build conference - June 2-3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the company's first in-house advanced reasoning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Beats Sonnet 4.6, good on software engineering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Built for multi-step, agentic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in private preview through Microsoft Foundry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 of a release of 7 new in-house AI models, including MAI-Code-1 and MAI-Image-2.5, MAI-Transcribe-1.5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53175" y="3095062"/>
            <a:ext cx="3438250" cy="1060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8"/>
          <p:cNvSpPr txBox="1"/>
          <p:nvPr/>
        </p:nvSpPr>
        <p:spPr>
          <a:xfrm>
            <a:off x="81775" y="467677"/>
            <a:ext cx="44259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CEO Jensen Huang keynote (GTC in Taipei, Taiwan)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"useful agentic AI" has officially arrived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From simple application use to agentic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Vera Rubin - a new, fully integrated, multi-rack supercomputing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(Rubin GPU, Vera CPU, ...) - built for agentic workloads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Nemotron 3 Ultra (550B params) 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&amp; Cosmos 3 (16B &amp; 64B) open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RTX Spark - run AI locally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https://www.youtube.com/watch?v=q_umfWm8J28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5000" y="1131099"/>
            <a:ext cx="1117450" cy="99957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99" name="Google Shape;99;p18"/>
          <p:cNvSpPr txBox="1"/>
          <p:nvPr/>
        </p:nvSpPr>
        <p:spPr>
          <a:xfrm>
            <a:off x="81775" y="2263596"/>
            <a:ext cx="44259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RTX Spark ARM superchip for laptops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Combines 2 dies in one chip (TSMC 3nm-class package):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20-core ARM-based Grace CPU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000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Blackwell RTX GPU + NVLink-C2C interconnect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consumer-oriented sibling of the GB10 Grace Blackwell superchip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already shipping in NVIDIA's DGX Spark Linux mini-PC,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now repurposed for Windows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Performance: Up to 1 Petaflop of AI compute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128 GB of unified memory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run 120B params (FP4) LLMs up to 1M context locally, rendering 90 GB 3D scenes, and playing AAA games at 1440p above 100 fps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co-developed new Windows security primitives specifically to run on-device AI agents alongside NVIDIA's OpenShell runtime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Expected to ship this Fall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8"/>
          <p:cNvPicPr preferRelativeResize="0"/>
          <p:nvPr/>
        </p:nvPicPr>
        <p:blipFill rotWithShape="1"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75001" y="67675"/>
            <a:ext cx="1117450" cy="9681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graphicFrame>
        <p:nvGraphicFramePr>
          <p:cNvPr id="101" name="Google Shape;101;p18"/>
          <p:cNvGraphicFramePr/>
          <p:nvPr/>
        </p:nvGraphicFramePr>
        <p:xfrm>
          <a:off x="5350056" y="34736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{696AFFC7-12AA-42C5-A540-451698D5B660}</a:tableStyleId>
              </a:tblPr>
              <a:tblGrid>
                <a:gridCol w="100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99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Feature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NVIDIA RTX Spark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Apple M5 Family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CPU Cores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20-core ARM (Grace)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10..18 cores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GPU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Blackwell, 6K CUDA cores (~RTX 5070)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10-20 core GPU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 Compute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1,000 TOPS</a:t>
                      </a: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(FP4)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~38-60 TOPS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Unified Memory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 to 128 GB LPDDR5X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 to 128 GB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Memory Bandwidth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~273 GB/s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 to 546 GB/s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Packaging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CoWoS-R (2 dies)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Single die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TDP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~45–80W (estimated)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~30–70W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2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Windows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macOS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2" name="Google Shape;102;p18"/>
          <p:cNvSpPr txBox="1"/>
          <p:nvPr/>
        </p:nvSpPr>
        <p:spPr>
          <a:xfrm>
            <a:off x="5356025" y="2289418"/>
            <a:ext cx="37425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NVIDIA’s new DGX Station for Windows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run models up to 1 Trillion params locally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GB300 Grace Blackwell Ultra Superchip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 to 20 PetaFlops of FP4 performance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748GB of coherent memory and 800Gb/s networking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Should be available in Q4 of 2026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3" name="Google Shape;103;p18"/>
          <p:cNvGraphicFramePr/>
          <p:nvPr/>
        </p:nvGraphicFramePr>
        <p:xfrm>
          <a:off x="4633366" y="501809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{696AFFC7-12AA-42C5-A540-451698D5B660}</a:tableStyleId>
              </a:tblPr>
              <a:tblGrid>
                <a:gridCol w="136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4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/>
                        <a:t>Model</a:t>
                      </a:r>
                      <a:endParaRPr sz="900" b="1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/>
                        <a:t>AA Intelligence Score</a:t>
                      </a:r>
                      <a:endParaRPr sz="900" b="1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Claude Opus 4.8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61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GPT-5.5 (xhigh)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60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8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Gemini 3.1 Pro Preview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57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Kimi K2.6 (Moonshot)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54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Qwen3.5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~52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GLM 5.1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~50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Nemotron 3 Ultra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48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96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Nemotron 3 Super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36</a:t>
                      </a:r>
                      <a:endParaRPr sz="900"/>
                    </a:p>
                  </a:txBody>
                  <a:tcPr marL="9125" marR="9125" marT="9125" marB="9125" anchor="b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9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9"/>
          <p:cNvSpPr txBox="1"/>
          <p:nvPr/>
        </p:nvSpPr>
        <p:spPr>
          <a:xfrm>
            <a:off x="81775" y="1067226"/>
            <a:ext cx="44259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IPO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has confidentially filed Form S-1 paperwork with the SEC, taking its first formal step toward an IPO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filing follows a $65 billion funding round valuing the company near $1 trillion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No share price or timeline is set yet, though a fall 2026 debut is possible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Anthropic is projecting $10.9 billion in Q2 2026 revenue and its first profitable quarter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move puts it ahead of rival OpenAI, which is also preparing its own IPO filing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19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83075" y="1273351"/>
            <a:ext cx="3072051" cy="16379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 txBox="1"/>
          <p:nvPr/>
        </p:nvSpPr>
        <p:spPr>
          <a:xfrm>
            <a:off x="81775" y="67675"/>
            <a:ext cx="338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New Billing June 15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0"/>
          <p:cNvSpPr txBox="1"/>
          <p:nvPr/>
        </p:nvSpPr>
        <p:spPr>
          <a:xfrm>
            <a:off x="81775" y="478750"/>
            <a:ext cx="4471200" cy="4574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New Billing June 15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Splitting Claude's subscription into two separate usage pools: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for interactive chat - continues as before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one for agentic usage - calculated at API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https://beam.ai/agentic-insights/anthropics-new-billing-split-reveals-what-ai-agents-actually-cost</a:t>
            </a:r>
            <a:endParaRPr sz="8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When you have monthly subscription of $X/month, you get $X in credits for agentic use at full API rates. After using these credits, you will be automatically billed extra at API rate (if you enabled "extra usage") - or requests simply halt once the monthly credit is exhausted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This affects: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-p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(run one prompt - and exit)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Agent SDK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(Python and TypeScript)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GitHub Actions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Third-party apps using Agent SDK authentication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(OpenClaw, Zed's Claude integration, Conductor, Jean, ...)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Interactive CLI sessions in terminal (or interactive session in Claude desktop app) are not affected - they will continue to draw from your standard subscription pool, just as before; So if you use "claude" command in terminal for interactive session - it is still billed as part of your monthly subscription. You can ask it to do multi-step operation (long task list) - still billed through subscription.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Careful - remove your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ANTHROPIC_API_KEY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key, because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you hit your subscription's 5-hour limit,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Claude Code may automatically switch to using that API key instead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20"/>
          <p:cNvSpPr txBox="1"/>
          <p:nvPr/>
        </p:nvSpPr>
        <p:spPr>
          <a:xfrm>
            <a:off x="4639704" y="44916"/>
            <a:ext cx="4471200" cy="1865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Unused credits do not roll over - they expire at the end of each billing cycle;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Credits are "per-user" and cannot be pooled or transferred across team members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Zed Claude Agent, VSCode Claude Code Extension, PyCharm (JetBrains) Claude Code Plugin - billing depends on task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Interactive question - can be billed through monthly subscription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Agentic tasks (autonomous file edits, multi-step coding runs, anything using the Agent SDK under the hood) - counts against your new credit pool after June 15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8" name="Google Shape;118;p20"/>
          <p:cNvGraphicFramePr/>
          <p:nvPr/>
        </p:nvGraphicFramePr>
        <p:xfrm>
          <a:off x="4628325" y="261311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{696AFFC7-12AA-42C5-A540-451698D5B660}</a:tableStyleId>
              </a:tblPr>
              <a:tblGrid>
                <a:gridCol w="1113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4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0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Type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Cost per 1Mtok</a:t>
                      </a:r>
                      <a:b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in/out - or Mem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Agentic Strength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 Opus 4.8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$15/$75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 3.1 Pro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$2/$12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Frontier, 1M context, multimodal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Qwen3-235B-A22B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130GB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Near-frontier, excellent tool calling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Kimi K2.5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$0.45 / $2.25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Top general agentic, complex tool use, long sessions</a:t>
                      </a:r>
                      <a:r>
                        <a:rPr lang="en" sz="800">
                          <a:uFill>
                            <a:noFill/>
                          </a:uFill>
                          <a:latin typeface="Calibri"/>
                          <a:ea typeface="Calibri"/>
                          <a:cs typeface="Calibri"/>
                          <a:sym typeface="Calibri"/>
                          <a:hlinkClick r:id="rId4"/>
                        </a:rPr>
                        <a:t> 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 Coder 480B A35B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$0.40 / $1.60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Best-in-class for coding agents specifically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GPT-4.1 Mini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$0.40 / $1.60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Strong tool calling, 1M context, solid coding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Llama 3.3 70B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Strong generalist agent, widely supported in Ollama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5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DeepSeek-V3-0324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$0.20 / $0.77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Excellent cost/performance, strong coding agents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Qwen3.6‑35B‑A3B (MoE)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~22GB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Great reasoning + tool calling, tiny active params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 Coder 30B-A3B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Same MoE efficiency, tuned for code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59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GLM-4.5-Air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Local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~20GB RAM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Purpose-built for agents, MoE architecture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 3.1 Flash-Lite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$0.25 / $1.50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tool use, very fast, lowest cloud cost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61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 3.7 Plus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Cloud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$0.40 / $1.60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Multimodal Agent-focused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19" name="Google Shape;119;p20"/>
          <p:cNvSpPr txBox="1"/>
          <p:nvPr/>
        </p:nvSpPr>
        <p:spPr>
          <a:xfrm>
            <a:off x="4628300" y="1931245"/>
            <a:ext cx="4350600" cy="572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 we can still use Claude Subscription for coding if we use Claude Code CLI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To run "digital employee" we can select cheaper models: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/>
        </p:nvSpPr>
        <p:spPr>
          <a:xfrm>
            <a:off x="81775" y="67675"/>
            <a:ext cx="273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Cheaper Model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1"/>
          <p:cNvSpPr txBox="1"/>
          <p:nvPr/>
        </p:nvSpPr>
        <p:spPr>
          <a:xfrm>
            <a:off x="81775" y="685800"/>
            <a:ext cx="29757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Select an Affordable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Artificial Analysis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https://github.com/alexfazio/artificial-analysis-compare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LMArena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https://arena.ai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Vellum AI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https://www.vellum.ai/llm-leaderboard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Onyx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https://onyx.app/llm-leaderboard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ClickRank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https://www.clickrank.ai/llm-leaderboard/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Hugging Face Open LLM Leaderboard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https://huggingface.co/spaces/HuggingFaceH4/open_llm_leaderboard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HELM (Stanford)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https://crfm.stanford.edu/helm/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dextralabs 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https://dextralabs.com/blog/best-llm-leaderboard/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DeepSeek - very good value (x9 lower cost)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For local - Kimi K2.5 and Qwen 3.5 are the top open-weight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21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87325" y="143875"/>
            <a:ext cx="4775150" cy="18954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7" name="Google Shape;127;p21"/>
          <p:cNvSpPr txBox="1"/>
          <p:nvPr/>
        </p:nvSpPr>
        <p:spPr>
          <a:xfrm>
            <a:off x="7924800" y="2419350"/>
            <a:ext cx="5469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Cost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3181825" y="67675"/>
            <a:ext cx="7143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Quality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29" name="Google Shape;129;p21"/>
          <p:cNvGraphicFramePr/>
          <p:nvPr/>
        </p:nvGraphicFramePr>
        <p:xfrm>
          <a:off x="3287325" y="2190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{696AFFC7-12AA-42C5-A540-451698D5B660}</a:tableStyleId>
              </a:tblPr>
              <a:tblGrid>
                <a:gridCol w="85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8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7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Example public pricing*</a:t>
                      </a:r>
                      <a:endParaRPr sz="9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5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Qwen3.7-Max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OpenRouter: 1.25 in / 3.75 out USD per M tokens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7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Qwen3.7-Plus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OpenRouter: 0.40 in / 1.60 out USD per M tokens</a:t>
                      </a:r>
                      <a:endParaRPr sz="9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0" name="Google Shape;130;p21"/>
          <p:cNvSpPr txBox="1"/>
          <p:nvPr/>
        </p:nvSpPr>
        <p:spPr>
          <a:xfrm>
            <a:off x="3287325" y="3322150"/>
            <a:ext cx="56385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Headroom context compression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https://github.com/chopratejas/headroom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Cuts token usage by 60–95%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Roboto Mono"/>
              <a:buChar char="●"/>
            </a:pP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pip install "headroom-ai[all]"</a:t>
            </a:r>
            <a:b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headroom wrap claude</a:t>
            </a:r>
            <a:endParaRPr sz="12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Or: </a:t>
            </a:r>
            <a:br>
              <a:rPr lang="en" sz="1200"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headroom proxy --port 8787</a:t>
            </a:r>
            <a:b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ANTHROPIC_BASE_URL=http://localhost:8787 claude</a:t>
            </a:r>
            <a:b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2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claude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179326" y="478350"/>
            <a:ext cx="4917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do these 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Stats: 6.88K subscribers, 290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6" name="Google Shape;136;p2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33650" y="80363"/>
            <a:ext cx="2541900" cy="4982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3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 Vibe Coding Tools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/>
        </p:nvSpPr>
        <p:spPr>
          <a:xfrm>
            <a:off x="81775" y="478750"/>
            <a:ext cx="44139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MAU = Monthly Active Users; 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ARR = Annual Recurring Revenue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Cursor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– AI IDE / agentic editor; ~7M MAU, &gt;1B ARR in 2025, ~2B+ ARR by early 2026; valued ~29B+ as of last reported round.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GitHub Copilot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– AI assistant in IDEs; ~4–5M paid users; multi‑billion revenue inside Microsoft, no standalone valuation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3)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Lovable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– AI app builder; millions of users, ~200–400M ARR by early 2026; last marked valuation ~6.6B.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4)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– Agentic coding for Claude; substantial usage and revenue as part of Anthropic’s multi‑Billion ARR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5)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Windsurf (Codeium)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– AI IDE; hundreds‑of‑thousands to low‑millions of users; tens‑of‑millions ARR; parent company valued low‑single‑digit billions.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6)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Bolt.new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– Browser‑based full‑stack builder; ~1M users; tens‑of‑millions ARR; part of StackBlitz (likely unicorn‑scale).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7)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v0 (Vercel)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– AI UI/app builder; widely used in React/Next ecosystem; revenue and valuation folded into Vercel (multi‑billion).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8)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Replit Agent 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– Agentic layer on Replit; very high reach via Replit; contributes to Replit’s growing nine‑figure ARR.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9)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Base44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– No/low‑code AI app builder; niche but growing; likely low‑tens‑of‑millions ARR, sub‑billion valuation.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10)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Other vibe tools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(Emergent, sandbox.dev, etc.) – smaller, early‑stage, limited public metrics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4"/>
          <p:cNvSpPr txBox="1"/>
          <p:nvPr/>
        </p:nvSpPr>
        <p:spPr>
          <a:xfrm>
            <a:off x="81775" y="478750"/>
            <a:ext cx="44139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to contain Claude across products - Anthropic post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https://www.anthropic.com/engineering/how-we-contain-claude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How to limit the "blast radius" when Claude makes mistakes across claude.ai, Claude Code, and Claude Cowork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use layered containment: sandboxed environments, OS-level restrictions, and isolated VMs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Each product is scoped differently: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claude.ai runs in ephemeral server containers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uses OS sandboxing with human oversight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Cowork runs full VMs with strict egress controls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They share real security incidents - including a prompt injection that exfiltrated AWS credentials 24 out of 25 times - to illustrate why deterministic environment-level controls matter more than probabilistic model-layer defenses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Key emerging concerns include memory poisoning, multi-agent trust escalation, and agent identity management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4653775" y="2270500"/>
            <a:ext cx="44139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DeepSWE AI coding benchmark by </a:t>
            </a:r>
            <a:r>
              <a:rPr lang="en" sz="1200" b="1">
                <a:solidFill>
                  <a:srgbClr val="FF0000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data-curve.ai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Designed to mimic real-world usage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Older benchmarks like SWE-bench Pro suffer from data contamination and high grading errors, including a 24% false negative rate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contrast, DeepSWE uses entirely original, handcrafted challenges across 91 repositories and 5 programming languages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features concise, behavior-focused prompts that require end-to-end repository exploration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On the DeepSWE leaderboard, GPT-5.5 dominates with a 70% pass rate, outperforming Claude Opus 4.7 by over 15 points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Furthermore, GPT-5.5 proves highly efficient, completing trials in 20 minutes at a cost of $5.80, compared to Opus 4.7 which takes 37 minutes and costs $16.00.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http://www.youtube.com/watch?v=6LwQ8RbU9as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67550" y="734475"/>
            <a:ext cx="1594576" cy="14598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1" name="Google Shape;151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41825" y="1457325"/>
            <a:ext cx="1678100" cy="6332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2" name="Google Shape;152;p2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19319" y="3695694"/>
            <a:ext cx="1176350" cy="1176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5"/>
          <p:cNvSpPr txBox="1"/>
          <p:nvPr/>
        </p:nvSpPr>
        <p:spPr>
          <a:xfrm>
            <a:off x="81775" y="67675"/>
            <a:ext cx="3952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Anthropic's SRT (Sandbox Runtime)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5"/>
          <p:cNvSpPr txBox="1"/>
          <p:nvPr/>
        </p:nvSpPr>
        <p:spPr>
          <a:xfrm>
            <a:off x="81775" y="762425"/>
            <a:ext cx="3148500" cy="422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https://github.com/anthropic-experimental/sandbox-runtime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Typescript orchestrates OS-level sandboxing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 MacOS there is a sandbox-exec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command line utility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lets you run any process under a strict security policy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TypeScript can invoke it with proper Seatbelt profile (a Scheme-like DSL)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kernel then intercepts every system call - file access, network connections, process forks - and enforces the policy across the entire process tree, including subprocesses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rgbClr val="6AA84F"/>
                </a:solidFill>
                <a:latin typeface="Calibri"/>
                <a:ea typeface="Calibri"/>
                <a:cs typeface="Calibri"/>
                <a:sym typeface="Calibri"/>
              </a:rPr>
              <a:t>For network filtering, SRT runs a local HTTP/SOCKS5 proxy. The Seatbelt profile blocks all direct outbound connections; traffic must route through the proxy, which enforces the domain allowlist.</a:t>
            </a:r>
            <a:endParaRPr sz="1200">
              <a:solidFill>
                <a:srgbClr val="6AA84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 Linux, SRT uses bubblewrap with user namespaces instead</a:t>
            </a:r>
            <a:b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https://github.com/containers/bubblewrap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both cases, TypeScript's role is purely orchestration: generate the policy, start the proxy, and spawn the target process inside the sandbox.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2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27275" y="762425"/>
            <a:ext cx="5747525" cy="431064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81775" y="478750"/>
            <a:ext cx="44475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Scout - based on OpenClaw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new always-on, autonomous AI agent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 first in a new category called "Autopilots"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Scout runs independently around the clock, understanding a user's working style and proactively handling workplace tasks without being prompted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It integrates deeply with Microsoft 365 tools including Teams, Outlook, OneDrive, and SharePoint, automating duties like meeting prep, scheduling conflict resolution, and routine calendar management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Scout operates across cloud, desktop, and web, supports MCP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Currently available as an experimental release exclusively to Microsoft's Frontier early-access customers with a GitHub Copilot subscription required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6" name="Google Shape;166;p26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90525" y="1189725"/>
            <a:ext cx="2290277" cy="118234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6"/>
          <p:cNvSpPr txBox="1"/>
          <p:nvPr/>
        </p:nvSpPr>
        <p:spPr>
          <a:xfrm>
            <a:off x="81775" y="3167725"/>
            <a:ext cx="46524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SpaceX IPO Target $1,750B vs $780B Valuation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SpaceX is targeting $1.75 Trillion IPO to raise $75 Billion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Morningstar Values SpaceX at $780 Bln, 48% Below IPO Target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firm estimates SpaceX’s launch and Starlink businesses are worth approximately $611 Billion, and $170 Billion to its AI operations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Analyst Nicolas Owens argued that the company has been "significantly overvalued," citing uncertainty around assets such as Grok, the Colossus data center, and unproven orbital data center concepts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26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69050" y="3167725"/>
            <a:ext cx="2671607" cy="1496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81775" y="2314426"/>
            <a:ext cx="28152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Suno raises $400M at $5.4B 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AI music startup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7"/>
          <p:cNvSpPr txBox="1"/>
          <p:nvPr/>
        </p:nvSpPr>
        <p:spPr>
          <a:xfrm>
            <a:off x="81775" y="394076"/>
            <a:ext cx="44259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JetBrains Mellum2 12B MoE Open-source Coding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Code generation, debugging, reasoning, tool use, agentic workflows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Three variants: base, instruct, thinking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https://huggingface.co/blog/JetBrains/mellum2-launch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7"/>
          <p:cNvSpPr txBox="1"/>
          <p:nvPr/>
        </p:nvSpPr>
        <p:spPr>
          <a:xfrm>
            <a:off x="4632900" y="3525964"/>
            <a:ext cx="44259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Project Solara chip-to-cloud platform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Built for "agent-first" enterprise hardware devices to run AI agents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Has a lightweight edge OS called Microsoft Device Ecosystem Platform (MDEP), which is built on AOSP (Android Open Source Project), not Windows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The AOSP choice is interesting. Microsoft is prioritizing a lean, flexible runtime for agent workloads over Windows compatibility, likely for better resource efficiency on edge hardware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7" name="Google Shape;177;p2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51625" y="1846675"/>
            <a:ext cx="1357649" cy="387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8" name="Google Shape;178;p2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31625" y="2050799"/>
            <a:ext cx="1927163" cy="13707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9" name="Google Shape;179;p27"/>
          <p:cNvSpPr txBox="1"/>
          <p:nvPr/>
        </p:nvSpPr>
        <p:spPr>
          <a:xfrm>
            <a:off x="81775" y="3895264"/>
            <a:ext cx="44259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5 files to personalize your Claude Code agent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CLAUDE.md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style, preferences, behaviours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2.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SOUL.md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personality, values, and the underlying philosophy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3.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DESIGN.md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your design system (or technical standards)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4.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VOICE.md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your brand voice, vocabulary, ...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AUDIENCE.md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- who you are speaking to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27"/>
          <p:cNvPicPr preferRelativeResize="0"/>
          <p:nvPr/>
        </p:nvPicPr>
        <p:blipFill rotWithShape="1"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791750" y="3260625"/>
            <a:ext cx="2433074" cy="5348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1" name="Google Shape;181;p27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2899" y="67675"/>
            <a:ext cx="2080125" cy="18788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8"/>
          <p:cNvSpPr txBox="1"/>
          <p:nvPr/>
        </p:nvSpPr>
        <p:spPr>
          <a:xfrm>
            <a:off x="81775" y="1103550"/>
            <a:ext cx="44331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 Compiler - Optimized Reusable Paths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"Your AI Agent Is Wasting Time Thinking" - by Sumant Thakur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https://sumantthakur.substack.com/p/the-agent-compiler-is-coming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Core Idea: The Agent Compiler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Current AI agents are essentially "chatbots with tools", they re-reason from scratch every time they encounter a task. This is inefficient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"agent compiler" would transform an agent's learned experiences and reasoning patterns into optimized, reusable execution paths, so agents stop wasting compute re-thinking things they've already figured out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From: Interpret → execute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(current state: reasoning at runtime every time)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To: Compile → execute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(distilling learned patterns into faster, cheaper, more reliable execution)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implication is significant for production AI systems: agents that "compile" their workflows could be dramatically more efficient, consistent, and cost-effective at scale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Rather than burning tokens re-deliberating on solved problems, they'd run pre-optimized paths, making agentic AI less experimental and more industrial-grade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8"/>
          <p:cNvSpPr txBox="1"/>
          <p:nvPr/>
        </p:nvSpPr>
        <p:spPr>
          <a:xfrm>
            <a:off x="4657025" y="2211750"/>
            <a:ext cx="4433100" cy="2789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DeepMind - Alpha Proof Nexus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framework for autonomously solving open math problems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traditional language models that hallucinate, this system connects frontier AI with Lean, a formal proof assistant that mechanically verifies mathematical reasoning step-by-step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Through a continuous loop of generating code, reading error messages, and adjusting its approach, the system independently solved nine open Erdős problems - including two that remained unsolved for over 56 years - along with 44 open conjectures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Remarkably, these breakthroughs cost only a few hundred dollars in computing power per problem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milestone proves AI can discover entirely new human knowledge, promising to dramatically accelerate future scientific progress across physics, chemistry, and medicine.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https://www.youtube.com/watch?v=MgiJ5C1pQBg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518825"/>
            <a:ext cx="3301075" cy="459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90" name="Google Shape;190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5425" y="708175"/>
            <a:ext cx="3620800" cy="13559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29"/>
          <p:cNvSpPr txBox="1"/>
          <p:nvPr/>
        </p:nvSpPr>
        <p:spPr>
          <a:xfrm>
            <a:off x="81775" y="67675"/>
            <a:ext cx="2527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9"/>
          <p:cNvSpPr txBox="1"/>
          <p:nvPr/>
        </p:nvSpPr>
        <p:spPr>
          <a:xfrm>
            <a:off x="100825" y="526375"/>
            <a:ext cx="44520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Unabyss - Context Layer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https://unabyss.com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Converts email, docs, and chat into clean artifacts such as persona, voice, projects, and company knowledge - and shares via MCP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stay in control with fine-grained privacy and per-tool permissions, so each assistant only sees the context it actually needs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9"/>
          <p:cNvSpPr txBox="1"/>
          <p:nvPr/>
        </p:nvSpPr>
        <p:spPr>
          <a:xfrm>
            <a:off x="100825" y="1584314"/>
            <a:ext cx="4452000" cy="112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Cybersecurity recruiting is accelerating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Recruiters are urgently seeking leaders who can handle breaches, audit AI-generated code, and secure infrastructure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Cybersecurity job postings rose 11% year over year in Q1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Concerns intensified after models like Anthropic’s Mythos raised fears about AI-assisted vulnerability discovery and hacking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9"/>
          <p:cNvSpPr txBox="1"/>
          <p:nvPr/>
        </p:nvSpPr>
        <p:spPr>
          <a:xfrm>
            <a:off x="100825" y="2856685"/>
            <a:ext cx="44520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for consistent robotic work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Alibaba ships a reasoning model that runs autonomously for 35 hours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Figure robots sort 88,000 packages at JCPenney's warehouse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research paper teaches models to "sleep" and compress memory like a brain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is being engineered for endurance, not just intelligence. Longer context, longer shifts, longer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race isn't about smarter anymore. It's about sustained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9" name="Google Shape;199;p29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850" y="586525"/>
            <a:ext cx="2814775" cy="821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0" name="Google Shape;200;p2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850" y="1637625"/>
            <a:ext cx="2814775" cy="102019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01" name="Google Shape;201;p2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9850" y="2897887"/>
            <a:ext cx="2527500" cy="159846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/>
          <p:nvPr/>
        </p:nvSpPr>
        <p:spPr>
          <a:xfrm>
            <a:off x="100825" y="76400"/>
            <a:ext cx="4152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Majorana-2 Quantum Chip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30"/>
          <p:cNvSpPr txBox="1"/>
          <p:nvPr/>
        </p:nvSpPr>
        <p:spPr>
          <a:xfrm>
            <a:off x="100825" y="526375"/>
            <a:ext cx="44520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Microsoft Majorana-2 Quantum Chip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x1,000 times more reliable than its predecessor - switched from aluminum to lead as a superconductor, which helps shield sensitive qubits from disruptive environmental noise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Microsoft utilized AI agents through their "Microsoft Discovery" platform to accelerate research, analyze decades of data, and identify hidden hardware errors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Estimate a commercially viable quantum computer at 2029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https://www.youtube.com/watch?v=7NN6XbI3-lo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30"/>
          <p:cNvSpPr txBox="1"/>
          <p:nvPr/>
        </p:nvSpPr>
        <p:spPr>
          <a:xfrm>
            <a:off x="100825" y="2330850"/>
            <a:ext cx="4452000" cy="1496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Peter Yang - 5 steps for building self-improving AI skills for Claude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Providing Claude with personal context and specific examples, followed by refining descriptions to ensure reliable triggering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Implementing an evaluation loop that allows the AI to identify and correct its own errors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Incorporating memory so the skill evolves over time and how to build a skill editor for ongoing management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https://www.youtube.com/watch?v=uT3EQPVIEb0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30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3825" y="2484400"/>
            <a:ext cx="2743326" cy="1189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0" name="Google Shape;210;p30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33825" y="526375"/>
            <a:ext cx="1346066" cy="1680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1"/>
          <p:cNvSpPr txBox="1"/>
          <p:nvPr/>
        </p:nvSpPr>
        <p:spPr>
          <a:xfrm>
            <a:off x="100825" y="76401"/>
            <a:ext cx="5755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Ray Kurzweil with Peter H. Diamandis on Moonshots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31"/>
          <p:cNvSpPr txBox="1"/>
          <p:nvPr/>
        </p:nvSpPr>
        <p:spPr>
          <a:xfrm>
            <a:off x="100825" y="526375"/>
            <a:ext cx="44520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Ray Kurzweil with Peter H. Diamandis on Moonshots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Ray Kurzweil reaffirmed his long-standing prediction of AGI by 2029, citing continued exponential growth in computing and recent advances in large language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argues AI already outperforms humans in some domains, including medical diagnosis, and will reach vastly higher intelligence levels by the 2045 singularity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discussion highlighted debates around AI consciousness and personhood, with no clear scientific definition but growing practical relevance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Kurzweil and others emphasized that education systems are outdated, as AI can teach content while universities primarily provide socialization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Economically, society is unprepared for post-scarcity shifts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Kurzweil ultimately emphasized the transformative power of technology to scale access, turning expensive innovations into universally available tools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31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4300" y="526375"/>
            <a:ext cx="3218076" cy="17780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2"/>
          <p:cNvSpPr txBox="1"/>
          <p:nvPr/>
        </p:nvSpPr>
        <p:spPr>
          <a:xfrm>
            <a:off x="81775" y="59775"/>
            <a:ext cx="4423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Chain-of-Thought - Context-CoT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81775" y="478750"/>
            <a:ext cx="44235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"Context-CoT: Enhancing Context Learning via High-Quality Reasoning Synthesis"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https://arxiv.org/abs/2605.25354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standard in-context learning, which simply activates existing parametric knowledge, context learning requires models to internalize entirely unfamiliar or contradictory rules provided exclusively within a prompt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Testing reveals that frontier models fail massively on these real-world tasks because teacher LLMs are "lazy," generating flawed, post-hoc rationalizations based on pre-training memory rather than the new rules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Context-CoT solves this by hiding the final answers from teacher models during data synthesis and optimizing step-wise reasoning to minimize cognitive friction for smaller student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Implementing this approach yields a noticeable performance jump on difficult context benchmarks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https://www.youtube.com/watch?v=9ngD_BKKtek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4644250" y="1903950"/>
            <a:ext cx="44235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Huawei Semiconductor "Tau (τ) Scaling"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chip design 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https://www.youtube.com/watch?v=l5RZOy_tqYw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New Metric (Tau Scaling) - instead of focusing on shrinking the physical transistor, Tau scaling optimizes signal travel time "tau" - the time it takes for electrical pulses to move between components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Tau scaling seeks to optimize the "corridors" rather than shrinking the "rooms"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Logic Folding - folding circuit elements vertically in 3D space - placing frequently communicating components next to each other, dramatically slashing travel latency and boosting overall chip efficiency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Huawei was using this approach over the last several years, including Huawei Mate 60 Pro smartphone and their Ascend 910C AI accelerator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upcoming Kirin chip (expected Autumn 2026) will be the first commercial product to fully deploy the finalized logic folding architecture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5" name="Google Shape;225;p3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12925" y="118375"/>
            <a:ext cx="3254825" cy="1700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26" name="Google Shape;226;p32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0425" y="3505200"/>
            <a:ext cx="3150790" cy="15571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3"/>
          <p:cNvSpPr txBox="1"/>
          <p:nvPr/>
        </p:nvSpPr>
        <p:spPr>
          <a:xfrm>
            <a:off x="81775" y="59775"/>
            <a:ext cx="3115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Interview Questions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3"/>
          <p:cNvSpPr txBox="1"/>
          <p:nvPr/>
        </p:nvSpPr>
        <p:spPr>
          <a:xfrm>
            <a:off x="81775" y="478750"/>
            <a:ext cx="3115500" cy="2973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Interview Questions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Fundamentals: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Tokenization and why it matters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Attention mechanisms in transformers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windows and their tradeoffs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Embeddings and initialization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Positional encodings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Fine-tuning &amp; Efficiency: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LoRA vs QLoRA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PEFT to prevent catastrophic forgetting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distillation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Adaptive Softmax for large vocabularies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Generation &amp; Decoding: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Beam search vs greedy decoding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Temperature, top-k, top-p sampling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Autoregressive vs masked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3"/>
          <p:cNvSpPr txBox="1"/>
          <p:nvPr/>
        </p:nvSpPr>
        <p:spPr>
          <a:xfrm>
            <a:off x="4093225" y="478750"/>
            <a:ext cx="31155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Advanced Concepts: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RAG (Retrieval-Augmented Generation)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Chain-of-Thought prompting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Mixture of Experts (MoE)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Knowledge graph integration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Zero-shot and few-shot learning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Math &amp; Theory: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Softmax in attention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Cross-entropy loss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KL divergence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computation for embeddings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Vanishing gradient solutions in transformers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4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4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34"/>
          <p:cNvSpPr txBox="1"/>
          <p:nvPr/>
        </p:nvSpPr>
        <p:spPr>
          <a:xfrm>
            <a:off x="5367150" y="3435238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101.6K 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May 8,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34"/>
          <p:cNvSpPr txBox="1"/>
          <p:nvPr/>
        </p:nvSpPr>
        <p:spPr>
          <a:xfrm>
            <a:off x="5422950" y="531250"/>
            <a:ext cx="35589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128,270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(1,002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452037"/>
            <a:ext cx="4950376" cy="265180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3" name="Google Shape;243;p3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350" y="3157217"/>
            <a:ext cx="4950376" cy="194313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44" name="Google Shape;244;p3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35675" y="2260300"/>
            <a:ext cx="3533449" cy="387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35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35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35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2" name="Google Shape;252;p35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253" name="Google Shape;253;p35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35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6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4631</Words>
  <Application>Microsoft Macintosh PowerPoint</Application>
  <PresentationFormat>On-screen Show (16:9)</PresentationFormat>
  <Paragraphs>624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Roboto Mono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2026-06-04T18:01:50Z</dcterms:modified>
</cp:coreProperties>
</file>