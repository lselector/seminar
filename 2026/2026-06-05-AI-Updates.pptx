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1" r:id="rId1"/>
  </p:sldMasterIdLst>
  <p:notesMasterIdLst>
    <p:notesMasterId r:id="rId2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sldSz cx="9144000" cy="5143500" type="screen16x9"/>
  <p:notesSz cx="6858000" cy="9144000"/>
  <p:embeddedFontLst>
    <p:embeddedFont>
      <p:font typeface="Roboto Mono" pitchFamily="49" charset="0"/>
      <p:regular r:id="rId29"/>
      <p:bold r:id="rId30"/>
      <p:italic r:id="rId31"/>
      <p:boldItalic r:id="rId3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28CE963-2728-49E8-BE2C-4A07F5D4A988}">
  <a:tblStyle styleId="{B28CE963-2728-49E8-BE2C-4A07F5D4A988}"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67"/>
  </p:normalViewPr>
  <p:slideViewPr>
    <p:cSldViewPr>
      <p:cViewPr varScale="1">
        <p:scale>
          <a:sx n="124" d="100"/>
          <a:sy n="124" d="100"/>
        </p:scale>
        <p:origin x="576"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1.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4.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3.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font" Target="fonts/font2.fntdata"/><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9"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
        <p:cNvGrpSpPr/>
        <p:nvPr/>
      </p:nvGrpSpPr>
      <p:grpSpPr>
        <a:xfrm>
          <a:off x="0" y="0"/>
          <a:ext cx="0" cy="0"/>
          <a:chOff x="0" y="0"/>
          <a:chExt cx="0" cy="0"/>
        </a:xfrm>
      </p:grpSpPr>
      <p:sp>
        <p:nvSpPr>
          <p:cNvPr id="60" name="Google Shape;60;g3633c15ed82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1" name="Google Shape;61;g3633c15ed82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
        <p:cNvGrpSpPr/>
        <p:nvPr/>
      </p:nvGrpSpPr>
      <p:grpSpPr>
        <a:xfrm>
          <a:off x="0" y="0"/>
          <a:ext cx="0" cy="0"/>
          <a:chOff x="0" y="0"/>
          <a:chExt cx="0" cy="0"/>
        </a:xfrm>
      </p:grpSpPr>
      <p:sp>
        <p:nvSpPr>
          <p:cNvPr id="70" name="Google Shape;70;g3e874265385_1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1" name="Google Shape;71;g3e874265385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
        <p:cNvGrpSpPr/>
        <p:nvPr/>
      </p:nvGrpSpPr>
      <p:grpSpPr>
        <a:xfrm>
          <a:off x="0" y="0"/>
          <a:ext cx="0" cy="0"/>
          <a:chOff x="0" y="0"/>
          <a:chExt cx="0" cy="0"/>
        </a:xfrm>
      </p:grpSpPr>
      <p:sp>
        <p:nvSpPr>
          <p:cNvPr id="84" name="Google Shape;84;g3e4699318ee_0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5" name="Google Shape;85;g3e4699318ee_0_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g3ed34215342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4" name="Google Shape;94;g3ed34215342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3e7172dbcd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6" name="Google Shape;106;g3e7172dbcdf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
        <p:cNvGrpSpPr/>
        <p:nvPr/>
      </p:nvGrpSpPr>
      <p:grpSpPr>
        <a:xfrm>
          <a:off x="0" y="0"/>
          <a:ext cx="0" cy="0"/>
          <a:chOff x="0" y="0"/>
          <a:chExt cx="0" cy="0"/>
        </a:xfrm>
      </p:grpSpPr>
      <p:sp>
        <p:nvSpPr>
          <p:cNvPr id="114" name="Google Shape;114;g3e886b03572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5" name="Google Shape;115;g3e886b03572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
        <p:cNvGrpSpPr/>
        <p:nvPr/>
      </p:nvGrpSpPr>
      <p:grpSpPr>
        <a:xfrm>
          <a:off x="0" y="0"/>
          <a:ext cx="0" cy="0"/>
          <a:chOff x="0" y="0"/>
          <a:chExt cx="0" cy="0"/>
        </a:xfrm>
      </p:grpSpPr>
      <p:sp>
        <p:nvSpPr>
          <p:cNvPr id="121" name="Google Shape;121;g3e75aa01608_1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2" name="Google Shape;122;g3e75aa01608_1_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g3e817bd81fb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1" name="Google Shape;131;g3e817bd81fb_0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
        <p:cNvGrpSpPr/>
        <p:nvPr/>
      </p:nvGrpSpPr>
      <p:grpSpPr>
        <a:xfrm>
          <a:off x="0" y="0"/>
          <a:ext cx="0" cy="0"/>
          <a:chOff x="0" y="0"/>
          <a:chExt cx="0" cy="0"/>
        </a:xfrm>
      </p:grpSpPr>
      <p:sp>
        <p:nvSpPr>
          <p:cNvPr id="140" name="Google Shape;140;g3ed4305796a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1" name="Google Shape;141;g3ed4305796a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
        <p:cNvGrpSpPr/>
        <p:nvPr/>
      </p:nvGrpSpPr>
      <p:grpSpPr>
        <a:xfrm>
          <a:off x="0" y="0"/>
          <a:ext cx="0" cy="0"/>
          <a:chOff x="0" y="0"/>
          <a:chExt cx="0" cy="0"/>
        </a:xfrm>
      </p:grpSpPr>
      <p:sp>
        <p:nvSpPr>
          <p:cNvPr id="152" name="Google Shape;152;g39318675434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3" name="Google Shape;153;g39318675434_2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7"/>
        <p:cNvGrpSpPr/>
        <p:nvPr/>
      </p:nvGrpSpPr>
      <p:grpSpPr>
        <a:xfrm>
          <a:off x="0" y="0"/>
          <a:ext cx="0" cy="0"/>
          <a:chOff x="0" y="0"/>
          <a:chExt cx="0" cy="0"/>
        </a:xfrm>
      </p:grpSpPr>
      <p:sp>
        <p:nvSpPr>
          <p:cNvPr id="158" name="Google Shape;158;g3e867b06356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9" name="Google Shape;159;g3e867b06356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4"/>
        <p:cNvGrpSpPr/>
        <p:nvPr/>
      </p:nvGrpSpPr>
      <p:grpSpPr>
        <a:xfrm>
          <a:off x="0" y="0"/>
          <a:ext cx="0" cy="0"/>
          <a:chOff x="0" y="0"/>
          <a:chExt cx="0" cy="0"/>
        </a:xfrm>
      </p:grpSpPr>
      <p:sp>
        <p:nvSpPr>
          <p:cNvPr id="165" name="Google Shape;165;g3e4d4e7d6df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6" name="Google Shape;166;g3e4d4e7d6df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4"/>
        <p:cNvGrpSpPr/>
        <p:nvPr/>
      </p:nvGrpSpPr>
      <p:grpSpPr>
        <a:xfrm>
          <a:off x="0" y="0"/>
          <a:ext cx="0" cy="0"/>
          <a:chOff x="0" y="0"/>
          <a:chExt cx="0" cy="0"/>
        </a:xfrm>
      </p:grpSpPr>
      <p:sp>
        <p:nvSpPr>
          <p:cNvPr id="175" name="Google Shape;175;g3e4d4e7d6df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6" name="Google Shape;176;g3e4d4e7d6df_0_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p:cNvGrpSpPr/>
        <p:nvPr/>
      </p:nvGrpSpPr>
      <p:grpSpPr>
        <a:xfrm>
          <a:off x="0" y="0"/>
          <a:ext cx="0" cy="0"/>
          <a:chOff x="0" y="0"/>
          <a:chExt cx="0" cy="0"/>
        </a:xfrm>
      </p:grpSpPr>
      <p:sp>
        <p:nvSpPr>
          <p:cNvPr id="182" name="Google Shape;182;g3e7172dbcdf_0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3" name="Google Shape;183;g3e7172dbcdf_0_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0"/>
        <p:cNvGrpSpPr/>
        <p:nvPr/>
      </p:nvGrpSpPr>
      <p:grpSpPr>
        <a:xfrm>
          <a:off x="0" y="0"/>
          <a:ext cx="0" cy="0"/>
          <a:chOff x="0" y="0"/>
          <a:chExt cx="0" cy="0"/>
        </a:xfrm>
      </p:grpSpPr>
      <p:sp>
        <p:nvSpPr>
          <p:cNvPr id="191" name="Google Shape;191;g3e81d3fe522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2" name="Google Shape;192;g3e81d3fe522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3"/>
        <p:cNvGrpSpPr/>
        <p:nvPr/>
      </p:nvGrpSpPr>
      <p:grpSpPr>
        <a:xfrm>
          <a:off x="0" y="0"/>
          <a:ext cx="0" cy="0"/>
          <a:chOff x="0" y="0"/>
          <a:chExt cx="0" cy="0"/>
        </a:xfrm>
      </p:grpSpPr>
      <p:sp>
        <p:nvSpPr>
          <p:cNvPr id="204" name="Google Shape;204;g3e80cea21d9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5" name="Google Shape;205;g3e80cea21d9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2"/>
        <p:cNvGrpSpPr/>
        <p:nvPr/>
      </p:nvGrpSpPr>
      <p:grpSpPr>
        <a:xfrm>
          <a:off x="0" y="0"/>
          <a:ext cx="0" cy="0"/>
          <a:chOff x="0" y="0"/>
          <a:chExt cx="0" cy="0"/>
        </a:xfrm>
      </p:grpSpPr>
      <p:sp>
        <p:nvSpPr>
          <p:cNvPr id="213" name="Google Shape;213;g3e4d4e7d6d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4" name="Google Shape;214;g3e4d4e7d6df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3"/>
        <p:cNvGrpSpPr/>
        <p:nvPr/>
      </p:nvGrpSpPr>
      <p:grpSpPr>
        <a:xfrm>
          <a:off x="0" y="0"/>
          <a:ext cx="0" cy="0"/>
          <a:chOff x="0" y="0"/>
          <a:chExt cx="0" cy="0"/>
        </a:xfrm>
      </p:grpSpPr>
      <p:sp>
        <p:nvSpPr>
          <p:cNvPr id="224" name="Google Shape;224;g3e867b06356_0_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5" name="Google Shape;225;g3e867b06356_0_1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2"/>
        <p:cNvGrpSpPr/>
        <p:nvPr/>
      </p:nvGrpSpPr>
      <p:grpSpPr>
        <a:xfrm>
          <a:off x="0" y="0"/>
          <a:ext cx="0" cy="0"/>
          <a:chOff x="0" y="0"/>
          <a:chExt cx="0" cy="0"/>
        </a:xfrm>
      </p:grpSpPr>
      <p:sp>
        <p:nvSpPr>
          <p:cNvPr id="233" name="Google Shape;233;g3e8925492ae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4" name="Google Shape;234;g3e8925492ae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g3e865cbde21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1" name="Google Shape;241;g3e865cbde21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p:cNvGrpSpPr/>
        <p:nvPr/>
      </p:nvGrpSpPr>
      <p:grpSpPr>
        <a:xfrm>
          <a:off x="0" y="0"/>
          <a:ext cx="0" cy="0"/>
          <a:chOff x="0" y="0"/>
          <a:chExt cx="0" cy="0"/>
        </a:xfrm>
      </p:grpSpPr>
      <p:sp>
        <p:nvSpPr>
          <p:cNvPr id="247" name="Google Shape;247;g3e511f4d366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8" name="Google Shape;248;g3e511f4d366_0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5"/>
        <p:cNvGrpSpPr/>
        <p:nvPr/>
      </p:nvGrpSpPr>
      <p:grpSpPr>
        <a:xfrm>
          <a:off x="0" y="0"/>
          <a:ext cx="0" cy="0"/>
          <a:chOff x="0" y="0"/>
          <a:chExt cx="0" cy="0"/>
        </a:xfrm>
      </p:grpSpPr>
      <p:sp>
        <p:nvSpPr>
          <p:cNvPr id="256" name="Google Shape;256;g3e4d3b04dd4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7" name="Google Shape;257;g3e4d3b04dd4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3"/>
        <p:cNvGrpSpPr/>
        <p:nvPr/>
      </p:nvGrpSpPr>
      <p:grpSpPr>
        <a:xfrm>
          <a:off x="0" y="0"/>
          <a:ext cx="0" cy="0"/>
          <a:chOff x="0" y="0"/>
          <a:chExt cx="0" cy="0"/>
        </a:xfrm>
      </p:grpSpPr>
      <p:sp>
        <p:nvSpPr>
          <p:cNvPr id="264" name="Google Shape;264;g3ece1896839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5" name="Google Shape;265;g3ece1896839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3"/>
        <p:cNvGrpSpPr/>
        <p:nvPr/>
      </p:nvGrpSpPr>
      <p:grpSpPr>
        <a:xfrm>
          <a:off x="0" y="0"/>
          <a:ext cx="0" cy="0"/>
          <a:chOff x="0" y="0"/>
          <a:chExt cx="0" cy="0"/>
        </a:xfrm>
      </p:grpSpPr>
      <p:sp>
        <p:nvSpPr>
          <p:cNvPr id="274" name="Google Shape;274;g3d971967e09_0_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75" name="Google Shape;275;g3d971967e09_0_1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4"/>
        <p:cNvGrpSpPr/>
        <p:nvPr/>
      </p:nvGrpSpPr>
      <p:grpSpPr>
        <a:xfrm>
          <a:off x="0" y="0"/>
          <a:ext cx="0" cy="0"/>
          <a:chOff x="0" y="0"/>
          <a:chExt cx="0" cy="0"/>
        </a:xfrm>
      </p:grpSpPr>
      <p:sp>
        <p:nvSpPr>
          <p:cNvPr id="285" name="Google Shape;285;g3d971967e09_0_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86" name="Google Shape;286;g3d971967e09_0_2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4"/>
        <p:cNvGrpSpPr/>
        <p:nvPr/>
      </p:nvGrpSpPr>
      <p:grpSpPr>
        <a:xfrm>
          <a:off x="0" y="0"/>
          <a:ext cx="0" cy="0"/>
          <a:chOff x="0" y="0"/>
          <a:chExt cx="0" cy="0"/>
        </a:xfrm>
      </p:grpSpPr>
      <p:sp>
        <p:nvSpPr>
          <p:cNvPr id="295" name="Google Shape;295;g3d971967e09_0_3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96" name="Google Shape;296;g3d971967e09_0_3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7" name="Google Shape;37;p9"/>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457172" y="205067"/>
            <a:ext cx="8228700" cy="858600"/>
          </a:xfrm>
          <a:prstGeom prst="rect">
            <a:avLst/>
          </a:prstGeom>
          <a:noFill/>
          <a:ln>
            <a:noFill/>
          </a:ln>
        </p:spPr>
        <p:txBody>
          <a:bodyPr spcFirstLastPara="1" wrap="square" lIns="0" tIns="0" rIns="0" bIns="0" anchor="ctr"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52" name="Google Shape;52;p13"/>
          <p:cNvSpPr txBox="1">
            <a:spLocks noGrp="1"/>
          </p:cNvSpPr>
          <p:nvPr>
            <p:ph type="body" idx="1"/>
          </p:nvPr>
        </p:nvSpPr>
        <p:spPr>
          <a:xfrm>
            <a:off x="457172" y="1203299"/>
            <a:ext cx="8228700" cy="2982600"/>
          </a:xfrm>
          <a:prstGeom prst="rect">
            <a:avLst/>
          </a:prstGeom>
          <a:noFill/>
          <a:ln>
            <a:noFill/>
          </a:ln>
        </p:spPr>
        <p:txBody>
          <a:bodyPr spcFirstLastPara="1" wrap="square" lIns="0" tIns="0" rIns="0" bIns="0" anchor="t" anchorCtr="0">
            <a:normAutofit/>
          </a:bodyPr>
          <a:lstStyle>
            <a:lvl1pPr marL="457200" lvl="0" indent="-228600" algn="l">
              <a:lnSpc>
                <a:spcPct val="115000"/>
              </a:lnSpc>
              <a:spcBef>
                <a:spcPts val="0"/>
              </a:spcBef>
              <a:spcAft>
                <a:spcPts val="0"/>
              </a:spcAft>
              <a:buSzPts val="1800"/>
              <a:buNone/>
              <a:defRPr/>
            </a:lvl1pPr>
            <a:lvl2pPr marL="914400" lvl="1" indent="-228600" algn="l">
              <a:lnSpc>
                <a:spcPct val="115000"/>
              </a:lnSpc>
              <a:spcBef>
                <a:spcPts val="0"/>
              </a:spcBef>
              <a:spcAft>
                <a:spcPts val="0"/>
              </a:spcAft>
              <a:buSzPts val="1400"/>
              <a:buNone/>
              <a:defRPr/>
            </a:lvl2pPr>
            <a:lvl3pPr marL="1371600" lvl="2" indent="-228600" algn="l">
              <a:lnSpc>
                <a:spcPct val="115000"/>
              </a:lnSpc>
              <a:spcBef>
                <a:spcPts val="0"/>
              </a:spcBef>
              <a:spcAft>
                <a:spcPts val="0"/>
              </a:spcAft>
              <a:buSzPts val="1400"/>
              <a:buNone/>
              <a:defRPr/>
            </a:lvl3pPr>
            <a:lvl4pPr marL="1828800" lvl="3" indent="-228600" algn="l">
              <a:lnSpc>
                <a:spcPct val="115000"/>
              </a:lnSpc>
              <a:spcBef>
                <a:spcPts val="0"/>
              </a:spcBef>
              <a:spcAft>
                <a:spcPts val="0"/>
              </a:spcAft>
              <a:buSzPts val="1400"/>
              <a:buNone/>
              <a:defRPr/>
            </a:lvl4pPr>
            <a:lvl5pPr marL="2286000" lvl="4" indent="-228600" algn="l">
              <a:lnSpc>
                <a:spcPct val="115000"/>
              </a:lnSpc>
              <a:spcBef>
                <a:spcPts val="0"/>
              </a:spcBef>
              <a:spcAft>
                <a:spcPts val="0"/>
              </a:spcAft>
              <a:buSzPts val="1400"/>
              <a:buNone/>
              <a:defRPr/>
            </a:lvl5pPr>
            <a:lvl6pPr marL="2743200" lvl="5" indent="-228600" algn="l">
              <a:lnSpc>
                <a:spcPct val="115000"/>
              </a:lnSpc>
              <a:spcBef>
                <a:spcPts val="0"/>
              </a:spcBef>
              <a:spcAft>
                <a:spcPts val="0"/>
              </a:spcAft>
              <a:buSzPts val="1400"/>
              <a:buNone/>
              <a:defRPr/>
            </a:lvl6pPr>
            <a:lvl7pPr marL="3200400" lvl="6" indent="-228600" algn="l">
              <a:lnSpc>
                <a:spcPct val="115000"/>
              </a:lnSpc>
              <a:spcBef>
                <a:spcPts val="0"/>
              </a:spcBef>
              <a:spcAft>
                <a:spcPts val="0"/>
              </a:spcAft>
              <a:buSzPts val="1400"/>
              <a:buNone/>
              <a:defRPr/>
            </a:lvl7pPr>
            <a:lvl8pPr marL="3657600" lvl="7" indent="-228600" algn="l">
              <a:lnSpc>
                <a:spcPct val="115000"/>
              </a:lnSpc>
              <a:spcBef>
                <a:spcPts val="0"/>
              </a:spcBef>
              <a:spcAft>
                <a:spcPts val="0"/>
              </a:spcAft>
              <a:buSzPts val="1400"/>
              <a:buNone/>
              <a:defRPr/>
            </a:lvl8pPr>
            <a:lvl9pPr marL="4114800" lvl="8" indent="-228600" algn="l">
              <a:lnSpc>
                <a:spcPct val="115000"/>
              </a:lnSpc>
              <a:spcBef>
                <a:spcPts val="0"/>
              </a:spcBef>
              <a:spcAft>
                <a:spcPts val="0"/>
              </a:spcAft>
              <a:buSzPts val="1400"/>
              <a:buNone/>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p:cSld name="SECTION_HEADER_1">
    <p:spTree>
      <p:nvGrpSpPr>
        <p:cNvPr id="1" name="Shape 53"/>
        <p:cNvGrpSpPr/>
        <p:nvPr/>
      </p:nvGrpSpPr>
      <p:grpSpPr>
        <a:xfrm>
          <a:off x="0" y="0"/>
          <a:ext cx="0" cy="0"/>
          <a:chOff x="0" y="0"/>
          <a:chExt cx="0" cy="0"/>
        </a:xfrm>
      </p:grpSpPr>
      <p:sp>
        <p:nvSpPr>
          <p:cNvPr id="54" name="Google Shape;54;p14"/>
          <p:cNvSpPr txBox="1">
            <a:spLocks noGrp="1"/>
          </p:cNvSpPr>
          <p:nvPr>
            <p:ph type="title"/>
          </p:nvPr>
        </p:nvSpPr>
        <p:spPr>
          <a:xfrm>
            <a:off x="623888" y="1282303"/>
            <a:ext cx="7886700" cy="2139600"/>
          </a:xfrm>
          <a:prstGeom prst="rect">
            <a:avLst/>
          </a:prstGeom>
          <a:noFill/>
          <a:ln>
            <a:noFill/>
          </a:ln>
        </p:spPr>
        <p:txBody>
          <a:bodyPr spcFirstLastPara="1" wrap="square" lIns="68575" tIns="68575" rIns="68575" bIns="68575" anchor="b" anchorCtr="0">
            <a:noAutofit/>
          </a:bodyPr>
          <a:lstStyle>
            <a:lvl1pPr marR="0" lvl="0" algn="l">
              <a:lnSpc>
                <a:spcPct val="90000"/>
              </a:lnSpc>
              <a:spcBef>
                <a:spcPts val="0"/>
              </a:spcBef>
              <a:spcAft>
                <a:spcPts val="0"/>
              </a:spcAft>
              <a:buClr>
                <a:schemeClr val="dk1"/>
              </a:buClr>
              <a:buSzPts val="4500"/>
              <a:buFont typeface="Calibri"/>
              <a:buNone/>
              <a:defRPr sz="4500" b="0" i="0" u="none" strike="noStrike" cap="none">
                <a:solidFill>
                  <a:schemeClr val="dk1"/>
                </a:solidFill>
                <a:latin typeface="Calibri"/>
                <a:ea typeface="Calibri"/>
                <a:cs typeface="Calibri"/>
                <a:sym typeface="Calibri"/>
              </a:defRPr>
            </a:lvl1pPr>
            <a:lvl2pPr lvl="1" algn="l">
              <a:lnSpc>
                <a:spcPct val="100000"/>
              </a:lnSpc>
              <a:spcBef>
                <a:spcPts val="0"/>
              </a:spcBef>
              <a:spcAft>
                <a:spcPts val="0"/>
              </a:spcAft>
              <a:buSzPts val="1100"/>
              <a:buNone/>
              <a:defRPr sz="1400"/>
            </a:lvl2pPr>
            <a:lvl3pPr lvl="2" algn="l">
              <a:lnSpc>
                <a:spcPct val="100000"/>
              </a:lnSpc>
              <a:spcBef>
                <a:spcPts val="0"/>
              </a:spcBef>
              <a:spcAft>
                <a:spcPts val="0"/>
              </a:spcAft>
              <a:buSzPts val="1100"/>
              <a:buNone/>
              <a:defRPr sz="1400"/>
            </a:lvl3pPr>
            <a:lvl4pPr lvl="3" algn="l">
              <a:lnSpc>
                <a:spcPct val="100000"/>
              </a:lnSpc>
              <a:spcBef>
                <a:spcPts val="0"/>
              </a:spcBef>
              <a:spcAft>
                <a:spcPts val="0"/>
              </a:spcAft>
              <a:buSzPts val="1100"/>
              <a:buNone/>
              <a:defRPr sz="1400"/>
            </a:lvl4pPr>
            <a:lvl5pPr lvl="4" algn="l">
              <a:lnSpc>
                <a:spcPct val="100000"/>
              </a:lnSpc>
              <a:spcBef>
                <a:spcPts val="0"/>
              </a:spcBef>
              <a:spcAft>
                <a:spcPts val="0"/>
              </a:spcAft>
              <a:buSzPts val="1100"/>
              <a:buNone/>
              <a:defRPr sz="1400"/>
            </a:lvl5pPr>
            <a:lvl6pPr lvl="5" algn="l">
              <a:lnSpc>
                <a:spcPct val="100000"/>
              </a:lnSpc>
              <a:spcBef>
                <a:spcPts val="0"/>
              </a:spcBef>
              <a:spcAft>
                <a:spcPts val="0"/>
              </a:spcAft>
              <a:buSzPts val="1100"/>
              <a:buNone/>
              <a:defRPr sz="1400"/>
            </a:lvl6pPr>
            <a:lvl7pPr lvl="6" algn="l">
              <a:lnSpc>
                <a:spcPct val="100000"/>
              </a:lnSpc>
              <a:spcBef>
                <a:spcPts val="0"/>
              </a:spcBef>
              <a:spcAft>
                <a:spcPts val="0"/>
              </a:spcAft>
              <a:buSzPts val="1100"/>
              <a:buNone/>
              <a:defRPr sz="1400"/>
            </a:lvl7pPr>
            <a:lvl8pPr lvl="7" algn="l">
              <a:lnSpc>
                <a:spcPct val="100000"/>
              </a:lnSpc>
              <a:spcBef>
                <a:spcPts val="0"/>
              </a:spcBef>
              <a:spcAft>
                <a:spcPts val="0"/>
              </a:spcAft>
              <a:buSzPts val="1100"/>
              <a:buNone/>
              <a:defRPr sz="1400"/>
            </a:lvl8pPr>
            <a:lvl9pPr lvl="8" algn="l">
              <a:lnSpc>
                <a:spcPct val="100000"/>
              </a:lnSpc>
              <a:spcBef>
                <a:spcPts val="0"/>
              </a:spcBef>
              <a:spcAft>
                <a:spcPts val="0"/>
              </a:spcAft>
              <a:buSzPts val="1100"/>
              <a:buNone/>
              <a:defRPr sz="1400"/>
            </a:lvl9pPr>
          </a:lstStyle>
          <a:p>
            <a:endParaRPr/>
          </a:p>
        </p:txBody>
      </p:sp>
      <p:sp>
        <p:nvSpPr>
          <p:cNvPr id="55" name="Google Shape;55;p14"/>
          <p:cNvSpPr txBox="1">
            <a:spLocks noGrp="1"/>
          </p:cNvSpPr>
          <p:nvPr>
            <p:ph type="body" idx="1"/>
          </p:nvPr>
        </p:nvSpPr>
        <p:spPr>
          <a:xfrm>
            <a:off x="623888" y="3442097"/>
            <a:ext cx="7886700" cy="1125300"/>
          </a:xfrm>
          <a:prstGeom prst="rect">
            <a:avLst/>
          </a:prstGeom>
          <a:noFill/>
          <a:ln>
            <a:noFill/>
          </a:ln>
        </p:spPr>
        <p:txBody>
          <a:bodyPr spcFirstLastPara="1" wrap="square" lIns="68575" tIns="68575" rIns="68575" bIns="68575" anchor="t" anchorCtr="0">
            <a:noAutofit/>
          </a:bodyPr>
          <a:lstStyle>
            <a:lvl1pPr marL="457200" marR="0" lvl="0" indent="-228600" algn="l">
              <a:lnSpc>
                <a:spcPct val="90000"/>
              </a:lnSpc>
              <a:spcBef>
                <a:spcPts val="8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1pPr>
            <a:lvl2pPr marL="914400" marR="0" lvl="1" indent="-228600" algn="l">
              <a:lnSpc>
                <a:spcPct val="90000"/>
              </a:lnSpc>
              <a:spcBef>
                <a:spcPts val="400"/>
              </a:spcBef>
              <a:spcAft>
                <a:spcPts val="0"/>
              </a:spcAft>
              <a:buClr>
                <a:srgbClr val="888888"/>
              </a:buClr>
              <a:buSzPts val="1500"/>
              <a:buFont typeface="Arial"/>
              <a:buNone/>
              <a:defRPr sz="1500" b="0" i="0" u="none" strike="noStrike" cap="none">
                <a:solidFill>
                  <a:srgbClr val="888888"/>
                </a:solidFill>
                <a:latin typeface="Calibri"/>
                <a:ea typeface="Calibri"/>
                <a:cs typeface="Calibri"/>
                <a:sym typeface="Calibri"/>
              </a:defRPr>
            </a:lvl2pPr>
            <a:lvl3pPr marL="1371600" marR="0" lvl="2" indent="-228600" algn="l">
              <a:lnSpc>
                <a:spcPct val="90000"/>
              </a:lnSpc>
              <a:spcBef>
                <a:spcPts val="400"/>
              </a:spcBef>
              <a:spcAft>
                <a:spcPts val="0"/>
              </a:spcAft>
              <a:buClr>
                <a:srgbClr val="888888"/>
              </a:buClr>
              <a:buSzPts val="1400"/>
              <a:buFont typeface="Arial"/>
              <a:buNone/>
              <a:defRPr sz="1400" b="0" i="0" u="none" strike="noStrike" cap="none">
                <a:solidFill>
                  <a:srgbClr val="888888"/>
                </a:solidFill>
                <a:latin typeface="Calibri"/>
                <a:ea typeface="Calibri"/>
                <a:cs typeface="Calibri"/>
                <a:sym typeface="Calibri"/>
              </a:defRPr>
            </a:lvl3pPr>
            <a:lvl4pPr marL="1828800" marR="0" lvl="3"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4pPr>
            <a:lvl5pPr marL="2286000" marR="0" lvl="4"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5pPr>
            <a:lvl6pPr marL="2743200" marR="0" lvl="5"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6pPr>
            <a:lvl7pPr marL="3200400" marR="0" lvl="6"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7pPr>
            <a:lvl8pPr marL="3657600" marR="0" lvl="7"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8pPr>
            <a:lvl9pPr marL="4114800" marR="0" lvl="8"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9pPr>
          </a:lstStyle>
          <a:p>
            <a:endParaRPr/>
          </a:p>
        </p:txBody>
      </p:sp>
      <p:sp>
        <p:nvSpPr>
          <p:cNvPr id="56" name="Google Shape;56;p14"/>
          <p:cNvSpPr txBox="1">
            <a:spLocks noGrp="1"/>
          </p:cNvSpPr>
          <p:nvPr>
            <p:ph type="dt" idx="10"/>
          </p:nvPr>
        </p:nvSpPr>
        <p:spPr>
          <a:xfrm>
            <a:off x="628650" y="4767263"/>
            <a:ext cx="2057400" cy="273900"/>
          </a:xfrm>
          <a:prstGeom prst="rect">
            <a:avLst/>
          </a:prstGeom>
          <a:noFill/>
          <a:ln>
            <a:noFill/>
          </a:ln>
        </p:spPr>
        <p:txBody>
          <a:bodyPr spcFirstLastPara="1" wrap="square" lIns="68575" tIns="68575" rIns="68575" bIns="685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7" name="Google Shape;57;p14"/>
          <p:cNvSpPr txBox="1">
            <a:spLocks noGrp="1"/>
          </p:cNvSpPr>
          <p:nvPr>
            <p:ph type="ftr" idx="11"/>
          </p:nvPr>
        </p:nvSpPr>
        <p:spPr>
          <a:xfrm>
            <a:off x="3028950" y="4767263"/>
            <a:ext cx="3086100" cy="273900"/>
          </a:xfrm>
          <a:prstGeom prst="rect">
            <a:avLst/>
          </a:prstGeom>
          <a:noFill/>
          <a:ln>
            <a:noFill/>
          </a:ln>
        </p:spPr>
        <p:txBody>
          <a:bodyPr spcFirstLastPara="1" wrap="square" lIns="68575" tIns="68575" rIns="68575" bIns="685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8" name="Google Shape;58;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3" Type="http://schemas.openxmlformats.org/officeDocument/2006/relationships/hyperlink" Target="https://huggingface.co/open-llm-leaderboard" TargetMode="External"/><Relationship Id="rId18" Type="http://schemas.openxmlformats.org/officeDocument/2006/relationships/hyperlink" Target="https://lmarena.ai/leaderboard/text-to-image" TargetMode="External"/><Relationship Id="rId26" Type="http://schemas.openxmlformats.org/officeDocument/2006/relationships/hyperlink" Target="https://chat.qwen.ai/?models=Qwen3.7-Max-Preview" TargetMode="External"/><Relationship Id="rId39" Type="http://schemas.openxmlformats.org/officeDocument/2006/relationships/hyperlink" Target="https://docs.x.ai/developers/models/grok-4.20-beta-0309-reasoning" TargetMode="External"/><Relationship Id="rId21" Type="http://schemas.openxmlformats.org/officeDocument/2006/relationships/hyperlink" Target="https://www.anthropic.com/news/claude-opus-4-7" TargetMode="External"/><Relationship Id="rId34" Type="http://schemas.openxmlformats.org/officeDocument/2006/relationships/hyperlink" Target="https://ernie.baidu.com/blog/posts/ernie-5.1-0508-release/" TargetMode="External"/><Relationship Id="rId42" Type="http://schemas.openxmlformats.org/officeDocument/2006/relationships/hyperlink" Target="https://blog.google/products/gemini/gemini-3-flash" TargetMode="External"/><Relationship Id="rId7" Type="http://schemas.openxmlformats.org/officeDocument/2006/relationships/hyperlink" Target="https://openlm.ai/chatbot-arena/" TargetMode="External"/><Relationship Id="rId2" Type="http://schemas.openxmlformats.org/officeDocument/2006/relationships/notesSlide" Target="../notesSlides/notesSlide2.xml"/><Relationship Id="rId16" Type="http://schemas.openxmlformats.org/officeDocument/2006/relationships/hyperlink" Target="https://artificialanalysis.ai/models/grok-4" TargetMode="External"/><Relationship Id="rId20" Type="http://schemas.openxmlformats.org/officeDocument/2006/relationships/hyperlink" Target="https://www.anthropic.com/news/claude-opus-4-6" TargetMode="External"/><Relationship Id="rId29" Type="http://schemas.openxmlformats.org/officeDocument/2006/relationships/hyperlink" Target="https://platform.openai.com/docs/models/gpt-5.4" TargetMode="External"/><Relationship Id="rId41" Type="http://schemas.openxmlformats.org/officeDocument/2006/relationships/hyperlink" Target="https://grok.com" TargetMode="External"/><Relationship Id="rId1" Type="http://schemas.openxmlformats.org/officeDocument/2006/relationships/slideLayout" Target="../slideLayouts/slideLayout1.xml"/><Relationship Id="rId6" Type="http://schemas.openxmlformats.org/officeDocument/2006/relationships/hyperlink" Target="https://www.designarena.ai" TargetMode="External"/><Relationship Id="rId11" Type="http://schemas.openxmlformats.org/officeDocument/2006/relationships/hyperlink" Target="https://www.stack-ai.com/llm-leaderboard" TargetMode="External"/><Relationship Id="rId24" Type="http://schemas.openxmlformats.org/officeDocument/2006/relationships/hyperlink" Target="https://ai.meta.com/blog/introducing-muse-spark-msl/" TargetMode="External"/><Relationship Id="rId32" Type="http://schemas.openxmlformats.org/officeDocument/2006/relationships/hyperlink" Target="https://developers.openai.com/api/docs/models/gpt-5.2-chat-latest" TargetMode="External"/><Relationship Id="rId37" Type="http://schemas.openxmlformats.org/officeDocument/2006/relationships/hyperlink" Target="https://openai.com/index/gpt-5-5-instant" TargetMode="External"/><Relationship Id="rId40" Type="http://schemas.openxmlformats.org/officeDocument/2006/relationships/hyperlink" Target="https://blog.google/innovation-and-ai/models-and-research/gemini-models/gemini-3-5/" TargetMode="External"/><Relationship Id="rId5" Type="http://schemas.openxmlformats.org/officeDocument/2006/relationships/hyperlink" Target="https://lmarena.ai/leaderboard/text/coding" TargetMode="External"/><Relationship Id="rId15" Type="http://schemas.openxmlformats.org/officeDocument/2006/relationships/hyperlink" Target="https://epoch.ai/data/ai-benchmarking-dashboard" TargetMode="External"/><Relationship Id="rId23" Type="http://schemas.openxmlformats.org/officeDocument/2006/relationships/hyperlink" Target="https://huggingface.co/zai-org/GLM-5.1" TargetMode="External"/><Relationship Id="rId28" Type="http://schemas.openxmlformats.org/officeDocument/2006/relationships/hyperlink" Target="https://openai.com/index/introducing-gpt-5-5/" TargetMode="External"/><Relationship Id="rId36" Type="http://schemas.openxmlformats.org/officeDocument/2006/relationships/hyperlink" Target="https://www.anthropic.com/news/claude-opus-4-1" TargetMode="External"/><Relationship Id="rId10" Type="http://schemas.openxmlformats.org/officeDocument/2006/relationships/hyperlink" Target="https://llmworld.net/llm_leaderboards/" TargetMode="External"/><Relationship Id="rId19" Type="http://schemas.openxmlformats.org/officeDocument/2006/relationships/hyperlink" Target="http://z.ai" TargetMode="External"/><Relationship Id="rId31" Type="http://schemas.openxmlformats.org/officeDocument/2006/relationships/hyperlink" Target="https://aistudio.google.com/app/prompts/new_chat?model=gemini-3-pro-preview" TargetMode="External"/><Relationship Id="rId4" Type="http://schemas.openxmlformats.org/officeDocument/2006/relationships/hyperlink" Target="https://lmarena.ai/leaderboard/text" TargetMode="External"/><Relationship Id="rId9" Type="http://schemas.openxmlformats.org/officeDocument/2006/relationships/hyperlink" Target="https://web.lmarena.ai/leaderboard" TargetMode="External"/><Relationship Id="rId14" Type="http://schemas.openxmlformats.org/officeDocument/2006/relationships/hyperlink" Target="https://www.vellum.ai/llm-leaderboard" TargetMode="External"/><Relationship Id="rId22" Type="http://schemas.openxmlformats.org/officeDocument/2006/relationships/hyperlink" Target="https://www.anthropic.com/news/claude-opus-4-5" TargetMode="External"/><Relationship Id="rId27" Type="http://schemas.openxmlformats.org/officeDocument/2006/relationships/hyperlink" Target="https://www.anthropic.com/news/claude-sonnet-4-6" TargetMode="External"/><Relationship Id="rId30" Type="http://schemas.openxmlformats.org/officeDocument/2006/relationships/hyperlink" Target="https://www.anthropic.com/news/claude-sonnet-4-5" TargetMode="External"/><Relationship Id="rId35" Type="http://schemas.openxmlformats.org/officeDocument/2006/relationships/hyperlink" Target="https://mimo.xiaomi.com/mimo-v2-5-pro/" TargetMode="External"/><Relationship Id="rId43" Type="http://schemas.openxmlformats.org/officeDocument/2006/relationships/hyperlink" Target="https://x.ai/news/grok-4-1" TargetMode="External"/><Relationship Id="rId8" Type="http://schemas.openxmlformats.org/officeDocument/2006/relationships/hyperlink" Target="https://beta.lmarena.ai" TargetMode="External"/><Relationship Id="rId3" Type="http://schemas.openxmlformats.org/officeDocument/2006/relationships/hyperlink" Target="https://en.wikipedia.org/wiki/Elo_rating_system" TargetMode="External"/><Relationship Id="rId12" Type="http://schemas.openxmlformats.org/officeDocument/2006/relationships/hyperlink" Target="https://artificialanalysis.ai/leaderboards/models" TargetMode="External"/><Relationship Id="rId17" Type="http://schemas.openxmlformats.org/officeDocument/2006/relationships/hyperlink" Target="http://aiarena.alibaba-inc.com/corpora/arena/leaderboard?arenaType=T2I" TargetMode="External"/><Relationship Id="rId25" Type="http://schemas.openxmlformats.org/officeDocument/2006/relationships/hyperlink" Target="https://blog.google/innovation-and-ai/models-and-research/gemini-models/gemini-3-1-pro/" TargetMode="External"/><Relationship Id="rId33" Type="http://schemas.openxmlformats.org/officeDocument/2006/relationships/hyperlink" Target="https://docs.x.ai/developers/models/grok-4.20-multi-agent-beta-0309" TargetMode="External"/><Relationship Id="rId38" Type="http://schemas.openxmlformats.org/officeDocument/2006/relationships/hyperlink" Target="https://qwen.ai/blog?id=qwen3.5-max-preview" TargetMode="External"/></Relationships>
</file>

<file path=ppt/slides/_rels/slide3.xml.rels><?xml version="1.0" encoding="UTF-8" standalone="yes"?>
<Relationships xmlns="http://schemas.openxmlformats.org/package/2006/relationships"><Relationship Id="rId3" Type="http://schemas.openxmlformats.org/officeDocument/2006/relationships/hyperlink" Target="https://openrouter.ai/minimax/minimax-m3/providers" TargetMode="External"/><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2.png"/><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3" Type="http://schemas.openxmlformats.org/officeDocument/2006/relationships/hyperlink" Target="https://www.youtube.com/watch?v=q_umfWm8J28" TargetMode="External"/><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6.jpeg"/></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hyperlink" Target="https://beam.ai/agentic-insights/anthropics-new-billing-split-reveals-what-ai-agents-actually-cost" TargetMode="External"/><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hyperlink" Target="https://deepinfra.com/blog/best-models-openclaw-agentic-workloads" TargetMode="External"/></Relationships>
</file>

<file path=ppt/slides/_rels/slide8.xml.rels><?xml version="1.0" encoding="UTF-8" standalone="yes"?>
<Relationships xmlns="http://schemas.openxmlformats.org/package/2006/relationships"><Relationship Id="rId8" Type="http://schemas.openxmlformats.org/officeDocument/2006/relationships/hyperlink" Target="https://www.clickrank.ai/llm-leaderboard/" TargetMode="External"/><Relationship Id="rId3" Type="http://schemas.openxmlformats.org/officeDocument/2006/relationships/hyperlink" Target="https://artificialanalysis.ai" TargetMode="External"/><Relationship Id="rId7" Type="http://schemas.openxmlformats.org/officeDocument/2006/relationships/hyperlink" Target="https://onyx.app/llm-leaderboard" TargetMode="External"/><Relationship Id="rId12"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hyperlink" Target="https://www.vellum.ai/llm-leaderboard" TargetMode="External"/><Relationship Id="rId11" Type="http://schemas.openxmlformats.org/officeDocument/2006/relationships/hyperlink" Target="https://dextralabs.com/blog/best-llm-leaderboard/" TargetMode="External"/><Relationship Id="rId5" Type="http://schemas.openxmlformats.org/officeDocument/2006/relationships/hyperlink" Target="https://arena.ai" TargetMode="External"/><Relationship Id="rId10" Type="http://schemas.openxmlformats.org/officeDocument/2006/relationships/hyperlink" Target="https://crfm.stanford.edu/helm/" TargetMode="External"/><Relationship Id="rId4" Type="http://schemas.openxmlformats.org/officeDocument/2006/relationships/hyperlink" Target="https://github.com/alexfazio/artificial-analysis-compare" TargetMode="External"/><Relationship Id="rId9" Type="http://schemas.openxmlformats.org/officeDocument/2006/relationships/hyperlink" Target="https://huggingface.co/spaces/HuggingFaceH4/open_llm_leaderboard" TargetMode="External"/></Relationships>
</file>

<file path=ppt/slides/_rels/slide9.xml.rels><?xml version="1.0" encoding="UTF-8" standalone="yes"?>
<Relationships xmlns="http://schemas.openxmlformats.org/package/2006/relationships"><Relationship Id="rId8" Type="http://schemas.openxmlformats.org/officeDocument/2006/relationships/image" Target="../media/image10.jpeg"/><Relationship Id="rId3" Type="http://schemas.openxmlformats.org/officeDocument/2006/relationships/hyperlink" Target="https://github.com/chopratejas/headroom" TargetMode="External"/><Relationship Id="rId7"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hyperlink" Target="https://arxiv.org/pdf/2605.22502" TargetMode="External"/><Relationship Id="rId5" Type="http://schemas.openxmlformats.org/officeDocument/2006/relationships/hyperlink" Target="https://x.com/hooeem/status/2062266452921491934" TargetMode="External"/><Relationship Id="rId10" Type="http://schemas.openxmlformats.org/officeDocument/2006/relationships/image" Target="../media/image11.png"/><Relationship Id="rId4" Type="http://schemas.openxmlformats.org/officeDocument/2006/relationships/hyperlink" Target="http://localhost:8787" TargetMode="External"/><Relationship Id="rId9" Type="http://schemas.openxmlformats.org/officeDocument/2006/relationships/hyperlink" Target="https://oumi.ai" TargetMode="External"/></Relationships>
</file>

<file path=ppt/slides/_rels/slide10.xml.rels><?xml version="1.0" encoding="UTF-8" standalone="yes"?>
<Relationships xmlns="http://schemas.openxmlformats.org/package/2006/relationships"><Relationship Id="rId3" Type="http://schemas.openxmlformats.org/officeDocument/2006/relationships/hyperlink" Target="https://www.youtube.com/@lev-selector/videos" TargetMode="External"/><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hyperlink" Target="https://www.anthropic.com/engineering/how-we-contain-claude" TargetMode="External"/><Relationship Id="rId7" Type="http://schemas.openxmlformats.org/officeDocument/2006/relationships/image" Target="../media/image15.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hyperlink" Target="http://www.youtube.com/watch?v=6LwQ8RbU9as" TargetMode="External"/><Relationship Id="rId4" Type="http://schemas.openxmlformats.org/officeDocument/2006/relationships/hyperlink" Target="http://data-curve.ai" TargetMode="External"/></Relationships>
</file>

<file path=ppt/slides/_rels/slide13.xml.rels><?xml version="1.0" encoding="UTF-8" standalone="yes"?>
<Relationships xmlns="http://schemas.openxmlformats.org/package/2006/relationships"><Relationship Id="rId3" Type="http://schemas.openxmlformats.org/officeDocument/2006/relationships/hyperlink" Target="https://github.com/anthropic-experimental/sandbox-runtime" TargetMode="External"/><Relationship Id="rId2" Type="http://schemas.openxmlformats.org/officeDocument/2006/relationships/notesSlide" Target="../notesSlides/notesSlide13.xml"/><Relationship Id="rId1" Type="http://schemas.openxmlformats.org/officeDocument/2006/relationships/slideLayout" Target="../slideLayouts/slideLayout1.xml"/><Relationship Id="rId5" Type="http://schemas.openxmlformats.org/officeDocument/2006/relationships/image" Target="../media/image17.png"/><Relationship Id="rId4" Type="http://schemas.openxmlformats.org/officeDocument/2006/relationships/hyperlink" Target="https://github.com/containers/bubblewrap" TargetMode="External"/></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19.png"/></Relationships>
</file>

<file path=ppt/slides/_rels/slide15.xml.rels><?xml version="1.0" encoding="UTF-8" standalone="yes"?>
<Relationships xmlns="http://schemas.openxmlformats.org/package/2006/relationships"><Relationship Id="rId8" Type="http://schemas.openxmlformats.org/officeDocument/2006/relationships/hyperlink" Target="http://design.md" TargetMode="External"/><Relationship Id="rId3" Type="http://schemas.openxmlformats.org/officeDocument/2006/relationships/hyperlink" Target="https://huggingface.co/blog/JetBrains/mellum2-launch" TargetMode="External"/><Relationship Id="rId7" Type="http://schemas.openxmlformats.org/officeDocument/2006/relationships/hyperlink" Target="http://soul.md" TargetMode="External"/><Relationship Id="rId12" Type="http://schemas.openxmlformats.org/officeDocument/2006/relationships/image" Target="../media/image23.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hyperlink" Target="http://claude.md" TargetMode="External"/><Relationship Id="rId11" Type="http://schemas.openxmlformats.org/officeDocument/2006/relationships/image" Target="../media/image22.png"/><Relationship Id="rId5" Type="http://schemas.openxmlformats.org/officeDocument/2006/relationships/image" Target="../media/image21.png"/><Relationship Id="rId10" Type="http://schemas.openxmlformats.org/officeDocument/2006/relationships/hyperlink" Target="http://audience.md" TargetMode="External"/><Relationship Id="rId4" Type="http://schemas.openxmlformats.org/officeDocument/2006/relationships/image" Target="../media/image20.png"/><Relationship Id="rId9" Type="http://schemas.openxmlformats.org/officeDocument/2006/relationships/hyperlink" Target="http://voice.md" TargetMode="External"/></Relationships>
</file>

<file path=ppt/slides/_rels/slide16.xml.rels><?xml version="1.0" encoding="UTF-8" standalone="yes"?>
<Relationships xmlns="http://schemas.openxmlformats.org/package/2006/relationships"><Relationship Id="rId3" Type="http://schemas.openxmlformats.org/officeDocument/2006/relationships/hyperlink" Target="https://sumantthakur.substack.com/p/the-agent-compiler-is-coming" TargetMode="External"/><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hyperlink" Target="https://www.youtube.com/watch?v=MgiJ5C1pQBg" TargetMode="External"/></Relationships>
</file>

<file path=ppt/slides/_rels/slide17.xml.rels><?xml version="1.0" encoding="UTF-8" standalone="yes"?>
<Relationships xmlns="http://schemas.openxmlformats.org/package/2006/relationships"><Relationship Id="rId3" Type="http://schemas.openxmlformats.org/officeDocument/2006/relationships/hyperlink" Target="https://unabyss.com" TargetMode="External"/><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18.xml.rels><?xml version="1.0" encoding="UTF-8" standalone="yes"?>
<Relationships xmlns="http://schemas.openxmlformats.org/package/2006/relationships"><Relationship Id="rId3" Type="http://schemas.openxmlformats.org/officeDocument/2006/relationships/hyperlink" Target="https://www.youtube.com/watch?v=7NN6XbI3-lo" TargetMode="External"/><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hyperlink" Target="https://www.youtube.com/watch?v=uT3EQPVIEb0" TargetMode="External"/></Relationships>
</file>

<file path=ppt/slides/_rels/slide19.xml.rels><?xml version="1.0" encoding="UTF-8" standalone="yes"?>
<Relationships xmlns="http://schemas.openxmlformats.org/package/2006/relationships"><Relationship Id="rId3" Type="http://schemas.openxmlformats.org/officeDocument/2006/relationships/hyperlink" Target="https://www.anthropic.com/institute/recursive-self-improvement" TargetMode="External"/><Relationship Id="rId2" Type="http://schemas.openxmlformats.org/officeDocument/2006/relationships/notesSlide" Target="../notesSlides/notesSlide19.xml"/><Relationship Id="rId1" Type="http://schemas.openxmlformats.org/officeDocument/2006/relationships/slideLayout" Target="../slideLayouts/slideLayout1.xml"/><Relationship Id="rId5" Type="http://schemas.openxmlformats.org/officeDocument/2006/relationships/image" Target="../media/image31.png"/><Relationship Id="rId4" Type="http://schemas.openxmlformats.org/officeDocument/2006/relationships/hyperlink" Target="https://www.youtube.com/watch?v=a56T6OQtwEg" TargetMode="External"/></Relationships>
</file>

<file path=ppt/slides/_rels/slide20.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hyperlink" Target="https://arxiv.org/abs/2605.25354" TargetMode="External"/><Relationship Id="rId7" Type="http://schemas.openxmlformats.org/officeDocument/2006/relationships/image" Target="../media/image34.jpe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33.png"/><Relationship Id="rId5" Type="http://schemas.openxmlformats.org/officeDocument/2006/relationships/hyperlink" Target="https://www.youtube.com/watch?v=l5RZOy_tqYw" TargetMode="External"/><Relationship Id="rId4" Type="http://schemas.openxmlformats.org/officeDocument/2006/relationships/hyperlink" Target="https://www.youtube.com/watch?v=9ngD_BKKtek" TargetMode="External"/></Relationships>
</file>

<file path=ppt/slides/_rels/slide22.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hyperlink" Target="https://arxiv.org/abs/2603.20617" TargetMode="External"/><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36.jpeg"/></Relationships>
</file>

<file path=ppt/slides/_rels/slide24.xml.rels><?xml version="1.0" encoding="UTF-8" standalone="yes"?>
<Relationships xmlns="http://schemas.openxmlformats.org/package/2006/relationships"><Relationship Id="rId3" Type="http://schemas.openxmlformats.org/officeDocument/2006/relationships/hyperlink" Target="https://layoffs.fyi" TargetMode="External"/><Relationship Id="rId7" Type="http://schemas.openxmlformats.org/officeDocument/2006/relationships/hyperlink" Target="https://www.techspot.com/news/112607-apollo-economist-there-zero-evidence-ai-taking-jobs.html" TargetMode="External"/><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hyperlink" Target="https://trueup.io/layoffs" TargetMode="External"/></Relationships>
</file>

<file path=ppt/slides/_rels/slide25.xml.rels><?xml version="1.0" encoding="UTF-8" standalone="yes"?>
<Relationships xmlns="http://schemas.openxmlformats.org/package/2006/relationships"><Relationship Id="rId3" Type="http://schemas.openxmlformats.org/officeDocument/2006/relationships/image" Target="../media/image39.jpeg"/><Relationship Id="rId2" Type="http://schemas.openxmlformats.org/officeDocument/2006/relationships/notesSlide" Target="../notesSlides/notesSlide25.xml"/><Relationship Id="rId1" Type="http://schemas.openxmlformats.org/officeDocument/2006/relationships/slideLayout" Target="../slideLayouts/slideLayout1.xml"/><Relationship Id="rId5" Type="http://schemas.openxmlformats.org/officeDocument/2006/relationships/hyperlink" Target="https://eais.ai" TargetMode="External"/><Relationship Id="rId4" Type="http://schemas.openxmlformats.org/officeDocument/2006/relationships/image" Target="../media/image40.pn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2"/>
        <p:cNvGrpSpPr/>
        <p:nvPr/>
      </p:nvGrpSpPr>
      <p:grpSpPr>
        <a:xfrm>
          <a:off x="0" y="0"/>
          <a:ext cx="0" cy="0"/>
          <a:chOff x="0" y="0"/>
          <a:chExt cx="0" cy="0"/>
        </a:xfrm>
      </p:grpSpPr>
      <p:sp>
        <p:nvSpPr>
          <p:cNvPr id="63" name="Google Shape;63;p15"/>
          <p:cNvSpPr txBox="1"/>
          <p:nvPr/>
        </p:nvSpPr>
        <p:spPr>
          <a:xfrm>
            <a:off x="100175" y="536562"/>
            <a:ext cx="4330200" cy="248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Crowd-sourced "LM Arena" Leaderboard</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MiniMax M3 - Multimodal Model</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Microsoft MAI-Thinking-1</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NVIDIA CEO Jensen Huang keynote at GTC</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NVIDIA RTX Spark Laptops and DGX Stations</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Anthropic IPO</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Anthropic New Billing June 15</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Select Cheaper Model</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Headroom context compression</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Compiling Agentic Workflows</a:t>
            </a:r>
            <a:endParaRPr sz="1600" b="1">
              <a:solidFill>
                <a:srgbClr val="3C78D8"/>
              </a:solidFill>
              <a:latin typeface="Calibri"/>
              <a:ea typeface="Calibri"/>
              <a:cs typeface="Calibri"/>
              <a:sym typeface="Calibri"/>
            </a:endParaRPr>
          </a:p>
        </p:txBody>
      </p:sp>
      <p:sp>
        <p:nvSpPr>
          <p:cNvPr id="64" name="Google Shape;64;p15"/>
          <p:cNvSpPr txBox="1"/>
          <p:nvPr/>
        </p:nvSpPr>
        <p:spPr>
          <a:xfrm>
            <a:off x="55167" y="-22692"/>
            <a:ext cx="4420200" cy="480300"/>
          </a:xfrm>
          <a:prstGeom prst="rect">
            <a:avLst/>
          </a:prstGeom>
          <a:noFill/>
          <a:ln>
            <a:noFill/>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rgbClr val="000000"/>
              </a:buClr>
              <a:buSzPts val="3600"/>
              <a:buFont typeface="Arial"/>
              <a:buNone/>
            </a:pPr>
            <a:r>
              <a:rPr lang="en" sz="3000" b="1">
                <a:solidFill>
                  <a:srgbClr val="3C78D8"/>
                </a:solidFill>
                <a:latin typeface="Calibri"/>
                <a:ea typeface="Calibri"/>
                <a:cs typeface="Calibri"/>
                <a:sym typeface="Calibri"/>
              </a:rPr>
              <a:t>AI Updates - June 5, 2026</a:t>
            </a:r>
            <a:endParaRPr sz="3000" b="1">
              <a:solidFill>
                <a:srgbClr val="3C78D8"/>
              </a:solidFill>
              <a:latin typeface="Calibri"/>
              <a:ea typeface="Calibri"/>
              <a:cs typeface="Calibri"/>
              <a:sym typeface="Calibri"/>
            </a:endParaRPr>
          </a:p>
        </p:txBody>
      </p:sp>
      <p:sp>
        <p:nvSpPr>
          <p:cNvPr id="65" name="Google Shape;65;p15"/>
          <p:cNvSpPr txBox="1"/>
          <p:nvPr/>
        </p:nvSpPr>
        <p:spPr>
          <a:xfrm>
            <a:off x="4536607" y="4290243"/>
            <a:ext cx="4525800" cy="7572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LLM Interview Questions</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"The AI Layoff Trap" Paper</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Jobs &amp; Layoffs</a:t>
            </a:r>
            <a:endParaRPr sz="1600" b="1">
              <a:solidFill>
                <a:srgbClr val="3C78D8"/>
              </a:solidFill>
              <a:latin typeface="Calibri"/>
              <a:ea typeface="Calibri"/>
              <a:cs typeface="Calibri"/>
              <a:sym typeface="Calibri"/>
            </a:endParaRPr>
          </a:p>
        </p:txBody>
      </p:sp>
      <p:sp>
        <p:nvSpPr>
          <p:cNvPr id="66" name="Google Shape;66;p15"/>
          <p:cNvSpPr txBox="1"/>
          <p:nvPr/>
        </p:nvSpPr>
        <p:spPr>
          <a:xfrm>
            <a:off x="4712924" y="70150"/>
            <a:ext cx="4330200" cy="1015800"/>
          </a:xfrm>
          <a:prstGeom prst="rect">
            <a:avLst/>
          </a:prstGeom>
          <a:noFill/>
          <a:ln>
            <a:noFill/>
          </a:ln>
        </p:spPr>
        <p:txBody>
          <a:bodyPr spcFirstLastPara="1" wrap="square" lIns="45700" tIns="45700" rIns="45700" bIns="45700" anchor="t" anchorCtr="0">
            <a:spAutoFit/>
          </a:bodyPr>
          <a:lstStyle/>
          <a:p>
            <a:pPr marL="0" marR="0" lvl="0" indent="0" algn="l" rtl="0">
              <a:lnSpc>
                <a:spcPct val="100000"/>
              </a:lnSpc>
              <a:spcBef>
                <a:spcPts val="0"/>
              </a:spcBef>
              <a:spcAft>
                <a:spcPts val="0"/>
              </a:spcAft>
              <a:buNone/>
            </a:pPr>
            <a:r>
              <a:rPr lang="en" sz="2000" b="1" i="1">
                <a:solidFill>
                  <a:srgbClr val="FF0000"/>
                </a:solidFill>
                <a:latin typeface="Calibri"/>
                <a:ea typeface="Calibri"/>
                <a:cs typeface="Calibri"/>
                <a:sym typeface="Calibri"/>
              </a:rPr>
              <a:t>This week in AI: </a:t>
            </a:r>
            <a:endParaRPr sz="2000" b="1" i="1">
              <a:solidFill>
                <a:srgbClr val="FF0000"/>
              </a:solidFill>
              <a:latin typeface="Calibri"/>
              <a:ea typeface="Calibri"/>
              <a:cs typeface="Calibri"/>
              <a:sym typeface="Calibri"/>
            </a:endParaRPr>
          </a:p>
          <a:p>
            <a:pPr marL="0" marR="0" lvl="0" indent="0" algn="l" rtl="0">
              <a:lnSpc>
                <a:spcPct val="100000"/>
              </a:lnSpc>
              <a:spcBef>
                <a:spcPts val="0"/>
              </a:spcBef>
              <a:spcAft>
                <a:spcPts val="0"/>
              </a:spcAft>
              <a:buNone/>
            </a:pPr>
            <a:r>
              <a:rPr lang="en" sz="2000" b="1" i="1">
                <a:solidFill>
                  <a:srgbClr val="FF0000"/>
                </a:solidFill>
                <a:latin typeface="Calibri"/>
                <a:ea typeface="Calibri"/>
                <a:cs typeface="Calibri"/>
                <a:sym typeface="Calibri"/>
              </a:rPr>
              <a:t>everything got smarter, cheaper, faster, and somehow more expensive</a:t>
            </a:r>
            <a:endParaRPr sz="2000" b="1" i="1">
              <a:solidFill>
                <a:srgbClr val="FF0000"/>
              </a:solidFill>
              <a:latin typeface="Calibri"/>
              <a:ea typeface="Calibri"/>
              <a:cs typeface="Calibri"/>
              <a:sym typeface="Calibri"/>
            </a:endParaRPr>
          </a:p>
        </p:txBody>
      </p:sp>
      <p:sp>
        <p:nvSpPr>
          <p:cNvPr id="67" name="Google Shape;67;p15"/>
          <p:cNvSpPr txBox="1"/>
          <p:nvPr/>
        </p:nvSpPr>
        <p:spPr>
          <a:xfrm>
            <a:off x="4536607" y="1251981"/>
            <a:ext cx="4525800" cy="2973900"/>
          </a:xfrm>
          <a:prstGeom prst="rect">
            <a:avLst/>
          </a:prstGeom>
          <a:solidFill>
            <a:srgbClr val="D9EAD3"/>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Microsoft Project Solara chip-to-cloud platform</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5 files to personalize your Claude Code agent</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Agent Compiler - Optimized Reusable Paths</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Google DeepMind - Alpha Proof Nexus</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Unabyss - Context Layer</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Cybersecurity recruiting is accelerating</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AI for consistent robotic work</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Microsoft Majorana-2 Quantum Chip</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Anthropic "When AI builds itself" paper</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Ray Kurzweil - AGI by 2029</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Context Chain-of-Thought - Context-CoT</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Huawei Semiconductor "Tau (τ) Scaling"</a:t>
            </a:r>
            <a:endParaRPr sz="1600" b="1">
              <a:solidFill>
                <a:srgbClr val="3C78D8"/>
              </a:solidFill>
              <a:latin typeface="Calibri"/>
              <a:ea typeface="Calibri"/>
              <a:cs typeface="Calibri"/>
              <a:sym typeface="Calibri"/>
            </a:endParaRPr>
          </a:p>
        </p:txBody>
      </p:sp>
      <p:sp>
        <p:nvSpPr>
          <p:cNvPr id="68" name="Google Shape;68;p15"/>
          <p:cNvSpPr txBox="1"/>
          <p:nvPr/>
        </p:nvSpPr>
        <p:spPr>
          <a:xfrm>
            <a:off x="100175" y="3073610"/>
            <a:ext cx="4330200" cy="1988700"/>
          </a:xfrm>
          <a:prstGeom prst="rect">
            <a:avLst/>
          </a:prstGeom>
          <a:solidFill>
            <a:srgbClr val="D0E0E3"/>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Top Vibe Coding Tools</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How to contain Claude across products</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DeepSWE AI coding benchmark by data-curve.ai</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Anthropic's SRT (Sandbox Runtime)</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Microsoft Scout - based on OpenClaw</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SpaceX IPO Target $170B vs $780B Valuation</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JetBrains Mellum2 12B MoE Open-source</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Suno raises $400M at $5.4B valuation</a:t>
            </a:r>
            <a:endParaRPr sz="1600" b="1">
              <a:solidFill>
                <a:srgbClr val="3C78D8"/>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2"/>
        <p:cNvGrpSpPr/>
        <p:nvPr/>
      </p:nvGrpSpPr>
      <p:grpSpPr>
        <a:xfrm>
          <a:off x="0" y="0"/>
          <a:ext cx="0" cy="0"/>
          <a:chOff x="0" y="0"/>
          <a:chExt cx="0" cy="0"/>
        </a:xfrm>
      </p:grpSpPr>
      <p:sp>
        <p:nvSpPr>
          <p:cNvPr id="73" name="Google Shape;73;p16"/>
          <p:cNvSpPr txBox="1"/>
          <p:nvPr/>
        </p:nvSpPr>
        <p:spPr>
          <a:xfrm>
            <a:off x="6736325" y="52350"/>
            <a:ext cx="2356200" cy="341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200" b="0" i="0" u="none" strike="noStrike" cap="none">
                <a:solidFill>
                  <a:schemeClr val="dk1"/>
                </a:solidFill>
                <a:latin typeface="Calibri"/>
                <a:ea typeface="Calibri"/>
                <a:cs typeface="Calibri"/>
                <a:sym typeface="Calibri"/>
              </a:rPr>
              <a:t>Starting Elo rating = 1000</a:t>
            </a: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900" b="0" i="0" u="sng" strike="noStrike" cap="none">
                <a:solidFill>
                  <a:schemeClr val="hlink"/>
                </a:solidFill>
                <a:latin typeface="Calibri"/>
                <a:ea typeface="Calibri"/>
                <a:cs typeface="Calibri"/>
                <a:sym typeface="Calibri"/>
                <a:hlinkClick r:id="rId3"/>
              </a:rPr>
              <a:t>https://en.wikipedia.org/wiki/Elo_rating_system</a:t>
            </a:r>
            <a:r>
              <a:rPr lang="en" sz="900" b="0" i="0" u="none" strike="noStrike" cap="none">
                <a:solidFill>
                  <a:schemeClr val="dk1"/>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4" name="Google Shape;74;p16"/>
          <p:cNvSpPr txBox="1"/>
          <p:nvPr/>
        </p:nvSpPr>
        <p:spPr>
          <a:xfrm>
            <a:off x="38150" y="2125"/>
            <a:ext cx="2599800" cy="2955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1800" b="1" i="0" u="none" strike="noStrike" cap="none">
                <a:solidFill>
                  <a:schemeClr val="dk1"/>
                </a:solidFill>
                <a:latin typeface="Calibri"/>
                <a:ea typeface="Calibri"/>
                <a:cs typeface="Calibri"/>
                <a:sym typeface="Calibri"/>
              </a:rPr>
              <a:t>"LM Arena" Leaderboard</a:t>
            </a:r>
            <a:endParaRPr sz="1800" b="1" i="0" u="none" strike="noStrike" cap="none">
              <a:solidFill>
                <a:srgbClr val="000000"/>
              </a:solidFill>
              <a:latin typeface="Calibri"/>
              <a:ea typeface="Calibri"/>
              <a:cs typeface="Calibri"/>
              <a:sym typeface="Calibri"/>
            </a:endParaRPr>
          </a:p>
        </p:txBody>
      </p:sp>
      <p:sp>
        <p:nvSpPr>
          <p:cNvPr id="75" name="Google Shape;75;p16"/>
          <p:cNvSpPr txBox="1"/>
          <p:nvPr/>
        </p:nvSpPr>
        <p:spPr>
          <a:xfrm>
            <a:off x="52418" y="476072"/>
            <a:ext cx="25998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English - </a:t>
            </a:r>
            <a:r>
              <a:rPr lang="en" sz="900" b="1" u="sng">
                <a:solidFill>
                  <a:schemeClr val="hlink"/>
                </a:solidFill>
                <a:latin typeface="Calibri"/>
                <a:ea typeface="Calibri"/>
                <a:cs typeface="Calibri"/>
                <a:sym typeface="Calibri"/>
                <a:hlinkClick r:id="rId4"/>
              </a:rPr>
              <a:t>https://lmarena.ai/leaderboard/text</a:t>
            </a:r>
            <a:r>
              <a:rPr lang="en" sz="900" b="1">
                <a:solidFill>
                  <a:srgbClr val="FF0000"/>
                </a:solidFill>
                <a:latin typeface="Calibri"/>
                <a:ea typeface="Calibri"/>
                <a:cs typeface="Calibri"/>
                <a:sym typeface="Calibri"/>
              </a:rPr>
              <a:t> </a:t>
            </a:r>
            <a:endParaRPr sz="900" b="1">
              <a:solidFill>
                <a:srgbClr val="FF0000"/>
              </a:solidFill>
              <a:latin typeface="Calibri"/>
              <a:ea typeface="Calibri"/>
              <a:cs typeface="Calibri"/>
              <a:sym typeface="Calibri"/>
            </a:endParaRPr>
          </a:p>
        </p:txBody>
      </p:sp>
      <p:sp>
        <p:nvSpPr>
          <p:cNvPr id="76" name="Google Shape;76;p16"/>
          <p:cNvSpPr txBox="1"/>
          <p:nvPr/>
        </p:nvSpPr>
        <p:spPr>
          <a:xfrm>
            <a:off x="2726905" y="476078"/>
            <a:ext cx="28395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Coding - </a:t>
            </a:r>
            <a:r>
              <a:rPr lang="en" sz="900" b="1" u="sng">
                <a:solidFill>
                  <a:schemeClr val="hlink"/>
                </a:solidFill>
                <a:latin typeface="Calibri"/>
                <a:ea typeface="Calibri"/>
                <a:cs typeface="Calibri"/>
                <a:sym typeface="Calibri"/>
                <a:hlinkClick r:id="rId5"/>
              </a:rPr>
              <a:t>https://lmarena.ai/leaderboard/text/coding</a:t>
            </a:r>
            <a:r>
              <a:rPr lang="en" sz="900" b="1">
                <a:solidFill>
                  <a:srgbClr val="FF0000"/>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7" name="Google Shape;77;p16"/>
          <p:cNvSpPr txBox="1"/>
          <p:nvPr/>
        </p:nvSpPr>
        <p:spPr>
          <a:xfrm>
            <a:off x="6183999" y="1979646"/>
            <a:ext cx="2908500" cy="3096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4"/>
              </a:rPr>
              <a:t>https://lmarena.ai/leaderboard/text</a:t>
            </a:r>
            <a:r>
              <a:rPr lang="en" sz="800">
                <a:latin typeface="Calibri"/>
                <a:ea typeface="Calibri"/>
                <a:cs typeface="Calibri"/>
                <a:sym typeface="Calibri"/>
              </a:rPr>
              <a:t> </a:t>
            </a:r>
            <a:endParaRPr sz="800">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latin typeface="Calibri"/>
                <a:ea typeface="Calibri"/>
                <a:cs typeface="Calibri"/>
                <a:sym typeface="Calibri"/>
              </a:rPr>
              <a:t>Design Arena -    </a:t>
            </a:r>
            <a:br>
              <a:rPr lang="en" sz="800">
                <a:latin typeface="Calibri"/>
                <a:ea typeface="Calibri"/>
                <a:cs typeface="Calibri"/>
                <a:sym typeface="Calibri"/>
              </a:rPr>
            </a:br>
            <a:r>
              <a:rPr lang="en" sz="800" u="sng">
                <a:solidFill>
                  <a:schemeClr val="hlink"/>
                </a:solidFill>
                <a:latin typeface="Calibri"/>
                <a:ea typeface="Calibri"/>
                <a:cs typeface="Calibri"/>
                <a:sym typeface="Calibri"/>
                <a:hlinkClick r:id="rId6"/>
              </a:rPr>
              <a:t>https://www.designarena.ai</a:t>
            </a:r>
            <a:r>
              <a:rPr lang="en" sz="800">
                <a:latin typeface="Calibri"/>
                <a:ea typeface="Calibri"/>
                <a:cs typeface="Calibri"/>
                <a:sym typeface="Calibri"/>
              </a:rPr>
              <a:t> </a:t>
            </a:r>
            <a:endParaRPr sz="800">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7"/>
              </a:rPr>
              <a:t>https://openlm.ai/chatbot-arena/</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8"/>
              </a:rPr>
              <a:t>https://beta.lmarena.ai</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Web Leaderboard -  1T params</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9"/>
              </a:rPr>
              <a:t>https://web.lmarena.ai/leaderboard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@LlmStats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0"/>
              </a:rPr>
              <a:t>https://llmworld.net/llm_leaderboards/</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StackAI</a:t>
            </a:r>
            <a:r>
              <a:rPr lang="en" sz="800">
                <a:solidFill>
                  <a:schemeClr val="dk1"/>
                </a:solidFill>
                <a:latin typeface="Calibri"/>
                <a:ea typeface="Calibri"/>
                <a:cs typeface="Calibri"/>
                <a:sym typeface="Calibri"/>
              </a:rPr>
              <a:t> - </a:t>
            </a:r>
            <a:br>
              <a:rPr lang="en" sz="800">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1"/>
              </a:rPr>
              <a:t>https://www.stack-ai.com/llm-leaderboard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Artificial Analysis</a:t>
            </a:r>
            <a:r>
              <a:rPr lang="en" sz="800">
                <a:solidFill>
                  <a:schemeClr val="dk1"/>
                </a:solidFill>
                <a:latin typeface="Calibri"/>
                <a:ea typeface="Calibri"/>
                <a:cs typeface="Calibri"/>
                <a:sym typeface="Calibri"/>
              </a:rPr>
              <a:t> - </a:t>
            </a:r>
            <a:br>
              <a:rPr lang="en" sz="800">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2"/>
              </a:rPr>
              <a:t>https://artificialanalysis.ai/leaderboards/models</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Open LLM Leaderboard - by Hugging Face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3"/>
              </a:rPr>
              <a:t>https://huggingface.co/open-llm-leaderboard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Vellum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4"/>
              </a:rPr>
              <a:t>https://www.vellum.ai/llm-leaderboard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AI Benchmarking Hub - </a:t>
            </a:r>
            <a:br>
              <a:rPr lang="en" sz="800">
                <a:solidFill>
                  <a:schemeClr val="dk1"/>
                </a:solidFill>
                <a:latin typeface="Calibri"/>
                <a:ea typeface="Calibri"/>
                <a:cs typeface="Calibri"/>
                <a:sym typeface="Calibri"/>
              </a:rPr>
            </a:br>
            <a:r>
              <a:rPr lang="en" sz="800" u="sng">
                <a:solidFill>
                  <a:schemeClr val="hlink"/>
                </a:solidFill>
                <a:latin typeface="Calibri"/>
                <a:ea typeface="Calibri"/>
                <a:cs typeface="Calibri"/>
                <a:sym typeface="Calibri"/>
                <a:hlinkClick r:id="rId15"/>
              </a:rPr>
              <a:t>https://epoch.ai/data/ai-benchmarking-dashboard</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Grok 4 Benchmarks - </a:t>
            </a:r>
            <a:br>
              <a:rPr lang="en" sz="800">
                <a:solidFill>
                  <a:schemeClr val="dk1"/>
                </a:solidFill>
                <a:latin typeface="Calibri"/>
                <a:ea typeface="Calibri"/>
                <a:cs typeface="Calibri"/>
                <a:sym typeface="Calibri"/>
              </a:rPr>
            </a:br>
            <a:r>
              <a:rPr lang="en" sz="800" u="sng">
                <a:solidFill>
                  <a:schemeClr val="hlink"/>
                </a:solidFill>
                <a:latin typeface="Calibri"/>
                <a:ea typeface="Calibri"/>
                <a:cs typeface="Calibri"/>
                <a:sym typeface="Calibri"/>
                <a:hlinkClick r:id="rId16"/>
              </a:rPr>
              <a:t>https://artificialanalysis.ai/models/grok-4</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Image arena (alibaba) - </a:t>
            </a:r>
            <a:br>
              <a:rPr lang="en" sz="800">
                <a:solidFill>
                  <a:schemeClr val="dk1"/>
                </a:solidFill>
                <a:latin typeface="Calibri"/>
                <a:ea typeface="Calibri"/>
                <a:cs typeface="Calibri"/>
                <a:sym typeface="Calibri"/>
              </a:rPr>
            </a:br>
            <a:r>
              <a:rPr lang="en" sz="800" u="sng">
                <a:solidFill>
                  <a:schemeClr val="hlink"/>
                </a:solidFill>
                <a:latin typeface="Calibri"/>
                <a:ea typeface="Calibri"/>
                <a:cs typeface="Calibri"/>
                <a:sym typeface="Calibri"/>
                <a:hlinkClick r:id="rId17"/>
              </a:rPr>
              <a:t>http://aiarena.alibaba-inc.com/corpora/arena/leaderboard?arenaType=T2I</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image arena - </a:t>
            </a:r>
            <a:r>
              <a:rPr lang="en" sz="800" u="sng">
                <a:solidFill>
                  <a:schemeClr val="hlink"/>
                </a:solidFill>
                <a:latin typeface="Calibri"/>
                <a:ea typeface="Calibri"/>
                <a:cs typeface="Calibri"/>
                <a:sym typeface="Calibri"/>
                <a:hlinkClick r:id="rId18"/>
              </a:rPr>
              <a:t>https://lmarena.ai/leaderboard/text-to-image</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p:txBody>
      </p:sp>
      <p:sp>
        <p:nvSpPr>
          <p:cNvPr id="78" name="Google Shape;78;p16"/>
          <p:cNvSpPr txBox="1"/>
          <p:nvPr/>
        </p:nvSpPr>
        <p:spPr>
          <a:xfrm>
            <a:off x="3437903" y="63625"/>
            <a:ext cx="1408200" cy="17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000">
                <a:latin typeface="Calibri"/>
                <a:ea typeface="Calibri"/>
                <a:cs typeface="Calibri"/>
                <a:sym typeface="Calibri"/>
              </a:rPr>
              <a:t>Data for June 4</a:t>
            </a:r>
            <a:endParaRPr sz="1000">
              <a:latin typeface="Calibri"/>
              <a:ea typeface="Calibri"/>
              <a:cs typeface="Calibri"/>
              <a:sym typeface="Calibri"/>
            </a:endParaRPr>
          </a:p>
        </p:txBody>
      </p:sp>
      <p:graphicFrame>
        <p:nvGraphicFramePr>
          <p:cNvPr id="79" name="Google Shape;79;p16"/>
          <p:cNvGraphicFramePr/>
          <p:nvPr/>
        </p:nvGraphicFramePr>
        <p:xfrm>
          <a:off x="5742420" y="430065"/>
          <a:ext cx="3000000" cy="3000000"/>
        </p:xfrm>
        <a:graphic>
          <a:graphicData uri="http://schemas.openxmlformats.org/drawingml/2006/table">
            <a:tbl>
              <a:tblPr>
                <a:noFill/>
                <a:tableStyleId>{B28CE963-2728-49E8-BE2C-4A07F5D4A988}</a:tableStyleId>
              </a:tblPr>
              <a:tblGrid>
                <a:gridCol w="219050">
                  <a:extLst>
                    <a:ext uri="{9D8B030D-6E8A-4147-A177-3AD203B41FA5}">
                      <a16:colId xmlns:a16="http://schemas.microsoft.com/office/drawing/2014/main" val="20000"/>
                    </a:ext>
                  </a:extLst>
                </a:gridCol>
                <a:gridCol w="585450">
                  <a:extLst>
                    <a:ext uri="{9D8B030D-6E8A-4147-A177-3AD203B41FA5}">
                      <a16:colId xmlns:a16="http://schemas.microsoft.com/office/drawing/2014/main" val="20001"/>
                    </a:ext>
                  </a:extLst>
                </a:gridCol>
              </a:tblGrid>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solidFill>
                      <a:srgbClr val="4472C4"/>
                    </a:solidFill>
                  </a:tcPr>
                </a:tc>
                <a:tc>
                  <a:txBody>
                    <a:bodyPr/>
                    <a:lstStyle/>
                    <a:p>
                      <a:pPr marL="0" lvl="0" indent="0" algn="l" rtl="0">
                        <a:spcBef>
                          <a:spcPts val="0"/>
                        </a:spcBef>
                        <a:spcAft>
                          <a:spcPts val="0"/>
                        </a:spcAft>
                        <a:buNone/>
                      </a:pPr>
                      <a:r>
                        <a:rPr lang="en" sz="800">
                          <a:latin typeface="Calibri"/>
                          <a:ea typeface="Calibri"/>
                          <a:cs typeface="Calibri"/>
                          <a:sym typeface="Calibri"/>
                        </a:rPr>
                        <a:t>Claude</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0"/>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solidFill>
                      <a:srgbClr val="FF0000"/>
                    </a:solidFill>
                  </a:tcPr>
                </a:tc>
                <a:tc>
                  <a:txBody>
                    <a:bodyPr/>
                    <a:lstStyle/>
                    <a:p>
                      <a:pPr marL="0" lvl="0" indent="0" algn="l" rtl="0">
                        <a:spcBef>
                          <a:spcPts val="0"/>
                        </a:spcBef>
                        <a:spcAft>
                          <a:spcPts val="0"/>
                        </a:spcAft>
                        <a:buNone/>
                      </a:pPr>
                      <a:r>
                        <a:rPr lang="en" sz="800">
                          <a:latin typeface="Calibri"/>
                          <a:ea typeface="Calibri"/>
                          <a:cs typeface="Calibri"/>
                          <a:sym typeface="Calibri"/>
                        </a:rPr>
                        <a:t>Gemini</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1"/>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solidFill>
                      <a:srgbClr val="FFD700"/>
                    </a:solidFill>
                  </a:tcPr>
                </a:tc>
                <a:tc>
                  <a:txBody>
                    <a:bodyPr/>
                    <a:lstStyle/>
                    <a:p>
                      <a:pPr marL="0" lvl="0" indent="0" algn="l" rtl="0">
                        <a:spcBef>
                          <a:spcPts val="0"/>
                        </a:spcBef>
                        <a:spcAft>
                          <a:spcPts val="0"/>
                        </a:spcAft>
                        <a:buNone/>
                      </a:pPr>
                      <a:r>
                        <a:rPr lang="en" sz="800">
                          <a:latin typeface="Calibri"/>
                          <a:ea typeface="Calibri"/>
                          <a:cs typeface="Calibri"/>
                          <a:sym typeface="Calibri"/>
                        </a:rPr>
                        <a:t>OpenAI</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2"/>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solidFill>
                      <a:srgbClr val="00B050"/>
                    </a:solidFill>
                  </a:tcPr>
                </a:tc>
                <a:tc>
                  <a:txBody>
                    <a:bodyPr/>
                    <a:lstStyle/>
                    <a:p>
                      <a:pPr marL="0" lvl="0" indent="0" algn="l" rtl="0">
                        <a:spcBef>
                          <a:spcPts val="0"/>
                        </a:spcBef>
                        <a:spcAft>
                          <a:spcPts val="0"/>
                        </a:spcAft>
                        <a:buNone/>
                      </a:pPr>
                      <a:r>
                        <a:rPr lang="en" sz="800">
                          <a:latin typeface="Calibri"/>
                          <a:ea typeface="Calibri"/>
                          <a:cs typeface="Calibri"/>
                          <a:sym typeface="Calibri"/>
                        </a:rPr>
                        <a:t>Open Source</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3"/>
                  </a:ext>
                </a:extLst>
              </a:tr>
            </a:tbl>
          </a:graphicData>
        </a:graphic>
      </p:graphicFrame>
      <p:sp>
        <p:nvSpPr>
          <p:cNvPr id="80" name="Google Shape;80;p16"/>
          <p:cNvSpPr txBox="1"/>
          <p:nvPr/>
        </p:nvSpPr>
        <p:spPr>
          <a:xfrm>
            <a:off x="6978275" y="490527"/>
            <a:ext cx="2114400" cy="1403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SzPts val="1000"/>
              <a:buFont typeface="Calibri"/>
              <a:buChar char="●"/>
            </a:pPr>
            <a:r>
              <a:rPr lang="en" sz="1000" u="sng">
                <a:solidFill>
                  <a:schemeClr val="hlink"/>
                </a:solidFill>
                <a:highlight>
                  <a:srgbClr val="D9EAD3"/>
                </a:highlight>
                <a:latin typeface="Calibri"/>
                <a:ea typeface="Calibri"/>
                <a:cs typeface="Calibri"/>
                <a:sym typeface="Calibri"/>
                <a:hlinkClick r:id="rId19"/>
              </a:rPr>
              <a:t>Z.ai</a:t>
            </a:r>
            <a:r>
              <a:rPr lang="en" sz="1000">
                <a:highlight>
                  <a:srgbClr val="D9EAD3"/>
                </a:highlight>
                <a:latin typeface="Calibri"/>
                <a:ea typeface="Calibri"/>
                <a:cs typeface="Calibri"/>
                <a:sym typeface="Calibri"/>
              </a:rPr>
              <a:t> GLM-5.1 - 744B </a:t>
            </a:r>
            <a:endParaRPr sz="1000">
              <a:highlight>
                <a:srgbClr val="D9EAD3"/>
              </a:highlight>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highlight>
                  <a:srgbClr val="FCE5CD"/>
                </a:highlight>
                <a:latin typeface="Calibri"/>
                <a:ea typeface="Calibri"/>
                <a:cs typeface="Calibri"/>
                <a:sym typeface="Calibri"/>
              </a:rPr>
              <a:t>Qwen3.7-max-preview - 745B</a:t>
            </a:r>
            <a:endParaRPr sz="1000">
              <a:highlight>
                <a:srgbClr val="FCE5CD"/>
              </a:highlight>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Baidu Ernie-5.1 - 800B</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highlight>
                  <a:srgbClr val="D9EAD3"/>
                </a:highlight>
                <a:latin typeface="Calibri"/>
                <a:ea typeface="Calibri"/>
                <a:cs typeface="Calibri"/>
                <a:sym typeface="Calibri"/>
              </a:rPr>
              <a:t>Deepseek-v4 - 1.6T</a:t>
            </a:r>
            <a:endParaRPr sz="1000">
              <a:highlight>
                <a:srgbClr val="D9EAD3"/>
              </a:highlight>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highlight>
                  <a:srgbClr val="D9EAD3"/>
                </a:highlight>
                <a:latin typeface="Calibri"/>
                <a:ea typeface="Calibri"/>
                <a:cs typeface="Calibri"/>
                <a:sym typeface="Calibri"/>
              </a:rPr>
              <a:t>Kimi-k2.6 - 1T</a:t>
            </a:r>
            <a:endParaRPr sz="1000">
              <a:highlight>
                <a:srgbClr val="D9EAD3"/>
              </a:highlight>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Xiaomi MiMo-V2-Pro - 1T+</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Meta muse-spark  30B</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solidFill>
                  <a:schemeClr val="dk1"/>
                </a:solidFill>
                <a:latin typeface="Calibri"/>
                <a:ea typeface="Calibri"/>
                <a:cs typeface="Calibri"/>
                <a:sym typeface="Calibri"/>
              </a:rPr>
              <a:t>ByteDance </a:t>
            </a:r>
            <a:r>
              <a:rPr lang="en" sz="1000">
                <a:latin typeface="Calibri"/>
                <a:ea typeface="Calibri"/>
                <a:cs typeface="Calibri"/>
                <a:sym typeface="Calibri"/>
              </a:rPr>
              <a:t>dola-seed-2.0-pro 400B</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highlight>
                  <a:srgbClr val="D9EAD3"/>
                </a:highlight>
                <a:latin typeface="Calibri"/>
                <a:ea typeface="Calibri"/>
                <a:cs typeface="Calibri"/>
                <a:sym typeface="Calibri"/>
              </a:rPr>
              <a:t>Minimax M3  -  456B</a:t>
            </a:r>
            <a:endParaRPr sz="1000">
              <a:highlight>
                <a:srgbClr val="D9EAD3"/>
              </a:highlight>
              <a:latin typeface="Calibri"/>
              <a:ea typeface="Calibri"/>
              <a:cs typeface="Calibri"/>
              <a:sym typeface="Calibri"/>
            </a:endParaRPr>
          </a:p>
        </p:txBody>
      </p:sp>
      <p:graphicFrame>
        <p:nvGraphicFramePr>
          <p:cNvPr id="81" name="Google Shape;81;p16"/>
          <p:cNvGraphicFramePr/>
          <p:nvPr/>
        </p:nvGraphicFramePr>
        <p:xfrm>
          <a:off x="2956159" y="766251"/>
          <a:ext cx="3000000" cy="3000000"/>
        </p:xfrm>
        <a:graphic>
          <a:graphicData uri="http://schemas.openxmlformats.org/drawingml/2006/table">
            <a:tbl>
              <a:tblPr>
                <a:noFill/>
                <a:tableStyleId>{B28CE963-2728-49E8-BE2C-4A07F5D4A988}</a:tableStyleId>
              </a:tblPr>
              <a:tblGrid>
                <a:gridCol w="276225">
                  <a:extLst>
                    <a:ext uri="{9D8B030D-6E8A-4147-A177-3AD203B41FA5}">
                      <a16:colId xmlns:a16="http://schemas.microsoft.com/office/drawing/2014/main" val="20000"/>
                    </a:ext>
                  </a:extLst>
                </a:gridCol>
                <a:gridCol w="1800225">
                  <a:extLst>
                    <a:ext uri="{9D8B030D-6E8A-4147-A177-3AD203B41FA5}">
                      <a16:colId xmlns:a16="http://schemas.microsoft.com/office/drawing/2014/main" val="20001"/>
                    </a:ext>
                  </a:extLst>
                </a:gridCol>
                <a:gridCol w="295275">
                  <a:extLst>
                    <a:ext uri="{9D8B030D-6E8A-4147-A177-3AD203B41FA5}">
                      <a16:colId xmlns:a16="http://schemas.microsoft.com/office/drawing/2014/main" val="20002"/>
                    </a:ext>
                  </a:extLst>
                </a:gridCol>
              </a:tblGrid>
              <a:tr h="133350">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Code</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Model</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Score</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0"/>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0"/>
                        </a:rPr>
                        <a:t>claude-opus-4-6-thinking</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1553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1"/>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1"/>
                        </a:rPr>
                        <a:t>claude-opus-4-7-thinking</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1552</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2"/>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1"/>
                        </a:rPr>
                        <a:t>claude-opus-4-7</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1549</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3"/>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0"/>
                        </a:rPr>
                        <a:t>claude-opus-4-6</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1548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4"/>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2"/>
                        </a:rPr>
                        <a:t>claude-opus-4-5-20251101-thinking-32k</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5"/>
                  </a:ext>
                </a:extLst>
              </a:tr>
              <a:tr h="133350">
                <a:tc>
                  <a:txBody>
                    <a:bodyPr/>
                    <a:lstStyle/>
                    <a:p>
                      <a:pPr marL="0" lvl="0" indent="0" algn="l" rtl="0">
                        <a:lnSpc>
                          <a:spcPct val="115000"/>
                        </a:lnSpc>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3"/>
                        </a:rPr>
                        <a:t>glm-5.1</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EAD3"/>
                    </a:solidFill>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6"/>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4"/>
                        </a:rPr>
                        <a:t>muse-spark</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EAD1DC"/>
                    </a:solidFill>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7"/>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5"/>
                        </a:rPr>
                        <a:t>gemini-3.1-pro-preview</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1526</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8"/>
                  </a:ext>
                </a:extLst>
              </a:tr>
              <a:tr h="133350">
                <a:tc>
                  <a:txBody>
                    <a:bodyPr/>
                    <a:lstStyle/>
                    <a:p>
                      <a:pPr marL="0" lvl="0" indent="0" algn="l" rtl="0">
                        <a:lnSpc>
                          <a:spcPct val="115000"/>
                        </a:lnSpc>
                        <a:spcBef>
                          <a:spcPts val="0"/>
                        </a:spcBef>
                        <a:spcAft>
                          <a:spcPts val="0"/>
                        </a:spcAft>
                        <a:buNone/>
                      </a:pP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6"/>
                        </a:rPr>
                        <a:t>qwen3.7-max-preview</a:t>
                      </a:r>
                      <a:endParaRPr sz="800" u="sng">
                        <a:solidFill>
                          <a:srgbClr val="FCE5CD"/>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CE5CD"/>
                    </a:solidFill>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1525</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9"/>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7"/>
                        </a:rPr>
                        <a:t>claude-sonnet-4-6</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1524</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0"/>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2"/>
                        </a:rPr>
                        <a:t>claude-opus-4-5-20251101</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1"/>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8"/>
                        </a:rPr>
                        <a:t>gpt-5.5-high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2"/>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9"/>
                        </a:rPr>
                        <a:t>gpt-5.4-high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3"/>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0"/>
                        </a:rPr>
                        <a:t>claude-sonnet-4-5-20250929-thinking-32k</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4"/>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1"/>
                        </a:rPr>
                        <a:t>gemini-3-pro</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1519</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5"/>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2"/>
                        </a:rPr>
                        <a:t>gpt-5.2-chat-latest-20260210</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1517</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6"/>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3"/>
                        </a:rPr>
                        <a:t>grok-4.20-multi-agent-beta-0309</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1516</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7"/>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4"/>
                        </a:rPr>
                        <a:t>ernie-5.1</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1516</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8"/>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5"/>
                        </a:rPr>
                        <a:t>mimo-v2.5-pro</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1514</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9"/>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0"/>
                        </a:rPr>
                        <a:t>claude-sonnet-4-5-20250929</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1514</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0"/>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6"/>
                        </a:rPr>
                        <a:t>claude-opus-4-1-20250805-thinking-16k</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1"/>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7"/>
                        </a:rPr>
                        <a:t>gpt-5.5-instant</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1512</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2"/>
                  </a:ext>
                </a:extLst>
              </a:tr>
              <a:tr h="133350">
                <a:tc>
                  <a:txBody>
                    <a:bodyPr/>
                    <a:lstStyle/>
                    <a:p>
                      <a:pPr marL="0" lvl="0" indent="0" algn="l" rtl="0">
                        <a:lnSpc>
                          <a:spcPct val="115000"/>
                        </a:lnSpc>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8"/>
                        </a:rPr>
                        <a:t>qwen3.5-max-preview</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1512</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3"/>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9"/>
                        </a:rPr>
                        <a:t>grok-4.20-beta-0309-reasoning</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1512</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4"/>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9"/>
                        </a:rPr>
                        <a:t>gpt-5.4</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1512</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5"/>
                  </a:ext>
                </a:extLst>
              </a:tr>
            </a:tbl>
          </a:graphicData>
        </a:graphic>
      </p:graphicFrame>
      <p:graphicFrame>
        <p:nvGraphicFramePr>
          <p:cNvPr id="82" name="Google Shape;82;p16"/>
          <p:cNvGraphicFramePr/>
          <p:nvPr/>
        </p:nvGraphicFramePr>
        <p:xfrm>
          <a:off x="200696" y="775818"/>
          <a:ext cx="3000000" cy="3000000"/>
        </p:xfrm>
        <a:graphic>
          <a:graphicData uri="http://schemas.openxmlformats.org/drawingml/2006/table">
            <a:tbl>
              <a:tblPr>
                <a:noFill/>
                <a:tableStyleId>{B28CE963-2728-49E8-BE2C-4A07F5D4A988}</a:tableStyleId>
              </a:tblPr>
              <a:tblGrid>
                <a:gridCol w="276225">
                  <a:extLst>
                    <a:ext uri="{9D8B030D-6E8A-4147-A177-3AD203B41FA5}">
                      <a16:colId xmlns:a16="http://schemas.microsoft.com/office/drawing/2014/main" val="20000"/>
                    </a:ext>
                  </a:extLst>
                </a:gridCol>
                <a:gridCol w="1724025">
                  <a:extLst>
                    <a:ext uri="{9D8B030D-6E8A-4147-A177-3AD203B41FA5}">
                      <a16:colId xmlns:a16="http://schemas.microsoft.com/office/drawing/2014/main" val="20001"/>
                    </a:ext>
                  </a:extLst>
                </a:gridCol>
                <a:gridCol w="295275">
                  <a:extLst>
                    <a:ext uri="{9D8B030D-6E8A-4147-A177-3AD203B41FA5}">
                      <a16:colId xmlns:a16="http://schemas.microsoft.com/office/drawing/2014/main" val="20002"/>
                    </a:ext>
                  </a:extLst>
                </a:gridCol>
              </a:tblGrid>
              <a:tr h="133350">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Code</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Model</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Score</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0"/>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0"/>
                        </a:rPr>
                        <a:t>claude-opus-4-6-thinking</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1"/>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1"/>
                        </a:rPr>
                        <a:t>claude-opus-4-7-thinking</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2"/>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0"/>
                        </a:rPr>
                        <a:t>claude-opus-4-6</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3"/>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1"/>
                        </a:rPr>
                        <a:t>claude-opus-4-7</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4"/>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4"/>
                        </a:rPr>
                        <a:t>muse-spark</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EAD1DC"/>
                    </a:solidFill>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1489</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5"/>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5"/>
                        </a:rPr>
                        <a:t>gemini-3.1-pro-preview</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6"/>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1"/>
                        </a:rPr>
                        <a:t>gemini-3-pro</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1486</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7"/>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8"/>
                        </a:rPr>
                        <a:t>gpt-5.5-high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1482</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8"/>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9"/>
                        </a:rPr>
                        <a:t>gpt-5.4-high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1479</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9"/>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40"/>
                        </a:rPr>
                        <a:t>gemini-3.5-flash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1477</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0"/>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2"/>
                        </a:rPr>
                        <a:t>gpt-5.2-chat-latest-20260210</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1476</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1"/>
                  </a:ext>
                </a:extLst>
              </a:tr>
              <a:tr h="133350">
                <a:tc>
                  <a:txBody>
                    <a:bodyPr/>
                    <a:lstStyle/>
                    <a:p>
                      <a:pPr marL="0" lvl="0" indent="0" algn="l" rtl="0">
                        <a:lnSpc>
                          <a:spcPct val="115000"/>
                        </a:lnSpc>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3"/>
                        </a:rPr>
                        <a:t>glm-5.1</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EAD3"/>
                    </a:solidFill>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1475</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2"/>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8"/>
                        </a:rPr>
                        <a:t>gpt-5.5</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1474</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3"/>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41"/>
                        </a:rPr>
                        <a:t>grok-4.20-beta1</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1474</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4"/>
                  </a:ext>
                </a:extLst>
              </a:tr>
              <a:tr h="133350">
                <a:tc>
                  <a:txBody>
                    <a:bodyPr/>
                    <a:lstStyle/>
                    <a:p>
                      <a:pPr marL="0" lvl="0" indent="0" algn="l" rtl="0">
                        <a:lnSpc>
                          <a:spcPct val="115000"/>
                        </a:lnSpc>
                        <a:spcBef>
                          <a:spcPts val="0"/>
                        </a:spcBef>
                        <a:spcAft>
                          <a:spcPts val="0"/>
                        </a:spcAft>
                        <a:buNone/>
                      </a:pP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6"/>
                        </a:rPr>
                        <a:t>qwen3.7-max-preview</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CE5CD"/>
                    </a:solidFill>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1474</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5"/>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42"/>
                        </a:rPr>
                        <a:t>gemini-3-flash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6"/>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9"/>
                        </a:rPr>
                        <a:t>grok-4.20-beta-0309-reasoning</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7"/>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2"/>
                        </a:rPr>
                        <a:t>claude-opus-4-5-20251101-thinking-32k</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8"/>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3"/>
                        </a:rPr>
                        <a:t>grok-4.20-multi-agent-beta-0309</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1472</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9"/>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7"/>
                        </a:rPr>
                        <a:t>gpt-5.5-instant</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0"/>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7"/>
                        </a:rPr>
                        <a:t>claude-sonnet-4-6</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1"/>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4"/>
                        </a:rPr>
                        <a:t>ernie-5.1</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2"/>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2"/>
                        </a:rPr>
                        <a:t>claude-opus-4-5-20251101</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1469</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3"/>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9"/>
                        </a:rPr>
                        <a:t>gpt-5.4</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1467</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4"/>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43"/>
                        </a:rPr>
                        <a:t>grok-4.1-thinking</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1466</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5"/>
                  </a:ext>
                </a:extLst>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6"/>
        <p:cNvGrpSpPr/>
        <p:nvPr/>
      </p:nvGrpSpPr>
      <p:grpSpPr>
        <a:xfrm>
          <a:off x="0" y="0"/>
          <a:ext cx="0" cy="0"/>
          <a:chOff x="0" y="0"/>
          <a:chExt cx="0" cy="0"/>
        </a:xfrm>
      </p:grpSpPr>
      <p:sp>
        <p:nvSpPr>
          <p:cNvPr id="87" name="Google Shape;87;p17"/>
          <p:cNvSpPr txBox="1"/>
          <p:nvPr/>
        </p:nvSpPr>
        <p:spPr>
          <a:xfrm>
            <a:off x="81775" y="67675"/>
            <a:ext cx="2527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88" name="Google Shape;88;p17"/>
          <p:cNvSpPr txBox="1"/>
          <p:nvPr/>
        </p:nvSpPr>
        <p:spPr>
          <a:xfrm>
            <a:off x="81775" y="472025"/>
            <a:ext cx="4953600" cy="2419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MiniMax M3 - Multimodal - text, image, and video inputs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1 Mln token context window</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For long-horizon agentic workflows, coding, and tool use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https://openrouter.ai/minimax/minimax-m3/providers</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MiniMax Sparse Attention (MSA) - a GQA-based mechanism that performs block-level KV selection instead of full attention, delivering 9.7× faster prefill and 15.6× faster decoding at 1M tokens compared to its M2 predecessor, at roughly 1/20 the compute cost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model is open-source under a permissive, enterprise-friendly license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Outperforms GPT-5.5 and Gemini 3.1 Pro on some benchmarks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Promotional pricing $0.30 / $1.20 per 1M in/out tokens (rising to $0.60/$2.40 at standard rates).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ollama launch openclaw --model minimax-m3:cloud </a:t>
            </a:r>
            <a:endParaRPr sz="1200" b="1">
              <a:solidFill>
                <a:srgbClr val="3C78D8"/>
              </a:solidFill>
              <a:latin typeface="Calibri"/>
              <a:ea typeface="Calibri"/>
              <a:cs typeface="Calibri"/>
              <a:sym typeface="Calibri"/>
            </a:endParaRPr>
          </a:p>
        </p:txBody>
      </p:sp>
      <p:pic>
        <p:nvPicPr>
          <p:cNvPr id="89" name="Google Shape;89;p17"/>
          <p:cNvPicPr preferRelativeResize="0"/>
          <p:nvPr/>
        </p:nvPicPr>
        <p:blipFill>
          <a:blip r:embed="rId4">
            <a:alphaModFix/>
          </a:blip>
          <a:stretch>
            <a:fillRect/>
          </a:stretch>
        </p:blipFill>
        <p:spPr>
          <a:xfrm>
            <a:off x="5353175" y="957875"/>
            <a:ext cx="3162300" cy="1447800"/>
          </a:xfrm>
          <a:prstGeom prst="rect">
            <a:avLst/>
          </a:prstGeom>
          <a:noFill/>
          <a:ln w="9525" cap="flat" cmpd="sng">
            <a:solidFill>
              <a:srgbClr val="FF0000"/>
            </a:solidFill>
            <a:prstDash val="solid"/>
            <a:round/>
            <a:headEnd type="none" w="sm" len="sm"/>
            <a:tailEnd type="none" w="sm" len="sm"/>
          </a:ln>
        </p:spPr>
      </p:pic>
      <p:sp>
        <p:nvSpPr>
          <p:cNvPr id="90" name="Google Shape;90;p17"/>
          <p:cNvSpPr txBox="1"/>
          <p:nvPr/>
        </p:nvSpPr>
        <p:spPr>
          <a:xfrm>
            <a:off x="81775" y="2969475"/>
            <a:ext cx="49536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FF0000"/>
                </a:solidFill>
                <a:latin typeface="Calibri"/>
                <a:ea typeface="Calibri"/>
                <a:cs typeface="Calibri"/>
                <a:sym typeface="Calibri"/>
              </a:rPr>
              <a:t>Microsoft MAI-Thinking-1 </a:t>
            </a:r>
            <a:r>
              <a:rPr lang="en" sz="1200">
                <a:solidFill>
                  <a:schemeClr val="dk1"/>
                </a:solidFill>
                <a:latin typeface="Calibri"/>
                <a:ea typeface="Calibri"/>
                <a:cs typeface="Calibri"/>
                <a:sym typeface="Calibri"/>
              </a:rPr>
              <a:t>- at Build conference - June 2-3</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a:solidFill>
                  <a:schemeClr val="dk1"/>
                </a:solidFill>
                <a:latin typeface="Calibri"/>
                <a:ea typeface="Calibri"/>
                <a:cs typeface="Calibri"/>
                <a:sym typeface="Calibri"/>
              </a:rPr>
              <a:t>It is the company's first in-house advanced reasoning model</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a:solidFill>
                  <a:schemeClr val="dk1"/>
                </a:solidFill>
                <a:latin typeface="Calibri"/>
                <a:ea typeface="Calibri"/>
                <a:cs typeface="Calibri"/>
                <a:sym typeface="Calibri"/>
              </a:rPr>
              <a:t>Beats Sonnet 4.6, good on software engineering benchmarks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a:solidFill>
                  <a:schemeClr val="dk1"/>
                </a:solidFill>
                <a:latin typeface="Calibri"/>
                <a:ea typeface="Calibri"/>
                <a:cs typeface="Calibri"/>
                <a:sym typeface="Calibri"/>
              </a:rPr>
              <a:t>Built for multi-step, agentic workflows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Available in private preview through Microsoft Foundry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a:solidFill>
                  <a:schemeClr val="dk1"/>
                </a:solidFill>
                <a:latin typeface="Calibri"/>
                <a:ea typeface="Calibri"/>
                <a:cs typeface="Calibri"/>
                <a:sym typeface="Calibri"/>
              </a:rPr>
              <a:t>Part of a release of 7 new in-house AI models, including MAI-Code-1 and MAI-Image-2.5, MAI-Transcribe-1.5</a:t>
            </a:r>
            <a:endParaRPr sz="1200">
              <a:solidFill>
                <a:schemeClr val="dk1"/>
              </a:solidFill>
              <a:latin typeface="Calibri"/>
              <a:ea typeface="Calibri"/>
              <a:cs typeface="Calibri"/>
              <a:sym typeface="Calibri"/>
            </a:endParaRPr>
          </a:p>
        </p:txBody>
      </p:sp>
      <p:pic>
        <p:nvPicPr>
          <p:cNvPr id="91" name="Google Shape;91;p17"/>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5353175" y="3095062"/>
            <a:ext cx="3438250" cy="106012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18"/>
          <p:cNvSpPr txBox="1"/>
          <p:nvPr/>
        </p:nvSpPr>
        <p:spPr>
          <a:xfrm>
            <a:off x="81775" y="67675"/>
            <a:ext cx="2527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97" name="Google Shape;97;p18"/>
          <p:cNvSpPr txBox="1"/>
          <p:nvPr/>
        </p:nvSpPr>
        <p:spPr>
          <a:xfrm>
            <a:off x="81775" y="467677"/>
            <a:ext cx="4425900" cy="168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NVIDIA CEO Jensen Huang keynote (GTC in Taipei, Taiwan)</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"useful agentic AI" has officially arrived</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From simple application use to agentic systems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Vera Rubin - a new, fully integrated, multi-rack supercomputing</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(Rubin GPU, Vera CPU, ...) - built for agentic workloads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Nemotron 3 Ultra (550B params) </a:t>
            </a:r>
            <a:br>
              <a:rPr lang="en" sz="1200" b="1">
                <a:solidFill>
                  <a:srgbClr val="FF0000"/>
                </a:solidFill>
                <a:latin typeface="Calibri"/>
                <a:ea typeface="Calibri"/>
                <a:cs typeface="Calibri"/>
                <a:sym typeface="Calibri"/>
              </a:rPr>
            </a:br>
            <a:r>
              <a:rPr lang="en" sz="1200" b="1">
                <a:solidFill>
                  <a:srgbClr val="FF0000"/>
                </a:solidFill>
                <a:latin typeface="Calibri"/>
                <a:ea typeface="Calibri"/>
                <a:cs typeface="Calibri"/>
                <a:sym typeface="Calibri"/>
              </a:rPr>
              <a:t>&amp; Cosmos 3 (16B &amp; 64B) open models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RTX Spark - run AI locally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https://www.youtube.com/watch?v=q_umfWm8J28</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98" name="Google Shape;98;p18"/>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7975000" y="1131099"/>
            <a:ext cx="1117450" cy="999574"/>
          </a:xfrm>
          <a:prstGeom prst="rect">
            <a:avLst/>
          </a:prstGeom>
          <a:noFill/>
          <a:ln w="9525" cap="flat" cmpd="sng">
            <a:solidFill>
              <a:srgbClr val="FF0000"/>
            </a:solidFill>
            <a:prstDash val="solid"/>
            <a:round/>
            <a:headEnd type="none" w="sm" len="sm"/>
            <a:tailEnd type="none" w="sm" len="sm"/>
          </a:ln>
        </p:spPr>
      </p:pic>
      <p:sp>
        <p:nvSpPr>
          <p:cNvPr id="99" name="Google Shape;99;p18"/>
          <p:cNvSpPr txBox="1"/>
          <p:nvPr/>
        </p:nvSpPr>
        <p:spPr>
          <a:xfrm>
            <a:off x="81775" y="2263596"/>
            <a:ext cx="4425900" cy="2789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NVIDIA RTX Spark ARM superchip for laptops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Combines 2 dies in one chip (TSMC 3nm-class package):</a:t>
            </a:r>
            <a:endParaRPr sz="1200">
              <a:solidFill>
                <a:schemeClr val="dk1"/>
              </a:solidFill>
              <a:latin typeface="Calibri"/>
              <a:ea typeface="Calibri"/>
              <a:cs typeface="Calibri"/>
              <a:sym typeface="Calibri"/>
            </a:endParaRPr>
          </a:p>
          <a:p>
            <a:pPr marL="4000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20-core ARM-based Grace CPU</a:t>
            </a:r>
            <a:endParaRPr sz="1200">
              <a:solidFill>
                <a:srgbClr val="3C78D8"/>
              </a:solidFill>
              <a:latin typeface="Calibri"/>
              <a:ea typeface="Calibri"/>
              <a:cs typeface="Calibri"/>
              <a:sym typeface="Calibri"/>
            </a:endParaRPr>
          </a:p>
          <a:p>
            <a:pPr marL="4000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Blackwell RTX GPU + NVLink-C2C interconnect</a:t>
            </a:r>
            <a:endParaRPr sz="1200">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is a </a:t>
            </a:r>
            <a:r>
              <a:rPr lang="en" sz="1200" b="1">
                <a:solidFill>
                  <a:srgbClr val="3C78D8"/>
                </a:solidFill>
                <a:latin typeface="Calibri"/>
                <a:ea typeface="Calibri"/>
                <a:cs typeface="Calibri"/>
                <a:sym typeface="Calibri"/>
              </a:rPr>
              <a:t>consumer-oriented sibling of the GB10 Grace Blackwell superchip</a:t>
            </a:r>
            <a:r>
              <a:rPr lang="en" sz="1200">
                <a:solidFill>
                  <a:schemeClr val="dk1"/>
                </a:solidFill>
                <a:latin typeface="Calibri"/>
                <a:ea typeface="Calibri"/>
                <a:cs typeface="Calibri"/>
                <a:sym typeface="Calibri"/>
              </a:rPr>
              <a:t> already shipping in NVIDIA's DGX Spark Linux mini-PC,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but now repurposed for Windows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AI Performance: Up to 1 Petaflop of AI compute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Up to 128 GB of unified memory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Can run 120B params (FP4) LLMs up to 1M context locally, rendering 90 GB 3D scenes, and playing AAA games at 1440p above 100 fps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Microsoft co-developed new Windows security primitives specifically to run on-device AI agents alongside NVIDIA's OpenShell runtime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Expected to ship this Fall</a:t>
            </a:r>
            <a:endParaRPr sz="1200">
              <a:solidFill>
                <a:schemeClr val="dk1"/>
              </a:solidFill>
              <a:latin typeface="Calibri"/>
              <a:ea typeface="Calibri"/>
              <a:cs typeface="Calibri"/>
              <a:sym typeface="Calibri"/>
            </a:endParaRPr>
          </a:p>
        </p:txBody>
      </p:sp>
      <p:pic>
        <p:nvPicPr>
          <p:cNvPr id="100" name="Google Shape;100;p18"/>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7975001" y="67675"/>
            <a:ext cx="1117450" cy="968176"/>
          </a:xfrm>
          <a:prstGeom prst="rect">
            <a:avLst/>
          </a:prstGeom>
          <a:noFill/>
          <a:ln w="9525" cap="flat" cmpd="sng">
            <a:solidFill>
              <a:srgbClr val="FF0000"/>
            </a:solidFill>
            <a:prstDash val="solid"/>
            <a:round/>
            <a:headEnd type="none" w="sm" len="sm"/>
            <a:tailEnd type="none" w="sm" len="sm"/>
          </a:ln>
        </p:spPr>
      </p:pic>
      <p:graphicFrame>
        <p:nvGraphicFramePr>
          <p:cNvPr id="101" name="Google Shape;101;p18"/>
          <p:cNvGraphicFramePr/>
          <p:nvPr/>
        </p:nvGraphicFramePr>
        <p:xfrm>
          <a:off x="5350056" y="3473663"/>
          <a:ext cx="3000000" cy="3000000"/>
        </p:xfrm>
        <a:graphic>
          <a:graphicData uri="http://schemas.openxmlformats.org/drawingml/2006/table">
            <a:tbl>
              <a:tblPr>
                <a:noFill/>
                <a:tableStyleId>{B28CE963-2728-49E8-BE2C-4A07F5D4A988}</a:tableStyleId>
              </a:tblPr>
              <a:tblGrid>
                <a:gridCol w="1002200">
                  <a:extLst>
                    <a:ext uri="{9D8B030D-6E8A-4147-A177-3AD203B41FA5}">
                      <a16:colId xmlns:a16="http://schemas.microsoft.com/office/drawing/2014/main" val="20000"/>
                    </a:ext>
                  </a:extLst>
                </a:gridCol>
                <a:gridCol w="1840525">
                  <a:extLst>
                    <a:ext uri="{9D8B030D-6E8A-4147-A177-3AD203B41FA5}">
                      <a16:colId xmlns:a16="http://schemas.microsoft.com/office/drawing/2014/main" val="20001"/>
                    </a:ext>
                  </a:extLst>
                </a:gridCol>
                <a:gridCol w="899675">
                  <a:extLst>
                    <a:ext uri="{9D8B030D-6E8A-4147-A177-3AD203B41FA5}">
                      <a16:colId xmlns:a16="http://schemas.microsoft.com/office/drawing/2014/main" val="20002"/>
                    </a:ext>
                  </a:extLst>
                </a:gridCol>
              </a:tblGrid>
              <a:tr h="112125">
                <a:tc>
                  <a:txBody>
                    <a:bodyPr/>
                    <a:lstStyle/>
                    <a:p>
                      <a:pPr marL="0" lvl="0" indent="0" algn="l" rtl="0">
                        <a:lnSpc>
                          <a:spcPct val="115000"/>
                        </a:lnSpc>
                        <a:spcBef>
                          <a:spcPts val="0"/>
                        </a:spcBef>
                        <a:spcAft>
                          <a:spcPts val="0"/>
                        </a:spcAft>
                        <a:buNone/>
                      </a:pPr>
                      <a:r>
                        <a:rPr lang="en" sz="900" b="1">
                          <a:latin typeface="Calibri"/>
                          <a:ea typeface="Calibri"/>
                          <a:cs typeface="Calibri"/>
                          <a:sym typeface="Calibri"/>
                        </a:rPr>
                        <a:t>Feature</a:t>
                      </a:r>
                      <a:endParaRPr sz="900" b="1">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2F2F2"/>
                    </a:solidFill>
                  </a:tcPr>
                </a:tc>
                <a:tc>
                  <a:txBody>
                    <a:bodyPr/>
                    <a:lstStyle/>
                    <a:p>
                      <a:pPr marL="0" lvl="0" indent="0" algn="l" rtl="0">
                        <a:lnSpc>
                          <a:spcPct val="115000"/>
                        </a:lnSpc>
                        <a:spcBef>
                          <a:spcPts val="0"/>
                        </a:spcBef>
                        <a:spcAft>
                          <a:spcPts val="0"/>
                        </a:spcAft>
                        <a:buNone/>
                      </a:pPr>
                      <a:r>
                        <a:rPr lang="en" sz="900" b="1">
                          <a:latin typeface="Calibri"/>
                          <a:ea typeface="Calibri"/>
                          <a:cs typeface="Calibri"/>
                          <a:sym typeface="Calibri"/>
                        </a:rPr>
                        <a:t>NVIDIA RTX Spark</a:t>
                      </a:r>
                      <a:endParaRPr sz="900" b="1">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2F2F2"/>
                    </a:solidFill>
                  </a:tcPr>
                </a:tc>
                <a:tc>
                  <a:txBody>
                    <a:bodyPr/>
                    <a:lstStyle/>
                    <a:p>
                      <a:pPr marL="0" lvl="0" indent="0" algn="l" rtl="0">
                        <a:lnSpc>
                          <a:spcPct val="115000"/>
                        </a:lnSpc>
                        <a:spcBef>
                          <a:spcPts val="0"/>
                        </a:spcBef>
                        <a:spcAft>
                          <a:spcPts val="0"/>
                        </a:spcAft>
                        <a:buNone/>
                      </a:pPr>
                      <a:r>
                        <a:rPr lang="en" sz="900" b="1">
                          <a:latin typeface="Calibri"/>
                          <a:ea typeface="Calibri"/>
                          <a:cs typeface="Calibri"/>
                          <a:sym typeface="Calibri"/>
                        </a:rPr>
                        <a:t>Apple M5 Family</a:t>
                      </a:r>
                      <a:endParaRPr sz="900" b="1">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2F2F2"/>
                    </a:solidFill>
                  </a:tcPr>
                </a:tc>
                <a:extLst>
                  <a:ext uri="{0D108BD9-81ED-4DB2-BD59-A6C34878D82A}">
                    <a16:rowId xmlns:a16="http://schemas.microsoft.com/office/drawing/2014/main" val="10000"/>
                  </a:ext>
                </a:extLst>
              </a:tr>
              <a:tr h="112125">
                <a:tc>
                  <a:txBody>
                    <a:bodyPr/>
                    <a:lstStyle/>
                    <a:p>
                      <a:pPr marL="0" lvl="0" indent="0" algn="l" rtl="0">
                        <a:lnSpc>
                          <a:spcPct val="115000"/>
                        </a:lnSpc>
                        <a:spcBef>
                          <a:spcPts val="0"/>
                        </a:spcBef>
                        <a:spcAft>
                          <a:spcPts val="0"/>
                        </a:spcAft>
                        <a:buNone/>
                      </a:pPr>
                      <a:r>
                        <a:rPr lang="en" sz="900">
                          <a:latin typeface="Calibri"/>
                          <a:ea typeface="Calibri"/>
                          <a:cs typeface="Calibri"/>
                          <a:sym typeface="Calibri"/>
                        </a:rPr>
                        <a:t>CPU Cores</a:t>
                      </a:r>
                      <a:endParaRPr sz="9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900">
                          <a:latin typeface="Calibri"/>
                          <a:ea typeface="Calibri"/>
                          <a:cs typeface="Calibri"/>
                          <a:sym typeface="Calibri"/>
                        </a:rPr>
                        <a:t>20-core ARM (Grace)</a:t>
                      </a:r>
                      <a:endParaRPr sz="9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900">
                          <a:latin typeface="Calibri"/>
                          <a:ea typeface="Calibri"/>
                          <a:cs typeface="Calibri"/>
                          <a:sym typeface="Calibri"/>
                        </a:rPr>
                        <a:t>10..18 cores</a:t>
                      </a:r>
                      <a:endParaRPr sz="9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1"/>
                  </a:ext>
                </a:extLst>
              </a:tr>
              <a:tr h="112125">
                <a:tc>
                  <a:txBody>
                    <a:bodyPr/>
                    <a:lstStyle/>
                    <a:p>
                      <a:pPr marL="0" lvl="0" indent="0" algn="l" rtl="0">
                        <a:lnSpc>
                          <a:spcPct val="115000"/>
                        </a:lnSpc>
                        <a:spcBef>
                          <a:spcPts val="0"/>
                        </a:spcBef>
                        <a:spcAft>
                          <a:spcPts val="0"/>
                        </a:spcAft>
                        <a:buNone/>
                      </a:pPr>
                      <a:r>
                        <a:rPr lang="en" sz="900">
                          <a:latin typeface="Calibri"/>
                          <a:ea typeface="Calibri"/>
                          <a:cs typeface="Calibri"/>
                          <a:sym typeface="Calibri"/>
                        </a:rPr>
                        <a:t>GPU</a:t>
                      </a:r>
                      <a:endParaRPr sz="9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900">
                          <a:latin typeface="Calibri"/>
                          <a:ea typeface="Calibri"/>
                          <a:cs typeface="Calibri"/>
                          <a:sym typeface="Calibri"/>
                        </a:rPr>
                        <a:t>Blackwell, 6K CUDA cores (~RTX 5070)</a:t>
                      </a:r>
                      <a:endParaRPr sz="9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900">
                          <a:latin typeface="Calibri"/>
                          <a:ea typeface="Calibri"/>
                          <a:cs typeface="Calibri"/>
                          <a:sym typeface="Calibri"/>
                        </a:rPr>
                        <a:t>10-20 core GPU</a:t>
                      </a:r>
                      <a:endParaRPr sz="9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2"/>
                  </a:ext>
                </a:extLst>
              </a:tr>
              <a:tr h="112125">
                <a:tc>
                  <a:txBody>
                    <a:bodyPr/>
                    <a:lstStyle/>
                    <a:p>
                      <a:pPr marL="0" lvl="0" indent="0" algn="l" rtl="0">
                        <a:lnSpc>
                          <a:spcPct val="115000"/>
                        </a:lnSpc>
                        <a:spcBef>
                          <a:spcPts val="0"/>
                        </a:spcBef>
                        <a:spcAft>
                          <a:spcPts val="0"/>
                        </a:spcAft>
                        <a:buNone/>
                      </a:pPr>
                      <a:r>
                        <a:rPr lang="en" sz="900">
                          <a:latin typeface="Calibri"/>
                          <a:ea typeface="Calibri"/>
                          <a:cs typeface="Calibri"/>
                          <a:sym typeface="Calibri"/>
                        </a:rPr>
                        <a:t>AI Compute</a:t>
                      </a:r>
                      <a:endParaRPr sz="9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900" b="1">
                          <a:latin typeface="Calibri"/>
                          <a:ea typeface="Calibri"/>
                          <a:cs typeface="Calibri"/>
                          <a:sym typeface="Calibri"/>
                        </a:rPr>
                        <a:t>1,000 TOPS</a:t>
                      </a:r>
                      <a:r>
                        <a:rPr lang="en" sz="900">
                          <a:latin typeface="Calibri"/>
                          <a:ea typeface="Calibri"/>
                          <a:cs typeface="Calibri"/>
                          <a:sym typeface="Calibri"/>
                        </a:rPr>
                        <a:t> (FP4)</a:t>
                      </a:r>
                      <a:endParaRPr sz="9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900">
                          <a:latin typeface="Calibri"/>
                          <a:ea typeface="Calibri"/>
                          <a:cs typeface="Calibri"/>
                          <a:sym typeface="Calibri"/>
                        </a:rPr>
                        <a:t>~38-60 TOPS</a:t>
                      </a:r>
                      <a:endParaRPr sz="9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3"/>
                  </a:ext>
                </a:extLst>
              </a:tr>
              <a:tr h="112125">
                <a:tc>
                  <a:txBody>
                    <a:bodyPr/>
                    <a:lstStyle/>
                    <a:p>
                      <a:pPr marL="0" lvl="0" indent="0" algn="l" rtl="0">
                        <a:lnSpc>
                          <a:spcPct val="115000"/>
                        </a:lnSpc>
                        <a:spcBef>
                          <a:spcPts val="0"/>
                        </a:spcBef>
                        <a:spcAft>
                          <a:spcPts val="0"/>
                        </a:spcAft>
                        <a:buNone/>
                      </a:pPr>
                      <a:r>
                        <a:rPr lang="en" sz="900">
                          <a:latin typeface="Calibri"/>
                          <a:ea typeface="Calibri"/>
                          <a:cs typeface="Calibri"/>
                          <a:sym typeface="Calibri"/>
                        </a:rPr>
                        <a:t>Unified Memory</a:t>
                      </a:r>
                      <a:endParaRPr sz="9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900">
                          <a:latin typeface="Calibri"/>
                          <a:ea typeface="Calibri"/>
                          <a:cs typeface="Calibri"/>
                          <a:sym typeface="Calibri"/>
                        </a:rPr>
                        <a:t>Up to 128 GB LPDDR5X</a:t>
                      </a:r>
                      <a:endParaRPr sz="9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900">
                          <a:latin typeface="Calibri"/>
                          <a:ea typeface="Calibri"/>
                          <a:cs typeface="Calibri"/>
                          <a:sym typeface="Calibri"/>
                        </a:rPr>
                        <a:t>Up to 128 GB</a:t>
                      </a:r>
                      <a:endParaRPr sz="9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4"/>
                  </a:ext>
                </a:extLst>
              </a:tr>
              <a:tr h="112125">
                <a:tc>
                  <a:txBody>
                    <a:bodyPr/>
                    <a:lstStyle/>
                    <a:p>
                      <a:pPr marL="0" lvl="0" indent="0" algn="l" rtl="0">
                        <a:lnSpc>
                          <a:spcPct val="115000"/>
                        </a:lnSpc>
                        <a:spcBef>
                          <a:spcPts val="0"/>
                        </a:spcBef>
                        <a:spcAft>
                          <a:spcPts val="0"/>
                        </a:spcAft>
                        <a:buNone/>
                      </a:pPr>
                      <a:r>
                        <a:rPr lang="en" sz="900">
                          <a:latin typeface="Calibri"/>
                          <a:ea typeface="Calibri"/>
                          <a:cs typeface="Calibri"/>
                          <a:sym typeface="Calibri"/>
                        </a:rPr>
                        <a:t>Memory Bandwidth</a:t>
                      </a:r>
                      <a:endParaRPr sz="9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900">
                          <a:latin typeface="Calibri"/>
                          <a:ea typeface="Calibri"/>
                          <a:cs typeface="Calibri"/>
                          <a:sym typeface="Calibri"/>
                        </a:rPr>
                        <a:t>~273 GB/s</a:t>
                      </a:r>
                      <a:endParaRPr sz="9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900" b="1">
                          <a:latin typeface="Calibri"/>
                          <a:ea typeface="Calibri"/>
                          <a:cs typeface="Calibri"/>
                          <a:sym typeface="Calibri"/>
                        </a:rPr>
                        <a:t>up to 546 GB/s</a:t>
                      </a:r>
                      <a:endParaRPr sz="900" b="1">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5"/>
                  </a:ext>
                </a:extLst>
              </a:tr>
              <a:tr h="112125">
                <a:tc>
                  <a:txBody>
                    <a:bodyPr/>
                    <a:lstStyle/>
                    <a:p>
                      <a:pPr marL="0" lvl="0" indent="0" algn="l" rtl="0">
                        <a:lnSpc>
                          <a:spcPct val="115000"/>
                        </a:lnSpc>
                        <a:spcBef>
                          <a:spcPts val="0"/>
                        </a:spcBef>
                        <a:spcAft>
                          <a:spcPts val="0"/>
                        </a:spcAft>
                        <a:buNone/>
                      </a:pPr>
                      <a:r>
                        <a:rPr lang="en" sz="900">
                          <a:latin typeface="Calibri"/>
                          <a:ea typeface="Calibri"/>
                          <a:cs typeface="Calibri"/>
                          <a:sym typeface="Calibri"/>
                        </a:rPr>
                        <a:t>Packaging</a:t>
                      </a:r>
                      <a:endParaRPr sz="9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900">
                          <a:latin typeface="Calibri"/>
                          <a:ea typeface="Calibri"/>
                          <a:cs typeface="Calibri"/>
                          <a:sym typeface="Calibri"/>
                        </a:rPr>
                        <a:t>CoWoS-R (2 dies)</a:t>
                      </a:r>
                      <a:endParaRPr sz="9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900">
                          <a:latin typeface="Calibri"/>
                          <a:ea typeface="Calibri"/>
                          <a:cs typeface="Calibri"/>
                          <a:sym typeface="Calibri"/>
                        </a:rPr>
                        <a:t>Single die</a:t>
                      </a:r>
                      <a:endParaRPr sz="9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6"/>
                  </a:ext>
                </a:extLst>
              </a:tr>
              <a:tr h="112125">
                <a:tc>
                  <a:txBody>
                    <a:bodyPr/>
                    <a:lstStyle/>
                    <a:p>
                      <a:pPr marL="0" lvl="0" indent="0" algn="l" rtl="0">
                        <a:lnSpc>
                          <a:spcPct val="115000"/>
                        </a:lnSpc>
                        <a:spcBef>
                          <a:spcPts val="0"/>
                        </a:spcBef>
                        <a:spcAft>
                          <a:spcPts val="0"/>
                        </a:spcAft>
                        <a:buNone/>
                      </a:pPr>
                      <a:r>
                        <a:rPr lang="en" sz="900">
                          <a:latin typeface="Calibri"/>
                          <a:ea typeface="Calibri"/>
                          <a:cs typeface="Calibri"/>
                          <a:sym typeface="Calibri"/>
                        </a:rPr>
                        <a:t>TDP</a:t>
                      </a:r>
                      <a:endParaRPr sz="9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900">
                          <a:latin typeface="Calibri"/>
                          <a:ea typeface="Calibri"/>
                          <a:cs typeface="Calibri"/>
                          <a:sym typeface="Calibri"/>
                        </a:rPr>
                        <a:t>~45–80W (estimated)</a:t>
                      </a:r>
                      <a:endParaRPr sz="9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900">
                          <a:latin typeface="Calibri"/>
                          <a:ea typeface="Calibri"/>
                          <a:cs typeface="Calibri"/>
                          <a:sym typeface="Calibri"/>
                        </a:rPr>
                        <a:t>~30–70W</a:t>
                      </a:r>
                      <a:endParaRPr sz="9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7"/>
                  </a:ext>
                </a:extLst>
              </a:tr>
              <a:tr h="112125">
                <a:tc>
                  <a:txBody>
                    <a:bodyPr/>
                    <a:lstStyle/>
                    <a:p>
                      <a:pPr marL="0" lvl="0" indent="0" algn="l" rtl="0">
                        <a:lnSpc>
                          <a:spcPct val="115000"/>
                        </a:lnSpc>
                        <a:spcBef>
                          <a:spcPts val="0"/>
                        </a:spcBef>
                        <a:spcAft>
                          <a:spcPts val="0"/>
                        </a:spcAft>
                        <a:buNone/>
                      </a:pPr>
                      <a:r>
                        <a:rPr lang="en" sz="900">
                          <a:latin typeface="Calibri"/>
                          <a:ea typeface="Calibri"/>
                          <a:cs typeface="Calibri"/>
                          <a:sym typeface="Calibri"/>
                        </a:rPr>
                        <a:t>OS</a:t>
                      </a:r>
                      <a:endParaRPr sz="9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900">
                          <a:latin typeface="Calibri"/>
                          <a:ea typeface="Calibri"/>
                          <a:cs typeface="Calibri"/>
                          <a:sym typeface="Calibri"/>
                        </a:rPr>
                        <a:t>Windows</a:t>
                      </a:r>
                      <a:endParaRPr sz="9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900">
                          <a:latin typeface="Calibri"/>
                          <a:ea typeface="Calibri"/>
                          <a:cs typeface="Calibri"/>
                          <a:sym typeface="Calibri"/>
                        </a:rPr>
                        <a:t>macOS</a:t>
                      </a:r>
                      <a:endParaRPr sz="9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8"/>
                  </a:ext>
                </a:extLst>
              </a:tr>
            </a:tbl>
          </a:graphicData>
        </a:graphic>
      </p:graphicFrame>
      <p:sp>
        <p:nvSpPr>
          <p:cNvPr id="102" name="Google Shape;102;p18"/>
          <p:cNvSpPr txBox="1"/>
          <p:nvPr/>
        </p:nvSpPr>
        <p:spPr>
          <a:xfrm>
            <a:off x="5356025" y="2289418"/>
            <a:ext cx="3742500" cy="112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NVIDIA’s new DGX Station for Windows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Can run models up to 1 Trillion params locally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GB300 Grace Blackwell Ultra Superchip</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up to 20 PetaFlops of FP4 performance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748GB of coherent memory and 800Gb/s networking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Should be available in Q4 of 2026</a:t>
            </a:r>
            <a:endParaRPr sz="1200">
              <a:solidFill>
                <a:schemeClr val="dk1"/>
              </a:solidFill>
              <a:latin typeface="Calibri"/>
              <a:ea typeface="Calibri"/>
              <a:cs typeface="Calibri"/>
              <a:sym typeface="Calibri"/>
            </a:endParaRPr>
          </a:p>
        </p:txBody>
      </p:sp>
      <p:graphicFrame>
        <p:nvGraphicFramePr>
          <p:cNvPr id="103" name="Google Shape;103;p18"/>
          <p:cNvGraphicFramePr/>
          <p:nvPr/>
        </p:nvGraphicFramePr>
        <p:xfrm>
          <a:off x="4633366" y="501809"/>
          <a:ext cx="3000000" cy="3000000"/>
        </p:xfrm>
        <a:graphic>
          <a:graphicData uri="http://schemas.openxmlformats.org/drawingml/2006/table">
            <a:tbl>
              <a:tblPr>
                <a:noFill/>
                <a:tableStyleId>{B28CE963-2728-49E8-BE2C-4A07F5D4A988}</a:tableStyleId>
              </a:tblPr>
              <a:tblGrid>
                <a:gridCol w="1366225">
                  <a:extLst>
                    <a:ext uri="{9D8B030D-6E8A-4147-A177-3AD203B41FA5}">
                      <a16:colId xmlns:a16="http://schemas.microsoft.com/office/drawing/2014/main" val="20000"/>
                    </a:ext>
                  </a:extLst>
                </a:gridCol>
                <a:gridCol w="1394150">
                  <a:extLst>
                    <a:ext uri="{9D8B030D-6E8A-4147-A177-3AD203B41FA5}">
                      <a16:colId xmlns:a16="http://schemas.microsoft.com/office/drawing/2014/main" val="20001"/>
                    </a:ext>
                  </a:extLst>
                </a:gridCol>
              </a:tblGrid>
              <a:tr h="129625">
                <a:tc>
                  <a:txBody>
                    <a:bodyPr/>
                    <a:lstStyle/>
                    <a:p>
                      <a:pPr marL="0" lvl="0" indent="0" algn="l" rtl="0">
                        <a:lnSpc>
                          <a:spcPct val="115000"/>
                        </a:lnSpc>
                        <a:spcBef>
                          <a:spcPts val="0"/>
                        </a:spcBef>
                        <a:spcAft>
                          <a:spcPts val="0"/>
                        </a:spcAft>
                        <a:buNone/>
                      </a:pPr>
                      <a:r>
                        <a:rPr lang="en" sz="900" b="1"/>
                        <a:t>Model</a:t>
                      </a:r>
                      <a:endParaRPr sz="900" b="1"/>
                    </a:p>
                  </a:txBody>
                  <a:tcPr marL="9125" marR="9125" marT="9125" marB="9125"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2F2F2"/>
                    </a:solidFill>
                  </a:tcPr>
                </a:tc>
                <a:tc>
                  <a:txBody>
                    <a:bodyPr/>
                    <a:lstStyle/>
                    <a:p>
                      <a:pPr marL="0" lvl="0" indent="0" algn="l" rtl="0">
                        <a:lnSpc>
                          <a:spcPct val="115000"/>
                        </a:lnSpc>
                        <a:spcBef>
                          <a:spcPts val="0"/>
                        </a:spcBef>
                        <a:spcAft>
                          <a:spcPts val="0"/>
                        </a:spcAft>
                        <a:buNone/>
                      </a:pPr>
                      <a:r>
                        <a:rPr lang="en" sz="900" b="1"/>
                        <a:t>AA Intelligence Score</a:t>
                      </a:r>
                      <a:endParaRPr sz="900" b="1"/>
                    </a:p>
                  </a:txBody>
                  <a:tcPr marL="9125" marR="9125" marT="9125" marB="9125"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2F2F2"/>
                    </a:solidFill>
                  </a:tcPr>
                </a:tc>
                <a:extLst>
                  <a:ext uri="{0D108BD9-81ED-4DB2-BD59-A6C34878D82A}">
                    <a16:rowId xmlns:a16="http://schemas.microsoft.com/office/drawing/2014/main" val="10000"/>
                  </a:ext>
                </a:extLst>
              </a:tr>
              <a:tr h="129625">
                <a:tc>
                  <a:txBody>
                    <a:bodyPr/>
                    <a:lstStyle/>
                    <a:p>
                      <a:pPr marL="0" lvl="0" indent="0" algn="l" rtl="0">
                        <a:lnSpc>
                          <a:spcPct val="115000"/>
                        </a:lnSpc>
                        <a:spcBef>
                          <a:spcPts val="0"/>
                        </a:spcBef>
                        <a:spcAft>
                          <a:spcPts val="0"/>
                        </a:spcAft>
                        <a:buNone/>
                      </a:pPr>
                      <a:r>
                        <a:rPr lang="en" sz="900"/>
                        <a:t>Claude Opus 4.8</a:t>
                      </a:r>
                      <a:endParaRPr sz="900"/>
                    </a:p>
                  </a:txBody>
                  <a:tcPr marL="9125" marR="9125" marT="9125" marB="9125"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900"/>
                        <a:t>61</a:t>
                      </a:r>
                      <a:endParaRPr sz="900"/>
                    </a:p>
                  </a:txBody>
                  <a:tcPr marL="9125" marR="9125" marT="9125" marB="9125"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1"/>
                  </a:ext>
                </a:extLst>
              </a:tr>
              <a:tr h="129625">
                <a:tc>
                  <a:txBody>
                    <a:bodyPr/>
                    <a:lstStyle/>
                    <a:p>
                      <a:pPr marL="0" lvl="0" indent="0" algn="l" rtl="0">
                        <a:lnSpc>
                          <a:spcPct val="115000"/>
                        </a:lnSpc>
                        <a:spcBef>
                          <a:spcPts val="0"/>
                        </a:spcBef>
                        <a:spcAft>
                          <a:spcPts val="0"/>
                        </a:spcAft>
                        <a:buNone/>
                      </a:pPr>
                      <a:r>
                        <a:rPr lang="en" sz="900"/>
                        <a:t>GPT-5.5 (xhigh)</a:t>
                      </a:r>
                      <a:endParaRPr sz="900"/>
                    </a:p>
                  </a:txBody>
                  <a:tcPr marL="9125" marR="9125" marT="9125" marB="9125"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900"/>
                        <a:t>60</a:t>
                      </a:r>
                      <a:endParaRPr sz="900"/>
                    </a:p>
                  </a:txBody>
                  <a:tcPr marL="9125" marR="9125" marT="9125" marB="9125"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2"/>
                  </a:ext>
                </a:extLst>
              </a:tr>
              <a:tr h="185800">
                <a:tc>
                  <a:txBody>
                    <a:bodyPr/>
                    <a:lstStyle/>
                    <a:p>
                      <a:pPr marL="0" lvl="0" indent="0" algn="l" rtl="0">
                        <a:lnSpc>
                          <a:spcPct val="115000"/>
                        </a:lnSpc>
                        <a:spcBef>
                          <a:spcPts val="0"/>
                        </a:spcBef>
                        <a:spcAft>
                          <a:spcPts val="0"/>
                        </a:spcAft>
                        <a:buNone/>
                      </a:pPr>
                      <a:r>
                        <a:rPr lang="en" sz="900"/>
                        <a:t>Gemini 3.1 Pro Preview</a:t>
                      </a:r>
                      <a:endParaRPr sz="900"/>
                    </a:p>
                  </a:txBody>
                  <a:tcPr marL="9125" marR="9125" marT="9125" marB="9125"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900"/>
                        <a:t>57</a:t>
                      </a:r>
                      <a:endParaRPr sz="900"/>
                    </a:p>
                  </a:txBody>
                  <a:tcPr marL="9125" marR="9125" marT="9125" marB="9125"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3"/>
                  </a:ext>
                </a:extLst>
              </a:tr>
              <a:tr h="129625">
                <a:tc>
                  <a:txBody>
                    <a:bodyPr/>
                    <a:lstStyle/>
                    <a:p>
                      <a:pPr marL="0" lvl="0" indent="0" algn="l" rtl="0">
                        <a:lnSpc>
                          <a:spcPct val="115000"/>
                        </a:lnSpc>
                        <a:spcBef>
                          <a:spcPts val="0"/>
                        </a:spcBef>
                        <a:spcAft>
                          <a:spcPts val="0"/>
                        </a:spcAft>
                        <a:buNone/>
                      </a:pPr>
                      <a:r>
                        <a:rPr lang="en" sz="900"/>
                        <a:t>Kimi K2.6 (Moonshot)</a:t>
                      </a:r>
                      <a:endParaRPr sz="900"/>
                    </a:p>
                  </a:txBody>
                  <a:tcPr marL="9125" marR="9125" marT="9125" marB="9125"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900"/>
                        <a:t>54</a:t>
                      </a:r>
                      <a:endParaRPr sz="900"/>
                    </a:p>
                  </a:txBody>
                  <a:tcPr marL="9125" marR="9125" marT="9125" marB="9125"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4"/>
                  </a:ext>
                </a:extLst>
              </a:tr>
              <a:tr h="129625">
                <a:tc>
                  <a:txBody>
                    <a:bodyPr/>
                    <a:lstStyle/>
                    <a:p>
                      <a:pPr marL="0" lvl="0" indent="0" algn="l" rtl="0">
                        <a:lnSpc>
                          <a:spcPct val="115000"/>
                        </a:lnSpc>
                        <a:spcBef>
                          <a:spcPts val="0"/>
                        </a:spcBef>
                        <a:spcAft>
                          <a:spcPts val="0"/>
                        </a:spcAft>
                        <a:buNone/>
                      </a:pPr>
                      <a:r>
                        <a:rPr lang="en" sz="900"/>
                        <a:t>Qwen3.5</a:t>
                      </a:r>
                      <a:endParaRPr sz="900"/>
                    </a:p>
                  </a:txBody>
                  <a:tcPr marL="9125" marR="9125" marT="9125" marB="9125"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900"/>
                        <a:t>~52</a:t>
                      </a:r>
                      <a:endParaRPr sz="900"/>
                    </a:p>
                  </a:txBody>
                  <a:tcPr marL="9125" marR="9125" marT="9125" marB="9125"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5"/>
                  </a:ext>
                </a:extLst>
              </a:tr>
              <a:tr h="129625">
                <a:tc>
                  <a:txBody>
                    <a:bodyPr/>
                    <a:lstStyle/>
                    <a:p>
                      <a:pPr marL="0" lvl="0" indent="0" algn="l" rtl="0">
                        <a:lnSpc>
                          <a:spcPct val="115000"/>
                        </a:lnSpc>
                        <a:spcBef>
                          <a:spcPts val="0"/>
                        </a:spcBef>
                        <a:spcAft>
                          <a:spcPts val="0"/>
                        </a:spcAft>
                        <a:buNone/>
                      </a:pPr>
                      <a:r>
                        <a:rPr lang="en" sz="900"/>
                        <a:t>GLM 5.1</a:t>
                      </a:r>
                      <a:endParaRPr sz="900"/>
                    </a:p>
                  </a:txBody>
                  <a:tcPr marL="9125" marR="9125" marT="9125" marB="9125"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900"/>
                        <a:t>~50</a:t>
                      </a:r>
                      <a:endParaRPr sz="900"/>
                    </a:p>
                  </a:txBody>
                  <a:tcPr marL="9125" marR="9125" marT="9125" marB="9125"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6"/>
                  </a:ext>
                </a:extLst>
              </a:tr>
              <a:tr h="129625">
                <a:tc>
                  <a:txBody>
                    <a:bodyPr/>
                    <a:lstStyle/>
                    <a:p>
                      <a:pPr marL="0" lvl="0" indent="0" algn="l" rtl="0">
                        <a:lnSpc>
                          <a:spcPct val="115000"/>
                        </a:lnSpc>
                        <a:spcBef>
                          <a:spcPts val="0"/>
                        </a:spcBef>
                        <a:spcAft>
                          <a:spcPts val="0"/>
                        </a:spcAft>
                        <a:buNone/>
                      </a:pPr>
                      <a:r>
                        <a:rPr lang="en" sz="900"/>
                        <a:t>Nemotron 3 Ultra</a:t>
                      </a:r>
                      <a:endParaRPr sz="900"/>
                    </a:p>
                  </a:txBody>
                  <a:tcPr marL="9125" marR="9125" marT="9125" marB="9125"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CE5CD"/>
                    </a:solidFill>
                  </a:tcPr>
                </a:tc>
                <a:tc>
                  <a:txBody>
                    <a:bodyPr/>
                    <a:lstStyle/>
                    <a:p>
                      <a:pPr marL="0" lvl="0" indent="0" algn="l" rtl="0">
                        <a:lnSpc>
                          <a:spcPct val="115000"/>
                        </a:lnSpc>
                        <a:spcBef>
                          <a:spcPts val="0"/>
                        </a:spcBef>
                        <a:spcAft>
                          <a:spcPts val="0"/>
                        </a:spcAft>
                        <a:buNone/>
                      </a:pPr>
                      <a:r>
                        <a:rPr lang="en" sz="900"/>
                        <a:t>48</a:t>
                      </a:r>
                      <a:endParaRPr sz="900"/>
                    </a:p>
                  </a:txBody>
                  <a:tcPr marL="9125" marR="9125" marT="9125" marB="9125"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CE5CD"/>
                    </a:solidFill>
                  </a:tcPr>
                </a:tc>
                <a:extLst>
                  <a:ext uri="{0D108BD9-81ED-4DB2-BD59-A6C34878D82A}">
                    <a16:rowId xmlns:a16="http://schemas.microsoft.com/office/drawing/2014/main" val="10007"/>
                  </a:ext>
                </a:extLst>
              </a:tr>
              <a:tr h="129625">
                <a:tc>
                  <a:txBody>
                    <a:bodyPr/>
                    <a:lstStyle/>
                    <a:p>
                      <a:pPr marL="0" lvl="0" indent="0" algn="l" rtl="0">
                        <a:lnSpc>
                          <a:spcPct val="115000"/>
                        </a:lnSpc>
                        <a:spcBef>
                          <a:spcPts val="0"/>
                        </a:spcBef>
                        <a:spcAft>
                          <a:spcPts val="0"/>
                        </a:spcAft>
                        <a:buNone/>
                      </a:pPr>
                      <a:r>
                        <a:rPr lang="en" sz="900"/>
                        <a:t>Nemotron 3 Super</a:t>
                      </a:r>
                      <a:endParaRPr sz="900"/>
                    </a:p>
                  </a:txBody>
                  <a:tcPr marL="9125" marR="9125" marT="9125" marB="9125"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900"/>
                        <a:t>36</a:t>
                      </a:r>
                      <a:endParaRPr sz="900"/>
                    </a:p>
                  </a:txBody>
                  <a:tcPr marL="9125" marR="9125" marT="9125" marB="9125"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8"/>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19"/>
          <p:cNvSpPr txBox="1"/>
          <p:nvPr/>
        </p:nvSpPr>
        <p:spPr>
          <a:xfrm>
            <a:off x="81775" y="67675"/>
            <a:ext cx="2527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09" name="Google Shape;109;p19"/>
          <p:cNvSpPr txBox="1"/>
          <p:nvPr/>
        </p:nvSpPr>
        <p:spPr>
          <a:xfrm>
            <a:off x="81775" y="876255"/>
            <a:ext cx="44259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Anthropic IPO</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Anthropic has confidentially filed Form S-1 paperwork with the SEC, taking its first formal step toward an IPO</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The filing follows a $65 billion funding round valuing the company near $1 trillion</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No share price or timeline is set yet, though a fall 2026 debut is possible</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Anthropic is projecting $10.9 billion in Q2 2026 revenue and its first profitable quarter</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The move puts it ahead of rival OpenAI, which is also preparing its own IPO filing</a:t>
            </a:r>
            <a:endParaRPr sz="1200">
              <a:solidFill>
                <a:schemeClr val="dk1"/>
              </a:solidFill>
              <a:latin typeface="Calibri"/>
              <a:ea typeface="Calibri"/>
              <a:cs typeface="Calibri"/>
              <a:sym typeface="Calibri"/>
            </a:endParaRPr>
          </a:p>
        </p:txBody>
      </p:sp>
      <p:pic>
        <p:nvPicPr>
          <p:cNvPr id="110" name="Google Shape;110;p19"/>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4883075" y="1082379"/>
            <a:ext cx="3072051" cy="1637950"/>
          </a:xfrm>
          <a:prstGeom prst="rect">
            <a:avLst/>
          </a:prstGeom>
          <a:noFill/>
          <a:ln w="9525" cap="flat" cmpd="sng">
            <a:solidFill>
              <a:srgbClr val="FF0000"/>
            </a:solidFill>
            <a:prstDash val="solid"/>
            <a:round/>
            <a:headEnd type="none" w="sm" len="sm"/>
            <a:tailEnd type="none" w="sm" len="sm"/>
          </a:ln>
        </p:spPr>
      </p:pic>
      <p:sp>
        <p:nvSpPr>
          <p:cNvPr id="111" name="Google Shape;111;p19"/>
          <p:cNvSpPr txBox="1"/>
          <p:nvPr/>
        </p:nvSpPr>
        <p:spPr>
          <a:xfrm>
            <a:off x="81775" y="3516226"/>
            <a:ext cx="4425900" cy="106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46050" algn="l" rtl="0">
              <a:lnSpc>
                <a:spcPct val="100000"/>
              </a:lnSpc>
              <a:spcBef>
                <a:spcPts val="0"/>
              </a:spcBef>
              <a:spcAft>
                <a:spcPts val="0"/>
              </a:spcAft>
              <a:buClr>
                <a:srgbClr val="FF0000"/>
              </a:buClr>
              <a:buSzPts val="1400"/>
              <a:buFont typeface="Calibri"/>
              <a:buChar char="●"/>
            </a:pPr>
            <a:r>
              <a:rPr lang="en" b="1">
                <a:solidFill>
                  <a:srgbClr val="FF0000"/>
                </a:solidFill>
                <a:latin typeface="Calibri"/>
                <a:ea typeface="Calibri"/>
                <a:cs typeface="Calibri"/>
                <a:sym typeface="Calibri"/>
              </a:rPr>
              <a:t>Quote of the day by Anthropic CEO Dario Amodei:</a:t>
            </a:r>
            <a:endParaRPr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b="1">
                <a:solidFill>
                  <a:srgbClr val="3C78D8"/>
                </a:solidFill>
                <a:latin typeface="Calibri"/>
                <a:ea typeface="Calibri"/>
                <a:cs typeface="Calibri"/>
                <a:sym typeface="Calibri"/>
              </a:rPr>
              <a:t> "Humanity is about to be handed almost unimaginable power, and it is deeply unclear whether [we] possess the maturity to wield it" </a:t>
            </a:r>
            <a:br>
              <a:rPr lang="en" b="1">
                <a:solidFill>
                  <a:srgbClr val="3C78D8"/>
                </a:solidFill>
                <a:latin typeface="Calibri"/>
                <a:ea typeface="Calibri"/>
                <a:cs typeface="Calibri"/>
                <a:sym typeface="Calibri"/>
              </a:rPr>
            </a:br>
            <a:r>
              <a:rPr lang="en" sz="1200">
                <a:latin typeface="Calibri"/>
                <a:ea typeface="Calibri"/>
                <a:cs typeface="Calibri"/>
                <a:sym typeface="Calibri"/>
              </a:rPr>
              <a:t>-  warnings on the looming threat of beyond-human AI</a:t>
            </a:r>
            <a:endParaRPr sz="1200">
              <a:solidFill>
                <a:schemeClr val="dk1"/>
              </a:solidFill>
              <a:latin typeface="Calibri"/>
              <a:ea typeface="Calibri"/>
              <a:cs typeface="Calibri"/>
              <a:sym typeface="Calibri"/>
            </a:endParaRPr>
          </a:p>
        </p:txBody>
      </p:sp>
      <p:pic>
        <p:nvPicPr>
          <p:cNvPr id="112" name="Google Shape;112;p19"/>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883075" y="3117425"/>
            <a:ext cx="3072051" cy="172803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6"/>
        <p:cNvGrpSpPr/>
        <p:nvPr/>
      </p:nvGrpSpPr>
      <p:grpSpPr>
        <a:xfrm>
          <a:off x="0" y="0"/>
          <a:ext cx="0" cy="0"/>
          <a:chOff x="0" y="0"/>
          <a:chExt cx="0" cy="0"/>
        </a:xfrm>
      </p:grpSpPr>
      <p:sp>
        <p:nvSpPr>
          <p:cNvPr id="117" name="Google Shape;117;p20"/>
          <p:cNvSpPr txBox="1"/>
          <p:nvPr/>
        </p:nvSpPr>
        <p:spPr>
          <a:xfrm>
            <a:off x="81775" y="67675"/>
            <a:ext cx="1412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Companies</a:t>
            </a:r>
            <a:endParaRPr sz="2000" b="1">
              <a:solidFill>
                <a:schemeClr val="dk1"/>
              </a:solidFill>
              <a:latin typeface="Calibri"/>
              <a:ea typeface="Calibri"/>
              <a:cs typeface="Calibri"/>
              <a:sym typeface="Calibri"/>
            </a:endParaRPr>
          </a:p>
        </p:txBody>
      </p:sp>
      <p:pic>
        <p:nvPicPr>
          <p:cNvPr id="118" name="Google Shape;118;p20"/>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1343500" y="67675"/>
            <a:ext cx="7387374" cy="5008975"/>
          </a:xfrm>
          <a:prstGeom prst="rect">
            <a:avLst/>
          </a:prstGeom>
          <a:noFill/>
          <a:ln>
            <a:noFill/>
          </a:ln>
        </p:spPr>
      </p:pic>
      <p:graphicFrame>
        <p:nvGraphicFramePr>
          <p:cNvPr id="119" name="Google Shape;119;p20"/>
          <p:cNvGraphicFramePr/>
          <p:nvPr/>
        </p:nvGraphicFramePr>
        <p:xfrm>
          <a:off x="6626310" y="132730"/>
          <a:ext cx="3000000" cy="3000000"/>
        </p:xfrm>
        <a:graphic>
          <a:graphicData uri="http://schemas.openxmlformats.org/drawingml/2006/table">
            <a:tbl>
              <a:tblPr>
                <a:noFill/>
                <a:tableStyleId>{B28CE963-2728-49E8-BE2C-4A07F5D4A988}</a:tableStyleId>
              </a:tblPr>
              <a:tblGrid>
                <a:gridCol w="1497150">
                  <a:extLst>
                    <a:ext uri="{9D8B030D-6E8A-4147-A177-3AD203B41FA5}">
                      <a16:colId xmlns:a16="http://schemas.microsoft.com/office/drawing/2014/main" val="20000"/>
                    </a:ext>
                  </a:extLst>
                </a:gridCol>
                <a:gridCol w="502500">
                  <a:extLst>
                    <a:ext uri="{9D8B030D-6E8A-4147-A177-3AD203B41FA5}">
                      <a16:colId xmlns:a16="http://schemas.microsoft.com/office/drawing/2014/main" val="20001"/>
                    </a:ext>
                  </a:extLst>
                </a:gridCol>
              </a:tblGrid>
              <a:tr h="200025">
                <a:tc>
                  <a:txBody>
                    <a:bodyPr/>
                    <a:lstStyle/>
                    <a:p>
                      <a:pPr marL="0" lvl="0" indent="0" algn="l" rtl="0">
                        <a:lnSpc>
                          <a:spcPct val="115000"/>
                        </a:lnSpc>
                        <a:spcBef>
                          <a:spcPts val="0"/>
                        </a:spcBef>
                        <a:spcAft>
                          <a:spcPts val="0"/>
                        </a:spcAft>
                        <a:buNone/>
                      </a:pPr>
                      <a:r>
                        <a:rPr lang="en" sz="1000">
                          <a:solidFill>
                            <a:srgbClr val="27251E"/>
                          </a:solidFill>
                        </a:rPr>
                        <a:t>NVIDIA</a:t>
                      </a:r>
                      <a:endParaRPr sz="1000">
                        <a:solidFill>
                          <a:srgbClr val="27251E"/>
                        </a:solidFill>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1000">
                          <a:solidFill>
                            <a:srgbClr val="27251E"/>
                          </a:solidFill>
                        </a:rPr>
                        <a:t>5300</a:t>
                      </a:r>
                      <a:endParaRPr sz="1000">
                        <a:solidFill>
                          <a:srgbClr val="27251E"/>
                        </a:solidFill>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00"/>
                  </a:ext>
                </a:extLst>
              </a:tr>
              <a:tr h="200025">
                <a:tc>
                  <a:txBody>
                    <a:bodyPr/>
                    <a:lstStyle/>
                    <a:p>
                      <a:pPr marL="0" lvl="0" indent="0" algn="l" rtl="0">
                        <a:lnSpc>
                          <a:spcPct val="115000"/>
                        </a:lnSpc>
                        <a:spcBef>
                          <a:spcPts val="0"/>
                        </a:spcBef>
                        <a:spcAft>
                          <a:spcPts val="0"/>
                        </a:spcAft>
                        <a:buNone/>
                      </a:pPr>
                      <a:r>
                        <a:rPr lang="en" sz="1000">
                          <a:solidFill>
                            <a:srgbClr val="27251E"/>
                          </a:solidFill>
                        </a:rPr>
                        <a:t>Apple</a:t>
                      </a:r>
                      <a:endParaRPr sz="1000">
                        <a:solidFill>
                          <a:srgbClr val="27251E"/>
                        </a:solidFill>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1000">
                          <a:solidFill>
                            <a:srgbClr val="27251E"/>
                          </a:solidFill>
                        </a:rPr>
                        <a:t>4600</a:t>
                      </a:r>
                      <a:endParaRPr sz="1000">
                        <a:solidFill>
                          <a:srgbClr val="27251E"/>
                        </a:solidFill>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01"/>
                  </a:ext>
                </a:extLst>
              </a:tr>
              <a:tr h="200025">
                <a:tc>
                  <a:txBody>
                    <a:bodyPr/>
                    <a:lstStyle/>
                    <a:p>
                      <a:pPr marL="0" lvl="0" indent="0" algn="l" rtl="0">
                        <a:lnSpc>
                          <a:spcPct val="115000"/>
                        </a:lnSpc>
                        <a:spcBef>
                          <a:spcPts val="0"/>
                        </a:spcBef>
                        <a:spcAft>
                          <a:spcPts val="0"/>
                        </a:spcAft>
                        <a:buNone/>
                      </a:pPr>
                      <a:r>
                        <a:rPr lang="en" sz="1000">
                          <a:solidFill>
                            <a:srgbClr val="27251E"/>
                          </a:solidFill>
                        </a:rPr>
                        <a:t>Alphabet-Google</a:t>
                      </a:r>
                      <a:endParaRPr sz="1000">
                        <a:solidFill>
                          <a:srgbClr val="27251E"/>
                        </a:solidFill>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1000">
                          <a:solidFill>
                            <a:srgbClr val="27251E"/>
                          </a:solidFill>
                        </a:rPr>
                        <a:t>3200</a:t>
                      </a:r>
                      <a:endParaRPr sz="1000">
                        <a:solidFill>
                          <a:srgbClr val="27251E"/>
                        </a:solidFill>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02"/>
                  </a:ext>
                </a:extLst>
              </a:tr>
              <a:tr h="200025">
                <a:tc>
                  <a:txBody>
                    <a:bodyPr/>
                    <a:lstStyle/>
                    <a:p>
                      <a:pPr marL="0" lvl="0" indent="0" algn="l" rtl="0">
                        <a:lnSpc>
                          <a:spcPct val="115000"/>
                        </a:lnSpc>
                        <a:spcBef>
                          <a:spcPts val="0"/>
                        </a:spcBef>
                        <a:spcAft>
                          <a:spcPts val="0"/>
                        </a:spcAft>
                        <a:buNone/>
                      </a:pPr>
                      <a:r>
                        <a:rPr lang="en" sz="1000">
                          <a:solidFill>
                            <a:srgbClr val="27251E"/>
                          </a:solidFill>
                        </a:rPr>
                        <a:t>Tesla</a:t>
                      </a:r>
                      <a:endParaRPr sz="1000">
                        <a:solidFill>
                          <a:srgbClr val="27251E"/>
                        </a:solidFill>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1000">
                          <a:solidFill>
                            <a:srgbClr val="27251E"/>
                          </a:solidFill>
                        </a:rPr>
                        <a:t>1600</a:t>
                      </a:r>
                      <a:endParaRPr sz="1000">
                        <a:solidFill>
                          <a:srgbClr val="27251E"/>
                        </a:solidFill>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03"/>
                  </a:ext>
                </a:extLst>
              </a:tr>
              <a:tr h="200025">
                <a:tc>
                  <a:txBody>
                    <a:bodyPr/>
                    <a:lstStyle/>
                    <a:p>
                      <a:pPr marL="0" lvl="0" indent="0" algn="l" rtl="0">
                        <a:lnSpc>
                          <a:spcPct val="115000"/>
                        </a:lnSpc>
                        <a:spcBef>
                          <a:spcPts val="0"/>
                        </a:spcBef>
                        <a:spcAft>
                          <a:spcPts val="0"/>
                        </a:spcAft>
                        <a:buNone/>
                      </a:pPr>
                      <a:r>
                        <a:rPr lang="en" sz="1000">
                          <a:solidFill>
                            <a:srgbClr val="27251E"/>
                          </a:solidFill>
                        </a:rPr>
                        <a:t>Amazon Bedrock</a:t>
                      </a:r>
                      <a:endParaRPr sz="1000">
                        <a:solidFill>
                          <a:srgbClr val="27251E"/>
                        </a:solidFill>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1000">
                          <a:solidFill>
                            <a:srgbClr val="27251E"/>
                          </a:solidFill>
                        </a:rPr>
                        <a:t>1500</a:t>
                      </a:r>
                      <a:endParaRPr sz="1000">
                        <a:solidFill>
                          <a:srgbClr val="27251E"/>
                        </a:solidFill>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04"/>
                  </a:ext>
                </a:extLst>
              </a:tr>
              <a:tr h="200025">
                <a:tc>
                  <a:txBody>
                    <a:bodyPr/>
                    <a:lstStyle/>
                    <a:p>
                      <a:pPr marL="0" lvl="0" indent="0" algn="l" rtl="0">
                        <a:lnSpc>
                          <a:spcPct val="115000"/>
                        </a:lnSpc>
                        <a:spcBef>
                          <a:spcPts val="0"/>
                        </a:spcBef>
                        <a:spcAft>
                          <a:spcPts val="0"/>
                        </a:spcAft>
                        <a:buNone/>
                      </a:pPr>
                      <a:r>
                        <a:rPr lang="en" sz="1000">
                          <a:solidFill>
                            <a:srgbClr val="27251E"/>
                          </a:solidFill>
                        </a:rPr>
                        <a:t>Anthropic</a:t>
                      </a:r>
                      <a:endParaRPr sz="1000">
                        <a:solidFill>
                          <a:srgbClr val="27251E"/>
                        </a:solidFill>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1000">
                          <a:solidFill>
                            <a:srgbClr val="27251E"/>
                          </a:solidFill>
                        </a:rPr>
                        <a:t>965</a:t>
                      </a:r>
                      <a:endParaRPr sz="1000">
                        <a:solidFill>
                          <a:srgbClr val="27251E"/>
                        </a:solidFill>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05"/>
                  </a:ext>
                </a:extLst>
              </a:tr>
              <a:tr h="200025">
                <a:tc>
                  <a:txBody>
                    <a:bodyPr/>
                    <a:lstStyle/>
                    <a:p>
                      <a:pPr marL="0" lvl="0" indent="0" algn="l" rtl="0">
                        <a:lnSpc>
                          <a:spcPct val="115000"/>
                        </a:lnSpc>
                        <a:spcBef>
                          <a:spcPts val="0"/>
                        </a:spcBef>
                        <a:spcAft>
                          <a:spcPts val="0"/>
                        </a:spcAft>
                        <a:buNone/>
                      </a:pPr>
                      <a:r>
                        <a:rPr lang="en" sz="1000">
                          <a:solidFill>
                            <a:srgbClr val="27251E"/>
                          </a:solidFill>
                        </a:rPr>
                        <a:t>OpenAI</a:t>
                      </a:r>
                      <a:endParaRPr sz="1000">
                        <a:solidFill>
                          <a:srgbClr val="27251E"/>
                        </a:solidFill>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1000">
                          <a:solidFill>
                            <a:srgbClr val="27251E"/>
                          </a:solidFill>
                        </a:rPr>
                        <a:t>852</a:t>
                      </a:r>
                      <a:endParaRPr sz="1000">
                        <a:solidFill>
                          <a:srgbClr val="27251E"/>
                        </a:solidFill>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06"/>
                  </a:ext>
                </a:extLst>
              </a:tr>
              <a:tr h="200025">
                <a:tc>
                  <a:txBody>
                    <a:bodyPr/>
                    <a:lstStyle/>
                    <a:p>
                      <a:pPr marL="0" lvl="0" indent="0" algn="l" rtl="0">
                        <a:lnSpc>
                          <a:spcPct val="115000"/>
                        </a:lnSpc>
                        <a:spcBef>
                          <a:spcPts val="0"/>
                        </a:spcBef>
                        <a:spcAft>
                          <a:spcPts val="0"/>
                        </a:spcAft>
                        <a:buNone/>
                      </a:pPr>
                      <a:r>
                        <a:rPr lang="en" sz="1000">
                          <a:solidFill>
                            <a:srgbClr val="27251E"/>
                          </a:solidFill>
                        </a:rPr>
                        <a:t>Oracle Cloud</a:t>
                      </a:r>
                      <a:endParaRPr sz="1000">
                        <a:solidFill>
                          <a:srgbClr val="27251E"/>
                        </a:solidFill>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1000">
                          <a:solidFill>
                            <a:srgbClr val="27251E"/>
                          </a:solidFill>
                        </a:rPr>
                        <a:t>680</a:t>
                      </a:r>
                      <a:endParaRPr sz="1000">
                        <a:solidFill>
                          <a:srgbClr val="27251E"/>
                        </a:solidFill>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07"/>
                  </a:ext>
                </a:extLst>
              </a:tr>
              <a:tr h="200025">
                <a:tc>
                  <a:txBody>
                    <a:bodyPr/>
                    <a:lstStyle/>
                    <a:p>
                      <a:pPr marL="0" lvl="0" indent="0" algn="l" rtl="0">
                        <a:lnSpc>
                          <a:spcPct val="115000"/>
                        </a:lnSpc>
                        <a:spcBef>
                          <a:spcPts val="0"/>
                        </a:spcBef>
                        <a:spcAft>
                          <a:spcPts val="0"/>
                        </a:spcAft>
                        <a:buNone/>
                      </a:pPr>
                      <a:r>
                        <a:rPr lang="en" sz="1000">
                          <a:solidFill>
                            <a:srgbClr val="27251E"/>
                          </a:solidFill>
                        </a:rPr>
                        <a:t>Palantir</a:t>
                      </a:r>
                      <a:endParaRPr sz="1000">
                        <a:solidFill>
                          <a:srgbClr val="27251E"/>
                        </a:solidFill>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1000">
                          <a:solidFill>
                            <a:srgbClr val="27251E"/>
                          </a:solidFill>
                        </a:rPr>
                        <a:t>340</a:t>
                      </a:r>
                      <a:endParaRPr sz="1000">
                        <a:solidFill>
                          <a:srgbClr val="27251E"/>
                        </a:solidFill>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08"/>
                  </a:ext>
                </a:extLst>
              </a:tr>
              <a:tr h="200025">
                <a:tc>
                  <a:txBody>
                    <a:bodyPr/>
                    <a:lstStyle/>
                    <a:p>
                      <a:pPr marL="0" lvl="0" indent="0" algn="l" rtl="0">
                        <a:lnSpc>
                          <a:spcPct val="115000"/>
                        </a:lnSpc>
                        <a:spcBef>
                          <a:spcPts val="0"/>
                        </a:spcBef>
                        <a:spcAft>
                          <a:spcPts val="0"/>
                        </a:spcAft>
                        <a:buNone/>
                      </a:pPr>
                      <a:r>
                        <a:rPr lang="en" sz="1000">
                          <a:solidFill>
                            <a:srgbClr val="27251E"/>
                          </a:solidFill>
                        </a:rPr>
                        <a:t>IBM</a:t>
                      </a:r>
                      <a:endParaRPr sz="1000">
                        <a:solidFill>
                          <a:srgbClr val="27251E"/>
                        </a:solidFill>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1000">
                          <a:solidFill>
                            <a:srgbClr val="27251E"/>
                          </a:solidFill>
                        </a:rPr>
                        <a:t>284</a:t>
                      </a:r>
                      <a:endParaRPr sz="1000">
                        <a:solidFill>
                          <a:srgbClr val="27251E"/>
                        </a:solidFill>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09"/>
                  </a:ext>
                </a:extLst>
              </a:tr>
              <a:tr h="200025">
                <a:tc>
                  <a:txBody>
                    <a:bodyPr/>
                    <a:lstStyle/>
                    <a:p>
                      <a:pPr marL="0" lvl="0" indent="0" algn="l" rtl="0">
                        <a:lnSpc>
                          <a:spcPct val="115000"/>
                        </a:lnSpc>
                        <a:spcBef>
                          <a:spcPts val="0"/>
                        </a:spcBef>
                        <a:spcAft>
                          <a:spcPts val="0"/>
                        </a:spcAft>
                        <a:buNone/>
                      </a:pPr>
                      <a:r>
                        <a:rPr lang="en" sz="1000">
                          <a:solidFill>
                            <a:srgbClr val="27251E"/>
                          </a:solidFill>
                        </a:rPr>
                        <a:t>Toyota</a:t>
                      </a:r>
                      <a:endParaRPr sz="1000">
                        <a:solidFill>
                          <a:srgbClr val="27251E"/>
                        </a:solidFill>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1000">
                          <a:solidFill>
                            <a:srgbClr val="27251E"/>
                          </a:solidFill>
                        </a:rPr>
                        <a:t>234</a:t>
                      </a:r>
                      <a:endParaRPr sz="1000">
                        <a:solidFill>
                          <a:srgbClr val="27251E"/>
                        </a:solidFill>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10"/>
                  </a:ext>
                </a:extLst>
              </a:tr>
              <a:tr h="200025">
                <a:tc>
                  <a:txBody>
                    <a:bodyPr/>
                    <a:lstStyle/>
                    <a:p>
                      <a:pPr marL="0" lvl="0" indent="0" algn="l" rtl="0">
                        <a:lnSpc>
                          <a:spcPct val="115000"/>
                        </a:lnSpc>
                        <a:spcBef>
                          <a:spcPts val="0"/>
                        </a:spcBef>
                        <a:spcAft>
                          <a:spcPts val="0"/>
                        </a:spcAft>
                        <a:buNone/>
                      </a:pPr>
                      <a:r>
                        <a:rPr lang="en" sz="1000">
                          <a:solidFill>
                            <a:srgbClr val="27251E"/>
                          </a:solidFill>
                        </a:rPr>
                        <a:t>xAI</a:t>
                      </a:r>
                      <a:endParaRPr sz="1000">
                        <a:solidFill>
                          <a:srgbClr val="27251E"/>
                        </a:solidFill>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1000">
                          <a:solidFill>
                            <a:srgbClr val="27251E"/>
                          </a:solidFill>
                        </a:rPr>
                        <a:t>200</a:t>
                      </a:r>
                      <a:endParaRPr sz="1000">
                        <a:solidFill>
                          <a:srgbClr val="27251E"/>
                        </a:solidFill>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11"/>
                  </a:ext>
                </a:extLst>
              </a:tr>
              <a:tr h="200025">
                <a:tc>
                  <a:txBody>
                    <a:bodyPr/>
                    <a:lstStyle/>
                    <a:p>
                      <a:pPr marL="0" lvl="0" indent="0" algn="l" rtl="0">
                        <a:lnSpc>
                          <a:spcPct val="115000"/>
                        </a:lnSpc>
                        <a:spcBef>
                          <a:spcPts val="0"/>
                        </a:spcBef>
                        <a:spcAft>
                          <a:spcPts val="0"/>
                        </a:spcAft>
                        <a:buNone/>
                      </a:pPr>
                      <a:r>
                        <a:rPr lang="en" sz="1000">
                          <a:solidFill>
                            <a:srgbClr val="27251E"/>
                          </a:solidFill>
                        </a:rPr>
                        <a:t>Ford</a:t>
                      </a:r>
                      <a:endParaRPr sz="1000">
                        <a:solidFill>
                          <a:srgbClr val="27251E"/>
                        </a:solidFill>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1000">
                          <a:solidFill>
                            <a:srgbClr val="27251E"/>
                          </a:solidFill>
                        </a:rPr>
                        <a:t>62</a:t>
                      </a:r>
                      <a:endParaRPr sz="1000">
                        <a:solidFill>
                          <a:srgbClr val="27251E"/>
                        </a:solidFill>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12"/>
                  </a:ext>
                </a:extLst>
              </a:tr>
              <a:tr h="200025">
                <a:tc>
                  <a:txBody>
                    <a:bodyPr/>
                    <a:lstStyle/>
                    <a:p>
                      <a:pPr marL="0" lvl="0" indent="0" algn="l" rtl="0">
                        <a:lnSpc>
                          <a:spcPct val="115000"/>
                        </a:lnSpc>
                        <a:spcBef>
                          <a:spcPts val="0"/>
                        </a:spcBef>
                        <a:spcAft>
                          <a:spcPts val="0"/>
                        </a:spcAft>
                        <a:buNone/>
                      </a:pPr>
                      <a:r>
                        <a:rPr lang="en" sz="1000">
                          <a:solidFill>
                            <a:srgbClr val="27251E"/>
                          </a:solidFill>
                        </a:rPr>
                        <a:t>Mercedes-Benz</a:t>
                      </a:r>
                      <a:endParaRPr sz="1000">
                        <a:solidFill>
                          <a:srgbClr val="27251E"/>
                        </a:solidFill>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1000">
                          <a:solidFill>
                            <a:srgbClr val="27251E"/>
                          </a:solidFill>
                        </a:rPr>
                        <a:t>56</a:t>
                      </a:r>
                      <a:endParaRPr sz="1000">
                        <a:solidFill>
                          <a:srgbClr val="27251E"/>
                        </a:solidFill>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13"/>
                  </a:ext>
                </a:extLst>
              </a:tr>
              <a:tr h="200025">
                <a:tc>
                  <a:txBody>
                    <a:bodyPr/>
                    <a:lstStyle/>
                    <a:p>
                      <a:pPr marL="0" lvl="0" indent="0" algn="l" rtl="0">
                        <a:lnSpc>
                          <a:spcPct val="115000"/>
                        </a:lnSpc>
                        <a:spcBef>
                          <a:spcPts val="0"/>
                        </a:spcBef>
                        <a:spcAft>
                          <a:spcPts val="0"/>
                        </a:spcAft>
                        <a:buNone/>
                      </a:pPr>
                      <a:r>
                        <a:rPr lang="en" sz="1000">
                          <a:solidFill>
                            <a:srgbClr val="27251E"/>
                          </a:solidFill>
                        </a:rPr>
                        <a:t>Honda</a:t>
                      </a:r>
                      <a:endParaRPr sz="1000">
                        <a:solidFill>
                          <a:srgbClr val="27251E"/>
                        </a:solidFill>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1000">
                          <a:solidFill>
                            <a:srgbClr val="27251E"/>
                          </a:solidFill>
                        </a:rPr>
                        <a:t>35</a:t>
                      </a:r>
                      <a:endParaRPr sz="1000">
                        <a:solidFill>
                          <a:srgbClr val="27251E"/>
                        </a:solidFill>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14"/>
                  </a:ext>
                </a:extLst>
              </a:tr>
              <a:tr h="200025">
                <a:tc>
                  <a:txBody>
                    <a:bodyPr/>
                    <a:lstStyle/>
                    <a:p>
                      <a:pPr marL="0" lvl="0" indent="0" algn="l" rtl="0">
                        <a:lnSpc>
                          <a:spcPct val="115000"/>
                        </a:lnSpc>
                        <a:spcBef>
                          <a:spcPts val="0"/>
                        </a:spcBef>
                        <a:spcAft>
                          <a:spcPts val="0"/>
                        </a:spcAft>
                        <a:buNone/>
                      </a:pPr>
                      <a:r>
                        <a:rPr lang="en" sz="1000">
                          <a:solidFill>
                            <a:srgbClr val="27251E"/>
                          </a:solidFill>
                        </a:rPr>
                        <a:t>Subaru</a:t>
                      </a:r>
                      <a:endParaRPr sz="1000">
                        <a:solidFill>
                          <a:srgbClr val="27251E"/>
                        </a:solidFill>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1000">
                          <a:solidFill>
                            <a:srgbClr val="27251E"/>
                          </a:solidFill>
                        </a:rPr>
                        <a:t>11</a:t>
                      </a:r>
                      <a:endParaRPr sz="1000">
                        <a:solidFill>
                          <a:srgbClr val="27251E"/>
                        </a:solidFill>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15"/>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23"/>
        <p:cNvGrpSpPr/>
        <p:nvPr/>
      </p:nvGrpSpPr>
      <p:grpSpPr>
        <a:xfrm>
          <a:off x="0" y="0"/>
          <a:ext cx="0" cy="0"/>
          <a:chOff x="0" y="0"/>
          <a:chExt cx="0" cy="0"/>
        </a:xfrm>
      </p:grpSpPr>
      <p:sp>
        <p:nvSpPr>
          <p:cNvPr id="124" name="Google Shape;124;p21"/>
          <p:cNvSpPr txBox="1"/>
          <p:nvPr/>
        </p:nvSpPr>
        <p:spPr>
          <a:xfrm>
            <a:off x="81775" y="67675"/>
            <a:ext cx="3385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Anthropic New Billing June 15</a:t>
            </a:r>
            <a:endParaRPr sz="2000" b="1">
              <a:solidFill>
                <a:schemeClr val="dk1"/>
              </a:solidFill>
              <a:latin typeface="Calibri"/>
              <a:ea typeface="Calibri"/>
              <a:cs typeface="Calibri"/>
              <a:sym typeface="Calibri"/>
            </a:endParaRPr>
          </a:p>
        </p:txBody>
      </p:sp>
      <p:sp>
        <p:nvSpPr>
          <p:cNvPr id="125" name="Google Shape;125;p21"/>
          <p:cNvSpPr txBox="1"/>
          <p:nvPr/>
        </p:nvSpPr>
        <p:spPr>
          <a:xfrm>
            <a:off x="81775" y="478750"/>
            <a:ext cx="4471200" cy="4574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Anthropic New Billing June 15</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Splitting Claude's subscription into two separate usage pools:</a:t>
            </a:r>
            <a:endParaRPr sz="1200">
              <a:latin typeface="Calibri"/>
              <a:ea typeface="Calibri"/>
              <a:cs typeface="Calibri"/>
              <a:sym typeface="Calibri"/>
            </a:endParaRPr>
          </a:p>
          <a:p>
            <a:pPr marL="45720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one for interactive chat - continues as before</a:t>
            </a:r>
            <a:endParaRPr sz="1200">
              <a:latin typeface="Calibri"/>
              <a:ea typeface="Calibri"/>
              <a:cs typeface="Calibri"/>
              <a:sym typeface="Calibri"/>
            </a:endParaRPr>
          </a:p>
          <a:p>
            <a:pPr marL="45720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one for agentic usage - calculated at API rate</a:t>
            </a:r>
            <a:endParaRPr sz="1200">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3"/>
              </a:rPr>
              <a:t>https://beam.ai/agentic-insights/anthropics-new-billing-split-reveals-what-ai-agents-actually-cost</a:t>
            </a:r>
            <a:endParaRPr sz="8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When you have monthly subscription of $X/month, you get $X in credits for agentic use at full API rates. After using these credits, you will be automatically billed extra at API rate (if you enabled "extra usage") - or requests simply halt once the monthly credit is exhausted</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This affects: </a:t>
            </a:r>
            <a:endParaRPr sz="1200">
              <a:latin typeface="Calibri"/>
              <a:ea typeface="Calibri"/>
              <a:cs typeface="Calibri"/>
              <a:sym typeface="Calibri"/>
            </a:endParaRPr>
          </a:p>
          <a:p>
            <a:pPr marL="457200" marR="0" lvl="0" indent="-133350" algn="l" rtl="0">
              <a:lnSpc>
                <a:spcPct val="100000"/>
              </a:lnSpc>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claude -p</a:t>
            </a:r>
            <a:r>
              <a:rPr lang="en" sz="1200">
                <a:latin typeface="Calibri"/>
                <a:ea typeface="Calibri"/>
                <a:cs typeface="Calibri"/>
                <a:sym typeface="Calibri"/>
              </a:rPr>
              <a:t> (run one prompt - and exit)</a:t>
            </a:r>
            <a:endParaRPr sz="1200">
              <a:latin typeface="Calibri"/>
              <a:ea typeface="Calibri"/>
              <a:cs typeface="Calibri"/>
              <a:sym typeface="Calibri"/>
            </a:endParaRPr>
          </a:p>
          <a:p>
            <a:pPr marL="457200" marR="0" lvl="0" indent="-133350" algn="l" rtl="0">
              <a:lnSpc>
                <a:spcPct val="100000"/>
              </a:lnSpc>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Claude Agent SDK</a:t>
            </a:r>
            <a:r>
              <a:rPr lang="en" sz="1200">
                <a:latin typeface="Calibri"/>
                <a:ea typeface="Calibri"/>
                <a:cs typeface="Calibri"/>
                <a:sym typeface="Calibri"/>
              </a:rPr>
              <a:t> (Python and TypeScript)</a:t>
            </a:r>
            <a:endParaRPr sz="1200">
              <a:latin typeface="Calibri"/>
              <a:ea typeface="Calibri"/>
              <a:cs typeface="Calibri"/>
              <a:sym typeface="Calibri"/>
            </a:endParaRPr>
          </a:p>
          <a:p>
            <a:pPr marL="45720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Claude Code GitHub Actions</a:t>
            </a:r>
            <a:endParaRPr sz="1200" b="1">
              <a:solidFill>
                <a:srgbClr val="3C78D8"/>
              </a:solidFill>
              <a:latin typeface="Calibri"/>
              <a:ea typeface="Calibri"/>
              <a:cs typeface="Calibri"/>
              <a:sym typeface="Calibri"/>
            </a:endParaRPr>
          </a:p>
          <a:p>
            <a:pPr marL="457200" marR="0" lvl="0" indent="-133350" algn="l" rtl="0">
              <a:lnSpc>
                <a:spcPct val="100000"/>
              </a:lnSpc>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Third-party apps using Agent SDK authentication</a:t>
            </a:r>
            <a:r>
              <a:rPr lang="en" sz="1200">
                <a:latin typeface="Calibri"/>
                <a:ea typeface="Calibri"/>
                <a:cs typeface="Calibri"/>
                <a:sym typeface="Calibri"/>
              </a:rPr>
              <a:t> (OpenClaw, Zed's Claude integration, Conductor, Jean, ...)</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Interactive CLI sessions in terminal (or interactive session in Claude desktop app) are not affected - they will continue to draw from your standard subscription pool, just as before; So if you use "claude" command in terminal for interactive session - it is still billed as part of your monthly subscription. You can ask it to do multi-step operation (long task list) - still billed through subscription.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Careful - remove your </a:t>
            </a:r>
            <a:r>
              <a:rPr lang="en" sz="1200">
                <a:solidFill>
                  <a:schemeClr val="dk1"/>
                </a:solidFill>
                <a:latin typeface="Calibri"/>
                <a:ea typeface="Calibri"/>
                <a:cs typeface="Calibri"/>
                <a:sym typeface="Calibri"/>
              </a:rPr>
              <a:t>ANTHROPIC_API_KEY</a:t>
            </a:r>
            <a:r>
              <a:rPr lang="en" sz="1200">
                <a:latin typeface="Calibri"/>
                <a:ea typeface="Calibri"/>
                <a:cs typeface="Calibri"/>
                <a:sym typeface="Calibri"/>
              </a:rPr>
              <a:t> key, because </a:t>
            </a:r>
            <a:r>
              <a:rPr lang="en" sz="1200">
                <a:solidFill>
                  <a:schemeClr val="dk1"/>
                </a:solidFill>
                <a:latin typeface="Calibri"/>
                <a:ea typeface="Calibri"/>
                <a:cs typeface="Calibri"/>
                <a:sym typeface="Calibri"/>
              </a:rPr>
              <a:t>when you hit your subscription's 5-hour limit, </a:t>
            </a:r>
            <a:r>
              <a:rPr lang="en" sz="1200">
                <a:latin typeface="Calibri"/>
                <a:ea typeface="Calibri"/>
                <a:cs typeface="Calibri"/>
                <a:sym typeface="Calibri"/>
              </a:rPr>
              <a:t>Claude Code may automatically switch to using that API key instead</a:t>
            </a:r>
            <a:endParaRPr sz="1200">
              <a:solidFill>
                <a:schemeClr val="dk1"/>
              </a:solidFill>
              <a:latin typeface="Calibri"/>
              <a:ea typeface="Calibri"/>
              <a:cs typeface="Calibri"/>
              <a:sym typeface="Calibri"/>
            </a:endParaRPr>
          </a:p>
        </p:txBody>
      </p:sp>
      <p:sp>
        <p:nvSpPr>
          <p:cNvPr id="126" name="Google Shape;126;p21"/>
          <p:cNvSpPr txBox="1"/>
          <p:nvPr/>
        </p:nvSpPr>
        <p:spPr>
          <a:xfrm>
            <a:off x="4639704" y="44916"/>
            <a:ext cx="4471200" cy="1865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Unused credits do not roll over - they expire at the end of each billing cycle; </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Credits are "per-user" and cannot be pooled or transferred across team members</a:t>
            </a:r>
            <a:endParaRPr sz="1200">
              <a:latin typeface="Calibri"/>
              <a:ea typeface="Calibri"/>
              <a:cs typeface="Calibri"/>
              <a:sym typeface="Calibri"/>
            </a:endParaRPr>
          </a:p>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Zed Claude Agent, VSCode Claude Code Extension, PyCharm (JetBrains) Claude Code Plugin - billing depends on task</a:t>
            </a:r>
            <a:endParaRPr sz="1200" b="1">
              <a:solidFill>
                <a:srgbClr val="FF0000"/>
              </a:solidFill>
              <a:latin typeface="Calibri"/>
              <a:ea typeface="Calibri"/>
              <a:cs typeface="Calibri"/>
              <a:sym typeface="Calibri"/>
            </a:endParaRPr>
          </a:p>
          <a:p>
            <a:pPr marL="34290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Interactive question - can be billed through monthly subscription</a:t>
            </a:r>
            <a:endParaRPr sz="1200">
              <a:solidFill>
                <a:srgbClr val="3C78D8"/>
              </a:solidFill>
              <a:latin typeface="Calibri"/>
              <a:ea typeface="Calibri"/>
              <a:cs typeface="Calibri"/>
              <a:sym typeface="Calibri"/>
            </a:endParaRPr>
          </a:p>
          <a:p>
            <a:pPr marL="34290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Agentic tasks (autonomous file edits, multi-step coding runs, anything using the Agent SDK under the hood) - counts against your new credit pool after June 15</a:t>
            </a:r>
            <a:endParaRPr sz="1200">
              <a:latin typeface="Calibri"/>
              <a:ea typeface="Calibri"/>
              <a:cs typeface="Calibri"/>
              <a:sym typeface="Calibri"/>
            </a:endParaRPr>
          </a:p>
        </p:txBody>
      </p:sp>
      <p:graphicFrame>
        <p:nvGraphicFramePr>
          <p:cNvPr id="127" name="Google Shape;127;p21"/>
          <p:cNvGraphicFramePr/>
          <p:nvPr/>
        </p:nvGraphicFramePr>
        <p:xfrm>
          <a:off x="4628325" y="2613112"/>
          <a:ext cx="3000000" cy="3000000"/>
        </p:xfrm>
        <a:graphic>
          <a:graphicData uri="http://schemas.openxmlformats.org/drawingml/2006/table">
            <a:tbl>
              <a:tblPr>
                <a:noFill/>
                <a:tableStyleId>{B28CE963-2728-49E8-BE2C-4A07F5D4A988}</a:tableStyleId>
              </a:tblPr>
              <a:tblGrid>
                <a:gridCol w="1144325">
                  <a:extLst>
                    <a:ext uri="{9D8B030D-6E8A-4147-A177-3AD203B41FA5}">
                      <a16:colId xmlns:a16="http://schemas.microsoft.com/office/drawing/2014/main" val="20000"/>
                    </a:ext>
                  </a:extLst>
                </a:gridCol>
                <a:gridCol w="372200">
                  <a:extLst>
                    <a:ext uri="{9D8B030D-6E8A-4147-A177-3AD203B41FA5}">
                      <a16:colId xmlns:a16="http://schemas.microsoft.com/office/drawing/2014/main" val="20001"/>
                    </a:ext>
                  </a:extLst>
                </a:gridCol>
                <a:gridCol w="723900">
                  <a:extLst>
                    <a:ext uri="{9D8B030D-6E8A-4147-A177-3AD203B41FA5}">
                      <a16:colId xmlns:a16="http://schemas.microsoft.com/office/drawing/2014/main" val="20002"/>
                    </a:ext>
                  </a:extLst>
                </a:gridCol>
                <a:gridCol w="2230775">
                  <a:extLst>
                    <a:ext uri="{9D8B030D-6E8A-4147-A177-3AD203B41FA5}">
                      <a16:colId xmlns:a16="http://schemas.microsoft.com/office/drawing/2014/main" val="20003"/>
                    </a:ext>
                  </a:extLst>
                </a:gridCol>
              </a:tblGrid>
              <a:tr h="161450">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Model</a:t>
                      </a:r>
                      <a:endParaRPr sz="800" b="1">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2F2F2"/>
                    </a:solidFill>
                  </a:tcPr>
                </a:tc>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Type</a:t>
                      </a:r>
                      <a:endParaRPr sz="800" b="1">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2F2F2"/>
                    </a:solidFill>
                  </a:tcPr>
                </a:tc>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Cost per 1Mtok</a:t>
                      </a:r>
                      <a:br>
                        <a:rPr lang="en" sz="800" b="1">
                          <a:latin typeface="Calibri"/>
                          <a:ea typeface="Calibri"/>
                          <a:cs typeface="Calibri"/>
                          <a:sym typeface="Calibri"/>
                        </a:rPr>
                      </a:br>
                      <a:r>
                        <a:rPr lang="en" sz="800" b="1">
                          <a:latin typeface="Calibri"/>
                          <a:ea typeface="Calibri"/>
                          <a:cs typeface="Calibri"/>
                          <a:sym typeface="Calibri"/>
                        </a:rPr>
                        <a:t>in/out - or Mem</a:t>
                      </a:r>
                      <a:endParaRPr sz="800" b="1">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2F2F2"/>
                    </a:solidFill>
                  </a:tcPr>
                </a:tc>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Agentic Strength</a:t>
                      </a:r>
                      <a:endParaRPr sz="800" b="1">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2F2F2"/>
                    </a:solidFill>
                  </a:tcPr>
                </a:tc>
                <a:extLst>
                  <a:ext uri="{0D108BD9-81ED-4DB2-BD59-A6C34878D82A}">
                    <a16:rowId xmlns:a16="http://schemas.microsoft.com/office/drawing/2014/main" val="10000"/>
                  </a:ext>
                </a:extLst>
              </a:tr>
              <a:tr h="85575">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Claude Opus 4.8</a:t>
                      </a:r>
                      <a:endParaRPr sz="800" b="1">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CE5CD"/>
                    </a:solidFill>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Cloud</a:t>
                      </a:r>
                      <a:endParaRPr sz="8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CE5CD"/>
                    </a:solidFill>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$15/$75</a:t>
                      </a:r>
                      <a:endParaRPr sz="8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CE5CD"/>
                    </a:solidFill>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Best</a:t>
                      </a:r>
                      <a:endParaRPr sz="8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CE5CD"/>
                    </a:solidFill>
                  </a:tcPr>
                </a:tc>
                <a:extLst>
                  <a:ext uri="{0D108BD9-81ED-4DB2-BD59-A6C34878D82A}">
                    <a16:rowId xmlns:a16="http://schemas.microsoft.com/office/drawing/2014/main" val="10001"/>
                  </a:ext>
                </a:extLst>
              </a:tr>
              <a:tr h="85575">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Gemini 3.1 Pro</a:t>
                      </a:r>
                      <a:endParaRPr sz="800" b="1">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Cloud</a:t>
                      </a:r>
                      <a:endParaRPr sz="8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$2/$12</a:t>
                      </a:r>
                      <a:endParaRPr sz="8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Frontier, 1M context, multimodal</a:t>
                      </a:r>
                      <a:endParaRPr sz="800" u="sng">
                        <a:solidFill>
                          <a:schemeClr val="hlink"/>
                        </a:solidFill>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2"/>
                  </a:ext>
                </a:extLst>
              </a:tr>
              <a:tr h="85575">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Qwen3-235B-A22B</a:t>
                      </a:r>
                      <a:endParaRPr sz="8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Local</a:t>
                      </a:r>
                      <a:endParaRPr sz="8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130GB RAM</a:t>
                      </a:r>
                      <a:endParaRPr sz="8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Near-frontier, excellent tool calling</a:t>
                      </a:r>
                      <a:endParaRPr sz="800" u="sng">
                        <a:solidFill>
                          <a:schemeClr val="hlink"/>
                        </a:solidFill>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03"/>
                  </a:ext>
                </a:extLst>
              </a:tr>
              <a:tr h="85575">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Kimi K2.5</a:t>
                      </a:r>
                      <a:endParaRPr sz="800" b="1">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Cloud</a:t>
                      </a:r>
                      <a:endParaRPr sz="8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$0.45 / $2.25</a:t>
                      </a:r>
                      <a:endParaRPr sz="8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Top general agentic, complex tool use, long sessions</a:t>
                      </a:r>
                      <a:r>
                        <a:rPr lang="en" sz="800">
                          <a:uFill>
                            <a:noFill/>
                          </a:uFill>
                          <a:latin typeface="Calibri"/>
                          <a:ea typeface="Calibri"/>
                          <a:cs typeface="Calibri"/>
                          <a:sym typeface="Calibri"/>
                          <a:hlinkClick r:id="rId4"/>
                        </a:rPr>
                        <a:t> </a:t>
                      </a:r>
                      <a:endParaRPr sz="800" u="sng">
                        <a:solidFill>
                          <a:schemeClr val="hlink"/>
                        </a:solidFill>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4"/>
                  </a:ext>
                </a:extLst>
              </a:tr>
              <a:tr h="161450">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Qwen3 Coder 480B A35B</a:t>
                      </a:r>
                      <a:endParaRPr sz="800" b="1">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Cloud</a:t>
                      </a:r>
                      <a:endParaRPr sz="8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$0.40 / $1.60</a:t>
                      </a:r>
                      <a:endParaRPr sz="8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Best-in-class for coding agents specifically</a:t>
                      </a:r>
                      <a:endParaRPr sz="800" u="sng">
                        <a:solidFill>
                          <a:schemeClr val="hlink"/>
                        </a:solidFill>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5"/>
                  </a:ext>
                </a:extLst>
              </a:tr>
              <a:tr h="85575">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GPT-4.1 Mini</a:t>
                      </a:r>
                      <a:endParaRPr sz="800" b="1">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Cloud</a:t>
                      </a:r>
                      <a:endParaRPr sz="8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$0.40 / $1.60</a:t>
                      </a:r>
                      <a:endParaRPr sz="8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Strong tool calling, 1M context, solid coding</a:t>
                      </a:r>
                      <a:endParaRPr sz="800" u="sng">
                        <a:solidFill>
                          <a:schemeClr val="hlink"/>
                        </a:solidFill>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6"/>
                  </a:ext>
                </a:extLst>
              </a:tr>
              <a:tr h="85575">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Llama 3.3 70B</a:t>
                      </a:r>
                      <a:endParaRPr sz="800" b="1">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Local</a:t>
                      </a:r>
                      <a:endParaRPr sz="8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~40GB RAM</a:t>
                      </a:r>
                      <a:endParaRPr sz="8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Strong generalist agent, widely supported in Ollama</a:t>
                      </a:r>
                      <a:endParaRPr sz="800" u="sng">
                        <a:solidFill>
                          <a:schemeClr val="hlink"/>
                        </a:solidFill>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07"/>
                  </a:ext>
                </a:extLst>
              </a:tr>
              <a:tr h="85575">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DeepSeek-V3-0324</a:t>
                      </a:r>
                      <a:endParaRPr sz="800" b="1">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Cloud</a:t>
                      </a:r>
                      <a:endParaRPr sz="8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$0.20 / $0.77</a:t>
                      </a:r>
                      <a:endParaRPr sz="8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Excellent cost/performance, strong coding agents</a:t>
                      </a:r>
                      <a:endParaRPr sz="800" u="sng">
                        <a:solidFill>
                          <a:schemeClr val="hlink"/>
                        </a:solidFill>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8"/>
                  </a:ext>
                </a:extLst>
              </a:tr>
              <a:tr h="161450">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Qwen3.6‑35B‑A3B (MoE)</a:t>
                      </a:r>
                      <a:endParaRPr sz="8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Local</a:t>
                      </a:r>
                      <a:endParaRPr sz="8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~22GB RAM</a:t>
                      </a:r>
                      <a:endParaRPr sz="8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Great reasoning + tool calling, tiny active params</a:t>
                      </a:r>
                      <a:endParaRPr sz="800" u="sng">
                        <a:solidFill>
                          <a:schemeClr val="hlink"/>
                        </a:solidFill>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09"/>
                  </a:ext>
                </a:extLst>
              </a:tr>
              <a:tr h="161450">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Qwen3 Coder 30B-A3B</a:t>
                      </a:r>
                      <a:endParaRPr sz="800" b="1">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Local</a:t>
                      </a:r>
                      <a:endParaRPr sz="8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~18GB RAM</a:t>
                      </a:r>
                      <a:endParaRPr sz="8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Same MoE efficiency, tuned for code</a:t>
                      </a:r>
                      <a:endParaRPr sz="800" u="sng">
                        <a:solidFill>
                          <a:schemeClr val="hlink"/>
                        </a:solidFill>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10"/>
                  </a:ext>
                </a:extLst>
              </a:tr>
              <a:tr h="85950">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GLM-4.5-Air</a:t>
                      </a:r>
                      <a:endParaRPr sz="800" b="1">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Local</a:t>
                      </a:r>
                      <a:endParaRPr sz="8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~20GB RAM</a:t>
                      </a:r>
                      <a:endParaRPr sz="8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Purpose-built for agents, MoE architecture</a:t>
                      </a:r>
                      <a:endParaRPr sz="800" u="sng">
                        <a:solidFill>
                          <a:schemeClr val="hlink"/>
                        </a:solidFill>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11"/>
                  </a:ext>
                </a:extLst>
              </a:tr>
              <a:tr h="161450">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Gemini 3.1 Flash-Lite</a:t>
                      </a:r>
                      <a:endParaRPr sz="800" b="1">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Cloud</a:t>
                      </a:r>
                      <a:endParaRPr sz="8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$0.25 / $1.50</a:t>
                      </a:r>
                      <a:endParaRPr sz="8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Good tool use, very fast, lowest cloud cost</a:t>
                      </a:r>
                      <a:endParaRPr sz="800" u="sng">
                        <a:solidFill>
                          <a:schemeClr val="hlink"/>
                        </a:solidFill>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2"/>
                  </a:ext>
                </a:extLst>
              </a:tr>
              <a:tr h="161450">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Qwen 3.7 Plus</a:t>
                      </a:r>
                      <a:endParaRPr sz="800" b="1">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Cloud</a:t>
                      </a:r>
                      <a:endParaRPr sz="8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$0.40 / $1.60</a:t>
                      </a:r>
                      <a:endParaRPr sz="8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Multimodal Agent-focused</a:t>
                      </a:r>
                      <a:endParaRPr sz="8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3"/>
                  </a:ext>
                </a:extLst>
              </a:tr>
            </a:tbl>
          </a:graphicData>
        </a:graphic>
      </p:graphicFrame>
      <p:sp>
        <p:nvSpPr>
          <p:cNvPr id="128" name="Google Shape;128;p21"/>
          <p:cNvSpPr txBox="1"/>
          <p:nvPr/>
        </p:nvSpPr>
        <p:spPr>
          <a:xfrm>
            <a:off x="4628300" y="1965150"/>
            <a:ext cx="4471200" cy="572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So we can still use Claude Subscription for coding if we use Claude Code CLI</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To run "digital employee" we can select cheaper models:</a:t>
            </a:r>
            <a:endParaRPr sz="1200">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32"/>
        <p:cNvGrpSpPr/>
        <p:nvPr/>
      </p:nvGrpSpPr>
      <p:grpSpPr>
        <a:xfrm>
          <a:off x="0" y="0"/>
          <a:ext cx="0" cy="0"/>
          <a:chOff x="0" y="0"/>
          <a:chExt cx="0" cy="0"/>
        </a:xfrm>
      </p:grpSpPr>
      <p:sp>
        <p:nvSpPr>
          <p:cNvPr id="133" name="Google Shape;133;p22"/>
          <p:cNvSpPr txBox="1"/>
          <p:nvPr/>
        </p:nvSpPr>
        <p:spPr>
          <a:xfrm>
            <a:off x="81775" y="67675"/>
            <a:ext cx="2737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Select Cheaper Model</a:t>
            </a:r>
            <a:endParaRPr sz="2000" b="1">
              <a:solidFill>
                <a:schemeClr val="dk1"/>
              </a:solidFill>
              <a:latin typeface="Calibri"/>
              <a:ea typeface="Calibri"/>
              <a:cs typeface="Calibri"/>
              <a:sym typeface="Calibri"/>
            </a:endParaRPr>
          </a:p>
        </p:txBody>
      </p:sp>
      <p:sp>
        <p:nvSpPr>
          <p:cNvPr id="134" name="Google Shape;134;p22"/>
          <p:cNvSpPr txBox="1"/>
          <p:nvPr/>
        </p:nvSpPr>
        <p:spPr>
          <a:xfrm>
            <a:off x="81775" y="685800"/>
            <a:ext cx="2975700" cy="3481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Select an Affordable Model</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Artificial Analysis </a:t>
            </a:r>
            <a:endParaRPr sz="1200">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https://artificialanalysis.ai</a:t>
            </a:r>
            <a:endParaRPr sz="9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4"/>
              </a:rPr>
              <a:t>https://github.com/alexfazio/artificial-analysis-compare</a:t>
            </a:r>
            <a:r>
              <a:rPr lang="en" sz="900">
                <a:latin typeface="Calibri"/>
                <a:ea typeface="Calibri"/>
                <a:cs typeface="Calibri"/>
                <a:sym typeface="Calibri"/>
              </a:rPr>
              <a:t> </a:t>
            </a:r>
            <a:endParaRPr sz="9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LMArena </a:t>
            </a:r>
            <a:endParaRPr sz="1200">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https://arena.ai</a:t>
            </a:r>
            <a:endParaRPr sz="9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Vellum AI LLM Leaderboard - </a:t>
            </a:r>
            <a:r>
              <a:rPr lang="en" sz="900" u="sng">
                <a:solidFill>
                  <a:schemeClr val="hlink"/>
                </a:solidFill>
                <a:latin typeface="Calibri"/>
                <a:ea typeface="Calibri"/>
                <a:cs typeface="Calibri"/>
                <a:sym typeface="Calibri"/>
                <a:hlinkClick r:id="rId6"/>
              </a:rPr>
              <a:t>https://www.vellum.ai/llm-leaderboard</a:t>
            </a:r>
            <a:endParaRPr sz="9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Onyx LLM Leaderboard - </a:t>
            </a:r>
            <a:r>
              <a:rPr lang="en" sz="900" u="sng">
                <a:solidFill>
                  <a:schemeClr val="hlink"/>
                </a:solidFill>
                <a:latin typeface="Calibri"/>
                <a:ea typeface="Calibri"/>
                <a:cs typeface="Calibri"/>
                <a:sym typeface="Calibri"/>
                <a:hlinkClick r:id="rId7"/>
              </a:rPr>
              <a:t>https://onyx.app/llm-leaderboard</a:t>
            </a:r>
            <a:endParaRPr sz="9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ClickRank LLM Leaderboard - </a:t>
            </a:r>
            <a:r>
              <a:rPr lang="en" sz="900" u="sng">
                <a:solidFill>
                  <a:schemeClr val="hlink"/>
                </a:solidFill>
                <a:latin typeface="Calibri"/>
                <a:ea typeface="Calibri"/>
                <a:cs typeface="Calibri"/>
                <a:sym typeface="Calibri"/>
                <a:hlinkClick r:id="rId8"/>
              </a:rPr>
              <a:t>https://www.clickrank.ai/llm-leaderboard/</a:t>
            </a:r>
            <a:endParaRPr sz="9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Hugging Face Open LLM Leaderboard - </a:t>
            </a:r>
            <a:r>
              <a:rPr lang="en" sz="900" u="sng">
                <a:solidFill>
                  <a:schemeClr val="hlink"/>
                </a:solidFill>
                <a:latin typeface="Calibri"/>
                <a:ea typeface="Calibri"/>
                <a:cs typeface="Calibri"/>
                <a:sym typeface="Calibri"/>
                <a:hlinkClick r:id="rId9"/>
              </a:rPr>
              <a:t>https://huggingface.co/spaces/HuggingFaceH4/open_llm_leaderboard</a:t>
            </a:r>
            <a:endParaRPr sz="9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HELM (Stanford) - </a:t>
            </a:r>
            <a:r>
              <a:rPr lang="en" sz="900" u="sng">
                <a:solidFill>
                  <a:schemeClr val="hlink"/>
                </a:solidFill>
                <a:latin typeface="Calibri"/>
                <a:ea typeface="Calibri"/>
                <a:cs typeface="Calibri"/>
                <a:sym typeface="Calibri"/>
                <a:hlinkClick r:id="rId10"/>
              </a:rPr>
              <a:t>https://crfm.stanford.edu/helm/</a:t>
            </a:r>
            <a:endParaRPr sz="9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dextralabs - </a:t>
            </a:r>
            <a:r>
              <a:rPr lang="en" sz="900" u="sng">
                <a:solidFill>
                  <a:schemeClr val="hlink"/>
                </a:solidFill>
                <a:latin typeface="Calibri"/>
                <a:ea typeface="Calibri"/>
                <a:cs typeface="Calibri"/>
                <a:sym typeface="Calibri"/>
                <a:hlinkClick r:id="rId11"/>
              </a:rPr>
              <a:t>https://dextralabs.com/blog/best-llm-leaderboard/</a:t>
            </a:r>
            <a:r>
              <a:rPr lang="en" sz="900">
                <a:latin typeface="Calibri"/>
                <a:ea typeface="Calibri"/>
                <a:cs typeface="Calibri"/>
                <a:sym typeface="Calibri"/>
              </a:rPr>
              <a:t> </a:t>
            </a:r>
            <a:endParaRPr sz="9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DeepSeek - very good value (x9 lower cost)</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For local - Kimi K2.5 and Qwen 3.5 are the top open-weight </a:t>
            </a:r>
            <a:endParaRPr sz="1200">
              <a:latin typeface="Calibri"/>
              <a:ea typeface="Calibri"/>
              <a:cs typeface="Calibri"/>
              <a:sym typeface="Calibri"/>
            </a:endParaRPr>
          </a:p>
        </p:txBody>
      </p:sp>
      <p:pic>
        <p:nvPicPr>
          <p:cNvPr id="135" name="Google Shape;135;p22"/>
          <p:cNvPicPr preferRelativeResize="0"/>
          <p:nvPr/>
        </p:nvPicPr>
        <p:blipFill>
          <a:blip r:embed="rId12" cstate="email">
            <a:alphaModFix/>
            <a:extLst>
              <a:ext uri="{28A0092B-C50C-407E-A947-70E740481C1C}">
                <a14:useLocalDpi xmlns:a14="http://schemas.microsoft.com/office/drawing/2010/main"/>
              </a:ext>
            </a:extLst>
          </a:blip>
          <a:stretch>
            <a:fillRect/>
          </a:stretch>
        </p:blipFill>
        <p:spPr>
          <a:xfrm>
            <a:off x="3548582" y="914584"/>
            <a:ext cx="4775150" cy="1895475"/>
          </a:xfrm>
          <a:prstGeom prst="rect">
            <a:avLst/>
          </a:prstGeom>
          <a:noFill/>
          <a:ln w="9525" cap="flat" cmpd="sng">
            <a:solidFill>
              <a:srgbClr val="FF0000"/>
            </a:solidFill>
            <a:prstDash val="solid"/>
            <a:round/>
            <a:headEnd type="none" w="sm" len="sm"/>
            <a:tailEnd type="none" w="sm" len="sm"/>
          </a:ln>
        </p:spPr>
      </p:pic>
      <p:sp>
        <p:nvSpPr>
          <p:cNvPr id="136" name="Google Shape;136;p22"/>
          <p:cNvSpPr txBox="1"/>
          <p:nvPr/>
        </p:nvSpPr>
        <p:spPr>
          <a:xfrm>
            <a:off x="7957457" y="2732859"/>
            <a:ext cx="5469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200">
                <a:latin typeface="Calibri"/>
                <a:ea typeface="Calibri"/>
                <a:cs typeface="Calibri"/>
                <a:sym typeface="Calibri"/>
              </a:rPr>
              <a:t>Cost</a:t>
            </a:r>
            <a:endParaRPr sz="1200">
              <a:latin typeface="Calibri"/>
              <a:ea typeface="Calibri"/>
              <a:cs typeface="Calibri"/>
              <a:sym typeface="Calibri"/>
            </a:endParaRPr>
          </a:p>
        </p:txBody>
      </p:sp>
      <p:sp>
        <p:nvSpPr>
          <p:cNvPr id="137" name="Google Shape;137;p22"/>
          <p:cNvSpPr txBox="1"/>
          <p:nvPr/>
        </p:nvSpPr>
        <p:spPr>
          <a:xfrm>
            <a:off x="3443082" y="838384"/>
            <a:ext cx="7143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200">
                <a:latin typeface="Calibri"/>
                <a:ea typeface="Calibri"/>
                <a:cs typeface="Calibri"/>
                <a:sym typeface="Calibri"/>
              </a:rPr>
              <a:t>Quality</a:t>
            </a:r>
            <a:endParaRPr sz="1200">
              <a:latin typeface="Calibri"/>
              <a:ea typeface="Calibri"/>
              <a:cs typeface="Calibri"/>
              <a:sym typeface="Calibri"/>
            </a:endParaRPr>
          </a:p>
        </p:txBody>
      </p:sp>
      <p:graphicFrame>
        <p:nvGraphicFramePr>
          <p:cNvPr id="138" name="Google Shape;138;p22"/>
          <p:cNvGraphicFramePr/>
          <p:nvPr/>
        </p:nvGraphicFramePr>
        <p:xfrm>
          <a:off x="3548582" y="2961234"/>
          <a:ext cx="3000000" cy="3000000"/>
        </p:xfrm>
        <a:graphic>
          <a:graphicData uri="http://schemas.openxmlformats.org/drawingml/2006/table">
            <a:tbl>
              <a:tblPr>
                <a:noFill/>
                <a:tableStyleId>{B28CE963-2728-49E8-BE2C-4A07F5D4A988}</a:tableStyleId>
              </a:tblPr>
              <a:tblGrid>
                <a:gridCol w="851775">
                  <a:extLst>
                    <a:ext uri="{9D8B030D-6E8A-4147-A177-3AD203B41FA5}">
                      <a16:colId xmlns:a16="http://schemas.microsoft.com/office/drawing/2014/main" val="20000"/>
                    </a:ext>
                  </a:extLst>
                </a:gridCol>
                <a:gridCol w="2478650">
                  <a:extLst>
                    <a:ext uri="{9D8B030D-6E8A-4147-A177-3AD203B41FA5}">
                      <a16:colId xmlns:a16="http://schemas.microsoft.com/office/drawing/2014/main" val="20001"/>
                    </a:ext>
                  </a:extLst>
                </a:gridCol>
              </a:tblGrid>
              <a:tr h="197125">
                <a:tc>
                  <a:txBody>
                    <a:bodyPr/>
                    <a:lstStyle/>
                    <a:p>
                      <a:pPr marL="0" lvl="0" indent="0" algn="l" rtl="0">
                        <a:lnSpc>
                          <a:spcPct val="115000"/>
                        </a:lnSpc>
                        <a:spcBef>
                          <a:spcPts val="0"/>
                        </a:spcBef>
                        <a:spcAft>
                          <a:spcPts val="0"/>
                        </a:spcAft>
                        <a:buNone/>
                      </a:pPr>
                      <a:r>
                        <a:rPr lang="en" sz="900" b="1">
                          <a:latin typeface="Calibri"/>
                          <a:ea typeface="Calibri"/>
                          <a:cs typeface="Calibri"/>
                          <a:sym typeface="Calibri"/>
                        </a:rPr>
                        <a:t>Model</a:t>
                      </a:r>
                      <a:endParaRPr sz="900" b="1">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2F2F2"/>
                    </a:solidFill>
                  </a:tcPr>
                </a:tc>
                <a:tc>
                  <a:txBody>
                    <a:bodyPr/>
                    <a:lstStyle/>
                    <a:p>
                      <a:pPr marL="0" lvl="0" indent="0" algn="l" rtl="0">
                        <a:lnSpc>
                          <a:spcPct val="115000"/>
                        </a:lnSpc>
                        <a:spcBef>
                          <a:spcPts val="0"/>
                        </a:spcBef>
                        <a:spcAft>
                          <a:spcPts val="0"/>
                        </a:spcAft>
                        <a:buNone/>
                      </a:pPr>
                      <a:r>
                        <a:rPr lang="en" sz="900" b="1">
                          <a:latin typeface="Calibri"/>
                          <a:ea typeface="Calibri"/>
                          <a:cs typeface="Calibri"/>
                          <a:sym typeface="Calibri"/>
                        </a:rPr>
                        <a:t>Example public pricing*</a:t>
                      </a:r>
                      <a:endParaRPr sz="900" b="1">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2F2F2"/>
                    </a:solidFill>
                  </a:tcPr>
                </a:tc>
                <a:extLst>
                  <a:ext uri="{0D108BD9-81ED-4DB2-BD59-A6C34878D82A}">
                    <a16:rowId xmlns:a16="http://schemas.microsoft.com/office/drawing/2014/main" val="10000"/>
                  </a:ext>
                </a:extLst>
              </a:tr>
              <a:tr h="266500">
                <a:tc>
                  <a:txBody>
                    <a:bodyPr/>
                    <a:lstStyle/>
                    <a:p>
                      <a:pPr marL="0" lvl="0" indent="0" algn="l" rtl="0">
                        <a:lnSpc>
                          <a:spcPct val="115000"/>
                        </a:lnSpc>
                        <a:spcBef>
                          <a:spcPts val="0"/>
                        </a:spcBef>
                        <a:spcAft>
                          <a:spcPts val="0"/>
                        </a:spcAft>
                        <a:buNone/>
                      </a:pPr>
                      <a:r>
                        <a:rPr lang="en" sz="900">
                          <a:latin typeface="Calibri"/>
                          <a:ea typeface="Calibri"/>
                          <a:cs typeface="Calibri"/>
                          <a:sym typeface="Calibri"/>
                        </a:rPr>
                        <a:t>Qwen3.7-Max</a:t>
                      </a:r>
                      <a:endParaRPr sz="9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900">
                          <a:latin typeface="Calibri"/>
                          <a:ea typeface="Calibri"/>
                          <a:cs typeface="Calibri"/>
                          <a:sym typeface="Calibri"/>
                        </a:rPr>
                        <a:t>OpenRouter: 1.25 in / 3.75 out USD per M tokens</a:t>
                      </a:r>
                      <a:endParaRPr sz="9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1"/>
                  </a:ext>
                </a:extLst>
              </a:tr>
              <a:tr h="197125">
                <a:tc>
                  <a:txBody>
                    <a:bodyPr/>
                    <a:lstStyle/>
                    <a:p>
                      <a:pPr marL="0" lvl="0" indent="0" algn="l" rtl="0">
                        <a:lnSpc>
                          <a:spcPct val="115000"/>
                        </a:lnSpc>
                        <a:spcBef>
                          <a:spcPts val="0"/>
                        </a:spcBef>
                        <a:spcAft>
                          <a:spcPts val="0"/>
                        </a:spcAft>
                        <a:buNone/>
                      </a:pPr>
                      <a:r>
                        <a:rPr lang="en" sz="900">
                          <a:latin typeface="Calibri"/>
                          <a:ea typeface="Calibri"/>
                          <a:cs typeface="Calibri"/>
                          <a:sym typeface="Calibri"/>
                        </a:rPr>
                        <a:t>Qwen3.7-Plus</a:t>
                      </a:r>
                      <a:endParaRPr sz="9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900">
                          <a:latin typeface="Calibri"/>
                          <a:ea typeface="Calibri"/>
                          <a:cs typeface="Calibri"/>
                          <a:sym typeface="Calibri"/>
                        </a:rPr>
                        <a:t>OpenRouter: 0.40 in / 1.60 out USD per M tokens</a:t>
                      </a:r>
                      <a:endParaRPr sz="900">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42"/>
        <p:cNvGrpSpPr/>
        <p:nvPr/>
      </p:nvGrpSpPr>
      <p:grpSpPr>
        <a:xfrm>
          <a:off x="0" y="0"/>
          <a:ext cx="0" cy="0"/>
          <a:chOff x="0" y="0"/>
          <a:chExt cx="0" cy="0"/>
        </a:xfrm>
      </p:grpSpPr>
      <p:sp>
        <p:nvSpPr>
          <p:cNvPr id="143" name="Google Shape;143;p23"/>
          <p:cNvSpPr txBox="1"/>
          <p:nvPr/>
        </p:nvSpPr>
        <p:spPr>
          <a:xfrm>
            <a:off x="81775" y="38100"/>
            <a:ext cx="24558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Reduce Agentic Costs</a:t>
            </a:r>
            <a:endParaRPr sz="2000" b="1">
              <a:solidFill>
                <a:schemeClr val="dk1"/>
              </a:solidFill>
              <a:latin typeface="Calibri"/>
              <a:ea typeface="Calibri"/>
              <a:cs typeface="Calibri"/>
              <a:sym typeface="Calibri"/>
            </a:endParaRPr>
          </a:p>
        </p:txBody>
      </p:sp>
      <p:sp>
        <p:nvSpPr>
          <p:cNvPr id="144" name="Google Shape;144;p23"/>
          <p:cNvSpPr txBox="1"/>
          <p:nvPr/>
        </p:nvSpPr>
        <p:spPr>
          <a:xfrm>
            <a:off x="81775" y="410720"/>
            <a:ext cx="44292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Headroom context compression</a:t>
            </a:r>
            <a:r>
              <a:rPr lang="en" sz="1200">
                <a:latin typeface="Calibri"/>
                <a:ea typeface="Calibri"/>
                <a:cs typeface="Calibri"/>
                <a:sym typeface="Calibri"/>
              </a:rPr>
              <a:t> cuts token usage by 60-95%</a:t>
            </a:r>
            <a:br>
              <a:rPr lang="en" sz="1200">
                <a:latin typeface="Calibri"/>
                <a:ea typeface="Calibri"/>
                <a:cs typeface="Calibri"/>
                <a:sym typeface="Calibri"/>
              </a:rPr>
            </a:br>
            <a:r>
              <a:rPr lang="en" sz="1200" u="sng">
                <a:solidFill>
                  <a:schemeClr val="hlink"/>
                </a:solidFill>
                <a:latin typeface="Calibri"/>
                <a:ea typeface="Calibri"/>
                <a:cs typeface="Calibri"/>
                <a:sym typeface="Calibri"/>
                <a:hlinkClick r:id="rId3"/>
              </a:rPr>
              <a:t>https://github.com/chopratejas/headroom</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Roboto Mono"/>
              <a:buChar char="●"/>
            </a:pPr>
            <a:r>
              <a:rPr lang="en" sz="1200" b="1">
                <a:solidFill>
                  <a:srgbClr val="3C78D8"/>
                </a:solidFill>
                <a:latin typeface="Roboto Mono"/>
                <a:ea typeface="Roboto Mono"/>
                <a:cs typeface="Roboto Mono"/>
                <a:sym typeface="Roboto Mono"/>
              </a:rPr>
              <a:t>pip install "headroom-ai[all]"</a:t>
            </a:r>
            <a:br>
              <a:rPr lang="en" sz="1200" b="1">
                <a:solidFill>
                  <a:srgbClr val="3C78D8"/>
                </a:solidFill>
                <a:latin typeface="Roboto Mono"/>
                <a:ea typeface="Roboto Mono"/>
                <a:cs typeface="Roboto Mono"/>
                <a:sym typeface="Roboto Mono"/>
              </a:rPr>
            </a:br>
            <a:r>
              <a:rPr lang="en" sz="1200" b="1">
                <a:solidFill>
                  <a:srgbClr val="3C78D8"/>
                </a:solidFill>
                <a:latin typeface="Roboto Mono"/>
                <a:ea typeface="Roboto Mono"/>
                <a:cs typeface="Roboto Mono"/>
                <a:sym typeface="Roboto Mono"/>
              </a:rPr>
              <a:t>headroom wrap claude</a:t>
            </a:r>
            <a:endParaRPr sz="1200" b="1">
              <a:solidFill>
                <a:srgbClr val="3C78D8"/>
              </a:solidFill>
              <a:latin typeface="Roboto Mono"/>
              <a:ea typeface="Roboto Mono"/>
              <a:cs typeface="Roboto Mono"/>
              <a:sym typeface="Roboto Mono"/>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Or: </a:t>
            </a:r>
            <a:br>
              <a:rPr lang="en" sz="1200">
                <a:latin typeface="Calibri"/>
                <a:ea typeface="Calibri"/>
                <a:cs typeface="Calibri"/>
                <a:sym typeface="Calibri"/>
              </a:rPr>
            </a:br>
            <a:r>
              <a:rPr lang="en" sz="1200" b="1">
                <a:solidFill>
                  <a:srgbClr val="3C78D8"/>
                </a:solidFill>
                <a:latin typeface="Roboto Mono"/>
                <a:ea typeface="Roboto Mono"/>
                <a:cs typeface="Roboto Mono"/>
                <a:sym typeface="Roboto Mono"/>
              </a:rPr>
              <a:t>headroom proxy --port 8787</a:t>
            </a:r>
            <a:br>
              <a:rPr lang="en" sz="1200" b="1">
                <a:solidFill>
                  <a:srgbClr val="3C78D8"/>
                </a:solidFill>
                <a:latin typeface="Roboto Mono"/>
                <a:ea typeface="Roboto Mono"/>
                <a:cs typeface="Roboto Mono"/>
                <a:sym typeface="Roboto Mono"/>
              </a:rPr>
            </a:br>
            <a:r>
              <a:rPr lang="en" sz="1200" b="1">
                <a:solidFill>
                  <a:srgbClr val="3C78D8"/>
                </a:solidFill>
                <a:latin typeface="Roboto Mono"/>
                <a:ea typeface="Roboto Mono"/>
                <a:cs typeface="Roboto Mono"/>
                <a:sym typeface="Roboto Mono"/>
              </a:rPr>
              <a:t>ANTHROPIC_BASE_URL=</a:t>
            </a:r>
            <a:r>
              <a:rPr lang="en" sz="1200" b="1" u="sng">
                <a:solidFill>
                  <a:schemeClr val="hlink"/>
                </a:solidFill>
                <a:latin typeface="Roboto Mono"/>
                <a:ea typeface="Roboto Mono"/>
                <a:cs typeface="Roboto Mono"/>
                <a:sym typeface="Roboto Mono"/>
                <a:hlinkClick r:id="rId4"/>
              </a:rPr>
              <a:t>http://localhost:8787</a:t>
            </a:r>
            <a:br>
              <a:rPr lang="en" sz="1200" b="1">
                <a:solidFill>
                  <a:srgbClr val="3C78D8"/>
                </a:solidFill>
                <a:latin typeface="Roboto Mono"/>
                <a:ea typeface="Roboto Mono"/>
                <a:cs typeface="Roboto Mono"/>
                <a:sym typeface="Roboto Mono"/>
              </a:rPr>
            </a:br>
            <a:r>
              <a:rPr lang="en" sz="1200" b="1">
                <a:solidFill>
                  <a:srgbClr val="3C78D8"/>
                </a:solidFill>
                <a:latin typeface="Roboto Mono"/>
                <a:ea typeface="Roboto Mono"/>
                <a:cs typeface="Roboto Mono"/>
                <a:sym typeface="Roboto Mono"/>
              </a:rPr>
              <a:t>claude</a:t>
            </a:r>
            <a:endParaRPr sz="1200">
              <a:latin typeface="Calibri"/>
              <a:ea typeface="Calibri"/>
              <a:cs typeface="Calibri"/>
              <a:sym typeface="Calibri"/>
            </a:endParaRPr>
          </a:p>
        </p:txBody>
      </p:sp>
      <p:sp>
        <p:nvSpPr>
          <p:cNvPr id="145" name="Google Shape;145;p23"/>
          <p:cNvSpPr txBox="1"/>
          <p:nvPr/>
        </p:nvSpPr>
        <p:spPr>
          <a:xfrm>
            <a:off x="81775" y="2342816"/>
            <a:ext cx="4429200" cy="2696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https://x.com/hooeem/status/2062266452921491934</a:t>
            </a:r>
            <a:endParaRPr sz="9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6"/>
              </a:rPr>
              <a:t>https://arxiv.org/pdf/2605.22502</a:t>
            </a:r>
            <a:endParaRPr sz="900">
              <a:latin typeface="Calibri"/>
              <a:ea typeface="Calibri"/>
              <a:cs typeface="Calibri"/>
              <a:sym typeface="Calibri"/>
            </a:endParaRPr>
          </a:p>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Compiling Agentic Workflows into LLM Weights: Near-Frontier Quality at Two Orders of Magnitude Less Cost</a:t>
            </a:r>
            <a:endParaRPr sz="12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Instead of orchestrating tools and sub-agents using a frontier LLM, </a:t>
            </a:r>
            <a:br>
              <a:rPr lang="en" sz="1100">
                <a:latin typeface="Calibri"/>
                <a:ea typeface="Calibri"/>
                <a:cs typeface="Calibri"/>
                <a:sym typeface="Calibri"/>
              </a:rPr>
            </a:br>
            <a:r>
              <a:rPr lang="en" sz="1100">
                <a:latin typeface="Calibri"/>
                <a:ea typeface="Calibri"/>
                <a:cs typeface="Calibri"/>
                <a:sym typeface="Calibri"/>
              </a:rPr>
              <a:t>you compile the entire agentic workflow into a smaller model</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Using flowchart-defined procedures, they generate synthetic conversations with Claude Sonnet 4.5, then fully fine-tune </a:t>
            </a:r>
            <a:r>
              <a:rPr lang="en" sz="1100" b="1">
                <a:solidFill>
                  <a:srgbClr val="FF0000"/>
                </a:solidFill>
                <a:latin typeface="Calibri"/>
                <a:ea typeface="Calibri"/>
                <a:cs typeface="Calibri"/>
                <a:sym typeface="Calibri"/>
              </a:rPr>
              <a:t>3B–8B Qwen models </a:t>
            </a:r>
            <a:r>
              <a:rPr lang="en" sz="1100">
                <a:latin typeface="Calibri"/>
                <a:ea typeface="Calibri"/>
                <a:cs typeface="Calibri"/>
                <a:sym typeface="Calibri"/>
              </a:rPr>
              <a:t>to internalize both state tracking and domain behavior</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Across travel booking, Zoom support, and insurance claims, </a:t>
            </a:r>
            <a:r>
              <a:rPr lang="en" sz="1100" b="1">
                <a:solidFill>
                  <a:srgbClr val="FF0000"/>
                </a:solidFill>
                <a:latin typeface="Calibri"/>
                <a:ea typeface="Calibri"/>
                <a:cs typeface="Calibri"/>
                <a:sym typeface="Calibri"/>
              </a:rPr>
              <a:t>compiled 8B models reach 87–98% of a frontier in-context baseline’s quality</a:t>
            </a:r>
            <a:r>
              <a:rPr lang="en" sz="1100">
                <a:latin typeface="Calibri"/>
                <a:ea typeface="Calibri"/>
                <a:cs typeface="Calibri"/>
                <a:sym typeface="Calibri"/>
              </a:rPr>
              <a:t> while often outperforming a LangGraph+Claude orchestrator, </a:t>
            </a:r>
            <a:r>
              <a:rPr lang="en" sz="1100" b="1">
                <a:solidFill>
                  <a:srgbClr val="3C78D8"/>
                </a:solidFill>
                <a:latin typeface="Calibri"/>
                <a:ea typeface="Calibri"/>
                <a:cs typeface="Calibri"/>
                <a:sym typeface="Calibri"/>
              </a:rPr>
              <a:t>despite having around x70 fewer parameters</a:t>
            </a:r>
            <a:endParaRPr sz="1100" b="1">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Prompts stay small, inference is self-hosted</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x100-x500 lower per-conversation cost</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30–50 minute recompile cycle when procedures change</a:t>
            </a:r>
            <a:endParaRPr sz="1100">
              <a:latin typeface="Calibri"/>
              <a:ea typeface="Calibri"/>
              <a:cs typeface="Calibri"/>
              <a:sym typeface="Calibri"/>
            </a:endParaRPr>
          </a:p>
        </p:txBody>
      </p:sp>
      <p:pic>
        <p:nvPicPr>
          <p:cNvPr id="146" name="Google Shape;146;p23"/>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334734" y="2490686"/>
            <a:ext cx="2059824" cy="823933"/>
          </a:xfrm>
          <a:prstGeom prst="rect">
            <a:avLst/>
          </a:prstGeom>
          <a:noFill/>
          <a:ln w="9525" cap="flat" cmpd="sng">
            <a:solidFill>
              <a:srgbClr val="FF0000"/>
            </a:solidFill>
            <a:prstDash val="solid"/>
            <a:round/>
            <a:headEnd type="none" w="sm" len="sm"/>
            <a:tailEnd type="none" w="sm" len="sm"/>
          </a:ln>
        </p:spPr>
      </p:pic>
      <p:pic>
        <p:nvPicPr>
          <p:cNvPr id="147" name="Google Shape;147;p23"/>
          <p:cNvPicPr preferRelativeResize="0"/>
          <p:nvPr/>
        </p:nvPicPr>
        <p:blipFill rotWithShape="1">
          <a:blip r:embed="rId8" cstate="email">
            <a:alphaModFix/>
            <a:extLst>
              <a:ext uri="{28A0092B-C50C-407E-A947-70E740481C1C}">
                <a14:useLocalDpi xmlns:a14="http://schemas.microsoft.com/office/drawing/2010/main"/>
              </a:ext>
            </a:extLst>
          </a:blip>
          <a:srcRect/>
          <a:stretch/>
        </p:blipFill>
        <p:spPr>
          <a:xfrm>
            <a:off x="4701175" y="410725"/>
            <a:ext cx="1326950" cy="1439250"/>
          </a:xfrm>
          <a:prstGeom prst="rect">
            <a:avLst/>
          </a:prstGeom>
          <a:noFill/>
          <a:ln w="9525" cap="flat" cmpd="sng">
            <a:solidFill>
              <a:srgbClr val="FF0000"/>
            </a:solidFill>
            <a:prstDash val="solid"/>
            <a:round/>
            <a:headEnd type="none" w="sm" len="sm"/>
            <a:tailEnd type="none" w="sm" len="sm"/>
          </a:ln>
        </p:spPr>
      </p:pic>
      <p:sp>
        <p:nvSpPr>
          <p:cNvPr id="148" name="Google Shape;148;p23"/>
          <p:cNvSpPr txBox="1"/>
          <p:nvPr/>
        </p:nvSpPr>
        <p:spPr>
          <a:xfrm>
            <a:off x="4701175" y="1906827"/>
            <a:ext cx="1326900" cy="23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b="1">
                <a:latin typeface="Calibri"/>
                <a:ea typeface="Calibri"/>
                <a:cs typeface="Calibri"/>
                <a:sym typeface="Calibri"/>
              </a:rPr>
              <a:t>Tejas Chopra</a:t>
            </a:r>
            <a:endParaRPr b="1">
              <a:latin typeface="Calibri"/>
              <a:ea typeface="Calibri"/>
              <a:cs typeface="Calibri"/>
              <a:sym typeface="Calibri"/>
            </a:endParaRPr>
          </a:p>
        </p:txBody>
      </p:sp>
      <p:sp>
        <p:nvSpPr>
          <p:cNvPr id="149" name="Google Shape;149;p23"/>
          <p:cNvSpPr txBox="1"/>
          <p:nvPr/>
        </p:nvSpPr>
        <p:spPr>
          <a:xfrm>
            <a:off x="4609975" y="3664475"/>
            <a:ext cx="4267200" cy="137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SzPts val="1100"/>
              <a:buFont typeface="Calibri"/>
              <a:buChar char="●"/>
            </a:pPr>
            <a:r>
              <a:rPr lang="en" sz="1100" b="1">
                <a:solidFill>
                  <a:srgbClr val="FF0000"/>
                </a:solidFill>
                <a:latin typeface="Calibri"/>
                <a:ea typeface="Calibri"/>
                <a:cs typeface="Calibri"/>
                <a:sym typeface="Calibri"/>
              </a:rPr>
              <a:t>OUMI - </a:t>
            </a:r>
            <a:r>
              <a:rPr lang="en" sz="1100" b="1" u="sng">
                <a:solidFill>
                  <a:schemeClr val="hlink"/>
                </a:solidFill>
                <a:latin typeface="Calibri"/>
                <a:ea typeface="Calibri"/>
                <a:cs typeface="Calibri"/>
                <a:sym typeface="Calibri"/>
                <a:hlinkClick r:id="rId9"/>
              </a:rPr>
              <a:t>https://oumi.ai</a:t>
            </a:r>
            <a:r>
              <a:rPr lang="en" sz="1100" b="1">
                <a:latin typeface="Calibri"/>
                <a:ea typeface="Calibri"/>
                <a:cs typeface="Calibri"/>
                <a:sym typeface="Calibri"/>
              </a:rPr>
              <a:t> </a:t>
            </a:r>
            <a:endParaRPr sz="1100" b="1">
              <a:latin typeface="Calibri"/>
              <a:ea typeface="Calibri"/>
              <a:cs typeface="Calibri"/>
              <a:sym typeface="Calibri"/>
            </a:endParaRPr>
          </a:p>
          <a:p>
            <a:pPr marL="171450" marR="0" lvl="0" indent="-127000" algn="l" rtl="0">
              <a:lnSpc>
                <a:spcPct val="100000"/>
              </a:lnSpc>
              <a:spcBef>
                <a:spcPts val="0"/>
              </a:spcBef>
              <a:spcAft>
                <a:spcPts val="0"/>
              </a:spcAft>
              <a:buClr>
                <a:srgbClr val="3C78D8"/>
              </a:buClr>
              <a:buSzPts val="1100"/>
              <a:buFont typeface="Calibri"/>
              <a:buChar char="●"/>
            </a:pPr>
            <a:r>
              <a:rPr lang="en" sz="1100" b="1">
                <a:solidFill>
                  <a:srgbClr val="3C78D8"/>
                </a:solidFill>
                <a:latin typeface="Calibri"/>
                <a:ea typeface="Calibri"/>
                <a:cs typeface="Calibri"/>
                <a:sym typeface="Calibri"/>
              </a:rPr>
              <a:t>OUMI = Open Universal Machine Intelligence</a:t>
            </a:r>
            <a:endParaRPr sz="1100" b="1">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 Right Model Beats The Biggest Model.</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Stop renting generic intelligence.</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Build and deploy the best specialized model for your task. Own it fully.</a:t>
            </a:r>
            <a:endParaRPr sz="1100">
              <a:latin typeface="Calibri"/>
              <a:ea typeface="Calibri"/>
              <a:cs typeface="Calibri"/>
              <a:sym typeface="Calibri"/>
            </a:endParaRPr>
          </a:p>
          <a:p>
            <a:pPr marL="171450" marR="0" lvl="0" indent="-127000" algn="l" rtl="0">
              <a:lnSpc>
                <a:spcPct val="100000"/>
              </a:lnSpc>
              <a:spcBef>
                <a:spcPts val="0"/>
              </a:spcBef>
              <a:spcAft>
                <a:spcPts val="0"/>
              </a:spcAft>
              <a:buClr>
                <a:srgbClr val="3C78D8"/>
              </a:buClr>
              <a:buSzPts val="1100"/>
              <a:buFont typeface="Calibri"/>
              <a:buChar char="●"/>
            </a:pPr>
            <a:r>
              <a:rPr lang="en" sz="1100" b="1">
                <a:solidFill>
                  <a:srgbClr val="3C78D8"/>
                </a:solidFill>
                <a:latin typeface="Calibri"/>
                <a:ea typeface="Calibri"/>
                <a:cs typeface="Calibri"/>
                <a:sym typeface="Calibri"/>
              </a:rPr>
              <a:t>up to +50% accuracy vs. frontier models</a:t>
            </a:r>
            <a:endParaRPr sz="1100" b="1">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Clr>
                <a:srgbClr val="3C78D8"/>
              </a:buClr>
              <a:buSzPts val="1100"/>
              <a:buFont typeface="Calibri"/>
              <a:buChar char="●"/>
            </a:pPr>
            <a:r>
              <a:rPr lang="en" sz="1100" b="1">
                <a:solidFill>
                  <a:srgbClr val="3C78D8"/>
                </a:solidFill>
                <a:latin typeface="Calibri"/>
                <a:ea typeface="Calibri"/>
                <a:cs typeface="Calibri"/>
                <a:sym typeface="Calibri"/>
              </a:rPr>
              <a:t>up to 90% lower cost vs. frontier models</a:t>
            </a:r>
            <a:endParaRPr sz="1100" b="1">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Clr>
                <a:srgbClr val="3C78D8"/>
              </a:buClr>
              <a:buSzPts val="1100"/>
              <a:buFont typeface="Calibri"/>
              <a:buChar char="●"/>
            </a:pPr>
            <a:r>
              <a:rPr lang="en" sz="1100" b="1">
                <a:solidFill>
                  <a:srgbClr val="3C78D8"/>
                </a:solidFill>
                <a:latin typeface="Calibri"/>
                <a:ea typeface="Calibri"/>
                <a:cs typeface="Calibri"/>
                <a:sym typeface="Calibri"/>
              </a:rPr>
              <a:t>as low as 2 hours to production from prompt to deploy</a:t>
            </a:r>
            <a:endParaRPr sz="1100" b="1">
              <a:solidFill>
                <a:srgbClr val="3C78D8"/>
              </a:solidFill>
              <a:latin typeface="Calibri"/>
              <a:ea typeface="Calibri"/>
              <a:cs typeface="Calibri"/>
              <a:sym typeface="Calibri"/>
            </a:endParaRPr>
          </a:p>
        </p:txBody>
      </p:sp>
      <p:pic>
        <p:nvPicPr>
          <p:cNvPr id="150" name="Google Shape;150;p23"/>
          <p:cNvPicPr preferRelativeResize="0"/>
          <p:nvPr/>
        </p:nvPicPr>
        <p:blipFill>
          <a:blip r:embed="rId10" cstate="email">
            <a:alphaModFix/>
            <a:extLst>
              <a:ext uri="{28A0092B-C50C-407E-A947-70E740481C1C}">
                <a14:useLocalDpi xmlns:a14="http://schemas.microsoft.com/office/drawing/2010/main"/>
              </a:ext>
            </a:extLst>
          </a:blip>
          <a:stretch>
            <a:fillRect/>
          </a:stretch>
        </p:blipFill>
        <p:spPr>
          <a:xfrm>
            <a:off x="6817350" y="2790273"/>
            <a:ext cx="2059826" cy="960328"/>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54"/>
        <p:cNvGrpSpPr/>
        <p:nvPr/>
      </p:nvGrpSpPr>
      <p:grpSpPr>
        <a:xfrm>
          <a:off x="0" y="0"/>
          <a:ext cx="0" cy="0"/>
          <a:chOff x="0" y="0"/>
          <a:chExt cx="0" cy="0"/>
        </a:xfrm>
      </p:grpSpPr>
      <p:sp>
        <p:nvSpPr>
          <p:cNvPr id="155" name="Google Shape;155;p24"/>
          <p:cNvSpPr txBox="1"/>
          <p:nvPr/>
        </p:nvSpPr>
        <p:spPr>
          <a:xfrm>
            <a:off x="179326" y="478350"/>
            <a:ext cx="4917900" cy="418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We do these weekly videos every Friday</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Stats: 6.88K subscribers, 290 videos</a:t>
            </a: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1. Subscribe to this channel </a:t>
            </a:r>
            <a:r>
              <a:rPr lang="en" sz="1800" b="1" u="sng">
                <a:solidFill>
                  <a:schemeClr val="accent5"/>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https://www.youtube.com/@lev-selector</a:t>
            </a:r>
            <a:r>
              <a:rPr lang="en" sz="1800" b="1">
                <a:solidFill>
                  <a:schemeClr val="dk1"/>
                </a:solidFill>
                <a:latin typeface="Calibri"/>
                <a:ea typeface="Calibri"/>
                <a:cs typeface="Calibri"/>
                <a:sym typeface="Calibri"/>
              </a:rPr>
              <a:t> </a:t>
            </a:r>
            <a:endParaRPr sz="1800" b="1">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2. Download slides from GitHub using links under the videos</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b="1">
                <a:solidFill>
                  <a:srgbClr val="FF0000"/>
                </a:solidFill>
                <a:latin typeface="Calibri"/>
                <a:ea typeface="Calibri"/>
                <a:cs typeface="Calibri"/>
                <a:sym typeface="Calibri"/>
              </a:rPr>
              <a:t>3. Please pause the video - and answer the pinned question in comments under the video</a:t>
            </a:r>
            <a:endParaRPr sz="1800" b="1" i="0" u="none" strike="noStrike" cap="none">
              <a:solidFill>
                <a:srgbClr val="FF0000"/>
              </a:solidFill>
              <a:latin typeface="Calibri"/>
              <a:ea typeface="Calibri"/>
              <a:cs typeface="Calibri"/>
              <a:sym typeface="Calibri"/>
            </a:endParaRPr>
          </a:p>
        </p:txBody>
      </p:sp>
      <p:pic>
        <p:nvPicPr>
          <p:cNvPr id="156" name="Google Shape;156;p24"/>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901525" y="88463"/>
            <a:ext cx="2655250" cy="49665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60"/>
        <p:cNvGrpSpPr/>
        <p:nvPr/>
      </p:nvGrpSpPr>
      <p:grpSpPr>
        <a:xfrm>
          <a:off x="0" y="0"/>
          <a:ext cx="0" cy="0"/>
          <a:chOff x="0" y="0"/>
          <a:chExt cx="0" cy="0"/>
        </a:xfrm>
      </p:grpSpPr>
      <p:sp>
        <p:nvSpPr>
          <p:cNvPr id="161" name="Google Shape;161;p25"/>
          <p:cNvSpPr txBox="1"/>
          <p:nvPr/>
        </p:nvSpPr>
        <p:spPr>
          <a:xfrm>
            <a:off x="81775" y="67675"/>
            <a:ext cx="2527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Top Vibe Coding Tools</a:t>
            </a:r>
            <a:endParaRPr sz="2000" b="1">
              <a:solidFill>
                <a:schemeClr val="dk1"/>
              </a:solidFill>
              <a:latin typeface="Calibri"/>
              <a:ea typeface="Calibri"/>
              <a:cs typeface="Calibri"/>
              <a:sym typeface="Calibri"/>
            </a:endParaRPr>
          </a:p>
        </p:txBody>
      </p:sp>
      <p:sp>
        <p:nvSpPr>
          <p:cNvPr id="162" name="Google Shape;162;p25"/>
          <p:cNvSpPr txBox="1"/>
          <p:nvPr/>
        </p:nvSpPr>
        <p:spPr>
          <a:xfrm>
            <a:off x="81775" y="478750"/>
            <a:ext cx="4413900" cy="4266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MAU = Monthly Active Users; </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ARR = Annual Recurring Revenue</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1) </a:t>
            </a:r>
            <a:r>
              <a:rPr lang="en" sz="1200" b="1">
                <a:solidFill>
                  <a:srgbClr val="FF0000"/>
                </a:solidFill>
                <a:latin typeface="Calibri"/>
                <a:ea typeface="Calibri"/>
                <a:cs typeface="Calibri"/>
                <a:sym typeface="Calibri"/>
              </a:rPr>
              <a:t>Cursor </a:t>
            </a:r>
            <a:r>
              <a:rPr lang="en" sz="1200">
                <a:latin typeface="Calibri"/>
                <a:ea typeface="Calibri"/>
                <a:cs typeface="Calibri"/>
                <a:sym typeface="Calibri"/>
              </a:rPr>
              <a:t>– AI IDE / agentic editor; ~7M MAU, &gt;1B ARR in 2025, ~2B+ ARR by early 2026; valued ~29B+ as of last reported round.</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2) </a:t>
            </a:r>
            <a:r>
              <a:rPr lang="en" sz="1200" b="1">
                <a:solidFill>
                  <a:srgbClr val="FF0000"/>
                </a:solidFill>
                <a:latin typeface="Calibri"/>
                <a:ea typeface="Calibri"/>
                <a:cs typeface="Calibri"/>
                <a:sym typeface="Calibri"/>
              </a:rPr>
              <a:t>GitHub Copilot</a:t>
            </a:r>
            <a:r>
              <a:rPr lang="en" sz="1200">
                <a:latin typeface="Calibri"/>
                <a:ea typeface="Calibri"/>
                <a:cs typeface="Calibri"/>
                <a:sym typeface="Calibri"/>
              </a:rPr>
              <a:t> – AI assistant in IDEs; ~4–5M paid users; multi‑billion revenue inside Microsoft, no standalone valuation</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3) </a:t>
            </a:r>
            <a:r>
              <a:rPr lang="en" sz="1200" b="1">
                <a:solidFill>
                  <a:srgbClr val="FF0000"/>
                </a:solidFill>
                <a:latin typeface="Calibri"/>
                <a:ea typeface="Calibri"/>
                <a:cs typeface="Calibri"/>
                <a:sym typeface="Calibri"/>
              </a:rPr>
              <a:t>Lovable</a:t>
            </a:r>
            <a:r>
              <a:rPr lang="en" sz="1200">
                <a:latin typeface="Calibri"/>
                <a:ea typeface="Calibri"/>
                <a:cs typeface="Calibri"/>
                <a:sym typeface="Calibri"/>
              </a:rPr>
              <a:t> – AI app builder; millions of users, ~200–400M ARR by early 2026; last marked valuation ~6.6B.</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latin typeface="Calibri"/>
                <a:ea typeface="Calibri"/>
                <a:cs typeface="Calibri"/>
                <a:sym typeface="Calibri"/>
              </a:rPr>
              <a:t>4) </a:t>
            </a:r>
            <a:r>
              <a:rPr lang="en" sz="1200" b="1">
                <a:solidFill>
                  <a:srgbClr val="FF0000"/>
                </a:solidFill>
                <a:latin typeface="Calibri"/>
                <a:ea typeface="Calibri"/>
                <a:cs typeface="Calibri"/>
                <a:sym typeface="Calibri"/>
              </a:rPr>
              <a:t>Claude Code</a:t>
            </a:r>
            <a:r>
              <a:rPr lang="en" sz="1200" b="1">
                <a:latin typeface="Calibri"/>
                <a:ea typeface="Calibri"/>
                <a:cs typeface="Calibri"/>
                <a:sym typeface="Calibri"/>
              </a:rPr>
              <a:t> – Agentic coding for Claude; substantial usage and revenue as part of Anthropic’s multi‑Billion ARR</a:t>
            </a:r>
            <a:endParaRPr sz="1200" b="1">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5) </a:t>
            </a:r>
            <a:r>
              <a:rPr lang="en" sz="1200" b="1">
                <a:solidFill>
                  <a:srgbClr val="FF0000"/>
                </a:solidFill>
                <a:latin typeface="Calibri"/>
                <a:ea typeface="Calibri"/>
                <a:cs typeface="Calibri"/>
                <a:sym typeface="Calibri"/>
              </a:rPr>
              <a:t>Windsurf (Codeium) </a:t>
            </a:r>
            <a:r>
              <a:rPr lang="en" sz="1200">
                <a:latin typeface="Calibri"/>
                <a:ea typeface="Calibri"/>
                <a:cs typeface="Calibri"/>
                <a:sym typeface="Calibri"/>
              </a:rPr>
              <a:t>– AI IDE; hundreds‑of‑thousands to low‑millions of users; tens‑of‑millions ARR; parent company valued low‑single‑digit billions.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6) </a:t>
            </a:r>
            <a:r>
              <a:rPr lang="en" sz="1200" b="1">
                <a:solidFill>
                  <a:srgbClr val="FF0000"/>
                </a:solidFill>
                <a:latin typeface="Calibri"/>
                <a:ea typeface="Calibri"/>
                <a:cs typeface="Calibri"/>
                <a:sym typeface="Calibri"/>
              </a:rPr>
              <a:t>Bolt.new</a:t>
            </a:r>
            <a:r>
              <a:rPr lang="en" sz="1200">
                <a:latin typeface="Calibri"/>
                <a:ea typeface="Calibri"/>
                <a:cs typeface="Calibri"/>
                <a:sym typeface="Calibri"/>
              </a:rPr>
              <a:t> – Browser‑based full‑stack builder; ~1M users; tens‑of‑millions ARR; part of StackBlitz (likely unicorn‑scale).</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7) </a:t>
            </a:r>
            <a:r>
              <a:rPr lang="en" sz="1200" b="1">
                <a:solidFill>
                  <a:srgbClr val="FF0000"/>
                </a:solidFill>
                <a:latin typeface="Calibri"/>
                <a:ea typeface="Calibri"/>
                <a:cs typeface="Calibri"/>
                <a:sym typeface="Calibri"/>
              </a:rPr>
              <a:t>v0 (Vercel) </a:t>
            </a:r>
            <a:r>
              <a:rPr lang="en" sz="1200">
                <a:latin typeface="Calibri"/>
                <a:ea typeface="Calibri"/>
                <a:cs typeface="Calibri"/>
                <a:sym typeface="Calibri"/>
              </a:rPr>
              <a:t>– AI UI/app builder; widely used in React/Next ecosystem; revenue and valuation folded into Vercel (multi‑billion).</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8) </a:t>
            </a:r>
            <a:r>
              <a:rPr lang="en" sz="1200" b="1">
                <a:solidFill>
                  <a:srgbClr val="FF0000"/>
                </a:solidFill>
                <a:latin typeface="Calibri"/>
                <a:ea typeface="Calibri"/>
                <a:cs typeface="Calibri"/>
                <a:sym typeface="Calibri"/>
              </a:rPr>
              <a:t>Replit Agent </a:t>
            </a:r>
            <a:r>
              <a:rPr lang="en" sz="1200">
                <a:latin typeface="Calibri"/>
                <a:ea typeface="Calibri"/>
                <a:cs typeface="Calibri"/>
                <a:sym typeface="Calibri"/>
              </a:rPr>
              <a:t>– Agentic layer on Replit; very high reach via Replit; contributes to Replit’s growing nine‑figure ARR.</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9) </a:t>
            </a:r>
            <a:r>
              <a:rPr lang="en" sz="1200" b="1">
                <a:solidFill>
                  <a:srgbClr val="FF0000"/>
                </a:solidFill>
                <a:latin typeface="Calibri"/>
                <a:ea typeface="Calibri"/>
                <a:cs typeface="Calibri"/>
                <a:sym typeface="Calibri"/>
              </a:rPr>
              <a:t>Base44</a:t>
            </a:r>
            <a:r>
              <a:rPr lang="en" sz="1200">
                <a:latin typeface="Calibri"/>
                <a:ea typeface="Calibri"/>
                <a:cs typeface="Calibri"/>
                <a:sym typeface="Calibri"/>
              </a:rPr>
              <a:t> – No/low‑code AI app builder; niche but growing; likely low‑tens‑of‑millions ARR, sub‑billion valuation.</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10) </a:t>
            </a:r>
            <a:r>
              <a:rPr lang="en" sz="1200" b="1">
                <a:solidFill>
                  <a:srgbClr val="FF0000"/>
                </a:solidFill>
                <a:latin typeface="Calibri"/>
                <a:ea typeface="Calibri"/>
                <a:cs typeface="Calibri"/>
                <a:sym typeface="Calibri"/>
              </a:rPr>
              <a:t>Other vibe tools</a:t>
            </a:r>
            <a:r>
              <a:rPr lang="en" sz="1200">
                <a:latin typeface="Calibri"/>
                <a:ea typeface="Calibri"/>
                <a:cs typeface="Calibri"/>
                <a:sym typeface="Calibri"/>
              </a:rPr>
              <a:t> (Emergent, sandbox.dev, etc.) – smaller, early‑stage, limited public metrics</a:t>
            </a:r>
            <a:endParaRPr sz="1200">
              <a:latin typeface="Calibri"/>
              <a:ea typeface="Calibri"/>
              <a:cs typeface="Calibri"/>
              <a:sym typeface="Calibri"/>
            </a:endParaRPr>
          </a:p>
        </p:txBody>
      </p:sp>
      <p:pic>
        <p:nvPicPr>
          <p:cNvPr id="163" name="Google Shape;163;p25"/>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4659250" y="1062373"/>
            <a:ext cx="3631001" cy="15573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67"/>
        <p:cNvGrpSpPr/>
        <p:nvPr/>
      </p:nvGrpSpPr>
      <p:grpSpPr>
        <a:xfrm>
          <a:off x="0" y="0"/>
          <a:ext cx="0" cy="0"/>
          <a:chOff x="0" y="0"/>
          <a:chExt cx="0" cy="0"/>
        </a:xfrm>
      </p:grpSpPr>
      <p:sp>
        <p:nvSpPr>
          <p:cNvPr id="168" name="Google Shape;168;p26"/>
          <p:cNvSpPr txBox="1"/>
          <p:nvPr/>
        </p:nvSpPr>
        <p:spPr>
          <a:xfrm>
            <a:off x="81775" y="67675"/>
            <a:ext cx="2527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69" name="Google Shape;169;p26"/>
          <p:cNvSpPr txBox="1"/>
          <p:nvPr/>
        </p:nvSpPr>
        <p:spPr>
          <a:xfrm>
            <a:off x="81775" y="478750"/>
            <a:ext cx="4038000" cy="2927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How to contain Claude across products - Anthropic post</a:t>
            </a:r>
            <a:br>
              <a:rPr lang="en" sz="1200" b="1">
                <a:solidFill>
                  <a:srgbClr val="FF0000"/>
                </a:solidFill>
                <a:latin typeface="Calibri"/>
                <a:ea typeface="Calibri"/>
                <a:cs typeface="Calibri"/>
                <a:sym typeface="Calibri"/>
              </a:rPr>
            </a:br>
            <a:r>
              <a:rPr lang="en" sz="900" u="sng">
                <a:solidFill>
                  <a:schemeClr val="hlink"/>
                </a:solidFill>
                <a:latin typeface="Calibri"/>
                <a:ea typeface="Calibri"/>
                <a:cs typeface="Calibri"/>
                <a:sym typeface="Calibri"/>
                <a:hlinkClick r:id="rId3"/>
              </a:rPr>
              <a:t>https://www.anthropic.com/engineering/how-we-contain-claude</a:t>
            </a:r>
            <a:r>
              <a:rPr lang="en" sz="900">
                <a:latin typeface="Calibri"/>
                <a:ea typeface="Calibri"/>
                <a:cs typeface="Calibri"/>
                <a:sym typeface="Calibri"/>
              </a:rPr>
              <a:t>  </a:t>
            </a:r>
            <a:endParaRPr sz="9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How to limit the "blast radius" when Claude makes mistakes</a:t>
            </a:r>
            <a:r>
              <a:rPr lang="en" sz="1200">
                <a:latin typeface="Calibri"/>
                <a:ea typeface="Calibri"/>
                <a:cs typeface="Calibri"/>
                <a:sym typeface="Calibri"/>
              </a:rPr>
              <a:t> across claude.ai, Claude Code, and Claude Cowork</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They use layered containment: sandboxed environments, OS-level restrictions, and isolated VMs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Each product is scoped differently:</a:t>
            </a:r>
            <a:endParaRPr sz="1200">
              <a:latin typeface="Calibri"/>
              <a:ea typeface="Calibri"/>
              <a:cs typeface="Calibri"/>
              <a:sym typeface="Calibri"/>
            </a:endParaRPr>
          </a:p>
          <a:p>
            <a:pPr marL="34290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claude.ai runs in ephemeral server containers</a:t>
            </a:r>
            <a:endParaRPr sz="1200">
              <a:solidFill>
                <a:srgbClr val="3C78D8"/>
              </a:solidFill>
              <a:latin typeface="Calibri"/>
              <a:ea typeface="Calibri"/>
              <a:cs typeface="Calibri"/>
              <a:sym typeface="Calibri"/>
            </a:endParaRPr>
          </a:p>
          <a:p>
            <a:pPr marL="34290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Claude Code uses OS sandboxing with human oversight</a:t>
            </a:r>
            <a:endParaRPr sz="1200">
              <a:solidFill>
                <a:srgbClr val="3C78D8"/>
              </a:solidFill>
              <a:latin typeface="Calibri"/>
              <a:ea typeface="Calibri"/>
              <a:cs typeface="Calibri"/>
              <a:sym typeface="Calibri"/>
            </a:endParaRPr>
          </a:p>
          <a:p>
            <a:pPr marL="34290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Claude Cowork runs full VMs with strict egress controls</a:t>
            </a:r>
            <a:endParaRPr sz="1200">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They share real security incidents - including a prompt injection that exfiltrated AWS credentials 24 out of 25 times - to illustrate why deterministic environment-level controls matter more than probabilistic model-layer defenses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Key emerging concerns include memory poisoning, multi-agent trust escalation, and agent identity management</a:t>
            </a:r>
            <a:endParaRPr sz="1200">
              <a:solidFill>
                <a:schemeClr val="dk1"/>
              </a:solidFill>
              <a:latin typeface="Calibri"/>
              <a:ea typeface="Calibri"/>
              <a:cs typeface="Calibri"/>
              <a:sym typeface="Calibri"/>
            </a:endParaRPr>
          </a:p>
        </p:txBody>
      </p:sp>
      <p:sp>
        <p:nvSpPr>
          <p:cNvPr id="170" name="Google Shape;170;p26"/>
          <p:cNvSpPr txBox="1"/>
          <p:nvPr/>
        </p:nvSpPr>
        <p:spPr>
          <a:xfrm>
            <a:off x="4653775" y="2270500"/>
            <a:ext cx="4413900" cy="2789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DeepSWE AI coding benchmark by </a:t>
            </a:r>
            <a:r>
              <a:rPr lang="en" sz="1200" b="1">
                <a:solidFill>
                  <a:srgbClr val="FF0000"/>
                </a:solidFill>
                <a:uFill>
                  <a:noFill/>
                </a:uFill>
                <a:latin typeface="Calibri"/>
                <a:ea typeface="Calibri"/>
                <a:cs typeface="Calibri"/>
                <a:sym typeface="Calibri"/>
                <a:hlinkClick r:id="rId4">
                  <a:extLst>
                    <a:ext uri="{A12FA001-AC4F-418D-AE19-62706E023703}">
                      <ahyp:hlinkClr xmlns:ahyp="http://schemas.microsoft.com/office/drawing/2018/hyperlinkcolor" val="tx"/>
                    </a:ext>
                  </a:extLst>
                </a:hlinkClick>
              </a:rPr>
              <a:t>data-curve.ai</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Designed to mimic real-world usage</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Older benchmarks like SWE-bench Pro suffer from data contamination and high grading errors, including a 24% false negative rate</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In contrast, DeepSWE uses entirely original, handcrafted challenges across 91 repositories and 5 programming languages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It features concise, behavior-focused prompts that require end-to-end repository exploration</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On the DeepSWE leaderboard, GPT-5.5 dominates with a 70% pass rate, outperforming Claude Opus 4.7 by over 15 points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Furthermore, GPT-5.5 proves highly efficient, completing trials in 20 minutes at a cost of $5.80, compared to Opus 4.7 which takes 37 minutes and costs $16.00.</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http://www.youtube.com/watch?v=6LwQ8RbU9as</a:t>
            </a:r>
            <a:endParaRPr sz="1200">
              <a:latin typeface="Calibri"/>
              <a:ea typeface="Calibri"/>
              <a:cs typeface="Calibri"/>
              <a:sym typeface="Calibri"/>
            </a:endParaRPr>
          </a:p>
        </p:txBody>
      </p:sp>
      <p:pic>
        <p:nvPicPr>
          <p:cNvPr id="171" name="Google Shape;171;p26"/>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6794775" y="112600"/>
            <a:ext cx="2272899" cy="2080825"/>
          </a:xfrm>
          <a:prstGeom prst="rect">
            <a:avLst/>
          </a:prstGeom>
          <a:noFill/>
          <a:ln w="9525" cap="flat" cmpd="sng">
            <a:solidFill>
              <a:srgbClr val="FF0000"/>
            </a:solidFill>
            <a:prstDash val="solid"/>
            <a:round/>
            <a:headEnd type="none" w="sm" len="sm"/>
            <a:tailEnd type="none" w="sm" len="sm"/>
          </a:ln>
        </p:spPr>
      </p:pic>
      <p:pic>
        <p:nvPicPr>
          <p:cNvPr id="172" name="Google Shape;172;p26"/>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653775" y="1379350"/>
            <a:ext cx="2032625" cy="767025"/>
          </a:xfrm>
          <a:prstGeom prst="rect">
            <a:avLst/>
          </a:prstGeom>
          <a:noFill/>
          <a:ln w="9525" cap="flat" cmpd="sng">
            <a:solidFill>
              <a:srgbClr val="FF0000"/>
            </a:solidFill>
            <a:prstDash val="solid"/>
            <a:round/>
            <a:headEnd type="none" w="sm" len="sm"/>
            <a:tailEnd type="none" w="sm" len="sm"/>
          </a:ln>
        </p:spPr>
      </p:pic>
      <p:pic>
        <p:nvPicPr>
          <p:cNvPr id="173" name="Google Shape;173;p26"/>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1726969" y="3883244"/>
            <a:ext cx="1176350" cy="11763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77"/>
        <p:cNvGrpSpPr/>
        <p:nvPr/>
      </p:nvGrpSpPr>
      <p:grpSpPr>
        <a:xfrm>
          <a:off x="0" y="0"/>
          <a:ext cx="0" cy="0"/>
          <a:chOff x="0" y="0"/>
          <a:chExt cx="0" cy="0"/>
        </a:xfrm>
      </p:grpSpPr>
      <p:sp>
        <p:nvSpPr>
          <p:cNvPr id="178" name="Google Shape;178;p27"/>
          <p:cNvSpPr txBox="1"/>
          <p:nvPr/>
        </p:nvSpPr>
        <p:spPr>
          <a:xfrm>
            <a:off x="81775" y="67675"/>
            <a:ext cx="3952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Anthropic's SRT (Sandbox Runtime)</a:t>
            </a:r>
            <a:endParaRPr sz="2000" b="1">
              <a:solidFill>
                <a:schemeClr val="dk1"/>
              </a:solidFill>
              <a:latin typeface="Calibri"/>
              <a:ea typeface="Calibri"/>
              <a:cs typeface="Calibri"/>
              <a:sym typeface="Calibri"/>
            </a:endParaRPr>
          </a:p>
        </p:txBody>
      </p:sp>
      <p:sp>
        <p:nvSpPr>
          <p:cNvPr id="179" name="Google Shape;179;p27"/>
          <p:cNvSpPr txBox="1"/>
          <p:nvPr/>
        </p:nvSpPr>
        <p:spPr>
          <a:xfrm>
            <a:off x="81775" y="762425"/>
            <a:ext cx="3148500" cy="4220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https://github.com/anthropic-experimental/sandbox-runtime</a:t>
            </a:r>
            <a:endParaRPr sz="9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Typescript orchestrates OS-level sandboxing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On MacOS there is a sandbox-exec </a:t>
            </a:r>
            <a:r>
              <a:rPr lang="en" sz="1200" b="1">
                <a:solidFill>
                  <a:srgbClr val="3C78D8"/>
                </a:solidFill>
                <a:latin typeface="Calibri"/>
                <a:ea typeface="Calibri"/>
                <a:cs typeface="Calibri"/>
                <a:sym typeface="Calibri"/>
              </a:rPr>
              <a:t>command line utility </a:t>
            </a:r>
            <a:r>
              <a:rPr lang="en" sz="1200">
                <a:solidFill>
                  <a:schemeClr val="dk1"/>
                </a:solidFill>
                <a:latin typeface="Calibri"/>
                <a:ea typeface="Calibri"/>
                <a:cs typeface="Calibri"/>
                <a:sym typeface="Calibri"/>
              </a:rPr>
              <a:t>that lets you run any process under a strict security policy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TypeScript can invoke it with proper Seatbelt profile (a Scheme-like DSL)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The kernel then intercepts every system call - file access, network connections, process forks - and enforces the policy across the entire process tree, including subprocesses</a:t>
            </a:r>
            <a:endParaRPr sz="1200">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rgbClr val="6AA84F"/>
              </a:buClr>
              <a:buSzPts val="1200"/>
              <a:buFont typeface="Calibri"/>
              <a:buChar char="●"/>
            </a:pPr>
            <a:r>
              <a:rPr lang="en" sz="1200">
                <a:solidFill>
                  <a:srgbClr val="6AA84F"/>
                </a:solidFill>
                <a:latin typeface="Calibri"/>
                <a:ea typeface="Calibri"/>
                <a:cs typeface="Calibri"/>
                <a:sym typeface="Calibri"/>
              </a:rPr>
              <a:t>For network filtering, SRT runs a local HTTP/SOCKS5 proxy. The Seatbelt profile blocks all direct outbound connections; traffic must route through the proxy, which enforces the domain allowlist.</a:t>
            </a:r>
            <a:endParaRPr sz="1200">
              <a:solidFill>
                <a:srgbClr val="6AA84F"/>
              </a:solidFill>
              <a:latin typeface="Calibri"/>
              <a:ea typeface="Calibri"/>
              <a:cs typeface="Calibri"/>
              <a:sym typeface="Calibri"/>
            </a:endParaRPr>
          </a:p>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On Linux, SRT uses bubblewrap with user namespaces instead</a:t>
            </a:r>
            <a:br>
              <a:rPr lang="en" sz="1200" b="1">
                <a:solidFill>
                  <a:srgbClr val="FF0000"/>
                </a:solidFill>
                <a:latin typeface="Calibri"/>
                <a:ea typeface="Calibri"/>
                <a:cs typeface="Calibri"/>
                <a:sym typeface="Calibri"/>
              </a:rPr>
            </a:br>
            <a:r>
              <a:rPr lang="en" sz="1200" b="1" u="sng">
                <a:solidFill>
                  <a:schemeClr val="hlink"/>
                </a:solidFill>
                <a:latin typeface="Calibri"/>
                <a:ea typeface="Calibri"/>
                <a:cs typeface="Calibri"/>
                <a:sym typeface="Calibri"/>
                <a:hlinkClick r:id="rId4"/>
              </a:rPr>
              <a:t>https://github.com/containers/bubblewrap</a:t>
            </a:r>
            <a:r>
              <a:rPr lang="en" sz="1200" b="1">
                <a:solidFill>
                  <a:srgbClr val="FF0000"/>
                </a:solidFill>
                <a:latin typeface="Calibri"/>
                <a:ea typeface="Calibri"/>
                <a:cs typeface="Calibri"/>
                <a:sym typeface="Calibri"/>
              </a:rPr>
              <a:t> </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 both cases, TypeScript's role is purely orchestration: generate the policy, start the proxy, and spawn the target process inside the sandbox.</a:t>
            </a:r>
            <a:endParaRPr sz="1200">
              <a:solidFill>
                <a:schemeClr val="dk1"/>
              </a:solidFill>
              <a:latin typeface="Calibri"/>
              <a:ea typeface="Calibri"/>
              <a:cs typeface="Calibri"/>
              <a:sym typeface="Calibri"/>
            </a:endParaRPr>
          </a:p>
        </p:txBody>
      </p:sp>
      <p:pic>
        <p:nvPicPr>
          <p:cNvPr id="180" name="Google Shape;180;p27"/>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3327275" y="762425"/>
            <a:ext cx="5747525" cy="4310644"/>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84"/>
        <p:cNvGrpSpPr/>
        <p:nvPr/>
      </p:nvGrpSpPr>
      <p:grpSpPr>
        <a:xfrm>
          <a:off x="0" y="0"/>
          <a:ext cx="0" cy="0"/>
          <a:chOff x="0" y="0"/>
          <a:chExt cx="0" cy="0"/>
        </a:xfrm>
      </p:grpSpPr>
      <p:sp>
        <p:nvSpPr>
          <p:cNvPr id="185" name="Google Shape;185;p28"/>
          <p:cNvSpPr txBox="1"/>
          <p:nvPr/>
        </p:nvSpPr>
        <p:spPr>
          <a:xfrm>
            <a:off x="81775" y="67675"/>
            <a:ext cx="2527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86" name="Google Shape;186;p28"/>
          <p:cNvSpPr txBox="1"/>
          <p:nvPr/>
        </p:nvSpPr>
        <p:spPr>
          <a:xfrm>
            <a:off x="81775" y="478750"/>
            <a:ext cx="4447500" cy="260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Microsoft Scout - based on OpenClaw</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A new always-on, autonomous AI agent</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A first in a new category called "Autopilots"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Scout runs independently around the clock, understanding a user's working style and proactively handling workplace tasks without being prompted</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It integrates deeply with Microsoft 365 tools including Teams, Outlook, OneDrive, and SharePoint, automating duties like meeting prep, scheduling conflict resolution, and routine calendar management</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Scout operates across cloud, desktop, and web, supports MCP</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Currently available as an experimental release exclusively to Microsoft's Frontier early-access customers with a GitHub Copilot subscription required</a:t>
            </a:r>
            <a:endParaRPr sz="1200">
              <a:latin typeface="Calibri"/>
              <a:ea typeface="Calibri"/>
              <a:cs typeface="Calibri"/>
              <a:sym typeface="Calibri"/>
            </a:endParaRPr>
          </a:p>
        </p:txBody>
      </p:sp>
      <p:pic>
        <p:nvPicPr>
          <p:cNvPr id="187" name="Google Shape;187;p28"/>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4890525" y="1189725"/>
            <a:ext cx="2290277" cy="1182349"/>
          </a:xfrm>
          <a:prstGeom prst="rect">
            <a:avLst/>
          </a:prstGeom>
          <a:noFill/>
          <a:ln>
            <a:noFill/>
          </a:ln>
        </p:spPr>
      </p:pic>
      <p:sp>
        <p:nvSpPr>
          <p:cNvPr id="188" name="Google Shape;188;p28"/>
          <p:cNvSpPr txBox="1"/>
          <p:nvPr/>
        </p:nvSpPr>
        <p:spPr>
          <a:xfrm>
            <a:off x="81775" y="3167725"/>
            <a:ext cx="4652400" cy="168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SpaceX IPO Target $1,750B vs $780B Valuation</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SpaceX is targeting $1.75 Trillion IPO to raise $75 Billion</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Morningstar Values SpaceX at $780 Bln, 48% Below IPO Target</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The firm estimates SpaceX’s launch and Starlink businesses are worth approximately $611 Billion, and $170 Billion to its AI operations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Analyst Nicolas Owens argued that </a:t>
            </a:r>
            <a:r>
              <a:rPr lang="en" sz="1200" b="1">
                <a:solidFill>
                  <a:srgbClr val="FF0000"/>
                </a:solidFill>
                <a:latin typeface="Calibri"/>
                <a:ea typeface="Calibri"/>
                <a:cs typeface="Calibri"/>
                <a:sym typeface="Calibri"/>
              </a:rPr>
              <a:t>the company has been "significantly overvalued,"</a:t>
            </a:r>
            <a:r>
              <a:rPr lang="en" sz="1200">
                <a:latin typeface="Calibri"/>
                <a:ea typeface="Calibri"/>
                <a:cs typeface="Calibri"/>
                <a:sym typeface="Calibri"/>
              </a:rPr>
              <a:t> citing uncertainty around assets such as Grok, the Colossus data center, and unproven orbital data center concepts</a:t>
            </a:r>
            <a:endParaRPr sz="1200">
              <a:latin typeface="Calibri"/>
              <a:ea typeface="Calibri"/>
              <a:cs typeface="Calibri"/>
              <a:sym typeface="Calibri"/>
            </a:endParaRPr>
          </a:p>
        </p:txBody>
      </p:sp>
      <p:pic>
        <p:nvPicPr>
          <p:cNvPr id="189" name="Google Shape;189;p28"/>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069050" y="3167725"/>
            <a:ext cx="2671607" cy="14961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93"/>
        <p:cNvGrpSpPr/>
        <p:nvPr/>
      </p:nvGrpSpPr>
      <p:grpSpPr>
        <a:xfrm>
          <a:off x="0" y="0"/>
          <a:ext cx="0" cy="0"/>
          <a:chOff x="0" y="0"/>
          <a:chExt cx="0" cy="0"/>
        </a:xfrm>
      </p:grpSpPr>
      <p:sp>
        <p:nvSpPr>
          <p:cNvPr id="194" name="Google Shape;194;p29"/>
          <p:cNvSpPr txBox="1"/>
          <p:nvPr/>
        </p:nvSpPr>
        <p:spPr>
          <a:xfrm>
            <a:off x="81775" y="67675"/>
            <a:ext cx="2527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95" name="Google Shape;195;p29"/>
          <p:cNvSpPr txBox="1"/>
          <p:nvPr/>
        </p:nvSpPr>
        <p:spPr>
          <a:xfrm>
            <a:off x="81775" y="2314426"/>
            <a:ext cx="28152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Suno raises $400M at $5.4B valuation</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AI music startup </a:t>
            </a:r>
            <a:endParaRPr sz="1200">
              <a:latin typeface="Calibri"/>
              <a:ea typeface="Calibri"/>
              <a:cs typeface="Calibri"/>
              <a:sym typeface="Calibri"/>
            </a:endParaRPr>
          </a:p>
        </p:txBody>
      </p:sp>
      <p:sp>
        <p:nvSpPr>
          <p:cNvPr id="196" name="Google Shape;196;p29"/>
          <p:cNvSpPr txBox="1"/>
          <p:nvPr/>
        </p:nvSpPr>
        <p:spPr>
          <a:xfrm>
            <a:off x="81775" y="394076"/>
            <a:ext cx="44259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JetBrains Mellum2 12B MoE Open-source Coding Model</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Code generation, debugging, reasoning, tool use, agentic workflows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Three variants: base, instruct, thinking</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https://huggingface.co/blog/JetBrains/mellum2-launch</a:t>
            </a:r>
            <a:r>
              <a:rPr lang="en" sz="1200">
                <a:latin typeface="Calibri"/>
                <a:ea typeface="Calibri"/>
                <a:cs typeface="Calibri"/>
                <a:sym typeface="Calibri"/>
              </a:rPr>
              <a:t> </a:t>
            </a:r>
            <a:endParaRPr sz="1200">
              <a:latin typeface="Calibri"/>
              <a:ea typeface="Calibri"/>
              <a:cs typeface="Calibri"/>
              <a:sym typeface="Calibri"/>
            </a:endParaRPr>
          </a:p>
        </p:txBody>
      </p:sp>
      <p:sp>
        <p:nvSpPr>
          <p:cNvPr id="197" name="Google Shape;197;p29"/>
          <p:cNvSpPr txBox="1"/>
          <p:nvPr/>
        </p:nvSpPr>
        <p:spPr>
          <a:xfrm>
            <a:off x="4632900" y="3525964"/>
            <a:ext cx="44259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Microsoft Project Solara chip-to-cloud platform</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Built for "agent-first" enterprise hardware devices to run AI agents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Has a </a:t>
            </a:r>
            <a:r>
              <a:rPr lang="en" sz="1200" b="1">
                <a:solidFill>
                  <a:srgbClr val="3C78D8"/>
                </a:solidFill>
                <a:latin typeface="Calibri"/>
                <a:ea typeface="Calibri"/>
                <a:cs typeface="Calibri"/>
                <a:sym typeface="Calibri"/>
              </a:rPr>
              <a:t>lightweight edge OS called Microsoft Device Ecosystem Platform (MDEP)</a:t>
            </a:r>
            <a:r>
              <a:rPr lang="en" sz="1200">
                <a:latin typeface="Calibri"/>
                <a:ea typeface="Calibri"/>
                <a:cs typeface="Calibri"/>
                <a:sym typeface="Calibri"/>
              </a:rPr>
              <a:t>, which is built on </a:t>
            </a:r>
            <a:r>
              <a:rPr lang="en" sz="1200" b="1">
                <a:solidFill>
                  <a:srgbClr val="3C78D8"/>
                </a:solidFill>
                <a:latin typeface="Calibri"/>
                <a:ea typeface="Calibri"/>
                <a:cs typeface="Calibri"/>
                <a:sym typeface="Calibri"/>
              </a:rPr>
              <a:t>AOSP (Android Open Source Project)</a:t>
            </a:r>
            <a:r>
              <a:rPr lang="en" sz="1200">
                <a:latin typeface="Calibri"/>
                <a:ea typeface="Calibri"/>
                <a:cs typeface="Calibri"/>
                <a:sym typeface="Calibri"/>
              </a:rPr>
              <a:t>, </a:t>
            </a:r>
            <a:r>
              <a:rPr lang="en" sz="1200" b="1">
                <a:solidFill>
                  <a:srgbClr val="FF0000"/>
                </a:solidFill>
                <a:latin typeface="Calibri"/>
                <a:ea typeface="Calibri"/>
                <a:cs typeface="Calibri"/>
                <a:sym typeface="Calibri"/>
              </a:rPr>
              <a:t>not Windows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The AOSP choice is interesting. Microsoft is prioritizing a lean, flexible runtime for agent workloads over Windows compatibility, likely for better resource efficiency on edge hardware</a:t>
            </a:r>
            <a:endParaRPr sz="1200">
              <a:latin typeface="Calibri"/>
              <a:ea typeface="Calibri"/>
              <a:cs typeface="Calibri"/>
              <a:sym typeface="Calibri"/>
            </a:endParaRPr>
          </a:p>
        </p:txBody>
      </p:sp>
      <p:pic>
        <p:nvPicPr>
          <p:cNvPr id="198" name="Google Shape;198;p29"/>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1251625" y="1846675"/>
            <a:ext cx="1357649" cy="387900"/>
          </a:xfrm>
          <a:prstGeom prst="rect">
            <a:avLst/>
          </a:prstGeom>
          <a:noFill/>
          <a:ln w="9525" cap="flat" cmpd="sng">
            <a:solidFill>
              <a:srgbClr val="FF0000"/>
            </a:solidFill>
            <a:prstDash val="solid"/>
            <a:round/>
            <a:headEnd type="none" w="sm" len="sm"/>
            <a:tailEnd type="none" w="sm" len="sm"/>
          </a:ln>
        </p:spPr>
      </p:pic>
      <p:pic>
        <p:nvPicPr>
          <p:cNvPr id="199" name="Google Shape;199;p29"/>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7131625" y="2050799"/>
            <a:ext cx="1927163" cy="1370725"/>
          </a:xfrm>
          <a:prstGeom prst="rect">
            <a:avLst/>
          </a:prstGeom>
          <a:noFill/>
          <a:ln w="9525" cap="flat" cmpd="sng">
            <a:solidFill>
              <a:srgbClr val="FF0000"/>
            </a:solidFill>
            <a:prstDash val="solid"/>
            <a:round/>
            <a:headEnd type="none" w="sm" len="sm"/>
            <a:tailEnd type="none" w="sm" len="sm"/>
          </a:ln>
        </p:spPr>
      </p:pic>
      <p:sp>
        <p:nvSpPr>
          <p:cNvPr id="200" name="Google Shape;200;p29"/>
          <p:cNvSpPr txBox="1"/>
          <p:nvPr/>
        </p:nvSpPr>
        <p:spPr>
          <a:xfrm>
            <a:off x="81775" y="3895264"/>
            <a:ext cx="4425900" cy="112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5 files to personalize your Claude Code agent</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1. </a:t>
            </a:r>
            <a:r>
              <a:rPr lang="en" sz="1200" u="sng">
                <a:solidFill>
                  <a:schemeClr val="hlink"/>
                </a:solidFill>
                <a:latin typeface="Calibri"/>
                <a:ea typeface="Calibri"/>
                <a:cs typeface="Calibri"/>
                <a:sym typeface="Calibri"/>
                <a:hlinkClick r:id="rId6"/>
              </a:rPr>
              <a:t>CLAUDE.md</a:t>
            </a:r>
            <a:r>
              <a:rPr lang="en" sz="1200">
                <a:latin typeface="Calibri"/>
                <a:ea typeface="Calibri"/>
                <a:cs typeface="Calibri"/>
                <a:sym typeface="Calibri"/>
              </a:rPr>
              <a:t> - style, preferences, behaviours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2. </a:t>
            </a:r>
            <a:r>
              <a:rPr lang="en" sz="1200" u="sng">
                <a:solidFill>
                  <a:schemeClr val="hlink"/>
                </a:solidFill>
                <a:latin typeface="Calibri"/>
                <a:ea typeface="Calibri"/>
                <a:cs typeface="Calibri"/>
                <a:sym typeface="Calibri"/>
                <a:hlinkClick r:id="rId7"/>
              </a:rPr>
              <a:t>SOUL.md</a:t>
            </a:r>
            <a:r>
              <a:rPr lang="en" sz="1200">
                <a:latin typeface="Calibri"/>
                <a:ea typeface="Calibri"/>
                <a:cs typeface="Calibri"/>
                <a:sym typeface="Calibri"/>
              </a:rPr>
              <a:t> - personality, values, and the underlying philosophy</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3. </a:t>
            </a:r>
            <a:r>
              <a:rPr lang="en" sz="1200" u="sng">
                <a:solidFill>
                  <a:schemeClr val="hlink"/>
                </a:solidFill>
                <a:latin typeface="Calibri"/>
                <a:ea typeface="Calibri"/>
                <a:cs typeface="Calibri"/>
                <a:sym typeface="Calibri"/>
                <a:hlinkClick r:id="rId8"/>
              </a:rPr>
              <a:t>DESIGN.md</a:t>
            </a:r>
            <a:r>
              <a:rPr lang="en" sz="1200">
                <a:latin typeface="Calibri"/>
                <a:ea typeface="Calibri"/>
                <a:cs typeface="Calibri"/>
                <a:sym typeface="Calibri"/>
              </a:rPr>
              <a:t> - your design system (or technical standards)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4. </a:t>
            </a:r>
            <a:r>
              <a:rPr lang="en" sz="1200" u="sng">
                <a:solidFill>
                  <a:schemeClr val="hlink"/>
                </a:solidFill>
                <a:latin typeface="Calibri"/>
                <a:ea typeface="Calibri"/>
                <a:cs typeface="Calibri"/>
                <a:sym typeface="Calibri"/>
                <a:hlinkClick r:id="rId9"/>
              </a:rPr>
              <a:t>VOICE.md</a:t>
            </a:r>
            <a:r>
              <a:rPr lang="en" sz="1200">
                <a:latin typeface="Calibri"/>
                <a:ea typeface="Calibri"/>
                <a:cs typeface="Calibri"/>
                <a:sym typeface="Calibri"/>
              </a:rPr>
              <a:t> - your brand voice, vocabulary, ...</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5. </a:t>
            </a:r>
            <a:r>
              <a:rPr lang="en" sz="1200" u="sng">
                <a:solidFill>
                  <a:schemeClr val="hlink"/>
                </a:solidFill>
                <a:latin typeface="Calibri"/>
                <a:ea typeface="Calibri"/>
                <a:cs typeface="Calibri"/>
                <a:sym typeface="Calibri"/>
                <a:hlinkClick r:id="rId10"/>
              </a:rPr>
              <a:t>AUDIENCE.md</a:t>
            </a:r>
            <a:r>
              <a:rPr lang="en" sz="1200">
                <a:latin typeface="Calibri"/>
                <a:ea typeface="Calibri"/>
                <a:cs typeface="Calibri"/>
                <a:sym typeface="Calibri"/>
              </a:rPr>
              <a:t> - who you are speaking to</a:t>
            </a:r>
            <a:endParaRPr sz="1200">
              <a:latin typeface="Calibri"/>
              <a:ea typeface="Calibri"/>
              <a:cs typeface="Calibri"/>
              <a:sym typeface="Calibri"/>
            </a:endParaRPr>
          </a:p>
        </p:txBody>
      </p:sp>
      <p:pic>
        <p:nvPicPr>
          <p:cNvPr id="201" name="Google Shape;201;p29"/>
          <p:cNvPicPr preferRelativeResize="0"/>
          <p:nvPr/>
        </p:nvPicPr>
        <p:blipFill rotWithShape="1">
          <a:blip r:embed="rId11" cstate="email">
            <a:alphaModFix/>
            <a:extLst>
              <a:ext uri="{28A0092B-C50C-407E-A947-70E740481C1C}">
                <a14:useLocalDpi xmlns:a14="http://schemas.microsoft.com/office/drawing/2010/main"/>
              </a:ext>
            </a:extLst>
          </a:blip>
          <a:srcRect/>
          <a:stretch/>
        </p:blipFill>
        <p:spPr>
          <a:xfrm>
            <a:off x="1791750" y="3260625"/>
            <a:ext cx="2433074" cy="534801"/>
          </a:xfrm>
          <a:prstGeom prst="rect">
            <a:avLst/>
          </a:prstGeom>
          <a:noFill/>
          <a:ln w="9525" cap="flat" cmpd="sng">
            <a:solidFill>
              <a:srgbClr val="FF0000"/>
            </a:solidFill>
            <a:prstDash val="solid"/>
            <a:round/>
            <a:headEnd type="none" w="sm" len="sm"/>
            <a:tailEnd type="none" w="sm" len="sm"/>
          </a:ln>
        </p:spPr>
      </p:pic>
      <p:pic>
        <p:nvPicPr>
          <p:cNvPr id="202" name="Google Shape;202;p29"/>
          <p:cNvPicPr preferRelativeResize="0"/>
          <p:nvPr/>
        </p:nvPicPr>
        <p:blipFill>
          <a:blip r:embed="rId12" cstate="email">
            <a:alphaModFix/>
            <a:extLst>
              <a:ext uri="{28A0092B-C50C-407E-A947-70E740481C1C}">
                <a14:useLocalDpi xmlns:a14="http://schemas.microsoft.com/office/drawing/2010/main"/>
              </a:ext>
            </a:extLst>
          </a:blip>
          <a:stretch>
            <a:fillRect/>
          </a:stretch>
        </p:blipFill>
        <p:spPr>
          <a:xfrm>
            <a:off x="4632899" y="67675"/>
            <a:ext cx="2080125" cy="187882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06"/>
        <p:cNvGrpSpPr/>
        <p:nvPr/>
      </p:nvGrpSpPr>
      <p:grpSpPr>
        <a:xfrm>
          <a:off x="0" y="0"/>
          <a:ext cx="0" cy="0"/>
          <a:chOff x="0" y="0"/>
          <a:chExt cx="0" cy="0"/>
        </a:xfrm>
      </p:grpSpPr>
      <p:sp>
        <p:nvSpPr>
          <p:cNvPr id="207" name="Google Shape;207;p30"/>
          <p:cNvSpPr txBox="1"/>
          <p:nvPr/>
        </p:nvSpPr>
        <p:spPr>
          <a:xfrm>
            <a:off x="81775" y="67675"/>
            <a:ext cx="2527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08" name="Google Shape;208;p30"/>
          <p:cNvSpPr txBox="1"/>
          <p:nvPr/>
        </p:nvSpPr>
        <p:spPr>
          <a:xfrm>
            <a:off x="81775" y="1103550"/>
            <a:ext cx="4433100" cy="3897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Agent Compiler - Optimized Reusable Paths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"Your AI Agent Is Wasting Time Thinking" - by Sumant Thakur</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https://sumantthakur.substack.com/p/the-agent-compiler-is-coming</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Core Idea: The Agent Compiler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Current AI agents are essentially "chatbots with tools", they re-reason from scratch every time they encounter a task. This is inefficient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An "agent compiler" would transform an agent's learned experiences and reasoning patterns into optimized, reusable execution paths, so agents stop wasting compute re-thinking things they've already figured out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From: Interpret → execute </a:t>
            </a:r>
            <a:r>
              <a:rPr lang="en" sz="1200">
                <a:solidFill>
                  <a:schemeClr val="dk1"/>
                </a:solidFill>
                <a:latin typeface="Calibri"/>
                <a:ea typeface="Calibri"/>
                <a:cs typeface="Calibri"/>
                <a:sym typeface="Calibri"/>
              </a:rPr>
              <a:t>(current state: reasoning at runtime every time)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To: Compile → execute </a:t>
            </a:r>
            <a:r>
              <a:rPr lang="en" sz="1200">
                <a:solidFill>
                  <a:schemeClr val="dk1"/>
                </a:solidFill>
                <a:latin typeface="Calibri"/>
                <a:ea typeface="Calibri"/>
                <a:cs typeface="Calibri"/>
                <a:sym typeface="Calibri"/>
              </a:rPr>
              <a:t>(distilling learned patterns into faster, cheaper, more reliable execution)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implication is significant for production AI systems: agents that "compile" their workflows could be dramatically more efficient, consistent, and cost-effective at scale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Rather than burning tokens re-deliberating on solved problems, they'd run pre-optimized paths, making agentic AI less experimental and more industrial-grade</a:t>
            </a:r>
            <a:endParaRPr sz="1200">
              <a:solidFill>
                <a:schemeClr val="dk1"/>
              </a:solidFill>
              <a:latin typeface="Calibri"/>
              <a:ea typeface="Calibri"/>
              <a:cs typeface="Calibri"/>
              <a:sym typeface="Calibri"/>
            </a:endParaRPr>
          </a:p>
        </p:txBody>
      </p:sp>
      <p:sp>
        <p:nvSpPr>
          <p:cNvPr id="209" name="Google Shape;209;p30"/>
          <p:cNvSpPr txBox="1"/>
          <p:nvPr/>
        </p:nvSpPr>
        <p:spPr>
          <a:xfrm>
            <a:off x="4657025" y="2211750"/>
            <a:ext cx="4433100" cy="2789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Google DeepMind - Alpha Proof Nexus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AI framework for autonomously solving open math problems</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Unlike traditional language models that hallucinate, this system connects frontier AI with Lean, a formal proof assistant that mechanically verifies mathematical reasoning step-by-step</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Through a continuous loop of generating code, reading error messages, and adjusting its approach, the system independently solved nine open Erdős problems - including two that remained unsolved for over 56 years - along with 44 open conjectures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Remarkably, these breakthroughs cost only a few hundred dollars in computing power per problem</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This milestone proves AI can discover entirely new human knowledge, promising to dramatically accelerate future scientific progress across physics, chemistry, and medicine.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https://www.youtube.com/watch?v=MgiJ5C1pQBg</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210" name="Google Shape;210;p30"/>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81775" y="518825"/>
            <a:ext cx="3301075" cy="459975"/>
          </a:xfrm>
          <a:prstGeom prst="rect">
            <a:avLst/>
          </a:prstGeom>
          <a:noFill/>
          <a:ln w="9525" cap="flat" cmpd="sng">
            <a:solidFill>
              <a:srgbClr val="FF0000"/>
            </a:solidFill>
            <a:prstDash val="solid"/>
            <a:round/>
            <a:headEnd type="none" w="sm" len="sm"/>
            <a:tailEnd type="none" w="sm" len="sm"/>
          </a:ln>
        </p:spPr>
      </p:pic>
      <p:pic>
        <p:nvPicPr>
          <p:cNvPr id="211" name="Google Shape;211;p30"/>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5405425" y="708175"/>
            <a:ext cx="3620800" cy="135592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15"/>
        <p:cNvGrpSpPr/>
        <p:nvPr/>
      </p:nvGrpSpPr>
      <p:grpSpPr>
        <a:xfrm>
          <a:off x="0" y="0"/>
          <a:ext cx="0" cy="0"/>
          <a:chOff x="0" y="0"/>
          <a:chExt cx="0" cy="0"/>
        </a:xfrm>
      </p:grpSpPr>
      <p:sp>
        <p:nvSpPr>
          <p:cNvPr id="216" name="Google Shape;216;p31"/>
          <p:cNvSpPr txBox="1"/>
          <p:nvPr/>
        </p:nvSpPr>
        <p:spPr>
          <a:xfrm>
            <a:off x="81775" y="67675"/>
            <a:ext cx="2527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17" name="Google Shape;217;p31"/>
          <p:cNvSpPr txBox="1"/>
          <p:nvPr/>
        </p:nvSpPr>
        <p:spPr>
          <a:xfrm>
            <a:off x="100825" y="526375"/>
            <a:ext cx="44520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Unabyss - Context Layer </a:t>
            </a:r>
            <a:r>
              <a:rPr lang="en" sz="1200">
                <a:solidFill>
                  <a:schemeClr val="dk1"/>
                </a:solidFill>
                <a:latin typeface="Calibri"/>
                <a:ea typeface="Calibri"/>
                <a:cs typeface="Calibri"/>
                <a:sym typeface="Calibri"/>
              </a:rPr>
              <a:t>- </a:t>
            </a:r>
            <a:r>
              <a:rPr lang="en" sz="1200" u="sng">
                <a:solidFill>
                  <a:schemeClr val="hlink"/>
                </a:solidFill>
                <a:latin typeface="Calibri"/>
                <a:ea typeface="Calibri"/>
                <a:cs typeface="Calibri"/>
                <a:sym typeface="Calibri"/>
                <a:hlinkClick r:id="rId3"/>
              </a:rPr>
              <a:t>https://unabyss.com</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Converts email, docs, and chat into clean artifacts such as persona, voice, projects, and company knowledge - and shares via MCP</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You stay in control with fine-grained privacy and per-tool permissions, so each assistant only sees the context it actually needs</a:t>
            </a:r>
            <a:endParaRPr sz="1200">
              <a:solidFill>
                <a:schemeClr val="dk1"/>
              </a:solidFill>
              <a:latin typeface="Calibri"/>
              <a:ea typeface="Calibri"/>
              <a:cs typeface="Calibri"/>
              <a:sym typeface="Calibri"/>
            </a:endParaRPr>
          </a:p>
        </p:txBody>
      </p:sp>
      <p:sp>
        <p:nvSpPr>
          <p:cNvPr id="218" name="Google Shape;218;p31"/>
          <p:cNvSpPr txBox="1"/>
          <p:nvPr/>
        </p:nvSpPr>
        <p:spPr>
          <a:xfrm>
            <a:off x="100825" y="1584314"/>
            <a:ext cx="4452000" cy="112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Cybersecurity recruiting is accelerating</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Recruiters are urgently seeking leaders who can handle breaches, audit AI-generated code, and secure infrastructure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Cybersecurity job postings rose 11% year over year in Q1</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Concerns intensified after models like Anthropic’s Mythos raised fears about AI-assisted vulnerability discovery and hacking</a:t>
            </a:r>
            <a:endParaRPr sz="1200">
              <a:solidFill>
                <a:schemeClr val="dk1"/>
              </a:solidFill>
              <a:latin typeface="Calibri"/>
              <a:ea typeface="Calibri"/>
              <a:cs typeface="Calibri"/>
              <a:sym typeface="Calibri"/>
            </a:endParaRPr>
          </a:p>
        </p:txBody>
      </p:sp>
      <p:sp>
        <p:nvSpPr>
          <p:cNvPr id="219" name="Google Shape;219;p31"/>
          <p:cNvSpPr txBox="1"/>
          <p:nvPr/>
        </p:nvSpPr>
        <p:spPr>
          <a:xfrm>
            <a:off x="100825" y="2856685"/>
            <a:ext cx="4452000" cy="168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AI for consistent robotic work</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Alibaba ships a reasoning model that runs autonomously for 35 hours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Figure robots sort 88,000 packages at JCPenney's warehouse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 research paper teaches models to "sleep" and compress memory like a brain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AI is being engineered for endurance, not just intelligence. Longer context, longer shifts, longer tasks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race isn't about smarter anymore. It's about sustained</a:t>
            </a:r>
            <a:endParaRPr sz="1200">
              <a:solidFill>
                <a:schemeClr val="dk1"/>
              </a:solidFill>
              <a:latin typeface="Calibri"/>
              <a:ea typeface="Calibri"/>
              <a:cs typeface="Calibri"/>
              <a:sym typeface="Calibri"/>
            </a:endParaRPr>
          </a:p>
        </p:txBody>
      </p:sp>
      <p:pic>
        <p:nvPicPr>
          <p:cNvPr id="220" name="Google Shape;220;p31"/>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749850" y="586525"/>
            <a:ext cx="2814775" cy="821700"/>
          </a:xfrm>
          <a:prstGeom prst="rect">
            <a:avLst/>
          </a:prstGeom>
          <a:noFill/>
          <a:ln w="9525" cap="flat" cmpd="sng">
            <a:solidFill>
              <a:srgbClr val="FF0000"/>
            </a:solidFill>
            <a:prstDash val="solid"/>
            <a:round/>
            <a:headEnd type="none" w="sm" len="sm"/>
            <a:tailEnd type="none" w="sm" len="sm"/>
          </a:ln>
        </p:spPr>
      </p:pic>
      <p:pic>
        <p:nvPicPr>
          <p:cNvPr id="221" name="Google Shape;221;p31"/>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749850" y="1637625"/>
            <a:ext cx="2814775" cy="1020197"/>
          </a:xfrm>
          <a:prstGeom prst="rect">
            <a:avLst/>
          </a:prstGeom>
          <a:noFill/>
          <a:ln w="9525" cap="flat" cmpd="sng">
            <a:solidFill>
              <a:srgbClr val="FF0000"/>
            </a:solidFill>
            <a:prstDash val="solid"/>
            <a:round/>
            <a:headEnd type="none" w="sm" len="sm"/>
            <a:tailEnd type="none" w="sm" len="sm"/>
          </a:ln>
        </p:spPr>
      </p:pic>
      <p:pic>
        <p:nvPicPr>
          <p:cNvPr id="222" name="Google Shape;222;p31"/>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749850" y="2897887"/>
            <a:ext cx="2527500" cy="1598469"/>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26"/>
        <p:cNvGrpSpPr/>
        <p:nvPr/>
      </p:nvGrpSpPr>
      <p:grpSpPr>
        <a:xfrm>
          <a:off x="0" y="0"/>
          <a:ext cx="0" cy="0"/>
          <a:chOff x="0" y="0"/>
          <a:chExt cx="0" cy="0"/>
        </a:xfrm>
      </p:grpSpPr>
      <p:sp>
        <p:nvSpPr>
          <p:cNvPr id="227" name="Google Shape;227;p32"/>
          <p:cNvSpPr txBox="1"/>
          <p:nvPr/>
        </p:nvSpPr>
        <p:spPr>
          <a:xfrm>
            <a:off x="100825" y="76400"/>
            <a:ext cx="41523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Microsoft Majorana-2 Quantum Chip</a:t>
            </a:r>
            <a:endParaRPr sz="2000" b="1">
              <a:solidFill>
                <a:schemeClr val="dk1"/>
              </a:solidFill>
              <a:latin typeface="Calibri"/>
              <a:ea typeface="Calibri"/>
              <a:cs typeface="Calibri"/>
              <a:sym typeface="Calibri"/>
            </a:endParaRPr>
          </a:p>
        </p:txBody>
      </p:sp>
      <p:sp>
        <p:nvSpPr>
          <p:cNvPr id="228" name="Google Shape;228;p32"/>
          <p:cNvSpPr txBox="1"/>
          <p:nvPr/>
        </p:nvSpPr>
        <p:spPr>
          <a:xfrm>
            <a:off x="100825" y="526375"/>
            <a:ext cx="4452000" cy="168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Microsoft Majorana-2 Quantum Chip</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x1,000 times more reliable than its predecessor - switched from aluminum to lead as a superconductor, which helps shield sensitive qubits from disruptive environmental noise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Microsoft utilized AI agents through their "Microsoft Discovery" platform to accelerate research, analyze decades of data, and identify hidden hardware errors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Estimate a commercially viable quantum computer at 2029</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https://www.youtube.com/watch?v=7NN6XbI3-lo</a:t>
            </a:r>
            <a:endParaRPr sz="1200">
              <a:solidFill>
                <a:schemeClr val="dk1"/>
              </a:solidFill>
              <a:latin typeface="Calibri"/>
              <a:ea typeface="Calibri"/>
              <a:cs typeface="Calibri"/>
              <a:sym typeface="Calibri"/>
            </a:endParaRPr>
          </a:p>
        </p:txBody>
      </p:sp>
      <p:sp>
        <p:nvSpPr>
          <p:cNvPr id="229" name="Google Shape;229;p32"/>
          <p:cNvSpPr txBox="1"/>
          <p:nvPr/>
        </p:nvSpPr>
        <p:spPr>
          <a:xfrm>
            <a:off x="100825" y="2330850"/>
            <a:ext cx="44520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Peter Yang - 5 steps for building self-improving AI skills for Claude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Providing Claude with personal context and specific examples, followed by refining descriptions to ensure reliable triggering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Implementing an evaluation loop that allows the AI to identify and correct its own errors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Incorporating memory so the skill evolves over time and how to build a skill editor for ongoing management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https://www.youtube.com/watch?v=uT3EQPVIEb0</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230" name="Google Shape;230;p32"/>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933825" y="2484400"/>
            <a:ext cx="2743326" cy="1189000"/>
          </a:xfrm>
          <a:prstGeom prst="rect">
            <a:avLst/>
          </a:prstGeom>
          <a:noFill/>
          <a:ln w="9525" cap="flat" cmpd="sng">
            <a:solidFill>
              <a:srgbClr val="FF0000"/>
            </a:solidFill>
            <a:prstDash val="solid"/>
            <a:round/>
            <a:headEnd type="none" w="sm" len="sm"/>
            <a:tailEnd type="none" w="sm" len="sm"/>
          </a:ln>
        </p:spPr>
      </p:pic>
      <p:pic>
        <p:nvPicPr>
          <p:cNvPr id="231" name="Google Shape;231;p32"/>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933825" y="526375"/>
            <a:ext cx="1346066" cy="16809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35"/>
        <p:cNvGrpSpPr/>
        <p:nvPr/>
      </p:nvGrpSpPr>
      <p:grpSpPr>
        <a:xfrm>
          <a:off x="0" y="0"/>
          <a:ext cx="0" cy="0"/>
          <a:chOff x="0" y="0"/>
          <a:chExt cx="0" cy="0"/>
        </a:xfrm>
      </p:grpSpPr>
      <p:sp>
        <p:nvSpPr>
          <p:cNvPr id="236" name="Google Shape;236;p33"/>
          <p:cNvSpPr txBox="1"/>
          <p:nvPr/>
        </p:nvSpPr>
        <p:spPr>
          <a:xfrm>
            <a:off x="100825" y="76400"/>
            <a:ext cx="44178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Anthropic "When AI builds itself" paper</a:t>
            </a:r>
            <a:endParaRPr sz="2000" b="1">
              <a:solidFill>
                <a:schemeClr val="dk1"/>
              </a:solidFill>
              <a:latin typeface="Calibri"/>
              <a:ea typeface="Calibri"/>
              <a:cs typeface="Calibri"/>
              <a:sym typeface="Calibri"/>
            </a:endParaRPr>
          </a:p>
        </p:txBody>
      </p:sp>
      <p:sp>
        <p:nvSpPr>
          <p:cNvPr id="237" name="Google Shape;237;p33"/>
          <p:cNvSpPr txBox="1"/>
          <p:nvPr/>
        </p:nvSpPr>
        <p:spPr>
          <a:xfrm>
            <a:off x="100825" y="526375"/>
            <a:ext cx="4452000" cy="3681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Anthropic "When AI builds itself" paper</a:t>
            </a:r>
            <a:br>
              <a:rPr lang="en" sz="1000">
                <a:solidFill>
                  <a:schemeClr val="dk1"/>
                </a:solidFill>
                <a:latin typeface="Calibri"/>
                <a:ea typeface="Calibri"/>
                <a:cs typeface="Calibri"/>
                <a:sym typeface="Calibri"/>
              </a:rPr>
            </a:br>
            <a:r>
              <a:rPr lang="en" sz="1000" u="sng">
                <a:solidFill>
                  <a:schemeClr val="hlink"/>
                </a:solidFill>
                <a:latin typeface="Calibri"/>
                <a:ea typeface="Calibri"/>
                <a:cs typeface="Calibri"/>
                <a:sym typeface="Calibri"/>
                <a:hlinkClick r:id="rId3"/>
              </a:rPr>
              <a:t>https://www.anthropic.com/institute/recursive-self-improvement</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Matthew Berman</a:t>
            </a:r>
            <a:r>
              <a:rPr lang="en" sz="900">
                <a:solidFill>
                  <a:schemeClr val="dk1"/>
                </a:solidFill>
                <a:latin typeface="Calibri"/>
                <a:ea typeface="Calibri"/>
                <a:cs typeface="Calibri"/>
                <a:sym typeface="Calibri"/>
              </a:rPr>
              <a:t> </a:t>
            </a:r>
            <a:r>
              <a:rPr lang="en" sz="900" u="sng">
                <a:solidFill>
                  <a:schemeClr val="hlink"/>
                </a:solidFill>
                <a:latin typeface="Calibri"/>
                <a:ea typeface="Calibri"/>
                <a:cs typeface="Calibri"/>
                <a:sym typeface="Calibri"/>
                <a:hlinkClick r:id="rId4"/>
              </a:rPr>
              <a:t>https://www.youtube.com/watch?v=a56T6OQtwEg</a:t>
            </a:r>
            <a:endParaRPr sz="9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Recursive self-improvement (RSI) </a:t>
            </a:r>
            <a:r>
              <a:rPr lang="en" sz="1200">
                <a:solidFill>
                  <a:schemeClr val="dk1"/>
                </a:solidFill>
                <a:latin typeface="Calibri"/>
                <a:ea typeface="Calibri"/>
                <a:cs typeface="Calibri"/>
                <a:sym typeface="Calibri"/>
              </a:rPr>
              <a:t>in AI development - AI systems are increasingly being used to design and develop their own successors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Human role is transitioning from writing code to prompting, verifying, and setting research direction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bottleneck shifts from code writing to code verifying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Inside Anthropic, most of the code is written by AI. AI is significantly accelerating the speed at which tasks are completed</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Three possible futures: (1) Trend Stalls, (2) Tren continues, but humans remain in the loop for direction and judgment, (3) Full RSI - AI systems autonomously build their own successors, leading to an intelligence explosion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Berman also provides commentary on Anthropic’s "fear-based marketing" strategy, noting that while the company advocates for slowing down the development of frontier AI to ensure safety, their current internal reliance on powerful, unreleased models (like the "Mythos" preview) suggests they are highly motivated to maintain their competitive lead</a:t>
            </a:r>
            <a:endParaRPr sz="1200">
              <a:solidFill>
                <a:schemeClr val="dk1"/>
              </a:solidFill>
              <a:latin typeface="Calibri"/>
              <a:ea typeface="Calibri"/>
              <a:cs typeface="Calibri"/>
              <a:sym typeface="Calibri"/>
            </a:endParaRPr>
          </a:p>
        </p:txBody>
      </p:sp>
      <p:pic>
        <p:nvPicPr>
          <p:cNvPr id="238" name="Google Shape;238;p33"/>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5189225" y="1204559"/>
            <a:ext cx="3002277" cy="20042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sp>
        <p:nvSpPr>
          <p:cNvPr id="243" name="Google Shape;243;p34"/>
          <p:cNvSpPr txBox="1"/>
          <p:nvPr/>
        </p:nvSpPr>
        <p:spPr>
          <a:xfrm>
            <a:off x="100825" y="76401"/>
            <a:ext cx="5755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Ray Kurzweil with Peter H. Diamandis on Moonshots</a:t>
            </a:r>
            <a:endParaRPr sz="2000" b="1">
              <a:solidFill>
                <a:schemeClr val="dk1"/>
              </a:solidFill>
              <a:latin typeface="Calibri"/>
              <a:ea typeface="Calibri"/>
              <a:cs typeface="Calibri"/>
              <a:sym typeface="Calibri"/>
            </a:endParaRPr>
          </a:p>
        </p:txBody>
      </p:sp>
      <p:sp>
        <p:nvSpPr>
          <p:cNvPr id="244" name="Google Shape;244;p34"/>
          <p:cNvSpPr txBox="1"/>
          <p:nvPr/>
        </p:nvSpPr>
        <p:spPr>
          <a:xfrm>
            <a:off x="100825" y="526375"/>
            <a:ext cx="4452000" cy="315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Ray Kurzweil with Peter H. Diamandis on Moonshots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Ray Kurzweil reaffirmed his long-standing prediction of AGI by 2029, citing continued exponential growth in computing and recent advances in large language models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He argues AI already outperforms humans in some domains, including medical diagnosis, and will reach vastly higher intelligence levels by the 2045 singularity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discussion highlighted debates around AI consciousness and personhood, with no clear scientific definition but growing practical relevance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Kurzweil and others emphasized that education systems are outdated, as AI can teach content while universities primarily provide socialization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Economically, society is unprepared for post-scarcity shifts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Kurzweil ultimately emphasized the transformative power of technology to scale access, turning expensive innovations into universally available tools</a:t>
            </a:r>
            <a:endParaRPr sz="1200">
              <a:solidFill>
                <a:schemeClr val="dk1"/>
              </a:solidFill>
              <a:latin typeface="Calibri"/>
              <a:ea typeface="Calibri"/>
              <a:cs typeface="Calibri"/>
              <a:sym typeface="Calibri"/>
            </a:endParaRPr>
          </a:p>
        </p:txBody>
      </p:sp>
      <p:pic>
        <p:nvPicPr>
          <p:cNvPr id="245" name="Google Shape;245;p34"/>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4732400" y="526375"/>
            <a:ext cx="3936801" cy="217512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49"/>
        <p:cNvGrpSpPr/>
        <p:nvPr/>
      </p:nvGrpSpPr>
      <p:grpSpPr>
        <a:xfrm>
          <a:off x="0" y="0"/>
          <a:ext cx="0" cy="0"/>
          <a:chOff x="0" y="0"/>
          <a:chExt cx="0" cy="0"/>
        </a:xfrm>
      </p:grpSpPr>
      <p:sp>
        <p:nvSpPr>
          <p:cNvPr id="250" name="Google Shape;250;p35"/>
          <p:cNvSpPr txBox="1"/>
          <p:nvPr/>
        </p:nvSpPr>
        <p:spPr>
          <a:xfrm>
            <a:off x="81775" y="59775"/>
            <a:ext cx="4423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Context Chain-of-Thought - Context-CoT</a:t>
            </a:r>
            <a:endParaRPr sz="2000" b="1">
              <a:solidFill>
                <a:schemeClr val="dk1"/>
              </a:solidFill>
              <a:latin typeface="Calibri"/>
              <a:ea typeface="Calibri"/>
              <a:cs typeface="Calibri"/>
              <a:sym typeface="Calibri"/>
            </a:endParaRPr>
          </a:p>
        </p:txBody>
      </p:sp>
      <p:sp>
        <p:nvSpPr>
          <p:cNvPr id="251" name="Google Shape;251;p35"/>
          <p:cNvSpPr txBox="1"/>
          <p:nvPr/>
        </p:nvSpPr>
        <p:spPr>
          <a:xfrm>
            <a:off x="81775" y="478750"/>
            <a:ext cx="4423500" cy="2973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"Context-CoT: Enhancing Context Learning via High-Quality Reasoning Synthesis" </a:t>
            </a:r>
            <a:r>
              <a:rPr lang="en" sz="1200">
                <a:solidFill>
                  <a:schemeClr val="dk1"/>
                </a:solidFill>
                <a:latin typeface="Calibri"/>
                <a:ea typeface="Calibri"/>
                <a:cs typeface="Calibri"/>
                <a:sym typeface="Calibri"/>
              </a:rPr>
              <a:t>- </a:t>
            </a:r>
            <a:r>
              <a:rPr lang="en" sz="1200" u="sng">
                <a:solidFill>
                  <a:schemeClr val="hlink"/>
                </a:solidFill>
                <a:latin typeface="Calibri"/>
                <a:ea typeface="Calibri"/>
                <a:cs typeface="Calibri"/>
                <a:sym typeface="Calibri"/>
                <a:hlinkClick r:id="rId3"/>
              </a:rPr>
              <a:t>https://arxiv.org/abs/2605.25354</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Unlike standard in-context learning, which simply activates existing parametric knowledge, context learning requires models to internalize entirely unfamiliar or contradictory rules provided exclusively within a prompt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Testing reveals that frontier models fail massively on these real-world tasks because teacher LLMs are "lazy," generating flawed, post-hoc rationalizations based on pre-training memory rather than the new rules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Context-CoT solves this by hiding the final answers from teacher models during data synthesis and optimizing step-wise reasoning to minimize cognitive friction for smaller student models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Implementing this approach yields a noticeable performance jump on difficult context benchmarks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https://www.youtube.com/watch?v=9ngD_BKKtek</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
        <p:nvSpPr>
          <p:cNvPr id="252" name="Google Shape;252;p35"/>
          <p:cNvSpPr txBox="1"/>
          <p:nvPr/>
        </p:nvSpPr>
        <p:spPr>
          <a:xfrm>
            <a:off x="4644250" y="1903950"/>
            <a:ext cx="4423500" cy="315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Huawei Semiconductor "Tau (τ) Scaling"</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New chip design </a:t>
            </a:r>
            <a:r>
              <a:rPr lang="en" sz="1000">
                <a:solidFill>
                  <a:schemeClr val="dk1"/>
                </a:solidFill>
                <a:latin typeface="Calibri"/>
                <a:ea typeface="Calibri"/>
                <a:cs typeface="Calibri"/>
                <a:sym typeface="Calibri"/>
              </a:rPr>
              <a:t>- </a:t>
            </a:r>
            <a:r>
              <a:rPr lang="en" sz="1000" u="sng">
                <a:solidFill>
                  <a:schemeClr val="hlink"/>
                </a:solidFill>
                <a:latin typeface="Calibri"/>
                <a:ea typeface="Calibri"/>
                <a:cs typeface="Calibri"/>
                <a:sym typeface="Calibri"/>
                <a:hlinkClick r:id="rId5"/>
              </a:rPr>
              <a:t>https://www.youtube.com/watch?v=l5RZOy_tqYw</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New Metric (Tau Scaling) - instead of focusing on shrinking the physical transistor, Tau scaling optimizes signal travel time "tau" - the time it takes for electrical pulses to move between components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Tau scaling seeks to optimize the "corridors" rather than shrinking the "rooms"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Logic Folding - folding circuit elements vertically in 3D space - placing frequently communicating components next to each other, dramatically slashing travel latency and boosting overall chip efficiency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Huawei was using this approach over the last several years, including Huawei Mate 60 Pro smartphone and their Ascend 910C AI accelerator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upcoming Kirin chip (expected Autumn 2026) will be the first commercial product to fully deploy the finalized logic folding architecture</a:t>
            </a:r>
            <a:endParaRPr sz="1200">
              <a:solidFill>
                <a:schemeClr val="dk1"/>
              </a:solidFill>
              <a:latin typeface="Calibri"/>
              <a:ea typeface="Calibri"/>
              <a:cs typeface="Calibri"/>
              <a:sym typeface="Calibri"/>
            </a:endParaRPr>
          </a:p>
        </p:txBody>
      </p:sp>
      <p:pic>
        <p:nvPicPr>
          <p:cNvPr id="253" name="Google Shape;253;p35"/>
          <p:cNvPicPr preferRelativeResize="0"/>
          <p:nvPr/>
        </p:nvPicPr>
        <p:blipFill>
          <a:blip r:embed="rId6">
            <a:alphaModFix/>
          </a:blip>
          <a:stretch>
            <a:fillRect/>
          </a:stretch>
        </p:blipFill>
        <p:spPr>
          <a:xfrm>
            <a:off x="5812925" y="118375"/>
            <a:ext cx="3254825" cy="1700900"/>
          </a:xfrm>
          <a:prstGeom prst="rect">
            <a:avLst/>
          </a:prstGeom>
          <a:noFill/>
          <a:ln w="9525" cap="flat" cmpd="sng">
            <a:solidFill>
              <a:srgbClr val="FF0000"/>
            </a:solidFill>
            <a:prstDash val="solid"/>
            <a:round/>
            <a:headEnd type="none" w="sm" len="sm"/>
            <a:tailEnd type="none" w="sm" len="sm"/>
          </a:ln>
        </p:spPr>
      </p:pic>
      <p:pic>
        <p:nvPicPr>
          <p:cNvPr id="254" name="Google Shape;254;p35"/>
          <p:cNvPicPr preferRelativeResize="0"/>
          <p:nvPr/>
        </p:nvPicPr>
        <p:blipFill rotWithShape="1">
          <a:blip r:embed="rId7" cstate="email">
            <a:alphaModFix/>
            <a:extLst>
              <a:ext uri="{28A0092B-C50C-407E-A947-70E740481C1C}">
                <a14:useLocalDpi xmlns:a14="http://schemas.microsoft.com/office/drawing/2010/main"/>
              </a:ext>
            </a:extLst>
          </a:blip>
          <a:srcRect/>
          <a:stretch/>
        </p:blipFill>
        <p:spPr>
          <a:xfrm>
            <a:off x="710425" y="3505200"/>
            <a:ext cx="3150790" cy="15571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58"/>
        <p:cNvGrpSpPr/>
        <p:nvPr/>
      </p:nvGrpSpPr>
      <p:grpSpPr>
        <a:xfrm>
          <a:off x="0" y="0"/>
          <a:ext cx="0" cy="0"/>
          <a:chOff x="0" y="0"/>
          <a:chExt cx="0" cy="0"/>
        </a:xfrm>
      </p:grpSpPr>
      <p:sp>
        <p:nvSpPr>
          <p:cNvPr id="259" name="Google Shape;259;p36"/>
          <p:cNvSpPr txBox="1"/>
          <p:nvPr/>
        </p:nvSpPr>
        <p:spPr>
          <a:xfrm>
            <a:off x="81775" y="59775"/>
            <a:ext cx="3115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LLM Interview Questions</a:t>
            </a:r>
            <a:endParaRPr sz="2000" b="1">
              <a:solidFill>
                <a:schemeClr val="dk1"/>
              </a:solidFill>
              <a:latin typeface="Calibri"/>
              <a:ea typeface="Calibri"/>
              <a:cs typeface="Calibri"/>
              <a:sym typeface="Calibri"/>
            </a:endParaRPr>
          </a:p>
        </p:txBody>
      </p:sp>
      <p:sp>
        <p:nvSpPr>
          <p:cNvPr id="260" name="Google Shape;260;p36"/>
          <p:cNvSpPr txBox="1"/>
          <p:nvPr/>
        </p:nvSpPr>
        <p:spPr>
          <a:xfrm>
            <a:off x="81775" y="478750"/>
            <a:ext cx="3115500" cy="2727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LLM Interview Questions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Fundamentals:</a:t>
            </a:r>
            <a:endParaRPr sz="1100">
              <a:solidFill>
                <a:schemeClr val="dk1"/>
              </a:solidFill>
              <a:latin typeface="Calibri"/>
              <a:ea typeface="Calibri"/>
              <a:cs typeface="Calibri"/>
              <a:sym typeface="Calibri"/>
            </a:endParaRPr>
          </a:p>
          <a:p>
            <a:pPr marL="34290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Tokenization and why it matters</a:t>
            </a:r>
            <a:endParaRPr sz="1100">
              <a:solidFill>
                <a:schemeClr val="dk1"/>
              </a:solidFill>
              <a:latin typeface="Calibri"/>
              <a:ea typeface="Calibri"/>
              <a:cs typeface="Calibri"/>
              <a:sym typeface="Calibri"/>
            </a:endParaRPr>
          </a:p>
          <a:p>
            <a:pPr marL="34290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Attention mechanisms in transformers</a:t>
            </a:r>
            <a:endParaRPr sz="1100">
              <a:solidFill>
                <a:schemeClr val="dk1"/>
              </a:solidFill>
              <a:latin typeface="Calibri"/>
              <a:ea typeface="Calibri"/>
              <a:cs typeface="Calibri"/>
              <a:sym typeface="Calibri"/>
            </a:endParaRPr>
          </a:p>
          <a:p>
            <a:pPr marL="34290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Context windows and their tradeoffs</a:t>
            </a:r>
            <a:endParaRPr sz="1100">
              <a:solidFill>
                <a:schemeClr val="dk1"/>
              </a:solidFill>
              <a:latin typeface="Calibri"/>
              <a:ea typeface="Calibri"/>
              <a:cs typeface="Calibri"/>
              <a:sym typeface="Calibri"/>
            </a:endParaRPr>
          </a:p>
          <a:p>
            <a:pPr marL="34290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Embeddings and initialization</a:t>
            </a:r>
            <a:endParaRPr sz="1100">
              <a:solidFill>
                <a:schemeClr val="dk1"/>
              </a:solidFill>
              <a:latin typeface="Calibri"/>
              <a:ea typeface="Calibri"/>
              <a:cs typeface="Calibri"/>
              <a:sym typeface="Calibri"/>
            </a:endParaRPr>
          </a:p>
          <a:p>
            <a:pPr marL="34290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Positional encodings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Fine-tuning &amp; Efficiency:</a:t>
            </a:r>
            <a:endParaRPr sz="1100">
              <a:solidFill>
                <a:schemeClr val="dk1"/>
              </a:solidFill>
              <a:latin typeface="Calibri"/>
              <a:ea typeface="Calibri"/>
              <a:cs typeface="Calibri"/>
              <a:sym typeface="Calibri"/>
            </a:endParaRPr>
          </a:p>
          <a:p>
            <a:pPr marL="34290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LoRA vs QLoRA</a:t>
            </a:r>
            <a:endParaRPr sz="1100">
              <a:solidFill>
                <a:schemeClr val="dk1"/>
              </a:solidFill>
              <a:latin typeface="Calibri"/>
              <a:ea typeface="Calibri"/>
              <a:cs typeface="Calibri"/>
              <a:sym typeface="Calibri"/>
            </a:endParaRPr>
          </a:p>
          <a:p>
            <a:pPr marL="34290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PEFT to prevent catastrophic forgetting</a:t>
            </a:r>
            <a:endParaRPr sz="1100">
              <a:solidFill>
                <a:schemeClr val="dk1"/>
              </a:solidFill>
              <a:latin typeface="Calibri"/>
              <a:ea typeface="Calibri"/>
              <a:cs typeface="Calibri"/>
              <a:sym typeface="Calibri"/>
            </a:endParaRPr>
          </a:p>
          <a:p>
            <a:pPr marL="34290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Model distillation</a:t>
            </a:r>
            <a:endParaRPr sz="1100">
              <a:solidFill>
                <a:schemeClr val="dk1"/>
              </a:solidFill>
              <a:latin typeface="Calibri"/>
              <a:ea typeface="Calibri"/>
              <a:cs typeface="Calibri"/>
              <a:sym typeface="Calibri"/>
            </a:endParaRPr>
          </a:p>
          <a:p>
            <a:pPr marL="34290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Adaptive Softmax for large vocabularies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Generation &amp; Decoding:</a:t>
            </a:r>
            <a:endParaRPr sz="1100">
              <a:solidFill>
                <a:schemeClr val="dk1"/>
              </a:solidFill>
              <a:latin typeface="Calibri"/>
              <a:ea typeface="Calibri"/>
              <a:cs typeface="Calibri"/>
              <a:sym typeface="Calibri"/>
            </a:endParaRPr>
          </a:p>
          <a:p>
            <a:pPr marL="34290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Beam search vs greedy decoding</a:t>
            </a:r>
            <a:endParaRPr sz="1100">
              <a:solidFill>
                <a:schemeClr val="dk1"/>
              </a:solidFill>
              <a:latin typeface="Calibri"/>
              <a:ea typeface="Calibri"/>
              <a:cs typeface="Calibri"/>
              <a:sym typeface="Calibri"/>
            </a:endParaRPr>
          </a:p>
          <a:p>
            <a:pPr marL="34290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Temperature, top-k, top-p sampling</a:t>
            </a:r>
            <a:endParaRPr sz="1100">
              <a:solidFill>
                <a:schemeClr val="dk1"/>
              </a:solidFill>
              <a:latin typeface="Calibri"/>
              <a:ea typeface="Calibri"/>
              <a:cs typeface="Calibri"/>
              <a:sym typeface="Calibri"/>
            </a:endParaRPr>
          </a:p>
          <a:p>
            <a:pPr marL="34290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Autoregressive vs masked models</a:t>
            </a:r>
            <a:endParaRPr sz="1100">
              <a:solidFill>
                <a:schemeClr val="dk1"/>
              </a:solidFill>
              <a:latin typeface="Calibri"/>
              <a:ea typeface="Calibri"/>
              <a:cs typeface="Calibri"/>
              <a:sym typeface="Calibri"/>
            </a:endParaRPr>
          </a:p>
        </p:txBody>
      </p:sp>
      <p:sp>
        <p:nvSpPr>
          <p:cNvPr id="261" name="Google Shape;261;p36"/>
          <p:cNvSpPr txBox="1"/>
          <p:nvPr/>
        </p:nvSpPr>
        <p:spPr>
          <a:xfrm>
            <a:off x="2662700" y="2600450"/>
            <a:ext cx="31155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Advanced Concepts:</a:t>
            </a:r>
            <a:endParaRPr sz="1100">
              <a:solidFill>
                <a:schemeClr val="dk1"/>
              </a:solidFill>
              <a:latin typeface="Calibri"/>
              <a:ea typeface="Calibri"/>
              <a:cs typeface="Calibri"/>
              <a:sym typeface="Calibri"/>
            </a:endParaRPr>
          </a:p>
          <a:p>
            <a:pPr marL="34290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RAG (Retrieval-Augmented Generation)</a:t>
            </a:r>
            <a:endParaRPr sz="1100">
              <a:solidFill>
                <a:schemeClr val="dk1"/>
              </a:solidFill>
              <a:latin typeface="Calibri"/>
              <a:ea typeface="Calibri"/>
              <a:cs typeface="Calibri"/>
              <a:sym typeface="Calibri"/>
            </a:endParaRPr>
          </a:p>
          <a:p>
            <a:pPr marL="34290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Chain-of-Thought prompting</a:t>
            </a:r>
            <a:endParaRPr sz="1100">
              <a:solidFill>
                <a:schemeClr val="dk1"/>
              </a:solidFill>
              <a:latin typeface="Calibri"/>
              <a:ea typeface="Calibri"/>
              <a:cs typeface="Calibri"/>
              <a:sym typeface="Calibri"/>
            </a:endParaRPr>
          </a:p>
          <a:p>
            <a:pPr marL="34290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Mixture of Experts (MoE)</a:t>
            </a:r>
            <a:endParaRPr sz="1100">
              <a:solidFill>
                <a:schemeClr val="dk1"/>
              </a:solidFill>
              <a:latin typeface="Calibri"/>
              <a:ea typeface="Calibri"/>
              <a:cs typeface="Calibri"/>
              <a:sym typeface="Calibri"/>
            </a:endParaRPr>
          </a:p>
          <a:p>
            <a:pPr marL="34290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Knowledge graph integration</a:t>
            </a:r>
            <a:endParaRPr sz="1100">
              <a:solidFill>
                <a:schemeClr val="dk1"/>
              </a:solidFill>
              <a:latin typeface="Calibri"/>
              <a:ea typeface="Calibri"/>
              <a:cs typeface="Calibri"/>
              <a:sym typeface="Calibri"/>
            </a:endParaRPr>
          </a:p>
          <a:p>
            <a:pPr marL="34290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Zero-shot and few-shot learning</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Math &amp; Theory:</a:t>
            </a:r>
            <a:endParaRPr sz="1100">
              <a:solidFill>
                <a:schemeClr val="dk1"/>
              </a:solidFill>
              <a:latin typeface="Calibri"/>
              <a:ea typeface="Calibri"/>
              <a:cs typeface="Calibri"/>
              <a:sym typeface="Calibri"/>
            </a:endParaRPr>
          </a:p>
          <a:p>
            <a:pPr marL="34290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Softmax in attention</a:t>
            </a:r>
            <a:endParaRPr sz="1100">
              <a:solidFill>
                <a:schemeClr val="dk1"/>
              </a:solidFill>
              <a:latin typeface="Calibri"/>
              <a:ea typeface="Calibri"/>
              <a:cs typeface="Calibri"/>
              <a:sym typeface="Calibri"/>
            </a:endParaRPr>
          </a:p>
          <a:p>
            <a:pPr marL="34290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Cross-entropy loss</a:t>
            </a:r>
            <a:endParaRPr sz="1100">
              <a:solidFill>
                <a:schemeClr val="dk1"/>
              </a:solidFill>
              <a:latin typeface="Calibri"/>
              <a:ea typeface="Calibri"/>
              <a:cs typeface="Calibri"/>
              <a:sym typeface="Calibri"/>
            </a:endParaRPr>
          </a:p>
          <a:p>
            <a:pPr marL="34290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KL divergence</a:t>
            </a:r>
            <a:endParaRPr sz="1100">
              <a:solidFill>
                <a:schemeClr val="dk1"/>
              </a:solidFill>
              <a:latin typeface="Calibri"/>
              <a:ea typeface="Calibri"/>
              <a:cs typeface="Calibri"/>
              <a:sym typeface="Calibri"/>
            </a:endParaRPr>
          </a:p>
          <a:p>
            <a:pPr marL="34290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Gradient computation for embeddings</a:t>
            </a:r>
            <a:endParaRPr sz="1100">
              <a:solidFill>
                <a:schemeClr val="dk1"/>
              </a:solidFill>
              <a:latin typeface="Calibri"/>
              <a:ea typeface="Calibri"/>
              <a:cs typeface="Calibri"/>
              <a:sym typeface="Calibri"/>
            </a:endParaRPr>
          </a:p>
          <a:p>
            <a:pPr marL="34290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Vanishing gradient solutions in transformers</a:t>
            </a:r>
            <a:endParaRPr sz="1100">
              <a:solidFill>
                <a:schemeClr val="dk1"/>
              </a:solidFill>
              <a:latin typeface="Calibri"/>
              <a:ea typeface="Calibri"/>
              <a:cs typeface="Calibri"/>
              <a:sym typeface="Calibri"/>
            </a:endParaRPr>
          </a:p>
        </p:txBody>
      </p:sp>
      <p:pic>
        <p:nvPicPr>
          <p:cNvPr id="262" name="Google Shape;262;p36"/>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3392300" y="478750"/>
            <a:ext cx="1995825" cy="13857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66"/>
        <p:cNvGrpSpPr/>
        <p:nvPr/>
      </p:nvGrpSpPr>
      <p:grpSpPr>
        <a:xfrm>
          <a:off x="0" y="0"/>
          <a:ext cx="0" cy="0"/>
          <a:chOff x="0" y="0"/>
          <a:chExt cx="0" cy="0"/>
        </a:xfrm>
      </p:grpSpPr>
      <p:sp>
        <p:nvSpPr>
          <p:cNvPr id="267" name="Google Shape;267;p37"/>
          <p:cNvSpPr txBox="1"/>
          <p:nvPr/>
        </p:nvSpPr>
        <p:spPr>
          <a:xfrm>
            <a:off x="81775" y="59775"/>
            <a:ext cx="3115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"The AI Layoff Trap" Paper</a:t>
            </a:r>
            <a:endParaRPr sz="2000" b="1">
              <a:solidFill>
                <a:schemeClr val="dk1"/>
              </a:solidFill>
              <a:latin typeface="Calibri"/>
              <a:ea typeface="Calibri"/>
              <a:cs typeface="Calibri"/>
              <a:sym typeface="Calibri"/>
            </a:endParaRPr>
          </a:p>
        </p:txBody>
      </p:sp>
      <p:sp>
        <p:nvSpPr>
          <p:cNvPr id="268" name="Google Shape;268;p37"/>
          <p:cNvSpPr txBox="1"/>
          <p:nvPr/>
        </p:nvSpPr>
        <p:spPr>
          <a:xfrm>
            <a:off x="81775" y="478750"/>
            <a:ext cx="5526600" cy="1034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"The AI Layoff Trap" Paper</a:t>
            </a:r>
            <a:r>
              <a:rPr lang="en" sz="1100">
                <a:solidFill>
                  <a:schemeClr val="dk1"/>
                </a:solidFill>
                <a:latin typeface="Calibri"/>
                <a:ea typeface="Calibri"/>
                <a:cs typeface="Calibri"/>
                <a:sym typeface="Calibri"/>
              </a:rPr>
              <a:t> - </a:t>
            </a:r>
            <a:r>
              <a:rPr lang="en" sz="1100" u="sng">
                <a:solidFill>
                  <a:schemeClr val="hlink"/>
                </a:solidFill>
                <a:latin typeface="Calibri"/>
                <a:ea typeface="Calibri"/>
                <a:cs typeface="Calibri"/>
                <a:sym typeface="Calibri"/>
                <a:hlinkClick r:id="rId3"/>
              </a:rPr>
              <a:t>https://arxiv.org/abs/2603.20617</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paper argues that rational firms can get trapped in an automation arms race that displaces workers beyond what is collectively optimal, ultimately harming both workers and firm owners by eroding consumer demand</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It also concludes that only a </a:t>
            </a:r>
            <a:r>
              <a:rPr lang="en" sz="1100" b="1">
                <a:solidFill>
                  <a:srgbClr val="FF0000"/>
                </a:solidFill>
                <a:latin typeface="Calibri"/>
                <a:ea typeface="Calibri"/>
                <a:cs typeface="Calibri"/>
                <a:sym typeface="Calibri"/>
              </a:rPr>
              <a:t>Pigouvian automation tax </a:t>
            </a:r>
            <a:r>
              <a:rPr lang="en" sz="1100">
                <a:solidFill>
                  <a:schemeClr val="dk1"/>
                </a:solidFill>
                <a:latin typeface="Calibri"/>
                <a:ea typeface="Calibri"/>
                <a:cs typeface="Calibri"/>
                <a:sym typeface="Calibri"/>
              </a:rPr>
              <a:t>(rather than UBI, upskilling, or capital taxes) can effectively correct this market failure</a:t>
            </a:r>
            <a:endParaRPr sz="1100">
              <a:solidFill>
                <a:schemeClr val="dk1"/>
              </a:solidFill>
              <a:latin typeface="Calibri"/>
              <a:ea typeface="Calibri"/>
              <a:cs typeface="Calibri"/>
              <a:sym typeface="Calibri"/>
            </a:endParaRPr>
          </a:p>
        </p:txBody>
      </p:sp>
      <p:sp>
        <p:nvSpPr>
          <p:cNvPr id="269" name="Google Shape;269;p37"/>
          <p:cNvSpPr txBox="1"/>
          <p:nvPr/>
        </p:nvSpPr>
        <p:spPr>
          <a:xfrm>
            <a:off x="81775" y="1774925"/>
            <a:ext cx="5526600" cy="1034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 </a:t>
            </a:r>
            <a:r>
              <a:rPr lang="en" sz="1100" b="1">
                <a:solidFill>
                  <a:srgbClr val="FF0000"/>
                </a:solidFill>
                <a:latin typeface="Calibri"/>
                <a:ea typeface="Calibri"/>
                <a:cs typeface="Calibri"/>
                <a:sym typeface="Calibri"/>
              </a:rPr>
              <a:t>Pigouvian tax </a:t>
            </a:r>
            <a:r>
              <a:rPr lang="en" sz="1100">
                <a:solidFill>
                  <a:schemeClr val="dk1"/>
                </a:solidFill>
                <a:latin typeface="Calibri"/>
                <a:ea typeface="Calibri"/>
                <a:cs typeface="Calibri"/>
                <a:sym typeface="Calibri"/>
              </a:rPr>
              <a:t>(named after early 20th-century economist </a:t>
            </a:r>
            <a:r>
              <a:rPr lang="en" sz="1100" b="1">
                <a:solidFill>
                  <a:srgbClr val="FF0000"/>
                </a:solidFill>
                <a:latin typeface="Calibri"/>
                <a:ea typeface="Calibri"/>
                <a:cs typeface="Calibri"/>
                <a:sym typeface="Calibri"/>
              </a:rPr>
              <a:t>Arthur Pigou</a:t>
            </a:r>
            <a:r>
              <a:rPr lang="en" sz="1100">
                <a:solidFill>
                  <a:schemeClr val="dk1"/>
                </a:solidFill>
                <a:latin typeface="Calibri"/>
                <a:ea typeface="Calibri"/>
                <a:cs typeface="Calibri"/>
                <a:sym typeface="Calibri"/>
              </a:rPr>
              <a:t>) is a tax levied on any market activity that generates negative externalities - costs borne by third parties not involved in the transaction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canonical example is a </a:t>
            </a:r>
            <a:r>
              <a:rPr lang="en" sz="1100" b="1">
                <a:solidFill>
                  <a:srgbClr val="FF0000"/>
                </a:solidFill>
                <a:latin typeface="Calibri"/>
                <a:ea typeface="Calibri"/>
                <a:cs typeface="Calibri"/>
                <a:sym typeface="Calibri"/>
              </a:rPr>
              <a:t>carbon tax</a:t>
            </a:r>
            <a:r>
              <a:rPr lang="en" sz="1100">
                <a:solidFill>
                  <a:schemeClr val="dk1"/>
                </a:solidFill>
                <a:latin typeface="Calibri"/>
                <a:ea typeface="Calibri"/>
                <a:cs typeface="Calibri"/>
                <a:sym typeface="Calibri"/>
              </a:rPr>
              <a:t>: a firm burning fossil fuels imposes climate costs on society, so the tax forces the firm to "internalize" those societal costs, making its private costs align with the true social costs.</a:t>
            </a:r>
            <a:endParaRPr sz="1100">
              <a:solidFill>
                <a:schemeClr val="dk1"/>
              </a:solidFill>
              <a:latin typeface="Calibri"/>
              <a:ea typeface="Calibri"/>
              <a:cs typeface="Calibri"/>
              <a:sym typeface="Calibri"/>
            </a:endParaRPr>
          </a:p>
        </p:txBody>
      </p:sp>
      <p:sp>
        <p:nvSpPr>
          <p:cNvPr id="270" name="Google Shape;270;p37"/>
          <p:cNvSpPr txBox="1"/>
          <p:nvPr/>
        </p:nvSpPr>
        <p:spPr>
          <a:xfrm>
            <a:off x="81775" y="3040375"/>
            <a:ext cx="5526600" cy="1203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An automation tax would charge firms per worker displaced by AI or robotics, thus forcing companies to weigh the full social cost of automation, not just the private cost comparison between human wages and AI subscriptions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paper argues other commonly proposed remedies fall short:</a:t>
            </a:r>
            <a:endParaRPr sz="1100">
              <a:solidFill>
                <a:schemeClr val="dk1"/>
              </a:solidFill>
              <a:latin typeface="Calibri"/>
              <a:ea typeface="Calibri"/>
              <a:cs typeface="Calibri"/>
              <a:sym typeface="Calibri"/>
            </a:endParaRPr>
          </a:p>
          <a:p>
            <a:pPr marL="400050" marR="0" lvl="0"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UBI — redistributes after the damage is done, doesn't change firm incentives</a:t>
            </a:r>
            <a:endParaRPr sz="1100">
              <a:solidFill>
                <a:srgbClr val="3C78D8"/>
              </a:solidFill>
              <a:latin typeface="Calibri"/>
              <a:ea typeface="Calibri"/>
              <a:cs typeface="Calibri"/>
              <a:sym typeface="Calibri"/>
            </a:endParaRPr>
          </a:p>
          <a:p>
            <a:pPr marL="400050" marR="0" lvl="0"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Upskilling/retraining — too slow relative to the pace of AI displacement</a:t>
            </a:r>
            <a:endParaRPr sz="1100">
              <a:solidFill>
                <a:srgbClr val="3C78D8"/>
              </a:solidFill>
              <a:latin typeface="Calibri"/>
              <a:ea typeface="Calibri"/>
              <a:cs typeface="Calibri"/>
              <a:sym typeface="Calibri"/>
            </a:endParaRPr>
          </a:p>
          <a:p>
            <a:pPr marL="400050" marR="0" lvl="0"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Capital gains taxes — target profits broadly, not the specific externality</a:t>
            </a:r>
            <a:endParaRPr sz="1100">
              <a:solidFill>
                <a:srgbClr val="3C78D8"/>
              </a:solidFill>
              <a:latin typeface="Calibri"/>
              <a:ea typeface="Calibri"/>
              <a:cs typeface="Calibri"/>
              <a:sym typeface="Calibri"/>
            </a:endParaRPr>
          </a:p>
        </p:txBody>
      </p:sp>
      <p:pic>
        <p:nvPicPr>
          <p:cNvPr id="271" name="Google Shape;271;p37"/>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5745463" y="1209125"/>
            <a:ext cx="1516375" cy="1600200"/>
          </a:xfrm>
          <a:prstGeom prst="rect">
            <a:avLst/>
          </a:prstGeom>
          <a:noFill/>
          <a:ln w="9525" cap="flat" cmpd="sng">
            <a:solidFill>
              <a:srgbClr val="FF0000"/>
            </a:solidFill>
            <a:prstDash val="solid"/>
            <a:round/>
            <a:headEnd type="none" w="sm" len="sm"/>
            <a:tailEnd type="none" w="sm" len="sm"/>
          </a:ln>
        </p:spPr>
      </p:pic>
      <p:sp>
        <p:nvSpPr>
          <p:cNvPr id="272" name="Google Shape;272;p37"/>
          <p:cNvSpPr txBox="1"/>
          <p:nvPr/>
        </p:nvSpPr>
        <p:spPr>
          <a:xfrm>
            <a:off x="5920750" y="2852575"/>
            <a:ext cx="1165800" cy="357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100">
                <a:solidFill>
                  <a:schemeClr val="dk1"/>
                </a:solidFill>
                <a:latin typeface="Calibri"/>
                <a:ea typeface="Calibri"/>
                <a:cs typeface="Calibri"/>
                <a:sym typeface="Calibri"/>
              </a:rPr>
              <a:t>Arthur Cecil Pigou </a:t>
            </a:r>
            <a:endParaRPr sz="1100">
              <a:solidFill>
                <a:schemeClr val="dk1"/>
              </a:solidFill>
              <a:latin typeface="Calibri"/>
              <a:ea typeface="Calibri"/>
              <a:cs typeface="Calibri"/>
              <a:sym typeface="Calibri"/>
            </a:endParaRPr>
          </a:p>
          <a:p>
            <a:pPr marL="0" marR="0" lvl="0" indent="0" algn="ctr" rtl="0">
              <a:lnSpc>
                <a:spcPct val="100000"/>
              </a:lnSpc>
              <a:spcBef>
                <a:spcPts val="0"/>
              </a:spcBef>
              <a:spcAft>
                <a:spcPts val="0"/>
              </a:spcAft>
              <a:buNone/>
            </a:pPr>
            <a:r>
              <a:rPr lang="en" sz="1100">
                <a:solidFill>
                  <a:schemeClr val="dk1"/>
                </a:solidFill>
                <a:latin typeface="Calibri"/>
                <a:ea typeface="Calibri"/>
                <a:cs typeface="Calibri"/>
                <a:sym typeface="Calibri"/>
              </a:rPr>
              <a:t>(1877-1959)</a:t>
            </a:r>
            <a:endParaRPr sz="1100">
              <a:solidFill>
                <a:srgbClr val="3C78D8"/>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76"/>
        <p:cNvGrpSpPr/>
        <p:nvPr/>
      </p:nvGrpSpPr>
      <p:grpSpPr>
        <a:xfrm>
          <a:off x="0" y="0"/>
          <a:ext cx="0" cy="0"/>
          <a:chOff x="0" y="0"/>
          <a:chExt cx="0" cy="0"/>
        </a:xfrm>
      </p:grpSpPr>
      <p:sp>
        <p:nvSpPr>
          <p:cNvPr id="277" name="Google Shape;277;p38"/>
          <p:cNvSpPr txBox="1"/>
          <p:nvPr/>
        </p:nvSpPr>
        <p:spPr>
          <a:xfrm>
            <a:off x="67350" y="52750"/>
            <a:ext cx="3179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i="0" u="none" strike="noStrike" cap="none">
                <a:solidFill>
                  <a:schemeClr val="dk1"/>
                </a:solidFill>
                <a:latin typeface="Calibri"/>
                <a:ea typeface="Calibri"/>
                <a:cs typeface="Calibri"/>
                <a:sym typeface="Calibri"/>
              </a:rPr>
              <a:t>Jobs</a:t>
            </a:r>
            <a:endParaRPr sz="2000" b="1" i="0" u="none" strike="noStrike" cap="none">
              <a:solidFill>
                <a:schemeClr val="dk1"/>
              </a:solidFill>
              <a:latin typeface="Calibri"/>
              <a:ea typeface="Calibri"/>
              <a:cs typeface="Calibri"/>
              <a:sym typeface="Calibri"/>
            </a:endParaRPr>
          </a:p>
        </p:txBody>
      </p:sp>
      <p:sp>
        <p:nvSpPr>
          <p:cNvPr id="278" name="Google Shape;278;p38"/>
          <p:cNvSpPr txBox="1"/>
          <p:nvPr/>
        </p:nvSpPr>
        <p:spPr>
          <a:xfrm>
            <a:off x="2134467" y="34252"/>
            <a:ext cx="18006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0" i="0" u="sng" strike="noStrike" cap="none">
                <a:solidFill>
                  <a:schemeClr val="hlink"/>
                </a:solidFill>
                <a:latin typeface="Calibri"/>
                <a:ea typeface="Calibri"/>
                <a:cs typeface="Calibri"/>
                <a:sym typeface="Calibri"/>
                <a:hlinkClick r:id="rId3"/>
              </a:rPr>
              <a:t>https://layoffs.fyi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https://trueup.io/layoffs</a:t>
            </a:r>
            <a:r>
              <a:rPr lang="en" sz="1200">
                <a:latin typeface="Calibri"/>
                <a:ea typeface="Calibri"/>
                <a:cs typeface="Calibri"/>
                <a:sym typeface="Calibri"/>
              </a:rPr>
              <a:t> </a:t>
            </a:r>
            <a:r>
              <a:rPr lang="en" sz="1200" b="0" i="0" u="none" strike="noStrike" cap="none">
                <a:solidFill>
                  <a:srgbClr val="000000"/>
                </a:solidFill>
                <a:latin typeface="Calibri"/>
                <a:ea typeface="Calibri"/>
                <a:cs typeface="Calibri"/>
                <a:sym typeface="Calibri"/>
              </a:rPr>
              <a:t> </a:t>
            </a:r>
            <a:endParaRPr sz="1200" b="0" i="0" u="none" strike="noStrike" cap="none">
              <a:solidFill>
                <a:srgbClr val="000000"/>
              </a:solidFill>
              <a:latin typeface="Calibri"/>
              <a:ea typeface="Calibri"/>
              <a:cs typeface="Calibri"/>
              <a:sym typeface="Calibri"/>
            </a:endParaRPr>
          </a:p>
        </p:txBody>
      </p:sp>
      <p:sp>
        <p:nvSpPr>
          <p:cNvPr id="279" name="Google Shape;279;p38"/>
          <p:cNvSpPr txBox="1"/>
          <p:nvPr/>
        </p:nvSpPr>
        <p:spPr>
          <a:xfrm>
            <a:off x="5367150" y="3435250"/>
            <a:ext cx="35589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200" b="1">
                <a:solidFill>
                  <a:srgbClr val="FF0000"/>
                </a:solidFill>
                <a:latin typeface="Calibri"/>
                <a:ea typeface="Calibri"/>
                <a:cs typeface="Calibri"/>
                <a:sym typeface="Calibri"/>
              </a:rPr>
              <a:t>  Tech Layoffs by year (US only):</a:t>
            </a:r>
            <a:endParaRPr sz="1200" b="1">
              <a:solidFill>
                <a:srgbClr val="FF0000"/>
              </a:solidFill>
              <a:latin typeface="Calibri"/>
              <a:ea typeface="Calibri"/>
              <a:cs typeface="Calibri"/>
              <a:sym typeface="Calibri"/>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117K  in 2026 </a:t>
            </a:r>
            <a:r>
              <a:rPr lang="en" sz="1000" b="1">
                <a:solidFill>
                  <a:schemeClr val="dk1"/>
                </a:solidFill>
                <a:latin typeface="Roboto Mono"/>
                <a:ea typeface="Roboto Mono"/>
                <a:cs typeface="Roboto Mono"/>
                <a:sym typeface="Roboto Mono"/>
              </a:rPr>
              <a:t>(as of June 5, 2026)</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124K in 2025 </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153K in </a:t>
            </a:r>
            <a:r>
              <a:rPr lang="en" sz="1000" b="1">
                <a:solidFill>
                  <a:srgbClr val="000000"/>
                </a:solidFill>
                <a:latin typeface="Roboto Mono"/>
                <a:ea typeface="Roboto Mono"/>
                <a:cs typeface="Roboto Mono"/>
                <a:sym typeface="Roboto Mono"/>
              </a:rPr>
              <a:t>2024</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264K in 2023</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165K in 2022                  </a:t>
            </a:r>
            <a:r>
              <a:rPr lang="en" sz="1200" i="0" u="sng" strike="noStrike" cap="none">
                <a:solidFill>
                  <a:srgbClr val="0097A7"/>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https://layoffs.fyi</a:t>
            </a:r>
            <a:endParaRPr sz="1200" i="0" u="none" strike="noStrike" cap="none">
              <a:solidFill>
                <a:srgbClr val="000000"/>
              </a:solidFill>
              <a:latin typeface="Calibri"/>
              <a:ea typeface="Calibri"/>
              <a:cs typeface="Calibri"/>
              <a:sym typeface="Calibri"/>
            </a:endParaRPr>
          </a:p>
        </p:txBody>
      </p:sp>
      <p:sp>
        <p:nvSpPr>
          <p:cNvPr id="280" name="Google Shape;280;p38"/>
          <p:cNvSpPr txBox="1"/>
          <p:nvPr/>
        </p:nvSpPr>
        <p:spPr>
          <a:xfrm>
            <a:off x="5422950" y="531250"/>
            <a:ext cx="35589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200" b="1">
                <a:solidFill>
                  <a:srgbClr val="FF0000"/>
                </a:solidFill>
                <a:latin typeface="Calibri"/>
                <a:ea typeface="Calibri"/>
                <a:cs typeface="Calibri"/>
                <a:sym typeface="Calibri"/>
              </a:rPr>
              <a:t>  The Tech Layoff Tracker</a:t>
            </a:r>
            <a:endParaRPr sz="1200" b="1">
              <a:solidFill>
                <a:srgbClr val="FF0000"/>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2026: </a:t>
            </a:r>
            <a:r>
              <a:rPr lang="en" sz="1200" b="1">
                <a:latin typeface="Calibri"/>
                <a:ea typeface="Calibri"/>
                <a:cs typeface="Calibri"/>
                <a:sym typeface="Calibri"/>
              </a:rPr>
              <a:t>149,937</a:t>
            </a:r>
            <a:r>
              <a:rPr lang="en" sz="1200">
                <a:latin typeface="Calibri"/>
                <a:ea typeface="Calibri"/>
                <a:cs typeface="Calibri"/>
                <a:sym typeface="Calibri"/>
              </a:rPr>
              <a:t> people laid off (961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2025: </a:t>
            </a:r>
            <a:r>
              <a:rPr lang="en" sz="1200" b="1">
                <a:latin typeface="Calibri"/>
                <a:ea typeface="Calibri"/>
                <a:cs typeface="Calibri"/>
                <a:sym typeface="Calibri"/>
              </a:rPr>
              <a:t>245,953</a:t>
            </a:r>
            <a:r>
              <a:rPr lang="en" sz="1200">
                <a:latin typeface="Calibri"/>
                <a:ea typeface="Calibri"/>
                <a:cs typeface="Calibri"/>
                <a:sym typeface="Calibri"/>
              </a:rPr>
              <a:t> people laid off (674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2024: </a:t>
            </a:r>
            <a:r>
              <a:rPr lang="en" sz="1200" b="1">
                <a:latin typeface="Calibri"/>
                <a:ea typeface="Calibri"/>
                <a:cs typeface="Calibri"/>
                <a:sym typeface="Calibri"/>
              </a:rPr>
              <a:t>238,461</a:t>
            </a:r>
            <a:r>
              <a:rPr lang="en" sz="1200">
                <a:latin typeface="Calibri"/>
                <a:ea typeface="Calibri"/>
                <a:cs typeface="Calibri"/>
                <a:sym typeface="Calibri"/>
              </a:rPr>
              <a:t> people </a:t>
            </a:r>
            <a:r>
              <a:rPr lang="en" sz="1200">
                <a:solidFill>
                  <a:srgbClr val="000000"/>
                </a:solidFill>
                <a:latin typeface="Calibri"/>
                <a:ea typeface="Calibri"/>
                <a:cs typeface="Calibri"/>
                <a:sym typeface="Calibri"/>
              </a:rPr>
              <a:t>laid off</a:t>
            </a:r>
            <a:r>
              <a:rPr lang="en" sz="1200">
                <a:latin typeface="Calibri"/>
                <a:ea typeface="Calibri"/>
                <a:cs typeface="Calibri"/>
                <a:sym typeface="Calibri"/>
              </a:rPr>
              <a:t> (653 per day)</a:t>
            </a:r>
            <a:endParaRPr sz="1200">
              <a:latin typeface="Calibri"/>
              <a:ea typeface="Calibri"/>
              <a:cs typeface="Calibri"/>
              <a:sym typeface="Calibri"/>
            </a:endParaRPr>
          </a:p>
          <a:p>
            <a:pPr marL="228600" marR="460858" lvl="0" indent="-57150" algn="r" rtl="0">
              <a:spcBef>
                <a:spcPts val="0"/>
              </a:spcBef>
              <a:spcAft>
                <a:spcPts val="0"/>
              </a:spcAft>
              <a:buNone/>
            </a:pPr>
            <a:r>
              <a:rPr lang="en" sz="1200" u="sng">
                <a:solidFill>
                  <a:srgbClr val="0097A7"/>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https://trueup.io/layoffs</a:t>
            </a:r>
            <a:endParaRPr sz="1200">
              <a:latin typeface="Calibri"/>
              <a:ea typeface="Calibri"/>
              <a:cs typeface="Calibri"/>
              <a:sym typeface="Calibri"/>
            </a:endParaRPr>
          </a:p>
        </p:txBody>
      </p:sp>
      <p:pic>
        <p:nvPicPr>
          <p:cNvPr id="281" name="Google Shape;281;p38"/>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67350" y="3167455"/>
            <a:ext cx="4950377" cy="1921308"/>
          </a:xfrm>
          <a:prstGeom prst="rect">
            <a:avLst/>
          </a:prstGeom>
          <a:noFill/>
          <a:ln w="9525" cap="flat" cmpd="sng">
            <a:solidFill>
              <a:srgbClr val="FF0000"/>
            </a:solidFill>
            <a:prstDash val="solid"/>
            <a:round/>
            <a:headEnd type="none" w="sm" len="sm"/>
            <a:tailEnd type="none" w="sm" len="sm"/>
          </a:ln>
        </p:spPr>
      </p:pic>
      <p:pic>
        <p:nvPicPr>
          <p:cNvPr id="282" name="Google Shape;282;p38"/>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67350" y="485041"/>
            <a:ext cx="4950376" cy="2612230"/>
          </a:xfrm>
          <a:prstGeom prst="rect">
            <a:avLst/>
          </a:prstGeom>
          <a:noFill/>
          <a:ln w="9525" cap="flat" cmpd="sng">
            <a:solidFill>
              <a:srgbClr val="FF0000"/>
            </a:solidFill>
            <a:prstDash val="solid"/>
            <a:round/>
            <a:headEnd type="none" w="sm" len="sm"/>
            <a:tailEnd type="none" w="sm" len="sm"/>
          </a:ln>
        </p:spPr>
      </p:pic>
      <p:sp>
        <p:nvSpPr>
          <p:cNvPr id="283" name="Google Shape;283;p38"/>
          <p:cNvSpPr txBox="1"/>
          <p:nvPr/>
        </p:nvSpPr>
        <p:spPr>
          <a:xfrm>
            <a:off x="5422950" y="1916101"/>
            <a:ext cx="3558900" cy="664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1"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 top economist says there's "zero evidence" AI is killing jobs, despite thousands of actual layoffs</a:t>
            </a:r>
            <a:endParaRPr sz="1200" b="1">
              <a:solidFill>
                <a:srgbClr val="FF0000"/>
              </a:solidFill>
              <a:latin typeface="Calibri"/>
              <a:ea typeface="Calibri"/>
              <a:cs typeface="Calibri"/>
              <a:sym typeface="Calibri"/>
            </a:endParaRPr>
          </a:p>
          <a:p>
            <a:pPr marL="228600" marR="0" lvl="1"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7"/>
              </a:rPr>
              <a:t>https://www.techspot.com/news/112607-apollo-economist-there-zero-evidence-ai-taking-jobs.html</a:t>
            </a:r>
            <a:r>
              <a:rPr lang="en" sz="900">
                <a:solidFill>
                  <a:schemeClr val="dk1"/>
                </a:solidFill>
                <a:latin typeface="Calibri"/>
                <a:ea typeface="Calibri"/>
                <a:cs typeface="Calibri"/>
                <a:sym typeface="Calibri"/>
              </a:rPr>
              <a:t> </a:t>
            </a:r>
            <a:endParaRPr sz="900" i="0" u="none" strike="noStrike" cap="none">
              <a:solidFill>
                <a:schemeClr val="dk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87"/>
        <p:cNvGrpSpPr/>
        <p:nvPr/>
      </p:nvGrpSpPr>
      <p:grpSpPr>
        <a:xfrm>
          <a:off x="0" y="0"/>
          <a:ext cx="0" cy="0"/>
          <a:chOff x="0" y="0"/>
          <a:chExt cx="0" cy="0"/>
        </a:xfrm>
      </p:grpSpPr>
      <p:pic>
        <p:nvPicPr>
          <p:cNvPr id="288" name="Google Shape;288;p39"/>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645525" y="1203525"/>
            <a:ext cx="1570556" cy="1570556"/>
          </a:xfrm>
          <a:prstGeom prst="rect">
            <a:avLst/>
          </a:prstGeom>
          <a:noFill/>
          <a:ln>
            <a:noFill/>
          </a:ln>
        </p:spPr>
      </p:pic>
      <p:sp>
        <p:nvSpPr>
          <p:cNvPr id="289" name="Google Shape;289;p39"/>
          <p:cNvSpPr txBox="1"/>
          <p:nvPr/>
        </p:nvSpPr>
        <p:spPr>
          <a:xfrm>
            <a:off x="-25625" y="-14775"/>
            <a:ext cx="3355800" cy="5694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500"/>
              <a:buFont typeface="Arial"/>
              <a:buNone/>
            </a:pPr>
            <a:r>
              <a:rPr lang="en" sz="2500" b="1" i="0" u="none" strike="noStrike" cap="none">
                <a:solidFill>
                  <a:srgbClr val="000000"/>
                </a:solidFill>
                <a:latin typeface="Calibri"/>
                <a:ea typeface="Calibri"/>
                <a:cs typeface="Calibri"/>
                <a:sym typeface="Calibri"/>
              </a:rPr>
              <a:t>About the Speaker</a:t>
            </a:r>
            <a:endParaRPr sz="2500" b="1" i="0" u="none" strike="noStrike" cap="none">
              <a:solidFill>
                <a:srgbClr val="000000"/>
              </a:solidFill>
              <a:latin typeface="Calibri"/>
              <a:ea typeface="Calibri"/>
              <a:cs typeface="Calibri"/>
              <a:sym typeface="Calibri"/>
            </a:endParaRPr>
          </a:p>
        </p:txBody>
      </p:sp>
      <p:sp>
        <p:nvSpPr>
          <p:cNvPr id="290" name="Google Shape;290;p39"/>
          <p:cNvSpPr txBox="1"/>
          <p:nvPr/>
        </p:nvSpPr>
        <p:spPr>
          <a:xfrm>
            <a:off x="3330175" y="878750"/>
            <a:ext cx="5621700" cy="33093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500" b="1" i="0" u="none" strike="noStrike" cap="none">
                <a:solidFill>
                  <a:srgbClr val="000000"/>
                </a:solidFill>
                <a:latin typeface="Calibri"/>
                <a:ea typeface="Calibri"/>
                <a:cs typeface="Calibri"/>
                <a:sym typeface="Calibri"/>
              </a:rPr>
              <a:t>Lev Selector, Ph.D.</a:t>
            </a:r>
            <a:endParaRPr sz="2500" b="1"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8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40+ years of software engineering, data science, and building teams (hiring, training, and managing)</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Ph.D. in mathematical modeling and computer simulations</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Interests: </a:t>
            </a:r>
            <a:endParaRPr sz="16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Generative AI, Using LLM with your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chemeClr val="dk1"/>
              </a:buClr>
              <a:buSzPts val="1600"/>
              <a:buFont typeface="Calibri"/>
              <a:buChar char="●"/>
            </a:pPr>
            <a:r>
              <a:rPr lang="en" sz="1600" b="0" i="0" u="none" strike="noStrike" cap="none">
                <a:solidFill>
                  <a:schemeClr val="dk1"/>
                </a:solidFill>
                <a:latin typeface="Calibri"/>
                <a:ea typeface="Calibri"/>
                <a:cs typeface="Calibri"/>
                <a:sym typeface="Calibri"/>
              </a:rPr>
              <a:t>Local AI for Local Private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rgbClr val="000000"/>
                </a:solidFill>
                <a:latin typeface="Calibri"/>
                <a:ea typeface="Calibri"/>
                <a:cs typeface="Calibri"/>
                <a:sym typeface="Calibri"/>
              </a:rPr>
              <a:t>Cloud architecture, fin-tech, application security</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Find/connect: Linkedin, GitHub, YouTube, Google</a:t>
            </a:r>
            <a:endParaRPr sz="1600" b="0" i="0" u="none" strike="noStrike" cap="none">
              <a:solidFill>
                <a:srgbClr val="000000"/>
              </a:solidFill>
              <a:latin typeface="Calibri"/>
              <a:ea typeface="Calibri"/>
              <a:cs typeface="Calibri"/>
              <a:sym typeface="Calibri"/>
            </a:endParaRPr>
          </a:p>
        </p:txBody>
      </p:sp>
      <p:pic>
        <p:nvPicPr>
          <p:cNvPr id="291" name="Google Shape;291;p39"/>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1001578" y="3664175"/>
            <a:ext cx="858450" cy="311906"/>
          </a:xfrm>
          <a:prstGeom prst="rect">
            <a:avLst/>
          </a:prstGeom>
          <a:noFill/>
          <a:ln>
            <a:noFill/>
          </a:ln>
        </p:spPr>
      </p:pic>
      <p:sp>
        <p:nvSpPr>
          <p:cNvPr id="292" name="Google Shape;292;p39"/>
          <p:cNvSpPr txBox="1"/>
          <p:nvPr/>
        </p:nvSpPr>
        <p:spPr>
          <a:xfrm>
            <a:off x="735103" y="4005903"/>
            <a:ext cx="13914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en" sz="1600" b="0" i="0" u="sng" strike="noStrike" cap="none">
                <a:solidFill>
                  <a:schemeClr val="hlink"/>
                </a:solidFill>
                <a:latin typeface="Calibri"/>
                <a:ea typeface="Calibri"/>
                <a:cs typeface="Calibri"/>
                <a:sym typeface="Calibri"/>
                <a:hlinkClick r:id="rId5"/>
              </a:rPr>
              <a:t>https://eais.ai</a:t>
            </a:r>
            <a:r>
              <a:rPr lang="en" sz="1600" b="0" i="0" u="none" strike="noStrike" cap="none">
                <a:solidFill>
                  <a:srgbClr val="000000"/>
                </a:solidFill>
                <a:latin typeface="Calibri"/>
                <a:ea typeface="Calibri"/>
                <a:cs typeface="Calibri"/>
                <a:sym typeface="Calibri"/>
              </a:rPr>
              <a:t> </a:t>
            </a:r>
            <a:endParaRPr sz="1600" b="0" i="0" u="none" strike="noStrike" cap="none">
              <a:solidFill>
                <a:srgbClr val="000000"/>
              </a:solidFill>
              <a:latin typeface="Calibri"/>
              <a:ea typeface="Calibri"/>
              <a:cs typeface="Calibri"/>
              <a:sym typeface="Calibri"/>
            </a:endParaRPr>
          </a:p>
        </p:txBody>
      </p:sp>
      <p:sp>
        <p:nvSpPr>
          <p:cNvPr id="293" name="Google Shape;293;p39"/>
          <p:cNvSpPr txBox="1"/>
          <p:nvPr/>
        </p:nvSpPr>
        <p:spPr>
          <a:xfrm>
            <a:off x="383803" y="4360974"/>
            <a:ext cx="2094000" cy="431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600" b="0" i="0" u="none" strike="noStrike" cap="none">
                <a:solidFill>
                  <a:srgbClr val="000000"/>
                </a:solidFill>
                <a:latin typeface="Calibri"/>
                <a:ea typeface="Calibri"/>
                <a:cs typeface="Calibri"/>
                <a:sym typeface="Calibri"/>
              </a:rPr>
              <a:t>Enterprise AI Systems</a:t>
            </a:r>
            <a:endParaRPr sz="1600" b="0" i="0" u="none" strike="noStrike" cap="none">
              <a:solidFill>
                <a:srgbClr val="000000"/>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97"/>
        <p:cNvGrpSpPr/>
        <p:nvPr/>
      </p:nvGrpSpPr>
      <p:grpSpPr>
        <a:xfrm>
          <a:off x="0" y="0"/>
          <a:ext cx="0" cy="0"/>
          <a:chOff x="0" y="0"/>
          <a:chExt cx="0" cy="0"/>
        </a:xfrm>
      </p:grpSpPr>
      <p:sp>
        <p:nvSpPr>
          <p:cNvPr id="298" name="Google Shape;298;p40"/>
          <p:cNvSpPr txBox="1"/>
          <p:nvPr/>
        </p:nvSpPr>
        <p:spPr>
          <a:xfrm>
            <a:off x="2151375" y="1533150"/>
            <a:ext cx="4632600" cy="1262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7000"/>
              <a:buFont typeface="Arial"/>
              <a:buNone/>
            </a:pPr>
            <a:r>
              <a:rPr lang="en" sz="7000" b="1" i="0" u="none" strike="noStrike" cap="none">
                <a:solidFill>
                  <a:srgbClr val="3C78D8"/>
                </a:solidFill>
                <a:latin typeface="Calibri"/>
                <a:ea typeface="Calibri"/>
                <a:cs typeface="Calibri"/>
                <a:sym typeface="Calibri"/>
              </a:rPr>
              <a:t>Thank You!</a:t>
            </a:r>
            <a:endParaRPr sz="7000" b="1" i="0" u="none" strike="noStrike" cap="none">
              <a:solidFill>
                <a:srgbClr val="3C78D8"/>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5454</Words>
  <Application>Microsoft Macintosh PowerPoint</Application>
  <PresentationFormat>On-screen Show (16:9)</PresentationFormat>
  <Paragraphs>701</Paragraphs>
  <Slides>26</Slides>
  <Notes>26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26</vt:i4>
      </vt:variant>
    </vt:vector>
  </HeadingPairs>
  <TitlesOfParts>
    <vt:vector size="30" baseType="lpstr">
      <vt:lpstr>Roboto Mono</vt:lpstr>
      <vt:lpstr>Arial</vt:lpstr>
      <vt:lpstr>Calibri</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Lev Selector</cp:lastModifiedBy>
  <cp:revision>1</cp:revision>
  <dcterms:modified xsi:type="dcterms:W3CDTF">2026-06-05T19:04:22Z</dcterms:modified>
</cp:coreProperties>
</file>