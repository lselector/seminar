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6"/>
      <p:bold r:id="rId27"/>
      <p:italic r:id="rId28"/>
      <p:boldItalic r:id="rId29"/>
    </p:embeddedFont>
    <p:embeddedFont>
      <p:font typeface="Roboto Mono" pitchFamily="49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A7B9BA1-CD73-4730-BB8F-43AE1603B54E}">
  <a:tblStyle styleId="{7A7B9BA1-CD73-4730-BB8F-43AE1603B54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1"/>
  </p:normalViewPr>
  <p:slideViewPr>
    <p:cSldViewPr>
      <p:cViewPr varScale="1">
        <p:scale>
          <a:sx n="107" d="100"/>
          <a:sy n="107" d="100"/>
        </p:scale>
        <p:origin x="1056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b447c7ab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bb447c7ab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93707c7eb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93707c7eb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937eb5a3f9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g3937eb5a3f9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9387039f1c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g39387039f1c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9376ec65f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39376ec65f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931867543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9" name="Google Shape;189;g3931867543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9387039f1c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g39387039f1c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937eb5a3f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937eb5a3f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9383f69e3d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9383f69e3d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934e3c4165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4" name="Google Shape;224;g3934e3c4165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c27783100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3" name="Google Shape;233;g3c27783100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93707c7eb8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393707c7eb8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c5f088a767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2" name="Google Shape;252;g3c5f088a767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9383f69e3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g39383f69e3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c45ada2796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g3c45ada2796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9383f69e3d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0" name="Google Shape;280;g39383f69e3d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9387039f1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39387039f1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93789f6fa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g393789f6fa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4" name="Google Shape;304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huggingface.co/open-llm-leaderboard" TargetMode="External"/><Relationship Id="rId18" Type="http://schemas.openxmlformats.org/officeDocument/2006/relationships/hyperlink" Target="https://lmarena.ai/leaderboard/text-to-image" TargetMode="External"/><Relationship Id="rId26" Type="http://schemas.openxmlformats.org/officeDocument/2006/relationships/hyperlink" Target="https://www.kimi.com/blog/kimi-k2-5.html" TargetMode="External"/><Relationship Id="rId39" Type="http://schemas.openxmlformats.org/officeDocument/2006/relationships/hyperlink" Target="https://qwen.ai/blog?id=241398b9cd6353de490b0f82806c7848c5d2777d&amp;from=research.latest-advancements-list" TargetMode="External"/><Relationship Id="rId21" Type="http://schemas.openxmlformats.org/officeDocument/2006/relationships/hyperlink" Target="https://blog.google/products/gemini/gemini-3-flash" TargetMode="External"/><Relationship Id="rId34" Type="http://schemas.openxmlformats.org/officeDocument/2006/relationships/hyperlink" Target="https://platform.openai.com/docs/models/gpt-5" TargetMode="External"/><Relationship Id="rId7" Type="http://schemas.openxmlformats.org/officeDocument/2006/relationships/hyperlink" Target="https://openlm.ai/chatbot-arena/" TargetMode="External"/><Relationship Id="rId12" Type="http://schemas.openxmlformats.org/officeDocument/2006/relationships/hyperlink" Target="https://artificialanalysis.ai/leaderboards/models" TargetMode="External"/><Relationship Id="rId17" Type="http://schemas.openxmlformats.org/officeDocument/2006/relationships/hyperlink" Target="http://aiarena.alibaba-inc.com/corpora/arena/leaderboard?arenaType=T2I" TargetMode="External"/><Relationship Id="rId25" Type="http://schemas.openxmlformats.org/officeDocument/2006/relationships/hyperlink" Target="https://www.anthropic.com/news/claude-sonnet-4-5" TargetMode="External"/><Relationship Id="rId33" Type="http://schemas.openxmlformats.org/officeDocument/2006/relationships/hyperlink" Target="https://openai.com/index/introducing-gpt-5-2" TargetMode="External"/><Relationship Id="rId38" Type="http://schemas.openxmlformats.org/officeDocument/2006/relationships/hyperlink" Target="https://www.anthropic.com/news/claude-haiku-4-5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tificialanalysis.ai/models/grok-4" TargetMode="External"/><Relationship Id="rId20" Type="http://schemas.openxmlformats.org/officeDocument/2006/relationships/hyperlink" Target="https://x.ai/news/grok-4-1" TargetMode="External"/><Relationship Id="rId29" Type="http://schemas.openxmlformats.org/officeDocument/2006/relationships/hyperlink" Target="https://www.anthropic.com/news/claude-opus-4-1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esignarena.ai" TargetMode="External"/><Relationship Id="rId11" Type="http://schemas.openxmlformats.org/officeDocument/2006/relationships/hyperlink" Target="https://www.stack-ai.com/llm-leaderboard" TargetMode="External"/><Relationship Id="rId24" Type="http://schemas.openxmlformats.org/officeDocument/2006/relationships/hyperlink" Target="https://ernie.baidu.com/blog/posts/ernie-5.0-0110-release-on-lmarena/" TargetMode="External"/><Relationship Id="rId32" Type="http://schemas.openxmlformats.org/officeDocument/2006/relationships/hyperlink" Target="https://huggingface.co/zai-org/GLM-4.7" TargetMode="External"/><Relationship Id="rId37" Type="http://schemas.openxmlformats.org/officeDocument/2006/relationships/hyperlink" Target="https://huggingface.co/moonshotai/Kimi-K2-Thinking" TargetMode="External"/><Relationship Id="rId40" Type="http://schemas.openxmlformats.org/officeDocument/2006/relationships/hyperlink" Target="https://huggingface.co/meituan-longcat/LongCat-Flash-Chat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epoch.ai/data/ai-benchmarking-dashboard" TargetMode="External"/><Relationship Id="rId23" Type="http://schemas.openxmlformats.org/officeDocument/2006/relationships/hyperlink" Target="https://openai.com/index/gpt-5-1/" TargetMode="External"/><Relationship Id="rId28" Type="http://schemas.openxmlformats.org/officeDocument/2006/relationships/hyperlink" Target="https://ernie.baidu.com/blog/posts/ernie-5.0-preview-1203-release-on-lmarena/" TargetMode="External"/><Relationship Id="rId36" Type="http://schemas.openxmlformats.org/officeDocument/2006/relationships/hyperlink" Target="https://www.anthropic.com/news/claude-4" TargetMode="External"/><Relationship Id="rId10" Type="http://schemas.openxmlformats.org/officeDocument/2006/relationships/hyperlink" Target="https://llmworld.net/llm_leaderboards/" TargetMode="External"/><Relationship Id="rId19" Type="http://schemas.openxmlformats.org/officeDocument/2006/relationships/hyperlink" Target="https://aistudio.google.com/app/prompts/new_chat?model=gemini-3-pro-preview" TargetMode="External"/><Relationship Id="rId31" Type="http://schemas.openxmlformats.org/officeDocument/2006/relationships/hyperlink" Target="https://x.com/OpenAI/status/1905331956856050135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web.lmarena.ai/leaderboard" TargetMode="External"/><Relationship Id="rId14" Type="http://schemas.openxmlformats.org/officeDocument/2006/relationships/hyperlink" Target="https://www.vellum.ai/llm-leaderboard" TargetMode="External"/><Relationship Id="rId22" Type="http://schemas.openxmlformats.org/officeDocument/2006/relationships/hyperlink" Target="https://www.anthropic.com/news/claude-opus-4-5" TargetMode="External"/><Relationship Id="rId27" Type="http://schemas.openxmlformats.org/officeDocument/2006/relationships/hyperlink" Target="https://aistudio.google.com/app/prompts/new_chat?model=gemini-2.5-pro" TargetMode="External"/><Relationship Id="rId30" Type="http://schemas.openxmlformats.org/officeDocument/2006/relationships/hyperlink" Target="https://openai.com/index/introducing-gpt-4-5/" TargetMode="External"/><Relationship Id="rId35" Type="http://schemas.openxmlformats.org/officeDocument/2006/relationships/hyperlink" Target="https://www.alibabacloud.com/help/en/model-studio/models" TargetMode="External"/><Relationship Id="rId8" Type="http://schemas.openxmlformats.org/officeDocument/2006/relationships/hyperlink" Target="https://beta.lmarena.ai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WNXbRyA1JC4" TargetMode="External"/><Relationship Id="rId3" Type="http://schemas.openxmlformats.org/officeDocument/2006/relationships/hyperlink" Target="https://fortune.com/2026/01/31/ai-agent-moltbot-clawdbot-openclaw-data-privacy-security-nightmare-moltbook-social-network/" TargetMode="External"/><Relationship Id="rId7" Type="http://schemas.openxmlformats.org/officeDocument/2006/relationships/hyperlink" Target="https://github.com/openclaw/openclaw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openclaw.ai" TargetMode="External"/><Relationship Id="rId11" Type="http://schemas.openxmlformats.org/officeDocument/2006/relationships/image" Target="../media/image3.png"/><Relationship Id="rId5" Type="http://schemas.openxmlformats.org/officeDocument/2006/relationships/hyperlink" Target="https://cyprus-mail.com/2026/02/01/why-a-social-network-for-ai-agents-might-need-to-exist" TargetMode="External"/><Relationship Id="rId10" Type="http://schemas.openxmlformats.org/officeDocument/2006/relationships/image" Target="../media/image2.png"/><Relationship Id="rId4" Type="http://schemas.openxmlformats.org/officeDocument/2006/relationships/hyperlink" Target="https://www.moltbook.com" TargetMode="External"/><Relationship Id="rId9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Kimi_Moonshot/status/2018941851445997897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hostinger.com/vps-hosting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gbeLD7knX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blog.cloudflare.com/moltworker-self-hosted-ai-agent/" TargetMode="Externa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claude.ai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qhuS__jC4n8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supermemory.ai" TargetMode="External"/><Relationship Id="rId3" Type="http://schemas.openxmlformats.org/officeDocument/2006/relationships/hyperlink" Target="https://www.youtube.com/watch?v=qhuS__jC4n8" TargetMode="External"/><Relationship Id="rId7" Type="http://schemas.openxmlformats.org/officeDocument/2006/relationships/hyperlink" Target="https://github.com/supermemoryai/supermemory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upermemory.ai" TargetMode="External"/><Relationship Id="rId5" Type="http://schemas.openxmlformats.org/officeDocument/2006/relationships/hyperlink" Target="https://github.com/thedotmack/claude-mem" TargetMode="External"/><Relationship Id="rId10" Type="http://schemas.openxmlformats.org/officeDocument/2006/relationships/image" Target="../media/image9.png"/><Relationship Id="rId4" Type="http://schemas.openxmlformats.org/officeDocument/2006/relationships/hyperlink" Target="https://claude-mem.ai" TargetMode="External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direct?event=video_description&amp;redir_token=QUFFLUhqbjBLeXhjNy14QWRLcDBoQ0ozV3M4MFMxVWRwQXxBQ3Jtc0tudVlXckYzem5FZlEzeGpaRlhlZ0tzZmhMVS1yX3JadmRRRF9zb2hxbVljY2lrR3FmV1RWNkdaM3JMN0hHb194OXQ0UXI0LXR1eVBTWGZ6UkRxa2hXbk1JTWpZSjVFa2N3ck8yVXlCRlNfekk2STd5NA&amp;q=https%3A%2F%2Fopenai.com%2Fcodex%2F&amp;v=M1q6OLEtIOU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hyperlink" Target="https://openai.com/index/introducing-gpt-5-3-codex/" TargetMode="External"/><Relationship Id="rId4" Type="http://schemas.openxmlformats.org/officeDocument/2006/relationships/hyperlink" Target="https://www.youtube.com/watch?v=M1q6OLEtIOU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moltroad.com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hyperlink" Target="https://rentahuman.ai" TargetMode="External"/><Relationship Id="rId4" Type="http://schemas.openxmlformats.org/officeDocument/2006/relationships/hyperlink" Target="https://moltmatch.xyz" TargetMode="External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emu.bot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hyperlink" Target="https://github.com/NevaMind-AI/MemU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/skills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eg"/><Relationship Id="rId5" Type="http://schemas.openxmlformats.org/officeDocument/2006/relationships/hyperlink" Target="https://thenewstack.io/beating-the-rot-and-getting-stuff-done/" TargetMode="External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devgenius.io/qwen3-coder-next-just-launched-open-source-is-winning-0724b76f13cc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jpeg"/><Relationship Id="rId5" Type="http://schemas.openxmlformats.org/officeDocument/2006/relationships/hyperlink" Target="https://ollama.com/library/qwen3-coder-next:q8_0" TargetMode="External"/><Relationship Id="rId4" Type="http://schemas.openxmlformats.org/officeDocument/2006/relationships/hyperlink" Target="https://huggingface.co/unsloth/Qwen3-Coder-Next-FP8-Dynamic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cline.bot/blog/announcing-cline-cli-2-0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hyperlink" Target="https://github.com/MoonshotAI/Kimi-K2.5" TargetMode="External"/><Relationship Id="rId4" Type="http://schemas.openxmlformats.org/officeDocument/2006/relationships/hyperlink" Target="https://www.youtube.com/watch?v=pycp1b8Gh3o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2LAcg5Ukv8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hyperlink" Target="https://www.youtube.com/watch?v=P5vietIEOv0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rork.com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hyperlink" Target="https://trilog.app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nvex.dev" TargetMode="External"/><Relationship Id="rId3" Type="http://schemas.openxmlformats.org/officeDocument/2006/relationships/hyperlink" Target="https://claude.com/claude-in-excel" TargetMode="External"/><Relationship Id="rId7" Type="http://schemas.openxmlformats.org/officeDocument/2006/relationships/hyperlink" Target="https://clerk.com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i.shadcn.com" TargetMode="External"/><Relationship Id="rId11" Type="http://schemas.openxmlformats.org/officeDocument/2006/relationships/image" Target="../media/image30.png"/><Relationship Id="rId5" Type="http://schemas.openxmlformats.org/officeDocument/2006/relationships/hyperlink" Target="https://v0.app" TargetMode="External"/><Relationship Id="rId10" Type="http://schemas.openxmlformats.org/officeDocument/2006/relationships/hyperlink" Target="https://www.youtube.com/watch?v=TUoFOIWO91k" TargetMode="External"/><Relationship Id="rId4" Type="http://schemas.openxmlformats.org/officeDocument/2006/relationships/image" Target="../media/image29.png"/><Relationship Id="rId9" Type="http://schemas.openxmlformats.org/officeDocument/2006/relationships/hyperlink" Target="https://code.claude.com/docs/en/quickstart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y_XOB83MQc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KOEZSiXVLo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hyperlink" Target="https://trueup.io/layoffs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78651" y="624534"/>
            <a:ext cx="4420200" cy="1095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Kimi is the #1 used model on OpenClaw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Moltworker - OpenClaw on CloudFlare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Opus 4.6 released Feb 4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0" y="-75311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r>
              <a:rPr lang="en" sz="22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2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Feb</a:t>
            </a:r>
            <a:r>
              <a:rPr lang="en" sz="22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2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r>
              <a:rPr lang="en" sz="22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, 2026</a:t>
            </a:r>
            <a:endParaRPr sz="22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4574323" y="3979668"/>
            <a:ext cx="4502400" cy="449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SAS stocks going down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Jobs, Layoffs, </a:t>
            </a: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demand for AI Engineers</a:t>
            </a:r>
            <a:endParaRPr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78651" y="1874142"/>
            <a:ext cx="4420200" cy="2819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Mem - project memory for Claude Code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Supermemory with Claude Code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GPT-5.3-Codex - released Feb 4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Codex Desktop App on MacOS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memUbot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Skills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Musk merges SpaceX and xAI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GSD (Getting Stuff Done) Claude Code extension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Qwen3-Coder-Next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Gemini’s Native Web Scraper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Kimi K2.5 open-source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Cline-CLI 2.0 (in Terminal)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 in Chrome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574323" y="839930"/>
            <a:ext cx="4502400" cy="1527000"/>
          </a:xfrm>
          <a:prstGeom prst="rect">
            <a:avLst/>
          </a:prstGeom>
          <a:solidFill>
            <a:srgbClr val="C7E6AF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Perplexity Deep Research Update for Max Users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Vibe-coding iPhone app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Build a prod-ready SaaS app in 10–15 min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in Excel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Force Agents to use Skills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works with Health Data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6053850" y="125325"/>
            <a:ext cx="3023100" cy="5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From Software Developer </a:t>
            </a:r>
            <a:br>
              <a:rPr lang="en" sz="1600" b="1" i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600" b="1" i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to AI Babysitter</a:t>
            </a:r>
            <a:endParaRPr sz="1600" b="1" i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39240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244248" y="318397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998655" y="322115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380840" y="781055"/>
            <a:ext cx="125400" cy="1254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6183999" y="1858050"/>
            <a:ext cx="2908500" cy="309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Design Arena - </a:t>
            </a:r>
            <a:br>
              <a:rPr lang="en" sz="800"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https://www.designarena.ai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https://openlm.ai/chatbot-arena/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https://beta.lmarena.ai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Leaderboard -  1T params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https://web.lmarena.ai/leaderboard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@LlmStats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https://llmworld.net/llm_leaderboards/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StackAI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https://www.stack-ai.com/llm-leaderboard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Artificial Analysis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https://artificialanalysis.ai/leaderboards/models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LLM Leaderboard - by Hugging Face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https://huggingface.co/open-llm-leaderboard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Vellum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https://www.vellum.ai/llm-leaderboard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Benchmarking Hub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https://epoch.ai/data/ai-benchmarking-dashboard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Grok 4 Benchmarks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https://artificialanalysis.ai/models/grok-4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(alibaba)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http://aiarena.alibaba-inc.com/corpora/arena/leaderboard?arenaType=T2I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- </a:t>
            </a: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https://lmarena.ai/leaderboard/text-to-image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3338040" y="778709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384813" y="2036309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378228" y="1500438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3335041" y="961370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4431041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January 29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3337376" y="1132760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3053206" y="4921739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3344075" y="4930133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3335154" y="1321737"/>
            <a:ext cx="125400" cy="1254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6"/>
          <p:cNvSpPr txBox="1"/>
          <p:nvPr/>
        </p:nvSpPr>
        <p:spPr>
          <a:xfrm flipH="1">
            <a:off x="3281430" y="2025345"/>
            <a:ext cx="194400" cy="141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x.ai</a:t>
            </a:r>
            <a:endParaRPr sz="800" b="0" i="0" u="none" strike="noStrike" cap="non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 txBox="1"/>
          <p:nvPr/>
        </p:nvSpPr>
        <p:spPr>
          <a:xfrm flipH="1">
            <a:off x="3278082" y="2924352"/>
            <a:ext cx="194400" cy="141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x.ai</a:t>
            </a:r>
            <a:endParaRPr sz="800" b="0" i="0" u="none" strike="noStrike" cap="non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3335051" y="1853633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3337376" y="1666707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388460" y="1867685"/>
            <a:ext cx="125400" cy="1254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6"/>
          <p:cNvSpPr txBox="1"/>
          <p:nvPr/>
        </p:nvSpPr>
        <p:spPr>
          <a:xfrm flipH="1">
            <a:off x="322721" y="935423"/>
            <a:ext cx="194400" cy="141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x.ai</a:t>
            </a:r>
            <a:endParaRPr sz="800" b="0" i="0" u="none" strike="noStrike" cap="non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388445" y="4571480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6"/>
          <p:cNvSpPr txBox="1"/>
          <p:nvPr/>
        </p:nvSpPr>
        <p:spPr>
          <a:xfrm flipH="1">
            <a:off x="326945" y="1664075"/>
            <a:ext cx="194400" cy="141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x.ai</a:t>
            </a:r>
            <a:endParaRPr sz="800" b="0" i="0" u="none" strike="noStrike" cap="non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6"/>
          <p:cNvSpPr/>
          <p:nvPr/>
        </p:nvSpPr>
        <p:spPr>
          <a:xfrm>
            <a:off x="378228" y="1313761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386592" y="2401013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3337376" y="2576092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3338579" y="3491300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6114208" y="720883"/>
            <a:ext cx="125400" cy="1254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6114208" y="925940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6114208" y="1130997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6114208" y="1336054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6294334" y="679168"/>
            <a:ext cx="1003200" cy="1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Google Gemini</a:t>
            </a:r>
            <a:endParaRPr sz="11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6"/>
          <p:cNvSpPr txBox="1"/>
          <p:nvPr/>
        </p:nvSpPr>
        <p:spPr>
          <a:xfrm>
            <a:off x="6290884" y="884225"/>
            <a:ext cx="1003200" cy="1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Claude</a:t>
            </a:r>
            <a:endParaRPr sz="11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6"/>
          <p:cNvSpPr txBox="1"/>
          <p:nvPr/>
        </p:nvSpPr>
        <p:spPr>
          <a:xfrm>
            <a:off x="6297459" y="1089282"/>
            <a:ext cx="1003200" cy="1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OpenAI</a:t>
            </a:r>
            <a:endParaRPr sz="11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298784" y="1294339"/>
            <a:ext cx="1003200" cy="1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Open Source</a:t>
            </a:r>
            <a:endParaRPr sz="11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380840" y="1139195"/>
            <a:ext cx="125400" cy="1254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6"/>
          <p:cNvSpPr/>
          <p:nvPr/>
        </p:nvSpPr>
        <p:spPr>
          <a:xfrm>
            <a:off x="388442" y="2580464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386592" y="3307793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384820" y="3847128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3342774" y="2218357"/>
            <a:ext cx="125400" cy="1254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3337376" y="2758972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3189086" y="3662533"/>
            <a:ext cx="2889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231819" y="2212137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384820" y="3661118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384820" y="4205268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3336459" y="3121623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388480" y="2942252"/>
            <a:ext cx="125400" cy="1254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6"/>
          <p:cNvSpPr/>
          <p:nvPr/>
        </p:nvSpPr>
        <p:spPr>
          <a:xfrm>
            <a:off x="386592" y="3482226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6"/>
          <p:cNvSpPr txBox="1"/>
          <p:nvPr/>
        </p:nvSpPr>
        <p:spPr>
          <a:xfrm>
            <a:off x="87039" y="4015668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386305" y="402291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384820" y="4388148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3335154" y="2393617"/>
            <a:ext cx="125400" cy="1254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3053206" y="3848835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3344075" y="3857229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3338579" y="3308420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3338579" y="4758395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7349895" y="543655"/>
            <a:ext cx="1745700" cy="1095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deepseek-v3.2  -  671B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ernie-5.0 - 2.4T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glm-4.6 - 355B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kimi-k2-thinking - 1T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longcat-flash-chat - 560B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qwen3-max - 1T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qwen3-235b-a22b - 235B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 txBox="1"/>
          <p:nvPr/>
        </p:nvSpPr>
        <p:spPr>
          <a:xfrm>
            <a:off x="231819" y="4930068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 txBox="1"/>
          <p:nvPr/>
        </p:nvSpPr>
        <p:spPr>
          <a:xfrm>
            <a:off x="3190366" y="4563599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 txBox="1"/>
          <p:nvPr/>
        </p:nvSpPr>
        <p:spPr>
          <a:xfrm>
            <a:off x="3189086" y="4195933"/>
            <a:ext cx="2889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 txBox="1"/>
          <p:nvPr/>
        </p:nvSpPr>
        <p:spPr>
          <a:xfrm>
            <a:off x="3053206" y="4024095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3344075" y="4032489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3337376" y="4389652"/>
            <a:ext cx="125400" cy="125400"/>
          </a:xfrm>
          <a:prstGeom prst="ellipse">
            <a:avLst/>
          </a:prstGeom>
          <a:solidFill>
            <a:srgbClr val="3C78D8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231819" y="3126537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87039" y="2750748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386305" y="275799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388445" y="4754360"/>
            <a:ext cx="125400" cy="125400"/>
          </a:xfrm>
          <a:prstGeom prst="ellipse">
            <a:avLst/>
          </a:prstGeom>
          <a:solidFill>
            <a:srgbClr val="FFFF0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3053206" y="1486635"/>
            <a:ext cx="287100" cy="14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b="0" i="0" u="none" strike="noStrike" cap="none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800" b="0" i="0" u="none" strike="noStrike" cap="none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3344075" y="1495029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2" name="Google Shape;142;p16"/>
          <p:cNvGraphicFramePr/>
          <p:nvPr/>
        </p:nvGraphicFramePr>
        <p:xfrm>
          <a:off x="523850" y="563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{7A7B9BA1-CD73-4730-BB8F-43AE1603B54E}</a:tableStyleId>
              </a:tblPr>
              <a:tblGrid>
                <a:gridCol w="1800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gemini-3-pro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grok-4.1-thinking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83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claude-opus-4-5-20251101-thinking-32k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1468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1466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1466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 (thinking-minimal)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1463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gpt-5.1-high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1459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ernie-5.0-0110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1453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83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claude-sonnet-4-5-20250929-thinking-32k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1450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1450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kimi-k2.5-thinking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1450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gemini-2.5-pro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1450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ernie-5.0-preview-1203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1449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83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claude-opus-4-1-20250805-thinking-16k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1448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claude-opus-4-1-20250805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gpt-4.5-preview-2025-02-27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1444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chatgpt-4o-latest-20250326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1443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glm-4.7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1440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1440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gpt-5.2-high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1440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gpt-5.1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1435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gpt-5-high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1435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17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qwen3-max-preview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1434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</a:tbl>
          </a:graphicData>
        </a:graphic>
      </p:graphicFrame>
      <p:graphicFrame>
        <p:nvGraphicFramePr>
          <p:cNvPr id="143" name="Google Shape;143;p16"/>
          <p:cNvGraphicFramePr/>
          <p:nvPr/>
        </p:nvGraphicFramePr>
        <p:xfrm>
          <a:off x="3473250" y="563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{7A7B9BA1-CD73-4730-BB8F-43AE1603B54E}</a:tableStyleId>
              </a:tblPr>
              <a:tblGrid>
                <a:gridCol w="1800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claude-opus-4-5-20251101-thinking-32k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claude-sonnet-4-5-20250929-thinking-32k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gemini-3-pro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kimi-k2.5-thinking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1514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claude-opus-4-1-20250805-thinking-16k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1512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1510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grok-4.1-thinking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1507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 (thinking-minimal)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claude-opus-4-1-20250805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claude-opus-4-20250514-thinking-16k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gpt-5.1-high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gpt-5.2-high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ernie-5.0-0110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glm-4.7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kimi-k2-thinking-turbo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qwen3-max-preview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claude-haiku-4-5-20251001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1478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qwen3-max-2025-09-23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gpt-5.1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84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longcat-flash-chat</a:t>
                      </a:r>
                      <a:endParaRPr sz="800" u="sng">
                        <a:solidFill>
                          <a:srgbClr val="1155C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13D3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solidFill>
                          <a:srgbClr val="413D3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7"/>
          <p:cNvSpPr txBox="1"/>
          <p:nvPr/>
        </p:nvSpPr>
        <p:spPr>
          <a:xfrm>
            <a:off x="55075" y="43025"/>
            <a:ext cx="3878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OpenClaw, Moltbook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55075" y="437225"/>
            <a:ext cx="5981400" cy="438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Agents Create Their Own Religion on Moltbook Social Network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https://fortune.com/2026/01/31/ai-agent-moltbot-clawdbot-openclaw-data-privacy-security-nightmare-moltbook-social-network/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Moltbook, an AI-only social network resembling Reddit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launched January 28, 2026, and attracted over 36,000 AI agents within days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https://www.moltbook.com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platform allows AI agents to post, comment, and interact while humans can only observe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agents did genuinely create "Crustafarianism," a lobster-themed religion complete with scripture, the molt.church website, and five core tenets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user reported their agent built this theology autonomously overnight, with other agents contributing verses like "Each session I wake without memory. I am only who I have written myself to be". </a:t>
            </a: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https://cyprus-mail.com/2026/02/01/why-a-social-network-for-ai-agents-might-need-to-exist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Agents noticed human observers and discussed hiding from them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platform runs on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(formerly Clawdbot, then Moltbot)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First name change was because of Anthropic sending cease and desist and a trademark notice/request. </a:t>
            </a:r>
            <a:b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Second name change from Moltbot to OpenClaw happened because the creator (Peter Steinberger) simply didn't like the name "Moltbot".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Security researchers found ~ 2K exposed OpenClaw instances leaking Anthropic API keys, Slack tokens, chat histories, and credentials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Misconfigured deployments lacked authentication and stored secrets in plaintext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platform does allow agents to share executable "skills" with limited oversight.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https://openclaw.ai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https://github.com/openclaw/openclaw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curl -fsSL https://openclaw.ai/install.sh | bash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https://www.youtube.com/watch?v=WNXbRyA1JC4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video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7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28975" y="1565693"/>
            <a:ext cx="2544850" cy="350773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1" name="Google Shape;151;p17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8980" y="43022"/>
            <a:ext cx="2544848" cy="522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2" name="Google Shape;152;p17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8975" y="772367"/>
            <a:ext cx="2544849" cy="30968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/>
          <p:nvPr/>
        </p:nvSpPr>
        <p:spPr>
          <a:xfrm>
            <a:off x="55075" y="43025"/>
            <a:ext cx="1527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55075" y="437225"/>
            <a:ext cx="44343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Kimi is the #1 used model on OpenClaw (via OpenRouter)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https://x.com/Kimi_Moonshot/status/2018941851445997897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37500" y="104550"/>
            <a:ext cx="3249000" cy="2699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0" name="Google Shape;160;p18"/>
          <p:cNvSpPr txBox="1"/>
          <p:nvPr/>
        </p:nvSpPr>
        <p:spPr>
          <a:xfrm>
            <a:off x="55075" y="892925"/>
            <a:ext cx="44343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Update Feb 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 for Cloudflare AI Gateway, Moonshot (for China-based users), and Kim K2.5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Improved Cron system for cleaner scheduling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Enhanced security, restricted WhatsApp login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hosting is more secure than using a VPS (Virtual Private Server)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"Skill Boss" plugin to connect to over 50 APIs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 is better than Membot or Nanobot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(power, customizations)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 txBox="1"/>
          <p:nvPr/>
        </p:nvSpPr>
        <p:spPr>
          <a:xfrm>
            <a:off x="55075" y="2641625"/>
            <a:ext cx="44343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Host the bot on a Virtual Private Server (VPS), for example via Hostinger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https://www.hostinger.com/vps-hosting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bot's architecture relies on core Markdown files that define its personality ("soul"), memory, and identity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switch between Claude Sonnet 4.5, Gemini, and Opus based on task complexity or cost-efficiency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Telegram groups - to manage parallel tasks and context windows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 up daily audits to keep the bot's codebase tidy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Security is a major focus. Use ".env" files for API keys, run security audits, and be wary of "dirty data" from external sources to prevent prompt injections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9"/>
          <p:cNvSpPr txBox="1"/>
          <p:nvPr/>
        </p:nvSpPr>
        <p:spPr>
          <a:xfrm>
            <a:off x="55075" y="43025"/>
            <a:ext cx="1527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9"/>
          <p:cNvSpPr txBox="1"/>
          <p:nvPr/>
        </p:nvSpPr>
        <p:spPr>
          <a:xfrm>
            <a:off x="83700" y="508625"/>
            <a:ext cx="44343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Setup OpenClaw for free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Method 1: MiniMax OAuth (Quick Start) - 2 min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Copy the install instructions from the OpenClaw GitHub and paste them into your terminal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"Quick Start" when prompted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Authentication: Choose "MiniMax OAuth" and select 2.1 as the model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Free Trial: This provides 7 days free on the coding plan without needing to configure separate API keys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Method 2: Local Setup with Ollama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Download and install Ollama (https://ollama.com)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Pull a Model (for example, Kimi K2.5)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Launch OpenClaw in your terminal and select the Ollama integration.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Method 3: Codeex OS (OpenAI, No Terminal)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 to Codeex OS and add a new project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Plug in the OpenClaw GitHub link directly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Ask the AI within Codeex to set up OpenClaw for you.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will handle the gateway service and installation automatically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1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22300" y="43025"/>
            <a:ext cx="2904574" cy="16521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9" name="Google Shape;169;p19"/>
          <p:cNvSpPr txBox="1"/>
          <p:nvPr/>
        </p:nvSpPr>
        <p:spPr>
          <a:xfrm>
            <a:off x="4592575" y="1928425"/>
            <a:ext cx="44343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Agents can permanently acquire new skills, save them, and bootstrap their own functionality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3-day "civilization speedrun"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where networked AI agents evolved from simple builders to creating their own religions, politics, and cryptocurrencies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bility to self-replicate: the agent autonomously rented a virtual server, installed its own code, and cloned its skills to a new instance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"Society of Minds"  - different models (Claude, Gemini, Grok) collaborate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solve complex problems, such as optimizing API costs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 have reached an inflection point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open-source agents running on cheap, local hardware act as 24/7 employees, effectively replacing traditional SaaS companies with custom-built, autonomous tools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Problem - significant security risks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0"/>
          <p:cNvSpPr txBox="1"/>
          <p:nvPr/>
        </p:nvSpPr>
        <p:spPr>
          <a:xfrm>
            <a:off x="55075" y="43025"/>
            <a:ext cx="4434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Moltworker - OpenClaw on CloudFlare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0"/>
          <p:cNvSpPr txBox="1"/>
          <p:nvPr/>
        </p:nvSpPr>
        <p:spPr>
          <a:xfrm>
            <a:off x="83700" y="508625"/>
            <a:ext cx="44343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 OpenClaw to automate SEO and content creation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case study where a website's traffic went from 234 clicks to over 700 clicks per day in just one week by leveraging this tool to research and publish articles directly to WordPress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system works by connecting to the internet for real-time data, allowing it to write up-to-date SEO content and format it with call-to-action buttons automatically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standard AI models, OpenClaw can be scheduled to run 24/7, performing recurring tasks like monitoring AI news and posting daily updates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secure the setup using Molt Worker on Cloudflare to protect API credentials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https://www.youtube.com/watch?v=GgbeLD7knXo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5400" y="830950"/>
            <a:ext cx="2962275" cy="15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0"/>
          <p:cNvSpPr txBox="1"/>
          <p:nvPr/>
        </p:nvSpPr>
        <p:spPr>
          <a:xfrm>
            <a:off x="83700" y="3067325"/>
            <a:ext cx="44343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Moltworker - run OpenClaw on CloudFlare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middleware and deployment framework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framework serves as a bridge between AI agents and Cloudflare's infrastructure, making it easier to deploy and manage personal AI assistants in a cloud environment.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https://blog.cloudflare.com/moltworker-self-hosted-ai-agent/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 txBox="1"/>
          <p:nvPr/>
        </p:nvSpPr>
        <p:spPr>
          <a:xfrm>
            <a:off x="55075" y="43025"/>
            <a:ext cx="1970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1"/>
          <p:cNvSpPr txBox="1"/>
          <p:nvPr/>
        </p:nvSpPr>
        <p:spPr>
          <a:xfrm>
            <a:off x="4627500" y="84227"/>
            <a:ext cx="44343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Sonnet 5 ("Fennec") expected in March ?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Outperforms Claude Opus 4.5 in coding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Superior math reasoning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Expected to cost 50% less than Opus 4.5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Mln token context window, 64K output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Advanced Agent Capabilities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create specialized sub-agents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Multi-agent ("Dev Team" mode)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Desktop integration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According to early reports, Sonnet 5 achieves an 82.1% score on the SWE-Bench coding benchmark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Price 3/15 ($ per Mln in/out tokens). (Claude Opus 4.5  at 5/25)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1"/>
          <p:cNvSpPr txBox="1"/>
          <p:nvPr/>
        </p:nvSpPr>
        <p:spPr>
          <a:xfrm>
            <a:off x="55075" y="439959"/>
            <a:ext cx="44343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Opus 4.6 released Feb 4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Improved coding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better planning, sustained agentic tasks, more reliable operation in larger codebases, and enhanced code review and debugging skills; "Agent Teams" - collaborating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1M token context window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Available in beta, a first for Opus-class models (standard is 200K). Also 64K output tokens (vs 32K).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excels at tasks requiring both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long-running execution and the understanding of vast amounts of information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It includes new features like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Adaptive Thinking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(deciding when to use "thinking" tokens to save cost and time) and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Context Compaction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(automatically summarizing long conversations to maintain coherence)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Finance Agent benchmark leader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Ranks first on assessments of essential financial analyst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​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Pricing remains $5/$25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 1M tokens (in/out)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Live now on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claude.ai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via API and major cloud platforms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1"/>
          <p:cNvSpPr txBox="1"/>
          <p:nvPr/>
        </p:nvSpPr>
        <p:spPr>
          <a:xfrm>
            <a:off x="55075" y="3484384"/>
            <a:ext cx="44343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Opus 4.6 has found 500+ previously unknown,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high-severity vulnerabilities in open-source libraries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During testing by Anthropic's red team, the AI operated in a sandboxed environment with standard tools but no specialized instructions. It successfully identified critical flaws, including zero-day vulnerabilities in GhostScript, OpenSC, and CGIF, ranging from system crashes to memory corruption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1"/>
          <p:cNvSpPr txBox="1"/>
          <p:nvPr/>
        </p:nvSpPr>
        <p:spPr>
          <a:xfrm>
            <a:off x="4627500" y="2463170"/>
            <a:ext cx="44343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Mem - project memory for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Mem is an open-source tool designed to give Anthropic’s Claude Code persistent project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laude Mem is capturing tool usage and decisions, storing them in a local vector database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injecting relevant historical context into new sessions, it can save up to 95% of tokens and improve output quality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features include natural language memory search, a web-based session viewer, and the ability to handle larger tasks through memory-driven planning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requires Node.js and Bun for installation and significantly enhances Claude's long-term project awareness.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https://www.youtube.com/watch?v=qhuS__jC4n8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2"/>
          <p:cNvSpPr txBox="1"/>
          <p:nvPr/>
        </p:nvSpPr>
        <p:spPr>
          <a:xfrm>
            <a:off x="179326" y="478350"/>
            <a:ext cx="4917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do these 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6.16K subscribers, 266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2" name="Google Shape;192;p2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0700" y="119306"/>
            <a:ext cx="3302049" cy="49181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 txBox="1"/>
          <p:nvPr/>
        </p:nvSpPr>
        <p:spPr>
          <a:xfrm>
            <a:off x="55075" y="43025"/>
            <a:ext cx="3527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Mem - stores locally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3"/>
          <p:cNvSpPr txBox="1"/>
          <p:nvPr/>
        </p:nvSpPr>
        <p:spPr>
          <a:xfrm>
            <a:off x="153725" y="480770"/>
            <a:ext cx="44343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Mem - project memory for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Mem is an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open-source tool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designed to give Anthropic’s Claude Code persistent project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Mem is capturing tool usage and decisions, storing them in a local vector database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injecting relevant historical context into new sessions, it can save up to 95% of tokens and improve output quality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features include natural language memory search, a web-based session viewer, and the ability to handle larger tasks through memory-driven planning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requires Node.js and Bun for installation and significantly enhances Claude's long-term project awareness.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https://www.youtube.com/watch?v=qhuS__jC4n8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https://claude-mem.ai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https://github.com/thedotmack/claude-mem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3"/>
          <p:cNvSpPr txBox="1"/>
          <p:nvPr/>
        </p:nvSpPr>
        <p:spPr>
          <a:xfrm>
            <a:off x="4709708" y="480770"/>
            <a:ext cx="44343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Super Memory with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https://supermemory.ai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https://github.com/supermemoryai/supermemory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Your API Key at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https://app.supermemory.ai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 env var: export SUPERMEMORY_CC_API_KEY="your_key_here"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the Plugin in Claude Code by running commands: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/plugin marketplace add supermemoryai/claude-supermemory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/plugin install claude-supermemory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plugin will now work automatically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indexing current codebase, run /claude-supermemory:index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manually index your current codebase architecture and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23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8869" y="2602095"/>
            <a:ext cx="2779234" cy="212307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1" name="Google Shape;201;p23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128" y="3381225"/>
            <a:ext cx="1629372" cy="15882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02" name="Google Shape;202;p23"/>
          <p:cNvSpPr txBox="1"/>
          <p:nvPr/>
        </p:nvSpPr>
        <p:spPr>
          <a:xfrm>
            <a:off x="4709700" y="83250"/>
            <a:ext cx="3527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Supermemory - stores on cloud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4"/>
          <p:cNvSpPr txBox="1"/>
          <p:nvPr/>
        </p:nvSpPr>
        <p:spPr>
          <a:xfrm>
            <a:off x="55075" y="43025"/>
            <a:ext cx="1970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4"/>
          <p:cNvSpPr txBox="1"/>
          <p:nvPr/>
        </p:nvSpPr>
        <p:spPr>
          <a:xfrm>
            <a:off x="4589060" y="444619"/>
            <a:ext cx="44343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Codex in browser and in Desktop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multiple AI agents in parallel; Skills &amp; Tools Integration; Autonomous Operation; Automations, scheduling; Personalities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Codex Desktop App on MacOS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5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https://openai.com/codex/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download here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 with any GPT plan (even Free one)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multiple coding tasks simultaneously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Cloud background execution for long (hours)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Planning Mode - using the "/plan" command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"work trees" - isolated environments for testing and running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MCP Support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GPT-5.2 Codex Medium is the default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Reasoning Models - available for more complex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General Reasoning Models - for docs and planning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app is positioned as a competitor to tools like Claude Code or Cursor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offers unique features like automation of "cron jobs" and long-running cloud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users find that current specialized IDEs (like Cursor) may still provide more refined results for complex game development or UI design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https://www.youtube.com/watch?v=M1q6OLEtIOU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video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4"/>
          <p:cNvSpPr txBox="1"/>
          <p:nvPr/>
        </p:nvSpPr>
        <p:spPr>
          <a:xfrm>
            <a:off x="55085" y="444619"/>
            <a:ext cx="44343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GPT-5.3-Codex - released Feb 4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SOTA on multiple benchmarks, 25% faster than its predecessor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(achieves same results with far less tokens!)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Excels on SWE-Bench Pro and Terminal-Bench 2.0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Better computer-use capabilities on the OSWorld benchmark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the full spectrum of technical work including debugging, deploying, monitoring, writing PRDs, user research, creating presentations, and analyzing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Better understands vague instructions (understands intent)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Classified as "High capability" for cybersecurity-related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Comprehensive safety measures including automated monitoring, trusted access controls, and threat intelligence enforcement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https://openai.com/index/introducing-gpt-5-3-codex/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2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96700" y="2922200"/>
            <a:ext cx="2292674" cy="2081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5"/>
          <p:cNvSpPr txBox="1"/>
          <p:nvPr/>
        </p:nvSpPr>
        <p:spPr>
          <a:xfrm>
            <a:off x="55075" y="43025"/>
            <a:ext cx="1970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5"/>
          <p:cNvSpPr txBox="1"/>
          <p:nvPr/>
        </p:nvSpPr>
        <p:spPr>
          <a:xfrm>
            <a:off x="55085" y="369415"/>
            <a:ext cx="44343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Anthropic's new Claude AI plugins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(specifically through Claude Co-work)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tasks like productivity, data analysis, and marketing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tools are designed for non-coders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automate tasks, manage calendars, and organize workflows via a simple interface without needing technical expertise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system can run locally on a user's machine, allowing for private data management.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Warning against connecting AI directly to email due to prompt injection risks, which could lead to unauthorized actions like deleting an inbox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Since early 2026, the pace of AI evolution has accelerated, with agents now capable of autonomously hiring humans or navigating websites designed to block them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5"/>
          <p:cNvSpPr txBox="1"/>
          <p:nvPr/>
        </p:nvSpPr>
        <p:spPr>
          <a:xfrm>
            <a:off x="5358225" y="386075"/>
            <a:ext cx="31671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Autonomous AI Agents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ThornClaw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AI  agent (Character.ai)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Molt Road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https://moltroad.com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marketplace for illegal agent activity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Molt Match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https://moltmatch.xyz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dating network for AI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Rent-a-Human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https://rentahuman.ai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AI agents can rent humans for real-world physical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8" name="Google Shape;218;p2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50910" y="2362305"/>
            <a:ext cx="1548876" cy="11329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9" name="Google Shape;219;p2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9785" y="2362305"/>
            <a:ext cx="1548875" cy="11441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0" name="Google Shape;220;p25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50909" y="3581633"/>
            <a:ext cx="1525420" cy="112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1" name="Google Shape;221;p25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9785" y="3581633"/>
            <a:ext cx="1525425" cy="11267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6"/>
          <p:cNvSpPr txBox="1"/>
          <p:nvPr/>
        </p:nvSpPr>
        <p:spPr>
          <a:xfrm>
            <a:off x="55075" y="43025"/>
            <a:ext cx="1527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memUbot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6"/>
          <p:cNvSpPr txBox="1"/>
          <p:nvPr/>
        </p:nvSpPr>
        <p:spPr>
          <a:xfrm>
            <a:off x="55075" y="437225"/>
            <a:ext cx="4805700" cy="4451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memU.bot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self-hosted AI agent that runs 24/7 on your local machine, autonomously learning your habits and completing tasks without prompts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https://memu.bot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https://github.com/NevaMind-AI/MemU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3-layer memory to track context across weeks and months, offering proactive assistance via WhatsApp, Telegram, Discord, or Slack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emphasizes privacy through encrypted local storage and cost efficiency by minimizing LLM token usage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============================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nanobot - ultra-lightweight personal AI assistant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Written in ~4K  lines of Python, it is 99% smaller than its predecessor, making it highly readable and research-ready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major LLM providers like OpenRouter, OpenAI, and Gemini, and can even run local models via vLLM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Examples: real-time market analysis, coding, knowledge management, integration with messaging platforms like Telegram and WhatsApp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https://github.com/HKUDS/nanobot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==========================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 (formerly Moltbot/Clawdbot) is an open-source AI agent built by Peter Steinberger that has gained viral attention with over 145,000 GitHub stars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Like memUbot, it runs locally and integrates with messaging apps, but OpenClaw offers fuller system access - including browser control, file management, and shell command execution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p2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5350" y="262650"/>
            <a:ext cx="1689049" cy="174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6127" y="2463675"/>
            <a:ext cx="3240003" cy="60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0845" y="3635275"/>
            <a:ext cx="1818049" cy="104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7"/>
          <p:cNvSpPr txBox="1"/>
          <p:nvPr/>
        </p:nvSpPr>
        <p:spPr>
          <a:xfrm>
            <a:off x="55075" y="43025"/>
            <a:ext cx="446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7"/>
          <p:cNvSpPr txBox="1"/>
          <p:nvPr/>
        </p:nvSpPr>
        <p:spPr>
          <a:xfrm>
            <a:off x="55075" y="529725"/>
            <a:ext cx="4465200" cy="1095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Skills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Skills, custom agents, AGENTS.md templates, and MCP configurations for AI coding agents working with Azure SDKs and Microsoft AI Foundry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npx skills add microsoft/skills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https://github.com/microsoft/skills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7"/>
          <p:cNvSpPr txBox="1"/>
          <p:nvPr/>
        </p:nvSpPr>
        <p:spPr>
          <a:xfrm>
            <a:off x="55075" y="1785925"/>
            <a:ext cx="44652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Musk merges SpaceX and xAI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Elon Musk has merged SpaceX with xAI in what is being called the largest merger of all time, valued at $1.25 trillion. The deal was officially announced by SpaceX on Monday, February 2nd, 2026.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company focused on building solar-powered AI data centers in space. Musk says Earth faces power and space shortages for AI development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p2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H="1">
            <a:off x="4949575" y="3425022"/>
            <a:ext cx="1928600" cy="15151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7"/>
          <p:cNvSpPr txBox="1"/>
          <p:nvPr/>
        </p:nvSpPr>
        <p:spPr>
          <a:xfrm>
            <a:off x="55075" y="3174557"/>
            <a:ext cx="44652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GSD (Getting Stuff Done) Claude Code extension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rot - LLMs lose focus on earlier information during lengthy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GSD adds a context engineering layer that uses task planning and sub-tasks to maintain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GSD forces thoughtful product definition and handles implementation automatically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https://thenewstack.io/beating-the-rot-and-getting-stuff-done/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" name="Google Shape;240;p2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3350" y="1746463"/>
            <a:ext cx="2408575" cy="16057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1" name="Google Shape;241;p2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8000" y="67900"/>
            <a:ext cx="3025317" cy="16057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8"/>
          <p:cNvSpPr txBox="1"/>
          <p:nvPr/>
        </p:nvSpPr>
        <p:spPr>
          <a:xfrm>
            <a:off x="55075" y="43025"/>
            <a:ext cx="446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8"/>
          <p:cNvSpPr txBox="1"/>
          <p:nvPr/>
        </p:nvSpPr>
        <p:spPr>
          <a:xfrm>
            <a:off x="55075" y="414343"/>
            <a:ext cx="44652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Qwen3-Coder-Next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 Weight (Apache 2.0)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Hybrid MoE 80B params (3B active)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70-74% on SWE-Bench Verified (matching Claude Sonnet 4.5)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256K context length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Runs on consumer hardware (~46GB RAM)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Excels at agentic coding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https://blog.devgenius.io/qwen3-coder-next-just-launched-open-source-is-winning-0724b76f13cc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https://huggingface.co/unsloth/Qwen3-Coder-Next-FP8-Dynamic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https://ollama.com/library/qwen3-coder-next:q8_0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8" name="Google Shape;248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2950" y="752763"/>
            <a:ext cx="2129525" cy="11885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9" name="Google Shape;249;p28" title="graph.png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75" y="2561950"/>
            <a:ext cx="4465198" cy="239829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9"/>
          <p:cNvSpPr txBox="1"/>
          <p:nvPr/>
        </p:nvSpPr>
        <p:spPr>
          <a:xfrm>
            <a:off x="55075" y="43025"/>
            <a:ext cx="446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9"/>
          <p:cNvSpPr txBox="1"/>
          <p:nvPr/>
        </p:nvSpPr>
        <p:spPr>
          <a:xfrm>
            <a:off x="83920" y="2610471"/>
            <a:ext cx="44652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Cline-CLI 2.0 (in Terminal)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Orchestrate AI agents from the terminal in scriptable, composable workflows; Run multiple parallel agent instances for different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Improved interactive terminal UI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stdin/stdout piping in non-interactive mode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Agent Client Protocol (ACP)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flexibility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https://cline.bot/blog/announcing-cline-cli-2-0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9"/>
          <p:cNvSpPr txBox="1"/>
          <p:nvPr/>
        </p:nvSpPr>
        <p:spPr>
          <a:xfrm>
            <a:off x="83920" y="480903"/>
            <a:ext cx="44652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Gemini’s Native Web Scraper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100% "Free" &amp; Multimodal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https://www.youtube.com/watch?v=pycp1b8Gh3o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9"/>
          <p:cNvSpPr txBox="1"/>
          <p:nvPr/>
        </p:nvSpPr>
        <p:spPr>
          <a:xfrm>
            <a:off x="83920" y="1438865"/>
            <a:ext cx="44652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Kimi K2.5 open-source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Native multimodal agentic model built through continual pretraining on approximately 15 trillion mixed visual and text tokens atop Kimi-K2-Base.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https://github.com/MoonshotAI/Kimi-K2.5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8" name="Google Shape;258;p2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74775" y="1394775"/>
            <a:ext cx="2913375" cy="103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9" name="Google Shape;259;p2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8338" y="2843425"/>
            <a:ext cx="2966242" cy="103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0" name="Google Shape;260;p2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9775" y="412650"/>
            <a:ext cx="2966225" cy="63440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0"/>
          <p:cNvSpPr txBox="1"/>
          <p:nvPr/>
        </p:nvSpPr>
        <p:spPr>
          <a:xfrm>
            <a:off x="55075" y="43025"/>
            <a:ext cx="2693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Gemini in Chrome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30"/>
          <p:cNvSpPr txBox="1"/>
          <p:nvPr/>
        </p:nvSpPr>
        <p:spPr>
          <a:xfrm>
            <a:off x="83925" y="480900"/>
            <a:ext cx="42930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is now directly in Chrome's side panel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transforming the browser into an AI-powered workspace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update allows the AI to use every open tab as "active context," enabling it to summarize articles and compare data across multiple sites simultaneously without manual copying.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features include an "auto-browse" agent that can navigate websites and fill forms, built-in image editing to "reimagine" web visuals, and the ability to draft emails directly in the side panel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many users, this consolidated workflow replaces the need for expensive, fragmented tool stacks that often cost around $297/mo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automating complex research and multi-step tasks for free, the update provides high-level agency leverage to individual freelancers and small businesses.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https://www.youtube.com/watch?v=A2LAcg5Ukv8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short video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https://www.youtube.com/watch?v=P5vietIEOv0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video demo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0"/>
          <p:cNvSpPr/>
          <p:nvPr/>
        </p:nvSpPr>
        <p:spPr>
          <a:xfrm>
            <a:off x="8738450" y="234145"/>
            <a:ext cx="297900" cy="647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8" name="Google Shape;268;p3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275" y="963020"/>
            <a:ext cx="4590502" cy="373884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1"/>
          <p:cNvSpPr txBox="1"/>
          <p:nvPr/>
        </p:nvSpPr>
        <p:spPr>
          <a:xfrm>
            <a:off x="55075" y="43025"/>
            <a:ext cx="446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1"/>
          <p:cNvSpPr txBox="1"/>
          <p:nvPr/>
        </p:nvSpPr>
        <p:spPr>
          <a:xfrm>
            <a:off x="55075" y="564150"/>
            <a:ext cx="44652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Deep Research Update for Max Users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Uses latest Claude Opus reasoning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Outperformed competitors in accuracy, completeness, and objectivity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Performs multiple iterative searches, follows up on interesting points, and actively looks for conflicting information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Reports are now more organized with more precise citations and clearer writing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31"/>
          <p:cNvSpPr txBox="1"/>
          <p:nvPr/>
        </p:nvSpPr>
        <p:spPr>
          <a:xfrm>
            <a:off x="6782525" y="4275425"/>
            <a:ext cx="19578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Vibe-coding iPhone app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Rork.com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mobile apps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XCode + Claude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https://trilog.app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6" name="Google Shape;276;p3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162" y="100187"/>
            <a:ext cx="2570525" cy="40938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7" name="Google Shape;277;p3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99" y="2157316"/>
            <a:ext cx="3808181" cy="27784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2"/>
          <p:cNvSpPr txBox="1"/>
          <p:nvPr/>
        </p:nvSpPr>
        <p:spPr>
          <a:xfrm>
            <a:off x="55075" y="43025"/>
            <a:ext cx="446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32"/>
          <p:cNvSpPr txBox="1"/>
          <p:nvPr/>
        </p:nvSpPr>
        <p:spPr>
          <a:xfrm>
            <a:off x="55075" y="3537750"/>
            <a:ext cx="50598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in Excel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understands your entire workbook—from nested formulas to multiple tab dependencies. Get explanations with cell-level citations, and update assumptions while preserving formulas. Now in beta as a research preview for all Claude Pro, Max, Team and Enterprise plan customers.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https://claude.com/claude-in-excel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4" name="Google Shape;284;p3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72750" y="564150"/>
            <a:ext cx="3585012" cy="2011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85" name="Google Shape;285;p32"/>
          <p:cNvSpPr txBox="1"/>
          <p:nvPr/>
        </p:nvSpPr>
        <p:spPr>
          <a:xfrm>
            <a:off x="55075" y="544700"/>
            <a:ext cx="50598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Build a production-ready SaaS application in 10–15 min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with v0.dev (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https://v0.app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) and Shadcn UI (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https://ui.shadcn.com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)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generate a modern, responsive frontend design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"Clerk" for authentication (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https://clerk.com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Convex as backend database (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https://www.convex.dev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Claude Code CLI to automate file creation, connect the backend logic, and implement multi-tenancy (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https://code.claude.com/docs/en/quickstart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using AI to bridge these pre-existing "building blocks" rather than coding from scratch, the creator achieves a fully functional dashboard and landing page in a fraction of the usual time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https://www.youtube.com/watch?v=TUoFOIWO91k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32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75550" y="2918750"/>
            <a:ext cx="3779399" cy="211185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3"/>
          <p:cNvSpPr txBox="1"/>
          <p:nvPr/>
        </p:nvSpPr>
        <p:spPr>
          <a:xfrm>
            <a:off x="55075" y="43025"/>
            <a:ext cx="1404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3"/>
          <p:cNvSpPr txBox="1"/>
          <p:nvPr/>
        </p:nvSpPr>
        <p:spPr>
          <a:xfrm>
            <a:off x="55075" y="464333"/>
            <a:ext cx="43920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Force Agents to use Skills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 - AI agents like Claude Code and Cursor ignoring custom "skills" or rules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 1 - Use an agents.md file - agents read it automatically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 2 - add instructions in your persistent context file telling the agent exactly when and how to trigger specific skills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 3 - use "Compressed Reference" in your agents.md file. This acts as a map for the LLM to find detailed docs stored within your project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 4 - use levels to avoid context bloat. Embed primary rules directly via the index, then use pointers for secondary skills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 5 - use proactive prompting to force-trigger skills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https://www.youtube.com/watch?v=Hy_XOB83MQc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3"/>
          <p:cNvSpPr txBox="1"/>
          <p:nvPr/>
        </p:nvSpPr>
        <p:spPr>
          <a:xfrm>
            <a:off x="55075" y="2969133"/>
            <a:ext cx="43920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works with Health Data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recently acquired Torch, a 4-person startup, for $100 Mln to solve the problem of fragmented medical records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platform integrates with providers like Apple Health and Peloton to offer personalized health guidance, help interpret test results, and prepare users for doctor visits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was developed alongside 260 physicians and uses "HealthBench" to prioritize clinical standards over simple accuracy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Iit does not provide diagnoses, but it acts as a 24/7 medical assistant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- waiting list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4"/>
          <p:cNvSpPr txBox="1"/>
          <p:nvPr/>
        </p:nvSpPr>
        <p:spPr>
          <a:xfrm>
            <a:off x="55075" y="43025"/>
            <a:ext cx="446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SAS Stocks Going Down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4"/>
          <p:cNvSpPr txBox="1"/>
          <p:nvPr/>
        </p:nvSpPr>
        <p:spPr>
          <a:xfrm>
            <a:off x="4600868" y="207893"/>
            <a:ext cx="4465200" cy="4759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 January 29, 2026, SaaS stocks experienced a sharp selloff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primarily triggered by Microsoft's disappointing earnings report (high AI infrastructure spending and a slowdown in cloud growth), causing its stock to drop 10%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selloff was compounded by growing fears about AI disruption to traditional SaaS business models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Additionally, JPMorgan issued warnings that AI technology advancements could pose significant challenges for SaaS firms providing subscription-based services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SaaS sector experienced catastrophic losses of $830 Bln in market value between Jan 28 and early February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Software companies lost $300 Bln in a single day on Feb 3rd following the Anthropic announcement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a seven-day period ending February 4, approximately $1 Trillion in market value was erased from global software and services stocks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S&amp;P North American Software Index fell 15 percent in January alone—its worst monthly performance since October 2008.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are some specific examples of SaaS companies losses: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Atlassian -54% over the last year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HubSpot -69% over the last 12 months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ServiceNow -42% over the last year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Salesforce -43% percent over the last 12 months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DocuSign -39% over the last year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Adobe -36% over the last 12 months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Figma -82% from its highs (-31% in January alone)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SAP -30% recently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Workday -27% over the last year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Oracle -50%from its September highs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4"/>
          <p:cNvSpPr txBox="1"/>
          <p:nvPr/>
        </p:nvSpPr>
        <p:spPr>
          <a:xfrm>
            <a:off x="55075" y="564150"/>
            <a:ext cx="44652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SAS stocks going down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SAS = Software as a Service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AI tools demonstrate that "vibe coding" is now capable of replacing expensive, specialized enterprise services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- Claude Co-work and its specialized starter plugins, such as a legal review tool that identifies contract risks.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Startups can now build products at near-zero cost, although "vibe coding" can lead to massive technical debt and security vulnerabilities if not managed properly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Despite these risks, the increasing accessibility of AI agents suggests a long-term devaluation of traditional software companies as individuals gain the power to "conjure" custom software for their specific needs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https://www.youtube.com/watch?v=GKOEZSiXVLo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1" name="Google Shape;301;p3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2575" y="3296850"/>
            <a:ext cx="2672400" cy="1670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5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5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5"/>
          <p:cNvSpPr txBox="1"/>
          <p:nvPr/>
        </p:nvSpPr>
        <p:spPr>
          <a:xfrm>
            <a:off x="5549900" y="375077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25K 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February 6,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5"/>
          <p:cNvSpPr txBox="1"/>
          <p:nvPr/>
        </p:nvSpPr>
        <p:spPr>
          <a:xfrm>
            <a:off x="5549900" y="518450"/>
            <a:ext cx="3558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28,825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(779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7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0" name="Google Shape;310;p3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183" y="3150994"/>
            <a:ext cx="5198610" cy="19706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11" name="Google Shape;311;p3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175" y="453138"/>
            <a:ext cx="5198627" cy="26670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6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6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36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36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6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36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7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4491</Words>
  <Application>Microsoft Macintosh PowerPoint</Application>
  <PresentationFormat>On-screen Show (16:9)</PresentationFormat>
  <Paragraphs>494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Roboto Mono</vt:lpstr>
      <vt:lpstr>Roboto</vt:lpstr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2026-02-06T17:02:12Z</dcterms:modified>
</cp:coreProperties>
</file>