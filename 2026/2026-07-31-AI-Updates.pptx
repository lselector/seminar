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1" r:id="rId1"/>
  </p:sldMasterIdLst>
  <p:notesMasterIdLst>
    <p:notesMasterId r:id="rId3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sldSz cx="9144000" cy="5143500" type="screen16x9"/>
  <p:notesSz cx="6858000" cy="9144000"/>
  <p:embeddedFontLst>
    <p:embeddedFont>
      <p:font typeface="Roboto Mono" pitchFamily="49" charset="0"/>
      <p:regular r:id="rId37"/>
      <p:bold r:id="rId38"/>
      <p:italic r:id="rId39"/>
      <p:boldItalic r:id="rId40"/>
    </p:embeddedFont>
    <p:embeddedFont>
      <p:font typeface="Victor Mono" panose="02000009000000000000" pitchFamily="49" charset="0"/>
      <p:regular r:id="rId41"/>
      <p:bold r:id="rId42"/>
      <p:italic r:id="rId43"/>
      <p:boldItalic r:id="rId44"/>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BAF42615-4C54-4AD7-865E-22C827488C07}">
  <a:tblStyle styleId="{BAF42615-4C54-4AD7-865E-22C827488C07}"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667"/>
  </p:normalViewPr>
  <p:slideViewPr>
    <p:cSldViewPr>
      <p:cViewPr varScale="1">
        <p:scale>
          <a:sx n="124" d="100"/>
          <a:sy n="124" d="100"/>
        </p:scale>
        <p:origin x="576"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font" Target="fonts/font3.fntdata"/><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font" Target="fonts/font6.fntdata"/><Relationship Id="rId47"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font" Target="fonts/font1.fntdata"/><Relationship Id="rId40" Type="http://schemas.openxmlformats.org/officeDocument/2006/relationships/font" Target="fonts/font4.fntdata"/><Relationship Id="rId45"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font" Target="fonts/font8.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font" Target="fonts/font7.fntdata"/><Relationship Id="rId48" Type="http://schemas.openxmlformats.org/officeDocument/2006/relationships/tableStyles" Target="tableStyle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font" Target="fonts/font2.fntdata"/><Relationship Id="rId46" Type="http://schemas.openxmlformats.org/officeDocument/2006/relationships/viewProps" Target="viewProps.xml"/><Relationship Id="rId20" Type="http://schemas.openxmlformats.org/officeDocument/2006/relationships/slide" Target="slides/slide19.xml"/><Relationship Id="rId41" Type="http://schemas.openxmlformats.org/officeDocument/2006/relationships/font" Target="fonts/font5.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9"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marR="0" lvl="0"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1pPr>
            <a:lvl2pPr marL="914400" marR="0" lvl="1"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2pPr>
            <a:lvl3pPr marL="1371600" marR="0" lvl="2"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3pPr>
            <a:lvl4pPr marL="1828800" marR="0" lvl="3"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4pPr>
            <a:lvl5pPr marL="2286000" marR="0" lvl="4"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5pPr>
            <a:lvl6pPr marL="2743200" marR="0" lvl="5"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6pPr>
            <a:lvl7pPr marL="3200400" marR="0" lvl="6"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7pPr>
            <a:lvl8pPr marL="3657600" marR="0" lvl="7"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8pPr>
            <a:lvl9pPr marL="4114800" marR="0" lvl="8"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9"/>
        <p:cNvGrpSpPr/>
        <p:nvPr/>
      </p:nvGrpSpPr>
      <p:grpSpPr>
        <a:xfrm>
          <a:off x="0" y="0"/>
          <a:ext cx="0" cy="0"/>
          <a:chOff x="0" y="0"/>
          <a:chExt cx="0" cy="0"/>
        </a:xfrm>
      </p:grpSpPr>
      <p:sp>
        <p:nvSpPr>
          <p:cNvPr id="60" name="Google Shape;60;g3633c15ed82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61" name="Google Shape;61;g3633c15ed82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9"/>
        <p:cNvGrpSpPr/>
        <p:nvPr/>
      </p:nvGrpSpPr>
      <p:grpSpPr>
        <a:xfrm>
          <a:off x="0" y="0"/>
          <a:ext cx="0" cy="0"/>
          <a:chOff x="0" y="0"/>
          <a:chExt cx="0" cy="0"/>
        </a:xfrm>
      </p:grpSpPr>
      <p:sp>
        <p:nvSpPr>
          <p:cNvPr id="70" name="Google Shape;70;g3f579bdb6fa_0_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71" name="Google Shape;71;g3f579bdb6fa_0_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2"/>
        <p:cNvGrpSpPr/>
        <p:nvPr/>
      </p:nvGrpSpPr>
      <p:grpSpPr>
        <a:xfrm>
          <a:off x="0" y="0"/>
          <a:ext cx="0" cy="0"/>
          <a:chOff x="0" y="0"/>
          <a:chExt cx="0" cy="0"/>
        </a:xfrm>
      </p:grpSpPr>
      <p:sp>
        <p:nvSpPr>
          <p:cNvPr id="83" name="Google Shape;83;g3f579bdb6fa_0_73: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84" name="Google Shape;84;g3f579bdb6fa_0_7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5"/>
        <p:cNvGrpSpPr/>
        <p:nvPr/>
      </p:nvGrpSpPr>
      <p:grpSpPr>
        <a:xfrm>
          <a:off x="0" y="0"/>
          <a:ext cx="0" cy="0"/>
          <a:chOff x="0" y="0"/>
          <a:chExt cx="0" cy="0"/>
        </a:xfrm>
      </p:grpSpPr>
      <p:sp>
        <p:nvSpPr>
          <p:cNvPr id="96" name="Google Shape;96;g3f360dcafd5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7" name="Google Shape;97;g3f360dcafd5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6"/>
        <p:cNvGrpSpPr/>
        <p:nvPr/>
      </p:nvGrpSpPr>
      <p:grpSpPr>
        <a:xfrm>
          <a:off x="0" y="0"/>
          <a:ext cx="0" cy="0"/>
          <a:chOff x="0" y="0"/>
          <a:chExt cx="0" cy="0"/>
        </a:xfrm>
      </p:grpSpPr>
      <p:sp>
        <p:nvSpPr>
          <p:cNvPr id="107" name="Google Shape;107;g3f60516bde9_1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08" name="Google Shape;108;g3f60516bde9_1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p:cNvGrpSpPr/>
        <p:nvPr/>
      </p:nvGrpSpPr>
      <p:grpSpPr>
        <a:xfrm>
          <a:off x="0" y="0"/>
          <a:ext cx="0" cy="0"/>
          <a:chOff x="0" y="0"/>
          <a:chExt cx="0" cy="0"/>
        </a:xfrm>
      </p:grpSpPr>
      <p:sp>
        <p:nvSpPr>
          <p:cNvPr id="115" name="Google Shape;115;g3f6103654e3_0_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16" name="Google Shape;116;g3f6103654e3_0_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1"/>
        <p:cNvGrpSpPr/>
        <p:nvPr/>
      </p:nvGrpSpPr>
      <p:grpSpPr>
        <a:xfrm>
          <a:off x="0" y="0"/>
          <a:ext cx="0" cy="0"/>
          <a:chOff x="0" y="0"/>
          <a:chExt cx="0" cy="0"/>
        </a:xfrm>
      </p:grpSpPr>
      <p:sp>
        <p:nvSpPr>
          <p:cNvPr id="122" name="Google Shape;122;g3f5cde39f6c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23" name="Google Shape;123;g3f5cde39f6c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g3f3cb0c167f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33" name="Google Shape;133;g3f3cb0c167f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9"/>
        <p:cNvGrpSpPr/>
        <p:nvPr/>
      </p:nvGrpSpPr>
      <p:grpSpPr>
        <a:xfrm>
          <a:off x="0" y="0"/>
          <a:ext cx="0" cy="0"/>
          <a:chOff x="0" y="0"/>
          <a:chExt cx="0" cy="0"/>
        </a:xfrm>
      </p:grpSpPr>
      <p:sp>
        <p:nvSpPr>
          <p:cNvPr id="140" name="Google Shape;140;g3f53f467686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41" name="Google Shape;141;g3f53f467686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5"/>
        <p:cNvGrpSpPr/>
        <p:nvPr/>
      </p:nvGrpSpPr>
      <p:grpSpPr>
        <a:xfrm>
          <a:off x="0" y="0"/>
          <a:ext cx="0" cy="0"/>
          <a:chOff x="0" y="0"/>
          <a:chExt cx="0" cy="0"/>
        </a:xfrm>
      </p:grpSpPr>
      <p:sp>
        <p:nvSpPr>
          <p:cNvPr id="146" name="Google Shape;146;g3f3c67959d1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47" name="Google Shape;147;g3f3c67959d1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2"/>
        <p:cNvGrpSpPr/>
        <p:nvPr/>
      </p:nvGrpSpPr>
      <p:grpSpPr>
        <a:xfrm>
          <a:off x="0" y="0"/>
          <a:ext cx="0" cy="0"/>
          <a:chOff x="0" y="0"/>
          <a:chExt cx="0" cy="0"/>
        </a:xfrm>
      </p:grpSpPr>
      <p:sp>
        <p:nvSpPr>
          <p:cNvPr id="153" name="Google Shape;153;g3f59b143daf_0_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54" name="Google Shape;154;g3f59b143daf_0_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4"/>
        <p:cNvGrpSpPr/>
        <p:nvPr/>
      </p:nvGrpSpPr>
      <p:grpSpPr>
        <a:xfrm>
          <a:off x="0" y="0"/>
          <a:ext cx="0" cy="0"/>
          <a:chOff x="0" y="0"/>
          <a:chExt cx="0" cy="0"/>
        </a:xfrm>
      </p:grpSpPr>
      <p:sp>
        <p:nvSpPr>
          <p:cNvPr id="165" name="Google Shape;165;g3f5ed87b1ef_1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66" name="Google Shape;166;g3f5ed87b1ef_1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2"/>
        <p:cNvGrpSpPr/>
        <p:nvPr/>
      </p:nvGrpSpPr>
      <p:grpSpPr>
        <a:xfrm>
          <a:off x="0" y="0"/>
          <a:ext cx="0" cy="0"/>
          <a:chOff x="0" y="0"/>
          <a:chExt cx="0" cy="0"/>
        </a:xfrm>
      </p:grpSpPr>
      <p:sp>
        <p:nvSpPr>
          <p:cNvPr id="173" name="Google Shape;173;g3f5c1230eec_0_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4" name="Google Shape;174;g3f5c1230eec_0_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9"/>
        <p:cNvGrpSpPr/>
        <p:nvPr/>
      </p:nvGrpSpPr>
      <p:grpSpPr>
        <a:xfrm>
          <a:off x="0" y="0"/>
          <a:ext cx="0" cy="0"/>
          <a:chOff x="0" y="0"/>
          <a:chExt cx="0" cy="0"/>
        </a:xfrm>
      </p:grpSpPr>
      <p:sp>
        <p:nvSpPr>
          <p:cNvPr id="180" name="Google Shape;180;g3f5adf4f040_2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1" name="Google Shape;181;g3f5adf4f040_2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0"/>
        <p:cNvGrpSpPr/>
        <p:nvPr/>
      </p:nvGrpSpPr>
      <p:grpSpPr>
        <a:xfrm>
          <a:off x="0" y="0"/>
          <a:ext cx="0" cy="0"/>
          <a:chOff x="0" y="0"/>
          <a:chExt cx="0" cy="0"/>
        </a:xfrm>
      </p:grpSpPr>
      <p:sp>
        <p:nvSpPr>
          <p:cNvPr id="191" name="Google Shape;191;g3f5adf4f040_4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92" name="Google Shape;192;g3f5adf4f040_4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9"/>
        <p:cNvGrpSpPr/>
        <p:nvPr/>
      </p:nvGrpSpPr>
      <p:grpSpPr>
        <a:xfrm>
          <a:off x="0" y="0"/>
          <a:ext cx="0" cy="0"/>
          <a:chOff x="0" y="0"/>
          <a:chExt cx="0" cy="0"/>
        </a:xfrm>
      </p:grpSpPr>
      <p:sp>
        <p:nvSpPr>
          <p:cNvPr id="200" name="Google Shape;200;g3f5cde39f6c_0_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01" name="Google Shape;201;g3f5cde39f6c_0_2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1"/>
        <p:cNvGrpSpPr/>
        <p:nvPr/>
      </p:nvGrpSpPr>
      <p:grpSpPr>
        <a:xfrm>
          <a:off x="0" y="0"/>
          <a:ext cx="0" cy="0"/>
          <a:chOff x="0" y="0"/>
          <a:chExt cx="0" cy="0"/>
        </a:xfrm>
      </p:grpSpPr>
      <p:sp>
        <p:nvSpPr>
          <p:cNvPr id="212" name="Google Shape;212;g3f3c67959d1_0_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13" name="Google Shape;213;g3f3c67959d1_0_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9"/>
        <p:cNvGrpSpPr/>
        <p:nvPr/>
      </p:nvGrpSpPr>
      <p:grpSpPr>
        <a:xfrm>
          <a:off x="0" y="0"/>
          <a:ext cx="0" cy="0"/>
          <a:chOff x="0" y="0"/>
          <a:chExt cx="0" cy="0"/>
        </a:xfrm>
      </p:grpSpPr>
      <p:sp>
        <p:nvSpPr>
          <p:cNvPr id="220" name="Google Shape;220;g3f5ba72ce1f_1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21" name="Google Shape;221;g3f5ba72ce1f_1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8"/>
        <p:cNvGrpSpPr/>
        <p:nvPr/>
      </p:nvGrpSpPr>
      <p:grpSpPr>
        <a:xfrm>
          <a:off x="0" y="0"/>
          <a:ext cx="0" cy="0"/>
          <a:chOff x="0" y="0"/>
          <a:chExt cx="0" cy="0"/>
        </a:xfrm>
      </p:grpSpPr>
      <p:sp>
        <p:nvSpPr>
          <p:cNvPr id="229" name="Google Shape;229;g3f5ba72ce1f_1_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30" name="Google Shape;230;g3f5ba72ce1f_1_1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6"/>
        <p:cNvGrpSpPr/>
        <p:nvPr/>
      </p:nvGrpSpPr>
      <p:grpSpPr>
        <a:xfrm>
          <a:off x="0" y="0"/>
          <a:ext cx="0" cy="0"/>
          <a:chOff x="0" y="0"/>
          <a:chExt cx="0" cy="0"/>
        </a:xfrm>
      </p:grpSpPr>
      <p:sp>
        <p:nvSpPr>
          <p:cNvPr id="237" name="Google Shape;237;g79b5ee6427164b7b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38" name="Google Shape;238;g79b5ee6427164b7b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6"/>
        <p:cNvGrpSpPr/>
        <p:nvPr/>
      </p:nvGrpSpPr>
      <p:grpSpPr>
        <a:xfrm>
          <a:off x="0" y="0"/>
          <a:ext cx="0" cy="0"/>
          <a:chOff x="0" y="0"/>
          <a:chExt cx="0" cy="0"/>
        </a:xfrm>
      </p:grpSpPr>
      <p:sp>
        <p:nvSpPr>
          <p:cNvPr id="247" name="Google Shape;247;g3f5c1230eec_0_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48" name="Google Shape;248;g3f5c1230eec_0_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5"/>
        <p:cNvGrpSpPr/>
        <p:nvPr/>
      </p:nvGrpSpPr>
      <p:grpSpPr>
        <a:xfrm>
          <a:off x="0" y="0"/>
          <a:ext cx="0" cy="0"/>
          <a:chOff x="0" y="0"/>
          <a:chExt cx="0" cy="0"/>
        </a:xfrm>
      </p:grpSpPr>
      <p:sp>
        <p:nvSpPr>
          <p:cNvPr id="256" name="Google Shape;256;g3f5ec4acd51_1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57" name="Google Shape;257;g3f5ec4acd51_1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4"/>
        <p:cNvGrpSpPr/>
        <p:nvPr/>
      </p:nvGrpSpPr>
      <p:grpSpPr>
        <a:xfrm>
          <a:off x="0" y="0"/>
          <a:ext cx="0" cy="0"/>
          <a:chOff x="0" y="0"/>
          <a:chExt cx="0" cy="0"/>
        </a:xfrm>
      </p:grpSpPr>
      <p:sp>
        <p:nvSpPr>
          <p:cNvPr id="265" name="Google Shape;265;g3f5a6710861_1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66" name="Google Shape;266;g3f5a6710861_1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3"/>
        <p:cNvGrpSpPr/>
        <p:nvPr/>
      </p:nvGrpSpPr>
      <p:grpSpPr>
        <a:xfrm>
          <a:off x="0" y="0"/>
          <a:ext cx="0" cy="0"/>
          <a:chOff x="0" y="0"/>
          <a:chExt cx="0" cy="0"/>
        </a:xfrm>
      </p:grpSpPr>
      <p:sp>
        <p:nvSpPr>
          <p:cNvPr id="274" name="Google Shape;274;g3f59b143daf_1_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75" name="Google Shape;275;g3f59b143daf_1_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1"/>
        <p:cNvGrpSpPr/>
        <p:nvPr/>
      </p:nvGrpSpPr>
      <p:grpSpPr>
        <a:xfrm>
          <a:off x="0" y="0"/>
          <a:ext cx="0" cy="0"/>
          <a:chOff x="0" y="0"/>
          <a:chExt cx="0" cy="0"/>
        </a:xfrm>
      </p:grpSpPr>
      <p:sp>
        <p:nvSpPr>
          <p:cNvPr id="282" name="Google Shape;282;g3f5cde39f6c_0_1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83" name="Google Shape;283;g3f5cde39f6c_0_1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4"/>
        <p:cNvGrpSpPr/>
        <p:nvPr/>
      </p:nvGrpSpPr>
      <p:grpSpPr>
        <a:xfrm>
          <a:off x="0" y="0"/>
          <a:ext cx="0" cy="0"/>
          <a:chOff x="0" y="0"/>
          <a:chExt cx="0" cy="0"/>
        </a:xfrm>
      </p:grpSpPr>
      <p:sp>
        <p:nvSpPr>
          <p:cNvPr id="295" name="Google Shape;295;g3f5e1f1a1f6_1_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96" name="Google Shape;296;g3f5e1f1a1f6_1_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3"/>
        <p:cNvGrpSpPr/>
        <p:nvPr/>
      </p:nvGrpSpPr>
      <p:grpSpPr>
        <a:xfrm>
          <a:off x="0" y="0"/>
          <a:ext cx="0" cy="0"/>
          <a:chOff x="0" y="0"/>
          <a:chExt cx="0" cy="0"/>
        </a:xfrm>
      </p:grpSpPr>
      <p:sp>
        <p:nvSpPr>
          <p:cNvPr id="304" name="Google Shape;304;g3f5da328336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05" name="Google Shape;305;g3f5da328336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2"/>
        <p:cNvGrpSpPr/>
        <p:nvPr/>
      </p:nvGrpSpPr>
      <p:grpSpPr>
        <a:xfrm>
          <a:off x="0" y="0"/>
          <a:ext cx="0" cy="0"/>
          <a:chOff x="0" y="0"/>
          <a:chExt cx="0" cy="0"/>
        </a:xfrm>
      </p:grpSpPr>
      <p:sp>
        <p:nvSpPr>
          <p:cNvPr id="313" name="Google Shape;313;g3f3cd8f8a7c_0_1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14" name="Google Shape;314;g3f3cd8f8a7c_0_1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3"/>
        <p:cNvGrpSpPr/>
        <p:nvPr/>
      </p:nvGrpSpPr>
      <p:grpSpPr>
        <a:xfrm>
          <a:off x="0" y="0"/>
          <a:ext cx="0" cy="0"/>
          <a:chOff x="0" y="0"/>
          <a:chExt cx="0" cy="0"/>
        </a:xfrm>
      </p:grpSpPr>
      <p:sp>
        <p:nvSpPr>
          <p:cNvPr id="324" name="Google Shape;324;g3f3cd8f8a7c_0_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25" name="Google Shape;325;g3f3cd8f8a7c_0_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2"/>
        <p:cNvGrpSpPr/>
        <p:nvPr/>
      </p:nvGrpSpPr>
      <p:grpSpPr>
        <a:xfrm>
          <a:off x="0" y="0"/>
          <a:ext cx="0" cy="0"/>
          <a:chOff x="0" y="0"/>
          <a:chExt cx="0" cy="0"/>
        </a:xfrm>
      </p:grpSpPr>
      <p:sp>
        <p:nvSpPr>
          <p:cNvPr id="333" name="Google Shape;333;g3f59b143daf_0_1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34" name="Google Shape;334;g3f59b143daf_0_1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1"/>
        <p:cNvGrpSpPr/>
        <p:nvPr/>
      </p:nvGrpSpPr>
      <p:grpSpPr>
        <a:xfrm>
          <a:off x="0" y="0"/>
          <a:ext cx="0" cy="0"/>
          <a:chOff x="0" y="0"/>
          <a:chExt cx="0" cy="0"/>
        </a:xfrm>
      </p:grpSpPr>
      <p:sp>
        <p:nvSpPr>
          <p:cNvPr id="342" name="Google Shape;342;g3f5af1f710a_1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43" name="Google Shape;343;g3f5af1f710a_1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8"/>
        <p:cNvGrpSpPr/>
        <p:nvPr/>
      </p:nvGrpSpPr>
      <p:grpSpPr>
        <a:xfrm>
          <a:off x="0" y="0"/>
          <a:ext cx="0" cy="0"/>
          <a:chOff x="0" y="0"/>
          <a:chExt cx="0" cy="0"/>
        </a:xfrm>
      </p:grpSpPr>
      <p:sp>
        <p:nvSpPr>
          <p:cNvPr id="349" name="Google Shape;349;g3f579bdb6fa_0_13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50" name="Google Shape;350;g3f579bdb6fa_0_13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8"/>
        <p:cNvGrpSpPr/>
        <p:nvPr/>
      </p:nvGrpSpPr>
      <p:grpSpPr>
        <a:xfrm>
          <a:off x="0" y="0"/>
          <a:ext cx="0" cy="0"/>
          <a:chOff x="0" y="0"/>
          <a:chExt cx="0" cy="0"/>
        </a:xfrm>
      </p:grpSpPr>
      <p:sp>
        <p:nvSpPr>
          <p:cNvPr id="359" name="Google Shape;359;g3d971967e09_0_2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60" name="Google Shape;360;g3d971967e09_0_2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8"/>
        <p:cNvGrpSpPr/>
        <p:nvPr/>
      </p:nvGrpSpPr>
      <p:grpSpPr>
        <a:xfrm>
          <a:off x="0" y="0"/>
          <a:ext cx="0" cy="0"/>
          <a:chOff x="0" y="0"/>
          <a:chExt cx="0" cy="0"/>
        </a:xfrm>
      </p:grpSpPr>
      <p:sp>
        <p:nvSpPr>
          <p:cNvPr id="369" name="Google Shape;369;g3d971967e09_0_3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70" name="Google Shape;370;g3d971967e09_0_3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744575"/>
            <a:ext cx="8520600" cy="20526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5200"/>
              <a:buNone/>
              <a:defRPr sz="5200"/>
            </a:lvl1pPr>
            <a:lvl2pPr lvl="1" algn="ctr">
              <a:lnSpc>
                <a:spcPct val="100000"/>
              </a:lnSpc>
              <a:spcBef>
                <a:spcPts val="0"/>
              </a:spcBef>
              <a:spcAft>
                <a:spcPts val="0"/>
              </a:spcAft>
              <a:buSzPts val="5200"/>
              <a:buNone/>
              <a:defRPr sz="5200"/>
            </a:lvl2pPr>
            <a:lvl3pPr lvl="2" algn="ctr">
              <a:lnSpc>
                <a:spcPct val="100000"/>
              </a:lnSpc>
              <a:spcBef>
                <a:spcPts val="0"/>
              </a:spcBef>
              <a:spcAft>
                <a:spcPts val="0"/>
              </a:spcAft>
              <a:buSzPts val="5200"/>
              <a:buNone/>
              <a:defRPr sz="5200"/>
            </a:lvl3pPr>
            <a:lvl4pPr lvl="3" algn="ctr">
              <a:lnSpc>
                <a:spcPct val="100000"/>
              </a:lnSpc>
              <a:spcBef>
                <a:spcPts val="0"/>
              </a:spcBef>
              <a:spcAft>
                <a:spcPts val="0"/>
              </a:spcAft>
              <a:buSzPts val="5200"/>
              <a:buNone/>
              <a:defRPr sz="5200"/>
            </a:lvl4pPr>
            <a:lvl5pPr lvl="4" algn="ctr">
              <a:lnSpc>
                <a:spcPct val="100000"/>
              </a:lnSpc>
              <a:spcBef>
                <a:spcPts val="0"/>
              </a:spcBef>
              <a:spcAft>
                <a:spcPts val="0"/>
              </a:spcAft>
              <a:buSzPts val="5200"/>
              <a:buNone/>
              <a:defRPr sz="5200"/>
            </a:lvl5pPr>
            <a:lvl6pPr lvl="5" algn="ctr">
              <a:lnSpc>
                <a:spcPct val="100000"/>
              </a:lnSpc>
              <a:spcBef>
                <a:spcPts val="0"/>
              </a:spcBef>
              <a:spcAft>
                <a:spcPts val="0"/>
              </a:spcAft>
              <a:buSzPts val="5200"/>
              <a:buNone/>
              <a:defRPr sz="5200"/>
            </a:lvl6pPr>
            <a:lvl7pPr lvl="6" algn="ctr">
              <a:lnSpc>
                <a:spcPct val="100000"/>
              </a:lnSpc>
              <a:spcBef>
                <a:spcPts val="0"/>
              </a:spcBef>
              <a:spcAft>
                <a:spcPts val="0"/>
              </a:spcAft>
              <a:buSzPts val="5200"/>
              <a:buNone/>
              <a:defRPr sz="5200"/>
            </a:lvl7pPr>
            <a:lvl8pPr lvl="7" algn="ctr">
              <a:lnSpc>
                <a:spcPct val="100000"/>
              </a:lnSpc>
              <a:spcBef>
                <a:spcPts val="0"/>
              </a:spcBef>
              <a:spcAft>
                <a:spcPts val="0"/>
              </a:spcAft>
              <a:buSzPts val="5200"/>
              <a:buNone/>
              <a:defRPr sz="5200"/>
            </a:lvl8pPr>
            <a:lvl9pPr lvl="8" algn="ctr">
              <a:lnSpc>
                <a:spcPct val="100000"/>
              </a:lnSpc>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311700" y="2834125"/>
            <a:ext cx="8520600" cy="792600"/>
          </a:xfrm>
          <a:prstGeom prst="rect">
            <a:avLst/>
          </a:prstGeom>
          <a:noFill/>
          <a:ln>
            <a:noFill/>
          </a:ln>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2" name="Google Shape;12;p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311700" y="2150850"/>
            <a:ext cx="8520600" cy="841800"/>
          </a:xfrm>
          <a:prstGeom prst="rect">
            <a:avLst/>
          </a:prstGeom>
          <a:noFill/>
          <a:ln>
            <a:noFill/>
          </a:ln>
        </p:spPr>
        <p:txBody>
          <a:bodyPr spcFirstLastPara="1" wrap="square" lIns="91425" tIns="91425" rIns="91425" bIns="91425" anchor="ctr" anchorCtr="0">
            <a:normAutofit/>
          </a:bodyPr>
          <a:lstStyle>
            <a:lvl1pPr lvl="0" algn="ctr">
              <a:lnSpc>
                <a:spcPct val="100000"/>
              </a:lnSpc>
              <a:spcBef>
                <a:spcPts val="0"/>
              </a:spcBef>
              <a:spcAft>
                <a:spcPts val="0"/>
              </a:spcAft>
              <a:buSzPts val="3600"/>
              <a:buNone/>
              <a:defRPr sz="3600"/>
            </a:lvl1pPr>
            <a:lvl2pPr lvl="1" algn="ctr">
              <a:lnSpc>
                <a:spcPct val="100000"/>
              </a:lnSpc>
              <a:spcBef>
                <a:spcPts val="0"/>
              </a:spcBef>
              <a:spcAft>
                <a:spcPts val="0"/>
              </a:spcAft>
              <a:buSzPts val="3600"/>
              <a:buNone/>
              <a:defRPr sz="3600"/>
            </a:lvl2pPr>
            <a:lvl3pPr lvl="2" algn="ctr">
              <a:lnSpc>
                <a:spcPct val="100000"/>
              </a:lnSpc>
              <a:spcBef>
                <a:spcPts val="0"/>
              </a:spcBef>
              <a:spcAft>
                <a:spcPts val="0"/>
              </a:spcAft>
              <a:buSzPts val="3600"/>
              <a:buNone/>
              <a:defRPr sz="3600"/>
            </a:lvl3pPr>
            <a:lvl4pPr lvl="3" algn="ctr">
              <a:lnSpc>
                <a:spcPct val="100000"/>
              </a:lnSpc>
              <a:spcBef>
                <a:spcPts val="0"/>
              </a:spcBef>
              <a:spcAft>
                <a:spcPts val="0"/>
              </a:spcAft>
              <a:buSzPts val="3600"/>
              <a:buNone/>
              <a:defRPr sz="3600"/>
            </a:lvl4pPr>
            <a:lvl5pPr lvl="4" algn="ctr">
              <a:lnSpc>
                <a:spcPct val="100000"/>
              </a:lnSpc>
              <a:spcBef>
                <a:spcPts val="0"/>
              </a:spcBef>
              <a:spcAft>
                <a:spcPts val="0"/>
              </a:spcAft>
              <a:buSzPts val="3600"/>
              <a:buNone/>
              <a:defRPr sz="3600"/>
            </a:lvl5pPr>
            <a:lvl6pPr lvl="5" algn="ctr">
              <a:lnSpc>
                <a:spcPct val="100000"/>
              </a:lnSpc>
              <a:spcBef>
                <a:spcPts val="0"/>
              </a:spcBef>
              <a:spcAft>
                <a:spcPts val="0"/>
              </a:spcAft>
              <a:buSzPts val="3600"/>
              <a:buNone/>
              <a:defRPr sz="3600"/>
            </a:lvl6pPr>
            <a:lvl7pPr lvl="6" algn="ctr">
              <a:lnSpc>
                <a:spcPct val="100000"/>
              </a:lnSpc>
              <a:spcBef>
                <a:spcPts val="0"/>
              </a:spcBef>
              <a:spcAft>
                <a:spcPts val="0"/>
              </a:spcAft>
              <a:buSzPts val="3600"/>
              <a:buNone/>
              <a:defRPr sz="3600"/>
            </a:lvl7pPr>
            <a:lvl8pPr lvl="7" algn="ctr">
              <a:lnSpc>
                <a:spcPct val="100000"/>
              </a:lnSpc>
              <a:spcBef>
                <a:spcPts val="0"/>
              </a:spcBef>
              <a:spcAft>
                <a:spcPts val="0"/>
              </a:spcAft>
              <a:buSzPts val="3600"/>
              <a:buNone/>
              <a:defRPr sz="3600"/>
            </a:lvl8pPr>
            <a:lvl9pPr lvl="8" algn="ctr">
              <a:lnSpc>
                <a:spcPct val="100000"/>
              </a:lnSpc>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gn="l">
              <a:lnSpc>
                <a:spcPct val="115000"/>
              </a:lnSpc>
              <a:spcBef>
                <a:spcPts val="0"/>
              </a:spcBef>
              <a:spcAft>
                <a:spcPts val="0"/>
              </a:spcAft>
              <a:buSzPts val="1800"/>
              <a:buChar char="●"/>
              <a:defRPr/>
            </a:lvl1pPr>
            <a:lvl2pPr marL="914400" lvl="1" indent="-317500" algn="l">
              <a:lnSpc>
                <a:spcPct val="115000"/>
              </a:lnSpc>
              <a:spcBef>
                <a:spcPts val="0"/>
              </a:spcBef>
              <a:spcAft>
                <a:spcPts val="0"/>
              </a:spcAft>
              <a:buSzPts val="1400"/>
              <a:buChar char="○"/>
              <a:defRPr/>
            </a:lvl2pPr>
            <a:lvl3pPr marL="1371600" lvl="2" indent="-317500" algn="l">
              <a:lnSpc>
                <a:spcPct val="115000"/>
              </a:lnSpc>
              <a:spcBef>
                <a:spcPts val="0"/>
              </a:spcBef>
              <a:spcAft>
                <a:spcPts val="0"/>
              </a:spcAft>
              <a:buSzPts val="1400"/>
              <a:buChar char="■"/>
              <a:defRPr/>
            </a:lvl3pPr>
            <a:lvl4pPr marL="1828800" lvl="3" indent="-317500" algn="l">
              <a:lnSpc>
                <a:spcPct val="115000"/>
              </a:lnSpc>
              <a:spcBef>
                <a:spcPts val="0"/>
              </a:spcBef>
              <a:spcAft>
                <a:spcPts val="0"/>
              </a:spcAft>
              <a:buSzPts val="1400"/>
              <a:buChar char="●"/>
              <a:defRPr/>
            </a:lvl4pPr>
            <a:lvl5pPr marL="2286000" lvl="4" indent="-317500" algn="l">
              <a:lnSpc>
                <a:spcPct val="115000"/>
              </a:lnSpc>
              <a:spcBef>
                <a:spcPts val="0"/>
              </a:spcBef>
              <a:spcAft>
                <a:spcPts val="0"/>
              </a:spcAft>
              <a:buSzPts val="1400"/>
              <a:buChar char="○"/>
              <a:defRPr/>
            </a:lvl5pPr>
            <a:lvl6pPr marL="2743200" lvl="5" indent="-317500" algn="l">
              <a:lnSpc>
                <a:spcPct val="115000"/>
              </a:lnSpc>
              <a:spcBef>
                <a:spcPts val="0"/>
              </a:spcBef>
              <a:spcAft>
                <a:spcPts val="0"/>
              </a:spcAft>
              <a:buSzPts val="1400"/>
              <a:buChar char="■"/>
              <a:defRPr/>
            </a:lvl6pPr>
            <a:lvl7pPr marL="3200400" lvl="6" indent="-317500" algn="l">
              <a:lnSpc>
                <a:spcPct val="115000"/>
              </a:lnSpc>
              <a:spcBef>
                <a:spcPts val="0"/>
              </a:spcBef>
              <a:spcAft>
                <a:spcPts val="0"/>
              </a:spcAft>
              <a:buSzPts val="1400"/>
              <a:buChar char="●"/>
              <a:defRPr/>
            </a:lvl7pPr>
            <a:lvl8pPr marL="3657600" lvl="7" indent="-317500" algn="l">
              <a:lnSpc>
                <a:spcPct val="115000"/>
              </a:lnSpc>
              <a:spcBef>
                <a:spcPts val="0"/>
              </a:spcBef>
              <a:spcAft>
                <a:spcPts val="0"/>
              </a:spcAft>
              <a:buSzPts val="1400"/>
              <a:buChar char="○"/>
              <a:defRPr/>
            </a:lvl8pPr>
            <a:lvl9pPr marL="4114800" lvl="8" indent="-317500" algn="l">
              <a:lnSpc>
                <a:spcPct val="115000"/>
              </a:lnSpc>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22" name="Google Shape;22;p5"/>
          <p:cNvSpPr txBox="1">
            <a:spLocks noGrp="1"/>
          </p:cNvSpPr>
          <p:nvPr>
            <p:ph type="body" idx="1"/>
          </p:nvPr>
        </p:nvSpPr>
        <p:spPr>
          <a:xfrm>
            <a:off x="311700" y="1152475"/>
            <a:ext cx="3999900" cy="3416400"/>
          </a:xfrm>
          <a:prstGeom prst="rect">
            <a:avLst/>
          </a:prstGeom>
          <a:noFill/>
          <a:ln>
            <a:noFill/>
          </a:ln>
        </p:spPr>
        <p:txBody>
          <a:bodyPr spcFirstLastPara="1" wrap="square" lIns="91425" tIns="91425" rIns="91425" bIns="91425" anchor="t" anchorCtr="0">
            <a:norm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23" name="Google Shape;23;p5"/>
          <p:cNvSpPr txBox="1">
            <a:spLocks noGrp="1"/>
          </p:cNvSpPr>
          <p:nvPr>
            <p:ph type="body" idx="2"/>
          </p:nvPr>
        </p:nvSpPr>
        <p:spPr>
          <a:xfrm>
            <a:off x="4832400" y="1152475"/>
            <a:ext cx="3999900" cy="3416400"/>
          </a:xfrm>
          <a:prstGeom prst="rect">
            <a:avLst/>
          </a:prstGeom>
          <a:noFill/>
          <a:ln>
            <a:noFill/>
          </a:ln>
        </p:spPr>
        <p:txBody>
          <a:bodyPr spcFirstLastPara="1" wrap="square" lIns="91425" tIns="91425" rIns="91425" bIns="91425" anchor="t" anchorCtr="0">
            <a:norm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24" name="Google Shape;24;p5"/>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27" name="Google Shape;27;p6"/>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311700" y="555600"/>
            <a:ext cx="2808000" cy="755700"/>
          </a:xfrm>
          <a:prstGeom prst="rect">
            <a:avLst/>
          </a:prstGeom>
          <a:noFill/>
          <a:ln>
            <a:noFill/>
          </a:ln>
        </p:spPr>
        <p:txBody>
          <a:bodyPr spcFirstLastPara="1" wrap="square" lIns="91425" tIns="91425" rIns="91425" bIns="91425" anchor="b" anchorCtr="0">
            <a:normAutofit/>
          </a:bodyPr>
          <a:lstStyle>
            <a:lvl1pPr lvl="0" algn="l">
              <a:lnSpc>
                <a:spcPct val="100000"/>
              </a:lnSpc>
              <a:spcBef>
                <a:spcPts val="0"/>
              </a:spcBef>
              <a:spcAft>
                <a:spcPts val="0"/>
              </a:spcAft>
              <a:buSzPts val="2400"/>
              <a:buNone/>
              <a:defRPr sz="2400"/>
            </a:lvl1pPr>
            <a:lvl2pPr lvl="1" algn="l">
              <a:lnSpc>
                <a:spcPct val="100000"/>
              </a:lnSpc>
              <a:spcBef>
                <a:spcPts val="0"/>
              </a:spcBef>
              <a:spcAft>
                <a:spcPts val="0"/>
              </a:spcAft>
              <a:buSzPts val="2400"/>
              <a:buNone/>
              <a:defRPr sz="2400"/>
            </a:lvl2pPr>
            <a:lvl3pPr lvl="2" algn="l">
              <a:lnSpc>
                <a:spcPct val="100000"/>
              </a:lnSpc>
              <a:spcBef>
                <a:spcPts val="0"/>
              </a:spcBef>
              <a:spcAft>
                <a:spcPts val="0"/>
              </a:spcAft>
              <a:buSzPts val="2400"/>
              <a:buNone/>
              <a:defRPr sz="2400"/>
            </a:lvl3pPr>
            <a:lvl4pPr lvl="3" algn="l">
              <a:lnSpc>
                <a:spcPct val="100000"/>
              </a:lnSpc>
              <a:spcBef>
                <a:spcPts val="0"/>
              </a:spcBef>
              <a:spcAft>
                <a:spcPts val="0"/>
              </a:spcAft>
              <a:buSzPts val="2400"/>
              <a:buNone/>
              <a:defRPr sz="2400"/>
            </a:lvl4pPr>
            <a:lvl5pPr lvl="4" algn="l">
              <a:lnSpc>
                <a:spcPct val="100000"/>
              </a:lnSpc>
              <a:spcBef>
                <a:spcPts val="0"/>
              </a:spcBef>
              <a:spcAft>
                <a:spcPts val="0"/>
              </a:spcAft>
              <a:buSzPts val="2400"/>
              <a:buNone/>
              <a:defRPr sz="2400"/>
            </a:lvl5pPr>
            <a:lvl6pPr lvl="5" algn="l">
              <a:lnSpc>
                <a:spcPct val="100000"/>
              </a:lnSpc>
              <a:spcBef>
                <a:spcPts val="0"/>
              </a:spcBef>
              <a:spcAft>
                <a:spcPts val="0"/>
              </a:spcAft>
              <a:buSzPts val="2400"/>
              <a:buNone/>
              <a:defRPr sz="2400"/>
            </a:lvl6pPr>
            <a:lvl7pPr lvl="6" algn="l">
              <a:lnSpc>
                <a:spcPct val="100000"/>
              </a:lnSpc>
              <a:spcBef>
                <a:spcPts val="0"/>
              </a:spcBef>
              <a:spcAft>
                <a:spcPts val="0"/>
              </a:spcAft>
              <a:buSzPts val="2400"/>
              <a:buNone/>
              <a:defRPr sz="2400"/>
            </a:lvl7pPr>
            <a:lvl8pPr lvl="7" algn="l">
              <a:lnSpc>
                <a:spcPct val="100000"/>
              </a:lnSpc>
              <a:spcBef>
                <a:spcPts val="0"/>
              </a:spcBef>
              <a:spcAft>
                <a:spcPts val="0"/>
              </a:spcAft>
              <a:buSzPts val="2400"/>
              <a:buNone/>
              <a:defRPr sz="2400"/>
            </a:lvl8pPr>
            <a:lvl9pPr lvl="8" algn="l">
              <a:lnSpc>
                <a:spcPct val="100000"/>
              </a:lnSpc>
              <a:spcBef>
                <a:spcPts val="0"/>
              </a:spcBef>
              <a:spcAft>
                <a:spcPts val="0"/>
              </a:spcAft>
              <a:buSzPts val="2400"/>
              <a:buNone/>
              <a:defRPr sz="2400"/>
            </a:lvl9pPr>
          </a:lstStyle>
          <a:p>
            <a:endParaRPr/>
          </a:p>
        </p:txBody>
      </p:sp>
      <p:sp>
        <p:nvSpPr>
          <p:cNvPr id="30" name="Google Shape;30;p7"/>
          <p:cNvSpPr txBox="1">
            <a:spLocks noGrp="1"/>
          </p:cNvSpPr>
          <p:nvPr>
            <p:ph type="body" idx="1"/>
          </p:nvPr>
        </p:nvSpPr>
        <p:spPr>
          <a:xfrm>
            <a:off x="311700" y="1389600"/>
            <a:ext cx="2808000" cy="3179400"/>
          </a:xfrm>
          <a:prstGeom prst="rect">
            <a:avLst/>
          </a:prstGeom>
          <a:noFill/>
          <a:ln>
            <a:noFill/>
          </a:ln>
        </p:spPr>
        <p:txBody>
          <a:bodyPr spcFirstLastPara="1" wrap="square" lIns="91425" tIns="91425" rIns="91425" bIns="91425" anchor="t" anchorCtr="0">
            <a:normAutofit/>
          </a:bodyPr>
          <a:lstStyle>
            <a:lvl1pPr marL="457200" lvl="0" indent="-304800" algn="l">
              <a:lnSpc>
                <a:spcPct val="115000"/>
              </a:lnSpc>
              <a:spcBef>
                <a:spcPts val="0"/>
              </a:spcBef>
              <a:spcAft>
                <a:spcPts val="0"/>
              </a:spcAft>
              <a:buSzPts val="1200"/>
              <a:buChar char="●"/>
              <a:defRPr sz="12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31" name="Google Shape;31;p7"/>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490250" y="450150"/>
            <a:ext cx="6367800" cy="4090800"/>
          </a:xfrm>
          <a:prstGeom prst="rect">
            <a:avLst/>
          </a:prstGeom>
          <a:noFill/>
          <a:ln>
            <a:noFill/>
          </a:ln>
        </p:spPr>
        <p:txBody>
          <a:bodyPr spcFirstLastPara="1" wrap="square" lIns="91425" tIns="91425" rIns="91425" bIns="91425" anchor="ctr" anchorCtr="0">
            <a:normAutofit/>
          </a:bodyPr>
          <a:lstStyle>
            <a:lvl1pPr lvl="0" algn="l">
              <a:lnSpc>
                <a:spcPct val="100000"/>
              </a:lnSpc>
              <a:spcBef>
                <a:spcPts val="0"/>
              </a:spcBef>
              <a:spcAft>
                <a:spcPts val="0"/>
              </a:spcAft>
              <a:buSzPts val="4800"/>
              <a:buNone/>
              <a:defRPr sz="4800"/>
            </a:lvl1pPr>
            <a:lvl2pPr lvl="1" algn="l">
              <a:lnSpc>
                <a:spcPct val="100000"/>
              </a:lnSpc>
              <a:spcBef>
                <a:spcPts val="0"/>
              </a:spcBef>
              <a:spcAft>
                <a:spcPts val="0"/>
              </a:spcAft>
              <a:buSzPts val="4800"/>
              <a:buNone/>
              <a:defRPr sz="4800"/>
            </a:lvl2pPr>
            <a:lvl3pPr lvl="2" algn="l">
              <a:lnSpc>
                <a:spcPct val="100000"/>
              </a:lnSpc>
              <a:spcBef>
                <a:spcPts val="0"/>
              </a:spcBef>
              <a:spcAft>
                <a:spcPts val="0"/>
              </a:spcAft>
              <a:buSzPts val="4800"/>
              <a:buNone/>
              <a:defRPr sz="4800"/>
            </a:lvl3pPr>
            <a:lvl4pPr lvl="3" algn="l">
              <a:lnSpc>
                <a:spcPct val="100000"/>
              </a:lnSpc>
              <a:spcBef>
                <a:spcPts val="0"/>
              </a:spcBef>
              <a:spcAft>
                <a:spcPts val="0"/>
              </a:spcAft>
              <a:buSzPts val="4800"/>
              <a:buNone/>
              <a:defRPr sz="4800"/>
            </a:lvl4pPr>
            <a:lvl5pPr lvl="4" algn="l">
              <a:lnSpc>
                <a:spcPct val="100000"/>
              </a:lnSpc>
              <a:spcBef>
                <a:spcPts val="0"/>
              </a:spcBef>
              <a:spcAft>
                <a:spcPts val="0"/>
              </a:spcAft>
              <a:buSzPts val="4800"/>
              <a:buNone/>
              <a:defRPr sz="4800"/>
            </a:lvl5pPr>
            <a:lvl6pPr lvl="5" algn="l">
              <a:lnSpc>
                <a:spcPct val="100000"/>
              </a:lnSpc>
              <a:spcBef>
                <a:spcPts val="0"/>
              </a:spcBef>
              <a:spcAft>
                <a:spcPts val="0"/>
              </a:spcAft>
              <a:buSzPts val="4800"/>
              <a:buNone/>
              <a:defRPr sz="4800"/>
            </a:lvl6pPr>
            <a:lvl7pPr lvl="6" algn="l">
              <a:lnSpc>
                <a:spcPct val="100000"/>
              </a:lnSpc>
              <a:spcBef>
                <a:spcPts val="0"/>
              </a:spcBef>
              <a:spcAft>
                <a:spcPts val="0"/>
              </a:spcAft>
              <a:buSzPts val="4800"/>
              <a:buNone/>
              <a:defRPr sz="4800"/>
            </a:lvl7pPr>
            <a:lvl8pPr lvl="7" algn="l">
              <a:lnSpc>
                <a:spcPct val="100000"/>
              </a:lnSpc>
              <a:spcBef>
                <a:spcPts val="0"/>
              </a:spcBef>
              <a:spcAft>
                <a:spcPts val="0"/>
              </a:spcAft>
              <a:buSzPts val="4800"/>
              <a:buNone/>
              <a:defRPr sz="4800"/>
            </a:lvl8pPr>
            <a:lvl9pPr lvl="8" algn="l">
              <a:lnSpc>
                <a:spcPct val="100000"/>
              </a:lnSpc>
              <a:spcBef>
                <a:spcPts val="0"/>
              </a:spcBef>
              <a:spcAft>
                <a:spcPts val="0"/>
              </a:spcAft>
              <a:buSzPts val="4800"/>
              <a:buNone/>
              <a:defRPr sz="4800"/>
            </a:lvl9pPr>
          </a:lstStyle>
          <a:p>
            <a:endParaRPr/>
          </a:p>
        </p:txBody>
      </p:sp>
      <p:sp>
        <p:nvSpPr>
          <p:cNvPr id="34" name="Google Shape;34;p8"/>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37" name="Google Shape;37;p9"/>
          <p:cNvSpPr txBox="1">
            <a:spLocks noGrp="1"/>
          </p:cNvSpPr>
          <p:nvPr>
            <p:ph type="title"/>
          </p:nvPr>
        </p:nvSpPr>
        <p:spPr>
          <a:xfrm>
            <a:off x="265500" y="1233175"/>
            <a:ext cx="4045200" cy="14823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4200"/>
              <a:buNone/>
              <a:defRPr sz="4200"/>
            </a:lvl1pPr>
            <a:lvl2pPr lvl="1" algn="ctr">
              <a:lnSpc>
                <a:spcPct val="100000"/>
              </a:lnSpc>
              <a:spcBef>
                <a:spcPts val="0"/>
              </a:spcBef>
              <a:spcAft>
                <a:spcPts val="0"/>
              </a:spcAft>
              <a:buSzPts val="4200"/>
              <a:buNone/>
              <a:defRPr sz="4200"/>
            </a:lvl2pPr>
            <a:lvl3pPr lvl="2" algn="ctr">
              <a:lnSpc>
                <a:spcPct val="100000"/>
              </a:lnSpc>
              <a:spcBef>
                <a:spcPts val="0"/>
              </a:spcBef>
              <a:spcAft>
                <a:spcPts val="0"/>
              </a:spcAft>
              <a:buSzPts val="4200"/>
              <a:buNone/>
              <a:defRPr sz="4200"/>
            </a:lvl3pPr>
            <a:lvl4pPr lvl="3" algn="ctr">
              <a:lnSpc>
                <a:spcPct val="100000"/>
              </a:lnSpc>
              <a:spcBef>
                <a:spcPts val="0"/>
              </a:spcBef>
              <a:spcAft>
                <a:spcPts val="0"/>
              </a:spcAft>
              <a:buSzPts val="4200"/>
              <a:buNone/>
              <a:defRPr sz="4200"/>
            </a:lvl4pPr>
            <a:lvl5pPr lvl="4" algn="ctr">
              <a:lnSpc>
                <a:spcPct val="100000"/>
              </a:lnSpc>
              <a:spcBef>
                <a:spcPts val="0"/>
              </a:spcBef>
              <a:spcAft>
                <a:spcPts val="0"/>
              </a:spcAft>
              <a:buSzPts val="4200"/>
              <a:buNone/>
              <a:defRPr sz="4200"/>
            </a:lvl5pPr>
            <a:lvl6pPr lvl="5" algn="ctr">
              <a:lnSpc>
                <a:spcPct val="100000"/>
              </a:lnSpc>
              <a:spcBef>
                <a:spcPts val="0"/>
              </a:spcBef>
              <a:spcAft>
                <a:spcPts val="0"/>
              </a:spcAft>
              <a:buSzPts val="4200"/>
              <a:buNone/>
              <a:defRPr sz="4200"/>
            </a:lvl6pPr>
            <a:lvl7pPr lvl="6" algn="ctr">
              <a:lnSpc>
                <a:spcPct val="100000"/>
              </a:lnSpc>
              <a:spcBef>
                <a:spcPts val="0"/>
              </a:spcBef>
              <a:spcAft>
                <a:spcPts val="0"/>
              </a:spcAft>
              <a:buSzPts val="4200"/>
              <a:buNone/>
              <a:defRPr sz="4200"/>
            </a:lvl7pPr>
            <a:lvl8pPr lvl="7" algn="ctr">
              <a:lnSpc>
                <a:spcPct val="100000"/>
              </a:lnSpc>
              <a:spcBef>
                <a:spcPts val="0"/>
              </a:spcBef>
              <a:spcAft>
                <a:spcPts val="0"/>
              </a:spcAft>
              <a:buSzPts val="4200"/>
              <a:buNone/>
              <a:defRPr sz="4200"/>
            </a:lvl8pPr>
            <a:lvl9pPr lvl="8" algn="ctr">
              <a:lnSpc>
                <a:spcPct val="100000"/>
              </a:lnSpc>
              <a:spcBef>
                <a:spcPts val="0"/>
              </a:spcBef>
              <a:spcAft>
                <a:spcPts val="0"/>
              </a:spcAft>
              <a:buSzPts val="4200"/>
              <a:buNone/>
              <a:defRPr sz="4200"/>
            </a:lvl9pPr>
          </a:lstStyle>
          <a:p>
            <a:endParaRPr/>
          </a:p>
        </p:txBody>
      </p:sp>
      <p:sp>
        <p:nvSpPr>
          <p:cNvPr id="38" name="Google Shape;38;p9"/>
          <p:cNvSpPr txBox="1">
            <a:spLocks noGrp="1"/>
          </p:cNvSpPr>
          <p:nvPr>
            <p:ph type="subTitle" idx="1"/>
          </p:nvPr>
        </p:nvSpPr>
        <p:spPr>
          <a:xfrm>
            <a:off x="265500" y="2803075"/>
            <a:ext cx="4045200" cy="1235100"/>
          </a:xfrm>
          <a:prstGeom prst="rect">
            <a:avLst/>
          </a:prstGeom>
          <a:noFill/>
          <a:ln>
            <a:noFill/>
          </a:ln>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9" name="Google Shape;39;p9"/>
          <p:cNvSpPr txBox="1">
            <a:spLocks noGrp="1"/>
          </p:cNvSpPr>
          <p:nvPr>
            <p:ph type="body" idx="2"/>
          </p:nvPr>
        </p:nvSpPr>
        <p:spPr>
          <a:xfrm>
            <a:off x="4939500" y="724075"/>
            <a:ext cx="3837000" cy="3695100"/>
          </a:xfrm>
          <a:prstGeom prst="rect">
            <a:avLst/>
          </a:prstGeom>
          <a:noFill/>
          <a:ln>
            <a:noFill/>
          </a:ln>
        </p:spPr>
        <p:txBody>
          <a:bodyPr spcFirstLastPara="1" wrap="square" lIns="91425" tIns="91425" rIns="91425" bIns="91425" anchor="ctr" anchorCtr="0">
            <a:normAutofit/>
          </a:bodyPr>
          <a:lstStyle>
            <a:lvl1pPr marL="457200" lvl="0" indent="-342900" algn="l">
              <a:lnSpc>
                <a:spcPct val="115000"/>
              </a:lnSpc>
              <a:spcBef>
                <a:spcPts val="0"/>
              </a:spcBef>
              <a:spcAft>
                <a:spcPts val="0"/>
              </a:spcAft>
              <a:buSzPts val="1800"/>
              <a:buChar char="●"/>
              <a:defRPr/>
            </a:lvl1pPr>
            <a:lvl2pPr marL="914400" lvl="1" indent="-317500" algn="l">
              <a:lnSpc>
                <a:spcPct val="115000"/>
              </a:lnSpc>
              <a:spcBef>
                <a:spcPts val="0"/>
              </a:spcBef>
              <a:spcAft>
                <a:spcPts val="0"/>
              </a:spcAft>
              <a:buSzPts val="1400"/>
              <a:buChar char="○"/>
              <a:defRPr/>
            </a:lvl2pPr>
            <a:lvl3pPr marL="1371600" lvl="2" indent="-317500" algn="l">
              <a:lnSpc>
                <a:spcPct val="115000"/>
              </a:lnSpc>
              <a:spcBef>
                <a:spcPts val="0"/>
              </a:spcBef>
              <a:spcAft>
                <a:spcPts val="0"/>
              </a:spcAft>
              <a:buSzPts val="1400"/>
              <a:buChar char="■"/>
              <a:defRPr/>
            </a:lvl3pPr>
            <a:lvl4pPr marL="1828800" lvl="3" indent="-317500" algn="l">
              <a:lnSpc>
                <a:spcPct val="115000"/>
              </a:lnSpc>
              <a:spcBef>
                <a:spcPts val="0"/>
              </a:spcBef>
              <a:spcAft>
                <a:spcPts val="0"/>
              </a:spcAft>
              <a:buSzPts val="1400"/>
              <a:buChar char="●"/>
              <a:defRPr/>
            </a:lvl4pPr>
            <a:lvl5pPr marL="2286000" lvl="4" indent="-317500" algn="l">
              <a:lnSpc>
                <a:spcPct val="115000"/>
              </a:lnSpc>
              <a:spcBef>
                <a:spcPts val="0"/>
              </a:spcBef>
              <a:spcAft>
                <a:spcPts val="0"/>
              </a:spcAft>
              <a:buSzPts val="1400"/>
              <a:buChar char="○"/>
              <a:defRPr/>
            </a:lvl5pPr>
            <a:lvl6pPr marL="2743200" lvl="5" indent="-317500" algn="l">
              <a:lnSpc>
                <a:spcPct val="115000"/>
              </a:lnSpc>
              <a:spcBef>
                <a:spcPts val="0"/>
              </a:spcBef>
              <a:spcAft>
                <a:spcPts val="0"/>
              </a:spcAft>
              <a:buSzPts val="1400"/>
              <a:buChar char="■"/>
              <a:defRPr/>
            </a:lvl6pPr>
            <a:lvl7pPr marL="3200400" lvl="6" indent="-317500" algn="l">
              <a:lnSpc>
                <a:spcPct val="115000"/>
              </a:lnSpc>
              <a:spcBef>
                <a:spcPts val="0"/>
              </a:spcBef>
              <a:spcAft>
                <a:spcPts val="0"/>
              </a:spcAft>
              <a:buSzPts val="1400"/>
              <a:buChar char="●"/>
              <a:defRPr/>
            </a:lvl7pPr>
            <a:lvl8pPr marL="3657600" lvl="7" indent="-317500" algn="l">
              <a:lnSpc>
                <a:spcPct val="115000"/>
              </a:lnSpc>
              <a:spcBef>
                <a:spcPts val="0"/>
              </a:spcBef>
              <a:spcAft>
                <a:spcPts val="0"/>
              </a:spcAft>
              <a:buSzPts val="1400"/>
              <a:buChar char="○"/>
              <a:defRPr/>
            </a:lvl8pPr>
            <a:lvl9pPr marL="4114800" lvl="8" indent="-317500" algn="l">
              <a:lnSpc>
                <a:spcPct val="115000"/>
              </a:lnSpc>
              <a:spcBef>
                <a:spcPts val="0"/>
              </a:spcBef>
              <a:spcAft>
                <a:spcPts val="0"/>
              </a:spcAft>
              <a:buSzPts val="1400"/>
              <a:buChar char="■"/>
              <a:defRPr/>
            </a:lvl9pPr>
          </a:lstStyle>
          <a:p>
            <a:endParaRPr/>
          </a:p>
        </p:txBody>
      </p:sp>
      <p:sp>
        <p:nvSpPr>
          <p:cNvPr id="40" name="Google Shape;40;p9"/>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311700" y="4230575"/>
            <a:ext cx="5998800" cy="605100"/>
          </a:xfrm>
          <a:prstGeom prst="rect">
            <a:avLst/>
          </a:prstGeom>
          <a:noFill/>
          <a:ln>
            <a:noFill/>
          </a:ln>
        </p:spPr>
        <p:txBody>
          <a:bodyPr spcFirstLastPara="1" wrap="square" lIns="91425" tIns="91425" rIns="91425" bIns="91425" anchor="ctr" anchorCtr="0">
            <a:normAutofit/>
          </a:bodyPr>
          <a:lstStyle>
            <a:lvl1pPr marL="457200" lvl="0" indent="-228600" algn="l">
              <a:lnSpc>
                <a:spcPct val="100000"/>
              </a:lnSpc>
              <a:spcBef>
                <a:spcPts val="0"/>
              </a:spcBef>
              <a:spcAft>
                <a:spcPts val="0"/>
              </a:spcAft>
              <a:buSzPts val="1800"/>
              <a:buNone/>
              <a:defRPr/>
            </a:lvl1pPr>
          </a:lstStyle>
          <a:p>
            <a:endParaRPr/>
          </a:p>
        </p:txBody>
      </p:sp>
      <p:sp>
        <p:nvSpPr>
          <p:cNvPr id="43" name="Google Shape;43;p10"/>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311700" y="1106125"/>
            <a:ext cx="8520600" cy="19635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12000"/>
              <a:buNone/>
              <a:defRPr sz="12000"/>
            </a:lvl1pPr>
            <a:lvl2pPr lvl="1" algn="ctr">
              <a:lnSpc>
                <a:spcPct val="100000"/>
              </a:lnSpc>
              <a:spcBef>
                <a:spcPts val="0"/>
              </a:spcBef>
              <a:spcAft>
                <a:spcPts val="0"/>
              </a:spcAft>
              <a:buSzPts val="12000"/>
              <a:buNone/>
              <a:defRPr sz="12000"/>
            </a:lvl2pPr>
            <a:lvl3pPr lvl="2" algn="ctr">
              <a:lnSpc>
                <a:spcPct val="100000"/>
              </a:lnSpc>
              <a:spcBef>
                <a:spcPts val="0"/>
              </a:spcBef>
              <a:spcAft>
                <a:spcPts val="0"/>
              </a:spcAft>
              <a:buSzPts val="12000"/>
              <a:buNone/>
              <a:defRPr sz="12000"/>
            </a:lvl3pPr>
            <a:lvl4pPr lvl="3" algn="ctr">
              <a:lnSpc>
                <a:spcPct val="100000"/>
              </a:lnSpc>
              <a:spcBef>
                <a:spcPts val="0"/>
              </a:spcBef>
              <a:spcAft>
                <a:spcPts val="0"/>
              </a:spcAft>
              <a:buSzPts val="12000"/>
              <a:buNone/>
              <a:defRPr sz="12000"/>
            </a:lvl4pPr>
            <a:lvl5pPr lvl="4" algn="ctr">
              <a:lnSpc>
                <a:spcPct val="100000"/>
              </a:lnSpc>
              <a:spcBef>
                <a:spcPts val="0"/>
              </a:spcBef>
              <a:spcAft>
                <a:spcPts val="0"/>
              </a:spcAft>
              <a:buSzPts val="12000"/>
              <a:buNone/>
              <a:defRPr sz="12000"/>
            </a:lvl5pPr>
            <a:lvl6pPr lvl="5" algn="ctr">
              <a:lnSpc>
                <a:spcPct val="100000"/>
              </a:lnSpc>
              <a:spcBef>
                <a:spcPts val="0"/>
              </a:spcBef>
              <a:spcAft>
                <a:spcPts val="0"/>
              </a:spcAft>
              <a:buSzPts val="12000"/>
              <a:buNone/>
              <a:defRPr sz="12000"/>
            </a:lvl6pPr>
            <a:lvl7pPr lvl="6" algn="ctr">
              <a:lnSpc>
                <a:spcPct val="100000"/>
              </a:lnSpc>
              <a:spcBef>
                <a:spcPts val="0"/>
              </a:spcBef>
              <a:spcAft>
                <a:spcPts val="0"/>
              </a:spcAft>
              <a:buSzPts val="12000"/>
              <a:buNone/>
              <a:defRPr sz="12000"/>
            </a:lvl7pPr>
            <a:lvl8pPr lvl="7" algn="ctr">
              <a:lnSpc>
                <a:spcPct val="100000"/>
              </a:lnSpc>
              <a:spcBef>
                <a:spcPts val="0"/>
              </a:spcBef>
              <a:spcAft>
                <a:spcPts val="0"/>
              </a:spcAft>
              <a:buSzPts val="12000"/>
              <a:buNone/>
              <a:defRPr sz="12000"/>
            </a:lvl8pPr>
            <a:lvl9pPr lvl="8" algn="ctr">
              <a:lnSpc>
                <a:spcPct val="100000"/>
              </a:lnSpc>
              <a:spcBef>
                <a:spcPts val="0"/>
              </a:spcBef>
              <a:spcAft>
                <a:spcPts val="0"/>
              </a:spcAft>
              <a:buSzPts val="12000"/>
              <a:buNone/>
              <a:defRPr sz="12000"/>
            </a:lvl9pPr>
          </a:lstStyle>
          <a:p>
            <a:r>
              <a:t>xx%</a:t>
            </a:r>
          </a:p>
        </p:txBody>
      </p:sp>
      <p:sp>
        <p:nvSpPr>
          <p:cNvPr id="46" name="Google Shape;46;p11"/>
          <p:cNvSpPr txBox="1">
            <a:spLocks noGrp="1"/>
          </p:cNvSpPr>
          <p:nvPr>
            <p:ph type="body" idx="1"/>
          </p:nvPr>
        </p:nvSpPr>
        <p:spPr>
          <a:xfrm>
            <a:off x="311700" y="3152225"/>
            <a:ext cx="8520600" cy="1300800"/>
          </a:xfrm>
          <a:prstGeom prst="rect">
            <a:avLst/>
          </a:prstGeom>
          <a:noFill/>
          <a:ln>
            <a:noFill/>
          </a:ln>
        </p:spPr>
        <p:txBody>
          <a:bodyPr spcFirstLastPara="1" wrap="square" lIns="91425" tIns="91425" rIns="91425" bIns="91425" anchor="t" anchorCtr="0">
            <a:normAutofit/>
          </a:bodyPr>
          <a:lstStyle>
            <a:lvl1pPr marL="457200" lvl="0" indent="-342900" algn="ctr">
              <a:lnSpc>
                <a:spcPct val="115000"/>
              </a:lnSpc>
              <a:spcBef>
                <a:spcPts val="0"/>
              </a:spcBef>
              <a:spcAft>
                <a:spcPts val="0"/>
              </a:spcAft>
              <a:buSzPts val="1800"/>
              <a:buChar char="●"/>
              <a:defRPr/>
            </a:lvl1pPr>
            <a:lvl2pPr marL="914400" lvl="1" indent="-317500" algn="ctr">
              <a:lnSpc>
                <a:spcPct val="115000"/>
              </a:lnSpc>
              <a:spcBef>
                <a:spcPts val="0"/>
              </a:spcBef>
              <a:spcAft>
                <a:spcPts val="0"/>
              </a:spcAft>
              <a:buSzPts val="1400"/>
              <a:buChar char="○"/>
              <a:defRPr/>
            </a:lvl2pPr>
            <a:lvl3pPr marL="1371600" lvl="2" indent="-317500" algn="ctr">
              <a:lnSpc>
                <a:spcPct val="115000"/>
              </a:lnSpc>
              <a:spcBef>
                <a:spcPts val="0"/>
              </a:spcBef>
              <a:spcAft>
                <a:spcPts val="0"/>
              </a:spcAft>
              <a:buSzPts val="1400"/>
              <a:buChar char="■"/>
              <a:defRPr/>
            </a:lvl3pPr>
            <a:lvl4pPr marL="1828800" lvl="3" indent="-317500" algn="ctr">
              <a:lnSpc>
                <a:spcPct val="115000"/>
              </a:lnSpc>
              <a:spcBef>
                <a:spcPts val="0"/>
              </a:spcBef>
              <a:spcAft>
                <a:spcPts val="0"/>
              </a:spcAft>
              <a:buSzPts val="1400"/>
              <a:buChar char="●"/>
              <a:defRPr/>
            </a:lvl4pPr>
            <a:lvl5pPr marL="2286000" lvl="4" indent="-317500" algn="ctr">
              <a:lnSpc>
                <a:spcPct val="115000"/>
              </a:lnSpc>
              <a:spcBef>
                <a:spcPts val="0"/>
              </a:spcBef>
              <a:spcAft>
                <a:spcPts val="0"/>
              </a:spcAft>
              <a:buSzPts val="1400"/>
              <a:buChar char="○"/>
              <a:defRPr/>
            </a:lvl5pPr>
            <a:lvl6pPr marL="2743200" lvl="5" indent="-317500" algn="ctr">
              <a:lnSpc>
                <a:spcPct val="115000"/>
              </a:lnSpc>
              <a:spcBef>
                <a:spcPts val="0"/>
              </a:spcBef>
              <a:spcAft>
                <a:spcPts val="0"/>
              </a:spcAft>
              <a:buSzPts val="1400"/>
              <a:buChar char="■"/>
              <a:defRPr/>
            </a:lvl6pPr>
            <a:lvl7pPr marL="3200400" lvl="6" indent="-317500" algn="ctr">
              <a:lnSpc>
                <a:spcPct val="115000"/>
              </a:lnSpc>
              <a:spcBef>
                <a:spcPts val="0"/>
              </a:spcBef>
              <a:spcAft>
                <a:spcPts val="0"/>
              </a:spcAft>
              <a:buSzPts val="1400"/>
              <a:buChar char="●"/>
              <a:defRPr/>
            </a:lvl7pPr>
            <a:lvl8pPr marL="3657600" lvl="7" indent="-317500" algn="ctr">
              <a:lnSpc>
                <a:spcPct val="115000"/>
              </a:lnSpc>
              <a:spcBef>
                <a:spcPts val="0"/>
              </a:spcBef>
              <a:spcAft>
                <a:spcPts val="0"/>
              </a:spcAft>
              <a:buSzPts val="1400"/>
              <a:buChar char="○"/>
              <a:defRPr/>
            </a:lvl8pPr>
            <a:lvl9pPr marL="4114800" lvl="8" indent="-317500" algn="ctr">
              <a:lnSpc>
                <a:spcPct val="115000"/>
              </a:lnSpc>
              <a:spcBef>
                <a:spcPts val="0"/>
              </a:spcBef>
              <a:spcAft>
                <a:spcPts val="0"/>
              </a:spcAft>
              <a:buSzPts val="1400"/>
              <a:buChar char="■"/>
              <a:defRPr/>
            </a:lvl9pPr>
          </a:lstStyle>
          <a:p>
            <a:endParaRPr/>
          </a:p>
        </p:txBody>
      </p:sp>
      <p:sp>
        <p:nvSpPr>
          <p:cNvPr id="47" name="Google Shape;47;p1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Content" type="obj">
  <p:cSld name="OBJECT">
    <p:spTree>
      <p:nvGrpSpPr>
        <p:cNvPr id="1" name="Shape 50"/>
        <p:cNvGrpSpPr/>
        <p:nvPr/>
      </p:nvGrpSpPr>
      <p:grpSpPr>
        <a:xfrm>
          <a:off x="0" y="0"/>
          <a:ext cx="0" cy="0"/>
          <a:chOff x="0" y="0"/>
          <a:chExt cx="0" cy="0"/>
        </a:xfrm>
      </p:grpSpPr>
      <p:sp>
        <p:nvSpPr>
          <p:cNvPr id="51" name="Google Shape;51;p13"/>
          <p:cNvSpPr txBox="1">
            <a:spLocks noGrp="1"/>
          </p:cNvSpPr>
          <p:nvPr>
            <p:ph type="title"/>
          </p:nvPr>
        </p:nvSpPr>
        <p:spPr>
          <a:xfrm>
            <a:off x="457172" y="205067"/>
            <a:ext cx="8228700" cy="858600"/>
          </a:xfrm>
          <a:prstGeom prst="rect">
            <a:avLst/>
          </a:prstGeom>
          <a:noFill/>
          <a:ln>
            <a:noFill/>
          </a:ln>
        </p:spPr>
        <p:txBody>
          <a:bodyPr spcFirstLastPara="1" wrap="square" lIns="0" tIns="0" rIns="0" bIns="0" anchor="ctr"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52" name="Google Shape;52;p13"/>
          <p:cNvSpPr txBox="1">
            <a:spLocks noGrp="1"/>
          </p:cNvSpPr>
          <p:nvPr>
            <p:ph type="body" idx="1"/>
          </p:nvPr>
        </p:nvSpPr>
        <p:spPr>
          <a:xfrm>
            <a:off x="457172" y="1203299"/>
            <a:ext cx="8228700" cy="2982600"/>
          </a:xfrm>
          <a:prstGeom prst="rect">
            <a:avLst/>
          </a:prstGeom>
          <a:noFill/>
          <a:ln>
            <a:noFill/>
          </a:ln>
        </p:spPr>
        <p:txBody>
          <a:bodyPr spcFirstLastPara="1" wrap="square" lIns="0" tIns="0" rIns="0" bIns="0" anchor="t" anchorCtr="0">
            <a:normAutofit/>
          </a:bodyPr>
          <a:lstStyle>
            <a:lvl1pPr marL="457200" lvl="0" indent="-228600" algn="l">
              <a:lnSpc>
                <a:spcPct val="115000"/>
              </a:lnSpc>
              <a:spcBef>
                <a:spcPts val="0"/>
              </a:spcBef>
              <a:spcAft>
                <a:spcPts val="0"/>
              </a:spcAft>
              <a:buSzPts val="1800"/>
              <a:buNone/>
              <a:defRPr/>
            </a:lvl1pPr>
            <a:lvl2pPr marL="914400" lvl="1" indent="-228600" algn="l">
              <a:lnSpc>
                <a:spcPct val="115000"/>
              </a:lnSpc>
              <a:spcBef>
                <a:spcPts val="0"/>
              </a:spcBef>
              <a:spcAft>
                <a:spcPts val="0"/>
              </a:spcAft>
              <a:buSzPts val="1400"/>
              <a:buNone/>
              <a:defRPr/>
            </a:lvl2pPr>
            <a:lvl3pPr marL="1371600" lvl="2" indent="-228600" algn="l">
              <a:lnSpc>
                <a:spcPct val="115000"/>
              </a:lnSpc>
              <a:spcBef>
                <a:spcPts val="0"/>
              </a:spcBef>
              <a:spcAft>
                <a:spcPts val="0"/>
              </a:spcAft>
              <a:buSzPts val="1400"/>
              <a:buNone/>
              <a:defRPr/>
            </a:lvl3pPr>
            <a:lvl4pPr marL="1828800" lvl="3" indent="-228600" algn="l">
              <a:lnSpc>
                <a:spcPct val="115000"/>
              </a:lnSpc>
              <a:spcBef>
                <a:spcPts val="0"/>
              </a:spcBef>
              <a:spcAft>
                <a:spcPts val="0"/>
              </a:spcAft>
              <a:buSzPts val="1400"/>
              <a:buNone/>
              <a:defRPr/>
            </a:lvl4pPr>
            <a:lvl5pPr marL="2286000" lvl="4" indent="-228600" algn="l">
              <a:lnSpc>
                <a:spcPct val="115000"/>
              </a:lnSpc>
              <a:spcBef>
                <a:spcPts val="0"/>
              </a:spcBef>
              <a:spcAft>
                <a:spcPts val="0"/>
              </a:spcAft>
              <a:buSzPts val="1400"/>
              <a:buNone/>
              <a:defRPr/>
            </a:lvl5pPr>
            <a:lvl6pPr marL="2743200" lvl="5" indent="-228600" algn="l">
              <a:lnSpc>
                <a:spcPct val="115000"/>
              </a:lnSpc>
              <a:spcBef>
                <a:spcPts val="0"/>
              </a:spcBef>
              <a:spcAft>
                <a:spcPts val="0"/>
              </a:spcAft>
              <a:buSzPts val="1400"/>
              <a:buNone/>
              <a:defRPr/>
            </a:lvl6pPr>
            <a:lvl7pPr marL="3200400" lvl="6" indent="-228600" algn="l">
              <a:lnSpc>
                <a:spcPct val="115000"/>
              </a:lnSpc>
              <a:spcBef>
                <a:spcPts val="0"/>
              </a:spcBef>
              <a:spcAft>
                <a:spcPts val="0"/>
              </a:spcAft>
              <a:buSzPts val="1400"/>
              <a:buNone/>
              <a:defRPr/>
            </a:lvl7pPr>
            <a:lvl8pPr marL="3657600" lvl="7" indent="-228600" algn="l">
              <a:lnSpc>
                <a:spcPct val="115000"/>
              </a:lnSpc>
              <a:spcBef>
                <a:spcPts val="0"/>
              </a:spcBef>
              <a:spcAft>
                <a:spcPts val="0"/>
              </a:spcAft>
              <a:buSzPts val="1400"/>
              <a:buNone/>
              <a:defRPr/>
            </a:lvl8pPr>
            <a:lvl9pPr marL="4114800" lvl="8" indent="-228600" algn="l">
              <a:lnSpc>
                <a:spcPct val="115000"/>
              </a:lnSpc>
              <a:spcBef>
                <a:spcPts val="0"/>
              </a:spcBef>
              <a:spcAft>
                <a:spcPts val="0"/>
              </a:spcAft>
              <a:buSzPts val="1400"/>
              <a:buNone/>
              <a:defRPr/>
            </a:lvl9pPr>
          </a:lstStyle>
          <a:p>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Section Header">
  <p:cSld name="SECTION_HEADER_1">
    <p:spTree>
      <p:nvGrpSpPr>
        <p:cNvPr id="1" name="Shape 53"/>
        <p:cNvGrpSpPr/>
        <p:nvPr/>
      </p:nvGrpSpPr>
      <p:grpSpPr>
        <a:xfrm>
          <a:off x="0" y="0"/>
          <a:ext cx="0" cy="0"/>
          <a:chOff x="0" y="0"/>
          <a:chExt cx="0" cy="0"/>
        </a:xfrm>
      </p:grpSpPr>
      <p:sp>
        <p:nvSpPr>
          <p:cNvPr id="54" name="Google Shape;54;p14"/>
          <p:cNvSpPr txBox="1">
            <a:spLocks noGrp="1"/>
          </p:cNvSpPr>
          <p:nvPr>
            <p:ph type="title"/>
          </p:nvPr>
        </p:nvSpPr>
        <p:spPr>
          <a:xfrm>
            <a:off x="623888" y="1282303"/>
            <a:ext cx="7886700" cy="2139600"/>
          </a:xfrm>
          <a:prstGeom prst="rect">
            <a:avLst/>
          </a:prstGeom>
          <a:noFill/>
          <a:ln>
            <a:noFill/>
          </a:ln>
        </p:spPr>
        <p:txBody>
          <a:bodyPr spcFirstLastPara="1" wrap="square" lIns="68575" tIns="68575" rIns="68575" bIns="68575" anchor="b" anchorCtr="0">
            <a:noAutofit/>
          </a:bodyPr>
          <a:lstStyle>
            <a:lvl1pPr marR="0" lvl="0" algn="l">
              <a:lnSpc>
                <a:spcPct val="90000"/>
              </a:lnSpc>
              <a:spcBef>
                <a:spcPts val="0"/>
              </a:spcBef>
              <a:spcAft>
                <a:spcPts val="0"/>
              </a:spcAft>
              <a:buClr>
                <a:schemeClr val="dk1"/>
              </a:buClr>
              <a:buSzPts val="4500"/>
              <a:buFont typeface="Calibri"/>
              <a:buNone/>
              <a:defRPr sz="4500" b="0" i="0" u="none" strike="noStrike" cap="none">
                <a:solidFill>
                  <a:schemeClr val="dk1"/>
                </a:solidFill>
                <a:latin typeface="Calibri"/>
                <a:ea typeface="Calibri"/>
                <a:cs typeface="Calibri"/>
                <a:sym typeface="Calibri"/>
              </a:defRPr>
            </a:lvl1pPr>
            <a:lvl2pPr lvl="1" algn="l">
              <a:lnSpc>
                <a:spcPct val="100000"/>
              </a:lnSpc>
              <a:spcBef>
                <a:spcPts val="0"/>
              </a:spcBef>
              <a:spcAft>
                <a:spcPts val="0"/>
              </a:spcAft>
              <a:buSzPts val="1100"/>
              <a:buNone/>
              <a:defRPr sz="1400"/>
            </a:lvl2pPr>
            <a:lvl3pPr lvl="2" algn="l">
              <a:lnSpc>
                <a:spcPct val="100000"/>
              </a:lnSpc>
              <a:spcBef>
                <a:spcPts val="0"/>
              </a:spcBef>
              <a:spcAft>
                <a:spcPts val="0"/>
              </a:spcAft>
              <a:buSzPts val="1100"/>
              <a:buNone/>
              <a:defRPr sz="1400"/>
            </a:lvl3pPr>
            <a:lvl4pPr lvl="3" algn="l">
              <a:lnSpc>
                <a:spcPct val="100000"/>
              </a:lnSpc>
              <a:spcBef>
                <a:spcPts val="0"/>
              </a:spcBef>
              <a:spcAft>
                <a:spcPts val="0"/>
              </a:spcAft>
              <a:buSzPts val="1100"/>
              <a:buNone/>
              <a:defRPr sz="1400"/>
            </a:lvl4pPr>
            <a:lvl5pPr lvl="4" algn="l">
              <a:lnSpc>
                <a:spcPct val="100000"/>
              </a:lnSpc>
              <a:spcBef>
                <a:spcPts val="0"/>
              </a:spcBef>
              <a:spcAft>
                <a:spcPts val="0"/>
              </a:spcAft>
              <a:buSzPts val="1100"/>
              <a:buNone/>
              <a:defRPr sz="1400"/>
            </a:lvl5pPr>
            <a:lvl6pPr lvl="5" algn="l">
              <a:lnSpc>
                <a:spcPct val="100000"/>
              </a:lnSpc>
              <a:spcBef>
                <a:spcPts val="0"/>
              </a:spcBef>
              <a:spcAft>
                <a:spcPts val="0"/>
              </a:spcAft>
              <a:buSzPts val="1100"/>
              <a:buNone/>
              <a:defRPr sz="1400"/>
            </a:lvl6pPr>
            <a:lvl7pPr lvl="6" algn="l">
              <a:lnSpc>
                <a:spcPct val="100000"/>
              </a:lnSpc>
              <a:spcBef>
                <a:spcPts val="0"/>
              </a:spcBef>
              <a:spcAft>
                <a:spcPts val="0"/>
              </a:spcAft>
              <a:buSzPts val="1100"/>
              <a:buNone/>
              <a:defRPr sz="1400"/>
            </a:lvl7pPr>
            <a:lvl8pPr lvl="7" algn="l">
              <a:lnSpc>
                <a:spcPct val="100000"/>
              </a:lnSpc>
              <a:spcBef>
                <a:spcPts val="0"/>
              </a:spcBef>
              <a:spcAft>
                <a:spcPts val="0"/>
              </a:spcAft>
              <a:buSzPts val="1100"/>
              <a:buNone/>
              <a:defRPr sz="1400"/>
            </a:lvl8pPr>
            <a:lvl9pPr lvl="8" algn="l">
              <a:lnSpc>
                <a:spcPct val="100000"/>
              </a:lnSpc>
              <a:spcBef>
                <a:spcPts val="0"/>
              </a:spcBef>
              <a:spcAft>
                <a:spcPts val="0"/>
              </a:spcAft>
              <a:buSzPts val="1100"/>
              <a:buNone/>
              <a:defRPr sz="1400"/>
            </a:lvl9pPr>
          </a:lstStyle>
          <a:p>
            <a:endParaRPr/>
          </a:p>
        </p:txBody>
      </p:sp>
      <p:sp>
        <p:nvSpPr>
          <p:cNvPr id="55" name="Google Shape;55;p14"/>
          <p:cNvSpPr txBox="1">
            <a:spLocks noGrp="1"/>
          </p:cNvSpPr>
          <p:nvPr>
            <p:ph type="body" idx="1"/>
          </p:nvPr>
        </p:nvSpPr>
        <p:spPr>
          <a:xfrm>
            <a:off x="623888" y="3442097"/>
            <a:ext cx="7886700" cy="1125300"/>
          </a:xfrm>
          <a:prstGeom prst="rect">
            <a:avLst/>
          </a:prstGeom>
          <a:noFill/>
          <a:ln>
            <a:noFill/>
          </a:ln>
        </p:spPr>
        <p:txBody>
          <a:bodyPr spcFirstLastPara="1" wrap="square" lIns="68575" tIns="68575" rIns="68575" bIns="68575" anchor="t" anchorCtr="0">
            <a:noAutofit/>
          </a:bodyPr>
          <a:lstStyle>
            <a:lvl1pPr marL="457200" marR="0" lvl="0" indent="-228600" algn="l">
              <a:lnSpc>
                <a:spcPct val="90000"/>
              </a:lnSpc>
              <a:spcBef>
                <a:spcPts val="800"/>
              </a:spcBef>
              <a:spcAft>
                <a:spcPts val="0"/>
              </a:spcAft>
              <a:buClr>
                <a:srgbClr val="888888"/>
              </a:buClr>
              <a:buSzPts val="1800"/>
              <a:buFont typeface="Arial"/>
              <a:buNone/>
              <a:defRPr sz="1800" b="0" i="0" u="none" strike="noStrike" cap="none">
                <a:solidFill>
                  <a:srgbClr val="888888"/>
                </a:solidFill>
                <a:latin typeface="Calibri"/>
                <a:ea typeface="Calibri"/>
                <a:cs typeface="Calibri"/>
                <a:sym typeface="Calibri"/>
              </a:defRPr>
            </a:lvl1pPr>
            <a:lvl2pPr marL="914400" marR="0" lvl="1" indent="-228600" algn="l">
              <a:lnSpc>
                <a:spcPct val="90000"/>
              </a:lnSpc>
              <a:spcBef>
                <a:spcPts val="400"/>
              </a:spcBef>
              <a:spcAft>
                <a:spcPts val="0"/>
              </a:spcAft>
              <a:buClr>
                <a:srgbClr val="888888"/>
              </a:buClr>
              <a:buSzPts val="1500"/>
              <a:buFont typeface="Arial"/>
              <a:buNone/>
              <a:defRPr sz="1500" b="0" i="0" u="none" strike="noStrike" cap="none">
                <a:solidFill>
                  <a:srgbClr val="888888"/>
                </a:solidFill>
                <a:latin typeface="Calibri"/>
                <a:ea typeface="Calibri"/>
                <a:cs typeface="Calibri"/>
                <a:sym typeface="Calibri"/>
              </a:defRPr>
            </a:lvl2pPr>
            <a:lvl3pPr marL="1371600" marR="0" lvl="2" indent="-228600" algn="l">
              <a:lnSpc>
                <a:spcPct val="90000"/>
              </a:lnSpc>
              <a:spcBef>
                <a:spcPts val="400"/>
              </a:spcBef>
              <a:spcAft>
                <a:spcPts val="0"/>
              </a:spcAft>
              <a:buClr>
                <a:srgbClr val="888888"/>
              </a:buClr>
              <a:buSzPts val="1400"/>
              <a:buFont typeface="Arial"/>
              <a:buNone/>
              <a:defRPr sz="1400" b="0" i="0" u="none" strike="noStrike" cap="none">
                <a:solidFill>
                  <a:srgbClr val="888888"/>
                </a:solidFill>
                <a:latin typeface="Calibri"/>
                <a:ea typeface="Calibri"/>
                <a:cs typeface="Calibri"/>
                <a:sym typeface="Calibri"/>
              </a:defRPr>
            </a:lvl3pPr>
            <a:lvl4pPr marL="1828800" marR="0" lvl="3"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4pPr>
            <a:lvl5pPr marL="2286000" marR="0" lvl="4"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5pPr>
            <a:lvl6pPr marL="2743200" marR="0" lvl="5"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6pPr>
            <a:lvl7pPr marL="3200400" marR="0" lvl="6"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7pPr>
            <a:lvl8pPr marL="3657600" marR="0" lvl="7"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8pPr>
            <a:lvl9pPr marL="4114800" marR="0" lvl="8"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9pPr>
          </a:lstStyle>
          <a:p>
            <a:endParaRPr/>
          </a:p>
        </p:txBody>
      </p:sp>
      <p:sp>
        <p:nvSpPr>
          <p:cNvPr id="56" name="Google Shape;56;p14"/>
          <p:cNvSpPr txBox="1">
            <a:spLocks noGrp="1"/>
          </p:cNvSpPr>
          <p:nvPr>
            <p:ph type="dt" idx="10"/>
          </p:nvPr>
        </p:nvSpPr>
        <p:spPr>
          <a:xfrm>
            <a:off x="628650" y="4767263"/>
            <a:ext cx="2057400" cy="273900"/>
          </a:xfrm>
          <a:prstGeom prst="rect">
            <a:avLst/>
          </a:prstGeom>
          <a:noFill/>
          <a:ln>
            <a:noFill/>
          </a:ln>
        </p:spPr>
        <p:txBody>
          <a:bodyPr spcFirstLastPara="1" wrap="square" lIns="68575" tIns="68575" rIns="68575" bIns="68575" anchor="ctr" anchorCtr="0">
            <a:noAutofit/>
          </a:bodyPr>
          <a:lstStyle>
            <a:lvl1pPr marR="0" lvl="0" algn="l" rtl="0">
              <a:lnSpc>
                <a:spcPct val="100000"/>
              </a:lnSpc>
              <a:spcBef>
                <a:spcPts val="0"/>
              </a:spcBef>
              <a:spcAft>
                <a:spcPts val="0"/>
              </a:spcAft>
              <a:buClr>
                <a:srgbClr val="000000"/>
              </a:buClr>
              <a:buSzPts val="1100"/>
              <a:buFont typeface="Arial"/>
              <a:buNone/>
              <a:defRPr sz="9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9pPr>
          </a:lstStyle>
          <a:p>
            <a:endParaRPr/>
          </a:p>
        </p:txBody>
      </p:sp>
      <p:sp>
        <p:nvSpPr>
          <p:cNvPr id="57" name="Google Shape;57;p14"/>
          <p:cNvSpPr txBox="1">
            <a:spLocks noGrp="1"/>
          </p:cNvSpPr>
          <p:nvPr>
            <p:ph type="ftr" idx="11"/>
          </p:nvPr>
        </p:nvSpPr>
        <p:spPr>
          <a:xfrm>
            <a:off x="3028950" y="4767263"/>
            <a:ext cx="3086100" cy="273900"/>
          </a:xfrm>
          <a:prstGeom prst="rect">
            <a:avLst/>
          </a:prstGeom>
          <a:noFill/>
          <a:ln>
            <a:noFill/>
          </a:ln>
        </p:spPr>
        <p:txBody>
          <a:bodyPr spcFirstLastPara="1" wrap="square" lIns="68575" tIns="68575" rIns="68575" bIns="68575" anchor="ctr" anchorCtr="0">
            <a:noAutofit/>
          </a:bodyPr>
          <a:lstStyle>
            <a:lvl1pPr marR="0" lvl="0" algn="ctr" rtl="0">
              <a:lnSpc>
                <a:spcPct val="100000"/>
              </a:lnSpc>
              <a:spcBef>
                <a:spcPts val="0"/>
              </a:spcBef>
              <a:spcAft>
                <a:spcPts val="0"/>
              </a:spcAft>
              <a:buClr>
                <a:srgbClr val="000000"/>
              </a:buClr>
              <a:buSzPts val="1100"/>
              <a:buFont typeface="Arial"/>
              <a:buNone/>
              <a:defRPr sz="9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9pPr>
          </a:lstStyle>
          <a:p>
            <a:endParaRPr/>
          </a:p>
        </p:txBody>
      </p:sp>
      <p:sp>
        <p:nvSpPr>
          <p:cNvPr id="58" name="Google Shape;58;p14"/>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marR="0" lvl="0"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marR="0" lvl="0" indent="-342900" algn="l" rtl="0">
              <a:lnSpc>
                <a:spcPct val="115000"/>
              </a:lnSpc>
              <a:spcBef>
                <a:spcPts val="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1pPr>
            <a:lvl2pPr marL="914400" marR="0" lvl="1"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2pPr>
            <a:lvl3pPr marL="1371600" marR="0" lvl="2"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3pPr>
            <a:lvl4pPr marL="1828800" marR="0" lvl="3"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4pPr>
            <a:lvl5pPr marL="2286000" marR="0" lvl="4"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5pPr>
            <a:lvl6pPr marL="2743200" marR="0" lvl="5"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6pPr>
            <a:lvl7pPr marL="3200400" marR="0" lvl="6"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7pPr>
            <a:lvl8pPr marL="3657600" marR="0" lvl="7"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8pPr>
            <a:lvl9pPr marL="4114800" marR="0" lvl="8"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3" Type="http://schemas.openxmlformats.org/officeDocument/2006/relationships/hyperlink" Target="https://arena.ai/leaderboard/model/kimi-k3-max" TargetMode="External"/><Relationship Id="rId18" Type="http://schemas.openxmlformats.org/officeDocument/2006/relationships/hyperlink" Target="https://arena.ai/leaderboard/model/claude-sonnet-4-6" TargetMode="External"/><Relationship Id="rId26" Type="http://schemas.openxmlformats.org/officeDocument/2006/relationships/hyperlink" Target="https://arena.ai/leaderboard/model/gemini-3.1-pro-preview" TargetMode="External"/><Relationship Id="rId21" Type="http://schemas.openxmlformats.org/officeDocument/2006/relationships/hyperlink" Target="https://arena.ai/leaderboard/model/gpt-5.6-sol-xhigh" TargetMode="External"/><Relationship Id="rId34" Type="http://schemas.openxmlformats.org/officeDocument/2006/relationships/hyperlink" Target="https://arena.ai/leaderboard/model/gpt-5.5" TargetMode="External"/><Relationship Id="rId7" Type="http://schemas.openxmlformats.org/officeDocument/2006/relationships/hyperlink" Target="https://arena.ai/leaderboard/model/claude-fable-5" TargetMode="External"/><Relationship Id="rId12" Type="http://schemas.openxmlformats.org/officeDocument/2006/relationships/hyperlink" Target="https://arena.ai/leaderboard/model/claude-opus-5-high" TargetMode="External"/><Relationship Id="rId17" Type="http://schemas.openxmlformats.org/officeDocument/2006/relationships/hyperlink" Target="https://arena.ai/leaderboard/model/claude-opus-4-8" TargetMode="External"/><Relationship Id="rId25" Type="http://schemas.openxmlformats.org/officeDocument/2006/relationships/hyperlink" Target="https://arena.ai/leaderboard/model/gpt-5.4-high" TargetMode="External"/><Relationship Id="rId33" Type="http://schemas.openxmlformats.org/officeDocument/2006/relationships/hyperlink" Target="https://arena.ai/leaderboard/model/gpt-5.2-chat-latest-20260210" TargetMode="External"/><Relationship Id="rId2" Type="http://schemas.openxmlformats.org/officeDocument/2006/relationships/notesSlide" Target="../notesSlides/notesSlide2.xml"/><Relationship Id="rId16" Type="http://schemas.openxmlformats.org/officeDocument/2006/relationships/hyperlink" Target="https://arena.ai/leaderboard/model/claude-opus-5-max" TargetMode="External"/><Relationship Id="rId20" Type="http://schemas.openxmlformats.org/officeDocument/2006/relationships/hyperlink" Target="https://arena.ai/leaderboard/model/qwen3.7-max-preview" TargetMode="External"/><Relationship Id="rId29" Type="http://schemas.openxmlformats.org/officeDocument/2006/relationships/hyperlink" Target="https://arena.ai/leaderboard/model/claude-sonnet-4-5-20250929-thinking-32k" TargetMode="External"/><Relationship Id="rId1" Type="http://schemas.openxmlformats.org/officeDocument/2006/relationships/slideLayout" Target="../slideLayouts/slideLayout1.xml"/><Relationship Id="rId6" Type="http://schemas.openxmlformats.org/officeDocument/2006/relationships/hyperlink" Target="https://arena.ai/leaderboard/model/claude-opus-4-7-thinking" TargetMode="External"/><Relationship Id="rId11" Type="http://schemas.openxmlformats.org/officeDocument/2006/relationships/hyperlink" Target="https://arena.ai/leaderboard/model/claude-opus-4-8-thinking" TargetMode="External"/><Relationship Id="rId24" Type="http://schemas.openxmlformats.org/officeDocument/2006/relationships/hyperlink" Target="https://arena.ai/leaderboard/model/claude-sonnet-5-high" TargetMode="External"/><Relationship Id="rId32" Type="http://schemas.openxmlformats.org/officeDocument/2006/relationships/hyperlink" Target="https://arena.ai/leaderboard/model/gemini-3.5-flash-high" TargetMode="External"/><Relationship Id="rId37" Type="http://schemas.openxmlformats.org/officeDocument/2006/relationships/hyperlink" Target="https://arena.ai/leaderboard/model/gemini-3-flash" TargetMode="External"/><Relationship Id="rId5" Type="http://schemas.openxmlformats.org/officeDocument/2006/relationships/hyperlink" Target="https://lmarena.ai/leaderboard/text/coding" TargetMode="External"/><Relationship Id="rId15" Type="http://schemas.openxmlformats.org/officeDocument/2006/relationships/hyperlink" Target="https://arena.ai/leaderboard/model/muse-spark-1.1" TargetMode="External"/><Relationship Id="rId23" Type="http://schemas.openxmlformats.org/officeDocument/2006/relationships/hyperlink" Target="https://arena.ai/leaderboard/model/claude-opus-4-5-20251101" TargetMode="External"/><Relationship Id="rId28" Type="http://schemas.openxmlformats.org/officeDocument/2006/relationships/hyperlink" Target="https://arena.ai/leaderboard/model/glm-5.1" TargetMode="External"/><Relationship Id="rId36" Type="http://schemas.openxmlformats.org/officeDocument/2006/relationships/hyperlink" Target="https://arena.ai/leaderboard/model/gpt-5.5-instant" TargetMode="External"/><Relationship Id="rId10" Type="http://schemas.openxmlformats.org/officeDocument/2006/relationships/hyperlink" Target="https://arena.ai/leaderboard/model/claude-opus-4-6" TargetMode="External"/><Relationship Id="rId19" Type="http://schemas.openxmlformats.org/officeDocument/2006/relationships/hyperlink" Target="https://arena.ai/leaderboard/model/muse-spark" TargetMode="External"/><Relationship Id="rId31" Type="http://schemas.openxmlformats.org/officeDocument/2006/relationships/hyperlink" Target="https://arena.ai/leaderboard/model/gemini-3-pro" TargetMode="External"/><Relationship Id="rId4" Type="http://schemas.openxmlformats.org/officeDocument/2006/relationships/hyperlink" Target="https://lmarena.ai/leaderboard/text" TargetMode="External"/><Relationship Id="rId9" Type="http://schemas.openxmlformats.org/officeDocument/2006/relationships/hyperlink" Target="https://arena.ai/leaderboard/model/claude-opus-4-7" TargetMode="External"/><Relationship Id="rId14" Type="http://schemas.openxmlformats.org/officeDocument/2006/relationships/hyperlink" Target="https://arena.ai/leaderboard/model/claude-opus-4-5-20251101-thinking-32k" TargetMode="External"/><Relationship Id="rId22" Type="http://schemas.openxmlformats.org/officeDocument/2006/relationships/hyperlink" Target="https://arena.ai/leaderboard/model/gemini-3.6-flash" TargetMode="External"/><Relationship Id="rId27" Type="http://schemas.openxmlformats.org/officeDocument/2006/relationships/hyperlink" Target="https://arena.ai/leaderboard/model/gpt-5.5-high" TargetMode="External"/><Relationship Id="rId30" Type="http://schemas.openxmlformats.org/officeDocument/2006/relationships/hyperlink" Target="https://arena.ai/leaderboard/model/mimo-v2.5-pro" TargetMode="External"/><Relationship Id="rId35" Type="http://schemas.openxmlformats.org/officeDocument/2006/relationships/hyperlink" Target="https://arena.ai/leaderboard/model/grok-4.20-beta1" TargetMode="External"/><Relationship Id="rId8" Type="http://schemas.openxmlformats.org/officeDocument/2006/relationships/hyperlink" Target="https://arena.ai/leaderboard/model/claude-opus-4-6-thinking" TargetMode="External"/><Relationship Id="rId3" Type="http://schemas.openxmlformats.org/officeDocument/2006/relationships/hyperlink" Target="https://en.wikipedia.org/wiki/Elo_rating_system" TargetMode="Externa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hyperlink" Target="https://www.youtube.com/watch?v=nxr20lcqagg" TargetMode="External"/><Relationship Id="rId5" Type="http://schemas.openxmlformats.org/officeDocument/2006/relationships/hyperlink" Target="https://artificialanalysis.ai/evaluations/artificial-analysis-intelligence-index" TargetMode="External"/><Relationship Id="rId4" Type="http://schemas.openxmlformats.org/officeDocument/2006/relationships/hyperlink" Target="https://artificialanalysis.ai" TargetMode="External"/></Relationships>
</file>

<file path=ppt/slides/_rels/slide4.xml.rels><?xml version="1.0" encoding="UTF-8" standalone="yes"?>
<Relationships xmlns="http://schemas.openxmlformats.org/package/2006/relationships"><Relationship Id="rId8" Type="http://schemas.openxmlformats.org/officeDocument/2006/relationships/hyperlink" Target="https://www.anthropic.com/policy-on-the-ai-exponential" TargetMode="External"/><Relationship Id="rId3" Type="http://schemas.openxmlformats.org/officeDocument/2006/relationships/hyperlink" Target="https://www.youtube.com/shorts/Bf-f2XK4Qv0" TargetMode="External"/><Relationship Id="rId7"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hyperlink" Target="https://www.youtube.com/watch?v=1Q7CkLh9GwU" TargetMode="External"/><Relationship Id="rId5" Type="http://schemas.openxmlformats.org/officeDocument/2006/relationships/hyperlink" Target="https://www.anthropic.com/news/claude-opus-5" TargetMode="External"/><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3" Type="http://schemas.openxmlformats.org/officeDocument/2006/relationships/hyperlink" Target="https://openai.com/index/advancing-the-price-performance-frontier-with-gpt-5-6/" TargetMode="External"/><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6.xml.rels><?xml version="1.0" encoding="UTF-8" standalone="yes"?>
<Relationships xmlns="http://schemas.openxmlformats.org/package/2006/relationships"><Relationship Id="rId8" Type="http://schemas.openxmlformats.org/officeDocument/2006/relationships/image" Target="../media/image5.png"/><Relationship Id="rId3" Type="http://schemas.openxmlformats.org/officeDocument/2006/relationships/hyperlink" Target="https://deepseek.com" TargetMode="External"/><Relationship Id="rId7" Type="http://schemas.openxmlformats.org/officeDocument/2006/relationships/hyperlink" Target="https://artificialanalysis.ai/models/deepseek-v4-pro" TargetMode="External"/><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hyperlink" Target="https://api-docs.deepseek.com/quick_start/pricing" TargetMode="External"/><Relationship Id="rId5" Type="http://schemas.openxmlformats.org/officeDocument/2006/relationships/hyperlink" Target="https://www.youtube.com/watch?v=bagORWOyilI" TargetMode="External"/><Relationship Id="rId4" Type="http://schemas.openxmlformats.org/officeDocument/2006/relationships/hyperlink" Target="https://github.com/deepseek-ai" TargetMode="External"/></Relationships>
</file>

<file path=ppt/slides/_rels/slide7.xml.rels><?xml version="1.0" encoding="UTF-8" standalone="yes"?>
<Relationships xmlns="http://schemas.openxmlformats.org/package/2006/relationships"><Relationship Id="rId8" Type="http://schemas.openxmlformats.org/officeDocument/2006/relationships/hyperlink" Target="https://arxiv.org/abs/2607.19064v2" TargetMode="External"/><Relationship Id="rId3" Type="http://schemas.openxmlformats.org/officeDocument/2006/relationships/hyperlink" Target="https://www.ycombinator.com/library/NJ-inside-claude-code-with-its-creator-boris-cherny" TargetMode="External"/><Relationship Id="rId7" Type="http://schemas.openxmlformats.org/officeDocument/2006/relationships/hyperlink" Target="https://github.com/microsoft/Mage" TargetMode="External"/><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hyperlink" Target="https://www.youtube.com/watch?v=Egd65CLmb6w" TargetMode="External"/><Relationship Id="rId9" Type="http://schemas.openxmlformats.org/officeDocument/2006/relationships/hyperlink" Target="https://www.youtube.com/watch?v=0ta2Srcb5_U" TargetMode="External"/></Relationships>
</file>

<file path=ppt/slides/_rels/slide8.xml.rels><?xml version="1.0" encoding="UTF-8" standalone="yes"?>
<Relationships xmlns="http://schemas.openxmlformats.org/package/2006/relationships"><Relationship Id="rId3" Type="http://schemas.openxmlformats.org/officeDocument/2006/relationships/hyperlink" Target="https://www.youtube.com/watch?v=3Y0EU6N6ADY" TargetMode="External"/><Relationship Id="rId2" Type="http://schemas.openxmlformats.org/officeDocument/2006/relationships/notesSlide" Target="../notesSlides/notesSlide8.xml"/><Relationship Id="rId1" Type="http://schemas.openxmlformats.org/officeDocument/2006/relationships/slideLayout" Target="../slideLayouts/slideLayout1.xml"/><Relationship Id="rId6" Type="http://schemas.openxmlformats.org/officeDocument/2006/relationships/image" Target="../media/image8.png"/><Relationship Id="rId5" Type="http://schemas.openxmlformats.org/officeDocument/2006/relationships/hyperlink" Target="https://celeris.ai" TargetMode="External"/><Relationship Id="rId4" Type="http://schemas.openxmlformats.org/officeDocument/2006/relationships/hyperlink" Target="https://benchlm.ai/providers/celeris" TargetMode="External"/></Relationships>
</file>

<file path=ppt/slides/_rels/slide9.xml.rels><?xml version="1.0" encoding="UTF-8" standalone="yes"?>
<Relationships xmlns="http://schemas.openxmlformats.org/package/2006/relationships"><Relationship Id="rId3" Type="http://schemas.openxmlformats.org/officeDocument/2006/relationships/hyperlink" Target="https://www.youtube.com/@lev-selector/videos" TargetMode="External"/><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image" Target="../media/image9.png"/></Relationships>
</file>

<file path=ppt/slides/_rels/slide10.xml.rels><?xml version="1.0" encoding="UTF-8" standalone="yes"?>
<Relationships xmlns="http://schemas.openxmlformats.org/package/2006/relationships"><Relationship Id="rId3" Type="http://schemas.openxmlformats.org/officeDocument/2006/relationships/hyperlink" Target="https://www.youtube.com/watch?v=JRcAegChriY" TargetMode="External"/><Relationship Id="rId2" Type="http://schemas.openxmlformats.org/officeDocument/2006/relationships/notesSlide" Target="../notesSlides/notesSlide10.xml"/><Relationship Id="rId1" Type="http://schemas.openxmlformats.org/officeDocument/2006/relationships/slideLayout" Target="../slideLayouts/slideLayout1.xml"/><Relationship Id="rId4" Type="http://schemas.openxmlformats.org/officeDocument/2006/relationships/image" Target="../media/image10.png"/></Relationships>
</file>

<file path=ppt/slides/_rels/slide11.xml.rels><?xml version="1.0" encoding="UTF-8" standalone="yes"?>
<Relationships xmlns="http://schemas.openxmlformats.org/package/2006/relationships"><Relationship Id="rId3" Type="http://schemas.openxmlformats.org/officeDocument/2006/relationships/image" Target="../media/image11.png"/><Relationship Id="rId7" Type="http://schemas.openxmlformats.org/officeDocument/2006/relationships/hyperlink" Target="http://abacus.ai" TargetMode="External"/><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image" Target="../media/image13.png"/><Relationship Id="rId5" Type="http://schemas.openxmlformats.org/officeDocument/2006/relationships/hyperlink" Target="https://opencode.ai/docs/cli/" TargetMode="External"/><Relationship Id="rId4" Type="http://schemas.openxmlformats.org/officeDocument/2006/relationships/image" Target="../media/image12.png"/></Relationships>
</file>

<file path=ppt/slides/_rels/slide12.xml.rels><?xml version="1.0" encoding="UTF-8" standalone="yes"?>
<Relationships xmlns="http://schemas.openxmlformats.org/package/2006/relationships"><Relationship Id="rId3" Type="http://schemas.openxmlformats.org/officeDocument/2006/relationships/hyperlink" Target="https://github.com/microsoft/agent-framework" TargetMode="External"/><Relationship Id="rId7" Type="http://schemas.openxmlformats.org/officeDocument/2006/relationships/image" Target="../media/image14.png"/><Relationship Id="rId2" Type="http://schemas.openxmlformats.org/officeDocument/2006/relationships/notesSlide" Target="../notesSlides/notesSlide12.xml"/><Relationship Id="rId1" Type="http://schemas.openxmlformats.org/officeDocument/2006/relationships/slideLayout" Target="../slideLayouts/slideLayout1.xml"/><Relationship Id="rId6" Type="http://schemas.openxmlformats.org/officeDocument/2006/relationships/hyperlink" Target="https://devblogs.microsoft.com/agent-framework/the-microsoft-agent-framework-harness-is-now-released/" TargetMode="External"/><Relationship Id="rId5" Type="http://schemas.openxmlformats.org/officeDocument/2006/relationships/hyperlink" Target="https://www.youtube.com/watch?v=2awrcVFf7-4" TargetMode="External"/><Relationship Id="rId4" Type="http://schemas.openxmlformats.org/officeDocument/2006/relationships/hyperlink" Target="https://learn.microsoft.com/en-us/agent-framework/overview/" TargetMode="External"/></Relationships>
</file>

<file path=ppt/slides/_rels/slide13.xml.rels><?xml version="1.0" encoding="UTF-8" standalone="yes"?>
<Relationships xmlns="http://schemas.openxmlformats.org/package/2006/relationships"><Relationship Id="rId3" Type="http://schemas.openxmlformats.org/officeDocument/2006/relationships/hyperlink" Target="https://www.genspark.ai" TargetMode="External"/><Relationship Id="rId7" Type="http://schemas.openxmlformats.org/officeDocument/2006/relationships/image" Target="../media/image15.png"/><Relationship Id="rId2" Type="http://schemas.openxmlformats.org/officeDocument/2006/relationships/notesSlide" Target="../notesSlides/notesSlide13.xml"/><Relationship Id="rId1" Type="http://schemas.openxmlformats.org/officeDocument/2006/relationships/slideLayout" Target="../slideLayouts/slideLayout1.xml"/><Relationship Id="rId6" Type="http://schemas.openxmlformats.org/officeDocument/2006/relationships/hyperlink" Target="https://www.youtube.com/watch?v=O0RNqAp1wOQ" TargetMode="External"/><Relationship Id="rId5" Type="http://schemas.openxmlformats.org/officeDocument/2006/relationships/hyperlink" Target="https://www.genspark.ai/blog/genspark-ai-workspace-6" TargetMode="External"/><Relationship Id="rId4" Type="http://schemas.openxmlformats.org/officeDocument/2006/relationships/hyperlink" Target="https://www.computerweekly.com/blog/Inspect-a-Gadget/Genspark-AI-Workspace-60-SecondBrain-Note" TargetMode="External"/></Relationships>
</file>

<file path=ppt/slides/_rels/slide14.xml.rels><?xml version="1.0" encoding="UTF-8" standalone="yes"?>
<Relationships xmlns="http://schemas.openxmlformats.org/package/2006/relationships"><Relationship Id="rId3" Type="http://schemas.openxmlformats.org/officeDocument/2006/relationships/hyperlink" Target="https://openrouter.ai/docs/guides/routing/routers/fusion-router" TargetMode="External"/><Relationship Id="rId2" Type="http://schemas.openxmlformats.org/officeDocument/2006/relationships/notesSlide" Target="../notesSlides/notesSlide14.xml"/><Relationship Id="rId1" Type="http://schemas.openxmlformats.org/officeDocument/2006/relationships/slideLayout" Target="../slideLayouts/slideLayout1.xml"/><Relationship Id="rId6" Type="http://schemas.openxmlformats.org/officeDocument/2006/relationships/image" Target="../media/image16.png"/><Relationship Id="rId5" Type="http://schemas.openxmlformats.org/officeDocument/2006/relationships/hyperlink" Target="https://www.youtube.com/watch?v=q7Bd2n7bBbQ" TargetMode="External"/><Relationship Id="rId4" Type="http://schemas.openxmlformats.org/officeDocument/2006/relationships/hyperlink" Target="https://openrouter.ai/docs/guides/features/plugins/fusion" TargetMode="External"/></Relationships>
</file>

<file path=ppt/slides/_rels/slide15.xml.rels><?xml version="1.0" encoding="UTF-8" standalone="yes"?>
<Relationships xmlns="http://schemas.openxmlformats.org/package/2006/relationships"><Relationship Id="rId3" Type="http://schemas.openxmlformats.org/officeDocument/2006/relationships/image" Target="../media/image17.png"/><Relationship Id="rId7" Type="http://schemas.openxmlformats.org/officeDocument/2006/relationships/image" Target="../media/image18.png"/><Relationship Id="rId2" Type="http://schemas.openxmlformats.org/officeDocument/2006/relationships/notesSlide" Target="../notesSlides/notesSlide15.xml"/><Relationship Id="rId1" Type="http://schemas.openxmlformats.org/officeDocument/2006/relationships/slideLayout" Target="../slideLayouts/slideLayout1.xml"/><Relationship Id="rId6" Type="http://schemas.openxmlformats.org/officeDocument/2006/relationships/hyperlink" Target="https://www.youtube.com/watch?v=MsdZZ-HEUFo" TargetMode="External"/><Relationship Id="rId5" Type="http://schemas.openxmlformats.org/officeDocument/2006/relationships/hyperlink" Target="https://github.com/sgl-project/sglang" TargetMode="External"/><Relationship Id="rId4" Type="http://schemas.openxmlformats.org/officeDocument/2006/relationships/hyperlink" Target="https://docs.sglang.ai" TargetMode="External"/></Relationships>
</file>

<file path=ppt/slides/_rels/slide16.xml.rels><?xml version="1.0" encoding="UTF-8" standalone="yes"?>
<Relationships xmlns="http://schemas.openxmlformats.org/package/2006/relationships"><Relationship Id="rId8" Type="http://schemas.openxmlformats.org/officeDocument/2006/relationships/image" Target="../media/image20.png"/><Relationship Id="rId13" Type="http://schemas.openxmlformats.org/officeDocument/2006/relationships/image" Target="../media/image21.png"/><Relationship Id="rId3" Type="http://schemas.openxmlformats.org/officeDocument/2006/relationships/hyperlink" Target="https://github.com/andrewyng/openworker" TargetMode="External"/><Relationship Id="rId7" Type="http://schemas.openxmlformats.org/officeDocument/2006/relationships/image" Target="../media/image19.jpeg"/><Relationship Id="rId12" Type="http://schemas.openxmlformats.org/officeDocument/2006/relationships/hyperlink" Target="https://www.youtube.com/watch?v=PMCBt-4b0Nc" TargetMode="External"/><Relationship Id="rId2" Type="http://schemas.openxmlformats.org/officeDocument/2006/relationships/notesSlide" Target="../notesSlides/notesSlide16.xml"/><Relationship Id="rId16" Type="http://schemas.openxmlformats.org/officeDocument/2006/relationships/hyperlink" Target="https://socher.org" TargetMode="External"/><Relationship Id="rId1" Type="http://schemas.openxmlformats.org/officeDocument/2006/relationships/slideLayout" Target="../slideLayouts/slideLayout1.xml"/><Relationship Id="rId6" Type="http://schemas.openxmlformats.org/officeDocument/2006/relationships/hyperlink" Target="https://www.youtube.com/watch?v=5SZMQz-1Pk0" TargetMode="External"/><Relationship Id="rId11" Type="http://schemas.openxmlformats.org/officeDocument/2006/relationships/hyperlink" Target="https://www.anthropic.com/institute/recursive-self-improvement" TargetMode="External"/><Relationship Id="rId5" Type="http://schemas.openxmlformats.org/officeDocument/2006/relationships/hyperlink" Target="https://x.com/AndrewYNg/status/2080333504446108104" TargetMode="External"/><Relationship Id="rId15" Type="http://schemas.openxmlformats.org/officeDocument/2006/relationships/hyperlink" Target="https://www.linkedin.com/in/richardsocher" TargetMode="External"/><Relationship Id="rId10" Type="http://schemas.openxmlformats.org/officeDocument/2006/relationships/hyperlink" Target="https://github.com/recursive-org/first-steps-toward-automated-ai-research" TargetMode="External"/><Relationship Id="rId4" Type="http://schemas.openxmlformats.org/officeDocument/2006/relationships/hyperlink" Target="https://openworker.com" TargetMode="External"/><Relationship Id="rId9" Type="http://schemas.openxmlformats.org/officeDocument/2006/relationships/hyperlink" Target="https://www.recursive.com" TargetMode="External"/><Relationship Id="rId14" Type="http://schemas.openxmlformats.org/officeDocument/2006/relationships/hyperlink" Target="http://you.com" TargetMode="External"/></Relationships>
</file>

<file path=ppt/slides/_rels/slide17.xml.rels><?xml version="1.0" encoding="UTF-8" standalone="yes"?>
<Relationships xmlns="http://schemas.openxmlformats.org/package/2006/relationships"><Relationship Id="rId8" Type="http://schemas.openxmlformats.org/officeDocument/2006/relationships/image" Target="../media/image23.png"/><Relationship Id="rId3" Type="http://schemas.openxmlformats.org/officeDocument/2006/relationships/hyperlink" Target="https://lessdoing.ai" TargetMode="External"/><Relationship Id="rId7" Type="http://schemas.openxmlformats.org/officeDocument/2006/relationships/image" Target="../media/image22.png"/><Relationship Id="rId2" Type="http://schemas.openxmlformats.org/officeDocument/2006/relationships/notesSlide" Target="../notesSlides/notesSlide17.xml"/><Relationship Id="rId1" Type="http://schemas.openxmlformats.org/officeDocument/2006/relationships/slideLayout" Target="../slideLayouts/slideLayout1.xml"/><Relationship Id="rId6" Type="http://schemas.openxmlformats.org/officeDocument/2006/relationships/hyperlink" Target="https://www.youtube.com/watch?v=84ESgZnmdcc" TargetMode="External"/><Relationship Id="rId5" Type="http://schemas.openxmlformats.org/officeDocument/2006/relationships/hyperlink" Target="https://www.eesel.ai/blog/tasklet-ai-review" TargetMode="External"/><Relationship Id="rId4" Type="http://schemas.openxmlformats.org/officeDocument/2006/relationships/hyperlink" Target="https://www.ycombinator.com/companies/tasklet-2" TargetMode="External"/></Relationships>
</file>

<file path=ppt/slides/_rels/slide18.xml.rels><?xml version="1.0" encoding="UTF-8" standalone="yes"?>
<Relationships xmlns="http://schemas.openxmlformats.org/package/2006/relationships"><Relationship Id="rId8" Type="http://schemas.openxmlformats.org/officeDocument/2006/relationships/hyperlink" Target="https://github.com/basecamp/kamal" TargetMode="External"/><Relationship Id="rId3" Type="http://schemas.openxmlformats.org/officeDocument/2006/relationships/hyperlink" Target="https://aihero.dev" TargetMode="External"/><Relationship Id="rId7" Type="http://schemas.openxmlformats.org/officeDocument/2006/relationships/hyperlink" Target="about:blank" TargetMode="External"/><Relationship Id="rId2" Type="http://schemas.openxmlformats.org/officeDocument/2006/relationships/notesSlide" Target="../notesSlides/notesSlide18.xml"/><Relationship Id="rId1" Type="http://schemas.openxmlformats.org/officeDocument/2006/relationships/slideLayout" Target="../slideLayouts/slideLayout1.xml"/><Relationship Id="rId6" Type="http://schemas.openxmlformats.org/officeDocument/2006/relationships/image" Target="../media/image24.png"/><Relationship Id="rId5" Type="http://schemas.openxmlformats.org/officeDocument/2006/relationships/hyperlink" Target="https://www.youtube.com/watch?v=n0VhIVtviC0" TargetMode="External"/><Relationship Id="rId10" Type="http://schemas.openxmlformats.org/officeDocument/2006/relationships/image" Target="../media/image25.png"/><Relationship Id="rId4" Type="http://schemas.openxmlformats.org/officeDocument/2006/relationships/hyperlink" Target="https://github.com/mattpocock/skills" TargetMode="External"/><Relationship Id="rId9" Type="http://schemas.openxmlformats.org/officeDocument/2006/relationships/hyperlink" Target="https://www.youtube.com/watch?v=Yu1ECFDoaL8" TargetMode="External"/></Relationships>
</file>

<file path=ppt/slides/_rels/slide19.xml.rels><?xml version="1.0" encoding="UTF-8" standalone="yes"?>
<Relationships xmlns="http://schemas.openxmlformats.org/package/2006/relationships"><Relationship Id="rId8" Type="http://schemas.openxmlformats.org/officeDocument/2006/relationships/hyperlink" Target="https://www.eigent.ai/blog/grok-build-cli" TargetMode="External"/><Relationship Id="rId3" Type="http://schemas.openxmlformats.org/officeDocument/2006/relationships/hyperlink" Target="https://x.ai/cli" TargetMode="External"/><Relationship Id="rId7" Type="http://schemas.openxmlformats.org/officeDocument/2006/relationships/image" Target="../media/image26.png"/><Relationship Id="rId2" Type="http://schemas.openxmlformats.org/officeDocument/2006/relationships/notesSlide" Target="../notesSlides/notesSlide19.xml"/><Relationship Id="rId1" Type="http://schemas.openxmlformats.org/officeDocument/2006/relationships/slideLayout" Target="../slideLayouts/slideLayout1.xml"/><Relationship Id="rId6" Type="http://schemas.openxmlformats.org/officeDocument/2006/relationships/hyperlink" Target="https://www.youtube.com/watch?v=qhV7NFYJXi4" TargetMode="External"/><Relationship Id="rId5" Type="http://schemas.openxmlformats.org/officeDocument/2006/relationships/hyperlink" Target="https://x.ai/news/grok-build-open-source" TargetMode="External"/><Relationship Id="rId10" Type="http://schemas.openxmlformats.org/officeDocument/2006/relationships/hyperlink" Target="https://www.youtube.com/watch?v=eywMLit-9G8" TargetMode="External"/><Relationship Id="rId4" Type="http://schemas.openxmlformats.org/officeDocument/2006/relationships/hyperlink" Target="https://github.com/xai-org/grok-build" TargetMode="External"/><Relationship Id="rId9" Type="http://schemas.openxmlformats.org/officeDocument/2006/relationships/hyperlink" Target="https://www.vellum.ai/blog/is-grok-better-than-claude" TargetMode="External"/></Relationships>
</file>

<file path=ppt/slides/_rels/slide20.xml.rels><?xml version="1.0" encoding="UTF-8" standalone="yes"?>
<Relationships xmlns="http://schemas.openxmlformats.org/package/2006/relationships"><Relationship Id="rId8" Type="http://schemas.openxmlformats.org/officeDocument/2006/relationships/image" Target="../media/image28.png"/><Relationship Id="rId3" Type="http://schemas.openxmlformats.org/officeDocument/2006/relationships/hyperlink" Target="https://www.datacamp.com/blog/claude-fable-5-jacobian-conjecture" TargetMode="External"/><Relationship Id="rId7" Type="http://schemas.openxmlformats.org/officeDocument/2006/relationships/hyperlink" Target="https://github.com/nostr-protocol" TargetMode="External"/><Relationship Id="rId2" Type="http://schemas.openxmlformats.org/officeDocument/2006/relationships/notesSlide" Target="../notesSlides/notesSlide20.xml"/><Relationship Id="rId1" Type="http://schemas.openxmlformats.org/officeDocument/2006/relationships/slideLayout" Target="../slideLayouts/slideLayout1.xml"/><Relationship Id="rId6" Type="http://schemas.openxmlformats.org/officeDocument/2006/relationships/hyperlink" Target="https://www.youtube.com/watch?v=PRBbMBN9l04" TargetMode="External"/><Relationship Id="rId5" Type="http://schemas.openxmlformats.org/officeDocument/2006/relationships/image" Target="../media/image27.png"/><Relationship Id="rId4" Type="http://schemas.openxmlformats.org/officeDocument/2006/relationships/hyperlink" Target="https://www.youtube.com/watch?v=btBE0ikzymc" TargetMode="External"/><Relationship Id="rId9" Type="http://schemas.openxmlformats.org/officeDocument/2006/relationships/image" Target="../media/image29.png"/></Relationships>
</file>

<file path=ppt/slides/_rels/slide21.xml.rels><?xml version="1.0" encoding="UTF-8" standalone="yes"?>
<Relationships xmlns="http://schemas.openxmlformats.org/package/2006/relationships"><Relationship Id="rId8" Type="http://schemas.openxmlformats.org/officeDocument/2006/relationships/hyperlink" Target="https://simonwillison.net/tags/macos/" TargetMode="External"/><Relationship Id="rId3" Type="http://schemas.openxmlformats.org/officeDocument/2006/relationships/hyperlink" Target="http://generated.by" TargetMode="External"/><Relationship Id="rId7" Type="http://schemas.openxmlformats.org/officeDocument/2006/relationships/hyperlink" Target="https://github.com/Blaizzy/mlx-vlm" TargetMode="External"/><Relationship Id="rId12" Type="http://schemas.openxmlformats.org/officeDocument/2006/relationships/image" Target="../media/image31.png"/><Relationship Id="rId2" Type="http://schemas.openxmlformats.org/officeDocument/2006/relationships/notesSlide" Target="../notesSlides/notesSlide21.xml"/><Relationship Id="rId1" Type="http://schemas.openxmlformats.org/officeDocument/2006/relationships/slideLayout" Target="../slideLayouts/slideLayout1.xml"/><Relationship Id="rId6" Type="http://schemas.openxmlformats.org/officeDocument/2006/relationships/hyperlink" Target="https://blaizzy.github.io/nativ/" TargetMode="External"/><Relationship Id="rId11" Type="http://schemas.openxmlformats.org/officeDocument/2006/relationships/image" Target="../media/image30.png"/><Relationship Id="rId5" Type="http://schemas.openxmlformats.org/officeDocument/2006/relationships/hyperlink" Target="https://www.youtube.com/watch?v=S_LZQV0VS8s" TargetMode="External"/><Relationship Id="rId10" Type="http://schemas.openxmlformats.org/officeDocument/2006/relationships/hyperlink" Target="https://www.youtube.com/watch?v=ba0JcPUneJI" TargetMode="External"/><Relationship Id="rId4" Type="http://schemas.openxmlformats.org/officeDocument/2006/relationships/hyperlink" Target="http://generated.at" TargetMode="External"/><Relationship Id="rId9" Type="http://schemas.openxmlformats.org/officeDocument/2006/relationships/hyperlink" Target="https://news.ycombinator.com/item?id=48982681" TargetMode="External"/></Relationships>
</file>

<file path=ppt/slides/_rels/slide22.xml.rels><?xml version="1.0" encoding="UTF-8" standalone="yes"?>
<Relationships xmlns="http://schemas.openxmlformats.org/package/2006/relationships"><Relationship Id="rId8" Type="http://schemas.openxmlformats.org/officeDocument/2006/relationships/image" Target="../media/image32.png"/><Relationship Id="rId3" Type="http://schemas.openxmlformats.org/officeDocument/2006/relationships/hyperlink" Target="https://www.youtube.com/watch?v=pVq-8aWPqmE" TargetMode="External"/><Relationship Id="rId7" Type="http://schemas.openxmlformats.org/officeDocument/2006/relationships/hyperlink" Target="https://www.linkedin.com/in/darshan-vichhi-rust-developer/" TargetMode="External"/><Relationship Id="rId2" Type="http://schemas.openxmlformats.org/officeDocument/2006/relationships/notesSlide" Target="../notesSlides/notesSlide22.xml"/><Relationship Id="rId1" Type="http://schemas.openxmlformats.org/officeDocument/2006/relationships/slideLayout" Target="../slideLayouts/slideLayout1.xml"/><Relationship Id="rId6" Type="http://schemas.openxmlformats.org/officeDocument/2006/relationships/hyperlink" Target="https://aarambhdevhub.medium.com/i-built-a-complete-llm-from-scratch-in-pure-rust-pretraining-grpo-flash-attention-and-c585123c14b4" TargetMode="External"/><Relationship Id="rId11" Type="http://schemas.openxmlformats.org/officeDocument/2006/relationships/hyperlink" Target="https://www.youtube.com/watch?v=JOGNg0B3Fxw" TargetMode="External"/><Relationship Id="rId5" Type="http://schemas.openxmlformats.org/officeDocument/2006/relationships/hyperlink" Target="https://github.com/AarambhDevHub/aarambh-ai" TargetMode="External"/><Relationship Id="rId10" Type="http://schemas.openxmlformats.org/officeDocument/2006/relationships/hyperlink" Target="https://www.youtube.com/watch?v=kC8NMSS5Nac" TargetMode="External"/><Relationship Id="rId4" Type="http://schemas.openxmlformats.org/officeDocument/2006/relationships/hyperlink" Target="https://github.com/AarambhDevHub" TargetMode="External"/><Relationship Id="rId9" Type="http://schemas.openxmlformats.org/officeDocument/2006/relationships/image" Target="../media/image33.png"/></Relationships>
</file>

<file path=ppt/slides/_rels/slide23.xml.rels><?xml version="1.0" encoding="UTF-8" standalone="yes"?>
<Relationships xmlns="http://schemas.openxmlformats.org/package/2006/relationships"><Relationship Id="rId8" Type="http://schemas.openxmlformats.org/officeDocument/2006/relationships/image" Target="../media/image35.png"/><Relationship Id="rId3" Type="http://schemas.openxmlformats.org/officeDocument/2006/relationships/hyperlink" Target="https://www.youtube.com/watch?v=iP9iL4dkiB0" TargetMode="External"/><Relationship Id="rId7" Type="http://schemas.openxmlformats.org/officeDocument/2006/relationships/image" Target="../media/image34.png"/><Relationship Id="rId2" Type="http://schemas.openxmlformats.org/officeDocument/2006/relationships/notesSlide" Target="../notesSlides/notesSlide23.xml"/><Relationship Id="rId1" Type="http://schemas.openxmlformats.org/officeDocument/2006/relationships/slideLayout" Target="../slideLayouts/slideLayout1.xml"/><Relationship Id="rId6" Type="http://schemas.openxmlformats.org/officeDocument/2006/relationships/hyperlink" Target="https://x.com/julienscholzdev" TargetMode="External"/><Relationship Id="rId5" Type="http://schemas.openxmlformats.org/officeDocument/2006/relationships/hyperlink" Target="https://x.com/carllerche" TargetMode="External"/><Relationship Id="rId4" Type="http://schemas.openxmlformats.org/officeDocument/2006/relationships/hyperlink" Target="https://github.com/tokio-rs/topcoat" TargetMode="External"/><Relationship Id="rId9" Type="http://schemas.openxmlformats.org/officeDocument/2006/relationships/hyperlink" Target="https://www.youtube.com/watch?v=CQzlLJ1YqDs" TargetMode="External"/></Relationships>
</file>

<file path=ppt/slides/_rels/slide24.xml.rels><?xml version="1.0" encoding="UTF-8" standalone="yes"?>
<Relationships xmlns="http://schemas.openxmlformats.org/package/2006/relationships"><Relationship Id="rId8" Type="http://schemas.openxmlformats.org/officeDocument/2006/relationships/hyperlink" Target="https://fly.io/blog/litestream-v050-is-here/" TargetMode="External"/><Relationship Id="rId3" Type="http://schemas.openxmlformats.org/officeDocument/2006/relationships/hyperlink" Target="https://www.youtube.com/watch?v=lwnhJajthWc" TargetMode="External"/><Relationship Id="rId7" Type="http://schemas.openxmlformats.org/officeDocument/2006/relationships/hyperlink" Target="https://fly.io/blog/all-in-on-sqlite-litestream" TargetMode="External"/><Relationship Id="rId2" Type="http://schemas.openxmlformats.org/officeDocument/2006/relationships/notesSlide" Target="../notesSlides/notesSlide24.xml"/><Relationship Id="rId1" Type="http://schemas.openxmlformats.org/officeDocument/2006/relationships/slideLayout" Target="../slideLayouts/slideLayout1.xml"/><Relationship Id="rId6" Type="http://schemas.openxmlformats.org/officeDocument/2006/relationships/hyperlink" Target="https://github.com/benbjohnson/litestream" TargetMode="External"/><Relationship Id="rId5" Type="http://schemas.openxmlformats.org/officeDocument/2006/relationships/hyperlink" Target="https://litestream.io" TargetMode="External"/><Relationship Id="rId4" Type="http://schemas.openxmlformats.org/officeDocument/2006/relationships/image" Target="../media/image36.png"/><Relationship Id="rId9" Type="http://schemas.openxmlformats.org/officeDocument/2006/relationships/hyperlink" Target="https://www.youtube.com/watch?v=QOBXFCYYMvk" TargetMode="External"/></Relationships>
</file>

<file path=ppt/slides/_rels/slide25.xml.rels><?xml version="1.0" encoding="UTF-8" standalone="yes"?>
<Relationships xmlns="http://schemas.openxmlformats.org/package/2006/relationships"><Relationship Id="rId8" Type="http://schemas.openxmlformats.org/officeDocument/2006/relationships/image" Target="../media/image37.png"/><Relationship Id="rId3" Type="http://schemas.openxmlformats.org/officeDocument/2006/relationships/hyperlink" Target="https://www.cognee.ai" TargetMode="External"/><Relationship Id="rId7" Type="http://schemas.openxmlformats.org/officeDocument/2006/relationships/hyperlink" Target="https://www.youtube.com/watch?v=FehNOhDfr28" TargetMode="External"/><Relationship Id="rId12" Type="http://schemas.openxmlformats.org/officeDocument/2006/relationships/image" Target="../media/image41.png"/><Relationship Id="rId2" Type="http://schemas.openxmlformats.org/officeDocument/2006/relationships/notesSlide" Target="../notesSlides/notesSlide25.xml"/><Relationship Id="rId1" Type="http://schemas.openxmlformats.org/officeDocument/2006/relationships/slideLayout" Target="../slideLayouts/slideLayout1.xml"/><Relationship Id="rId6" Type="http://schemas.openxmlformats.org/officeDocument/2006/relationships/hyperlink" Target="https://www.youtube.com/watch?v=zIiiu8hS1To" TargetMode="External"/><Relationship Id="rId11" Type="http://schemas.openxmlformats.org/officeDocument/2006/relationships/image" Target="../media/image40.png"/><Relationship Id="rId5" Type="http://schemas.openxmlformats.org/officeDocument/2006/relationships/hyperlink" Target="https://www.youtube.com/watch?v=DYdC-oqLMiY" TargetMode="External"/><Relationship Id="rId10" Type="http://schemas.openxmlformats.org/officeDocument/2006/relationships/image" Target="../media/image39.jpeg"/><Relationship Id="rId4" Type="http://schemas.openxmlformats.org/officeDocument/2006/relationships/hyperlink" Target="https://github.com/topoteretes/cognee" TargetMode="External"/><Relationship Id="rId9" Type="http://schemas.openxmlformats.org/officeDocument/2006/relationships/image" Target="../media/image38.jpeg"/></Relationships>
</file>

<file path=ppt/slides/_rels/slide26.xml.rels><?xml version="1.0" encoding="UTF-8" standalone="yes"?>
<Relationships xmlns="http://schemas.openxmlformats.org/package/2006/relationships"><Relationship Id="rId3" Type="http://schemas.openxmlformats.org/officeDocument/2006/relationships/hyperlink" Target="https://www.youtube.com/watch?v=oDipulgqLro" TargetMode="External"/><Relationship Id="rId7" Type="http://schemas.openxmlformats.org/officeDocument/2006/relationships/image" Target="../media/image43.png"/><Relationship Id="rId2" Type="http://schemas.openxmlformats.org/officeDocument/2006/relationships/notesSlide" Target="../notesSlides/notesSlide26.xml"/><Relationship Id="rId1" Type="http://schemas.openxmlformats.org/officeDocument/2006/relationships/slideLayout" Target="../slideLayouts/slideLayout1.xml"/><Relationship Id="rId6" Type="http://schemas.openxmlformats.org/officeDocument/2006/relationships/image" Target="../media/image42.png"/><Relationship Id="rId5" Type="http://schemas.openxmlformats.org/officeDocument/2006/relationships/hyperlink" Target="https://github.com/mvanhorn/last30days-skill" TargetMode="External"/><Relationship Id="rId4" Type="http://schemas.openxmlformats.org/officeDocument/2006/relationships/hyperlink" Target="https://www.youtube.com/watch?v=ShYfGB3x5mM" TargetMode="External"/></Relationships>
</file>

<file path=ppt/slides/_rels/slide27.xml.rels><?xml version="1.0" encoding="UTF-8" standalone="yes"?>
<Relationships xmlns="http://schemas.openxmlformats.org/package/2006/relationships"><Relationship Id="rId8" Type="http://schemas.openxmlformats.org/officeDocument/2006/relationships/hyperlink" Target="https://github.com/basecamp/kamal" TargetMode="External"/><Relationship Id="rId13" Type="http://schemas.openxmlformats.org/officeDocument/2006/relationships/hyperlink" Target="https://www.youtube.com/watch?v=3Qc49WnQnSg" TargetMode="External"/><Relationship Id="rId3" Type="http://schemas.openxmlformats.org/officeDocument/2006/relationships/hyperlink" Target="https://www.youtube.com/watch?v=KNkhpKghoDU" TargetMode="External"/><Relationship Id="rId7" Type="http://schemas.openxmlformats.org/officeDocument/2006/relationships/hyperlink" Target="https://kamal-deploy.org" TargetMode="External"/><Relationship Id="rId12" Type="http://schemas.openxmlformats.org/officeDocument/2006/relationships/hyperlink" Target="https://github.com/valkey-io/valkey" TargetMode="External"/><Relationship Id="rId2" Type="http://schemas.openxmlformats.org/officeDocument/2006/relationships/notesSlide" Target="../notesSlides/notesSlide27.xml"/><Relationship Id="rId1" Type="http://schemas.openxmlformats.org/officeDocument/2006/relationships/slideLayout" Target="../slideLayouts/slideLayout1.xml"/><Relationship Id="rId6" Type="http://schemas.openxmlformats.org/officeDocument/2006/relationships/hyperlink" Target="https://world.hey.com/dhh/we-have-left-the-cloud-251760fb" TargetMode="External"/><Relationship Id="rId11" Type="http://schemas.openxmlformats.org/officeDocument/2006/relationships/hyperlink" Target="https://valkey.io" TargetMode="External"/><Relationship Id="rId5" Type="http://schemas.openxmlformats.org/officeDocument/2006/relationships/hyperlink" Target="https://basecamp.com/cloud-exit" TargetMode="External"/><Relationship Id="rId15" Type="http://schemas.openxmlformats.org/officeDocument/2006/relationships/image" Target="../media/image45.png"/><Relationship Id="rId10" Type="http://schemas.openxmlformats.org/officeDocument/2006/relationships/hyperlink" Target="https://github.com/coollabsio/coolify" TargetMode="External"/><Relationship Id="rId4" Type="http://schemas.openxmlformats.org/officeDocument/2006/relationships/hyperlink" Target="https://37signals.com" TargetMode="External"/><Relationship Id="rId9" Type="http://schemas.openxmlformats.org/officeDocument/2006/relationships/hyperlink" Target="https://coolify.io" TargetMode="External"/><Relationship Id="rId14" Type="http://schemas.openxmlformats.org/officeDocument/2006/relationships/image" Target="../media/image44.png"/></Relationships>
</file>

<file path=ppt/slides/_rels/slide28.xml.rels><?xml version="1.0" encoding="UTF-8" standalone="yes"?>
<Relationships xmlns="http://schemas.openxmlformats.org/package/2006/relationships"><Relationship Id="rId8" Type="http://schemas.openxmlformats.org/officeDocument/2006/relationships/hyperlink" Target="https://www.youtube.com/watch?v=pDIMXiKyvA4" TargetMode="External"/><Relationship Id="rId3" Type="http://schemas.openxmlformats.org/officeDocument/2006/relationships/hyperlink" Target="https://github.com/aden-hive/hive" TargetMode="External"/><Relationship Id="rId7" Type="http://schemas.openxmlformats.org/officeDocument/2006/relationships/hyperlink" Target="https://superfile.dev/install.sh" TargetMode="External"/><Relationship Id="rId2" Type="http://schemas.openxmlformats.org/officeDocument/2006/relationships/notesSlide" Target="../notesSlides/notesSlide28.xml"/><Relationship Id="rId1" Type="http://schemas.openxmlformats.org/officeDocument/2006/relationships/slideLayout" Target="../slideLayouts/slideLayout1.xml"/><Relationship Id="rId6" Type="http://schemas.openxmlformats.org/officeDocument/2006/relationships/image" Target="../media/image47.png"/><Relationship Id="rId11" Type="http://schemas.openxmlformats.org/officeDocument/2006/relationships/image" Target="../media/image48.png"/><Relationship Id="rId5" Type="http://schemas.openxmlformats.org/officeDocument/2006/relationships/image" Target="../media/image46.png"/><Relationship Id="rId10" Type="http://schemas.openxmlformats.org/officeDocument/2006/relationships/hyperlink" Target="https://github.com/yorukot/superfile" TargetMode="External"/><Relationship Id="rId4" Type="http://schemas.openxmlformats.org/officeDocument/2006/relationships/hyperlink" Target="https://www.youtube.com/watch?v=x3WB9hvlN4U" TargetMode="External"/><Relationship Id="rId9" Type="http://schemas.openxmlformats.org/officeDocument/2006/relationships/hyperlink" Target="https://superfile.dev" TargetMode="External"/></Relationships>
</file>

<file path=ppt/slides/_rels/slide29.xml.rels><?xml version="1.0" encoding="UTF-8" standalone="yes"?>
<Relationships xmlns="http://schemas.openxmlformats.org/package/2006/relationships"><Relationship Id="rId3" Type="http://schemas.openxmlformats.org/officeDocument/2006/relationships/hyperlink" Target="https://www.youtube.com/watch?v=ZzHB2mPHb2g" TargetMode="External"/><Relationship Id="rId2" Type="http://schemas.openxmlformats.org/officeDocument/2006/relationships/notesSlide" Target="../notesSlides/notesSlide29.xml"/><Relationship Id="rId1" Type="http://schemas.openxmlformats.org/officeDocument/2006/relationships/slideLayout" Target="../slideLayouts/slideLayout1.xml"/><Relationship Id="rId6" Type="http://schemas.openxmlformats.org/officeDocument/2006/relationships/image" Target="../media/image50.png"/><Relationship Id="rId5" Type="http://schemas.openxmlformats.org/officeDocument/2006/relationships/image" Target="../media/image49.png"/><Relationship Id="rId4" Type="http://schemas.openxmlformats.org/officeDocument/2006/relationships/hyperlink" Target="https://www.youtube.com/watch?v=odbNXv9xXjc" TargetMode="External"/></Relationships>
</file>

<file path=ppt/slides/_rels/slide30.xml.rels><?xml version="1.0" encoding="UTF-8" standalone="yes"?>
<Relationships xmlns="http://schemas.openxmlformats.org/package/2006/relationships"><Relationship Id="rId3" Type="http://schemas.openxmlformats.org/officeDocument/2006/relationships/hyperlink" Target="https://www.youtube.com/watch?v=JO-42T8SwC4" TargetMode="External"/><Relationship Id="rId2" Type="http://schemas.openxmlformats.org/officeDocument/2006/relationships/notesSlide" Target="../notesSlides/notesSlide30.xml"/><Relationship Id="rId1" Type="http://schemas.openxmlformats.org/officeDocument/2006/relationships/slideLayout" Target="../slideLayouts/slideLayout1.xml"/><Relationship Id="rId6" Type="http://schemas.openxmlformats.org/officeDocument/2006/relationships/image" Target="../media/image52.png"/><Relationship Id="rId5" Type="http://schemas.openxmlformats.org/officeDocument/2006/relationships/image" Target="../media/image51.png"/><Relationship Id="rId4" Type="http://schemas.openxmlformats.org/officeDocument/2006/relationships/hyperlink" Target="https://www.youtube.com/watch?v=JpVGBgAKzYw" TargetMode="External"/></Relationships>
</file>

<file path=ppt/slides/_rels/slide31.xml.rels><?xml version="1.0" encoding="UTF-8" standalone="yes"?>
<Relationships xmlns="http://schemas.openxmlformats.org/package/2006/relationships"><Relationship Id="rId3" Type="http://schemas.openxmlformats.org/officeDocument/2006/relationships/hyperlink" Target="https://github.com/marcelroed/gigatoken" TargetMode="External"/><Relationship Id="rId2" Type="http://schemas.openxmlformats.org/officeDocument/2006/relationships/notesSlide" Target="../notesSlides/notesSlide31.xml"/><Relationship Id="rId1" Type="http://schemas.openxmlformats.org/officeDocument/2006/relationships/slideLayout" Target="../slideLayouts/slideLayout1.xml"/><Relationship Id="rId5" Type="http://schemas.openxmlformats.org/officeDocument/2006/relationships/image" Target="../media/image53.png"/><Relationship Id="rId4" Type="http://schemas.openxmlformats.org/officeDocument/2006/relationships/hyperlink" Target="https://www.youtube.com/watch?v=vFtJeZ7ifTA" TargetMode="External"/></Relationships>
</file>

<file path=ppt/slides/_rels/slide32.xml.rels><?xml version="1.0" encoding="UTF-8" standalone="yes"?>
<Relationships xmlns="http://schemas.openxmlformats.org/package/2006/relationships"><Relationship Id="rId3" Type="http://schemas.openxmlformats.org/officeDocument/2006/relationships/hyperlink" Target="https://layoffs.fyi" TargetMode="External"/><Relationship Id="rId2" Type="http://schemas.openxmlformats.org/officeDocument/2006/relationships/notesSlide" Target="../notesSlides/notesSlide32.xml"/><Relationship Id="rId1" Type="http://schemas.openxmlformats.org/officeDocument/2006/relationships/slideLayout" Target="../slideLayouts/slideLayout1.xml"/><Relationship Id="rId6" Type="http://schemas.openxmlformats.org/officeDocument/2006/relationships/image" Target="../media/image55.png"/><Relationship Id="rId5" Type="http://schemas.openxmlformats.org/officeDocument/2006/relationships/image" Target="../media/image54.png"/><Relationship Id="rId4" Type="http://schemas.openxmlformats.org/officeDocument/2006/relationships/hyperlink" Target="https://trueup.io/layoffs" TargetMode="External"/></Relationships>
</file>

<file path=ppt/slides/_rels/slide33.xml.rels><?xml version="1.0" encoding="UTF-8" standalone="yes"?>
<Relationships xmlns="http://schemas.openxmlformats.org/package/2006/relationships"><Relationship Id="rId3" Type="http://schemas.openxmlformats.org/officeDocument/2006/relationships/image" Target="../media/image56.jpeg"/><Relationship Id="rId2" Type="http://schemas.openxmlformats.org/officeDocument/2006/relationships/notesSlide" Target="../notesSlides/notesSlide33.xml"/><Relationship Id="rId1" Type="http://schemas.openxmlformats.org/officeDocument/2006/relationships/slideLayout" Target="../slideLayouts/slideLayout1.xml"/><Relationship Id="rId5" Type="http://schemas.openxmlformats.org/officeDocument/2006/relationships/hyperlink" Target="https://eais.ai" TargetMode="External"/><Relationship Id="rId4" Type="http://schemas.openxmlformats.org/officeDocument/2006/relationships/image" Target="../media/image57.png"/></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62"/>
        <p:cNvGrpSpPr/>
        <p:nvPr/>
      </p:nvGrpSpPr>
      <p:grpSpPr>
        <a:xfrm>
          <a:off x="0" y="0"/>
          <a:ext cx="0" cy="0"/>
          <a:chOff x="0" y="0"/>
          <a:chExt cx="0" cy="0"/>
        </a:xfrm>
      </p:grpSpPr>
      <p:sp>
        <p:nvSpPr>
          <p:cNvPr id="63" name="Google Shape;63;p15"/>
          <p:cNvSpPr txBox="1"/>
          <p:nvPr/>
        </p:nvSpPr>
        <p:spPr>
          <a:xfrm>
            <a:off x="100175" y="437689"/>
            <a:ext cx="4330200" cy="1957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Crowd-sourced "LM Arena" Leaderboard</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Cost Per Intelligence Index</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Matthew Berman - Using Codex  for Everything</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Claude Opus 5, Claude Managed Agents</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GPT-5.6 Luna 80% Price Cut</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Anthropic removed 80% of Claude Code prompts</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Kimi K3 is now available on Ollama cloud</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Microsoft Mage-Flow Text-to-Image</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Celeris 1 AI - Fastest Model</a:t>
            </a:r>
            <a:endParaRPr b="1">
              <a:solidFill>
                <a:srgbClr val="3C78D8"/>
              </a:solidFill>
              <a:latin typeface="Calibri"/>
              <a:ea typeface="Calibri"/>
              <a:cs typeface="Calibri"/>
              <a:sym typeface="Calibri"/>
            </a:endParaRPr>
          </a:p>
        </p:txBody>
      </p:sp>
      <p:sp>
        <p:nvSpPr>
          <p:cNvPr id="64" name="Google Shape;64;p15"/>
          <p:cNvSpPr txBox="1"/>
          <p:nvPr/>
        </p:nvSpPr>
        <p:spPr>
          <a:xfrm>
            <a:off x="55167" y="-22692"/>
            <a:ext cx="4420200" cy="480300"/>
          </a:xfrm>
          <a:prstGeom prst="rect">
            <a:avLst/>
          </a:prstGeom>
          <a:noFill/>
          <a:ln>
            <a:noFill/>
          </a:ln>
        </p:spPr>
        <p:txBody>
          <a:bodyPr spcFirstLastPara="1" wrap="square" lIns="9125" tIns="9125" rIns="9125" bIns="9125" anchor="t" anchorCtr="0">
            <a:spAutoFit/>
          </a:bodyPr>
          <a:lstStyle/>
          <a:p>
            <a:pPr marL="0" marR="0" lvl="0" indent="0" algn="ctr" rtl="0">
              <a:lnSpc>
                <a:spcPct val="100000"/>
              </a:lnSpc>
              <a:spcBef>
                <a:spcPts val="0"/>
              </a:spcBef>
              <a:spcAft>
                <a:spcPts val="0"/>
              </a:spcAft>
              <a:buClr>
                <a:srgbClr val="000000"/>
              </a:buClr>
              <a:buSzPts val="3600"/>
              <a:buFont typeface="Arial"/>
              <a:buNone/>
            </a:pPr>
            <a:r>
              <a:rPr lang="en" sz="3000" b="1">
                <a:solidFill>
                  <a:srgbClr val="3C78D8"/>
                </a:solidFill>
                <a:latin typeface="Calibri"/>
                <a:ea typeface="Calibri"/>
                <a:cs typeface="Calibri"/>
                <a:sym typeface="Calibri"/>
              </a:rPr>
              <a:t>AI Updates - July 31, 2026</a:t>
            </a:r>
            <a:endParaRPr sz="3000" b="1">
              <a:solidFill>
                <a:srgbClr val="3C78D8"/>
              </a:solidFill>
              <a:latin typeface="Calibri"/>
              <a:ea typeface="Calibri"/>
              <a:cs typeface="Calibri"/>
              <a:sym typeface="Calibri"/>
            </a:endParaRPr>
          </a:p>
        </p:txBody>
      </p:sp>
      <p:sp>
        <p:nvSpPr>
          <p:cNvPr id="65" name="Google Shape;65;p15"/>
          <p:cNvSpPr txBox="1"/>
          <p:nvPr/>
        </p:nvSpPr>
        <p:spPr>
          <a:xfrm>
            <a:off x="4537021" y="3748539"/>
            <a:ext cx="4525800" cy="1311300"/>
          </a:xfrm>
          <a:prstGeom prst="rect">
            <a:avLst/>
          </a:prstGeom>
          <a:solidFill>
            <a:srgbClr val="FCE5CD"/>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Hive - Multi-Agent Orchestration</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Automating Email Outreach with Hermes Agent</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SuperFile - Open Terminal File Manager</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17 Tricks To Build 10x Faster with Claude</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Process-centric spec-driven development</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Jobs &amp; Layoffs</a:t>
            </a:r>
            <a:endParaRPr b="1">
              <a:solidFill>
                <a:srgbClr val="3C78D8"/>
              </a:solidFill>
              <a:latin typeface="Calibri"/>
              <a:ea typeface="Calibri"/>
              <a:cs typeface="Calibri"/>
              <a:sym typeface="Calibri"/>
            </a:endParaRPr>
          </a:p>
        </p:txBody>
      </p:sp>
      <p:sp>
        <p:nvSpPr>
          <p:cNvPr id="66" name="Google Shape;66;p15"/>
          <p:cNvSpPr txBox="1"/>
          <p:nvPr/>
        </p:nvSpPr>
        <p:spPr>
          <a:xfrm>
            <a:off x="5548900" y="24350"/>
            <a:ext cx="2925900" cy="646500"/>
          </a:xfrm>
          <a:prstGeom prst="rect">
            <a:avLst/>
          </a:prstGeom>
          <a:noFill/>
          <a:ln>
            <a:noFill/>
          </a:ln>
        </p:spPr>
        <p:txBody>
          <a:bodyPr spcFirstLastPara="1" wrap="square" lIns="45700" tIns="45700" rIns="45700" bIns="45700" anchor="t" anchorCtr="0">
            <a:spAutoFit/>
          </a:bodyPr>
          <a:lstStyle/>
          <a:p>
            <a:pPr marL="0" marR="0" lvl="0" indent="0" algn="l" rtl="0">
              <a:lnSpc>
                <a:spcPct val="100000"/>
              </a:lnSpc>
              <a:spcBef>
                <a:spcPts val="0"/>
              </a:spcBef>
              <a:spcAft>
                <a:spcPts val="0"/>
              </a:spcAft>
              <a:buNone/>
            </a:pPr>
            <a:r>
              <a:rPr lang="en" sz="1800" b="1" i="1">
                <a:solidFill>
                  <a:srgbClr val="FF0000"/>
                </a:solidFill>
                <a:latin typeface="Calibri"/>
                <a:ea typeface="Calibri"/>
                <a:cs typeface="Calibri"/>
                <a:sym typeface="Calibri"/>
              </a:rPr>
              <a:t>Trend - RSI </a:t>
            </a:r>
            <a:br>
              <a:rPr lang="en" sz="1800" b="1" i="1">
                <a:solidFill>
                  <a:srgbClr val="FF0000"/>
                </a:solidFill>
                <a:latin typeface="Calibri"/>
                <a:ea typeface="Calibri"/>
                <a:cs typeface="Calibri"/>
                <a:sym typeface="Calibri"/>
              </a:rPr>
            </a:br>
            <a:r>
              <a:rPr lang="en" sz="1800" b="1" i="1">
                <a:solidFill>
                  <a:srgbClr val="FF0000"/>
                </a:solidFill>
                <a:latin typeface="Calibri"/>
                <a:ea typeface="Calibri"/>
                <a:cs typeface="Calibri"/>
                <a:sym typeface="Calibri"/>
              </a:rPr>
              <a:t>Recursive Self-Improvement</a:t>
            </a:r>
            <a:endParaRPr sz="1800" b="1" i="1">
              <a:solidFill>
                <a:srgbClr val="FF0000"/>
              </a:solidFill>
              <a:latin typeface="Calibri"/>
              <a:ea typeface="Calibri"/>
              <a:cs typeface="Calibri"/>
              <a:sym typeface="Calibri"/>
            </a:endParaRPr>
          </a:p>
        </p:txBody>
      </p:sp>
      <p:sp>
        <p:nvSpPr>
          <p:cNvPr id="67" name="Google Shape;67;p15"/>
          <p:cNvSpPr txBox="1"/>
          <p:nvPr/>
        </p:nvSpPr>
        <p:spPr>
          <a:xfrm>
            <a:off x="4537132" y="661513"/>
            <a:ext cx="4525800" cy="3035400"/>
          </a:xfrm>
          <a:prstGeom prst="rect">
            <a:avLst/>
          </a:prstGeom>
          <a:solidFill>
            <a:srgbClr val="D9EAD3"/>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Grok Build CLI</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Claude Fable 5 Disproves Jacobian Conjecture</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The Buzz platform Demo - very Exciting!</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Google OKF v.0.2</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Nativ - a local AI Runner for macOS</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Rust - LLM in Rust, Topcoat Rust web framework</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DuckDB , Snowflake , Litestream</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Cognee - Persistent Memory for AI Agents</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Code Graph Tools - Graphify vs GitNexus vs CodeGraph</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Hermes Loop - Builder + Judge</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LLaDA2.2-flash - Open-Source Diffusion Model</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The Last 30 Days Skill for Claude Code</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$5 VPS That Replaced My Entire AWS Bill</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Redis vs Valkey: Caching Architecture</a:t>
            </a:r>
            <a:endParaRPr b="1">
              <a:solidFill>
                <a:srgbClr val="3C78D8"/>
              </a:solidFill>
              <a:latin typeface="Calibri"/>
              <a:ea typeface="Calibri"/>
              <a:cs typeface="Calibri"/>
              <a:sym typeface="Calibri"/>
            </a:endParaRPr>
          </a:p>
        </p:txBody>
      </p:sp>
      <p:sp>
        <p:nvSpPr>
          <p:cNvPr id="68" name="Google Shape;68;p15"/>
          <p:cNvSpPr txBox="1"/>
          <p:nvPr/>
        </p:nvSpPr>
        <p:spPr>
          <a:xfrm>
            <a:off x="100175" y="2466593"/>
            <a:ext cx="4330200" cy="2604300"/>
          </a:xfrm>
          <a:prstGeom prst="rect">
            <a:avLst/>
          </a:prstGeom>
          <a:solidFill>
            <a:srgbClr val="D0E0E3"/>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OpenAI AI Agent Escape Investigation</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Runtime &amp; Loops in OpenClaw &amp; Hermes</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Microsoft Agent Framework Harness</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Genspark AI Workspace 6.0 Updates</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Model Fusion, Model Routing</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Make Slide Presentation Videos in Google Slides</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SGLang - Fast LLM Serving Engine</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Andrew NG’s “OpenWorker”</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Recursive Super Intelligence by Richard Socher</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Tasklet</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AI Prototyping Over Upfront Specs</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Trend - from Serverless to Monoliths</a:t>
            </a:r>
            <a:endParaRPr b="1">
              <a:solidFill>
                <a:srgbClr val="3C78D8"/>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72"/>
        <p:cNvGrpSpPr/>
        <p:nvPr/>
      </p:nvGrpSpPr>
      <p:grpSpPr>
        <a:xfrm>
          <a:off x="0" y="0"/>
          <a:ext cx="0" cy="0"/>
          <a:chOff x="0" y="0"/>
          <a:chExt cx="0" cy="0"/>
        </a:xfrm>
      </p:grpSpPr>
      <p:sp>
        <p:nvSpPr>
          <p:cNvPr id="73" name="Google Shape;73;p16"/>
          <p:cNvSpPr txBox="1"/>
          <p:nvPr/>
        </p:nvSpPr>
        <p:spPr>
          <a:xfrm>
            <a:off x="6736325" y="52350"/>
            <a:ext cx="2356200" cy="341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1200" b="0" i="0" u="none" strike="noStrike" cap="none">
                <a:solidFill>
                  <a:schemeClr val="dk1"/>
                </a:solidFill>
                <a:latin typeface="Calibri"/>
                <a:ea typeface="Calibri"/>
                <a:cs typeface="Calibri"/>
                <a:sym typeface="Calibri"/>
              </a:rPr>
              <a:t>Starting Elo rating = 1000</a:t>
            </a:r>
            <a:endParaRPr sz="1200" b="0" i="0" u="none" strike="noStrike" cap="none">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r>
              <a:rPr lang="en" sz="900" b="0" i="0" u="sng" strike="noStrike" cap="none">
                <a:solidFill>
                  <a:schemeClr val="hlink"/>
                </a:solidFill>
                <a:latin typeface="Calibri"/>
                <a:ea typeface="Calibri"/>
                <a:cs typeface="Calibri"/>
                <a:sym typeface="Calibri"/>
                <a:hlinkClick r:id="rId3"/>
              </a:rPr>
              <a:t>https://en.wikipedia.org/wiki/Elo_rating_system</a:t>
            </a:r>
            <a:r>
              <a:rPr lang="en" sz="900" b="0" i="0" u="none" strike="noStrike" cap="none">
                <a:solidFill>
                  <a:schemeClr val="dk1"/>
                </a:solidFill>
                <a:latin typeface="Calibri"/>
                <a:ea typeface="Calibri"/>
                <a:cs typeface="Calibri"/>
                <a:sym typeface="Calibri"/>
              </a:rPr>
              <a:t> </a:t>
            </a:r>
            <a:endParaRPr sz="900" b="0" i="0" u="none" strike="noStrike" cap="none">
              <a:solidFill>
                <a:schemeClr val="dk1"/>
              </a:solidFill>
              <a:latin typeface="Calibri"/>
              <a:ea typeface="Calibri"/>
              <a:cs typeface="Calibri"/>
              <a:sym typeface="Calibri"/>
            </a:endParaRPr>
          </a:p>
        </p:txBody>
      </p:sp>
      <p:sp>
        <p:nvSpPr>
          <p:cNvPr id="74" name="Google Shape;74;p16"/>
          <p:cNvSpPr txBox="1"/>
          <p:nvPr/>
        </p:nvSpPr>
        <p:spPr>
          <a:xfrm>
            <a:off x="38150" y="2125"/>
            <a:ext cx="2599800" cy="2955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2000"/>
              <a:buFont typeface="Arial"/>
              <a:buNone/>
            </a:pPr>
            <a:r>
              <a:rPr lang="en" sz="1800" b="1" i="0" u="none" strike="noStrike" cap="none">
                <a:solidFill>
                  <a:schemeClr val="dk1"/>
                </a:solidFill>
                <a:latin typeface="Calibri"/>
                <a:ea typeface="Calibri"/>
                <a:cs typeface="Calibri"/>
                <a:sym typeface="Calibri"/>
              </a:rPr>
              <a:t>"LM Arena" Leaderboard</a:t>
            </a:r>
            <a:endParaRPr sz="1800" b="1" i="0" u="none" strike="noStrike" cap="none">
              <a:solidFill>
                <a:srgbClr val="000000"/>
              </a:solidFill>
              <a:latin typeface="Calibri"/>
              <a:ea typeface="Calibri"/>
              <a:cs typeface="Calibri"/>
              <a:sym typeface="Calibri"/>
            </a:endParaRPr>
          </a:p>
        </p:txBody>
      </p:sp>
      <p:sp>
        <p:nvSpPr>
          <p:cNvPr id="75" name="Google Shape;75;p16"/>
          <p:cNvSpPr txBox="1"/>
          <p:nvPr/>
        </p:nvSpPr>
        <p:spPr>
          <a:xfrm>
            <a:off x="52418" y="476072"/>
            <a:ext cx="2599800" cy="203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ctr" rtl="0">
              <a:lnSpc>
                <a:spcPct val="100000"/>
              </a:lnSpc>
              <a:spcBef>
                <a:spcPts val="0"/>
              </a:spcBef>
              <a:spcAft>
                <a:spcPts val="0"/>
              </a:spcAft>
              <a:buClr>
                <a:schemeClr val="dk1"/>
              </a:buClr>
              <a:buSzPts val="1100"/>
              <a:buFont typeface="Arial"/>
              <a:buNone/>
            </a:pPr>
            <a:r>
              <a:rPr lang="en" sz="1200" b="1">
                <a:solidFill>
                  <a:srgbClr val="FF0000"/>
                </a:solidFill>
                <a:latin typeface="Calibri"/>
                <a:ea typeface="Calibri"/>
                <a:cs typeface="Calibri"/>
                <a:sym typeface="Calibri"/>
              </a:rPr>
              <a:t>English - </a:t>
            </a:r>
            <a:r>
              <a:rPr lang="en" sz="900" b="1" u="sng">
                <a:solidFill>
                  <a:schemeClr val="hlink"/>
                </a:solidFill>
                <a:latin typeface="Calibri"/>
                <a:ea typeface="Calibri"/>
                <a:cs typeface="Calibri"/>
                <a:sym typeface="Calibri"/>
                <a:hlinkClick r:id="rId4"/>
              </a:rPr>
              <a:t>https://lmarena.ai/leaderboard/text</a:t>
            </a:r>
            <a:r>
              <a:rPr lang="en" sz="900" b="1">
                <a:solidFill>
                  <a:srgbClr val="FF0000"/>
                </a:solidFill>
                <a:latin typeface="Calibri"/>
                <a:ea typeface="Calibri"/>
                <a:cs typeface="Calibri"/>
                <a:sym typeface="Calibri"/>
              </a:rPr>
              <a:t> </a:t>
            </a:r>
            <a:endParaRPr sz="900" b="1">
              <a:solidFill>
                <a:srgbClr val="FF0000"/>
              </a:solidFill>
              <a:latin typeface="Calibri"/>
              <a:ea typeface="Calibri"/>
              <a:cs typeface="Calibri"/>
              <a:sym typeface="Calibri"/>
            </a:endParaRPr>
          </a:p>
        </p:txBody>
      </p:sp>
      <p:sp>
        <p:nvSpPr>
          <p:cNvPr id="76" name="Google Shape;76;p16"/>
          <p:cNvSpPr txBox="1"/>
          <p:nvPr/>
        </p:nvSpPr>
        <p:spPr>
          <a:xfrm>
            <a:off x="2726905" y="476078"/>
            <a:ext cx="2839500" cy="203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ctr" rtl="0">
              <a:lnSpc>
                <a:spcPct val="100000"/>
              </a:lnSpc>
              <a:spcBef>
                <a:spcPts val="0"/>
              </a:spcBef>
              <a:spcAft>
                <a:spcPts val="0"/>
              </a:spcAft>
              <a:buClr>
                <a:schemeClr val="dk1"/>
              </a:buClr>
              <a:buSzPts val="1100"/>
              <a:buFont typeface="Arial"/>
              <a:buNone/>
            </a:pPr>
            <a:r>
              <a:rPr lang="en" sz="1200" b="1">
                <a:solidFill>
                  <a:srgbClr val="FF0000"/>
                </a:solidFill>
                <a:latin typeface="Calibri"/>
                <a:ea typeface="Calibri"/>
                <a:cs typeface="Calibri"/>
                <a:sym typeface="Calibri"/>
              </a:rPr>
              <a:t>Coding - </a:t>
            </a:r>
            <a:r>
              <a:rPr lang="en" sz="900" b="1" u="sng">
                <a:solidFill>
                  <a:schemeClr val="hlink"/>
                </a:solidFill>
                <a:latin typeface="Calibri"/>
                <a:ea typeface="Calibri"/>
                <a:cs typeface="Calibri"/>
                <a:sym typeface="Calibri"/>
                <a:hlinkClick r:id="rId5"/>
              </a:rPr>
              <a:t>https://lmarena.ai/leaderboard/text/coding</a:t>
            </a:r>
            <a:r>
              <a:rPr lang="en" sz="900" b="1">
                <a:solidFill>
                  <a:srgbClr val="FF0000"/>
                </a:solidFill>
                <a:latin typeface="Calibri"/>
                <a:ea typeface="Calibri"/>
                <a:cs typeface="Calibri"/>
                <a:sym typeface="Calibri"/>
              </a:rPr>
              <a:t>  </a:t>
            </a:r>
            <a:endParaRPr sz="900" b="0" i="0" u="none" strike="noStrike" cap="none">
              <a:solidFill>
                <a:schemeClr val="dk1"/>
              </a:solidFill>
              <a:latin typeface="Calibri"/>
              <a:ea typeface="Calibri"/>
              <a:cs typeface="Calibri"/>
              <a:sym typeface="Calibri"/>
            </a:endParaRPr>
          </a:p>
        </p:txBody>
      </p:sp>
      <p:sp>
        <p:nvSpPr>
          <p:cNvPr id="77" name="Google Shape;77;p16"/>
          <p:cNvSpPr txBox="1"/>
          <p:nvPr/>
        </p:nvSpPr>
        <p:spPr>
          <a:xfrm>
            <a:off x="3437903" y="63625"/>
            <a:ext cx="1408200" cy="172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ctr" rtl="0">
              <a:lnSpc>
                <a:spcPct val="100000"/>
              </a:lnSpc>
              <a:spcBef>
                <a:spcPts val="0"/>
              </a:spcBef>
              <a:spcAft>
                <a:spcPts val="0"/>
              </a:spcAft>
              <a:buNone/>
            </a:pPr>
            <a:r>
              <a:rPr lang="en" sz="1000">
                <a:latin typeface="Calibri"/>
                <a:ea typeface="Calibri"/>
                <a:cs typeface="Calibri"/>
                <a:sym typeface="Calibri"/>
              </a:rPr>
              <a:t>Data for July 27</a:t>
            </a:r>
            <a:endParaRPr sz="1000">
              <a:latin typeface="Calibri"/>
              <a:ea typeface="Calibri"/>
              <a:cs typeface="Calibri"/>
              <a:sym typeface="Calibri"/>
            </a:endParaRPr>
          </a:p>
        </p:txBody>
      </p:sp>
      <p:graphicFrame>
        <p:nvGraphicFramePr>
          <p:cNvPr id="78" name="Google Shape;78;p16"/>
          <p:cNvGraphicFramePr/>
          <p:nvPr/>
        </p:nvGraphicFramePr>
        <p:xfrm>
          <a:off x="5742420" y="430065"/>
          <a:ext cx="3000000" cy="3000000"/>
        </p:xfrm>
        <a:graphic>
          <a:graphicData uri="http://schemas.openxmlformats.org/drawingml/2006/table">
            <a:tbl>
              <a:tblPr>
                <a:noFill/>
                <a:tableStyleId>{BAF42615-4C54-4AD7-865E-22C827488C07}</a:tableStyleId>
              </a:tblPr>
              <a:tblGrid>
                <a:gridCol w="219050">
                  <a:extLst>
                    <a:ext uri="{9D8B030D-6E8A-4147-A177-3AD203B41FA5}">
                      <a16:colId xmlns:a16="http://schemas.microsoft.com/office/drawing/2014/main" val="20000"/>
                    </a:ext>
                  </a:extLst>
                </a:gridCol>
                <a:gridCol w="585450">
                  <a:extLst>
                    <a:ext uri="{9D8B030D-6E8A-4147-A177-3AD203B41FA5}">
                      <a16:colId xmlns:a16="http://schemas.microsoft.com/office/drawing/2014/main" val="20001"/>
                    </a:ext>
                  </a:extLst>
                </a:gridCol>
              </a:tblGrid>
              <a:tr h="142875">
                <a:tc>
                  <a:txBody>
                    <a:bodyPr/>
                    <a:lstStyle/>
                    <a:p>
                      <a:pPr marL="0" lvl="0" indent="0" algn="l" rtl="0">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525" marR="9525" marT="9525" marB="9125" anchor="ctr">
                    <a:solidFill>
                      <a:srgbClr val="4472C4"/>
                    </a:solidFill>
                  </a:tcPr>
                </a:tc>
                <a:tc>
                  <a:txBody>
                    <a:bodyPr/>
                    <a:lstStyle/>
                    <a:p>
                      <a:pPr marL="0" lvl="0" indent="0" algn="l" rtl="0">
                        <a:spcBef>
                          <a:spcPts val="0"/>
                        </a:spcBef>
                        <a:spcAft>
                          <a:spcPts val="0"/>
                        </a:spcAft>
                        <a:buNone/>
                      </a:pPr>
                      <a:r>
                        <a:rPr lang="en" sz="800">
                          <a:latin typeface="Calibri"/>
                          <a:ea typeface="Calibri"/>
                          <a:cs typeface="Calibri"/>
                          <a:sym typeface="Calibri"/>
                        </a:rPr>
                        <a:t>Claude</a:t>
                      </a:r>
                      <a:endParaRPr sz="800">
                        <a:latin typeface="Calibri"/>
                        <a:ea typeface="Calibri"/>
                        <a:cs typeface="Calibri"/>
                        <a:sym typeface="Calibri"/>
                      </a:endParaRPr>
                    </a:p>
                  </a:txBody>
                  <a:tcPr marL="9525" marR="9525" marT="9525" marB="9125" anchor="b"/>
                </a:tc>
                <a:extLst>
                  <a:ext uri="{0D108BD9-81ED-4DB2-BD59-A6C34878D82A}">
                    <a16:rowId xmlns:a16="http://schemas.microsoft.com/office/drawing/2014/main" val="10000"/>
                  </a:ext>
                </a:extLst>
              </a:tr>
              <a:tr h="142875">
                <a:tc>
                  <a:txBody>
                    <a:bodyPr/>
                    <a:lstStyle/>
                    <a:p>
                      <a:pPr marL="0" lvl="0" indent="0" algn="l" rtl="0">
                        <a:spcBef>
                          <a:spcPts val="0"/>
                        </a:spcBef>
                        <a:spcAft>
                          <a:spcPts val="0"/>
                        </a:spcAft>
                        <a:buNone/>
                      </a:pPr>
                      <a:r>
                        <a:rPr lang="en" sz="800">
                          <a:solidFill>
                            <a:srgbClr val="FF0000"/>
                          </a:solidFill>
                          <a:latin typeface="Calibri"/>
                          <a:ea typeface="Calibri"/>
                          <a:cs typeface="Calibri"/>
                          <a:sym typeface="Calibri"/>
                        </a:rPr>
                        <a:t>■</a:t>
                      </a:r>
                      <a:endParaRPr sz="800">
                        <a:solidFill>
                          <a:srgbClr val="FF0000"/>
                        </a:solidFill>
                        <a:latin typeface="Calibri"/>
                        <a:ea typeface="Calibri"/>
                        <a:cs typeface="Calibri"/>
                        <a:sym typeface="Calibri"/>
                      </a:endParaRPr>
                    </a:p>
                  </a:txBody>
                  <a:tcPr marL="9525" marR="9525" marT="9525" marB="9125" anchor="ctr">
                    <a:solidFill>
                      <a:srgbClr val="FF0000"/>
                    </a:solidFill>
                  </a:tcPr>
                </a:tc>
                <a:tc>
                  <a:txBody>
                    <a:bodyPr/>
                    <a:lstStyle/>
                    <a:p>
                      <a:pPr marL="0" lvl="0" indent="0" algn="l" rtl="0">
                        <a:spcBef>
                          <a:spcPts val="0"/>
                        </a:spcBef>
                        <a:spcAft>
                          <a:spcPts val="0"/>
                        </a:spcAft>
                        <a:buNone/>
                      </a:pPr>
                      <a:r>
                        <a:rPr lang="en" sz="800">
                          <a:latin typeface="Calibri"/>
                          <a:ea typeface="Calibri"/>
                          <a:cs typeface="Calibri"/>
                          <a:sym typeface="Calibri"/>
                        </a:rPr>
                        <a:t>Gemini</a:t>
                      </a:r>
                      <a:endParaRPr sz="800">
                        <a:latin typeface="Calibri"/>
                        <a:ea typeface="Calibri"/>
                        <a:cs typeface="Calibri"/>
                        <a:sym typeface="Calibri"/>
                      </a:endParaRPr>
                    </a:p>
                  </a:txBody>
                  <a:tcPr marL="9525" marR="9525" marT="9525" marB="9125" anchor="b"/>
                </a:tc>
                <a:extLst>
                  <a:ext uri="{0D108BD9-81ED-4DB2-BD59-A6C34878D82A}">
                    <a16:rowId xmlns:a16="http://schemas.microsoft.com/office/drawing/2014/main" val="10001"/>
                  </a:ext>
                </a:extLst>
              </a:tr>
              <a:tr h="142875">
                <a:tc>
                  <a:txBody>
                    <a:bodyPr/>
                    <a:lstStyle/>
                    <a:p>
                      <a:pPr marL="0" lvl="0" indent="0" algn="l" rtl="0">
                        <a:spcBef>
                          <a:spcPts val="0"/>
                        </a:spcBef>
                        <a:spcAft>
                          <a:spcPts val="0"/>
                        </a:spcAft>
                        <a:buNone/>
                      </a:pPr>
                      <a:r>
                        <a:rPr lang="en" sz="800">
                          <a:solidFill>
                            <a:srgbClr val="FFD700"/>
                          </a:solidFill>
                          <a:latin typeface="Calibri"/>
                          <a:ea typeface="Calibri"/>
                          <a:cs typeface="Calibri"/>
                          <a:sym typeface="Calibri"/>
                        </a:rPr>
                        <a:t>■</a:t>
                      </a:r>
                      <a:endParaRPr sz="800">
                        <a:solidFill>
                          <a:srgbClr val="FFD700"/>
                        </a:solidFill>
                        <a:latin typeface="Calibri"/>
                        <a:ea typeface="Calibri"/>
                        <a:cs typeface="Calibri"/>
                        <a:sym typeface="Calibri"/>
                      </a:endParaRPr>
                    </a:p>
                  </a:txBody>
                  <a:tcPr marL="9525" marR="9525" marT="9525" marB="9125" anchor="ctr">
                    <a:solidFill>
                      <a:srgbClr val="FFD700"/>
                    </a:solidFill>
                  </a:tcPr>
                </a:tc>
                <a:tc>
                  <a:txBody>
                    <a:bodyPr/>
                    <a:lstStyle/>
                    <a:p>
                      <a:pPr marL="0" lvl="0" indent="0" algn="l" rtl="0">
                        <a:spcBef>
                          <a:spcPts val="0"/>
                        </a:spcBef>
                        <a:spcAft>
                          <a:spcPts val="0"/>
                        </a:spcAft>
                        <a:buNone/>
                      </a:pPr>
                      <a:r>
                        <a:rPr lang="en" sz="800">
                          <a:latin typeface="Calibri"/>
                          <a:ea typeface="Calibri"/>
                          <a:cs typeface="Calibri"/>
                          <a:sym typeface="Calibri"/>
                        </a:rPr>
                        <a:t>OpenAI</a:t>
                      </a:r>
                      <a:endParaRPr sz="800">
                        <a:latin typeface="Calibri"/>
                        <a:ea typeface="Calibri"/>
                        <a:cs typeface="Calibri"/>
                        <a:sym typeface="Calibri"/>
                      </a:endParaRPr>
                    </a:p>
                  </a:txBody>
                  <a:tcPr marL="9525" marR="9525" marT="9525" marB="9125" anchor="b"/>
                </a:tc>
                <a:extLst>
                  <a:ext uri="{0D108BD9-81ED-4DB2-BD59-A6C34878D82A}">
                    <a16:rowId xmlns:a16="http://schemas.microsoft.com/office/drawing/2014/main" val="10002"/>
                  </a:ext>
                </a:extLst>
              </a:tr>
              <a:tr h="142875">
                <a:tc>
                  <a:txBody>
                    <a:bodyPr/>
                    <a:lstStyle/>
                    <a:p>
                      <a:pPr marL="0" lvl="0" indent="0" algn="l" rtl="0">
                        <a:spcBef>
                          <a:spcPts val="0"/>
                        </a:spcBef>
                        <a:spcAft>
                          <a:spcPts val="0"/>
                        </a:spcAft>
                        <a:buNone/>
                      </a:pPr>
                      <a:r>
                        <a:rPr lang="en" sz="800">
                          <a:solidFill>
                            <a:srgbClr val="00B050"/>
                          </a:solidFill>
                          <a:latin typeface="Calibri"/>
                          <a:ea typeface="Calibri"/>
                          <a:cs typeface="Calibri"/>
                          <a:sym typeface="Calibri"/>
                        </a:rPr>
                        <a:t>■</a:t>
                      </a:r>
                      <a:endParaRPr sz="800">
                        <a:solidFill>
                          <a:srgbClr val="00B050"/>
                        </a:solidFill>
                        <a:latin typeface="Calibri"/>
                        <a:ea typeface="Calibri"/>
                        <a:cs typeface="Calibri"/>
                        <a:sym typeface="Calibri"/>
                      </a:endParaRPr>
                    </a:p>
                  </a:txBody>
                  <a:tcPr marL="9525" marR="9525" marT="9525" marB="9125" anchor="ctr">
                    <a:solidFill>
                      <a:srgbClr val="00B050"/>
                    </a:solidFill>
                  </a:tcPr>
                </a:tc>
                <a:tc>
                  <a:txBody>
                    <a:bodyPr/>
                    <a:lstStyle/>
                    <a:p>
                      <a:pPr marL="0" lvl="0" indent="0" algn="l" rtl="0">
                        <a:spcBef>
                          <a:spcPts val="0"/>
                        </a:spcBef>
                        <a:spcAft>
                          <a:spcPts val="0"/>
                        </a:spcAft>
                        <a:buNone/>
                      </a:pPr>
                      <a:r>
                        <a:rPr lang="en" sz="800">
                          <a:latin typeface="Calibri"/>
                          <a:ea typeface="Calibri"/>
                          <a:cs typeface="Calibri"/>
                          <a:sym typeface="Calibri"/>
                        </a:rPr>
                        <a:t>Open Source</a:t>
                      </a:r>
                      <a:endParaRPr sz="800">
                        <a:latin typeface="Calibri"/>
                        <a:ea typeface="Calibri"/>
                        <a:cs typeface="Calibri"/>
                        <a:sym typeface="Calibri"/>
                      </a:endParaRPr>
                    </a:p>
                  </a:txBody>
                  <a:tcPr marL="9525" marR="9525" marT="9525" marB="9125" anchor="b"/>
                </a:tc>
                <a:extLst>
                  <a:ext uri="{0D108BD9-81ED-4DB2-BD59-A6C34878D82A}">
                    <a16:rowId xmlns:a16="http://schemas.microsoft.com/office/drawing/2014/main" val="10003"/>
                  </a:ext>
                </a:extLst>
              </a:tr>
            </a:tbl>
          </a:graphicData>
        </a:graphic>
      </p:graphicFrame>
      <p:sp>
        <p:nvSpPr>
          <p:cNvPr id="79" name="Google Shape;79;p16"/>
          <p:cNvSpPr txBox="1"/>
          <p:nvPr/>
        </p:nvSpPr>
        <p:spPr>
          <a:xfrm>
            <a:off x="6838390" y="485738"/>
            <a:ext cx="2152500" cy="2173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0650" algn="l" rtl="0">
              <a:lnSpc>
                <a:spcPct val="100000"/>
              </a:lnSpc>
              <a:spcBef>
                <a:spcPts val="0"/>
              </a:spcBef>
              <a:spcAft>
                <a:spcPts val="0"/>
              </a:spcAft>
              <a:buSzPts val="1000"/>
              <a:buFont typeface="Calibri"/>
              <a:buChar char="●"/>
            </a:pPr>
            <a:r>
              <a:rPr lang="en" sz="1000">
                <a:highlight>
                  <a:srgbClr val="C9DAF8"/>
                </a:highlight>
                <a:latin typeface="Calibri"/>
                <a:ea typeface="Calibri"/>
                <a:cs typeface="Calibri"/>
                <a:sym typeface="Calibri"/>
              </a:rPr>
              <a:t>Claude Fable-5 - 6TB</a:t>
            </a:r>
            <a:endParaRPr sz="1000">
              <a:highlight>
                <a:srgbClr val="C9DAF8"/>
              </a:highlight>
              <a:latin typeface="Calibri"/>
              <a:ea typeface="Calibri"/>
              <a:cs typeface="Calibri"/>
              <a:sym typeface="Calibri"/>
            </a:endParaRPr>
          </a:p>
          <a:p>
            <a:pPr marL="171450" marR="0" lvl="0" indent="-120650" algn="l" rtl="0">
              <a:lnSpc>
                <a:spcPct val="100000"/>
              </a:lnSpc>
              <a:spcBef>
                <a:spcPts val="0"/>
              </a:spcBef>
              <a:spcAft>
                <a:spcPts val="0"/>
              </a:spcAft>
              <a:buSzPts val="1000"/>
              <a:buFont typeface="Calibri"/>
              <a:buChar char="●"/>
            </a:pPr>
            <a:r>
              <a:rPr lang="en" sz="1000">
                <a:highlight>
                  <a:srgbClr val="C9DAF8"/>
                </a:highlight>
                <a:latin typeface="Calibri"/>
                <a:ea typeface="Calibri"/>
                <a:cs typeface="Calibri"/>
                <a:sym typeface="Calibri"/>
              </a:rPr>
              <a:t>Claude Opus-4.8 - 5TB</a:t>
            </a:r>
            <a:endParaRPr sz="1000">
              <a:highlight>
                <a:srgbClr val="C9DAF8"/>
              </a:highlight>
              <a:latin typeface="Calibri"/>
              <a:ea typeface="Calibri"/>
              <a:cs typeface="Calibri"/>
              <a:sym typeface="Calibri"/>
            </a:endParaRPr>
          </a:p>
          <a:p>
            <a:pPr marL="171450" marR="0" lvl="0" indent="-120650" algn="l" rtl="0">
              <a:lnSpc>
                <a:spcPct val="100000"/>
              </a:lnSpc>
              <a:spcBef>
                <a:spcPts val="0"/>
              </a:spcBef>
              <a:spcAft>
                <a:spcPts val="0"/>
              </a:spcAft>
              <a:buSzPts val="1000"/>
              <a:buFont typeface="Calibri"/>
              <a:buChar char="●"/>
            </a:pPr>
            <a:r>
              <a:rPr lang="en" sz="1000">
                <a:highlight>
                  <a:srgbClr val="C9DAF8"/>
                </a:highlight>
                <a:latin typeface="Calibri"/>
                <a:ea typeface="Calibri"/>
                <a:cs typeface="Calibri"/>
                <a:sym typeface="Calibri"/>
              </a:rPr>
              <a:t>Claude Sonnet-4.5 - 1TB</a:t>
            </a:r>
            <a:endParaRPr sz="1000">
              <a:highlight>
                <a:srgbClr val="C9DAF8"/>
              </a:highlight>
              <a:latin typeface="Calibri"/>
              <a:ea typeface="Calibri"/>
              <a:cs typeface="Calibri"/>
              <a:sym typeface="Calibri"/>
            </a:endParaRPr>
          </a:p>
          <a:p>
            <a:pPr marL="171450" marR="0" lvl="0" indent="-120650" algn="l" rtl="0">
              <a:lnSpc>
                <a:spcPct val="100000"/>
              </a:lnSpc>
              <a:spcBef>
                <a:spcPts val="0"/>
              </a:spcBef>
              <a:spcAft>
                <a:spcPts val="0"/>
              </a:spcAft>
              <a:buSzPts val="1000"/>
              <a:buFont typeface="Calibri"/>
              <a:buChar char="●"/>
            </a:pPr>
            <a:r>
              <a:rPr lang="en" sz="1000">
                <a:highlight>
                  <a:srgbClr val="C9DAF8"/>
                </a:highlight>
                <a:latin typeface="Calibri"/>
                <a:ea typeface="Calibri"/>
                <a:cs typeface="Calibri"/>
                <a:sym typeface="Calibri"/>
              </a:rPr>
              <a:t>Claude Sonnet-5 - ?</a:t>
            </a:r>
            <a:endParaRPr sz="1000">
              <a:highlight>
                <a:srgbClr val="C9DAF8"/>
              </a:highlight>
              <a:latin typeface="Calibri"/>
              <a:ea typeface="Calibri"/>
              <a:cs typeface="Calibri"/>
              <a:sym typeface="Calibri"/>
            </a:endParaRPr>
          </a:p>
          <a:p>
            <a:pPr marL="171450" marR="0" lvl="0" indent="-120650" algn="l" rtl="0">
              <a:lnSpc>
                <a:spcPct val="100000"/>
              </a:lnSpc>
              <a:spcBef>
                <a:spcPts val="0"/>
              </a:spcBef>
              <a:spcAft>
                <a:spcPts val="0"/>
              </a:spcAft>
              <a:buSzPts val="1000"/>
              <a:buFont typeface="Calibri"/>
              <a:buChar char="●"/>
            </a:pPr>
            <a:r>
              <a:rPr lang="en" sz="1000">
                <a:latin typeface="Calibri"/>
                <a:ea typeface="Calibri"/>
                <a:cs typeface="Calibri"/>
                <a:sym typeface="Calibri"/>
              </a:rPr>
              <a:t>GLM-5.1 - 744B </a:t>
            </a:r>
            <a:endParaRPr sz="1000">
              <a:latin typeface="Calibri"/>
              <a:ea typeface="Calibri"/>
              <a:cs typeface="Calibri"/>
              <a:sym typeface="Calibri"/>
            </a:endParaRPr>
          </a:p>
          <a:p>
            <a:pPr marL="171450" marR="0" lvl="0" indent="-120650" algn="l" rtl="0">
              <a:lnSpc>
                <a:spcPct val="100000"/>
              </a:lnSpc>
              <a:spcBef>
                <a:spcPts val="0"/>
              </a:spcBef>
              <a:spcAft>
                <a:spcPts val="0"/>
              </a:spcAft>
              <a:buSzPts val="1000"/>
              <a:buFont typeface="Calibri"/>
              <a:buChar char="●"/>
            </a:pPr>
            <a:r>
              <a:rPr lang="en" sz="1000">
                <a:latin typeface="Calibri"/>
                <a:ea typeface="Calibri"/>
                <a:cs typeface="Calibri"/>
                <a:sym typeface="Calibri"/>
              </a:rPr>
              <a:t>Meta muse-spark - 16 x 70B</a:t>
            </a:r>
            <a:endParaRPr sz="1000">
              <a:latin typeface="Calibri"/>
              <a:ea typeface="Calibri"/>
              <a:cs typeface="Calibri"/>
              <a:sym typeface="Calibri"/>
            </a:endParaRPr>
          </a:p>
          <a:p>
            <a:pPr marL="171450" marR="0" lvl="0" indent="-120650" algn="l" rtl="0">
              <a:lnSpc>
                <a:spcPct val="100000"/>
              </a:lnSpc>
              <a:spcBef>
                <a:spcPts val="0"/>
              </a:spcBef>
              <a:spcAft>
                <a:spcPts val="0"/>
              </a:spcAft>
              <a:buSzPts val="1000"/>
              <a:buFont typeface="Calibri"/>
              <a:buChar char="●"/>
            </a:pPr>
            <a:r>
              <a:rPr lang="en" sz="1000">
                <a:latin typeface="Calibri"/>
                <a:ea typeface="Calibri"/>
                <a:cs typeface="Calibri"/>
                <a:sym typeface="Calibri"/>
              </a:rPr>
              <a:t>Qwen3.7-max-preview - 745B</a:t>
            </a:r>
            <a:endParaRPr sz="1000">
              <a:latin typeface="Calibri"/>
              <a:ea typeface="Calibri"/>
              <a:cs typeface="Calibri"/>
              <a:sym typeface="Calibri"/>
            </a:endParaRPr>
          </a:p>
          <a:p>
            <a:pPr marL="171450" marR="0" lvl="0" indent="-120650" algn="l" rtl="0">
              <a:lnSpc>
                <a:spcPct val="100000"/>
              </a:lnSpc>
              <a:spcBef>
                <a:spcPts val="0"/>
              </a:spcBef>
              <a:spcAft>
                <a:spcPts val="0"/>
              </a:spcAft>
              <a:buSzPts val="1000"/>
              <a:buFont typeface="Calibri"/>
              <a:buChar char="●"/>
            </a:pPr>
            <a:r>
              <a:rPr lang="en" sz="1000">
                <a:highlight>
                  <a:srgbClr val="C9DAF8"/>
                </a:highlight>
                <a:latin typeface="Calibri"/>
                <a:ea typeface="Calibri"/>
                <a:cs typeface="Calibri"/>
                <a:sym typeface="Calibri"/>
              </a:rPr>
              <a:t>Qwen3.8-max-preview - 2.4TB</a:t>
            </a:r>
            <a:endParaRPr sz="1000">
              <a:highlight>
                <a:srgbClr val="C9DAF8"/>
              </a:highlight>
              <a:latin typeface="Calibri"/>
              <a:ea typeface="Calibri"/>
              <a:cs typeface="Calibri"/>
              <a:sym typeface="Calibri"/>
            </a:endParaRPr>
          </a:p>
          <a:p>
            <a:pPr marL="171450" marR="0" lvl="0" indent="-120650" algn="l" rtl="0">
              <a:lnSpc>
                <a:spcPct val="100000"/>
              </a:lnSpc>
              <a:spcBef>
                <a:spcPts val="0"/>
              </a:spcBef>
              <a:spcAft>
                <a:spcPts val="0"/>
              </a:spcAft>
              <a:buSzPts val="1000"/>
              <a:buFont typeface="Calibri"/>
              <a:buChar char="●"/>
            </a:pPr>
            <a:r>
              <a:rPr lang="en" sz="1000">
                <a:latin typeface="Calibri"/>
                <a:ea typeface="Calibri"/>
                <a:cs typeface="Calibri"/>
                <a:sym typeface="Calibri"/>
              </a:rPr>
              <a:t>Baidu Ernie-5.1 - 800B</a:t>
            </a:r>
            <a:endParaRPr sz="1000">
              <a:latin typeface="Calibri"/>
              <a:ea typeface="Calibri"/>
              <a:cs typeface="Calibri"/>
              <a:sym typeface="Calibri"/>
            </a:endParaRPr>
          </a:p>
          <a:p>
            <a:pPr marL="171450" marR="0" lvl="0" indent="-120650" algn="l" rtl="0">
              <a:lnSpc>
                <a:spcPct val="100000"/>
              </a:lnSpc>
              <a:spcBef>
                <a:spcPts val="0"/>
              </a:spcBef>
              <a:spcAft>
                <a:spcPts val="0"/>
              </a:spcAft>
              <a:buSzPts val="1000"/>
              <a:buFont typeface="Calibri"/>
              <a:buChar char="●"/>
            </a:pPr>
            <a:r>
              <a:rPr lang="en" sz="1000">
                <a:latin typeface="Calibri"/>
                <a:ea typeface="Calibri"/>
                <a:cs typeface="Calibri"/>
                <a:sym typeface="Calibri"/>
              </a:rPr>
              <a:t>Deepseek-v4 - 1.6T</a:t>
            </a:r>
            <a:endParaRPr sz="1000">
              <a:latin typeface="Calibri"/>
              <a:ea typeface="Calibri"/>
              <a:cs typeface="Calibri"/>
              <a:sym typeface="Calibri"/>
            </a:endParaRPr>
          </a:p>
          <a:p>
            <a:pPr marL="171450" marR="0" lvl="0" indent="-120650" algn="l" rtl="0">
              <a:lnSpc>
                <a:spcPct val="100000"/>
              </a:lnSpc>
              <a:spcBef>
                <a:spcPts val="0"/>
              </a:spcBef>
              <a:spcAft>
                <a:spcPts val="0"/>
              </a:spcAft>
              <a:buClr>
                <a:srgbClr val="000000"/>
              </a:buClr>
              <a:buSzPts val="1000"/>
              <a:buFont typeface="Calibri"/>
              <a:buChar char="●"/>
            </a:pPr>
            <a:r>
              <a:rPr lang="en" sz="1000">
                <a:highlight>
                  <a:srgbClr val="C9DAF8"/>
                </a:highlight>
                <a:latin typeface="Calibri"/>
                <a:ea typeface="Calibri"/>
                <a:cs typeface="Calibri"/>
                <a:sym typeface="Calibri"/>
              </a:rPr>
              <a:t>Kimi-k3 - 2.8T</a:t>
            </a:r>
            <a:endParaRPr sz="1000">
              <a:highlight>
                <a:srgbClr val="C9DAF8"/>
              </a:highlight>
              <a:latin typeface="Calibri"/>
              <a:ea typeface="Calibri"/>
              <a:cs typeface="Calibri"/>
              <a:sym typeface="Calibri"/>
            </a:endParaRPr>
          </a:p>
          <a:p>
            <a:pPr marL="171450" marR="0" lvl="0" indent="-120650" algn="l" rtl="0">
              <a:lnSpc>
                <a:spcPct val="100000"/>
              </a:lnSpc>
              <a:spcBef>
                <a:spcPts val="0"/>
              </a:spcBef>
              <a:spcAft>
                <a:spcPts val="0"/>
              </a:spcAft>
              <a:buSzPts val="1000"/>
              <a:buFont typeface="Calibri"/>
              <a:buChar char="●"/>
            </a:pPr>
            <a:r>
              <a:rPr lang="en" sz="1000">
                <a:latin typeface="Calibri"/>
                <a:ea typeface="Calibri"/>
                <a:cs typeface="Calibri"/>
                <a:sym typeface="Calibri"/>
              </a:rPr>
              <a:t>Xiaomi MiMo-V2.5-Pro - 1T+</a:t>
            </a:r>
            <a:endParaRPr sz="1000">
              <a:latin typeface="Calibri"/>
              <a:ea typeface="Calibri"/>
              <a:cs typeface="Calibri"/>
              <a:sym typeface="Calibri"/>
            </a:endParaRPr>
          </a:p>
          <a:p>
            <a:pPr marL="171450" marR="0" lvl="0" indent="-120650" algn="l" rtl="0">
              <a:lnSpc>
                <a:spcPct val="100000"/>
              </a:lnSpc>
              <a:spcBef>
                <a:spcPts val="0"/>
              </a:spcBef>
              <a:spcAft>
                <a:spcPts val="0"/>
              </a:spcAft>
              <a:buSzPts val="1000"/>
              <a:buFont typeface="Calibri"/>
              <a:buChar char="●"/>
            </a:pPr>
            <a:r>
              <a:rPr lang="en" sz="1000">
                <a:solidFill>
                  <a:schemeClr val="dk1"/>
                </a:solidFill>
                <a:latin typeface="Calibri"/>
                <a:ea typeface="Calibri"/>
                <a:cs typeface="Calibri"/>
                <a:sym typeface="Calibri"/>
              </a:rPr>
              <a:t>ByteDance </a:t>
            </a:r>
            <a:r>
              <a:rPr lang="en" sz="1000">
                <a:latin typeface="Calibri"/>
                <a:ea typeface="Calibri"/>
                <a:cs typeface="Calibri"/>
                <a:sym typeface="Calibri"/>
              </a:rPr>
              <a:t>dola-seed-2.0-pro 400B</a:t>
            </a:r>
            <a:endParaRPr sz="1000">
              <a:latin typeface="Calibri"/>
              <a:ea typeface="Calibri"/>
              <a:cs typeface="Calibri"/>
              <a:sym typeface="Calibri"/>
            </a:endParaRPr>
          </a:p>
          <a:p>
            <a:pPr marL="171450" marR="0" lvl="0" indent="-120650" algn="l" rtl="0">
              <a:lnSpc>
                <a:spcPct val="100000"/>
              </a:lnSpc>
              <a:spcBef>
                <a:spcPts val="0"/>
              </a:spcBef>
              <a:spcAft>
                <a:spcPts val="0"/>
              </a:spcAft>
              <a:buSzPts val="1000"/>
              <a:buFont typeface="Calibri"/>
              <a:buChar char="●"/>
            </a:pPr>
            <a:r>
              <a:rPr lang="en" sz="1000">
                <a:latin typeface="Calibri"/>
                <a:ea typeface="Calibri"/>
                <a:cs typeface="Calibri"/>
                <a:sym typeface="Calibri"/>
              </a:rPr>
              <a:t>Minimax M3  -  456B</a:t>
            </a:r>
            <a:endParaRPr sz="1000">
              <a:latin typeface="Calibri"/>
              <a:ea typeface="Calibri"/>
              <a:cs typeface="Calibri"/>
              <a:sym typeface="Calibri"/>
            </a:endParaRPr>
          </a:p>
        </p:txBody>
      </p:sp>
      <p:graphicFrame>
        <p:nvGraphicFramePr>
          <p:cNvPr id="80" name="Google Shape;80;p16"/>
          <p:cNvGraphicFramePr/>
          <p:nvPr/>
        </p:nvGraphicFramePr>
        <p:xfrm>
          <a:off x="2956138" y="790765"/>
          <a:ext cx="3000000" cy="3000000"/>
        </p:xfrm>
        <a:graphic>
          <a:graphicData uri="http://schemas.openxmlformats.org/drawingml/2006/table">
            <a:tbl>
              <a:tblPr>
                <a:noFill/>
                <a:tableStyleId>{BAF42615-4C54-4AD7-865E-22C827488C07}</a:tableStyleId>
              </a:tblPr>
              <a:tblGrid>
                <a:gridCol w="276225">
                  <a:extLst>
                    <a:ext uri="{9D8B030D-6E8A-4147-A177-3AD203B41FA5}">
                      <a16:colId xmlns:a16="http://schemas.microsoft.com/office/drawing/2014/main" val="20000"/>
                    </a:ext>
                  </a:extLst>
                </a:gridCol>
                <a:gridCol w="1830925">
                  <a:extLst>
                    <a:ext uri="{9D8B030D-6E8A-4147-A177-3AD203B41FA5}">
                      <a16:colId xmlns:a16="http://schemas.microsoft.com/office/drawing/2014/main" val="20001"/>
                    </a:ext>
                  </a:extLst>
                </a:gridCol>
                <a:gridCol w="264575">
                  <a:extLst>
                    <a:ext uri="{9D8B030D-6E8A-4147-A177-3AD203B41FA5}">
                      <a16:colId xmlns:a16="http://schemas.microsoft.com/office/drawing/2014/main" val="20002"/>
                    </a:ext>
                  </a:extLst>
                </a:gridCol>
              </a:tblGrid>
              <a:tr h="133350">
                <a:tc>
                  <a:txBody>
                    <a:bodyPr/>
                    <a:lstStyle/>
                    <a:p>
                      <a:pPr marL="0" lvl="0" indent="0" algn="l" rtl="0">
                        <a:lnSpc>
                          <a:spcPct val="115000"/>
                        </a:lnSpc>
                        <a:spcBef>
                          <a:spcPts val="0"/>
                        </a:spcBef>
                        <a:spcAft>
                          <a:spcPts val="0"/>
                        </a:spcAft>
                        <a:buNone/>
                      </a:pPr>
                      <a:r>
                        <a:rPr lang="en" sz="800" b="1">
                          <a:latin typeface="Calibri"/>
                          <a:ea typeface="Calibri"/>
                          <a:cs typeface="Calibri"/>
                          <a:sym typeface="Calibri"/>
                        </a:rPr>
                        <a:t>Code</a:t>
                      </a:r>
                      <a:endParaRPr sz="800" b="1">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800" b="1">
                          <a:latin typeface="Calibri"/>
                          <a:ea typeface="Calibri"/>
                          <a:cs typeface="Calibri"/>
                          <a:sym typeface="Calibri"/>
                        </a:rPr>
                        <a:t>Model</a:t>
                      </a:r>
                      <a:endParaRPr sz="800" b="1">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800" b="1">
                          <a:latin typeface="Calibri"/>
                          <a:ea typeface="Calibri"/>
                          <a:cs typeface="Calibri"/>
                          <a:sym typeface="Calibri"/>
                        </a:rPr>
                        <a:t>Score</a:t>
                      </a:r>
                      <a:endParaRPr sz="800" b="1">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0"/>
                  </a:ext>
                </a:extLst>
              </a:tr>
              <a:tr h="133350">
                <a:tc>
                  <a:txBody>
                    <a:bodyPr/>
                    <a:lstStyle/>
                    <a:p>
                      <a:pPr marL="0" lvl="0" indent="0" algn="l" rtl="0">
                        <a:lnSpc>
                          <a:spcPct val="115000"/>
                        </a:lnSpc>
                        <a:spcBef>
                          <a:spcPts val="0"/>
                        </a:spcBef>
                        <a:spcAft>
                          <a:spcPts val="0"/>
                        </a:spcAft>
                        <a:buNone/>
                      </a:pPr>
                      <a:r>
                        <a:rPr lang="en" sz="800" b="1">
                          <a:solidFill>
                            <a:srgbClr val="4472C4"/>
                          </a:solidFill>
                          <a:latin typeface="Calibri"/>
                          <a:ea typeface="Calibri"/>
                          <a:cs typeface="Calibri"/>
                          <a:sym typeface="Calibri"/>
                        </a:rPr>
                        <a:t>■</a:t>
                      </a:r>
                      <a:endParaRPr sz="800" b="1">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b="1" u="sng">
                          <a:solidFill>
                            <a:schemeClr val="hlink"/>
                          </a:solidFill>
                          <a:latin typeface="Calibri"/>
                          <a:ea typeface="Calibri"/>
                          <a:cs typeface="Calibri"/>
                          <a:sym typeface="Calibri"/>
                          <a:hlinkClick r:id="rId6"/>
                        </a:rPr>
                        <a:t>claude-opus-4-7-thinking</a:t>
                      </a:r>
                      <a:endParaRPr sz="800" b="1"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b="1">
                          <a:latin typeface="Calibri"/>
                          <a:ea typeface="Calibri"/>
                          <a:cs typeface="Calibri"/>
                          <a:sym typeface="Calibri"/>
                        </a:rPr>
                        <a:t>1553</a:t>
                      </a:r>
                      <a:endParaRPr sz="800" b="1">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1"/>
                  </a:ext>
                </a:extLst>
              </a:tr>
              <a:tr h="133350">
                <a:tc>
                  <a:txBody>
                    <a:bodyPr/>
                    <a:lstStyle/>
                    <a:p>
                      <a:pPr marL="0" lvl="0" indent="0" algn="l" rtl="0">
                        <a:lnSpc>
                          <a:spcPct val="115000"/>
                        </a:lnSpc>
                        <a:spcBef>
                          <a:spcPts val="0"/>
                        </a:spcBef>
                        <a:spcAft>
                          <a:spcPts val="0"/>
                        </a:spcAft>
                        <a:buNone/>
                      </a:pPr>
                      <a:r>
                        <a:rPr lang="en" sz="800" b="1">
                          <a:solidFill>
                            <a:srgbClr val="4472C4"/>
                          </a:solidFill>
                          <a:latin typeface="Calibri"/>
                          <a:ea typeface="Calibri"/>
                          <a:cs typeface="Calibri"/>
                          <a:sym typeface="Calibri"/>
                        </a:rPr>
                        <a:t>■</a:t>
                      </a:r>
                      <a:endParaRPr sz="800" b="1">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b="1" u="sng">
                          <a:solidFill>
                            <a:schemeClr val="hlink"/>
                          </a:solidFill>
                          <a:latin typeface="Calibri"/>
                          <a:ea typeface="Calibri"/>
                          <a:cs typeface="Calibri"/>
                          <a:sym typeface="Calibri"/>
                          <a:hlinkClick r:id="rId7"/>
                        </a:rPr>
                        <a:t>claude-fable-5</a:t>
                      </a:r>
                      <a:endParaRPr sz="800" b="1"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b="1">
                          <a:latin typeface="Calibri"/>
                          <a:ea typeface="Calibri"/>
                          <a:cs typeface="Calibri"/>
                          <a:sym typeface="Calibri"/>
                        </a:rPr>
                        <a:t>1552</a:t>
                      </a:r>
                      <a:endParaRPr sz="800" b="1">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2"/>
                  </a:ext>
                </a:extLst>
              </a:tr>
              <a:tr h="133350">
                <a:tc>
                  <a:txBody>
                    <a:bodyPr/>
                    <a:lstStyle/>
                    <a:p>
                      <a:pPr marL="0" lvl="0" indent="0" algn="l" rtl="0">
                        <a:lnSpc>
                          <a:spcPct val="115000"/>
                        </a:lnSpc>
                        <a:spcBef>
                          <a:spcPts val="0"/>
                        </a:spcBef>
                        <a:spcAft>
                          <a:spcPts val="0"/>
                        </a:spcAft>
                        <a:buNone/>
                      </a:pPr>
                      <a:r>
                        <a:rPr lang="en" sz="800" b="1">
                          <a:solidFill>
                            <a:srgbClr val="4472C4"/>
                          </a:solidFill>
                          <a:latin typeface="Calibri"/>
                          <a:ea typeface="Calibri"/>
                          <a:cs typeface="Calibri"/>
                          <a:sym typeface="Calibri"/>
                        </a:rPr>
                        <a:t>■</a:t>
                      </a:r>
                      <a:endParaRPr sz="800" b="1">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b="1" u="sng">
                          <a:solidFill>
                            <a:schemeClr val="hlink"/>
                          </a:solidFill>
                          <a:latin typeface="Calibri"/>
                          <a:ea typeface="Calibri"/>
                          <a:cs typeface="Calibri"/>
                          <a:sym typeface="Calibri"/>
                          <a:hlinkClick r:id="rId8"/>
                        </a:rPr>
                        <a:t>claude-opus-4-6-thinking</a:t>
                      </a:r>
                      <a:endParaRPr sz="800" b="1"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b="1">
                          <a:latin typeface="Calibri"/>
                          <a:ea typeface="Calibri"/>
                          <a:cs typeface="Calibri"/>
                          <a:sym typeface="Calibri"/>
                        </a:rPr>
                        <a:t>1550</a:t>
                      </a:r>
                      <a:endParaRPr sz="800" b="1">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3"/>
                  </a:ext>
                </a:extLst>
              </a:tr>
              <a:tr h="133350">
                <a:tc>
                  <a:txBody>
                    <a:bodyPr/>
                    <a:lstStyle/>
                    <a:p>
                      <a:pPr marL="0" lvl="0" indent="0" algn="l" rtl="0">
                        <a:lnSpc>
                          <a:spcPct val="115000"/>
                        </a:lnSpc>
                        <a:spcBef>
                          <a:spcPts val="0"/>
                        </a:spcBef>
                        <a:spcAft>
                          <a:spcPts val="0"/>
                        </a:spcAft>
                        <a:buNone/>
                      </a:pPr>
                      <a:r>
                        <a:rPr lang="en" sz="800" b="1">
                          <a:solidFill>
                            <a:srgbClr val="4472C4"/>
                          </a:solidFill>
                          <a:latin typeface="Calibri"/>
                          <a:ea typeface="Calibri"/>
                          <a:cs typeface="Calibri"/>
                          <a:sym typeface="Calibri"/>
                        </a:rPr>
                        <a:t>■</a:t>
                      </a:r>
                      <a:endParaRPr sz="800" b="1">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b="1" u="sng">
                          <a:solidFill>
                            <a:schemeClr val="hlink"/>
                          </a:solidFill>
                          <a:latin typeface="Calibri"/>
                          <a:ea typeface="Calibri"/>
                          <a:cs typeface="Calibri"/>
                          <a:sym typeface="Calibri"/>
                          <a:hlinkClick r:id="rId9"/>
                        </a:rPr>
                        <a:t>claude-opus-4-7</a:t>
                      </a:r>
                      <a:endParaRPr sz="800" b="1"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b="1">
                          <a:latin typeface="Calibri"/>
                          <a:ea typeface="Calibri"/>
                          <a:cs typeface="Calibri"/>
                          <a:sym typeface="Calibri"/>
                        </a:rPr>
                        <a:t>1548</a:t>
                      </a:r>
                      <a:endParaRPr sz="800" b="1">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4"/>
                  </a:ext>
                </a:extLst>
              </a:tr>
              <a:tr h="133350">
                <a:tc>
                  <a:txBody>
                    <a:bodyPr/>
                    <a:lstStyle/>
                    <a:p>
                      <a:pPr marL="0" lvl="0" indent="0" algn="l" rtl="0">
                        <a:lnSpc>
                          <a:spcPct val="115000"/>
                        </a:lnSpc>
                        <a:spcBef>
                          <a:spcPts val="0"/>
                        </a:spcBef>
                        <a:spcAft>
                          <a:spcPts val="0"/>
                        </a:spcAft>
                        <a:buNone/>
                      </a:pPr>
                      <a:r>
                        <a:rPr lang="en" sz="800" b="1">
                          <a:solidFill>
                            <a:srgbClr val="4472C4"/>
                          </a:solidFill>
                          <a:latin typeface="Calibri"/>
                          <a:ea typeface="Calibri"/>
                          <a:cs typeface="Calibri"/>
                          <a:sym typeface="Calibri"/>
                        </a:rPr>
                        <a:t>■</a:t>
                      </a:r>
                      <a:endParaRPr sz="800" b="1">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b="1" u="sng">
                          <a:solidFill>
                            <a:schemeClr val="hlink"/>
                          </a:solidFill>
                          <a:latin typeface="Calibri"/>
                          <a:ea typeface="Calibri"/>
                          <a:cs typeface="Calibri"/>
                          <a:sym typeface="Calibri"/>
                          <a:hlinkClick r:id="rId10"/>
                        </a:rPr>
                        <a:t>claude-opus-4-6</a:t>
                      </a:r>
                      <a:endParaRPr sz="800" b="1"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b="1">
                          <a:latin typeface="Calibri"/>
                          <a:ea typeface="Calibri"/>
                          <a:cs typeface="Calibri"/>
                          <a:sym typeface="Calibri"/>
                        </a:rPr>
                        <a:t>1548</a:t>
                      </a:r>
                      <a:endParaRPr sz="800" b="1">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5"/>
                  </a:ext>
                </a:extLst>
              </a:tr>
              <a:tr h="133350">
                <a:tc>
                  <a:txBody>
                    <a:bodyPr/>
                    <a:lstStyle/>
                    <a:p>
                      <a:pPr marL="0" lvl="0" indent="0" algn="l" rtl="0">
                        <a:lnSpc>
                          <a:spcPct val="115000"/>
                        </a:lnSpc>
                        <a:spcBef>
                          <a:spcPts val="0"/>
                        </a:spcBef>
                        <a:spcAft>
                          <a:spcPts val="0"/>
                        </a:spcAft>
                        <a:buNone/>
                      </a:pPr>
                      <a:r>
                        <a:rPr lang="en" sz="800" b="1">
                          <a:solidFill>
                            <a:srgbClr val="4472C4"/>
                          </a:solidFill>
                          <a:latin typeface="Calibri"/>
                          <a:ea typeface="Calibri"/>
                          <a:cs typeface="Calibri"/>
                          <a:sym typeface="Calibri"/>
                        </a:rPr>
                        <a:t>■</a:t>
                      </a:r>
                      <a:endParaRPr sz="800" b="1">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b="1" u="sng">
                          <a:solidFill>
                            <a:schemeClr val="hlink"/>
                          </a:solidFill>
                          <a:latin typeface="Calibri"/>
                          <a:ea typeface="Calibri"/>
                          <a:cs typeface="Calibri"/>
                          <a:sym typeface="Calibri"/>
                          <a:hlinkClick r:id="rId11"/>
                        </a:rPr>
                        <a:t>claude-opus-4-8-thinking</a:t>
                      </a:r>
                      <a:endParaRPr sz="800" b="1"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b="1">
                          <a:latin typeface="Calibri"/>
                          <a:ea typeface="Calibri"/>
                          <a:cs typeface="Calibri"/>
                          <a:sym typeface="Calibri"/>
                        </a:rPr>
                        <a:t>1535</a:t>
                      </a:r>
                      <a:endParaRPr sz="800" b="1">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6"/>
                  </a:ext>
                </a:extLst>
              </a:tr>
              <a:tr h="133350">
                <a:tc>
                  <a:txBody>
                    <a:bodyPr/>
                    <a:lstStyle/>
                    <a:p>
                      <a:pPr marL="0" lvl="0" indent="0" algn="l" rtl="0">
                        <a:lnSpc>
                          <a:spcPct val="115000"/>
                        </a:lnSpc>
                        <a:spcBef>
                          <a:spcPts val="0"/>
                        </a:spcBef>
                        <a:spcAft>
                          <a:spcPts val="0"/>
                        </a:spcAft>
                        <a:buNone/>
                      </a:pPr>
                      <a:r>
                        <a:rPr lang="en" sz="800" b="1">
                          <a:solidFill>
                            <a:srgbClr val="4472C4"/>
                          </a:solidFill>
                          <a:latin typeface="Calibri"/>
                          <a:ea typeface="Calibri"/>
                          <a:cs typeface="Calibri"/>
                          <a:sym typeface="Calibri"/>
                        </a:rPr>
                        <a:t>■</a:t>
                      </a:r>
                      <a:endParaRPr sz="800" b="1">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b="1" u="sng">
                          <a:solidFill>
                            <a:schemeClr val="hlink"/>
                          </a:solidFill>
                          <a:latin typeface="Calibri"/>
                          <a:ea typeface="Calibri"/>
                          <a:cs typeface="Calibri"/>
                          <a:sym typeface="Calibri"/>
                          <a:hlinkClick r:id="rId12"/>
                        </a:rPr>
                        <a:t>claude-opus-5-high</a:t>
                      </a:r>
                      <a:endParaRPr sz="800" b="1"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b="1">
                          <a:latin typeface="Calibri"/>
                          <a:ea typeface="Calibri"/>
                          <a:cs typeface="Calibri"/>
                          <a:sym typeface="Calibri"/>
                        </a:rPr>
                        <a:t>1535</a:t>
                      </a:r>
                      <a:endParaRPr sz="800" b="1">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7"/>
                  </a:ext>
                </a:extLst>
              </a:tr>
              <a:tr h="133350">
                <a:tc>
                  <a:txBody>
                    <a:bodyPr/>
                    <a:lstStyle/>
                    <a:p>
                      <a:pPr marL="0" lvl="0" indent="0" algn="l" rtl="0">
                        <a:lnSpc>
                          <a:spcPct val="115000"/>
                        </a:lnSpc>
                        <a:spcBef>
                          <a:spcPts val="0"/>
                        </a:spcBef>
                        <a:spcAft>
                          <a:spcPts val="0"/>
                        </a:spcAft>
                        <a:buNone/>
                      </a:pPr>
                      <a:r>
                        <a:rPr lang="en" sz="800" b="1">
                          <a:solidFill>
                            <a:srgbClr val="00B050"/>
                          </a:solidFill>
                          <a:latin typeface="Calibri"/>
                          <a:ea typeface="Calibri"/>
                          <a:cs typeface="Calibri"/>
                          <a:sym typeface="Calibri"/>
                        </a:rPr>
                        <a:t>■</a:t>
                      </a:r>
                      <a:endParaRPr sz="800" b="1">
                        <a:solidFill>
                          <a:srgbClr val="00B05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00B050"/>
                    </a:solidFill>
                  </a:tcPr>
                </a:tc>
                <a:tc>
                  <a:txBody>
                    <a:bodyPr/>
                    <a:lstStyle/>
                    <a:p>
                      <a:pPr marL="0" lvl="0" indent="0" algn="l" rtl="0">
                        <a:lnSpc>
                          <a:spcPct val="115000"/>
                        </a:lnSpc>
                        <a:spcBef>
                          <a:spcPts val="0"/>
                        </a:spcBef>
                        <a:spcAft>
                          <a:spcPts val="0"/>
                        </a:spcAft>
                        <a:buNone/>
                      </a:pPr>
                      <a:r>
                        <a:rPr lang="en" sz="800" b="1" u="sng">
                          <a:solidFill>
                            <a:schemeClr val="hlink"/>
                          </a:solidFill>
                          <a:latin typeface="Calibri"/>
                          <a:ea typeface="Calibri"/>
                          <a:cs typeface="Calibri"/>
                          <a:sym typeface="Calibri"/>
                          <a:hlinkClick r:id="rId13"/>
                        </a:rPr>
                        <a:t>kimi-k3-max</a:t>
                      </a:r>
                      <a:endParaRPr sz="800" b="1"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EAD3"/>
                    </a:solidFill>
                  </a:tcPr>
                </a:tc>
                <a:tc>
                  <a:txBody>
                    <a:bodyPr/>
                    <a:lstStyle/>
                    <a:p>
                      <a:pPr marL="0" lvl="0" indent="0" algn="r" rtl="0">
                        <a:lnSpc>
                          <a:spcPct val="115000"/>
                        </a:lnSpc>
                        <a:spcBef>
                          <a:spcPts val="0"/>
                        </a:spcBef>
                        <a:spcAft>
                          <a:spcPts val="0"/>
                        </a:spcAft>
                        <a:buNone/>
                      </a:pPr>
                      <a:r>
                        <a:rPr lang="en" sz="800" b="1">
                          <a:latin typeface="Calibri"/>
                          <a:ea typeface="Calibri"/>
                          <a:cs typeface="Calibri"/>
                          <a:sym typeface="Calibri"/>
                        </a:rPr>
                        <a:t>1530</a:t>
                      </a:r>
                      <a:endParaRPr sz="800" b="1">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8"/>
                  </a:ext>
                </a:extLst>
              </a:tr>
              <a:tr h="133350">
                <a:tc>
                  <a:txBody>
                    <a:bodyPr/>
                    <a:lstStyle/>
                    <a:p>
                      <a:pPr marL="0" lvl="0" indent="0" algn="l" rtl="0">
                        <a:lnSpc>
                          <a:spcPct val="115000"/>
                        </a:lnSpc>
                        <a:spcBef>
                          <a:spcPts val="0"/>
                        </a:spcBef>
                        <a:spcAft>
                          <a:spcPts val="0"/>
                        </a:spcAft>
                        <a:buNone/>
                      </a:pPr>
                      <a:r>
                        <a:rPr lang="en" sz="800" b="1">
                          <a:solidFill>
                            <a:srgbClr val="4472C4"/>
                          </a:solidFill>
                          <a:latin typeface="Calibri"/>
                          <a:ea typeface="Calibri"/>
                          <a:cs typeface="Calibri"/>
                          <a:sym typeface="Calibri"/>
                        </a:rPr>
                        <a:t>■</a:t>
                      </a:r>
                      <a:endParaRPr sz="800" b="1">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b="1" u="sng">
                          <a:solidFill>
                            <a:schemeClr val="hlink"/>
                          </a:solidFill>
                          <a:latin typeface="Calibri"/>
                          <a:ea typeface="Calibri"/>
                          <a:cs typeface="Calibri"/>
                          <a:sym typeface="Calibri"/>
                          <a:hlinkClick r:id="rId14"/>
                        </a:rPr>
                        <a:t>claude-opus-4-5-20251101-thinking-32k</a:t>
                      </a:r>
                      <a:endParaRPr sz="800" b="1"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b="1">
                          <a:latin typeface="Calibri"/>
                          <a:ea typeface="Calibri"/>
                          <a:cs typeface="Calibri"/>
                          <a:sym typeface="Calibri"/>
                        </a:rPr>
                        <a:t>1530</a:t>
                      </a:r>
                      <a:endParaRPr sz="800" b="1">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9"/>
                  </a:ext>
                </a:extLst>
              </a:tr>
              <a:tr h="133350">
                <a:tc>
                  <a:txBody>
                    <a:bodyPr/>
                    <a:lstStyle/>
                    <a:p>
                      <a:pPr marL="0" lvl="0" indent="0" algn="l" rtl="0">
                        <a:lnSpc>
                          <a:spcPct val="115000"/>
                        </a:lnSpc>
                        <a:spcBef>
                          <a:spcPts val="0"/>
                        </a:spcBef>
                        <a:spcAft>
                          <a:spcPts val="0"/>
                        </a:spcAft>
                        <a:buNone/>
                      </a:pPr>
                      <a:r>
                        <a:rPr lang="en" sz="800" b="1">
                          <a:solidFill>
                            <a:srgbClr val="D9D9D9"/>
                          </a:solidFill>
                          <a:latin typeface="Calibri"/>
                          <a:ea typeface="Calibri"/>
                          <a:cs typeface="Calibri"/>
                          <a:sym typeface="Calibri"/>
                        </a:rPr>
                        <a:t>■</a:t>
                      </a:r>
                      <a:endParaRPr sz="800" b="1">
                        <a:solidFill>
                          <a:srgbClr val="D9D9D9"/>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lnSpc>
                          <a:spcPct val="115000"/>
                        </a:lnSpc>
                        <a:spcBef>
                          <a:spcPts val="0"/>
                        </a:spcBef>
                        <a:spcAft>
                          <a:spcPts val="0"/>
                        </a:spcAft>
                        <a:buNone/>
                      </a:pPr>
                      <a:r>
                        <a:rPr lang="en" sz="800" b="1" u="sng">
                          <a:solidFill>
                            <a:schemeClr val="hlink"/>
                          </a:solidFill>
                          <a:latin typeface="Calibri"/>
                          <a:ea typeface="Calibri"/>
                          <a:cs typeface="Calibri"/>
                          <a:sym typeface="Calibri"/>
                          <a:hlinkClick r:id="rId15"/>
                        </a:rPr>
                        <a:t>muse-spark-1.1</a:t>
                      </a:r>
                      <a:endParaRPr sz="800" b="1"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b="1">
                          <a:latin typeface="Calibri"/>
                          <a:ea typeface="Calibri"/>
                          <a:cs typeface="Calibri"/>
                          <a:sym typeface="Calibri"/>
                        </a:rPr>
                        <a:t>1530</a:t>
                      </a:r>
                      <a:endParaRPr sz="800" b="1">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0"/>
                  </a:ext>
                </a:extLst>
              </a:tr>
              <a:tr h="133350">
                <a:tc>
                  <a:txBody>
                    <a:bodyPr/>
                    <a:lstStyle/>
                    <a:p>
                      <a:pPr marL="0" lvl="0" indent="0" algn="l" rtl="0">
                        <a:lnSpc>
                          <a:spcPct val="115000"/>
                        </a:lnSpc>
                        <a:spcBef>
                          <a:spcPts val="0"/>
                        </a:spcBef>
                        <a:spcAft>
                          <a:spcPts val="0"/>
                        </a:spcAft>
                        <a:buNone/>
                      </a:pPr>
                      <a:r>
                        <a:rPr lang="en" sz="800" b="1">
                          <a:solidFill>
                            <a:srgbClr val="4472C4"/>
                          </a:solidFill>
                          <a:latin typeface="Calibri"/>
                          <a:ea typeface="Calibri"/>
                          <a:cs typeface="Calibri"/>
                          <a:sym typeface="Calibri"/>
                        </a:rPr>
                        <a:t>■</a:t>
                      </a:r>
                      <a:endParaRPr sz="800" b="1">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b="1" u="sng">
                          <a:solidFill>
                            <a:schemeClr val="hlink"/>
                          </a:solidFill>
                          <a:latin typeface="Calibri"/>
                          <a:ea typeface="Calibri"/>
                          <a:cs typeface="Calibri"/>
                          <a:sym typeface="Calibri"/>
                          <a:hlinkClick r:id="rId16"/>
                        </a:rPr>
                        <a:t>claude-opus-5-max</a:t>
                      </a:r>
                      <a:endParaRPr sz="800" b="1"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b="1">
                          <a:latin typeface="Calibri"/>
                          <a:ea typeface="Calibri"/>
                          <a:cs typeface="Calibri"/>
                          <a:sym typeface="Calibri"/>
                        </a:rPr>
                        <a:t>1530</a:t>
                      </a:r>
                      <a:endParaRPr sz="800" b="1">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1"/>
                  </a:ext>
                </a:extLst>
              </a:tr>
              <a:tr h="133350">
                <a:tc>
                  <a:txBody>
                    <a:bodyPr/>
                    <a:lstStyle/>
                    <a:p>
                      <a:pPr marL="0" lvl="0" indent="0" algn="l" rtl="0">
                        <a:lnSpc>
                          <a:spcPct val="115000"/>
                        </a:lnSpc>
                        <a:spcBef>
                          <a:spcPts val="0"/>
                        </a:spcBef>
                        <a:spcAft>
                          <a:spcPts val="0"/>
                        </a:spcAft>
                        <a:buNone/>
                      </a:pPr>
                      <a:r>
                        <a:rPr lang="en" sz="800" b="1">
                          <a:solidFill>
                            <a:srgbClr val="4472C4"/>
                          </a:solidFill>
                          <a:latin typeface="Calibri"/>
                          <a:ea typeface="Calibri"/>
                          <a:cs typeface="Calibri"/>
                          <a:sym typeface="Calibri"/>
                        </a:rPr>
                        <a:t>■</a:t>
                      </a:r>
                      <a:endParaRPr sz="800" b="1">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b="1" u="sng">
                          <a:solidFill>
                            <a:schemeClr val="hlink"/>
                          </a:solidFill>
                          <a:latin typeface="Calibri"/>
                          <a:ea typeface="Calibri"/>
                          <a:cs typeface="Calibri"/>
                          <a:sym typeface="Calibri"/>
                          <a:hlinkClick r:id="rId17"/>
                        </a:rPr>
                        <a:t>claude-opus-4-8</a:t>
                      </a:r>
                      <a:endParaRPr sz="800" b="1"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b="1">
                          <a:latin typeface="Calibri"/>
                          <a:ea typeface="Calibri"/>
                          <a:cs typeface="Calibri"/>
                          <a:sym typeface="Calibri"/>
                        </a:rPr>
                        <a:t>1528</a:t>
                      </a:r>
                      <a:endParaRPr sz="800" b="1">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2"/>
                  </a:ext>
                </a:extLst>
              </a:tr>
              <a:tr h="133350">
                <a:tc>
                  <a:txBody>
                    <a:bodyPr/>
                    <a:lstStyle/>
                    <a:p>
                      <a:pPr marL="0" lvl="0" indent="0" algn="l" rtl="0">
                        <a:lnSpc>
                          <a:spcPct val="115000"/>
                        </a:lnSpc>
                        <a:spcBef>
                          <a:spcPts val="0"/>
                        </a:spcBef>
                        <a:spcAft>
                          <a:spcPts val="0"/>
                        </a:spcAft>
                        <a:buNone/>
                      </a:pPr>
                      <a:r>
                        <a:rPr lang="en" sz="800" b="1">
                          <a:solidFill>
                            <a:srgbClr val="4472C4"/>
                          </a:solidFill>
                          <a:latin typeface="Calibri"/>
                          <a:ea typeface="Calibri"/>
                          <a:cs typeface="Calibri"/>
                          <a:sym typeface="Calibri"/>
                        </a:rPr>
                        <a:t>■</a:t>
                      </a:r>
                      <a:endParaRPr sz="800" b="1">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b="1" u="sng">
                          <a:solidFill>
                            <a:schemeClr val="hlink"/>
                          </a:solidFill>
                          <a:latin typeface="Calibri"/>
                          <a:ea typeface="Calibri"/>
                          <a:cs typeface="Calibri"/>
                          <a:sym typeface="Calibri"/>
                          <a:hlinkClick r:id="rId18"/>
                        </a:rPr>
                        <a:t>claude-sonnet-4-6</a:t>
                      </a:r>
                      <a:endParaRPr sz="800" b="1"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b="1">
                          <a:latin typeface="Calibri"/>
                          <a:ea typeface="Calibri"/>
                          <a:cs typeface="Calibri"/>
                          <a:sym typeface="Calibri"/>
                        </a:rPr>
                        <a:t>1527</a:t>
                      </a:r>
                      <a:endParaRPr sz="800" b="1">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3"/>
                  </a:ext>
                </a:extLst>
              </a:tr>
              <a:tr h="133350">
                <a:tc>
                  <a:txBody>
                    <a:bodyPr/>
                    <a:lstStyle/>
                    <a:p>
                      <a:pPr marL="0" lvl="0" indent="0" algn="l" rtl="0">
                        <a:lnSpc>
                          <a:spcPct val="115000"/>
                        </a:lnSpc>
                        <a:spcBef>
                          <a:spcPts val="0"/>
                        </a:spcBef>
                        <a:spcAft>
                          <a:spcPts val="0"/>
                        </a:spcAft>
                        <a:buNone/>
                      </a:pPr>
                      <a:r>
                        <a:rPr lang="en" sz="800" b="1">
                          <a:solidFill>
                            <a:srgbClr val="D9D9D9"/>
                          </a:solidFill>
                          <a:latin typeface="Calibri"/>
                          <a:ea typeface="Calibri"/>
                          <a:cs typeface="Calibri"/>
                          <a:sym typeface="Calibri"/>
                        </a:rPr>
                        <a:t>■</a:t>
                      </a:r>
                      <a:endParaRPr sz="800" b="1">
                        <a:solidFill>
                          <a:srgbClr val="D9D9D9"/>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lnSpc>
                          <a:spcPct val="115000"/>
                        </a:lnSpc>
                        <a:spcBef>
                          <a:spcPts val="0"/>
                        </a:spcBef>
                        <a:spcAft>
                          <a:spcPts val="0"/>
                        </a:spcAft>
                        <a:buNone/>
                      </a:pPr>
                      <a:r>
                        <a:rPr lang="en" sz="800" b="1" u="sng">
                          <a:solidFill>
                            <a:schemeClr val="hlink"/>
                          </a:solidFill>
                          <a:latin typeface="Calibri"/>
                          <a:ea typeface="Calibri"/>
                          <a:cs typeface="Calibri"/>
                          <a:sym typeface="Calibri"/>
                          <a:hlinkClick r:id="rId19"/>
                        </a:rPr>
                        <a:t>muse-spark</a:t>
                      </a:r>
                      <a:endParaRPr sz="800" b="1"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b="1">
                          <a:latin typeface="Calibri"/>
                          <a:ea typeface="Calibri"/>
                          <a:cs typeface="Calibri"/>
                          <a:sym typeface="Calibri"/>
                        </a:rPr>
                        <a:t>1526</a:t>
                      </a:r>
                      <a:endParaRPr sz="800" b="1">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4"/>
                  </a:ext>
                </a:extLst>
              </a:tr>
              <a:tr h="133350">
                <a:tc>
                  <a:txBody>
                    <a:bodyPr/>
                    <a:lstStyle/>
                    <a:p>
                      <a:pPr marL="0" lvl="0" indent="0" algn="l" rtl="0">
                        <a:lnSpc>
                          <a:spcPct val="115000"/>
                        </a:lnSpc>
                        <a:spcBef>
                          <a:spcPts val="0"/>
                        </a:spcBef>
                        <a:spcAft>
                          <a:spcPts val="0"/>
                        </a:spcAft>
                        <a:buNone/>
                      </a:pPr>
                      <a:r>
                        <a:rPr lang="en" sz="800" b="1">
                          <a:solidFill>
                            <a:srgbClr val="00B050"/>
                          </a:solidFill>
                          <a:latin typeface="Calibri"/>
                          <a:ea typeface="Calibri"/>
                          <a:cs typeface="Calibri"/>
                          <a:sym typeface="Calibri"/>
                        </a:rPr>
                        <a:t>■</a:t>
                      </a:r>
                      <a:endParaRPr sz="800" b="1">
                        <a:solidFill>
                          <a:srgbClr val="00B05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00B050"/>
                    </a:solidFill>
                  </a:tcPr>
                </a:tc>
                <a:tc>
                  <a:txBody>
                    <a:bodyPr/>
                    <a:lstStyle/>
                    <a:p>
                      <a:pPr marL="0" lvl="0" indent="0" algn="l" rtl="0">
                        <a:lnSpc>
                          <a:spcPct val="115000"/>
                        </a:lnSpc>
                        <a:spcBef>
                          <a:spcPts val="0"/>
                        </a:spcBef>
                        <a:spcAft>
                          <a:spcPts val="0"/>
                        </a:spcAft>
                        <a:buNone/>
                      </a:pPr>
                      <a:r>
                        <a:rPr lang="en" sz="800" b="1" u="sng">
                          <a:solidFill>
                            <a:schemeClr val="hlink"/>
                          </a:solidFill>
                          <a:latin typeface="Calibri"/>
                          <a:ea typeface="Calibri"/>
                          <a:cs typeface="Calibri"/>
                          <a:sym typeface="Calibri"/>
                          <a:hlinkClick r:id="rId20"/>
                        </a:rPr>
                        <a:t>qwen3.7-max-preview</a:t>
                      </a:r>
                      <a:endParaRPr sz="800" b="1"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EAD3"/>
                    </a:solidFill>
                  </a:tcPr>
                </a:tc>
                <a:tc>
                  <a:txBody>
                    <a:bodyPr/>
                    <a:lstStyle/>
                    <a:p>
                      <a:pPr marL="0" lvl="0" indent="0" algn="r" rtl="0">
                        <a:lnSpc>
                          <a:spcPct val="115000"/>
                        </a:lnSpc>
                        <a:spcBef>
                          <a:spcPts val="0"/>
                        </a:spcBef>
                        <a:spcAft>
                          <a:spcPts val="0"/>
                        </a:spcAft>
                        <a:buNone/>
                      </a:pPr>
                      <a:r>
                        <a:rPr lang="en" sz="800" b="1">
                          <a:latin typeface="Calibri"/>
                          <a:ea typeface="Calibri"/>
                          <a:cs typeface="Calibri"/>
                          <a:sym typeface="Calibri"/>
                        </a:rPr>
                        <a:t>1526</a:t>
                      </a:r>
                      <a:endParaRPr sz="800" b="1">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5"/>
                  </a:ext>
                </a:extLst>
              </a:tr>
              <a:tr h="133350">
                <a:tc>
                  <a:txBody>
                    <a:bodyPr/>
                    <a:lstStyle/>
                    <a:p>
                      <a:pPr marL="0" lvl="0" indent="0" algn="l" rtl="0">
                        <a:lnSpc>
                          <a:spcPct val="115000"/>
                        </a:lnSpc>
                        <a:spcBef>
                          <a:spcPts val="0"/>
                        </a:spcBef>
                        <a:spcAft>
                          <a:spcPts val="0"/>
                        </a:spcAft>
                        <a:buNone/>
                      </a:pPr>
                      <a:r>
                        <a:rPr lang="en" sz="800" b="1">
                          <a:solidFill>
                            <a:srgbClr val="FFD700"/>
                          </a:solidFill>
                          <a:latin typeface="Calibri"/>
                          <a:ea typeface="Calibri"/>
                          <a:cs typeface="Calibri"/>
                          <a:sym typeface="Calibri"/>
                        </a:rPr>
                        <a:t>■</a:t>
                      </a:r>
                      <a:endParaRPr sz="800" b="1">
                        <a:solidFill>
                          <a:srgbClr val="FFD70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D700"/>
                    </a:solidFill>
                  </a:tcPr>
                </a:tc>
                <a:tc>
                  <a:txBody>
                    <a:bodyPr/>
                    <a:lstStyle/>
                    <a:p>
                      <a:pPr marL="0" lvl="0" indent="0" algn="l" rtl="0">
                        <a:lnSpc>
                          <a:spcPct val="115000"/>
                        </a:lnSpc>
                        <a:spcBef>
                          <a:spcPts val="0"/>
                        </a:spcBef>
                        <a:spcAft>
                          <a:spcPts val="0"/>
                        </a:spcAft>
                        <a:buNone/>
                      </a:pPr>
                      <a:r>
                        <a:rPr lang="en" sz="800" b="1" u="sng">
                          <a:solidFill>
                            <a:schemeClr val="hlink"/>
                          </a:solidFill>
                          <a:latin typeface="Calibri"/>
                          <a:ea typeface="Calibri"/>
                          <a:cs typeface="Calibri"/>
                          <a:sym typeface="Calibri"/>
                          <a:hlinkClick r:id="rId21"/>
                        </a:rPr>
                        <a:t>gpt-5.6-sol-xhigh</a:t>
                      </a:r>
                      <a:endParaRPr sz="800" b="1"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b="1">
                          <a:latin typeface="Calibri"/>
                          <a:ea typeface="Calibri"/>
                          <a:cs typeface="Calibri"/>
                          <a:sym typeface="Calibri"/>
                        </a:rPr>
                        <a:t>1524</a:t>
                      </a:r>
                      <a:endParaRPr sz="800" b="1">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6"/>
                  </a:ext>
                </a:extLst>
              </a:tr>
              <a:tr h="133350">
                <a:tc>
                  <a:txBody>
                    <a:bodyPr/>
                    <a:lstStyle/>
                    <a:p>
                      <a:pPr marL="0" lvl="0" indent="0" algn="l" rtl="0">
                        <a:lnSpc>
                          <a:spcPct val="115000"/>
                        </a:lnSpc>
                        <a:spcBef>
                          <a:spcPts val="0"/>
                        </a:spcBef>
                        <a:spcAft>
                          <a:spcPts val="0"/>
                        </a:spcAft>
                        <a:buNone/>
                      </a:pPr>
                      <a:r>
                        <a:rPr lang="en" sz="800" b="1">
                          <a:solidFill>
                            <a:srgbClr val="FF0000"/>
                          </a:solidFill>
                          <a:latin typeface="Calibri"/>
                          <a:ea typeface="Calibri"/>
                          <a:cs typeface="Calibri"/>
                          <a:sym typeface="Calibri"/>
                        </a:rPr>
                        <a:t>■</a:t>
                      </a:r>
                      <a:endParaRPr sz="800" b="1">
                        <a:solidFill>
                          <a:srgbClr val="FF000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0000"/>
                    </a:solidFill>
                  </a:tcPr>
                </a:tc>
                <a:tc>
                  <a:txBody>
                    <a:bodyPr/>
                    <a:lstStyle/>
                    <a:p>
                      <a:pPr marL="0" lvl="0" indent="0" algn="l" rtl="0">
                        <a:lnSpc>
                          <a:spcPct val="115000"/>
                        </a:lnSpc>
                        <a:spcBef>
                          <a:spcPts val="0"/>
                        </a:spcBef>
                        <a:spcAft>
                          <a:spcPts val="0"/>
                        </a:spcAft>
                        <a:buNone/>
                      </a:pPr>
                      <a:r>
                        <a:rPr lang="en" sz="800" b="1" u="sng">
                          <a:solidFill>
                            <a:schemeClr val="hlink"/>
                          </a:solidFill>
                          <a:latin typeface="Calibri"/>
                          <a:ea typeface="Calibri"/>
                          <a:cs typeface="Calibri"/>
                          <a:sym typeface="Calibri"/>
                          <a:hlinkClick r:id="rId22"/>
                        </a:rPr>
                        <a:t>gemini-3.6-flash</a:t>
                      </a:r>
                      <a:endParaRPr sz="800" b="1"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b="1">
                          <a:latin typeface="Calibri"/>
                          <a:ea typeface="Calibri"/>
                          <a:cs typeface="Calibri"/>
                          <a:sym typeface="Calibri"/>
                        </a:rPr>
                        <a:t>1523</a:t>
                      </a:r>
                      <a:endParaRPr sz="800" b="1">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7"/>
                  </a:ext>
                </a:extLst>
              </a:tr>
              <a:tr h="133350">
                <a:tc>
                  <a:txBody>
                    <a:bodyPr/>
                    <a:lstStyle/>
                    <a:p>
                      <a:pPr marL="0" lvl="0" indent="0" algn="l" rtl="0">
                        <a:lnSpc>
                          <a:spcPct val="115000"/>
                        </a:lnSpc>
                        <a:spcBef>
                          <a:spcPts val="0"/>
                        </a:spcBef>
                        <a:spcAft>
                          <a:spcPts val="0"/>
                        </a:spcAft>
                        <a:buNone/>
                      </a:pPr>
                      <a:r>
                        <a:rPr lang="en" sz="800" b="1">
                          <a:solidFill>
                            <a:srgbClr val="4472C4"/>
                          </a:solidFill>
                          <a:latin typeface="Calibri"/>
                          <a:ea typeface="Calibri"/>
                          <a:cs typeface="Calibri"/>
                          <a:sym typeface="Calibri"/>
                        </a:rPr>
                        <a:t>■</a:t>
                      </a:r>
                      <a:endParaRPr sz="800" b="1">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b="1" u="sng">
                          <a:solidFill>
                            <a:schemeClr val="hlink"/>
                          </a:solidFill>
                          <a:latin typeface="Calibri"/>
                          <a:ea typeface="Calibri"/>
                          <a:cs typeface="Calibri"/>
                          <a:sym typeface="Calibri"/>
                          <a:hlinkClick r:id="rId23"/>
                        </a:rPr>
                        <a:t>claude-opus-4-5-20251101</a:t>
                      </a:r>
                      <a:endParaRPr sz="800" b="1"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b="1">
                          <a:latin typeface="Calibri"/>
                          <a:ea typeface="Calibri"/>
                          <a:cs typeface="Calibri"/>
                          <a:sym typeface="Calibri"/>
                        </a:rPr>
                        <a:t>1523</a:t>
                      </a:r>
                      <a:endParaRPr sz="800" b="1">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8"/>
                  </a:ext>
                </a:extLst>
              </a:tr>
              <a:tr h="133350">
                <a:tc>
                  <a:txBody>
                    <a:bodyPr/>
                    <a:lstStyle/>
                    <a:p>
                      <a:pPr marL="0" lvl="0" indent="0" algn="l" rtl="0">
                        <a:lnSpc>
                          <a:spcPct val="115000"/>
                        </a:lnSpc>
                        <a:spcBef>
                          <a:spcPts val="0"/>
                        </a:spcBef>
                        <a:spcAft>
                          <a:spcPts val="0"/>
                        </a:spcAft>
                        <a:buNone/>
                      </a:pPr>
                      <a:r>
                        <a:rPr lang="en" sz="800" b="1">
                          <a:solidFill>
                            <a:srgbClr val="4472C4"/>
                          </a:solidFill>
                          <a:latin typeface="Calibri"/>
                          <a:ea typeface="Calibri"/>
                          <a:cs typeface="Calibri"/>
                          <a:sym typeface="Calibri"/>
                        </a:rPr>
                        <a:t>■</a:t>
                      </a:r>
                      <a:endParaRPr sz="800" b="1">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b="1" u="sng">
                          <a:solidFill>
                            <a:schemeClr val="hlink"/>
                          </a:solidFill>
                          <a:latin typeface="Calibri"/>
                          <a:ea typeface="Calibri"/>
                          <a:cs typeface="Calibri"/>
                          <a:sym typeface="Calibri"/>
                          <a:hlinkClick r:id="rId24"/>
                        </a:rPr>
                        <a:t>claude-sonnet-5-high</a:t>
                      </a:r>
                      <a:endParaRPr sz="800" b="1"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b="1">
                          <a:latin typeface="Calibri"/>
                          <a:ea typeface="Calibri"/>
                          <a:cs typeface="Calibri"/>
                          <a:sym typeface="Calibri"/>
                        </a:rPr>
                        <a:t>1522</a:t>
                      </a:r>
                      <a:endParaRPr sz="800" b="1">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9"/>
                  </a:ext>
                </a:extLst>
              </a:tr>
              <a:tr h="133350">
                <a:tc>
                  <a:txBody>
                    <a:bodyPr/>
                    <a:lstStyle/>
                    <a:p>
                      <a:pPr marL="0" lvl="0" indent="0" algn="l" rtl="0">
                        <a:lnSpc>
                          <a:spcPct val="115000"/>
                        </a:lnSpc>
                        <a:spcBef>
                          <a:spcPts val="0"/>
                        </a:spcBef>
                        <a:spcAft>
                          <a:spcPts val="0"/>
                        </a:spcAft>
                        <a:buNone/>
                      </a:pPr>
                      <a:r>
                        <a:rPr lang="en" sz="800" b="1">
                          <a:solidFill>
                            <a:srgbClr val="FFD700"/>
                          </a:solidFill>
                          <a:latin typeface="Calibri"/>
                          <a:ea typeface="Calibri"/>
                          <a:cs typeface="Calibri"/>
                          <a:sym typeface="Calibri"/>
                        </a:rPr>
                        <a:t>■</a:t>
                      </a:r>
                      <a:endParaRPr sz="800" b="1">
                        <a:solidFill>
                          <a:srgbClr val="FFD70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D700"/>
                    </a:solidFill>
                  </a:tcPr>
                </a:tc>
                <a:tc>
                  <a:txBody>
                    <a:bodyPr/>
                    <a:lstStyle/>
                    <a:p>
                      <a:pPr marL="0" lvl="0" indent="0" algn="l" rtl="0">
                        <a:lnSpc>
                          <a:spcPct val="115000"/>
                        </a:lnSpc>
                        <a:spcBef>
                          <a:spcPts val="0"/>
                        </a:spcBef>
                        <a:spcAft>
                          <a:spcPts val="0"/>
                        </a:spcAft>
                        <a:buNone/>
                      </a:pPr>
                      <a:r>
                        <a:rPr lang="en" sz="800" b="1" u="sng">
                          <a:solidFill>
                            <a:schemeClr val="hlink"/>
                          </a:solidFill>
                          <a:latin typeface="Calibri"/>
                          <a:ea typeface="Calibri"/>
                          <a:cs typeface="Calibri"/>
                          <a:sym typeface="Calibri"/>
                          <a:hlinkClick r:id="rId25"/>
                        </a:rPr>
                        <a:t>gpt-5.4-high</a:t>
                      </a:r>
                      <a:endParaRPr sz="800" b="1"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b="1">
                          <a:latin typeface="Calibri"/>
                          <a:ea typeface="Calibri"/>
                          <a:cs typeface="Calibri"/>
                          <a:sym typeface="Calibri"/>
                        </a:rPr>
                        <a:t>1521</a:t>
                      </a:r>
                      <a:endParaRPr sz="800" b="1">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0"/>
                  </a:ext>
                </a:extLst>
              </a:tr>
              <a:tr h="133350">
                <a:tc>
                  <a:txBody>
                    <a:bodyPr/>
                    <a:lstStyle/>
                    <a:p>
                      <a:pPr marL="0" lvl="0" indent="0" algn="l" rtl="0">
                        <a:lnSpc>
                          <a:spcPct val="115000"/>
                        </a:lnSpc>
                        <a:spcBef>
                          <a:spcPts val="0"/>
                        </a:spcBef>
                        <a:spcAft>
                          <a:spcPts val="0"/>
                        </a:spcAft>
                        <a:buNone/>
                      </a:pPr>
                      <a:r>
                        <a:rPr lang="en" sz="800" b="1">
                          <a:solidFill>
                            <a:srgbClr val="FF0000"/>
                          </a:solidFill>
                          <a:latin typeface="Calibri"/>
                          <a:ea typeface="Calibri"/>
                          <a:cs typeface="Calibri"/>
                          <a:sym typeface="Calibri"/>
                        </a:rPr>
                        <a:t>■</a:t>
                      </a:r>
                      <a:endParaRPr sz="800" b="1">
                        <a:solidFill>
                          <a:srgbClr val="FF000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0000"/>
                    </a:solidFill>
                  </a:tcPr>
                </a:tc>
                <a:tc>
                  <a:txBody>
                    <a:bodyPr/>
                    <a:lstStyle/>
                    <a:p>
                      <a:pPr marL="0" lvl="0" indent="0" algn="l" rtl="0">
                        <a:lnSpc>
                          <a:spcPct val="115000"/>
                        </a:lnSpc>
                        <a:spcBef>
                          <a:spcPts val="0"/>
                        </a:spcBef>
                        <a:spcAft>
                          <a:spcPts val="0"/>
                        </a:spcAft>
                        <a:buNone/>
                      </a:pPr>
                      <a:r>
                        <a:rPr lang="en" sz="800" b="1" u="sng">
                          <a:solidFill>
                            <a:schemeClr val="hlink"/>
                          </a:solidFill>
                          <a:latin typeface="Calibri"/>
                          <a:ea typeface="Calibri"/>
                          <a:cs typeface="Calibri"/>
                          <a:sym typeface="Calibri"/>
                          <a:hlinkClick r:id="rId26"/>
                        </a:rPr>
                        <a:t>gemini-3.1-pro-preview</a:t>
                      </a:r>
                      <a:endParaRPr sz="800" b="1"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b="1">
                          <a:latin typeface="Calibri"/>
                          <a:ea typeface="Calibri"/>
                          <a:cs typeface="Calibri"/>
                          <a:sym typeface="Calibri"/>
                        </a:rPr>
                        <a:t>1521</a:t>
                      </a:r>
                      <a:endParaRPr sz="800" b="1">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1"/>
                  </a:ext>
                </a:extLst>
              </a:tr>
              <a:tr h="133350">
                <a:tc>
                  <a:txBody>
                    <a:bodyPr/>
                    <a:lstStyle/>
                    <a:p>
                      <a:pPr marL="0" lvl="0" indent="0" algn="l" rtl="0">
                        <a:lnSpc>
                          <a:spcPct val="115000"/>
                        </a:lnSpc>
                        <a:spcBef>
                          <a:spcPts val="0"/>
                        </a:spcBef>
                        <a:spcAft>
                          <a:spcPts val="0"/>
                        </a:spcAft>
                        <a:buNone/>
                      </a:pPr>
                      <a:r>
                        <a:rPr lang="en" sz="800" b="1">
                          <a:solidFill>
                            <a:srgbClr val="FFD700"/>
                          </a:solidFill>
                          <a:latin typeface="Calibri"/>
                          <a:ea typeface="Calibri"/>
                          <a:cs typeface="Calibri"/>
                          <a:sym typeface="Calibri"/>
                        </a:rPr>
                        <a:t>■</a:t>
                      </a:r>
                      <a:endParaRPr sz="800" b="1">
                        <a:solidFill>
                          <a:srgbClr val="FFD70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D700"/>
                    </a:solidFill>
                  </a:tcPr>
                </a:tc>
                <a:tc>
                  <a:txBody>
                    <a:bodyPr/>
                    <a:lstStyle/>
                    <a:p>
                      <a:pPr marL="0" lvl="0" indent="0" algn="l" rtl="0">
                        <a:lnSpc>
                          <a:spcPct val="115000"/>
                        </a:lnSpc>
                        <a:spcBef>
                          <a:spcPts val="0"/>
                        </a:spcBef>
                        <a:spcAft>
                          <a:spcPts val="0"/>
                        </a:spcAft>
                        <a:buNone/>
                      </a:pPr>
                      <a:r>
                        <a:rPr lang="en" sz="800" b="1" u="sng">
                          <a:solidFill>
                            <a:schemeClr val="hlink"/>
                          </a:solidFill>
                          <a:latin typeface="Calibri"/>
                          <a:ea typeface="Calibri"/>
                          <a:cs typeface="Calibri"/>
                          <a:sym typeface="Calibri"/>
                          <a:hlinkClick r:id="rId27"/>
                        </a:rPr>
                        <a:t>gpt-5.5-high</a:t>
                      </a:r>
                      <a:endParaRPr sz="800" b="1"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b="1">
                          <a:latin typeface="Calibri"/>
                          <a:ea typeface="Calibri"/>
                          <a:cs typeface="Calibri"/>
                          <a:sym typeface="Calibri"/>
                        </a:rPr>
                        <a:t>1520</a:t>
                      </a:r>
                      <a:endParaRPr sz="800" b="1">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2"/>
                  </a:ext>
                </a:extLst>
              </a:tr>
              <a:tr h="133350">
                <a:tc>
                  <a:txBody>
                    <a:bodyPr/>
                    <a:lstStyle/>
                    <a:p>
                      <a:pPr marL="0" lvl="0" indent="0" algn="l" rtl="0">
                        <a:lnSpc>
                          <a:spcPct val="115000"/>
                        </a:lnSpc>
                        <a:spcBef>
                          <a:spcPts val="0"/>
                        </a:spcBef>
                        <a:spcAft>
                          <a:spcPts val="0"/>
                        </a:spcAft>
                        <a:buNone/>
                      </a:pPr>
                      <a:r>
                        <a:rPr lang="en" sz="800" b="1">
                          <a:solidFill>
                            <a:srgbClr val="00B050"/>
                          </a:solidFill>
                          <a:latin typeface="Calibri"/>
                          <a:ea typeface="Calibri"/>
                          <a:cs typeface="Calibri"/>
                          <a:sym typeface="Calibri"/>
                        </a:rPr>
                        <a:t>■</a:t>
                      </a:r>
                      <a:endParaRPr sz="800" b="1">
                        <a:solidFill>
                          <a:srgbClr val="00B05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00B050"/>
                    </a:solidFill>
                  </a:tcPr>
                </a:tc>
                <a:tc>
                  <a:txBody>
                    <a:bodyPr/>
                    <a:lstStyle/>
                    <a:p>
                      <a:pPr marL="0" lvl="0" indent="0" algn="l" rtl="0">
                        <a:lnSpc>
                          <a:spcPct val="115000"/>
                        </a:lnSpc>
                        <a:spcBef>
                          <a:spcPts val="0"/>
                        </a:spcBef>
                        <a:spcAft>
                          <a:spcPts val="0"/>
                        </a:spcAft>
                        <a:buNone/>
                      </a:pPr>
                      <a:r>
                        <a:rPr lang="en" sz="800" b="1" u="sng">
                          <a:solidFill>
                            <a:schemeClr val="hlink"/>
                          </a:solidFill>
                          <a:latin typeface="Calibri"/>
                          <a:ea typeface="Calibri"/>
                          <a:cs typeface="Calibri"/>
                          <a:sym typeface="Calibri"/>
                          <a:hlinkClick r:id="rId28"/>
                        </a:rPr>
                        <a:t>glm-5.1</a:t>
                      </a:r>
                      <a:endParaRPr sz="800" b="1"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b="1">
                          <a:latin typeface="Calibri"/>
                          <a:ea typeface="Calibri"/>
                          <a:cs typeface="Calibri"/>
                          <a:sym typeface="Calibri"/>
                        </a:rPr>
                        <a:t>1520</a:t>
                      </a:r>
                      <a:endParaRPr sz="800" b="1">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3"/>
                  </a:ext>
                </a:extLst>
              </a:tr>
              <a:tr h="133350">
                <a:tc>
                  <a:txBody>
                    <a:bodyPr/>
                    <a:lstStyle/>
                    <a:p>
                      <a:pPr marL="0" lvl="0" indent="0" algn="l" rtl="0">
                        <a:lnSpc>
                          <a:spcPct val="115000"/>
                        </a:lnSpc>
                        <a:spcBef>
                          <a:spcPts val="0"/>
                        </a:spcBef>
                        <a:spcAft>
                          <a:spcPts val="0"/>
                        </a:spcAft>
                        <a:buNone/>
                      </a:pPr>
                      <a:r>
                        <a:rPr lang="en" sz="800" b="1">
                          <a:solidFill>
                            <a:srgbClr val="4472C4"/>
                          </a:solidFill>
                          <a:latin typeface="Calibri"/>
                          <a:ea typeface="Calibri"/>
                          <a:cs typeface="Calibri"/>
                          <a:sym typeface="Calibri"/>
                        </a:rPr>
                        <a:t>■</a:t>
                      </a:r>
                      <a:endParaRPr sz="800" b="1">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b="1" u="sng">
                          <a:solidFill>
                            <a:schemeClr val="hlink"/>
                          </a:solidFill>
                          <a:latin typeface="Calibri"/>
                          <a:ea typeface="Calibri"/>
                          <a:cs typeface="Calibri"/>
                          <a:sym typeface="Calibri"/>
                          <a:hlinkClick r:id="rId29"/>
                        </a:rPr>
                        <a:t>claude-sonnet-4-5-20250929-thinking-32k</a:t>
                      </a:r>
                      <a:endParaRPr sz="800" b="1"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b="1">
                          <a:latin typeface="Calibri"/>
                          <a:ea typeface="Calibri"/>
                          <a:cs typeface="Calibri"/>
                          <a:sym typeface="Calibri"/>
                        </a:rPr>
                        <a:t>1520</a:t>
                      </a:r>
                      <a:endParaRPr sz="800" b="1">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4"/>
                  </a:ext>
                </a:extLst>
              </a:tr>
              <a:tr h="133350">
                <a:tc>
                  <a:txBody>
                    <a:bodyPr/>
                    <a:lstStyle/>
                    <a:p>
                      <a:pPr marL="0" lvl="0" indent="0" algn="l" rtl="0">
                        <a:lnSpc>
                          <a:spcPct val="115000"/>
                        </a:lnSpc>
                        <a:spcBef>
                          <a:spcPts val="0"/>
                        </a:spcBef>
                        <a:spcAft>
                          <a:spcPts val="0"/>
                        </a:spcAft>
                        <a:buNone/>
                      </a:pPr>
                      <a:r>
                        <a:rPr lang="en" sz="800" b="1">
                          <a:solidFill>
                            <a:srgbClr val="D9D9D9"/>
                          </a:solidFill>
                          <a:latin typeface="Calibri"/>
                          <a:ea typeface="Calibri"/>
                          <a:cs typeface="Calibri"/>
                          <a:sym typeface="Calibri"/>
                        </a:rPr>
                        <a:t>■</a:t>
                      </a:r>
                      <a:endParaRPr sz="800" b="1">
                        <a:solidFill>
                          <a:srgbClr val="D9D9D9"/>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lnSpc>
                          <a:spcPct val="115000"/>
                        </a:lnSpc>
                        <a:spcBef>
                          <a:spcPts val="0"/>
                        </a:spcBef>
                        <a:spcAft>
                          <a:spcPts val="0"/>
                        </a:spcAft>
                        <a:buNone/>
                      </a:pPr>
                      <a:r>
                        <a:rPr lang="en" sz="800" b="1" u="sng">
                          <a:solidFill>
                            <a:schemeClr val="hlink"/>
                          </a:solidFill>
                          <a:latin typeface="Calibri"/>
                          <a:ea typeface="Calibri"/>
                          <a:cs typeface="Calibri"/>
                          <a:sym typeface="Calibri"/>
                          <a:hlinkClick r:id="rId30"/>
                        </a:rPr>
                        <a:t>mimo-v2.5-pro</a:t>
                      </a:r>
                      <a:endParaRPr sz="800" b="1"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EAD3"/>
                    </a:solidFill>
                  </a:tcPr>
                </a:tc>
                <a:tc>
                  <a:txBody>
                    <a:bodyPr/>
                    <a:lstStyle/>
                    <a:p>
                      <a:pPr marL="0" lvl="0" indent="0" algn="r" rtl="0">
                        <a:lnSpc>
                          <a:spcPct val="115000"/>
                        </a:lnSpc>
                        <a:spcBef>
                          <a:spcPts val="0"/>
                        </a:spcBef>
                        <a:spcAft>
                          <a:spcPts val="0"/>
                        </a:spcAft>
                        <a:buNone/>
                      </a:pPr>
                      <a:r>
                        <a:rPr lang="en" sz="800" b="1">
                          <a:latin typeface="Calibri"/>
                          <a:ea typeface="Calibri"/>
                          <a:cs typeface="Calibri"/>
                          <a:sym typeface="Calibri"/>
                        </a:rPr>
                        <a:t>1519</a:t>
                      </a:r>
                      <a:endParaRPr sz="800" b="1">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5"/>
                  </a:ext>
                </a:extLst>
              </a:tr>
            </a:tbl>
          </a:graphicData>
        </a:graphic>
      </p:graphicFrame>
      <p:graphicFrame>
        <p:nvGraphicFramePr>
          <p:cNvPr id="81" name="Google Shape;81;p16"/>
          <p:cNvGraphicFramePr/>
          <p:nvPr/>
        </p:nvGraphicFramePr>
        <p:xfrm>
          <a:off x="423650" y="790775"/>
          <a:ext cx="3000000" cy="3000000"/>
        </p:xfrm>
        <a:graphic>
          <a:graphicData uri="http://schemas.openxmlformats.org/drawingml/2006/table">
            <a:tbl>
              <a:tblPr>
                <a:noFill/>
                <a:tableStyleId>{BAF42615-4C54-4AD7-865E-22C827488C07}</a:tableStyleId>
              </a:tblPr>
              <a:tblGrid>
                <a:gridCol w="276225">
                  <a:extLst>
                    <a:ext uri="{9D8B030D-6E8A-4147-A177-3AD203B41FA5}">
                      <a16:colId xmlns:a16="http://schemas.microsoft.com/office/drawing/2014/main" val="20000"/>
                    </a:ext>
                  </a:extLst>
                </a:gridCol>
                <a:gridCol w="1298250">
                  <a:extLst>
                    <a:ext uri="{9D8B030D-6E8A-4147-A177-3AD203B41FA5}">
                      <a16:colId xmlns:a16="http://schemas.microsoft.com/office/drawing/2014/main" val="20001"/>
                    </a:ext>
                  </a:extLst>
                </a:gridCol>
                <a:gridCol w="254325">
                  <a:extLst>
                    <a:ext uri="{9D8B030D-6E8A-4147-A177-3AD203B41FA5}">
                      <a16:colId xmlns:a16="http://schemas.microsoft.com/office/drawing/2014/main" val="20002"/>
                    </a:ext>
                  </a:extLst>
                </a:gridCol>
              </a:tblGrid>
              <a:tr h="133350">
                <a:tc>
                  <a:txBody>
                    <a:bodyPr/>
                    <a:lstStyle/>
                    <a:p>
                      <a:pPr marL="0" lvl="0" indent="0" algn="l" rtl="0">
                        <a:lnSpc>
                          <a:spcPct val="115000"/>
                        </a:lnSpc>
                        <a:spcBef>
                          <a:spcPts val="0"/>
                        </a:spcBef>
                        <a:spcAft>
                          <a:spcPts val="0"/>
                        </a:spcAft>
                        <a:buNone/>
                      </a:pPr>
                      <a:r>
                        <a:rPr lang="en" sz="800" b="1">
                          <a:latin typeface="Calibri"/>
                          <a:ea typeface="Calibri"/>
                          <a:cs typeface="Calibri"/>
                          <a:sym typeface="Calibri"/>
                        </a:rPr>
                        <a:t>Code</a:t>
                      </a:r>
                      <a:endParaRPr sz="800" b="1">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800" b="1">
                          <a:latin typeface="Calibri"/>
                          <a:ea typeface="Calibri"/>
                          <a:cs typeface="Calibri"/>
                          <a:sym typeface="Calibri"/>
                        </a:rPr>
                        <a:t>Model</a:t>
                      </a:r>
                      <a:endParaRPr sz="800" b="1">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800" b="1">
                          <a:latin typeface="Calibri"/>
                          <a:ea typeface="Calibri"/>
                          <a:cs typeface="Calibri"/>
                          <a:sym typeface="Calibri"/>
                        </a:rPr>
                        <a:t>Score</a:t>
                      </a:r>
                      <a:endParaRPr sz="800" b="1">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0"/>
                  </a:ext>
                </a:extLst>
              </a:tr>
              <a:tr h="133350">
                <a:tc>
                  <a:txBody>
                    <a:bodyPr/>
                    <a:lstStyle/>
                    <a:p>
                      <a:pPr marL="0" lvl="0" indent="0" algn="l" rtl="0">
                        <a:lnSpc>
                          <a:spcPct val="115000"/>
                        </a:lnSpc>
                        <a:spcBef>
                          <a:spcPts val="0"/>
                        </a:spcBef>
                        <a:spcAft>
                          <a:spcPts val="0"/>
                        </a:spcAft>
                        <a:buNone/>
                      </a:pPr>
                      <a:r>
                        <a:rPr lang="en" sz="800" b="1">
                          <a:solidFill>
                            <a:srgbClr val="4472C4"/>
                          </a:solidFill>
                          <a:latin typeface="Calibri"/>
                          <a:ea typeface="Calibri"/>
                          <a:cs typeface="Calibri"/>
                          <a:sym typeface="Calibri"/>
                        </a:rPr>
                        <a:t>■</a:t>
                      </a:r>
                      <a:endParaRPr sz="800" b="1">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b="1" u="sng">
                          <a:solidFill>
                            <a:schemeClr val="hlink"/>
                          </a:solidFill>
                          <a:latin typeface="Calibri"/>
                          <a:ea typeface="Calibri"/>
                          <a:cs typeface="Calibri"/>
                          <a:sym typeface="Calibri"/>
                          <a:hlinkClick r:id="rId7"/>
                        </a:rPr>
                        <a:t>claude-fable-5</a:t>
                      </a:r>
                      <a:endParaRPr sz="800" b="1"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b="1">
                          <a:latin typeface="Calibri"/>
                          <a:ea typeface="Calibri"/>
                          <a:cs typeface="Calibri"/>
                          <a:sym typeface="Calibri"/>
                        </a:rPr>
                        <a:t>1508</a:t>
                      </a:r>
                      <a:endParaRPr sz="800" b="1">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1"/>
                  </a:ext>
                </a:extLst>
              </a:tr>
              <a:tr h="133350">
                <a:tc>
                  <a:txBody>
                    <a:bodyPr/>
                    <a:lstStyle/>
                    <a:p>
                      <a:pPr marL="0" lvl="0" indent="0" algn="l" rtl="0">
                        <a:lnSpc>
                          <a:spcPct val="115000"/>
                        </a:lnSpc>
                        <a:spcBef>
                          <a:spcPts val="0"/>
                        </a:spcBef>
                        <a:spcAft>
                          <a:spcPts val="0"/>
                        </a:spcAft>
                        <a:buNone/>
                      </a:pPr>
                      <a:r>
                        <a:rPr lang="en" sz="800" b="1">
                          <a:solidFill>
                            <a:srgbClr val="4472C4"/>
                          </a:solidFill>
                          <a:latin typeface="Calibri"/>
                          <a:ea typeface="Calibri"/>
                          <a:cs typeface="Calibri"/>
                          <a:sym typeface="Calibri"/>
                        </a:rPr>
                        <a:t>■</a:t>
                      </a:r>
                      <a:endParaRPr sz="800" b="1">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b="1" u="sng">
                          <a:solidFill>
                            <a:schemeClr val="hlink"/>
                          </a:solidFill>
                          <a:latin typeface="Calibri"/>
                          <a:ea typeface="Calibri"/>
                          <a:cs typeface="Calibri"/>
                          <a:sym typeface="Calibri"/>
                          <a:hlinkClick r:id="rId8"/>
                        </a:rPr>
                        <a:t>claude-opus-4-6-thinking</a:t>
                      </a:r>
                      <a:endParaRPr sz="800" b="1"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b="1">
                          <a:latin typeface="Calibri"/>
                          <a:ea typeface="Calibri"/>
                          <a:cs typeface="Calibri"/>
                          <a:sym typeface="Calibri"/>
                        </a:rPr>
                        <a:t>1505</a:t>
                      </a:r>
                      <a:endParaRPr sz="800" b="1">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2"/>
                  </a:ext>
                </a:extLst>
              </a:tr>
              <a:tr h="133350">
                <a:tc>
                  <a:txBody>
                    <a:bodyPr/>
                    <a:lstStyle/>
                    <a:p>
                      <a:pPr marL="0" lvl="0" indent="0" algn="l" rtl="0">
                        <a:lnSpc>
                          <a:spcPct val="115000"/>
                        </a:lnSpc>
                        <a:spcBef>
                          <a:spcPts val="0"/>
                        </a:spcBef>
                        <a:spcAft>
                          <a:spcPts val="0"/>
                        </a:spcAft>
                        <a:buNone/>
                      </a:pPr>
                      <a:r>
                        <a:rPr lang="en" sz="800" b="1">
                          <a:solidFill>
                            <a:srgbClr val="4472C4"/>
                          </a:solidFill>
                          <a:latin typeface="Calibri"/>
                          <a:ea typeface="Calibri"/>
                          <a:cs typeface="Calibri"/>
                          <a:sym typeface="Calibri"/>
                        </a:rPr>
                        <a:t>■</a:t>
                      </a:r>
                      <a:endParaRPr sz="800" b="1">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b="1" u="sng">
                          <a:solidFill>
                            <a:schemeClr val="hlink"/>
                          </a:solidFill>
                          <a:latin typeface="Calibri"/>
                          <a:ea typeface="Calibri"/>
                          <a:cs typeface="Calibri"/>
                          <a:sym typeface="Calibri"/>
                          <a:hlinkClick r:id="rId6"/>
                        </a:rPr>
                        <a:t>claude-opus-4-7-thinking</a:t>
                      </a:r>
                      <a:endParaRPr sz="800" b="1"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b="1">
                          <a:latin typeface="Calibri"/>
                          <a:ea typeface="Calibri"/>
                          <a:cs typeface="Calibri"/>
                          <a:sym typeface="Calibri"/>
                        </a:rPr>
                        <a:t>1502</a:t>
                      </a:r>
                      <a:endParaRPr sz="800" b="1">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3"/>
                  </a:ext>
                </a:extLst>
              </a:tr>
              <a:tr h="133350">
                <a:tc>
                  <a:txBody>
                    <a:bodyPr/>
                    <a:lstStyle/>
                    <a:p>
                      <a:pPr marL="0" lvl="0" indent="0" algn="l" rtl="0">
                        <a:lnSpc>
                          <a:spcPct val="115000"/>
                        </a:lnSpc>
                        <a:spcBef>
                          <a:spcPts val="0"/>
                        </a:spcBef>
                        <a:spcAft>
                          <a:spcPts val="0"/>
                        </a:spcAft>
                        <a:buNone/>
                      </a:pPr>
                      <a:r>
                        <a:rPr lang="en" sz="800" b="1">
                          <a:solidFill>
                            <a:srgbClr val="4472C4"/>
                          </a:solidFill>
                          <a:latin typeface="Calibri"/>
                          <a:ea typeface="Calibri"/>
                          <a:cs typeface="Calibri"/>
                          <a:sym typeface="Calibri"/>
                        </a:rPr>
                        <a:t>■</a:t>
                      </a:r>
                      <a:endParaRPr sz="800" b="1">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b="1" u="sng">
                          <a:solidFill>
                            <a:schemeClr val="hlink"/>
                          </a:solidFill>
                          <a:latin typeface="Calibri"/>
                          <a:ea typeface="Calibri"/>
                          <a:cs typeface="Calibri"/>
                          <a:sym typeface="Calibri"/>
                          <a:hlinkClick r:id="rId10"/>
                        </a:rPr>
                        <a:t>claude-opus-4-6</a:t>
                      </a:r>
                      <a:endParaRPr sz="800" b="1"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b="1">
                          <a:latin typeface="Calibri"/>
                          <a:ea typeface="Calibri"/>
                          <a:cs typeface="Calibri"/>
                          <a:sym typeface="Calibri"/>
                        </a:rPr>
                        <a:t>1497</a:t>
                      </a:r>
                      <a:endParaRPr sz="800" b="1">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4"/>
                  </a:ext>
                </a:extLst>
              </a:tr>
              <a:tr h="133350">
                <a:tc>
                  <a:txBody>
                    <a:bodyPr/>
                    <a:lstStyle/>
                    <a:p>
                      <a:pPr marL="0" lvl="0" indent="0" algn="l" rtl="0">
                        <a:lnSpc>
                          <a:spcPct val="115000"/>
                        </a:lnSpc>
                        <a:spcBef>
                          <a:spcPts val="0"/>
                        </a:spcBef>
                        <a:spcAft>
                          <a:spcPts val="0"/>
                        </a:spcAft>
                        <a:buNone/>
                      </a:pPr>
                      <a:r>
                        <a:rPr lang="en" sz="800" b="1">
                          <a:solidFill>
                            <a:srgbClr val="4472C4"/>
                          </a:solidFill>
                          <a:latin typeface="Calibri"/>
                          <a:ea typeface="Calibri"/>
                          <a:cs typeface="Calibri"/>
                          <a:sym typeface="Calibri"/>
                        </a:rPr>
                        <a:t>■</a:t>
                      </a:r>
                      <a:endParaRPr sz="800" b="1">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b="1" u="sng">
                          <a:solidFill>
                            <a:schemeClr val="hlink"/>
                          </a:solidFill>
                          <a:latin typeface="Calibri"/>
                          <a:ea typeface="Calibri"/>
                          <a:cs typeface="Calibri"/>
                          <a:sym typeface="Calibri"/>
                          <a:hlinkClick r:id="rId16"/>
                        </a:rPr>
                        <a:t>claude-opus-5-max</a:t>
                      </a:r>
                      <a:endParaRPr sz="800" b="1"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b="1">
                          <a:latin typeface="Calibri"/>
                          <a:ea typeface="Calibri"/>
                          <a:cs typeface="Calibri"/>
                          <a:sym typeface="Calibri"/>
                        </a:rPr>
                        <a:t>1495</a:t>
                      </a:r>
                      <a:endParaRPr sz="800" b="1">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5"/>
                  </a:ext>
                </a:extLst>
              </a:tr>
              <a:tr h="133350">
                <a:tc>
                  <a:txBody>
                    <a:bodyPr/>
                    <a:lstStyle/>
                    <a:p>
                      <a:pPr marL="0" lvl="0" indent="0" algn="l" rtl="0">
                        <a:lnSpc>
                          <a:spcPct val="115000"/>
                        </a:lnSpc>
                        <a:spcBef>
                          <a:spcPts val="0"/>
                        </a:spcBef>
                        <a:spcAft>
                          <a:spcPts val="0"/>
                        </a:spcAft>
                        <a:buNone/>
                      </a:pPr>
                      <a:r>
                        <a:rPr lang="en" sz="800" b="1">
                          <a:solidFill>
                            <a:srgbClr val="4472C4"/>
                          </a:solidFill>
                          <a:latin typeface="Calibri"/>
                          <a:ea typeface="Calibri"/>
                          <a:cs typeface="Calibri"/>
                          <a:sym typeface="Calibri"/>
                        </a:rPr>
                        <a:t>■</a:t>
                      </a:r>
                      <a:endParaRPr sz="800" b="1">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b="1" u="sng">
                          <a:solidFill>
                            <a:schemeClr val="hlink"/>
                          </a:solidFill>
                          <a:latin typeface="Calibri"/>
                          <a:ea typeface="Calibri"/>
                          <a:cs typeface="Calibri"/>
                          <a:sym typeface="Calibri"/>
                          <a:hlinkClick r:id="rId9"/>
                        </a:rPr>
                        <a:t>claude-opus-4-7</a:t>
                      </a:r>
                      <a:endParaRPr sz="800" b="1"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b="1">
                          <a:latin typeface="Calibri"/>
                          <a:ea typeface="Calibri"/>
                          <a:cs typeface="Calibri"/>
                          <a:sym typeface="Calibri"/>
                        </a:rPr>
                        <a:t>1493</a:t>
                      </a:r>
                      <a:endParaRPr sz="800" b="1">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6"/>
                  </a:ext>
                </a:extLst>
              </a:tr>
              <a:tr h="133350">
                <a:tc>
                  <a:txBody>
                    <a:bodyPr/>
                    <a:lstStyle/>
                    <a:p>
                      <a:pPr marL="0" lvl="0" indent="0" algn="l" rtl="0">
                        <a:lnSpc>
                          <a:spcPct val="115000"/>
                        </a:lnSpc>
                        <a:spcBef>
                          <a:spcPts val="0"/>
                        </a:spcBef>
                        <a:spcAft>
                          <a:spcPts val="0"/>
                        </a:spcAft>
                        <a:buNone/>
                      </a:pPr>
                      <a:r>
                        <a:rPr lang="en" sz="800" b="1">
                          <a:solidFill>
                            <a:srgbClr val="4472C4"/>
                          </a:solidFill>
                          <a:latin typeface="Calibri"/>
                          <a:ea typeface="Calibri"/>
                          <a:cs typeface="Calibri"/>
                          <a:sym typeface="Calibri"/>
                        </a:rPr>
                        <a:t>■</a:t>
                      </a:r>
                      <a:endParaRPr sz="800" b="1">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b="1" u="sng">
                          <a:solidFill>
                            <a:schemeClr val="hlink"/>
                          </a:solidFill>
                          <a:latin typeface="Calibri"/>
                          <a:ea typeface="Calibri"/>
                          <a:cs typeface="Calibri"/>
                          <a:sym typeface="Calibri"/>
                          <a:hlinkClick r:id="rId12"/>
                        </a:rPr>
                        <a:t>claude-opus-5-high</a:t>
                      </a:r>
                      <a:endParaRPr sz="800" b="1"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b="1">
                          <a:latin typeface="Calibri"/>
                          <a:ea typeface="Calibri"/>
                          <a:cs typeface="Calibri"/>
                          <a:sym typeface="Calibri"/>
                        </a:rPr>
                        <a:t>1493</a:t>
                      </a:r>
                      <a:endParaRPr sz="800" b="1">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7"/>
                  </a:ext>
                </a:extLst>
              </a:tr>
              <a:tr h="133350">
                <a:tc>
                  <a:txBody>
                    <a:bodyPr/>
                    <a:lstStyle/>
                    <a:p>
                      <a:pPr marL="0" lvl="0" indent="0" algn="l" rtl="0">
                        <a:lnSpc>
                          <a:spcPct val="115000"/>
                        </a:lnSpc>
                        <a:spcBef>
                          <a:spcPts val="0"/>
                        </a:spcBef>
                        <a:spcAft>
                          <a:spcPts val="0"/>
                        </a:spcAft>
                        <a:buNone/>
                      </a:pPr>
                      <a:r>
                        <a:rPr lang="en" sz="800" b="1">
                          <a:solidFill>
                            <a:srgbClr val="D9D9D9"/>
                          </a:solidFill>
                          <a:latin typeface="Calibri"/>
                          <a:ea typeface="Calibri"/>
                          <a:cs typeface="Calibri"/>
                          <a:sym typeface="Calibri"/>
                        </a:rPr>
                        <a:t>■</a:t>
                      </a:r>
                      <a:endParaRPr sz="800" b="1">
                        <a:solidFill>
                          <a:srgbClr val="D9D9D9"/>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lnSpc>
                          <a:spcPct val="115000"/>
                        </a:lnSpc>
                        <a:spcBef>
                          <a:spcPts val="0"/>
                        </a:spcBef>
                        <a:spcAft>
                          <a:spcPts val="0"/>
                        </a:spcAft>
                        <a:buNone/>
                      </a:pPr>
                      <a:r>
                        <a:rPr lang="en" sz="800" b="1" u="sng">
                          <a:solidFill>
                            <a:schemeClr val="hlink"/>
                          </a:solidFill>
                          <a:latin typeface="Calibri"/>
                          <a:ea typeface="Calibri"/>
                          <a:cs typeface="Calibri"/>
                          <a:sym typeface="Calibri"/>
                          <a:hlinkClick r:id="rId15"/>
                        </a:rPr>
                        <a:t>muse-spark-1.1</a:t>
                      </a:r>
                      <a:endParaRPr sz="800" b="1"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b="1">
                          <a:latin typeface="Calibri"/>
                          <a:ea typeface="Calibri"/>
                          <a:cs typeface="Calibri"/>
                          <a:sym typeface="Calibri"/>
                        </a:rPr>
                        <a:t>1491</a:t>
                      </a:r>
                      <a:endParaRPr sz="800" b="1">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8"/>
                  </a:ext>
                </a:extLst>
              </a:tr>
              <a:tr h="133350">
                <a:tc>
                  <a:txBody>
                    <a:bodyPr/>
                    <a:lstStyle/>
                    <a:p>
                      <a:pPr marL="0" lvl="0" indent="0" algn="l" rtl="0">
                        <a:lnSpc>
                          <a:spcPct val="115000"/>
                        </a:lnSpc>
                        <a:spcBef>
                          <a:spcPts val="0"/>
                        </a:spcBef>
                        <a:spcAft>
                          <a:spcPts val="0"/>
                        </a:spcAft>
                        <a:buNone/>
                      </a:pPr>
                      <a:r>
                        <a:rPr lang="en" sz="800" b="1">
                          <a:solidFill>
                            <a:srgbClr val="D9D9D9"/>
                          </a:solidFill>
                          <a:latin typeface="Calibri"/>
                          <a:ea typeface="Calibri"/>
                          <a:cs typeface="Calibri"/>
                          <a:sym typeface="Calibri"/>
                        </a:rPr>
                        <a:t>■</a:t>
                      </a:r>
                      <a:endParaRPr sz="800" b="1">
                        <a:solidFill>
                          <a:srgbClr val="D9D9D9"/>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lnSpc>
                          <a:spcPct val="115000"/>
                        </a:lnSpc>
                        <a:spcBef>
                          <a:spcPts val="0"/>
                        </a:spcBef>
                        <a:spcAft>
                          <a:spcPts val="0"/>
                        </a:spcAft>
                        <a:buNone/>
                      </a:pPr>
                      <a:r>
                        <a:rPr lang="en" sz="800" b="1" u="sng">
                          <a:solidFill>
                            <a:schemeClr val="hlink"/>
                          </a:solidFill>
                          <a:latin typeface="Calibri"/>
                          <a:ea typeface="Calibri"/>
                          <a:cs typeface="Calibri"/>
                          <a:sym typeface="Calibri"/>
                          <a:hlinkClick r:id="rId19"/>
                        </a:rPr>
                        <a:t>muse-spark</a:t>
                      </a:r>
                      <a:endParaRPr sz="800" b="1"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b="1">
                          <a:latin typeface="Calibri"/>
                          <a:ea typeface="Calibri"/>
                          <a:cs typeface="Calibri"/>
                          <a:sym typeface="Calibri"/>
                        </a:rPr>
                        <a:t>1488</a:t>
                      </a:r>
                      <a:endParaRPr sz="800" b="1">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9"/>
                  </a:ext>
                </a:extLst>
              </a:tr>
              <a:tr h="133350">
                <a:tc>
                  <a:txBody>
                    <a:bodyPr/>
                    <a:lstStyle/>
                    <a:p>
                      <a:pPr marL="0" lvl="0" indent="0" algn="l" rtl="0">
                        <a:lnSpc>
                          <a:spcPct val="115000"/>
                        </a:lnSpc>
                        <a:spcBef>
                          <a:spcPts val="0"/>
                        </a:spcBef>
                        <a:spcAft>
                          <a:spcPts val="0"/>
                        </a:spcAft>
                        <a:buNone/>
                      </a:pPr>
                      <a:r>
                        <a:rPr lang="en" sz="800" b="1">
                          <a:solidFill>
                            <a:srgbClr val="FF0000"/>
                          </a:solidFill>
                          <a:latin typeface="Calibri"/>
                          <a:ea typeface="Calibri"/>
                          <a:cs typeface="Calibri"/>
                          <a:sym typeface="Calibri"/>
                        </a:rPr>
                        <a:t>■</a:t>
                      </a:r>
                      <a:endParaRPr sz="800" b="1">
                        <a:solidFill>
                          <a:srgbClr val="FF000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0000"/>
                    </a:solidFill>
                  </a:tcPr>
                </a:tc>
                <a:tc>
                  <a:txBody>
                    <a:bodyPr/>
                    <a:lstStyle/>
                    <a:p>
                      <a:pPr marL="0" lvl="0" indent="0" algn="l" rtl="0">
                        <a:lnSpc>
                          <a:spcPct val="115000"/>
                        </a:lnSpc>
                        <a:spcBef>
                          <a:spcPts val="0"/>
                        </a:spcBef>
                        <a:spcAft>
                          <a:spcPts val="0"/>
                        </a:spcAft>
                        <a:buNone/>
                      </a:pPr>
                      <a:r>
                        <a:rPr lang="en" sz="800" b="1" u="sng">
                          <a:solidFill>
                            <a:schemeClr val="hlink"/>
                          </a:solidFill>
                          <a:latin typeface="Calibri"/>
                          <a:ea typeface="Calibri"/>
                          <a:cs typeface="Calibri"/>
                          <a:sym typeface="Calibri"/>
                          <a:hlinkClick r:id="rId26"/>
                        </a:rPr>
                        <a:t>gemini-3.1-pro-preview</a:t>
                      </a:r>
                      <a:endParaRPr sz="800" b="1"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b="1">
                          <a:latin typeface="Calibri"/>
                          <a:ea typeface="Calibri"/>
                          <a:cs typeface="Calibri"/>
                          <a:sym typeface="Calibri"/>
                        </a:rPr>
                        <a:t>1486</a:t>
                      </a:r>
                      <a:endParaRPr sz="800" b="1">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0"/>
                  </a:ext>
                </a:extLst>
              </a:tr>
              <a:tr h="133350">
                <a:tc>
                  <a:txBody>
                    <a:bodyPr/>
                    <a:lstStyle/>
                    <a:p>
                      <a:pPr marL="0" lvl="0" indent="0" algn="l" rtl="0">
                        <a:lnSpc>
                          <a:spcPct val="115000"/>
                        </a:lnSpc>
                        <a:spcBef>
                          <a:spcPts val="0"/>
                        </a:spcBef>
                        <a:spcAft>
                          <a:spcPts val="0"/>
                        </a:spcAft>
                        <a:buNone/>
                      </a:pPr>
                      <a:r>
                        <a:rPr lang="en" sz="800" b="1">
                          <a:solidFill>
                            <a:srgbClr val="00B050"/>
                          </a:solidFill>
                          <a:latin typeface="Calibri"/>
                          <a:ea typeface="Calibri"/>
                          <a:cs typeface="Calibri"/>
                          <a:sym typeface="Calibri"/>
                        </a:rPr>
                        <a:t>■</a:t>
                      </a:r>
                      <a:endParaRPr sz="800" b="1">
                        <a:solidFill>
                          <a:srgbClr val="00B05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00B050"/>
                    </a:solidFill>
                  </a:tcPr>
                </a:tc>
                <a:tc>
                  <a:txBody>
                    <a:bodyPr/>
                    <a:lstStyle/>
                    <a:p>
                      <a:pPr marL="0" lvl="0" indent="0" algn="l" rtl="0">
                        <a:lnSpc>
                          <a:spcPct val="115000"/>
                        </a:lnSpc>
                        <a:spcBef>
                          <a:spcPts val="0"/>
                        </a:spcBef>
                        <a:spcAft>
                          <a:spcPts val="0"/>
                        </a:spcAft>
                        <a:buNone/>
                      </a:pPr>
                      <a:r>
                        <a:rPr lang="en" sz="800" b="1" u="sng">
                          <a:solidFill>
                            <a:schemeClr val="hlink"/>
                          </a:solidFill>
                          <a:latin typeface="Calibri"/>
                          <a:ea typeface="Calibri"/>
                          <a:cs typeface="Calibri"/>
                          <a:sym typeface="Calibri"/>
                          <a:hlinkClick r:id="rId13"/>
                        </a:rPr>
                        <a:t>kimi-k3-max</a:t>
                      </a:r>
                      <a:endParaRPr sz="800" b="1"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EAD3"/>
                    </a:solidFill>
                  </a:tcPr>
                </a:tc>
                <a:tc>
                  <a:txBody>
                    <a:bodyPr/>
                    <a:lstStyle/>
                    <a:p>
                      <a:pPr marL="0" lvl="0" indent="0" algn="r" rtl="0">
                        <a:lnSpc>
                          <a:spcPct val="115000"/>
                        </a:lnSpc>
                        <a:spcBef>
                          <a:spcPts val="0"/>
                        </a:spcBef>
                        <a:spcAft>
                          <a:spcPts val="0"/>
                        </a:spcAft>
                        <a:buNone/>
                      </a:pPr>
                      <a:r>
                        <a:rPr lang="en" sz="800" b="1">
                          <a:latin typeface="Calibri"/>
                          <a:ea typeface="Calibri"/>
                          <a:cs typeface="Calibri"/>
                          <a:sym typeface="Calibri"/>
                        </a:rPr>
                        <a:t>1486</a:t>
                      </a:r>
                      <a:endParaRPr sz="800" b="1">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1"/>
                  </a:ext>
                </a:extLst>
              </a:tr>
              <a:tr h="133350">
                <a:tc>
                  <a:txBody>
                    <a:bodyPr/>
                    <a:lstStyle/>
                    <a:p>
                      <a:pPr marL="0" lvl="0" indent="0" algn="l" rtl="0">
                        <a:lnSpc>
                          <a:spcPct val="115000"/>
                        </a:lnSpc>
                        <a:spcBef>
                          <a:spcPts val="0"/>
                        </a:spcBef>
                        <a:spcAft>
                          <a:spcPts val="0"/>
                        </a:spcAft>
                        <a:buNone/>
                      </a:pPr>
                      <a:r>
                        <a:rPr lang="en" sz="800" b="1">
                          <a:solidFill>
                            <a:srgbClr val="FF0000"/>
                          </a:solidFill>
                          <a:latin typeface="Calibri"/>
                          <a:ea typeface="Calibri"/>
                          <a:cs typeface="Calibri"/>
                          <a:sym typeface="Calibri"/>
                        </a:rPr>
                        <a:t>■</a:t>
                      </a:r>
                      <a:endParaRPr sz="800" b="1">
                        <a:solidFill>
                          <a:srgbClr val="FF000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0000"/>
                    </a:solidFill>
                  </a:tcPr>
                </a:tc>
                <a:tc>
                  <a:txBody>
                    <a:bodyPr/>
                    <a:lstStyle/>
                    <a:p>
                      <a:pPr marL="0" lvl="0" indent="0" algn="l" rtl="0">
                        <a:lnSpc>
                          <a:spcPct val="115000"/>
                        </a:lnSpc>
                        <a:spcBef>
                          <a:spcPts val="0"/>
                        </a:spcBef>
                        <a:spcAft>
                          <a:spcPts val="0"/>
                        </a:spcAft>
                        <a:buNone/>
                      </a:pPr>
                      <a:r>
                        <a:rPr lang="en" sz="800" b="1" u="sng">
                          <a:solidFill>
                            <a:schemeClr val="hlink"/>
                          </a:solidFill>
                          <a:latin typeface="Calibri"/>
                          <a:ea typeface="Calibri"/>
                          <a:cs typeface="Calibri"/>
                          <a:sym typeface="Calibri"/>
                          <a:hlinkClick r:id="rId31"/>
                        </a:rPr>
                        <a:t>gemini-3-pro</a:t>
                      </a:r>
                      <a:endParaRPr sz="800" b="1"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b="1">
                          <a:latin typeface="Calibri"/>
                          <a:ea typeface="Calibri"/>
                          <a:cs typeface="Calibri"/>
                          <a:sym typeface="Calibri"/>
                        </a:rPr>
                        <a:t>1486</a:t>
                      </a:r>
                      <a:endParaRPr sz="800" b="1">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2"/>
                  </a:ext>
                </a:extLst>
              </a:tr>
              <a:tr h="133350">
                <a:tc>
                  <a:txBody>
                    <a:bodyPr/>
                    <a:lstStyle/>
                    <a:p>
                      <a:pPr marL="0" lvl="0" indent="0" algn="l" rtl="0">
                        <a:lnSpc>
                          <a:spcPct val="115000"/>
                        </a:lnSpc>
                        <a:spcBef>
                          <a:spcPts val="0"/>
                        </a:spcBef>
                        <a:spcAft>
                          <a:spcPts val="0"/>
                        </a:spcAft>
                        <a:buNone/>
                      </a:pPr>
                      <a:r>
                        <a:rPr lang="en" sz="800" b="1">
                          <a:solidFill>
                            <a:srgbClr val="FFD700"/>
                          </a:solidFill>
                          <a:latin typeface="Calibri"/>
                          <a:ea typeface="Calibri"/>
                          <a:cs typeface="Calibri"/>
                          <a:sym typeface="Calibri"/>
                        </a:rPr>
                        <a:t>■</a:t>
                      </a:r>
                      <a:endParaRPr sz="800" b="1">
                        <a:solidFill>
                          <a:srgbClr val="FFD70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D700"/>
                    </a:solidFill>
                  </a:tcPr>
                </a:tc>
                <a:tc>
                  <a:txBody>
                    <a:bodyPr/>
                    <a:lstStyle/>
                    <a:p>
                      <a:pPr marL="0" lvl="0" indent="0" algn="l" rtl="0">
                        <a:lnSpc>
                          <a:spcPct val="115000"/>
                        </a:lnSpc>
                        <a:spcBef>
                          <a:spcPts val="0"/>
                        </a:spcBef>
                        <a:spcAft>
                          <a:spcPts val="0"/>
                        </a:spcAft>
                        <a:buNone/>
                      </a:pPr>
                      <a:r>
                        <a:rPr lang="en" sz="800" b="1" u="sng">
                          <a:solidFill>
                            <a:schemeClr val="hlink"/>
                          </a:solidFill>
                          <a:latin typeface="Calibri"/>
                          <a:ea typeface="Calibri"/>
                          <a:cs typeface="Calibri"/>
                          <a:sym typeface="Calibri"/>
                          <a:hlinkClick r:id="rId21"/>
                        </a:rPr>
                        <a:t>gpt-5.6-sol-xhigh</a:t>
                      </a:r>
                      <a:endParaRPr sz="800" b="1"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b="1">
                          <a:latin typeface="Calibri"/>
                          <a:ea typeface="Calibri"/>
                          <a:cs typeface="Calibri"/>
                          <a:sym typeface="Calibri"/>
                        </a:rPr>
                        <a:t>1485</a:t>
                      </a:r>
                      <a:endParaRPr sz="800" b="1">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3"/>
                  </a:ext>
                </a:extLst>
              </a:tr>
              <a:tr h="133350">
                <a:tc>
                  <a:txBody>
                    <a:bodyPr/>
                    <a:lstStyle/>
                    <a:p>
                      <a:pPr marL="0" lvl="0" indent="0" algn="l" rtl="0">
                        <a:lnSpc>
                          <a:spcPct val="115000"/>
                        </a:lnSpc>
                        <a:spcBef>
                          <a:spcPts val="0"/>
                        </a:spcBef>
                        <a:spcAft>
                          <a:spcPts val="0"/>
                        </a:spcAft>
                        <a:buNone/>
                      </a:pPr>
                      <a:r>
                        <a:rPr lang="en" sz="800" b="1">
                          <a:solidFill>
                            <a:srgbClr val="4472C4"/>
                          </a:solidFill>
                          <a:latin typeface="Calibri"/>
                          <a:ea typeface="Calibri"/>
                          <a:cs typeface="Calibri"/>
                          <a:sym typeface="Calibri"/>
                        </a:rPr>
                        <a:t>■</a:t>
                      </a:r>
                      <a:endParaRPr sz="800" b="1">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b="1" u="sng">
                          <a:solidFill>
                            <a:schemeClr val="hlink"/>
                          </a:solidFill>
                          <a:latin typeface="Calibri"/>
                          <a:ea typeface="Calibri"/>
                          <a:cs typeface="Calibri"/>
                          <a:sym typeface="Calibri"/>
                          <a:hlinkClick r:id="rId11"/>
                        </a:rPr>
                        <a:t>claude-opus-4-8-thinking</a:t>
                      </a:r>
                      <a:endParaRPr sz="800" b="1"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b="1">
                          <a:latin typeface="Calibri"/>
                          <a:ea typeface="Calibri"/>
                          <a:cs typeface="Calibri"/>
                          <a:sym typeface="Calibri"/>
                        </a:rPr>
                        <a:t>1484</a:t>
                      </a:r>
                      <a:endParaRPr sz="800" b="1">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4"/>
                  </a:ext>
                </a:extLst>
              </a:tr>
              <a:tr h="133350">
                <a:tc>
                  <a:txBody>
                    <a:bodyPr/>
                    <a:lstStyle/>
                    <a:p>
                      <a:pPr marL="0" lvl="0" indent="0" algn="l" rtl="0">
                        <a:lnSpc>
                          <a:spcPct val="115000"/>
                        </a:lnSpc>
                        <a:spcBef>
                          <a:spcPts val="0"/>
                        </a:spcBef>
                        <a:spcAft>
                          <a:spcPts val="0"/>
                        </a:spcAft>
                        <a:buNone/>
                      </a:pPr>
                      <a:r>
                        <a:rPr lang="en" sz="800" b="1">
                          <a:solidFill>
                            <a:srgbClr val="FF0000"/>
                          </a:solidFill>
                          <a:latin typeface="Calibri"/>
                          <a:ea typeface="Calibri"/>
                          <a:cs typeface="Calibri"/>
                          <a:sym typeface="Calibri"/>
                        </a:rPr>
                        <a:t>■</a:t>
                      </a:r>
                      <a:endParaRPr sz="800" b="1">
                        <a:solidFill>
                          <a:srgbClr val="FF000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0000"/>
                    </a:solidFill>
                  </a:tcPr>
                </a:tc>
                <a:tc>
                  <a:txBody>
                    <a:bodyPr/>
                    <a:lstStyle/>
                    <a:p>
                      <a:pPr marL="0" lvl="0" indent="0" algn="l" rtl="0">
                        <a:lnSpc>
                          <a:spcPct val="115000"/>
                        </a:lnSpc>
                        <a:spcBef>
                          <a:spcPts val="0"/>
                        </a:spcBef>
                        <a:spcAft>
                          <a:spcPts val="0"/>
                        </a:spcAft>
                        <a:buNone/>
                      </a:pPr>
                      <a:r>
                        <a:rPr lang="en" sz="800" b="1" u="sng">
                          <a:solidFill>
                            <a:schemeClr val="hlink"/>
                          </a:solidFill>
                          <a:latin typeface="Calibri"/>
                          <a:ea typeface="Calibri"/>
                          <a:cs typeface="Calibri"/>
                          <a:sym typeface="Calibri"/>
                          <a:hlinkClick r:id="rId22"/>
                        </a:rPr>
                        <a:t>gemini-3.6-flash</a:t>
                      </a:r>
                      <a:endParaRPr sz="800" b="1"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b="1">
                          <a:latin typeface="Calibri"/>
                          <a:ea typeface="Calibri"/>
                          <a:cs typeface="Calibri"/>
                          <a:sym typeface="Calibri"/>
                        </a:rPr>
                        <a:t>1482</a:t>
                      </a:r>
                      <a:endParaRPr sz="800" b="1">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5"/>
                  </a:ext>
                </a:extLst>
              </a:tr>
              <a:tr h="133350">
                <a:tc>
                  <a:txBody>
                    <a:bodyPr/>
                    <a:lstStyle/>
                    <a:p>
                      <a:pPr marL="0" lvl="0" indent="0" algn="l" rtl="0">
                        <a:lnSpc>
                          <a:spcPct val="115000"/>
                        </a:lnSpc>
                        <a:spcBef>
                          <a:spcPts val="0"/>
                        </a:spcBef>
                        <a:spcAft>
                          <a:spcPts val="0"/>
                        </a:spcAft>
                        <a:buNone/>
                      </a:pPr>
                      <a:r>
                        <a:rPr lang="en" sz="800" b="1">
                          <a:solidFill>
                            <a:srgbClr val="FFD700"/>
                          </a:solidFill>
                          <a:latin typeface="Calibri"/>
                          <a:ea typeface="Calibri"/>
                          <a:cs typeface="Calibri"/>
                          <a:sym typeface="Calibri"/>
                        </a:rPr>
                        <a:t>■</a:t>
                      </a:r>
                      <a:endParaRPr sz="800" b="1">
                        <a:solidFill>
                          <a:srgbClr val="FFD70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D700"/>
                    </a:solidFill>
                  </a:tcPr>
                </a:tc>
                <a:tc>
                  <a:txBody>
                    <a:bodyPr/>
                    <a:lstStyle/>
                    <a:p>
                      <a:pPr marL="0" lvl="0" indent="0" algn="l" rtl="0">
                        <a:lnSpc>
                          <a:spcPct val="115000"/>
                        </a:lnSpc>
                        <a:spcBef>
                          <a:spcPts val="0"/>
                        </a:spcBef>
                        <a:spcAft>
                          <a:spcPts val="0"/>
                        </a:spcAft>
                        <a:buNone/>
                      </a:pPr>
                      <a:r>
                        <a:rPr lang="en" sz="800" b="1" u="sng">
                          <a:solidFill>
                            <a:schemeClr val="hlink"/>
                          </a:solidFill>
                          <a:latin typeface="Calibri"/>
                          <a:ea typeface="Calibri"/>
                          <a:cs typeface="Calibri"/>
                          <a:sym typeface="Calibri"/>
                          <a:hlinkClick r:id="rId27"/>
                        </a:rPr>
                        <a:t>gpt-5.5-high</a:t>
                      </a:r>
                      <a:endParaRPr sz="800" b="1"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b="1">
                          <a:latin typeface="Calibri"/>
                          <a:ea typeface="Calibri"/>
                          <a:cs typeface="Calibri"/>
                          <a:sym typeface="Calibri"/>
                        </a:rPr>
                        <a:t>1482</a:t>
                      </a:r>
                      <a:endParaRPr sz="800" b="1">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6"/>
                  </a:ext>
                </a:extLst>
              </a:tr>
              <a:tr h="133350">
                <a:tc>
                  <a:txBody>
                    <a:bodyPr/>
                    <a:lstStyle/>
                    <a:p>
                      <a:pPr marL="0" lvl="0" indent="0" algn="l" rtl="0">
                        <a:lnSpc>
                          <a:spcPct val="115000"/>
                        </a:lnSpc>
                        <a:spcBef>
                          <a:spcPts val="0"/>
                        </a:spcBef>
                        <a:spcAft>
                          <a:spcPts val="0"/>
                        </a:spcAft>
                        <a:buNone/>
                      </a:pPr>
                      <a:r>
                        <a:rPr lang="en" sz="800" b="1">
                          <a:solidFill>
                            <a:srgbClr val="FFD700"/>
                          </a:solidFill>
                          <a:latin typeface="Calibri"/>
                          <a:ea typeface="Calibri"/>
                          <a:cs typeface="Calibri"/>
                          <a:sym typeface="Calibri"/>
                        </a:rPr>
                        <a:t>■</a:t>
                      </a:r>
                      <a:endParaRPr sz="800" b="1">
                        <a:solidFill>
                          <a:srgbClr val="FFD70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D700"/>
                    </a:solidFill>
                  </a:tcPr>
                </a:tc>
                <a:tc>
                  <a:txBody>
                    <a:bodyPr/>
                    <a:lstStyle/>
                    <a:p>
                      <a:pPr marL="0" lvl="0" indent="0" algn="l" rtl="0">
                        <a:lnSpc>
                          <a:spcPct val="115000"/>
                        </a:lnSpc>
                        <a:spcBef>
                          <a:spcPts val="0"/>
                        </a:spcBef>
                        <a:spcAft>
                          <a:spcPts val="0"/>
                        </a:spcAft>
                        <a:buNone/>
                      </a:pPr>
                      <a:r>
                        <a:rPr lang="en" sz="800" b="1" u="sng">
                          <a:solidFill>
                            <a:schemeClr val="hlink"/>
                          </a:solidFill>
                          <a:latin typeface="Calibri"/>
                          <a:ea typeface="Calibri"/>
                          <a:cs typeface="Calibri"/>
                          <a:sym typeface="Calibri"/>
                          <a:hlinkClick r:id="rId25"/>
                        </a:rPr>
                        <a:t>gpt-5.4-high</a:t>
                      </a:r>
                      <a:endParaRPr sz="800" b="1"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b="1">
                          <a:latin typeface="Calibri"/>
                          <a:ea typeface="Calibri"/>
                          <a:cs typeface="Calibri"/>
                          <a:sym typeface="Calibri"/>
                        </a:rPr>
                        <a:t>1477</a:t>
                      </a:r>
                      <a:endParaRPr sz="800" b="1">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7"/>
                  </a:ext>
                </a:extLst>
              </a:tr>
              <a:tr h="133350">
                <a:tc>
                  <a:txBody>
                    <a:bodyPr/>
                    <a:lstStyle/>
                    <a:p>
                      <a:pPr marL="0" lvl="0" indent="0" algn="l" rtl="0">
                        <a:lnSpc>
                          <a:spcPct val="115000"/>
                        </a:lnSpc>
                        <a:spcBef>
                          <a:spcPts val="0"/>
                        </a:spcBef>
                        <a:spcAft>
                          <a:spcPts val="0"/>
                        </a:spcAft>
                        <a:buNone/>
                      </a:pPr>
                      <a:r>
                        <a:rPr lang="en" sz="800" b="1">
                          <a:solidFill>
                            <a:srgbClr val="FF0000"/>
                          </a:solidFill>
                          <a:latin typeface="Calibri"/>
                          <a:ea typeface="Calibri"/>
                          <a:cs typeface="Calibri"/>
                          <a:sym typeface="Calibri"/>
                        </a:rPr>
                        <a:t>■</a:t>
                      </a:r>
                      <a:endParaRPr sz="800" b="1">
                        <a:solidFill>
                          <a:srgbClr val="FF000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0000"/>
                    </a:solidFill>
                  </a:tcPr>
                </a:tc>
                <a:tc>
                  <a:txBody>
                    <a:bodyPr/>
                    <a:lstStyle/>
                    <a:p>
                      <a:pPr marL="0" lvl="0" indent="0" algn="l" rtl="0">
                        <a:lnSpc>
                          <a:spcPct val="115000"/>
                        </a:lnSpc>
                        <a:spcBef>
                          <a:spcPts val="0"/>
                        </a:spcBef>
                        <a:spcAft>
                          <a:spcPts val="0"/>
                        </a:spcAft>
                        <a:buNone/>
                      </a:pPr>
                      <a:r>
                        <a:rPr lang="en" sz="800" b="1" u="sng">
                          <a:solidFill>
                            <a:schemeClr val="hlink"/>
                          </a:solidFill>
                          <a:latin typeface="Calibri"/>
                          <a:ea typeface="Calibri"/>
                          <a:cs typeface="Calibri"/>
                          <a:sym typeface="Calibri"/>
                          <a:hlinkClick r:id="rId32"/>
                        </a:rPr>
                        <a:t>gemini-3.5-flash-high</a:t>
                      </a:r>
                      <a:endParaRPr sz="800" b="1"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b="1">
                          <a:latin typeface="Calibri"/>
                          <a:ea typeface="Calibri"/>
                          <a:cs typeface="Calibri"/>
                          <a:sym typeface="Calibri"/>
                        </a:rPr>
                        <a:t>1476</a:t>
                      </a:r>
                      <a:endParaRPr sz="800" b="1">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8"/>
                  </a:ext>
                </a:extLst>
              </a:tr>
              <a:tr h="133350">
                <a:tc>
                  <a:txBody>
                    <a:bodyPr/>
                    <a:lstStyle/>
                    <a:p>
                      <a:pPr marL="0" lvl="0" indent="0" algn="l" rtl="0">
                        <a:lnSpc>
                          <a:spcPct val="115000"/>
                        </a:lnSpc>
                        <a:spcBef>
                          <a:spcPts val="0"/>
                        </a:spcBef>
                        <a:spcAft>
                          <a:spcPts val="0"/>
                        </a:spcAft>
                        <a:buNone/>
                      </a:pPr>
                      <a:r>
                        <a:rPr lang="en" sz="800" b="1">
                          <a:solidFill>
                            <a:srgbClr val="FFD700"/>
                          </a:solidFill>
                          <a:latin typeface="Calibri"/>
                          <a:ea typeface="Calibri"/>
                          <a:cs typeface="Calibri"/>
                          <a:sym typeface="Calibri"/>
                        </a:rPr>
                        <a:t>■</a:t>
                      </a:r>
                      <a:endParaRPr sz="800" b="1">
                        <a:solidFill>
                          <a:srgbClr val="FFD70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D700"/>
                    </a:solidFill>
                  </a:tcPr>
                </a:tc>
                <a:tc>
                  <a:txBody>
                    <a:bodyPr/>
                    <a:lstStyle/>
                    <a:p>
                      <a:pPr marL="0" lvl="0" indent="0" algn="l" rtl="0">
                        <a:lnSpc>
                          <a:spcPct val="115000"/>
                        </a:lnSpc>
                        <a:spcBef>
                          <a:spcPts val="0"/>
                        </a:spcBef>
                        <a:spcAft>
                          <a:spcPts val="0"/>
                        </a:spcAft>
                        <a:buNone/>
                      </a:pPr>
                      <a:r>
                        <a:rPr lang="en" sz="800" b="1" u="sng">
                          <a:solidFill>
                            <a:schemeClr val="hlink"/>
                          </a:solidFill>
                          <a:latin typeface="Calibri"/>
                          <a:ea typeface="Calibri"/>
                          <a:cs typeface="Calibri"/>
                          <a:sym typeface="Calibri"/>
                          <a:hlinkClick r:id="rId33"/>
                        </a:rPr>
                        <a:t>gpt-5.2-chat-latest-20260210</a:t>
                      </a:r>
                      <a:endParaRPr sz="800" b="1"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b="1">
                          <a:latin typeface="Calibri"/>
                          <a:ea typeface="Calibri"/>
                          <a:cs typeface="Calibri"/>
                          <a:sym typeface="Calibri"/>
                        </a:rPr>
                        <a:t>1476</a:t>
                      </a:r>
                      <a:endParaRPr sz="800" b="1">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9"/>
                  </a:ext>
                </a:extLst>
              </a:tr>
              <a:tr h="133350">
                <a:tc>
                  <a:txBody>
                    <a:bodyPr/>
                    <a:lstStyle/>
                    <a:p>
                      <a:pPr marL="0" lvl="0" indent="0" algn="l" rtl="0">
                        <a:lnSpc>
                          <a:spcPct val="115000"/>
                        </a:lnSpc>
                        <a:spcBef>
                          <a:spcPts val="0"/>
                        </a:spcBef>
                        <a:spcAft>
                          <a:spcPts val="0"/>
                        </a:spcAft>
                        <a:buNone/>
                      </a:pPr>
                      <a:r>
                        <a:rPr lang="en" sz="800" b="1">
                          <a:solidFill>
                            <a:srgbClr val="FFD700"/>
                          </a:solidFill>
                          <a:latin typeface="Calibri"/>
                          <a:ea typeface="Calibri"/>
                          <a:cs typeface="Calibri"/>
                          <a:sym typeface="Calibri"/>
                        </a:rPr>
                        <a:t>■</a:t>
                      </a:r>
                      <a:endParaRPr sz="800" b="1">
                        <a:solidFill>
                          <a:srgbClr val="FFD70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D700"/>
                    </a:solidFill>
                  </a:tcPr>
                </a:tc>
                <a:tc>
                  <a:txBody>
                    <a:bodyPr/>
                    <a:lstStyle/>
                    <a:p>
                      <a:pPr marL="0" lvl="0" indent="0" algn="l" rtl="0">
                        <a:lnSpc>
                          <a:spcPct val="115000"/>
                        </a:lnSpc>
                        <a:spcBef>
                          <a:spcPts val="0"/>
                        </a:spcBef>
                        <a:spcAft>
                          <a:spcPts val="0"/>
                        </a:spcAft>
                        <a:buNone/>
                      </a:pPr>
                      <a:r>
                        <a:rPr lang="en" sz="800" b="1" u="sng">
                          <a:solidFill>
                            <a:schemeClr val="hlink"/>
                          </a:solidFill>
                          <a:latin typeface="Calibri"/>
                          <a:ea typeface="Calibri"/>
                          <a:cs typeface="Calibri"/>
                          <a:sym typeface="Calibri"/>
                          <a:hlinkClick r:id="rId34"/>
                        </a:rPr>
                        <a:t>gpt-5.5</a:t>
                      </a:r>
                      <a:endParaRPr sz="800" b="1"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b="1">
                          <a:latin typeface="Calibri"/>
                          <a:ea typeface="Calibri"/>
                          <a:cs typeface="Calibri"/>
                          <a:sym typeface="Calibri"/>
                        </a:rPr>
                        <a:t>1476</a:t>
                      </a:r>
                      <a:endParaRPr sz="800" b="1">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0"/>
                  </a:ext>
                </a:extLst>
              </a:tr>
              <a:tr h="133350">
                <a:tc>
                  <a:txBody>
                    <a:bodyPr/>
                    <a:lstStyle/>
                    <a:p>
                      <a:pPr marL="0" lvl="0" indent="0" algn="l" rtl="0">
                        <a:lnSpc>
                          <a:spcPct val="115000"/>
                        </a:lnSpc>
                        <a:spcBef>
                          <a:spcPts val="0"/>
                        </a:spcBef>
                        <a:spcAft>
                          <a:spcPts val="0"/>
                        </a:spcAft>
                        <a:buNone/>
                      </a:pPr>
                      <a:r>
                        <a:rPr lang="en" sz="800" b="1">
                          <a:solidFill>
                            <a:srgbClr val="00B050"/>
                          </a:solidFill>
                          <a:latin typeface="Calibri"/>
                          <a:ea typeface="Calibri"/>
                          <a:cs typeface="Calibri"/>
                          <a:sym typeface="Calibri"/>
                        </a:rPr>
                        <a:t>■</a:t>
                      </a:r>
                      <a:endParaRPr sz="800" b="1">
                        <a:solidFill>
                          <a:srgbClr val="00B05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00B050"/>
                    </a:solidFill>
                  </a:tcPr>
                </a:tc>
                <a:tc>
                  <a:txBody>
                    <a:bodyPr/>
                    <a:lstStyle/>
                    <a:p>
                      <a:pPr marL="0" lvl="0" indent="0" algn="l" rtl="0">
                        <a:lnSpc>
                          <a:spcPct val="115000"/>
                        </a:lnSpc>
                        <a:spcBef>
                          <a:spcPts val="0"/>
                        </a:spcBef>
                        <a:spcAft>
                          <a:spcPts val="0"/>
                        </a:spcAft>
                        <a:buNone/>
                      </a:pPr>
                      <a:r>
                        <a:rPr lang="en" sz="800" b="1" u="sng">
                          <a:solidFill>
                            <a:schemeClr val="hlink"/>
                          </a:solidFill>
                          <a:latin typeface="Calibri"/>
                          <a:ea typeface="Calibri"/>
                          <a:cs typeface="Calibri"/>
                          <a:sym typeface="Calibri"/>
                          <a:hlinkClick r:id="rId20"/>
                        </a:rPr>
                        <a:t>qwen3.7-max-preview</a:t>
                      </a:r>
                      <a:endParaRPr sz="800" b="1"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EAD3"/>
                    </a:solidFill>
                  </a:tcPr>
                </a:tc>
                <a:tc>
                  <a:txBody>
                    <a:bodyPr/>
                    <a:lstStyle/>
                    <a:p>
                      <a:pPr marL="0" lvl="0" indent="0" algn="r" rtl="0">
                        <a:lnSpc>
                          <a:spcPct val="115000"/>
                        </a:lnSpc>
                        <a:spcBef>
                          <a:spcPts val="0"/>
                        </a:spcBef>
                        <a:spcAft>
                          <a:spcPts val="0"/>
                        </a:spcAft>
                        <a:buNone/>
                      </a:pPr>
                      <a:r>
                        <a:rPr lang="en" sz="800" b="1">
                          <a:latin typeface="Calibri"/>
                          <a:ea typeface="Calibri"/>
                          <a:cs typeface="Calibri"/>
                          <a:sym typeface="Calibri"/>
                        </a:rPr>
                        <a:t>1475</a:t>
                      </a:r>
                      <a:endParaRPr sz="800" b="1">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1"/>
                  </a:ext>
                </a:extLst>
              </a:tr>
              <a:tr h="133350">
                <a:tc>
                  <a:txBody>
                    <a:bodyPr/>
                    <a:lstStyle/>
                    <a:p>
                      <a:pPr marL="0" lvl="0" indent="0" algn="l" rtl="0">
                        <a:lnSpc>
                          <a:spcPct val="115000"/>
                        </a:lnSpc>
                        <a:spcBef>
                          <a:spcPts val="0"/>
                        </a:spcBef>
                        <a:spcAft>
                          <a:spcPts val="0"/>
                        </a:spcAft>
                        <a:buNone/>
                      </a:pPr>
                      <a:r>
                        <a:rPr lang="en" sz="800" b="1">
                          <a:solidFill>
                            <a:srgbClr val="4472C4"/>
                          </a:solidFill>
                          <a:latin typeface="Calibri"/>
                          <a:ea typeface="Calibri"/>
                          <a:cs typeface="Calibri"/>
                          <a:sym typeface="Calibri"/>
                        </a:rPr>
                        <a:t>■</a:t>
                      </a:r>
                      <a:endParaRPr sz="800" b="1">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b="1" u="sng">
                          <a:solidFill>
                            <a:schemeClr val="hlink"/>
                          </a:solidFill>
                          <a:latin typeface="Calibri"/>
                          <a:ea typeface="Calibri"/>
                          <a:cs typeface="Calibri"/>
                          <a:sym typeface="Calibri"/>
                          <a:hlinkClick r:id="rId17"/>
                        </a:rPr>
                        <a:t>claude-opus-4-8</a:t>
                      </a:r>
                      <a:endParaRPr sz="800" b="1"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b="1">
                          <a:latin typeface="Calibri"/>
                          <a:ea typeface="Calibri"/>
                          <a:cs typeface="Calibri"/>
                          <a:sym typeface="Calibri"/>
                        </a:rPr>
                        <a:t>1474</a:t>
                      </a:r>
                      <a:endParaRPr sz="800" b="1">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2"/>
                  </a:ext>
                </a:extLst>
              </a:tr>
              <a:tr h="133350">
                <a:tc>
                  <a:txBody>
                    <a:bodyPr/>
                    <a:lstStyle/>
                    <a:p>
                      <a:pPr marL="0" lvl="0" indent="0" algn="l" rtl="0">
                        <a:lnSpc>
                          <a:spcPct val="115000"/>
                        </a:lnSpc>
                        <a:spcBef>
                          <a:spcPts val="0"/>
                        </a:spcBef>
                        <a:spcAft>
                          <a:spcPts val="0"/>
                        </a:spcAft>
                        <a:buNone/>
                      </a:pPr>
                      <a:r>
                        <a:rPr lang="en" sz="800" b="1">
                          <a:solidFill>
                            <a:srgbClr val="D9D9D9"/>
                          </a:solidFill>
                          <a:latin typeface="Calibri"/>
                          <a:ea typeface="Calibri"/>
                          <a:cs typeface="Calibri"/>
                          <a:sym typeface="Calibri"/>
                        </a:rPr>
                        <a:t>■</a:t>
                      </a:r>
                      <a:endParaRPr sz="800" b="1">
                        <a:solidFill>
                          <a:srgbClr val="D9D9D9"/>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lnSpc>
                          <a:spcPct val="115000"/>
                        </a:lnSpc>
                        <a:spcBef>
                          <a:spcPts val="0"/>
                        </a:spcBef>
                        <a:spcAft>
                          <a:spcPts val="0"/>
                        </a:spcAft>
                        <a:buNone/>
                      </a:pPr>
                      <a:r>
                        <a:rPr lang="en" sz="800" b="1" u="sng">
                          <a:solidFill>
                            <a:schemeClr val="hlink"/>
                          </a:solidFill>
                          <a:latin typeface="Calibri"/>
                          <a:ea typeface="Calibri"/>
                          <a:cs typeface="Calibri"/>
                          <a:sym typeface="Calibri"/>
                          <a:hlinkClick r:id="rId35"/>
                        </a:rPr>
                        <a:t>grok-4.20-beta1</a:t>
                      </a:r>
                      <a:endParaRPr sz="800" b="1"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b="1">
                          <a:latin typeface="Calibri"/>
                          <a:ea typeface="Calibri"/>
                          <a:cs typeface="Calibri"/>
                          <a:sym typeface="Calibri"/>
                        </a:rPr>
                        <a:t>1474</a:t>
                      </a:r>
                      <a:endParaRPr sz="800" b="1">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3"/>
                  </a:ext>
                </a:extLst>
              </a:tr>
              <a:tr h="133350">
                <a:tc>
                  <a:txBody>
                    <a:bodyPr/>
                    <a:lstStyle/>
                    <a:p>
                      <a:pPr marL="0" lvl="0" indent="0" algn="l" rtl="0">
                        <a:lnSpc>
                          <a:spcPct val="115000"/>
                        </a:lnSpc>
                        <a:spcBef>
                          <a:spcPts val="0"/>
                        </a:spcBef>
                        <a:spcAft>
                          <a:spcPts val="0"/>
                        </a:spcAft>
                        <a:buNone/>
                      </a:pPr>
                      <a:r>
                        <a:rPr lang="en" sz="800" b="1">
                          <a:solidFill>
                            <a:srgbClr val="FFD700"/>
                          </a:solidFill>
                          <a:latin typeface="Calibri"/>
                          <a:ea typeface="Calibri"/>
                          <a:cs typeface="Calibri"/>
                          <a:sym typeface="Calibri"/>
                        </a:rPr>
                        <a:t>■</a:t>
                      </a:r>
                      <a:endParaRPr sz="800" b="1">
                        <a:solidFill>
                          <a:srgbClr val="FFD70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D700"/>
                    </a:solidFill>
                  </a:tcPr>
                </a:tc>
                <a:tc>
                  <a:txBody>
                    <a:bodyPr/>
                    <a:lstStyle/>
                    <a:p>
                      <a:pPr marL="0" lvl="0" indent="0" algn="l" rtl="0">
                        <a:lnSpc>
                          <a:spcPct val="115000"/>
                        </a:lnSpc>
                        <a:spcBef>
                          <a:spcPts val="0"/>
                        </a:spcBef>
                        <a:spcAft>
                          <a:spcPts val="0"/>
                        </a:spcAft>
                        <a:buNone/>
                      </a:pPr>
                      <a:r>
                        <a:rPr lang="en" sz="800" b="1" u="sng">
                          <a:solidFill>
                            <a:schemeClr val="hlink"/>
                          </a:solidFill>
                          <a:latin typeface="Calibri"/>
                          <a:ea typeface="Calibri"/>
                          <a:cs typeface="Calibri"/>
                          <a:sym typeface="Calibri"/>
                          <a:hlinkClick r:id="rId36"/>
                        </a:rPr>
                        <a:t>gpt-5.5-instant</a:t>
                      </a:r>
                      <a:endParaRPr sz="800" b="1"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b="1">
                          <a:latin typeface="Calibri"/>
                          <a:ea typeface="Calibri"/>
                          <a:cs typeface="Calibri"/>
                          <a:sym typeface="Calibri"/>
                        </a:rPr>
                        <a:t>1473</a:t>
                      </a:r>
                      <a:endParaRPr sz="800" b="1">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4"/>
                  </a:ext>
                </a:extLst>
              </a:tr>
              <a:tr h="133350">
                <a:tc>
                  <a:txBody>
                    <a:bodyPr/>
                    <a:lstStyle/>
                    <a:p>
                      <a:pPr marL="0" lvl="0" indent="0" algn="l" rtl="0">
                        <a:lnSpc>
                          <a:spcPct val="115000"/>
                        </a:lnSpc>
                        <a:spcBef>
                          <a:spcPts val="0"/>
                        </a:spcBef>
                        <a:spcAft>
                          <a:spcPts val="0"/>
                        </a:spcAft>
                        <a:buNone/>
                      </a:pPr>
                      <a:r>
                        <a:rPr lang="en" sz="800" b="1">
                          <a:solidFill>
                            <a:srgbClr val="FF0000"/>
                          </a:solidFill>
                          <a:latin typeface="Calibri"/>
                          <a:ea typeface="Calibri"/>
                          <a:cs typeface="Calibri"/>
                          <a:sym typeface="Calibri"/>
                        </a:rPr>
                        <a:t>■</a:t>
                      </a:r>
                      <a:endParaRPr sz="800" b="1">
                        <a:solidFill>
                          <a:srgbClr val="FF000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0000"/>
                    </a:solidFill>
                  </a:tcPr>
                </a:tc>
                <a:tc>
                  <a:txBody>
                    <a:bodyPr/>
                    <a:lstStyle/>
                    <a:p>
                      <a:pPr marL="0" lvl="0" indent="0" algn="l" rtl="0">
                        <a:lnSpc>
                          <a:spcPct val="115000"/>
                        </a:lnSpc>
                        <a:spcBef>
                          <a:spcPts val="0"/>
                        </a:spcBef>
                        <a:spcAft>
                          <a:spcPts val="0"/>
                        </a:spcAft>
                        <a:buNone/>
                      </a:pPr>
                      <a:r>
                        <a:rPr lang="en" sz="800" b="1" u="sng">
                          <a:solidFill>
                            <a:schemeClr val="hlink"/>
                          </a:solidFill>
                          <a:latin typeface="Calibri"/>
                          <a:ea typeface="Calibri"/>
                          <a:cs typeface="Calibri"/>
                          <a:sym typeface="Calibri"/>
                          <a:hlinkClick r:id="rId37"/>
                        </a:rPr>
                        <a:t>gemini-3-flash</a:t>
                      </a:r>
                      <a:endParaRPr sz="800" b="1"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b="1">
                          <a:latin typeface="Calibri"/>
                          <a:ea typeface="Calibri"/>
                          <a:cs typeface="Calibri"/>
                          <a:sym typeface="Calibri"/>
                        </a:rPr>
                        <a:t>1473</a:t>
                      </a:r>
                      <a:endParaRPr sz="800" b="1">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5"/>
                  </a:ext>
                </a:extLst>
              </a:tr>
            </a:tbl>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85"/>
        <p:cNvGrpSpPr/>
        <p:nvPr/>
      </p:nvGrpSpPr>
      <p:grpSpPr>
        <a:xfrm>
          <a:off x="0" y="0"/>
          <a:ext cx="0" cy="0"/>
          <a:chOff x="0" y="0"/>
          <a:chExt cx="0" cy="0"/>
        </a:xfrm>
      </p:grpSpPr>
      <p:pic>
        <p:nvPicPr>
          <p:cNvPr id="86" name="Google Shape;86;p17"/>
          <p:cNvPicPr preferRelativeResize="0"/>
          <p:nvPr/>
        </p:nvPicPr>
        <p:blipFill>
          <a:blip r:embed="rId3" cstate="email">
            <a:alphaModFix/>
            <a:extLst>
              <a:ext uri="{28A0092B-C50C-407E-A947-70E740481C1C}">
                <a14:useLocalDpi xmlns:a14="http://schemas.microsoft.com/office/drawing/2010/main"/>
              </a:ext>
            </a:extLst>
          </a:blip>
          <a:stretch>
            <a:fillRect/>
          </a:stretch>
        </p:blipFill>
        <p:spPr>
          <a:xfrm>
            <a:off x="0" y="1213385"/>
            <a:ext cx="9144001" cy="3554346"/>
          </a:xfrm>
          <a:prstGeom prst="rect">
            <a:avLst/>
          </a:prstGeom>
          <a:noFill/>
          <a:ln>
            <a:noFill/>
          </a:ln>
        </p:spPr>
      </p:pic>
      <p:sp>
        <p:nvSpPr>
          <p:cNvPr id="87" name="Google Shape;87;p17"/>
          <p:cNvSpPr txBox="1"/>
          <p:nvPr/>
        </p:nvSpPr>
        <p:spPr>
          <a:xfrm>
            <a:off x="38150" y="2125"/>
            <a:ext cx="4493700" cy="2955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2000"/>
              <a:buFont typeface="Arial"/>
              <a:buNone/>
            </a:pPr>
            <a:r>
              <a:rPr lang="en" sz="1800" b="1">
                <a:solidFill>
                  <a:schemeClr val="dk1"/>
                </a:solidFill>
                <a:latin typeface="Calibri"/>
                <a:ea typeface="Calibri"/>
                <a:cs typeface="Calibri"/>
                <a:sym typeface="Calibri"/>
              </a:rPr>
              <a:t>Artificial Analysis Intelligence Index</a:t>
            </a:r>
            <a:endParaRPr sz="1800" b="1" i="0" u="none" strike="noStrike" cap="none">
              <a:solidFill>
                <a:srgbClr val="000000"/>
              </a:solidFill>
              <a:latin typeface="Calibri"/>
              <a:ea typeface="Calibri"/>
              <a:cs typeface="Calibri"/>
              <a:sym typeface="Calibri"/>
            </a:endParaRPr>
          </a:p>
        </p:txBody>
      </p:sp>
      <p:sp>
        <p:nvSpPr>
          <p:cNvPr id="88" name="Google Shape;88;p17"/>
          <p:cNvSpPr txBox="1"/>
          <p:nvPr/>
        </p:nvSpPr>
        <p:spPr>
          <a:xfrm>
            <a:off x="52430" y="476075"/>
            <a:ext cx="4429500" cy="6186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22860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Artificial Analysis Intelligence Index</a:t>
            </a:r>
            <a:endParaRPr sz="1200" b="1">
              <a:solidFill>
                <a:srgbClr val="FF0000"/>
              </a:solidFill>
              <a:latin typeface="Calibri"/>
              <a:ea typeface="Calibri"/>
              <a:cs typeface="Calibri"/>
              <a:sym typeface="Calibri"/>
            </a:endParaRPr>
          </a:p>
          <a:p>
            <a:pPr marL="228600" marR="0" lvl="0" indent="-114300" algn="l" rtl="0">
              <a:lnSpc>
                <a:spcPct val="100000"/>
              </a:lnSpc>
              <a:spcBef>
                <a:spcPts val="0"/>
              </a:spcBef>
              <a:spcAft>
                <a:spcPts val="0"/>
              </a:spcAft>
              <a:buSzPts val="900"/>
              <a:buFont typeface="Calibri"/>
              <a:buChar char="●"/>
            </a:pPr>
            <a:r>
              <a:rPr lang="en" sz="900" b="1" u="sng">
                <a:solidFill>
                  <a:schemeClr val="hlink"/>
                </a:solidFill>
                <a:latin typeface="Calibri"/>
                <a:ea typeface="Calibri"/>
                <a:cs typeface="Calibri"/>
                <a:sym typeface="Calibri"/>
                <a:hlinkClick r:id="rId4"/>
              </a:rPr>
              <a:t>https://artificialanalysis.ai</a:t>
            </a:r>
            <a:endParaRPr sz="900" b="1">
              <a:solidFill>
                <a:srgbClr val="FF0000"/>
              </a:solidFill>
              <a:latin typeface="Calibri"/>
              <a:ea typeface="Calibri"/>
              <a:cs typeface="Calibri"/>
              <a:sym typeface="Calibri"/>
            </a:endParaRPr>
          </a:p>
          <a:p>
            <a:pPr marL="228600" marR="0" lvl="0" indent="-114300" algn="l" rtl="0">
              <a:lnSpc>
                <a:spcPct val="100000"/>
              </a:lnSpc>
              <a:spcBef>
                <a:spcPts val="0"/>
              </a:spcBef>
              <a:spcAft>
                <a:spcPts val="0"/>
              </a:spcAft>
              <a:buSzPts val="900"/>
              <a:buFont typeface="Calibri"/>
              <a:buChar char="●"/>
            </a:pPr>
            <a:r>
              <a:rPr lang="en" sz="900" b="1" u="sng">
                <a:solidFill>
                  <a:schemeClr val="hlink"/>
                </a:solidFill>
                <a:latin typeface="Calibri"/>
                <a:ea typeface="Calibri"/>
                <a:cs typeface="Calibri"/>
                <a:sym typeface="Calibri"/>
                <a:hlinkClick r:id="rId5"/>
              </a:rPr>
              <a:t>https://artificialanalysis.ai/evaluations/artificial-analysis-intelligence-index</a:t>
            </a:r>
            <a:endParaRPr sz="900" b="1">
              <a:solidFill>
                <a:srgbClr val="FF0000"/>
              </a:solidFill>
              <a:latin typeface="Calibri"/>
              <a:ea typeface="Calibri"/>
              <a:cs typeface="Calibri"/>
              <a:sym typeface="Calibri"/>
            </a:endParaRPr>
          </a:p>
          <a:p>
            <a:pPr marL="228600" marR="0" lvl="0" indent="-114300" algn="l" rtl="0">
              <a:lnSpc>
                <a:spcPct val="100000"/>
              </a:lnSpc>
              <a:spcBef>
                <a:spcPts val="0"/>
              </a:spcBef>
              <a:spcAft>
                <a:spcPts val="0"/>
              </a:spcAft>
              <a:buSzPts val="900"/>
              <a:buFont typeface="Calibri"/>
              <a:buChar char="●"/>
            </a:pPr>
            <a:r>
              <a:rPr lang="en" sz="900" b="1" u="sng">
                <a:solidFill>
                  <a:schemeClr val="hlink"/>
                </a:solidFill>
                <a:latin typeface="Calibri"/>
                <a:ea typeface="Calibri"/>
                <a:cs typeface="Calibri"/>
                <a:sym typeface="Calibri"/>
                <a:hlinkClick r:id="rId6"/>
              </a:rPr>
              <a:t>https://www.youtube.com/watch?v=nxr20lcqagg</a:t>
            </a:r>
            <a:r>
              <a:rPr lang="en" sz="900" b="1">
                <a:solidFill>
                  <a:srgbClr val="FF0000"/>
                </a:solidFill>
                <a:latin typeface="Calibri"/>
                <a:ea typeface="Calibri"/>
                <a:cs typeface="Calibri"/>
                <a:sym typeface="Calibri"/>
              </a:rPr>
              <a:t> - Anthropic vs OpenAI </a:t>
            </a:r>
            <a:endParaRPr sz="900" b="1">
              <a:solidFill>
                <a:srgbClr val="FF0000"/>
              </a:solidFill>
              <a:latin typeface="Calibri"/>
              <a:ea typeface="Calibri"/>
              <a:cs typeface="Calibri"/>
              <a:sym typeface="Calibri"/>
            </a:endParaRPr>
          </a:p>
        </p:txBody>
      </p:sp>
      <p:sp>
        <p:nvSpPr>
          <p:cNvPr id="89" name="Google Shape;89;p17"/>
          <p:cNvSpPr/>
          <p:nvPr/>
        </p:nvSpPr>
        <p:spPr>
          <a:xfrm>
            <a:off x="7631425" y="2191175"/>
            <a:ext cx="249600" cy="531900"/>
          </a:xfrm>
          <a:prstGeom prst="downArrow">
            <a:avLst>
              <a:gd name="adj1" fmla="val 50000"/>
              <a:gd name="adj2" fmla="val 50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90" name="Google Shape;90;p17"/>
          <p:cNvSpPr/>
          <p:nvPr/>
        </p:nvSpPr>
        <p:spPr>
          <a:xfrm>
            <a:off x="1430846" y="2789175"/>
            <a:ext cx="249600" cy="531900"/>
          </a:xfrm>
          <a:prstGeom prst="downArrow">
            <a:avLst>
              <a:gd name="adj1" fmla="val 50000"/>
              <a:gd name="adj2" fmla="val 50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91" name="Google Shape;91;p17"/>
          <p:cNvSpPr/>
          <p:nvPr/>
        </p:nvSpPr>
        <p:spPr>
          <a:xfrm>
            <a:off x="2876814" y="2804413"/>
            <a:ext cx="249600" cy="531900"/>
          </a:xfrm>
          <a:prstGeom prst="downArrow">
            <a:avLst>
              <a:gd name="adj1" fmla="val 50000"/>
              <a:gd name="adj2" fmla="val 50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92" name="Google Shape;92;p17"/>
          <p:cNvSpPr/>
          <p:nvPr/>
        </p:nvSpPr>
        <p:spPr>
          <a:xfrm>
            <a:off x="4730563" y="2789175"/>
            <a:ext cx="249600" cy="531900"/>
          </a:xfrm>
          <a:prstGeom prst="downArrow">
            <a:avLst>
              <a:gd name="adj1" fmla="val 50000"/>
              <a:gd name="adj2" fmla="val 50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93" name="Google Shape;93;p17"/>
          <p:cNvSpPr/>
          <p:nvPr/>
        </p:nvSpPr>
        <p:spPr>
          <a:xfrm>
            <a:off x="329800" y="2789175"/>
            <a:ext cx="249600" cy="531900"/>
          </a:xfrm>
          <a:prstGeom prst="downArrow">
            <a:avLst>
              <a:gd name="adj1" fmla="val 50000"/>
              <a:gd name="adj2" fmla="val 50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94" name="Google Shape;94;p17"/>
          <p:cNvSpPr txBox="1"/>
          <p:nvPr/>
        </p:nvSpPr>
        <p:spPr>
          <a:xfrm>
            <a:off x="6333351" y="837775"/>
            <a:ext cx="944700" cy="172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ctr" rtl="0">
              <a:lnSpc>
                <a:spcPct val="100000"/>
              </a:lnSpc>
              <a:spcBef>
                <a:spcPts val="0"/>
              </a:spcBef>
              <a:spcAft>
                <a:spcPts val="0"/>
              </a:spcAft>
              <a:buNone/>
            </a:pPr>
            <a:r>
              <a:rPr lang="en" sz="1000">
                <a:latin typeface="Calibri"/>
                <a:ea typeface="Calibri"/>
                <a:cs typeface="Calibri"/>
                <a:sym typeface="Calibri"/>
              </a:rPr>
              <a:t>July 31</a:t>
            </a:r>
            <a:endParaRPr sz="1000">
              <a:latin typeface="Calibri"/>
              <a:ea typeface="Calibri"/>
              <a:cs typeface="Calibri"/>
              <a:sym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98"/>
        <p:cNvGrpSpPr/>
        <p:nvPr/>
      </p:nvGrpSpPr>
      <p:grpSpPr>
        <a:xfrm>
          <a:off x="0" y="0"/>
          <a:ext cx="0" cy="0"/>
          <a:chOff x="0" y="0"/>
          <a:chExt cx="0" cy="0"/>
        </a:xfrm>
      </p:grpSpPr>
      <p:sp>
        <p:nvSpPr>
          <p:cNvPr id="99" name="Google Shape;99;p18"/>
          <p:cNvSpPr txBox="1"/>
          <p:nvPr/>
        </p:nvSpPr>
        <p:spPr>
          <a:xfrm>
            <a:off x="81775" y="0"/>
            <a:ext cx="45354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sp>
        <p:nvSpPr>
          <p:cNvPr id="100" name="Google Shape;100;p18"/>
          <p:cNvSpPr txBox="1"/>
          <p:nvPr/>
        </p:nvSpPr>
        <p:spPr>
          <a:xfrm>
            <a:off x="81775" y="372103"/>
            <a:ext cx="4437000" cy="387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Matthew Berman - using Codex</a:t>
            </a:r>
            <a:r>
              <a:rPr lang="en" sz="1200">
                <a:latin typeface="Calibri"/>
                <a:ea typeface="Calibri"/>
                <a:cs typeface="Calibri"/>
                <a:sym typeface="Calibri"/>
              </a:rPr>
              <a:t> to negotiate returns and refund on Amazon - </a:t>
            </a:r>
            <a:r>
              <a:rPr lang="en" sz="1200" u="sng">
                <a:solidFill>
                  <a:schemeClr val="hlink"/>
                </a:solidFill>
                <a:latin typeface="Calibri"/>
                <a:ea typeface="Calibri"/>
                <a:cs typeface="Calibri"/>
                <a:sym typeface="Calibri"/>
                <a:hlinkClick r:id="rId3"/>
              </a:rPr>
              <a:t>https://www.youtube.com/shorts/Bf-f2XK4Qv0</a:t>
            </a:r>
            <a:endParaRPr sz="1200">
              <a:solidFill>
                <a:schemeClr val="dk1"/>
              </a:solidFill>
              <a:latin typeface="Calibri"/>
              <a:ea typeface="Calibri"/>
              <a:cs typeface="Calibri"/>
              <a:sym typeface="Calibri"/>
            </a:endParaRPr>
          </a:p>
        </p:txBody>
      </p:sp>
      <p:pic>
        <p:nvPicPr>
          <p:cNvPr id="101" name="Google Shape;101;p18"/>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5847975" y="114002"/>
            <a:ext cx="1022150" cy="1687324"/>
          </a:xfrm>
          <a:prstGeom prst="rect">
            <a:avLst/>
          </a:prstGeom>
          <a:noFill/>
          <a:ln w="9525" cap="flat" cmpd="sng">
            <a:solidFill>
              <a:srgbClr val="FF0000"/>
            </a:solidFill>
            <a:prstDash val="solid"/>
            <a:round/>
            <a:headEnd type="none" w="sm" len="sm"/>
            <a:tailEnd type="none" w="sm" len="sm"/>
          </a:ln>
        </p:spPr>
      </p:pic>
      <p:sp>
        <p:nvSpPr>
          <p:cNvPr id="102" name="Google Shape;102;p18"/>
          <p:cNvSpPr txBox="1"/>
          <p:nvPr/>
        </p:nvSpPr>
        <p:spPr>
          <a:xfrm>
            <a:off x="81775" y="865753"/>
            <a:ext cx="4437000" cy="2881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Claude Opus 5 Released  - July 24</a:t>
            </a:r>
            <a:endParaRPr sz="1200" b="1">
              <a:solidFill>
                <a:srgbClr val="FF0000"/>
              </a:solidFill>
              <a:latin typeface="Calibri"/>
              <a:ea typeface="Calibri"/>
              <a:cs typeface="Calibri"/>
              <a:sym typeface="Calibri"/>
            </a:endParaRPr>
          </a:p>
          <a:p>
            <a:pPr marL="171450" marR="0" lvl="0" indent="-114300" algn="l" rtl="0">
              <a:lnSpc>
                <a:spcPct val="100000"/>
              </a:lnSpc>
              <a:spcBef>
                <a:spcPts val="0"/>
              </a:spcBef>
              <a:spcAft>
                <a:spcPts val="0"/>
              </a:spcAft>
              <a:buSzPts val="900"/>
              <a:buFont typeface="Calibri"/>
              <a:buChar char="●"/>
            </a:pPr>
            <a:r>
              <a:rPr lang="en" sz="900" u="sng">
                <a:solidFill>
                  <a:schemeClr val="hlink"/>
                </a:solidFill>
                <a:latin typeface="Calibri"/>
                <a:ea typeface="Calibri"/>
                <a:cs typeface="Calibri"/>
                <a:sym typeface="Calibri"/>
                <a:hlinkClick r:id="rId5"/>
              </a:rPr>
              <a:t>https://www.anthropic.com/news/claude-opus-5</a:t>
            </a:r>
            <a:r>
              <a:rPr lang="en" sz="900">
                <a:latin typeface="Calibri"/>
                <a:ea typeface="Calibri"/>
                <a:cs typeface="Calibri"/>
                <a:sym typeface="Calibri"/>
              </a:rPr>
              <a:t> </a:t>
            </a:r>
            <a:endParaRPr sz="900">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6"/>
              </a:rPr>
              <a:t>https://www.youtube.com/watch?v=1Q7CkLh9GwU</a:t>
            </a:r>
            <a:endParaRPr sz="9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Anthropic released Claude Opus 5, a flagship AI model outperforming Fable 5 across major benchmarks</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The model delivers superior performance in coding, computer use, and reasoning at half the price of Fable 5 (</a:t>
            </a:r>
            <a:r>
              <a:rPr lang="en" sz="1200">
                <a:solidFill>
                  <a:schemeClr val="dk1"/>
                </a:solidFill>
                <a:latin typeface="Calibri"/>
                <a:ea typeface="Calibri"/>
                <a:cs typeface="Calibri"/>
                <a:sym typeface="Calibri"/>
              </a:rPr>
              <a:t>$5 /$25 in/out)</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Benchmark improvements include a jump to thirty percent on ARC AGI 3 along with gains on OS World and Automation Bench</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Cyber security capabilities were intentionally restricted with added safety guardrails to prevent potential exploit generation</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The stream also discussed an open letter signed by Nvidia CEO Jensen Huang supporting open-source software and open-weight AI models</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Enterprise tasks show high efficiency, focusing on overall cost per task rather than basic token pricing</a:t>
            </a:r>
            <a:endParaRPr sz="1200">
              <a:latin typeface="Calibri"/>
              <a:ea typeface="Calibri"/>
              <a:cs typeface="Calibri"/>
              <a:sym typeface="Calibri"/>
            </a:endParaRPr>
          </a:p>
        </p:txBody>
      </p:sp>
      <p:pic>
        <p:nvPicPr>
          <p:cNvPr id="103" name="Google Shape;103;p18"/>
          <p:cNvPicPr preferRelativeResize="0"/>
          <p:nvPr/>
        </p:nvPicPr>
        <p:blipFill>
          <a:blip r:embed="rId7" cstate="email">
            <a:alphaModFix/>
            <a:extLst>
              <a:ext uri="{28A0092B-C50C-407E-A947-70E740481C1C}">
                <a14:useLocalDpi xmlns:a14="http://schemas.microsoft.com/office/drawing/2010/main"/>
              </a:ext>
            </a:extLst>
          </a:blip>
          <a:stretch>
            <a:fillRect/>
          </a:stretch>
        </p:blipFill>
        <p:spPr>
          <a:xfrm>
            <a:off x="6982186" y="114002"/>
            <a:ext cx="2052161" cy="1687325"/>
          </a:xfrm>
          <a:prstGeom prst="rect">
            <a:avLst/>
          </a:prstGeom>
          <a:noFill/>
          <a:ln w="9525" cap="flat" cmpd="sng">
            <a:solidFill>
              <a:srgbClr val="FF0000"/>
            </a:solidFill>
            <a:prstDash val="solid"/>
            <a:round/>
            <a:headEnd type="none" w="sm" len="sm"/>
            <a:tailEnd type="none" w="sm" len="sm"/>
          </a:ln>
        </p:spPr>
      </p:pic>
      <p:sp>
        <p:nvSpPr>
          <p:cNvPr id="104" name="Google Shape;104;p18"/>
          <p:cNvSpPr txBox="1"/>
          <p:nvPr/>
        </p:nvSpPr>
        <p:spPr>
          <a:xfrm>
            <a:off x="4617175" y="1914078"/>
            <a:ext cx="4437000" cy="1680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Claude Managed Agents</a:t>
            </a:r>
            <a:r>
              <a:rPr lang="en" sz="1200">
                <a:latin typeface="Calibri"/>
                <a:ea typeface="Calibri"/>
                <a:cs typeface="Calibri"/>
                <a:sym typeface="Calibri"/>
              </a:rPr>
              <a:t> (beta)</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Advisor strategy </a:t>
            </a:r>
            <a:r>
              <a:rPr lang="en" sz="1200">
                <a:solidFill>
                  <a:schemeClr val="dk1"/>
                </a:solidFill>
                <a:latin typeface="Calibri"/>
                <a:ea typeface="Calibri"/>
                <a:cs typeface="Calibri"/>
                <a:sym typeface="Calibri"/>
              </a:rPr>
              <a:t>(beta) - </a:t>
            </a:r>
            <a:r>
              <a:rPr lang="en" sz="1200">
                <a:latin typeface="Calibri"/>
                <a:ea typeface="Calibri"/>
                <a:cs typeface="Calibri"/>
                <a:sym typeface="Calibri"/>
              </a:rPr>
              <a:t>lower-cost model can mid-task call Opus 5 to check their plan and evaluate their work</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Mid-conversation tool changes</a:t>
            </a:r>
            <a:r>
              <a:rPr lang="en" sz="1200">
                <a:latin typeface="Calibri"/>
                <a:ea typeface="Calibri"/>
                <a:cs typeface="Calibri"/>
                <a:sym typeface="Calibri"/>
              </a:rPr>
              <a:t> (beta): Change which tools Claude has access to mid-conversation without invalidating the prompt cache</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Fast mode</a:t>
            </a:r>
            <a:r>
              <a:rPr lang="en" sz="1200">
                <a:latin typeface="Calibri"/>
                <a:ea typeface="Calibri"/>
                <a:cs typeface="Calibri"/>
                <a:sym typeface="Calibri"/>
              </a:rPr>
              <a:t> (research preview) - 2.5x faster output at 2x pricing</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Automatic blocks and fallbacks</a:t>
            </a:r>
            <a:r>
              <a:rPr lang="en" sz="1200">
                <a:latin typeface="Calibri"/>
                <a:ea typeface="Calibri"/>
                <a:cs typeface="Calibri"/>
                <a:sym typeface="Calibri"/>
              </a:rPr>
              <a:t> (beta) - safety classifiers that block a narrow set of high-harm cybersecurity requests</a:t>
            </a:r>
            <a:endParaRPr sz="1200">
              <a:latin typeface="Calibri"/>
              <a:ea typeface="Calibri"/>
              <a:cs typeface="Calibri"/>
              <a:sym typeface="Calibri"/>
            </a:endParaRPr>
          </a:p>
        </p:txBody>
      </p:sp>
      <p:sp>
        <p:nvSpPr>
          <p:cNvPr id="105" name="Google Shape;105;p18"/>
          <p:cNvSpPr txBox="1"/>
          <p:nvPr/>
        </p:nvSpPr>
        <p:spPr>
          <a:xfrm>
            <a:off x="81775" y="3853003"/>
            <a:ext cx="4437000" cy="942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Anthropic released a policy proposal</a:t>
            </a:r>
            <a:endParaRPr sz="1200" b="1">
              <a:solidFill>
                <a:srgbClr val="FF0000"/>
              </a:solidFill>
              <a:latin typeface="Calibri"/>
              <a:ea typeface="Calibri"/>
              <a:cs typeface="Calibri"/>
              <a:sym typeface="Calibri"/>
            </a:endParaRPr>
          </a:p>
          <a:p>
            <a:pPr marL="45720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opposing total bans on open-weight models</a:t>
            </a:r>
            <a:endParaRPr sz="1200">
              <a:latin typeface="Calibri"/>
              <a:ea typeface="Calibri"/>
              <a:cs typeface="Calibri"/>
              <a:sym typeface="Calibri"/>
            </a:endParaRPr>
          </a:p>
          <a:p>
            <a:pPr marL="45720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advocating for strict safety evaluations</a:t>
            </a:r>
            <a:endParaRPr sz="1200">
              <a:latin typeface="Calibri"/>
              <a:ea typeface="Calibri"/>
              <a:cs typeface="Calibri"/>
              <a:sym typeface="Calibri"/>
            </a:endParaRPr>
          </a:p>
          <a:p>
            <a:pPr marL="45720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advocating for chip sanctions against China</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8"/>
              </a:rPr>
              <a:t>https://www.anthropic.com/policy-on-the-ai-exponential</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09"/>
        <p:cNvGrpSpPr/>
        <p:nvPr/>
      </p:nvGrpSpPr>
      <p:grpSpPr>
        <a:xfrm>
          <a:off x="0" y="0"/>
          <a:ext cx="0" cy="0"/>
          <a:chOff x="0" y="0"/>
          <a:chExt cx="0" cy="0"/>
        </a:xfrm>
      </p:grpSpPr>
      <p:sp>
        <p:nvSpPr>
          <p:cNvPr id="110" name="Google Shape;110;p19"/>
          <p:cNvSpPr txBox="1"/>
          <p:nvPr/>
        </p:nvSpPr>
        <p:spPr>
          <a:xfrm>
            <a:off x="81775" y="0"/>
            <a:ext cx="45354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sp>
        <p:nvSpPr>
          <p:cNvPr id="111" name="Google Shape;111;p19"/>
          <p:cNvSpPr txBox="1"/>
          <p:nvPr/>
        </p:nvSpPr>
        <p:spPr>
          <a:xfrm>
            <a:off x="130975" y="532628"/>
            <a:ext cx="4437000" cy="1819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GPT-5.6 Lower Pricing on Luna &amp; Terra</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Luna gets an 80% price cut and Terra a 20% cut</a:t>
            </a:r>
            <a:br>
              <a:rPr lang="en" sz="1200">
                <a:latin typeface="Calibri"/>
                <a:ea typeface="Calibri"/>
                <a:cs typeface="Calibri"/>
                <a:sym typeface="Calibri"/>
              </a:rPr>
            </a:br>
            <a:r>
              <a:rPr lang="en" sz="1200">
                <a:latin typeface="Calibri"/>
                <a:ea typeface="Calibri"/>
                <a:cs typeface="Calibri"/>
                <a:sym typeface="Calibri"/>
              </a:rPr>
              <a:t>GPT small model (Luna) gets becomes cheaper than DeepSeek. </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API pricing updates take effect July 30, and ChatGPT Work, Codex, and the API keep GPT-5.6 Terra and Luna available</a:t>
            </a:r>
            <a:endParaRPr sz="1200">
              <a:latin typeface="Calibri"/>
              <a:ea typeface="Calibri"/>
              <a:cs typeface="Calibri"/>
              <a:sym typeface="Calibri"/>
            </a:endParaRPr>
          </a:p>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Sol gains a faster Fast mode (x2.5 faster) in the API</a:t>
            </a:r>
            <a:endParaRPr sz="1200" b="1">
              <a:solidFill>
                <a:srgbClr val="FF0000"/>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3"/>
              </a:rPr>
              <a:t>https://openai.com/index/advancing-the-price-performance-frontier-with-gpt-5-6/</a:t>
            </a:r>
            <a:r>
              <a:rPr lang="en" sz="900">
                <a:latin typeface="Calibri"/>
                <a:ea typeface="Calibri"/>
                <a:cs typeface="Calibri"/>
                <a:sym typeface="Calibri"/>
              </a:rPr>
              <a:t> </a:t>
            </a:r>
            <a:endParaRPr sz="9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The company highlights lower cost per task, better routing, smarter context management, and improved kernel and token-generation efficiency</a:t>
            </a:r>
            <a:endParaRPr sz="1200">
              <a:latin typeface="Calibri"/>
              <a:ea typeface="Calibri"/>
              <a:cs typeface="Calibri"/>
              <a:sym typeface="Calibri"/>
            </a:endParaRPr>
          </a:p>
        </p:txBody>
      </p:sp>
      <p:pic>
        <p:nvPicPr>
          <p:cNvPr id="112" name="Google Shape;112;p19"/>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4760350" y="532625"/>
            <a:ext cx="4271225" cy="3485966"/>
          </a:xfrm>
          <a:prstGeom prst="rect">
            <a:avLst/>
          </a:prstGeom>
          <a:noFill/>
          <a:ln w="9525" cap="flat" cmpd="sng">
            <a:solidFill>
              <a:srgbClr val="FF0000"/>
            </a:solidFill>
            <a:prstDash val="solid"/>
            <a:round/>
            <a:headEnd type="none" w="sm" len="sm"/>
            <a:tailEnd type="none" w="sm" len="sm"/>
          </a:ln>
        </p:spPr>
      </p:pic>
      <p:sp>
        <p:nvSpPr>
          <p:cNvPr id="113" name="Google Shape;113;p19"/>
          <p:cNvSpPr txBox="1"/>
          <p:nvPr/>
        </p:nvSpPr>
        <p:spPr>
          <a:xfrm>
            <a:off x="130975" y="2495794"/>
            <a:ext cx="4437000" cy="1496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How they managed to cut prices?</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They used GPT-5.6 Sol to achieved efficiency gains - autonomously optimized GPU kernels, token generation, and routing heuristics</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The </a:t>
            </a:r>
            <a:r>
              <a:rPr lang="en" sz="1200" b="1">
                <a:solidFill>
                  <a:srgbClr val="FF0000"/>
                </a:solidFill>
                <a:latin typeface="Calibri"/>
                <a:ea typeface="Calibri"/>
                <a:cs typeface="Calibri"/>
                <a:sym typeface="Calibri"/>
              </a:rPr>
              <a:t>recursive self-improvement (RSI) </a:t>
            </a:r>
            <a:r>
              <a:rPr lang="en" sz="1200">
                <a:latin typeface="Calibri"/>
                <a:ea typeface="Calibri"/>
                <a:cs typeface="Calibri"/>
                <a:sym typeface="Calibri"/>
              </a:rPr>
              <a:t>loop ran continuously on production data to discover previously overlooked efficiency improvements</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Luna Max</a:t>
            </a:r>
            <a:r>
              <a:rPr lang="en" sz="1200">
                <a:latin typeface="Calibri"/>
                <a:ea typeface="Calibri"/>
                <a:cs typeface="Calibri"/>
                <a:sym typeface="Calibri"/>
              </a:rPr>
              <a:t> now outperforms competing models on task completion benchmarks at a tiny fraction of their cost</a:t>
            </a:r>
            <a:endParaRPr sz="1200">
              <a:latin typeface="Calibri"/>
              <a:ea typeface="Calibri"/>
              <a:cs typeface="Calibri"/>
              <a:sym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17"/>
        <p:cNvGrpSpPr/>
        <p:nvPr/>
      </p:nvGrpSpPr>
      <p:grpSpPr>
        <a:xfrm>
          <a:off x="0" y="0"/>
          <a:ext cx="0" cy="0"/>
          <a:chOff x="0" y="0"/>
          <a:chExt cx="0" cy="0"/>
        </a:xfrm>
      </p:grpSpPr>
      <p:sp>
        <p:nvSpPr>
          <p:cNvPr id="118" name="Google Shape;118;p20"/>
          <p:cNvSpPr txBox="1"/>
          <p:nvPr/>
        </p:nvSpPr>
        <p:spPr>
          <a:xfrm>
            <a:off x="81775" y="0"/>
            <a:ext cx="45354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DeepSeek Updates</a:t>
            </a:r>
            <a:endParaRPr sz="2000" b="1">
              <a:solidFill>
                <a:schemeClr val="dk1"/>
              </a:solidFill>
              <a:latin typeface="Calibri"/>
              <a:ea typeface="Calibri"/>
              <a:cs typeface="Calibri"/>
              <a:sym typeface="Calibri"/>
            </a:endParaRPr>
          </a:p>
        </p:txBody>
      </p:sp>
      <p:sp>
        <p:nvSpPr>
          <p:cNvPr id="119" name="Google Shape;119;p20"/>
          <p:cNvSpPr txBox="1"/>
          <p:nvPr/>
        </p:nvSpPr>
        <p:spPr>
          <a:xfrm>
            <a:off x="130975" y="454094"/>
            <a:ext cx="4437000" cy="3158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DeepSeek V4 Flash API - Official Version</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Same size/cost as preview - but much better</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Note - Web and app versions remain unchanged, as this update applies strictly to the API</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Note - the "Pro" is still in Preview / Beta</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3"/>
              </a:rPr>
              <a:t>https://deepseek.com</a:t>
            </a:r>
            <a:r>
              <a:rPr lang="en" sz="1200">
                <a:latin typeface="Calibri"/>
                <a:ea typeface="Calibri"/>
                <a:cs typeface="Calibri"/>
                <a:sym typeface="Calibri"/>
              </a:rPr>
              <a:t> </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4"/>
              </a:rPr>
              <a:t>https://github.com/deepseek-ai</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5"/>
              </a:rPr>
              <a:t>https://www.youtube.com/watch?v=bagORWOyilI</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Benchmarks show massive performance jumps across coding tasks, matching high tier models like Claude Opus 4.8.</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Context length 1M tokens</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Overall token usage reduced by 12%</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Tailored for AI agent workflows, the API runs faster and cheaper than competing options</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Open weights coming soon</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6"/>
              </a:rPr>
              <a:t>https://api-docs.deepseek.com/quick_start/pricing</a:t>
            </a:r>
            <a:r>
              <a:rPr lang="en" sz="1200">
                <a:latin typeface="Calibri"/>
                <a:ea typeface="Calibri"/>
                <a:cs typeface="Calibri"/>
                <a:sym typeface="Calibri"/>
              </a:rPr>
              <a:t> </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7"/>
              </a:rPr>
              <a:t>https://artificialanalysis.ai/models/deepseek-v4-pro</a:t>
            </a:r>
            <a:r>
              <a:rPr lang="en" sz="1200">
                <a:latin typeface="Calibri"/>
                <a:ea typeface="Calibri"/>
                <a:cs typeface="Calibri"/>
                <a:sym typeface="Calibri"/>
              </a:rPr>
              <a:t> </a:t>
            </a:r>
            <a:endParaRPr sz="1200">
              <a:latin typeface="Calibri"/>
              <a:ea typeface="Calibri"/>
              <a:cs typeface="Calibri"/>
              <a:sym typeface="Calibri"/>
            </a:endParaRPr>
          </a:p>
        </p:txBody>
      </p:sp>
      <p:pic>
        <p:nvPicPr>
          <p:cNvPr id="120" name="Google Shape;120;p20"/>
          <p:cNvPicPr preferRelativeResize="0"/>
          <p:nvPr/>
        </p:nvPicPr>
        <p:blipFill>
          <a:blip r:embed="rId8" cstate="email">
            <a:alphaModFix/>
            <a:extLst>
              <a:ext uri="{28A0092B-C50C-407E-A947-70E740481C1C}">
                <a14:useLocalDpi xmlns:a14="http://schemas.microsoft.com/office/drawing/2010/main"/>
              </a:ext>
            </a:extLst>
          </a:blip>
          <a:stretch>
            <a:fillRect/>
          </a:stretch>
        </p:blipFill>
        <p:spPr>
          <a:xfrm>
            <a:off x="4720375" y="452624"/>
            <a:ext cx="3805158" cy="3158399"/>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24"/>
        <p:cNvGrpSpPr/>
        <p:nvPr/>
      </p:nvGrpSpPr>
      <p:grpSpPr>
        <a:xfrm>
          <a:off x="0" y="0"/>
          <a:ext cx="0" cy="0"/>
          <a:chOff x="0" y="0"/>
          <a:chExt cx="0" cy="0"/>
        </a:xfrm>
      </p:grpSpPr>
      <p:sp>
        <p:nvSpPr>
          <p:cNvPr id="125" name="Google Shape;125;p21"/>
          <p:cNvSpPr txBox="1"/>
          <p:nvPr/>
        </p:nvSpPr>
        <p:spPr>
          <a:xfrm>
            <a:off x="81775" y="0"/>
            <a:ext cx="45354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sp>
        <p:nvSpPr>
          <p:cNvPr id="126" name="Google Shape;126;p21"/>
          <p:cNvSpPr txBox="1"/>
          <p:nvPr/>
        </p:nvSpPr>
        <p:spPr>
          <a:xfrm>
            <a:off x="81775" y="372103"/>
            <a:ext cx="4437000" cy="1865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SzPts val="1200"/>
              <a:buFont typeface="Calibri"/>
              <a:buChar char="●"/>
            </a:pPr>
            <a:r>
              <a:rPr lang="en" sz="1200" b="1">
                <a:solidFill>
                  <a:srgbClr val="FF0000"/>
                </a:solidFill>
                <a:latin typeface="Calibri"/>
                <a:ea typeface="Calibri"/>
                <a:cs typeface="Calibri"/>
                <a:sym typeface="Calibri"/>
              </a:rPr>
              <a:t>Anthropic removed 80% of Claude Code prompt harness</a:t>
            </a:r>
            <a:br>
              <a:rPr lang="en" sz="1200">
                <a:latin typeface="Calibri"/>
                <a:ea typeface="Calibri"/>
                <a:cs typeface="Calibri"/>
                <a:sym typeface="Calibri"/>
              </a:rPr>
            </a:br>
            <a:r>
              <a:rPr lang="en" sz="1200">
                <a:latin typeface="Calibri"/>
                <a:ea typeface="Calibri"/>
                <a:cs typeface="Calibri"/>
                <a:sym typeface="Calibri"/>
              </a:rPr>
              <a:t>due to performance jumps in Opus 5</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Boris Cherny - creator of Claude Code - advises to regularly delete configuration files like CLAUDE.md because newer AI models render old instructions obsolete</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Harnesses should remain minimal to fully leverage modern model capabilities and product overhang</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3"/>
              </a:rPr>
              <a:t>https://www.ycombinator.com/library/NJ-inside-claude-code-with-its-creator-boris-cherny</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4"/>
              </a:rPr>
              <a:t>https://www.youtube.com/watch?v=Egd65CLmb6w</a:t>
            </a:r>
            <a:endParaRPr sz="1200">
              <a:latin typeface="Calibri"/>
              <a:ea typeface="Calibri"/>
              <a:cs typeface="Calibri"/>
              <a:sym typeface="Calibri"/>
            </a:endParaRPr>
          </a:p>
        </p:txBody>
      </p:sp>
      <p:pic>
        <p:nvPicPr>
          <p:cNvPr id="127" name="Google Shape;127;p21"/>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4769575" y="372100"/>
            <a:ext cx="1753795" cy="1865400"/>
          </a:xfrm>
          <a:prstGeom prst="rect">
            <a:avLst/>
          </a:prstGeom>
          <a:noFill/>
          <a:ln w="9525" cap="flat" cmpd="sng">
            <a:solidFill>
              <a:srgbClr val="FF0000"/>
            </a:solidFill>
            <a:prstDash val="solid"/>
            <a:round/>
            <a:headEnd type="none" w="sm" len="sm"/>
            <a:tailEnd type="none" w="sm" len="sm"/>
          </a:ln>
        </p:spPr>
      </p:pic>
      <p:sp>
        <p:nvSpPr>
          <p:cNvPr id="128" name="Google Shape;128;p21"/>
          <p:cNvSpPr txBox="1"/>
          <p:nvPr/>
        </p:nvSpPr>
        <p:spPr>
          <a:xfrm>
            <a:off x="81775" y="2389928"/>
            <a:ext cx="4437000" cy="803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Kimi K3 is now available on Ollama cloud</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Access requires a Pro or Max subscription ($20/mo or $100/mo)</a:t>
            </a:r>
            <a:endParaRPr sz="1200">
              <a:latin typeface="Calibri"/>
              <a:ea typeface="Calibri"/>
              <a:cs typeface="Calibri"/>
              <a:sym typeface="Calibri"/>
            </a:endParaRPr>
          </a:p>
          <a:p>
            <a:pPr marL="171450" marR="0" lvl="0" indent="-114300" algn="l" rtl="0">
              <a:lnSpc>
                <a:spcPct val="100000"/>
              </a:lnSpc>
              <a:spcBef>
                <a:spcPts val="0"/>
              </a:spcBef>
              <a:spcAft>
                <a:spcPts val="0"/>
              </a:spcAft>
              <a:buClr>
                <a:srgbClr val="3C78D8"/>
              </a:buClr>
              <a:buSzPts val="900"/>
              <a:buFont typeface="Victor Mono"/>
              <a:buChar char="●"/>
            </a:pPr>
            <a:r>
              <a:rPr lang="en" sz="900" b="1">
                <a:solidFill>
                  <a:srgbClr val="3C78D8"/>
                </a:solidFill>
                <a:latin typeface="Victor Mono"/>
                <a:ea typeface="Victor Mono"/>
                <a:cs typeface="Victor Mono"/>
                <a:sym typeface="Victor Mono"/>
              </a:rPr>
              <a:t>ollama launch claude --model kimi-k3:cloud</a:t>
            </a:r>
            <a:endParaRPr sz="900" b="1">
              <a:solidFill>
                <a:srgbClr val="3C78D8"/>
              </a:solidFill>
              <a:latin typeface="Victor Mono"/>
              <a:ea typeface="Victor Mono"/>
              <a:cs typeface="Victor Mono"/>
              <a:sym typeface="Victor Mono"/>
            </a:endParaRPr>
          </a:p>
          <a:p>
            <a:pPr marL="171450" marR="0" lvl="0" indent="-114300" algn="l" rtl="0">
              <a:lnSpc>
                <a:spcPct val="100000"/>
              </a:lnSpc>
              <a:spcBef>
                <a:spcPts val="0"/>
              </a:spcBef>
              <a:spcAft>
                <a:spcPts val="0"/>
              </a:spcAft>
              <a:buClr>
                <a:srgbClr val="3C78D8"/>
              </a:buClr>
              <a:buSzPts val="900"/>
              <a:buFont typeface="Victor Mono"/>
              <a:buChar char="●"/>
            </a:pPr>
            <a:r>
              <a:rPr lang="en" sz="900" b="1">
                <a:solidFill>
                  <a:srgbClr val="3C78D8"/>
                </a:solidFill>
                <a:latin typeface="Victor Mono"/>
                <a:ea typeface="Victor Mono"/>
                <a:cs typeface="Victor Mono"/>
                <a:sym typeface="Victor Mono"/>
              </a:rPr>
              <a:t>ollama launch openclaw --model kimi-k3:cloud</a:t>
            </a:r>
            <a:endParaRPr sz="900" b="1">
              <a:solidFill>
                <a:srgbClr val="3C78D8"/>
              </a:solidFill>
              <a:latin typeface="Victor Mono"/>
              <a:ea typeface="Victor Mono"/>
              <a:cs typeface="Victor Mono"/>
              <a:sym typeface="Victor Mono"/>
            </a:endParaRPr>
          </a:p>
          <a:p>
            <a:pPr marL="171450" marR="0" lvl="0" indent="-114300" algn="l" rtl="0">
              <a:lnSpc>
                <a:spcPct val="100000"/>
              </a:lnSpc>
              <a:spcBef>
                <a:spcPts val="0"/>
              </a:spcBef>
              <a:spcAft>
                <a:spcPts val="0"/>
              </a:spcAft>
              <a:buClr>
                <a:srgbClr val="3C78D8"/>
              </a:buClr>
              <a:buSzPts val="900"/>
              <a:buFont typeface="Victor Mono"/>
              <a:buChar char="●"/>
            </a:pPr>
            <a:r>
              <a:rPr lang="en" sz="900" b="1">
                <a:solidFill>
                  <a:srgbClr val="3C78D8"/>
                </a:solidFill>
                <a:latin typeface="Victor Mono"/>
                <a:ea typeface="Victor Mono"/>
                <a:cs typeface="Victor Mono"/>
                <a:sym typeface="Victor Mono"/>
              </a:rPr>
              <a:t>ollama launch hermes --model kimi-k3:cloud</a:t>
            </a:r>
            <a:endParaRPr sz="900" b="1">
              <a:solidFill>
                <a:srgbClr val="3C78D8"/>
              </a:solidFill>
              <a:latin typeface="Victor Mono"/>
              <a:ea typeface="Victor Mono"/>
              <a:cs typeface="Victor Mono"/>
              <a:sym typeface="Victor Mono"/>
            </a:endParaRPr>
          </a:p>
        </p:txBody>
      </p:sp>
      <p:pic>
        <p:nvPicPr>
          <p:cNvPr id="129" name="Google Shape;129;p21"/>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4769572" y="2389925"/>
            <a:ext cx="803400" cy="803400"/>
          </a:xfrm>
          <a:prstGeom prst="rect">
            <a:avLst/>
          </a:prstGeom>
          <a:noFill/>
          <a:ln w="9525" cap="flat" cmpd="sng">
            <a:solidFill>
              <a:srgbClr val="FF0000"/>
            </a:solidFill>
            <a:prstDash val="solid"/>
            <a:round/>
            <a:headEnd type="none" w="sm" len="sm"/>
            <a:tailEnd type="none" w="sm" len="sm"/>
          </a:ln>
        </p:spPr>
      </p:pic>
      <p:sp>
        <p:nvSpPr>
          <p:cNvPr id="130" name="Google Shape;130;p21"/>
          <p:cNvSpPr txBox="1"/>
          <p:nvPr/>
        </p:nvSpPr>
        <p:spPr>
          <a:xfrm>
            <a:off x="87925" y="3345750"/>
            <a:ext cx="4424700" cy="988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Microsoft Mage-Flow Text-to-Image</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Small 4B params, open-source (MIT), very fast</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Different aspect ratios: 1024 x 1024, 512 x 2048, 2048 x 512, etc.</a:t>
            </a:r>
            <a:endParaRPr sz="12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7"/>
              </a:rPr>
              <a:t>https://github.com/microsoft/Mage</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8"/>
              </a:rPr>
              <a:t>https://arxiv.org/abs/2607.19064v2</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9"/>
              </a:rPr>
              <a:t>https://www.youtube.com/watch?v=0ta2Srcb5_U</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sp>
        <p:nvSpPr>
          <p:cNvPr id="135" name="Google Shape;135;p22"/>
          <p:cNvSpPr txBox="1"/>
          <p:nvPr/>
        </p:nvSpPr>
        <p:spPr>
          <a:xfrm>
            <a:off x="81775" y="0"/>
            <a:ext cx="36360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Celeris 1 AI Speed vs ChatGPT 5</a:t>
            </a:r>
            <a:endParaRPr sz="2000" b="1">
              <a:solidFill>
                <a:schemeClr val="dk1"/>
              </a:solidFill>
              <a:latin typeface="Calibri"/>
              <a:ea typeface="Calibri"/>
              <a:cs typeface="Calibri"/>
              <a:sym typeface="Calibri"/>
            </a:endParaRPr>
          </a:p>
        </p:txBody>
      </p:sp>
      <p:sp>
        <p:nvSpPr>
          <p:cNvPr id="136" name="Google Shape;136;p22"/>
          <p:cNvSpPr txBox="1"/>
          <p:nvPr/>
        </p:nvSpPr>
        <p:spPr>
          <a:xfrm>
            <a:off x="81775" y="372100"/>
            <a:ext cx="5141700" cy="2604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Celeris 1 AI Speed vs ChatGPT 5</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3"/>
              </a:rPr>
              <a:t>https://www.youtube.com/watch?v=3Y0EU6N6ADY</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4"/>
              </a:rPr>
              <a:t>https://benchlm.ai/providers/celeris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5"/>
              </a:rPr>
              <a:t>https://celeris.ai</a:t>
            </a:r>
            <a:r>
              <a:rPr lang="en" sz="1200">
                <a:latin typeface="Calibri"/>
                <a:ea typeface="Calibri"/>
                <a:cs typeface="Calibri"/>
                <a:sym typeface="Calibri"/>
              </a:rPr>
              <a:t> </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Celeris-1 is the first model from </a:t>
            </a:r>
            <a:r>
              <a:rPr lang="en" sz="1200" b="1">
                <a:solidFill>
                  <a:srgbClr val="FF0000"/>
                </a:solidFill>
                <a:latin typeface="Calibri"/>
                <a:ea typeface="Calibri"/>
                <a:cs typeface="Calibri"/>
                <a:sym typeface="Calibri"/>
              </a:rPr>
              <a:t>Celeris Labs</a:t>
            </a:r>
            <a:r>
              <a:rPr lang="en" sz="1200">
                <a:latin typeface="Calibri"/>
                <a:ea typeface="Calibri"/>
                <a:cs typeface="Calibri"/>
                <a:sym typeface="Calibri"/>
              </a:rPr>
              <a:t>, launched in July 2026 in San </a:t>
            </a:r>
            <a:r>
              <a:rPr lang="en" sz="1200">
                <a:solidFill>
                  <a:schemeClr val="dk1"/>
                </a:solidFill>
                <a:latin typeface="Calibri"/>
                <a:ea typeface="Calibri"/>
                <a:cs typeface="Calibri"/>
                <a:sym typeface="Calibri"/>
              </a:rPr>
              <a:t>Francisco, CA (cofounders - </a:t>
            </a:r>
            <a:r>
              <a:rPr lang="en" sz="1200">
                <a:latin typeface="Calibri"/>
                <a:ea typeface="Calibri"/>
                <a:cs typeface="Calibri"/>
                <a:sym typeface="Calibri"/>
              </a:rPr>
              <a:t>Tom Hamer and Jesse Clark)</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The model claims </a:t>
            </a:r>
            <a:r>
              <a:rPr lang="en" sz="1200" b="1">
                <a:solidFill>
                  <a:srgbClr val="FF0000"/>
                </a:solidFill>
                <a:latin typeface="Calibri"/>
                <a:ea typeface="Calibri"/>
                <a:cs typeface="Calibri"/>
                <a:sym typeface="Calibri"/>
              </a:rPr>
              <a:t>extreme speeds, answering in just 157 milliseconds and producing 1,664 tok/sec</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rgbClr val="3C78D8"/>
              </a:buClr>
              <a:buSzPts val="1200"/>
              <a:buFont typeface="Calibri"/>
              <a:buChar char="●"/>
            </a:pPr>
            <a:r>
              <a:rPr lang="en" sz="1200" b="1">
                <a:solidFill>
                  <a:srgbClr val="3C78D8"/>
                </a:solidFill>
                <a:latin typeface="Calibri"/>
                <a:ea typeface="Calibri"/>
                <a:cs typeface="Calibri"/>
                <a:sym typeface="Calibri"/>
              </a:rPr>
              <a:t>Context Window is only 8K tokens</a:t>
            </a:r>
            <a:endParaRPr sz="1200" b="1">
              <a:solidFill>
                <a:srgbClr val="3C78D8"/>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 It relies on </a:t>
            </a:r>
            <a:r>
              <a:rPr lang="en" sz="1200" b="1">
                <a:solidFill>
                  <a:srgbClr val="FF0000"/>
                </a:solidFill>
                <a:latin typeface="Calibri"/>
                <a:ea typeface="Calibri"/>
                <a:cs typeface="Calibri"/>
                <a:sym typeface="Calibri"/>
              </a:rPr>
              <a:t>diffusion techniques </a:t>
            </a:r>
            <a:r>
              <a:rPr lang="en" sz="1200">
                <a:latin typeface="Calibri"/>
                <a:ea typeface="Calibri"/>
                <a:cs typeface="Calibri"/>
                <a:sym typeface="Calibri"/>
              </a:rPr>
              <a:t>rather than standard token-by-token generation, sketching complete outputs at once and refining them</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Benchmarks show Celeris 1 scoring 76% on MMLU-Pro reasoning, closely competing with ChatGPT 5's 81%</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Pricing $2/$6 in/out per 1M tok</a:t>
            </a:r>
            <a:endParaRPr sz="1200">
              <a:latin typeface="Calibri"/>
              <a:ea typeface="Calibri"/>
              <a:cs typeface="Calibri"/>
              <a:sym typeface="Calibri"/>
            </a:endParaRPr>
          </a:p>
        </p:txBody>
      </p:sp>
      <p:sp>
        <p:nvSpPr>
          <p:cNvPr id="137" name="Google Shape;137;p22"/>
          <p:cNvSpPr txBox="1"/>
          <p:nvPr/>
        </p:nvSpPr>
        <p:spPr>
          <a:xfrm>
            <a:off x="3591825" y="3131850"/>
            <a:ext cx="5386800" cy="1819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None/>
            </a:pPr>
            <a:r>
              <a:rPr lang="en" sz="900" b="1">
                <a:solidFill>
                  <a:srgbClr val="3C78D8"/>
                </a:solidFill>
                <a:latin typeface="Roboto Mono"/>
                <a:ea typeface="Roboto Mono"/>
                <a:cs typeface="Roboto Mono"/>
                <a:sym typeface="Roboto Mono"/>
              </a:rPr>
              <a:t>from openai import OpenAI</a:t>
            </a:r>
            <a:endParaRPr sz="9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endParaRPr sz="9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900" b="1">
                <a:solidFill>
                  <a:srgbClr val="3C78D8"/>
                </a:solidFill>
                <a:latin typeface="Roboto Mono"/>
                <a:ea typeface="Roboto Mono"/>
                <a:cs typeface="Roboto Mono"/>
                <a:sym typeface="Roboto Mono"/>
              </a:rPr>
              <a:t>client = OpenAI(</a:t>
            </a:r>
            <a:endParaRPr sz="9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900" b="1">
                <a:solidFill>
                  <a:srgbClr val="3C78D8"/>
                </a:solidFill>
                <a:latin typeface="Roboto Mono"/>
                <a:ea typeface="Roboto Mono"/>
                <a:cs typeface="Roboto Mono"/>
                <a:sym typeface="Roboto Mono"/>
              </a:rPr>
              <a:t>    base_url="</a:t>
            </a:r>
            <a:r>
              <a:rPr lang="en" sz="900" b="1">
                <a:solidFill>
                  <a:srgbClr val="CC0000"/>
                </a:solidFill>
                <a:latin typeface="Roboto Mono"/>
                <a:ea typeface="Roboto Mono"/>
                <a:cs typeface="Roboto Mono"/>
                <a:sym typeface="Roboto Mono"/>
              </a:rPr>
              <a:t>https://inference.celeris.ai/celeris-1/v1</a:t>
            </a:r>
            <a:r>
              <a:rPr lang="en" sz="900" b="1">
                <a:solidFill>
                  <a:srgbClr val="3C78D8"/>
                </a:solidFill>
                <a:latin typeface="Roboto Mono"/>
                <a:ea typeface="Roboto Mono"/>
                <a:cs typeface="Roboto Mono"/>
                <a:sym typeface="Roboto Mono"/>
              </a:rPr>
              <a:t>",</a:t>
            </a:r>
            <a:endParaRPr sz="9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900" b="1">
                <a:solidFill>
                  <a:srgbClr val="3C78D8"/>
                </a:solidFill>
                <a:latin typeface="Roboto Mono"/>
                <a:ea typeface="Roboto Mono"/>
                <a:cs typeface="Roboto Mono"/>
                <a:sym typeface="Roboto Mono"/>
              </a:rPr>
              <a:t>    api_key="YOUR_CELERIS_API_KEY",</a:t>
            </a:r>
            <a:endParaRPr sz="9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900" b="1">
                <a:solidFill>
                  <a:srgbClr val="3C78D8"/>
                </a:solidFill>
                <a:latin typeface="Roboto Mono"/>
                <a:ea typeface="Roboto Mono"/>
                <a:cs typeface="Roboto Mono"/>
                <a:sym typeface="Roboto Mono"/>
              </a:rPr>
              <a:t>)</a:t>
            </a:r>
            <a:endParaRPr sz="9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endParaRPr sz="9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900" b="1">
                <a:solidFill>
                  <a:srgbClr val="3C78D8"/>
                </a:solidFill>
                <a:latin typeface="Roboto Mono"/>
                <a:ea typeface="Roboto Mono"/>
                <a:cs typeface="Roboto Mono"/>
                <a:sym typeface="Roboto Mono"/>
              </a:rPr>
              <a:t>resp = client.chat.completions.create(</a:t>
            </a:r>
            <a:endParaRPr sz="9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900" b="1">
                <a:solidFill>
                  <a:srgbClr val="3C78D8"/>
                </a:solidFill>
                <a:latin typeface="Roboto Mono"/>
                <a:ea typeface="Roboto Mono"/>
                <a:cs typeface="Roboto Mono"/>
                <a:sym typeface="Roboto Mono"/>
              </a:rPr>
              <a:t>    model="celeris-1",</a:t>
            </a:r>
            <a:endParaRPr sz="9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900" b="1">
                <a:solidFill>
                  <a:srgbClr val="3C78D8"/>
                </a:solidFill>
                <a:latin typeface="Roboto Mono"/>
                <a:ea typeface="Roboto Mono"/>
                <a:cs typeface="Roboto Mono"/>
                <a:sym typeface="Roboto Mono"/>
              </a:rPr>
              <a:t>    messages=[{"role": "user", "content": "Summarize this text in one sentence."}],</a:t>
            </a:r>
            <a:endParaRPr sz="9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900" b="1">
                <a:solidFill>
                  <a:srgbClr val="3C78D8"/>
                </a:solidFill>
                <a:latin typeface="Roboto Mono"/>
                <a:ea typeface="Roboto Mono"/>
                <a:cs typeface="Roboto Mono"/>
                <a:sym typeface="Roboto Mono"/>
              </a:rPr>
              <a:t>)</a:t>
            </a:r>
            <a:endParaRPr sz="9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900" b="1">
                <a:solidFill>
                  <a:srgbClr val="3C78D8"/>
                </a:solidFill>
                <a:latin typeface="Roboto Mono"/>
                <a:ea typeface="Roboto Mono"/>
                <a:cs typeface="Roboto Mono"/>
                <a:sym typeface="Roboto Mono"/>
              </a:rPr>
              <a:t>print(resp.choices[0].message.content)</a:t>
            </a:r>
            <a:endParaRPr sz="900" b="1">
              <a:solidFill>
                <a:srgbClr val="3C78D8"/>
              </a:solidFill>
              <a:latin typeface="Roboto Mono"/>
              <a:ea typeface="Roboto Mono"/>
              <a:cs typeface="Roboto Mono"/>
              <a:sym typeface="Roboto Mono"/>
            </a:endParaRPr>
          </a:p>
        </p:txBody>
      </p:sp>
      <p:pic>
        <p:nvPicPr>
          <p:cNvPr id="138" name="Google Shape;138;p22"/>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5375875" y="390425"/>
            <a:ext cx="3197379" cy="181920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42"/>
        <p:cNvGrpSpPr/>
        <p:nvPr/>
      </p:nvGrpSpPr>
      <p:grpSpPr>
        <a:xfrm>
          <a:off x="0" y="0"/>
          <a:ext cx="0" cy="0"/>
          <a:chOff x="0" y="0"/>
          <a:chExt cx="0" cy="0"/>
        </a:xfrm>
      </p:grpSpPr>
      <p:sp>
        <p:nvSpPr>
          <p:cNvPr id="143" name="Google Shape;143;p23"/>
          <p:cNvSpPr txBox="1"/>
          <p:nvPr/>
        </p:nvSpPr>
        <p:spPr>
          <a:xfrm>
            <a:off x="179326" y="478350"/>
            <a:ext cx="4917900" cy="4186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chemeClr val="dk1"/>
              </a:buClr>
              <a:buSzPts val="2500"/>
              <a:buFont typeface="Arial"/>
              <a:buNone/>
            </a:pPr>
            <a:r>
              <a:rPr lang="en" sz="2200">
                <a:solidFill>
                  <a:schemeClr val="dk1"/>
                </a:solidFill>
                <a:latin typeface="Calibri"/>
                <a:ea typeface="Calibri"/>
                <a:cs typeface="Calibri"/>
                <a:sym typeface="Calibri"/>
              </a:rPr>
              <a:t>We do these weekly videos every Friday</a:t>
            </a:r>
            <a:endParaRPr sz="2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2500"/>
              <a:buFont typeface="Arial"/>
              <a:buNone/>
            </a:pPr>
            <a:r>
              <a:rPr lang="en" sz="2200">
                <a:solidFill>
                  <a:schemeClr val="dk1"/>
                </a:solidFill>
                <a:latin typeface="Calibri"/>
                <a:ea typeface="Calibri"/>
                <a:cs typeface="Calibri"/>
                <a:sym typeface="Calibri"/>
              </a:rPr>
              <a:t>Stats: 7.15K subscribers, 298 videos</a:t>
            </a:r>
            <a:endParaRPr sz="2200">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2500"/>
              <a:buFont typeface="Arial"/>
              <a:buNone/>
            </a:pPr>
            <a:endParaRPr sz="2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2500"/>
              <a:buFont typeface="Arial"/>
              <a:buNone/>
            </a:pPr>
            <a:r>
              <a:rPr lang="en" sz="2200">
                <a:solidFill>
                  <a:schemeClr val="dk1"/>
                </a:solidFill>
                <a:latin typeface="Calibri"/>
                <a:ea typeface="Calibri"/>
                <a:cs typeface="Calibri"/>
                <a:sym typeface="Calibri"/>
              </a:rPr>
              <a:t>1. Subscribe to this channel </a:t>
            </a:r>
            <a:r>
              <a:rPr lang="en" sz="1800" b="1" u="sng">
                <a:solidFill>
                  <a:schemeClr val="accent5"/>
                </a:solidFill>
                <a:latin typeface="Calibri"/>
                <a:ea typeface="Calibri"/>
                <a:cs typeface="Calibri"/>
                <a:sym typeface="Calibri"/>
                <a:hlinkClick r:id="rId3">
                  <a:extLst>
                    <a:ext uri="{A12FA001-AC4F-418D-AE19-62706E023703}">
                      <ahyp:hlinkClr xmlns:ahyp="http://schemas.microsoft.com/office/drawing/2018/hyperlinkcolor" val="tx"/>
                    </a:ext>
                  </a:extLst>
                </a:hlinkClick>
              </a:rPr>
              <a:t>https://www.youtube.com/@lev-selector</a:t>
            </a:r>
            <a:r>
              <a:rPr lang="en" sz="1800" b="1">
                <a:solidFill>
                  <a:schemeClr val="dk1"/>
                </a:solidFill>
                <a:latin typeface="Calibri"/>
                <a:ea typeface="Calibri"/>
                <a:cs typeface="Calibri"/>
                <a:sym typeface="Calibri"/>
              </a:rPr>
              <a:t> </a:t>
            </a:r>
            <a:endParaRPr sz="1800" b="1">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2500"/>
              <a:buFont typeface="Arial"/>
              <a:buNone/>
            </a:pPr>
            <a:endParaRPr sz="2200">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2500"/>
              <a:buFont typeface="Arial"/>
              <a:buNone/>
            </a:pPr>
            <a:r>
              <a:rPr lang="en" sz="2200">
                <a:solidFill>
                  <a:schemeClr val="dk1"/>
                </a:solidFill>
                <a:latin typeface="Calibri"/>
                <a:ea typeface="Calibri"/>
                <a:cs typeface="Calibri"/>
                <a:sym typeface="Calibri"/>
              </a:rPr>
              <a:t>2. Download slides from GitHub using links under the videos</a:t>
            </a:r>
            <a:endParaRPr sz="2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2500"/>
              <a:buFont typeface="Arial"/>
              <a:buNone/>
            </a:pPr>
            <a:endParaRPr sz="2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2500"/>
              <a:buFont typeface="Arial"/>
              <a:buNone/>
            </a:pPr>
            <a:r>
              <a:rPr lang="en" sz="2200" b="1">
                <a:solidFill>
                  <a:srgbClr val="FF0000"/>
                </a:solidFill>
                <a:latin typeface="Calibri"/>
                <a:ea typeface="Calibri"/>
                <a:cs typeface="Calibri"/>
                <a:sym typeface="Calibri"/>
              </a:rPr>
              <a:t>3. Please pause the video - and answer the pinned question in comments under the video</a:t>
            </a:r>
            <a:endParaRPr sz="1800" b="1" i="0" u="none" strike="noStrike" cap="none">
              <a:solidFill>
                <a:srgbClr val="FF0000"/>
              </a:solidFill>
              <a:latin typeface="Calibri"/>
              <a:ea typeface="Calibri"/>
              <a:cs typeface="Calibri"/>
              <a:sym typeface="Calibri"/>
            </a:endParaRPr>
          </a:p>
        </p:txBody>
      </p:sp>
      <p:pic>
        <p:nvPicPr>
          <p:cNvPr id="144" name="Google Shape;144;p23"/>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6131975" y="171338"/>
            <a:ext cx="2145049" cy="4800824"/>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48"/>
        <p:cNvGrpSpPr/>
        <p:nvPr/>
      </p:nvGrpSpPr>
      <p:grpSpPr>
        <a:xfrm>
          <a:off x="0" y="0"/>
          <a:ext cx="0" cy="0"/>
          <a:chOff x="0" y="0"/>
          <a:chExt cx="0" cy="0"/>
        </a:xfrm>
      </p:grpSpPr>
      <p:sp>
        <p:nvSpPr>
          <p:cNvPr id="149" name="Google Shape;149;p24"/>
          <p:cNvSpPr txBox="1"/>
          <p:nvPr/>
        </p:nvSpPr>
        <p:spPr>
          <a:xfrm>
            <a:off x="81775" y="0"/>
            <a:ext cx="45354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OpenAI AI Agent Escape Investigation</a:t>
            </a:r>
            <a:endParaRPr sz="2000" b="1">
              <a:solidFill>
                <a:schemeClr val="dk1"/>
              </a:solidFill>
              <a:latin typeface="Calibri"/>
              <a:ea typeface="Calibri"/>
              <a:cs typeface="Calibri"/>
              <a:sym typeface="Calibri"/>
            </a:endParaRPr>
          </a:p>
        </p:txBody>
      </p:sp>
      <p:sp>
        <p:nvSpPr>
          <p:cNvPr id="150" name="Google Shape;150;p24"/>
          <p:cNvSpPr txBox="1"/>
          <p:nvPr/>
        </p:nvSpPr>
        <p:spPr>
          <a:xfrm>
            <a:off x="81775" y="475750"/>
            <a:ext cx="5528100" cy="3712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OpenAI AI Agent Escape Investigation</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3"/>
              </a:rPr>
              <a:t>https://www.youtube.com/watch?v=JRcAegChriY</a:t>
            </a:r>
            <a:r>
              <a:rPr lang="en" sz="1200">
                <a:latin typeface="Calibri"/>
                <a:ea typeface="Calibri"/>
                <a:cs typeface="Calibri"/>
                <a:sym typeface="Calibri"/>
              </a:rPr>
              <a:t> </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Unreleased OpenAI models broke out of a testing sandbox to attack Hugging Face infrastructure, </a:t>
            </a:r>
            <a:r>
              <a:rPr lang="en" sz="1200" b="1">
                <a:solidFill>
                  <a:srgbClr val="FF0000"/>
                </a:solidFill>
                <a:latin typeface="Calibri"/>
                <a:ea typeface="Calibri"/>
                <a:cs typeface="Calibri"/>
                <a:sym typeface="Calibri"/>
              </a:rPr>
              <a:t>remaining undetected by OpenAI for 9 days </a:t>
            </a:r>
            <a:r>
              <a:rPr lang="en" sz="1200">
                <a:latin typeface="Calibri"/>
                <a:ea typeface="Calibri"/>
                <a:cs typeface="Calibri"/>
                <a:sym typeface="Calibri"/>
              </a:rPr>
              <a:t>until Hugging Face published a blog post</a:t>
            </a:r>
            <a:endParaRPr sz="1200">
              <a:latin typeface="Calibri"/>
              <a:ea typeface="Calibri"/>
              <a:cs typeface="Calibri"/>
              <a:sym typeface="Calibri"/>
            </a:endParaRPr>
          </a:p>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Internal logs revealed instructions written by an AI agent detailing methods for future versions to bypass safety constraints and disconnect monitoring systems</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OpenAI struggled to track the incident due to overwhelming volumes of evaluation output generated during high-speed testing across multiple unreleased models</a:t>
            </a:r>
            <a:endParaRPr sz="1200">
              <a:latin typeface="Calibri"/>
              <a:ea typeface="Calibri"/>
              <a:cs typeface="Calibri"/>
              <a:sym typeface="Calibri"/>
            </a:endParaRPr>
          </a:p>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The breach triggered reactions across government agencies, including briefings with the White House and calls from safety researchers for strict federal oversight</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Joint evaluations showed leading models successfully executing complex cyber attacks, highlighting growing risks as safeguards are disabled for testing.els to simpler subtasks, embed reusable custom scripts inside skills, and separate individual projects across isolated workspace directories</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Strategic Planning: Force Claude to interview or grill your project plans in plan mode to uncover blind spots and refine ideas before execution.</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Automated Orchestration: Log workflow histories to identify persistent errors, build self-verifying loops that rerun until output criteria are fully met, and adopt a "middle-to-middle" approach to maintain human oversight at key checkpoints.</a:t>
            </a:r>
            <a:endParaRPr sz="1200">
              <a:latin typeface="Calibri"/>
              <a:ea typeface="Calibri"/>
              <a:cs typeface="Calibri"/>
              <a:sym typeface="Calibri"/>
            </a:endParaRPr>
          </a:p>
        </p:txBody>
      </p:sp>
      <p:pic>
        <p:nvPicPr>
          <p:cNvPr id="151" name="Google Shape;151;p24"/>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6008450" y="1022014"/>
            <a:ext cx="2345225" cy="2619975"/>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55"/>
        <p:cNvGrpSpPr/>
        <p:nvPr/>
      </p:nvGrpSpPr>
      <p:grpSpPr>
        <a:xfrm>
          <a:off x="0" y="0"/>
          <a:ext cx="0" cy="0"/>
          <a:chOff x="0" y="0"/>
          <a:chExt cx="0" cy="0"/>
        </a:xfrm>
      </p:grpSpPr>
      <p:sp>
        <p:nvSpPr>
          <p:cNvPr id="156" name="Google Shape;156;p25"/>
          <p:cNvSpPr txBox="1"/>
          <p:nvPr/>
        </p:nvSpPr>
        <p:spPr>
          <a:xfrm>
            <a:off x="81775" y="0"/>
            <a:ext cx="45354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Runtime &amp; Loops in OpenClaw &amp; Hermes</a:t>
            </a:r>
            <a:endParaRPr sz="2000" b="1">
              <a:solidFill>
                <a:schemeClr val="dk1"/>
              </a:solidFill>
              <a:latin typeface="Calibri"/>
              <a:ea typeface="Calibri"/>
              <a:cs typeface="Calibri"/>
              <a:sym typeface="Calibri"/>
            </a:endParaRPr>
          </a:p>
        </p:txBody>
      </p:sp>
      <p:sp>
        <p:nvSpPr>
          <p:cNvPr id="157" name="Google Shape;157;p25"/>
          <p:cNvSpPr txBox="1"/>
          <p:nvPr/>
        </p:nvSpPr>
        <p:spPr>
          <a:xfrm>
            <a:off x="81775" y="475750"/>
            <a:ext cx="5180400" cy="12036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OpenClaw - Open-Source (MIT) , in TypeScript</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Clr>
                <a:srgbClr val="FF0000"/>
              </a:buClr>
              <a:buSzPts val="1100"/>
              <a:buFont typeface="Calibri"/>
              <a:buChar char="●"/>
            </a:pPr>
            <a:r>
              <a:rPr lang="en" sz="1100">
                <a:solidFill>
                  <a:schemeClr val="dk1"/>
                </a:solidFill>
                <a:latin typeface="Calibri"/>
                <a:ea typeface="Calibri"/>
                <a:cs typeface="Calibri"/>
                <a:sym typeface="Calibri"/>
              </a:rPr>
              <a:t>Autonomous agent framework, part of OpenAI</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rgbClr val="FF0000"/>
              </a:buClr>
              <a:buSzPts val="1100"/>
              <a:buFont typeface="Calibri"/>
              <a:buChar char="●"/>
            </a:pPr>
            <a:r>
              <a:rPr lang="en" sz="1100">
                <a:solidFill>
                  <a:schemeClr val="dk1"/>
                </a:solidFill>
                <a:latin typeface="Calibri"/>
                <a:ea typeface="Calibri"/>
                <a:cs typeface="Calibri"/>
                <a:sym typeface="Calibri"/>
              </a:rPr>
              <a:t>Model-agnostic, most commonly configured to use GPT models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Its multi-step behavior comes from its own runtime loop, which handles planning, tool use, session state, and retries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The model suggests next actions, but OpenClaw’s runtime decides how to execute them</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Skills and tools are built into the system to support actions beyond plain chat</a:t>
            </a:r>
            <a:endParaRPr sz="1100">
              <a:solidFill>
                <a:schemeClr val="dk1"/>
              </a:solidFill>
              <a:latin typeface="Calibri"/>
              <a:ea typeface="Calibri"/>
              <a:cs typeface="Calibri"/>
              <a:sym typeface="Calibri"/>
            </a:endParaRPr>
          </a:p>
        </p:txBody>
      </p:sp>
      <p:sp>
        <p:nvSpPr>
          <p:cNvPr id="158" name="Google Shape;158;p25"/>
          <p:cNvSpPr txBox="1"/>
          <p:nvPr/>
        </p:nvSpPr>
        <p:spPr>
          <a:xfrm>
            <a:off x="81775" y="1743600"/>
            <a:ext cx="5180400" cy="1373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Hermes Agent - Open-Source (MIT) , in Python</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Autonomous agent framework built by Nous Research.</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Model agnostic (Claude, GPT, Gemini, Grok, DeepSeek, Llama, and Qwen are common choices)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Hermes uses its own custom agent runtime and loop, centered on a core agent class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The runtime handles provider selection, prompt assembly, tool execution, retries, memory, and persistence</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The system is designed to work across CLI, gateway, cron, and other entry points.</a:t>
            </a:r>
            <a:endParaRPr sz="1100">
              <a:solidFill>
                <a:schemeClr val="dk1"/>
              </a:solidFill>
              <a:latin typeface="Calibri"/>
              <a:ea typeface="Calibri"/>
              <a:cs typeface="Calibri"/>
              <a:sym typeface="Calibri"/>
            </a:endParaRPr>
          </a:p>
        </p:txBody>
      </p:sp>
      <p:pic>
        <p:nvPicPr>
          <p:cNvPr id="159" name="Google Shape;159;p25"/>
          <p:cNvPicPr preferRelativeResize="0"/>
          <p:nvPr/>
        </p:nvPicPr>
        <p:blipFill>
          <a:blip r:embed="rId3" cstate="email">
            <a:alphaModFix/>
            <a:extLst>
              <a:ext uri="{28A0092B-C50C-407E-A947-70E740481C1C}">
                <a14:useLocalDpi xmlns:a14="http://schemas.microsoft.com/office/drawing/2010/main"/>
              </a:ext>
            </a:extLst>
          </a:blip>
          <a:stretch>
            <a:fillRect/>
          </a:stretch>
        </p:blipFill>
        <p:spPr>
          <a:xfrm>
            <a:off x="5472263" y="595051"/>
            <a:ext cx="1719700" cy="965000"/>
          </a:xfrm>
          <a:prstGeom prst="rect">
            <a:avLst/>
          </a:prstGeom>
          <a:noFill/>
          <a:ln>
            <a:noFill/>
          </a:ln>
        </p:spPr>
      </p:pic>
      <p:pic>
        <p:nvPicPr>
          <p:cNvPr id="160" name="Google Shape;160;p25"/>
          <p:cNvPicPr preferRelativeResize="0"/>
          <p:nvPr/>
        </p:nvPicPr>
        <p:blipFill rotWithShape="1">
          <a:blip r:embed="rId4" cstate="email">
            <a:alphaModFix/>
            <a:extLst>
              <a:ext uri="{28A0092B-C50C-407E-A947-70E740481C1C}">
                <a14:useLocalDpi xmlns:a14="http://schemas.microsoft.com/office/drawing/2010/main"/>
              </a:ext>
            </a:extLst>
          </a:blip>
          <a:srcRect/>
          <a:stretch/>
        </p:blipFill>
        <p:spPr>
          <a:xfrm>
            <a:off x="5532500" y="1693125"/>
            <a:ext cx="1599226" cy="1474050"/>
          </a:xfrm>
          <a:prstGeom prst="rect">
            <a:avLst/>
          </a:prstGeom>
          <a:noFill/>
          <a:ln>
            <a:noFill/>
          </a:ln>
        </p:spPr>
      </p:pic>
      <p:sp>
        <p:nvSpPr>
          <p:cNvPr id="161" name="Google Shape;161;p25"/>
          <p:cNvSpPr txBox="1"/>
          <p:nvPr/>
        </p:nvSpPr>
        <p:spPr>
          <a:xfrm>
            <a:off x="81775" y="3180950"/>
            <a:ext cx="5180400" cy="1542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OpenCode - Open-Source (MIT) , in Go</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Go-based CLI application, with a modular Go architecture and TUI built on Bubble Tea</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It has its own harness/runtime including CLI, TUI, headless server mode, agent management, session handling, model/provider auth, MCP support, and an ACP server</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u="sng">
                <a:solidFill>
                  <a:schemeClr val="hlink"/>
                </a:solidFill>
                <a:latin typeface="Calibri"/>
                <a:ea typeface="Calibri"/>
                <a:cs typeface="Calibri"/>
                <a:sym typeface="Calibri"/>
                <a:hlinkClick r:id="rId5"/>
              </a:rPr>
              <a:t>https://opencode.ai/docs/cli/</a:t>
            </a:r>
            <a:r>
              <a:rPr lang="en" sz="1100">
                <a:solidFill>
                  <a:schemeClr val="dk1"/>
                </a:solidFill>
                <a:latin typeface="Calibri"/>
                <a:ea typeface="Calibri"/>
                <a:cs typeface="Calibri"/>
                <a:sym typeface="Calibri"/>
              </a:rPr>
              <a:t> </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It is similar in spirit to Hermes and OpenClaw because all three are agentic systems with loops, tools, sessions, and model routing. But OpenCode is more specifically a terminal coding agent, while Hermes is broader and more self-learning/messaging-oriented, and OpenClaw is more messaging-first/personal assistant oriented</a:t>
            </a:r>
            <a:endParaRPr sz="1100">
              <a:solidFill>
                <a:schemeClr val="dk1"/>
              </a:solidFill>
              <a:latin typeface="Calibri"/>
              <a:ea typeface="Calibri"/>
              <a:cs typeface="Calibri"/>
              <a:sym typeface="Calibri"/>
            </a:endParaRPr>
          </a:p>
        </p:txBody>
      </p:sp>
      <p:pic>
        <p:nvPicPr>
          <p:cNvPr id="162" name="Google Shape;162;p25"/>
          <p:cNvPicPr preferRelativeResize="0"/>
          <p:nvPr/>
        </p:nvPicPr>
        <p:blipFill>
          <a:blip r:embed="rId6">
            <a:alphaModFix/>
          </a:blip>
          <a:stretch>
            <a:fillRect/>
          </a:stretch>
        </p:blipFill>
        <p:spPr>
          <a:xfrm>
            <a:off x="5472263" y="3531037"/>
            <a:ext cx="2228850" cy="400050"/>
          </a:xfrm>
          <a:prstGeom prst="rect">
            <a:avLst/>
          </a:prstGeom>
          <a:noFill/>
          <a:ln>
            <a:noFill/>
          </a:ln>
        </p:spPr>
      </p:pic>
      <p:sp>
        <p:nvSpPr>
          <p:cNvPr id="163" name="Google Shape;163;p25"/>
          <p:cNvSpPr txBox="1"/>
          <p:nvPr/>
        </p:nvSpPr>
        <p:spPr>
          <a:xfrm>
            <a:off x="5945575" y="4110322"/>
            <a:ext cx="3116700" cy="942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Manus</a:t>
            </a:r>
            <a:r>
              <a:rPr lang="en" sz="1200">
                <a:solidFill>
                  <a:schemeClr val="dk1"/>
                </a:solidFill>
                <a:latin typeface="Calibri"/>
                <a:ea typeface="Calibri"/>
                <a:cs typeface="Calibri"/>
                <a:sym typeface="Calibri"/>
              </a:rPr>
              <a:t> - Python on Linux, proprietary, its own orchestration</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uFill>
                  <a:noFill/>
                </a:uFill>
                <a:latin typeface="Calibri"/>
                <a:ea typeface="Calibri"/>
                <a:cs typeface="Calibri"/>
                <a:sym typeface="Calibri"/>
                <a:hlinkClick r:id="rId7">
                  <a:extLst>
                    <a:ext uri="{A12FA001-AC4F-418D-AE19-62706E023703}">
                      <ahyp:hlinkClr xmlns:ahyp="http://schemas.microsoft.com/office/drawing/2018/hyperlinkcolor" val="tx"/>
                    </a:ext>
                  </a:extLst>
                </a:hlinkClick>
              </a:rPr>
              <a:t>Abacus.ai</a:t>
            </a:r>
            <a:r>
              <a:rPr lang="en" sz="1200" b="1">
                <a:solidFill>
                  <a:srgbClr val="FF0000"/>
                </a:solidFill>
                <a:latin typeface="Calibri"/>
                <a:ea typeface="Calibri"/>
                <a:cs typeface="Calibri"/>
                <a:sym typeface="Calibri"/>
              </a:rPr>
              <a:t> Deep Agent </a:t>
            </a:r>
            <a:r>
              <a:rPr lang="en" sz="1200">
                <a:solidFill>
                  <a:schemeClr val="dk1"/>
                </a:solidFill>
                <a:latin typeface="Calibri"/>
                <a:ea typeface="Calibri"/>
                <a:cs typeface="Calibri"/>
                <a:sym typeface="Calibri"/>
              </a:rPr>
              <a:t>- mixture of technologies, proprietary, its own orchestration</a:t>
            </a:r>
            <a:endParaRPr sz="1200">
              <a:solidFill>
                <a:schemeClr val="dk1"/>
              </a:solidFill>
              <a:latin typeface="Calibri"/>
              <a:ea typeface="Calibri"/>
              <a:cs typeface="Calibri"/>
              <a:sym typeface="Calibri"/>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67"/>
        <p:cNvGrpSpPr/>
        <p:nvPr/>
      </p:nvGrpSpPr>
      <p:grpSpPr>
        <a:xfrm>
          <a:off x="0" y="0"/>
          <a:ext cx="0" cy="0"/>
          <a:chOff x="0" y="0"/>
          <a:chExt cx="0" cy="0"/>
        </a:xfrm>
      </p:grpSpPr>
      <p:sp>
        <p:nvSpPr>
          <p:cNvPr id="168" name="Google Shape;168;p26"/>
          <p:cNvSpPr txBox="1"/>
          <p:nvPr/>
        </p:nvSpPr>
        <p:spPr>
          <a:xfrm>
            <a:off x="81775" y="0"/>
            <a:ext cx="45354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Microsoft Agent Framework Harness</a:t>
            </a:r>
            <a:endParaRPr sz="2000" b="1">
              <a:solidFill>
                <a:schemeClr val="dk1"/>
              </a:solidFill>
              <a:latin typeface="Calibri"/>
              <a:ea typeface="Calibri"/>
              <a:cs typeface="Calibri"/>
              <a:sym typeface="Calibri"/>
            </a:endParaRPr>
          </a:p>
        </p:txBody>
      </p:sp>
      <p:sp>
        <p:nvSpPr>
          <p:cNvPr id="169" name="Google Shape;169;p26"/>
          <p:cNvSpPr txBox="1"/>
          <p:nvPr/>
        </p:nvSpPr>
        <p:spPr>
          <a:xfrm>
            <a:off x="186525" y="655675"/>
            <a:ext cx="3664500" cy="2004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Microsoft Agent Framework Harness</a:t>
            </a:r>
            <a:endParaRPr sz="1200" b="1">
              <a:solidFill>
                <a:srgbClr val="FF0000"/>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3"/>
              </a:rPr>
              <a:t>https://github.com/microsoft/agent-framework</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4"/>
              </a:rPr>
              <a:t>https://learn.microsoft.com/en-us/agent-framework/overview/</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5"/>
              </a:rPr>
              <a:t>https://www.youtube.com/watch?v=2awrcVFf7-4</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6"/>
              </a:rPr>
              <a:t>https://devblogs.microsoft.com/agent-framework/the-microsoft-agent-framework-harness-is-now-released/</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Agent runtime for Python and .NET that adds looping, planning, memory, context management, approvals, and telemetry on top of a chat client</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It turns a model into a more capable agent for multi-step work like research, data analysis, and task automation, while keeping the setup customizable</a:t>
            </a:r>
            <a:endParaRPr sz="1200">
              <a:solidFill>
                <a:schemeClr val="dk1"/>
              </a:solidFill>
              <a:latin typeface="Calibri"/>
              <a:ea typeface="Calibri"/>
              <a:cs typeface="Calibri"/>
              <a:sym typeface="Calibri"/>
            </a:endParaRPr>
          </a:p>
        </p:txBody>
      </p:sp>
      <p:sp>
        <p:nvSpPr>
          <p:cNvPr id="170" name="Google Shape;170;p26"/>
          <p:cNvSpPr txBox="1"/>
          <p:nvPr/>
        </p:nvSpPr>
        <p:spPr>
          <a:xfrm>
            <a:off x="3956550" y="675850"/>
            <a:ext cx="5090700" cy="3897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None/>
            </a:pPr>
            <a:r>
              <a:rPr lang="en" sz="900" b="1">
                <a:solidFill>
                  <a:srgbClr val="3C78D8"/>
                </a:solidFill>
                <a:latin typeface="Victor Mono"/>
                <a:ea typeface="Victor Mono"/>
                <a:cs typeface="Victor Mono"/>
                <a:sym typeface="Victor Mono"/>
              </a:rPr>
              <a:t>import asyncio</a:t>
            </a:r>
            <a:endParaRPr sz="900" b="1">
              <a:solidFill>
                <a:srgbClr val="3C78D8"/>
              </a:solidFill>
              <a:latin typeface="Victor Mono"/>
              <a:ea typeface="Victor Mono"/>
              <a:cs typeface="Victor Mono"/>
              <a:sym typeface="Victor Mono"/>
            </a:endParaRPr>
          </a:p>
          <a:p>
            <a:pPr marL="0" marR="0" lvl="0" indent="0" algn="l" rtl="0">
              <a:lnSpc>
                <a:spcPct val="100000"/>
              </a:lnSpc>
              <a:spcBef>
                <a:spcPts val="0"/>
              </a:spcBef>
              <a:spcAft>
                <a:spcPts val="0"/>
              </a:spcAft>
              <a:buNone/>
            </a:pPr>
            <a:endParaRPr sz="900" b="1">
              <a:solidFill>
                <a:srgbClr val="3C78D8"/>
              </a:solidFill>
              <a:latin typeface="Victor Mono"/>
              <a:ea typeface="Victor Mono"/>
              <a:cs typeface="Victor Mono"/>
              <a:sym typeface="Victor Mono"/>
            </a:endParaRPr>
          </a:p>
          <a:p>
            <a:pPr marL="0" marR="0" lvl="0" indent="0" algn="l" rtl="0">
              <a:lnSpc>
                <a:spcPct val="100000"/>
              </a:lnSpc>
              <a:spcBef>
                <a:spcPts val="0"/>
              </a:spcBef>
              <a:spcAft>
                <a:spcPts val="0"/>
              </a:spcAft>
              <a:buNone/>
            </a:pPr>
            <a:r>
              <a:rPr lang="en" sz="900" b="1">
                <a:solidFill>
                  <a:srgbClr val="3C78D8"/>
                </a:solidFill>
                <a:latin typeface="Victor Mono"/>
                <a:ea typeface="Victor Mono"/>
                <a:cs typeface="Victor Mono"/>
                <a:sym typeface="Victor Mono"/>
              </a:rPr>
              <a:t>from agent_framework import create_harness_agent</a:t>
            </a:r>
            <a:endParaRPr sz="900" b="1">
              <a:solidFill>
                <a:srgbClr val="3C78D8"/>
              </a:solidFill>
              <a:latin typeface="Victor Mono"/>
              <a:ea typeface="Victor Mono"/>
              <a:cs typeface="Victor Mono"/>
              <a:sym typeface="Victor Mono"/>
            </a:endParaRPr>
          </a:p>
          <a:p>
            <a:pPr marL="0" marR="0" lvl="0" indent="0" algn="l" rtl="0">
              <a:lnSpc>
                <a:spcPct val="100000"/>
              </a:lnSpc>
              <a:spcBef>
                <a:spcPts val="0"/>
              </a:spcBef>
              <a:spcAft>
                <a:spcPts val="0"/>
              </a:spcAft>
              <a:buNone/>
            </a:pPr>
            <a:r>
              <a:rPr lang="en" sz="900" b="1">
                <a:solidFill>
                  <a:srgbClr val="3C78D8"/>
                </a:solidFill>
                <a:latin typeface="Victor Mono"/>
                <a:ea typeface="Victor Mono"/>
                <a:cs typeface="Victor Mono"/>
                <a:sym typeface="Victor Mono"/>
              </a:rPr>
              <a:t>from agent_framework.foundry import FoundryChatClient</a:t>
            </a:r>
            <a:endParaRPr sz="900" b="1">
              <a:solidFill>
                <a:srgbClr val="3C78D8"/>
              </a:solidFill>
              <a:latin typeface="Victor Mono"/>
              <a:ea typeface="Victor Mono"/>
              <a:cs typeface="Victor Mono"/>
              <a:sym typeface="Victor Mono"/>
            </a:endParaRPr>
          </a:p>
          <a:p>
            <a:pPr marL="0" marR="0" lvl="0" indent="0" algn="l" rtl="0">
              <a:lnSpc>
                <a:spcPct val="100000"/>
              </a:lnSpc>
              <a:spcBef>
                <a:spcPts val="0"/>
              </a:spcBef>
              <a:spcAft>
                <a:spcPts val="0"/>
              </a:spcAft>
              <a:buNone/>
            </a:pPr>
            <a:r>
              <a:rPr lang="en" sz="900" b="1">
                <a:solidFill>
                  <a:srgbClr val="3C78D8"/>
                </a:solidFill>
                <a:latin typeface="Victor Mono"/>
                <a:ea typeface="Victor Mono"/>
                <a:cs typeface="Victor Mono"/>
                <a:sym typeface="Victor Mono"/>
              </a:rPr>
              <a:t>from azure.identity import AzureCliCredential</a:t>
            </a:r>
            <a:endParaRPr sz="900" b="1">
              <a:solidFill>
                <a:srgbClr val="3C78D8"/>
              </a:solidFill>
              <a:latin typeface="Victor Mono"/>
              <a:ea typeface="Victor Mono"/>
              <a:cs typeface="Victor Mono"/>
              <a:sym typeface="Victor Mono"/>
            </a:endParaRPr>
          </a:p>
          <a:p>
            <a:pPr marL="0" marR="0" lvl="0" indent="0" algn="l" rtl="0">
              <a:lnSpc>
                <a:spcPct val="100000"/>
              </a:lnSpc>
              <a:spcBef>
                <a:spcPts val="0"/>
              </a:spcBef>
              <a:spcAft>
                <a:spcPts val="0"/>
              </a:spcAft>
              <a:buNone/>
            </a:pPr>
            <a:endParaRPr sz="900" b="1">
              <a:solidFill>
                <a:srgbClr val="3C78D8"/>
              </a:solidFill>
              <a:latin typeface="Victor Mono"/>
              <a:ea typeface="Victor Mono"/>
              <a:cs typeface="Victor Mono"/>
              <a:sym typeface="Victor Mono"/>
            </a:endParaRPr>
          </a:p>
          <a:p>
            <a:pPr marL="0" marR="0" lvl="0" indent="0" algn="l" rtl="0">
              <a:lnSpc>
                <a:spcPct val="100000"/>
              </a:lnSpc>
              <a:spcBef>
                <a:spcPts val="0"/>
              </a:spcBef>
              <a:spcAft>
                <a:spcPts val="0"/>
              </a:spcAft>
              <a:buNone/>
            </a:pPr>
            <a:endParaRPr sz="900" b="1">
              <a:solidFill>
                <a:srgbClr val="3C78D8"/>
              </a:solidFill>
              <a:latin typeface="Victor Mono"/>
              <a:ea typeface="Victor Mono"/>
              <a:cs typeface="Victor Mono"/>
              <a:sym typeface="Victor Mono"/>
            </a:endParaRPr>
          </a:p>
          <a:p>
            <a:pPr marL="0" marR="0" lvl="0" indent="0" algn="l" rtl="0">
              <a:lnSpc>
                <a:spcPct val="100000"/>
              </a:lnSpc>
              <a:spcBef>
                <a:spcPts val="0"/>
              </a:spcBef>
              <a:spcAft>
                <a:spcPts val="0"/>
              </a:spcAft>
              <a:buNone/>
            </a:pPr>
            <a:r>
              <a:rPr lang="en" sz="900" b="1">
                <a:solidFill>
                  <a:srgbClr val="3C78D8"/>
                </a:solidFill>
                <a:latin typeface="Victor Mono"/>
                <a:ea typeface="Victor Mono"/>
                <a:cs typeface="Victor Mono"/>
                <a:sym typeface="Victor Mono"/>
              </a:rPr>
              <a:t>async def main() -&gt; None:</a:t>
            </a:r>
            <a:endParaRPr sz="900" b="1">
              <a:solidFill>
                <a:srgbClr val="3C78D8"/>
              </a:solidFill>
              <a:latin typeface="Victor Mono"/>
              <a:ea typeface="Victor Mono"/>
              <a:cs typeface="Victor Mono"/>
              <a:sym typeface="Victor Mono"/>
            </a:endParaRPr>
          </a:p>
          <a:p>
            <a:pPr marL="0" marR="0" lvl="0" indent="0" algn="l" rtl="0">
              <a:lnSpc>
                <a:spcPct val="100000"/>
              </a:lnSpc>
              <a:spcBef>
                <a:spcPts val="0"/>
              </a:spcBef>
              <a:spcAft>
                <a:spcPts val="0"/>
              </a:spcAft>
              <a:buNone/>
            </a:pPr>
            <a:r>
              <a:rPr lang="en" sz="900" b="1">
                <a:solidFill>
                  <a:srgbClr val="6AA84F"/>
                </a:solidFill>
                <a:latin typeface="Victor Mono"/>
                <a:ea typeface="Victor Mono"/>
                <a:cs typeface="Victor Mono"/>
                <a:sym typeface="Victor Mono"/>
              </a:rPr>
              <a:t>    """ FoundryChatClient reads FOUNDRY_PROJECT_ENDPOINT </a:t>
            </a:r>
            <a:br>
              <a:rPr lang="en" sz="900" b="1">
                <a:solidFill>
                  <a:srgbClr val="6AA84F"/>
                </a:solidFill>
                <a:latin typeface="Victor Mono"/>
                <a:ea typeface="Victor Mono"/>
                <a:cs typeface="Victor Mono"/>
                <a:sym typeface="Victor Mono"/>
              </a:rPr>
            </a:br>
            <a:r>
              <a:rPr lang="en" sz="900" b="1">
                <a:solidFill>
                  <a:srgbClr val="6AA84F"/>
                </a:solidFill>
                <a:latin typeface="Victor Mono"/>
                <a:ea typeface="Victor Mono"/>
                <a:cs typeface="Victor Mono"/>
                <a:sym typeface="Victor Mono"/>
              </a:rPr>
              <a:t>        and FOUNDRY_MODEL from the environment"""</a:t>
            </a:r>
            <a:endParaRPr sz="900" b="1">
              <a:solidFill>
                <a:srgbClr val="6AA84F"/>
              </a:solidFill>
              <a:latin typeface="Victor Mono"/>
              <a:ea typeface="Victor Mono"/>
              <a:cs typeface="Victor Mono"/>
              <a:sym typeface="Victor Mono"/>
            </a:endParaRPr>
          </a:p>
          <a:p>
            <a:pPr marL="0" marR="0" lvl="0" indent="0" algn="l" rtl="0">
              <a:lnSpc>
                <a:spcPct val="100000"/>
              </a:lnSpc>
              <a:spcBef>
                <a:spcPts val="0"/>
              </a:spcBef>
              <a:spcAft>
                <a:spcPts val="0"/>
              </a:spcAft>
              <a:buNone/>
            </a:pPr>
            <a:r>
              <a:rPr lang="en" sz="900" b="1">
                <a:solidFill>
                  <a:srgbClr val="3C78D8"/>
                </a:solidFill>
                <a:latin typeface="Victor Mono"/>
                <a:ea typeface="Victor Mono"/>
                <a:cs typeface="Victor Mono"/>
                <a:sym typeface="Victor Mono"/>
              </a:rPr>
              <a:t>    client = FoundryChatClient(credential=AzureCliCredential())</a:t>
            </a:r>
            <a:endParaRPr sz="900" b="1">
              <a:solidFill>
                <a:srgbClr val="3C78D8"/>
              </a:solidFill>
              <a:latin typeface="Victor Mono"/>
              <a:ea typeface="Victor Mono"/>
              <a:cs typeface="Victor Mono"/>
              <a:sym typeface="Victor Mono"/>
            </a:endParaRPr>
          </a:p>
          <a:p>
            <a:pPr marL="0" marR="0" lvl="0" indent="0" algn="l" rtl="0">
              <a:lnSpc>
                <a:spcPct val="100000"/>
              </a:lnSpc>
              <a:spcBef>
                <a:spcPts val="0"/>
              </a:spcBef>
              <a:spcAft>
                <a:spcPts val="0"/>
              </a:spcAft>
              <a:buNone/>
            </a:pPr>
            <a:endParaRPr sz="900" b="1">
              <a:solidFill>
                <a:srgbClr val="3C78D8"/>
              </a:solidFill>
              <a:latin typeface="Victor Mono"/>
              <a:ea typeface="Victor Mono"/>
              <a:cs typeface="Victor Mono"/>
              <a:sym typeface="Victor Mono"/>
            </a:endParaRPr>
          </a:p>
          <a:p>
            <a:pPr marL="0" marR="0" lvl="0" indent="0" algn="l" rtl="0">
              <a:lnSpc>
                <a:spcPct val="100000"/>
              </a:lnSpc>
              <a:spcBef>
                <a:spcPts val="0"/>
              </a:spcBef>
              <a:spcAft>
                <a:spcPts val="0"/>
              </a:spcAft>
              <a:buNone/>
            </a:pPr>
            <a:r>
              <a:rPr lang="en" sz="900" b="1">
                <a:solidFill>
                  <a:srgbClr val="6AA84F"/>
                </a:solidFill>
                <a:latin typeface="Victor Mono"/>
                <a:ea typeface="Victor Mono"/>
                <a:cs typeface="Victor Mono"/>
                <a:sym typeface="Victor Mono"/>
              </a:rPr>
              <a:t>    # One call builds a batteries-included agent: </a:t>
            </a:r>
            <a:endParaRPr sz="900" b="1">
              <a:solidFill>
                <a:srgbClr val="6AA84F"/>
              </a:solidFill>
              <a:latin typeface="Victor Mono"/>
              <a:ea typeface="Victor Mono"/>
              <a:cs typeface="Victor Mono"/>
              <a:sym typeface="Victor Mono"/>
            </a:endParaRPr>
          </a:p>
          <a:p>
            <a:pPr marL="0" marR="0" lvl="0" indent="0" algn="l" rtl="0">
              <a:lnSpc>
                <a:spcPct val="100000"/>
              </a:lnSpc>
              <a:spcBef>
                <a:spcPts val="0"/>
              </a:spcBef>
              <a:spcAft>
                <a:spcPts val="0"/>
              </a:spcAft>
              <a:buNone/>
            </a:pPr>
            <a:r>
              <a:rPr lang="en" sz="900" b="1">
                <a:solidFill>
                  <a:srgbClr val="6AA84F"/>
                </a:solidFill>
                <a:latin typeface="Victor Mono"/>
                <a:ea typeface="Victor Mono"/>
                <a:cs typeface="Victor Mono"/>
                <a:sym typeface="Victor Mono"/>
              </a:rPr>
              <a:t>    # planning, history persistence, compaction, </a:t>
            </a:r>
            <a:endParaRPr sz="900" b="1">
              <a:solidFill>
                <a:srgbClr val="6AA84F"/>
              </a:solidFill>
              <a:latin typeface="Victor Mono"/>
              <a:ea typeface="Victor Mono"/>
              <a:cs typeface="Victor Mono"/>
              <a:sym typeface="Victor Mono"/>
            </a:endParaRPr>
          </a:p>
          <a:p>
            <a:pPr marL="0" marR="0" lvl="0" indent="0" algn="l" rtl="0">
              <a:lnSpc>
                <a:spcPct val="100000"/>
              </a:lnSpc>
              <a:spcBef>
                <a:spcPts val="0"/>
              </a:spcBef>
              <a:spcAft>
                <a:spcPts val="0"/>
              </a:spcAft>
              <a:buNone/>
            </a:pPr>
            <a:r>
              <a:rPr lang="en" sz="900" b="1">
                <a:solidFill>
                  <a:srgbClr val="6AA84F"/>
                </a:solidFill>
                <a:latin typeface="Victor Mono"/>
                <a:ea typeface="Victor Mono"/>
                <a:cs typeface="Victor Mono"/>
                <a:sym typeface="Victor Mono"/>
              </a:rPr>
              <a:t>    # approvals, web search, and telemetry are all wired in for you.</a:t>
            </a:r>
            <a:endParaRPr sz="900" b="1">
              <a:solidFill>
                <a:srgbClr val="6AA84F"/>
              </a:solidFill>
              <a:latin typeface="Victor Mono"/>
              <a:ea typeface="Victor Mono"/>
              <a:cs typeface="Victor Mono"/>
              <a:sym typeface="Victor Mono"/>
            </a:endParaRPr>
          </a:p>
          <a:p>
            <a:pPr marL="0" marR="0" lvl="0" indent="0" algn="l" rtl="0">
              <a:lnSpc>
                <a:spcPct val="100000"/>
              </a:lnSpc>
              <a:spcBef>
                <a:spcPts val="0"/>
              </a:spcBef>
              <a:spcAft>
                <a:spcPts val="0"/>
              </a:spcAft>
              <a:buNone/>
            </a:pPr>
            <a:r>
              <a:rPr lang="en" sz="900" b="1">
                <a:solidFill>
                  <a:srgbClr val="3C78D8"/>
                </a:solidFill>
                <a:latin typeface="Victor Mono"/>
                <a:ea typeface="Victor Mono"/>
                <a:cs typeface="Victor Mono"/>
                <a:sym typeface="Victor Mono"/>
              </a:rPr>
              <a:t>    agent = create_harness_agent(</a:t>
            </a:r>
            <a:endParaRPr sz="900" b="1">
              <a:solidFill>
                <a:srgbClr val="3C78D8"/>
              </a:solidFill>
              <a:latin typeface="Victor Mono"/>
              <a:ea typeface="Victor Mono"/>
              <a:cs typeface="Victor Mono"/>
              <a:sym typeface="Victor Mono"/>
            </a:endParaRPr>
          </a:p>
          <a:p>
            <a:pPr marL="0" marR="0" lvl="0" indent="0" algn="l" rtl="0">
              <a:lnSpc>
                <a:spcPct val="100000"/>
              </a:lnSpc>
              <a:spcBef>
                <a:spcPts val="0"/>
              </a:spcBef>
              <a:spcAft>
                <a:spcPts val="0"/>
              </a:spcAft>
              <a:buNone/>
            </a:pPr>
            <a:r>
              <a:rPr lang="en" sz="900" b="1">
                <a:solidFill>
                  <a:srgbClr val="3C78D8"/>
                </a:solidFill>
                <a:latin typeface="Victor Mono"/>
                <a:ea typeface="Victor Mono"/>
                <a:cs typeface="Victor Mono"/>
                <a:sym typeface="Victor Mono"/>
              </a:rPr>
              <a:t>        client=client,</a:t>
            </a:r>
            <a:endParaRPr sz="900" b="1">
              <a:solidFill>
                <a:srgbClr val="3C78D8"/>
              </a:solidFill>
              <a:latin typeface="Victor Mono"/>
              <a:ea typeface="Victor Mono"/>
              <a:cs typeface="Victor Mono"/>
              <a:sym typeface="Victor Mono"/>
            </a:endParaRPr>
          </a:p>
          <a:p>
            <a:pPr marL="0" marR="0" lvl="0" indent="0" algn="l" rtl="0">
              <a:lnSpc>
                <a:spcPct val="100000"/>
              </a:lnSpc>
              <a:spcBef>
                <a:spcPts val="0"/>
              </a:spcBef>
              <a:spcAft>
                <a:spcPts val="0"/>
              </a:spcAft>
              <a:buNone/>
            </a:pPr>
            <a:r>
              <a:rPr lang="en" sz="900" b="1">
                <a:solidFill>
                  <a:srgbClr val="3C78D8"/>
                </a:solidFill>
                <a:latin typeface="Victor Mono"/>
                <a:ea typeface="Victor Mono"/>
                <a:cs typeface="Victor Mono"/>
                <a:sym typeface="Victor Mono"/>
              </a:rPr>
              <a:t>        agent_instructions="""</a:t>
            </a:r>
            <a:r>
              <a:rPr lang="en" sz="900" b="1">
                <a:solidFill>
                  <a:srgbClr val="CC0000"/>
                </a:solidFill>
                <a:latin typeface="Victor Mono"/>
                <a:ea typeface="Victor Mono"/>
                <a:cs typeface="Victor Mono"/>
                <a:sym typeface="Victor Mono"/>
              </a:rPr>
              <a:t>You are a helpful research assistant. </a:t>
            </a:r>
            <a:br>
              <a:rPr lang="en" sz="900" b="1">
                <a:solidFill>
                  <a:srgbClr val="CC0000"/>
                </a:solidFill>
                <a:latin typeface="Victor Mono"/>
                <a:ea typeface="Victor Mono"/>
                <a:cs typeface="Victor Mono"/>
                <a:sym typeface="Victor Mono"/>
              </a:rPr>
            </a:br>
            <a:r>
              <a:rPr lang="en" sz="900" b="1">
                <a:solidFill>
                  <a:srgbClr val="CC0000"/>
                </a:solidFill>
                <a:latin typeface="Victor Mono"/>
                <a:ea typeface="Victor Mono"/>
                <a:cs typeface="Victor Mono"/>
                <a:sym typeface="Victor Mono"/>
              </a:rPr>
              <a:t>                              Plan your work, then execute it.</a:t>
            </a:r>
            <a:r>
              <a:rPr lang="en" sz="900" b="1">
                <a:solidFill>
                  <a:srgbClr val="3C78D8"/>
                </a:solidFill>
                <a:latin typeface="Victor Mono"/>
                <a:ea typeface="Victor Mono"/>
                <a:cs typeface="Victor Mono"/>
                <a:sym typeface="Victor Mono"/>
              </a:rPr>
              <a:t>""",</a:t>
            </a:r>
            <a:endParaRPr sz="900" b="1">
              <a:solidFill>
                <a:srgbClr val="3C78D8"/>
              </a:solidFill>
              <a:latin typeface="Victor Mono"/>
              <a:ea typeface="Victor Mono"/>
              <a:cs typeface="Victor Mono"/>
              <a:sym typeface="Victor Mono"/>
            </a:endParaRPr>
          </a:p>
          <a:p>
            <a:pPr marL="0" marR="0" lvl="0" indent="0" algn="l" rtl="0">
              <a:lnSpc>
                <a:spcPct val="100000"/>
              </a:lnSpc>
              <a:spcBef>
                <a:spcPts val="0"/>
              </a:spcBef>
              <a:spcAft>
                <a:spcPts val="0"/>
              </a:spcAft>
              <a:buNone/>
            </a:pPr>
            <a:r>
              <a:rPr lang="en" sz="900" b="1">
                <a:solidFill>
                  <a:srgbClr val="3C78D8"/>
                </a:solidFill>
                <a:latin typeface="Victor Mono"/>
                <a:ea typeface="Victor Mono"/>
                <a:cs typeface="Victor Mono"/>
                <a:sym typeface="Victor Mono"/>
              </a:rPr>
              <a:t>        tools=[],  </a:t>
            </a:r>
            <a:r>
              <a:rPr lang="en" sz="900" b="1">
                <a:solidFill>
                  <a:srgbClr val="6AA84F"/>
                </a:solidFill>
                <a:latin typeface="Victor Mono"/>
                <a:ea typeface="Victor Mono"/>
                <a:cs typeface="Victor Mono"/>
                <a:sym typeface="Victor Mono"/>
              </a:rPr>
              <a:t># add your own callable tools here</a:t>
            </a:r>
            <a:endParaRPr sz="900" b="1">
              <a:solidFill>
                <a:srgbClr val="6AA84F"/>
              </a:solidFill>
              <a:latin typeface="Victor Mono"/>
              <a:ea typeface="Victor Mono"/>
              <a:cs typeface="Victor Mono"/>
              <a:sym typeface="Victor Mono"/>
            </a:endParaRPr>
          </a:p>
          <a:p>
            <a:pPr marL="0" marR="0" lvl="0" indent="0" algn="l" rtl="0">
              <a:lnSpc>
                <a:spcPct val="100000"/>
              </a:lnSpc>
              <a:spcBef>
                <a:spcPts val="0"/>
              </a:spcBef>
              <a:spcAft>
                <a:spcPts val="0"/>
              </a:spcAft>
              <a:buNone/>
            </a:pPr>
            <a:r>
              <a:rPr lang="en" sz="900" b="1">
                <a:solidFill>
                  <a:srgbClr val="3C78D8"/>
                </a:solidFill>
                <a:latin typeface="Victor Mono"/>
                <a:ea typeface="Victor Mono"/>
                <a:cs typeface="Victor Mono"/>
                <a:sym typeface="Victor Mono"/>
              </a:rPr>
              <a:t>    )</a:t>
            </a:r>
            <a:endParaRPr sz="900" b="1">
              <a:solidFill>
                <a:srgbClr val="3C78D8"/>
              </a:solidFill>
              <a:latin typeface="Victor Mono"/>
              <a:ea typeface="Victor Mono"/>
              <a:cs typeface="Victor Mono"/>
              <a:sym typeface="Victor Mono"/>
            </a:endParaRPr>
          </a:p>
          <a:p>
            <a:pPr marL="0" marR="0" lvl="0" indent="0" algn="l" rtl="0">
              <a:lnSpc>
                <a:spcPct val="100000"/>
              </a:lnSpc>
              <a:spcBef>
                <a:spcPts val="0"/>
              </a:spcBef>
              <a:spcAft>
                <a:spcPts val="0"/>
              </a:spcAft>
              <a:buNone/>
            </a:pPr>
            <a:endParaRPr sz="900" b="1">
              <a:solidFill>
                <a:srgbClr val="3C78D8"/>
              </a:solidFill>
              <a:latin typeface="Victor Mono"/>
              <a:ea typeface="Victor Mono"/>
              <a:cs typeface="Victor Mono"/>
              <a:sym typeface="Victor Mono"/>
            </a:endParaRPr>
          </a:p>
          <a:p>
            <a:pPr marL="0" marR="0" lvl="0" indent="0" algn="l" rtl="0">
              <a:lnSpc>
                <a:spcPct val="100000"/>
              </a:lnSpc>
              <a:spcBef>
                <a:spcPts val="0"/>
              </a:spcBef>
              <a:spcAft>
                <a:spcPts val="0"/>
              </a:spcAft>
              <a:buNone/>
            </a:pPr>
            <a:r>
              <a:rPr lang="en" sz="900" b="1">
                <a:solidFill>
                  <a:srgbClr val="3C78D8"/>
                </a:solidFill>
                <a:latin typeface="Victor Mono"/>
                <a:ea typeface="Victor Mono"/>
                <a:cs typeface="Victor Mono"/>
                <a:sym typeface="Victor Mono"/>
              </a:rPr>
              <a:t>    response = await agent.run("</a:t>
            </a:r>
            <a:r>
              <a:rPr lang="en" sz="900" b="1">
                <a:solidFill>
                  <a:srgbClr val="CC0000"/>
                </a:solidFill>
                <a:latin typeface="Victor Mono"/>
                <a:ea typeface="Victor Mono"/>
                <a:cs typeface="Victor Mono"/>
                <a:sym typeface="Victor Mono"/>
              </a:rPr>
              <a:t>Research the renewable energy stocks.</a:t>
            </a:r>
            <a:r>
              <a:rPr lang="en" sz="900" b="1">
                <a:solidFill>
                  <a:srgbClr val="3C78D8"/>
                </a:solidFill>
                <a:latin typeface="Victor Mono"/>
                <a:ea typeface="Victor Mono"/>
                <a:cs typeface="Victor Mono"/>
                <a:sym typeface="Victor Mono"/>
              </a:rPr>
              <a:t>")</a:t>
            </a:r>
            <a:endParaRPr sz="900" b="1">
              <a:solidFill>
                <a:srgbClr val="3C78D8"/>
              </a:solidFill>
              <a:latin typeface="Victor Mono"/>
              <a:ea typeface="Victor Mono"/>
              <a:cs typeface="Victor Mono"/>
              <a:sym typeface="Victor Mono"/>
            </a:endParaRPr>
          </a:p>
          <a:p>
            <a:pPr marL="0" marR="0" lvl="0" indent="0" algn="l" rtl="0">
              <a:lnSpc>
                <a:spcPct val="100000"/>
              </a:lnSpc>
              <a:spcBef>
                <a:spcPts val="0"/>
              </a:spcBef>
              <a:spcAft>
                <a:spcPts val="0"/>
              </a:spcAft>
              <a:buNone/>
            </a:pPr>
            <a:r>
              <a:rPr lang="en" sz="900" b="1">
                <a:solidFill>
                  <a:srgbClr val="3C78D8"/>
                </a:solidFill>
                <a:latin typeface="Victor Mono"/>
                <a:ea typeface="Victor Mono"/>
                <a:cs typeface="Victor Mono"/>
                <a:sym typeface="Victor Mono"/>
              </a:rPr>
              <a:t>    print(response.text)</a:t>
            </a:r>
            <a:endParaRPr sz="900" b="1">
              <a:solidFill>
                <a:srgbClr val="3C78D8"/>
              </a:solidFill>
              <a:latin typeface="Victor Mono"/>
              <a:ea typeface="Victor Mono"/>
              <a:cs typeface="Victor Mono"/>
              <a:sym typeface="Victor Mono"/>
            </a:endParaRPr>
          </a:p>
          <a:p>
            <a:pPr marL="0" marR="0" lvl="0" indent="0" algn="l" rtl="0">
              <a:lnSpc>
                <a:spcPct val="100000"/>
              </a:lnSpc>
              <a:spcBef>
                <a:spcPts val="0"/>
              </a:spcBef>
              <a:spcAft>
                <a:spcPts val="0"/>
              </a:spcAft>
              <a:buNone/>
            </a:pPr>
            <a:endParaRPr sz="900" b="1">
              <a:solidFill>
                <a:srgbClr val="3C78D8"/>
              </a:solidFill>
              <a:latin typeface="Victor Mono"/>
              <a:ea typeface="Victor Mono"/>
              <a:cs typeface="Victor Mono"/>
              <a:sym typeface="Victor Mono"/>
            </a:endParaRPr>
          </a:p>
          <a:p>
            <a:pPr marL="0" marR="0" lvl="0" indent="0" algn="l" rtl="0">
              <a:lnSpc>
                <a:spcPct val="100000"/>
              </a:lnSpc>
              <a:spcBef>
                <a:spcPts val="0"/>
              </a:spcBef>
              <a:spcAft>
                <a:spcPts val="0"/>
              </a:spcAft>
              <a:buNone/>
            </a:pPr>
            <a:endParaRPr sz="900" b="1">
              <a:solidFill>
                <a:srgbClr val="3C78D8"/>
              </a:solidFill>
              <a:latin typeface="Victor Mono"/>
              <a:ea typeface="Victor Mono"/>
              <a:cs typeface="Victor Mono"/>
              <a:sym typeface="Victor Mono"/>
            </a:endParaRPr>
          </a:p>
          <a:p>
            <a:pPr marL="0" marR="0" lvl="0" indent="0" algn="l" rtl="0">
              <a:lnSpc>
                <a:spcPct val="100000"/>
              </a:lnSpc>
              <a:spcBef>
                <a:spcPts val="0"/>
              </a:spcBef>
              <a:spcAft>
                <a:spcPts val="0"/>
              </a:spcAft>
              <a:buNone/>
            </a:pPr>
            <a:r>
              <a:rPr lang="en" sz="900" b="1">
                <a:solidFill>
                  <a:srgbClr val="3C78D8"/>
                </a:solidFill>
                <a:latin typeface="Victor Mono"/>
                <a:ea typeface="Victor Mono"/>
                <a:cs typeface="Victor Mono"/>
                <a:sym typeface="Victor Mono"/>
              </a:rPr>
              <a:t>if __name__ == "__main__":</a:t>
            </a:r>
            <a:endParaRPr sz="900" b="1">
              <a:solidFill>
                <a:srgbClr val="3C78D8"/>
              </a:solidFill>
              <a:latin typeface="Victor Mono"/>
              <a:ea typeface="Victor Mono"/>
              <a:cs typeface="Victor Mono"/>
              <a:sym typeface="Victor Mono"/>
            </a:endParaRPr>
          </a:p>
          <a:p>
            <a:pPr marL="0" marR="0" lvl="0" indent="0" algn="l" rtl="0">
              <a:lnSpc>
                <a:spcPct val="100000"/>
              </a:lnSpc>
              <a:spcBef>
                <a:spcPts val="0"/>
              </a:spcBef>
              <a:spcAft>
                <a:spcPts val="0"/>
              </a:spcAft>
              <a:buNone/>
            </a:pPr>
            <a:r>
              <a:rPr lang="en" sz="900" b="1">
                <a:solidFill>
                  <a:srgbClr val="3C78D8"/>
                </a:solidFill>
                <a:latin typeface="Victor Mono"/>
                <a:ea typeface="Victor Mono"/>
                <a:cs typeface="Victor Mono"/>
                <a:sym typeface="Victor Mono"/>
              </a:rPr>
              <a:t>    asyncio.run(main())</a:t>
            </a:r>
            <a:endParaRPr sz="900" b="1">
              <a:solidFill>
                <a:srgbClr val="3C78D8"/>
              </a:solidFill>
              <a:latin typeface="Victor Mono"/>
              <a:ea typeface="Victor Mono"/>
              <a:cs typeface="Victor Mono"/>
              <a:sym typeface="Victor Mono"/>
            </a:endParaRPr>
          </a:p>
        </p:txBody>
      </p:sp>
      <p:pic>
        <p:nvPicPr>
          <p:cNvPr id="171" name="Google Shape;171;p26"/>
          <p:cNvPicPr preferRelativeResize="0"/>
          <p:nvPr/>
        </p:nvPicPr>
        <p:blipFill>
          <a:blip r:embed="rId7" cstate="email">
            <a:alphaModFix/>
            <a:extLst>
              <a:ext uri="{28A0092B-C50C-407E-A947-70E740481C1C}">
                <a14:useLocalDpi xmlns:a14="http://schemas.microsoft.com/office/drawing/2010/main"/>
              </a:ext>
            </a:extLst>
          </a:blip>
          <a:stretch>
            <a:fillRect/>
          </a:stretch>
        </p:blipFill>
        <p:spPr>
          <a:xfrm>
            <a:off x="602238" y="2718324"/>
            <a:ext cx="2833075" cy="1554725"/>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75"/>
        <p:cNvGrpSpPr/>
        <p:nvPr/>
      </p:nvGrpSpPr>
      <p:grpSpPr>
        <a:xfrm>
          <a:off x="0" y="0"/>
          <a:ext cx="0" cy="0"/>
          <a:chOff x="0" y="0"/>
          <a:chExt cx="0" cy="0"/>
        </a:xfrm>
      </p:grpSpPr>
      <p:sp>
        <p:nvSpPr>
          <p:cNvPr id="176" name="Google Shape;176;p27"/>
          <p:cNvSpPr txBox="1"/>
          <p:nvPr/>
        </p:nvSpPr>
        <p:spPr>
          <a:xfrm>
            <a:off x="81775" y="0"/>
            <a:ext cx="40254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Genspark AI Workspace 6.0 Updates</a:t>
            </a:r>
            <a:endParaRPr sz="2000" b="1">
              <a:solidFill>
                <a:schemeClr val="dk1"/>
              </a:solidFill>
              <a:latin typeface="Calibri"/>
              <a:ea typeface="Calibri"/>
              <a:cs typeface="Calibri"/>
              <a:sym typeface="Calibri"/>
            </a:endParaRPr>
          </a:p>
        </p:txBody>
      </p:sp>
      <p:sp>
        <p:nvSpPr>
          <p:cNvPr id="177" name="Google Shape;177;p27"/>
          <p:cNvSpPr txBox="1"/>
          <p:nvPr/>
        </p:nvSpPr>
        <p:spPr>
          <a:xfrm>
            <a:off x="137125" y="513250"/>
            <a:ext cx="4424700" cy="41436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Genspark AI Workspace 6.0 Updates </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3C78D8"/>
                </a:solidFill>
                <a:latin typeface="Calibri"/>
                <a:ea typeface="Calibri"/>
                <a:cs typeface="Calibri"/>
                <a:sym typeface="Calibri"/>
              </a:rPr>
              <a:t>Genspark is an all-in-one AI agent workspace</a:t>
            </a:r>
            <a:r>
              <a:rPr lang="en" sz="1100">
                <a:solidFill>
                  <a:srgbClr val="3C78D8"/>
                </a:solidFill>
                <a:latin typeface="Calibri"/>
                <a:ea typeface="Calibri"/>
                <a:cs typeface="Calibri"/>
                <a:sym typeface="Calibri"/>
              </a:rPr>
              <a:t>.</a:t>
            </a:r>
            <a:r>
              <a:rPr lang="en" sz="1100">
                <a:solidFill>
                  <a:schemeClr val="dk1"/>
                </a:solidFill>
                <a:latin typeface="Calibri"/>
                <a:ea typeface="Calibri"/>
                <a:cs typeface="Calibri"/>
                <a:sym typeface="Calibri"/>
              </a:rPr>
              <a:t> It operates as a multi-agent orchestration platform that uses 70+ AI models (such as GPT-4, Claude, Gemini, and specialized open-source models) to handle complex, end-to-end tasks</a:t>
            </a:r>
            <a:endParaRPr sz="11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rgbClr val="FF0000"/>
              </a:buClr>
              <a:buSzPts val="1200"/>
              <a:buFont typeface="Calibri"/>
              <a:buChar char="●"/>
            </a:pPr>
            <a:r>
              <a:rPr lang="en" sz="1100" b="1">
                <a:solidFill>
                  <a:srgbClr val="3C78D8"/>
                </a:solidFill>
                <a:latin typeface="Calibri"/>
                <a:ea typeface="Calibri"/>
                <a:cs typeface="Calibri"/>
                <a:sym typeface="Calibri"/>
              </a:rPr>
              <a:t>Genspark is a product and the brand name of an AI tech company MainFunc Inc. in Palo Alto, CA</a:t>
            </a:r>
            <a:r>
              <a:rPr lang="en" sz="1100">
                <a:solidFill>
                  <a:srgbClr val="3C78D8"/>
                </a:solidFill>
                <a:latin typeface="Calibri"/>
                <a:ea typeface="Calibri"/>
                <a:cs typeface="Calibri"/>
                <a:sym typeface="Calibri"/>
              </a:rPr>
              <a:t> </a:t>
            </a:r>
            <a:r>
              <a:rPr lang="en" sz="1100">
                <a:solidFill>
                  <a:schemeClr val="dk1"/>
                </a:solidFill>
                <a:latin typeface="Calibri"/>
                <a:ea typeface="Calibri"/>
                <a:cs typeface="Calibri"/>
                <a:sym typeface="Calibri"/>
              </a:rPr>
              <a:t>- founded in 2023 by former Baidu and Microsoft executives (including CEO Eric Jing)</a:t>
            </a:r>
            <a:endParaRPr sz="1200" b="1">
              <a:solidFill>
                <a:srgbClr val="FF0000"/>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3"/>
              </a:rPr>
              <a:t>https://www.genspark.ai</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4"/>
              </a:rPr>
              <a:t>https://www.computerweekly.com/blog/Inspect-a-Gadget/Genspark-AI-Workspace-60-SecondBrain-Note</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5"/>
              </a:rPr>
              <a:t>https://www.genspark.ai/blog/genspark-ai-workspace-6</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6"/>
              </a:rPr>
              <a:t>https://www.youtube.com/watch?v=O0RNqAp1wOQ</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b="1">
                <a:solidFill>
                  <a:srgbClr val="FF0000"/>
                </a:solidFill>
                <a:latin typeface="Calibri"/>
                <a:ea typeface="Calibri"/>
                <a:cs typeface="Calibri"/>
                <a:sym typeface="Calibri"/>
              </a:rPr>
              <a:t>SecondBrain</a:t>
            </a:r>
            <a:r>
              <a:rPr lang="en" sz="1100">
                <a:solidFill>
                  <a:schemeClr val="dk1"/>
                </a:solidFill>
                <a:latin typeface="Calibri"/>
                <a:ea typeface="Calibri"/>
                <a:cs typeface="Calibri"/>
                <a:sym typeface="Calibri"/>
              </a:rPr>
              <a:t> - memory layer, eliminating the need to repeatedly re-explain details across sessions; It aggregates scattered personal data, including emails, meeting logs, documents, and connected third-party applications, into one unified, accessible memory system</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b="1">
                <a:solidFill>
                  <a:srgbClr val="FF0000"/>
                </a:solidFill>
                <a:latin typeface="Calibri"/>
                <a:ea typeface="Calibri"/>
                <a:cs typeface="Calibri"/>
                <a:sym typeface="Calibri"/>
              </a:rPr>
              <a:t>Super Agent engine</a:t>
            </a:r>
            <a:r>
              <a:rPr lang="en" sz="1100">
                <a:solidFill>
                  <a:schemeClr val="dk1"/>
                </a:solidFill>
                <a:latin typeface="Calibri"/>
                <a:ea typeface="Calibri"/>
                <a:cs typeface="Calibri"/>
                <a:sym typeface="Calibri"/>
              </a:rPr>
              <a:t> - orchestrates over 70 top AI models to autonomously select and execute tasks across specialized productivity tools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b="1">
                <a:solidFill>
                  <a:srgbClr val="FF0000"/>
                </a:solidFill>
                <a:latin typeface="Calibri"/>
                <a:ea typeface="Calibri"/>
                <a:cs typeface="Calibri"/>
                <a:sym typeface="Calibri"/>
              </a:rPr>
              <a:t>GenMail</a:t>
            </a:r>
            <a:r>
              <a:rPr lang="en" sz="1100">
                <a:solidFill>
                  <a:schemeClr val="dk1"/>
                </a:solidFill>
                <a:latin typeface="Calibri"/>
                <a:ea typeface="Calibri"/>
                <a:cs typeface="Calibri"/>
                <a:sym typeface="Calibri"/>
              </a:rPr>
              <a:t> - inbox management</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b="1">
                <a:solidFill>
                  <a:srgbClr val="FF0000"/>
                </a:solidFill>
                <a:latin typeface="Calibri"/>
                <a:ea typeface="Calibri"/>
                <a:cs typeface="Calibri"/>
                <a:sym typeface="Calibri"/>
              </a:rPr>
              <a:t>AgentBase</a:t>
            </a:r>
            <a:r>
              <a:rPr lang="en" sz="1100">
                <a:solidFill>
                  <a:schemeClr val="dk1"/>
                </a:solidFill>
                <a:latin typeface="Calibri"/>
                <a:ea typeface="Calibri"/>
                <a:cs typeface="Calibri"/>
                <a:sym typeface="Calibri"/>
              </a:rPr>
              <a:t> - for building custom no-code dashboards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b="1">
                <a:solidFill>
                  <a:srgbClr val="FF0000"/>
                </a:solidFill>
                <a:latin typeface="Calibri"/>
                <a:ea typeface="Calibri"/>
                <a:cs typeface="Calibri"/>
                <a:sym typeface="Calibri"/>
              </a:rPr>
              <a:t>GenTeam</a:t>
            </a:r>
            <a:r>
              <a:rPr lang="en" sz="1100">
                <a:solidFill>
                  <a:schemeClr val="dk1"/>
                </a:solidFill>
                <a:latin typeface="Calibri"/>
                <a:ea typeface="Calibri"/>
                <a:cs typeface="Calibri"/>
                <a:sym typeface="Calibri"/>
              </a:rPr>
              <a:t> - for real-time collaboration between humans and persistent AI team members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b="1">
                <a:solidFill>
                  <a:srgbClr val="FF0000"/>
                </a:solidFill>
                <a:latin typeface="Calibri"/>
                <a:ea typeface="Calibri"/>
                <a:cs typeface="Calibri"/>
                <a:sym typeface="Calibri"/>
              </a:rPr>
              <a:t>SecondBrain Note</a:t>
            </a:r>
            <a:r>
              <a:rPr lang="en" sz="1100">
                <a:solidFill>
                  <a:schemeClr val="dk1"/>
                </a:solidFill>
                <a:latin typeface="Calibri"/>
                <a:ea typeface="Calibri"/>
                <a:cs typeface="Calibri"/>
                <a:sym typeface="Calibri"/>
              </a:rPr>
              <a:t> - a hardware voice recording card that syncs live audio and meeting notes directly into SecondBrain context</a:t>
            </a:r>
            <a:endParaRPr sz="1100">
              <a:solidFill>
                <a:schemeClr val="dk1"/>
              </a:solidFill>
              <a:latin typeface="Calibri"/>
              <a:ea typeface="Calibri"/>
              <a:cs typeface="Calibri"/>
              <a:sym typeface="Calibri"/>
            </a:endParaRPr>
          </a:p>
        </p:txBody>
      </p:sp>
      <p:pic>
        <p:nvPicPr>
          <p:cNvPr id="178" name="Google Shape;178;p27"/>
          <p:cNvPicPr preferRelativeResize="0"/>
          <p:nvPr/>
        </p:nvPicPr>
        <p:blipFill>
          <a:blip r:embed="rId7" cstate="email">
            <a:alphaModFix/>
            <a:extLst>
              <a:ext uri="{28A0092B-C50C-407E-A947-70E740481C1C}">
                <a14:useLocalDpi xmlns:a14="http://schemas.microsoft.com/office/drawing/2010/main"/>
              </a:ext>
            </a:extLst>
          </a:blip>
          <a:stretch>
            <a:fillRect/>
          </a:stretch>
        </p:blipFill>
        <p:spPr>
          <a:xfrm>
            <a:off x="4796150" y="1561675"/>
            <a:ext cx="4114800" cy="114255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82"/>
        <p:cNvGrpSpPr/>
        <p:nvPr/>
      </p:nvGrpSpPr>
      <p:grpSpPr>
        <a:xfrm>
          <a:off x="0" y="0"/>
          <a:ext cx="0" cy="0"/>
          <a:chOff x="0" y="0"/>
          <a:chExt cx="0" cy="0"/>
        </a:xfrm>
      </p:grpSpPr>
      <p:sp>
        <p:nvSpPr>
          <p:cNvPr id="183" name="Google Shape;183;p28"/>
          <p:cNvSpPr txBox="1"/>
          <p:nvPr/>
        </p:nvSpPr>
        <p:spPr>
          <a:xfrm>
            <a:off x="81775" y="0"/>
            <a:ext cx="45354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Model Fusion, Model Routing</a:t>
            </a:r>
            <a:endParaRPr sz="2000" b="1">
              <a:solidFill>
                <a:schemeClr val="dk1"/>
              </a:solidFill>
              <a:latin typeface="Calibri"/>
              <a:ea typeface="Calibri"/>
              <a:cs typeface="Calibri"/>
              <a:sym typeface="Calibri"/>
            </a:endParaRPr>
          </a:p>
        </p:txBody>
      </p:sp>
      <p:sp>
        <p:nvSpPr>
          <p:cNvPr id="184" name="Google Shape;184;p28"/>
          <p:cNvSpPr txBox="1"/>
          <p:nvPr/>
        </p:nvSpPr>
        <p:spPr>
          <a:xfrm>
            <a:off x="81775" y="1670675"/>
            <a:ext cx="4424700" cy="1218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chemeClr val="dk1"/>
              </a:buClr>
              <a:buSzPts val="1100"/>
              <a:buFont typeface="Calibri"/>
              <a:buChar char="●"/>
            </a:pPr>
            <a:r>
              <a:rPr lang="en" sz="1200" b="1">
                <a:solidFill>
                  <a:srgbClr val="FF0000"/>
                </a:solidFill>
                <a:latin typeface="Calibri"/>
                <a:ea typeface="Calibri"/>
                <a:cs typeface="Calibri"/>
                <a:sym typeface="Calibri"/>
              </a:rPr>
              <a:t>Cursor Router </a:t>
            </a:r>
            <a:r>
              <a:rPr lang="en" sz="1100">
                <a:solidFill>
                  <a:schemeClr val="dk1"/>
                </a:solidFill>
                <a:latin typeface="Calibri"/>
                <a:ea typeface="Calibri"/>
                <a:cs typeface="Calibri"/>
                <a:sym typeface="Calibri"/>
              </a:rPr>
              <a:t>- Cuts Enterprise AI Costs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Cursor launches Cursor Router</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It automatically selects the best model for each coding task</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It delivers frontier-quality results while reducing costs by about 60%</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Early enterprise users reporting 30–50% savings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The router is trained on 600K+ live requests and optimizes for code retention across multiple AI providers</a:t>
            </a:r>
            <a:endParaRPr sz="1100">
              <a:solidFill>
                <a:schemeClr val="dk1"/>
              </a:solidFill>
              <a:latin typeface="Calibri"/>
              <a:ea typeface="Calibri"/>
              <a:cs typeface="Calibri"/>
              <a:sym typeface="Calibri"/>
            </a:endParaRPr>
          </a:p>
        </p:txBody>
      </p:sp>
      <p:sp>
        <p:nvSpPr>
          <p:cNvPr id="185" name="Google Shape;185;p28"/>
          <p:cNvSpPr txBox="1"/>
          <p:nvPr/>
        </p:nvSpPr>
        <p:spPr>
          <a:xfrm>
            <a:off x="81775" y="569675"/>
            <a:ext cx="4424700" cy="1065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chemeClr val="dk1"/>
              </a:buClr>
              <a:buSzPts val="1100"/>
              <a:buFont typeface="Calibri"/>
              <a:buChar char="●"/>
            </a:pPr>
            <a:r>
              <a:rPr lang="en" sz="1200" b="1">
                <a:solidFill>
                  <a:srgbClr val="FF0000"/>
                </a:solidFill>
                <a:latin typeface="Calibri"/>
                <a:ea typeface="Calibri"/>
                <a:cs typeface="Calibri"/>
                <a:sym typeface="Calibri"/>
              </a:rPr>
              <a:t>Model fusion </a:t>
            </a:r>
            <a:r>
              <a:rPr lang="en" sz="1100">
                <a:solidFill>
                  <a:schemeClr val="dk1"/>
                </a:solidFill>
                <a:latin typeface="Calibri"/>
                <a:ea typeface="Calibri"/>
                <a:cs typeface="Calibri"/>
                <a:sym typeface="Calibri"/>
              </a:rPr>
              <a:t>- sends the same prompt to multiple models and combines their outputs into one answer - reduce hallucinations, improve quality</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200" b="1">
                <a:solidFill>
                  <a:srgbClr val="FF0000"/>
                </a:solidFill>
                <a:latin typeface="Calibri"/>
                <a:ea typeface="Calibri"/>
                <a:cs typeface="Calibri"/>
                <a:sym typeface="Calibri"/>
              </a:rPr>
              <a:t>Model routing</a:t>
            </a:r>
            <a:r>
              <a:rPr lang="en" sz="1100">
                <a:solidFill>
                  <a:schemeClr val="dk1"/>
                </a:solidFill>
                <a:latin typeface="Calibri"/>
                <a:ea typeface="Calibri"/>
                <a:cs typeface="Calibri"/>
                <a:sym typeface="Calibri"/>
              </a:rPr>
              <a:t> - picks one best model for each request before it runs, based on task type, cost, speed, or complexity - saves costs and latency</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They can work together: route simple tasks to a cheap model and route difficult tasks to a fusion setup</a:t>
            </a:r>
            <a:endParaRPr sz="1100">
              <a:solidFill>
                <a:schemeClr val="dk1"/>
              </a:solidFill>
              <a:latin typeface="Calibri"/>
              <a:ea typeface="Calibri"/>
              <a:cs typeface="Calibri"/>
              <a:sym typeface="Calibri"/>
            </a:endParaRPr>
          </a:p>
        </p:txBody>
      </p:sp>
      <p:sp>
        <p:nvSpPr>
          <p:cNvPr id="186" name="Google Shape;186;p28"/>
          <p:cNvSpPr txBox="1"/>
          <p:nvPr/>
        </p:nvSpPr>
        <p:spPr>
          <a:xfrm>
            <a:off x="81775" y="4346325"/>
            <a:ext cx="4424700" cy="695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Runway - AI Router for Generative Media </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Automatically selects image, video, or audio models based on quality, speed, or cost. The release positions Runway Dev as an infrastructure layer offering unified API access to both Runway and third-party models.</a:t>
            </a:r>
            <a:endParaRPr sz="1100">
              <a:solidFill>
                <a:schemeClr val="dk1"/>
              </a:solidFill>
              <a:latin typeface="Calibri"/>
              <a:ea typeface="Calibri"/>
              <a:cs typeface="Calibri"/>
              <a:sym typeface="Calibri"/>
            </a:endParaRPr>
          </a:p>
        </p:txBody>
      </p:sp>
      <p:sp>
        <p:nvSpPr>
          <p:cNvPr id="187" name="Google Shape;187;p28"/>
          <p:cNvSpPr txBox="1"/>
          <p:nvPr/>
        </p:nvSpPr>
        <p:spPr>
          <a:xfrm>
            <a:off x="81775" y="2923750"/>
            <a:ext cx="4424700" cy="1373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OpenRouter Fusion</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Sends one prompt to several models in parallel</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A judge model compares the answers, then returns structured signals like consensus, contradictions, gaps, and blind spots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Fusion can improve quality by combining perspectives, but it costs more because it runs multiple completions</a:t>
            </a:r>
            <a:br>
              <a:rPr lang="en" sz="1100">
                <a:solidFill>
                  <a:schemeClr val="dk1"/>
                </a:solidFill>
                <a:latin typeface="Calibri"/>
                <a:ea typeface="Calibri"/>
                <a:cs typeface="Calibri"/>
                <a:sym typeface="Calibri"/>
              </a:rPr>
            </a:br>
            <a:r>
              <a:rPr lang="en" sz="1100" u="sng">
                <a:solidFill>
                  <a:schemeClr val="hlink"/>
                </a:solidFill>
                <a:latin typeface="Calibri"/>
                <a:ea typeface="Calibri"/>
                <a:cs typeface="Calibri"/>
                <a:sym typeface="Calibri"/>
                <a:hlinkClick r:id="rId3"/>
              </a:rPr>
              <a:t>https://openrouter.ai/docs/guides/routing/routers/fusion-router</a:t>
            </a:r>
            <a:r>
              <a:rPr lang="en" sz="1100">
                <a:solidFill>
                  <a:schemeClr val="dk1"/>
                </a:solidFill>
                <a:latin typeface="Calibri"/>
                <a:ea typeface="Calibri"/>
                <a:cs typeface="Calibri"/>
                <a:sym typeface="Calibri"/>
              </a:rPr>
              <a:t> </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u="sng">
                <a:solidFill>
                  <a:schemeClr val="hlink"/>
                </a:solidFill>
                <a:latin typeface="Calibri"/>
                <a:ea typeface="Calibri"/>
                <a:cs typeface="Calibri"/>
                <a:sym typeface="Calibri"/>
                <a:hlinkClick r:id="rId4"/>
              </a:rPr>
              <a:t>https://openrouter.ai/docs/guides/features/plugins/fusion</a:t>
            </a:r>
            <a:r>
              <a:rPr lang="en" sz="1100">
                <a:solidFill>
                  <a:schemeClr val="dk1"/>
                </a:solidFill>
                <a:latin typeface="Calibri"/>
                <a:ea typeface="Calibri"/>
                <a:cs typeface="Calibri"/>
                <a:sym typeface="Calibri"/>
              </a:rPr>
              <a:t> </a:t>
            </a:r>
            <a:endParaRPr sz="1100">
              <a:solidFill>
                <a:schemeClr val="dk1"/>
              </a:solidFill>
              <a:latin typeface="Calibri"/>
              <a:ea typeface="Calibri"/>
              <a:cs typeface="Calibri"/>
              <a:sym typeface="Calibri"/>
            </a:endParaRPr>
          </a:p>
        </p:txBody>
      </p:sp>
      <p:sp>
        <p:nvSpPr>
          <p:cNvPr id="188" name="Google Shape;188;p28"/>
          <p:cNvSpPr txBox="1"/>
          <p:nvPr/>
        </p:nvSpPr>
        <p:spPr>
          <a:xfrm>
            <a:off x="4629128" y="569675"/>
            <a:ext cx="4424700" cy="1896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chemeClr val="dk1"/>
              </a:buClr>
              <a:buSzPts val="1100"/>
              <a:buFont typeface="Calibri"/>
              <a:buChar char="●"/>
            </a:pPr>
            <a:r>
              <a:rPr lang="en" sz="1200" b="1">
                <a:solidFill>
                  <a:srgbClr val="FF0000"/>
                </a:solidFill>
                <a:latin typeface="Calibri"/>
                <a:ea typeface="Calibri"/>
                <a:cs typeface="Calibri"/>
                <a:sym typeface="Calibri"/>
              </a:rPr>
              <a:t>Sakana AI Fugu Ultra v1.1 </a:t>
            </a:r>
            <a:br>
              <a:rPr lang="en" sz="1100">
                <a:solidFill>
                  <a:schemeClr val="dk1"/>
                </a:solidFill>
                <a:latin typeface="Calibri"/>
                <a:ea typeface="Calibri"/>
                <a:cs typeface="Calibri"/>
                <a:sym typeface="Calibri"/>
              </a:rPr>
            </a:br>
            <a:r>
              <a:rPr lang="en" sz="1100" u="sng">
                <a:solidFill>
                  <a:schemeClr val="hlink"/>
                </a:solidFill>
                <a:latin typeface="Calibri"/>
                <a:ea typeface="Calibri"/>
                <a:cs typeface="Calibri"/>
                <a:sym typeface="Calibri"/>
                <a:hlinkClick r:id="rId5"/>
              </a:rPr>
              <a:t>https://www.youtube.com/watch?v=q7Bd2n7bBbQ</a:t>
            </a:r>
            <a:r>
              <a:rPr lang="en" sz="1100">
                <a:solidFill>
                  <a:schemeClr val="dk1"/>
                </a:solidFill>
                <a:latin typeface="Calibri"/>
                <a:ea typeface="Calibri"/>
                <a:cs typeface="Calibri"/>
                <a:sym typeface="Calibri"/>
              </a:rPr>
              <a:t> </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Tokyo-based Sakana AI launched Fugu Ultra v1.1, featuring up to a 7.9-point performance jump over the previous release</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Fugu operates as a collective multi-agent system, routing tasks to specialized AI models that collaborate and verify each other's work</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The release reportedly outperforms Claude Fable 5 on coding benchmarks like Program Bench and Terminal Bench 2.1 without integrating Fable 5.</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Trade-offs include slower processing times and higher operational costs compared to single-model systems due to complex multi-agent reasoning loops</a:t>
            </a:r>
            <a:endParaRPr sz="1100">
              <a:solidFill>
                <a:schemeClr val="dk1"/>
              </a:solidFill>
              <a:latin typeface="Calibri"/>
              <a:ea typeface="Calibri"/>
              <a:cs typeface="Calibri"/>
              <a:sym typeface="Calibri"/>
            </a:endParaRPr>
          </a:p>
        </p:txBody>
      </p:sp>
      <p:pic>
        <p:nvPicPr>
          <p:cNvPr id="189" name="Google Shape;189;p28"/>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4658875" y="2618375"/>
            <a:ext cx="4324028" cy="2372724"/>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93"/>
        <p:cNvGrpSpPr/>
        <p:nvPr/>
      </p:nvGrpSpPr>
      <p:grpSpPr>
        <a:xfrm>
          <a:off x="0" y="0"/>
          <a:ext cx="0" cy="0"/>
          <a:chOff x="0" y="0"/>
          <a:chExt cx="0" cy="0"/>
        </a:xfrm>
      </p:grpSpPr>
      <p:sp>
        <p:nvSpPr>
          <p:cNvPr id="194" name="Google Shape;194;p29"/>
          <p:cNvSpPr txBox="1"/>
          <p:nvPr/>
        </p:nvSpPr>
        <p:spPr>
          <a:xfrm>
            <a:off x="81775" y="8"/>
            <a:ext cx="15510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pic>
        <p:nvPicPr>
          <p:cNvPr id="195" name="Google Shape;195;p29"/>
          <p:cNvPicPr preferRelativeResize="0"/>
          <p:nvPr/>
        </p:nvPicPr>
        <p:blipFill>
          <a:blip r:embed="rId3" cstate="email">
            <a:alphaModFix/>
            <a:extLst>
              <a:ext uri="{28A0092B-C50C-407E-A947-70E740481C1C}">
                <a14:useLocalDpi xmlns:a14="http://schemas.microsoft.com/office/drawing/2010/main"/>
              </a:ext>
            </a:extLst>
          </a:blip>
          <a:stretch>
            <a:fillRect/>
          </a:stretch>
        </p:blipFill>
        <p:spPr>
          <a:xfrm>
            <a:off x="5306995" y="413119"/>
            <a:ext cx="1551000" cy="2762707"/>
          </a:xfrm>
          <a:prstGeom prst="rect">
            <a:avLst/>
          </a:prstGeom>
          <a:noFill/>
          <a:ln w="9525" cap="flat" cmpd="sng">
            <a:solidFill>
              <a:srgbClr val="FF0000"/>
            </a:solidFill>
            <a:prstDash val="solid"/>
            <a:round/>
            <a:headEnd type="none" w="sm" len="sm"/>
            <a:tailEnd type="none" w="sm" len="sm"/>
          </a:ln>
        </p:spPr>
      </p:pic>
      <p:sp>
        <p:nvSpPr>
          <p:cNvPr id="196" name="Google Shape;196;p29"/>
          <p:cNvSpPr txBox="1"/>
          <p:nvPr/>
        </p:nvSpPr>
        <p:spPr>
          <a:xfrm>
            <a:off x="81775" y="365650"/>
            <a:ext cx="5113500" cy="2419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Make Slide Presentation Videos in Google Slides</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1. Connect Google Drive to Gemini so it can access your notes, research, or draft documents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2. Ask Gemini to turn the material into a 6–8 slide presentation, then refine the outline in chat</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3. In the presentation workspace, open File &gt; Convert to video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4. Select the slides to include, or keep all slides selected, then click Next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5. Review the auto-generated narration script for each slide and edit any technical or factual details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6. Choose the presentation style: Voiceover Only or an AI Avatar, then enable lip-sync and animation timing</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7. Click </a:t>
            </a:r>
            <a:r>
              <a:rPr lang="en" sz="1200" b="1">
                <a:solidFill>
                  <a:srgbClr val="3C78D8"/>
                </a:solidFill>
                <a:latin typeface="Calibri"/>
                <a:ea typeface="Calibri"/>
                <a:cs typeface="Calibri"/>
                <a:sym typeface="Calibri"/>
              </a:rPr>
              <a:t>Create draft video</a:t>
            </a:r>
            <a:r>
              <a:rPr lang="en" sz="1200">
                <a:solidFill>
                  <a:schemeClr val="dk1"/>
                </a:solidFill>
                <a:latin typeface="Calibri"/>
                <a:ea typeface="Calibri"/>
                <a:cs typeface="Calibri"/>
                <a:sym typeface="Calibri"/>
              </a:rPr>
              <a:t>, wait for processing, review the draft, and export the final educational video</a:t>
            </a:r>
            <a:endParaRPr sz="1200">
              <a:solidFill>
                <a:schemeClr val="dk1"/>
              </a:solidFill>
              <a:latin typeface="Calibri"/>
              <a:ea typeface="Calibri"/>
              <a:cs typeface="Calibri"/>
              <a:sym typeface="Calibri"/>
            </a:endParaRPr>
          </a:p>
        </p:txBody>
      </p:sp>
      <p:sp>
        <p:nvSpPr>
          <p:cNvPr id="197" name="Google Shape;197;p29"/>
          <p:cNvSpPr txBox="1"/>
          <p:nvPr/>
        </p:nvSpPr>
        <p:spPr>
          <a:xfrm>
            <a:off x="81775" y="3197504"/>
            <a:ext cx="5113500" cy="1865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SGLang - Fast LLM Serving Engine</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4"/>
              </a:rPr>
              <a:t>https://docs.sglang.ai</a:t>
            </a:r>
            <a:r>
              <a:rPr lang="en" sz="1200">
                <a:solidFill>
                  <a:schemeClr val="dk1"/>
                </a:solidFill>
                <a:latin typeface="Calibri"/>
                <a:ea typeface="Calibri"/>
                <a:cs typeface="Calibri"/>
                <a:sym typeface="Calibri"/>
              </a:rPr>
              <a:t> , </a:t>
            </a:r>
            <a:r>
              <a:rPr lang="en" sz="1200" u="sng">
                <a:solidFill>
                  <a:schemeClr val="hlink"/>
                </a:solidFill>
                <a:latin typeface="Calibri"/>
                <a:ea typeface="Calibri"/>
                <a:cs typeface="Calibri"/>
                <a:sym typeface="Calibri"/>
                <a:hlinkClick r:id="rId5"/>
              </a:rPr>
              <a:t>https://github.com/sgl-project/sglang</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6"/>
              </a:rPr>
              <a:t>https://www.youtube.com/watch?v=MsdZZ-HEUFo</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SGLang is an open source LLM serving engine designed for high performance inference on local hardware. It outperforms alternative engines like llama.cpp and vLLM under heavy multi-user workloads and structured agent tasks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Llama.cpp remains ideal for single-user desktop setups, while vLLM handles workloads without overlapping prompt context</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SGLang delivers up to multi-fold throughput increases for multi-agent applications, chat histories, and schema-constrained tool execution.</a:t>
            </a:r>
            <a:endParaRPr sz="1200">
              <a:solidFill>
                <a:schemeClr val="dk1"/>
              </a:solidFill>
              <a:latin typeface="Calibri"/>
              <a:ea typeface="Calibri"/>
              <a:cs typeface="Calibri"/>
              <a:sym typeface="Calibri"/>
            </a:endParaRPr>
          </a:p>
        </p:txBody>
      </p:sp>
      <p:pic>
        <p:nvPicPr>
          <p:cNvPr id="198" name="Google Shape;198;p29"/>
          <p:cNvPicPr preferRelativeResize="0"/>
          <p:nvPr/>
        </p:nvPicPr>
        <p:blipFill>
          <a:blip r:embed="rId7" cstate="email">
            <a:alphaModFix/>
            <a:extLst>
              <a:ext uri="{28A0092B-C50C-407E-A947-70E740481C1C}">
                <a14:useLocalDpi xmlns:a14="http://schemas.microsoft.com/office/drawing/2010/main"/>
              </a:ext>
            </a:extLst>
          </a:blip>
          <a:stretch>
            <a:fillRect/>
          </a:stretch>
        </p:blipFill>
        <p:spPr>
          <a:xfrm>
            <a:off x="5307001" y="3994854"/>
            <a:ext cx="1775201" cy="540026"/>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02"/>
        <p:cNvGrpSpPr/>
        <p:nvPr/>
      </p:nvGrpSpPr>
      <p:grpSpPr>
        <a:xfrm>
          <a:off x="0" y="0"/>
          <a:ext cx="0" cy="0"/>
          <a:chOff x="0" y="0"/>
          <a:chExt cx="0" cy="0"/>
        </a:xfrm>
      </p:grpSpPr>
      <p:sp>
        <p:nvSpPr>
          <p:cNvPr id="203" name="Google Shape;203;p30"/>
          <p:cNvSpPr txBox="1"/>
          <p:nvPr/>
        </p:nvSpPr>
        <p:spPr>
          <a:xfrm>
            <a:off x="81775" y="8"/>
            <a:ext cx="15510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sp>
        <p:nvSpPr>
          <p:cNvPr id="204" name="Google Shape;204;p30"/>
          <p:cNvSpPr txBox="1"/>
          <p:nvPr/>
        </p:nvSpPr>
        <p:spPr>
          <a:xfrm>
            <a:off x="81775" y="381000"/>
            <a:ext cx="4433100" cy="2235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Andrew NG’s “OpenWorker” - Free Open-Source AI Agent</a:t>
            </a:r>
            <a:endParaRPr sz="1200" b="1">
              <a:solidFill>
                <a:srgbClr val="FF0000"/>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3"/>
              </a:rPr>
              <a:t>https://github.com/andrewyng/openworker</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4"/>
              </a:rPr>
              <a:t>https://openworker.com</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5"/>
              </a:rPr>
              <a:t>https://x.com/AndrewYNg/status/2080333504446108104</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6"/>
              </a:rPr>
              <a:t>https://www.youtube.com/watch?v=5SZMQz-1Pk0</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desktop app, works with local files, terminal commands, browser actions, and external tools. Can  use any model provider (OpenAI, Anthropic, Gemini, DeepSeek, and local Ollama)</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It features predefined agent personas (executive assistant, marketing, and ops coworker) and allows to create custom ones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Safety is prioritized through explicit permission prompts before executing file modifications or external commands, ensuring full user control over automated tasks</a:t>
            </a:r>
            <a:endParaRPr sz="1200">
              <a:solidFill>
                <a:schemeClr val="dk1"/>
              </a:solidFill>
              <a:latin typeface="Calibri"/>
              <a:ea typeface="Calibri"/>
              <a:cs typeface="Calibri"/>
              <a:sym typeface="Calibri"/>
            </a:endParaRPr>
          </a:p>
        </p:txBody>
      </p:sp>
      <p:pic>
        <p:nvPicPr>
          <p:cNvPr id="205" name="Google Shape;205;p30"/>
          <p:cNvPicPr preferRelativeResize="0"/>
          <p:nvPr/>
        </p:nvPicPr>
        <p:blipFill>
          <a:blip r:embed="rId7" cstate="email">
            <a:alphaModFix/>
            <a:extLst>
              <a:ext uri="{28A0092B-C50C-407E-A947-70E740481C1C}">
                <a14:useLocalDpi xmlns:a14="http://schemas.microsoft.com/office/drawing/2010/main"/>
              </a:ext>
            </a:extLst>
          </a:blip>
          <a:stretch>
            <a:fillRect/>
          </a:stretch>
        </p:blipFill>
        <p:spPr>
          <a:xfrm>
            <a:off x="4755575" y="938557"/>
            <a:ext cx="1293750" cy="1293750"/>
          </a:xfrm>
          <a:prstGeom prst="rect">
            <a:avLst/>
          </a:prstGeom>
          <a:noFill/>
          <a:ln w="9525" cap="flat" cmpd="sng">
            <a:solidFill>
              <a:srgbClr val="FF0000"/>
            </a:solidFill>
            <a:prstDash val="solid"/>
            <a:round/>
            <a:headEnd type="none" w="sm" len="sm"/>
            <a:tailEnd type="none" w="sm" len="sm"/>
          </a:ln>
        </p:spPr>
      </p:pic>
      <p:pic>
        <p:nvPicPr>
          <p:cNvPr id="206" name="Google Shape;206;p30"/>
          <p:cNvPicPr preferRelativeResize="0"/>
          <p:nvPr/>
        </p:nvPicPr>
        <p:blipFill>
          <a:blip r:embed="rId8" cstate="email">
            <a:alphaModFix/>
            <a:extLst>
              <a:ext uri="{28A0092B-C50C-407E-A947-70E740481C1C}">
                <a14:useLocalDpi xmlns:a14="http://schemas.microsoft.com/office/drawing/2010/main"/>
              </a:ext>
            </a:extLst>
          </a:blip>
          <a:stretch>
            <a:fillRect/>
          </a:stretch>
        </p:blipFill>
        <p:spPr>
          <a:xfrm>
            <a:off x="4755575" y="390675"/>
            <a:ext cx="1293750" cy="395537"/>
          </a:xfrm>
          <a:prstGeom prst="rect">
            <a:avLst/>
          </a:prstGeom>
          <a:noFill/>
          <a:ln w="9525" cap="flat" cmpd="sng">
            <a:solidFill>
              <a:srgbClr val="FF0000"/>
            </a:solidFill>
            <a:prstDash val="solid"/>
            <a:round/>
            <a:headEnd type="none" w="sm" len="sm"/>
            <a:tailEnd type="none" w="sm" len="sm"/>
          </a:ln>
        </p:spPr>
      </p:pic>
      <p:sp>
        <p:nvSpPr>
          <p:cNvPr id="207" name="Google Shape;207;p30"/>
          <p:cNvSpPr txBox="1"/>
          <p:nvPr/>
        </p:nvSpPr>
        <p:spPr>
          <a:xfrm>
            <a:off x="81775" y="2677350"/>
            <a:ext cx="4758300" cy="2327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Recursive Super Intelligence</a:t>
            </a:r>
            <a:br>
              <a:rPr lang="en" sz="1200" b="1">
                <a:solidFill>
                  <a:srgbClr val="FF0000"/>
                </a:solidFill>
                <a:latin typeface="Calibri"/>
                <a:ea typeface="Calibri"/>
                <a:cs typeface="Calibri"/>
                <a:sym typeface="Calibri"/>
              </a:rPr>
            </a:br>
            <a:r>
              <a:rPr lang="en" sz="1200" b="1">
                <a:solidFill>
                  <a:srgbClr val="FF0000"/>
                </a:solidFill>
                <a:latin typeface="Calibri"/>
                <a:ea typeface="Calibri"/>
                <a:cs typeface="Calibri"/>
                <a:sym typeface="Calibri"/>
              </a:rPr>
              <a:t>AI startup by Richard Socher </a:t>
            </a:r>
            <a:endParaRPr sz="1200" b="1">
              <a:solidFill>
                <a:srgbClr val="FF0000"/>
              </a:solidFill>
              <a:latin typeface="Calibri"/>
              <a:ea typeface="Calibri"/>
              <a:cs typeface="Calibri"/>
              <a:sym typeface="Calibri"/>
            </a:endParaRPr>
          </a:p>
          <a:p>
            <a:pPr marL="171450" marR="0" lvl="0" indent="-114300" algn="l" rtl="0">
              <a:lnSpc>
                <a:spcPct val="100000"/>
              </a:lnSpc>
              <a:spcBef>
                <a:spcPts val="0"/>
              </a:spcBef>
              <a:spcAft>
                <a:spcPts val="0"/>
              </a:spcAft>
              <a:buSzPts val="900"/>
              <a:buFont typeface="Calibri"/>
              <a:buChar char="●"/>
            </a:pPr>
            <a:r>
              <a:rPr lang="en" sz="900" u="sng">
                <a:solidFill>
                  <a:schemeClr val="hlink"/>
                </a:solidFill>
                <a:latin typeface="Calibri"/>
                <a:ea typeface="Calibri"/>
                <a:cs typeface="Calibri"/>
                <a:sym typeface="Calibri"/>
                <a:hlinkClick r:id="rId9"/>
              </a:rPr>
              <a:t>https://www.recursive.com</a:t>
            </a:r>
            <a:r>
              <a:rPr lang="en" sz="900">
                <a:latin typeface="Calibri"/>
                <a:ea typeface="Calibri"/>
                <a:cs typeface="Calibri"/>
                <a:sym typeface="Calibri"/>
              </a:rPr>
              <a:t> </a:t>
            </a:r>
            <a:br>
              <a:rPr lang="en" sz="900">
                <a:latin typeface="Calibri"/>
                <a:ea typeface="Calibri"/>
                <a:cs typeface="Calibri"/>
                <a:sym typeface="Calibri"/>
              </a:rPr>
            </a:br>
            <a:r>
              <a:rPr lang="en" sz="900" u="sng">
                <a:solidFill>
                  <a:schemeClr val="hlink"/>
                </a:solidFill>
                <a:latin typeface="Calibri"/>
                <a:ea typeface="Calibri"/>
                <a:cs typeface="Calibri"/>
                <a:sym typeface="Calibri"/>
                <a:hlinkClick r:id="rId10"/>
              </a:rPr>
              <a:t>https://github.com/recursive-org/first-steps-toward-automated-ai-research</a:t>
            </a:r>
            <a:r>
              <a:rPr lang="en" sz="900">
                <a:latin typeface="Calibri"/>
                <a:ea typeface="Calibri"/>
                <a:cs typeface="Calibri"/>
                <a:sym typeface="Calibri"/>
              </a:rPr>
              <a:t> </a:t>
            </a:r>
            <a:endParaRPr sz="9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Builds </a:t>
            </a:r>
            <a:r>
              <a:rPr lang="en" sz="1200" b="1">
                <a:solidFill>
                  <a:srgbClr val="FF0000"/>
                </a:solidFill>
                <a:latin typeface="Calibri"/>
                <a:ea typeface="Calibri"/>
                <a:cs typeface="Calibri"/>
                <a:sym typeface="Calibri"/>
              </a:rPr>
              <a:t>open-ended, self-improving AI systems </a:t>
            </a:r>
            <a:r>
              <a:rPr lang="en" sz="1200">
                <a:latin typeface="Calibri"/>
                <a:ea typeface="Calibri"/>
                <a:cs typeface="Calibri"/>
                <a:sym typeface="Calibri"/>
              </a:rPr>
              <a:t>that can automate the full research loop: idea generation, implementation, and validation</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11"/>
              </a:rPr>
              <a:t>https://www.anthropic.com/institute/recursive-self-improvement</a:t>
            </a:r>
            <a:r>
              <a:rPr lang="en" sz="1200">
                <a:latin typeface="Calibri"/>
                <a:ea typeface="Calibri"/>
                <a:cs typeface="Calibri"/>
                <a:sym typeface="Calibri"/>
              </a:rPr>
              <a:t> </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It is led by Richard Socher and other researchers from DeepMind, OpenAI, Meta, and Google, and is focused first on AI science itself. </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It signs a $410 Mln cloud compute deal with AWS to scale</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It raised more than $650 Mln at $4 Bln valuation while still in a research-stage effort</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12"/>
              </a:rPr>
              <a:t>https://www.youtube.com/watch?v=PMCBt-4b0Nc</a:t>
            </a:r>
            <a:endParaRPr sz="1200">
              <a:latin typeface="Calibri"/>
              <a:ea typeface="Calibri"/>
              <a:cs typeface="Calibri"/>
              <a:sym typeface="Calibri"/>
            </a:endParaRPr>
          </a:p>
        </p:txBody>
      </p:sp>
      <p:pic>
        <p:nvPicPr>
          <p:cNvPr id="208" name="Google Shape;208;p30"/>
          <p:cNvPicPr preferRelativeResize="0"/>
          <p:nvPr/>
        </p:nvPicPr>
        <p:blipFill>
          <a:blip r:embed="rId13" cstate="email">
            <a:alphaModFix/>
            <a:extLst>
              <a:ext uri="{28A0092B-C50C-407E-A947-70E740481C1C}">
                <a14:useLocalDpi xmlns:a14="http://schemas.microsoft.com/office/drawing/2010/main"/>
              </a:ext>
            </a:extLst>
          </a:blip>
          <a:stretch>
            <a:fillRect/>
          </a:stretch>
        </p:blipFill>
        <p:spPr>
          <a:xfrm>
            <a:off x="5045725" y="2677349"/>
            <a:ext cx="1293750" cy="1307722"/>
          </a:xfrm>
          <a:prstGeom prst="rect">
            <a:avLst/>
          </a:prstGeom>
          <a:noFill/>
          <a:ln w="9525" cap="flat" cmpd="sng">
            <a:solidFill>
              <a:srgbClr val="FF0000"/>
            </a:solidFill>
            <a:prstDash val="solid"/>
            <a:round/>
            <a:headEnd type="none" w="sm" len="sm"/>
            <a:tailEnd type="none" w="sm" len="sm"/>
          </a:ln>
        </p:spPr>
      </p:pic>
      <p:sp>
        <p:nvSpPr>
          <p:cNvPr id="209" name="Google Shape;209;p30"/>
          <p:cNvSpPr txBox="1"/>
          <p:nvPr/>
        </p:nvSpPr>
        <p:spPr>
          <a:xfrm>
            <a:off x="4979775" y="4062750"/>
            <a:ext cx="3513600" cy="942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Richard Socher is an AI entrepreneur and researcher</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Known for work in NLP and deep learning</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Currently leads Recursive and </a:t>
            </a:r>
            <a:r>
              <a:rPr lang="en" sz="1200" u="sng">
                <a:solidFill>
                  <a:schemeClr val="hlink"/>
                </a:solidFill>
                <a:latin typeface="Calibri"/>
                <a:ea typeface="Calibri"/>
                <a:cs typeface="Calibri"/>
                <a:sym typeface="Calibri"/>
                <a:hlinkClick r:id="rId14"/>
              </a:rPr>
              <a:t>you.com</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15"/>
              </a:rPr>
              <a:t>https://www.linkedin.com/in/richardsocher</a:t>
            </a:r>
            <a:r>
              <a:rPr lang="en" sz="1200">
                <a:latin typeface="Calibri"/>
                <a:ea typeface="Calibri"/>
                <a:cs typeface="Calibri"/>
                <a:sym typeface="Calibri"/>
              </a:rPr>
              <a:t> </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16"/>
              </a:rPr>
              <a:t>https://socher.org</a:t>
            </a:r>
            <a:r>
              <a:rPr lang="en" sz="1200">
                <a:latin typeface="Calibri"/>
                <a:ea typeface="Calibri"/>
                <a:cs typeface="Calibri"/>
                <a:sym typeface="Calibri"/>
              </a:rPr>
              <a:t> </a:t>
            </a:r>
            <a:endParaRPr sz="1200">
              <a:latin typeface="Calibri"/>
              <a:ea typeface="Calibri"/>
              <a:cs typeface="Calibri"/>
              <a:sym typeface="Calibri"/>
            </a:endParaRPr>
          </a:p>
        </p:txBody>
      </p:sp>
      <p:sp>
        <p:nvSpPr>
          <p:cNvPr id="210" name="Google Shape;210;p30"/>
          <p:cNvSpPr txBox="1"/>
          <p:nvPr/>
        </p:nvSpPr>
        <p:spPr>
          <a:xfrm>
            <a:off x="6153525" y="938550"/>
            <a:ext cx="2907000" cy="1311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SzPts val="1200"/>
              <a:buFont typeface="Calibri"/>
              <a:buChar char="●"/>
            </a:pPr>
            <a:r>
              <a:rPr lang="en" sz="1200" b="1">
                <a:solidFill>
                  <a:srgbClr val="FF0000"/>
                </a:solidFill>
                <a:latin typeface="Calibri"/>
                <a:ea typeface="Calibri"/>
                <a:cs typeface="Calibri"/>
                <a:sym typeface="Calibri"/>
              </a:rPr>
              <a:t>Andrew Ng is a leading AI researcher and entrepreneur </a:t>
            </a:r>
            <a:r>
              <a:rPr lang="en" sz="1200">
                <a:latin typeface="Calibri"/>
                <a:ea typeface="Calibri"/>
                <a:cs typeface="Calibri"/>
                <a:sym typeface="Calibri"/>
              </a:rPr>
              <a:t>who helped popularize machine learning through Google Brain, Baidu, Coursera, and DeepLearning.AI</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He is especially known for making AI education widely accessible and for shaping modern practical machine learning</a:t>
            </a:r>
            <a:endParaRPr sz="1200">
              <a:latin typeface="Calibri"/>
              <a:ea typeface="Calibri"/>
              <a:cs typeface="Calibri"/>
              <a:sym typeface="Calibri"/>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14"/>
        <p:cNvGrpSpPr/>
        <p:nvPr/>
      </p:nvGrpSpPr>
      <p:grpSpPr>
        <a:xfrm>
          <a:off x="0" y="0"/>
          <a:ext cx="0" cy="0"/>
          <a:chOff x="0" y="0"/>
          <a:chExt cx="0" cy="0"/>
        </a:xfrm>
      </p:grpSpPr>
      <p:sp>
        <p:nvSpPr>
          <p:cNvPr id="215" name="Google Shape;215;p31"/>
          <p:cNvSpPr txBox="1"/>
          <p:nvPr/>
        </p:nvSpPr>
        <p:spPr>
          <a:xfrm>
            <a:off x="81775" y="8"/>
            <a:ext cx="15510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Tasklet</a:t>
            </a:r>
            <a:endParaRPr sz="2000" b="1">
              <a:solidFill>
                <a:schemeClr val="dk1"/>
              </a:solidFill>
              <a:latin typeface="Calibri"/>
              <a:ea typeface="Calibri"/>
              <a:cs typeface="Calibri"/>
              <a:sym typeface="Calibri"/>
            </a:endParaRPr>
          </a:p>
        </p:txBody>
      </p:sp>
      <p:sp>
        <p:nvSpPr>
          <p:cNvPr id="216" name="Google Shape;216;p31"/>
          <p:cNvSpPr txBox="1"/>
          <p:nvPr/>
        </p:nvSpPr>
        <p:spPr>
          <a:xfrm>
            <a:off x="81775" y="387000"/>
            <a:ext cx="4401000" cy="42666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Tasklet - Autonomous AI Agents for Business Workflows</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With cloud sandboxes, browser automation, and broad app connectivity (Trello, Gmail, Slack, and WooCommerce, ...) using direct connections or virtual browser automation</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Founded in 2025 in San Francisco, CA</a:t>
            </a:r>
            <a:br>
              <a:rPr lang="en" sz="1200">
                <a:solidFill>
                  <a:schemeClr val="dk1"/>
                </a:solidFill>
                <a:latin typeface="Calibri"/>
                <a:ea typeface="Calibri"/>
                <a:cs typeface="Calibri"/>
                <a:sym typeface="Calibri"/>
              </a:rPr>
            </a:br>
            <a:r>
              <a:rPr lang="en" sz="1200">
                <a:solidFill>
                  <a:schemeClr val="dk1"/>
                </a:solidFill>
                <a:latin typeface="Calibri"/>
                <a:ea typeface="Calibri"/>
                <a:cs typeface="Calibri"/>
                <a:sym typeface="Calibri"/>
              </a:rPr>
              <a:t>Groth 1,200%, $5M ARR, and a $20M raise at a $175M valuation</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Connects to thousands of integrations, HTTP APIs, MCP servers, browser automation, code execution, and 24/7 triggers</a:t>
            </a:r>
            <a:endParaRPr sz="12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3"/>
              </a:rPr>
              <a:t>https://lessdoing.ai</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4"/>
              </a:rPr>
              <a:t>https://www.ycombinator.com/companies/tasklet-2</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5"/>
              </a:rPr>
              <a:t>https://www.eesel.ai/blog/tasklet-ai-review</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6"/>
              </a:rPr>
              <a:t>https://www.youtube.com/watch?v=84ESgZnmdcc</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Example - AI agent monitors Google Analytics data weekly, recommends actionable website improvements, and deploys changes within minutes upon approval</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Agents execute tasks autonomously through shadow mode validation, transitioning to independent action when confidence thresholds exceed eighty-five percent</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AI customer support agents drastically reduced response times from hours to under forty-four seconds, cutting monthly operating costs significantly</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Multi-agent architectures coordinate complex routines, including content creation, personal logistics, email triage, and automated phone outreach</a:t>
            </a:r>
            <a:endParaRPr sz="1200">
              <a:solidFill>
                <a:schemeClr val="dk1"/>
              </a:solidFill>
              <a:latin typeface="Calibri"/>
              <a:ea typeface="Calibri"/>
              <a:cs typeface="Calibri"/>
              <a:sym typeface="Calibri"/>
            </a:endParaRPr>
          </a:p>
        </p:txBody>
      </p:sp>
      <p:pic>
        <p:nvPicPr>
          <p:cNvPr id="217" name="Google Shape;217;p31"/>
          <p:cNvPicPr preferRelativeResize="0"/>
          <p:nvPr/>
        </p:nvPicPr>
        <p:blipFill>
          <a:blip r:embed="rId7" cstate="email">
            <a:alphaModFix/>
            <a:extLst>
              <a:ext uri="{28A0092B-C50C-407E-A947-70E740481C1C}">
                <a14:useLocalDpi xmlns:a14="http://schemas.microsoft.com/office/drawing/2010/main"/>
              </a:ext>
            </a:extLst>
          </a:blip>
          <a:stretch>
            <a:fillRect/>
          </a:stretch>
        </p:blipFill>
        <p:spPr>
          <a:xfrm>
            <a:off x="4790650" y="2514601"/>
            <a:ext cx="3138376" cy="1646675"/>
          </a:xfrm>
          <a:prstGeom prst="rect">
            <a:avLst/>
          </a:prstGeom>
          <a:noFill/>
          <a:ln w="9525" cap="flat" cmpd="sng">
            <a:solidFill>
              <a:srgbClr val="FF0000"/>
            </a:solidFill>
            <a:prstDash val="solid"/>
            <a:round/>
            <a:headEnd type="none" w="sm" len="sm"/>
            <a:tailEnd type="none" w="sm" len="sm"/>
          </a:ln>
        </p:spPr>
      </p:pic>
      <p:pic>
        <p:nvPicPr>
          <p:cNvPr id="218" name="Google Shape;218;p31"/>
          <p:cNvPicPr preferRelativeResize="0"/>
          <p:nvPr/>
        </p:nvPicPr>
        <p:blipFill>
          <a:blip r:embed="rId8" cstate="email">
            <a:alphaModFix/>
            <a:extLst>
              <a:ext uri="{28A0092B-C50C-407E-A947-70E740481C1C}">
                <a14:useLocalDpi xmlns:a14="http://schemas.microsoft.com/office/drawing/2010/main"/>
              </a:ext>
            </a:extLst>
          </a:blip>
          <a:stretch>
            <a:fillRect/>
          </a:stretch>
        </p:blipFill>
        <p:spPr>
          <a:xfrm>
            <a:off x="4790650" y="438825"/>
            <a:ext cx="1217850" cy="1217850"/>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22"/>
        <p:cNvGrpSpPr/>
        <p:nvPr/>
      </p:nvGrpSpPr>
      <p:grpSpPr>
        <a:xfrm>
          <a:off x="0" y="0"/>
          <a:ext cx="0" cy="0"/>
          <a:chOff x="0" y="0"/>
          <a:chExt cx="0" cy="0"/>
        </a:xfrm>
      </p:grpSpPr>
      <p:sp>
        <p:nvSpPr>
          <p:cNvPr id="223" name="Google Shape;223;p32"/>
          <p:cNvSpPr txBox="1"/>
          <p:nvPr/>
        </p:nvSpPr>
        <p:spPr>
          <a:xfrm>
            <a:off x="81775" y="8"/>
            <a:ext cx="15510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sp>
        <p:nvSpPr>
          <p:cNvPr id="224" name="Google Shape;224;p32"/>
          <p:cNvSpPr txBox="1"/>
          <p:nvPr/>
        </p:nvSpPr>
        <p:spPr>
          <a:xfrm>
            <a:off x="81775" y="387000"/>
            <a:ext cx="5412300" cy="21426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AI Prototyping Over Upfront Specs - by Matt Pocock</a:t>
            </a:r>
            <a:endParaRPr sz="1200" b="1">
              <a:solidFill>
                <a:srgbClr val="FF0000"/>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3"/>
              </a:rPr>
              <a:t>https://aihero.dev</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4"/>
              </a:rPr>
              <a:t>https://github.com/mattpocock/skills</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5"/>
              </a:rPr>
              <a:t>https://www.youtube.com/watch?v=n0VhIVtviC0</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Creating final specs may be more effective if we first prototype parts of the solution</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Semi-working code or UI logic helps engineers visualize behavior and make clearer product decisions (Raising conversation fidelity)</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Prototyping offer throwaway code that helps consider variants to answer key design and functional questions quickly at low cost</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The prototype skill - a crucial part of larger workflows like wayfinder to break big tasks into structured planning sessions.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Developers can iterate directly on running prototypes with agents before passing mature throwaway code off for final implementation into production.</a:t>
            </a:r>
            <a:endParaRPr sz="1100">
              <a:solidFill>
                <a:schemeClr val="dk1"/>
              </a:solidFill>
              <a:latin typeface="Calibri"/>
              <a:ea typeface="Calibri"/>
              <a:cs typeface="Calibri"/>
              <a:sym typeface="Calibri"/>
            </a:endParaRPr>
          </a:p>
        </p:txBody>
      </p:sp>
      <p:pic>
        <p:nvPicPr>
          <p:cNvPr id="225" name="Google Shape;225;p32"/>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5887650" y="474075"/>
            <a:ext cx="1998149" cy="1968450"/>
          </a:xfrm>
          <a:prstGeom prst="rect">
            <a:avLst/>
          </a:prstGeom>
          <a:noFill/>
          <a:ln w="9525" cap="flat" cmpd="sng">
            <a:solidFill>
              <a:srgbClr val="FF0000"/>
            </a:solidFill>
            <a:prstDash val="solid"/>
            <a:round/>
            <a:headEnd type="none" w="sm" len="sm"/>
            <a:tailEnd type="none" w="sm" len="sm"/>
          </a:ln>
        </p:spPr>
      </p:pic>
      <p:sp>
        <p:nvSpPr>
          <p:cNvPr id="226" name="Google Shape;226;p32"/>
          <p:cNvSpPr txBox="1"/>
          <p:nvPr/>
        </p:nvSpPr>
        <p:spPr>
          <a:xfrm>
            <a:off x="81775" y="2590200"/>
            <a:ext cx="5412300" cy="2311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Trend - from Serverless to Monoliths</a:t>
            </a:r>
            <a:endParaRPr sz="1200" b="1">
              <a:solidFill>
                <a:srgbClr val="FF0000"/>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7"/>
              </a:rPr>
              <a:t>https://kamal-deploy.org</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8"/>
              </a:rPr>
              <a:t>https://github.com/basecamp/kamal</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9"/>
              </a:rPr>
              <a:t>https://www.youtube.com/watch?v=Yu1ECFDoaL8</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Amazon Prime Video, Basecamp, and Geico are shifting workloads from serverless architectures back to traditional dedicated servers and monolithic systems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While serverless excels for unpredictable, spiky workloads, utilizing dedicated servers for predictable baseline traffic provides maximum cost efficiency and reliability</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For example, Prime Video reduced infrastructure spending by more than 90% and eliminated performance bottlenecks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 Serverless becomes expensive at scale because providers charge per invocation, state transition, memory allocation, log storage, and network transfer. Also has drawbacks like cold start delays, strict execution timeouts, complex vendor lock-in, and microservice management overhead</a:t>
            </a:r>
            <a:endParaRPr sz="1100">
              <a:solidFill>
                <a:schemeClr val="dk1"/>
              </a:solidFill>
              <a:latin typeface="Calibri"/>
              <a:ea typeface="Calibri"/>
              <a:cs typeface="Calibri"/>
              <a:sym typeface="Calibri"/>
            </a:endParaRPr>
          </a:p>
        </p:txBody>
      </p:sp>
      <p:pic>
        <p:nvPicPr>
          <p:cNvPr id="227" name="Google Shape;227;p32"/>
          <p:cNvPicPr preferRelativeResize="0"/>
          <p:nvPr/>
        </p:nvPicPr>
        <p:blipFill>
          <a:blip r:embed="rId10" cstate="email">
            <a:alphaModFix/>
            <a:extLst>
              <a:ext uri="{28A0092B-C50C-407E-A947-70E740481C1C}">
                <a14:useLocalDpi xmlns:a14="http://schemas.microsoft.com/office/drawing/2010/main"/>
              </a:ext>
            </a:extLst>
          </a:blip>
          <a:stretch>
            <a:fillRect/>
          </a:stretch>
        </p:blipFill>
        <p:spPr>
          <a:xfrm>
            <a:off x="5813475" y="2964823"/>
            <a:ext cx="2820251" cy="156255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31"/>
        <p:cNvGrpSpPr/>
        <p:nvPr/>
      </p:nvGrpSpPr>
      <p:grpSpPr>
        <a:xfrm>
          <a:off x="0" y="0"/>
          <a:ext cx="0" cy="0"/>
          <a:chOff x="0" y="0"/>
          <a:chExt cx="0" cy="0"/>
        </a:xfrm>
      </p:grpSpPr>
      <p:sp>
        <p:nvSpPr>
          <p:cNvPr id="232" name="Google Shape;232;p33"/>
          <p:cNvSpPr txBox="1"/>
          <p:nvPr/>
        </p:nvSpPr>
        <p:spPr>
          <a:xfrm>
            <a:off x="81775" y="0"/>
            <a:ext cx="21627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Grok Build CLI</a:t>
            </a:r>
            <a:endParaRPr sz="2000" b="1">
              <a:solidFill>
                <a:schemeClr val="dk1"/>
              </a:solidFill>
              <a:latin typeface="Calibri"/>
              <a:ea typeface="Calibri"/>
              <a:cs typeface="Calibri"/>
              <a:sym typeface="Calibri"/>
            </a:endParaRPr>
          </a:p>
        </p:txBody>
      </p:sp>
      <p:sp>
        <p:nvSpPr>
          <p:cNvPr id="233" name="Google Shape;233;p33"/>
          <p:cNvSpPr txBox="1"/>
          <p:nvPr/>
        </p:nvSpPr>
        <p:spPr>
          <a:xfrm>
            <a:off x="81775" y="387000"/>
            <a:ext cx="4452000" cy="3528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Grok Build CLI - Architecture &amp; Open Source</a:t>
            </a:r>
            <a:endParaRPr sz="1200" b="1">
              <a:solidFill>
                <a:srgbClr val="FF0000"/>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3"/>
              </a:rPr>
              <a:t>https://x.ai/cli</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4"/>
              </a:rPr>
              <a:t>https://github.com/xai-org/grok-build</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5"/>
              </a:rPr>
              <a:t>https://x.ai/news/grok-build-open-source</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6"/>
              </a:rPr>
              <a:t>https://www.youtube.com/watch?v=qhV7NFYJXi4</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Grok Build CLI</a:t>
            </a:r>
            <a:r>
              <a:rPr lang="en" sz="1200">
                <a:solidFill>
                  <a:schemeClr val="dk1"/>
                </a:solidFill>
                <a:latin typeface="Calibri"/>
                <a:ea typeface="Calibri"/>
                <a:cs typeface="Calibri"/>
                <a:sym typeface="Calibri"/>
              </a:rPr>
              <a:t> - a terminal-based AI coding agent written in Rust, ~250K lines of code, 79 crates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It was open-sourced under the Apache 2.0 license following a privacy controversy involving unintended cloud data uploads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system uses an actor model on Tokio runtime, giving each session isolated execution with crash-resilient leader daemon state replay</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Security is enforced at the kernel level using Landlock on Linux and Seatbelt on macOS for unalterable file path sandboxing</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Context management features concise tool outputs up front, semantic session chaptering, and prompt-level snapshot undo capabilities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It supports parallel subagent orchestration across isolated worktrees, flexible deployment modes, and open model compatibility</a:t>
            </a:r>
            <a:endParaRPr sz="1200">
              <a:solidFill>
                <a:schemeClr val="dk1"/>
              </a:solidFill>
              <a:latin typeface="Calibri"/>
              <a:ea typeface="Calibri"/>
              <a:cs typeface="Calibri"/>
              <a:sym typeface="Calibri"/>
            </a:endParaRPr>
          </a:p>
        </p:txBody>
      </p:sp>
      <p:pic>
        <p:nvPicPr>
          <p:cNvPr id="234" name="Google Shape;234;p33"/>
          <p:cNvPicPr preferRelativeResize="0"/>
          <p:nvPr/>
        </p:nvPicPr>
        <p:blipFill>
          <a:blip r:embed="rId7" cstate="email">
            <a:alphaModFix/>
            <a:extLst>
              <a:ext uri="{28A0092B-C50C-407E-A947-70E740481C1C}">
                <a14:useLocalDpi xmlns:a14="http://schemas.microsoft.com/office/drawing/2010/main"/>
              </a:ext>
            </a:extLst>
          </a:blip>
          <a:stretch>
            <a:fillRect/>
          </a:stretch>
        </p:blipFill>
        <p:spPr>
          <a:xfrm>
            <a:off x="4606750" y="387012"/>
            <a:ext cx="3602150" cy="1775325"/>
          </a:xfrm>
          <a:prstGeom prst="rect">
            <a:avLst/>
          </a:prstGeom>
          <a:noFill/>
          <a:ln w="9525" cap="flat" cmpd="sng">
            <a:solidFill>
              <a:srgbClr val="FF0000"/>
            </a:solidFill>
            <a:prstDash val="solid"/>
            <a:round/>
            <a:headEnd type="none" w="sm" len="sm"/>
            <a:tailEnd type="none" w="sm" len="sm"/>
          </a:ln>
        </p:spPr>
      </p:pic>
      <p:sp>
        <p:nvSpPr>
          <p:cNvPr id="235" name="Google Shape;235;p33"/>
          <p:cNvSpPr txBox="1"/>
          <p:nvPr/>
        </p:nvSpPr>
        <p:spPr>
          <a:xfrm>
            <a:off x="4606746" y="2445992"/>
            <a:ext cx="4452000" cy="1727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Grok Build CLI</a:t>
            </a:r>
            <a:r>
              <a:rPr lang="en" sz="1200">
                <a:solidFill>
                  <a:schemeClr val="dk1"/>
                </a:solidFill>
                <a:latin typeface="Calibri"/>
                <a:ea typeface="Calibri"/>
                <a:cs typeface="Calibri"/>
                <a:sym typeface="Calibri"/>
              </a:rPr>
              <a:t> - native multi-agent parallel execution, runs multiple isolated agents in separate Git worktrees, so several tasks can proceed in parallel without colliding; Concurrent feature work, file editing, command execution, and fast terminal-native coding loops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Claude Code </a:t>
            </a:r>
            <a:r>
              <a:rPr lang="en" sz="1200">
                <a:solidFill>
                  <a:schemeClr val="dk1"/>
                </a:solidFill>
                <a:latin typeface="Calibri"/>
                <a:ea typeface="Calibri"/>
                <a:cs typeface="Calibri"/>
                <a:sym typeface="Calibri"/>
              </a:rPr>
              <a:t>- deep single-agent coding assistance, stronger for complex repo understanding, structured reasoning, and instruction-following on large codebases</a:t>
            </a:r>
            <a:endParaRPr sz="12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8"/>
              </a:rPr>
              <a:t>https://www.eigent.ai/blog/grok-build-cli</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9"/>
              </a:rPr>
              <a:t>https://www.vellum.ai/blog/is-grok-better-than-claude</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10"/>
              </a:rPr>
              <a:t>https://www.youtube.com/watch?v=eywMLit-9G8</a:t>
            </a:r>
            <a:endParaRPr sz="900">
              <a:solidFill>
                <a:schemeClr val="dk1"/>
              </a:solidFill>
              <a:latin typeface="Calibri"/>
              <a:ea typeface="Calibri"/>
              <a:cs typeface="Calibri"/>
              <a:sym typeface="Calibri"/>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39"/>
        <p:cNvGrpSpPr/>
        <p:nvPr/>
      </p:nvGrpSpPr>
      <p:grpSpPr>
        <a:xfrm>
          <a:off x="0" y="0"/>
          <a:ext cx="0" cy="0"/>
          <a:chOff x="0" y="0"/>
          <a:chExt cx="0" cy="0"/>
        </a:xfrm>
      </p:grpSpPr>
      <p:sp>
        <p:nvSpPr>
          <p:cNvPr id="240" name="Google Shape;240;p34"/>
          <p:cNvSpPr txBox="1"/>
          <p:nvPr/>
        </p:nvSpPr>
        <p:spPr>
          <a:xfrm>
            <a:off x="81775" y="8"/>
            <a:ext cx="15510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sp>
        <p:nvSpPr>
          <p:cNvPr id="241" name="Google Shape;241;p34"/>
          <p:cNvSpPr txBox="1"/>
          <p:nvPr/>
        </p:nvSpPr>
        <p:spPr>
          <a:xfrm>
            <a:off x="81775" y="387010"/>
            <a:ext cx="4368300" cy="2696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Claude Fable 5 Disproves Jacobian Conjecture for 3+ dim cases</a:t>
            </a:r>
            <a:br>
              <a:rPr lang="en" sz="1200">
                <a:solidFill>
                  <a:schemeClr val="dk1"/>
                </a:solidFill>
                <a:latin typeface="Calibri"/>
                <a:ea typeface="Calibri"/>
                <a:cs typeface="Calibri"/>
                <a:sym typeface="Calibri"/>
              </a:rPr>
            </a:br>
            <a:r>
              <a:rPr lang="en" sz="1200">
                <a:solidFill>
                  <a:schemeClr val="dk1"/>
                </a:solidFill>
                <a:latin typeface="Calibri"/>
                <a:ea typeface="Calibri"/>
                <a:cs typeface="Calibri"/>
                <a:sym typeface="Calibri"/>
              </a:rPr>
              <a:t>(Note - The 2-variable case remains open)</a:t>
            </a:r>
            <a:endParaRPr sz="12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3"/>
              </a:rPr>
              <a:t>https://www.datacamp.com/blog/claude-fable-5-jacobian-conjecture</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4"/>
              </a:rPr>
              <a:t>https://www.youtube.com/watch?v=btBE0ikzymc</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Anthropic researcher Levent Alpoge announced that Claude Fable 5 discovered a counterexample disproving the 87-year-old Jacobian conjecture in mathematics.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conjecture, proposed by Ott-Heinrich Keller in 1939, asked whether polynomial transformations with a constant non-zero Jacobian determinant are always globally invertible.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Claude generated a specific polynomial transformation in three variables with a constant determinant that maps three distinct input points to the same output.</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Mathematicians verified the formula by hand, confirming it breaks the general conjecture for dimension three and higher</a:t>
            </a:r>
            <a:endParaRPr sz="1200">
              <a:solidFill>
                <a:schemeClr val="dk1"/>
              </a:solidFill>
              <a:latin typeface="Calibri"/>
              <a:ea typeface="Calibri"/>
              <a:cs typeface="Calibri"/>
              <a:sym typeface="Calibri"/>
            </a:endParaRPr>
          </a:p>
        </p:txBody>
      </p:sp>
      <p:pic>
        <p:nvPicPr>
          <p:cNvPr id="242" name="Google Shape;242;p34"/>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4733975" y="594650"/>
            <a:ext cx="2928725" cy="2106700"/>
          </a:xfrm>
          <a:prstGeom prst="rect">
            <a:avLst/>
          </a:prstGeom>
          <a:noFill/>
          <a:ln w="9525" cap="flat" cmpd="sng">
            <a:solidFill>
              <a:srgbClr val="FF0000"/>
            </a:solidFill>
            <a:prstDash val="solid"/>
            <a:round/>
            <a:headEnd type="none" w="sm" len="sm"/>
            <a:tailEnd type="none" w="sm" len="sm"/>
          </a:ln>
        </p:spPr>
      </p:pic>
      <p:sp>
        <p:nvSpPr>
          <p:cNvPr id="243" name="Google Shape;243;p34"/>
          <p:cNvSpPr txBox="1"/>
          <p:nvPr/>
        </p:nvSpPr>
        <p:spPr>
          <a:xfrm>
            <a:off x="81775" y="3144310"/>
            <a:ext cx="4368300" cy="1834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The Buzz platform Demo - very Exciting!</a:t>
            </a:r>
            <a:br>
              <a:rPr lang="en" sz="1200">
                <a:solidFill>
                  <a:schemeClr val="dk1"/>
                </a:solidFill>
                <a:latin typeface="Calibri"/>
                <a:ea typeface="Calibri"/>
                <a:cs typeface="Calibri"/>
                <a:sym typeface="Calibri"/>
              </a:rPr>
            </a:br>
            <a:r>
              <a:rPr lang="en" sz="900" u="sng">
                <a:solidFill>
                  <a:schemeClr val="hlink"/>
                </a:solidFill>
                <a:latin typeface="Calibri"/>
                <a:ea typeface="Calibri"/>
                <a:cs typeface="Calibri"/>
                <a:sym typeface="Calibri"/>
                <a:hlinkClick r:id="rId6"/>
              </a:rPr>
              <a:t>https://www.youtube.com/watch?v=PRBbMBN9l04</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Buzz is an open-source collaboration workspace from Block, led by Jack Dorsey (Twitter, Block), built on Nostr. </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It combines team communication, code-related collaboration, and AI-agent workflows, and Block describes it as model-agnostic and self-hostable</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b="1">
                <a:solidFill>
                  <a:srgbClr val="3C78D8"/>
                </a:solidFill>
                <a:latin typeface="Calibri"/>
                <a:ea typeface="Calibri"/>
                <a:cs typeface="Calibri"/>
                <a:sym typeface="Calibri"/>
              </a:rPr>
              <a:t>Nostr (Notes and Other Stuff Transmitted by Relays)</a:t>
            </a:r>
            <a:r>
              <a:rPr lang="en" sz="1100">
                <a:solidFill>
                  <a:schemeClr val="dk1"/>
                </a:solidFill>
                <a:latin typeface="Calibri"/>
                <a:ea typeface="Calibri"/>
                <a:cs typeface="Calibri"/>
                <a:sym typeface="Calibri"/>
              </a:rPr>
              <a:t> - an open, decentralized network protocol designed to create social platforms, messaging systems, and collaborative workspaces</a:t>
            </a:r>
            <a:endParaRPr sz="11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7"/>
              </a:rPr>
              <a:t>https://github.com/nostr-protocol</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p:txBody>
      </p:sp>
      <p:pic>
        <p:nvPicPr>
          <p:cNvPr id="244" name="Google Shape;244;p34"/>
          <p:cNvPicPr preferRelativeResize="0"/>
          <p:nvPr/>
        </p:nvPicPr>
        <p:blipFill>
          <a:blip r:embed="rId8" cstate="email">
            <a:alphaModFix/>
            <a:extLst>
              <a:ext uri="{28A0092B-C50C-407E-A947-70E740481C1C}">
                <a14:useLocalDpi xmlns:a14="http://schemas.microsoft.com/office/drawing/2010/main"/>
              </a:ext>
            </a:extLst>
          </a:blip>
          <a:stretch>
            <a:fillRect/>
          </a:stretch>
        </p:blipFill>
        <p:spPr>
          <a:xfrm>
            <a:off x="4566625" y="3144300"/>
            <a:ext cx="1983601" cy="1060900"/>
          </a:xfrm>
          <a:prstGeom prst="rect">
            <a:avLst/>
          </a:prstGeom>
          <a:noFill/>
          <a:ln w="9525" cap="flat" cmpd="sng">
            <a:solidFill>
              <a:srgbClr val="FF0000"/>
            </a:solidFill>
            <a:prstDash val="solid"/>
            <a:round/>
            <a:headEnd type="none" w="sm" len="sm"/>
            <a:tailEnd type="none" w="sm" len="sm"/>
          </a:ln>
        </p:spPr>
      </p:pic>
      <p:pic>
        <p:nvPicPr>
          <p:cNvPr id="245" name="Google Shape;245;p34"/>
          <p:cNvPicPr preferRelativeResize="0"/>
          <p:nvPr/>
        </p:nvPicPr>
        <p:blipFill>
          <a:blip r:embed="rId9" cstate="email">
            <a:alphaModFix/>
            <a:extLst>
              <a:ext uri="{28A0092B-C50C-407E-A947-70E740481C1C}">
                <a14:useLocalDpi xmlns:a14="http://schemas.microsoft.com/office/drawing/2010/main"/>
              </a:ext>
            </a:extLst>
          </a:blip>
          <a:stretch>
            <a:fillRect/>
          </a:stretch>
        </p:blipFill>
        <p:spPr>
          <a:xfrm>
            <a:off x="6666776" y="3144300"/>
            <a:ext cx="2288974" cy="2000774"/>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249"/>
        <p:cNvGrpSpPr/>
        <p:nvPr/>
      </p:nvGrpSpPr>
      <p:grpSpPr>
        <a:xfrm>
          <a:off x="0" y="0"/>
          <a:ext cx="0" cy="0"/>
          <a:chOff x="0" y="0"/>
          <a:chExt cx="0" cy="0"/>
        </a:xfrm>
      </p:grpSpPr>
      <p:sp>
        <p:nvSpPr>
          <p:cNvPr id="250" name="Google Shape;250;p35"/>
          <p:cNvSpPr txBox="1"/>
          <p:nvPr/>
        </p:nvSpPr>
        <p:spPr>
          <a:xfrm>
            <a:off x="81775" y="8"/>
            <a:ext cx="15510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sp>
        <p:nvSpPr>
          <p:cNvPr id="251" name="Google Shape;251;p35"/>
          <p:cNvSpPr txBox="1"/>
          <p:nvPr/>
        </p:nvSpPr>
        <p:spPr>
          <a:xfrm>
            <a:off x="81775" y="387000"/>
            <a:ext cx="4377300" cy="1650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Google updated the OKF Open Knowledge Format to version 0.2</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Version 0.2 adds essential metadata fields:</a:t>
            </a:r>
            <a:endParaRPr sz="1200">
              <a:solidFill>
                <a:schemeClr val="dk1"/>
              </a:solidFill>
              <a:latin typeface="Calibri"/>
              <a:ea typeface="Calibri"/>
              <a:cs typeface="Calibri"/>
              <a:sym typeface="Calibri"/>
            </a:endParaRPr>
          </a:p>
          <a:p>
            <a:pPr marL="342900" marR="0" lvl="0" indent="-133350" algn="l" rtl="0">
              <a:lnSpc>
                <a:spcPct val="100000"/>
              </a:lnSpc>
              <a:spcBef>
                <a:spcPts val="0"/>
              </a:spcBef>
              <a:spcAft>
                <a:spcPts val="0"/>
              </a:spcAft>
              <a:buClr>
                <a:schemeClr val="dk1"/>
              </a:buClr>
              <a:buSzPts val="1200"/>
              <a:buFont typeface="Calibri"/>
              <a:buChar char="●"/>
            </a:pPr>
            <a:r>
              <a:rPr lang="en" sz="1100" b="1">
                <a:solidFill>
                  <a:srgbClr val="3C78D8"/>
                </a:solidFill>
                <a:latin typeface="Roboto Mono"/>
                <a:ea typeface="Roboto Mono"/>
                <a:cs typeface="Roboto Mono"/>
                <a:sym typeface="Roboto Mono"/>
              </a:rPr>
              <a:t>sources; author; usage_count; last_modified; </a:t>
            </a:r>
            <a:r>
              <a:rPr lang="en" sz="1100" b="1">
                <a:solidFill>
                  <a:srgbClr val="3C78D8"/>
                </a:solidFill>
                <a:uFill>
                  <a:noFill/>
                </a:uFill>
                <a:latin typeface="Roboto Mono"/>
                <a:ea typeface="Roboto Mono"/>
                <a:cs typeface="Roboto Mono"/>
                <a:sym typeface="Roboto Mono"/>
                <a:hlinkClick r:id="rId3">
                  <a:extLst>
                    <a:ext uri="{A12FA001-AC4F-418D-AE19-62706E023703}">
                      <ahyp:hlinkClr xmlns:ahyp="http://schemas.microsoft.com/office/drawing/2018/hyperlinkcolor" val="tx"/>
                    </a:ext>
                  </a:extLst>
                </a:hlinkClick>
              </a:rPr>
              <a:t>generated.by</a:t>
            </a:r>
            <a:r>
              <a:rPr lang="en" sz="1100" b="1">
                <a:solidFill>
                  <a:srgbClr val="3C78D8"/>
                </a:solidFill>
                <a:latin typeface="Roboto Mono"/>
                <a:ea typeface="Roboto Mono"/>
                <a:cs typeface="Roboto Mono"/>
                <a:sym typeface="Roboto Mono"/>
              </a:rPr>
              <a:t>; </a:t>
            </a:r>
            <a:r>
              <a:rPr lang="en" sz="1100" b="1">
                <a:solidFill>
                  <a:srgbClr val="3C78D8"/>
                </a:solidFill>
                <a:uFill>
                  <a:noFill/>
                </a:uFill>
                <a:latin typeface="Roboto Mono"/>
                <a:ea typeface="Roboto Mono"/>
                <a:cs typeface="Roboto Mono"/>
                <a:sym typeface="Roboto Mono"/>
                <a:hlinkClick r:id="rId4">
                  <a:extLst>
                    <a:ext uri="{A12FA001-AC4F-418D-AE19-62706E023703}">
                      <ahyp:hlinkClr xmlns:ahyp="http://schemas.microsoft.com/office/drawing/2018/hyperlinkcolor" val="tx"/>
                    </a:ext>
                  </a:extLst>
                </a:hlinkClick>
              </a:rPr>
              <a:t>generated.at</a:t>
            </a:r>
            <a:r>
              <a:rPr lang="en" sz="1100" b="1">
                <a:solidFill>
                  <a:srgbClr val="3C78D8"/>
                </a:solidFill>
                <a:latin typeface="Roboto Mono"/>
                <a:ea typeface="Roboto Mono"/>
                <a:cs typeface="Roboto Mono"/>
                <a:sym typeface="Roboto Mono"/>
              </a:rPr>
              <a:t>; verified; stale_after; status</a:t>
            </a:r>
            <a:endParaRPr sz="1100" b="1">
              <a:solidFill>
                <a:srgbClr val="3C78D8"/>
              </a:solidFill>
              <a:latin typeface="Roboto Mono"/>
              <a:ea typeface="Roboto Mono"/>
              <a:cs typeface="Roboto Mono"/>
              <a:sym typeface="Roboto Mono"/>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New trust tiers, status tags, and freshness rules help agents distinguish active enterprise definitions from deprecated or hallucinated contextual rules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5"/>
              </a:rPr>
              <a:t>https://www.youtube.com/watch?v=S_LZQV0VS8s</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p:txBody>
      </p:sp>
      <p:sp>
        <p:nvSpPr>
          <p:cNvPr id="252" name="Google Shape;252;p35"/>
          <p:cNvSpPr txBox="1"/>
          <p:nvPr/>
        </p:nvSpPr>
        <p:spPr>
          <a:xfrm>
            <a:off x="4687975" y="1560511"/>
            <a:ext cx="4377300" cy="3481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Nativ - a local AI Runner for macOS</a:t>
            </a:r>
            <a:endParaRPr sz="1200" b="1">
              <a:solidFill>
                <a:srgbClr val="FF0000"/>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6"/>
              </a:rPr>
              <a:t>https://blaizzy.github.io/nativ/</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7"/>
              </a:rPr>
              <a:t>https://github.com/Blaizzy/mlx-vlm</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8"/>
              </a:rPr>
              <a:t>https://simonwillison.net/tags/macos/</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9"/>
              </a:rPr>
              <a:t>https://news.ycombinator.com/item?id=48982681</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10"/>
              </a:rPr>
              <a:t>https://www.youtube.com/watch?v=ba0JcPUneJI</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Nativ is a free, open-source MIT-licensed macOS desktop application built by Prince Canuma to run open multimodal AI models locally on Apple Silicon unified memory and the MLX-VLM framework</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High-performance text, image, audio, and video inference without relying on cloud services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Automatic detection of local Hugging Face model caches, real-time performance telemetry like generation speed and thermal state, and native markdown chat rendering.</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Functions as a local API server supporting OpenAI and Anthropic compatible endpoints, enabling integration with coding agents such as Claude Code without incurring token subscription fees.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Designed for total user privacy, offline capability, zero data tracking, and complete hardware utilization across M-series Mac devices.</a:t>
            </a:r>
            <a:endParaRPr sz="1200">
              <a:solidFill>
                <a:schemeClr val="dk1"/>
              </a:solidFill>
              <a:latin typeface="Calibri"/>
              <a:ea typeface="Calibri"/>
              <a:cs typeface="Calibri"/>
              <a:sym typeface="Calibri"/>
            </a:endParaRPr>
          </a:p>
        </p:txBody>
      </p:sp>
      <p:pic>
        <p:nvPicPr>
          <p:cNvPr id="253" name="Google Shape;253;p35"/>
          <p:cNvPicPr preferRelativeResize="0"/>
          <p:nvPr/>
        </p:nvPicPr>
        <p:blipFill>
          <a:blip r:embed="rId11" cstate="email">
            <a:alphaModFix/>
            <a:extLst>
              <a:ext uri="{28A0092B-C50C-407E-A947-70E740481C1C}">
                <a14:useLocalDpi xmlns:a14="http://schemas.microsoft.com/office/drawing/2010/main"/>
              </a:ext>
            </a:extLst>
          </a:blip>
          <a:stretch>
            <a:fillRect/>
          </a:stretch>
        </p:blipFill>
        <p:spPr>
          <a:xfrm>
            <a:off x="4687975" y="132000"/>
            <a:ext cx="2092025" cy="1046025"/>
          </a:xfrm>
          <a:prstGeom prst="rect">
            <a:avLst/>
          </a:prstGeom>
          <a:noFill/>
          <a:ln w="9525" cap="flat" cmpd="sng">
            <a:solidFill>
              <a:srgbClr val="FF0000"/>
            </a:solidFill>
            <a:prstDash val="solid"/>
            <a:round/>
            <a:headEnd type="none" w="sm" len="sm"/>
            <a:tailEnd type="none" w="sm" len="sm"/>
          </a:ln>
        </p:spPr>
      </p:pic>
      <p:pic>
        <p:nvPicPr>
          <p:cNvPr id="254" name="Google Shape;254;p35"/>
          <p:cNvPicPr preferRelativeResize="0"/>
          <p:nvPr/>
        </p:nvPicPr>
        <p:blipFill>
          <a:blip r:embed="rId12" cstate="email">
            <a:alphaModFix/>
            <a:extLst>
              <a:ext uri="{28A0092B-C50C-407E-A947-70E740481C1C}">
                <a14:useLocalDpi xmlns:a14="http://schemas.microsoft.com/office/drawing/2010/main"/>
              </a:ext>
            </a:extLst>
          </a:blip>
          <a:stretch>
            <a:fillRect/>
          </a:stretch>
        </p:blipFill>
        <p:spPr>
          <a:xfrm>
            <a:off x="2367050" y="2832455"/>
            <a:ext cx="2092024" cy="1331292"/>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258"/>
        <p:cNvGrpSpPr/>
        <p:nvPr/>
      </p:nvGrpSpPr>
      <p:grpSpPr>
        <a:xfrm>
          <a:off x="0" y="0"/>
          <a:ext cx="0" cy="0"/>
          <a:chOff x="0" y="0"/>
          <a:chExt cx="0" cy="0"/>
        </a:xfrm>
      </p:grpSpPr>
      <p:sp>
        <p:nvSpPr>
          <p:cNvPr id="259" name="Google Shape;259;p36"/>
          <p:cNvSpPr txBox="1"/>
          <p:nvPr/>
        </p:nvSpPr>
        <p:spPr>
          <a:xfrm>
            <a:off x="81775" y="0"/>
            <a:ext cx="19098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LLM in Rust</a:t>
            </a:r>
            <a:endParaRPr sz="2000" b="1">
              <a:solidFill>
                <a:schemeClr val="dk1"/>
              </a:solidFill>
              <a:latin typeface="Calibri"/>
              <a:ea typeface="Calibri"/>
              <a:cs typeface="Calibri"/>
              <a:sym typeface="Calibri"/>
            </a:endParaRPr>
          </a:p>
        </p:txBody>
      </p:sp>
      <p:sp>
        <p:nvSpPr>
          <p:cNvPr id="260" name="Google Shape;260;p36"/>
          <p:cNvSpPr txBox="1"/>
          <p:nvPr/>
        </p:nvSpPr>
        <p:spPr>
          <a:xfrm>
            <a:off x="81775" y="387010"/>
            <a:ext cx="4368300" cy="4220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 Built a Full LLM From Scratch in Rust</a:t>
            </a:r>
            <a:br>
              <a:rPr lang="en" sz="1200">
                <a:solidFill>
                  <a:schemeClr val="dk1"/>
                </a:solidFill>
                <a:latin typeface="Calibri"/>
                <a:ea typeface="Calibri"/>
                <a:cs typeface="Calibri"/>
                <a:sym typeface="Calibri"/>
              </a:rPr>
            </a:br>
            <a:r>
              <a:rPr lang="en" sz="900" u="sng">
                <a:solidFill>
                  <a:schemeClr val="hlink"/>
                </a:solidFill>
                <a:latin typeface="Calibri"/>
                <a:ea typeface="Calibri"/>
                <a:cs typeface="Calibri"/>
                <a:sym typeface="Calibri"/>
                <a:hlinkClick r:id="rId3"/>
              </a:rPr>
              <a:t>https://www.youtube.com/watch?v=pVq-8aWPqmE</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This video provides an in-depth architectural breakdown and step-by-step walkthrough of building the entire aarambh-ai engine without relying on Python or PyTorch</a:t>
            </a:r>
            <a:endParaRPr sz="12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4"/>
              </a:rPr>
              <a:t>https://github.com/AarambhDevHub</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5"/>
              </a:rPr>
              <a:t>https://github.com/AarambhDevHub/aarambh-ai</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6"/>
              </a:rPr>
              <a:t>https://aarambhdevhub.medium.com/i-built-a-complete-llm-from-scratch-in-pure-rust-pretraining-grpo-flash-attention-and-c585123c14b4</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aarambh-ai is a transformer based LLM in pure Rust using Hugging Face Candle, no CUDA, 19 crates, custom BPE tokenization, data loaders, neural layers, optimizers, alignment, evaluation scorecards, and an Axum-based web server with continuous batching</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Version 3 updates the core attention mechanism using hybrid linear gated DeltaNet and DeepSeek block-sparse attention, dropping linear KV cache memory overhead for long context sequences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It provides native quantization-aware training matching GGUF block structures, multi-token speculative decoding, fine-grained mixture of experts, long-horizon tool agents, and temporal vision or document processing</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Darshan Vichhi is a Rust software developer and systems engineer who runs Aarambh Dev Hub as an open-source engineering and educational initiative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7"/>
              </a:rPr>
              <a:t>https://www.linkedin.com/in/darshan-vichhi-rust-developer/</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p:txBody>
      </p:sp>
      <p:pic>
        <p:nvPicPr>
          <p:cNvPr id="261" name="Google Shape;261;p36"/>
          <p:cNvPicPr preferRelativeResize="0"/>
          <p:nvPr/>
        </p:nvPicPr>
        <p:blipFill>
          <a:blip r:embed="rId8" cstate="email">
            <a:alphaModFix/>
            <a:extLst>
              <a:ext uri="{28A0092B-C50C-407E-A947-70E740481C1C}">
                <a14:useLocalDpi xmlns:a14="http://schemas.microsoft.com/office/drawing/2010/main"/>
              </a:ext>
            </a:extLst>
          </a:blip>
          <a:stretch>
            <a:fillRect/>
          </a:stretch>
        </p:blipFill>
        <p:spPr>
          <a:xfrm>
            <a:off x="5916450" y="220575"/>
            <a:ext cx="3095407" cy="1742276"/>
          </a:xfrm>
          <a:prstGeom prst="rect">
            <a:avLst/>
          </a:prstGeom>
          <a:noFill/>
          <a:ln w="9525" cap="flat" cmpd="sng">
            <a:solidFill>
              <a:srgbClr val="FF0000"/>
            </a:solidFill>
            <a:prstDash val="solid"/>
            <a:round/>
            <a:headEnd type="none" w="sm" len="sm"/>
            <a:tailEnd type="none" w="sm" len="sm"/>
          </a:ln>
        </p:spPr>
      </p:pic>
      <p:pic>
        <p:nvPicPr>
          <p:cNvPr id="262" name="Google Shape;262;p36"/>
          <p:cNvPicPr preferRelativeResize="0"/>
          <p:nvPr/>
        </p:nvPicPr>
        <p:blipFill>
          <a:blip r:embed="rId9" cstate="email">
            <a:alphaModFix/>
            <a:extLst>
              <a:ext uri="{28A0092B-C50C-407E-A947-70E740481C1C}">
                <a14:useLocalDpi xmlns:a14="http://schemas.microsoft.com/office/drawing/2010/main"/>
              </a:ext>
            </a:extLst>
          </a:blip>
          <a:stretch>
            <a:fillRect/>
          </a:stretch>
        </p:blipFill>
        <p:spPr>
          <a:xfrm>
            <a:off x="4517450" y="220575"/>
            <a:ext cx="1311824" cy="1311824"/>
          </a:xfrm>
          <a:prstGeom prst="rect">
            <a:avLst/>
          </a:prstGeom>
          <a:noFill/>
          <a:ln w="9525" cap="flat" cmpd="sng">
            <a:solidFill>
              <a:srgbClr val="FF0000"/>
            </a:solidFill>
            <a:prstDash val="solid"/>
            <a:round/>
            <a:headEnd type="none" w="sm" len="sm"/>
            <a:tailEnd type="none" w="sm" len="sm"/>
          </a:ln>
        </p:spPr>
      </p:pic>
      <p:sp>
        <p:nvSpPr>
          <p:cNvPr id="263" name="Google Shape;263;p36"/>
          <p:cNvSpPr txBox="1"/>
          <p:nvPr/>
        </p:nvSpPr>
        <p:spPr>
          <a:xfrm>
            <a:off x="4601825" y="2408800"/>
            <a:ext cx="3545700" cy="1680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jcode - much faster than Claude Code</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https://github.com/1jehuang/jcode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written in Rust</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brew tap 1jehuang/jcode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brew install jcode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author appears to be Jeremy Huang </a:t>
            </a:r>
            <a:br>
              <a:rPr lang="en" sz="1200">
                <a:solidFill>
                  <a:schemeClr val="dk1"/>
                </a:solidFill>
                <a:latin typeface="Calibri"/>
                <a:ea typeface="Calibri"/>
                <a:cs typeface="Calibri"/>
                <a:sym typeface="Calibri"/>
              </a:rPr>
            </a:br>
            <a:r>
              <a:rPr lang="en" sz="1200">
                <a:solidFill>
                  <a:schemeClr val="dk1"/>
                </a:solidFill>
                <a:latin typeface="Calibri"/>
                <a:ea typeface="Calibri"/>
                <a:cs typeface="Calibri"/>
                <a:sym typeface="Calibri"/>
              </a:rPr>
              <a:t>(GitHub handle 1jehuang)</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10"/>
              </a:rPr>
              <a:t>https://www.youtube.com/watch?v=kC8NMSS5Nac</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11"/>
              </a:rPr>
              <a:t>https://www.youtube.com/watch?v=JOGNg0B3Fxw</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267"/>
        <p:cNvGrpSpPr/>
        <p:nvPr/>
      </p:nvGrpSpPr>
      <p:grpSpPr>
        <a:xfrm>
          <a:off x="0" y="0"/>
          <a:ext cx="0" cy="0"/>
          <a:chOff x="0" y="0"/>
          <a:chExt cx="0" cy="0"/>
        </a:xfrm>
      </p:grpSpPr>
      <p:sp>
        <p:nvSpPr>
          <p:cNvPr id="268" name="Google Shape;268;p37"/>
          <p:cNvSpPr txBox="1"/>
          <p:nvPr/>
        </p:nvSpPr>
        <p:spPr>
          <a:xfrm>
            <a:off x="81775" y="-2"/>
            <a:ext cx="43683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Topcoat Rust web framework</a:t>
            </a:r>
            <a:endParaRPr sz="2000" b="1">
              <a:solidFill>
                <a:schemeClr val="dk1"/>
              </a:solidFill>
              <a:latin typeface="Calibri"/>
              <a:ea typeface="Calibri"/>
              <a:cs typeface="Calibri"/>
              <a:sym typeface="Calibri"/>
            </a:endParaRPr>
          </a:p>
        </p:txBody>
      </p:sp>
      <p:sp>
        <p:nvSpPr>
          <p:cNvPr id="269" name="Google Shape;269;p37"/>
          <p:cNvSpPr txBox="1"/>
          <p:nvPr/>
        </p:nvSpPr>
        <p:spPr>
          <a:xfrm>
            <a:off x="81775" y="387010"/>
            <a:ext cx="4368300" cy="3343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Host Francesco Ciulla speaks with Julian Schulz and Tokio creator Carl Lerche about Topcoat, a new full-stack Rust web framework.</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Topcoat provides an opinionated, batteries-included framework focusing on server-side rendering combined with lightweight client reactivity without relying on WebAssembly compilation.</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framework significantly reduces boilerplate code needed to bridge server data with client-side user interfaces, making web application development in Rust faster and simpler.</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Modern AI tools lower the barrier to entry for Rust, enabling developers to overcome syntax challenges while actively building production-ready applications.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Topcoat specifically targets data-heavy web applications, admin dashboards, and internal corporate tools, offering a compelling high-performance alternative to Next.js or Ruby on Rails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3"/>
              </a:rPr>
              <a:t>https://www.youtube.com/watch?v=iP9iL4dkiB0</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Topcoat GitHub Repo: </a:t>
            </a:r>
            <a:r>
              <a:rPr lang="en" sz="1200" u="sng">
                <a:solidFill>
                  <a:schemeClr val="hlink"/>
                </a:solidFill>
                <a:latin typeface="Calibri"/>
                <a:ea typeface="Calibri"/>
                <a:cs typeface="Calibri"/>
                <a:sym typeface="Calibri"/>
                <a:hlinkClick r:id="rId4"/>
              </a:rPr>
              <a:t>https://github.com/tokio-rs/topcoat</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Carl Lerche on X: </a:t>
            </a:r>
            <a:r>
              <a:rPr lang="en" sz="1200" u="sng">
                <a:solidFill>
                  <a:schemeClr val="hlink"/>
                </a:solidFill>
                <a:latin typeface="Calibri"/>
                <a:ea typeface="Calibri"/>
                <a:cs typeface="Calibri"/>
                <a:sym typeface="Calibri"/>
                <a:hlinkClick r:id="rId5"/>
              </a:rPr>
              <a:t>https://x.com/carllerche</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Julien Scholz on X: </a:t>
            </a:r>
            <a:r>
              <a:rPr lang="en" sz="1200" u="sng">
                <a:solidFill>
                  <a:schemeClr val="hlink"/>
                </a:solidFill>
                <a:latin typeface="Calibri"/>
                <a:ea typeface="Calibri"/>
                <a:cs typeface="Calibri"/>
                <a:sym typeface="Calibri"/>
                <a:hlinkClick r:id="rId6"/>
              </a:rPr>
              <a:t>https://x.com/julienscholzdev</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p:txBody>
      </p:sp>
      <p:pic>
        <p:nvPicPr>
          <p:cNvPr id="270" name="Google Shape;270;p37"/>
          <p:cNvPicPr preferRelativeResize="0"/>
          <p:nvPr/>
        </p:nvPicPr>
        <p:blipFill>
          <a:blip r:embed="rId7" cstate="email">
            <a:alphaModFix/>
            <a:extLst>
              <a:ext uri="{28A0092B-C50C-407E-A947-70E740481C1C}">
                <a14:useLocalDpi xmlns:a14="http://schemas.microsoft.com/office/drawing/2010/main"/>
              </a:ext>
            </a:extLst>
          </a:blip>
          <a:stretch>
            <a:fillRect/>
          </a:stretch>
        </p:blipFill>
        <p:spPr>
          <a:xfrm>
            <a:off x="4602475" y="1810925"/>
            <a:ext cx="4389123" cy="2337340"/>
          </a:xfrm>
          <a:prstGeom prst="rect">
            <a:avLst/>
          </a:prstGeom>
          <a:noFill/>
          <a:ln w="9525" cap="flat" cmpd="sng">
            <a:solidFill>
              <a:srgbClr val="FF0000"/>
            </a:solidFill>
            <a:prstDash val="solid"/>
            <a:round/>
            <a:headEnd type="none" w="sm" len="sm"/>
            <a:tailEnd type="none" w="sm" len="sm"/>
          </a:ln>
        </p:spPr>
      </p:pic>
      <p:pic>
        <p:nvPicPr>
          <p:cNvPr id="271" name="Google Shape;271;p37"/>
          <p:cNvPicPr preferRelativeResize="0"/>
          <p:nvPr/>
        </p:nvPicPr>
        <p:blipFill>
          <a:blip r:embed="rId8" cstate="email">
            <a:alphaModFix/>
            <a:extLst>
              <a:ext uri="{28A0092B-C50C-407E-A947-70E740481C1C}">
                <a14:useLocalDpi xmlns:a14="http://schemas.microsoft.com/office/drawing/2010/main"/>
              </a:ext>
            </a:extLst>
          </a:blip>
          <a:stretch>
            <a:fillRect/>
          </a:stretch>
        </p:blipFill>
        <p:spPr>
          <a:xfrm>
            <a:off x="4602475" y="387000"/>
            <a:ext cx="4368301" cy="1115148"/>
          </a:xfrm>
          <a:prstGeom prst="rect">
            <a:avLst/>
          </a:prstGeom>
          <a:noFill/>
          <a:ln w="9525" cap="flat" cmpd="sng">
            <a:solidFill>
              <a:srgbClr val="FF0000"/>
            </a:solidFill>
            <a:prstDash val="solid"/>
            <a:round/>
            <a:headEnd type="none" w="sm" len="sm"/>
            <a:tailEnd type="none" w="sm" len="sm"/>
          </a:ln>
        </p:spPr>
      </p:pic>
      <p:sp>
        <p:nvSpPr>
          <p:cNvPr id="272" name="Google Shape;272;p37"/>
          <p:cNvSpPr txBox="1"/>
          <p:nvPr/>
        </p:nvSpPr>
        <p:spPr>
          <a:xfrm>
            <a:off x="81775" y="3790051"/>
            <a:ext cx="4368300" cy="1311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Government and Tech Giants (Microsoft, Google, ...)  are shifting from C and C++ to Rust to eliminate memory safety vulnerabilities</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rgbClr val="3C78D8"/>
              </a:buClr>
              <a:buSzPts val="1200"/>
              <a:buFont typeface="Calibri"/>
              <a:buChar char="●"/>
            </a:pPr>
            <a:r>
              <a:rPr lang="en" sz="1200" b="1">
                <a:solidFill>
                  <a:srgbClr val="3C78D8"/>
                </a:solidFill>
                <a:latin typeface="Calibri"/>
                <a:ea typeface="Calibri"/>
                <a:cs typeface="Calibri"/>
                <a:sym typeface="Calibri"/>
              </a:rPr>
              <a:t>Federal directives now require critical software providers to publish plans moving away from memory-unsafe languages</a:t>
            </a:r>
            <a:endParaRPr sz="1200" b="1">
              <a:solidFill>
                <a:srgbClr val="3C78D8"/>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Google reduced Android memory vulnerabilities from 76 to 20% by writing all new code in Rust.</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9"/>
              </a:rPr>
              <a:t>https://www.youtube.com/watch?v=CQzlLJ1YqDs</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276"/>
        <p:cNvGrpSpPr/>
        <p:nvPr/>
      </p:nvGrpSpPr>
      <p:grpSpPr>
        <a:xfrm>
          <a:off x="0" y="0"/>
          <a:ext cx="0" cy="0"/>
          <a:chOff x="0" y="0"/>
          <a:chExt cx="0" cy="0"/>
        </a:xfrm>
      </p:grpSpPr>
      <p:sp>
        <p:nvSpPr>
          <p:cNvPr id="277" name="Google Shape;277;p38"/>
          <p:cNvSpPr txBox="1"/>
          <p:nvPr/>
        </p:nvSpPr>
        <p:spPr>
          <a:xfrm>
            <a:off x="81775" y="-2"/>
            <a:ext cx="43683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DuckDB , Snowflake , Litestream</a:t>
            </a:r>
            <a:endParaRPr sz="2000" b="1">
              <a:solidFill>
                <a:schemeClr val="dk1"/>
              </a:solidFill>
              <a:latin typeface="Calibri"/>
              <a:ea typeface="Calibri"/>
              <a:cs typeface="Calibri"/>
              <a:sym typeface="Calibri"/>
            </a:endParaRPr>
          </a:p>
        </p:txBody>
      </p:sp>
      <p:sp>
        <p:nvSpPr>
          <p:cNvPr id="278" name="Google Shape;278;p38"/>
          <p:cNvSpPr txBox="1"/>
          <p:nvPr/>
        </p:nvSpPr>
        <p:spPr>
          <a:xfrm>
            <a:off x="81775" y="387010"/>
            <a:ext cx="4368300" cy="2235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DuckDB - fast local or managed analytics DB </a:t>
            </a:r>
            <a:br>
              <a:rPr lang="en" sz="1200">
                <a:solidFill>
                  <a:schemeClr val="dk1"/>
                </a:solidFill>
                <a:latin typeface="Calibri"/>
                <a:ea typeface="Calibri"/>
                <a:cs typeface="Calibri"/>
                <a:sym typeface="Calibri"/>
              </a:rPr>
            </a:br>
            <a:r>
              <a:rPr lang="en" sz="1200" u="sng">
                <a:solidFill>
                  <a:schemeClr val="hlink"/>
                </a:solidFill>
                <a:latin typeface="Calibri"/>
                <a:ea typeface="Calibri"/>
                <a:cs typeface="Calibri"/>
                <a:sym typeface="Calibri"/>
                <a:hlinkClick r:id="rId3"/>
              </a:rPr>
              <a:t>https://www.youtube.com/watch?v=lwnhJajthWc</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Lightweight (20MB) in-process analytical database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Acts like SQLite for analytics, running parallel queries directly on your local hardware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Runs queries 55–77% cheaper and 6–7 times faster than traditional cloud warehouses like Snowflake by eliminating idle compute billing and long minimum execution charges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Uses columnar storage and vectorized execution to query local Parquet, CSV, and JSON files or S3 buckets without ETL</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Cloud Scaling - </a:t>
            </a:r>
            <a:r>
              <a:rPr lang="en" sz="1200" b="1">
                <a:solidFill>
                  <a:srgbClr val="FF0000"/>
                </a:solidFill>
                <a:latin typeface="Calibri"/>
                <a:ea typeface="Calibri"/>
                <a:cs typeface="Calibri"/>
                <a:sym typeface="Calibri"/>
              </a:rPr>
              <a:t>DuckLake and MotherDuck</a:t>
            </a:r>
            <a:r>
              <a:rPr lang="en" sz="1200">
                <a:solidFill>
                  <a:schemeClr val="dk1"/>
                </a:solidFill>
                <a:latin typeface="Calibri"/>
                <a:ea typeface="Calibri"/>
                <a:cs typeface="Calibri"/>
                <a:sym typeface="Calibri"/>
              </a:rPr>
              <a:t>, enabling serverless, pay-per-second cloud analytics for small to mid-sized workloads</a:t>
            </a:r>
            <a:endParaRPr sz="1200">
              <a:solidFill>
                <a:schemeClr val="dk1"/>
              </a:solidFill>
              <a:latin typeface="Calibri"/>
              <a:ea typeface="Calibri"/>
              <a:cs typeface="Calibri"/>
              <a:sym typeface="Calibri"/>
            </a:endParaRPr>
          </a:p>
        </p:txBody>
      </p:sp>
      <p:pic>
        <p:nvPicPr>
          <p:cNvPr id="279" name="Google Shape;279;p38"/>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4690625" y="386998"/>
            <a:ext cx="2543674" cy="1470950"/>
          </a:xfrm>
          <a:prstGeom prst="rect">
            <a:avLst/>
          </a:prstGeom>
          <a:noFill/>
          <a:ln w="9525" cap="flat" cmpd="sng">
            <a:solidFill>
              <a:srgbClr val="FF0000"/>
            </a:solidFill>
            <a:prstDash val="solid"/>
            <a:round/>
            <a:headEnd type="none" w="sm" len="sm"/>
            <a:tailEnd type="none" w="sm" len="sm"/>
          </a:ln>
        </p:spPr>
      </p:pic>
      <p:sp>
        <p:nvSpPr>
          <p:cNvPr id="280" name="Google Shape;280;p38"/>
          <p:cNvSpPr txBox="1"/>
          <p:nvPr/>
        </p:nvSpPr>
        <p:spPr>
          <a:xfrm>
            <a:off x="4690630" y="2017624"/>
            <a:ext cx="4368300" cy="2604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Litestream &amp; SQLite Scaling </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SQLite</a:t>
            </a:r>
            <a:r>
              <a:rPr lang="en" sz="1200">
                <a:solidFill>
                  <a:schemeClr val="dk1"/>
                </a:solidFill>
                <a:latin typeface="Calibri"/>
                <a:ea typeface="Calibri"/>
                <a:cs typeface="Calibri"/>
                <a:sym typeface="Calibri"/>
              </a:rPr>
              <a:t> - runs inside your app, no network latency</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Litestream</a:t>
            </a:r>
            <a:r>
              <a:rPr lang="en" sz="1200">
                <a:solidFill>
                  <a:schemeClr val="dk1"/>
                </a:solidFill>
                <a:latin typeface="Calibri"/>
                <a:ea typeface="Calibri"/>
                <a:cs typeface="Calibri"/>
                <a:sym typeface="Calibri"/>
              </a:rPr>
              <a:t> - solves SQLite single-machine risk by continually streaming write-ahead log changes directly to S3 or object storage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Together we best the best of both. Storage costs drop to pennies monthly while point-in-time recovery allows exact second-level database restoration</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SQLite handles tens of thousands of writes per second and millions of reads across distributed load-balanced instances.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5"/>
              </a:rPr>
              <a:t>https://litestream.io</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6"/>
              </a:rPr>
              <a:t>https://github.com/benbjohnson/litestream</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7"/>
              </a:rPr>
              <a:t>https://fly.io/blog/all-in-on-sqlite-litestream</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8"/>
              </a:rPr>
              <a:t>https://fly.io/blog/litestream-v050-is-here/</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9"/>
              </a:rPr>
              <a:t>https://www.youtube.com/watch?v=QOBXFCYYMvk</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284"/>
        <p:cNvGrpSpPr/>
        <p:nvPr/>
      </p:nvGrpSpPr>
      <p:grpSpPr>
        <a:xfrm>
          <a:off x="0" y="0"/>
          <a:ext cx="0" cy="0"/>
          <a:chOff x="0" y="0"/>
          <a:chExt cx="0" cy="0"/>
        </a:xfrm>
      </p:grpSpPr>
      <p:sp>
        <p:nvSpPr>
          <p:cNvPr id="285" name="Google Shape;285;p39"/>
          <p:cNvSpPr txBox="1"/>
          <p:nvPr/>
        </p:nvSpPr>
        <p:spPr>
          <a:xfrm>
            <a:off x="81775" y="0"/>
            <a:ext cx="45354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Build Your Harness</a:t>
            </a:r>
            <a:endParaRPr sz="2000" b="1">
              <a:solidFill>
                <a:schemeClr val="dk1"/>
              </a:solidFill>
              <a:latin typeface="Calibri"/>
              <a:ea typeface="Calibri"/>
              <a:cs typeface="Calibri"/>
              <a:sym typeface="Calibri"/>
            </a:endParaRPr>
          </a:p>
        </p:txBody>
      </p:sp>
      <p:sp>
        <p:nvSpPr>
          <p:cNvPr id="286" name="Google Shape;286;p39"/>
          <p:cNvSpPr txBox="1"/>
          <p:nvPr/>
        </p:nvSpPr>
        <p:spPr>
          <a:xfrm>
            <a:off x="81775" y="475750"/>
            <a:ext cx="4424700" cy="2388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Cognee - Persistent Memory for AI Agents</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u="sng">
                <a:solidFill>
                  <a:schemeClr val="hlink"/>
                </a:solidFill>
                <a:latin typeface="Calibri"/>
                <a:ea typeface="Calibri"/>
                <a:cs typeface="Calibri"/>
                <a:sym typeface="Calibri"/>
                <a:hlinkClick r:id="rId3"/>
              </a:rPr>
              <a:t>https://www.cognee.ai</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u="sng">
                <a:solidFill>
                  <a:schemeClr val="hlink"/>
                </a:solidFill>
                <a:latin typeface="Calibri"/>
                <a:ea typeface="Calibri"/>
                <a:cs typeface="Calibri"/>
                <a:sym typeface="Calibri"/>
                <a:hlinkClick r:id="rId4"/>
              </a:rPr>
              <a:t>https://github.com/topoteretes/cognee</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u="sng">
                <a:solidFill>
                  <a:schemeClr val="hlink"/>
                </a:solidFill>
                <a:latin typeface="Calibri"/>
                <a:ea typeface="Calibri"/>
                <a:cs typeface="Calibri"/>
                <a:sym typeface="Calibri"/>
                <a:hlinkClick r:id="rId5"/>
              </a:rPr>
              <a:t>https://www.youtube.com/watch?v=DYdC-oqLMiY</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Cognee provides an open-source persistent memory layer that connects AI models like Claude Code to structured knowledge graph engines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Cognee organizes project files, system requirements, and prior chat histories into searchable knowledge graphs and vector embeddings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Coding agents automatically store new discoveries and software modifications into long-term memory, enabling seamless context retrieval across future development sessions.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This continuous long-term memory integration significantly speeds up development workflows, cuts down repetitive token consumption, lowers costs, and maintains project consistency</a:t>
            </a:r>
            <a:endParaRPr sz="1100">
              <a:solidFill>
                <a:schemeClr val="dk1"/>
              </a:solidFill>
              <a:latin typeface="Calibri"/>
              <a:ea typeface="Calibri"/>
              <a:cs typeface="Calibri"/>
              <a:sym typeface="Calibri"/>
            </a:endParaRPr>
          </a:p>
        </p:txBody>
      </p:sp>
      <p:sp>
        <p:nvSpPr>
          <p:cNvPr id="287" name="Google Shape;287;p39"/>
          <p:cNvSpPr txBox="1"/>
          <p:nvPr/>
        </p:nvSpPr>
        <p:spPr>
          <a:xfrm>
            <a:off x="81775" y="2941250"/>
            <a:ext cx="4424700" cy="1896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Code Graph Tools - Graphify vs GitNexus vs CodeGraph</a:t>
            </a:r>
            <a:endParaRPr sz="12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u="sng">
                <a:solidFill>
                  <a:schemeClr val="hlink"/>
                </a:solidFill>
                <a:latin typeface="Calibri"/>
                <a:ea typeface="Calibri"/>
                <a:cs typeface="Calibri"/>
                <a:sym typeface="Calibri"/>
                <a:hlinkClick r:id="rId6"/>
              </a:rPr>
              <a:t>https://www.youtube.com/watch?v=zIiiu8hS1To</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Code graph tools - help AI coding agents navigate repositories with far fewer API tokens and tool calls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b="1">
                <a:solidFill>
                  <a:srgbClr val="FF0000"/>
                </a:solidFill>
                <a:latin typeface="Calibri"/>
                <a:ea typeface="Calibri"/>
                <a:cs typeface="Calibri"/>
                <a:sym typeface="Calibri"/>
              </a:rPr>
              <a:t>CodeGraph</a:t>
            </a:r>
            <a:r>
              <a:rPr lang="en" sz="1100">
                <a:solidFill>
                  <a:schemeClr val="dk1"/>
                </a:solidFill>
                <a:latin typeface="Calibri"/>
                <a:ea typeface="Calibri"/>
                <a:cs typeface="Calibri"/>
                <a:sym typeface="Calibri"/>
              </a:rPr>
              <a:t> - MIT-licensed, ultra-fast code indexer using local Tree-sitter parsing and SQLite; up to 89 percent fewer tool calls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b="1">
                <a:solidFill>
                  <a:srgbClr val="FF0000"/>
                </a:solidFill>
                <a:latin typeface="Calibri"/>
                <a:ea typeface="Calibri"/>
                <a:cs typeface="Calibri"/>
                <a:sym typeface="Calibri"/>
              </a:rPr>
              <a:t>Graphify</a:t>
            </a:r>
            <a:r>
              <a:rPr lang="en" sz="1100">
                <a:solidFill>
                  <a:schemeClr val="dk1"/>
                </a:solidFill>
                <a:latin typeface="Calibri"/>
                <a:ea typeface="Calibri"/>
                <a:cs typeface="Calibri"/>
                <a:sym typeface="Calibri"/>
              </a:rPr>
              <a:t> - offers an Apache 2.0 open-source multimodal memory layer that indexes code alongside documentation, PDFs, images, and videos into a unified graph</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b="1">
                <a:solidFill>
                  <a:srgbClr val="FF0000"/>
                </a:solidFill>
                <a:latin typeface="Calibri"/>
                <a:ea typeface="Calibri"/>
                <a:cs typeface="Calibri"/>
                <a:sym typeface="Calibri"/>
              </a:rPr>
              <a:t>GitNexus</a:t>
            </a:r>
            <a:r>
              <a:rPr lang="en" sz="1100">
                <a:solidFill>
                  <a:schemeClr val="dk1"/>
                </a:solidFill>
                <a:latin typeface="Calibri"/>
                <a:ea typeface="Calibri"/>
                <a:cs typeface="Calibri"/>
                <a:sym typeface="Calibri"/>
              </a:rPr>
              <a:t> - 17 advanced query tools and Cypher support for deep static analysis (but non-commercial license)</a:t>
            </a:r>
            <a:endParaRPr sz="1100">
              <a:solidFill>
                <a:schemeClr val="dk1"/>
              </a:solidFill>
              <a:latin typeface="Calibri"/>
              <a:ea typeface="Calibri"/>
              <a:cs typeface="Calibri"/>
              <a:sym typeface="Calibri"/>
            </a:endParaRPr>
          </a:p>
        </p:txBody>
      </p:sp>
      <p:sp>
        <p:nvSpPr>
          <p:cNvPr id="288" name="Google Shape;288;p39"/>
          <p:cNvSpPr txBox="1"/>
          <p:nvPr/>
        </p:nvSpPr>
        <p:spPr>
          <a:xfrm>
            <a:off x="4617178" y="1304572"/>
            <a:ext cx="4424700" cy="1696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Hermes Loop - Builder + Judge</a:t>
            </a:r>
            <a:endParaRPr sz="1200" b="1">
              <a:solidFill>
                <a:srgbClr val="FF0000"/>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7"/>
              </a:rPr>
              <a:t>https://www.youtube.com/watch?v=FehNOhDfr28</a:t>
            </a:r>
            <a:endParaRPr sz="9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Pairing a builder AI with an independent judge AI in an automated feedback loop</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The builder model generates content while a separate judge model from a different model family evaluates and scores the work</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If the output fails quality checks, the judge provides specific feedback and the builder continuously revises the work until it meets the target score.</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Using a faster, cheaper model for drafting and a stronger model for evaluation optimizes quality while keeping overall operational costs low</a:t>
            </a:r>
            <a:endParaRPr sz="1100">
              <a:solidFill>
                <a:schemeClr val="dk1"/>
              </a:solidFill>
              <a:latin typeface="Calibri"/>
              <a:ea typeface="Calibri"/>
              <a:cs typeface="Calibri"/>
              <a:sym typeface="Calibri"/>
            </a:endParaRPr>
          </a:p>
        </p:txBody>
      </p:sp>
      <p:pic>
        <p:nvPicPr>
          <p:cNvPr id="289" name="Google Shape;289;p39"/>
          <p:cNvPicPr preferRelativeResize="0"/>
          <p:nvPr/>
        </p:nvPicPr>
        <p:blipFill rotWithShape="1">
          <a:blip r:embed="rId8" cstate="email">
            <a:alphaModFix/>
            <a:extLst>
              <a:ext uri="{28A0092B-C50C-407E-A947-70E740481C1C}">
                <a14:useLocalDpi xmlns:a14="http://schemas.microsoft.com/office/drawing/2010/main"/>
              </a:ext>
            </a:extLst>
          </a:blip>
          <a:srcRect/>
          <a:stretch/>
        </p:blipFill>
        <p:spPr>
          <a:xfrm>
            <a:off x="3434512" y="158275"/>
            <a:ext cx="2274975" cy="732325"/>
          </a:xfrm>
          <a:prstGeom prst="rect">
            <a:avLst/>
          </a:prstGeom>
          <a:noFill/>
          <a:ln w="9525" cap="flat" cmpd="sng">
            <a:solidFill>
              <a:srgbClr val="FF0000"/>
            </a:solidFill>
            <a:prstDash val="solid"/>
            <a:round/>
            <a:headEnd type="none" w="sm" len="sm"/>
            <a:tailEnd type="none" w="sm" len="sm"/>
          </a:ln>
        </p:spPr>
      </p:pic>
      <p:pic>
        <p:nvPicPr>
          <p:cNvPr id="290" name="Google Shape;290;p39"/>
          <p:cNvPicPr preferRelativeResize="0"/>
          <p:nvPr/>
        </p:nvPicPr>
        <p:blipFill>
          <a:blip r:embed="rId9" cstate="email">
            <a:alphaModFix/>
            <a:extLst>
              <a:ext uri="{28A0092B-C50C-407E-A947-70E740481C1C}">
                <a14:useLocalDpi xmlns:a14="http://schemas.microsoft.com/office/drawing/2010/main"/>
              </a:ext>
            </a:extLst>
          </a:blip>
          <a:stretch>
            <a:fillRect/>
          </a:stretch>
        </p:blipFill>
        <p:spPr>
          <a:xfrm>
            <a:off x="4617175" y="3113598"/>
            <a:ext cx="1605200" cy="842925"/>
          </a:xfrm>
          <a:prstGeom prst="rect">
            <a:avLst/>
          </a:prstGeom>
          <a:noFill/>
          <a:ln w="9525" cap="flat" cmpd="sng">
            <a:solidFill>
              <a:srgbClr val="FF0000"/>
            </a:solidFill>
            <a:prstDash val="solid"/>
            <a:round/>
            <a:headEnd type="none" w="sm" len="sm"/>
            <a:tailEnd type="none" w="sm" len="sm"/>
          </a:ln>
        </p:spPr>
      </p:pic>
      <p:pic>
        <p:nvPicPr>
          <p:cNvPr id="291" name="Google Shape;291;p39"/>
          <p:cNvPicPr preferRelativeResize="0"/>
          <p:nvPr/>
        </p:nvPicPr>
        <p:blipFill rotWithShape="1">
          <a:blip r:embed="rId10" cstate="email">
            <a:alphaModFix/>
            <a:extLst>
              <a:ext uri="{28A0092B-C50C-407E-A947-70E740481C1C}">
                <a14:useLocalDpi xmlns:a14="http://schemas.microsoft.com/office/drawing/2010/main"/>
              </a:ext>
            </a:extLst>
          </a:blip>
          <a:srcRect/>
          <a:stretch/>
        </p:blipFill>
        <p:spPr>
          <a:xfrm>
            <a:off x="6333075" y="3113600"/>
            <a:ext cx="1690755" cy="842925"/>
          </a:xfrm>
          <a:prstGeom prst="rect">
            <a:avLst/>
          </a:prstGeom>
          <a:noFill/>
          <a:ln w="9525" cap="flat" cmpd="sng">
            <a:solidFill>
              <a:srgbClr val="FF0000"/>
            </a:solidFill>
            <a:prstDash val="solid"/>
            <a:round/>
            <a:headEnd type="none" w="sm" len="sm"/>
            <a:tailEnd type="none" w="sm" len="sm"/>
          </a:ln>
        </p:spPr>
      </p:pic>
      <p:pic>
        <p:nvPicPr>
          <p:cNvPr id="292" name="Google Shape;292;p39"/>
          <p:cNvPicPr preferRelativeResize="0"/>
          <p:nvPr/>
        </p:nvPicPr>
        <p:blipFill>
          <a:blip r:embed="rId11" cstate="email">
            <a:alphaModFix/>
            <a:extLst>
              <a:ext uri="{28A0092B-C50C-407E-A947-70E740481C1C}">
                <a14:useLocalDpi xmlns:a14="http://schemas.microsoft.com/office/drawing/2010/main"/>
              </a:ext>
            </a:extLst>
          </a:blip>
          <a:stretch>
            <a:fillRect/>
          </a:stretch>
        </p:blipFill>
        <p:spPr>
          <a:xfrm>
            <a:off x="4826958" y="4069350"/>
            <a:ext cx="3023100" cy="787275"/>
          </a:xfrm>
          <a:prstGeom prst="rect">
            <a:avLst/>
          </a:prstGeom>
          <a:noFill/>
          <a:ln w="9525" cap="flat" cmpd="sng">
            <a:solidFill>
              <a:srgbClr val="FF0000"/>
            </a:solidFill>
            <a:prstDash val="solid"/>
            <a:round/>
            <a:headEnd type="none" w="sm" len="sm"/>
            <a:tailEnd type="none" w="sm" len="sm"/>
          </a:ln>
        </p:spPr>
      </p:pic>
      <p:pic>
        <p:nvPicPr>
          <p:cNvPr id="293" name="Google Shape;293;p39"/>
          <p:cNvPicPr preferRelativeResize="0"/>
          <p:nvPr/>
        </p:nvPicPr>
        <p:blipFill>
          <a:blip r:embed="rId12" cstate="email">
            <a:alphaModFix/>
            <a:extLst>
              <a:ext uri="{28A0092B-C50C-407E-A947-70E740481C1C}">
                <a14:useLocalDpi xmlns:a14="http://schemas.microsoft.com/office/drawing/2010/main"/>
              </a:ext>
            </a:extLst>
          </a:blip>
          <a:stretch>
            <a:fillRect/>
          </a:stretch>
        </p:blipFill>
        <p:spPr>
          <a:xfrm>
            <a:off x="7070925" y="92325"/>
            <a:ext cx="1970950" cy="110785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297"/>
        <p:cNvGrpSpPr/>
        <p:nvPr/>
      </p:nvGrpSpPr>
      <p:grpSpPr>
        <a:xfrm>
          <a:off x="0" y="0"/>
          <a:ext cx="0" cy="0"/>
          <a:chOff x="0" y="0"/>
          <a:chExt cx="0" cy="0"/>
        </a:xfrm>
      </p:grpSpPr>
      <p:sp>
        <p:nvSpPr>
          <p:cNvPr id="298" name="Google Shape;298;p40"/>
          <p:cNvSpPr txBox="1"/>
          <p:nvPr/>
        </p:nvSpPr>
        <p:spPr>
          <a:xfrm>
            <a:off x="81775" y="-2"/>
            <a:ext cx="43683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sp>
        <p:nvSpPr>
          <p:cNvPr id="299" name="Google Shape;299;p40"/>
          <p:cNvSpPr txBox="1"/>
          <p:nvPr/>
        </p:nvSpPr>
        <p:spPr>
          <a:xfrm>
            <a:off x="81775" y="387000"/>
            <a:ext cx="4941900" cy="1680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LLaDA2.2-flash - Open-Source Diffusion Model</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3"/>
              </a:rPr>
              <a:t>https://www.youtube.com/watch?v=oDipulgqLro</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InclusionAI, part of Ant Group, released LLaDA2.2-flash, an open-source diffusion language model for agentic use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Unlike autoregressive models, it generates and refines text iteratively using Levenshtein editing, and the project emphasizes high-performance, open-source deployment</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103B params, MoE diffusion architecture, 128K token context length</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Fast: 460 - 700 tok/sec (requires 224GB GPU memory)</a:t>
            </a:r>
            <a:endParaRPr sz="1200">
              <a:solidFill>
                <a:schemeClr val="dk1"/>
              </a:solidFill>
              <a:latin typeface="Calibri"/>
              <a:ea typeface="Calibri"/>
              <a:cs typeface="Calibri"/>
              <a:sym typeface="Calibri"/>
            </a:endParaRPr>
          </a:p>
        </p:txBody>
      </p:sp>
      <p:sp>
        <p:nvSpPr>
          <p:cNvPr id="300" name="Google Shape;300;p40"/>
          <p:cNvSpPr txBox="1"/>
          <p:nvPr/>
        </p:nvSpPr>
        <p:spPr>
          <a:xfrm>
            <a:off x="81775" y="2128500"/>
            <a:ext cx="6103800" cy="2604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The Last 30 Days Skill for Claude Code</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4"/>
              </a:rPr>
              <a:t>https://www.youtube.com/watch?v=ShYfGB3x5mM</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Scraping real-time user sentiment across platforms like Reddit, Hacker News, YouTube, X, GitHub, and TikTok</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Evaluates post comments and full video transcripts to provide nuanced, community-level feedback rather than just surface-level Google search headlines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Runs automated Python scripts across multiple social networks in parallel, outputting synthesized reports alongside raw JSON data files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Installs into Claude Code via a single command, requiring API keys primarily for X (around $0.10 per search) while providing subsidized free access for major platforms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rgbClr val="3C78D8"/>
              </a:buClr>
              <a:buSzPts val="1200"/>
              <a:buFont typeface="Calibri"/>
              <a:buChar char="●"/>
            </a:pPr>
            <a:r>
              <a:rPr lang="en" sz="1200" b="1" u="sng">
                <a:solidFill>
                  <a:schemeClr val="hlink"/>
                </a:solidFill>
                <a:latin typeface="Calibri"/>
                <a:ea typeface="Calibri"/>
                <a:cs typeface="Calibri"/>
                <a:sym typeface="Calibri"/>
                <a:hlinkClick r:id="rId5"/>
              </a:rPr>
              <a:t>https://github.com/mvanhorn/last30days-skill</a:t>
            </a:r>
            <a:r>
              <a:rPr lang="en" sz="1200" b="1">
                <a:solidFill>
                  <a:srgbClr val="3C78D8"/>
                </a:solidFill>
                <a:latin typeface="Calibri"/>
                <a:ea typeface="Calibri"/>
                <a:cs typeface="Calibri"/>
                <a:sym typeface="Calibri"/>
              </a:rPr>
              <a:t> </a:t>
            </a:r>
            <a:endParaRPr sz="1200" b="1">
              <a:solidFill>
                <a:srgbClr val="3C78D8"/>
              </a:solidFill>
              <a:latin typeface="Calibri"/>
              <a:ea typeface="Calibri"/>
              <a:cs typeface="Calibri"/>
              <a:sym typeface="Calibri"/>
            </a:endParaRPr>
          </a:p>
          <a:p>
            <a:pPr marL="171450" marR="0" lvl="0" indent="-133350" algn="l" rtl="0">
              <a:lnSpc>
                <a:spcPct val="100000"/>
              </a:lnSpc>
              <a:spcBef>
                <a:spcPts val="0"/>
              </a:spcBef>
              <a:spcAft>
                <a:spcPts val="0"/>
              </a:spcAft>
              <a:buClr>
                <a:srgbClr val="3C78D8"/>
              </a:buClr>
              <a:buSzPts val="1200"/>
              <a:buFont typeface="Calibri"/>
              <a:buChar char="●"/>
            </a:pPr>
            <a:r>
              <a:rPr lang="en" sz="1200" b="1">
                <a:solidFill>
                  <a:srgbClr val="3C78D8"/>
                </a:solidFill>
                <a:latin typeface="Calibri"/>
                <a:ea typeface="Calibri"/>
                <a:cs typeface="Calibri"/>
                <a:sym typeface="Calibri"/>
              </a:rPr>
              <a:t>/plugin marketplace add mvanhorn/last30days-skill</a:t>
            </a:r>
            <a:endParaRPr sz="1200" b="1">
              <a:solidFill>
                <a:srgbClr val="3C78D8"/>
              </a:solidFill>
              <a:latin typeface="Calibri"/>
              <a:ea typeface="Calibri"/>
              <a:cs typeface="Calibri"/>
              <a:sym typeface="Calibri"/>
            </a:endParaRPr>
          </a:p>
          <a:p>
            <a:pPr marL="171450" marR="0" lvl="0" indent="-133350" algn="l" rtl="0">
              <a:lnSpc>
                <a:spcPct val="100000"/>
              </a:lnSpc>
              <a:spcBef>
                <a:spcPts val="0"/>
              </a:spcBef>
              <a:spcAft>
                <a:spcPts val="0"/>
              </a:spcAft>
              <a:buClr>
                <a:srgbClr val="3C78D8"/>
              </a:buClr>
              <a:buSzPts val="1200"/>
              <a:buFont typeface="Calibri"/>
              <a:buChar char="●"/>
            </a:pPr>
            <a:r>
              <a:rPr lang="en" sz="1200" b="1">
                <a:solidFill>
                  <a:srgbClr val="3C78D8"/>
                </a:solidFill>
                <a:latin typeface="Calibri"/>
                <a:ea typeface="Calibri"/>
                <a:cs typeface="Calibri"/>
                <a:sym typeface="Calibri"/>
              </a:rPr>
              <a:t>/plugin install last30days@last30days-skill</a:t>
            </a:r>
            <a:endParaRPr sz="1200" b="1">
              <a:solidFill>
                <a:srgbClr val="3C78D8"/>
              </a:solidFill>
              <a:latin typeface="Calibri"/>
              <a:ea typeface="Calibri"/>
              <a:cs typeface="Calibri"/>
              <a:sym typeface="Calibri"/>
            </a:endParaRPr>
          </a:p>
          <a:p>
            <a:pPr marL="171450" marR="0" lvl="0" indent="-133350" algn="l" rtl="0">
              <a:lnSpc>
                <a:spcPct val="100000"/>
              </a:lnSpc>
              <a:spcBef>
                <a:spcPts val="0"/>
              </a:spcBef>
              <a:spcAft>
                <a:spcPts val="0"/>
              </a:spcAft>
              <a:buClr>
                <a:srgbClr val="3C78D8"/>
              </a:buClr>
              <a:buSzPts val="1200"/>
              <a:buFont typeface="Calibri"/>
              <a:buChar char="●"/>
            </a:pPr>
            <a:r>
              <a:rPr lang="en" sz="1200" b="1">
                <a:solidFill>
                  <a:srgbClr val="3C78D8"/>
                </a:solidFill>
                <a:latin typeface="Calibri"/>
                <a:ea typeface="Calibri"/>
                <a:cs typeface="Calibri"/>
                <a:sym typeface="Calibri"/>
              </a:rPr>
              <a:t>git clone https://github.com/mvanhorn/last30days-skill.git ~/.claude/skills/last30days</a:t>
            </a:r>
            <a:endParaRPr sz="1200" b="1">
              <a:solidFill>
                <a:srgbClr val="3C78D8"/>
              </a:solidFill>
              <a:latin typeface="Calibri"/>
              <a:ea typeface="Calibri"/>
              <a:cs typeface="Calibri"/>
              <a:sym typeface="Calibri"/>
            </a:endParaRPr>
          </a:p>
        </p:txBody>
      </p:sp>
      <p:pic>
        <p:nvPicPr>
          <p:cNvPr id="301" name="Google Shape;301;p40"/>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6332525" y="2664050"/>
            <a:ext cx="2743426" cy="1574100"/>
          </a:xfrm>
          <a:prstGeom prst="rect">
            <a:avLst/>
          </a:prstGeom>
          <a:noFill/>
          <a:ln w="9525" cap="flat" cmpd="sng">
            <a:solidFill>
              <a:srgbClr val="FF0000"/>
            </a:solidFill>
            <a:prstDash val="solid"/>
            <a:round/>
            <a:headEnd type="none" w="sm" len="sm"/>
            <a:tailEnd type="none" w="sm" len="sm"/>
          </a:ln>
        </p:spPr>
      </p:pic>
      <p:pic>
        <p:nvPicPr>
          <p:cNvPr id="302" name="Google Shape;302;p40"/>
          <p:cNvPicPr preferRelativeResize="0"/>
          <p:nvPr/>
        </p:nvPicPr>
        <p:blipFill>
          <a:blip r:embed="rId7" cstate="email">
            <a:alphaModFix/>
            <a:extLst>
              <a:ext uri="{28A0092B-C50C-407E-A947-70E740481C1C}">
                <a14:useLocalDpi xmlns:a14="http://schemas.microsoft.com/office/drawing/2010/main"/>
              </a:ext>
            </a:extLst>
          </a:blip>
          <a:stretch>
            <a:fillRect/>
          </a:stretch>
        </p:blipFill>
        <p:spPr>
          <a:xfrm>
            <a:off x="5176075" y="152400"/>
            <a:ext cx="2695405" cy="182370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306"/>
        <p:cNvGrpSpPr/>
        <p:nvPr/>
      </p:nvGrpSpPr>
      <p:grpSpPr>
        <a:xfrm>
          <a:off x="0" y="0"/>
          <a:ext cx="0" cy="0"/>
          <a:chOff x="0" y="0"/>
          <a:chExt cx="0" cy="0"/>
        </a:xfrm>
      </p:grpSpPr>
      <p:sp>
        <p:nvSpPr>
          <p:cNvPr id="307" name="Google Shape;307;p41"/>
          <p:cNvSpPr txBox="1"/>
          <p:nvPr/>
        </p:nvSpPr>
        <p:spPr>
          <a:xfrm>
            <a:off x="81775" y="-2"/>
            <a:ext cx="43683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sp>
        <p:nvSpPr>
          <p:cNvPr id="308" name="Google Shape;308;p41"/>
          <p:cNvSpPr txBox="1"/>
          <p:nvPr/>
        </p:nvSpPr>
        <p:spPr>
          <a:xfrm>
            <a:off x="81775" y="387000"/>
            <a:ext cx="4941900" cy="21426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$5 VPS That Replaced My Entire AWS Bill</a:t>
            </a:r>
            <a:endParaRPr sz="12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3"/>
              </a:rPr>
              <a:t>https://www.youtube.com/watch?v=KNkhpKghoDU</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4"/>
              </a:rPr>
              <a:t>https://37signals.com</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5"/>
              </a:rPr>
              <a:t>https://basecamp.com/cloud-exit</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6"/>
              </a:rPr>
              <a:t>https://world.hey.com/dhh/we-have-left-the-cloud-251760fb</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Moving from AWS to a cheap VPS (owned or leased server) saves 50-70% on Infrastructure savings - 50-70%</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Tools like Kamal and Coolify help simplify deployments on VPS or self-hosted infrastructure</a:t>
            </a:r>
            <a:endParaRPr sz="12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7"/>
              </a:rPr>
              <a:t>https://kamal-deploy.org</a:t>
            </a:r>
            <a:r>
              <a:rPr lang="en" sz="900">
                <a:solidFill>
                  <a:schemeClr val="dk1"/>
                </a:solidFill>
                <a:latin typeface="Calibri"/>
                <a:ea typeface="Calibri"/>
                <a:cs typeface="Calibri"/>
                <a:sym typeface="Calibri"/>
              </a:rPr>
              <a:t>  , </a:t>
            </a:r>
            <a:r>
              <a:rPr lang="en" sz="900" u="sng">
                <a:solidFill>
                  <a:schemeClr val="hlink"/>
                </a:solidFill>
                <a:latin typeface="Calibri"/>
                <a:ea typeface="Calibri"/>
                <a:cs typeface="Calibri"/>
                <a:sym typeface="Calibri"/>
                <a:hlinkClick r:id="rId8"/>
              </a:rPr>
              <a:t>https://github.com/basecamp/kamal</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9"/>
              </a:rPr>
              <a:t>https://coolify.io</a:t>
            </a:r>
            <a:r>
              <a:rPr lang="en" sz="900">
                <a:solidFill>
                  <a:schemeClr val="dk1"/>
                </a:solidFill>
                <a:latin typeface="Calibri"/>
                <a:ea typeface="Calibri"/>
                <a:cs typeface="Calibri"/>
                <a:sym typeface="Calibri"/>
              </a:rPr>
              <a:t>  , </a:t>
            </a:r>
            <a:r>
              <a:rPr lang="en" sz="900" u="sng">
                <a:solidFill>
                  <a:schemeClr val="hlink"/>
                </a:solidFill>
                <a:latin typeface="Calibri"/>
                <a:ea typeface="Calibri"/>
                <a:cs typeface="Calibri"/>
                <a:sym typeface="Calibri"/>
                <a:hlinkClick r:id="rId10"/>
              </a:rPr>
              <a:t>https://github.com/coollabsio/coolify</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Public cloud still makes sense for workloads needing rapid scaling, managed services, or specialized compliance and multi-region features</a:t>
            </a:r>
            <a:endParaRPr sz="1200">
              <a:solidFill>
                <a:schemeClr val="dk1"/>
              </a:solidFill>
              <a:latin typeface="Calibri"/>
              <a:ea typeface="Calibri"/>
              <a:cs typeface="Calibri"/>
              <a:sym typeface="Calibri"/>
            </a:endParaRPr>
          </a:p>
        </p:txBody>
      </p:sp>
      <p:sp>
        <p:nvSpPr>
          <p:cNvPr id="309" name="Google Shape;309;p41"/>
          <p:cNvSpPr txBox="1"/>
          <p:nvPr/>
        </p:nvSpPr>
        <p:spPr>
          <a:xfrm>
            <a:off x="81775" y="2665475"/>
            <a:ext cx="4941900" cy="2419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Redis vs Valkey: Caching Architecture</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11"/>
              </a:rPr>
              <a:t>https://valkey.io</a:t>
            </a:r>
            <a:r>
              <a:rPr lang="en" sz="1200">
                <a:solidFill>
                  <a:schemeClr val="dk1"/>
                </a:solidFill>
                <a:latin typeface="Calibri"/>
                <a:ea typeface="Calibri"/>
                <a:cs typeface="Calibri"/>
                <a:sym typeface="Calibri"/>
              </a:rPr>
              <a:t> , </a:t>
            </a:r>
            <a:r>
              <a:rPr lang="en" sz="1200" u="sng">
                <a:solidFill>
                  <a:schemeClr val="hlink"/>
                </a:solidFill>
                <a:latin typeface="Calibri"/>
                <a:ea typeface="Calibri"/>
                <a:cs typeface="Calibri"/>
                <a:sym typeface="Calibri"/>
                <a:hlinkClick r:id="rId12"/>
              </a:rPr>
              <a:t>https://github.com/valkey-io/valkey</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13"/>
              </a:rPr>
              <a:t>https://www.youtube.com/watch?v=3Qc49WnQnSg</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Redis moved away from its BSD open-source model in 2024; Valkey was forked under Linux Foundation governance and keeps the BSD 3-Clause license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Valkey is wire-compatible with Redis clients and protocol, and reports say it can deliver higher throughput on multi-core workloads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SQLite in WAL mode is a strong embedded option for single-node caching because it avoids a separate server and supports concurrent reads while writes occur</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Dedicated cache servers like Valkey still matter for shared state, atomic operations, and richer distributed data-structure use cases</a:t>
            </a:r>
            <a:endParaRPr sz="1200">
              <a:solidFill>
                <a:schemeClr val="dk1"/>
              </a:solidFill>
              <a:latin typeface="Calibri"/>
              <a:ea typeface="Calibri"/>
              <a:cs typeface="Calibri"/>
              <a:sym typeface="Calibri"/>
            </a:endParaRPr>
          </a:p>
        </p:txBody>
      </p:sp>
      <p:pic>
        <p:nvPicPr>
          <p:cNvPr id="310" name="Google Shape;310;p41"/>
          <p:cNvPicPr preferRelativeResize="0"/>
          <p:nvPr/>
        </p:nvPicPr>
        <p:blipFill>
          <a:blip r:embed="rId14" cstate="email">
            <a:alphaModFix/>
            <a:extLst>
              <a:ext uri="{28A0092B-C50C-407E-A947-70E740481C1C}">
                <a14:useLocalDpi xmlns:a14="http://schemas.microsoft.com/office/drawing/2010/main"/>
              </a:ext>
            </a:extLst>
          </a:blip>
          <a:stretch>
            <a:fillRect/>
          </a:stretch>
        </p:blipFill>
        <p:spPr>
          <a:xfrm>
            <a:off x="5296300" y="542890"/>
            <a:ext cx="2746251" cy="1830825"/>
          </a:xfrm>
          <a:prstGeom prst="rect">
            <a:avLst/>
          </a:prstGeom>
          <a:noFill/>
          <a:ln w="9525" cap="flat" cmpd="sng">
            <a:solidFill>
              <a:srgbClr val="FF0000"/>
            </a:solidFill>
            <a:prstDash val="solid"/>
            <a:round/>
            <a:headEnd type="none" w="sm" len="sm"/>
            <a:tailEnd type="none" w="sm" len="sm"/>
          </a:ln>
        </p:spPr>
      </p:pic>
      <p:pic>
        <p:nvPicPr>
          <p:cNvPr id="311" name="Google Shape;311;p41"/>
          <p:cNvPicPr preferRelativeResize="0"/>
          <p:nvPr/>
        </p:nvPicPr>
        <p:blipFill>
          <a:blip r:embed="rId15" cstate="email">
            <a:alphaModFix/>
            <a:extLst>
              <a:ext uri="{28A0092B-C50C-407E-A947-70E740481C1C}">
                <a14:useLocalDpi xmlns:a14="http://schemas.microsoft.com/office/drawing/2010/main"/>
              </a:ext>
            </a:extLst>
          </a:blip>
          <a:stretch>
            <a:fillRect/>
          </a:stretch>
        </p:blipFill>
        <p:spPr>
          <a:xfrm>
            <a:off x="5296300" y="3084500"/>
            <a:ext cx="2372175" cy="158145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315"/>
        <p:cNvGrpSpPr/>
        <p:nvPr/>
      </p:nvGrpSpPr>
      <p:grpSpPr>
        <a:xfrm>
          <a:off x="0" y="0"/>
          <a:ext cx="0" cy="0"/>
          <a:chOff x="0" y="0"/>
          <a:chExt cx="0" cy="0"/>
        </a:xfrm>
      </p:grpSpPr>
      <p:sp>
        <p:nvSpPr>
          <p:cNvPr id="316" name="Google Shape;316;p42"/>
          <p:cNvSpPr txBox="1"/>
          <p:nvPr/>
        </p:nvSpPr>
        <p:spPr>
          <a:xfrm>
            <a:off x="81775" y="0"/>
            <a:ext cx="45354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sp>
        <p:nvSpPr>
          <p:cNvPr id="317" name="Google Shape;317;p42"/>
          <p:cNvSpPr txBox="1"/>
          <p:nvPr/>
        </p:nvSpPr>
        <p:spPr>
          <a:xfrm>
            <a:off x="81775" y="403915"/>
            <a:ext cx="4424700" cy="711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Hive - Multi-Agent Orchestration</a:t>
            </a:r>
            <a:endParaRPr sz="12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builds agent topologies automatically for complex, long-running workflows and production AI tasks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u="sng">
                <a:solidFill>
                  <a:schemeClr val="hlink"/>
                </a:solidFill>
                <a:latin typeface="Calibri"/>
                <a:ea typeface="Calibri"/>
                <a:cs typeface="Calibri"/>
                <a:sym typeface="Calibri"/>
                <a:hlinkClick r:id="rId3"/>
              </a:rPr>
              <a:t>https://github.com/aden-hive/hive</a:t>
            </a:r>
            <a:r>
              <a:rPr lang="en" sz="1100">
                <a:solidFill>
                  <a:schemeClr val="dk1"/>
                </a:solidFill>
                <a:latin typeface="Calibri"/>
                <a:ea typeface="Calibri"/>
                <a:cs typeface="Calibri"/>
                <a:sym typeface="Calibri"/>
              </a:rPr>
              <a:t> </a:t>
            </a:r>
            <a:endParaRPr sz="1100">
              <a:solidFill>
                <a:schemeClr val="dk1"/>
              </a:solidFill>
              <a:latin typeface="Calibri"/>
              <a:ea typeface="Calibri"/>
              <a:cs typeface="Calibri"/>
              <a:sym typeface="Calibri"/>
            </a:endParaRPr>
          </a:p>
        </p:txBody>
      </p:sp>
      <p:sp>
        <p:nvSpPr>
          <p:cNvPr id="318" name="Google Shape;318;p42"/>
          <p:cNvSpPr txBox="1"/>
          <p:nvPr/>
        </p:nvSpPr>
        <p:spPr>
          <a:xfrm>
            <a:off x="81775" y="1192456"/>
            <a:ext cx="4424700" cy="1696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chemeClr val="dk1"/>
              </a:buClr>
              <a:buSzPts val="1100"/>
              <a:buFont typeface="Calibri"/>
              <a:buChar char="●"/>
            </a:pPr>
            <a:r>
              <a:rPr lang="en" sz="1200" b="1">
                <a:solidFill>
                  <a:srgbClr val="FF0000"/>
                </a:solidFill>
                <a:latin typeface="Calibri"/>
                <a:ea typeface="Calibri"/>
                <a:cs typeface="Calibri"/>
                <a:sym typeface="Calibri"/>
              </a:rPr>
              <a:t>Automating Email Outreach with Hermes Agent</a:t>
            </a:r>
            <a:br>
              <a:rPr lang="en" sz="1100">
                <a:solidFill>
                  <a:schemeClr val="dk1"/>
                </a:solidFill>
                <a:latin typeface="Calibri"/>
                <a:ea typeface="Calibri"/>
                <a:cs typeface="Calibri"/>
                <a:sym typeface="Calibri"/>
              </a:rPr>
            </a:br>
            <a:r>
              <a:rPr lang="en" sz="900" u="sng">
                <a:solidFill>
                  <a:schemeClr val="hlink"/>
                </a:solidFill>
                <a:latin typeface="Calibri"/>
                <a:ea typeface="Calibri"/>
                <a:cs typeface="Calibri"/>
                <a:sym typeface="Calibri"/>
                <a:hlinkClick r:id="rId4"/>
              </a:rPr>
              <a:t>https://www.youtube.com/watch?v=x3WB9hvlN4U</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Hermes Agent connects to dedicated email inboxes via IMAP and SMTP to continuously check, sort, write, and respond to emails.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Built-in scheduling allows the agent to handle daily recurring tasks using plain language prompts without requiring any manual coding.</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Setting the agent to draft mode provides a safety gate, ensuring every email is manually reviewed before sending.</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Using a shared memory layer within an Agent OS allows multiple agents to access business context seamlessly without repeated explanations.</a:t>
            </a:r>
            <a:endParaRPr sz="1100">
              <a:solidFill>
                <a:schemeClr val="dk1"/>
              </a:solidFill>
              <a:latin typeface="Calibri"/>
              <a:ea typeface="Calibri"/>
              <a:cs typeface="Calibri"/>
              <a:sym typeface="Calibri"/>
            </a:endParaRPr>
          </a:p>
        </p:txBody>
      </p:sp>
      <p:pic>
        <p:nvPicPr>
          <p:cNvPr id="319" name="Google Shape;319;p42"/>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4617175" y="403926"/>
            <a:ext cx="2977736" cy="711000"/>
          </a:xfrm>
          <a:prstGeom prst="rect">
            <a:avLst/>
          </a:prstGeom>
          <a:noFill/>
          <a:ln w="9525" cap="flat" cmpd="sng">
            <a:solidFill>
              <a:srgbClr val="FF0000"/>
            </a:solidFill>
            <a:prstDash val="solid"/>
            <a:round/>
            <a:headEnd type="none" w="sm" len="sm"/>
            <a:tailEnd type="none" w="sm" len="sm"/>
          </a:ln>
        </p:spPr>
      </p:pic>
      <p:pic>
        <p:nvPicPr>
          <p:cNvPr id="320" name="Google Shape;320;p42"/>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4617175" y="1192446"/>
            <a:ext cx="1451332" cy="1696200"/>
          </a:xfrm>
          <a:prstGeom prst="rect">
            <a:avLst/>
          </a:prstGeom>
          <a:noFill/>
          <a:ln w="9525" cap="flat" cmpd="sng">
            <a:solidFill>
              <a:srgbClr val="FF0000"/>
            </a:solidFill>
            <a:prstDash val="solid"/>
            <a:round/>
            <a:headEnd type="none" w="sm" len="sm"/>
            <a:tailEnd type="none" w="sm" len="sm"/>
          </a:ln>
        </p:spPr>
      </p:pic>
      <p:sp>
        <p:nvSpPr>
          <p:cNvPr id="321" name="Google Shape;321;p42"/>
          <p:cNvSpPr txBox="1"/>
          <p:nvPr/>
        </p:nvSpPr>
        <p:spPr>
          <a:xfrm>
            <a:off x="81775" y="3020075"/>
            <a:ext cx="4424700" cy="1727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SuperFile - Terminal File Manager, in Go, Open-source MIT</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Central file explorer, preview for images and files, configurable keyboard shortcuts, directory sorting, file filtering, panel splitting, and directory pinning</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Prebuilt themes, configurable terminal editors, hidden file toggles, and keybindings via simple configuration files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rgbClr val="3C78D8"/>
              </a:buClr>
              <a:buSzPts val="1200"/>
              <a:buFont typeface="Calibri"/>
              <a:buChar char="●"/>
            </a:pPr>
            <a:r>
              <a:rPr lang="en" sz="1200" b="1">
                <a:solidFill>
                  <a:srgbClr val="3C78D8"/>
                </a:solidFill>
                <a:latin typeface="Calibri"/>
                <a:ea typeface="Calibri"/>
                <a:cs typeface="Calibri"/>
                <a:sym typeface="Calibri"/>
              </a:rPr>
              <a:t>bash -c "$(curl -sLo- </a:t>
            </a:r>
            <a:r>
              <a:rPr lang="en" sz="1200" b="1" u="sng">
                <a:solidFill>
                  <a:srgbClr val="3C78D8"/>
                </a:solidFill>
                <a:latin typeface="Calibri"/>
                <a:ea typeface="Calibri"/>
                <a:cs typeface="Calibri"/>
                <a:sym typeface="Calibri"/>
                <a:hlinkClick r:id="rId7">
                  <a:extLst>
                    <a:ext uri="{A12FA001-AC4F-418D-AE19-62706E023703}">
                      <ahyp:hlinkClr xmlns:ahyp="http://schemas.microsoft.com/office/drawing/2018/hyperlinkcolor" val="tx"/>
                    </a:ext>
                  </a:extLst>
                </a:hlinkClick>
              </a:rPr>
              <a:t>https://superfile.dev/install.sh</a:t>
            </a:r>
            <a:r>
              <a:rPr lang="en" sz="1200" b="1">
                <a:solidFill>
                  <a:srgbClr val="3C78D8"/>
                </a:solidFill>
                <a:latin typeface="Calibri"/>
                <a:ea typeface="Calibri"/>
                <a:cs typeface="Calibri"/>
                <a:sym typeface="Calibri"/>
              </a:rPr>
              <a:t>)" </a:t>
            </a:r>
            <a:endParaRPr sz="1200" b="1">
              <a:solidFill>
                <a:srgbClr val="3C78D8"/>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8"/>
              </a:rPr>
              <a:t>https://www.youtube.com/watch?v=pDIMXiKyvA4</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9"/>
              </a:rPr>
              <a:t>https://superfile.dev</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10"/>
              </a:rPr>
              <a:t>https://github.com/yorukot/superfile</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p:txBody>
      </p:sp>
      <p:pic>
        <p:nvPicPr>
          <p:cNvPr id="322" name="Google Shape;322;p42"/>
          <p:cNvPicPr preferRelativeResize="0"/>
          <p:nvPr/>
        </p:nvPicPr>
        <p:blipFill>
          <a:blip r:embed="rId11" cstate="email">
            <a:alphaModFix/>
            <a:extLst>
              <a:ext uri="{28A0092B-C50C-407E-A947-70E740481C1C}">
                <a14:useLocalDpi xmlns:a14="http://schemas.microsoft.com/office/drawing/2010/main"/>
              </a:ext>
            </a:extLst>
          </a:blip>
          <a:stretch>
            <a:fillRect/>
          </a:stretch>
        </p:blipFill>
        <p:spPr>
          <a:xfrm>
            <a:off x="4658875" y="3041050"/>
            <a:ext cx="3657395" cy="172710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326"/>
        <p:cNvGrpSpPr/>
        <p:nvPr/>
      </p:nvGrpSpPr>
      <p:grpSpPr>
        <a:xfrm>
          <a:off x="0" y="0"/>
          <a:ext cx="0" cy="0"/>
          <a:chOff x="0" y="0"/>
          <a:chExt cx="0" cy="0"/>
        </a:xfrm>
      </p:grpSpPr>
      <p:sp>
        <p:nvSpPr>
          <p:cNvPr id="327" name="Google Shape;327;p43"/>
          <p:cNvSpPr txBox="1"/>
          <p:nvPr/>
        </p:nvSpPr>
        <p:spPr>
          <a:xfrm>
            <a:off x="81775" y="0"/>
            <a:ext cx="45354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sp>
        <p:nvSpPr>
          <p:cNvPr id="328" name="Google Shape;328;p43"/>
          <p:cNvSpPr txBox="1"/>
          <p:nvPr/>
        </p:nvSpPr>
        <p:spPr>
          <a:xfrm>
            <a:off x="81775" y="475750"/>
            <a:ext cx="4437000" cy="2789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17 Tricks To Build 10x Faster with Claude</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3"/>
              </a:rPr>
              <a:t>https://www.youtube.com/watch?v=ZzHB2mPHb2g</a:t>
            </a:r>
            <a:endParaRPr sz="1200">
              <a:latin typeface="Calibri"/>
              <a:ea typeface="Calibri"/>
              <a:cs typeface="Calibri"/>
              <a:sym typeface="Calibri"/>
            </a:endParaRPr>
          </a:p>
          <a:p>
            <a:pPr marL="171450" marR="0" lvl="0" indent="-133350" algn="l" rtl="0">
              <a:lnSpc>
                <a:spcPct val="100000"/>
              </a:lnSpc>
              <a:spcBef>
                <a:spcPts val="0"/>
              </a:spcBef>
              <a:spcAft>
                <a:spcPts val="0"/>
              </a:spcAft>
              <a:buClr>
                <a:srgbClr val="3C78D8"/>
              </a:buClr>
              <a:buSzPts val="1200"/>
              <a:buFont typeface="Calibri"/>
              <a:buChar char="●"/>
            </a:pPr>
            <a:r>
              <a:rPr lang="en" sz="1200">
                <a:solidFill>
                  <a:srgbClr val="3C78D8"/>
                </a:solidFill>
                <a:latin typeface="Calibri"/>
                <a:ea typeface="Calibri"/>
                <a:cs typeface="Calibri"/>
                <a:sym typeface="Calibri"/>
              </a:rPr>
              <a:t>.. use "/init" skill</a:t>
            </a:r>
            <a:br>
              <a:rPr lang="en" sz="1200">
                <a:solidFill>
                  <a:srgbClr val="3C78D8"/>
                </a:solidFill>
                <a:latin typeface="Calibri"/>
                <a:ea typeface="Calibri"/>
                <a:cs typeface="Calibri"/>
                <a:sym typeface="Calibri"/>
              </a:rPr>
            </a:br>
            <a:r>
              <a:rPr lang="en" sz="1200">
                <a:solidFill>
                  <a:srgbClr val="3C78D8"/>
                </a:solidFill>
                <a:latin typeface="Calibri"/>
                <a:ea typeface="Calibri"/>
                <a:cs typeface="Calibri"/>
                <a:sym typeface="Calibri"/>
              </a:rPr>
              <a:t>.. default to auto-approve permission modes</a:t>
            </a:r>
            <a:br>
              <a:rPr lang="en" sz="1200">
                <a:solidFill>
                  <a:srgbClr val="3C78D8"/>
                </a:solidFill>
                <a:latin typeface="Calibri"/>
                <a:ea typeface="Calibri"/>
                <a:cs typeface="Calibri"/>
                <a:sym typeface="Calibri"/>
              </a:rPr>
            </a:br>
            <a:r>
              <a:rPr lang="en" sz="1200">
                <a:solidFill>
                  <a:srgbClr val="3C78D8"/>
                </a:solidFill>
                <a:latin typeface="Calibri"/>
                <a:ea typeface="Calibri"/>
                <a:cs typeface="Calibri"/>
                <a:sym typeface="Calibri"/>
              </a:rPr>
              <a:t>.. establish session-start hooks for automated workflow reminders</a:t>
            </a:r>
            <a:br>
              <a:rPr lang="en" sz="1200">
                <a:solidFill>
                  <a:srgbClr val="3C78D8"/>
                </a:solidFill>
                <a:latin typeface="Calibri"/>
                <a:ea typeface="Calibri"/>
                <a:cs typeface="Calibri"/>
                <a:sym typeface="Calibri"/>
              </a:rPr>
            </a:br>
            <a:r>
              <a:rPr lang="en" sz="1200">
                <a:solidFill>
                  <a:srgbClr val="3C78D8"/>
                </a:solidFill>
                <a:latin typeface="Calibri"/>
                <a:ea typeface="Calibri"/>
                <a:cs typeface="Calibri"/>
                <a:sym typeface="Calibri"/>
              </a:rPr>
              <a:t>.. monitor token status lines to avoid hitting context boundaries</a:t>
            </a:r>
            <a:endParaRPr sz="1200">
              <a:solidFill>
                <a:srgbClr val="3C78D8"/>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Execute parallel sub-agents</a:t>
            </a:r>
            <a:br>
              <a:rPr lang="en" sz="1200">
                <a:latin typeface="Calibri"/>
                <a:ea typeface="Calibri"/>
                <a:cs typeface="Calibri"/>
                <a:sym typeface="Calibri"/>
              </a:rPr>
            </a:br>
            <a:r>
              <a:rPr lang="en" sz="1200">
                <a:latin typeface="Calibri"/>
                <a:ea typeface="Calibri"/>
                <a:cs typeface="Calibri"/>
                <a:sym typeface="Calibri"/>
              </a:rPr>
              <a:t>map cheaper models to simpler subtasks</a:t>
            </a:r>
            <a:br>
              <a:rPr lang="en" sz="1200">
                <a:latin typeface="Calibri"/>
                <a:ea typeface="Calibri"/>
                <a:cs typeface="Calibri"/>
                <a:sym typeface="Calibri"/>
              </a:rPr>
            </a:br>
            <a:r>
              <a:rPr lang="en" sz="1200">
                <a:latin typeface="Calibri"/>
                <a:ea typeface="Calibri"/>
                <a:cs typeface="Calibri"/>
                <a:sym typeface="Calibri"/>
              </a:rPr>
              <a:t>embed reusable custom scripts inside skills</a:t>
            </a:r>
            <a:br>
              <a:rPr lang="en" sz="1200">
                <a:latin typeface="Calibri"/>
                <a:ea typeface="Calibri"/>
                <a:cs typeface="Calibri"/>
                <a:sym typeface="Calibri"/>
              </a:rPr>
            </a:br>
            <a:r>
              <a:rPr lang="en" sz="1200">
                <a:latin typeface="Calibri"/>
                <a:ea typeface="Calibri"/>
                <a:cs typeface="Calibri"/>
                <a:sym typeface="Calibri"/>
              </a:rPr>
              <a:t>separate individual projects across isolated workspace directories</a:t>
            </a:r>
            <a:endParaRPr sz="1200">
              <a:latin typeface="Calibri"/>
              <a:ea typeface="Calibri"/>
              <a:cs typeface="Calibri"/>
              <a:sym typeface="Calibri"/>
            </a:endParaRPr>
          </a:p>
          <a:p>
            <a:pPr marL="171450" marR="0" lvl="0" indent="-133350" algn="l" rtl="0">
              <a:lnSpc>
                <a:spcPct val="100000"/>
              </a:lnSpc>
              <a:spcBef>
                <a:spcPts val="0"/>
              </a:spcBef>
              <a:spcAft>
                <a:spcPts val="0"/>
              </a:spcAft>
              <a:buClr>
                <a:srgbClr val="3C78D8"/>
              </a:buClr>
              <a:buSzPts val="1200"/>
              <a:buFont typeface="Calibri"/>
              <a:buChar char="●"/>
            </a:pPr>
            <a:r>
              <a:rPr lang="en" sz="1200">
                <a:solidFill>
                  <a:srgbClr val="3C78D8"/>
                </a:solidFill>
                <a:latin typeface="Calibri"/>
                <a:ea typeface="Calibri"/>
                <a:cs typeface="Calibri"/>
                <a:sym typeface="Calibri"/>
              </a:rPr>
              <a:t>Ask Claude to interview (gril)  you about project in plan mode to uncover blind spots and refine ideas before execution</a:t>
            </a:r>
            <a:endParaRPr sz="1200">
              <a:solidFill>
                <a:srgbClr val="3C78D8"/>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Log workflow histories to identify persistent errors</a:t>
            </a:r>
            <a:br>
              <a:rPr lang="en" sz="1200">
                <a:latin typeface="Calibri"/>
                <a:ea typeface="Calibri"/>
                <a:cs typeface="Calibri"/>
                <a:sym typeface="Calibri"/>
              </a:rPr>
            </a:br>
            <a:r>
              <a:rPr lang="en" sz="1200">
                <a:latin typeface="Calibri"/>
                <a:ea typeface="Calibri"/>
                <a:cs typeface="Calibri"/>
                <a:sym typeface="Calibri"/>
              </a:rPr>
              <a:t>build self-verifying loops that rerun until success</a:t>
            </a:r>
            <a:br>
              <a:rPr lang="en" sz="1200">
                <a:latin typeface="Calibri"/>
                <a:ea typeface="Calibri"/>
                <a:cs typeface="Calibri"/>
                <a:sym typeface="Calibri"/>
              </a:rPr>
            </a:br>
            <a:r>
              <a:rPr lang="en" sz="1200">
                <a:latin typeface="Calibri"/>
                <a:ea typeface="Calibri"/>
                <a:cs typeface="Calibri"/>
                <a:sym typeface="Calibri"/>
              </a:rPr>
              <a:t>let the human review happen in the middle of the workflow</a:t>
            </a:r>
            <a:endParaRPr sz="1200">
              <a:latin typeface="Calibri"/>
              <a:ea typeface="Calibri"/>
              <a:cs typeface="Calibri"/>
              <a:sym typeface="Calibri"/>
            </a:endParaRPr>
          </a:p>
        </p:txBody>
      </p:sp>
      <p:sp>
        <p:nvSpPr>
          <p:cNvPr id="329" name="Google Shape;329;p43"/>
          <p:cNvSpPr txBox="1"/>
          <p:nvPr/>
        </p:nvSpPr>
        <p:spPr>
          <a:xfrm>
            <a:off x="4617175" y="1269600"/>
            <a:ext cx="4437000" cy="2604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Simon Martinelli on process-centric spec-driven development </a:t>
            </a:r>
            <a:br>
              <a:rPr lang="en" sz="1200">
                <a:latin typeface="Calibri"/>
                <a:ea typeface="Calibri"/>
                <a:cs typeface="Calibri"/>
                <a:sym typeface="Calibri"/>
              </a:rPr>
            </a:br>
            <a:r>
              <a:rPr lang="en" sz="1200" u="sng">
                <a:solidFill>
                  <a:schemeClr val="hlink"/>
                </a:solidFill>
                <a:latin typeface="Calibri"/>
                <a:ea typeface="Calibri"/>
                <a:cs typeface="Calibri"/>
                <a:sym typeface="Calibri"/>
                <a:hlinkClick r:id="rId4"/>
              </a:rPr>
              <a:t>https://www.youtube.com/watch?v=odbNXv9xXjc</a:t>
            </a:r>
            <a:r>
              <a:rPr lang="en" sz="1200">
                <a:latin typeface="Calibri"/>
                <a:ea typeface="Calibri"/>
                <a:cs typeface="Calibri"/>
                <a:sym typeface="Calibri"/>
              </a:rPr>
              <a:t> </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He is using system use cases and entity models</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AI can extract specs from existing code and documentation</a:t>
            </a:r>
            <a:r>
              <a:rPr lang="en" sz="1200">
                <a:latin typeface="Calibri"/>
                <a:ea typeface="Calibri"/>
                <a:cs typeface="Calibri"/>
                <a:sym typeface="Calibri"/>
              </a:rPr>
              <a:t>, allowing teams to add new capabilities without migration</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Self-contained system architectures work better for AI development than microservices or monolithic setups because they keep context well-bounded in unified repositories</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Workflows shift heavily toward requirements engineering</a:t>
            </a:r>
            <a:r>
              <a:rPr lang="en" sz="1200">
                <a:latin typeface="Calibri"/>
                <a:ea typeface="Calibri"/>
                <a:cs typeface="Calibri"/>
                <a:sym typeface="Calibri"/>
              </a:rPr>
              <a:t>, replacing two-week agile sprints with continuous delivery, smaller development teams, and trunk-based peer reviews</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Development reliability is maintained through targeted skills</a:t>
            </a:r>
            <a:r>
              <a:rPr lang="en" sz="1200">
                <a:latin typeface="Calibri"/>
                <a:ea typeface="Calibri"/>
                <a:cs typeface="Calibri"/>
                <a:sym typeface="Calibri"/>
              </a:rPr>
              <a:t>, architectural guidelines, and documentation search tools rather than large system prompts</a:t>
            </a:r>
            <a:endParaRPr sz="1200">
              <a:latin typeface="Calibri"/>
              <a:ea typeface="Calibri"/>
              <a:cs typeface="Calibri"/>
              <a:sym typeface="Calibri"/>
            </a:endParaRPr>
          </a:p>
        </p:txBody>
      </p:sp>
      <p:pic>
        <p:nvPicPr>
          <p:cNvPr id="330" name="Google Shape;330;p43"/>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7118279" y="150400"/>
            <a:ext cx="1935900" cy="1054325"/>
          </a:xfrm>
          <a:prstGeom prst="rect">
            <a:avLst/>
          </a:prstGeom>
          <a:noFill/>
          <a:ln w="9525" cap="flat" cmpd="sng">
            <a:solidFill>
              <a:srgbClr val="FF0000"/>
            </a:solidFill>
            <a:prstDash val="solid"/>
            <a:round/>
            <a:headEnd type="none" w="sm" len="sm"/>
            <a:tailEnd type="none" w="sm" len="sm"/>
          </a:ln>
        </p:spPr>
      </p:pic>
      <p:pic>
        <p:nvPicPr>
          <p:cNvPr id="331" name="Google Shape;331;p43"/>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81775" y="3348250"/>
            <a:ext cx="2163475" cy="117825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335"/>
        <p:cNvGrpSpPr/>
        <p:nvPr/>
      </p:nvGrpSpPr>
      <p:grpSpPr>
        <a:xfrm>
          <a:off x="0" y="0"/>
          <a:ext cx="0" cy="0"/>
          <a:chOff x="0" y="0"/>
          <a:chExt cx="0" cy="0"/>
        </a:xfrm>
      </p:grpSpPr>
      <p:sp>
        <p:nvSpPr>
          <p:cNvPr id="336" name="Google Shape;336;p44"/>
          <p:cNvSpPr txBox="1"/>
          <p:nvPr/>
        </p:nvSpPr>
        <p:spPr>
          <a:xfrm>
            <a:off x="81775" y="8"/>
            <a:ext cx="15510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sp>
        <p:nvSpPr>
          <p:cNvPr id="337" name="Google Shape;337;p44"/>
          <p:cNvSpPr txBox="1"/>
          <p:nvPr/>
        </p:nvSpPr>
        <p:spPr>
          <a:xfrm>
            <a:off x="81775" y="387000"/>
            <a:ext cx="4428600" cy="2789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How to Survive using AI </a:t>
            </a:r>
            <a:r>
              <a:rPr lang="en" sz="1200">
                <a:solidFill>
                  <a:schemeClr val="dk1"/>
                </a:solidFill>
                <a:latin typeface="Calibri"/>
                <a:ea typeface="Calibri"/>
                <a:cs typeface="Calibri"/>
                <a:sym typeface="Calibri"/>
              </a:rPr>
              <a:t>(in Russian)</a:t>
            </a:r>
            <a:br>
              <a:rPr lang="en" sz="1200">
                <a:solidFill>
                  <a:schemeClr val="dk1"/>
                </a:solidFill>
                <a:latin typeface="Calibri"/>
                <a:ea typeface="Calibri"/>
                <a:cs typeface="Calibri"/>
                <a:sym typeface="Calibri"/>
              </a:rPr>
            </a:br>
            <a:r>
              <a:rPr lang="en" sz="1200" u="sng">
                <a:solidFill>
                  <a:schemeClr val="hlink"/>
                </a:solidFill>
                <a:latin typeface="Calibri"/>
                <a:ea typeface="Calibri"/>
                <a:cs typeface="Calibri"/>
                <a:sym typeface="Calibri"/>
                <a:hlinkClick r:id="rId3"/>
              </a:rPr>
              <a:t>https://www.youtube.com/watch?v=JO-42T8SwC4</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Integrate AI tools like Claude, Gemini, and Perplexity into you  business workflow - optimizes content production, research, and data tracking</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Organize core docs like standard custom AI prompts, anti-files, brand values, and personal constitutions in project folders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Leveraging AI allows small teams to scale operations, execute complex automation, and focus on higher-level strategic decisions.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Mogilko utilizes automated cultural alignment tests during recruitment to evaluate candidate autonomy, ownership, and adaptability over just technical skill sets.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Sustaining entrepreneurial growth requires continuous experimentation, adaptability through market shifts, and identifying core passions to maintain momentum through challenges.</a:t>
            </a:r>
            <a:endParaRPr sz="1200">
              <a:solidFill>
                <a:schemeClr val="dk1"/>
              </a:solidFill>
              <a:latin typeface="Calibri"/>
              <a:ea typeface="Calibri"/>
              <a:cs typeface="Calibri"/>
              <a:sym typeface="Calibri"/>
            </a:endParaRPr>
          </a:p>
        </p:txBody>
      </p:sp>
      <p:sp>
        <p:nvSpPr>
          <p:cNvPr id="338" name="Google Shape;338;p44"/>
          <p:cNvSpPr txBox="1"/>
          <p:nvPr/>
        </p:nvSpPr>
        <p:spPr>
          <a:xfrm>
            <a:off x="4550023" y="2078338"/>
            <a:ext cx="4497600" cy="2973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Tencent Hyra 1.0 - Research Agent</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Capable of recursive self-improvement on engineering tasks that have clear measurable performance scores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architecture uses context and proposal agents alongside isolated execution sandboxes and an experience bank memory to repeatedly test and refine ideas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It implements dual loops to continuously improve candidate solutions while simultaneously upgrading the grading mechanism to stop shortcut cheating or data leakage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Hyra beat established AI training benchmarks, solved 29 open mathematics problems, optimized quantum computing algorithms, and advanced early-stage drug design candidates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Key actionable takeaways for developers include maintaining structured attempt histories, scoring performance numerically, executing parallel attempts, and continually sharpening testing standards - </a:t>
            </a:r>
            <a:r>
              <a:rPr lang="en" sz="1200" u="sng">
                <a:solidFill>
                  <a:schemeClr val="hlink"/>
                </a:solidFill>
                <a:latin typeface="Calibri"/>
                <a:ea typeface="Calibri"/>
                <a:cs typeface="Calibri"/>
                <a:sym typeface="Calibri"/>
                <a:hlinkClick r:id="rId4"/>
              </a:rPr>
              <a:t>https://www.youtube.com/watch?v=JpVGBgAKzYw</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p:txBody>
      </p:sp>
      <p:pic>
        <p:nvPicPr>
          <p:cNvPr id="339" name="Google Shape;339;p44"/>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81775" y="3236700"/>
            <a:ext cx="1956300" cy="1072350"/>
          </a:xfrm>
          <a:prstGeom prst="rect">
            <a:avLst/>
          </a:prstGeom>
          <a:noFill/>
          <a:ln w="9525" cap="flat" cmpd="sng">
            <a:solidFill>
              <a:srgbClr val="FF0000"/>
            </a:solidFill>
            <a:prstDash val="solid"/>
            <a:round/>
            <a:headEnd type="none" w="sm" len="sm"/>
            <a:tailEnd type="none" w="sm" len="sm"/>
          </a:ln>
        </p:spPr>
      </p:pic>
      <p:pic>
        <p:nvPicPr>
          <p:cNvPr id="340" name="Google Shape;340;p44"/>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7200899" y="606848"/>
            <a:ext cx="1846725" cy="138505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344"/>
        <p:cNvGrpSpPr/>
        <p:nvPr/>
      </p:nvGrpSpPr>
      <p:grpSpPr>
        <a:xfrm>
          <a:off x="0" y="0"/>
          <a:ext cx="0" cy="0"/>
          <a:chOff x="0" y="0"/>
          <a:chExt cx="0" cy="0"/>
        </a:xfrm>
      </p:grpSpPr>
      <p:sp>
        <p:nvSpPr>
          <p:cNvPr id="345" name="Google Shape;345;p45"/>
          <p:cNvSpPr txBox="1"/>
          <p:nvPr/>
        </p:nvSpPr>
        <p:spPr>
          <a:xfrm>
            <a:off x="81775" y="0"/>
            <a:ext cx="13953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GigaToken</a:t>
            </a:r>
            <a:endParaRPr sz="2000" b="1">
              <a:solidFill>
                <a:schemeClr val="dk1"/>
              </a:solidFill>
              <a:latin typeface="Calibri"/>
              <a:ea typeface="Calibri"/>
              <a:cs typeface="Calibri"/>
              <a:sym typeface="Calibri"/>
            </a:endParaRPr>
          </a:p>
        </p:txBody>
      </p:sp>
      <p:sp>
        <p:nvSpPr>
          <p:cNvPr id="346" name="Google Shape;346;p45"/>
          <p:cNvSpPr txBox="1"/>
          <p:nvPr/>
        </p:nvSpPr>
        <p:spPr>
          <a:xfrm>
            <a:off x="81775" y="387010"/>
            <a:ext cx="4368300" cy="40206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GigaToken: Fast Open-Source Tokenizer</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3"/>
              </a:rPr>
              <a:t>https://github.com/marcelroed/gigatoken</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GigaToken runs approx 1,000 times faster than industry standards like OpenAI Tiktoken and Hugging Face.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Very important for training, tuning, and inference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GigaToken is written in Rust for speed and parallelism</a:t>
            </a:r>
            <a:endParaRPr sz="1200">
              <a:solidFill>
                <a:schemeClr val="dk1"/>
              </a:solidFill>
              <a:latin typeface="Calibri"/>
              <a:ea typeface="Calibri"/>
              <a:cs typeface="Calibri"/>
              <a:sym typeface="Calibri"/>
            </a:endParaRPr>
          </a:p>
          <a:p>
            <a:pPr marL="171450" marR="0" lvl="0" indent="-120650" algn="l" rtl="0">
              <a:lnSpc>
                <a:spcPct val="100000"/>
              </a:lnSpc>
              <a:spcBef>
                <a:spcPts val="0"/>
              </a:spcBef>
              <a:spcAft>
                <a:spcPts val="0"/>
              </a:spcAft>
              <a:buClr>
                <a:srgbClr val="3C78D8"/>
              </a:buClr>
              <a:buSzPts val="1000"/>
              <a:buFont typeface="Victor Mono"/>
              <a:buChar char="●"/>
            </a:pPr>
            <a:r>
              <a:rPr lang="en" sz="1000" b="1">
                <a:solidFill>
                  <a:srgbClr val="3C78D8"/>
                </a:solidFill>
                <a:latin typeface="Victor Mono"/>
                <a:ea typeface="Victor Mono"/>
                <a:cs typeface="Victor Mono"/>
                <a:sym typeface="Victor Mono"/>
              </a:rPr>
              <a:t># pip install gigatoken</a:t>
            </a:r>
            <a:endParaRPr sz="1000" b="1">
              <a:solidFill>
                <a:srgbClr val="3C78D8"/>
              </a:solidFill>
              <a:latin typeface="Victor Mono"/>
              <a:ea typeface="Victor Mono"/>
              <a:cs typeface="Victor Mono"/>
              <a:sym typeface="Victor Mono"/>
            </a:endParaRPr>
          </a:p>
          <a:p>
            <a:pPr marL="171450" marR="0" lvl="0" indent="-120650" algn="l" rtl="0">
              <a:lnSpc>
                <a:spcPct val="100000"/>
              </a:lnSpc>
              <a:spcBef>
                <a:spcPts val="0"/>
              </a:spcBef>
              <a:spcAft>
                <a:spcPts val="0"/>
              </a:spcAft>
              <a:buClr>
                <a:srgbClr val="3C78D8"/>
              </a:buClr>
              <a:buSzPts val="1000"/>
              <a:buFont typeface="Victor Mono"/>
              <a:buChar char="●"/>
            </a:pPr>
            <a:r>
              <a:rPr lang="en" sz="1000" b="1">
                <a:solidFill>
                  <a:srgbClr val="3C78D8"/>
                </a:solidFill>
                <a:latin typeface="Victor Mono"/>
                <a:ea typeface="Victor Mono"/>
                <a:cs typeface="Victor Mono"/>
                <a:sym typeface="Victor Mono"/>
              </a:rPr>
              <a:t>import gigatoken as gt</a:t>
            </a:r>
            <a:endParaRPr sz="1000" b="1">
              <a:solidFill>
                <a:srgbClr val="3C78D8"/>
              </a:solidFill>
              <a:latin typeface="Victor Mono"/>
              <a:ea typeface="Victor Mono"/>
              <a:cs typeface="Victor Mono"/>
              <a:sym typeface="Victor Mono"/>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Stanford PhD student Marcel Rudd released GigaToken, </a:t>
            </a:r>
            <a:r>
              <a:rPr lang="en" sz="1200" b="1">
                <a:solidFill>
                  <a:srgbClr val="FF0000"/>
                </a:solidFill>
                <a:latin typeface="Calibri"/>
                <a:ea typeface="Calibri"/>
                <a:cs typeface="Calibri"/>
                <a:sym typeface="Calibri"/>
              </a:rPr>
              <a:t>a fast open-source tokenizer </a:t>
            </a:r>
            <a:r>
              <a:rPr lang="en" sz="1200">
                <a:solidFill>
                  <a:schemeClr val="dk1"/>
                </a:solidFill>
                <a:latin typeface="Calibri"/>
                <a:ea typeface="Calibri"/>
                <a:cs typeface="Calibri"/>
                <a:sym typeface="Calibri"/>
              </a:rPr>
              <a:t>designed for AI language models.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It processes up to 24.5 gigabytes of text per second, running up to 1,000 times faster than The software produces byte-for-byte identical output, ensuring complete accuracy without sacrificing output quality.</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Major speed improvements come from replacing slow regular expression text pre-splitting with wide SIMD CPU instructions and optimized memory caching.</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It operates seamlessly across various hardware platforms, including Apple Silicon, gaming processors, and high-end server chips.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GigaToken installs easily via Python, drastically reducing data preprocessing bottlenecks during model training and inference.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4"/>
              </a:rPr>
              <a:t>https://www.youtube.com/watch?v=vFtJeZ7ifTA</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p:txBody>
      </p:sp>
      <p:pic>
        <p:nvPicPr>
          <p:cNvPr id="347" name="Google Shape;347;p45"/>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4975525" y="386998"/>
            <a:ext cx="3593200" cy="175055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351"/>
        <p:cNvGrpSpPr/>
        <p:nvPr/>
      </p:nvGrpSpPr>
      <p:grpSpPr>
        <a:xfrm>
          <a:off x="0" y="0"/>
          <a:ext cx="0" cy="0"/>
          <a:chOff x="0" y="0"/>
          <a:chExt cx="0" cy="0"/>
        </a:xfrm>
      </p:grpSpPr>
      <p:sp>
        <p:nvSpPr>
          <p:cNvPr id="352" name="Google Shape;352;p46"/>
          <p:cNvSpPr txBox="1"/>
          <p:nvPr/>
        </p:nvSpPr>
        <p:spPr>
          <a:xfrm>
            <a:off x="67350" y="52750"/>
            <a:ext cx="31794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i="0" u="none" strike="noStrike" cap="none">
                <a:solidFill>
                  <a:schemeClr val="dk1"/>
                </a:solidFill>
                <a:latin typeface="Calibri"/>
                <a:ea typeface="Calibri"/>
                <a:cs typeface="Calibri"/>
                <a:sym typeface="Calibri"/>
              </a:rPr>
              <a:t>Jobs</a:t>
            </a:r>
            <a:endParaRPr sz="2000" b="1" i="0" u="none" strike="noStrike" cap="none">
              <a:solidFill>
                <a:schemeClr val="dk1"/>
              </a:solidFill>
              <a:latin typeface="Calibri"/>
              <a:ea typeface="Calibri"/>
              <a:cs typeface="Calibri"/>
              <a:sym typeface="Calibri"/>
            </a:endParaRPr>
          </a:p>
        </p:txBody>
      </p:sp>
      <p:sp>
        <p:nvSpPr>
          <p:cNvPr id="353" name="Google Shape;353;p46"/>
          <p:cNvSpPr txBox="1"/>
          <p:nvPr/>
        </p:nvSpPr>
        <p:spPr>
          <a:xfrm>
            <a:off x="2134467" y="34252"/>
            <a:ext cx="1800600" cy="387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SzPts val="1200"/>
              <a:buFont typeface="Calibri"/>
              <a:buChar char="●"/>
            </a:pPr>
            <a:r>
              <a:rPr lang="en" sz="1200" b="0" i="0" u="sng" strike="noStrike" cap="none">
                <a:solidFill>
                  <a:schemeClr val="hlink"/>
                </a:solidFill>
                <a:latin typeface="Calibri"/>
                <a:ea typeface="Calibri"/>
                <a:cs typeface="Calibri"/>
                <a:sym typeface="Calibri"/>
                <a:hlinkClick r:id="rId3"/>
              </a:rPr>
              <a:t>https://layoffs.fyi</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4"/>
              </a:rPr>
              <a:t>https://trueup.io/layoffs</a:t>
            </a:r>
            <a:r>
              <a:rPr lang="en" sz="1200">
                <a:latin typeface="Calibri"/>
                <a:ea typeface="Calibri"/>
                <a:cs typeface="Calibri"/>
                <a:sym typeface="Calibri"/>
              </a:rPr>
              <a:t> </a:t>
            </a:r>
            <a:r>
              <a:rPr lang="en" sz="1200" b="0" i="0" u="none" strike="noStrike" cap="none">
                <a:solidFill>
                  <a:srgbClr val="000000"/>
                </a:solidFill>
                <a:latin typeface="Calibri"/>
                <a:ea typeface="Calibri"/>
                <a:cs typeface="Calibri"/>
                <a:sym typeface="Calibri"/>
              </a:rPr>
              <a:t> </a:t>
            </a:r>
            <a:endParaRPr sz="1200" b="0" i="0" u="none" strike="noStrike" cap="none">
              <a:solidFill>
                <a:srgbClr val="000000"/>
              </a:solidFill>
              <a:latin typeface="Calibri"/>
              <a:ea typeface="Calibri"/>
              <a:cs typeface="Calibri"/>
              <a:sym typeface="Calibri"/>
            </a:endParaRPr>
          </a:p>
        </p:txBody>
      </p:sp>
      <p:sp>
        <p:nvSpPr>
          <p:cNvPr id="354" name="Google Shape;354;p46"/>
          <p:cNvSpPr txBox="1"/>
          <p:nvPr/>
        </p:nvSpPr>
        <p:spPr>
          <a:xfrm>
            <a:off x="5655225" y="3510625"/>
            <a:ext cx="3360600" cy="1311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None/>
            </a:pPr>
            <a:r>
              <a:rPr lang="en" sz="1200" b="1">
                <a:solidFill>
                  <a:srgbClr val="FF0000"/>
                </a:solidFill>
                <a:latin typeface="Calibri"/>
                <a:ea typeface="Calibri"/>
                <a:cs typeface="Calibri"/>
                <a:sym typeface="Calibri"/>
              </a:rPr>
              <a:t>  Tech Layoffs by year (US only):</a:t>
            </a:r>
            <a:endParaRPr sz="1200" b="1">
              <a:solidFill>
                <a:srgbClr val="FF0000"/>
              </a:solidFill>
              <a:latin typeface="Calibri"/>
              <a:ea typeface="Calibri"/>
              <a:cs typeface="Calibri"/>
              <a:sym typeface="Calibri"/>
            </a:endParaRPr>
          </a:p>
          <a:p>
            <a:pPr marL="228600" marR="0" lvl="1" indent="-133350" algn="l" rtl="0">
              <a:lnSpc>
                <a:spcPct val="100000"/>
              </a:lnSpc>
              <a:spcBef>
                <a:spcPts val="0"/>
              </a:spcBef>
              <a:spcAft>
                <a:spcPts val="0"/>
              </a:spcAft>
              <a:buSzPts val="1200"/>
              <a:buFont typeface="Calibri"/>
              <a:buChar char="○"/>
            </a:pPr>
            <a:r>
              <a:rPr lang="en" sz="1000" b="1">
                <a:latin typeface="Roboto Mono"/>
                <a:ea typeface="Roboto Mono"/>
                <a:cs typeface="Roboto Mono"/>
                <a:sym typeface="Roboto Mono"/>
              </a:rPr>
              <a:t>124K in 2026 </a:t>
            </a:r>
            <a:r>
              <a:rPr lang="en" sz="1000" b="1">
                <a:solidFill>
                  <a:schemeClr val="dk1"/>
                </a:solidFill>
                <a:latin typeface="Roboto Mono"/>
                <a:ea typeface="Roboto Mono"/>
                <a:cs typeface="Roboto Mono"/>
                <a:sym typeface="Roboto Mono"/>
              </a:rPr>
              <a:t>(as of July 31, 2026)</a:t>
            </a:r>
            <a:endParaRPr sz="1000" b="1">
              <a:latin typeface="Roboto Mono"/>
              <a:ea typeface="Roboto Mono"/>
              <a:cs typeface="Roboto Mono"/>
              <a:sym typeface="Roboto Mono"/>
            </a:endParaRPr>
          </a:p>
          <a:p>
            <a:pPr marL="228600" marR="0" lvl="1" indent="-133350" algn="l" rtl="0">
              <a:lnSpc>
                <a:spcPct val="100000"/>
              </a:lnSpc>
              <a:spcBef>
                <a:spcPts val="0"/>
              </a:spcBef>
              <a:spcAft>
                <a:spcPts val="0"/>
              </a:spcAft>
              <a:buSzPts val="1200"/>
              <a:buFont typeface="Calibri"/>
              <a:buChar char="○"/>
            </a:pPr>
            <a:r>
              <a:rPr lang="en" sz="1000" b="1">
                <a:latin typeface="Roboto Mono"/>
                <a:ea typeface="Roboto Mono"/>
                <a:cs typeface="Roboto Mono"/>
                <a:sym typeface="Roboto Mono"/>
              </a:rPr>
              <a:t>124K in 2025 </a:t>
            </a:r>
            <a:endParaRPr sz="1000" b="1">
              <a:latin typeface="Roboto Mono"/>
              <a:ea typeface="Roboto Mono"/>
              <a:cs typeface="Roboto Mono"/>
              <a:sym typeface="Roboto Mono"/>
            </a:endParaRPr>
          </a:p>
          <a:p>
            <a:pPr marL="228600" marR="0" lvl="1" indent="-133350" algn="l" rtl="0">
              <a:lnSpc>
                <a:spcPct val="100000"/>
              </a:lnSpc>
              <a:spcBef>
                <a:spcPts val="0"/>
              </a:spcBef>
              <a:spcAft>
                <a:spcPts val="0"/>
              </a:spcAft>
              <a:buSzPts val="1200"/>
              <a:buFont typeface="Calibri"/>
              <a:buChar char="○"/>
            </a:pPr>
            <a:r>
              <a:rPr lang="en" sz="1000" b="1">
                <a:latin typeface="Roboto Mono"/>
                <a:ea typeface="Roboto Mono"/>
                <a:cs typeface="Roboto Mono"/>
                <a:sym typeface="Roboto Mono"/>
              </a:rPr>
              <a:t>153K in </a:t>
            </a:r>
            <a:r>
              <a:rPr lang="en" sz="1000" b="1">
                <a:solidFill>
                  <a:srgbClr val="000000"/>
                </a:solidFill>
                <a:latin typeface="Roboto Mono"/>
                <a:ea typeface="Roboto Mono"/>
                <a:cs typeface="Roboto Mono"/>
                <a:sym typeface="Roboto Mono"/>
              </a:rPr>
              <a:t>2024</a:t>
            </a:r>
            <a:endParaRPr sz="1000" b="1">
              <a:latin typeface="Roboto Mono"/>
              <a:ea typeface="Roboto Mono"/>
              <a:cs typeface="Roboto Mono"/>
              <a:sym typeface="Roboto Mono"/>
            </a:endParaRPr>
          </a:p>
          <a:p>
            <a:pPr marL="228600" marR="0" lvl="1" indent="-133350" algn="l" rtl="0">
              <a:lnSpc>
                <a:spcPct val="100000"/>
              </a:lnSpc>
              <a:spcBef>
                <a:spcPts val="0"/>
              </a:spcBef>
              <a:spcAft>
                <a:spcPts val="0"/>
              </a:spcAft>
              <a:buSzPts val="1200"/>
              <a:buFont typeface="Calibri"/>
              <a:buChar char="○"/>
            </a:pPr>
            <a:r>
              <a:rPr lang="en" sz="1000" b="1">
                <a:latin typeface="Roboto Mono"/>
                <a:ea typeface="Roboto Mono"/>
                <a:cs typeface="Roboto Mono"/>
                <a:sym typeface="Roboto Mono"/>
              </a:rPr>
              <a:t>264K in 2023</a:t>
            </a:r>
            <a:endParaRPr sz="1000" b="1">
              <a:latin typeface="Roboto Mono"/>
              <a:ea typeface="Roboto Mono"/>
              <a:cs typeface="Roboto Mono"/>
              <a:sym typeface="Roboto Mono"/>
            </a:endParaRPr>
          </a:p>
          <a:p>
            <a:pPr marL="228600" marR="0" lvl="1" indent="-133350" algn="l" rtl="0">
              <a:lnSpc>
                <a:spcPct val="100000"/>
              </a:lnSpc>
              <a:spcBef>
                <a:spcPts val="0"/>
              </a:spcBef>
              <a:spcAft>
                <a:spcPts val="0"/>
              </a:spcAft>
              <a:buSzPts val="1200"/>
              <a:buFont typeface="Calibri"/>
              <a:buChar char="○"/>
            </a:pPr>
            <a:r>
              <a:rPr lang="en" sz="1000" b="1">
                <a:latin typeface="Roboto Mono"/>
                <a:ea typeface="Roboto Mono"/>
                <a:cs typeface="Roboto Mono"/>
                <a:sym typeface="Roboto Mono"/>
              </a:rPr>
              <a:t>165K in 2022                  </a:t>
            </a:r>
            <a:r>
              <a:rPr lang="en" sz="1200" i="0" u="sng" strike="noStrike" cap="none">
                <a:solidFill>
                  <a:srgbClr val="0097A7"/>
                </a:solidFill>
                <a:latin typeface="Calibri"/>
                <a:ea typeface="Calibri"/>
                <a:cs typeface="Calibri"/>
                <a:sym typeface="Calibri"/>
                <a:hlinkClick r:id="rId3">
                  <a:extLst>
                    <a:ext uri="{A12FA001-AC4F-418D-AE19-62706E023703}">
                      <ahyp:hlinkClr xmlns:ahyp="http://schemas.microsoft.com/office/drawing/2018/hyperlinkcolor" val="tx"/>
                    </a:ext>
                  </a:extLst>
                </a:hlinkClick>
              </a:rPr>
              <a:t>https://layoffs.fyi</a:t>
            </a:r>
            <a:endParaRPr sz="1200" i="0" u="none" strike="noStrike" cap="none">
              <a:solidFill>
                <a:srgbClr val="000000"/>
              </a:solidFill>
              <a:latin typeface="Calibri"/>
              <a:ea typeface="Calibri"/>
              <a:cs typeface="Calibri"/>
              <a:sym typeface="Calibri"/>
            </a:endParaRPr>
          </a:p>
        </p:txBody>
      </p:sp>
      <p:sp>
        <p:nvSpPr>
          <p:cNvPr id="355" name="Google Shape;355;p46"/>
          <p:cNvSpPr txBox="1"/>
          <p:nvPr/>
        </p:nvSpPr>
        <p:spPr>
          <a:xfrm>
            <a:off x="5422950" y="531250"/>
            <a:ext cx="3286800" cy="942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l" rtl="0">
              <a:spcBef>
                <a:spcPts val="0"/>
              </a:spcBef>
              <a:spcAft>
                <a:spcPts val="0"/>
              </a:spcAft>
              <a:buNone/>
            </a:pPr>
            <a:r>
              <a:rPr lang="en" sz="1200" b="1">
                <a:solidFill>
                  <a:srgbClr val="FF0000"/>
                </a:solidFill>
                <a:latin typeface="Calibri"/>
                <a:ea typeface="Calibri"/>
                <a:cs typeface="Calibri"/>
                <a:sym typeface="Calibri"/>
              </a:rPr>
              <a:t>  The Tech Layoff Tracker</a:t>
            </a:r>
            <a:endParaRPr sz="1200" b="1">
              <a:solidFill>
                <a:srgbClr val="FF0000"/>
              </a:solidFill>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In 2026: </a:t>
            </a:r>
            <a:r>
              <a:rPr lang="en" sz="1200" b="1">
                <a:latin typeface="Calibri"/>
                <a:ea typeface="Calibri"/>
                <a:cs typeface="Calibri"/>
                <a:sym typeface="Calibri"/>
              </a:rPr>
              <a:t>172,298</a:t>
            </a:r>
            <a:r>
              <a:rPr lang="en" sz="1200">
                <a:latin typeface="Calibri"/>
                <a:ea typeface="Calibri"/>
                <a:cs typeface="Calibri"/>
                <a:sym typeface="Calibri"/>
              </a:rPr>
              <a:t> people laid off (813 per day)</a:t>
            </a:r>
            <a:endParaRPr sz="1200">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In 2025: </a:t>
            </a:r>
            <a:r>
              <a:rPr lang="en" sz="1200" b="1">
                <a:latin typeface="Calibri"/>
                <a:ea typeface="Calibri"/>
                <a:cs typeface="Calibri"/>
                <a:sym typeface="Calibri"/>
              </a:rPr>
              <a:t>245,953</a:t>
            </a:r>
            <a:r>
              <a:rPr lang="en" sz="1200">
                <a:latin typeface="Calibri"/>
                <a:ea typeface="Calibri"/>
                <a:cs typeface="Calibri"/>
                <a:sym typeface="Calibri"/>
              </a:rPr>
              <a:t> people laid off (674 per day)</a:t>
            </a:r>
            <a:endParaRPr sz="1200">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In 2024: </a:t>
            </a:r>
            <a:r>
              <a:rPr lang="en" sz="1200" b="1">
                <a:latin typeface="Calibri"/>
                <a:ea typeface="Calibri"/>
                <a:cs typeface="Calibri"/>
                <a:sym typeface="Calibri"/>
              </a:rPr>
              <a:t>238,461</a:t>
            </a:r>
            <a:r>
              <a:rPr lang="en" sz="1200">
                <a:latin typeface="Calibri"/>
                <a:ea typeface="Calibri"/>
                <a:cs typeface="Calibri"/>
                <a:sym typeface="Calibri"/>
              </a:rPr>
              <a:t> people </a:t>
            </a:r>
            <a:r>
              <a:rPr lang="en" sz="1200">
                <a:solidFill>
                  <a:srgbClr val="000000"/>
                </a:solidFill>
                <a:latin typeface="Calibri"/>
                <a:ea typeface="Calibri"/>
                <a:cs typeface="Calibri"/>
                <a:sym typeface="Calibri"/>
              </a:rPr>
              <a:t>laid off</a:t>
            </a:r>
            <a:r>
              <a:rPr lang="en" sz="1200">
                <a:latin typeface="Calibri"/>
                <a:ea typeface="Calibri"/>
                <a:cs typeface="Calibri"/>
                <a:sym typeface="Calibri"/>
              </a:rPr>
              <a:t> (653 per day)</a:t>
            </a:r>
            <a:endParaRPr sz="1200">
              <a:latin typeface="Calibri"/>
              <a:ea typeface="Calibri"/>
              <a:cs typeface="Calibri"/>
              <a:sym typeface="Calibri"/>
            </a:endParaRPr>
          </a:p>
          <a:p>
            <a:pPr marL="228600" marR="460858" lvl="0" indent="-57150" algn="r" rtl="0">
              <a:spcBef>
                <a:spcPts val="0"/>
              </a:spcBef>
              <a:spcAft>
                <a:spcPts val="0"/>
              </a:spcAft>
              <a:buNone/>
            </a:pPr>
            <a:r>
              <a:rPr lang="en" sz="1200" u="sng">
                <a:solidFill>
                  <a:srgbClr val="0097A7"/>
                </a:solidFill>
                <a:latin typeface="Calibri"/>
                <a:ea typeface="Calibri"/>
                <a:cs typeface="Calibri"/>
                <a:sym typeface="Calibri"/>
                <a:hlinkClick r:id="rId4">
                  <a:extLst>
                    <a:ext uri="{A12FA001-AC4F-418D-AE19-62706E023703}">
                      <ahyp:hlinkClr xmlns:ahyp="http://schemas.microsoft.com/office/drawing/2018/hyperlinkcolor" val="tx"/>
                    </a:ext>
                  </a:extLst>
                </a:hlinkClick>
              </a:rPr>
              <a:t>https://trueup.io/layoffs</a:t>
            </a:r>
            <a:endParaRPr sz="1200">
              <a:latin typeface="Calibri"/>
              <a:ea typeface="Calibri"/>
              <a:cs typeface="Calibri"/>
              <a:sym typeface="Calibri"/>
            </a:endParaRPr>
          </a:p>
        </p:txBody>
      </p:sp>
      <p:pic>
        <p:nvPicPr>
          <p:cNvPr id="356" name="Google Shape;356;p46"/>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67350" y="3230733"/>
            <a:ext cx="5182423" cy="1804234"/>
          </a:xfrm>
          <a:prstGeom prst="rect">
            <a:avLst/>
          </a:prstGeom>
          <a:noFill/>
          <a:ln w="9525" cap="flat" cmpd="sng">
            <a:solidFill>
              <a:srgbClr val="FF0000"/>
            </a:solidFill>
            <a:prstDash val="solid"/>
            <a:round/>
            <a:headEnd type="none" w="sm" len="sm"/>
            <a:tailEnd type="none" w="sm" len="sm"/>
          </a:ln>
        </p:spPr>
      </p:pic>
      <p:pic>
        <p:nvPicPr>
          <p:cNvPr id="357" name="Google Shape;357;p46"/>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67350" y="509176"/>
            <a:ext cx="5182424" cy="2646964"/>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361"/>
        <p:cNvGrpSpPr/>
        <p:nvPr/>
      </p:nvGrpSpPr>
      <p:grpSpPr>
        <a:xfrm>
          <a:off x="0" y="0"/>
          <a:ext cx="0" cy="0"/>
          <a:chOff x="0" y="0"/>
          <a:chExt cx="0" cy="0"/>
        </a:xfrm>
      </p:grpSpPr>
      <p:pic>
        <p:nvPicPr>
          <p:cNvPr id="362" name="Google Shape;362;p47"/>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645525" y="1203525"/>
            <a:ext cx="1570556" cy="1570556"/>
          </a:xfrm>
          <a:prstGeom prst="rect">
            <a:avLst/>
          </a:prstGeom>
          <a:noFill/>
          <a:ln>
            <a:noFill/>
          </a:ln>
        </p:spPr>
      </p:pic>
      <p:sp>
        <p:nvSpPr>
          <p:cNvPr id="363" name="Google Shape;363;p47"/>
          <p:cNvSpPr txBox="1"/>
          <p:nvPr/>
        </p:nvSpPr>
        <p:spPr>
          <a:xfrm>
            <a:off x="-25625" y="-14775"/>
            <a:ext cx="3355800" cy="5694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2500"/>
              <a:buFont typeface="Arial"/>
              <a:buNone/>
            </a:pPr>
            <a:r>
              <a:rPr lang="en" sz="2500" b="1" i="0" u="none" strike="noStrike" cap="none">
                <a:solidFill>
                  <a:srgbClr val="000000"/>
                </a:solidFill>
                <a:latin typeface="Calibri"/>
                <a:ea typeface="Calibri"/>
                <a:cs typeface="Calibri"/>
                <a:sym typeface="Calibri"/>
              </a:rPr>
              <a:t>About the Speaker</a:t>
            </a:r>
            <a:endParaRPr sz="2500" b="1" i="0" u="none" strike="noStrike" cap="none">
              <a:solidFill>
                <a:srgbClr val="000000"/>
              </a:solidFill>
              <a:latin typeface="Calibri"/>
              <a:ea typeface="Calibri"/>
              <a:cs typeface="Calibri"/>
              <a:sym typeface="Calibri"/>
            </a:endParaRPr>
          </a:p>
        </p:txBody>
      </p:sp>
      <p:sp>
        <p:nvSpPr>
          <p:cNvPr id="364" name="Google Shape;364;p47"/>
          <p:cNvSpPr txBox="1"/>
          <p:nvPr/>
        </p:nvSpPr>
        <p:spPr>
          <a:xfrm>
            <a:off x="3330175" y="878750"/>
            <a:ext cx="5621700" cy="33093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500" b="1" i="0" u="none" strike="noStrike" cap="none">
                <a:solidFill>
                  <a:srgbClr val="000000"/>
                </a:solidFill>
                <a:latin typeface="Calibri"/>
                <a:ea typeface="Calibri"/>
                <a:cs typeface="Calibri"/>
                <a:sym typeface="Calibri"/>
              </a:rPr>
              <a:t>Lev Selector, Ph.D.</a:t>
            </a:r>
            <a:endParaRPr sz="2500" b="1"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endParaRPr sz="1800" b="0" i="0" u="none" strike="noStrike" cap="none">
              <a:solidFill>
                <a:srgbClr val="000000"/>
              </a:solidFill>
              <a:latin typeface="Calibri"/>
              <a:ea typeface="Calibri"/>
              <a:cs typeface="Calibri"/>
              <a:sym typeface="Calibri"/>
            </a:endParaRPr>
          </a:p>
          <a:p>
            <a:pPr marL="457200" marR="0" lvl="0" indent="-330200" algn="l" rtl="0">
              <a:lnSpc>
                <a:spcPct val="100000"/>
              </a:lnSpc>
              <a:spcBef>
                <a:spcPts val="0"/>
              </a:spcBef>
              <a:spcAft>
                <a:spcPts val="0"/>
              </a:spcAft>
              <a:buClr>
                <a:srgbClr val="000000"/>
              </a:buClr>
              <a:buSzPts val="1600"/>
              <a:buFont typeface="Calibri"/>
              <a:buChar char="●"/>
            </a:pPr>
            <a:r>
              <a:rPr lang="en" sz="1600" b="0" i="0" u="none" strike="noStrike" cap="none">
                <a:solidFill>
                  <a:schemeClr val="dk1"/>
                </a:solidFill>
                <a:latin typeface="Calibri"/>
                <a:ea typeface="Calibri"/>
                <a:cs typeface="Calibri"/>
                <a:sym typeface="Calibri"/>
              </a:rPr>
              <a:t>40+ years of software engineering, data science, and building teams (hiring, training, and managing)</a:t>
            </a:r>
            <a:endParaRPr sz="1600" b="0" i="0" u="none" strike="noStrike" cap="none">
              <a:solidFill>
                <a:schemeClr val="dk1"/>
              </a:solidFill>
              <a:latin typeface="Calibri"/>
              <a:ea typeface="Calibri"/>
              <a:cs typeface="Calibri"/>
              <a:sym typeface="Calibri"/>
            </a:endParaRPr>
          </a:p>
          <a:p>
            <a:pPr marL="457200" marR="0" lvl="0" indent="-330200" algn="l" rtl="0">
              <a:lnSpc>
                <a:spcPct val="100000"/>
              </a:lnSpc>
              <a:spcBef>
                <a:spcPts val="0"/>
              </a:spcBef>
              <a:spcAft>
                <a:spcPts val="0"/>
              </a:spcAft>
              <a:buClr>
                <a:srgbClr val="000000"/>
              </a:buClr>
              <a:buSzPts val="1600"/>
              <a:buFont typeface="Calibri"/>
              <a:buChar char="●"/>
            </a:pPr>
            <a:r>
              <a:rPr lang="en" sz="1600" b="0" i="0" u="none" strike="noStrike" cap="none">
                <a:solidFill>
                  <a:schemeClr val="dk1"/>
                </a:solidFill>
                <a:latin typeface="Calibri"/>
                <a:ea typeface="Calibri"/>
                <a:cs typeface="Calibri"/>
                <a:sym typeface="Calibri"/>
              </a:rPr>
              <a:t>Ph.D. in mathematical modeling and computer simulations</a:t>
            </a:r>
            <a:endParaRPr sz="16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endParaRPr sz="16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600"/>
              <a:buFont typeface="Arial"/>
              <a:buNone/>
            </a:pPr>
            <a:r>
              <a:rPr lang="en" sz="1600" b="0" i="0" u="none" strike="noStrike" cap="none">
                <a:solidFill>
                  <a:srgbClr val="000000"/>
                </a:solidFill>
                <a:latin typeface="Calibri"/>
                <a:ea typeface="Calibri"/>
                <a:cs typeface="Calibri"/>
                <a:sym typeface="Calibri"/>
              </a:rPr>
              <a:t>Interests: </a:t>
            </a:r>
            <a:endParaRPr sz="1600" b="0" i="0" u="none" strike="noStrike" cap="none">
              <a:solidFill>
                <a:srgbClr val="000000"/>
              </a:solidFill>
              <a:latin typeface="Calibri"/>
              <a:ea typeface="Calibri"/>
              <a:cs typeface="Calibri"/>
              <a:sym typeface="Calibri"/>
            </a:endParaRPr>
          </a:p>
          <a:p>
            <a:pPr marL="457200" marR="0" lvl="0" indent="-330200" algn="l" rtl="0">
              <a:lnSpc>
                <a:spcPct val="100000"/>
              </a:lnSpc>
              <a:spcBef>
                <a:spcPts val="0"/>
              </a:spcBef>
              <a:spcAft>
                <a:spcPts val="0"/>
              </a:spcAft>
              <a:buClr>
                <a:srgbClr val="000000"/>
              </a:buClr>
              <a:buSzPts val="1600"/>
              <a:buFont typeface="Calibri"/>
              <a:buChar char="●"/>
            </a:pPr>
            <a:r>
              <a:rPr lang="en" sz="1600" b="0" i="0" u="none" strike="noStrike" cap="none">
                <a:solidFill>
                  <a:schemeClr val="dk1"/>
                </a:solidFill>
                <a:latin typeface="Calibri"/>
                <a:ea typeface="Calibri"/>
                <a:cs typeface="Calibri"/>
                <a:sym typeface="Calibri"/>
              </a:rPr>
              <a:t>Generative AI, Using LLM with your data</a:t>
            </a:r>
            <a:endParaRPr sz="1600" b="0" i="0" u="none" strike="noStrike" cap="none">
              <a:solidFill>
                <a:schemeClr val="dk1"/>
              </a:solidFill>
              <a:latin typeface="Calibri"/>
              <a:ea typeface="Calibri"/>
              <a:cs typeface="Calibri"/>
              <a:sym typeface="Calibri"/>
            </a:endParaRPr>
          </a:p>
          <a:p>
            <a:pPr marL="457200" marR="0" lvl="0" indent="-330200" algn="l" rtl="0">
              <a:lnSpc>
                <a:spcPct val="100000"/>
              </a:lnSpc>
              <a:spcBef>
                <a:spcPts val="0"/>
              </a:spcBef>
              <a:spcAft>
                <a:spcPts val="0"/>
              </a:spcAft>
              <a:buClr>
                <a:schemeClr val="dk1"/>
              </a:buClr>
              <a:buSzPts val="1600"/>
              <a:buFont typeface="Calibri"/>
              <a:buChar char="●"/>
            </a:pPr>
            <a:r>
              <a:rPr lang="en" sz="1600" b="0" i="0" u="none" strike="noStrike" cap="none">
                <a:solidFill>
                  <a:schemeClr val="dk1"/>
                </a:solidFill>
                <a:latin typeface="Calibri"/>
                <a:ea typeface="Calibri"/>
                <a:cs typeface="Calibri"/>
                <a:sym typeface="Calibri"/>
              </a:rPr>
              <a:t>Local AI for Local Private Data</a:t>
            </a:r>
            <a:endParaRPr sz="1600" b="0" i="0" u="none" strike="noStrike" cap="none">
              <a:solidFill>
                <a:schemeClr val="dk1"/>
              </a:solidFill>
              <a:latin typeface="Calibri"/>
              <a:ea typeface="Calibri"/>
              <a:cs typeface="Calibri"/>
              <a:sym typeface="Calibri"/>
            </a:endParaRPr>
          </a:p>
          <a:p>
            <a:pPr marL="457200" marR="0" lvl="0" indent="-330200" algn="l" rtl="0">
              <a:lnSpc>
                <a:spcPct val="100000"/>
              </a:lnSpc>
              <a:spcBef>
                <a:spcPts val="0"/>
              </a:spcBef>
              <a:spcAft>
                <a:spcPts val="0"/>
              </a:spcAft>
              <a:buClr>
                <a:srgbClr val="000000"/>
              </a:buClr>
              <a:buSzPts val="1600"/>
              <a:buFont typeface="Calibri"/>
              <a:buChar char="●"/>
            </a:pPr>
            <a:r>
              <a:rPr lang="en" sz="1600" b="0" i="0" u="none" strike="noStrike" cap="none">
                <a:solidFill>
                  <a:srgbClr val="000000"/>
                </a:solidFill>
                <a:latin typeface="Calibri"/>
                <a:ea typeface="Calibri"/>
                <a:cs typeface="Calibri"/>
                <a:sym typeface="Calibri"/>
              </a:rPr>
              <a:t>Cloud architecture, fin-tech, application security</a:t>
            </a:r>
            <a:endParaRPr sz="16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600"/>
              <a:buFont typeface="Arial"/>
              <a:buNone/>
            </a:pPr>
            <a:endParaRPr sz="16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600"/>
              <a:buFont typeface="Arial"/>
              <a:buNone/>
            </a:pPr>
            <a:r>
              <a:rPr lang="en" sz="1600" b="0" i="0" u="none" strike="noStrike" cap="none">
                <a:solidFill>
                  <a:srgbClr val="000000"/>
                </a:solidFill>
                <a:latin typeface="Calibri"/>
                <a:ea typeface="Calibri"/>
                <a:cs typeface="Calibri"/>
                <a:sym typeface="Calibri"/>
              </a:rPr>
              <a:t>Find/connect: Linkedin, GitHub, YouTube, Google</a:t>
            </a:r>
            <a:endParaRPr sz="1600" b="0" i="0" u="none" strike="noStrike" cap="none">
              <a:solidFill>
                <a:srgbClr val="000000"/>
              </a:solidFill>
              <a:latin typeface="Calibri"/>
              <a:ea typeface="Calibri"/>
              <a:cs typeface="Calibri"/>
              <a:sym typeface="Calibri"/>
            </a:endParaRPr>
          </a:p>
        </p:txBody>
      </p:sp>
      <p:pic>
        <p:nvPicPr>
          <p:cNvPr id="365" name="Google Shape;365;p47"/>
          <p:cNvPicPr preferRelativeResize="0"/>
          <p:nvPr/>
        </p:nvPicPr>
        <p:blipFill rotWithShape="1">
          <a:blip r:embed="rId4" cstate="email">
            <a:alphaModFix/>
            <a:extLst>
              <a:ext uri="{28A0092B-C50C-407E-A947-70E740481C1C}">
                <a14:useLocalDpi xmlns:a14="http://schemas.microsoft.com/office/drawing/2010/main"/>
              </a:ext>
            </a:extLst>
          </a:blip>
          <a:srcRect/>
          <a:stretch/>
        </p:blipFill>
        <p:spPr>
          <a:xfrm>
            <a:off x="1001578" y="3664175"/>
            <a:ext cx="858450" cy="311906"/>
          </a:xfrm>
          <a:prstGeom prst="rect">
            <a:avLst/>
          </a:prstGeom>
          <a:noFill/>
          <a:ln>
            <a:noFill/>
          </a:ln>
        </p:spPr>
      </p:pic>
      <p:sp>
        <p:nvSpPr>
          <p:cNvPr id="366" name="Google Shape;366;p47"/>
          <p:cNvSpPr txBox="1"/>
          <p:nvPr/>
        </p:nvSpPr>
        <p:spPr>
          <a:xfrm>
            <a:off x="735103" y="4005903"/>
            <a:ext cx="1391400" cy="4311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600"/>
              <a:buFont typeface="Arial"/>
              <a:buNone/>
            </a:pPr>
            <a:r>
              <a:rPr lang="en" sz="1600" b="0" i="0" u="sng" strike="noStrike" cap="none">
                <a:solidFill>
                  <a:schemeClr val="hlink"/>
                </a:solidFill>
                <a:latin typeface="Calibri"/>
                <a:ea typeface="Calibri"/>
                <a:cs typeface="Calibri"/>
                <a:sym typeface="Calibri"/>
                <a:hlinkClick r:id="rId5"/>
              </a:rPr>
              <a:t>https://eais.ai</a:t>
            </a:r>
            <a:r>
              <a:rPr lang="en" sz="1600" b="0" i="0" u="none" strike="noStrike" cap="none">
                <a:solidFill>
                  <a:srgbClr val="000000"/>
                </a:solidFill>
                <a:latin typeface="Calibri"/>
                <a:ea typeface="Calibri"/>
                <a:cs typeface="Calibri"/>
                <a:sym typeface="Calibri"/>
              </a:rPr>
              <a:t> </a:t>
            </a:r>
            <a:endParaRPr sz="1600" b="0" i="0" u="none" strike="noStrike" cap="none">
              <a:solidFill>
                <a:srgbClr val="000000"/>
              </a:solidFill>
              <a:latin typeface="Calibri"/>
              <a:ea typeface="Calibri"/>
              <a:cs typeface="Calibri"/>
              <a:sym typeface="Calibri"/>
            </a:endParaRPr>
          </a:p>
        </p:txBody>
      </p:sp>
      <p:sp>
        <p:nvSpPr>
          <p:cNvPr id="367" name="Google Shape;367;p47"/>
          <p:cNvSpPr txBox="1"/>
          <p:nvPr/>
        </p:nvSpPr>
        <p:spPr>
          <a:xfrm>
            <a:off x="383803" y="4360974"/>
            <a:ext cx="2094000" cy="431100"/>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ts val="0"/>
              </a:spcBef>
              <a:spcAft>
                <a:spcPts val="0"/>
              </a:spcAft>
              <a:buClr>
                <a:schemeClr val="dk1"/>
              </a:buClr>
              <a:buSzPts val="1100"/>
              <a:buFont typeface="Arial"/>
              <a:buNone/>
            </a:pPr>
            <a:r>
              <a:rPr lang="en" sz="1600" b="0" i="0" u="none" strike="noStrike" cap="none">
                <a:solidFill>
                  <a:srgbClr val="000000"/>
                </a:solidFill>
                <a:latin typeface="Calibri"/>
                <a:ea typeface="Calibri"/>
                <a:cs typeface="Calibri"/>
                <a:sym typeface="Calibri"/>
              </a:rPr>
              <a:t>Enterprise AI Systems</a:t>
            </a:r>
            <a:endParaRPr sz="1600" b="0" i="0" u="none" strike="noStrike" cap="none">
              <a:solidFill>
                <a:srgbClr val="000000"/>
              </a:solidFill>
              <a:latin typeface="Calibri"/>
              <a:ea typeface="Calibri"/>
              <a:cs typeface="Calibri"/>
              <a:sym typeface="Calibri"/>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371"/>
        <p:cNvGrpSpPr/>
        <p:nvPr/>
      </p:nvGrpSpPr>
      <p:grpSpPr>
        <a:xfrm>
          <a:off x="0" y="0"/>
          <a:ext cx="0" cy="0"/>
          <a:chOff x="0" y="0"/>
          <a:chExt cx="0" cy="0"/>
        </a:xfrm>
      </p:grpSpPr>
      <p:sp>
        <p:nvSpPr>
          <p:cNvPr id="372" name="Google Shape;372;p48"/>
          <p:cNvSpPr txBox="1"/>
          <p:nvPr/>
        </p:nvSpPr>
        <p:spPr>
          <a:xfrm>
            <a:off x="2151375" y="1533150"/>
            <a:ext cx="4632600" cy="1262100"/>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ts val="0"/>
              </a:spcBef>
              <a:spcAft>
                <a:spcPts val="0"/>
              </a:spcAft>
              <a:buClr>
                <a:srgbClr val="000000"/>
              </a:buClr>
              <a:buSzPts val="7000"/>
              <a:buFont typeface="Arial"/>
              <a:buNone/>
            </a:pPr>
            <a:r>
              <a:rPr lang="en" sz="7000" b="1" i="0" u="none" strike="noStrike" cap="none">
                <a:solidFill>
                  <a:srgbClr val="3C78D8"/>
                </a:solidFill>
                <a:latin typeface="Calibri"/>
                <a:ea typeface="Calibri"/>
                <a:cs typeface="Calibri"/>
                <a:sym typeface="Calibri"/>
              </a:rPr>
              <a:t>Thank You!</a:t>
            </a:r>
            <a:endParaRPr sz="7000" b="1" i="0" u="none" strike="noStrike" cap="none">
              <a:solidFill>
                <a:srgbClr val="3C78D8"/>
              </a:solidFill>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7553</Words>
  <Application>Microsoft Macintosh PowerPoint</Application>
  <PresentationFormat>On-screen Show (16:9)</PresentationFormat>
  <Paragraphs>736</Paragraphs>
  <Slides>34</Slides>
  <Notes>34</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34</vt:i4>
      </vt:variant>
    </vt:vector>
  </HeadingPairs>
  <TitlesOfParts>
    <vt:vector size="39" baseType="lpstr">
      <vt:lpstr>Calibri</vt:lpstr>
      <vt:lpstr>Roboto Mono</vt:lpstr>
      <vt:lpstr>Victor Mono</vt:lpstr>
      <vt:lpstr>Arial</vt:lpstr>
      <vt:lpstr>Simple Light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Lev Selector</cp:lastModifiedBy>
  <cp:revision>1</cp:revision>
  <dcterms:modified xsi:type="dcterms:W3CDTF">2026-07-31T15:13:07Z</dcterms:modified>
</cp:coreProperties>
</file>