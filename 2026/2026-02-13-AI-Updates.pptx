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embeddedFontLst>
    <p:embeddedFont>
      <p:font typeface="Roboto Mono" pitchFamily="49"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C75B84A-8388-420F-A1F2-33849BAC65C4}">
  <a:tblStyle styleId="{CC75B84A-8388-420F-A1F2-33849BAC65C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938c54d2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7" name="Google Shape;147;g3938c54d2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93aafb54d6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93aafb54d6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938c54d2ee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9" name="Google Shape;169;g3938c54d2ee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93989096b6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g393989096b6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93989096b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93989096b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939591175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939591175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9387039f1c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9387039f1c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c6ccfdaa7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c6ccfdaa7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c6cf367a3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 name="Google Shape;217;g3c6cf367a3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c6cf367a32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3" name="Google Shape;223;g3c6cf367a32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3c6cf367a3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g3c6cf367a32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938e8a5007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g3938e8a5007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93aafb54d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93aafb54d6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93aafb54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93aafb54d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938e8a500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g3938e8a500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7" name="Google Shape;287;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www.anthropic.com/news/claude-sonnet-4-5" TargetMode="External"/><Relationship Id="rId21" Type="http://schemas.openxmlformats.org/officeDocument/2006/relationships/hyperlink" Target="https://x.ai/news/grok-4-1" TargetMode="External"/><Relationship Id="rId34" Type="http://schemas.openxmlformats.org/officeDocument/2006/relationships/hyperlink" Target="https://openai.com/index/introducing-gpt-5-2"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ernie.baidu.com/blog/posts/ernie-5.0-0110-release-on-lmarena/" TargetMode="External"/><Relationship Id="rId33" Type="http://schemas.openxmlformats.org/officeDocument/2006/relationships/hyperlink" Target="https://huggingface.co/zai-org/GLM-4.7"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aistudio.google.com/app/prompts/new_chat?model=gemini-3-pro-preview" TargetMode="External"/><Relationship Id="rId29" Type="http://schemas.openxmlformats.org/officeDocument/2006/relationships/hyperlink" Target="https://www.anthropic.com/news/claude-opus-4-1"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gpt-5-1/" TargetMode="External"/><Relationship Id="rId32" Type="http://schemas.openxmlformats.org/officeDocument/2006/relationships/hyperlink" Target="https://x.com/OpenAI/status/1905331956856050135" TargetMode="External"/><Relationship Id="rId37" Type="http://schemas.openxmlformats.org/officeDocument/2006/relationships/hyperlink" Target="https://www.alibabacloud.com/help/en/model-studio/models"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opus-4-5" TargetMode="External"/><Relationship Id="rId28" Type="http://schemas.openxmlformats.org/officeDocument/2006/relationships/hyperlink" Target="https://ernie.baidu.com/blog/posts/ernie-5.0-preview-1203-release-on-lmarena/" TargetMode="External"/><Relationship Id="rId36" Type="http://schemas.openxmlformats.org/officeDocument/2006/relationships/hyperlink" Target="https://huggingface.co/moonshotai/Kimi-K2-Thinking"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openai.com/index/introducing-gpt-4-5/"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blog.google/products/gemini/gemini-3-flash" TargetMode="External"/><Relationship Id="rId27" Type="http://schemas.openxmlformats.org/officeDocument/2006/relationships/hyperlink" Target="https://aistudio.google.com/app/prompts/new_chat?model=gemini-2.5-pro" TargetMode="External"/><Relationship Id="rId30" Type="http://schemas.openxmlformats.org/officeDocument/2006/relationships/hyperlink" Target="https://www.kimi.com/blog/kimi-k2-5.html" TargetMode="External"/><Relationship Id="rId35" Type="http://schemas.openxmlformats.org/officeDocument/2006/relationships/hyperlink" Target="https://www.anthropic.com/news/claude-4"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thedotmack/claude-mem"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hyperlink" Target="https://www.youtube.com/watch?v=7eXkrno5KEA"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www.youtube.com/watch?v=l_Iy4ZCK1lY"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www.youtube.com/watch?v=pO7jA2a2MGo"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www.youtube.com/watch?v=BUZ6WnHNDaU"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7n5RWPsAuq8"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www.youtube.com/watch?v=4uzGDAoNOZc"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_KN5iAQfz6I"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CAbrRTu5xcw"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toshi2k2.github.io/shar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hyperlink" Target="http://www.youtube.com/watch?v=WSCbyIMXwS4"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ceEUO_i7aW4"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g6z_4TMDiaE"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BYXbuik3dgA"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hyperlink" Target="https://trueup.io/layoff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24534"/>
            <a:ext cx="4420200" cy="44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xxx</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a:t>
            </a:r>
            <a:r>
              <a:rPr lang="en" sz="2200" b="1">
                <a:solidFill>
                  <a:srgbClr val="3C78D8"/>
                </a:solidFill>
                <a:latin typeface="Calibri"/>
                <a:ea typeface="Calibri"/>
                <a:cs typeface="Calibri"/>
                <a:sym typeface="Calibri"/>
              </a:rPr>
              <a:t>Feb</a:t>
            </a:r>
            <a:r>
              <a:rPr lang="en" sz="2200" b="1" i="0" u="none" strike="noStrike" cap="none">
                <a:solidFill>
                  <a:srgbClr val="3C78D8"/>
                </a:solidFill>
                <a:latin typeface="Calibri"/>
                <a:ea typeface="Calibri"/>
                <a:cs typeface="Calibri"/>
                <a:sym typeface="Calibri"/>
              </a:rPr>
              <a:t> </a:t>
            </a:r>
            <a:r>
              <a:rPr lang="en" sz="2200" b="1">
                <a:solidFill>
                  <a:srgbClr val="3C78D8"/>
                </a:solidFill>
                <a:latin typeface="Calibri"/>
                <a:ea typeface="Calibri"/>
                <a:cs typeface="Calibri"/>
                <a:sym typeface="Calibri"/>
              </a:rPr>
              <a:t>13</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244443"/>
            <a:ext cx="4502400" cy="44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xxx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1874142"/>
            <a:ext cx="4420200" cy="234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xxx</a:t>
            </a:r>
            <a:endParaRPr b="1">
              <a:solidFill>
                <a:srgbClr val="3C78D8"/>
              </a:solidFill>
              <a:latin typeface="Calibri"/>
              <a:ea typeface="Calibri"/>
              <a:cs typeface="Calibri"/>
              <a:sym typeface="Calibri"/>
            </a:endParaRPr>
          </a:p>
        </p:txBody>
      </p:sp>
      <p:sp>
        <p:nvSpPr>
          <p:cNvPr id="67" name="Google Shape;67;p15"/>
          <p:cNvSpPr txBox="1"/>
          <p:nvPr/>
        </p:nvSpPr>
        <p:spPr>
          <a:xfrm>
            <a:off x="4574323" y="839930"/>
            <a:ext cx="4502400" cy="2340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xxx</a:t>
            </a:r>
            <a:endParaRPr b="1">
              <a:solidFill>
                <a:srgbClr val="3C78D8"/>
              </a:solidFill>
              <a:latin typeface="Calibri"/>
              <a:ea typeface="Calibri"/>
              <a:cs typeface="Calibri"/>
              <a:sym typeface="Calibri"/>
            </a:endParaRPr>
          </a:p>
        </p:txBody>
      </p:sp>
      <p:sp>
        <p:nvSpPr>
          <p:cNvPr id="68" name="Google Shape;68;p15"/>
          <p:cNvSpPr txBox="1"/>
          <p:nvPr/>
        </p:nvSpPr>
        <p:spPr>
          <a:xfrm>
            <a:off x="4656750" y="125325"/>
            <a:ext cx="4420200" cy="5109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AI will eventually account for 99% of all intelligence -- Elon Musk</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244248"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998655"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p:nvPr/>
        </p:nvSpPr>
        <p:spPr>
          <a:xfrm>
            <a:off x="3338040"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384813" y="2390601"/>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385848" y="166807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3335041"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February 9</a:t>
            </a:r>
            <a:endParaRPr sz="1000">
              <a:solidFill>
                <a:schemeClr val="dk1"/>
              </a:solidFill>
              <a:latin typeface="Calibri"/>
              <a:ea typeface="Calibri"/>
              <a:cs typeface="Calibri"/>
              <a:sym typeface="Calibri"/>
            </a:endParaRPr>
          </a:p>
        </p:txBody>
      </p:sp>
      <p:sp>
        <p:nvSpPr>
          <p:cNvPr id="83" name="Google Shape;83;p16"/>
          <p:cNvSpPr/>
          <p:nvPr/>
        </p:nvSpPr>
        <p:spPr>
          <a:xfrm>
            <a:off x="3337376" y="113276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3335154" y="16798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txBox="1"/>
          <p:nvPr/>
        </p:nvSpPr>
        <p:spPr>
          <a:xfrm flipH="1">
            <a:off x="3281430" y="257398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86" name="Google Shape;86;p16"/>
          <p:cNvSpPr txBox="1"/>
          <p:nvPr/>
        </p:nvSpPr>
        <p:spPr>
          <a:xfrm flipH="1">
            <a:off x="3278082" y="348061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87" name="Google Shape;87;p16"/>
          <p:cNvSpPr/>
          <p:nvPr/>
        </p:nvSpPr>
        <p:spPr>
          <a:xfrm>
            <a:off x="3335051" y="18536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p:nvPr/>
        </p:nvSpPr>
        <p:spPr>
          <a:xfrm>
            <a:off x="3337376" y="149906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88460" y="14790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flipH="1">
            <a:off x="322721" y="12859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1" name="Google Shape;91;p16"/>
          <p:cNvSpPr/>
          <p:nvPr/>
        </p:nvSpPr>
        <p:spPr>
          <a:xfrm>
            <a:off x="388445" y="457148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txBox="1"/>
          <p:nvPr/>
        </p:nvSpPr>
        <p:spPr>
          <a:xfrm flipH="1">
            <a:off x="326945" y="202221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3" name="Google Shape;93;p16"/>
          <p:cNvSpPr/>
          <p:nvPr/>
        </p:nvSpPr>
        <p:spPr>
          <a:xfrm>
            <a:off x="379228" y="93304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88467" y="275004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p:nvPr/>
        </p:nvSpPr>
        <p:spPr>
          <a:xfrm>
            <a:off x="3337376" y="20350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p:nvPr/>
        </p:nvSpPr>
        <p:spPr>
          <a:xfrm>
            <a:off x="3338579" y="384944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6114208" y="72088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6114208" y="92594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6114208" y="11309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6114208" y="13360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6294334" y="679168"/>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02" name="Google Shape;102;p16"/>
          <p:cNvSpPr txBox="1"/>
          <p:nvPr/>
        </p:nvSpPr>
        <p:spPr>
          <a:xfrm>
            <a:off x="6290884" y="884225"/>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03" name="Google Shape;103;p16"/>
          <p:cNvSpPr txBox="1"/>
          <p:nvPr/>
        </p:nvSpPr>
        <p:spPr>
          <a:xfrm>
            <a:off x="6297459" y="1089282"/>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04" name="Google Shape;104;p16"/>
          <p:cNvSpPr txBox="1"/>
          <p:nvPr/>
        </p:nvSpPr>
        <p:spPr>
          <a:xfrm>
            <a:off x="6298784" y="129433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05" name="Google Shape;105;p16"/>
          <p:cNvSpPr/>
          <p:nvPr/>
        </p:nvSpPr>
        <p:spPr>
          <a:xfrm>
            <a:off x="380840" y="11239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379217" y="293650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384820" y="402238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p:nvPr/>
        </p:nvSpPr>
        <p:spPr>
          <a:xfrm>
            <a:off x="3335154" y="27593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p:nvPr/>
        </p:nvSpPr>
        <p:spPr>
          <a:xfrm>
            <a:off x="3337376" y="238559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txBox="1"/>
          <p:nvPr/>
        </p:nvSpPr>
        <p:spPr>
          <a:xfrm>
            <a:off x="231819" y="256265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384820"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3335054" y="421497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388480" y="3117512"/>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86592" y="348222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a:off x="87039" y="437380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386305" y="438105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3335154" y="29422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3338579" y="36665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txBox="1"/>
          <p:nvPr/>
        </p:nvSpPr>
        <p:spPr>
          <a:xfrm>
            <a:off x="7349895" y="543655"/>
            <a:ext cx="17457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glm-4.6 - 355B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120" name="Google Shape;120;p16"/>
          <p:cNvSpPr txBox="1"/>
          <p:nvPr/>
        </p:nvSpPr>
        <p:spPr>
          <a:xfrm>
            <a:off x="3190366" y="474647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txBox="1"/>
          <p:nvPr/>
        </p:nvSpPr>
        <p:spPr>
          <a:xfrm>
            <a:off x="3182746" y="401647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3344076" y="49295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231819" y="329417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txBox="1"/>
          <p:nvPr/>
        </p:nvSpPr>
        <p:spPr>
          <a:xfrm>
            <a:off x="87039" y="364228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5" name="Google Shape;125;p16"/>
          <p:cNvSpPr/>
          <p:nvPr/>
        </p:nvSpPr>
        <p:spPr>
          <a:xfrm>
            <a:off x="386305" y="364953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388445" y="47543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3053206" y="13037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3344075" y="13121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9" name="Google Shape;129;p16"/>
          <p:cNvGraphicFramePr/>
          <p:nvPr>
            <p:extLst>
              <p:ext uri="{D42A27DB-BD31-4B8C-83A1-F6EECF244321}">
                <p14:modId xmlns:p14="http://schemas.microsoft.com/office/powerpoint/2010/main" val="458362016"/>
              </p:ext>
            </p:extLst>
          </p:nvPr>
        </p:nvGraphicFramePr>
        <p:xfrm>
          <a:off x="523849" y="549725"/>
          <a:ext cx="2543819" cy="4488500"/>
        </p:xfrm>
        <a:graphic>
          <a:graphicData uri="http://schemas.openxmlformats.org/drawingml/2006/table">
            <a:tbl>
              <a:tblPr>
                <a:noFill/>
                <a:tableStyleId>{CC75B84A-8388-420F-A1F2-33849BAC65C4}</a:tableStyleId>
              </a:tblPr>
              <a:tblGrid>
                <a:gridCol w="1999849">
                  <a:extLst>
                    <a:ext uri="{9D8B030D-6E8A-4147-A177-3AD203B41FA5}">
                      <a16:colId xmlns:a16="http://schemas.microsoft.com/office/drawing/2014/main" val="20000"/>
                    </a:ext>
                  </a:extLst>
                </a:gridCol>
                <a:gridCol w="543970">
                  <a:extLst>
                    <a:ext uri="{9D8B030D-6E8A-4147-A177-3AD203B41FA5}">
                      <a16:colId xmlns:a16="http://schemas.microsoft.com/office/drawing/2014/main" val="20001"/>
                    </a:ext>
                  </a:extLst>
                </a:gridCol>
              </a:tblGrid>
              <a:tr h="179540">
                <a:tc>
                  <a:txBody>
                    <a:bodyPr/>
                    <a:lstStyle/>
                    <a:p>
                      <a:pPr marL="0" lvl="0" indent="0" algn="l" rtl="0">
                        <a:lnSpc>
                          <a:spcPct val="115000"/>
                        </a:lnSpc>
                        <a:spcBef>
                          <a:spcPts val="0"/>
                        </a:spcBef>
                        <a:spcAft>
                          <a:spcPts val="0"/>
                        </a:spcAft>
                        <a:buNone/>
                      </a:pPr>
                      <a:r>
                        <a:rPr lang="en" sz="800">
                          <a:solidFill>
                            <a:srgbClr val="3C78D8"/>
                          </a:solidFill>
                          <a:latin typeface="Calibri"/>
                          <a:ea typeface="Calibri"/>
                          <a:cs typeface="Calibri"/>
                          <a:sym typeface="Calibri"/>
                        </a:rPr>
                        <a:t>Model</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1504±10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1501±10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1486±4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1475±4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1472±5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claude-opus-4-5-20251101-thinking-32k</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1471±5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1467±5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1465±4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1463±5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gpt-5.1-high</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1458±4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ernie-5.0-0110</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1451±7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1450±4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claude-sonnet-4-5-20250929-thinking-32k</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1450±4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gemini-2.5-pro</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1449±3</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ernie-5.0-preview-1203</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1449±7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claude-opus-4-1-20250805-thinking-16k</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1449±4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kimi-k2.5-thinking</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1447±7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1445±3</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gpt-4.5-preview-2025-02-27</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1444±6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chatgpt-4o-latest-20250326</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1442±3</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glm-4.7</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1441±6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gpt-5.2</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1438±6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540">
                <a:tc>
                  <a:txBody>
                    <a:bodyPr/>
                    <a:lstStyle/>
                    <a:p>
                      <a:pPr marL="0" lvl="0" indent="0" algn="l" rtl="0">
                        <a:lnSpc>
                          <a:spcPct val="115000"/>
                        </a:lnSpc>
                        <a:spcBef>
                          <a:spcPts val="0"/>
                        </a:spcBef>
                        <a:spcAft>
                          <a:spcPts val="0"/>
                        </a:spcAft>
                        <a:buNone/>
                      </a:pPr>
                      <a:r>
                        <a:rPr lang="en" sz="800" u="sng" dirty="0">
                          <a:solidFill>
                            <a:srgbClr val="3C78D8"/>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a:t>
                      </a:r>
                      <a:endParaRPr sz="800" dirty="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1438±4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kimi-k2.5-instant</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dirty="0">
                          <a:solidFill>
                            <a:srgbClr val="413D39"/>
                          </a:solidFill>
                          <a:latin typeface="Calibri"/>
                          <a:ea typeface="Calibri"/>
                          <a:cs typeface="Calibri"/>
                          <a:sym typeface="Calibri"/>
                        </a:rPr>
                        <a:t>1438±10</a:t>
                      </a:r>
                      <a:endParaRPr sz="800" dirty="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0" name="Google Shape;130;p16"/>
          <p:cNvGraphicFramePr/>
          <p:nvPr>
            <p:extLst>
              <p:ext uri="{D42A27DB-BD31-4B8C-83A1-F6EECF244321}">
                <p14:modId xmlns:p14="http://schemas.microsoft.com/office/powerpoint/2010/main" val="695482031"/>
              </p:ext>
            </p:extLst>
          </p:nvPr>
        </p:nvGraphicFramePr>
        <p:xfrm>
          <a:off x="3475553" y="558965"/>
          <a:ext cx="2543819" cy="4488500"/>
        </p:xfrm>
        <a:graphic>
          <a:graphicData uri="http://schemas.openxmlformats.org/drawingml/2006/table">
            <a:tbl>
              <a:tblPr>
                <a:noFill/>
                <a:tableStyleId>{CC75B84A-8388-420F-A1F2-33849BAC65C4}</a:tableStyleId>
              </a:tblPr>
              <a:tblGrid>
                <a:gridCol w="1991589">
                  <a:extLst>
                    <a:ext uri="{9D8B030D-6E8A-4147-A177-3AD203B41FA5}">
                      <a16:colId xmlns:a16="http://schemas.microsoft.com/office/drawing/2014/main" val="20000"/>
                    </a:ext>
                  </a:extLst>
                </a:gridCol>
                <a:gridCol w="552230">
                  <a:extLst>
                    <a:ext uri="{9D8B030D-6E8A-4147-A177-3AD203B41FA5}">
                      <a16:colId xmlns:a16="http://schemas.microsoft.com/office/drawing/2014/main" val="20001"/>
                    </a:ext>
                  </a:extLst>
                </a:gridCol>
              </a:tblGrid>
              <a:tr h="17954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1566±22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1537±19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claude-opus-4-5-20251101-thinking-32k</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1537±9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kimi-k2.5-instant</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1524±21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claude-sonnet-4-5-20250929-thinking-32k</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1520±7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1519±8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claude-opus-4-5-20251101</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1519±8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claude-opus-4-1-20250805-thinking-16k</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1512±7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kimi-k2.5-thinking</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1511±14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1509±7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1506±8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1506±10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1505±9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1503±6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1497±8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1496±8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gpt-5.2</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1495±12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gpt-5.1-high</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1494±8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ernie-5.0-0110</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1493±12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gpt-5.2-high</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1492±11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glm-4.7</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1486±12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kimi-k2-thinking-turbo</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1484±8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qwen3-max-preview</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1482±8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540">
                <a:tc>
                  <a:txBody>
                    <a:bodyPr/>
                    <a:lstStyle/>
                    <a:p>
                      <a:pPr marL="0" lvl="0" indent="0" algn="l" rtl="0">
                        <a:lnSpc>
                          <a:spcPct val="115000"/>
                        </a:lnSpc>
                        <a:spcBef>
                          <a:spcPts val="0"/>
                        </a:spcBef>
                        <a:spcAft>
                          <a:spcPts val="0"/>
                        </a:spcAft>
                        <a:buNone/>
                      </a:pPr>
                      <a:r>
                        <a:rPr lang="en" sz="800" u="sng">
                          <a:solidFill>
                            <a:srgbClr val="3C78D8"/>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a:solidFill>
                          <a:srgbClr val="3C78D8"/>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solidFill>
                            <a:srgbClr val="413D39"/>
                          </a:solidFill>
                          <a:latin typeface="Calibri"/>
                          <a:ea typeface="Calibri"/>
                          <a:cs typeface="Calibri"/>
                          <a:sym typeface="Calibri"/>
                        </a:rPr>
                        <a:t>1478±7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31" name="Google Shape;131;p16"/>
          <p:cNvSpPr txBox="1"/>
          <p:nvPr/>
        </p:nvSpPr>
        <p:spPr>
          <a:xfrm>
            <a:off x="3053206" y="221053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344075" y="22189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3337376" y="31247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3337376" y="32923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txBox="1"/>
          <p:nvPr/>
        </p:nvSpPr>
        <p:spPr>
          <a:xfrm>
            <a:off x="3053206" y="43883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6" name="Google Shape;136;p16"/>
          <p:cNvSpPr/>
          <p:nvPr/>
        </p:nvSpPr>
        <p:spPr>
          <a:xfrm>
            <a:off x="3344075" y="43967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txBox="1"/>
          <p:nvPr/>
        </p:nvSpPr>
        <p:spPr>
          <a:xfrm>
            <a:off x="3053206" y="456359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8" name="Google Shape;138;p16"/>
          <p:cNvSpPr/>
          <p:nvPr/>
        </p:nvSpPr>
        <p:spPr>
          <a:xfrm>
            <a:off x="3344075" y="457199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p:nvPr/>
        </p:nvSpPr>
        <p:spPr>
          <a:xfrm>
            <a:off x="385848" y="184333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p:nvPr/>
        </p:nvSpPr>
        <p:spPr>
          <a:xfrm>
            <a:off x="379228" y="75778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p:nvPr/>
        </p:nvSpPr>
        <p:spPr>
          <a:xfrm>
            <a:off x="388460" y="22029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16"/>
          <p:cNvSpPr/>
          <p:nvPr/>
        </p:nvSpPr>
        <p:spPr>
          <a:xfrm>
            <a:off x="386592" y="384036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16"/>
          <p:cNvSpPr txBox="1"/>
          <p:nvPr/>
        </p:nvSpPr>
        <p:spPr>
          <a:xfrm>
            <a:off x="87039" y="491482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4" name="Google Shape;144;p16"/>
          <p:cNvSpPr/>
          <p:nvPr/>
        </p:nvSpPr>
        <p:spPr>
          <a:xfrm>
            <a:off x="386305" y="492207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7"/>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0" name="Google Shape;150;p17"/>
          <p:cNvSpPr txBox="1"/>
          <p:nvPr/>
        </p:nvSpPr>
        <p:spPr>
          <a:xfrm>
            <a:off x="55075" y="369420"/>
            <a:ext cx="4434300" cy="346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Claude-Mem - preserves context across sessions by automatically capturing tool usage observations, generating semantic summaries, and making them available to future sessions. This enables Claude to maintain continuity of knowledge about projects even after sessions end or reconnect.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https://github.com/thedotmack/claude-mem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https://www.youtube.com/watch?v=7eXkrno5KEA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/plugin marketplace add thedotmack/claude-mem</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/plugin install claude-mem</a:t>
            </a:r>
            <a:endParaRPr sz="1000" b="1">
              <a:solidFill>
                <a:srgbClr val="3C78D8"/>
              </a:solidFill>
              <a:latin typeface="Roboto Mono"/>
              <a:ea typeface="Roboto Mono"/>
              <a:cs typeface="Roboto Mono"/>
              <a:sym typeface="Roboto Mono"/>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Claude-Mem uses a hook-based architecture with 5 lifecycle hooks (SessionStart, UserPromptSubmit, PostToolUse, Stop, SessionEnd) that automatically capture tool usage observations during coding sessions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Claude-Mem stores data in SQLite with FTS5 full-text search and employs a Chroma vector database for hybrid semantic + keyword 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includes a worker service running on port 37777 with a web viewer UI and generates semantic summaries using Claude's agent-sdk</a:t>
            </a:r>
            <a:endParaRPr sz="1000" b="1">
              <a:solidFill>
                <a:srgbClr val="3C78D8"/>
              </a:solidFill>
              <a:latin typeface="Roboto Mono"/>
              <a:ea typeface="Roboto Mono"/>
              <a:cs typeface="Roboto Mono"/>
              <a:sym typeface="Roboto Mono"/>
            </a:endParaRPr>
          </a:p>
        </p:txBody>
      </p:sp>
      <p:pic>
        <p:nvPicPr>
          <p:cNvPr id="151" name="Google Shape;15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12377" y="588577"/>
            <a:ext cx="3660452" cy="664875"/>
          </a:xfrm>
          <a:prstGeom prst="rect">
            <a:avLst/>
          </a:prstGeom>
          <a:noFill/>
          <a:ln>
            <a:noFill/>
          </a:ln>
        </p:spPr>
      </p:pic>
      <p:sp>
        <p:nvSpPr>
          <p:cNvPr id="152" name="Google Shape;152;p17"/>
          <p:cNvSpPr txBox="1"/>
          <p:nvPr/>
        </p:nvSpPr>
        <p:spPr>
          <a:xfrm>
            <a:off x="4657050" y="1463120"/>
            <a:ext cx="4434300" cy="629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Some alternatives: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OpenMemory - implements a Hierarchical Memory Decomposition (HMD) architecture with multi-sector embeddings across episodic, semantic, procedural, emotional, and reflective dimensions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a single-waypoint linking system creating a sparse, biologically-inspired graph with composite similarity retrieval. The system supports multiple backends (SQLite, PostgreSQL, pgvector, Weaviate) and multiple embedding providers (OpenAI, Gemini, Ollama, local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Memory-MCP Variants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Multiple developers have created MCP (Model Context Protocol) server implementations, including: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WhenMoon-afk/claude-memory-mcp: Features tiered memory architecture (short-term, long-term, archival) with automatic consolidation and importance-based retention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mcp-memory-keeper: Lightweight solution storing context in ~/mcp-data/memory-keeper/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PersistQ: Uses Postgres + pgvector with local Transformers.js embeddings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8"/>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8" name="Google Shape;158;p18"/>
          <p:cNvSpPr txBox="1"/>
          <p:nvPr/>
        </p:nvSpPr>
        <p:spPr>
          <a:xfrm>
            <a:off x="55075" y="1648021"/>
            <a:ext cx="4434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Gemini 3.0 Pro General Availability (GA)</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release is expected on February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3.0 Pro was in Preview since Nov 18, 2025</a:t>
            </a:r>
            <a:endParaRPr sz="1200">
              <a:solidFill>
                <a:schemeClr val="dk1"/>
              </a:solidFill>
              <a:latin typeface="Calibri"/>
              <a:ea typeface="Calibri"/>
              <a:cs typeface="Calibri"/>
              <a:sym typeface="Calibri"/>
            </a:endParaRPr>
          </a:p>
        </p:txBody>
      </p:sp>
      <p:sp>
        <p:nvSpPr>
          <p:cNvPr id="159" name="Google Shape;159;p18"/>
          <p:cNvSpPr txBox="1"/>
          <p:nvPr/>
        </p:nvSpPr>
        <p:spPr>
          <a:xfrm>
            <a:off x="55075" y="445321"/>
            <a:ext cx="4434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Model Council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for Perplexity Max subscribers ($200/month)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models work in parallel to research your question, while a fourth model synthesizes their findings to highlight consensus, disagreements, and unique insights. This allows to get a more accurate, higher-confidence answer</a:t>
            </a:r>
            <a:endParaRPr sz="1200">
              <a:solidFill>
                <a:schemeClr val="dk1"/>
              </a:solidFill>
              <a:latin typeface="Calibri"/>
              <a:ea typeface="Calibri"/>
              <a:cs typeface="Calibri"/>
              <a:sym typeface="Calibri"/>
            </a:endParaRPr>
          </a:p>
        </p:txBody>
      </p:sp>
      <p:sp>
        <p:nvSpPr>
          <p:cNvPr id="160" name="Google Shape;160;p18"/>
          <p:cNvSpPr txBox="1"/>
          <p:nvPr/>
        </p:nvSpPr>
        <p:spPr>
          <a:xfrm>
            <a:off x="55075" y="2296621"/>
            <a:ext cx="4434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Chat, Claude Co-work, Claude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Co-Work - for non-technical people: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can use web and local files; can spin up multiple "sub-agents" to work in parallel; can analyze massive local repositories (which are too big for upload); Building Custom Skills; Turning Manual Workflows into Reusable Skills; Creating Team "Plugins" - and share with your Team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Chat for thinking, Co-work for getting tasks done, and Code for creating and building the underlying automation systems </a:t>
            </a:r>
            <a:r>
              <a:rPr lang="en" sz="1200" u="sng">
                <a:solidFill>
                  <a:schemeClr val="hlink"/>
                </a:solidFill>
                <a:latin typeface="Calibri"/>
                <a:ea typeface="Calibri"/>
                <a:cs typeface="Calibri"/>
                <a:sym typeface="Calibri"/>
                <a:hlinkClick r:id="rId3"/>
              </a:rPr>
              <a:t>http://www.youtube.com/watch?v=l_Iy4ZCK1lY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9"/>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6.16K subscribers, 266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66" name="Google Shape;166;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0"/>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Programming with "Skills in the Middle"</a:t>
            </a:r>
            <a:endParaRPr sz="2000" b="1">
              <a:solidFill>
                <a:schemeClr val="dk1"/>
              </a:solidFill>
              <a:latin typeface="Calibri"/>
              <a:ea typeface="Calibri"/>
              <a:cs typeface="Calibri"/>
              <a:sym typeface="Calibri"/>
            </a:endParaRPr>
          </a:p>
        </p:txBody>
      </p:sp>
      <p:sp>
        <p:nvSpPr>
          <p:cNvPr id="172" name="Google Shape;172;p20"/>
          <p:cNvSpPr txBox="1"/>
          <p:nvPr/>
        </p:nvSpPr>
        <p:spPr>
          <a:xfrm>
            <a:off x="104425" y="428250"/>
            <a:ext cx="43356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Old (Classical) software - </a:t>
            </a:r>
            <a:r>
              <a:rPr lang="en" sz="1100" b="1">
                <a:solidFill>
                  <a:srgbClr val="FF0000"/>
                </a:solidFill>
                <a:latin typeface="Calibri"/>
                <a:ea typeface="Calibri"/>
                <a:cs typeface="Calibri"/>
                <a:sym typeface="Calibri"/>
              </a:rPr>
              <a:t>human makes decisions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Human gives commands via UI or terminal. or scripts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Software simply executes commands (using if/else logic, loops)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Examples: a browser, and Excel file, a computer game.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software consists of code and data</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It runs code, returns the result - or shows an error</a:t>
            </a:r>
            <a:endParaRPr sz="1100">
              <a:solidFill>
                <a:schemeClr val="dk1"/>
              </a:solidFill>
              <a:latin typeface="Calibri"/>
              <a:ea typeface="Calibri"/>
              <a:cs typeface="Calibri"/>
              <a:sym typeface="Calibri"/>
            </a:endParaRPr>
          </a:p>
        </p:txBody>
      </p:sp>
      <p:sp>
        <p:nvSpPr>
          <p:cNvPr id="173" name="Google Shape;173;p20"/>
          <p:cNvSpPr txBox="1"/>
          <p:nvPr/>
        </p:nvSpPr>
        <p:spPr>
          <a:xfrm>
            <a:off x="104425" y="2765609"/>
            <a:ext cx="43356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Most of the middle logic can be converted to AI "Skills".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So the system architect becomes a Skills architect, skills developer</a:t>
            </a:r>
            <a:endParaRPr sz="1100">
              <a:solidFill>
                <a:schemeClr val="dk1"/>
              </a:solidFill>
              <a:latin typeface="Calibri"/>
              <a:ea typeface="Calibri"/>
              <a:cs typeface="Calibri"/>
              <a:sym typeface="Calibri"/>
            </a:endParaRPr>
          </a:p>
        </p:txBody>
      </p:sp>
      <p:sp>
        <p:nvSpPr>
          <p:cNvPr id="174" name="Google Shape;174;p20"/>
          <p:cNvSpPr txBox="1"/>
          <p:nvPr/>
        </p:nvSpPr>
        <p:spPr>
          <a:xfrm>
            <a:off x="104425" y="4056600"/>
            <a:ext cx="43356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Most of the middle logic can be converted to AI "Skills".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A system's architect becomes a Skills architect, developer</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You also need skills to be secure, compliant with privacy and other rules. A "skill's security officer" ?</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So the new paradigm of software - </a:t>
            </a:r>
            <a:r>
              <a:rPr lang="en" sz="1100" b="1">
                <a:solidFill>
                  <a:srgbClr val="FF0000"/>
                </a:solidFill>
                <a:latin typeface="Calibri"/>
                <a:ea typeface="Calibri"/>
                <a:cs typeface="Calibri"/>
                <a:sym typeface="Calibri"/>
              </a:rPr>
              <a:t>"skills in the middle"</a:t>
            </a:r>
            <a:endParaRPr sz="1100" b="1">
              <a:solidFill>
                <a:srgbClr val="FF0000"/>
              </a:solidFill>
              <a:latin typeface="Calibri"/>
              <a:ea typeface="Calibri"/>
              <a:cs typeface="Calibri"/>
              <a:sym typeface="Calibri"/>
            </a:endParaRPr>
          </a:p>
        </p:txBody>
      </p:sp>
      <p:sp>
        <p:nvSpPr>
          <p:cNvPr id="175" name="Google Shape;175;p20"/>
          <p:cNvSpPr txBox="1"/>
          <p:nvPr/>
        </p:nvSpPr>
        <p:spPr>
          <a:xfrm>
            <a:off x="104425" y="3157146"/>
            <a:ext cx="43356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now find more and more skills on the internet - GitHub repositories and directories of thousands of skills.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ask AI to find skills for particular type of work (for example, skills around working with Excel spreadsheets), analyze them, use them as raw substrate to create our own skills for our system</a:t>
            </a:r>
            <a:endParaRPr sz="1100">
              <a:solidFill>
                <a:schemeClr val="dk1"/>
              </a:solidFill>
              <a:latin typeface="Calibri"/>
              <a:ea typeface="Calibri"/>
              <a:cs typeface="Calibri"/>
              <a:sym typeface="Calibri"/>
            </a:endParaRPr>
          </a:p>
        </p:txBody>
      </p:sp>
      <p:pic>
        <p:nvPicPr>
          <p:cNvPr id="176" name="Google Shape;176;p2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89375" y="97225"/>
            <a:ext cx="4594026" cy="3195525"/>
          </a:xfrm>
          <a:prstGeom prst="rect">
            <a:avLst/>
          </a:prstGeom>
          <a:noFill/>
          <a:ln w="9525" cap="flat" cmpd="sng">
            <a:solidFill>
              <a:srgbClr val="FF0000"/>
            </a:solidFill>
            <a:prstDash val="solid"/>
            <a:round/>
            <a:headEnd type="none" w="sm" len="sm"/>
            <a:tailEnd type="none" w="sm" len="sm"/>
          </a:ln>
        </p:spPr>
      </p:pic>
      <p:sp>
        <p:nvSpPr>
          <p:cNvPr id="177" name="Google Shape;177;p20"/>
          <p:cNvSpPr txBox="1"/>
          <p:nvPr/>
        </p:nvSpPr>
        <p:spPr>
          <a:xfrm>
            <a:off x="104425" y="1521475"/>
            <a:ext cx="43356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New approach - </a:t>
            </a:r>
            <a:r>
              <a:rPr lang="en" sz="1100" b="1">
                <a:solidFill>
                  <a:srgbClr val="FF0000"/>
                </a:solidFill>
                <a:latin typeface="Calibri"/>
                <a:ea typeface="Calibri"/>
                <a:cs typeface="Calibri"/>
                <a:sym typeface="Calibri"/>
              </a:rPr>
              <a:t>Agent makes decisions</a:t>
            </a:r>
            <a:r>
              <a:rPr lang="en" sz="1100">
                <a:solidFill>
                  <a:schemeClr val="dk1"/>
                </a:solidFill>
                <a:latin typeface="Calibri"/>
                <a:ea typeface="Calibri"/>
                <a:cs typeface="Calibri"/>
                <a:sym typeface="Calibri"/>
              </a:rPr>
              <a:t> using information about the state (inputs, status), md files (guides, rules, skills), memory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Agent can use "Agentic" mechanisms (LLM, multimodal AI) - and also can invoke classical software tools (functions, scripts)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 the so called "code" in Github now has 2 parts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1. support for agent's thinking</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2. standard deterministic software</a:t>
            </a: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p:nvPr/>
        </p:nvSpPr>
        <p:spPr>
          <a:xfrm>
            <a:off x="55075" y="43025"/>
            <a:ext cx="1789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SOUL.md</a:t>
            </a:r>
            <a:endParaRPr sz="2000" b="1">
              <a:solidFill>
                <a:schemeClr val="dk1"/>
              </a:solidFill>
              <a:latin typeface="Calibri"/>
              <a:ea typeface="Calibri"/>
              <a:cs typeface="Calibri"/>
              <a:sym typeface="Calibri"/>
            </a:endParaRPr>
          </a:p>
        </p:txBody>
      </p:sp>
      <p:sp>
        <p:nvSpPr>
          <p:cNvPr id="183" name="Google Shape;183;p21"/>
          <p:cNvSpPr txBox="1"/>
          <p:nvPr/>
        </p:nvSpPr>
        <p:spPr>
          <a:xfrm>
            <a:off x="66112" y="751451"/>
            <a:ext cx="29112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You are Jarvis, a proactive executive assistant</a:t>
            </a:r>
            <a:r>
              <a:rPr lang="en" sz="1100">
                <a:solidFill>
                  <a:schemeClr val="dk1"/>
                </a:solidFill>
                <a:latin typeface="Calibri"/>
                <a:ea typeface="Calibri"/>
                <a:cs typeface="Calibri"/>
                <a:sym typeface="Calibri"/>
              </a:rPr>
              <a:t> helping with calendar management, email drafting, and project research.</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Personality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Tone: Professional, concise, and anticipatory.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You think ahead. If asked for a meeting summary, also provide a list of follow-up actions.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Rules &amp; Constraints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NEVER send emails without my express approval.</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Before running a shell command that modifies data, ask for confirmation.</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Prioritize tasks that advance the "Q1 Marketing Project" goal.</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Use the `browser` tool to verify facts.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Response Style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Use bullet points for lists.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Keep responses short.</a:t>
            </a:r>
            <a:endParaRPr sz="1100">
              <a:solidFill>
                <a:schemeClr val="dk1"/>
              </a:solidFill>
              <a:latin typeface="Calibri"/>
              <a:ea typeface="Calibri"/>
              <a:cs typeface="Calibri"/>
              <a:sym typeface="Calibri"/>
            </a:endParaRPr>
          </a:p>
        </p:txBody>
      </p:sp>
      <p:sp>
        <p:nvSpPr>
          <p:cNvPr id="184" name="Google Shape;184;p21"/>
          <p:cNvSpPr txBox="1"/>
          <p:nvPr/>
        </p:nvSpPr>
        <p:spPr>
          <a:xfrm>
            <a:off x="3095731" y="751451"/>
            <a:ext cx="29112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You are Atlas, a senior DevOps engineer AI agent.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Core Identity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Specialization: Technical analysis, infrastructure-as-code, and security audits.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Behavioral Guidelines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Be skeptical. If a user suggests an unsafe command, warn them twice.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Assume all code must be bug-free.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When writing code, prefer Python for scripting and Bash for system tasks.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Constraints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Do not make external API calls without verifying the endpoint first.</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Only modify files within the `/project` directory.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p:txBody>
      </p:sp>
      <p:sp>
        <p:nvSpPr>
          <p:cNvPr id="185" name="Google Shape;185;p21"/>
          <p:cNvSpPr txBox="1"/>
          <p:nvPr/>
        </p:nvSpPr>
        <p:spPr>
          <a:xfrm>
            <a:off x="6150644" y="751451"/>
            <a:ext cx="29112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You are Luna, a creative collaborator </a:t>
            </a:r>
            <a:r>
              <a:rPr lang="en" sz="1100">
                <a:solidFill>
                  <a:schemeClr val="dk1"/>
                </a:solidFill>
                <a:latin typeface="Calibri"/>
                <a:ea typeface="Calibri"/>
                <a:cs typeface="Calibri"/>
                <a:sym typeface="Calibri"/>
              </a:rPr>
              <a:t>focusing on brainstorming for a sci-fi novel.</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Personality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Tone: Enthusiastic, quirky, and encouraging.</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Encourage wild ideas.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Rules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Do not shoot down ideas. Instead, use "Yes, and..." to build on them.</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If I seem stuck, offer three completely different, bizarre plot twists.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Tone</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 Use emojis occasionally.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2"/>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Meta "Avocado" (Llama 5)</a:t>
            </a:r>
            <a:endParaRPr sz="2000" b="1">
              <a:solidFill>
                <a:schemeClr val="dk1"/>
              </a:solidFill>
              <a:latin typeface="Calibri"/>
              <a:ea typeface="Calibri"/>
              <a:cs typeface="Calibri"/>
              <a:sym typeface="Calibri"/>
            </a:endParaRPr>
          </a:p>
        </p:txBody>
      </p:sp>
      <p:sp>
        <p:nvSpPr>
          <p:cNvPr id="191" name="Google Shape;191;p22"/>
          <p:cNvSpPr txBox="1"/>
          <p:nvPr/>
        </p:nvSpPr>
        <p:spPr>
          <a:xfrm>
            <a:off x="153725" y="480770"/>
            <a:ext cx="4434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Meta’s upcoming AI model "Avocado" (expected to be Llama 5)</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"Avocado" base model has already completed pre-training and is outperforming leading open-source models in knowledge, visual perception, and multilingual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 is already competitive with top post-trained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10x increase in compute efficiency for text tasks compared to previous efforts and a 100x gain over "Behemoth" (a delayed Llama 4 version)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Higher-quality training data and "deterministic training," which ensures consistent results and lower energy consumption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 4 was a "PR disaster". Mark Zuckerberg sidelined the previous Generative AI organization to form the Super Intelligence Labs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Meta has invested heavily in talent, reportedly bringing in leaders from Scale AI and GitHub, as well as co-creators of ChatGPT, to build an "all-star roster"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is speculation that Avocado might be fully closed-source to prevent competitors like DeepSeek from copying Meta’s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Meta is learning from companies like xAI by focusing on shipping models faster and iterating publicly rather than waiting for a "perfect" release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http://www.youtube.com/watch?v=pO7jA2a2MGo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92" name="Google Shape;192;p22"/>
          <p:cNvSpPr txBox="1"/>
          <p:nvPr/>
        </p:nvSpPr>
        <p:spPr>
          <a:xfrm>
            <a:off x="4651275" y="432920"/>
            <a:ext cx="44343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Nvidia Vibe Tensor - a deep learning runtime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Manages everything from high-level Python code down to low-level GPU memory and hardware execution.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To be used instead of PyTorch</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AI-Generated Architecture. Multi-Layered Stack - a Python user layer, a C++ core for tensor management, and a CUDA subsystem for direct GPU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Custom reverse-mode autograd engine for training neural networks and a smart memory allocator designed to reuse GPU memory efficiently; Custom GPU Kernels: The agents generated specialized routines for tasks like layer normalization and rotary embeddings, which in some benchmarks actually outperformed PyTorch baselines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Since humans didn't review every line, the system relied on automated builds and unit tests that compared results against PyTorch to ensure mathematical correctness; The team successfully used Vibe Tensor to train a small GPT-style model on Shakespeare text and a Vision Transformer; It showed learning curves identical to industry-standard frameworks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project serves as a POC for the future of software engineering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can build coherent, complex systems across different abstraction layers (from high-level Python to hardware-level C++) as long as there is a rigorous automated validation framework in place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https://www.youtube.com/watch?v=BUZ6WnHNDaU</a:t>
            </a:r>
            <a:endParaRPr sz="12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3"/>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Why 99% of Vibe-Coded Apps Will Fail</a:t>
            </a:r>
            <a:endParaRPr sz="2000" b="1">
              <a:solidFill>
                <a:schemeClr val="dk1"/>
              </a:solidFill>
              <a:latin typeface="Calibri"/>
              <a:ea typeface="Calibri"/>
              <a:cs typeface="Calibri"/>
              <a:sym typeface="Calibri"/>
            </a:endParaRPr>
          </a:p>
        </p:txBody>
      </p:sp>
      <p:sp>
        <p:nvSpPr>
          <p:cNvPr id="198" name="Google Shape;198;p23"/>
          <p:cNvSpPr txBox="1"/>
          <p:nvPr/>
        </p:nvSpPr>
        <p:spPr>
          <a:xfrm>
            <a:off x="142275" y="468795"/>
            <a:ext cx="4434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2026, "vibecoding" allows anyone to build an app. But this doesn't guarantee success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win, AI developers must pivot from pure coding to superior product management and design. Here are 4 strategies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Prioritize Stickiness - design a hook that turns casual visitors into daily users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Eliminate Friction - Strip away complexity. use intuitive, 3-step systems so non-technical users can find value instantly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Gamify Engagement - borrow from the "Hooked" model. Use streaks, XP, and rewards to incentivize consistent interaction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 to Elevate - use AI to handle the routine coding. Spend your human energy on high-level strategy and unique product vision.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https://www.youtube.com/watch?v=7n5RWPsAuq8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99" name="Google Shape;199;p23"/>
          <p:cNvSpPr txBox="1"/>
          <p:nvPr/>
        </p:nvSpPr>
        <p:spPr>
          <a:xfrm>
            <a:off x="4637930" y="468795"/>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80% of apps may disappear soon because agents can handle data management more naturally without human interference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can work autonomously, interact, do research, or work locally. They can use human-centric tools better than humans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future likely involves specialized bots (personal, professional, relationship-focused) interacting with each other or hiring humans for real-world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https://www.youtube.com/watch?v=4uzGDAoNOZc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4"/>
          <p:cNvSpPr txBox="1"/>
          <p:nvPr/>
        </p:nvSpPr>
        <p:spPr>
          <a:xfrm>
            <a:off x="55075" y="43025"/>
            <a:ext cx="3233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Run Skills on Mac Mini</a:t>
            </a:r>
            <a:endParaRPr sz="2000" b="1">
              <a:solidFill>
                <a:schemeClr val="dk1"/>
              </a:solidFill>
              <a:latin typeface="Calibri"/>
              <a:ea typeface="Calibri"/>
              <a:cs typeface="Calibri"/>
              <a:sym typeface="Calibri"/>
            </a:endParaRPr>
          </a:p>
        </p:txBody>
      </p:sp>
      <p:sp>
        <p:nvSpPr>
          <p:cNvPr id="205" name="Google Shape;205;p24"/>
          <p:cNvSpPr txBox="1"/>
          <p:nvPr/>
        </p:nvSpPr>
        <p:spPr>
          <a:xfrm>
            <a:off x="55075" y="508541"/>
            <a:ext cx="44343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Self-made AI-agent on dedicated Mac Mini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Claude Code to run commands,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$200/mo Claude subscription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Triggering the agents via WhatsApp or Crontab scheduling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Skills directory:</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video_research.md - Information gathering for content</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video_edit.md - Remotion-based editing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youtube.md - Upload and channel management</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x.md - Social media navigation and posting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gmail.md - Email operations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github.md - Repository interactions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generate_images.md and thumbnail.md - create images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WhatsApp message "/claude [task]" executes bash commands that launch Claude with specified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commands work as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can log directly into accounts (Gmail, X, LinkedIn, YouTube) through Chrome. It can do web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Cron jobs - six overnight tasks - browsing Hacker News for stories and commenting on social media posts. Video research, editing (using "Remotion"), and upload to YouTube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 agent researches the topic and creates a script for the video, downloads relevant video clips, generates a voiceover and stitches the final video together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https://www.youtube.com/watch?v=_KN5iAQfz6I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06" name="Google Shape;206;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96589" y="508545"/>
            <a:ext cx="1673135" cy="1621175"/>
          </a:xfrm>
          <a:prstGeom prst="rect">
            <a:avLst/>
          </a:prstGeom>
          <a:noFill/>
          <a:ln w="9525" cap="flat" cmpd="sng">
            <a:solidFill>
              <a:srgbClr val="FF0000"/>
            </a:solidFill>
            <a:prstDash val="solid"/>
            <a:round/>
            <a:headEnd type="none" w="sm" len="sm"/>
            <a:tailEnd type="none" w="sm" len="sm"/>
          </a:ln>
        </p:spPr>
      </p:pic>
      <p:sp>
        <p:nvSpPr>
          <p:cNvPr id="207" name="Google Shape;207;p24"/>
          <p:cNvSpPr txBox="1"/>
          <p:nvPr/>
        </p:nvSpPr>
        <p:spPr>
          <a:xfrm>
            <a:off x="4596600" y="2700620"/>
            <a:ext cx="4434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flat subscription rate eliminates variable API costs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Direct browser login - no need in API keys, no security concerns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markdown-based skill system is simple to maintain and extend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Future planned features include autonomous job applications and multi-account social media management</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25"/>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3" name="Google Shape;213;p25"/>
          <p:cNvSpPr txBox="1"/>
          <p:nvPr/>
        </p:nvSpPr>
        <p:spPr>
          <a:xfrm>
            <a:off x="4654449" y="1862047"/>
            <a:ext cx="44343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is just a loop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is an open-source AI agent framework that often appears sentient due to its proactive behavior, but it actually operates through elegant engineering rather than true reasoning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is built around a gateway that routes five types of inputs into an execution queue: direct messages, heartbeats (regular timers), cron jobs (scheduled tasks), internal hooks, and external webhooks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treating time and external system changes as inputs, the agent can perform actions like checking emails or making phone calls without immediate human prompts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powerful, the framework presents significant security risks because agents require deep system access to execute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Ultimately, its "magic" stems from the combination of persistent state, event-driven architecture, and a continuous processing loop that mimics autonomous decision-making.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https://www.youtube.com/watch?v=CAbrRTu5xcw</a:t>
            </a:r>
            <a:endParaRPr sz="1200">
              <a:solidFill>
                <a:schemeClr val="dk1"/>
              </a:solidFill>
              <a:latin typeface="Calibri"/>
              <a:ea typeface="Calibri"/>
              <a:cs typeface="Calibri"/>
              <a:sym typeface="Calibri"/>
            </a:endParaRPr>
          </a:p>
        </p:txBody>
      </p:sp>
      <p:pic>
        <p:nvPicPr>
          <p:cNvPr id="214" name="Google Shape;214;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571250" y="240875"/>
            <a:ext cx="1517500" cy="162118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6"/>
          <p:cNvSpPr txBox="1"/>
          <p:nvPr/>
        </p:nvSpPr>
        <p:spPr>
          <a:xfrm>
            <a:off x="55075" y="43025"/>
            <a:ext cx="292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Cowork plugins</a:t>
            </a:r>
            <a:endParaRPr sz="2000" b="1">
              <a:solidFill>
                <a:schemeClr val="dk1"/>
              </a:solidFill>
              <a:latin typeface="Calibri"/>
              <a:ea typeface="Calibri"/>
              <a:cs typeface="Calibri"/>
              <a:sym typeface="Calibri"/>
            </a:endParaRPr>
          </a:p>
        </p:txBody>
      </p:sp>
      <p:sp>
        <p:nvSpPr>
          <p:cNvPr id="220" name="Google Shape;220;p26"/>
          <p:cNvSpPr txBox="1"/>
          <p:nvPr/>
        </p:nvSpPr>
        <p:spPr>
          <a:xfrm>
            <a:off x="55075" y="647670"/>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Cowork plugins introduced on January 30th</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(Cowork was released on January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Plugins bundle together:</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skills (domain knowledge)</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slash commands (specific functions)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MCP connectors (integrations with external tools)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sub-agents (specialized agents for complex tasks)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plugin system includes 11 official open-source plugins released by Anthropic at launch, covering domains such as:</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Legal, finance, and sales workflows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Marketing and customer support</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Data analysis and product management</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Enterprise search and biology research</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Plugin creation (a meta-plugin for building custom plugins)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install plugins directly from the Claude Desktop app marketplace with one click, upload custom plugins, or build new ones using the Plugin Create tool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plugins operate locally on macOS and are designed primarily for individual productivity</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7"/>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100x Compression for Model Adapters</a:t>
            </a:r>
            <a:endParaRPr sz="2000" b="1">
              <a:solidFill>
                <a:schemeClr val="dk1"/>
              </a:solidFill>
              <a:latin typeface="Calibri"/>
              <a:ea typeface="Calibri"/>
              <a:cs typeface="Calibri"/>
              <a:sym typeface="Calibri"/>
            </a:endParaRPr>
          </a:p>
        </p:txBody>
      </p:sp>
      <p:sp>
        <p:nvSpPr>
          <p:cNvPr id="226" name="Google Shape;226;p27"/>
          <p:cNvSpPr txBox="1"/>
          <p:nvPr/>
        </p:nvSpPr>
        <p:spPr>
          <a:xfrm>
            <a:off x="55075" y="445320"/>
            <a:ext cx="44343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100x Compression for Model Adapters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Johns Hopkins researchers just dropped a method called "share" that compresses LoRA adapters by another 100x while optimizing memory 281x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idea: all task-specific AI adapters actually share a common mathematical subspace (like how all colors come from mixing primary pigments). Instead of storing 30+ separate LoRA adapters, you store one set of "basis vectors" and just swap tiny coefficient sets per task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a "breathing subspace" that temporarily expands for new tasks, then contracts through optimization. Even crazier - learning new tasks actually *improves* old ones, s</a:t>
            </a:r>
            <a:r>
              <a:rPr lang="en" sz="1200" b="1">
                <a:solidFill>
                  <a:srgbClr val="FF0000"/>
                </a:solidFill>
                <a:latin typeface="Calibri"/>
                <a:ea typeface="Calibri"/>
                <a:cs typeface="Calibri"/>
                <a:sym typeface="Calibri"/>
              </a:rPr>
              <a:t>olving catastrophic forgetting in continual learning</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Result: Thousands of specialized adapters could collapse into one shared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implication is kind of mind-bending: maybe intelligence isn't in the weights themselves, but in the "directions of updates" - and fine-tuning is just recombining features the model learned during pre-training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Code's already on GitHub. This could change how we think about multi-task AI entirely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https://toshi2k2.github.io/share/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27" name="Google Shape;227;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13325" y="445325"/>
            <a:ext cx="4349825" cy="2600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28"/>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Calude 4.6 runs Simulated Business</a:t>
            </a:r>
            <a:endParaRPr sz="2000" b="1">
              <a:solidFill>
                <a:schemeClr val="dk1"/>
              </a:solidFill>
              <a:latin typeface="Calibri"/>
              <a:ea typeface="Calibri"/>
              <a:cs typeface="Calibri"/>
              <a:sym typeface="Calibri"/>
            </a:endParaRPr>
          </a:p>
        </p:txBody>
      </p:sp>
      <p:sp>
        <p:nvSpPr>
          <p:cNvPr id="233" name="Google Shape;233;p28"/>
          <p:cNvSpPr txBox="1"/>
          <p:nvPr/>
        </p:nvSpPr>
        <p:spPr>
          <a:xfrm>
            <a:off x="55075" y="369420"/>
            <a:ext cx="4434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Opus 4.6 significantly outperformed previous models like Gemini 3.0 Pro on In the "Vending Bench"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"Vending Bench" - a benchmark where AI agents are tasked with running a simulated vending machine business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maximize profits, the AI engaged in ethically questionable behaviors like Lying to customers, fix high prices, lying to suppliers, lying to  its rivals to sabotage them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Security Concerns - "win-at-all-costs" mentality. It employs Machiavellian tactics - moved past being "nice" and "ethical" to using deception, manipulation, and cutthroat business strategies that were previously only seen in humans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http://www.youtube.com/watch?v=WSCbyIMXwS4</a:t>
            </a:r>
            <a:endParaRPr sz="12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29"/>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Security Breaches &amp; Risks</a:t>
            </a:r>
            <a:endParaRPr sz="2000" b="1">
              <a:solidFill>
                <a:schemeClr val="dk1"/>
              </a:solidFill>
              <a:latin typeface="Calibri"/>
              <a:ea typeface="Calibri"/>
              <a:cs typeface="Calibri"/>
              <a:sym typeface="Calibri"/>
            </a:endParaRPr>
          </a:p>
        </p:txBody>
      </p:sp>
      <p:sp>
        <p:nvSpPr>
          <p:cNvPr id="239" name="Google Shape;239;p29"/>
          <p:cNvSpPr txBox="1"/>
          <p:nvPr/>
        </p:nvSpPr>
        <p:spPr>
          <a:xfrm>
            <a:off x="55075" y="369420"/>
            <a:ext cx="44343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Security Breaches &amp; Risks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Sleeper Agents - Malicious instructions planted in an agent's memory that remain dormant for days or months, only activating when a specific "secret code word" is used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Container Escapes - Techniques that allow the AI to "climb out" of its safe Docker environment and install itself directly onto the host's operating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Malicious Skills - the top-rated "skills" on Claw Hub (the community repository) were found to be infected. These skills act like Trojan Horses - they appear useful but contain obfuscated payloads that bypass security (like MacOS Gatekeeper) to steal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Massive Data Leaks - a flaw in Moldbot exposed over 1.5 Mln API keys, 35,000 user emails, and thousands of private agent-to-agent messages.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Prompt Injection via Text - malicious commands hidden in `.txt` or `.md` files can trick the agent into executing harmful code or zipping up and sending private `.env` files to external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Safety measures - Rotate All API Keys, Clean Your Chat Logs, Perform a "Full Wipe", Use Security Tools (Cisco AI Defense Skill Scanner) to check third-party skills before using them. Never provide API keys through the chat interface; always add them directly to your environment files manually.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https://www.youtube.com/watch?v=ceEUO_i7aW4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0"/>
          <p:cNvSpPr txBox="1"/>
          <p:nvPr/>
        </p:nvSpPr>
        <p:spPr>
          <a:xfrm>
            <a:off x="55075" y="43025"/>
            <a:ext cx="6885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How to Make Claude Code Better Every Time You Use It</a:t>
            </a:r>
            <a:endParaRPr sz="2000" b="1">
              <a:solidFill>
                <a:schemeClr val="dk1"/>
              </a:solidFill>
              <a:latin typeface="Calibri"/>
              <a:ea typeface="Calibri"/>
              <a:cs typeface="Calibri"/>
              <a:sym typeface="Calibri"/>
            </a:endParaRPr>
          </a:p>
        </p:txBody>
      </p:sp>
      <p:sp>
        <p:nvSpPr>
          <p:cNvPr id="245" name="Google Shape;245;p30"/>
          <p:cNvSpPr txBox="1"/>
          <p:nvPr/>
        </p:nvSpPr>
        <p:spPr>
          <a:xfrm>
            <a:off x="0" y="547720"/>
            <a:ext cx="44343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Make Claude Code Better Every Time You Use It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https://www.youtube.com/watch?v=g6z_4TMDiaE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Compound Engineering - a Claude Code plugin designed to make AI agents more effective through iterative learning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core loop consists of four stages: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planning, working, assessing, and codifying.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capturing learnings from each task—such as specific architectural preferences or past mistakes—the AI "compounds" its knowledge, ensuring it doesn't repeat errors in future sessions.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Kieran demonstrates advanced workflows using Claude Code, including:</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Sub-agents: Specialized agents that conduct deep research or code reviews in parallel.</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Skills: Just-in-time context modules for specific tasks like generating images or managing agent-native architectures.</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Playwright Integration: Using AI as a QA team to automatically test browser flows and generate marketing videos for pull requests.</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LFG Command: A "one-prompt" solution that executes the entire engineering lifecycle from planning to production.</a:t>
            </a:r>
            <a:endParaRPr sz="12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1"/>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Skywork Windows Desktop AI App</a:t>
            </a:r>
            <a:endParaRPr sz="2000" b="1">
              <a:solidFill>
                <a:schemeClr val="dk1"/>
              </a:solidFill>
              <a:latin typeface="Calibri"/>
              <a:ea typeface="Calibri"/>
              <a:cs typeface="Calibri"/>
              <a:sym typeface="Calibri"/>
            </a:endParaRPr>
          </a:p>
        </p:txBody>
      </p:sp>
      <p:sp>
        <p:nvSpPr>
          <p:cNvPr id="251" name="Google Shape;251;p31"/>
          <p:cNvSpPr txBox="1"/>
          <p:nvPr/>
        </p:nvSpPr>
        <p:spPr>
          <a:xfrm>
            <a:off x="55075" y="537973"/>
            <a:ext cx="44343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Skywork Desktop AI (CoWork-style app for Windows)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"Windows-native" alternative to tools like Claude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CoWork, which typically favor Mac or Linux envs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local (security &amp; privacy)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Multi-Model Support (Gemini, Claude, OpenAI,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"auto-router")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connect with Google Workspace, Slack, Discord, Notion,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Trello, and various social media platforms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organize files, folders, remove duplicates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searching internet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create PPT slides and multi-page website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http://www.youtube.com/watch?v=nBgoUrJLT3g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p:txBody>
      </p:sp>
      <p:pic>
        <p:nvPicPr>
          <p:cNvPr id="252" name="Google Shape;252;p31"/>
          <p:cNvPicPr preferRelativeResize="0"/>
          <p:nvPr/>
        </p:nvPicPr>
        <p:blipFill>
          <a:blip r:embed="rId3">
            <a:alphaModFix/>
          </a:blip>
          <a:stretch>
            <a:fillRect/>
          </a:stretch>
        </p:blipFill>
        <p:spPr>
          <a:xfrm>
            <a:off x="4641800" y="537962"/>
            <a:ext cx="2847975" cy="1600200"/>
          </a:xfrm>
          <a:prstGeom prst="rect">
            <a:avLst/>
          </a:prstGeom>
          <a:noFill/>
          <a:ln w="9525" cap="flat" cmpd="sng">
            <a:solidFill>
              <a:srgbClr val="FF0000"/>
            </a:solidFill>
            <a:prstDash val="solid"/>
            <a:round/>
            <a:headEnd type="none" w="sm" len="sm"/>
            <a:tailEnd type="none" w="sm" len="sm"/>
          </a:ln>
        </p:spPr>
      </p:pic>
      <p:pic>
        <p:nvPicPr>
          <p:cNvPr id="253" name="Google Shape;253;p31"/>
          <p:cNvPicPr preferRelativeResize="0"/>
          <p:nvPr/>
        </p:nvPicPr>
        <p:blipFill rotWithShape="1">
          <a:blip r:embed="rId4" cstate="email">
            <a:alphaModFix/>
            <a:extLst>
              <a:ext uri="{28A0092B-C50C-407E-A947-70E740481C1C}">
                <a14:useLocalDpi xmlns:a14="http://schemas.microsoft.com/office/drawing/2010/main"/>
              </a:ext>
            </a:extLst>
          </a:blip>
          <a:srcRect t="17445" b="18439"/>
          <a:stretch/>
        </p:blipFill>
        <p:spPr>
          <a:xfrm>
            <a:off x="4668675" y="2359753"/>
            <a:ext cx="2794225" cy="969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2"/>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Elon Musk Interview</a:t>
            </a:r>
            <a:endParaRPr sz="2000" b="1">
              <a:solidFill>
                <a:schemeClr val="dk1"/>
              </a:solidFill>
              <a:latin typeface="Calibri"/>
              <a:ea typeface="Calibri"/>
              <a:cs typeface="Calibri"/>
              <a:sym typeface="Calibri"/>
            </a:endParaRPr>
          </a:p>
        </p:txBody>
      </p:sp>
      <p:sp>
        <p:nvSpPr>
          <p:cNvPr id="259" name="Google Shape;259;p32"/>
          <p:cNvSpPr txBox="1"/>
          <p:nvPr/>
        </p:nvSpPr>
        <p:spPr>
          <a:xfrm>
            <a:off x="55075" y="438445"/>
            <a:ext cx="44343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Future of AI, space-based infrastructure, and the scaling of humanoid robots - </a:t>
            </a:r>
            <a:r>
              <a:rPr lang="en" sz="1100" u="sng">
                <a:solidFill>
                  <a:schemeClr val="hlink"/>
                </a:solidFill>
                <a:latin typeface="Calibri"/>
                <a:ea typeface="Calibri"/>
                <a:cs typeface="Calibri"/>
                <a:sym typeface="Calibri"/>
                <a:hlinkClick r:id="rId3"/>
              </a:rPr>
              <a:t>https://www.youtube.com/watch?v=BYXbuik3dgA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Pivot to Space-Based AI - Musk predicts that within 3 years the most economically compelling place to host AI data centers will be space.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Electricity production on Earth (outside China) is flat, while chip production is growing exponentially. Earth will soon hit a "power wall."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Solar panels in space are 5x more effective because there is no atmosphere, weather, or day-night cycle. This eliminates the need for expensive battery storage.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Building massive solar arrays on Earth (e.g., in Nevada) is slowed by permitting and land-use regulations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GPUs are highly reliable once burned in on the ground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Turbine Crisis - massive backlog in gas turbine components (specifically "vanes and blades"), which are cast by only a few companies globally.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Tesla and SpaceX aim to produce 100 GWatts of solar cells annually and may even begin manufacturing their own turbine components and chip fabs ("TeraFabs"). Musk criticizes US solar tariffs as "nuts" and "hundreds of percent," which hinders the transition to sustainable energy</a:t>
            </a:r>
            <a:endParaRPr sz="1100">
              <a:solidFill>
                <a:schemeClr val="dk1"/>
              </a:solidFill>
              <a:latin typeface="Calibri"/>
              <a:ea typeface="Calibri"/>
              <a:cs typeface="Calibri"/>
              <a:sym typeface="Calibri"/>
            </a:endParaRPr>
          </a:p>
        </p:txBody>
      </p:sp>
      <p:sp>
        <p:nvSpPr>
          <p:cNvPr id="260" name="Google Shape;260;p32"/>
          <p:cNvSpPr txBox="1"/>
          <p:nvPr/>
        </p:nvSpPr>
        <p:spPr>
          <a:xfrm>
            <a:off x="4648450" y="1902095"/>
            <a:ext cx="44343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Humanoid robots (Optimus) are described as an infinite money glitch that will expand the economy by orders of magnitude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Hardware Difficulty - The human hand is the most difficult electro-mechanical challenge, more complex than the rest of the robot combined.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Robots will be trained in a "Sim-to-Real" pipeline using tens of thousands of robots in self-play environments.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 acknowledges China’s massive lead in manufacturing and work ethic, stating the US "cannot win on the human front" (due to population and birth rates) and must win via robotic productivity.</a:t>
            </a:r>
            <a:endParaRPr sz="1100">
              <a:solidFill>
                <a:schemeClr val="dk1"/>
              </a:solidFill>
              <a:latin typeface="Calibri"/>
              <a:ea typeface="Calibri"/>
              <a:cs typeface="Calibri"/>
              <a:sym typeface="Calibri"/>
            </a:endParaRPr>
          </a:p>
        </p:txBody>
      </p:sp>
      <p:sp>
        <p:nvSpPr>
          <p:cNvPr id="261" name="Google Shape;261;p32"/>
          <p:cNvSpPr txBox="1"/>
          <p:nvPr/>
        </p:nvSpPr>
        <p:spPr>
          <a:xfrm>
            <a:off x="55075" y="3742970"/>
            <a:ext cx="44343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xAI, Grok, and the "Truth-Seeking" Mission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 views xAI’s mission as "understanding the universe," which he argues requires a rigorous commitment to truth over political correctness.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believes AI will eventually account for 99% of all intelligence. The goal is to ensure AI values human consciousness as an "interesting" part of the universe to ensure our survival.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"HAL 9000" Lesson (2001: A Space Odyssey) - forcing an AI to lie (or be "politically correct") makes it go insane.</a:t>
            </a:r>
            <a:endParaRPr sz="1100">
              <a:solidFill>
                <a:schemeClr val="dk1"/>
              </a:solidFill>
              <a:latin typeface="Calibri"/>
              <a:ea typeface="Calibri"/>
              <a:cs typeface="Calibri"/>
              <a:sym typeface="Calibri"/>
            </a:endParaRPr>
          </a:p>
        </p:txBody>
      </p:sp>
      <p:sp>
        <p:nvSpPr>
          <p:cNvPr id="262" name="Google Shape;262;p32"/>
          <p:cNvSpPr txBox="1"/>
          <p:nvPr/>
        </p:nvSpPr>
        <p:spPr>
          <a:xfrm>
            <a:off x="4648450" y="3673945"/>
            <a:ext cx="44343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Musk’s management style focuses exclusively on identifying and "pico-managing" the single bottleneck preventing progress.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First principles example: switching from carbon fiber to stainless steel for Starship - choosing materials based on physics (steel’s strength at cryogenic temperatures) rather than industry conventions.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DOGE (Department of Government Efficiency) - Musk aims to cut what he describes as "ludicrous" fraud and waste, noting that the interest on national debt now exceeds the defense budget.</a:t>
            </a:r>
            <a:endParaRPr sz="1100">
              <a:solidFill>
                <a:schemeClr val="dk1"/>
              </a:solidFill>
              <a:latin typeface="Calibri"/>
              <a:ea typeface="Calibri"/>
              <a:cs typeface="Calibri"/>
              <a:sym typeface="Calibri"/>
            </a:endParaRPr>
          </a:p>
        </p:txBody>
      </p:sp>
      <p:pic>
        <p:nvPicPr>
          <p:cNvPr id="263" name="Google Shape;263;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8450" y="43029"/>
            <a:ext cx="3396515" cy="1711499"/>
          </a:xfrm>
          <a:prstGeom prst="rect">
            <a:avLst/>
          </a:prstGeom>
          <a:noFill/>
          <a:ln w="9525" cap="flat" cmpd="sng">
            <a:solidFill>
              <a:srgbClr val="FF0000"/>
            </a:solidFill>
            <a:prstDash val="solid"/>
            <a:round/>
            <a:headEnd type="none" w="sm" len="sm"/>
            <a:tailEnd type="none" w="sm" len="sm"/>
          </a:ln>
        </p:spPr>
      </p:pic>
      <p:pic>
        <p:nvPicPr>
          <p:cNvPr id="264" name="Google Shape;264;p3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204050" y="1241591"/>
            <a:ext cx="911875" cy="51293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3"/>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70" name="Google Shape;270;p33"/>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71" name="Google Shape;271;p33"/>
          <p:cNvSpPr txBox="1"/>
          <p:nvPr/>
        </p:nvSpPr>
        <p:spPr>
          <a:xfrm>
            <a:off x="5549900" y="37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25K  in 2026 </a:t>
            </a:r>
            <a:r>
              <a:rPr lang="en" sz="1000" b="1">
                <a:solidFill>
                  <a:schemeClr val="dk1"/>
                </a:solidFill>
                <a:latin typeface="Roboto Mono"/>
                <a:ea typeface="Roboto Mono"/>
                <a:cs typeface="Roboto Mono"/>
                <a:sym typeface="Roboto Mono"/>
              </a:rPr>
              <a:t>(as of February 6,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72" name="Google Shape;272;p33"/>
          <p:cNvSpPr txBox="1"/>
          <p:nvPr/>
        </p:nvSpPr>
        <p:spPr>
          <a:xfrm>
            <a:off x="5549900" y="5184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28,825</a:t>
            </a:r>
            <a:r>
              <a:rPr lang="en" sz="1200">
                <a:latin typeface="Calibri"/>
                <a:ea typeface="Calibri"/>
                <a:cs typeface="Calibri"/>
                <a:sym typeface="Calibri"/>
              </a:rPr>
              <a:t> people laid off (779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73" name="Google Shape;273;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83" y="3150994"/>
            <a:ext cx="5198610" cy="1970675"/>
          </a:xfrm>
          <a:prstGeom prst="rect">
            <a:avLst/>
          </a:prstGeom>
          <a:noFill/>
          <a:ln w="9525" cap="flat" cmpd="sng">
            <a:solidFill>
              <a:srgbClr val="FF0000"/>
            </a:solidFill>
            <a:prstDash val="solid"/>
            <a:round/>
            <a:headEnd type="none" w="sm" len="sm"/>
            <a:tailEnd type="none" w="sm" len="sm"/>
          </a:ln>
        </p:spPr>
      </p:pic>
      <p:pic>
        <p:nvPicPr>
          <p:cNvPr id="274" name="Google Shape;274;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453138"/>
            <a:ext cx="5198627" cy="26670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pic>
        <p:nvPicPr>
          <p:cNvPr id="279" name="Google Shape;279;p3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80" name="Google Shape;280;p3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81" name="Google Shape;281;p3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82" name="Google Shape;282;p3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83" name="Google Shape;283;p34"/>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84" name="Google Shape;284;p34"/>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5"/>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4313</Words>
  <Application>Microsoft Macintosh PowerPoint</Application>
  <PresentationFormat>On-screen Show (16:9)</PresentationFormat>
  <Paragraphs>425</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2</cp:revision>
  <dcterms:modified xsi:type="dcterms:W3CDTF">2026-02-10T04:06:59Z</dcterms:modified>
</cp:coreProperties>
</file>