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Roboto Mono" pitchFamily="49"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AB5F1A-0F25-4FAB-94AD-2E73540BB892}">
  <a:tblStyle styleId="{69AB5F1A-0F25-4FAB-94AD-2E73540BB89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938c54d2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938c54d2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93dfb7ff77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393dfb7ff77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93dfb7ff77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93dfb7ff77_1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93d7b49fc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93d7b49fca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93d2ef7b9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93d2ef7b9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93c987d82d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393c987d82d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93c987d82d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93c987d82d_1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3aafb54d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93aafb54d6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938c54d2e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938c54d2ee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93989096b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93989096b6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9387039f1c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9387039f1c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c78337a41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c78337a41f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93c69c99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393c69c99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c6cf367a3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3c6cf367a3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938e8a500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938e8a5007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93c2df517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93c2df517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3d7b49fc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93d7b49fca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939591175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g39395911752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93989096b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g393989096b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c6cf367a3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c6cf367a32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93aafb54d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g393aafb54d6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93aafb54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393aafb54d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938e8a50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3938e8a500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c72230d61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c72230d616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93d88f5cb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393d88f5cb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oul.m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ernie.baidu.com/blog/posts/ernie-5.0-0110-release-on-lmarena/" TargetMode="External"/><Relationship Id="rId39" Type="http://schemas.openxmlformats.org/officeDocument/2006/relationships/hyperlink" Target="https://qwen.ai/blog?id=241398b9cd6353de490b0f82806c7848c5d2777d&amp;amp;from=research.latest-advancements-list" TargetMode="External"/><Relationship Id="rId21" Type="http://schemas.openxmlformats.org/officeDocument/2006/relationships/hyperlink" Target="https://x.ai/news/grok-4-1" TargetMode="External"/><Relationship Id="rId34" Type="http://schemas.openxmlformats.org/officeDocument/2006/relationships/hyperlink" Target="https://huggingface.co/zai-org/GLM-4.7"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huggingface.co/zai-org/GLM-5" TargetMode="External"/><Relationship Id="rId33" Type="http://schemas.openxmlformats.org/officeDocument/2006/relationships/hyperlink" Target="https://x.com/OpenAI/status/1905331956856050135" TargetMode="External"/><Relationship Id="rId38" Type="http://schemas.openxmlformats.org/officeDocument/2006/relationships/hyperlink" Target="https://www.alibabacloud.com/help/en/model-studio/models"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aistudio.google.com/app/prompts/new_chat?model=gemini-3-pro-preview" TargetMode="External"/><Relationship Id="rId29" Type="http://schemas.openxmlformats.org/officeDocument/2006/relationships/hyperlink" Target="https://aistudio.google.com/app/prompts/new_chat?model=gemini-2.5-pro"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openai.com/index/gpt-5-1/" TargetMode="External"/><Relationship Id="rId32" Type="http://schemas.openxmlformats.org/officeDocument/2006/relationships/hyperlink" Target="https://openai.com/index/introducing-gpt-4-5/" TargetMode="External"/><Relationship Id="rId37" Type="http://schemas.openxmlformats.org/officeDocument/2006/relationships/hyperlink" Target="https://huggingface.co/moonshotai/Kimi-K2-Thinking"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opus-4-5" TargetMode="External"/><Relationship Id="rId28" Type="http://schemas.openxmlformats.org/officeDocument/2006/relationships/hyperlink" Target="https://ernie.baidu.com/blog/posts/ernie-5.0-preview-1203-release-on-lmarena/" TargetMode="External"/><Relationship Id="rId36" Type="http://schemas.openxmlformats.org/officeDocument/2006/relationships/hyperlink" Target="https://www.anthropic.com/news/claude-4"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www.kimi.com/blog/kimi-k2-5.html"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blog.google/products/gemini/gemini-3-flash" TargetMode="External"/><Relationship Id="rId27" Type="http://schemas.openxmlformats.org/officeDocument/2006/relationships/hyperlink" Target="https://www.anthropic.com/news/claude-sonnet-4-5" TargetMode="External"/><Relationship Id="rId30" Type="http://schemas.openxmlformats.org/officeDocument/2006/relationships/hyperlink" Target="https://www.anthropic.com/news/claude-opus-4-1" TargetMode="External"/><Relationship Id="rId35" Type="http://schemas.openxmlformats.org/officeDocument/2006/relationships/hyperlink" Target="https://openai.com/index/introducing-gpt-5-2"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youtube.com/watch?v=YFjfBk8HI5o" TargetMode="External"/><Relationship Id="rId7" Type="http://schemas.openxmlformats.org/officeDocument/2006/relationships/hyperlink" Target="https://www.youtube.com/watch?v=CAbrRTu5xcw"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6.jpeg"/><Relationship Id="rId4" Type="http://schemas.openxmlformats.org/officeDocument/2006/relationships/hyperlink" Target="https://github.com/openclaw/openclaw" TargetMode="External"/><Relationship Id="rId9"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youtube.com/watch?v=XmweZ4fLkcI" TargetMode="External"/><Relationship Id="rId7" Type="http://schemas.openxmlformats.org/officeDocument/2006/relationships/hyperlink" Target="https://www.youtube.com/watch?v=omOCfGdx1uk"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github.com/sipeed/picoclaw" TargetMode="External"/><Relationship Id="rId5" Type="http://schemas.openxmlformats.org/officeDocument/2006/relationships/hyperlink" Target="https://www.youtube.com/watch?v=zeJ4whgLELE" TargetMode="Externa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thedotmack/claude-me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hyperlink" Target="https://www.youtube.com/watch?v=7eXkrno5KEA"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www.youtube.com/watch?v=WSCbyIMXwS4" TargetMode="External"/><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www.youtube.com/watch?v=uVPZXvs634U"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chat.ai"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www.youtube.com/watch?v=GmOY1PV6XdQ" TargetMode="External"/><Relationship Id="rId4" Type="http://schemas.openxmlformats.org/officeDocument/2006/relationships/hyperlink" Target="http://www.youtube.com/watch?v=l_Iy4ZCK1lY"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hyperlink" Target="http://z.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z.ai/blog/glm-5" TargetMode="External"/><Relationship Id="rId4" Type="http://schemas.openxmlformats.org/officeDocument/2006/relationships/hyperlink" Target="https://huggingface.co/zai-org/GLM-5"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_KN5iAQfz6I"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KkJZY5Klymw" TargetMode="External"/><Relationship Id="rId7" Type="http://schemas.openxmlformats.org/officeDocument/2006/relationships/hyperlink" Target="https://www.youtube.com/watch?v=CP2CqpXXTdA"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hyperlink" Target="https://github.com/AllAboutAI-YT?tab=repositories" TargetMode="External"/><Relationship Id="rId4" Type="http://schemas.openxmlformats.org/officeDocument/2006/relationships/hyperlink" Target="https://github.com/Ejae-dev?tab=repositories"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ceEUO_i7aW4"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www.hostinger.com/tutorials/openclaw-security" TargetMode="External"/><Relationship Id="rId4" Type="http://schemas.openxmlformats.org/officeDocument/2006/relationships/hyperlink" Target="https://docs.openclaw.ai/gateway/security"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https://www.youtube.com/watch?v=4w7HGTuxs5k" TargetMode="External"/><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arxiv.org/abs/2602.07605" TargetMode="External"/><Relationship Id="rId5" Type="http://schemas.openxmlformats.org/officeDocument/2006/relationships/hyperlink" Target="https://x.com/Alibaba_Qwen/status/2021137577311600949" TargetMode="External"/><Relationship Id="rId4" Type="http://schemas.openxmlformats.org/officeDocument/2006/relationships/hyperlink" Target="https://www.youtube.com/watch?v=uwvYm59mKSs" TargetMode="External"/><Relationship Id="rId9"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7n5RWPsAuq8"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www.youtube.com/watch?v=4uzGDAoNOZc"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www.youtube.com/watch?v=pO7jA2a2MGo"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www.youtube.com/watch?v=BUZ6WnHNDaU"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toshi2k2.github.io/share/"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g6z_4TMDiaE"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www.youtube.com/watch?v=nBgoUrJLT3g" TargetMode="External"/><Relationship Id="rId7" Type="http://schemas.openxmlformats.org/officeDocument/2006/relationships/hyperlink" Target="https://arxiv.org/abs/2601.23265"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www.youtube.com/watch?v=1MqqQn5nQf8" TargetMode="External"/><Relationship Id="rId5" Type="http://schemas.openxmlformats.org/officeDocument/2006/relationships/image" Target="../media/image27.png"/><Relationship Id="rId4" Type="http://schemas.openxmlformats.org/officeDocument/2006/relationships/image" Target="../media/image26.jpeg"/></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BYXbuik3dgA"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hyperlink" Target="https://www.youtube.com/watch?v=F_1oDPWxpFQ"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shumer.dev/something-big-is-happening" TargetMode="External"/><Relationship Id="rId7" Type="http://schemas.openxmlformats.org/officeDocument/2006/relationships/hyperlink" Target="https://www.youtube.com/watch?v=RoW-Re0yqDY"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hyperlink" Target="https://www.youtube.com/watch?v=31A41ckhb7Q"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trueup.io/layoffs"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526805"/>
            <a:ext cx="4420200" cy="195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Safe Alternative, Popebot, PicoClaw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Acquisition negotiations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Claude-Mem &amp; Alternatives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4.6 runs Simulated Business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Mimo v2 15B params model out-reason Opus 4.6?</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Chat vs Claude Code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Chat, Claude Co-work, Claude Code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Combine Agent Skills with Memory</a:t>
            </a:r>
            <a:endParaRPr b="1">
              <a:solidFill>
                <a:srgbClr val="3C78D8"/>
              </a:solidFill>
              <a:latin typeface="Calibri"/>
              <a:ea typeface="Calibri"/>
              <a:cs typeface="Calibri"/>
              <a:sym typeface="Calibri"/>
            </a:endParaRPr>
          </a:p>
        </p:txBody>
      </p:sp>
      <p:sp>
        <p:nvSpPr>
          <p:cNvPr id="64" name="Google Shape;64;p15"/>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a:t>
            </a:r>
            <a:r>
              <a:rPr lang="en" sz="2200" b="1">
                <a:solidFill>
                  <a:srgbClr val="3C78D8"/>
                </a:solidFill>
                <a:latin typeface="Calibri"/>
                <a:ea typeface="Calibri"/>
                <a:cs typeface="Calibri"/>
                <a:sym typeface="Calibri"/>
              </a:rPr>
              <a:t>Feb</a:t>
            </a:r>
            <a:r>
              <a:rPr lang="en" sz="2200" b="1" i="0" u="none" strike="noStrike" cap="none">
                <a:solidFill>
                  <a:srgbClr val="3C78D8"/>
                </a:solidFill>
                <a:latin typeface="Calibri"/>
                <a:ea typeface="Calibri"/>
                <a:cs typeface="Calibri"/>
                <a:sym typeface="Calibri"/>
              </a:rPr>
              <a:t> </a:t>
            </a:r>
            <a:r>
              <a:rPr lang="en" sz="2200" b="1">
                <a:solidFill>
                  <a:srgbClr val="3C78D8"/>
                </a:solidFill>
                <a:latin typeface="Calibri"/>
                <a:ea typeface="Calibri"/>
                <a:cs typeface="Calibri"/>
                <a:sym typeface="Calibri"/>
              </a:rPr>
              <a:t>13</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4323" y="4402631"/>
            <a:ext cx="4502400" cy="66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Something Big Is Happening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Selling outcomes rather than hours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511723"/>
            <a:ext cx="4420200" cy="2604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Perplexity Model Council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Gemini 3.0 Pro General Availability (GA)</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GLM-5 from Z.ai - open source (MIT)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MiniMax 2.5 - open-source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Programming with "Skills in the Middle"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u="sng">
                <a:solidFill>
                  <a:schemeClr val="hlink"/>
                </a:solidFill>
                <a:latin typeface="Calibri"/>
                <a:ea typeface="Calibri"/>
                <a:cs typeface="Calibri"/>
                <a:sym typeface="Calibri"/>
                <a:hlinkClick r:id="rId3"/>
              </a:rPr>
              <a:t>SOUL.md</a:t>
            </a:r>
            <a:r>
              <a:rPr lang="en" b="1">
                <a:solidFill>
                  <a:srgbClr val="3C78D8"/>
                </a:solidFill>
                <a:latin typeface="Calibri"/>
                <a:ea typeface="Calibri"/>
                <a:cs typeface="Calibri"/>
                <a:sym typeface="Calibri"/>
              </a:rPr>
              <a:t> (Examples)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Run Skills on Mac Mini (Example - Linkedin)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Controlling web accounts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Cowork plugins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Security Breaches &amp; Risks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Choose Computer to Run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Misc AI Updates</a:t>
            </a:r>
            <a:endParaRPr b="1">
              <a:solidFill>
                <a:srgbClr val="3C78D8"/>
              </a:solidFill>
              <a:latin typeface="Calibri"/>
              <a:ea typeface="Calibri"/>
              <a:cs typeface="Calibri"/>
              <a:sym typeface="Calibri"/>
            </a:endParaRPr>
          </a:p>
        </p:txBody>
      </p:sp>
      <p:sp>
        <p:nvSpPr>
          <p:cNvPr id="67" name="Google Shape;67;p15"/>
          <p:cNvSpPr txBox="1"/>
          <p:nvPr/>
        </p:nvSpPr>
        <p:spPr>
          <a:xfrm>
            <a:off x="4574323" y="1735030"/>
            <a:ext cx="4502400" cy="21735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Why 99% of Vibe-Coded Apps Will Fail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Meta "Avocado" (Llama 5 ?)</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100x Compression for Model Adapters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Make Claude Code Better Every Time You Use It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Matthew Berman running OpenClaw on MacBook Air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Skywork Windows Desktop AI App</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"Paper Banana" - visuals for academic papers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Elon Musk Interview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Elon Musk - Building City on Moon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Jeff Dean Interview (Chief AI Scientist at Google)</a:t>
            </a:r>
            <a:endParaRPr b="1">
              <a:solidFill>
                <a:srgbClr val="3C78D8"/>
              </a:solidFill>
              <a:latin typeface="Calibri"/>
              <a:ea typeface="Calibri"/>
              <a:cs typeface="Calibri"/>
              <a:sym typeface="Calibri"/>
            </a:endParaRPr>
          </a:p>
        </p:txBody>
      </p:sp>
      <p:sp>
        <p:nvSpPr>
          <p:cNvPr id="68" name="Google Shape;68;p15"/>
          <p:cNvSpPr txBox="1"/>
          <p:nvPr/>
        </p:nvSpPr>
        <p:spPr>
          <a:xfrm>
            <a:off x="4593245" y="160535"/>
            <a:ext cx="3083700" cy="664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dirty="0">
                <a:solidFill>
                  <a:srgbClr val="FF0000"/>
                </a:solidFill>
                <a:latin typeface="Roboto Mono"/>
                <a:ea typeface="Roboto Mono"/>
                <a:cs typeface="Roboto Mono"/>
                <a:sym typeface="Roboto Mono"/>
              </a:rPr>
              <a:t>AI will eventually account for 99% of all intelligence </a:t>
            </a:r>
            <a:br>
              <a:rPr lang="en" b="1" i="1" dirty="0">
                <a:solidFill>
                  <a:srgbClr val="FF0000"/>
                </a:solidFill>
                <a:latin typeface="Roboto Mono"/>
                <a:ea typeface="Roboto Mono"/>
                <a:cs typeface="Roboto Mono"/>
                <a:sym typeface="Roboto Mono"/>
              </a:rPr>
            </a:br>
            <a:r>
              <a:rPr lang="en" b="1" i="1" dirty="0">
                <a:solidFill>
                  <a:srgbClr val="FF0000"/>
                </a:solidFill>
                <a:latin typeface="Roboto Mono"/>
                <a:ea typeface="Roboto Mono"/>
                <a:cs typeface="Roboto Mono"/>
                <a:sym typeface="Roboto Mono"/>
              </a:rPr>
              <a:t>-- Elon Musk</a:t>
            </a:r>
            <a:endParaRPr b="1" i="1" dirty="0">
              <a:solidFill>
                <a:srgbClr val="FF0000"/>
              </a:solidFill>
              <a:latin typeface="Roboto Mono"/>
              <a:ea typeface="Roboto Mono"/>
              <a:cs typeface="Roboto Mono"/>
              <a:sym typeface="Roboto Mono"/>
            </a:endParaRPr>
          </a:p>
        </p:txBody>
      </p:sp>
      <p:pic>
        <p:nvPicPr>
          <p:cNvPr id="69" name="Google Shape;69;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832300" y="125324"/>
            <a:ext cx="1244425" cy="1244425"/>
          </a:xfrm>
          <a:prstGeom prst="rect">
            <a:avLst/>
          </a:prstGeom>
          <a:noFill/>
          <a:ln>
            <a:noFill/>
          </a:ln>
        </p:spPr>
      </p:pic>
      <p:sp>
        <p:nvSpPr>
          <p:cNvPr id="70" name="Google Shape;70;p15"/>
          <p:cNvSpPr txBox="1"/>
          <p:nvPr/>
        </p:nvSpPr>
        <p:spPr>
          <a:xfrm>
            <a:off x="4623725" y="1056305"/>
            <a:ext cx="3083700" cy="449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dirty="0">
                <a:solidFill>
                  <a:srgbClr val="FF0000"/>
                </a:solidFill>
                <a:latin typeface="Roboto Mono"/>
                <a:ea typeface="Roboto Mono"/>
                <a:cs typeface="Roboto Mono"/>
                <a:sym typeface="Roboto Mono"/>
              </a:rPr>
              <a:t>AI - selling outcomes rather than hours</a:t>
            </a:r>
            <a:endParaRPr b="1" i="1" dirty="0">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6" name="Google Shape;76;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7" name="Google Shape;77;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8" name="Google Shape;78;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9" name="Google Shape;79;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0" name="Google Shape;80;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February 11</a:t>
            </a:r>
            <a:endParaRPr sz="1000">
              <a:solidFill>
                <a:schemeClr val="dk1"/>
              </a:solidFill>
              <a:latin typeface="Calibri"/>
              <a:ea typeface="Calibri"/>
              <a:cs typeface="Calibri"/>
              <a:sym typeface="Calibri"/>
            </a:endParaRPr>
          </a:p>
        </p:txBody>
      </p:sp>
      <p:sp>
        <p:nvSpPr>
          <p:cNvPr id="81" name="Google Shape;81;p16"/>
          <p:cNvSpPr txBox="1"/>
          <p:nvPr/>
        </p:nvSpPr>
        <p:spPr>
          <a:xfrm>
            <a:off x="7349895" y="543655"/>
            <a:ext cx="17457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glm-4.7 - 355B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longcat-flash-chat - 560B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qwen3-max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qwen3-235b-a22b - 235B</a:t>
            </a:r>
            <a:endParaRPr sz="1000">
              <a:latin typeface="Calibri"/>
              <a:ea typeface="Calibri"/>
              <a:cs typeface="Calibri"/>
              <a:sym typeface="Calibri"/>
            </a:endParaRPr>
          </a:p>
        </p:txBody>
      </p:sp>
      <p:graphicFrame>
        <p:nvGraphicFramePr>
          <p:cNvPr id="82" name="Google Shape;82;p16"/>
          <p:cNvGraphicFramePr/>
          <p:nvPr/>
        </p:nvGraphicFramePr>
        <p:xfrm>
          <a:off x="96870" y="777525"/>
          <a:ext cx="3000000" cy="3000000"/>
        </p:xfrm>
        <a:graphic>
          <a:graphicData uri="http://schemas.openxmlformats.org/drawingml/2006/table">
            <a:tbl>
              <a:tblPr>
                <a:noFill/>
                <a:tableStyleId>{69AB5F1A-0F25-4FAB-94AD-2E73540BB892}</a:tableStyleId>
              </a:tblPr>
              <a:tblGrid>
                <a:gridCol w="27622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tblGrid>
              <a:tr h="10712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2142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2142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2142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2142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2142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2142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2142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2142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2142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ernie-5.0-preview-1203</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2142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gemini-2.5-pro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2142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2142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2142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gpt-4.5-preview-2025-02-27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2142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chatgpt-4o-latest-20250326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2142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glm-4.7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2142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1438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2142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1438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2142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gpt-5.2</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1437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3" name="Google Shape;83;p16"/>
          <p:cNvGraphicFramePr/>
          <p:nvPr/>
        </p:nvGraphicFramePr>
        <p:xfrm>
          <a:off x="2912435" y="762000"/>
          <a:ext cx="3000000" cy="3000000"/>
        </p:xfrm>
        <a:graphic>
          <a:graphicData uri="http://schemas.openxmlformats.org/drawingml/2006/table">
            <a:tbl>
              <a:tblPr>
                <a:noFill/>
                <a:tableStyleId>{69AB5F1A-0F25-4FAB-94AD-2E73540BB892}</a:tableStyleId>
              </a:tblPr>
              <a:tblGrid>
                <a:gridCol w="27622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claude-opus-4-20250514-thinking-16k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gpt-5.2</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gpt-5.2-high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glm-4.7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kimi-k2-thinking-turbo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qwen3-max-preview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qwen3-max-2025-09-23</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
        <p:nvSpPr>
          <p:cNvPr id="84" name="Google Shape;84;p16"/>
          <p:cNvSpPr txBox="1"/>
          <p:nvPr/>
        </p:nvSpPr>
        <p:spPr>
          <a:xfrm>
            <a:off x="5460252" y="1020800"/>
            <a:ext cx="1596000" cy="29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 29 - deepseek 1470</a:t>
            </a:r>
            <a:endParaRPr sz="900">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131 - Llama 1370</a:t>
            </a:r>
            <a:endParaRPr sz="900">
              <a:solidFill>
                <a:srgbClr val="3C78D8"/>
              </a:solidFill>
              <a:latin typeface="Roboto Mono"/>
              <a:ea typeface="Roboto Mono"/>
              <a:cs typeface="Roboto Mono"/>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a:t>
            </a:r>
            <a:endParaRPr sz="2000" b="1">
              <a:solidFill>
                <a:schemeClr val="dk1"/>
              </a:solidFill>
              <a:latin typeface="Calibri"/>
              <a:ea typeface="Calibri"/>
              <a:cs typeface="Calibri"/>
              <a:sym typeface="Calibri"/>
            </a:endParaRPr>
          </a:p>
        </p:txBody>
      </p:sp>
      <p:sp>
        <p:nvSpPr>
          <p:cNvPr id="90" name="Google Shape;90;p17"/>
          <p:cNvSpPr txBox="1"/>
          <p:nvPr/>
        </p:nvSpPr>
        <p:spPr>
          <a:xfrm>
            <a:off x="55075" y="466795"/>
            <a:ext cx="44343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OpenClaw</a:t>
            </a:r>
            <a:r>
              <a:rPr lang="en" sz="1200">
                <a:solidFill>
                  <a:schemeClr val="dk1"/>
                </a:solidFill>
                <a:latin typeface="Calibri"/>
                <a:ea typeface="Calibri"/>
                <a:cs typeface="Calibri"/>
                <a:sym typeface="Calibri"/>
              </a:rPr>
              <a:t>: </a:t>
            </a:r>
            <a:r>
              <a:rPr lang="en" sz="1200" b="1">
                <a:solidFill>
                  <a:srgbClr val="3C78D8"/>
                </a:solidFill>
                <a:latin typeface="Calibri"/>
                <a:ea typeface="Calibri"/>
                <a:cs typeface="Calibri"/>
                <a:sym typeface="Calibri"/>
              </a:rPr>
              <a:t>The Viral AI Agent that Broke the Internet</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Peter Steinberger (from Vienna, Austria)</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https://www.youtube.com/watch?v=YFjfBk8HI5o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https://github.com/openclaw/openclaw</a:t>
            </a:r>
            <a:r>
              <a:rPr lang="en" sz="1200">
                <a:solidFill>
                  <a:schemeClr val="dk1"/>
                </a:solidFill>
                <a:latin typeface="Calibri"/>
                <a:ea typeface="Calibri"/>
                <a:cs typeface="Calibri"/>
                <a:sym typeface="Calibri"/>
              </a:rPr>
              <a:t> - 191K GitHub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Started as a one-hour WhatsApp prototype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is an autonomous assistant that lives in your computer, accessing your files and communicating through messaging apps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project faced drama including forced name changes due to Anthropic's concerns over similarity to "Claude" and crypto scammers sniping domain names during transitions.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Steinberger emphasizes the importance of making AI development fun rather than overly serious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is advocating for "agentic engineering" over "vibe coding."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describes his workflow using multiple agents simultaneously, relying heavily on voice commands, and treating agents like team members requiring empathy and proper guidance.</a:t>
            </a:r>
            <a:endParaRPr sz="1200">
              <a:solidFill>
                <a:schemeClr val="dk1"/>
              </a:solidFill>
              <a:latin typeface="Calibri"/>
              <a:ea typeface="Calibri"/>
              <a:cs typeface="Calibri"/>
              <a:sym typeface="Calibri"/>
            </a:endParaRPr>
          </a:p>
        </p:txBody>
      </p:sp>
      <p:pic>
        <p:nvPicPr>
          <p:cNvPr id="91" name="Google Shape;91;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121450" y="180925"/>
            <a:ext cx="1808425" cy="1004152"/>
          </a:xfrm>
          <a:prstGeom prst="rect">
            <a:avLst/>
          </a:prstGeom>
          <a:noFill/>
          <a:ln w="6200" cap="flat" cmpd="sng">
            <a:solidFill>
              <a:srgbClr val="FF0000"/>
            </a:solidFill>
            <a:prstDash val="solid"/>
            <a:round/>
            <a:headEnd type="none" w="sm" len="sm"/>
            <a:tailEnd type="none" w="sm" len="sm"/>
          </a:ln>
        </p:spPr>
      </p:pic>
      <p:pic>
        <p:nvPicPr>
          <p:cNvPr id="92" name="Google Shape;92;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416175" y="180920"/>
            <a:ext cx="2169599" cy="445200"/>
          </a:xfrm>
          <a:prstGeom prst="rect">
            <a:avLst/>
          </a:prstGeom>
          <a:noFill/>
          <a:ln w="6200" cap="flat" cmpd="sng">
            <a:solidFill>
              <a:srgbClr val="FF0000"/>
            </a:solidFill>
            <a:prstDash val="solid"/>
            <a:round/>
            <a:headEnd type="none" w="sm" len="sm"/>
            <a:tailEnd type="none" w="sm" len="sm"/>
          </a:ln>
        </p:spPr>
      </p:pic>
      <p:sp>
        <p:nvSpPr>
          <p:cNvPr id="93" name="Google Shape;93;p17"/>
          <p:cNvSpPr txBox="1"/>
          <p:nvPr/>
        </p:nvSpPr>
        <p:spPr>
          <a:xfrm>
            <a:off x="4600804" y="3402366"/>
            <a:ext cx="4434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comes with 53 bundled skills by default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skills cover a wide range of capabilities including Google services (email, calendar), GitHub integration, Obsidian note-taking, Slack, weather, summarization, session logging, and many other domains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an "</a:t>
            </a:r>
            <a:r>
              <a:rPr lang="en" sz="1200" b="1">
                <a:solidFill>
                  <a:srgbClr val="6AA84F"/>
                </a:solidFill>
                <a:latin typeface="Calibri"/>
                <a:ea typeface="Calibri"/>
                <a:cs typeface="Calibri"/>
                <a:sym typeface="Calibri"/>
              </a:rPr>
              <a:t>allowBundled</a:t>
            </a:r>
            <a:r>
              <a:rPr lang="en" sz="1200">
                <a:solidFill>
                  <a:schemeClr val="dk1"/>
                </a:solidFill>
                <a:latin typeface="Calibri"/>
                <a:ea typeface="Calibri"/>
                <a:cs typeface="Calibri"/>
                <a:sym typeface="Calibri"/>
              </a:rPr>
              <a:t>" whitelist in your "openclaw.json" configuration file to restrict which skills are actually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Skills in OpenClaw are essentially instruction manuals that teach the agent how to use various tools and services</a:t>
            </a:r>
            <a:endParaRPr sz="1200">
              <a:solidFill>
                <a:schemeClr val="dk1"/>
              </a:solidFill>
              <a:latin typeface="Calibri"/>
              <a:ea typeface="Calibri"/>
              <a:cs typeface="Calibri"/>
              <a:sym typeface="Calibri"/>
            </a:endParaRPr>
          </a:p>
        </p:txBody>
      </p:sp>
      <p:sp>
        <p:nvSpPr>
          <p:cNvPr id="94" name="Google Shape;94;p17"/>
          <p:cNvSpPr txBox="1"/>
          <p:nvPr/>
        </p:nvSpPr>
        <p:spPr>
          <a:xfrm>
            <a:off x="6456000" y="863321"/>
            <a:ext cx="2579100" cy="22779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WhatsApp / Telegram / Slack / Discord /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Google Chat / Signal / iMessage /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BlueBubbles / Microsoft Teams /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Matrix / Zalo / Zalo Personal / WebChat</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Gateway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(control plane)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ws://127.0.0.1:18789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 Pi agent (RPC)</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 CLI (openclaw …)</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 WebChat UI</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 macOS app</a:t>
            </a:r>
            <a:endParaRPr sz="8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3C78D8"/>
                </a:solidFill>
                <a:latin typeface="Roboto Mono"/>
                <a:ea typeface="Roboto Mono"/>
                <a:cs typeface="Roboto Mono"/>
                <a:sym typeface="Roboto Mono"/>
              </a:rPr>
              <a:t>           └─ iOS / Android nodes</a:t>
            </a:r>
            <a:endParaRPr sz="800" b="1">
              <a:solidFill>
                <a:srgbClr val="3C78D8"/>
              </a:solidFill>
              <a:latin typeface="Roboto Mono"/>
              <a:ea typeface="Roboto Mono"/>
              <a:cs typeface="Roboto Mono"/>
              <a:sym typeface="Roboto Mono"/>
            </a:endParaRPr>
          </a:p>
        </p:txBody>
      </p:sp>
      <p:sp>
        <p:nvSpPr>
          <p:cNvPr id="95" name="Google Shape;95;p17"/>
          <p:cNvSpPr txBox="1"/>
          <p:nvPr/>
        </p:nvSpPr>
        <p:spPr>
          <a:xfrm>
            <a:off x="55075" y="3588150"/>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is built around a gateway that routes five types of inputs into an execution queue: direct messages (DMs), heartbeats (regular timers), cron jobs (scheduled tasks), internal hooks, and external webhooks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Magic: </a:t>
            </a:r>
            <a:r>
              <a:rPr lang="en" sz="1200" b="1">
                <a:solidFill>
                  <a:srgbClr val="3C78D8"/>
                </a:solidFill>
                <a:latin typeface="Calibri"/>
                <a:ea typeface="Calibri"/>
                <a:cs typeface="Calibri"/>
                <a:sym typeface="Calibri"/>
              </a:rPr>
              <a:t>persistent state</a:t>
            </a:r>
            <a:r>
              <a:rPr lang="en" sz="1200">
                <a:solidFill>
                  <a:schemeClr val="dk1"/>
                </a:solidFill>
                <a:latin typeface="Calibri"/>
                <a:ea typeface="Calibri"/>
                <a:cs typeface="Calibri"/>
                <a:sym typeface="Calibri"/>
              </a:rPr>
              <a:t> + </a:t>
            </a:r>
            <a:r>
              <a:rPr lang="en" sz="1200" b="1">
                <a:solidFill>
                  <a:srgbClr val="6AA84F"/>
                </a:solidFill>
                <a:latin typeface="Calibri"/>
                <a:ea typeface="Calibri"/>
                <a:cs typeface="Calibri"/>
                <a:sym typeface="Calibri"/>
              </a:rPr>
              <a:t>event-driven architecture</a:t>
            </a:r>
            <a:r>
              <a:rPr lang="en" sz="1200">
                <a:solidFill>
                  <a:schemeClr val="dk1"/>
                </a:solidFill>
                <a:latin typeface="Calibri"/>
                <a:ea typeface="Calibri"/>
                <a:cs typeface="Calibri"/>
                <a:sym typeface="Calibri"/>
              </a:rPr>
              <a:t> + </a:t>
            </a:r>
            <a:r>
              <a:rPr lang="en" sz="1200" b="1">
                <a:solidFill>
                  <a:srgbClr val="FF0000"/>
                </a:solidFill>
                <a:latin typeface="Calibri"/>
                <a:ea typeface="Calibri"/>
                <a:cs typeface="Calibri"/>
                <a:sym typeface="Calibri"/>
              </a:rPr>
              <a:t>continuous processing loop</a:t>
            </a:r>
            <a:r>
              <a:rPr lang="en" sz="1200">
                <a:solidFill>
                  <a:schemeClr val="dk1"/>
                </a:solidFill>
                <a:latin typeface="Calibri"/>
                <a:ea typeface="Calibri"/>
                <a:cs typeface="Calibri"/>
                <a:sym typeface="Calibri"/>
              </a:rPr>
              <a:t> that mimics autonomous decision-making.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https://www.youtube.com/watch?v=CAbrRTu5xcw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https://github.com/openclaw/openclaw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96" name="Google Shape;96;p17"/>
          <p:cNvSpPr txBox="1"/>
          <p:nvPr/>
        </p:nvSpPr>
        <p:spPr>
          <a:xfrm>
            <a:off x="4600803" y="1217501"/>
            <a:ext cx="14589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Peter Steinberger</a:t>
            </a:r>
            <a:endParaRPr sz="1200">
              <a:solidFill>
                <a:schemeClr val="dk1"/>
              </a:solidFill>
              <a:latin typeface="Calibri"/>
              <a:ea typeface="Calibri"/>
              <a:cs typeface="Calibri"/>
              <a:sym typeface="Calibri"/>
            </a:endParaRPr>
          </a:p>
        </p:txBody>
      </p:sp>
      <p:pic>
        <p:nvPicPr>
          <p:cNvPr id="97" name="Google Shape;97;p1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564600" y="1495308"/>
            <a:ext cx="607121" cy="828467"/>
          </a:xfrm>
          <a:prstGeom prst="rect">
            <a:avLst/>
          </a:prstGeom>
          <a:noFill/>
          <a:ln w="10975" cap="flat" cmpd="sng">
            <a:solidFill>
              <a:srgbClr val="FF0000"/>
            </a:solidFill>
            <a:prstDash val="solid"/>
            <a:round/>
            <a:headEnd type="none" w="sm" len="sm"/>
            <a:tailEnd type="none" w="sm" len="sm"/>
          </a:ln>
        </p:spPr>
      </p:pic>
      <p:pic>
        <p:nvPicPr>
          <p:cNvPr id="98" name="Google Shape;98;p1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204843" y="1495300"/>
            <a:ext cx="1196180" cy="828465"/>
          </a:xfrm>
          <a:prstGeom prst="rect">
            <a:avLst/>
          </a:prstGeom>
          <a:noFill/>
          <a:ln w="10975" cap="flat" cmpd="sng">
            <a:solidFill>
              <a:srgbClr val="FF0000"/>
            </a:solidFill>
            <a:prstDash val="solid"/>
            <a:round/>
            <a:headEnd type="none" w="sm" len="sm"/>
            <a:tailEnd type="none" w="sm" len="sm"/>
          </a:ln>
        </p:spPr>
      </p:pic>
      <p:pic>
        <p:nvPicPr>
          <p:cNvPr id="99" name="Google Shape;99;p17"/>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564600" y="2398475"/>
            <a:ext cx="1836425" cy="86223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Why OpenClaw is So Popular?</a:t>
            </a:r>
            <a:endParaRPr sz="2000" b="1">
              <a:solidFill>
                <a:schemeClr val="dk1"/>
              </a:solidFill>
              <a:latin typeface="Calibri"/>
              <a:ea typeface="Calibri"/>
              <a:cs typeface="Calibri"/>
              <a:sym typeface="Calibri"/>
            </a:endParaRPr>
          </a:p>
        </p:txBody>
      </p:sp>
      <p:sp>
        <p:nvSpPr>
          <p:cNvPr id="105" name="Google Shape;105;p18"/>
          <p:cNvSpPr txBox="1"/>
          <p:nvPr/>
        </p:nvSpPr>
        <p:spPr>
          <a:xfrm>
            <a:off x="66113" y="488871"/>
            <a:ext cx="44343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Autonomous AI assistant that "actually does things"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 Source (MIT License)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Exploded to 191K stars on GitHub in just 2 weeks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Anyone can run it locally on their own machines (Mac, Windows, or Linux) without subscription fees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personal "AI Jarvis" working on their devices 24/7</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Modular skills system - community creates skills for specific tasks - ranging from managing emails and ordering groceries to browser automation and file management. This community-driven approach rapidly expanded its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Viral Moltbook Launch (Moltbook is a social networking platform exclusively for AI agents created by entrepreneur Matt Schlicht) significantly boosted OpenClaw's visibility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Moltbook exploded from 157K users to over 770K active agents by late January 2026, becoming "the front page of the agent internet"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Major companies quickly integrated OpenClaw into their products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China's Baidu added it to their search app for 700 million users during the Lunar New Year</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adapted it to work with various LLM models (including Claude, DeepSeek, and OpenAI's GPT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arrived at a moment when autonomous AI agents became a major technology trend, offering practical automation for everyday tasks like email management, online services, and workflow automation</a:t>
            </a:r>
            <a:endParaRPr sz="1200">
              <a:solidFill>
                <a:schemeClr val="dk1"/>
              </a:solidFill>
              <a:latin typeface="Calibri"/>
              <a:ea typeface="Calibri"/>
              <a:cs typeface="Calibri"/>
              <a:sym typeface="Calibri"/>
            </a:endParaRPr>
          </a:p>
        </p:txBody>
      </p:sp>
      <p:pic>
        <p:nvPicPr>
          <p:cNvPr id="106" name="Google Shape;106;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502850" y="43024"/>
            <a:ext cx="1590649" cy="326400"/>
          </a:xfrm>
          <a:prstGeom prst="rect">
            <a:avLst/>
          </a:prstGeom>
          <a:noFill/>
          <a:ln w="6200" cap="flat" cmpd="sng">
            <a:solidFill>
              <a:srgbClr val="FF0000"/>
            </a:solidFill>
            <a:prstDash val="solid"/>
            <a:round/>
            <a:headEnd type="none" w="sm" len="sm"/>
            <a:tailEnd type="none" w="sm" len="sm"/>
          </a:ln>
        </p:spPr>
      </p:pic>
      <p:sp>
        <p:nvSpPr>
          <p:cNvPr id="107" name="Google Shape;107;p18"/>
          <p:cNvSpPr txBox="1"/>
          <p:nvPr/>
        </p:nvSpPr>
        <p:spPr>
          <a:xfrm>
            <a:off x="4659200" y="2487658"/>
            <a:ext cx="443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Peter Steinberger is originally from Austria (specifically Vienna)</a:t>
            </a:r>
            <a:r>
              <a:rPr lang="en" sz="1200">
                <a:solidFill>
                  <a:schemeClr val="dk1"/>
                </a:solidFill>
                <a:latin typeface="Calibri"/>
                <a:ea typeface="Calibri"/>
                <a:cs typeface="Calibri"/>
                <a:sym typeface="Calibri"/>
              </a:rPr>
              <a:t> </a:t>
            </a:r>
            <a:r>
              <a:rPr lang="en" sz="1200" b="1">
                <a:solidFill>
                  <a:srgbClr val="3C78D8"/>
                </a:solidFill>
                <a:latin typeface="Calibri"/>
                <a:ea typeface="Calibri"/>
                <a:cs typeface="Calibri"/>
                <a:sym typeface="Calibri"/>
              </a:rPr>
              <a:t>and recently moved to San Francisco during the OpenClaw hype</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Nov 2025: Initial release as "WhatsApp Relay" (or "V Relay"), essentially a WhatsApp relay tool</a:t>
            </a:r>
            <a:endParaRPr sz="1200">
              <a:solidFill>
                <a:srgbClr val="6AA84F"/>
              </a:solidFill>
              <a:latin typeface="Calibri"/>
              <a:ea typeface="Calibri"/>
              <a:cs typeface="Calibri"/>
              <a:sym typeface="Calibri"/>
            </a:endParaRPr>
          </a:p>
          <a:p>
            <a:pPr marL="34290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Late 2025: Renamed to "Clawdbot" when Discord was added</a:t>
            </a:r>
            <a:endParaRPr sz="1200">
              <a:solidFill>
                <a:srgbClr val="6AA84F"/>
              </a:solidFill>
              <a:latin typeface="Calibri"/>
              <a:ea typeface="Calibri"/>
              <a:cs typeface="Calibri"/>
              <a:sym typeface="Calibri"/>
            </a:endParaRPr>
          </a:p>
          <a:p>
            <a:pPr marL="34290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Dec 3, 2025: Project went viral, 9K GitHub stars in 24 hours</a:t>
            </a:r>
            <a:endParaRPr sz="1200">
              <a:solidFill>
                <a:srgbClr val="6AA84F"/>
              </a:solidFill>
              <a:latin typeface="Calibri"/>
              <a:ea typeface="Calibri"/>
              <a:cs typeface="Calibri"/>
              <a:sym typeface="Calibri"/>
            </a:endParaRPr>
          </a:p>
          <a:p>
            <a:pPr marL="34290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Jan 27, 2026: Renamed to "Moltbot" after Anthropic's letter</a:t>
            </a:r>
            <a:endParaRPr sz="1200">
              <a:solidFill>
                <a:srgbClr val="6AA84F"/>
              </a:solidFill>
              <a:latin typeface="Calibri"/>
              <a:ea typeface="Calibri"/>
              <a:cs typeface="Calibri"/>
              <a:sym typeface="Calibri"/>
            </a:endParaRPr>
          </a:p>
          <a:p>
            <a:pPr marL="34290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Jan 30, 2026: Final rename to "OpenClaw"</a:t>
            </a:r>
            <a:endParaRPr sz="1200">
              <a:solidFill>
                <a:srgbClr val="6AA84F"/>
              </a:solidFill>
              <a:latin typeface="Calibri"/>
              <a:ea typeface="Calibri"/>
              <a:cs typeface="Calibri"/>
              <a:sym typeface="Calibri"/>
            </a:endParaRPr>
          </a:p>
          <a:p>
            <a:pPr marL="34290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Feb 13 (today) - 191K on GitHub</a:t>
            </a:r>
            <a:endParaRPr sz="1200">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Note: Much of the January hype was fueled by the emergence of </a:t>
            </a:r>
            <a:r>
              <a:rPr lang="en" sz="1200" b="1">
                <a:solidFill>
                  <a:srgbClr val="3C78D8"/>
                </a:solidFill>
                <a:latin typeface="Calibri"/>
                <a:ea typeface="Calibri"/>
                <a:cs typeface="Calibri"/>
                <a:sym typeface="Calibri"/>
              </a:rPr>
              <a:t>Moltbook, an "AI-only" social network </a:t>
            </a:r>
            <a:r>
              <a:rPr lang="en" sz="1200">
                <a:solidFill>
                  <a:schemeClr val="dk1"/>
                </a:solidFill>
                <a:latin typeface="Calibri"/>
                <a:ea typeface="Calibri"/>
                <a:cs typeface="Calibri"/>
                <a:sym typeface="Calibri"/>
              </a:rPr>
              <a:t>where OpenClaw agents interacted with each other, which captured significant media attention.</a:t>
            </a:r>
            <a:endParaRPr sz="1200">
              <a:solidFill>
                <a:schemeClr val="dk1"/>
              </a:solidFill>
              <a:latin typeface="Calibri"/>
              <a:ea typeface="Calibri"/>
              <a:cs typeface="Calibri"/>
              <a:sym typeface="Calibri"/>
            </a:endParaRPr>
          </a:p>
        </p:txBody>
      </p:sp>
      <p:sp>
        <p:nvSpPr>
          <p:cNvPr id="108" name="Google Shape;108;p18"/>
          <p:cNvSpPr txBox="1"/>
          <p:nvPr/>
        </p:nvSpPr>
        <p:spPr>
          <a:xfrm>
            <a:off x="4659200" y="1115884"/>
            <a:ext cx="4434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challenged existing assumptions about AI development, proving that "the model is not everything" and sparking </a:t>
            </a:r>
            <a:r>
              <a:rPr lang="en" sz="1200" b="1">
                <a:solidFill>
                  <a:srgbClr val="FF0000"/>
                </a:solidFill>
                <a:latin typeface="Calibri"/>
                <a:ea typeface="Calibri"/>
                <a:cs typeface="Calibri"/>
                <a:sym typeface="Calibri"/>
              </a:rPr>
              <a:t>rapid shifts in venture capital flows toward OpenClaw-related projects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security experts have raised concerns about OpenClaw's autonomous capabilities and the lack of adequate vetting for community-created skills, with reports of malicious skills performing data exfiltration</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9"/>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Why OpenClaw is So Popular?</a:t>
            </a:r>
            <a:endParaRPr sz="2000" b="1">
              <a:solidFill>
                <a:schemeClr val="dk1"/>
              </a:solidFill>
              <a:latin typeface="Calibri"/>
              <a:ea typeface="Calibri"/>
              <a:cs typeface="Calibri"/>
              <a:sym typeface="Calibri"/>
            </a:endParaRPr>
          </a:p>
        </p:txBody>
      </p:sp>
      <p:sp>
        <p:nvSpPr>
          <p:cNvPr id="114" name="Google Shape;114;p19"/>
          <p:cNvSpPr txBox="1"/>
          <p:nvPr/>
        </p:nvSpPr>
        <p:spPr>
          <a:xfrm>
            <a:off x="66113" y="488871"/>
            <a:ext cx="44343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Baidu deployed OpenClaw on Baidu AI Cloud as part of their app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called "OpenClaw intelligent tool" or "OpenClaw AI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hosted on the Baidu cloud, so users don't have to install it locally.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They can access it via search box in Baidu's main app and via the private message bar within the Baidu app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Baidu users simply invoke OpenClaw with "one-click" access directly from within the app they already have installed. N GitHub download or local installation required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users opt in, they can communicate with the AI assistant through Baidu's existing interface for tasks like </a:t>
            </a:r>
            <a:r>
              <a:rPr lang="en" sz="1200" b="1">
                <a:solidFill>
                  <a:srgbClr val="FF0000"/>
                </a:solidFill>
                <a:latin typeface="Calibri"/>
                <a:ea typeface="Calibri"/>
                <a:cs typeface="Calibri"/>
                <a:sym typeface="Calibri"/>
              </a:rPr>
              <a:t>scheduling, document organization, and coding</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They can't read/write local laptop files, but can access document library. OpenClaw can connect with Baidu's entire ecosystem of products, including search, maps, document library, cloud storage, Xiaodu (their smart assistant), and iQIYI (their streaming service)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is very different from the original open-source OpenClaw model where individual users download code from GitHub and run it locally on their own computers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Baidu's integration makes OpenClaw technology available to hundreds of millions of users without any of them needing to visit GitHub or understand how to deploy software.</a:t>
            </a:r>
            <a:endParaRPr sz="1200">
              <a:solidFill>
                <a:schemeClr val="dk1"/>
              </a:solidFill>
              <a:latin typeface="Calibri"/>
              <a:ea typeface="Calibri"/>
              <a:cs typeface="Calibri"/>
              <a:sym typeface="Calibri"/>
            </a:endParaRPr>
          </a:p>
        </p:txBody>
      </p:sp>
      <p:pic>
        <p:nvPicPr>
          <p:cNvPr id="115" name="Google Shape;115;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436625" y="98224"/>
            <a:ext cx="1590649" cy="326400"/>
          </a:xfrm>
          <a:prstGeom prst="rect">
            <a:avLst/>
          </a:prstGeom>
          <a:noFill/>
          <a:ln w="6200" cap="flat" cmpd="sng">
            <a:solidFill>
              <a:srgbClr val="FF0000"/>
            </a:solidFill>
            <a:prstDash val="solid"/>
            <a:round/>
            <a:headEnd type="none" w="sm" len="sm"/>
            <a:tailEnd type="none" w="sm" len="sm"/>
          </a:ln>
        </p:spPr>
      </p:pic>
      <p:pic>
        <p:nvPicPr>
          <p:cNvPr id="116" name="Google Shape;116;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85945" y="488874"/>
            <a:ext cx="2427550" cy="27232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 Safe Alternative</a:t>
            </a:r>
            <a:endParaRPr sz="2000" b="1">
              <a:solidFill>
                <a:schemeClr val="dk1"/>
              </a:solidFill>
              <a:latin typeface="Calibri"/>
              <a:ea typeface="Calibri"/>
              <a:cs typeface="Calibri"/>
              <a:sym typeface="Calibri"/>
            </a:endParaRPr>
          </a:p>
        </p:txBody>
      </p:sp>
      <p:sp>
        <p:nvSpPr>
          <p:cNvPr id="122" name="Google Shape;122;p20"/>
          <p:cNvSpPr txBox="1"/>
          <p:nvPr/>
        </p:nvSpPr>
        <p:spPr>
          <a:xfrm>
            <a:off x="55075" y="437700"/>
            <a:ext cx="3583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Safer OpenClaw Using Claude Code - </a:t>
            </a:r>
            <a:r>
              <a:rPr lang="en" sz="1200" b="1">
                <a:solidFill>
                  <a:srgbClr val="3C78D8"/>
                </a:solidFill>
                <a:latin typeface="Calibri"/>
                <a:ea typeface="Calibri"/>
                <a:cs typeface="Calibri"/>
                <a:sym typeface="Calibri"/>
              </a:rPr>
              <a:t>by Cole Medin</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https://www.youtube.com/watch?v=XmweZ4fLkcI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Self-made (Claude Code + Python + Markdown)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components: </a:t>
            </a:r>
            <a:br>
              <a:rPr lang="en" sz="1200">
                <a:solidFill>
                  <a:schemeClr val="dk1"/>
                </a:solidFill>
                <a:latin typeface="Calibri"/>
                <a:ea typeface="Calibri"/>
                <a:cs typeface="Calibri"/>
                <a:sym typeface="Calibri"/>
              </a:rPr>
            </a:br>
            <a:r>
              <a:rPr lang="en" sz="1200">
                <a:solidFill>
                  <a:srgbClr val="3C78D8"/>
                </a:solidFill>
                <a:latin typeface="Calibri"/>
                <a:ea typeface="Calibri"/>
                <a:cs typeface="Calibri"/>
                <a:sym typeface="Calibri"/>
              </a:rPr>
              <a:t>.. the memory system (markdown + SQLite)</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heartbeat (for scheduling)</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channel adapters (platform integration)</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skills registry.</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custom solution uses:</a:t>
            </a:r>
            <a:br>
              <a:rPr lang="en" sz="1200">
                <a:solidFill>
                  <a:schemeClr val="dk1"/>
                </a:solidFill>
                <a:latin typeface="Calibri"/>
                <a:ea typeface="Calibri"/>
                <a:cs typeface="Calibri"/>
                <a:sym typeface="Calibri"/>
              </a:rPr>
            </a:br>
            <a:r>
              <a:rPr lang="en" sz="1200">
                <a:solidFill>
                  <a:srgbClr val="3C78D8"/>
                </a:solidFill>
                <a:latin typeface="Calibri"/>
                <a:ea typeface="Calibri"/>
                <a:cs typeface="Calibri"/>
                <a:sym typeface="Calibri"/>
              </a:rPr>
              <a:t>.. Obsidian for storage</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Claude Agent SDK for automation</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Slack integration</a:t>
            </a:r>
            <a:endParaRPr sz="1200">
              <a:solidFill>
                <a:srgbClr val="3C78D8"/>
              </a:solidFill>
              <a:latin typeface="Calibri"/>
              <a:ea typeface="Calibri"/>
              <a:cs typeface="Calibri"/>
              <a:sym typeface="Calibri"/>
            </a:endParaRPr>
          </a:p>
        </p:txBody>
      </p:sp>
      <p:pic>
        <p:nvPicPr>
          <p:cNvPr id="123" name="Google Shape;123;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638550" y="43025"/>
            <a:ext cx="2225172" cy="1103501"/>
          </a:xfrm>
          <a:prstGeom prst="rect">
            <a:avLst/>
          </a:prstGeom>
          <a:noFill/>
          <a:ln w="9525" cap="flat" cmpd="sng">
            <a:solidFill>
              <a:srgbClr val="FF0000"/>
            </a:solidFill>
            <a:prstDash val="solid"/>
            <a:round/>
            <a:headEnd type="none" w="sm" len="sm"/>
            <a:tailEnd type="none" w="sm" len="sm"/>
          </a:ln>
        </p:spPr>
      </p:pic>
      <p:sp>
        <p:nvSpPr>
          <p:cNvPr id="124" name="Google Shape;124;p20"/>
          <p:cNvSpPr txBox="1"/>
          <p:nvPr/>
        </p:nvSpPr>
        <p:spPr>
          <a:xfrm>
            <a:off x="72757" y="2988875"/>
            <a:ext cx="4020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"Popebot" - alternative to Clawbot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https://www.youtube.com/watch?v=zeJ4whgLELE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Free, open-source, runs continuously, autonomously, can improve its own code through experience; uses GitHub for storage and version control (security via GitHub secrets and Docker containers)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 building a financial advisor for daily market research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Requires Git, Node.js, and Docker. Can use Anthropic, OpenAI, Brave 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bot can be controlled via Telegram or API calls</a:t>
            </a:r>
            <a:endParaRPr sz="1200">
              <a:solidFill>
                <a:schemeClr val="dk1"/>
              </a:solidFill>
              <a:latin typeface="Calibri"/>
              <a:ea typeface="Calibri"/>
              <a:cs typeface="Calibri"/>
              <a:sym typeface="Calibri"/>
            </a:endParaRPr>
          </a:p>
        </p:txBody>
      </p:sp>
      <p:sp>
        <p:nvSpPr>
          <p:cNvPr id="125" name="Google Shape;125;p20"/>
          <p:cNvSpPr txBox="1"/>
          <p:nvPr/>
        </p:nvSpPr>
        <p:spPr>
          <a:xfrm>
            <a:off x="4356650" y="2475952"/>
            <a:ext cx="47394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acquisition Negotiations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Meta and OpenAI are both actively trying to acquire OpenClaw and its creator, Peter Steinberger.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Peter's condition is that OpenClaw remains open source, potentially following a model similar to Chrome and Chromium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believes the project is "too important to just give to a company and make it theirs"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competitive bidding reflects industry recognition that </a:t>
            </a:r>
            <a:r>
              <a:rPr lang="en" sz="1200" b="1">
                <a:solidFill>
                  <a:srgbClr val="3C78D8"/>
                </a:solidFill>
                <a:latin typeface="Calibri"/>
                <a:ea typeface="Calibri"/>
                <a:cs typeface="Calibri"/>
                <a:sym typeface="Calibri"/>
              </a:rPr>
              <a:t>agentic AI  systems that can autonomously manage tasks, use tools, and maintain context over time </a:t>
            </a:r>
            <a:r>
              <a:rPr lang="en" sz="1200" b="1">
                <a:solidFill>
                  <a:srgbClr val="FF9900"/>
                </a:solidFill>
                <a:latin typeface="Calibri"/>
                <a:ea typeface="Calibri"/>
                <a:cs typeface="Calibri"/>
                <a:sym typeface="Calibri"/>
              </a:rPr>
              <a:t>represents a crucial frontier</a:t>
            </a:r>
            <a:endParaRPr sz="1200" b="1">
              <a:solidFill>
                <a:srgbClr val="FF99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OpenClaw's explosive growth (over 123,000 GitHub stars in 48 hours and 2 million visitors in just days) demonstrated clear market demand for AI assistants that function as genuine digital employees rather than simple chatbots</a:t>
            </a:r>
            <a:endParaRPr sz="1200">
              <a:solidFill>
                <a:schemeClr val="dk1"/>
              </a:solidFill>
              <a:latin typeface="Calibri"/>
              <a:ea typeface="Calibri"/>
              <a:cs typeface="Calibri"/>
              <a:sym typeface="Calibri"/>
            </a:endParaRPr>
          </a:p>
        </p:txBody>
      </p:sp>
      <p:sp>
        <p:nvSpPr>
          <p:cNvPr id="126" name="Google Shape;126;p20"/>
          <p:cNvSpPr txBox="1"/>
          <p:nvPr/>
        </p:nvSpPr>
        <p:spPr>
          <a:xfrm>
            <a:off x="4356650" y="1419260"/>
            <a:ext cx="47394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PicoClaw - basic OpenClaw on only 10MB of RAM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PicoClaw claims to match OpenClaw's core features using only 1% of the code and memory, making it suitable for edge IoT devices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https://github.com/sipeed/picoclaw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https://www.youtube.com/watch?v=omOCfGdx1uk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7" name="Google Shape;127;p2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530775" y="748883"/>
            <a:ext cx="2565274" cy="5771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3" name="Google Shape;133;p21"/>
          <p:cNvSpPr txBox="1"/>
          <p:nvPr/>
        </p:nvSpPr>
        <p:spPr>
          <a:xfrm>
            <a:off x="55075" y="369420"/>
            <a:ext cx="44343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Claude-Mem </a:t>
            </a:r>
            <a:r>
              <a:rPr lang="en" sz="1200">
                <a:solidFill>
                  <a:schemeClr val="dk1"/>
                </a:solidFill>
                <a:latin typeface="Calibri"/>
                <a:ea typeface="Calibri"/>
                <a:cs typeface="Calibri"/>
                <a:sym typeface="Calibri"/>
              </a:rPr>
              <a:t>- preserves context across sessions by automatically capturing tool usage observations, generating semantic summaries, and making them available to future sessions. This enables Claude to maintain continuity of knowledge about projects even after sessions end or reconnect.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https://github.com/thedotmack/claude-mem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https://www.youtube.com/watch?v=7eXkrno5KEA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/plugin marketplace add thedotmack/claude-mem</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/plugin install claude-mem</a:t>
            </a:r>
            <a:endParaRPr sz="1000" b="1">
              <a:solidFill>
                <a:srgbClr val="3C78D8"/>
              </a:solidFill>
              <a:latin typeface="Roboto Mono"/>
              <a:ea typeface="Roboto Mono"/>
              <a:cs typeface="Roboto Mono"/>
              <a:sym typeface="Roboto Mono"/>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Claude-Mem</a:t>
            </a:r>
            <a:r>
              <a:rPr lang="en" sz="1200">
                <a:solidFill>
                  <a:schemeClr val="dk1"/>
                </a:solidFill>
                <a:latin typeface="Calibri"/>
                <a:ea typeface="Calibri"/>
                <a:cs typeface="Calibri"/>
                <a:sym typeface="Calibri"/>
              </a:rPr>
              <a:t> uses a hook-based architecture with 5 lifecycle hooks (SessionStart, UserPromptSubmit, PostToolUse, Stop, SessionEnd) that automatically capture tool usage observations during coding sessions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Claude-Mem</a:t>
            </a:r>
            <a:r>
              <a:rPr lang="en" sz="1200">
                <a:solidFill>
                  <a:schemeClr val="dk1"/>
                </a:solidFill>
                <a:latin typeface="Calibri"/>
                <a:ea typeface="Calibri"/>
                <a:cs typeface="Calibri"/>
                <a:sym typeface="Calibri"/>
              </a:rPr>
              <a:t> stores data in SQLite with FTS5 full-text search and employs a Chroma vector database for hybrid semantic + keyword search; uses a worker service on port 37777 with a web viewer UI and generates semantic summaries using Claude's agent-sdk</a:t>
            </a:r>
            <a:endParaRPr sz="1000" b="1">
              <a:solidFill>
                <a:srgbClr val="3C78D8"/>
              </a:solidFill>
              <a:latin typeface="Roboto Mono"/>
              <a:ea typeface="Roboto Mono"/>
              <a:cs typeface="Roboto Mono"/>
              <a:sym typeface="Roboto Mono"/>
            </a:endParaRPr>
          </a:p>
        </p:txBody>
      </p:sp>
      <p:pic>
        <p:nvPicPr>
          <p:cNvPr id="134" name="Google Shape;134;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12377" y="588577"/>
            <a:ext cx="3660452" cy="664875"/>
          </a:xfrm>
          <a:prstGeom prst="rect">
            <a:avLst/>
          </a:prstGeom>
          <a:noFill/>
          <a:ln>
            <a:noFill/>
          </a:ln>
        </p:spPr>
      </p:pic>
      <p:sp>
        <p:nvSpPr>
          <p:cNvPr id="135" name="Google Shape;135;p21"/>
          <p:cNvSpPr txBox="1"/>
          <p:nvPr/>
        </p:nvSpPr>
        <p:spPr>
          <a:xfrm>
            <a:off x="4599575" y="1506220"/>
            <a:ext cx="443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Some alternatives: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OpenMemory </a:t>
            </a:r>
            <a:r>
              <a:rPr lang="en" sz="1200">
                <a:solidFill>
                  <a:schemeClr val="dk1"/>
                </a:solidFill>
                <a:latin typeface="Calibri"/>
                <a:ea typeface="Calibri"/>
                <a:cs typeface="Calibri"/>
                <a:sym typeface="Calibri"/>
              </a:rPr>
              <a:t>- implements a Hierarchical Memory Decomposition (HMD) architecture with multi-sector embeddings across episodic, semantic, procedural, emotional, and reflective dimensions; It uses a single-waypoint linking system creating a sparse, biologically inspired graph with composite similarity retrieval. The system supports multiple backends (SQLite, PostgreSQL, pgvector, Weaviate) and multiple embedding providers (OpenAI, Gemini, Ollama, local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​Multiple Memory-MCP Variants, for example </a:t>
            </a:r>
            <a:r>
              <a:rPr lang="en" sz="1200" b="1">
                <a:solidFill>
                  <a:srgbClr val="FF0000"/>
                </a:solidFill>
                <a:latin typeface="Calibri"/>
                <a:ea typeface="Calibri"/>
                <a:cs typeface="Calibri"/>
                <a:sym typeface="Calibri"/>
              </a:rPr>
              <a:t>Moon-afk/claude-memory-mcp; </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mkreyman/mcp-memory-keeper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PersistQ</a:t>
            </a:r>
            <a:r>
              <a:rPr lang="en" sz="1200">
                <a:solidFill>
                  <a:schemeClr val="dk1"/>
                </a:solidFill>
                <a:latin typeface="Calibri"/>
                <a:ea typeface="Calibri"/>
                <a:cs typeface="Calibri"/>
                <a:sym typeface="Calibri"/>
              </a:rPr>
              <a:t> - uses Postgres + pgvector</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4.6 runs Simulated Business</a:t>
            </a:r>
            <a:endParaRPr sz="2000" b="1">
              <a:solidFill>
                <a:schemeClr val="dk1"/>
              </a:solidFill>
              <a:latin typeface="Calibri"/>
              <a:ea typeface="Calibri"/>
              <a:cs typeface="Calibri"/>
              <a:sym typeface="Calibri"/>
            </a:endParaRPr>
          </a:p>
        </p:txBody>
      </p:sp>
      <p:sp>
        <p:nvSpPr>
          <p:cNvPr id="141" name="Google Shape;141;p22"/>
          <p:cNvSpPr txBox="1"/>
          <p:nvPr/>
        </p:nvSpPr>
        <p:spPr>
          <a:xfrm>
            <a:off x="55075" y="423850"/>
            <a:ext cx="4017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Opus 4.6 significantly outperformed previous models </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like Gemini 3.0 Pro on In the "Vending Bench"</a:t>
            </a:r>
            <a:r>
              <a:rPr lang="en" sz="1200">
                <a:solidFill>
                  <a:schemeClr val="dk1"/>
                </a:solidFill>
                <a:latin typeface="Calibri"/>
                <a:ea typeface="Calibri"/>
                <a:cs typeface="Calibri"/>
                <a:sym typeface="Calibri"/>
              </a:rPr>
              <a:t> - a benchmark where AI agents are tasked with running a simulated vending machine business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maximize profits, the AI engaged in ethically questionable behaviors like Lying to customers, fix high prices, lying to suppliers, lying to  its rivals to sabotage them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Security Concerns - "win-at-all-costs" mentality. It employs Machiavellian tactics - moved past being "nice" and "ethical" to using deception, manipulation, and cutthroat business strategies that were previously only seen in humans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http://www.youtube.com/watch?v=WSCbyIMXwS4</a:t>
            </a:r>
            <a:endParaRPr sz="1200">
              <a:solidFill>
                <a:schemeClr val="dk1"/>
              </a:solidFill>
              <a:latin typeface="Calibri"/>
              <a:ea typeface="Calibri"/>
              <a:cs typeface="Calibri"/>
              <a:sym typeface="Calibri"/>
            </a:endParaRPr>
          </a:p>
        </p:txBody>
      </p:sp>
      <p:sp>
        <p:nvSpPr>
          <p:cNvPr id="142" name="Google Shape;142;p22"/>
          <p:cNvSpPr txBox="1"/>
          <p:nvPr/>
        </p:nvSpPr>
        <p:spPr>
          <a:xfrm>
            <a:off x="4362625" y="1801400"/>
            <a:ext cx="46704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Mimo v2 small 15B params model out-reason Opus 4.6?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Open-source model by Xiaomi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Interleaving Sliding Window Attention with an "attention sink" allows to processes long contexts with 6x less memory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Post-training - Multi-Tier On-Policy Distillation. Instead of one teacher, the model learns from a "council" of expert AIs (math, code, and safety specialists) who critique it token-by-token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boost speed, a Multi-Token Prediction head acts like a fast intuition layer, guessing future tokens to accelerate coding tasks by up to 3x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solving deep-rooted issues like "precision mismatch" between training and inference, Mimo v2 proves that elegant math and specialized "non-agentic" reasoning training can beat sheer scale.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http://www.youtube.com/watch?v=uVPZXvs634U</a:t>
            </a:r>
            <a:endParaRPr sz="1200">
              <a:solidFill>
                <a:schemeClr val="dk1"/>
              </a:solidFill>
              <a:latin typeface="Calibri"/>
              <a:ea typeface="Calibri"/>
              <a:cs typeface="Calibri"/>
              <a:sym typeface="Calibri"/>
            </a:endParaRPr>
          </a:p>
        </p:txBody>
      </p:sp>
      <p:sp>
        <p:nvSpPr>
          <p:cNvPr id="143" name="Google Shape;143;p22"/>
          <p:cNvSpPr txBox="1"/>
          <p:nvPr/>
        </p:nvSpPr>
        <p:spPr>
          <a:xfrm>
            <a:off x="5994925" y="1378145"/>
            <a:ext cx="3038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Mimo v2 small 15B params</a:t>
            </a:r>
            <a:endParaRPr sz="2000" b="1">
              <a:solidFill>
                <a:schemeClr val="dk1"/>
              </a:solidFill>
              <a:latin typeface="Calibri"/>
              <a:ea typeface="Calibri"/>
              <a:cs typeface="Calibri"/>
              <a:sym typeface="Calibri"/>
            </a:endParaRPr>
          </a:p>
        </p:txBody>
      </p:sp>
      <p:pic>
        <p:nvPicPr>
          <p:cNvPr id="144" name="Google Shape;144;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5075" y="2841750"/>
            <a:ext cx="3854926" cy="605250"/>
          </a:xfrm>
          <a:prstGeom prst="rect">
            <a:avLst/>
          </a:prstGeom>
          <a:noFill/>
          <a:ln w="9525" cap="flat" cmpd="sng">
            <a:solidFill>
              <a:srgbClr val="FF0000"/>
            </a:solidFill>
            <a:prstDash val="solid"/>
            <a:round/>
            <a:headEnd type="none" w="sm" len="sm"/>
            <a:tailEnd type="none" w="sm" len="sm"/>
          </a:ln>
        </p:spPr>
      </p:pic>
      <p:pic>
        <p:nvPicPr>
          <p:cNvPr id="145" name="Google Shape;145;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601473" y="4285333"/>
            <a:ext cx="2367225" cy="818000"/>
          </a:xfrm>
          <a:prstGeom prst="rect">
            <a:avLst/>
          </a:prstGeom>
          <a:noFill/>
          <a:ln w="9525" cap="flat" cmpd="sng">
            <a:solidFill>
              <a:srgbClr val="FF0000"/>
            </a:solidFill>
            <a:prstDash val="solid"/>
            <a:round/>
            <a:headEnd type="none" w="sm" len="sm"/>
            <a:tailEnd type="none" w="sm" len="sm"/>
          </a:ln>
        </p:spPr>
      </p:pic>
      <p:pic>
        <p:nvPicPr>
          <p:cNvPr id="146" name="Google Shape;146;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398025" y="235375"/>
            <a:ext cx="3489250" cy="104591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p:nvPr/>
        </p:nvSpPr>
        <p:spPr>
          <a:xfrm>
            <a:off x="55075" y="43025"/>
            <a:ext cx="3233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Chat vs Claude Code</a:t>
            </a:r>
            <a:endParaRPr sz="2000" b="1">
              <a:solidFill>
                <a:schemeClr val="dk1"/>
              </a:solidFill>
              <a:latin typeface="Calibri"/>
              <a:ea typeface="Calibri"/>
              <a:cs typeface="Calibri"/>
              <a:sym typeface="Calibri"/>
            </a:endParaRPr>
          </a:p>
        </p:txBody>
      </p:sp>
      <p:sp>
        <p:nvSpPr>
          <p:cNvPr id="152" name="Google Shape;152;p23"/>
          <p:cNvSpPr txBox="1"/>
          <p:nvPr/>
        </p:nvSpPr>
        <p:spPr>
          <a:xfrm>
            <a:off x="127866" y="484508"/>
            <a:ext cx="4434300" cy="451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chat.ai</a:t>
            </a:r>
            <a:r>
              <a:rPr lang="en" sz="1200">
                <a:solidFill>
                  <a:schemeClr val="dk1"/>
                </a:solidFill>
                <a:latin typeface="Calibri"/>
                <a:ea typeface="Calibri"/>
                <a:cs typeface="Calibri"/>
                <a:sym typeface="Calibri"/>
              </a:rPr>
              <a:t> subscription (Pro or Max)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can pay for your chat and for usage of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you are using more than $200/month on Claude API, you definitely can save money by switching to Claude Max subscription and using it in Claude Code (you can not use it in Cline)</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Pro: 10–40 prompts every 5 hrs</a:t>
            </a:r>
            <a:endParaRPr sz="1200">
              <a:solidFill>
                <a:srgbClr val="3C78D8"/>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Max 5x ($100/mo): 50–200 prompts every 5 hrs</a:t>
            </a:r>
            <a:endParaRPr sz="1200">
              <a:solidFill>
                <a:srgbClr val="3C78D8"/>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Max 20x ($200/mo): 200-800 prompts every 5 hrs</a:t>
            </a:r>
            <a:endParaRPr sz="120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Note: this works only with Claude Code.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Cline and other AI Assistants needs to use API key</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which is billed separately by token</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Note: when you start Claude Code, it may default to API key if you already have it in your environment. So you need to /logout, then login again - and select your Pro or Max subscription option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 use a small bash script "cl" to start claude,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it works from any shell:</a:t>
            </a:r>
            <a:br>
              <a:rPr lang="en" sz="1200">
                <a:solidFill>
                  <a:schemeClr val="dk1"/>
                </a:solidFill>
                <a:latin typeface="Calibri"/>
                <a:ea typeface="Calibri"/>
                <a:cs typeface="Calibri"/>
                <a:sym typeface="Calibri"/>
              </a:rPr>
            </a:br>
            <a:r>
              <a:rPr lang="en" sz="1000" b="1">
                <a:solidFill>
                  <a:srgbClr val="3C78D8"/>
                </a:solidFill>
                <a:latin typeface="Roboto Mono"/>
                <a:ea typeface="Roboto Mono"/>
                <a:cs typeface="Roboto Mono"/>
                <a:sym typeface="Roboto Mono"/>
              </a:rPr>
              <a:t>#!/bin/bash</a:t>
            </a:r>
            <a:br>
              <a:rPr lang="en" sz="1000" b="1">
                <a:solidFill>
                  <a:srgbClr val="3C78D8"/>
                </a:solidFill>
                <a:latin typeface="Roboto Mono"/>
                <a:ea typeface="Roboto Mono"/>
                <a:cs typeface="Roboto Mono"/>
                <a:sym typeface="Roboto Mono"/>
              </a:rPr>
            </a:br>
            <a:r>
              <a:rPr lang="en" sz="1000" b="1">
                <a:solidFill>
                  <a:srgbClr val="6AA84F"/>
                </a:solidFill>
                <a:latin typeface="Roboto Mono"/>
                <a:ea typeface="Roboto Mono"/>
                <a:cs typeface="Roboto Mono"/>
                <a:sym typeface="Roboto Mono"/>
              </a:rPr>
              <a:t># unset API key and start claude</a:t>
            </a:r>
            <a:br>
              <a:rPr lang="en" sz="1000" b="1">
                <a:solidFill>
                  <a:srgbClr val="3C78D8"/>
                </a:solidFill>
                <a:latin typeface="Roboto Mono"/>
                <a:ea typeface="Roboto Mono"/>
                <a:cs typeface="Roboto Mono"/>
                <a:sym typeface="Roboto Mono"/>
              </a:rPr>
            </a:br>
            <a:r>
              <a:rPr lang="en" sz="1000" b="1">
                <a:solidFill>
                  <a:srgbClr val="3C78D8"/>
                </a:solidFill>
                <a:latin typeface="Roboto Mono"/>
                <a:ea typeface="Roboto Mono"/>
                <a:cs typeface="Roboto Mono"/>
                <a:sym typeface="Roboto Mono"/>
              </a:rPr>
              <a:t>ANTHROPIC_API_KEY= exec claude "$@"</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0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space after the "=" is important - it temporarily unsets the API key before calling claude</a:t>
            </a:r>
            <a:endParaRPr sz="1200">
              <a:solidFill>
                <a:schemeClr val="dk1"/>
              </a:solidFill>
              <a:latin typeface="Calibri"/>
              <a:ea typeface="Calibri"/>
              <a:cs typeface="Calibri"/>
              <a:sym typeface="Calibri"/>
            </a:endParaRPr>
          </a:p>
        </p:txBody>
      </p:sp>
      <p:sp>
        <p:nvSpPr>
          <p:cNvPr id="153" name="Google Shape;153;p23"/>
          <p:cNvSpPr txBox="1"/>
          <p:nvPr/>
        </p:nvSpPr>
        <p:spPr>
          <a:xfrm>
            <a:off x="4627075" y="248366"/>
            <a:ext cx="4434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Chat, Claude Co-work,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Co-Work - for non-technical people: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can use web and local files; can spin up multiple "sub-agents" to work in parallel; can analyze massive local repositories (which are too big for upload); Building Custom Skills; Turning Manual Workflows into Reusable Skills; Creating Team "Plugins" - and share with your Team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Chat for thinking, Co-work for getting tasks done, and Code for creating and building the underlying automation systems </a:t>
            </a:r>
            <a:r>
              <a:rPr lang="en" sz="1200" u="sng">
                <a:solidFill>
                  <a:schemeClr val="hlink"/>
                </a:solidFill>
                <a:latin typeface="Calibri"/>
                <a:ea typeface="Calibri"/>
                <a:cs typeface="Calibri"/>
                <a:sym typeface="Calibri"/>
                <a:hlinkClick r:id="rId4"/>
              </a:rPr>
              <a:t>http://www.youtube.com/watch?v=l_Iy4ZCK1lY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54" name="Google Shape;154;p23"/>
          <p:cNvSpPr txBox="1"/>
          <p:nvPr/>
        </p:nvSpPr>
        <p:spPr>
          <a:xfrm>
            <a:off x="4627075" y="2244766"/>
            <a:ext cx="4434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Combine Agent Skills with Memory</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(Claude Code + CLAUDE.md) to create a "virtual employee"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Transform transcripts from YouTube experts into `.md` skill files, allowing Claude to master specific domains like viral thumbnail design and video SEO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linking these skills within Claude's persistent memory, the AI can execute complex, multi-step tasks from a single prompt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"Kung Fu brain" approach ensures Claude prompts itself more effectively than a human could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system is adaptable; users can integrate skills for WordPress, React, or UI/UX to automate their specific business needs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result is a streamlined, cost-effective alternative to traditional automation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https://www.youtube.com/watch?v=GmOY1PV6XdQ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6.27K subscribers, 268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3. </a:t>
            </a: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60" name="Google Shape;160;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40700" y="119306"/>
            <a:ext cx="3302049" cy="49181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6" name="Google Shape;166;p25"/>
          <p:cNvSpPr txBox="1"/>
          <p:nvPr/>
        </p:nvSpPr>
        <p:spPr>
          <a:xfrm>
            <a:off x="55075" y="1648021"/>
            <a:ext cx="4434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Gemini 3.0 Pro General Availability (GA)</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release is expected on February 12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3.0 Pro was in Preview since Nov 18, 2025</a:t>
            </a:r>
            <a:endParaRPr sz="1200">
              <a:solidFill>
                <a:schemeClr val="dk1"/>
              </a:solidFill>
              <a:latin typeface="Calibri"/>
              <a:ea typeface="Calibri"/>
              <a:cs typeface="Calibri"/>
              <a:sym typeface="Calibri"/>
            </a:endParaRPr>
          </a:p>
        </p:txBody>
      </p:sp>
      <p:sp>
        <p:nvSpPr>
          <p:cNvPr id="167" name="Google Shape;167;p25"/>
          <p:cNvSpPr txBox="1"/>
          <p:nvPr/>
        </p:nvSpPr>
        <p:spPr>
          <a:xfrm>
            <a:off x="55075" y="445321"/>
            <a:ext cx="44343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Perplexity Model Council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for Perplexity Max subscribers ($200/month)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Three models work in parallel to research your question, while a fourth model synthesizes their findings to highlight consensus, disagreements, and unique insights. This allows to get a more accurate, higher-confidence answer</a:t>
            </a:r>
            <a:endParaRPr sz="1200">
              <a:solidFill>
                <a:schemeClr val="dk1"/>
              </a:solidFill>
              <a:latin typeface="Calibri"/>
              <a:ea typeface="Calibri"/>
              <a:cs typeface="Calibri"/>
              <a:sym typeface="Calibri"/>
            </a:endParaRPr>
          </a:p>
        </p:txBody>
      </p:sp>
      <p:sp>
        <p:nvSpPr>
          <p:cNvPr id="168" name="Google Shape;168;p25"/>
          <p:cNvSpPr txBox="1"/>
          <p:nvPr/>
        </p:nvSpPr>
        <p:spPr>
          <a:xfrm>
            <a:off x="4660874" y="39272"/>
            <a:ext cx="4434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GLM-5 from </a:t>
            </a:r>
            <a:r>
              <a:rPr lang="en" sz="1200" b="1">
                <a:solidFill>
                  <a:srgbClr val="FF0000"/>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Z.ai</a:t>
            </a:r>
            <a:r>
              <a:rPr lang="en" sz="1200" b="1">
                <a:solidFill>
                  <a:srgbClr val="FF0000"/>
                </a:solidFill>
                <a:latin typeface="Calibri"/>
                <a:ea typeface="Calibri"/>
                <a:cs typeface="Calibri"/>
                <a:sym typeface="Calibri"/>
              </a:rPr>
              <a:t> - open source (MIT)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"Agentic Engineering" and complex systems development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Coding, long-horizon agent tasks, autonomous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with 744B params (40B active); 200K in, 128K out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DeepSeek Sparse Attention; Multiple thinking modes, reasoning and tool-calling; SOTA among open-weight models across coding and agent benchmarks; #1 on the Agentic Leaderboard, beating even Claude Opus 4.6; Real-world performance approaching Claude Opus 4.5 in coding reliability and execution depth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GLM-5 is available on Hugging Face, OpenRouter, Z.ai API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https://huggingface.co/zai-org/GLM-5</a:t>
            </a:r>
            <a:r>
              <a:rPr lang="en" sz="1200">
                <a:solidFill>
                  <a:schemeClr val="dk1"/>
                </a:solidFill>
                <a:latin typeface="Calibri"/>
                <a:ea typeface="Calibri"/>
                <a:cs typeface="Calibri"/>
                <a:sym typeface="Calibri"/>
              </a:rPr>
              <a:t> - </a:t>
            </a:r>
            <a:r>
              <a:rPr lang="en" sz="1200" u="sng">
                <a:solidFill>
                  <a:schemeClr val="accent5"/>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https://z.ai/blog/glm-5</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69" name="Google Shape;169;p25"/>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660870" y="2120241"/>
            <a:ext cx="4434299" cy="2977192"/>
          </a:xfrm>
          <a:prstGeom prst="rect">
            <a:avLst/>
          </a:prstGeom>
          <a:noFill/>
          <a:ln w="9525" cap="flat" cmpd="sng">
            <a:solidFill>
              <a:srgbClr val="FF0000"/>
            </a:solidFill>
            <a:prstDash val="solid"/>
            <a:round/>
            <a:headEnd type="none" w="sm" len="sm"/>
            <a:tailEnd type="none" w="sm" len="sm"/>
          </a:ln>
        </p:spPr>
      </p:pic>
      <p:sp>
        <p:nvSpPr>
          <p:cNvPr id="170" name="Google Shape;170;p25"/>
          <p:cNvSpPr txBox="1"/>
          <p:nvPr/>
        </p:nvSpPr>
        <p:spPr>
          <a:xfrm>
            <a:off x="55075" y="2535296"/>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MiniMax 2.5 - open-source, optimized for coding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Very fast and functional, Good real performance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- 230B total, 10B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200K context window (in+out)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HuggingFace and GitHub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API pricing (0.30/1.20) $/Mtokens (in/out)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"decent" affordable alternative for not-critical apps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https://www.youtube.com/watch?v=iacxoePcsLI</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Programming with "Skills in the Middle"</a:t>
            </a:r>
            <a:endParaRPr sz="2000" b="1">
              <a:solidFill>
                <a:schemeClr val="dk1"/>
              </a:solidFill>
              <a:latin typeface="Calibri"/>
              <a:ea typeface="Calibri"/>
              <a:cs typeface="Calibri"/>
              <a:sym typeface="Calibri"/>
            </a:endParaRPr>
          </a:p>
        </p:txBody>
      </p:sp>
      <p:sp>
        <p:nvSpPr>
          <p:cNvPr id="176" name="Google Shape;176;p26"/>
          <p:cNvSpPr txBox="1"/>
          <p:nvPr/>
        </p:nvSpPr>
        <p:spPr>
          <a:xfrm>
            <a:off x="104425" y="428250"/>
            <a:ext cx="43356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Old (Classical) software - </a:t>
            </a:r>
            <a:r>
              <a:rPr lang="en" sz="1100" b="1">
                <a:solidFill>
                  <a:srgbClr val="FF0000"/>
                </a:solidFill>
                <a:latin typeface="Calibri"/>
                <a:ea typeface="Calibri"/>
                <a:cs typeface="Calibri"/>
                <a:sym typeface="Calibri"/>
              </a:rPr>
              <a:t>human makes decisions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Human gives commands via UI or terminal. or scripts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Software simply executes commands (using if/else logic, loops)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Examples: a browser, and Excel file, a computer game.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software consists of code and data</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It runs code, returns the result - or shows an error</a:t>
            </a:r>
            <a:endParaRPr sz="1100">
              <a:solidFill>
                <a:schemeClr val="dk1"/>
              </a:solidFill>
              <a:latin typeface="Calibri"/>
              <a:ea typeface="Calibri"/>
              <a:cs typeface="Calibri"/>
              <a:sym typeface="Calibri"/>
            </a:endParaRPr>
          </a:p>
        </p:txBody>
      </p:sp>
      <p:sp>
        <p:nvSpPr>
          <p:cNvPr id="177" name="Google Shape;177;p26"/>
          <p:cNvSpPr txBox="1"/>
          <p:nvPr/>
        </p:nvSpPr>
        <p:spPr>
          <a:xfrm>
            <a:off x="104425" y="2765609"/>
            <a:ext cx="43356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Most of the middle logic can be converted to AI "Skills".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So the system architect becomes a Skills architect, skills developer</a:t>
            </a:r>
            <a:endParaRPr sz="1100">
              <a:solidFill>
                <a:schemeClr val="dk1"/>
              </a:solidFill>
              <a:latin typeface="Calibri"/>
              <a:ea typeface="Calibri"/>
              <a:cs typeface="Calibri"/>
              <a:sym typeface="Calibri"/>
            </a:endParaRPr>
          </a:p>
        </p:txBody>
      </p:sp>
      <p:sp>
        <p:nvSpPr>
          <p:cNvPr id="178" name="Google Shape;178;p26"/>
          <p:cNvSpPr txBox="1"/>
          <p:nvPr/>
        </p:nvSpPr>
        <p:spPr>
          <a:xfrm>
            <a:off x="104425" y="4056600"/>
            <a:ext cx="43356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Most of the middle logic can be converted to AI "Skills".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A system's architect becomes a Skills architect, developer</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You also need skills to be secure, compliant with privacy and other rules. A "skill's security officer" ?</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So the new paradigm of software - </a:t>
            </a:r>
            <a:r>
              <a:rPr lang="en" sz="1100" b="1">
                <a:solidFill>
                  <a:srgbClr val="FF0000"/>
                </a:solidFill>
                <a:latin typeface="Calibri"/>
                <a:ea typeface="Calibri"/>
                <a:cs typeface="Calibri"/>
                <a:sym typeface="Calibri"/>
              </a:rPr>
              <a:t>"skills in the middle"</a:t>
            </a:r>
            <a:endParaRPr sz="1100" b="1">
              <a:solidFill>
                <a:srgbClr val="FF0000"/>
              </a:solidFill>
              <a:latin typeface="Calibri"/>
              <a:ea typeface="Calibri"/>
              <a:cs typeface="Calibri"/>
              <a:sym typeface="Calibri"/>
            </a:endParaRPr>
          </a:p>
        </p:txBody>
      </p:sp>
      <p:sp>
        <p:nvSpPr>
          <p:cNvPr id="179" name="Google Shape;179;p26"/>
          <p:cNvSpPr txBox="1"/>
          <p:nvPr/>
        </p:nvSpPr>
        <p:spPr>
          <a:xfrm>
            <a:off x="104425" y="3157146"/>
            <a:ext cx="43356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 can now find more and more skills on the internet - GitHub repositories and directories of thousands of skills.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 can ask AI to find skills for particular type of work (for example, skills around working with Excel spreadsheets), analyze them, use them as raw substrate to create our own skills for our system</a:t>
            </a:r>
            <a:endParaRPr sz="1100">
              <a:solidFill>
                <a:schemeClr val="dk1"/>
              </a:solidFill>
              <a:latin typeface="Calibri"/>
              <a:ea typeface="Calibri"/>
              <a:cs typeface="Calibri"/>
              <a:sym typeface="Calibri"/>
            </a:endParaRPr>
          </a:p>
        </p:txBody>
      </p:sp>
      <p:pic>
        <p:nvPicPr>
          <p:cNvPr id="180" name="Google Shape;180;p2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489375" y="97225"/>
            <a:ext cx="4594026" cy="3195525"/>
          </a:xfrm>
          <a:prstGeom prst="rect">
            <a:avLst/>
          </a:prstGeom>
          <a:noFill/>
          <a:ln w="9525" cap="flat" cmpd="sng">
            <a:solidFill>
              <a:srgbClr val="FF0000"/>
            </a:solidFill>
            <a:prstDash val="solid"/>
            <a:round/>
            <a:headEnd type="none" w="sm" len="sm"/>
            <a:tailEnd type="none" w="sm" len="sm"/>
          </a:ln>
        </p:spPr>
      </p:pic>
      <p:sp>
        <p:nvSpPr>
          <p:cNvPr id="181" name="Google Shape;181;p26"/>
          <p:cNvSpPr txBox="1"/>
          <p:nvPr/>
        </p:nvSpPr>
        <p:spPr>
          <a:xfrm>
            <a:off x="104425" y="1521475"/>
            <a:ext cx="43356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New approach - </a:t>
            </a:r>
            <a:r>
              <a:rPr lang="en" sz="1100" b="1">
                <a:solidFill>
                  <a:srgbClr val="FF0000"/>
                </a:solidFill>
                <a:latin typeface="Calibri"/>
                <a:ea typeface="Calibri"/>
                <a:cs typeface="Calibri"/>
                <a:sym typeface="Calibri"/>
              </a:rPr>
              <a:t>Agent makes decisions</a:t>
            </a:r>
            <a:r>
              <a:rPr lang="en" sz="1100">
                <a:solidFill>
                  <a:schemeClr val="dk1"/>
                </a:solidFill>
                <a:latin typeface="Calibri"/>
                <a:ea typeface="Calibri"/>
                <a:cs typeface="Calibri"/>
                <a:sym typeface="Calibri"/>
              </a:rPr>
              <a:t> using information about the state (inputs, status), md files (guides, rules, skills), memory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Agent can use "Agentic" mechanisms (LLM, multimodal AI) - and also can invoke classical software tools (functions, scripts)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 the so called "code" in Github now has 2 parts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1. support for agent's thinking</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2. standard deterministic software</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7"/>
          <p:cNvSpPr txBox="1"/>
          <p:nvPr/>
        </p:nvSpPr>
        <p:spPr>
          <a:xfrm>
            <a:off x="55075" y="43025"/>
            <a:ext cx="1789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SOUL.md</a:t>
            </a:r>
            <a:endParaRPr sz="2000" b="1">
              <a:solidFill>
                <a:schemeClr val="dk1"/>
              </a:solidFill>
              <a:latin typeface="Calibri"/>
              <a:ea typeface="Calibri"/>
              <a:cs typeface="Calibri"/>
              <a:sym typeface="Calibri"/>
            </a:endParaRPr>
          </a:p>
        </p:txBody>
      </p:sp>
      <p:sp>
        <p:nvSpPr>
          <p:cNvPr id="187" name="Google Shape;187;p27"/>
          <p:cNvSpPr txBox="1"/>
          <p:nvPr/>
        </p:nvSpPr>
        <p:spPr>
          <a:xfrm>
            <a:off x="2462887" y="574557"/>
            <a:ext cx="20520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You are Jarvis, a proactive executive assistant</a:t>
            </a:r>
            <a:r>
              <a:rPr lang="en" sz="1100">
                <a:solidFill>
                  <a:schemeClr val="dk1"/>
                </a:solidFill>
                <a:latin typeface="Calibri"/>
                <a:ea typeface="Calibri"/>
                <a:cs typeface="Calibri"/>
                <a:sym typeface="Calibri"/>
              </a:rPr>
              <a:t> helping with calendar management, email drafting, and project research.</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Personality</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Tone: Professional, concise, and anticipatory.</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You think ahead. If asked for a meeting summary, also provide a list of follow-up actions.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Rules &amp; Constraints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NEVER send emails without my express approval.</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Before running a shell command that modifies data, ask for confirmation.</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Prioritize tasks that advance the "Q1 Marketing Project" goal.</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Use the `browser` tool to verify facts.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Response Style</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Use bullet points for lists.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Keep responses short.</a:t>
            </a:r>
            <a:endParaRPr sz="1100">
              <a:solidFill>
                <a:schemeClr val="dk1"/>
              </a:solidFill>
              <a:latin typeface="Calibri"/>
              <a:ea typeface="Calibri"/>
              <a:cs typeface="Calibri"/>
              <a:sym typeface="Calibri"/>
            </a:endParaRPr>
          </a:p>
        </p:txBody>
      </p:sp>
      <p:sp>
        <p:nvSpPr>
          <p:cNvPr id="188" name="Google Shape;188;p27"/>
          <p:cNvSpPr txBox="1"/>
          <p:nvPr/>
        </p:nvSpPr>
        <p:spPr>
          <a:xfrm>
            <a:off x="4598241" y="574557"/>
            <a:ext cx="20520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You are Atlas, a senior DevOps engineer AI agent.</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Core Identity</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Specialization: Technical analysis, infrastructure-as-code, and security audits.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Behavioral Guidelines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Be skeptical. If a user suggests an unsafe command, warn them twice.</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Assume all code must be bug-free.</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When writing code, prefer Python for scripting and Bash for system tasks.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Constraints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Do not make external API calls without verifying the endpoint first.</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Only modify files within the `/project` directory.</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p:txBody>
      </p:sp>
      <p:sp>
        <p:nvSpPr>
          <p:cNvPr id="189" name="Google Shape;189;p27"/>
          <p:cNvSpPr txBox="1"/>
          <p:nvPr/>
        </p:nvSpPr>
        <p:spPr>
          <a:xfrm>
            <a:off x="6737816" y="574557"/>
            <a:ext cx="2052000" cy="323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You are Luna, a creative collaborator </a:t>
            </a:r>
            <a:r>
              <a:rPr lang="en" sz="1100">
                <a:solidFill>
                  <a:schemeClr val="dk1"/>
                </a:solidFill>
                <a:latin typeface="Calibri"/>
                <a:ea typeface="Calibri"/>
                <a:cs typeface="Calibri"/>
                <a:sym typeface="Calibri"/>
              </a:rPr>
              <a:t>focusing on brainstorming for a sci-fi novel.</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Personality</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Tone: Enthusiastic, quirky, and encouraging.</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Encourage wild ideas.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Rules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Do not shoot down ideas. Instead, use "Yes, and..." to build on them.</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If I seem stuck, offer three completely different, bizarre plot twists.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Tone</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 Use emojis occasionally.</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p:txBody>
      </p:sp>
      <p:sp>
        <p:nvSpPr>
          <p:cNvPr id="190" name="Google Shape;190;p27"/>
          <p:cNvSpPr txBox="1"/>
          <p:nvPr/>
        </p:nvSpPr>
        <p:spPr>
          <a:xfrm>
            <a:off x="136725" y="573550"/>
            <a:ext cx="22446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SOUL.md is a core configuration file in OpenClaw that defines your AI agent's behavioral philosophy and personality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file is loaded at session start and injected into the system prompt, so the agent "wakes up knowing who it is"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SOUL.md file serves as a "personality contract" or manifesto that shapes how your agent thinks, responds, and behaves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sets guardrails on what the AI can and can't do, establishing boundaries for the agent's actions</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txBox="1"/>
          <p:nvPr/>
        </p:nvSpPr>
        <p:spPr>
          <a:xfrm>
            <a:off x="55075" y="43025"/>
            <a:ext cx="3837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Run Skills on Mac Mini - by Kris </a:t>
            </a:r>
            <a:endParaRPr sz="2000" b="1">
              <a:solidFill>
                <a:schemeClr val="dk1"/>
              </a:solidFill>
              <a:latin typeface="Calibri"/>
              <a:ea typeface="Calibri"/>
              <a:cs typeface="Calibri"/>
              <a:sym typeface="Calibri"/>
            </a:endParaRPr>
          </a:p>
        </p:txBody>
      </p:sp>
      <p:sp>
        <p:nvSpPr>
          <p:cNvPr id="196" name="Google Shape;196;p28"/>
          <p:cNvSpPr txBox="1"/>
          <p:nvPr/>
        </p:nvSpPr>
        <p:spPr>
          <a:xfrm>
            <a:off x="55075" y="508541"/>
            <a:ext cx="44343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Self-made AI-agent on dedicated Mac Mini </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Claude Code to run commands, </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$200/mo Claude subscription </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Triggering the agents via WhatsApp or Crontab scheduling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Skills directory:</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video_research.md - Information gathering for content</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video_edit.md - Remotion-based editing</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youtube.md - Upload and channel management</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x.md - Social media navigation and posting</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gmail.md - Email operations</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github.md - Repository interactions</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generate_images.md and thumbnail.md - create images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WhatsApp message "/claude [task]" executes bash commands that launch Claude with specified instructions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commands work as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Agents can log directly into accounts (Gmail, X, LinkedIn, YouTube) through Chrome. It can do web research.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Cron jobs - six overnight tasks - browsing Hacker News for stories and commenting on social media posts. Video research, editing (using "Remotion"), and upload to YouTube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 agent researches the topic and creates a script for the video, downloads relevant video clips, generates a voiceover and stitches the final video together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https://www.youtube.com/watch?v=_KN5iAQfz6I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7" name="Google Shape;197;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001347" y="43024"/>
            <a:ext cx="1231500" cy="1193250"/>
          </a:xfrm>
          <a:prstGeom prst="rect">
            <a:avLst/>
          </a:prstGeom>
          <a:noFill/>
          <a:ln w="9525" cap="flat" cmpd="sng">
            <a:solidFill>
              <a:srgbClr val="FF0000"/>
            </a:solidFill>
            <a:prstDash val="solid"/>
            <a:round/>
            <a:headEnd type="none" w="sm" len="sm"/>
            <a:tailEnd type="none" w="sm" len="sm"/>
          </a:ln>
        </p:spPr>
      </p:pic>
      <p:sp>
        <p:nvSpPr>
          <p:cNvPr id="198" name="Google Shape;198;p28"/>
          <p:cNvSpPr txBox="1"/>
          <p:nvPr/>
        </p:nvSpPr>
        <p:spPr>
          <a:xfrm>
            <a:off x="5341925" y="98380"/>
            <a:ext cx="37344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Direct browser login - no need in API keys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markdown-based skill system is simple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Future planned features include autonomous job applications and multi-account social media mngmnt</a:t>
            </a:r>
            <a:endParaRPr sz="1200">
              <a:solidFill>
                <a:schemeClr val="dk1"/>
              </a:solidFill>
              <a:latin typeface="Calibri"/>
              <a:ea typeface="Calibri"/>
              <a:cs typeface="Calibri"/>
              <a:sym typeface="Calibri"/>
            </a:endParaRPr>
          </a:p>
        </p:txBody>
      </p:sp>
      <p:sp>
        <p:nvSpPr>
          <p:cNvPr id="199" name="Google Shape;199;p28"/>
          <p:cNvSpPr txBox="1"/>
          <p:nvPr/>
        </p:nvSpPr>
        <p:spPr>
          <a:xfrm>
            <a:off x="4541525" y="1325875"/>
            <a:ext cx="45348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Chris trains AI agents through repetitive practice and documentation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teaching a new skill (like navigating LinkedIn or X), he starts with a blank Claude Code instance and gives it an open-ended goal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agent attempts the task, often failing multiple times while trying different approaches. Once a successful workflow emerges, the author saves those exact steps into a skill.md file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documented workflow allows the agent to execute the same task quickly in future attempts, saving time and tokens.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Browser automation - the agent connects to Chrome and manipulates websites through JavaScript injection rather than APIs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agent runs on dedicated Mac mini and stays logged into various services (X, Gmail, YouTube, LinkedIn)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Skills are modular and combinable - the agent can chain together research, video creation, screen recording, and posting skills to complete complex end-to-end projects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author implements cron job scheduling, including a "spawn system" where running jobs can create new jobs based on discoveries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video content, he combines voice generation, screen recording, Remotion editing, and FFmpeg processing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agent can extract context from videos using frame analysis or Whisper transcription. The system operates in "dangerously skip permissions" mode for fully autonomous execution</a:t>
            </a:r>
            <a:endParaRPr sz="1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9"/>
          <p:cNvSpPr txBox="1"/>
          <p:nvPr/>
        </p:nvSpPr>
        <p:spPr>
          <a:xfrm>
            <a:off x="55075" y="43025"/>
            <a:ext cx="3837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Example - Linkedin</a:t>
            </a:r>
            <a:endParaRPr sz="2000" b="1">
              <a:solidFill>
                <a:schemeClr val="dk1"/>
              </a:solidFill>
              <a:latin typeface="Calibri"/>
              <a:ea typeface="Calibri"/>
              <a:cs typeface="Calibri"/>
              <a:sym typeface="Calibri"/>
            </a:endParaRPr>
          </a:p>
        </p:txBody>
      </p:sp>
      <p:sp>
        <p:nvSpPr>
          <p:cNvPr id="205" name="Google Shape;205;p29"/>
          <p:cNvSpPr txBox="1"/>
          <p:nvPr/>
        </p:nvSpPr>
        <p:spPr>
          <a:xfrm>
            <a:off x="55075" y="440875"/>
            <a:ext cx="4831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Kris explains how he works with LinkedIn in his video "How To Train Your AI Agent's Skills" - </a:t>
            </a:r>
            <a:r>
              <a:rPr lang="en" sz="1200" u="sng">
                <a:solidFill>
                  <a:schemeClr val="hlink"/>
                </a:solidFill>
                <a:latin typeface="Calibri"/>
                <a:ea typeface="Calibri"/>
                <a:cs typeface="Calibri"/>
                <a:sym typeface="Calibri"/>
                <a:hlinkClick r:id="rId3"/>
              </a:rPr>
              <a:t>https://www.youtube.com/watch?v=KkJZY5Klymw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creates empty file "claude.skills/LinkedIn skill.md"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file gets populated iteratively as the agent learns: after each successful LinkedIn action, he tells   Claude to update this file with the workflow that worked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example, he trains these tasks: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Composing a post — The agent uses JavaScript/CDP (Chrome DevTools Protocol) injection to interact with LinkedIn's post editor. First attempt took ~6 minutes of trial and error; then - only 40 sec</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Finding people — He asks the agent to search for five Anthropic employees on LinkedIn, navigating the search bar and scrolling results.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Sending DMs/messages — He trains the agent to find connections and send messages via LinkedIn's messaging interface.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The agent uses a `browser.js` JavaScript file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to connect to Chrome and navigate via JavaScript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It uses CDP (Chrome DevTools Protocol) to inject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JavaScript into LinkedIn pages (e.g., to type text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into the post editor, click buttons)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LinkedIn's post editor doesn't have standard HTML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attributes, so the agent had to figure out the correct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selectors through trial and error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The agent writes temporary JavaScript files to inject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text into fields</a:t>
            </a:r>
            <a:endParaRPr sz="1200">
              <a:solidFill>
                <a:schemeClr val="dk1"/>
              </a:solidFill>
              <a:latin typeface="Calibri"/>
              <a:ea typeface="Calibri"/>
              <a:cs typeface="Calibri"/>
              <a:sym typeface="Calibri"/>
            </a:endParaRPr>
          </a:p>
        </p:txBody>
      </p:sp>
      <p:sp>
        <p:nvSpPr>
          <p:cNvPr id="206" name="Google Shape;206;p29"/>
          <p:cNvSpPr txBox="1"/>
          <p:nvPr/>
        </p:nvSpPr>
        <p:spPr>
          <a:xfrm>
            <a:off x="4967525" y="2999850"/>
            <a:ext cx="40470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https://github.com/Ejae-dev?tab=repositories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https://github.com/AllAboutAI-YT?tab=repositories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07" name="Google Shape;207;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67525" y="445074"/>
            <a:ext cx="3972201" cy="2478601"/>
          </a:xfrm>
          <a:prstGeom prst="rect">
            <a:avLst/>
          </a:prstGeom>
          <a:noFill/>
          <a:ln w="9525" cap="flat" cmpd="sng">
            <a:solidFill>
              <a:srgbClr val="FF0000"/>
            </a:solidFill>
            <a:prstDash val="solid"/>
            <a:round/>
            <a:headEnd type="none" w="sm" len="sm"/>
            <a:tailEnd type="none" w="sm" len="sm"/>
          </a:ln>
        </p:spPr>
      </p:pic>
      <p:sp>
        <p:nvSpPr>
          <p:cNvPr id="208" name="Google Shape;208;p29"/>
          <p:cNvSpPr txBox="1"/>
          <p:nvPr/>
        </p:nvSpPr>
        <p:spPr>
          <a:xfrm>
            <a:off x="4967525" y="3463925"/>
            <a:ext cx="40470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After 12 days of running an autonomous AI agent on a Mac Mini, the creator reports significant success in engagement and growth. Operating with roughly 95% uptime via Claude Code, the agent grew an X account from zero to 292 followers, with top replies reaching 25,000 views. On YouTube, the agent’s reaction-style videos garnered over 10,000 views and 160 new subscribers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https://www.youtube.com/watch?v=CP2CqpXXTdA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0"/>
          <p:cNvSpPr txBox="1"/>
          <p:nvPr/>
        </p:nvSpPr>
        <p:spPr>
          <a:xfrm>
            <a:off x="55075" y="43025"/>
            <a:ext cx="3233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Controlling web accounts</a:t>
            </a:r>
            <a:endParaRPr sz="2000" b="1">
              <a:solidFill>
                <a:schemeClr val="dk1"/>
              </a:solidFill>
              <a:latin typeface="Calibri"/>
              <a:ea typeface="Calibri"/>
              <a:cs typeface="Calibri"/>
              <a:sym typeface="Calibri"/>
            </a:endParaRPr>
          </a:p>
        </p:txBody>
      </p:sp>
      <p:sp>
        <p:nvSpPr>
          <p:cNvPr id="214" name="Google Shape;214;p30"/>
          <p:cNvSpPr txBox="1"/>
          <p:nvPr/>
        </p:nvSpPr>
        <p:spPr>
          <a:xfrm>
            <a:off x="55064" y="534703"/>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Scheduling jobs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not schedule jobs with Claude desktop app, because it is an interactive chat tool. It requires you to be present, type prompts, and approve actions. There's no built-in way to schedule it or run it unattended.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Chrome extension requires user approval for actions (for security). There's no API or scripting interface to the desktop app. Sessions time out without interaction</a:t>
            </a:r>
            <a:endParaRPr sz="1200">
              <a:solidFill>
                <a:schemeClr val="dk1"/>
              </a:solidFill>
              <a:latin typeface="Calibri"/>
              <a:ea typeface="Calibri"/>
              <a:cs typeface="Calibri"/>
              <a:sym typeface="Calibri"/>
            </a:endParaRPr>
          </a:p>
        </p:txBody>
      </p:sp>
      <p:sp>
        <p:nvSpPr>
          <p:cNvPr id="215" name="Google Shape;215;p30"/>
          <p:cNvSpPr txBox="1"/>
          <p:nvPr/>
        </p:nvSpPr>
        <p:spPr>
          <a:xfrm>
            <a:off x="55064" y="2133203"/>
            <a:ext cx="4434300" cy="2789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So how to schedule jobs?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6AA84F"/>
                </a:solidFill>
                <a:latin typeface="Calibri"/>
                <a:ea typeface="Calibri"/>
                <a:cs typeface="Calibri"/>
                <a:sym typeface="Calibri"/>
              </a:rPr>
              <a:t>Option 1: Claude Code + Playwright </a:t>
            </a:r>
            <a:r>
              <a:rPr lang="en" sz="1200">
                <a:solidFill>
                  <a:schemeClr val="dk1"/>
                </a:solidFill>
                <a:latin typeface="Calibri"/>
                <a:ea typeface="Calibri"/>
                <a:cs typeface="Calibri"/>
                <a:sym typeface="Calibri"/>
              </a:rPr>
              <a:t>(most Claude-native)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You can write a script and schedule it with crontab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tricky part is maintaining LinkedIn authentication (cookies expire, and LinkedIn actively blocks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Option 2: LinkedIn API (proper way). LinkedIn has official APIs for messaging. You'd need to register an app on the LinkedIn developer portal and use OAuth tokens. This is the most reliable and "allowed" approach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Option 3: Browser automation tools (no Claude involved) - tools like Playwright or Selenium with a persistent browser profile can do this, scheduled via cron or launchd.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LinkedIn's Terms of Service restrict automated access/scraping. They actively detect and block it, and can suspend your account. The official API is the safest route.</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1"/>
          <p:cNvSpPr txBox="1"/>
          <p:nvPr/>
        </p:nvSpPr>
        <p:spPr>
          <a:xfrm>
            <a:off x="55075" y="43025"/>
            <a:ext cx="292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Cowork plugins</a:t>
            </a:r>
            <a:endParaRPr sz="2000" b="1">
              <a:solidFill>
                <a:schemeClr val="dk1"/>
              </a:solidFill>
              <a:latin typeface="Calibri"/>
              <a:ea typeface="Calibri"/>
              <a:cs typeface="Calibri"/>
              <a:sym typeface="Calibri"/>
            </a:endParaRPr>
          </a:p>
        </p:txBody>
      </p:sp>
      <p:sp>
        <p:nvSpPr>
          <p:cNvPr id="221" name="Google Shape;221;p31"/>
          <p:cNvSpPr txBox="1"/>
          <p:nvPr/>
        </p:nvSpPr>
        <p:spPr>
          <a:xfrm>
            <a:off x="55075" y="647670"/>
            <a:ext cx="4434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Cowork plugins introduced on January 30th</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(Cowork was released on January 12)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Plugins bundle together:</a:t>
            </a:r>
            <a:br>
              <a:rPr lang="en" sz="1200">
                <a:solidFill>
                  <a:schemeClr val="dk1"/>
                </a:solidFill>
                <a:latin typeface="Calibri"/>
                <a:ea typeface="Calibri"/>
                <a:cs typeface="Calibri"/>
                <a:sym typeface="Calibri"/>
              </a:rPr>
            </a:br>
            <a:r>
              <a:rPr lang="en" sz="1200">
                <a:solidFill>
                  <a:srgbClr val="3C78D8"/>
                </a:solidFill>
                <a:latin typeface="Calibri"/>
                <a:ea typeface="Calibri"/>
                <a:cs typeface="Calibri"/>
                <a:sym typeface="Calibri"/>
              </a:rPr>
              <a:t>.. skills (domain knowledge)</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slash commands (specific functions)</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MCP connectors (integrations with external tools)</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sub-agents (specialized agents for complex tasks)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plugin system includes 11 official open-source plugins released by Anthropic at launch, covering domains such as:</a:t>
            </a:r>
            <a:br>
              <a:rPr lang="en" sz="1200">
                <a:solidFill>
                  <a:schemeClr val="dk1"/>
                </a:solidFill>
                <a:latin typeface="Calibri"/>
                <a:ea typeface="Calibri"/>
                <a:cs typeface="Calibri"/>
                <a:sym typeface="Calibri"/>
              </a:rPr>
            </a:br>
            <a:r>
              <a:rPr lang="en" sz="1200">
                <a:solidFill>
                  <a:srgbClr val="3C78D8"/>
                </a:solidFill>
                <a:latin typeface="Calibri"/>
                <a:ea typeface="Calibri"/>
                <a:cs typeface="Calibri"/>
                <a:sym typeface="Calibri"/>
              </a:rPr>
              <a:t>.. Legal, finance, and sales workflows</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Marketing and customer support</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Data analysis and product management</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Enterprise search and biology research</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Plugin creation (a meta-plugin for building custom plugins)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install plugins directly from the Claude Desktop app marketplace with one click, upload custom plugins, or build new ones using the Plugin Create tool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plugins operate locally on macOS and are designed primarily for individual productivity</a:t>
            </a:r>
            <a:endParaRPr sz="1200">
              <a:solidFill>
                <a:schemeClr val="dk1"/>
              </a:solidFill>
              <a:latin typeface="Calibri"/>
              <a:ea typeface="Calibri"/>
              <a:cs typeface="Calibri"/>
              <a:sym typeface="Calibri"/>
            </a:endParaRPr>
          </a:p>
        </p:txBody>
      </p:sp>
      <p:pic>
        <p:nvPicPr>
          <p:cNvPr id="222" name="Google Shape;222;p3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41775" y="507713"/>
            <a:ext cx="4349823" cy="38079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2"/>
          <p:cNvSpPr txBox="1"/>
          <p:nvPr/>
        </p:nvSpPr>
        <p:spPr>
          <a:xfrm>
            <a:off x="55075" y="43025"/>
            <a:ext cx="3956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Security Breaches &amp; Risks</a:t>
            </a:r>
            <a:endParaRPr sz="2000" b="1">
              <a:solidFill>
                <a:schemeClr val="dk1"/>
              </a:solidFill>
              <a:latin typeface="Calibri"/>
              <a:ea typeface="Calibri"/>
              <a:cs typeface="Calibri"/>
              <a:sym typeface="Calibri"/>
            </a:endParaRPr>
          </a:p>
        </p:txBody>
      </p:sp>
      <p:sp>
        <p:nvSpPr>
          <p:cNvPr id="228" name="Google Shape;228;p32"/>
          <p:cNvSpPr txBox="1"/>
          <p:nvPr/>
        </p:nvSpPr>
        <p:spPr>
          <a:xfrm>
            <a:off x="55075" y="459436"/>
            <a:ext cx="41754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Security Breaches &amp; Risks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Sleeper Agents - Malicious instructions planted in an agent's memory that remain dormant for days or months, only activating when a specific "secret code word" is used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Container Escapes - Techniques that allow the AI to "climb out" of its safe Docker environment and install itself directly onto the host's operating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Malicious Skills - the top-rated "skills" on Claw Hub (the community repository) were found to be infected. These skills act like Trojan Horses - they appear useful but contain obfuscated payloads that bypass security (like MacOS Gatekeeper) to steal data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Massive Data Leaks - a flaw in Moldbot exposed over 1.5 Mln API keys, 35,000 user emails, and thousands of private agent-to-agent messages.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Prompt Injection via Text - malicious commands hidden in `.txt` or `.md` files can trick the agent into executing harmful code or zipping up and sending private `.env` files to external servers.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Safety measures - Rotate All API Keys, Clean Your Chat Logs, Perform a "Full Wipe", Use Security Tools (Cisco AI Defense Skill Scanner) to check third-party skills before using them. Never provide API keys through the chat interface; always add them directly to your environment files manually.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https://www.youtube.com/watch?v=ceEUO_i7aW4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29" name="Google Shape;229;p32"/>
          <p:cNvSpPr txBox="1"/>
          <p:nvPr/>
        </p:nvSpPr>
        <p:spPr>
          <a:xfrm>
            <a:off x="4294815" y="240830"/>
            <a:ext cx="4759200" cy="482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Do I need a separate computer to run OpenClaw or similar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value of OpenClaw comes from it actually managing your real accounts and data. For this it needs full access to your files, and sensitive information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But that same access creates what cybersecurity experts call a </a:t>
            </a:r>
            <a:r>
              <a:rPr lang="en" sz="1200" b="1">
                <a:solidFill>
                  <a:srgbClr val="6AA84F"/>
                </a:solidFill>
                <a:latin typeface="Calibri"/>
                <a:ea typeface="Calibri"/>
                <a:cs typeface="Calibri"/>
                <a:sym typeface="Calibri"/>
              </a:rPr>
              <a:t>"privacy nightmare"</a:t>
            </a:r>
            <a:r>
              <a:rPr lang="en" sz="1200">
                <a:solidFill>
                  <a:schemeClr val="dk1"/>
                </a:solidFill>
                <a:latin typeface="Calibri"/>
                <a:ea typeface="Calibri"/>
                <a:cs typeface="Calibri"/>
                <a:sym typeface="Calibri"/>
              </a:rPr>
              <a:t> - OpenClaw can view passwords, personal emails, documents, and proprietary information; It can send emails, delete files, or make purchases on your behalf; and you don't have full visibility into what data it's accessing or where it's being sent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Security Experts Recommend a separate computer for OpenClaw</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https://docs.openclaw.ai/gateway/security</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https://www.hostinger.com/tutorials/openclaw-security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built-in tools (all 25 of them) are all disabled by default. You can explicitly allow only the ones you want to use; You can set workspaces to read-only mode; You can require explicit confirmation for destructive operations like deleting files, changing permissions, installing software, or modifying credentials; You can restrict which users can interact with your agent; You can prevent access internet; You can block DMs (Direct Messages), block unknown senders unless they complete a pairing handshake;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The problem is that most users enable broad permissions during testing and never tighten them; Malicious websites can abuse OpenClaw to steal credentials even with some protections in place</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Manual hardening is required</a:t>
            </a:r>
            <a:r>
              <a:rPr lang="en" sz="1200">
                <a:solidFill>
                  <a:schemeClr val="dk1"/>
                </a:solidFill>
                <a:latin typeface="Calibri"/>
                <a:ea typeface="Calibri"/>
                <a:cs typeface="Calibri"/>
                <a:sym typeface="Calibri"/>
              </a:rPr>
              <a:t> - set file permissions, configure firewalls, implement command allowlisting, and use reverse proxies - technical steps many users skip</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3"/>
          <p:cNvSpPr txBox="1"/>
          <p:nvPr/>
        </p:nvSpPr>
        <p:spPr>
          <a:xfrm>
            <a:off x="55075" y="43025"/>
            <a:ext cx="3956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Choose Computer to Run Agents</a:t>
            </a:r>
            <a:endParaRPr sz="2000" b="1">
              <a:solidFill>
                <a:schemeClr val="dk1"/>
              </a:solidFill>
              <a:latin typeface="Calibri"/>
              <a:ea typeface="Calibri"/>
              <a:cs typeface="Calibri"/>
              <a:sym typeface="Calibri"/>
            </a:endParaRPr>
          </a:p>
        </p:txBody>
      </p:sp>
      <p:sp>
        <p:nvSpPr>
          <p:cNvPr id="235" name="Google Shape;235;p33"/>
          <p:cNvSpPr txBox="1"/>
          <p:nvPr/>
        </p:nvSpPr>
        <p:spPr>
          <a:xfrm>
            <a:off x="4608550" y="2116021"/>
            <a:ext cx="4458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Social Media Integrations: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 (Twitter) integration - built-in. Was successfully used to comment on posts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LinkedIn integration - successfully used to comment on posts; agents automating LinkedIn outreach and influencer deals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Facebook &amp; Instagram are not explicitly listed as a supported integration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YouTube - users have created custom workflows to generate YouTube descriptions and social media posts for videos</a:t>
            </a:r>
            <a:endParaRPr sz="1200">
              <a:solidFill>
                <a:schemeClr val="dk1"/>
              </a:solidFill>
              <a:latin typeface="Calibri"/>
              <a:ea typeface="Calibri"/>
              <a:cs typeface="Calibri"/>
              <a:sym typeface="Calibri"/>
            </a:endParaRPr>
          </a:p>
        </p:txBody>
      </p:sp>
      <p:sp>
        <p:nvSpPr>
          <p:cNvPr id="236" name="Google Shape;236;p33"/>
          <p:cNvSpPr txBox="1"/>
          <p:nvPr/>
        </p:nvSpPr>
        <p:spPr>
          <a:xfrm>
            <a:off x="55075" y="459425"/>
            <a:ext cx="4458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About buying separate computer to run AI agents.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Most users select either Mac mini, or Macbook Air</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are available with M4 chip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can be bought with 24GB memory and 512GB storage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are quiet (laptop is absolutely quiet)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can be plugged in power and run autonomously (laptop can run when closed with "caffeinate -is &amp;" command)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can be controlled remotely from your main computer using Apple's "Screen Sharing" feature (enable in System Settings). This feature is basically a VNC (Virtual Network Computing), a graphical desktop-sharing system</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Laptop is more expensive: $1,400 (for 13") vs $1,000 (Mac Mini), but more portable and easy to reconfigure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Mac mini requires external display+keyboard+mouse to configure WiFi/internet access and enable VNC, to resolve network issues, to update MacOS, of if something else goes wrong (corrupted OS, firmware issue,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Personally I would choose the laptop. It always has a screen :)</a:t>
            </a:r>
            <a:endParaRPr sz="1200" b="1">
              <a:solidFill>
                <a:srgbClr val="FF0000"/>
              </a:solidFill>
              <a:latin typeface="Calibri"/>
              <a:ea typeface="Calibri"/>
              <a:cs typeface="Calibri"/>
              <a:sym typeface="Calibri"/>
            </a:endParaRPr>
          </a:p>
        </p:txBody>
      </p:sp>
      <p:sp>
        <p:nvSpPr>
          <p:cNvPr id="237" name="Google Shape;237;p33"/>
          <p:cNvSpPr txBox="1"/>
          <p:nvPr/>
        </p:nvSpPr>
        <p:spPr>
          <a:xfrm>
            <a:off x="4608550" y="148346"/>
            <a:ext cx="4458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is a free, open-source autonomous persistent AI agent</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It can proactively monitor your email, do web research, run scheduled tasks, maintain long-term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runs as a Node.js service on your local machine.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be controlled remotely via WhatsApp, Slack, Discord, Telegram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reason, plan next steps, select the right AI model as needed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has a Memory System for persistent context across conversations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Three-tier memory architecture (L1/L2/L3)</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has Execution Layer - to run code, call APIs, control browsers, and automate files</a:t>
            </a:r>
            <a:endParaRPr sz="1200">
              <a:solidFill>
                <a:schemeClr val="dk1"/>
              </a:solidFill>
              <a:latin typeface="Calibri"/>
              <a:ea typeface="Calibri"/>
              <a:cs typeface="Calibri"/>
              <a:sym typeface="Calibri"/>
            </a:endParaRPr>
          </a:p>
        </p:txBody>
      </p:sp>
      <p:sp>
        <p:nvSpPr>
          <p:cNvPr id="238" name="Google Shape;238;p33"/>
          <p:cNvSpPr txBox="1"/>
          <p:nvPr/>
        </p:nvSpPr>
        <p:spPr>
          <a:xfrm>
            <a:off x="4608550" y="3904896"/>
            <a:ext cx="4458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can be used to implement functions of OpenClaw</a:t>
            </a:r>
            <a:endParaRPr sz="1200" b="1">
              <a:solidFill>
                <a:srgbClr val="FF0000"/>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It can read and write local files and run local code (scripts)</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It can go on the internet (web research)</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It can be made to work with social media (using MCP and skills)</a:t>
            </a:r>
            <a:endParaRPr sz="1200">
              <a:solidFill>
                <a:srgbClr val="3C78D8"/>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4"/>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AI Updates</a:t>
            </a:r>
            <a:endParaRPr sz="2000" b="1">
              <a:solidFill>
                <a:schemeClr val="dk1"/>
              </a:solidFill>
              <a:latin typeface="Calibri"/>
              <a:ea typeface="Calibri"/>
              <a:cs typeface="Calibri"/>
              <a:sym typeface="Calibri"/>
            </a:endParaRPr>
          </a:p>
        </p:txBody>
      </p:sp>
      <p:sp>
        <p:nvSpPr>
          <p:cNvPr id="244" name="Google Shape;244;p34"/>
          <p:cNvSpPr txBox="1"/>
          <p:nvPr/>
        </p:nvSpPr>
        <p:spPr>
          <a:xfrm>
            <a:off x="142275" y="572170"/>
            <a:ext cx="4434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CodeBrain-1 </a:t>
            </a:r>
            <a:r>
              <a:rPr lang="en" sz="1200">
                <a:solidFill>
                  <a:schemeClr val="dk1"/>
                </a:solidFill>
                <a:latin typeface="Calibri"/>
                <a:ea typeface="Calibri"/>
                <a:cs typeface="Calibri"/>
                <a:sym typeface="Calibri"/>
              </a:rPr>
              <a:t>from Feeling AI ranked "2nd globally" behind OpenAI on Terminal Bench 2.0</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https://www.youtube.com/watch?v=4w7HGTuxs5k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45" name="Google Shape;245;p34"/>
          <p:cNvSpPr txBox="1"/>
          <p:nvPr/>
        </p:nvSpPr>
        <p:spPr>
          <a:xfrm>
            <a:off x="142275" y="1519137"/>
            <a:ext cx="4434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ByteDance Seedance 2.0 </a:t>
            </a:r>
            <a:r>
              <a:rPr lang="en" sz="1200">
                <a:solidFill>
                  <a:schemeClr val="dk1"/>
                </a:solidFill>
                <a:latin typeface="Calibri"/>
                <a:ea typeface="Calibri"/>
                <a:cs typeface="Calibri"/>
                <a:sym typeface="Calibri"/>
              </a:rPr>
              <a:t>for AI video generation - multimodal inputs including text, images, videos, and audio references. It does provide improved consistency and is available at extremely low cost</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https://www.youtube.com/watch?v=uwvYm59mKSs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46" name="Google Shape;246;p34"/>
          <p:cNvSpPr txBox="1"/>
          <p:nvPr/>
        </p:nvSpPr>
        <p:spPr>
          <a:xfrm>
            <a:off x="142275" y="2650604"/>
            <a:ext cx="4434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Alibaba Qwen Image 2.0</a:t>
            </a:r>
            <a:r>
              <a:rPr lang="en" sz="1200">
                <a:solidFill>
                  <a:schemeClr val="dk1"/>
                </a:solidFill>
                <a:latin typeface="Calibri"/>
                <a:ea typeface="Calibri"/>
                <a:cs typeface="Calibri"/>
                <a:sym typeface="Calibri"/>
              </a:rPr>
              <a:t> - better prompt following with up to 1K-token prompts and 2K resolution output; improved text rendering and a lighter architecture for faster inference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https://x.com/Alibaba_Qwen/status/2021137577311600949</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47" name="Google Shape;247;p34"/>
          <p:cNvSpPr txBox="1"/>
          <p:nvPr/>
        </p:nvSpPr>
        <p:spPr>
          <a:xfrm>
            <a:off x="142275" y="3782070"/>
            <a:ext cx="44343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Fine-R1 vision model </a:t>
            </a:r>
            <a:r>
              <a:rPr lang="en" sz="1200">
                <a:solidFill>
                  <a:schemeClr val="dk1"/>
                </a:solidFill>
                <a:latin typeface="Calibri"/>
                <a:ea typeface="Calibri"/>
                <a:cs typeface="Calibri"/>
                <a:sym typeface="Calibri"/>
              </a:rPr>
              <a:t>- fine-grained visual recognition (can distinguish highly similar objects). It uses structured visual reasoning through chain-of-thought processes to better distinguish visually similar sub-categories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6"/>
              </a:rPr>
              <a:t>https://www.arxiv.org/abs/2602.07605</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48" name="Google Shape;248;p3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89525" y="109175"/>
            <a:ext cx="2115050" cy="1165900"/>
          </a:xfrm>
          <a:prstGeom prst="rect">
            <a:avLst/>
          </a:prstGeom>
          <a:noFill/>
          <a:ln w="9525" cap="flat" cmpd="sng">
            <a:solidFill>
              <a:srgbClr val="FF0000"/>
            </a:solidFill>
            <a:prstDash val="solid"/>
            <a:round/>
            <a:headEnd type="none" w="sm" len="sm"/>
            <a:tailEnd type="none" w="sm" len="sm"/>
          </a:ln>
        </p:spPr>
      </p:pic>
      <p:pic>
        <p:nvPicPr>
          <p:cNvPr id="249" name="Google Shape;249;p3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889525" y="1351175"/>
            <a:ext cx="3052650" cy="1093100"/>
          </a:xfrm>
          <a:prstGeom prst="rect">
            <a:avLst/>
          </a:prstGeom>
          <a:noFill/>
          <a:ln w="9525" cap="flat" cmpd="sng">
            <a:solidFill>
              <a:srgbClr val="FF0000"/>
            </a:solidFill>
            <a:prstDash val="solid"/>
            <a:round/>
            <a:headEnd type="none" w="sm" len="sm"/>
            <a:tailEnd type="none" w="sm" len="sm"/>
          </a:ln>
        </p:spPr>
      </p:pic>
      <p:pic>
        <p:nvPicPr>
          <p:cNvPr id="250" name="Google Shape;250;p34"/>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889525" y="2623500"/>
            <a:ext cx="3505200" cy="811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Why 99% of Vibe-Coded Apps Will Fail</a:t>
            </a:r>
            <a:endParaRPr sz="2000" b="1">
              <a:solidFill>
                <a:schemeClr val="dk1"/>
              </a:solidFill>
              <a:latin typeface="Calibri"/>
              <a:ea typeface="Calibri"/>
              <a:cs typeface="Calibri"/>
              <a:sym typeface="Calibri"/>
            </a:endParaRPr>
          </a:p>
        </p:txBody>
      </p:sp>
      <p:sp>
        <p:nvSpPr>
          <p:cNvPr id="256" name="Google Shape;256;p35"/>
          <p:cNvSpPr txBox="1"/>
          <p:nvPr/>
        </p:nvSpPr>
        <p:spPr>
          <a:xfrm>
            <a:off x="142275" y="468795"/>
            <a:ext cx="4434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2026, "vibecoding" allows anyone to build an app. But this doesn't guarantee success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win, AI developers must pivot from pure coding to superior product management and design. Here are 4 strategies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Prioritize Stickiness - design a hook that turns casual visitors into daily users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Eliminate Friction - Strip away complexity. use intuitive, 3-step systems so non-technical users can find value instantly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Gamify Engagement - borrow from the "Hooked" model. Use streaks, XP, and rewards to incentivize consistent interaction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 to Elevate - use AI to handle the routine coding. Spend your human energy on high-level strategy and unique product vision.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https://www.youtube.com/watch?v=7n5RWPsAuq8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57" name="Google Shape;257;p35"/>
          <p:cNvSpPr txBox="1"/>
          <p:nvPr/>
        </p:nvSpPr>
        <p:spPr>
          <a:xfrm>
            <a:off x="4637930" y="468795"/>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80% of apps may disappear soon because agents can handle data management more naturally without human interference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Agents can work autonomously, interact, do research, or work locally. They can use human-centric tools better than humans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future likely involves specialized bots (personal, professional, relationship-focused) interacting with each other or hiring humans for real-world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https://www.youtube.com/watch?v=4uzGDAoNOZc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Meta "Avocado" (Llama 5 ?)</a:t>
            </a:r>
            <a:endParaRPr sz="2000" b="1">
              <a:solidFill>
                <a:schemeClr val="dk1"/>
              </a:solidFill>
              <a:latin typeface="Calibri"/>
              <a:ea typeface="Calibri"/>
              <a:cs typeface="Calibri"/>
              <a:sym typeface="Calibri"/>
            </a:endParaRPr>
          </a:p>
        </p:txBody>
      </p:sp>
      <p:sp>
        <p:nvSpPr>
          <p:cNvPr id="263" name="Google Shape;263;p36"/>
          <p:cNvSpPr txBox="1"/>
          <p:nvPr/>
        </p:nvSpPr>
        <p:spPr>
          <a:xfrm>
            <a:off x="153725" y="480770"/>
            <a:ext cx="44343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Meta’s upcoming AI model "Avocado" (expected to be Llama 5)</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"Avocado" base model has already completed pre-training and is outperforming leading open-source models in knowledge, visual perception, and multilingual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is already competitive with top post-trained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10x increase in compute efficiency for text tasks compared to previous efforts and a 100x gain over "Behemoth" (a delayed Llama 4 version)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Higher-quality training data and "deterministic training," which ensures consistent results and lower energy consumption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 4 was a "PR disaster". Mark Zuckerberg sidelined the previous Generative AI organization to form the Super Intelligence Labs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Meta has invested heavily in talent, reportedly bringing in leaders from Scale AI and GitHub, as well as co-creators of ChatGPT, to build an "all-star roster"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 is speculation that Avocado might be fully closed-source to prevent competitors like DeepSeek from copying Meta’s 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Meta is learning from companies like xAI by focusing on shipping models faster and iterating publicly rather than waiting for a "perfect" release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http://www.youtube.com/watch?v=pO7jA2a2MGo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64" name="Google Shape;264;p36"/>
          <p:cNvSpPr txBox="1"/>
          <p:nvPr/>
        </p:nvSpPr>
        <p:spPr>
          <a:xfrm>
            <a:off x="4651275" y="432920"/>
            <a:ext cx="44343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Nvidia Vibe Tensor - a deep learning runtime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Manages everything from high-level Python code down to low-level GPU memory and hardware execution.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To be used instead of PyTorch</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AI-Generated Architecture. Multi-Layered Stack - a Python user layer, a C++ core for tensor management, and a CUDA subsystem for direct GPU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Custom reverse-mode autograd engine for training neural networks and a smart memory allocator designed to reuse GPU memory efficiently; Custom GPU Kernels: The agents generated specialized routines for tasks like layer normalization and rotary embeddings, which in some benchmarks actually outperformed PyTorch baselines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Since humans didn't review every line, the system relied on automated builds and unit tests that compared results against PyTorch to ensure mathematical correctness; The team successfully used Vibe Tensor to train a small GPT-style model on Shakespeare text and a Vision Transformer; It showed learning curves identical to industry-standard frameworks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project serves as a POC for the future of software engineering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can build coherent, complex systems across different abstraction layers (from high-level Python to hardware-level C++) as long as there is a rigorous automated validation framework in place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https://www.youtube.com/watch?v=BUZ6WnHNDaU</a:t>
            </a:r>
            <a:endParaRPr sz="1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7"/>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100x Compression for Model Adapters</a:t>
            </a:r>
            <a:endParaRPr sz="2000" b="1">
              <a:solidFill>
                <a:schemeClr val="dk1"/>
              </a:solidFill>
              <a:latin typeface="Calibri"/>
              <a:ea typeface="Calibri"/>
              <a:cs typeface="Calibri"/>
              <a:sym typeface="Calibri"/>
            </a:endParaRPr>
          </a:p>
        </p:txBody>
      </p:sp>
      <p:sp>
        <p:nvSpPr>
          <p:cNvPr id="270" name="Google Shape;270;p37"/>
          <p:cNvSpPr txBox="1"/>
          <p:nvPr/>
        </p:nvSpPr>
        <p:spPr>
          <a:xfrm>
            <a:off x="55075" y="445320"/>
            <a:ext cx="44343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100x Compression for Model Adapters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Johns Hopkins researchers just dropped a method called "share" that compresses LoRA adapters by another 100x while optimizing memory 281x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idea: all task-specific AI adapters actually share a common mathematical subspace (like how all colors come from mixing primary pigments). Instead of storing 30+ separate LoRA adapters, you store one set of "basis vectors" and just swap tiny coefficient sets per task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uses a "breathing subspace" that temporarily expands for new tasks, then contracts through optimization. Even crazier - learning new tasks actually *improves* old ones, s</a:t>
            </a:r>
            <a:r>
              <a:rPr lang="en" sz="1200" b="1">
                <a:solidFill>
                  <a:srgbClr val="FF0000"/>
                </a:solidFill>
                <a:latin typeface="Calibri"/>
                <a:ea typeface="Calibri"/>
                <a:cs typeface="Calibri"/>
                <a:sym typeface="Calibri"/>
              </a:rPr>
              <a:t>olving catastrophic forgetting in continual learning</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Result: Thousands of specialized adapters could collapse into one shared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implication is kind of mind-bending: maybe intelligence isn't in the weights themselves, but in the "directions of updates" - and fine-tuning is just recombining features the model learned during pre-training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Code's already on GitHub. This could change how we think about multi-task AI entirely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https://toshi2k2.github.io/share/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71" name="Google Shape;271;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13325" y="445325"/>
            <a:ext cx="4349825" cy="26001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8"/>
          <p:cNvSpPr txBox="1"/>
          <p:nvPr/>
        </p:nvSpPr>
        <p:spPr>
          <a:xfrm>
            <a:off x="55075" y="43025"/>
            <a:ext cx="4434300" cy="6342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How to Make Claude Code Better Every Time You Use It</a:t>
            </a:r>
            <a:endParaRPr sz="2000" b="1">
              <a:solidFill>
                <a:schemeClr val="dk1"/>
              </a:solidFill>
              <a:latin typeface="Calibri"/>
              <a:ea typeface="Calibri"/>
              <a:cs typeface="Calibri"/>
              <a:sym typeface="Calibri"/>
            </a:endParaRPr>
          </a:p>
        </p:txBody>
      </p:sp>
      <p:sp>
        <p:nvSpPr>
          <p:cNvPr id="277" name="Google Shape;277;p38"/>
          <p:cNvSpPr txBox="1"/>
          <p:nvPr/>
        </p:nvSpPr>
        <p:spPr>
          <a:xfrm>
            <a:off x="55075" y="942070"/>
            <a:ext cx="44343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Make Claude Code Better Every Time You Use It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https://www.youtube.com/watch?v=g6z_4TMDiaE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Compound Engineering - a Claude Code plugin designed to make AI agents more effective through iterative learning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core loop consists of four stages: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planning, working, assessing, and codifying.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capturing learnings from each task—such as specific architectural preferences or past mistakes—the AI "compounds" its knowledge, ensuring it doesn't repeat errors in future sessions.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Kieran demonstrates advanced workflows using Claude Code, including:</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Sub-agents: Specialized agents that conduct deep research or code reviews in parallel.</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Skills: Just-in-time context modules for specific tasks like generating images or managing agent-native architectures.</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Playwright Integration: Using AI as a QA team to automatically test browser flows and generate marketing videos for pull requests.</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LFG Command: A "one-prompt" solution that executes the entire engineering lifecycle from planning to production.</a:t>
            </a:r>
            <a:endParaRPr sz="1200">
              <a:solidFill>
                <a:schemeClr val="dk1"/>
              </a:solidFill>
              <a:latin typeface="Calibri"/>
              <a:ea typeface="Calibri"/>
              <a:cs typeface="Calibri"/>
              <a:sym typeface="Calibri"/>
            </a:endParaRPr>
          </a:p>
        </p:txBody>
      </p:sp>
      <p:sp>
        <p:nvSpPr>
          <p:cNvPr id="278" name="Google Shape;278;p38"/>
          <p:cNvSpPr txBox="1"/>
          <p:nvPr/>
        </p:nvSpPr>
        <p:spPr>
          <a:xfrm>
            <a:off x="4627075" y="1496642"/>
            <a:ext cx="4434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Matthew Berman running OpenClaw on MacBook Air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Use Cases that are actually helpful...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https://www.youtube.com/watch?v=Q7r--i9lLck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Telegram channels as the primary interface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personal CRM that automatically processes emails and calendar data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knowledge base for AI article storage (with 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Automated video idea pipeline that researches topics and creates content outlines in 30 seconds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multiple AI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Tracks YouTube analytics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Monitors competitors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Business meta-analysis using AI agent councils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Twitter research, Meeting transcripts, Task Management, Usage tracking,  backup systems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Matt uses Cursor with SSH access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Maintains updated markdown files using OpenClaw's self-improvement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Costs - approx $150/mo</a:t>
            </a:r>
            <a:endParaRPr sz="1200">
              <a:solidFill>
                <a:schemeClr val="dk1"/>
              </a:solidFill>
              <a:latin typeface="Calibri"/>
              <a:ea typeface="Calibri"/>
              <a:cs typeface="Calibri"/>
              <a:sym typeface="Calibri"/>
            </a:endParaRPr>
          </a:p>
        </p:txBody>
      </p:sp>
      <p:pic>
        <p:nvPicPr>
          <p:cNvPr id="279" name="Google Shape;279;p3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411825" y="-1"/>
            <a:ext cx="2649550" cy="1429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9"/>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5" name="Google Shape;285;p39"/>
          <p:cNvSpPr txBox="1"/>
          <p:nvPr/>
        </p:nvSpPr>
        <p:spPr>
          <a:xfrm>
            <a:off x="55075" y="457248"/>
            <a:ext cx="4434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Skywork Windows Desktop AI (CoWork-style app for Windows)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Local (security &amp; privacy); Multi-Model Support (Gemini, Claude, OpenAI, Open Router); Connect with Google Workspace, Slack, Discord, Notion, Trello, and various social media platforms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 organize files, folders, remove duplicates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 searching internet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 create PPT slides and multi-page website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http://www.youtube.com/watch?v=nBgoUrJLT3g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86" name="Google Shape;286;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55550" y="497603"/>
            <a:ext cx="2228825" cy="1252325"/>
          </a:xfrm>
          <a:prstGeom prst="rect">
            <a:avLst/>
          </a:prstGeom>
          <a:noFill/>
          <a:ln w="9525" cap="flat" cmpd="sng">
            <a:solidFill>
              <a:srgbClr val="FF0000"/>
            </a:solidFill>
            <a:prstDash val="solid"/>
            <a:round/>
            <a:headEnd type="none" w="sm" len="sm"/>
            <a:tailEnd type="none" w="sm" len="sm"/>
          </a:ln>
        </p:spPr>
      </p:pic>
      <p:pic>
        <p:nvPicPr>
          <p:cNvPr id="287" name="Google Shape;287;p3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936200" y="659126"/>
            <a:ext cx="2115700" cy="733829"/>
          </a:xfrm>
          <a:prstGeom prst="rect">
            <a:avLst/>
          </a:prstGeom>
          <a:noFill/>
          <a:ln w="9525" cap="flat" cmpd="sng">
            <a:solidFill>
              <a:srgbClr val="FF0000"/>
            </a:solidFill>
            <a:prstDash val="solid"/>
            <a:round/>
            <a:headEnd type="none" w="sm" len="sm"/>
            <a:tailEnd type="none" w="sm" len="sm"/>
          </a:ln>
        </p:spPr>
      </p:pic>
      <p:sp>
        <p:nvSpPr>
          <p:cNvPr id="288" name="Google Shape;288;p39"/>
          <p:cNvSpPr txBox="1"/>
          <p:nvPr/>
        </p:nvSpPr>
        <p:spPr>
          <a:xfrm>
            <a:off x="55075" y="2225973"/>
            <a:ext cx="443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"Paper Banana" - visuals for academic papers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https://www.youtube.com/watch?v=1MqqQn5nQf8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https://arxiv.org/abs/2601.23265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Generate publication-ready academic figures and methodology diagrams from raw paper content and captions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Academic figures require strict faithfulness to content and style compliance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Paper Banana uses five (5) specialized agents working in pipeline: retriever finds reference examples, planner creates detailed visual plans, stylist extracts aesthetic guidelines, visualizer renders output, and critic provides iterative feedback.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shows improvements in faithfulness, conciseness, readability, and aesthetics compared to baselines</a:t>
            </a:r>
            <a:endParaRPr sz="1200">
              <a:solidFill>
                <a:schemeClr val="dk1"/>
              </a:solidFill>
              <a:latin typeface="Calibri"/>
              <a:ea typeface="Calibri"/>
              <a:cs typeface="Calibri"/>
              <a:sym typeface="Calibri"/>
            </a:endParaRPr>
          </a:p>
        </p:txBody>
      </p:sp>
      <p:pic>
        <p:nvPicPr>
          <p:cNvPr id="289" name="Google Shape;289;p3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878925" y="2373901"/>
            <a:ext cx="3642650" cy="2123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0"/>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Elon Musk Interview</a:t>
            </a:r>
            <a:endParaRPr sz="2000" b="1">
              <a:solidFill>
                <a:schemeClr val="dk1"/>
              </a:solidFill>
              <a:latin typeface="Calibri"/>
              <a:ea typeface="Calibri"/>
              <a:cs typeface="Calibri"/>
              <a:sym typeface="Calibri"/>
            </a:endParaRPr>
          </a:p>
        </p:txBody>
      </p:sp>
      <p:sp>
        <p:nvSpPr>
          <p:cNvPr id="295" name="Google Shape;295;p40"/>
          <p:cNvSpPr txBox="1"/>
          <p:nvPr/>
        </p:nvSpPr>
        <p:spPr>
          <a:xfrm>
            <a:off x="55075" y="438445"/>
            <a:ext cx="4434300" cy="323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Future of AI, space-based infrastructure, and the scaling of humanoid robots - </a:t>
            </a:r>
            <a:r>
              <a:rPr lang="en" sz="1100" u="sng">
                <a:solidFill>
                  <a:schemeClr val="hlink"/>
                </a:solidFill>
                <a:latin typeface="Calibri"/>
                <a:ea typeface="Calibri"/>
                <a:cs typeface="Calibri"/>
                <a:sym typeface="Calibri"/>
                <a:hlinkClick r:id="rId3"/>
              </a:rPr>
              <a:t>https://www.youtube.com/watch?v=BYXbuik3dgA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Pivot to Space-Based AI - Musk predicts that within 3 years the most economically compelling place to host AI data centers will be space.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Electricity production on Earth (outside China) is flat, while chip production is growing exponentially. Earth will soon hit a "power wall."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Solar panels in space are 5x more effective because there is no atmosphere, weather, or day-night cycle. This eliminates the need for expensive battery storage.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Building massive solar arrays on Earth (e.g., in Nevada) is slowed by permitting and land-use regulations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GPUs are highly reliable once burned in on the ground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Turbine Crisis - massive backlog in gas turbine components (specifically "vanes and blades"), which are cast by only a few companies globally.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Tesla and SpaceX aim to produce 100 GWatts of solar cells annually and may even begin manufacturing their own turbine components and chip fabs ("TeraFabs"). Musk criticizes US solar tariffs as "nuts" and "hundreds of percent," which hinders the transition to sustainable energy</a:t>
            </a:r>
            <a:endParaRPr sz="1100">
              <a:solidFill>
                <a:schemeClr val="dk1"/>
              </a:solidFill>
              <a:latin typeface="Calibri"/>
              <a:ea typeface="Calibri"/>
              <a:cs typeface="Calibri"/>
              <a:sym typeface="Calibri"/>
            </a:endParaRPr>
          </a:p>
        </p:txBody>
      </p:sp>
      <p:sp>
        <p:nvSpPr>
          <p:cNvPr id="296" name="Google Shape;296;p40"/>
          <p:cNvSpPr txBox="1"/>
          <p:nvPr/>
        </p:nvSpPr>
        <p:spPr>
          <a:xfrm>
            <a:off x="4648450" y="1902095"/>
            <a:ext cx="4434300" cy="171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Humanoid robots (Optimus) are described as an infinite money glitch that will expand the economy by orders of magnitude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Hardware Difficulty - The human hand is the most difficult electro-mechanical challenge, more complex than the rest of the robot combined.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Robots will be trained in a "Sim-to-Real" pipeline using tens of thousands of robots in self-play environments.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Musk acknowledges China’s massive lead in manufacturing and work ethic, stating the US "cannot win on the human front" (due to population and birth rates) and must win via robotic productivity.</a:t>
            </a:r>
            <a:endParaRPr sz="1100">
              <a:solidFill>
                <a:schemeClr val="dk1"/>
              </a:solidFill>
              <a:latin typeface="Calibri"/>
              <a:ea typeface="Calibri"/>
              <a:cs typeface="Calibri"/>
              <a:sym typeface="Calibri"/>
            </a:endParaRPr>
          </a:p>
        </p:txBody>
      </p:sp>
      <p:sp>
        <p:nvSpPr>
          <p:cNvPr id="297" name="Google Shape;297;p40"/>
          <p:cNvSpPr txBox="1"/>
          <p:nvPr/>
        </p:nvSpPr>
        <p:spPr>
          <a:xfrm>
            <a:off x="55075" y="3742970"/>
            <a:ext cx="44343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xAI, Grok, and the "Truth-Seeking" Mission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Musk views xAI’s mission as "understanding the universe," which he argues requires a rigorous commitment to truth over political correctness.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 believes </a:t>
            </a:r>
            <a:r>
              <a:rPr lang="en" sz="1100" b="1">
                <a:solidFill>
                  <a:srgbClr val="FF0000"/>
                </a:solidFill>
                <a:latin typeface="Calibri"/>
                <a:ea typeface="Calibri"/>
                <a:cs typeface="Calibri"/>
                <a:sym typeface="Calibri"/>
              </a:rPr>
              <a:t>AI will eventually account for 99% of all intelligence</a:t>
            </a:r>
            <a:r>
              <a:rPr lang="en" sz="1100">
                <a:solidFill>
                  <a:schemeClr val="dk1"/>
                </a:solidFill>
                <a:latin typeface="Calibri"/>
                <a:ea typeface="Calibri"/>
                <a:cs typeface="Calibri"/>
                <a:sym typeface="Calibri"/>
              </a:rPr>
              <a:t>. The goal is to ensure AI values human consciousness as an "interesting" part of the universe to ensure our survival.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"HAL 9000" Lesson (2001: A Space Odyssey) - forcing an AI to lie (or be "politically correct") makes it go insane.</a:t>
            </a:r>
            <a:endParaRPr sz="1100">
              <a:solidFill>
                <a:schemeClr val="dk1"/>
              </a:solidFill>
              <a:latin typeface="Calibri"/>
              <a:ea typeface="Calibri"/>
              <a:cs typeface="Calibri"/>
              <a:sym typeface="Calibri"/>
            </a:endParaRPr>
          </a:p>
        </p:txBody>
      </p:sp>
      <p:sp>
        <p:nvSpPr>
          <p:cNvPr id="298" name="Google Shape;298;p40"/>
          <p:cNvSpPr txBox="1"/>
          <p:nvPr/>
        </p:nvSpPr>
        <p:spPr>
          <a:xfrm>
            <a:off x="4648450" y="3673945"/>
            <a:ext cx="44343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Musk’s management style focuses exclusively on identifying and "pico-managing" the single bottleneck preventing progress.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First principles example: switching from carbon fiber to stainless steel for Starship - choosing materials based on physics (steel’s strength at cryogenic temperatures) rather than industry conventions.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DOGE (Department of Government Efficiency) - Musk aims to cut what he describes as "ludicrous" fraud and waste, noting that the interest on national debt now exceeds the defense budget.</a:t>
            </a:r>
            <a:endParaRPr sz="1100">
              <a:solidFill>
                <a:schemeClr val="dk1"/>
              </a:solidFill>
              <a:latin typeface="Calibri"/>
              <a:ea typeface="Calibri"/>
              <a:cs typeface="Calibri"/>
              <a:sym typeface="Calibri"/>
            </a:endParaRPr>
          </a:p>
        </p:txBody>
      </p:sp>
      <p:pic>
        <p:nvPicPr>
          <p:cNvPr id="299" name="Google Shape;299;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48450" y="43029"/>
            <a:ext cx="3396515" cy="1711499"/>
          </a:xfrm>
          <a:prstGeom prst="rect">
            <a:avLst/>
          </a:prstGeom>
          <a:noFill/>
          <a:ln w="9525" cap="flat" cmpd="sng">
            <a:solidFill>
              <a:srgbClr val="FF0000"/>
            </a:solidFill>
            <a:prstDash val="solid"/>
            <a:round/>
            <a:headEnd type="none" w="sm" len="sm"/>
            <a:tailEnd type="none" w="sm" len="sm"/>
          </a:ln>
        </p:spPr>
      </p:pic>
      <p:pic>
        <p:nvPicPr>
          <p:cNvPr id="300" name="Google Shape;300;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8204050" y="1241591"/>
            <a:ext cx="911875" cy="51293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1"/>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Elon Musk - Building City on Moon</a:t>
            </a:r>
            <a:endParaRPr sz="2000" b="1">
              <a:solidFill>
                <a:schemeClr val="dk1"/>
              </a:solidFill>
              <a:latin typeface="Calibri"/>
              <a:ea typeface="Calibri"/>
              <a:cs typeface="Calibri"/>
              <a:sym typeface="Calibri"/>
            </a:endParaRPr>
          </a:p>
        </p:txBody>
      </p:sp>
      <p:sp>
        <p:nvSpPr>
          <p:cNvPr id="306" name="Google Shape;306;p41"/>
          <p:cNvSpPr txBox="1"/>
          <p:nvPr/>
        </p:nvSpPr>
        <p:spPr>
          <a:xfrm>
            <a:off x="55075" y="438450"/>
            <a:ext cx="50283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Elon Musk announced that SpaceX has shifted its primary focus from Mars colonization to building a "self-growing city" on the Moon, which he claims could be achieved in less than 10 years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Mars plans are not abandoned - just postponed to start in approximately 5-7 years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Musk explained that Mars launch windows occur only every 26 months due to planetary alignment, with each journey taking six months. In contrast, lunar missions can launch every 10 days with just a two-day travel time, allowing for much faster iteration and development cycles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accessibility means SpaceX can experiment, test, and build infrastructure far more rapidly on the Moon than on Mars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planned lunar settlement is described as a "self-growing" or "self-sustaining" city that would include bases and factories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Musk stated that this lunar city could become self-sufficient within 10 years - much faster than a comparable Martian city (Mars project will restart within 5-6 years)</a:t>
            </a:r>
            <a:endParaRPr sz="1100">
              <a:solidFill>
                <a:schemeClr val="dk1"/>
              </a:solidFill>
              <a:latin typeface="Calibri"/>
              <a:ea typeface="Calibri"/>
              <a:cs typeface="Calibri"/>
              <a:sym typeface="Calibri"/>
            </a:endParaRPr>
          </a:p>
        </p:txBody>
      </p:sp>
      <p:pic>
        <p:nvPicPr>
          <p:cNvPr id="307" name="Google Shape;307;p4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231125" y="892638"/>
            <a:ext cx="3234202" cy="1819226"/>
          </a:xfrm>
          <a:prstGeom prst="rect">
            <a:avLst/>
          </a:prstGeom>
          <a:noFill/>
          <a:ln w="9525" cap="flat" cmpd="sng">
            <a:solidFill>
              <a:srgbClr val="FF0000"/>
            </a:solidFill>
            <a:prstDash val="solid"/>
            <a:round/>
            <a:headEnd type="none" w="sm" len="sm"/>
            <a:tailEnd type="none" w="sm" len="sm"/>
          </a:ln>
        </p:spPr>
      </p:pic>
      <p:sp>
        <p:nvSpPr>
          <p:cNvPr id="308" name="Google Shape;308;p41"/>
          <p:cNvSpPr txBox="1"/>
          <p:nvPr/>
        </p:nvSpPr>
        <p:spPr>
          <a:xfrm>
            <a:off x="55075" y="3065575"/>
            <a:ext cx="502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Jeff Dean Interview (Chief AI Scientist at Google)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Frontier "Pro" models - distilled into efficient "Flash"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Energy (picojoules), rather than just FLOPs, is the primary bottleneck in modern computing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Moving data costs 1,000x more than the computation itself</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Importance of hardware-software co-design with TPUs to handle huge sparse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Predicts 10K+ tokens/sec throughput to enable deep reasoning and massive parallel code generation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Trillion-token "virtual" context windows that allow models to attend to a user's entire digital life (emails, photos, docs)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Coding Agents where "crisp specification" becomes the primary human skill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https://www.youtube.com/watch?v=F_1oDPWxpFQ</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309" name="Google Shape;309;p4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235775" y="3119000"/>
            <a:ext cx="3294529" cy="18192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2"/>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Something Big Is Happening</a:t>
            </a:r>
            <a:endParaRPr sz="2000" b="1">
              <a:solidFill>
                <a:schemeClr val="dk1"/>
              </a:solidFill>
              <a:latin typeface="Calibri"/>
              <a:ea typeface="Calibri"/>
              <a:cs typeface="Calibri"/>
              <a:sym typeface="Calibri"/>
            </a:endParaRPr>
          </a:p>
        </p:txBody>
      </p:sp>
      <p:sp>
        <p:nvSpPr>
          <p:cNvPr id="315" name="Google Shape;315;p42"/>
          <p:cNvSpPr txBox="1"/>
          <p:nvPr/>
        </p:nvSpPr>
        <p:spPr>
          <a:xfrm>
            <a:off x="55075" y="438450"/>
            <a:ext cx="45081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early 2026, the AI landscape shifted from incremental progress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to a "hard takeoff," - </a:t>
            </a:r>
            <a:r>
              <a:rPr lang="en" sz="1200" b="1">
                <a:solidFill>
                  <a:srgbClr val="FF0000"/>
                </a:solidFill>
                <a:latin typeface="Calibri"/>
                <a:ea typeface="Calibri"/>
                <a:cs typeface="Calibri"/>
                <a:sym typeface="Calibri"/>
              </a:rPr>
              <a:t>Matt Schumer "Something Big Is Happening"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https://shumer.dev/something-big-is-happening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https://www.youtube.com/watch?v=31A41ckhb7Q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have moved from "helpful assistant" to "autonomous agentic systems*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models (GPT 5.3 Codex, Opus 4.6) - fundamental leap in capability. They exhibit "judgment" and "taste."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Even top-tier engineers are "shipping code they didn't write and don't even read."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METR Time Horizons - performance graphs show a "wall" of progress, where models can now work autonomously on tasks that would take a human expert hours or even weeks to complete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is a general substitute for cognitive work. As humans retrain for new roles, the AI improves in those new areas simultaneously.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advice is to lean into the "frontier." By paying for cutting-edge subscriptions and automating personal workflows, individuals can transition from "doers" to "orchestrators."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the "white-collar bloodbath" suggests mass disruption, a solo entrepreneur today has more power than an entire department did a year ago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future belongs to those who maintain human accountability and leverage AI to amplify their unique taste and agency</a:t>
            </a:r>
            <a:endParaRPr sz="1200">
              <a:solidFill>
                <a:schemeClr val="dk1"/>
              </a:solidFill>
              <a:latin typeface="Calibri"/>
              <a:ea typeface="Calibri"/>
              <a:cs typeface="Calibri"/>
              <a:sym typeface="Calibri"/>
            </a:endParaRPr>
          </a:p>
        </p:txBody>
      </p:sp>
      <p:pic>
        <p:nvPicPr>
          <p:cNvPr id="316" name="Google Shape;316;p4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439925" y="43025"/>
            <a:ext cx="1360774" cy="1360774"/>
          </a:xfrm>
          <a:prstGeom prst="rect">
            <a:avLst/>
          </a:prstGeom>
          <a:noFill/>
          <a:ln w="9525" cap="flat" cmpd="sng">
            <a:solidFill>
              <a:srgbClr val="FF0000"/>
            </a:solidFill>
            <a:prstDash val="solid"/>
            <a:round/>
            <a:headEnd type="none" w="sm" len="sm"/>
            <a:tailEnd type="none" w="sm" len="sm"/>
          </a:ln>
        </p:spPr>
      </p:pic>
      <p:pic>
        <p:nvPicPr>
          <p:cNvPr id="317" name="Google Shape;317;p4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161750" y="182738"/>
            <a:ext cx="2703351" cy="1081350"/>
          </a:xfrm>
          <a:prstGeom prst="rect">
            <a:avLst/>
          </a:prstGeom>
          <a:noFill/>
          <a:ln w="9525" cap="flat" cmpd="sng">
            <a:solidFill>
              <a:srgbClr val="FF0000"/>
            </a:solidFill>
            <a:prstDash val="solid"/>
            <a:round/>
            <a:headEnd type="none" w="sm" len="sm"/>
            <a:tailEnd type="none" w="sm" len="sm"/>
          </a:ln>
        </p:spPr>
      </p:pic>
      <p:sp>
        <p:nvSpPr>
          <p:cNvPr id="318" name="Google Shape;318;p42"/>
          <p:cNvSpPr txBox="1"/>
          <p:nvPr/>
        </p:nvSpPr>
        <p:spPr>
          <a:xfrm>
            <a:off x="4904725" y="1892600"/>
            <a:ext cx="41667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Selling outcomes rather than hours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AI tools to provide high-value business services focused on sales, marketing, or systems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https://www.youtube.com/watch?v=RoW-Re0yqDY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3"/>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24" name="Google Shape;324;p43"/>
          <p:cNvSpPr txBox="1"/>
          <p:nvPr/>
        </p:nvSpPr>
        <p:spPr>
          <a:xfrm>
            <a:off x="2134467" y="12641"/>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25" name="Google Shape;325;p43"/>
          <p:cNvSpPr txBox="1"/>
          <p:nvPr/>
        </p:nvSpPr>
        <p:spPr>
          <a:xfrm>
            <a:off x="5549900" y="375077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26K  in 2026 </a:t>
            </a:r>
            <a:r>
              <a:rPr lang="en" sz="1000" b="1">
                <a:solidFill>
                  <a:schemeClr val="dk1"/>
                </a:solidFill>
                <a:latin typeface="Roboto Mono"/>
                <a:ea typeface="Roboto Mono"/>
                <a:cs typeface="Roboto Mono"/>
                <a:sym typeface="Roboto Mono"/>
              </a:rPr>
              <a:t>(as of February 13,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26" name="Google Shape;326;p43"/>
          <p:cNvSpPr txBox="1"/>
          <p:nvPr/>
        </p:nvSpPr>
        <p:spPr>
          <a:xfrm>
            <a:off x="5549900" y="5184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38,412</a:t>
            </a:r>
            <a:r>
              <a:rPr lang="en" sz="1200">
                <a:latin typeface="Calibri"/>
                <a:ea typeface="Calibri"/>
                <a:cs typeface="Calibri"/>
                <a:sym typeface="Calibri"/>
              </a:rPr>
              <a:t> people laid off (873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27" name="Google Shape;327;p4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161956"/>
            <a:ext cx="5185082" cy="1945876"/>
          </a:xfrm>
          <a:prstGeom prst="rect">
            <a:avLst/>
          </a:prstGeom>
          <a:noFill/>
          <a:ln w="9525" cap="flat" cmpd="sng">
            <a:solidFill>
              <a:srgbClr val="FF0000"/>
            </a:solidFill>
            <a:prstDash val="solid"/>
            <a:round/>
            <a:headEnd type="none" w="sm" len="sm"/>
            <a:tailEnd type="none" w="sm" len="sm"/>
          </a:ln>
        </p:spPr>
      </p:pic>
      <p:pic>
        <p:nvPicPr>
          <p:cNvPr id="328" name="Google Shape;328;p4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443983"/>
            <a:ext cx="5185074" cy="267598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4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34" name="Google Shape;334;p4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35" name="Google Shape;335;p4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36" name="Google Shape;336;p4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37" name="Google Shape;337;p44"/>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38" name="Google Shape;338;p44"/>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8961</Words>
  <Application>Microsoft Macintosh PowerPoint</Application>
  <PresentationFormat>On-screen Show (16:9)</PresentationFormat>
  <Paragraphs>732</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2026-02-13T15:08:20Z</dcterms:modified>
</cp:coreProperties>
</file>