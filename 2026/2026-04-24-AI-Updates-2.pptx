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Roboto Mono" pitchFamily="49"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p:cViewPr varScale="1">
        <p:scale>
          <a:sx n="124" d="100"/>
          <a:sy n="124"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97a9882ba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97a9882bac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d91e10ce2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g3d91e10ce2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977f85c043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g3977f85c043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976f00a20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g3976f00a20c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d91e10ce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g3d91e10ce24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d91e10ce24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g3d91e10ce24_0_1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d91e10ce2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g3d91e10ce24_0_1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97afacf9cd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g397afacf9cd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97afacf9c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397afacf9c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d91e10ce24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g3d91e10ce24_1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d8bc38d6c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g3d8bc38d6c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d91e10ce2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3d91e10ce24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977f85c04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g3977f85c043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976f00a20c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976f00a20c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97973a16df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g397973a16df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97a49c410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97a49c410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97a0dd73d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g397a0dd73d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976df6a5b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3976df6a5b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kyegomez/OpenMythos"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HkEcPUQ4Ng8"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https://x.com/HowToAI_/status/2046254937559237012"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openclaw/openclaw"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hyperlink" Target="https://github.com/openclaw/openclaw/release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nousresearch/hermes-agent" TargetMode="External"/><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hyperlink" Target="https://github.com/NousResearch/hermes-agent/blob/main/RELEASE_v0.10.0.md" TargetMode="External"/><Relationship Id="rId4" Type="http://schemas.openxmlformats.org/officeDocument/2006/relationships/hyperlink" Target="https://github.com/NousResearch/hermes-agent/blob/main/RELEASE_v0.11.0.md"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QK0B1mbJ-VU"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CFBIg4_z99w"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am_oeAoUhew"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hyperlink" Target="https://research.google/blog/designing-synthetic-datasets-for-the-real-world-mechanism-design-and-reasoning-from-first-principle"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hyperlink" Target="https://www.marktechpost.com/2026/04/21/google-introduces-simula-a-reasoning-first-framework-for-generating-controllable-scalable-synthetic-datasets-across-specialized-ai-domains/" TargetMode="External"/><Relationship Id="rId4" Type="http://schemas.openxmlformats.org/officeDocument/2006/relationships/hyperlink" Target="https://research.google/pubs/orchestrating-synthetic-datasets-with-reasoning/"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hyperlink" Target="https://consensus.app"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www.youtube.com/watch?v=xsWaPdvCmy4"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oYlA8dtC9WI"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hyperlink" Target="https://www.blotato.com"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mlflow.org/docs/latest/ml/" TargetMode="External"/><Relationship Id="rId7"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hyperlink" Target="https://wandb.ai/site/for-enterprise/" TargetMode="Externa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hyperlink" Target="https://x.com/MillieMarconnni/status/2046892074541474195"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2.jpeg"/><Relationship Id="rId4" Type="http://schemas.openxmlformats.org/officeDocument/2006/relationships/hyperlink" Target="https://arxiv.org/abs/2604.18805"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hyperlink" Target="https://trueup.io/layoffs"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Apr 24, 2026</a:t>
            </a:r>
            <a:endParaRPr sz="3000" b="1">
              <a:solidFill>
                <a:srgbClr val="3C78D8"/>
              </a:solidFill>
              <a:latin typeface="Calibri"/>
              <a:ea typeface="Calibri"/>
              <a:cs typeface="Calibri"/>
              <a:sym typeface="Calibri"/>
            </a:endParaRPr>
          </a:p>
        </p:txBody>
      </p:sp>
      <p:sp>
        <p:nvSpPr>
          <p:cNvPr id="64" name="Google Shape;64;p15"/>
          <p:cNvSpPr txBox="1"/>
          <p:nvPr/>
        </p:nvSpPr>
        <p:spPr>
          <a:xfrm>
            <a:off x="5099973" y="2456175"/>
            <a:ext cx="3795600" cy="1742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AI-attributed layoffs x9 in 2026</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consensus.app</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Claude CoWork Built 1.4 Mln Audience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MLOps model lifecycle management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Pretends to be a Scientist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on How To Live Longer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Jobs &amp; Layoffs</a:t>
            </a:r>
            <a:endParaRPr sz="16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151915" y="978369"/>
            <a:ext cx="4502400" cy="32202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 Mythos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Neuro-symbolic AI Cuts Energy Use 100 times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Yann LeCun LeWorldModel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OpenClaw Updates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Hermes Updates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5 open-source tools for Claude Code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 GPT Rosalind &amp; GPT-5.4 Cyber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Engineers are steering agents - not writing code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Simula - Generate Training Data for AI</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Anthropic - Not Enough Compute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SpaceX partnered with Cursor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Jensen Huang about Nvidia</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Abacus AI’s "Agent Swarms"</a:t>
            </a:r>
            <a:endParaRPr sz="1600" b="1">
              <a:solidFill>
                <a:srgbClr val="3C78D8"/>
              </a:solidFill>
              <a:latin typeface="Calibri"/>
              <a:ea typeface="Calibri"/>
              <a:cs typeface="Calibri"/>
              <a:sym typeface="Calibri"/>
            </a:endParaRPr>
          </a:p>
        </p:txBody>
      </p:sp>
      <p:sp>
        <p:nvSpPr>
          <p:cNvPr id="66" name="Google Shape;66;p15"/>
          <p:cNvSpPr txBox="1"/>
          <p:nvPr/>
        </p:nvSpPr>
        <p:spPr>
          <a:xfrm>
            <a:off x="4858675" y="225450"/>
            <a:ext cx="4215900" cy="10158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None/>
            </a:pPr>
            <a:r>
              <a:rPr lang="en" sz="2000" b="1" i="1">
                <a:solidFill>
                  <a:srgbClr val="FF0000"/>
                </a:solidFill>
                <a:latin typeface="Calibri"/>
                <a:ea typeface="Calibri"/>
                <a:cs typeface="Calibri"/>
                <a:sym typeface="Calibri"/>
              </a:rPr>
              <a:t>"End every session by telling the model to update the skill." </a:t>
            </a:r>
            <a:endParaRPr sz="2000" b="1" i="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2000" b="1" i="1">
                <a:solidFill>
                  <a:srgbClr val="FF0000"/>
                </a:solidFill>
                <a:latin typeface="Calibri"/>
                <a:ea typeface="Calibri"/>
                <a:cs typeface="Calibri"/>
                <a:sym typeface="Calibri"/>
              </a:rPr>
              <a:t>                -  Sabrina Rammanov</a:t>
            </a:r>
            <a:endParaRPr sz="2000" b="1" i="1">
              <a:solidFill>
                <a:srgbClr val="FF0000"/>
              </a:solidFill>
              <a:latin typeface="Calibri"/>
              <a:ea typeface="Calibri"/>
              <a:cs typeface="Calibri"/>
              <a:sym typeface="Calibri"/>
            </a:endParaRPr>
          </a:p>
        </p:txBody>
      </p:sp>
      <p:sp>
        <p:nvSpPr>
          <p:cNvPr id="67" name="Google Shape;67;p15"/>
          <p:cNvSpPr txBox="1"/>
          <p:nvPr/>
        </p:nvSpPr>
        <p:spPr>
          <a:xfrm>
            <a:off x="1283071" y="554639"/>
            <a:ext cx="1964400" cy="3879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2400" b="1">
                <a:solidFill>
                  <a:srgbClr val="3C78D8"/>
                </a:solidFill>
                <a:latin typeface="Calibri"/>
                <a:ea typeface="Calibri"/>
                <a:cs typeface="Calibri"/>
                <a:sym typeface="Calibri"/>
              </a:rPr>
              <a:t>Part 2</a:t>
            </a:r>
            <a:endParaRPr sz="2400"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p:nvPr/>
        </p:nvSpPr>
        <p:spPr>
          <a:xfrm>
            <a:off x="81776" y="67675"/>
            <a:ext cx="315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 Mythos</a:t>
            </a:r>
            <a:endParaRPr sz="2000" b="1">
              <a:solidFill>
                <a:schemeClr val="dk1"/>
              </a:solidFill>
              <a:latin typeface="Calibri"/>
              <a:ea typeface="Calibri"/>
              <a:cs typeface="Calibri"/>
              <a:sym typeface="Calibri"/>
            </a:endParaRPr>
          </a:p>
        </p:txBody>
      </p:sp>
      <p:sp>
        <p:nvSpPr>
          <p:cNvPr id="73" name="Google Shape;73;p16"/>
          <p:cNvSpPr txBox="1"/>
          <p:nvPr/>
        </p:nvSpPr>
        <p:spPr>
          <a:xfrm>
            <a:off x="223539" y="625979"/>
            <a:ext cx="43779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 Mythos - built by a 22-year-old Kai Gomez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Attempting to reverse-engineer Anthropic's secretive Claude Mythos architecture using only public research and speculation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open-source </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https://github.com/kyegomez/OpenMythos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770M parameter Recurrent-Depth Transformer (RDT)</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reuses a small set of layers up to 16 times instead of stacking more parameters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re-use enables deeper reasoning at inference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Combined with a Mixture of Experts setup, the model activates only a small subset of 384 specialists per pass, making it highly efficient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Research suggests a 770M parameter version can match a 1.3B standard transformer</a:t>
            </a:r>
            <a:endParaRPr sz="1200">
              <a:solidFill>
                <a:schemeClr val="dk1"/>
              </a:solidFill>
              <a:latin typeface="Calibri"/>
              <a:ea typeface="Calibri"/>
              <a:cs typeface="Calibri"/>
              <a:sym typeface="Calibri"/>
            </a:endParaRPr>
          </a:p>
        </p:txBody>
      </p:sp>
      <p:pic>
        <p:nvPicPr>
          <p:cNvPr id="74" name="Google Shape;74;p1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050424" y="625975"/>
            <a:ext cx="1855925" cy="184007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p:nvPr/>
        </p:nvSpPr>
        <p:spPr>
          <a:xfrm>
            <a:off x="81775" y="100525"/>
            <a:ext cx="5162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Neuro-symbolic AI Cuts Energy Use 100 times</a:t>
            </a:r>
            <a:endParaRPr sz="2000" b="1">
              <a:solidFill>
                <a:schemeClr val="dk1"/>
              </a:solidFill>
              <a:latin typeface="Calibri"/>
              <a:ea typeface="Calibri"/>
              <a:cs typeface="Calibri"/>
              <a:sym typeface="Calibri"/>
            </a:endParaRPr>
          </a:p>
        </p:txBody>
      </p:sp>
      <p:sp>
        <p:nvSpPr>
          <p:cNvPr id="80" name="Google Shape;80;p17"/>
          <p:cNvSpPr txBox="1"/>
          <p:nvPr/>
        </p:nvSpPr>
        <p:spPr>
          <a:xfrm>
            <a:off x="366594" y="1041494"/>
            <a:ext cx="44046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Neuro-symbolic AI Cuts Energy Use 100 times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now consumes over 10% of U.S. electricity, with tech giants spending $650 billion on data centers this year alone.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Researchers just announced a neuro-symbolic AI system that cuts energy use by 100 times while actually improving accuracy — combining neural networks with step-by-step symbolic reasoning instead of brute-force pattern matching. Additional efficiency breakthroughs include Google's TurboQuant algorithm and the ASUS Eugen 300, a USB device delivering 40 TOPS of AI processing at just 2.5 watts. For businesses, this means AI tools once limited to enterprise budgets will become affordable for everyone, enabling fully personalized customer interactions and automated workflows at a fraction of today's cost.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https://www.youtube.com/watch?v=HkEcPUQ4Ng8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81" name="Google Shape;81;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957069" y="1309694"/>
            <a:ext cx="3711625" cy="20679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p:nvPr/>
        </p:nvSpPr>
        <p:spPr>
          <a:xfrm>
            <a:off x="81775" y="67675"/>
            <a:ext cx="4404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Yann LeCun LeWorldModel</a:t>
            </a:r>
            <a:endParaRPr sz="2000" b="1">
              <a:solidFill>
                <a:schemeClr val="dk1"/>
              </a:solidFill>
              <a:latin typeface="Calibri"/>
              <a:ea typeface="Calibri"/>
              <a:cs typeface="Calibri"/>
              <a:sym typeface="Calibri"/>
            </a:endParaRPr>
          </a:p>
        </p:txBody>
      </p:sp>
      <p:sp>
        <p:nvSpPr>
          <p:cNvPr id="87" name="Google Shape;87;p18"/>
          <p:cNvSpPr txBox="1"/>
          <p:nvPr/>
        </p:nvSpPr>
        <p:spPr>
          <a:xfrm>
            <a:off x="630481" y="734225"/>
            <a:ext cx="42915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Yann LeCun LeWorldModel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Yann LeCun long argued that generative AI wastes compute memorizing patterns instead of understanding reality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His alternative, JEPA, predicts abstract concepts rather than raw pixels or words - but suffered from "representation collapse," where the AI oversimplified everything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new paper called LeWorldModel (LeWM) fixes this with a single mathematical regularizer, forcing the model to internalize physical structure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result: a 15-million-parameter model that trains on one GPU in hours, plans 48x faster than massive foundation models, and genuinely understands physics - potentially making trillion-parameter LLMs look like an expensive wrong turn.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https://x.com/HowToAI_/status/2046254937559237012</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88" name="Google Shape;88;p18"/>
          <p:cNvPicPr preferRelativeResize="0"/>
          <p:nvPr/>
        </p:nvPicPr>
        <p:blipFill>
          <a:blip r:embed="rId4">
            <a:alphaModFix/>
          </a:blip>
          <a:stretch>
            <a:fillRect/>
          </a:stretch>
        </p:blipFill>
        <p:spPr>
          <a:xfrm>
            <a:off x="5152050" y="1265050"/>
            <a:ext cx="3085300" cy="15426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p:nvPr/>
        </p:nvSpPr>
        <p:spPr>
          <a:xfrm>
            <a:off x="81776" y="40050"/>
            <a:ext cx="227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Updates</a:t>
            </a:r>
            <a:endParaRPr sz="2000" b="1">
              <a:solidFill>
                <a:schemeClr val="dk1"/>
              </a:solidFill>
              <a:latin typeface="Calibri"/>
              <a:ea typeface="Calibri"/>
              <a:cs typeface="Calibri"/>
              <a:sym typeface="Calibri"/>
            </a:endParaRPr>
          </a:p>
        </p:txBody>
      </p:sp>
      <p:sp>
        <p:nvSpPr>
          <p:cNvPr id="94" name="Google Shape;94;p19"/>
          <p:cNvSpPr txBox="1"/>
          <p:nvPr/>
        </p:nvSpPr>
        <p:spPr>
          <a:xfrm>
            <a:off x="100600" y="493200"/>
            <a:ext cx="4392600" cy="291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Updates</a:t>
            </a:r>
            <a:br>
              <a:rPr lang="en" sz="1200" b="1">
                <a:solidFill>
                  <a:srgbClr val="FF0000"/>
                </a:solidFill>
                <a:latin typeface="Calibri"/>
                <a:ea typeface="Calibri"/>
                <a:cs typeface="Calibri"/>
                <a:sym typeface="Calibri"/>
              </a:rPr>
            </a:br>
            <a:r>
              <a:rPr lang="en" sz="1000" b="1" u="sng">
                <a:solidFill>
                  <a:schemeClr val="hlink"/>
                </a:solidFill>
                <a:latin typeface="Calibri"/>
                <a:ea typeface="Calibri"/>
                <a:cs typeface="Calibri"/>
                <a:sym typeface="Calibri"/>
                <a:hlinkClick r:id="rId3"/>
              </a:rPr>
              <a:t>https://github.com/openclaw/openclaw</a:t>
            </a:r>
            <a:r>
              <a:rPr lang="en" sz="1000">
                <a:latin typeface="Calibri"/>
                <a:ea typeface="Calibri"/>
                <a:cs typeface="Calibri"/>
                <a:sym typeface="Calibri"/>
              </a:rPr>
              <a:t> - 363K stars</a:t>
            </a:r>
            <a:br>
              <a:rPr lang="en" sz="1000">
                <a:latin typeface="Calibri"/>
                <a:ea typeface="Calibri"/>
                <a:cs typeface="Calibri"/>
                <a:sym typeface="Calibri"/>
              </a:rPr>
            </a:br>
            <a:r>
              <a:rPr lang="en" sz="1000" b="1" u="sng">
                <a:solidFill>
                  <a:schemeClr val="hlink"/>
                </a:solidFill>
                <a:latin typeface="Calibri"/>
                <a:ea typeface="Calibri"/>
                <a:cs typeface="Calibri"/>
                <a:sym typeface="Calibri"/>
                <a:hlinkClick r:id="rId4"/>
              </a:rPr>
              <a:t>https://github.com/openclaw/openclaw/releases</a:t>
            </a:r>
            <a:r>
              <a:rPr lang="en" sz="1000" b="1">
                <a:solidFill>
                  <a:srgbClr val="FF0000"/>
                </a:solidFill>
                <a:latin typeface="Calibri"/>
                <a:ea typeface="Calibri"/>
                <a:cs typeface="Calibri"/>
                <a:sym typeface="Calibri"/>
              </a:rPr>
              <a:t> </a:t>
            </a:r>
            <a:endParaRPr sz="10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v2026.4.23 - Apr 24 — Image gen via Codex/OpenRouter, per-call timeouts, forked subagent context; fixes Codex routing, WhatsApp onboarding, duplicate reply suppression, Slack/Telegram regressions.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v2026.4.22 - Apr 23 — xAI image/TTS/STT, realtime Voice Call transcription, local TUI mode, `/models add` CLI, WhatsApp reply quoting, Tencent Cloud provider, Claude Opus 4.7 via Bedrock.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v2026.4.21 - Apr 22 — Defaults image gen to `gpt-image-2`; fixes owner-command auth bypass, Slack thread aliases, browser invalid ref handling.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v2026.4.20 - Apr 21 — Onboarding wizard rework, tiered model pricing, session entry-cap, cron state split, Mattermost streaming; fixes exec YOLO rejection, Codex transport, SSRF guards. </a:t>
            </a:r>
            <a:endParaRPr sz="1200">
              <a:solidFill>
                <a:schemeClr val="dk1"/>
              </a:solidFill>
              <a:latin typeface="Calibri"/>
              <a:ea typeface="Calibri"/>
              <a:cs typeface="Calibri"/>
              <a:sym typeface="Calibri"/>
            </a:endParaRPr>
          </a:p>
        </p:txBody>
      </p:sp>
      <p:pic>
        <p:nvPicPr>
          <p:cNvPr id="95" name="Google Shape;95;p19"/>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936275" y="493200"/>
            <a:ext cx="2857500" cy="675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0"/>
          <p:cNvSpPr txBox="1"/>
          <p:nvPr/>
        </p:nvSpPr>
        <p:spPr>
          <a:xfrm>
            <a:off x="81775" y="67675"/>
            <a:ext cx="4391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Hermes Updates</a:t>
            </a:r>
            <a:endParaRPr sz="2000" b="1">
              <a:solidFill>
                <a:schemeClr val="dk1"/>
              </a:solidFill>
              <a:latin typeface="Calibri"/>
              <a:ea typeface="Calibri"/>
              <a:cs typeface="Calibri"/>
              <a:sym typeface="Calibri"/>
            </a:endParaRPr>
          </a:p>
        </p:txBody>
      </p:sp>
      <p:sp>
        <p:nvSpPr>
          <p:cNvPr id="101" name="Google Shape;101;p20"/>
          <p:cNvSpPr txBox="1"/>
          <p:nvPr/>
        </p:nvSpPr>
        <p:spPr>
          <a:xfrm>
            <a:off x="259975" y="1269592"/>
            <a:ext cx="43911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How to setup Hermes Agent</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https://github.com/nousresearch/hermes-agent</a:t>
            </a:r>
            <a:r>
              <a:rPr lang="en" sz="1200">
                <a:solidFill>
                  <a:schemeClr val="dk1"/>
                </a:solidFill>
                <a:latin typeface="Calibri"/>
                <a:ea typeface="Calibri"/>
                <a:cs typeface="Calibri"/>
                <a:sym typeface="Calibri"/>
              </a:rPr>
              <a:t> - 115K stars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v0.11.0 (v2026.4.23) - Apr 23 — 1,556 commits, 761 merged PRs since v0.9.0 - "The Interface Release": beta TUI v2, unlimited subagent recursion depth/width, 5 new LLM providers, expanded image gen, QQBot gateway, dashboard themes &amp; plugins, GPT-5.5 support.</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https://github.com/NousResearch/hermes-agent/blob/main/RELEASE_v0.11.0.md</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v0.10.0 (v2026.4.16) - Apr 16 — The "Tool Gateway" release; paid Nous Portal subscribers can now use web search and other gateway tools</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5"/>
              </a:rPr>
              <a:t>https://github.com/NousResearch/hermes-agent/blob/main/RELEASE_v0.10.0.md</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02" name="Google Shape;102;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315388" y="1409125"/>
            <a:ext cx="1097550" cy="1323974"/>
          </a:xfrm>
          <a:prstGeom prst="rect">
            <a:avLst/>
          </a:prstGeom>
          <a:noFill/>
          <a:ln>
            <a:noFill/>
          </a:ln>
        </p:spPr>
      </p:pic>
      <p:pic>
        <p:nvPicPr>
          <p:cNvPr id="103" name="Google Shape;103;p2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021074" y="2955153"/>
            <a:ext cx="3686176" cy="631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1"/>
          <p:cNvSpPr txBox="1"/>
          <p:nvPr/>
        </p:nvSpPr>
        <p:spPr>
          <a:xfrm>
            <a:off x="81775" y="67675"/>
            <a:ext cx="5430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5 advanced open-source tools for Claude Code</a:t>
            </a:r>
            <a:endParaRPr sz="2000" b="1">
              <a:solidFill>
                <a:schemeClr val="dk1"/>
              </a:solidFill>
              <a:latin typeface="Calibri"/>
              <a:ea typeface="Calibri"/>
              <a:cs typeface="Calibri"/>
              <a:sym typeface="Calibri"/>
            </a:endParaRPr>
          </a:p>
        </p:txBody>
      </p:sp>
      <p:sp>
        <p:nvSpPr>
          <p:cNvPr id="109" name="Google Shape;109;p21"/>
          <p:cNvSpPr txBox="1"/>
          <p:nvPr/>
        </p:nvSpPr>
        <p:spPr>
          <a:xfrm>
            <a:off x="165544" y="563202"/>
            <a:ext cx="44883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5 advanced open-source tools for Claude Code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https://www.youtube.com/watch?v=QK0B1mbJ-VU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CLI Anything - builds  CLI form any tool or repo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 Compound Engineering (Every Inc Plugin) - follows a six-step cycle: Brainstorming, Planning, Doing, Reviewing, Compounding, and Repeating. It uses an adversarial agent to filter through dozens of potential project improvements to find the most effective one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 Product Management Skills Plugin - a suite of eight plugins - product strategy, market research, and "Growth Loops." Generate marketing ideas and growth strategies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 Planning with Files (Manus-style Pattern) - addresses "goal drift" and context loss in AI agents by using a persistent three-file memory pattern (Progress Log, Findings/Research, Session Log). The agent is instructed to save its findings every two operations, preventing it from repeating failures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5. Oh My Claude Code - Agent Teams - allows multiple agents to communicate and share information in real-time; Autopilot Mode:  Enables fully autonomous execution where specialized agents (e.g., one for back-end, one for front-end) coordinate on a single feature</a:t>
            </a:r>
            <a:endParaRPr sz="1200">
              <a:solidFill>
                <a:schemeClr val="dk1"/>
              </a:solidFill>
              <a:latin typeface="Calibri"/>
              <a:ea typeface="Calibri"/>
              <a:cs typeface="Calibri"/>
              <a:sym typeface="Calibri"/>
            </a:endParaRPr>
          </a:p>
        </p:txBody>
      </p:sp>
      <p:pic>
        <p:nvPicPr>
          <p:cNvPr id="110" name="Google Shape;110;p2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848994" y="563194"/>
            <a:ext cx="1279350" cy="1651100"/>
          </a:xfrm>
          <a:prstGeom prst="rect">
            <a:avLst/>
          </a:prstGeom>
          <a:noFill/>
          <a:ln w="9525" cap="flat" cmpd="sng">
            <a:solidFill>
              <a:srgbClr val="FF0000"/>
            </a:solidFill>
            <a:prstDash val="solid"/>
            <a:round/>
            <a:headEnd type="none" w="sm" len="sm"/>
            <a:tailEnd type="none" w="sm" len="sm"/>
          </a:ln>
        </p:spPr>
      </p:pic>
      <p:sp>
        <p:nvSpPr>
          <p:cNvPr id="111" name="Google Shape;111;p21"/>
          <p:cNvSpPr txBox="1"/>
          <p:nvPr/>
        </p:nvSpPr>
        <p:spPr>
          <a:xfrm>
            <a:off x="4992750" y="3303775"/>
            <a:ext cx="39204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News: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Released </a:t>
            </a:r>
            <a:r>
              <a:rPr lang="en" sz="1200" b="1">
                <a:solidFill>
                  <a:srgbClr val="FF0000"/>
                </a:solidFill>
                <a:latin typeface="Calibri"/>
                <a:ea typeface="Calibri"/>
                <a:cs typeface="Calibri"/>
                <a:sym typeface="Calibri"/>
              </a:rPr>
              <a:t>Live Artifacts in Cowork</a:t>
            </a:r>
            <a:r>
              <a:rPr lang="en" sz="1200">
                <a:solidFill>
                  <a:schemeClr val="dk1"/>
                </a:solidFill>
                <a:latin typeface="Calibri"/>
                <a:ea typeface="Calibri"/>
                <a:cs typeface="Calibri"/>
                <a:sym typeface="Calibri"/>
              </a:rPr>
              <a:t> for auto-updating dashboards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Added new </a:t>
            </a:r>
            <a:r>
              <a:rPr lang="en" sz="1200" b="1">
                <a:solidFill>
                  <a:srgbClr val="FF0000"/>
                </a:solidFill>
                <a:latin typeface="Calibri"/>
                <a:ea typeface="Calibri"/>
                <a:cs typeface="Calibri"/>
                <a:sym typeface="Calibri"/>
              </a:rPr>
              <a:t>connectors (AllTrails, Instacart, Audible, TripAdvisor, TurboTax, etc.)</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is now available </a:t>
            </a:r>
            <a:r>
              <a:rPr lang="en" sz="1200" b="1">
                <a:solidFill>
                  <a:srgbClr val="FF0000"/>
                </a:solidFill>
                <a:latin typeface="Calibri"/>
                <a:ea typeface="Calibri"/>
                <a:cs typeface="Calibri"/>
                <a:sym typeface="Calibri"/>
              </a:rPr>
              <a:t>inside Microsoft Word</a:t>
            </a:r>
            <a:r>
              <a:rPr lang="en" sz="1200">
                <a:solidFill>
                  <a:schemeClr val="dk1"/>
                </a:solidFill>
                <a:latin typeface="Calibri"/>
                <a:ea typeface="Calibri"/>
                <a:cs typeface="Calibri"/>
                <a:sym typeface="Calibri"/>
              </a:rPr>
              <a:t> for Pro/Max users</a:t>
            </a:r>
            <a:endParaRPr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p:nvPr/>
        </p:nvSpPr>
        <p:spPr>
          <a:xfrm>
            <a:off x="81775" y="67675"/>
            <a:ext cx="5430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17" name="Google Shape;117;p22"/>
          <p:cNvSpPr txBox="1"/>
          <p:nvPr/>
        </p:nvSpPr>
        <p:spPr>
          <a:xfrm>
            <a:off x="167575" y="639850"/>
            <a:ext cx="55035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News: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Released </a:t>
            </a:r>
            <a:r>
              <a:rPr lang="en" sz="1200" b="1">
                <a:solidFill>
                  <a:srgbClr val="FF0000"/>
                </a:solidFill>
                <a:latin typeface="Calibri"/>
                <a:ea typeface="Calibri"/>
                <a:cs typeface="Calibri"/>
                <a:sym typeface="Calibri"/>
              </a:rPr>
              <a:t>Live Artifacts in Cowork</a:t>
            </a:r>
            <a:r>
              <a:rPr lang="en" sz="1200">
                <a:solidFill>
                  <a:schemeClr val="dk1"/>
                </a:solidFill>
                <a:latin typeface="Calibri"/>
                <a:ea typeface="Calibri"/>
                <a:cs typeface="Calibri"/>
                <a:sym typeface="Calibri"/>
              </a:rPr>
              <a:t> for auto-updating dashboards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Added new </a:t>
            </a:r>
            <a:r>
              <a:rPr lang="en" sz="1200" b="1">
                <a:solidFill>
                  <a:srgbClr val="FF0000"/>
                </a:solidFill>
                <a:latin typeface="Calibri"/>
                <a:ea typeface="Calibri"/>
                <a:cs typeface="Calibri"/>
                <a:sym typeface="Calibri"/>
              </a:rPr>
              <a:t>connectors (AllTrails, Instacart, Audible, TripAdvisor, TurboTax, etc.)</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is now available </a:t>
            </a:r>
            <a:r>
              <a:rPr lang="en" sz="1200" b="1">
                <a:solidFill>
                  <a:srgbClr val="FF0000"/>
                </a:solidFill>
                <a:latin typeface="Calibri"/>
                <a:ea typeface="Calibri"/>
                <a:cs typeface="Calibri"/>
                <a:sym typeface="Calibri"/>
              </a:rPr>
              <a:t>inside Microsoft Word</a:t>
            </a:r>
            <a:r>
              <a:rPr lang="en" sz="1200">
                <a:solidFill>
                  <a:schemeClr val="dk1"/>
                </a:solidFill>
                <a:latin typeface="Calibri"/>
                <a:ea typeface="Calibri"/>
                <a:cs typeface="Calibri"/>
                <a:sym typeface="Calibri"/>
              </a:rPr>
              <a:t> for Pro/Max users</a:t>
            </a:r>
            <a:endParaRPr sz="1200">
              <a:solidFill>
                <a:schemeClr val="dk1"/>
              </a:solidFill>
              <a:latin typeface="Calibri"/>
              <a:ea typeface="Calibri"/>
              <a:cs typeface="Calibri"/>
              <a:sym typeface="Calibri"/>
            </a:endParaRPr>
          </a:p>
        </p:txBody>
      </p:sp>
      <p:sp>
        <p:nvSpPr>
          <p:cNvPr id="118" name="Google Shape;118;p22"/>
          <p:cNvSpPr txBox="1"/>
          <p:nvPr/>
        </p:nvSpPr>
        <p:spPr>
          <a:xfrm>
            <a:off x="167575" y="1449965"/>
            <a:ext cx="55035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DeepMind's Deep Research Max</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Autonomous research agent built on Gemini 3.1 Pro</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solidFill>
                  <a:schemeClr val="dk1"/>
                </a:solidFill>
                <a:latin typeface="Calibri"/>
                <a:ea typeface="Calibri"/>
                <a:cs typeface="Calibri"/>
                <a:sym typeface="Calibri"/>
              </a:rPr>
              <a:t>Asynchronous, background workflows, it runs around 160 search queries per task, iteratively reasoning and refining before delivering a fully cited report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solidFill>
                  <a:schemeClr val="dk1"/>
                </a:solidFill>
                <a:latin typeface="Calibri"/>
                <a:ea typeface="Calibri"/>
                <a:cs typeface="Calibri"/>
                <a:sym typeface="Calibri"/>
              </a:rPr>
              <a:t>supports MCP and web search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solidFill>
                  <a:schemeClr val="dk1"/>
                </a:solidFill>
                <a:latin typeface="Calibri"/>
                <a:ea typeface="Calibri"/>
                <a:cs typeface="Calibri"/>
                <a:sym typeface="Calibri"/>
              </a:rPr>
              <a:t>Multimodal inputs - text, PDFs, CSVs, images, audio, and video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solidFill>
                  <a:schemeClr val="dk1"/>
                </a:solidFill>
                <a:latin typeface="Calibri"/>
                <a:ea typeface="Calibri"/>
                <a:cs typeface="Calibri"/>
                <a:sym typeface="Calibri"/>
              </a:rPr>
              <a:t>Natively generates charts and infographics inline</a:t>
            </a:r>
            <a:endParaRPr sz="1200">
              <a:solidFill>
                <a:schemeClr val="dk1"/>
              </a:solidFill>
              <a:latin typeface="Calibri"/>
              <a:ea typeface="Calibri"/>
              <a:cs typeface="Calibri"/>
              <a:sym typeface="Calibri"/>
            </a:endParaRPr>
          </a:p>
        </p:txBody>
      </p:sp>
      <p:sp>
        <p:nvSpPr>
          <p:cNvPr id="119" name="Google Shape;119;p22"/>
          <p:cNvSpPr txBox="1"/>
          <p:nvPr/>
        </p:nvSpPr>
        <p:spPr>
          <a:xfrm>
            <a:off x="167575" y="2814181"/>
            <a:ext cx="55035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Warp added universal agent support (Claude Code, Codex, OpenCode in one terminal)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Microsoft Copilot gained agentic capabilities in Word, Excel, and PowerPoint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X rolled out Custom Timelines powered by Grok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HeyGen launched HyperFrames for AI-generated animations via Claude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Ideogram added custom model training on your own images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Four robots finished a half marathon in China in under an hour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xAI Grok Text-to-Speech: API at 5% error rate vs 11 Labs' 12%, priced at $0.10/hour supporting 25 languages, targeting the voice AI market.</a:t>
            </a: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3"/>
          <p:cNvSpPr txBox="1"/>
          <p:nvPr/>
        </p:nvSpPr>
        <p:spPr>
          <a:xfrm>
            <a:off x="81775" y="67675"/>
            <a:ext cx="4404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OpenAI GPT Rosalind &amp; GPT-5.4 Cyber </a:t>
            </a:r>
            <a:endParaRPr sz="2000" b="1">
              <a:solidFill>
                <a:schemeClr val="dk1"/>
              </a:solidFill>
              <a:latin typeface="Calibri"/>
              <a:ea typeface="Calibri"/>
              <a:cs typeface="Calibri"/>
              <a:sym typeface="Calibri"/>
            </a:endParaRPr>
          </a:p>
        </p:txBody>
      </p:sp>
      <p:sp>
        <p:nvSpPr>
          <p:cNvPr id="125" name="Google Shape;125;p23"/>
          <p:cNvSpPr txBox="1"/>
          <p:nvPr/>
        </p:nvSpPr>
        <p:spPr>
          <a:xfrm>
            <a:off x="802200" y="1082864"/>
            <a:ext cx="44046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GPT Rosalind &amp; GPT-5.4 Cyber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OpenAI GPT Rosalind is a new life sciences model built for biology, drug discovery, genomics, and protein engineering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connects to over 50 scientific databases, outperforms GPT-5.4 on bioinformatics tasks, and is currently available only to select organizations like Moderna and Amgen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OpenAI GPT-5.4 Cyber focuses on defensive security, featuring binary code analysis for vulnerability detection without needing source code, with relaxed restrictions for verified security professionals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OpenAI also updated its Agents SDK with a model-native harness, secure sandbox, and memory management to simplify building autonomous 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https://www.youtube.com/watch?v=CFBIg4_z99w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26" name="Google Shape;126;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549610" y="1894664"/>
            <a:ext cx="1745450" cy="9807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4"/>
          <p:cNvSpPr txBox="1"/>
          <p:nvPr/>
        </p:nvSpPr>
        <p:spPr>
          <a:xfrm>
            <a:off x="81775" y="67675"/>
            <a:ext cx="52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Engineers are steering agents - not writing code</a:t>
            </a:r>
            <a:endParaRPr sz="2000" b="1">
              <a:solidFill>
                <a:schemeClr val="dk1"/>
              </a:solidFill>
              <a:latin typeface="Calibri"/>
              <a:ea typeface="Calibri"/>
              <a:cs typeface="Calibri"/>
              <a:sym typeface="Calibri"/>
            </a:endParaRPr>
          </a:p>
        </p:txBody>
      </p:sp>
      <p:sp>
        <p:nvSpPr>
          <p:cNvPr id="132" name="Google Shape;132;p24"/>
          <p:cNvSpPr txBox="1"/>
          <p:nvPr/>
        </p:nvSpPr>
        <p:spPr>
          <a:xfrm>
            <a:off x="483969" y="945722"/>
            <a:ext cx="4404600" cy="343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Engineers are steering agents - not writing code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Ryan Laapo, a member of technical staff at OpenAI, argues that software engineering has fundamentally shifted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800" b="1">
                <a:solidFill>
                  <a:srgbClr val="3C78D8"/>
                </a:solidFill>
                <a:latin typeface="Calibri"/>
                <a:ea typeface="Calibri"/>
                <a:cs typeface="Calibri"/>
                <a:sym typeface="Calibri"/>
              </a:rPr>
              <a:t>Code is now free and abundant,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generated by AI agents rather than written by hand</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scarce resources today are human time, attention, and model context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Engineers should act as staff-level orchestrators, steering agents rather than writing code themselves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The key to making this work is "harness engineering" - structuring codebases, documentation, guardrails, lint rules, and review agents so AI can do the full job reliably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Success depends on documenting non-functional requirements, eliminating slop systematically, and </a:t>
            </a:r>
            <a:r>
              <a:rPr lang="en" sz="1200" b="1">
                <a:solidFill>
                  <a:srgbClr val="FF0000"/>
                </a:solidFill>
                <a:latin typeface="Calibri"/>
                <a:ea typeface="Calibri"/>
                <a:cs typeface="Calibri"/>
                <a:sym typeface="Calibri"/>
              </a:rPr>
              <a:t>progressively removing humans from the loop</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The goal is a fully autonomous pipeline driven by a token budget and clear priorities</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https://www.youtube.com/watch?v=am_oeAoUhew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33" name="Google Shape;133;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096744" y="1235512"/>
            <a:ext cx="3634100" cy="20247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5"/>
          <p:cNvSpPr txBox="1"/>
          <p:nvPr/>
        </p:nvSpPr>
        <p:spPr>
          <a:xfrm>
            <a:off x="81775" y="67675"/>
            <a:ext cx="5447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Simula - Generate Training Data for AI</a:t>
            </a:r>
            <a:endParaRPr sz="2000" b="1">
              <a:solidFill>
                <a:schemeClr val="dk1"/>
              </a:solidFill>
              <a:latin typeface="Calibri"/>
              <a:ea typeface="Calibri"/>
              <a:cs typeface="Calibri"/>
              <a:sym typeface="Calibri"/>
            </a:endParaRPr>
          </a:p>
        </p:txBody>
      </p:sp>
      <p:sp>
        <p:nvSpPr>
          <p:cNvPr id="139" name="Google Shape;139;p25"/>
          <p:cNvSpPr txBox="1"/>
          <p:nvPr/>
        </p:nvSpPr>
        <p:spPr>
          <a:xfrm>
            <a:off x="550889" y="1024740"/>
            <a:ext cx="4404600" cy="325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Simula - Generate Training Data for AI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Simula builds datasets from first principles using reasoning and mechanism design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controls four key properties independently: </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coverage (what topics to include), </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diversity (variety of examples), </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complexity (difficulty level), </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quality (via a dual-critic verification step)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approach consistently outperforms simpler methods and requires fewer data samples to achieve better results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Simula already powers Gemini safety classifiers, ShieldGemma, MedGemma, Android scam call detection, and Google Messages spam filtering</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https://research.google/blog/designing-synthetic-datasets-for-the-real-world-mechanism-design-and-reasoning-from-first-principle</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https://research.google/pubs/orchestrating-synthetic-datasets-with-reasoning/</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https://www.marktechpost.com/2026/04/21/google-introduces-simula-a-reasoning-first-framework-for-generating-controllable-scalable-synthetic-datasets-across-specialized-ai-domains/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40" name="Google Shape;140;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202850" y="1701387"/>
            <a:ext cx="3106949" cy="1897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6"/>
          <p:cNvSpPr txBox="1"/>
          <p:nvPr/>
        </p:nvSpPr>
        <p:spPr>
          <a:xfrm>
            <a:off x="81775" y="67675"/>
            <a:ext cx="4404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46" name="Google Shape;146;p26"/>
          <p:cNvSpPr txBox="1"/>
          <p:nvPr/>
        </p:nvSpPr>
        <p:spPr>
          <a:xfrm>
            <a:off x="399450" y="1045313"/>
            <a:ext cx="44046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 Not Enough Compute</a:t>
            </a:r>
            <a:endParaRPr sz="1200" b="1">
              <a:solidFill>
                <a:srgbClr val="FF0000"/>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xAI - compute-rich, demand-poor - just partnered with Cursor</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Google - rich in both, selling TPUs while serving Gemini</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OpenAI - high demand, adequate compute</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Anthropic - demand-rich, compute-starved</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economics for Anthropic: Anthropic can't raise prices (users would flee to Codex) and can't serve demand, so they're using quota manipulation as a stealth price hike.</a:t>
            </a:r>
            <a:endParaRPr sz="1200">
              <a:solidFill>
                <a:schemeClr val="dk1"/>
              </a:solidFill>
              <a:latin typeface="Calibri"/>
              <a:ea typeface="Calibri"/>
              <a:cs typeface="Calibri"/>
              <a:sym typeface="Calibri"/>
            </a:endParaRPr>
          </a:p>
        </p:txBody>
      </p:sp>
      <p:sp>
        <p:nvSpPr>
          <p:cNvPr id="147" name="Google Shape;147;p26"/>
          <p:cNvSpPr txBox="1"/>
          <p:nvPr/>
        </p:nvSpPr>
        <p:spPr>
          <a:xfrm>
            <a:off x="399450" y="2941350"/>
            <a:ext cx="4404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SpaceX partnered with Cursor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Elon Musk's rocket and space company announced a partnership with Cursor AI coding tool made by startup Anysphere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deal gives SpaceX the option to either acquire Cursor later in 2026 for $60 Bln, or pay $10 Bln for the collaborative work if no acquisition takes place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Cursor gains access to SpaceX's massive Colossus supercomputer</a:t>
            </a:r>
            <a:endParaRPr sz="1200" b="1">
              <a:solidFill>
                <a:srgbClr val="3C78D8"/>
              </a:solidFill>
              <a:latin typeface="Calibri"/>
              <a:ea typeface="Calibri"/>
              <a:cs typeface="Calibri"/>
              <a:sym typeface="Calibri"/>
            </a:endParaRPr>
          </a:p>
        </p:txBody>
      </p:sp>
      <p:pic>
        <p:nvPicPr>
          <p:cNvPr id="148" name="Google Shape;148;p2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168400" y="3203985"/>
            <a:ext cx="3124025" cy="786025"/>
          </a:xfrm>
          <a:prstGeom prst="rect">
            <a:avLst/>
          </a:prstGeom>
          <a:noFill/>
          <a:ln w="9525" cap="flat" cmpd="sng">
            <a:solidFill>
              <a:srgbClr val="FF0000"/>
            </a:solidFill>
            <a:prstDash val="solid"/>
            <a:round/>
            <a:headEnd type="none" w="sm" len="sm"/>
            <a:tailEnd type="none" w="sm" len="sm"/>
          </a:ln>
        </p:spPr>
      </p:pic>
      <p:pic>
        <p:nvPicPr>
          <p:cNvPr id="149" name="Google Shape;149;p2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168400" y="987213"/>
            <a:ext cx="2820399" cy="16123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7"/>
          <p:cNvSpPr txBox="1"/>
          <p:nvPr/>
        </p:nvSpPr>
        <p:spPr>
          <a:xfrm>
            <a:off x="81775" y="67675"/>
            <a:ext cx="4404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55" name="Google Shape;155;p27"/>
          <p:cNvSpPr txBox="1"/>
          <p:nvPr/>
        </p:nvSpPr>
        <p:spPr>
          <a:xfrm>
            <a:off x="81775" y="496775"/>
            <a:ext cx="44046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Jensen Huang about Nvidia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Nvidia's moat isn't easily commoditized because transforming electrons into valuable tokens requires deep, ongoing engineering across a five-layer AI stack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frames Nvidia's role as doing "as much as necessary, as little as possible," partnering broadly while owning the hardest parts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advantages stem from scale, supply chain commitments, a rich CUDA ecosystem, massive installed base, and cross-cloud availability, giving it the </a:t>
            </a:r>
            <a:r>
              <a:rPr lang="en" sz="1200" b="1">
                <a:solidFill>
                  <a:srgbClr val="FF0000"/>
                </a:solidFill>
                <a:latin typeface="Calibri"/>
                <a:ea typeface="Calibri"/>
                <a:cs typeface="Calibri"/>
                <a:sym typeface="Calibri"/>
              </a:rPr>
              <a:t>best performance-per-dollar and performance-per-watt.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 competition, Huang dismisses TPUs as narrower, noting Nvidia's programmability enables new algorithms like MoE and attention variants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admits missing early opportunities to invest in Anthropic but won't repeat that mistake with OpenAI. Bottlenecks like CoWoS, HBM, and EUV are solvable within two to three years given demand signals; </a:t>
            </a:r>
            <a:r>
              <a:rPr lang="en" sz="1200" b="1">
                <a:solidFill>
                  <a:srgbClr val="3C78D8"/>
                </a:solidFill>
                <a:latin typeface="Calibri"/>
                <a:ea typeface="Calibri"/>
                <a:cs typeface="Calibri"/>
                <a:sym typeface="Calibri"/>
              </a:rPr>
              <a:t>energy and labor shortages worry him more</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Huang pushes back hard against export controls on China, arguing </a:t>
            </a:r>
            <a:r>
              <a:rPr lang="en" sz="1200" b="1">
                <a:solidFill>
                  <a:srgbClr val="FF0000"/>
                </a:solidFill>
                <a:latin typeface="Calibri"/>
                <a:ea typeface="Calibri"/>
                <a:cs typeface="Calibri"/>
                <a:sym typeface="Calibri"/>
              </a:rPr>
              <a:t>China already has abundant energy, chips, and researchers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Conceding that market, he contends, hands the second-largest ecosystem to Huawei and fractures the American tech stack globally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 prefers dialogue and competition over isolation, rejecting absolutist framings of AI as equivalent to nuclear weapons.</a:t>
            </a:r>
            <a:endParaRPr sz="1200" b="1">
              <a:solidFill>
                <a:srgbClr val="FF0000"/>
              </a:solidFill>
              <a:latin typeface="Calibri"/>
              <a:ea typeface="Calibri"/>
              <a:cs typeface="Calibri"/>
              <a:sym typeface="Calibri"/>
            </a:endParaRPr>
          </a:p>
        </p:txBody>
      </p:sp>
      <p:pic>
        <p:nvPicPr>
          <p:cNvPr id="156" name="Google Shape;156;p2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764275" y="394075"/>
            <a:ext cx="1468075" cy="1082751"/>
          </a:xfrm>
          <a:prstGeom prst="rect">
            <a:avLst/>
          </a:prstGeom>
          <a:noFill/>
          <a:ln w="9525" cap="flat" cmpd="sng">
            <a:solidFill>
              <a:srgbClr val="FF0000"/>
            </a:solidFill>
            <a:prstDash val="solid"/>
            <a:round/>
            <a:headEnd type="none" w="sm" len="sm"/>
            <a:tailEnd type="none" w="sm" len="sm"/>
          </a:ln>
        </p:spPr>
      </p:pic>
      <p:sp>
        <p:nvSpPr>
          <p:cNvPr id="157" name="Google Shape;157;p27"/>
          <p:cNvSpPr txBox="1"/>
          <p:nvPr/>
        </p:nvSpPr>
        <p:spPr>
          <a:xfrm>
            <a:off x="4681791" y="2629651"/>
            <a:ext cx="44046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Abacus AI’s "Agent Swarms,"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 hierarchical multi-agent architecture</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a:t>
            </a:r>
            <a:r>
              <a:rPr lang="en" sz="1200" b="1">
                <a:solidFill>
                  <a:srgbClr val="FF0000"/>
                </a:solidFill>
                <a:latin typeface="Calibri"/>
                <a:ea typeface="Calibri"/>
                <a:cs typeface="Calibri"/>
                <a:sym typeface="Calibri"/>
              </a:rPr>
              <a:t>"master agent" </a:t>
            </a:r>
            <a:r>
              <a:rPr lang="en" sz="1200">
                <a:solidFill>
                  <a:schemeClr val="dk1"/>
                </a:solidFill>
                <a:latin typeface="Calibri"/>
                <a:ea typeface="Calibri"/>
                <a:cs typeface="Calibri"/>
                <a:sym typeface="Calibri"/>
              </a:rPr>
              <a:t>decomposes complex prompts into subtasks, mapping dependencies and deploying specialized </a:t>
            </a:r>
            <a:r>
              <a:rPr lang="en" sz="1200" b="1">
                <a:solidFill>
                  <a:srgbClr val="FF0000"/>
                </a:solidFill>
                <a:latin typeface="Calibri"/>
                <a:ea typeface="Calibri"/>
                <a:cs typeface="Calibri"/>
                <a:sym typeface="Calibri"/>
              </a:rPr>
              <a:t>"worker agents" </a:t>
            </a:r>
            <a:r>
              <a:rPr lang="en" sz="1200">
                <a:solidFill>
                  <a:schemeClr val="dk1"/>
                </a:solidFill>
                <a:latin typeface="Calibri"/>
                <a:ea typeface="Calibri"/>
                <a:cs typeface="Calibri"/>
                <a:sym typeface="Calibri"/>
              </a:rPr>
              <a:t>to execute them in parallel or sequence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"intelligence emerging through coordination" rather than just larger single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Swarms build sophisticated products, including a supermarket management system, a Notion-like workspace, and a comprehensive HR platform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Beyond coding, the system excels at complex research, replacing traditional consulting by coordinating parallel investigations into board-ready presentations</a:t>
            </a:r>
            <a:endParaRPr sz="1200" b="1">
              <a:solidFill>
                <a:srgbClr val="FF0000"/>
              </a:solidFill>
              <a:latin typeface="Calibri"/>
              <a:ea typeface="Calibri"/>
              <a:cs typeface="Calibri"/>
              <a:sym typeface="Calibri"/>
            </a:endParaRPr>
          </a:p>
        </p:txBody>
      </p:sp>
      <p:pic>
        <p:nvPicPr>
          <p:cNvPr id="158" name="Google Shape;158;p2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7128891" y="1082951"/>
            <a:ext cx="1957500" cy="1466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8"/>
          <p:cNvSpPr txBox="1"/>
          <p:nvPr/>
        </p:nvSpPr>
        <p:spPr>
          <a:xfrm>
            <a:off x="4636750" y="67675"/>
            <a:ext cx="4404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consensus.app - Academic Search</a:t>
            </a:r>
            <a:endParaRPr sz="2000" b="1">
              <a:solidFill>
                <a:schemeClr val="dk1"/>
              </a:solidFill>
              <a:latin typeface="Calibri"/>
              <a:ea typeface="Calibri"/>
              <a:cs typeface="Calibri"/>
              <a:sym typeface="Calibri"/>
            </a:endParaRPr>
          </a:p>
        </p:txBody>
      </p:sp>
      <p:sp>
        <p:nvSpPr>
          <p:cNvPr id="164" name="Google Shape;164;p28"/>
          <p:cNvSpPr txBox="1"/>
          <p:nvPr/>
        </p:nvSpPr>
        <p:spPr>
          <a:xfrm>
            <a:off x="4594909" y="609083"/>
            <a:ext cx="4488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https://consensus.app</a:t>
            </a:r>
            <a:r>
              <a:rPr lang="en" sz="1200">
                <a:solidFill>
                  <a:schemeClr val="dk1"/>
                </a:solidFill>
                <a:latin typeface="Calibri"/>
                <a:ea typeface="Calibri"/>
                <a:cs typeface="Calibri"/>
                <a:sym typeface="Calibri"/>
              </a:rPr>
              <a:t> - is an </a:t>
            </a:r>
            <a:r>
              <a:rPr lang="en" sz="1200" b="1">
                <a:solidFill>
                  <a:srgbClr val="FF0000"/>
                </a:solidFill>
                <a:latin typeface="Calibri"/>
                <a:ea typeface="Calibri"/>
                <a:cs typeface="Calibri"/>
                <a:sym typeface="Calibri"/>
              </a:rPr>
              <a:t>AI-powered academic search engine </a:t>
            </a:r>
            <a:r>
              <a:rPr lang="en" sz="1200">
                <a:solidFill>
                  <a:schemeClr val="dk1"/>
                </a:solidFill>
                <a:latin typeface="Calibri"/>
                <a:ea typeface="Calibri"/>
                <a:cs typeface="Calibri"/>
                <a:sym typeface="Calibri"/>
              </a:rPr>
              <a:t>that </a:t>
            </a:r>
            <a:r>
              <a:rPr lang="en" sz="1200" b="1">
                <a:solidFill>
                  <a:srgbClr val="FF0000"/>
                </a:solidFill>
                <a:latin typeface="Calibri"/>
                <a:ea typeface="Calibri"/>
                <a:cs typeface="Calibri"/>
                <a:sym typeface="Calibri"/>
              </a:rPr>
              <a:t>searches over 220 Mln peer-reviewed research papers </a:t>
            </a:r>
            <a:r>
              <a:rPr lang="en" sz="1200">
                <a:solidFill>
                  <a:schemeClr val="dk1"/>
                </a:solidFill>
                <a:latin typeface="Calibri"/>
                <a:ea typeface="Calibri"/>
                <a:cs typeface="Calibri"/>
                <a:sym typeface="Calibri"/>
              </a:rPr>
              <a:t>to help users quickly find and understand scientific evidence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Unlike general AI tools, every answer it provides is </a:t>
            </a:r>
            <a:r>
              <a:rPr lang="en" sz="1200" b="1">
                <a:solidFill>
                  <a:srgbClr val="3C78D8"/>
                </a:solidFill>
                <a:latin typeface="Calibri"/>
                <a:ea typeface="Calibri"/>
                <a:cs typeface="Calibri"/>
                <a:sym typeface="Calibri"/>
              </a:rPr>
              <a:t>grounded in real studies with verifiable citations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Users can ask natural language or yes/no questions, and Consensus synthesizes findings across multiple papers into a clear summary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unique feature called the Consensus Meter visually shows how much the literature agrees or disagrees on a topic</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used by over 5 Mln researchers, students, and professionals worldwide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Consensus offers a free tier with limited searches and a paid Pro plan with deeper research capabilities</a:t>
            </a:r>
            <a:endParaRPr sz="1200">
              <a:solidFill>
                <a:schemeClr val="dk1"/>
              </a:solidFill>
              <a:latin typeface="Calibri"/>
              <a:ea typeface="Calibri"/>
              <a:cs typeface="Calibri"/>
              <a:sym typeface="Calibri"/>
            </a:endParaRPr>
          </a:p>
        </p:txBody>
      </p:sp>
      <p:sp>
        <p:nvSpPr>
          <p:cNvPr id="165" name="Google Shape;165;p28"/>
          <p:cNvSpPr txBox="1"/>
          <p:nvPr/>
        </p:nvSpPr>
        <p:spPr>
          <a:xfrm>
            <a:off x="46544" y="609083"/>
            <a:ext cx="44883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AI-attributed layoffs are projected to increase ninefold in 2026, hitting white-collar roles hardest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Companies are suppressing hiring.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Entry-level postings dropped 15%,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while AI-focused roles surged 340%</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Atlassian exemplifies the trend: laying off 10% while hiring 800 AI specialists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New models now outperform humans on desktop productivity tasks, accelerating the shift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takeaway for founders and professionals: integrate AI into your workflows now or risk being left behind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https://www.youtube.com/watch?v=xsWaPdvCmy4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66" name="Google Shape;166;p28"/>
          <p:cNvSpPr txBox="1"/>
          <p:nvPr/>
        </p:nvSpPr>
        <p:spPr>
          <a:xfrm>
            <a:off x="88400" y="67675"/>
            <a:ext cx="4404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AI-attributed layoffs x9 in 2026</a:t>
            </a:r>
            <a:endParaRPr sz="2000" b="1">
              <a:solidFill>
                <a:schemeClr val="dk1"/>
              </a:solidFill>
              <a:latin typeface="Calibri"/>
              <a:ea typeface="Calibri"/>
              <a:cs typeface="Calibri"/>
              <a:sym typeface="Calibri"/>
            </a:endParaRPr>
          </a:p>
        </p:txBody>
      </p:sp>
      <p:pic>
        <p:nvPicPr>
          <p:cNvPr id="167" name="Google Shape;167;p2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785587" y="3112550"/>
            <a:ext cx="2106924" cy="1850174"/>
          </a:xfrm>
          <a:prstGeom prst="rect">
            <a:avLst/>
          </a:prstGeom>
          <a:noFill/>
          <a:ln w="9525" cap="flat" cmpd="sng">
            <a:solidFill>
              <a:srgbClr val="FF0000"/>
            </a:solidFill>
            <a:prstDash val="solid"/>
            <a:round/>
            <a:headEnd type="none" w="sm" len="sm"/>
            <a:tailEnd type="none" w="sm" len="sm"/>
          </a:ln>
        </p:spPr>
      </p:pic>
      <p:pic>
        <p:nvPicPr>
          <p:cNvPr id="168" name="Google Shape;168;p2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267025" y="2971631"/>
            <a:ext cx="2047350" cy="1490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9"/>
          <p:cNvSpPr txBox="1"/>
          <p:nvPr/>
        </p:nvSpPr>
        <p:spPr>
          <a:xfrm>
            <a:off x="81774" y="67675"/>
            <a:ext cx="4429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CoWork Built 1.4 Mln Audience</a:t>
            </a:r>
            <a:endParaRPr sz="2000" b="1">
              <a:solidFill>
                <a:schemeClr val="dk1"/>
              </a:solidFill>
              <a:latin typeface="Calibri"/>
              <a:ea typeface="Calibri"/>
              <a:cs typeface="Calibri"/>
              <a:sym typeface="Calibri"/>
            </a:endParaRPr>
          </a:p>
        </p:txBody>
      </p:sp>
      <p:sp>
        <p:nvSpPr>
          <p:cNvPr id="174" name="Google Shape;174;p29"/>
          <p:cNvSpPr txBox="1"/>
          <p:nvPr/>
        </p:nvSpPr>
        <p:spPr>
          <a:xfrm>
            <a:off x="147375" y="580175"/>
            <a:ext cx="43641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 CoWork Built my 1.4 Mln Audience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https://www.youtube.com/watch?v=oYlA8dtC9WI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Sabrina Rammanov uses </a:t>
            </a:r>
            <a:r>
              <a:rPr lang="en" sz="1200" b="1">
                <a:solidFill>
                  <a:srgbClr val="FF0000"/>
                </a:solidFill>
                <a:latin typeface="Calibri"/>
                <a:ea typeface="Calibri"/>
                <a:cs typeface="Calibri"/>
                <a:sym typeface="Calibri"/>
              </a:rPr>
              <a:t>Claude Co-work and Blotato </a:t>
            </a:r>
            <a:r>
              <a:rPr lang="en" sz="1200">
                <a:solidFill>
                  <a:schemeClr val="dk1"/>
                </a:solidFill>
                <a:latin typeface="Calibri"/>
                <a:ea typeface="Calibri"/>
                <a:cs typeface="Calibri"/>
                <a:sym typeface="Calibri"/>
              </a:rPr>
              <a:t>to manage 250 pieces of content per week without a team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Blotato was founded by Sabrina, it is all-in-one AI content engine</a:t>
            </a:r>
            <a:br>
              <a:rPr lang="en" sz="1200" b="1">
                <a:solidFill>
                  <a:srgbClr val="FF0000"/>
                </a:solidFill>
                <a:latin typeface="Calibri"/>
                <a:ea typeface="Calibri"/>
                <a:cs typeface="Calibri"/>
                <a:sym typeface="Calibri"/>
              </a:rPr>
            </a:br>
            <a:r>
              <a:rPr lang="en" sz="1200" b="1" u="sng">
                <a:solidFill>
                  <a:schemeClr val="hlink"/>
                </a:solidFill>
                <a:latin typeface="Calibri"/>
                <a:ea typeface="Calibri"/>
                <a:cs typeface="Calibri"/>
                <a:sym typeface="Calibri"/>
                <a:hlinkClick r:id="rId4"/>
              </a:rPr>
              <a:t>https://www.blotato.com</a:t>
            </a:r>
            <a:r>
              <a:rPr lang="en" sz="1200" b="1">
                <a:solidFill>
                  <a:srgbClr val="FF0000"/>
                </a:solidFill>
                <a:latin typeface="Calibri"/>
                <a:ea typeface="Calibri"/>
                <a:cs typeface="Calibri"/>
                <a:sym typeface="Calibri"/>
              </a:rPr>
              <a:t>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Sabrina uses a prompt to have Claude interview her about content pillars, target audience, and preferred tone. She provides writing samples until Claude is "95% confident" it can replicate her "voice"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She created skills for writing content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She uses Claude’s ability to use local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Generating Visuals and Infographics using a custom connector for her tool Blotato - generating whiteboard-style infographics and other visuals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Sabrina shows how to schedule posts to multiple platforms (LinkedIn, Facebook, X) entirely through Claude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She still manually reviews every post to ensure brand integrity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She recommends ending every session by telling Claude to "update the skill" based on the feedback given during that conversation to refine the AI's performance over time </a:t>
            </a:r>
            <a:endParaRPr sz="1200">
              <a:solidFill>
                <a:schemeClr val="dk1"/>
              </a:solidFill>
              <a:latin typeface="Calibri"/>
              <a:ea typeface="Calibri"/>
              <a:cs typeface="Calibri"/>
              <a:sym typeface="Calibri"/>
            </a:endParaRPr>
          </a:p>
        </p:txBody>
      </p:sp>
      <p:pic>
        <p:nvPicPr>
          <p:cNvPr id="175" name="Google Shape;175;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10625" y="580175"/>
            <a:ext cx="2173399" cy="21297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0"/>
          <p:cNvSpPr txBox="1"/>
          <p:nvPr/>
        </p:nvSpPr>
        <p:spPr>
          <a:xfrm>
            <a:off x="81774" y="67675"/>
            <a:ext cx="4429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MLOps model lifecycle management</a:t>
            </a:r>
            <a:endParaRPr sz="2000" b="1">
              <a:solidFill>
                <a:schemeClr val="dk1"/>
              </a:solidFill>
              <a:latin typeface="Calibri"/>
              <a:ea typeface="Calibri"/>
              <a:cs typeface="Calibri"/>
              <a:sym typeface="Calibri"/>
            </a:endParaRPr>
          </a:p>
        </p:txBody>
      </p:sp>
      <p:sp>
        <p:nvSpPr>
          <p:cNvPr id="181" name="Google Shape;181;p30"/>
          <p:cNvSpPr txBox="1"/>
          <p:nvPr/>
        </p:nvSpPr>
        <p:spPr>
          <a:xfrm>
            <a:off x="114625" y="2086545"/>
            <a:ext cx="43641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MLflow is an open-source AI engineering platform </a:t>
            </a:r>
            <a:r>
              <a:rPr lang="en" sz="1200">
                <a:solidFill>
                  <a:schemeClr val="dk1"/>
                </a:solidFill>
                <a:latin typeface="Calibri"/>
                <a:ea typeface="Calibri"/>
                <a:cs typeface="Calibri"/>
                <a:sym typeface="Calibri"/>
              </a:rPr>
              <a:t>used by thousands of enterprises to manage the full ML lifecycle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provides experiment tracking - logging parameters, metrics, and model artifacts across training runs so teams can compare results and reproduce any past experiment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Model Registry acts as a governed, version-controlled store where models move through staging, production, and archived states with full audit trails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MLflow supports automated deployment to REST APIs, cloud platforms like AWS SageMaker, Azure ML, and Google Vertex AI, and edge devices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integrates with frameworks including PyTorch, HuggingFace, and LangChain, and supports LLM and agent tracing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Being framework-agnostic, self-hostable, and cloud-neutral makes it ideal for regulated, multi-cloud enterprise environments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https://mlflow.org/docs/latest/ml/</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82" name="Google Shape;182;p30"/>
          <p:cNvPicPr preferRelativeResize="0"/>
          <p:nvPr/>
        </p:nvPicPr>
        <p:blipFill>
          <a:blip r:embed="rId4">
            <a:alphaModFix/>
          </a:blip>
          <a:stretch>
            <a:fillRect/>
          </a:stretch>
        </p:blipFill>
        <p:spPr>
          <a:xfrm>
            <a:off x="114624" y="1049813"/>
            <a:ext cx="1038225" cy="381000"/>
          </a:xfrm>
          <a:prstGeom prst="rect">
            <a:avLst/>
          </a:prstGeom>
          <a:noFill/>
          <a:ln w="9525" cap="flat" cmpd="sng">
            <a:solidFill>
              <a:srgbClr val="FF0000"/>
            </a:solidFill>
            <a:prstDash val="solid"/>
            <a:round/>
            <a:headEnd type="none" w="sm" len="sm"/>
            <a:tailEnd type="none" w="sm" len="sm"/>
          </a:ln>
        </p:spPr>
      </p:pic>
      <p:sp>
        <p:nvSpPr>
          <p:cNvPr id="183" name="Google Shape;183;p30"/>
          <p:cNvSpPr txBox="1"/>
          <p:nvPr/>
        </p:nvSpPr>
        <p:spPr>
          <a:xfrm>
            <a:off x="4663975" y="1956151"/>
            <a:ext cx="43641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Weights &amp; Biases (W&amp;B) is an AI developer platform trusted by thousands of companies including OpenAI and NVIDIA </a:t>
            </a:r>
            <a:r>
              <a:rPr lang="en" sz="1200">
                <a:solidFill>
                  <a:schemeClr val="dk1"/>
                </a:solidFill>
                <a:latin typeface="Calibri"/>
                <a:ea typeface="Calibri"/>
                <a:cs typeface="Calibri"/>
                <a:sym typeface="Calibri"/>
              </a:rPr>
              <a:t>for building, training, evaluating, and monitoring ML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core product tracks experiments in real time with rich, interactive dashboards, making it easy for distributed teams to collaborate and compare results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W&amp;B Weave provides deep observability for LLM applications and autonomous agents -  tracing every call, token, and tool invocation.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Model Registry governs versioning, lineage, and handoff across teams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enterprise use, W&amp;B supports SaaS, on-premise, and hybrid deployments with SOC 2 compliance, SSO, customer-managed encryption, custom roles, audit logs, and HIPAA-compliant options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integrates with all major frameworks, clouds, and CI/CD pipelines.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https://wandb.ai/site/for-enterprise/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84" name="Google Shape;184;p3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63975" y="1168175"/>
            <a:ext cx="1497024" cy="381000"/>
          </a:xfrm>
          <a:prstGeom prst="rect">
            <a:avLst/>
          </a:prstGeom>
          <a:noFill/>
          <a:ln w="9525" cap="flat" cmpd="sng">
            <a:solidFill>
              <a:srgbClr val="FF0000"/>
            </a:solidFill>
            <a:prstDash val="solid"/>
            <a:round/>
            <a:headEnd type="none" w="sm" len="sm"/>
            <a:tailEnd type="none" w="sm" len="sm"/>
          </a:ln>
        </p:spPr>
      </p:pic>
      <p:pic>
        <p:nvPicPr>
          <p:cNvPr id="185" name="Google Shape;185;p3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500632" y="676022"/>
            <a:ext cx="2527441" cy="1175375"/>
          </a:xfrm>
          <a:prstGeom prst="rect">
            <a:avLst/>
          </a:prstGeom>
          <a:noFill/>
          <a:ln w="9525" cap="flat" cmpd="sng">
            <a:solidFill>
              <a:srgbClr val="FF0000"/>
            </a:solidFill>
            <a:prstDash val="solid"/>
            <a:round/>
            <a:headEnd type="none" w="sm" len="sm"/>
            <a:tailEnd type="none" w="sm" len="sm"/>
          </a:ln>
        </p:spPr>
      </p:pic>
      <p:pic>
        <p:nvPicPr>
          <p:cNvPr id="186" name="Google Shape;186;p30"/>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1493525" y="497600"/>
            <a:ext cx="2682249" cy="14693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p:nvPr/>
        </p:nvSpPr>
        <p:spPr>
          <a:xfrm>
            <a:off x="81774" y="67675"/>
            <a:ext cx="4429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Pretends to be a Scientist</a:t>
            </a:r>
            <a:endParaRPr sz="2000" b="1">
              <a:solidFill>
                <a:schemeClr val="dk1"/>
              </a:solidFill>
              <a:latin typeface="Calibri"/>
              <a:ea typeface="Calibri"/>
              <a:cs typeface="Calibri"/>
              <a:sym typeface="Calibri"/>
            </a:endParaRPr>
          </a:p>
        </p:txBody>
      </p:sp>
      <p:sp>
        <p:nvSpPr>
          <p:cNvPr id="192" name="Google Shape;192;p31"/>
          <p:cNvSpPr txBox="1"/>
          <p:nvPr/>
        </p:nvSpPr>
        <p:spPr>
          <a:xfrm>
            <a:off x="679691" y="992552"/>
            <a:ext cx="48258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major study from Friedrich Schiller University Jena and IIT Delhi tested three frontier AI models across eight scientific domains in over 25,000 experimental runs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results are damning.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In 68% of cases, AI agents gathered evidence and ignored it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In 71%, they never updated their beliefs at all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Only 7% of traces showed the kind of multi-evidence reasoning that defines real science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researchers call it "evidence non-uptake": the AI performs science without actually doing 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Worse, better prompting and scaffolding barely helps - scaffolding explains just 1.5% of performance variance, while the base model accounts for 41.4%</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Until scientific reasoning becomes a core training objective, </a:t>
            </a:r>
            <a:r>
              <a:rPr lang="en" sz="1200" b="1">
                <a:solidFill>
                  <a:srgbClr val="FF0000"/>
                </a:solidFill>
                <a:latin typeface="Calibri"/>
                <a:ea typeface="Calibri"/>
                <a:cs typeface="Calibri"/>
                <a:sym typeface="Calibri"/>
              </a:rPr>
              <a:t>AI scientist outputs cannot be trusted</a:t>
            </a:r>
            <a:r>
              <a:rPr lang="en" sz="1200">
                <a:solidFill>
                  <a:schemeClr val="dk1"/>
                </a:solidFill>
                <a:latin typeface="Calibri"/>
                <a:ea typeface="Calibri"/>
                <a:cs typeface="Calibri"/>
                <a:sym typeface="Calibri"/>
              </a:rPr>
              <a:t> the way genuine scientific findings can.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https://x.com/MillieMarconnni/status/2046892074541474195</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https://arxiv.org/abs/2604.18805</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93" name="Google Shape;193;p3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860747" y="1840082"/>
            <a:ext cx="2761826" cy="15781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2"/>
          <p:cNvSpPr txBox="1"/>
          <p:nvPr/>
        </p:nvSpPr>
        <p:spPr>
          <a:xfrm>
            <a:off x="81776" y="67675"/>
            <a:ext cx="315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on How to Live Longer</a:t>
            </a:r>
            <a:endParaRPr sz="2000" b="1">
              <a:solidFill>
                <a:schemeClr val="dk1"/>
              </a:solidFill>
              <a:latin typeface="Calibri"/>
              <a:ea typeface="Calibri"/>
              <a:cs typeface="Calibri"/>
              <a:sym typeface="Calibri"/>
            </a:endParaRPr>
          </a:p>
        </p:txBody>
      </p:sp>
      <p:sp>
        <p:nvSpPr>
          <p:cNvPr id="199" name="Google Shape;199;p32"/>
          <p:cNvSpPr txBox="1"/>
          <p:nvPr/>
        </p:nvSpPr>
        <p:spPr>
          <a:xfrm>
            <a:off x="582025" y="565700"/>
            <a:ext cx="75285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I asked AI to make a list of things to do to live longer.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Then to sort it putting the most important factors on top.</a:t>
            </a:r>
            <a:br>
              <a:rPr lang="en" sz="1200">
                <a:solidFill>
                  <a:schemeClr val="dk1"/>
                </a:solidFill>
                <a:latin typeface="Calibri"/>
                <a:ea typeface="Calibri"/>
                <a:cs typeface="Calibri"/>
                <a:sym typeface="Calibri"/>
              </a:rPr>
            </a:b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Here is the list:</a:t>
            </a:r>
            <a:br>
              <a:rPr lang="en" sz="1200">
                <a:solidFill>
                  <a:schemeClr val="dk1"/>
                </a:solidFill>
                <a:latin typeface="Calibri"/>
                <a:ea typeface="Calibri"/>
                <a:cs typeface="Calibri"/>
                <a:sym typeface="Calibri"/>
              </a:rPr>
            </a:br>
            <a:endParaRPr sz="1200" b="1">
              <a:solidFill>
                <a:srgbClr val="FF0000"/>
              </a:solidFill>
              <a:latin typeface="Calibri"/>
              <a:ea typeface="Calibri"/>
              <a:cs typeface="Calibri"/>
              <a:sym typeface="Calibri"/>
            </a:endParaRPr>
          </a:p>
          <a:p>
            <a:pPr marL="45720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Manage chronic stress — one of the strongest predictors of early death and accelerated cellular aging</a:t>
            </a:r>
            <a:endParaRPr sz="1200" b="1">
              <a:solidFill>
                <a:srgbClr val="FF0000"/>
              </a:solidFill>
              <a:latin typeface="Calibri"/>
              <a:ea typeface="Calibri"/>
              <a:cs typeface="Calibri"/>
              <a:sym typeface="Calibri"/>
            </a:endParaRPr>
          </a:p>
          <a:p>
            <a:pPr marL="45720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Maintain strong social relationships and avoid isolation — people with close bonds have a 50% greater survival rate; loneliness rivals smoking in its health impact</a:t>
            </a:r>
            <a:endParaRPr sz="1200" b="1">
              <a:solidFill>
                <a:srgbClr val="FF0000"/>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Don't smoke — one of the most well-established life-shortening behaviors</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Eat a mostly plant-based, whole-food diet and limit ultra-processed foods and added sugar — consistently linked to longevity across all Blue Zone populations</a:t>
            </a:r>
            <a:endParaRPr sz="1200" b="1">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Stay physically active through natural daily movement — walking, gardening, stairs; no gym required</a:t>
            </a:r>
            <a:endParaRPr sz="1200" b="1">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Maintain a healthy body weight</a:t>
            </a:r>
            <a:endParaRPr sz="1200" b="1">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Drink alcohol minimally or not at all</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Have a sense of purpose (ikigai) — associated with significantly lower mortality risk</a:t>
            </a:r>
            <a:endParaRPr sz="1200" b="1">
              <a:solidFill>
                <a:srgbClr val="6AA84F"/>
              </a:solidFill>
              <a:latin typeface="Calibri"/>
              <a:ea typeface="Calibri"/>
              <a:cs typeface="Calibri"/>
              <a:sym typeface="Calibri"/>
            </a:endParaRPr>
          </a:p>
          <a:p>
            <a:pPr marL="45720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Sleep enough and consistently</a:t>
            </a:r>
            <a:endParaRPr sz="1200" b="1">
              <a:solidFill>
                <a:srgbClr val="6AA84F"/>
              </a:solidFill>
              <a:latin typeface="Calibri"/>
              <a:ea typeface="Calibri"/>
              <a:cs typeface="Calibri"/>
              <a:sym typeface="Calibri"/>
            </a:endParaRPr>
          </a:p>
          <a:p>
            <a:pPr marL="45720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Get regular medical checkups and preventive screenings</a:t>
            </a:r>
            <a:endParaRPr sz="1200" b="1">
              <a:solidFill>
                <a:srgbClr val="6AA84F"/>
              </a:solidFill>
              <a:latin typeface="Calibri"/>
              <a:ea typeface="Calibri"/>
              <a:cs typeface="Calibri"/>
              <a:sym typeface="Calibri"/>
            </a:endParaRPr>
          </a:p>
        </p:txBody>
      </p:sp>
      <p:pic>
        <p:nvPicPr>
          <p:cNvPr id="200" name="Google Shape;200;p3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302050" y="3506275"/>
            <a:ext cx="2705024" cy="1521575"/>
          </a:xfrm>
          <a:prstGeom prst="rect">
            <a:avLst/>
          </a:prstGeom>
          <a:noFill/>
          <a:ln w="9525" cap="flat" cmpd="sng">
            <a:solidFill>
              <a:srgbClr val="FF0000"/>
            </a:solidFill>
            <a:prstDash val="solid"/>
            <a:round/>
            <a:headEnd type="none" w="sm" len="sm"/>
            <a:tailEnd type="none" w="sm" len="sm"/>
          </a:ln>
        </p:spPr>
      </p:pic>
      <p:sp>
        <p:nvSpPr>
          <p:cNvPr id="201" name="Google Shape;201;p32"/>
          <p:cNvSpPr/>
          <p:nvPr/>
        </p:nvSpPr>
        <p:spPr>
          <a:xfrm>
            <a:off x="188350" y="1448875"/>
            <a:ext cx="550500" cy="434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 name="Google Shape;202;p32"/>
          <p:cNvSpPr/>
          <p:nvPr/>
        </p:nvSpPr>
        <p:spPr>
          <a:xfrm>
            <a:off x="181374" y="2264537"/>
            <a:ext cx="550500" cy="434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 name="Google Shape;203;p32"/>
          <p:cNvSpPr/>
          <p:nvPr/>
        </p:nvSpPr>
        <p:spPr>
          <a:xfrm>
            <a:off x="181374" y="3105957"/>
            <a:ext cx="550500" cy="434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3"/>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09" name="Google Shape;209;p33"/>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10" name="Google Shape;210;p33"/>
          <p:cNvSpPr txBox="1"/>
          <p:nvPr/>
        </p:nvSpPr>
        <p:spPr>
          <a:xfrm>
            <a:off x="5367150" y="3435238"/>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92.3K  in 2026 </a:t>
            </a:r>
            <a:r>
              <a:rPr lang="en" sz="1000" b="1">
                <a:solidFill>
                  <a:schemeClr val="dk1"/>
                </a:solidFill>
                <a:latin typeface="Roboto Mono"/>
                <a:ea typeface="Roboto Mono"/>
                <a:cs typeface="Roboto Mono"/>
                <a:sym typeface="Roboto Mono"/>
              </a:rPr>
              <a:t>(as of April 24,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11" name="Google Shape;211;p33"/>
          <p:cNvSpPr txBox="1"/>
          <p:nvPr/>
        </p:nvSpPr>
        <p:spPr>
          <a:xfrm>
            <a:off x="5422950" y="5312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104,093</a:t>
            </a:r>
            <a:r>
              <a:rPr lang="en" sz="1200">
                <a:latin typeface="Calibri"/>
                <a:ea typeface="Calibri"/>
                <a:cs typeface="Calibri"/>
                <a:sym typeface="Calibri"/>
              </a:rPr>
              <a:t> people laid off (913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212" name="Google Shape;212;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531825"/>
            <a:ext cx="4950377" cy="2486308"/>
          </a:xfrm>
          <a:prstGeom prst="rect">
            <a:avLst/>
          </a:prstGeom>
          <a:noFill/>
          <a:ln w="9525" cap="flat" cmpd="sng">
            <a:solidFill>
              <a:srgbClr val="FF0000"/>
            </a:solidFill>
            <a:prstDash val="solid"/>
            <a:round/>
            <a:headEnd type="none" w="sm" len="sm"/>
            <a:tailEnd type="none" w="sm" len="sm"/>
          </a:ln>
        </p:spPr>
      </p:pic>
      <p:pic>
        <p:nvPicPr>
          <p:cNvPr id="213" name="Google Shape;213;p3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3133714"/>
            <a:ext cx="4950375" cy="194664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3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219" name="Google Shape;219;p34"/>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20" name="Google Shape;220;p34"/>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21" name="Google Shape;221;p3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222" name="Google Shape;222;p34"/>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23" name="Google Shape;223;p34"/>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5"/>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3328</Words>
  <Application>Microsoft Macintosh PowerPoint</Application>
  <PresentationFormat>On-screen Show (16:9)</PresentationFormat>
  <Paragraphs>232</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Roboto Mono</vt:lpstr>
      <vt:lpstr>Arial</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2026-04-24T17:21:49Z</dcterms:modified>
</cp:coreProperties>
</file>