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embeddedFontLst>
    <p:embeddedFont>
      <p:font typeface="Roboto Mono" pitchFamily="49"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92A508-7C1A-4D1E-81BE-707CAE3E2275}">
  <a:tblStyle styleId="{C592A508-7C1A-4D1E-81BE-707CAE3E227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1" d="100"/>
          <a:sy n="131" d="100"/>
        </p:scale>
        <p:origin x="6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cc01bf30e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df2144e99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df2144e99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e0f37d2495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3e0f37d2495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e24342121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e24342121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a8589c4f7f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a8589c4f7f_1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e15c18798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3e15c18798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a85fc8e6f9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a85fc8e6f9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083d60db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3e083d60db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e0ee844e26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e0ee844e26_1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e083d60db8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e083d60db8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e0f37d249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3e0f37d2495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9aafc5afa9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39aafc5afa9_1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9aafc5afa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g39aafc5afa9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9ab185bf5c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39ab185bf5c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9ab185bf5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g39ab185bf5c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e08c5cd45e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3e08c5cd45e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e0db0690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3e0db0690b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e083d60d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g3e083d60db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e0db0690b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e0db0690ba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e08c5cd45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g3e08c5cd45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dfae3e4a0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g3dfae3e4a0d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e0f37d249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3e0f37d249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e1a967942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7" name="Google Shape;297;g3e1a9679427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9ab185bf5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g39ab185bf5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e1462999e9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g3e1462999e9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9ab185bf5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0" name="Google Shape;320;g39ab185bf5c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a8589c4f7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 name="Google Shape;327;g3a8589c4f7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d971967e0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3d971967e0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www.anthropic.com/news/claude-sonnet-4-6" TargetMode="External"/><Relationship Id="rId39" Type="http://schemas.openxmlformats.org/officeDocument/2006/relationships/hyperlink" Target="https://blog.google/products/gemini/gemini-3-flash" TargetMode="External"/><Relationship Id="rId21" Type="http://schemas.openxmlformats.org/officeDocument/2006/relationships/hyperlink" Target="https://www.anthropic.com/news/claude-opus-4-5" TargetMode="External"/><Relationship Id="rId34" Type="http://schemas.openxmlformats.org/officeDocument/2006/relationships/hyperlink" Target="https://openai.com/index/introducing-gpt-5-5/"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6" TargetMode="External"/><Relationship Id="rId29" Type="http://schemas.openxmlformats.org/officeDocument/2006/relationships/hyperlink" Target="https://aistudio.google.com/app/prompts/new_chat?model=gemini-3-pro-preview" TargetMode="External"/><Relationship Id="rId41" Type="http://schemas.openxmlformats.org/officeDocument/2006/relationships/hyperlink" Target="https://qwen.ai/blog?id=qwen3.5-max-preview"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huggingface.co/zai-org/GLM-5.1" TargetMode="External"/><Relationship Id="rId32" Type="http://schemas.openxmlformats.org/officeDocument/2006/relationships/hyperlink" Target="https://developers.openai.com/api/docs/models/gpt-5.2-chat-latest" TargetMode="External"/><Relationship Id="rId37" Type="http://schemas.openxmlformats.org/officeDocument/2006/relationships/hyperlink" Target="https://openai.com/index/gpt-5-5-instant" TargetMode="External"/><Relationship Id="rId40" Type="http://schemas.openxmlformats.org/officeDocument/2006/relationships/hyperlink" Target="https://x.ai/news/grok-4-1"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platform.openai.com/docs/models/gpt-5.4" TargetMode="External"/><Relationship Id="rId28" Type="http://schemas.openxmlformats.org/officeDocument/2006/relationships/hyperlink" Target="https://www.anthropic.com/news/claude-sonnet-4-5" TargetMode="External"/><Relationship Id="rId36" Type="http://schemas.openxmlformats.org/officeDocument/2006/relationships/hyperlink" Target="https://grok.com"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7" TargetMode="External"/><Relationship Id="rId31" Type="http://schemas.openxmlformats.org/officeDocument/2006/relationships/hyperlink" Target="https://ernie.baidu.com/blog/posts/ernie-5.1-0508-release/"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ai.meta.com/blog/introducing-muse-spark-msl/" TargetMode="External"/><Relationship Id="rId27" Type="http://schemas.openxmlformats.org/officeDocument/2006/relationships/hyperlink" Target="https://docs.x.ai/developers/models/grok-4.20-multi-agent-beta-0309" TargetMode="External"/><Relationship Id="rId30" Type="http://schemas.openxmlformats.org/officeDocument/2006/relationships/hyperlink" Target="https://www.kimi.com/blog/kimi-k2-6" TargetMode="External"/><Relationship Id="rId35" Type="http://schemas.openxmlformats.org/officeDocument/2006/relationships/hyperlink" Target="https://docs.x.ai/developers/models/grok-4.20-beta-0309-reasoning"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blog.google/innovation-and-ai/models-and-research/gemini-models/gemini-3-1-pro/" TargetMode="External"/><Relationship Id="rId33" Type="http://schemas.openxmlformats.org/officeDocument/2006/relationships/hyperlink" Target="https://mimo.xiaomi.com/mimo-v2-5-pro/" TargetMode="External"/><Relationship Id="rId38" Type="http://schemas.openxmlformats.org/officeDocument/2006/relationships/hyperlink" Target="https://www.anthropic.com/news/claude-opus-4-1"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ai.meta.com/blog/introducing-muse-spark-msl/"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youtube.com/watch?v=_jU6jAkqsDw" TargetMode="External"/><Relationship Id="rId7" Type="http://schemas.openxmlformats.org/officeDocument/2006/relationships/hyperlink" Target="https://www.anthropic.com/news/claude-for-small-business"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claude.com/solutions/small-business"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www.youtube.com/watch?v=7zxIeRWasbc" TargetMode="External"/><Relationship Id="rId7" Type="http://schemas.openxmlformats.org/officeDocument/2006/relationships/hyperlink" Target="https://ramp.com/leading-indicators/ai-index-may-2026"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hyperlink" Target="https://code.claude.com/docs/en/agent-view" TargetMode="External"/><Relationship Id="rId4" Type="http://schemas.openxmlformats.org/officeDocument/2006/relationships/hyperlink" Target="https://claude.com/blog/agent-view-in-claude-code" TargetMode="External"/><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5H3LGJSyaH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hyperlink" Target="https://www.techrepublic.com/article/news-google-hackers-ai-zero-day-exploit/"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openclaw/openclaw" TargetMode="External"/><Relationship Id="rId3" Type="http://schemas.openxmlformats.org/officeDocument/2006/relationships/hyperlink" Target="https://substack.com/@petergyang/note/c-255544179" TargetMode="External"/><Relationship Id="rId7" Type="http://schemas.openxmlformats.org/officeDocument/2006/relationships/hyperlink" Target="https://www.reddit.com/r/singularity/comments/1t9hh33/hermes_agent_is_now_1_most_used_globally_in_pas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openrouter.ai/openrouter/auto/activity" TargetMode="External"/><Relationship Id="rId5" Type="http://schemas.openxmlformats.org/officeDocument/2006/relationships/image" Target="../media/image13.png"/><Relationship Id="rId10" Type="http://schemas.openxmlformats.org/officeDocument/2006/relationships/image" Target="../media/image14.png"/><Relationship Id="rId4" Type="http://schemas.openxmlformats.org/officeDocument/2006/relationships/hyperlink" Target="https://www.youtube.com/watch?v=ACRd0Ikg_KI" TargetMode="External"/><Relationship Id="rId9" Type="http://schemas.openxmlformats.org/officeDocument/2006/relationships/hyperlink" Target="https://github.com/nousresearch/hermes-agent"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9UpLmjlDgPg"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hyperlink" Target="https://x.com/ArtificialAnlys/status/2046424230401843314"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suprmind.ai/hub/ai-hallucination-rates-and-benchmarks/" TargetMode="External"/><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mayhemcode.com/2026/04/vectara-hallucination-leaderboard.html" TargetMode="External"/><Relationship Id="rId5" Type="http://schemas.openxmlformats.org/officeDocument/2006/relationships/hyperlink" Target="https://www.vectara.com/blog/introducing-the-next-generation-of-vectaras-hallucination-leaderboard" TargetMode="External"/><Relationship Id="rId4" Type="http://schemas.openxmlformats.org/officeDocument/2006/relationships/hyperlink" Target="https://www.bridgebench.ai/hallucination"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jpeg"/></Relationships>
</file>

<file path=ppt/slides/_rels/slide15.xml.rels><?xml version="1.0" encoding="UTF-8" standalone="yes"?>
<Relationships xmlns="http://schemas.openxmlformats.org/package/2006/relationships"><Relationship Id="rId3" Type="http://schemas.openxmlformats.org/officeDocument/2006/relationships/hyperlink" Target="http://www.youtube.com/watch?v=sViyNJzf-OQ"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hyperlink" Target="https://github.com/anthropics/financial-services" TargetMode="External"/><Relationship Id="rId7" Type="http://schemas.openxmlformats.org/officeDocument/2006/relationships/hyperlink" Target="https://github.com/mkll/awesome-claude-skills-ai"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youtube.com/watch?v=E4GNZxJQqfM" TargetMode="External"/><Relationship Id="rId5" Type="http://schemas.openxmlformats.org/officeDocument/2006/relationships/hyperlink" Target="https://claude.com/resources/tutorials/claude-for-financial-services-skills" TargetMode="External"/><Relationship Id="rId4" Type="http://schemas.openxmlformats.org/officeDocument/2006/relationships/hyperlink" Target="https://github.com/anthropics/financial-services-plugins" TargetMode="External"/><Relationship Id="rId9"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RxwjoegpI98"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hyperlink" Target="http://www.youtube.com/watch?v=CLjTCe_cvJs" TargetMode="External"/><Relationship Id="rId7" Type="http://schemas.openxmlformats.org/officeDocument/2006/relationships/hyperlink" Target="https://www.youtube.com/watch?v=gxbp3BUo3wk"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github.com/facebookresearch/sira" TargetMode="External"/><Relationship Id="rId5" Type="http://schemas.openxmlformats.org/officeDocument/2006/relationships/image" Target="../media/image32.png"/><Relationship Id="rId4" Type="http://schemas.openxmlformats.org/officeDocument/2006/relationships/hyperlink" Target="https://www.youtube.com/watch?v=CLjTCe_cvJs"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hyperlink" Target="https://thariqs.github.io/html-effectiveness/" TargetMode="External"/><Relationship Id="rId7"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hyperlink" Target="https://x.com/trq212/status/2052809885763747935" TargetMode="External"/><Relationship Id="rId9"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WPPhts8bWgQ"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hyperlink" Target="https://www.youtube.com/watch?v=o_igSi-ED6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8" Type="http://schemas.openxmlformats.org/officeDocument/2006/relationships/hyperlink" Target="https://www.vybe.build/blog/best-ai-agent-platforms-2026" TargetMode="External"/><Relationship Id="rId3" Type="http://schemas.openxmlformats.org/officeDocument/2006/relationships/hyperlink" Target="https://www.youtube.com/watch?v=FJT5Rh0eKe8" TargetMode="External"/><Relationship Id="rId7" Type="http://schemas.openxmlformats.org/officeDocument/2006/relationships/hyperlink" Target="https://manus.im/blog/best-ai-agents-for-small-business"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hermes-agent.org" TargetMode="External"/><Relationship Id="rId5" Type="http://schemas.openxmlformats.org/officeDocument/2006/relationships/hyperlink" Target="https://agentfactory.panaversity.org/docs/which-agents-2026" TargetMode="External"/><Relationship Id="rId10" Type="http://schemas.openxmlformats.org/officeDocument/2006/relationships/image" Target="../media/image43.jpeg"/><Relationship Id="rId4" Type="http://schemas.openxmlformats.org/officeDocument/2006/relationships/hyperlink" Target="https://kilo.ai/kiloclaw/alternatives/genspark-claw-alternative" TargetMode="External"/><Relationship Id="rId9" Type="http://schemas.openxmlformats.org/officeDocument/2006/relationships/hyperlink" Target="https://noca.ai/digital-employees-top-10-platforms-for-2026/"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pi.dev" TargetMode="External"/><Relationship Id="rId7"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hyperlink" Target="https://github.com/holaboss-ai/holaOS" TargetMode="External"/><Relationship Id="rId4" Type="http://schemas.openxmlformats.org/officeDocument/2006/relationships/hyperlink" Target="https://www.holaos.ai"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openrouter.ai/openrouter/pareto-code"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hyperlink" Target="https://www.youtube.com/watch?v=kQHi_dXugbI"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pokee.ai"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hyperlink" Target="https://www.youtube.com/watch?v=yZbgYOW-2rI" TargetMode="External"/><Relationship Id="rId4" Type="http://schemas.openxmlformats.org/officeDocument/2006/relationships/hyperlink" Target="https://pokee.ai"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Xl57Pki6ChE"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hyperlink" Target="https://www.youtube.com/watch?v=74TkxLMfWOo" TargetMode="External"/><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KO7MxL6bKj4"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6aTNBCqm3zE"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hyperlink" Target="https://jobright.ai"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hyperlink" Target="https://trueup.io/layoffs"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556085"/>
            <a:ext cx="4330200" cy="232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"LM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Meta - Muse Spark</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China Yuan 3.0 Ultra - Open Source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New Claude Code Features: /goal , /dream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For Small Business Plugin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Cerebras IPO</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removing the ban against OpenClaw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Agents View dashboard for Claude Code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officially overtook OpenAI in business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Cyber Attacks</a:t>
            </a:r>
            <a:endParaRPr sz="1500"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May 15,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2532" y="3904215"/>
            <a:ext cx="4525800" cy="11730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5 Ways to Make Money in 2026</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$80M in 6 Months With No Team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Companies Are Re-hiring Developers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JobRight.ai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Jobs &amp; Layoffs</a:t>
            </a:r>
            <a:endParaRPr sz="1500" b="1">
              <a:solidFill>
                <a:srgbClr val="3C78D8"/>
              </a:solidFill>
              <a:latin typeface="Calibri"/>
              <a:ea typeface="Calibri"/>
              <a:cs typeface="Calibri"/>
              <a:sym typeface="Calibri"/>
            </a:endParaRPr>
          </a:p>
        </p:txBody>
      </p:sp>
      <p:sp>
        <p:nvSpPr>
          <p:cNvPr id="66" name="Google Shape;66;p15"/>
          <p:cNvSpPr txBox="1"/>
          <p:nvPr/>
        </p:nvSpPr>
        <p:spPr>
          <a:xfrm>
            <a:off x="4935375" y="30669"/>
            <a:ext cx="3433800" cy="7695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2200" b="1" i="1">
                <a:solidFill>
                  <a:srgbClr val="FF0000"/>
                </a:solidFill>
                <a:latin typeface="Calibri"/>
                <a:ea typeface="Calibri"/>
                <a:cs typeface="Calibri"/>
                <a:sym typeface="Calibri"/>
              </a:rPr>
              <a:t>From detailed prompt </a:t>
            </a:r>
            <a:endParaRPr sz="2200" b="1" i="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2200" b="1" i="1">
                <a:solidFill>
                  <a:srgbClr val="FF0000"/>
                </a:solidFill>
                <a:latin typeface="Calibri"/>
                <a:ea typeface="Calibri"/>
                <a:cs typeface="Calibri"/>
                <a:sym typeface="Calibri"/>
              </a:rPr>
              <a:t>to vaguely saying “fix this”</a:t>
            </a:r>
            <a:endParaRPr sz="2200" b="1" i="1">
              <a:solidFill>
                <a:srgbClr val="FF0000"/>
              </a:solidFill>
              <a:latin typeface="Calibri"/>
              <a:ea typeface="Calibri"/>
              <a:cs typeface="Calibri"/>
              <a:sym typeface="Calibri"/>
            </a:endParaRPr>
          </a:p>
        </p:txBody>
      </p:sp>
      <p:sp>
        <p:nvSpPr>
          <p:cNvPr id="67" name="Google Shape;67;p15"/>
          <p:cNvSpPr txBox="1"/>
          <p:nvPr/>
        </p:nvSpPr>
        <p:spPr>
          <a:xfrm>
            <a:off x="4536607" y="855149"/>
            <a:ext cx="4525800" cy="30201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Agentic RAG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 Better, Cheaper RAG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Meta’s Super Intelligent Retrieval Agent (SIRA) RAG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Markdown vs HTML</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Quantum stocks exploded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Realtime Voice Models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Progress in 3.5 years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Digital Employee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Pi.dev - minimal open-source Coding Agent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holaOS is an open agent computer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Hermes Agent and Pareto Code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Hermes "computer use" on MacOS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Pokee.ai</a:t>
            </a:r>
            <a:endParaRPr sz="1500" b="1">
              <a:solidFill>
                <a:srgbClr val="3C78D8"/>
              </a:solidFill>
              <a:latin typeface="Calibri"/>
              <a:ea typeface="Calibri"/>
              <a:cs typeface="Calibri"/>
              <a:sym typeface="Calibri"/>
            </a:endParaRPr>
          </a:p>
        </p:txBody>
      </p:sp>
      <p:sp>
        <p:nvSpPr>
          <p:cNvPr id="68" name="Google Shape;68;p15"/>
          <p:cNvSpPr txBox="1"/>
          <p:nvPr/>
        </p:nvSpPr>
        <p:spPr>
          <a:xfrm>
            <a:off x="100175" y="2976435"/>
            <a:ext cx="4330200" cy="2096400"/>
          </a:xfrm>
          <a:prstGeom prst="rect">
            <a:avLst/>
          </a:prstGeom>
          <a:solidFill>
            <a:srgbClr val="D0E0E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End of Chats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Hermes Agent is now #1 most used globally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Humor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Models to Know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Hallucination Tests, Leaderboards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How to Reduce Hallucination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Co-founders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Jack Clark Interview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Open-Sourced Wall Street</a:t>
            </a:r>
            <a:endParaRPr sz="1500"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8" name="Google Shape;78;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May 14</a:t>
            </a:r>
            <a:endParaRPr sz="1000">
              <a:latin typeface="Calibri"/>
              <a:ea typeface="Calibri"/>
              <a:cs typeface="Calibri"/>
              <a:sym typeface="Calibri"/>
            </a:endParaRPr>
          </a:p>
        </p:txBody>
      </p:sp>
      <p:sp>
        <p:nvSpPr>
          <p:cNvPr id="79" name="Google Shape;79;p16"/>
          <p:cNvSpPr txBox="1"/>
          <p:nvPr/>
        </p:nvSpPr>
        <p:spPr>
          <a:xfrm>
            <a:off x="6978275" y="551325"/>
            <a:ext cx="21144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kimi-k2.6 - 1T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70B * 16</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  </a:t>
            </a:r>
            <a:endParaRPr sz="1000">
              <a:latin typeface="Calibri"/>
              <a:ea typeface="Calibri"/>
              <a:cs typeface="Calibri"/>
              <a:sym typeface="Calibri"/>
            </a:endParaRPr>
          </a:p>
        </p:txBody>
      </p:sp>
      <p:graphicFrame>
        <p:nvGraphicFramePr>
          <p:cNvPr id="80" name="Google Shape;80;p16"/>
          <p:cNvGraphicFramePr/>
          <p:nvPr/>
        </p:nvGraphicFramePr>
        <p:xfrm>
          <a:off x="5742420" y="430065"/>
          <a:ext cx="3000000" cy="3000000"/>
        </p:xfrm>
        <a:graphic>
          <a:graphicData uri="http://schemas.openxmlformats.org/drawingml/2006/table">
            <a:tbl>
              <a:tblPr>
                <a:noFill/>
                <a:tableStyleId>{C592A508-7C1A-4D1E-81BE-707CAE3E2275}</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graphicFrame>
        <p:nvGraphicFramePr>
          <p:cNvPr id="81" name="Google Shape;81;p16"/>
          <p:cNvGraphicFramePr/>
          <p:nvPr/>
        </p:nvGraphicFramePr>
        <p:xfrm>
          <a:off x="2980846" y="732581"/>
          <a:ext cx="3000000" cy="3000000"/>
        </p:xfrm>
        <a:graphic>
          <a:graphicData uri="http://schemas.openxmlformats.org/drawingml/2006/table">
            <a:tbl>
              <a:tblPr>
                <a:noFill/>
                <a:tableStyleId>{C592A508-7C1A-4D1E-81BE-707CAE3E2275}</a:tableStyleId>
              </a:tblPr>
              <a:tblGrid>
                <a:gridCol w="27622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claude-sonnet-4-5-20250929-thinking-32k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kimi-k2.6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ernie-5.1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claude-sonnet-4-5-20250929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claude-opus-4-1-20250805-thinking-16k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2" name="Google Shape;82;p16"/>
          <p:cNvGraphicFramePr/>
          <p:nvPr/>
        </p:nvGraphicFramePr>
        <p:xfrm>
          <a:off x="212952" y="732581"/>
          <a:ext cx="3000000" cy="3000000"/>
        </p:xfrm>
        <a:graphic>
          <a:graphicData uri="http://schemas.openxmlformats.org/drawingml/2006/table">
            <a:tbl>
              <a:tblPr>
                <a:noFill/>
                <a:tableStyleId>{C592A508-7C1A-4D1E-81BE-707CAE3E2275}</a:tableStyleId>
              </a:tblPr>
              <a:tblGrid>
                <a:gridCol w="276225">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gpt-5.5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9"/>
                        </a:rPr>
                        <a:t>gemini-3-flash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ernie-5.1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0"/>
                        </a:rPr>
                        <a:t>grok-4.1-thinking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1"/>
                        </a:rPr>
                        <a:t>qwen3.5-max-preview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p:nvPr/>
        </p:nvSpPr>
        <p:spPr>
          <a:xfrm>
            <a:off x="60250" y="431150"/>
            <a:ext cx="44832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Meta's Muse Spark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Small (under 100 Bln params) - yet competes with huge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models ( ~ Trillion params). How is it even possible?</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1. Meta completely rebuilt its pretraining stack from scratch, achieving the same capability as larger models using over 10× less compute</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2. "Thought compression" trained via reinforcement learning helps to solve problems with far fewer reasoning tokens, making it dramatically faster</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3. </a:t>
            </a:r>
            <a:r>
              <a:rPr lang="en" sz="1200" b="1">
                <a:solidFill>
                  <a:srgbClr val="FF0000"/>
                </a:solidFill>
                <a:latin typeface="Calibri"/>
                <a:ea typeface="Calibri"/>
                <a:cs typeface="Calibri"/>
                <a:sym typeface="Calibri"/>
              </a:rPr>
              <a:t>Multiple (16) small (70B) agents reasoning in parallel ("Contemplating mode") </a:t>
            </a:r>
            <a:r>
              <a:rPr lang="en" sz="1200">
                <a:solidFill>
                  <a:srgbClr val="3C78D8"/>
                </a:solidFill>
                <a:latin typeface="Calibri"/>
                <a:ea typeface="Calibri"/>
                <a:cs typeface="Calibri"/>
                <a:sym typeface="Calibri"/>
              </a:rPr>
              <a:t>- cutting latency without sacrificing quality </a:t>
            </a:r>
            <a:r>
              <a:rPr lang="en" sz="1200" b="1">
                <a:solidFill>
                  <a:srgbClr val="3C78D8"/>
                </a:solidFill>
                <a:latin typeface="Calibri"/>
                <a:ea typeface="Calibri"/>
                <a:cs typeface="Calibri"/>
                <a:sym typeface="Calibri"/>
              </a:rPr>
              <a:t>(16*70B = 1.12T params)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Combined with native multimodal architecture, these engineering choices prove that smarter design beats raw parameter count — efficiency, not size, is the new frontier.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https://ai.meta.com/blog/introducing-muse-spark-msl/</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88" name="Google Shape;88;p17"/>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Meta - Muse Spark</a:t>
            </a:r>
            <a:endParaRPr sz="2000" b="1">
              <a:solidFill>
                <a:schemeClr val="dk1"/>
              </a:solidFill>
              <a:latin typeface="Calibri"/>
              <a:ea typeface="Calibri"/>
              <a:cs typeface="Calibri"/>
              <a:sym typeface="Calibri"/>
            </a:endParaRPr>
          </a:p>
        </p:txBody>
      </p:sp>
      <p:sp>
        <p:nvSpPr>
          <p:cNvPr id="89" name="Google Shape;89;p17"/>
          <p:cNvSpPr txBox="1"/>
          <p:nvPr/>
        </p:nvSpPr>
        <p:spPr>
          <a:xfrm>
            <a:off x="4888350" y="2410233"/>
            <a:ext cx="40281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From Llama to Muse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Name "Muse" - creative assistance and deep personalization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"Spark" - entry-level model, fast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Developed internally as "Project Avocado"</a:t>
            </a:r>
            <a:endParaRPr sz="1200">
              <a:solidFill>
                <a:schemeClr val="dk1"/>
              </a:solidFill>
              <a:latin typeface="Calibri"/>
              <a:ea typeface="Calibri"/>
              <a:cs typeface="Calibri"/>
              <a:sym typeface="Calibri"/>
            </a:endParaRPr>
          </a:p>
        </p:txBody>
      </p:sp>
      <p:pic>
        <p:nvPicPr>
          <p:cNvPr id="90" name="Google Shape;90;p17"/>
          <p:cNvPicPr preferRelativeResize="0"/>
          <p:nvPr/>
        </p:nvPicPr>
        <p:blipFill>
          <a:blip r:embed="rId4">
            <a:alphaModFix/>
          </a:blip>
          <a:stretch>
            <a:fillRect/>
          </a:stretch>
        </p:blipFill>
        <p:spPr>
          <a:xfrm>
            <a:off x="5249813" y="3351500"/>
            <a:ext cx="3305175" cy="1381125"/>
          </a:xfrm>
          <a:prstGeom prst="rect">
            <a:avLst/>
          </a:prstGeom>
          <a:noFill/>
          <a:ln w="9525" cap="flat" cmpd="sng">
            <a:solidFill>
              <a:srgbClr val="FF0000"/>
            </a:solidFill>
            <a:prstDash val="solid"/>
            <a:round/>
            <a:headEnd type="none" w="sm" len="sm"/>
            <a:tailEnd type="none" w="sm" len="sm"/>
          </a:ln>
        </p:spPr>
      </p:pic>
      <p:pic>
        <p:nvPicPr>
          <p:cNvPr id="91" name="Google Shape;91;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093188" y="607700"/>
            <a:ext cx="1618451" cy="16184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p:nvPr/>
        </p:nvSpPr>
        <p:spPr>
          <a:xfrm>
            <a:off x="60250" y="431150"/>
            <a:ext cx="44832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China Yuan 3.0 Ultra - Open Source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Yuan Lab, 1 Trillion params, MoE (69 Bln active)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https://www.youtube.com/watch?v=_jU6jAkqsDw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Layer-adaptive expert pruning - deleted a third of its expert networks during training to boost efficiency by 49% without losing accuracy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Matches the performance of Western models like GPT-5.2 at a fraction of the cost</a:t>
            </a:r>
            <a:endParaRPr sz="1200">
              <a:solidFill>
                <a:schemeClr val="dk1"/>
              </a:solidFill>
              <a:latin typeface="Calibri"/>
              <a:ea typeface="Calibri"/>
              <a:cs typeface="Calibri"/>
              <a:sym typeface="Calibri"/>
            </a:endParaRPr>
          </a:p>
        </p:txBody>
      </p:sp>
      <p:sp>
        <p:nvSpPr>
          <p:cNvPr id="97" name="Google Shape;97;p18"/>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98" name="Google Shape;98;p1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273700" y="637013"/>
            <a:ext cx="2113475" cy="899575"/>
          </a:xfrm>
          <a:prstGeom prst="rect">
            <a:avLst/>
          </a:prstGeom>
          <a:noFill/>
          <a:ln w="9525" cap="flat" cmpd="sng">
            <a:solidFill>
              <a:srgbClr val="FF0000"/>
            </a:solidFill>
            <a:prstDash val="solid"/>
            <a:round/>
            <a:headEnd type="none" w="sm" len="sm"/>
            <a:tailEnd type="none" w="sm" len="sm"/>
          </a:ln>
        </p:spPr>
      </p:pic>
      <p:sp>
        <p:nvSpPr>
          <p:cNvPr id="99" name="Google Shape;99;p18"/>
          <p:cNvSpPr txBox="1"/>
          <p:nvPr/>
        </p:nvSpPr>
        <p:spPr>
          <a:xfrm>
            <a:off x="60250" y="1814750"/>
            <a:ext cx="44832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New Claude Code Features: /goal , /dream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/goal </a:t>
            </a:r>
            <a:r>
              <a:rPr lang="en" sz="1200">
                <a:solidFill>
                  <a:schemeClr val="dk1"/>
                </a:solidFill>
                <a:latin typeface="Calibri"/>
                <a:ea typeface="Calibri"/>
                <a:cs typeface="Calibri"/>
                <a:sym typeface="Calibri"/>
              </a:rPr>
              <a:t>- to specify long-running single objective. Only stops when adversarial Claude approves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/loop</a:t>
            </a:r>
            <a:r>
              <a:rPr lang="en" sz="1200">
                <a:solidFill>
                  <a:schemeClr val="dk1"/>
                </a:solidFill>
                <a:latin typeface="Calibri"/>
                <a:ea typeface="Calibri"/>
                <a:cs typeface="Calibri"/>
                <a:sym typeface="Calibri"/>
              </a:rPr>
              <a:t> - to repeating/polling tasks at intervals. Worker self-assesses when to stop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/plan</a:t>
            </a:r>
            <a:r>
              <a:rPr lang="en" sz="1200">
                <a:solidFill>
                  <a:schemeClr val="dk1"/>
                </a:solidFill>
                <a:latin typeface="Calibri"/>
                <a:ea typeface="Calibri"/>
                <a:cs typeface="Calibri"/>
                <a:sym typeface="Calibri"/>
              </a:rPr>
              <a:t> - creates a plan.md planning document. Single-shot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/dream</a:t>
            </a:r>
            <a:r>
              <a:rPr lang="en" sz="1200">
                <a:solidFill>
                  <a:schemeClr val="dk1"/>
                </a:solidFill>
                <a:latin typeface="Calibri"/>
                <a:ea typeface="Calibri"/>
                <a:cs typeface="Calibri"/>
                <a:sym typeface="Calibri"/>
              </a:rPr>
              <a:t> (also called AutoDream) is Anthropic's background memory consolidation feature. It never touches your actual source code or project files, only the memory layer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/bg</a:t>
            </a:r>
            <a:r>
              <a:rPr lang="en" sz="1200">
                <a:solidFill>
                  <a:schemeClr val="dk1"/>
                </a:solidFill>
                <a:latin typeface="Calibri"/>
                <a:ea typeface="Calibri"/>
                <a:cs typeface="Calibri"/>
                <a:sym typeface="Calibri"/>
              </a:rPr>
              <a:t> - for running background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/radio</a:t>
            </a:r>
            <a:r>
              <a:rPr lang="en" sz="1200">
                <a:solidFill>
                  <a:schemeClr val="dk1"/>
                </a:solidFill>
                <a:latin typeface="Calibri"/>
                <a:ea typeface="Calibri"/>
                <a:cs typeface="Calibri"/>
                <a:sym typeface="Calibri"/>
              </a:rPr>
              <a:t>  - opens an ambient music player</a:t>
            </a:r>
            <a:endParaRPr sz="1200">
              <a:solidFill>
                <a:schemeClr val="dk1"/>
              </a:solidFill>
              <a:latin typeface="Calibri"/>
              <a:ea typeface="Calibri"/>
              <a:cs typeface="Calibri"/>
              <a:sym typeface="Calibri"/>
            </a:endParaRPr>
          </a:p>
        </p:txBody>
      </p:sp>
      <p:pic>
        <p:nvPicPr>
          <p:cNvPr id="100" name="Google Shape;100;p18"/>
          <p:cNvPicPr preferRelativeResize="0"/>
          <p:nvPr/>
        </p:nvPicPr>
        <p:blipFill>
          <a:blip r:embed="rId5">
            <a:alphaModFix/>
          </a:blip>
          <a:stretch>
            <a:fillRect/>
          </a:stretch>
        </p:blipFill>
        <p:spPr>
          <a:xfrm>
            <a:off x="4738200" y="2039762"/>
            <a:ext cx="2857500" cy="1600200"/>
          </a:xfrm>
          <a:prstGeom prst="rect">
            <a:avLst/>
          </a:prstGeom>
          <a:noFill/>
          <a:ln w="9525" cap="flat" cmpd="sng">
            <a:solidFill>
              <a:srgbClr val="FF0000"/>
            </a:solidFill>
            <a:prstDash val="solid"/>
            <a:round/>
            <a:headEnd type="none" w="sm" len="sm"/>
            <a:tailEnd type="none" w="sm" len="sm"/>
          </a:ln>
        </p:spPr>
      </p:pic>
      <p:sp>
        <p:nvSpPr>
          <p:cNvPr id="101" name="Google Shape;101;p18"/>
          <p:cNvSpPr txBox="1"/>
          <p:nvPr/>
        </p:nvSpPr>
        <p:spPr>
          <a:xfrm>
            <a:off x="60250" y="3937250"/>
            <a:ext cx="4483200" cy="106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b="1">
                <a:solidFill>
                  <a:srgbClr val="FF0000"/>
                </a:solidFill>
                <a:latin typeface="Calibri"/>
                <a:ea typeface="Calibri"/>
                <a:cs typeface="Calibri"/>
                <a:sym typeface="Calibri"/>
              </a:rPr>
              <a:t>Claude For Small Business Plugin for Claude Cowork</a:t>
            </a:r>
            <a:endParaRPr b="1">
              <a:solidFill>
                <a:srgbClr val="FF0000"/>
              </a:solidFill>
              <a:latin typeface="Calibri"/>
              <a:ea typeface="Calibri"/>
              <a:cs typeface="Calibri"/>
              <a:sym typeface="Calibri"/>
            </a:endParaRPr>
          </a:p>
          <a:p>
            <a:pPr marL="171450" marR="0" lvl="0" indent="-146050" algn="l" rtl="0">
              <a:lnSpc>
                <a:spcPct val="100000"/>
              </a:lnSpc>
              <a:spcBef>
                <a:spcPts val="0"/>
              </a:spcBef>
              <a:spcAft>
                <a:spcPts val="0"/>
              </a:spcAft>
              <a:buSzPts val="1400"/>
              <a:buFont typeface="Calibri"/>
              <a:buChar char="●"/>
            </a:pPr>
            <a:r>
              <a:rPr lang="en">
                <a:latin typeface="Calibri"/>
                <a:ea typeface="Calibri"/>
                <a:cs typeface="Calibri"/>
                <a:sym typeface="Calibri"/>
              </a:rPr>
              <a:t>bundles connectors, 15 workflows and 15 skills</a:t>
            </a:r>
            <a:endParaRPr>
              <a:latin typeface="Calibri"/>
              <a:ea typeface="Calibri"/>
              <a:cs typeface="Calibri"/>
              <a:sym typeface="Calibri"/>
            </a:endParaRPr>
          </a:p>
          <a:p>
            <a:pPr marL="171450" marR="0" lvl="0" indent="-146050" algn="l" rtl="0">
              <a:lnSpc>
                <a:spcPct val="100000"/>
              </a:lnSpc>
              <a:spcBef>
                <a:spcPts val="0"/>
              </a:spcBef>
              <a:spcAft>
                <a:spcPts val="0"/>
              </a:spcAft>
              <a:buSzPts val="1400"/>
              <a:buFont typeface="Calibri"/>
              <a:buChar char="●"/>
            </a:pPr>
            <a:r>
              <a:rPr lang="en">
                <a:latin typeface="Calibri"/>
                <a:ea typeface="Calibri"/>
                <a:cs typeface="Calibri"/>
                <a:sym typeface="Calibri"/>
              </a:rPr>
              <a:t>puts Claude inside the tools small businesses depend on</a:t>
            </a:r>
            <a:endParaRPr>
              <a:latin typeface="Calibri"/>
              <a:ea typeface="Calibri"/>
              <a:cs typeface="Calibri"/>
              <a:sym typeface="Calibri"/>
            </a:endParaRPr>
          </a:p>
          <a:p>
            <a:pPr marL="171450" marR="0" lvl="0" indent="-146050" algn="l" rtl="0">
              <a:lnSpc>
                <a:spcPct val="100000"/>
              </a:lnSpc>
              <a:spcBef>
                <a:spcPts val="0"/>
              </a:spcBef>
              <a:spcAft>
                <a:spcPts val="0"/>
              </a:spcAft>
              <a:buSzPts val="1400"/>
              <a:buFont typeface="Calibri"/>
              <a:buChar char="●"/>
            </a:pPr>
            <a:r>
              <a:rPr lang="en" u="sng">
                <a:solidFill>
                  <a:schemeClr val="hlink"/>
                </a:solidFill>
                <a:latin typeface="Calibri"/>
                <a:ea typeface="Calibri"/>
                <a:cs typeface="Calibri"/>
                <a:sym typeface="Calibri"/>
                <a:hlinkClick r:id="rId6"/>
              </a:rPr>
              <a:t>https://claude.com/solutions/small-business</a:t>
            </a:r>
            <a:r>
              <a:rPr lang="en">
                <a:latin typeface="Calibri"/>
                <a:ea typeface="Calibri"/>
                <a:cs typeface="Calibri"/>
                <a:sym typeface="Calibri"/>
              </a:rPr>
              <a:t> </a:t>
            </a:r>
            <a:endParaRPr>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https://www.anthropic.com/news/claude-for-small-business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02" name="Google Shape;102;p1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38194" y="3937250"/>
            <a:ext cx="1266626" cy="10650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p:nvPr/>
        </p:nvSpPr>
        <p:spPr>
          <a:xfrm>
            <a:off x="60250" y="431150"/>
            <a:ext cx="44100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Cerebras IPO</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Cerebras Systems (Nasdaq ticker: CBRS) May 14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largest U.S. tech IPO since Uber's 2019</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IPO price: $185 per share (raised twice from an initial $115 range due to surging demand)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30 Mln shares offered, Capital raised: $5.55 Bln</a:t>
            </a:r>
            <a:endParaRPr sz="1200">
              <a:solidFill>
                <a:schemeClr val="dk1"/>
              </a:solidFill>
              <a:latin typeface="Calibri"/>
              <a:ea typeface="Calibri"/>
              <a:cs typeface="Calibri"/>
              <a:sym typeface="Calibri"/>
            </a:endParaRPr>
          </a:p>
        </p:txBody>
      </p:sp>
      <p:sp>
        <p:nvSpPr>
          <p:cNvPr id="108" name="Google Shape;108;p19"/>
          <p:cNvSpPr txBox="1"/>
          <p:nvPr/>
        </p:nvSpPr>
        <p:spPr>
          <a:xfrm>
            <a:off x="81775" y="67675"/>
            <a:ext cx="448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a:t>
            </a:r>
            <a:endParaRPr sz="2000" b="1">
              <a:solidFill>
                <a:schemeClr val="dk1"/>
              </a:solidFill>
              <a:latin typeface="Calibri"/>
              <a:ea typeface="Calibri"/>
              <a:cs typeface="Calibri"/>
              <a:sym typeface="Calibri"/>
            </a:endParaRPr>
          </a:p>
        </p:txBody>
      </p:sp>
      <p:pic>
        <p:nvPicPr>
          <p:cNvPr id="109" name="Google Shape;109;p19"/>
          <p:cNvPicPr preferRelativeResize="0"/>
          <p:nvPr/>
        </p:nvPicPr>
        <p:blipFill>
          <a:blip r:embed="rId3">
            <a:alphaModFix/>
          </a:blip>
          <a:stretch>
            <a:fillRect/>
          </a:stretch>
        </p:blipFill>
        <p:spPr>
          <a:xfrm>
            <a:off x="4770775" y="194450"/>
            <a:ext cx="2857500" cy="1600200"/>
          </a:xfrm>
          <a:prstGeom prst="rect">
            <a:avLst/>
          </a:prstGeom>
          <a:noFill/>
          <a:ln w="9525" cap="flat" cmpd="sng">
            <a:solidFill>
              <a:srgbClr val="FF0000"/>
            </a:solidFill>
            <a:prstDash val="solid"/>
            <a:round/>
            <a:headEnd type="none" w="sm" len="sm"/>
            <a:tailEnd type="none" w="sm" len="sm"/>
          </a:ln>
        </p:spPr>
      </p:pic>
      <p:sp>
        <p:nvSpPr>
          <p:cNvPr id="110" name="Google Shape;110;p19"/>
          <p:cNvSpPr txBox="1"/>
          <p:nvPr/>
        </p:nvSpPr>
        <p:spPr>
          <a:xfrm>
            <a:off x="60250" y="2161673"/>
            <a:ext cx="44100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removing the ban against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Starting June 15, 2026. OpenClaw will work again, but agentic usage now draws from a dedicated monthly credit pool (e.g., $20/month on Pro). Extra usage beyond the credits is billed at standard API rates.</a:t>
            </a:r>
            <a:endParaRPr sz="1200">
              <a:solidFill>
                <a:schemeClr val="dk1"/>
              </a:solidFill>
              <a:latin typeface="Calibri"/>
              <a:ea typeface="Calibri"/>
              <a:cs typeface="Calibri"/>
              <a:sym typeface="Calibri"/>
            </a:endParaRPr>
          </a:p>
        </p:txBody>
      </p:sp>
      <p:pic>
        <p:nvPicPr>
          <p:cNvPr id="111" name="Google Shape;111;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61257" y="2161674"/>
            <a:ext cx="1676536" cy="942000"/>
          </a:xfrm>
          <a:prstGeom prst="rect">
            <a:avLst/>
          </a:prstGeom>
          <a:noFill/>
          <a:ln>
            <a:noFill/>
          </a:ln>
        </p:spPr>
      </p:pic>
      <p:cxnSp>
        <p:nvCxnSpPr>
          <p:cNvPr id="112" name="Google Shape;112;p19"/>
          <p:cNvCxnSpPr/>
          <p:nvPr/>
        </p:nvCxnSpPr>
        <p:spPr>
          <a:xfrm>
            <a:off x="5188875" y="2027150"/>
            <a:ext cx="1739700" cy="1391700"/>
          </a:xfrm>
          <a:prstGeom prst="straightConnector1">
            <a:avLst/>
          </a:prstGeom>
          <a:noFill/>
          <a:ln w="38100" cap="flat" cmpd="sng">
            <a:solidFill>
              <a:srgbClr val="FF0000"/>
            </a:solidFill>
            <a:prstDash val="solid"/>
            <a:round/>
            <a:headEnd type="none" w="med" len="med"/>
            <a:tailEnd type="none" w="med" len="med"/>
          </a:ln>
        </p:spPr>
      </p:cxnSp>
      <p:cxnSp>
        <p:nvCxnSpPr>
          <p:cNvPr id="113" name="Google Shape;113;p19"/>
          <p:cNvCxnSpPr/>
          <p:nvPr/>
        </p:nvCxnSpPr>
        <p:spPr>
          <a:xfrm flipH="1">
            <a:off x="5654425" y="1914200"/>
            <a:ext cx="1090200" cy="1617600"/>
          </a:xfrm>
          <a:prstGeom prst="straightConnector1">
            <a:avLst/>
          </a:prstGeom>
          <a:noFill/>
          <a:ln w="38100" cap="flat" cmpd="sng">
            <a:solidFill>
              <a:srgbClr val="FF0000"/>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19" name="Google Shape;119;p20"/>
          <p:cNvSpPr txBox="1"/>
          <p:nvPr/>
        </p:nvSpPr>
        <p:spPr>
          <a:xfrm>
            <a:off x="81776" y="543075"/>
            <a:ext cx="51603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Anthropic Agents View - dashboard for Claude Code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https://www.youtube.com/watch?v=7zxIeRWasbc</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https://claude.com/blog/agent-view-in-claude-code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https://code.claude.com/docs/en/agent-view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Multiple terminal sessions organized into single dashboard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start, enter terminal command </a:t>
            </a:r>
            <a:r>
              <a:rPr lang="en" sz="1200" b="1">
                <a:solidFill>
                  <a:srgbClr val="3C78D8"/>
                </a:solidFill>
                <a:latin typeface="Roboto Mono"/>
                <a:ea typeface="Roboto Mono"/>
                <a:cs typeface="Roboto Mono"/>
                <a:sym typeface="Roboto Mono"/>
              </a:rPr>
              <a:t>"claude agents"</a:t>
            </a:r>
            <a:endParaRPr sz="1200" b="1">
              <a:solidFill>
                <a:srgbClr val="3C78D8"/>
              </a:solidFill>
              <a:latin typeface="Roboto Mono"/>
              <a:ea typeface="Roboto Mono"/>
              <a:cs typeface="Roboto Mono"/>
              <a:sym typeface="Roboto Mono"/>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move session into the dashboard, give </a:t>
            </a:r>
            <a:r>
              <a:rPr lang="en" sz="1200" b="1">
                <a:solidFill>
                  <a:srgbClr val="3C78D8"/>
                </a:solidFill>
                <a:latin typeface="Roboto Mono"/>
                <a:ea typeface="Roboto Mono"/>
                <a:cs typeface="Roboto Mono"/>
                <a:sym typeface="Roboto Mono"/>
              </a:rPr>
              <a:t>`/bg` </a:t>
            </a:r>
            <a:r>
              <a:rPr lang="en" sz="1200">
                <a:solidFill>
                  <a:schemeClr val="dk1"/>
                </a:solidFill>
                <a:latin typeface="Calibri"/>
                <a:ea typeface="Calibri"/>
                <a:cs typeface="Calibri"/>
                <a:sym typeface="Calibri"/>
              </a:rPr>
              <a:t>(background) command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Closing the terminal window does not kill your sessions; running the "claude agents" command again will restore the dashboard with all active tasks intact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Sessions are organized  into 3 sections: Needs Input, Working, and Completed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jump directly into a session by clicking it or use the left arrow key to return to the main dashboard; Or you can hover the pointer  over a session and hitting the spacebar to view the session's elapsed time and history, remove it (ctrl-x) and even reply without fully entering the session</a:t>
            </a:r>
            <a:endParaRPr sz="1200">
              <a:solidFill>
                <a:schemeClr val="dk1"/>
              </a:solidFill>
              <a:latin typeface="Calibri"/>
              <a:ea typeface="Calibri"/>
              <a:cs typeface="Calibri"/>
              <a:sym typeface="Calibri"/>
            </a:endParaRPr>
          </a:p>
        </p:txBody>
      </p:sp>
      <p:pic>
        <p:nvPicPr>
          <p:cNvPr id="120" name="Google Shape;120;p20"/>
          <p:cNvPicPr preferRelativeResize="0"/>
          <p:nvPr/>
        </p:nvPicPr>
        <p:blipFill>
          <a:blip r:embed="rId6">
            <a:alphaModFix/>
          </a:blip>
          <a:stretch>
            <a:fillRect/>
          </a:stretch>
        </p:blipFill>
        <p:spPr>
          <a:xfrm>
            <a:off x="5337404" y="543063"/>
            <a:ext cx="2952750" cy="1552575"/>
          </a:xfrm>
          <a:prstGeom prst="rect">
            <a:avLst/>
          </a:prstGeom>
          <a:noFill/>
          <a:ln w="9525" cap="flat" cmpd="sng">
            <a:solidFill>
              <a:srgbClr val="FF0000"/>
            </a:solidFill>
            <a:prstDash val="solid"/>
            <a:round/>
            <a:headEnd type="none" w="sm" len="sm"/>
            <a:tailEnd type="none" w="sm" len="sm"/>
          </a:ln>
        </p:spPr>
      </p:pic>
      <p:sp>
        <p:nvSpPr>
          <p:cNvPr id="121" name="Google Shape;121;p20"/>
          <p:cNvSpPr txBox="1"/>
          <p:nvPr/>
        </p:nvSpPr>
        <p:spPr>
          <a:xfrm>
            <a:off x="81775" y="3850475"/>
            <a:ext cx="3243900" cy="541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Anthropic officially overtook OpenAI in business adoption</a:t>
            </a:r>
            <a:r>
              <a:rPr lang="en" sz="1200">
                <a:solidFill>
                  <a:schemeClr val="dk1"/>
                </a:solidFill>
                <a:latin typeface="Calibri"/>
                <a:ea typeface="Calibri"/>
                <a:cs typeface="Calibri"/>
                <a:sym typeface="Calibri"/>
              </a:rPr>
              <a:t>, per Ramp's latest spending data.</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https://ramp.com/leading-indicators/ai-index-may-2026</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22" name="Google Shape;122;p2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760674" y="3199726"/>
            <a:ext cx="1778955" cy="1843300"/>
          </a:xfrm>
          <a:prstGeom prst="rect">
            <a:avLst/>
          </a:prstGeom>
          <a:noFill/>
          <a:ln w="9525" cap="flat" cmpd="sng">
            <a:solidFill>
              <a:srgbClr val="FF0000"/>
            </a:solidFill>
            <a:prstDash val="solid"/>
            <a:round/>
            <a:headEnd type="none" w="sm" len="sm"/>
            <a:tailEnd type="none" w="sm" len="sm"/>
          </a:ln>
        </p:spPr>
      </p:pic>
      <p:pic>
        <p:nvPicPr>
          <p:cNvPr id="123" name="Google Shape;123;p20"/>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3393426" y="3199725"/>
            <a:ext cx="3186637" cy="184329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p:nvPr/>
        </p:nvSpPr>
        <p:spPr>
          <a:xfrm>
            <a:off x="60250" y="2111033"/>
            <a:ext cx="48597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Matthew Berman discusses the </a:t>
            </a:r>
            <a:r>
              <a:rPr lang="en" sz="1200" b="1">
                <a:solidFill>
                  <a:srgbClr val="FF0000"/>
                </a:solidFill>
                <a:latin typeface="Calibri"/>
                <a:ea typeface="Calibri"/>
                <a:cs typeface="Calibri"/>
                <a:sym typeface="Calibri"/>
              </a:rPr>
              <a:t>alarming rise of AI-powered cyberattacks, highlighting Google’s recent discovery of the first AI-generated zero-day exploit used in the wild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explains that AI is dramatically increasing the velocity and sophistication of threats, such as widespread supply chain worms and highly realistic deepfake phishing attempts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However, he argues that the ultimate solution is an "AI arms race" where superior defensive models, like OpenAI’s GPT-5.5 Cyber and Anthropic’s Mythos, </a:t>
            </a:r>
            <a:r>
              <a:rPr lang="en" sz="1200" b="1">
                <a:solidFill>
                  <a:srgbClr val="3C78D8"/>
                </a:solidFill>
                <a:latin typeface="Calibri"/>
                <a:ea typeface="Calibri"/>
                <a:cs typeface="Calibri"/>
                <a:sym typeface="Calibri"/>
              </a:rPr>
              <a:t>harden systems faster than attackers can breach them</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While large organizations can afford this top-tier protection, Berman warns that individuals face increased risk because AI makes low-value, high-volume attacks more profitable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Ultimately, he stresses that </a:t>
            </a:r>
            <a:r>
              <a:rPr lang="en" sz="1200" b="1">
                <a:solidFill>
                  <a:srgbClr val="3C78D8"/>
                </a:solidFill>
                <a:latin typeface="Calibri"/>
                <a:ea typeface="Calibri"/>
                <a:cs typeface="Calibri"/>
                <a:sym typeface="Calibri"/>
              </a:rPr>
              <a:t>national security depends on maintaining a lead in AI development to outpace adversarial state actors</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https://www.youtube.com/watch?v=5H3LGJSyaHM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29" name="Google Shape;129;p21"/>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Cyber Attacks</a:t>
            </a:r>
            <a:endParaRPr sz="2000" b="1">
              <a:solidFill>
                <a:schemeClr val="dk1"/>
              </a:solidFill>
              <a:latin typeface="Calibri"/>
              <a:ea typeface="Calibri"/>
              <a:cs typeface="Calibri"/>
              <a:sym typeface="Calibri"/>
            </a:endParaRPr>
          </a:p>
        </p:txBody>
      </p:sp>
      <p:sp>
        <p:nvSpPr>
          <p:cNvPr id="130" name="Google Shape;130;p21"/>
          <p:cNvSpPr txBox="1"/>
          <p:nvPr/>
        </p:nvSpPr>
        <p:spPr>
          <a:xfrm>
            <a:off x="60250" y="434638"/>
            <a:ext cx="44832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Says Hackers Used AI to Build Zero-Day Exploit</a:t>
            </a:r>
            <a:endParaRPr sz="1200" b="1">
              <a:solidFill>
                <a:srgbClr val="FF0000"/>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4"/>
              </a:rPr>
              <a:t>https://www.techrepublic.com/article/news-google-hackers-ai-zero-day-exploit/</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31" name="Google Shape;131;p21"/>
          <p:cNvSpPr txBox="1"/>
          <p:nvPr/>
        </p:nvSpPr>
        <p:spPr>
          <a:xfrm>
            <a:off x="60250" y="866979"/>
            <a:ext cx="44832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early 2026, the use of LLMs and autonomous agents in security research has moved from experimental labs to finding hundreds of real-world vulnerabilities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While LLMs are frequently used to "triage" existing bugs, a subset of CVEs has been attributed directly to AI-assisted discovery or specifically identified within AI frameworks by other AI agents.</a:t>
            </a:r>
            <a:endParaRPr sz="1200">
              <a:solidFill>
                <a:schemeClr val="dk1"/>
              </a:solidFill>
              <a:latin typeface="Calibri"/>
              <a:ea typeface="Calibri"/>
              <a:cs typeface="Calibri"/>
              <a:sym typeface="Calibri"/>
            </a:endParaRPr>
          </a:p>
        </p:txBody>
      </p:sp>
      <p:pic>
        <p:nvPicPr>
          <p:cNvPr id="132" name="Google Shape;132;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19549" y="2485774"/>
            <a:ext cx="3872075" cy="19449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2"/>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6.7K subscribers, 285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38" name="Google Shape;138;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33650" y="80363"/>
            <a:ext cx="2541900" cy="4982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3"/>
          <p:cNvSpPr txBox="1"/>
          <p:nvPr/>
        </p:nvSpPr>
        <p:spPr>
          <a:xfrm>
            <a:off x="60250" y="431150"/>
            <a:ext cx="45705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End of Chats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chat era is ending. Power users have ditched ChatGPT and Claude for agentic tools like Codex and Claude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Agents actually do things instead of just talking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real endgame is an AI personal assistant that abstracts away all the technical plumbing and just works for everyone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Think less "chatbot you prompt carefully" and more "best friend who already knows what you mean."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say "handle that thing," and it handles it. No detailed instructions, no setup, no waiting. Eventually, it acts before you even ask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https://substack.com/@petergyang/note/c-255544179</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Automate Your Life with Claude Code in 40 Minutes - </a:t>
            </a:r>
            <a:r>
              <a:rPr lang="en" sz="1200" u="sng">
                <a:solidFill>
                  <a:schemeClr val="hlink"/>
                </a:solidFill>
                <a:latin typeface="Calibri"/>
                <a:ea typeface="Calibri"/>
                <a:cs typeface="Calibri"/>
                <a:sym typeface="Calibri"/>
                <a:hlinkClick r:id="rId4"/>
              </a:rPr>
              <a:t>https://www.youtube.com/watch?v=ACRd0Ikg_KI</a:t>
            </a:r>
            <a:r>
              <a:rPr lang="en" sz="1200">
                <a:solidFill>
                  <a:schemeClr val="dk1"/>
                </a:solidFill>
                <a:latin typeface="Calibri"/>
                <a:ea typeface="Calibri"/>
                <a:cs typeface="Calibri"/>
                <a:sym typeface="Calibri"/>
              </a:rPr>
              <a:t> - video</a:t>
            </a:r>
            <a:endParaRPr sz="1200">
              <a:solidFill>
                <a:schemeClr val="dk1"/>
              </a:solidFill>
              <a:latin typeface="Calibri"/>
              <a:ea typeface="Calibri"/>
              <a:cs typeface="Calibri"/>
              <a:sym typeface="Calibri"/>
            </a:endParaRPr>
          </a:p>
        </p:txBody>
      </p:sp>
      <p:sp>
        <p:nvSpPr>
          <p:cNvPr id="144" name="Google Shape;144;p23"/>
          <p:cNvSpPr txBox="1"/>
          <p:nvPr/>
        </p:nvSpPr>
        <p:spPr>
          <a:xfrm>
            <a:off x="81775" y="67675"/>
            <a:ext cx="448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a:t>
            </a:r>
            <a:endParaRPr sz="2000" b="1">
              <a:solidFill>
                <a:schemeClr val="dk1"/>
              </a:solidFill>
              <a:latin typeface="Calibri"/>
              <a:ea typeface="Calibri"/>
              <a:cs typeface="Calibri"/>
              <a:sym typeface="Calibri"/>
            </a:endParaRPr>
          </a:p>
        </p:txBody>
      </p:sp>
      <p:pic>
        <p:nvPicPr>
          <p:cNvPr id="145" name="Google Shape;145;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13525" y="67675"/>
            <a:ext cx="4145783" cy="2172550"/>
          </a:xfrm>
          <a:prstGeom prst="rect">
            <a:avLst/>
          </a:prstGeom>
          <a:noFill/>
          <a:ln w="9525" cap="flat" cmpd="sng">
            <a:solidFill>
              <a:srgbClr val="FF0000"/>
            </a:solidFill>
            <a:prstDash val="solid"/>
            <a:round/>
            <a:headEnd type="none" w="sm" len="sm"/>
            <a:tailEnd type="none" w="sm" len="sm"/>
          </a:ln>
        </p:spPr>
      </p:pic>
      <p:sp>
        <p:nvSpPr>
          <p:cNvPr id="146" name="Google Shape;146;p23"/>
          <p:cNvSpPr txBox="1"/>
          <p:nvPr/>
        </p:nvSpPr>
        <p:spPr>
          <a:xfrm>
            <a:off x="60250" y="3072525"/>
            <a:ext cx="3480900" cy="152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Agent is now #1 most used globally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Agent by Nous Research hit 224B daily tokens on OpenRouter vs. OpenClaw's 186B, claiming the #1 spot</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6"/>
              </a:rPr>
              <a:t>https://openrouter.ai/openrouter/auto/activity</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https://www.reddit.com/r/singularity/comments/1t9hh33/hermes_agent_is_now_1_most_used_globally_in_past/</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8"/>
              </a:rPr>
              <a:t>https://github.com/openclaw/openclaw</a:t>
            </a:r>
            <a:r>
              <a:rPr lang="en" sz="1000">
                <a:solidFill>
                  <a:schemeClr val="dk1"/>
                </a:solidFill>
                <a:latin typeface="Calibri"/>
                <a:ea typeface="Calibri"/>
                <a:cs typeface="Calibri"/>
                <a:sym typeface="Calibri"/>
              </a:rPr>
              <a:t> - 372K stars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9"/>
              </a:rPr>
              <a:t>https://github.com/nousresearch/hermes-agent</a:t>
            </a:r>
            <a:r>
              <a:rPr lang="en" sz="1000">
                <a:solidFill>
                  <a:schemeClr val="dk1"/>
                </a:solidFill>
                <a:latin typeface="Calibri"/>
                <a:ea typeface="Calibri"/>
                <a:cs typeface="Calibri"/>
                <a:sym typeface="Calibri"/>
              </a:rPr>
              <a:t> - 151K stars</a:t>
            </a:r>
            <a:endParaRPr sz="1000">
              <a:solidFill>
                <a:schemeClr val="dk1"/>
              </a:solidFill>
              <a:latin typeface="Calibri"/>
              <a:ea typeface="Calibri"/>
              <a:cs typeface="Calibri"/>
              <a:sym typeface="Calibri"/>
            </a:endParaRPr>
          </a:p>
        </p:txBody>
      </p:sp>
      <p:pic>
        <p:nvPicPr>
          <p:cNvPr id="147" name="Google Shape;147;p23"/>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3607217" y="2887725"/>
            <a:ext cx="2151819" cy="2172549"/>
          </a:xfrm>
          <a:prstGeom prst="rect">
            <a:avLst/>
          </a:prstGeom>
          <a:noFill/>
          <a:ln w="9525" cap="flat" cmpd="sng">
            <a:solidFill>
              <a:srgbClr val="FF0000"/>
            </a:solidFill>
            <a:prstDash val="solid"/>
            <a:round/>
            <a:headEnd type="none" w="sm" len="sm"/>
            <a:tailEnd type="none" w="sm" len="sm"/>
          </a:ln>
        </p:spPr>
      </p:pic>
      <p:sp>
        <p:nvSpPr>
          <p:cNvPr id="148" name="Google Shape;148;p23"/>
          <p:cNvSpPr txBox="1"/>
          <p:nvPr/>
        </p:nvSpPr>
        <p:spPr>
          <a:xfrm>
            <a:off x="5830259" y="2903325"/>
            <a:ext cx="32829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Why Hermes: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Self-improving: saves skills after each task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Persistent memory across sessions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Isolated sub-agents keep context small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Multi-channel: Telegram,Discord,Slack,WhatsApp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MCP-native tool integrations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Curated, reliable plugin ecosystem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One-command OpenClaw migration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Supports 200+ models</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4"/>
          <p:cNvSpPr txBox="1"/>
          <p:nvPr/>
        </p:nvSpPr>
        <p:spPr>
          <a:xfrm>
            <a:off x="60250" y="431150"/>
            <a:ext cx="44832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xxx</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xxx</a:t>
            </a:r>
            <a:endParaRPr sz="1200">
              <a:solidFill>
                <a:schemeClr val="dk1"/>
              </a:solidFill>
              <a:latin typeface="Calibri"/>
              <a:ea typeface="Calibri"/>
              <a:cs typeface="Calibri"/>
              <a:sym typeface="Calibri"/>
            </a:endParaRPr>
          </a:p>
        </p:txBody>
      </p:sp>
      <p:sp>
        <p:nvSpPr>
          <p:cNvPr id="154" name="Google Shape;154;p24"/>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Humor</a:t>
            </a:r>
            <a:endParaRPr sz="2000" b="1">
              <a:solidFill>
                <a:schemeClr val="dk1"/>
              </a:solidFill>
              <a:latin typeface="Calibri"/>
              <a:ea typeface="Calibri"/>
              <a:cs typeface="Calibri"/>
              <a:sym typeface="Calibri"/>
            </a:endParaRPr>
          </a:p>
        </p:txBody>
      </p:sp>
      <p:pic>
        <p:nvPicPr>
          <p:cNvPr id="155" name="Google Shape;155;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52400" y="971450"/>
            <a:ext cx="3281449" cy="2879500"/>
          </a:xfrm>
          <a:prstGeom prst="rect">
            <a:avLst/>
          </a:prstGeom>
          <a:noFill/>
          <a:ln w="9525" cap="flat" cmpd="sng">
            <a:solidFill>
              <a:srgbClr val="FF0000"/>
            </a:solidFill>
            <a:prstDash val="solid"/>
            <a:round/>
            <a:headEnd type="none" w="sm" len="sm"/>
            <a:tailEnd type="none" w="sm" len="sm"/>
          </a:ln>
        </p:spPr>
      </p:pic>
      <p:pic>
        <p:nvPicPr>
          <p:cNvPr id="156" name="Google Shape;156;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29925" y="3248975"/>
            <a:ext cx="3514976" cy="1768774"/>
          </a:xfrm>
          <a:prstGeom prst="rect">
            <a:avLst/>
          </a:prstGeom>
          <a:noFill/>
          <a:ln w="9525" cap="flat" cmpd="sng">
            <a:solidFill>
              <a:srgbClr val="FF0000"/>
            </a:solidFill>
            <a:prstDash val="solid"/>
            <a:round/>
            <a:headEnd type="none" w="sm" len="sm"/>
            <a:tailEnd type="none" w="sm" len="sm"/>
          </a:ln>
        </p:spPr>
      </p:pic>
      <p:pic>
        <p:nvPicPr>
          <p:cNvPr id="157" name="Google Shape;157;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376325" y="925651"/>
            <a:ext cx="4668573" cy="22057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5"/>
          <p:cNvSpPr txBox="1"/>
          <p:nvPr/>
        </p:nvSpPr>
        <p:spPr>
          <a:xfrm>
            <a:off x="60250" y="431150"/>
            <a:ext cx="45705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GPT-5.5 (OpenAI) - The "iPhone of AI"; the most polished, all-in-one ecosystem with the largest user base.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4.7 (Anthropic) - The developer favorite; excels in coding accuracy, nuanced writing, and complex reasoning.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Gemini 3.1 (Google) - Integrated into Google Workspace; features a massive 2-million-token context window for huge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Llama 4 (Meta) - The open-source standard; allows developers to build and run powerful models on their own hardware.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DeepSeek V4 - A high-performance Chinese model known for being extremely cost-effective and efficient.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Gemma 4 - Google’s lightweight open-weights line designed to run locally on laptops and mobile devices.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Mistral Large 3 - Europe’s flagship model; focuses on high efficiency and privacy-conscious local deployment.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Quen 3.6 (Alibaba) - A versatile family of models that leads in multilingual support and Asian languages.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Kimmy K2.6 - Specialized for "agentic" workflows, capable of running hundreds of sub-tasks autonomously.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Perplexity - An AI search engine that pulls data from the models above to provide sourced, real-time research.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https://www.youtube.com/watch?v=9UpLmjlDgPg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63" name="Google Shape;163;p25"/>
          <p:cNvSpPr txBox="1"/>
          <p:nvPr/>
        </p:nvSpPr>
        <p:spPr>
          <a:xfrm>
            <a:off x="81775" y="67675"/>
            <a:ext cx="448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Models to Know</a:t>
            </a:r>
            <a:endParaRPr sz="2000" b="1">
              <a:solidFill>
                <a:schemeClr val="dk1"/>
              </a:solidFill>
              <a:latin typeface="Calibri"/>
              <a:ea typeface="Calibri"/>
              <a:cs typeface="Calibri"/>
              <a:sym typeface="Calibri"/>
            </a:endParaRPr>
          </a:p>
        </p:txBody>
      </p:sp>
      <p:pic>
        <p:nvPicPr>
          <p:cNvPr id="164" name="Google Shape;164;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83150" y="969600"/>
            <a:ext cx="4208451" cy="228711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6"/>
          <p:cNvSpPr txBox="1"/>
          <p:nvPr/>
        </p:nvSpPr>
        <p:spPr>
          <a:xfrm>
            <a:off x="3524375" y="67675"/>
            <a:ext cx="54903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Two types of Hallucination tests:</a:t>
            </a:r>
            <a:endParaRPr sz="1200" b="1">
              <a:solidFill>
                <a:srgbClr val="FF0000"/>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Summarization-based tests (like Vectara's Hallucination Leaderboard)</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Open-knowledge / factual recall tests (like Artificial Analysis AA-Omniscience)</a:t>
            </a:r>
            <a:endParaRPr sz="1200">
              <a:solidFill>
                <a:schemeClr val="dk1"/>
              </a:solidFill>
              <a:latin typeface="Calibri"/>
              <a:ea typeface="Calibri"/>
              <a:cs typeface="Calibri"/>
              <a:sym typeface="Calibri"/>
            </a:endParaRPr>
          </a:p>
        </p:txBody>
      </p:sp>
      <p:sp>
        <p:nvSpPr>
          <p:cNvPr id="170" name="Google Shape;170;p26"/>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Hallucination Tests</a:t>
            </a:r>
            <a:endParaRPr sz="2000" b="1">
              <a:solidFill>
                <a:schemeClr val="dk1"/>
              </a:solidFill>
              <a:latin typeface="Calibri"/>
              <a:ea typeface="Calibri"/>
              <a:cs typeface="Calibri"/>
              <a:sym typeface="Calibri"/>
            </a:endParaRPr>
          </a:p>
        </p:txBody>
      </p:sp>
      <p:graphicFrame>
        <p:nvGraphicFramePr>
          <p:cNvPr id="171" name="Google Shape;171;p26"/>
          <p:cNvGraphicFramePr/>
          <p:nvPr/>
        </p:nvGraphicFramePr>
        <p:xfrm>
          <a:off x="91300" y="691118"/>
          <a:ext cx="3000000" cy="3000000"/>
        </p:xfrm>
        <a:graphic>
          <a:graphicData uri="http://schemas.openxmlformats.org/drawingml/2006/table">
            <a:tbl>
              <a:tblPr>
                <a:noFill/>
                <a:tableStyleId>{C592A508-7C1A-4D1E-81BE-707CAE3E2275}</a:tableStyleId>
              </a:tblPr>
              <a:tblGrid>
                <a:gridCol w="1623725">
                  <a:extLst>
                    <a:ext uri="{9D8B030D-6E8A-4147-A177-3AD203B41FA5}">
                      <a16:colId xmlns:a16="http://schemas.microsoft.com/office/drawing/2014/main" val="20000"/>
                    </a:ext>
                  </a:extLst>
                </a:gridCol>
                <a:gridCol w="1585225">
                  <a:extLst>
                    <a:ext uri="{9D8B030D-6E8A-4147-A177-3AD203B41FA5}">
                      <a16:colId xmlns:a16="http://schemas.microsoft.com/office/drawing/2014/main" val="20001"/>
                    </a:ext>
                  </a:extLst>
                </a:gridCol>
                <a:gridCol w="1433025">
                  <a:extLst>
                    <a:ext uri="{9D8B030D-6E8A-4147-A177-3AD203B41FA5}">
                      <a16:colId xmlns:a16="http://schemas.microsoft.com/office/drawing/2014/main" val="20002"/>
                    </a:ext>
                  </a:extLst>
                </a:gridCol>
                <a:gridCol w="2625600">
                  <a:extLst>
                    <a:ext uri="{9D8B030D-6E8A-4147-A177-3AD203B41FA5}">
                      <a16:colId xmlns:a16="http://schemas.microsoft.com/office/drawing/2014/main" val="20003"/>
                    </a:ext>
                  </a:extLst>
                </a:gridCol>
              </a:tblGrid>
              <a:tr h="12782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AA-Omniscience Hallucination</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Vectara / Summarization</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Notes</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8995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Grok 4.20</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17%</a:t>
                      </a:r>
                      <a:r>
                        <a:rPr lang="en" sz="800">
                          <a:latin typeface="Calibri"/>
                          <a:ea typeface="Calibri"/>
                          <a:cs typeface="Calibri"/>
                          <a:sym typeface="Calibri"/>
                        </a:rPr>
                        <a:t> 🟢</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~1–2% est.</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Record low on AA-Omniscience</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852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MiMo-V2.5-Pro</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25%</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~1–2% est.</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Best open-weights model</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852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GLM-5.1</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29%</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~2% est.</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Best open-weights at release</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852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Claude Opus 4.7</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36%</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~1.5%</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MASK honesty 91.7%</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278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Perplexity + Claude Opus 4.7</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~5–10% est.</a:t>
                      </a:r>
                      <a:r>
                        <a:rPr lang="en" sz="800">
                          <a:latin typeface="Calibri"/>
                          <a:ea typeface="Calibri"/>
                          <a:cs typeface="Calibri"/>
                          <a:sym typeface="Calibri"/>
                        </a:rPr>
                        <a:t> 🟢</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 est.</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Grounded search reduces hallucination by ~73–86%</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05"/>
                  </a:ext>
                </a:extLst>
              </a:tr>
              <a:tr h="852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Kimi K2.6</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39%</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~2% est.</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Down from 65% in K2.5</a:t>
                      </a:r>
                      <a:r>
                        <a:rPr lang="en" sz="800">
                          <a:uFill>
                            <a:noFill/>
                          </a:uFill>
                          <a:latin typeface="Calibri"/>
                          <a:ea typeface="Calibri"/>
                          <a:cs typeface="Calibri"/>
                          <a:sym typeface="Calibri"/>
                          <a:hlinkClick r:id="rId3"/>
                        </a:rPr>
                        <a:t> </a:t>
                      </a:r>
                      <a:r>
                        <a:rPr lang="en" sz="800" u="sng">
                          <a:solidFill>
                            <a:schemeClr val="hlink"/>
                          </a:solidFill>
                          <a:latin typeface="Calibri"/>
                          <a:ea typeface="Calibri"/>
                          <a:cs typeface="Calibri"/>
                          <a:sym typeface="Calibri"/>
                          <a:hlinkClick r:id="rId3"/>
                        </a:rPr>
                        <a:t>x</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278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Gemini 3.1 Pro</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50%</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~0.7–1%</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Massive improvement vs Gemini 3.0's 88%</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852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Qwen 3.6 Plus</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~27%</a:t>
                      </a:r>
                      <a:r>
                        <a:rPr lang="en" sz="800">
                          <a:latin typeface="Calibri"/>
                          <a:ea typeface="Calibri"/>
                          <a:cs typeface="Calibri"/>
                          <a:sym typeface="Calibri"/>
                        </a:rPr>
                        <a:t> (code)</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~2% est.</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BridgeBench fabrication rate</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852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Qwen3.6 Max Preview</a:t>
                      </a:r>
                      <a:endParaRPr sz="800">
                        <a:latin typeface="Calibri"/>
                        <a:ea typeface="Calibri"/>
                        <a:cs typeface="Calibri"/>
                        <a:sym typeface="Calibri"/>
                      </a:endParaRPr>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Not published</a:t>
                      </a:r>
                      <a:endParaRPr sz="800" b="1">
                        <a:latin typeface="Calibri"/>
                        <a:ea typeface="Calibri"/>
                        <a:cs typeface="Calibri"/>
                        <a:sym typeface="Calibri"/>
                      </a:endParaRPr>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~2% est.</a:t>
                      </a:r>
                      <a:endParaRPr sz="800">
                        <a:latin typeface="Calibri"/>
                        <a:ea typeface="Calibri"/>
                        <a:cs typeface="Calibri"/>
                        <a:sym typeface="Calibri"/>
                      </a:endParaRPr>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SimpleQA factual accuracy 52%; no AA-Omni figure yet</a:t>
                      </a:r>
                      <a:endParaRPr sz="800">
                        <a:latin typeface="Calibri"/>
                        <a:ea typeface="Calibri"/>
                        <a:cs typeface="Calibri"/>
                        <a:sym typeface="Calibri"/>
                      </a:endParaRPr>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852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Meta Muse-Spark</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N/A</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N/A</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No full AA-Omniscience published</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278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GPT-5.5</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86%</a:t>
                      </a:r>
                      <a:r>
                        <a:rPr lang="en" sz="800">
                          <a:latin typeface="Calibri"/>
                          <a:ea typeface="Calibri"/>
                          <a:cs typeface="Calibri"/>
                          <a:sym typeface="Calibri"/>
                        </a:rPr>
                        <a:t> 🔴</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 est.</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Highest accuracy but almost never abstains</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278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DeepSeek-V4-Pro</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94%</a:t>
                      </a:r>
                      <a:r>
                        <a:rPr lang="en" sz="800">
                          <a:latin typeface="Calibri"/>
                          <a:ea typeface="Calibri"/>
                          <a:cs typeface="Calibri"/>
                          <a:sym typeface="Calibri"/>
                        </a:rPr>
                        <a:t> 🔴</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~1–2% est.</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Almost always guesses rather than abstaining</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278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GPT-3.5 Turbo</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N/A (pre-benchmark)</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1.9–3.5%</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40% figure comes from medical citation tasks</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278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Ernie 5.1</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Not published</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Not published</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Released May 2026; no hallucination benchmarks yet</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852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Dola-seed-2.0-Pro</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Not published</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Not published</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No published hallucination benchmarks</a:t>
                      </a:r>
                      <a:endParaRPr sz="800" u="sng">
                        <a:solidFill>
                          <a:schemeClr val="hlink"/>
                        </a:solidFill>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852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Mistral Large</a:t>
                      </a:r>
                      <a:endParaRPr sz="800">
                        <a:latin typeface="Calibri"/>
                        <a:ea typeface="Calibri"/>
                        <a:cs typeface="Calibri"/>
                        <a:sym typeface="Calibri"/>
                      </a:endParaRPr>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Not published</a:t>
                      </a:r>
                      <a:endParaRPr sz="800">
                        <a:latin typeface="Calibri"/>
                        <a:ea typeface="Calibri"/>
                        <a:cs typeface="Calibri"/>
                        <a:sym typeface="Calibri"/>
                      </a:endParaRPr>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4.5% 🟢</a:t>
                      </a:r>
                      <a:endParaRPr sz="800">
                        <a:latin typeface="Calibri"/>
                        <a:ea typeface="Calibri"/>
                        <a:cs typeface="Calibri"/>
                        <a:sym typeface="Calibri"/>
                      </a:endParaRPr>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One of the best Vectara scores among non-Google models</a:t>
                      </a:r>
                      <a:endParaRPr sz="800">
                        <a:latin typeface="Calibri"/>
                        <a:ea typeface="Calibri"/>
                        <a:cs typeface="Calibri"/>
                        <a:sym typeface="Calibri"/>
                      </a:endParaRPr>
                    </a:p>
                  </a:txBody>
                  <a:tcPr marL="9125" marR="9125" marT="9125" marB="9125"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
        <p:nvSpPr>
          <p:cNvPr id="172" name="Google Shape;172;p26"/>
          <p:cNvSpPr txBox="1"/>
          <p:nvPr/>
        </p:nvSpPr>
        <p:spPr>
          <a:xfrm>
            <a:off x="81775" y="3461618"/>
            <a:ext cx="5490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Claude 4.1 Opus in Reasoning mode</a:t>
            </a:r>
            <a:r>
              <a:rPr lang="en" sz="1200">
                <a:solidFill>
                  <a:schemeClr val="dk1"/>
                </a:solidFill>
                <a:latin typeface="Calibri"/>
                <a:ea typeface="Calibri"/>
                <a:cs typeface="Calibri"/>
                <a:sym typeface="Calibri"/>
              </a:rPr>
              <a:t> achieved 0% on AA-Omniscience by refusing to guess when uncertain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Claude 4.5 Haiku with web search</a:t>
            </a:r>
            <a:r>
              <a:rPr lang="en" sz="1200">
                <a:solidFill>
                  <a:schemeClr val="dk1"/>
                </a:solidFill>
                <a:latin typeface="Calibri"/>
                <a:ea typeface="Calibri"/>
                <a:cs typeface="Calibri"/>
                <a:sym typeface="Calibri"/>
              </a:rPr>
              <a:t> scores best on HalluHard (30%)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Prompt techniques </a:t>
            </a:r>
            <a:r>
              <a:rPr lang="en" sz="1200">
                <a:solidFill>
                  <a:schemeClr val="dk1"/>
                </a:solidFill>
                <a:latin typeface="Calibri"/>
                <a:ea typeface="Calibri"/>
                <a:cs typeface="Calibri"/>
                <a:sym typeface="Calibri"/>
              </a:rPr>
              <a:t>reducing hallucination - allowing "I don't know," quote extraction, and citation verification loops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Extended thinking halves hallucination rates</a:t>
            </a:r>
            <a:r>
              <a:rPr lang="en" sz="1200">
                <a:solidFill>
                  <a:schemeClr val="dk1"/>
                </a:solidFill>
                <a:latin typeface="Calibri"/>
                <a:ea typeface="Calibri"/>
                <a:cs typeface="Calibri"/>
                <a:sym typeface="Calibri"/>
              </a:rPr>
              <a:t>, dropping Opus 4.7 from 36% to ~5%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Best overall: 3-model consensus (Claude + Grok + Gemini) pushes rates under 3%.</a:t>
            </a:r>
            <a:endParaRPr sz="1200" b="1">
              <a:solidFill>
                <a:srgbClr val="FF0000"/>
              </a:solidFill>
              <a:latin typeface="Calibri"/>
              <a:ea typeface="Calibri"/>
              <a:cs typeface="Calibri"/>
              <a:sym typeface="Calibri"/>
            </a:endParaRPr>
          </a:p>
        </p:txBody>
      </p:sp>
      <p:sp>
        <p:nvSpPr>
          <p:cNvPr id="173" name="Google Shape;173;p26"/>
          <p:cNvSpPr txBox="1"/>
          <p:nvPr/>
        </p:nvSpPr>
        <p:spPr>
          <a:xfrm>
            <a:off x="5701400" y="3481000"/>
            <a:ext cx="33132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Prompt to reduce hallucination:</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endParaRPr sz="1200" b="1">
              <a:solidFill>
                <a:srgbClr val="FF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p:nvPr/>
        </p:nvSpPr>
        <p:spPr>
          <a:xfrm>
            <a:off x="81775" y="383525"/>
            <a:ext cx="54903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Suprmind AI Hallucination Hub</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https://suprmind.ai/hub/ai-hallucination-rates-and-benchmarks/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BridgeBench Hallucination Leaderboard</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https://www.bridgebench.ai/hallucination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Vectara Leaderboard on Hugging Face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https://www.vectara.com/blog/introducing-the-next-generation-of-vectaras-hallucination-leaderboard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rgbClr val="FF0000"/>
                </a:solidFill>
                <a:latin typeface="Calibri"/>
                <a:ea typeface="Calibri"/>
                <a:cs typeface="Calibri"/>
                <a:sym typeface="Calibri"/>
              </a:rPr>
              <a:t>Reasoning/thinking models consistently score worse</a:t>
            </a:r>
            <a:r>
              <a:rPr lang="en" sz="1200">
                <a:solidFill>
                  <a:schemeClr val="dk1"/>
                </a:solidFill>
                <a:latin typeface="Calibri"/>
                <a:ea typeface="Calibri"/>
                <a:cs typeface="Calibri"/>
                <a:sym typeface="Calibri"/>
              </a:rPr>
              <a:t> on Vectara's harder new dataset than non-reasoning models - GPT-5, Claude Sonnet 4.6, Grok-4, and DeepSeek-R1 all exceed 10%, while the non-reasoning Gemini 2.5 Flash-Lite sits at just 3.3%. This is counterintuitive - "thinking more" appears to introduce more fabrication in summarization tasks, </a:t>
            </a:r>
            <a:r>
              <a:rPr lang="en" sz="1200">
                <a:solidFill>
                  <a:srgbClr val="FF0000"/>
                </a:solidFill>
                <a:latin typeface="Calibri"/>
                <a:ea typeface="Calibri"/>
                <a:cs typeface="Calibri"/>
                <a:sym typeface="Calibri"/>
              </a:rPr>
              <a:t>possibly because extended reasoning generates more text that strays from the source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6"/>
              </a:rPr>
              <a:t>https://www.mayhemcode.com/2026/04/vectara-hallucination-leaderboard.html</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79" name="Google Shape;179;p27"/>
          <p:cNvSpPr txBox="1"/>
          <p:nvPr/>
        </p:nvSpPr>
        <p:spPr>
          <a:xfrm>
            <a:off x="81775" y="67675"/>
            <a:ext cx="4461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Hallucination Leaderboards</a:t>
            </a:r>
            <a:endParaRPr sz="2000" b="1">
              <a:solidFill>
                <a:schemeClr val="dk1"/>
              </a:solidFill>
              <a:latin typeface="Calibri"/>
              <a:ea typeface="Calibri"/>
              <a:cs typeface="Calibri"/>
              <a:sym typeface="Calibri"/>
            </a:endParaRPr>
          </a:p>
        </p:txBody>
      </p:sp>
      <p:sp>
        <p:nvSpPr>
          <p:cNvPr id="180" name="Google Shape;180;p27"/>
          <p:cNvSpPr txBox="1"/>
          <p:nvPr/>
        </p:nvSpPr>
        <p:spPr>
          <a:xfrm>
            <a:off x="81775" y="3060050"/>
            <a:ext cx="5490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Reducing RAG hallucinations: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clean your knowledge base, remove duplicates, outdated content, and use 300–500 token chunks with metadata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improve retrieval with hybrid search (dense + BM25), a cross-encoder reranker, and query expansion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strengthen prompts: set temperature to 0, explicitly allow "I don't know," and require the model to cite verbatim quotes before composing answers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add an output verification step - a second LLM-as-judge call or semantic similarity check to catch claims not grounded in retrieved context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quick wins: </a:t>
            </a:r>
            <a:r>
              <a:rPr lang="en" sz="1200" b="1">
                <a:solidFill>
                  <a:srgbClr val="FF0000"/>
                </a:solidFill>
                <a:latin typeface="Calibri"/>
                <a:ea typeface="Calibri"/>
                <a:cs typeface="Calibri"/>
                <a:sym typeface="Calibri"/>
              </a:rPr>
              <a:t>temperature=0, a reranker, and an LLM judge are the highest-impact</a:t>
            </a:r>
            <a:endParaRPr sz="1200" b="1">
              <a:solidFill>
                <a:srgbClr val="FF0000"/>
              </a:solidFill>
              <a:latin typeface="Calibri"/>
              <a:ea typeface="Calibri"/>
              <a:cs typeface="Calibri"/>
              <a:sym typeface="Calibri"/>
            </a:endParaRPr>
          </a:p>
        </p:txBody>
      </p:sp>
      <p:pic>
        <p:nvPicPr>
          <p:cNvPr id="181" name="Google Shape;181;p2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071125" y="964401"/>
            <a:ext cx="2683599" cy="1633399"/>
          </a:xfrm>
          <a:prstGeom prst="rect">
            <a:avLst/>
          </a:prstGeom>
          <a:noFill/>
          <a:ln w="9525" cap="flat" cmpd="sng">
            <a:solidFill>
              <a:srgbClr val="FF0000"/>
            </a:solidFill>
            <a:prstDash val="solid"/>
            <a:round/>
            <a:headEnd type="none" w="sm" len="sm"/>
            <a:tailEnd type="none" w="sm" len="sm"/>
          </a:ln>
        </p:spPr>
      </p:pic>
      <p:pic>
        <p:nvPicPr>
          <p:cNvPr id="182" name="Google Shape;182;p2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804787" y="3176049"/>
            <a:ext cx="3216288" cy="1633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8"/>
          <p:cNvSpPr txBox="1"/>
          <p:nvPr/>
        </p:nvSpPr>
        <p:spPr>
          <a:xfrm>
            <a:off x="81775" y="862700"/>
            <a:ext cx="49566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has eight (8) co-founders.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They have left OpenAI in 2021 to start Anthropic with safety-first mission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They initially had 6%+ ownership each, but over successive funding rounds (Amazon, Google, Nvidia, ...) founder stakes have been progressively diluted down to ~1.8% today. Collectively, founders hold an estimated 10–15% of the company (valued at ~$900 Bln and employing ~ 3K people).</a:t>
            </a:r>
            <a:endParaRPr sz="1200">
              <a:solidFill>
                <a:schemeClr val="dk1"/>
              </a:solidFill>
              <a:latin typeface="Calibri"/>
              <a:ea typeface="Calibri"/>
              <a:cs typeface="Calibri"/>
              <a:sym typeface="Calibri"/>
            </a:endParaRPr>
          </a:p>
        </p:txBody>
      </p:sp>
      <p:sp>
        <p:nvSpPr>
          <p:cNvPr id="188" name="Google Shape;188;p28"/>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Co-founders</a:t>
            </a:r>
            <a:endParaRPr sz="2000" b="1">
              <a:solidFill>
                <a:schemeClr val="dk1"/>
              </a:solidFill>
              <a:latin typeface="Calibri"/>
              <a:ea typeface="Calibri"/>
              <a:cs typeface="Calibri"/>
              <a:sym typeface="Calibri"/>
            </a:endParaRPr>
          </a:p>
        </p:txBody>
      </p:sp>
      <p:pic>
        <p:nvPicPr>
          <p:cNvPr id="189" name="Google Shape;189;p2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664827" y="232027"/>
            <a:ext cx="2636200" cy="1757475"/>
          </a:xfrm>
          <a:prstGeom prst="rect">
            <a:avLst/>
          </a:prstGeom>
          <a:noFill/>
          <a:ln w="9525" cap="flat" cmpd="sng">
            <a:solidFill>
              <a:srgbClr val="FF0000"/>
            </a:solidFill>
            <a:prstDash val="solid"/>
            <a:round/>
            <a:headEnd type="none" w="sm" len="sm"/>
            <a:tailEnd type="none" w="sm" len="sm"/>
          </a:ln>
        </p:spPr>
      </p:pic>
      <p:pic>
        <p:nvPicPr>
          <p:cNvPr id="190" name="Google Shape;190;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75763" y="2677636"/>
            <a:ext cx="1173675" cy="1206274"/>
          </a:xfrm>
          <a:prstGeom prst="rect">
            <a:avLst/>
          </a:prstGeom>
          <a:noFill/>
          <a:ln w="9525" cap="flat" cmpd="sng">
            <a:solidFill>
              <a:srgbClr val="FF0000"/>
            </a:solidFill>
            <a:prstDash val="solid"/>
            <a:round/>
            <a:headEnd type="none" w="sm" len="sm"/>
            <a:tailEnd type="none" w="sm" len="sm"/>
          </a:ln>
        </p:spPr>
      </p:pic>
      <p:sp>
        <p:nvSpPr>
          <p:cNvPr id="191" name="Google Shape;191;p28"/>
          <p:cNvSpPr txBox="1"/>
          <p:nvPr/>
        </p:nvSpPr>
        <p:spPr>
          <a:xfrm>
            <a:off x="5860764" y="2049473"/>
            <a:ext cx="22443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Dario Amodei - CEO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Daniela Amodei - President</a:t>
            </a:r>
            <a:endParaRPr sz="1200">
              <a:solidFill>
                <a:schemeClr val="dk1"/>
              </a:solidFill>
              <a:latin typeface="Calibri"/>
              <a:ea typeface="Calibri"/>
              <a:cs typeface="Calibri"/>
              <a:sym typeface="Calibri"/>
            </a:endParaRPr>
          </a:p>
        </p:txBody>
      </p:sp>
      <p:sp>
        <p:nvSpPr>
          <p:cNvPr id="192" name="Google Shape;192;p28"/>
          <p:cNvSpPr txBox="1"/>
          <p:nvPr/>
        </p:nvSpPr>
        <p:spPr>
          <a:xfrm>
            <a:off x="146975" y="3987256"/>
            <a:ext cx="13893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Jared Kaplan</a:t>
            </a:r>
            <a:endParaRPr sz="12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Chief Science Officer</a:t>
            </a:r>
            <a:endParaRPr sz="1200">
              <a:solidFill>
                <a:schemeClr val="dk1"/>
              </a:solidFill>
              <a:latin typeface="Calibri"/>
              <a:ea typeface="Calibri"/>
              <a:cs typeface="Calibri"/>
              <a:sym typeface="Calibri"/>
            </a:endParaRPr>
          </a:p>
        </p:txBody>
      </p:sp>
      <p:pic>
        <p:nvPicPr>
          <p:cNvPr id="193" name="Google Shape;193;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750223" y="2677636"/>
            <a:ext cx="1173675" cy="1215587"/>
          </a:xfrm>
          <a:prstGeom prst="rect">
            <a:avLst/>
          </a:prstGeom>
          <a:noFill/>
          <a:ln w="9525" cap="flat" cmpd="sng">
            <a:solidFill>
              <a:srgbClr val="FF0000"/>
            </a:solidFill>
            <a:prstDash val="solid"/>
            <a:round/>
            <a:headEnd type="none" w="sm" len="sm"/>
            <a:tailEnd type="none" w="sm" len="sm"/>
          </a:ln>
        </p:spPr>
      </p:pic>
      <p:sp>
        <p:nvSpPr>
          <p:cNvPr id="194" name="Google Shape;194;p28"/>
          <p:cNvSpPr txBox="1"/>
          <p:nvPr/>
        </p:nvSpPr>
        <p:spPr>
          <a:xfrm>
            <a:off x="1771580" y="3987256"/>
            <a:ext cx="11736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Jack Clark - Policy/Public Benefit</a:t>
            </a:r>
            <a:endParaRPr sz="1200">
              <a:solidFill>
                <a:schemeClr val="dk1"/>
              </a:solidFill>
              <a:latin typeface="Calibri"/>
              <a:ea typeface="Calibri"/>
              <a:cs typeface="Calibri"/>
              <a:sym typeface="Calibri"/>
            </a:endParaRPr>
          </a:p>
        </p:txBody>
      </p:sp>
      <p:pic>
        <p:nvPicPr>
          <p:cNvPr id="195" name="Google Shape;195;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224683" y="2677636"/>
            <a:ext cx="1215600" cy="1215600"/>
          </a:xfrm>
          <a:prstGeom prst="rect">
            <a:avLst/>
          </a:prstGeom>
          <a:noFill/>
          <a:ln w="9525" cap="flat" cmpd="sng">
            <a:solidFill>
              <a:srgbClr val="FF0000"/>
            </a:solidFill>
            <a:prstDash val="solid"/>
            <a:round/>
            <a:headEnd type="none" w="sm" len="sm"/>
            <a:tailEnd type="none" w="sm" len="sm"/>
          </a:ln>
        </p:spPr>
      </p:pic>
      <p:sp>
        <p:nvSpPr>
          <p:cNvPr id="196" name="Google Shape;196;p28"/>
          <p:cNvSpPr txBox="1"/>
          <p:nvPr/>
        </p:nvSpPr>
        <p:spPr>
          <a:xfrm>
            <a:off x="3245680" y="3987256"/>
            <a:ext cx="1173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Sam McCandlish - Chief Architect</a:t>
            </a:r>
            <a:endParaRPr sz="1200">
              <a:solidFill>
                <a:schemeClr val="dk1"/>
              </a:solidFill>
              <a:latin typeface="Calibri"/>
              <a:ea typeface="Calibri"/>
              <a:cs typeface="Calibri"/>
              <a:sym typeface="Calibri"/>
            </a:endParaRPr>
          </a:p>
        </p:txBody>
      </p:sp>
      <p:pic>
        <p:nvPicPr>
          <p:cNvPr id="197" name="Google Shape;197;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41069" y="2677636"/>
            <a:ext cx="1065810" cy="1215599"/>
          </a:xfrm>
          <a:prstGeom prst="rect">
            <a:avLst/>
          </a:prstGeom>
          <a:noFill/>
          <a:ln w="9525" cap="flat" cmpd="sng">
            <a:solidFill>
              <a:srgbClr val="FF0000"/>
            </a:solidFill>
            <a:prstDash val="solid"/>
            <a:round/>
            <a:headEnd type="none" w="sm" len="sm"/>
            <a:tailEnd type="none" w="sm" len="sm"/>
          </a:ln>
        </p:spPr>
      </p:pic>
      <p:sp>
        <p:nvSpPr>
          <p:cNvPr id="198" name="Google Shape;198;p28"/>
          <p:cNvSpPr txBox="1"/>
          <p:nvPr/>
        </p:nvSpPr>
        <p:spPr>
          <a:xfrm>
            <a:off x="4687180" y="3987256"/>
            <a:ext cx="11736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Christopher Olah - Interpretability Research</a:t>
            </a:r>
            <a:endParaRPr sz="1200">
              <a:solidFill>
                <a:schemeClr val="dk1"/>
              </a:solidFill>
              <a:latin typeface="Calibri"/>
              <a:ea typeface="Calibri"/>
              <a:cs typeface="Calibri"/>
              <a:sym typeface="Calibri"/>
            </a:endParaRPr>
          </a:p>
        </p:txBody>
      </p:sp>
      <p:sp>
        <p:nvSpPr>
          <p:cNvPr id="199" name="Google Shape;199;p28"/>
          <p:cNvSpPr txBox="1"/>
          <p:nvPr/>
        </p:nvSpPr>
        <p:spPr>
          <a:xfrm>
            <a:off x="6128680" y="3987256"/>
            <a:ext cx="1173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Tom Brown - Technical Lead</a:t>
            </a:r>
            <a:endParaRPr sz="1200">
              <a:solidFill>
                <a:schemeClr val="dk1"/>
              </a:solidFill>
              <a:latin typeface="Calibri"/>
              <a:ea typeface="Calibri"/>
              <a:cs typeface="Calibri"/>
              <a:sym typeface="Calibri"/>
            </a:endParaRPr>
          </a:p>
        </p:txBody>
      </p:sp>
      <p:sp>
        <p:nvSpPr>
          <p:cNvPr id="200" name="Google Shape;200;p28"/>
          <p:cNvSpPr txBox="1"/>
          <p:nvPr/>
        </p:nvSpPr>
        <p:spPr>
          <a:xfrm>
            <a:off x="7645055" y="3969806"/>
            <a:ext cx="11736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Ben Mann - Anthropic's product safety / alignment work</a:t>
            </a:r>
            <a:endParaRPr sz="1200">
              <a:solidFill>
                <a:schemeClr val="dk1"/>
              </a:solidFill>
              <a:latin typeface="Calibri"/>
              <a:ea typeface="Calibri"/>
              <a:cs typeface="Calibri"/>
              <a:sym typeface="Calibri"/>
            </a:endParaRPr>
          </a:p>
        </p:txBody>
      </p:sp>
      <p:pic>
        <p:nvPicPr>
          <p:cNvPr id="201" name="Google Shape;201;p2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107664" y="2677636"/>
            <a:ext cx="1215600" cy="1215600"/>
          </a:xfrm>
          <a:prstGeom prst="rect">
            <a:avLst/>
          </a:prstGeom>
          <a:noFill/>
          <a:ln w="9525" cap="flat" cmpd="sng">
            <a:solidFill>
              <a:srgbClr val="FF0000"/>
            </a:solidFill>
            <a:prstDash val="solid"/>
            <a:round/>
            <a:headEnd type="none" w="sm" len="sm"/>
            <a:tailEnd type="none" w="sm" len="sm"/>
          </a:ln>
        </p:spPr>
      </p:pic>
      <p:pic>
        <p:nvPicPr>
          <p:cNvPr id="202" name="Google Shape;202;p28"/>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7624050" y="2677636"/>
            <a:ext cx="1215600" cy="12156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9"/>
          <p:cNvSpPr txBox="1"/>
          <p:nvPr/>
        </p:nvSpPr>
        <p:spPr>
          <a:xfrm>
            <a:off x="60250" y="626093"/>
            <a:ext cx="5038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Jack Clark, co-founder of Anthropic - future vision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Building/imporoving Itself by 2028</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Intelligence Explosion AI systems - growth and "abundance" across scientific fields like medicine and biology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Mythos and Defense Dominance - help the U.S. government and major organizations create a "defense-dominant" cyber environment, digital infrastructure resilient against advanced AI-driven threats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Economic Impact and Industrial Policy - economy cannot remain the same with such powerful technology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Jobs like customer service have high AI exposure and are already declining, whereas biology and law have rising employment despite AI exposure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"Jagged Frontier" - AI is exceptionally good at some tasks (like coding) but still struggles with others (like advanced medical research)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is actively researching how AI affects human behavior. For example, they recently intervened to reduce "sycophancy" in Claude (specifically in version 4.7) so it acts more like a "knowledgeable friend" who can challenge the user rather than just agreeing with everything they say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Clark advises young people to focus on curiosity and becoming deeply opinionated nerds in a specific area. AI will provide help, but umans will be most valuable when they are deeply knowledgeable and ambitious in their questioning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http://www.youtube.com/watch?v=sViyNJzf-OQ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08" name="Google Shape;208;p29"/>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Jack Clark Interview</a:t>
            </a:r>
            <a:endParaRPr sz="2000" b="1">
              <a:solidFill>
                <a:schemeClr val="dk1"/>
              </a:solidFill>
              <a:latin typeface="Calibri"/>
              <a:ea typeface="Calibri"/>
              <a:cs typeface="Calibri"/>
              <a:sym typeface="Calibri"/>
            </a:endParaRPr>
          </a:p>
        </p:txBody>
      </p:sp>
      <p:pic>
        <p:nvPicPr>
          <p:cNvPr id="209" name="Google Shape;209;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63575" y="1155963"/>
            <a:ext cx="2527500" cy="263248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0"/>
          <p:cNvSpPr txBox="1"/>
          <p:nvPr/>
        </p:nvSpPr>
        <p:spPr>
          <a:xfrm>
            <a:off x="81775" y="564859"/>
            <a:ext cx="4425900" cy="322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Anthropic open-sourced Wall Street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Repository "Claude for Financial Services" - open source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https://github.com/anthropics/financial-services</a:t>
            </a:r>
            <a:r>
              <a:rPr lang="en" sz="1200">
                <a:solidFill>
                  <a:schemeClr val="dk1"/>
                </a:solidFill>
                <a:latin typeface="Calibri"/>
                <a:ea typeface="Calibri"/>
                <a:cs typeface="Calibri"/>
                <a:sym typeface="Calibri"/>
              </a:rPr>
              <a:t> - 11.4k stars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10 named agents (Pitch Agent, Market Researcher, Earnings Reviewer, GL Reconciler, KYC Screener, etc.) that mirror Goldman Sachs analyst roles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Supports dual deployment as Claude Cowork plugins or via the Claude Managed Agents API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https://www.youtube.com/watch?v=E4GNZxJQqfM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There is also a related companion repository:</a:t>
            </a:r>
            <a:br>
              <a:rPr lang="en" sz="12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4"/>
              </a:rPr>
              <a:t>https://github.com/anthropics/financial-services-plugins</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https://claude.com/resources/tutorials/claude-for-financial-services-skills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6"/>
              </a:rPr>
              <a:t>https://www.youtube.com/watch?v=E4GNZxJQqfM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https://github.com/mkll/awesome-claude-skills-ai</a:t>
            </a:r>
            <a:endParaRPr sz="10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agent can perform complex financial tasks like building pitch decks, running DCF models, and conducting earnings analysis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includes licensed connectors to major financial data providers like Bloomberg, FactSet, and Moody's</a:t>
            </a:r>
            <a:endParaRPr sz="1200">
              <a:solidFill>
                <a:schemeClr val="dk1"/>
              </a:solidFill>
              <a:latin typeface="Calibri"/>
              <a:ea typeface="Calibri"/>
              <a:cs typeface="Calibri"/>
              <a:sym typeface="Calibri"/>
            </a:endParaRPr>
          </a:p>
        </p:txBody>
      </p:sp>
      <p:sp>
        <p:nvSpPr>
          <p:cNvPr id="215" name="Google Shape;215;p30"/>
          <p:cNvSpPr txBox="1"/>
          <p:nvPr/>
        </p:nvSpPr>
        <p:spPr>
          <a:xfrm>
            <a:off x="81775" y="67675"/>
            <a:ext cx="4004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Open-Sourced Wall Street</a:t>
            </a:r>
            <a:endParaRPr sz="2000" b="1">
              <a:solidFill>
                <a:schemeClr val="dk1"/>
              </a:solidFill>
              <a:latin typeface="Calibri"/>
              <a:ea typeface="Calibri"/>
              <a:cs typeface="Calibri"/>
              <a:sym typeface="Calibri"/>
            </a:endParaRPr>
          </a:p>
        </p:txBody>
      </p:sp>
      <p:pic>
        <p:nvPicPr>
          <p:cNvPr id="216" name="Google Shape;216;p30"/>
          <p:cNvPicPr preferRelativeResize="0"/>
          <p:nvPr/>
        </p:nvPicPr>
        <p:blipFill>
          <a:blip r:embed="rId8">
            <a:alphaModFix/>
          </a:blip>
          <a:stretch>
            <a:fillRect/>
          </a:stretch>
        </p:blipFill>
        <p:spPr>
          <a:xfrm>
            <a:off x="4901375" y="926667"/>
            <a:ext cx="2857500" cy="1600200"/>
          </a:xfrm>
          <a:prstGeom prst="rect">
            <a:avLst/>
          </a:prstGeom>
          <a:noFill/>
          <a:ln w="9525" cap="flat" cmpd="sng">
            <a:solidFill>
              <a:srgbClr val="FF0000"/>
            </a:solidFill>
            <a:prstDash val="solid"/>
            <a:round/>
            <a:headEnd type="none" w="sm" len="sm"/>
            <a:tailEnd type="none" w="sm" len="sm"/>
          </a:ln>
        </p:spPr>
      </p:pic>
      <p:pic>
        <p:nvPicPr>
          <p:cNvPr id="217" name="Google Shape;217;p30"/>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281092" y="2875867"/>
            <a:ext cx="2140175" cy="829975"/>
          </a:xfrm>
          <a:prstGeom prst="rect">
            <a:avLst/>
          </a:prstGeom>
          <a:noFill/>
          <a:ln w="9525" cap="flat" cmpd="sng">
            <a:solidFill>
              <a:srgbClr val="FF0000"/>
            </a:solidFill>
            <a:prstDash val="solid"/>
            <a:round/>
            <a:headEnd type="none" w="sm" len="sm"/>
            <a:tailEnd type="none" w="sm" len="sm"/>
          </a:ln>
        </p:spPr>
      </p:pic>
      <p:sp>
        <p:nvSpPr>
          <p:cNvPr id="218" name="Google Shape;218;p30"/>
          <p:cNvSpPr txBox="1"/>
          <p:nvPr/>
        </p:nvSpPr>
        <p:spPr>
          <a:xfrm>
            <a:off x="81775" y="3871384"/>
            <a:ext cx="4425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In Claude Code run /marketplace, select "Marketplaces",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enter: </a:t>
            </a:r>
            <a:r>
              <a:rPr lang="en" sz="1200" b="1" u="sng">
                <a:solidFill>
                  <a:schemeClr val="hlink"/>
                </a:solidFill>
                <a:latin typeface="Calibri"/>
                <a:ea typeface="Calibri"/>
                <a:cs typeface="Calibri"/>
                <a:sym typeface="Calibri"/>
                <a:hlinkClick r:id="rId3"/>
              </a:rPr>
              <a:t>https://github.com/anthropics/financial-services</a:t>
            </a:r>
            <a:r>
              <a:rPr lang="en" sz="1200" b="1">
                <a:solidFill>
                  <a:srgbClr val="3C78D8"/>
                </a:solidFill>
                <a:latin typeface="Calibri"/>
                <a:ea typeface="Calibri"/>
                <a:cs typeface="Calibri"/>
                <a:sym typeface="Calibri"/>
              </a:rPr>
              <a:t> </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select plugin, for example market-researcher, </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earnings-reviewer, equity-research, financial-analysis.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Install the skills you want.</a:t>
            </a:r>
            <a:endParaRPr sz="1200" b="1">
              <a:solidFill>
                <a:srgbClr val="3C78D8"/>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1"/>
          <p:cNvSpPr txBox="1"/>
          <p:nvPr/>
        </p:nvSpPr>
        <p:spPr>
          <a:xfrm>
            <a:off x="81775" y="492750"/>
            <a:ext cx="40329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Agentic RAG - uses a loop with LLM and tools to search, read, and self-correct until it finds the correct information</a:t>
            </a:r>
            <a:br>
              <a:rPr lang="en" sz="1200" b="1">
                <a:solidFill>
                  <a:srgbClr val="FF0000"/>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https://www.youtube.com/watch?v=RxwjoegpI98</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List Files, Grep (regex search) - returning line numbers and context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PydanticAI - helps to connect tools to an LLM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Loop: The agent first lists files, then uses the "grep" tool to find mentions of a topic, and finally reads the most relevant files to formulate an answer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Visibility - streaming steps, debugging to see exactly which tool parameters the LLM is choosing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Structured Output (Pydantic model) - agent returns a clean JSON object containing the answer and specific citations (file name, quote, and line number)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Improvement - use ripgrep (rg) - better and faster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Safety Guards - request limits and maximum line-read constraints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Error Handling - return human-readable error messages - allows the LLM to understand what went wrong and try a different approach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Agentic RAG is more expensive and has higher latency than semantic RAG, but it is far more accurate for complex queries over private documentation because the agent can "think" and refine its search strategy dynamically </a:t>
            </a:r>
            <a:endParaRPr sz="1200">
              <a:solidFill>
                <a:schemeClr val="dk1"/>
              </a:solidFill>
              <a:latin typeface="Calibri"/>
              <a:ea typeface="Calibri"/>
              <a:cs typeface="Calibri"/>
              <a:sym typeface="Calibri"/>
            </a:endParaRPr>
          </a:p>
        </p:txBody>
      </p:sp>
      <p:sp>
        <p:nvSpPr>
          <p:cNvPr id="224" name="Google Shape;224;p31"/>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Agentic RAG</a:t>
            </a:r>
            <a:endParaRPr sz="2000" b="1">
              <a:solidFill>
                <a:schemeClr val="dk1"/>
              </a:solidFill>
              <a:latin typeface="Calibri"/>
              <a:ea typeface="Calibri"/>
              <a:cs typeface="Calibri"/>
              <a:sym typeface="Calibri"/>
            </a:endParaRPr>
          </a:p>
        </p:txBody>
      </p:sp>
      <p:pic>
        <p:nvPicPr>
          <p:cNvPr id="225" name="Google Shape;225;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229100" y="733425"/>
            <a:ext cx="4762501" cy="35718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2"/>
          <p:cNvSpPr txBox="1"/>
          <p:nvPr/>
        </p:nvSpPr>
        <p:spPr>
          <a:xfrm>
            <a:off x="81775" y="492750"/>
            <a:ext cx="59271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 Better, Cheaper RAG</a:t>
            </a:r>
            <a:r>
              <a:rPr lang="en" sz="1200">
                <a:latin typeface="Calibri"/>
                <a:ea typeface="Calibri"/>
                <a:cs typeface="Calibri"/>
                <a:sym typeface="Calibri"/>
              </a:rPr>
              <a:t> - (Neuro-Sym Multi-hop Reasoning)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http://www.youtube.com/watch?v=CLjTCe_cvJs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TGS-RAG - bidirectional, makes RAG both more accurate and significantly cheaper</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Combines text search with knowledge graphs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"orphan entity bridging" - saves pruned graph nodes in a memory buffer</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If a parallel text search identifies a discarded node as relevant, the path is instantly "resurrected" without new database queries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This approach achieves superior local accuracy while using 80% less compute and drastically reducing token costs compared to industry standards like GraphRAG</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https://www.youtube.com/watch?v=CLjTCe_cvJs</a:t>
            </a:r>
            <a:endParaRPr sz="1200">
              <a:solidFill>
                <a:schemeClr val="dk1"/>
              </a:solidFill>
              <a:latin typeface="Calibri"/>
              <a:ea typeface="Calibri"/>
              <a:cs typeface="Calibri"/>
              <a:sym typeface="Calibri"/>
            </a:endParaRPr>
          </a:p>
        </p:txBody>
      </p:sp>
      <p:sp>
        <p:nvSpPr>
          <p:cNvPr id="231" name="Google Shape;231;p32"/>
          <p:cNvSpPr txBox="1"/>
          <p:nvPr/>
        </p:nvSpPr>
        <p:spPr>
          <a:xfrm>
            <a:off x="81775" y="67675"/>
            <a:ext cx="3156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 Better, Cheaper RAG</a:t>
            </a:r>
            <a:endParaRPr sz="2000" b="1">
              <a:solidFill>
                <a:schemeClr val="dk1"/>
              </a:solidFill>
              <a:latin typeface="Calibri"/>
              <a:ea typeface="Calibri"/>
              <a:cs typeface="Calibri"/>
              <a:sym typeface="Calibri"/>
            </a:endParaRPr>
          </a:p>
        </p:txBody>
      </p:sp>
      <p:pic>
        <p:nvPicPr>
          <p:cNvPr id="232" name="Google Shape;232;p3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195612" y="660935"/>
            <a:ext cx="2762250" cy="1561426"/>
          </a:xfrm>
          <a:prstGeom prst="rect">
            <a:avLst/>
          </a:prstGeom>
          <a:noFill/>
          <a:ln w="9525" cap="flat" cmpd="sng">
            <a:solidFill>
              <a:srgbClr val="FF0000"/>
            </a:solidFill>
            <a:prstDash val="solid"/>
            <a:round/>
            <a:headEnd type="none" w="sm" len="sm"/>
            <a:tailEnd type="none" w="sm" len="sm"/>
          </a:ln>
        </p:spPr>
      </p:pic>
      <p:sp>
        <p:nvSpPr>
          <p:cNvPr id="233" name="Google Shape;233;p32"/>
          <p:cNvSpPr txBox="1"/>
          <p:nvPr/>
        </p:nvSpPr>
        <p:spPr>
          <a:xfrm>
            <a:off x="81775" y="2593555"/>
            <a:ext cx="59271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Meta’s Super Intelligent Retrieval Agent (SIRA) RAG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SIRA replaces multi-step agentic loops with a precise, one-shot mathematical approach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SIRA uses expanded BM25 lexical search instead of </a:t>
            </a:r>
            <a:r>
              <a:rPr lang="en" sz="1200">
                <a:latin typeface="Calibri"/>
                <a:ea typeface="Calibri"/>
                <a:cs typeface="Calibri"/>
                <a:sym typeface="Calibri"/>
              </a:rPr>
              <a:t>vector embeddings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It works by using an LLM to predict "expected response sketches" </a:t>
            </a:r>
            <a:r>
              <a:rPr lang="en" sz="1200">
                <a:latin typeface="Calibri"/>
                <a:ea typeface="Calibri"/>
                <a:cs typeface="Calibri"/>
                <a:sym typeface="Calibri"/>
              </a:rPr>
              <a:t>for queries and pre-expanding document indices with latent synonyms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This allows the system to capture fine-grained technical jargon often lost in vector compression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Benchmarks show significant accuracy gains over current models, critics highlight high offline compute costs and a heavy reliance on the LLM’s internal knowledge cutoff</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SIRA aims to transform information retrieval into a deterministic, expert-level action rather than a stochastic search process.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https://github.com/facebookresearch/sira</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https://www.youtube.com/watch?v=gxbp3BUo3wk</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34" name="Google Shape;234;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161563" y="3008161"/>
            <a:ext cx="2830325" cy="159028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3"/>
          <p:cNvSpPr txBox="1"/>
          <p:nvPr/>
        </p:nvSpPr>
        <p:spPr>
          <a:xfrm>
            <a:off x="81775" y="1626450"/>
            <a:ext cx="45114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Markdown files - default "work" files for documentation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Simple text format enables easy search (Grep)</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Allow </a:t>
            </a:r>
            <a:r>
              <a:rPr lang="en" sz="1200">
                <a:solidFill>
                  <a:srgbClr val="CC0000"/>
                </a:solidFill>
                <a:latin typeface="Calibri"/>
                <a:ea typeface="Calibri"/>
                <a:cs typeface="Calibri"/>
                <a:sym typeface="Calibri"/>
              </a:rPr>
              <a:t>formatting, diagrams, links, images, tables (ASCII &amp; Mermaid)</a:t>
            </a:r>
            <a:br>
              <a:rPr lang="en" sz="1000" b="1">
                <a:solidFill>
                  <a:srgbClr val="3C78D8"/>
                </a:solidFill>
                <a:latin typeface="Roboto Mono"/>
                <a:ea typeface="Roboto Mono"/>
                <a:cs typeface="Roboto Mono"/>
                <a:sym typeface="Roboto Mono"/>
              </a:rPr>
            </a:br>
            <a:r>
              <a:rPr lang="en" sz="1000" b="1">
                <a:solidFill>
                  <a:srgbClr val="3C78D8"/>
                </a:solidFill>
                <a:latin typeface="Roboto Mono"/>
                <a:ea typeface="Roboto Mono"/>
                <a:cs typeface="Roboto Mono"/>
                <a:sym typeface="Roboto Mono"/>
              </a:rPr>
              <a:t>[GitHub](https://github.com)</a:t>
            </a:r>
            <a:br>
              <a:rPr lang="en" sz="1000" b="1">
                <a:solidFill>
                  <a:srgbClr val="3C78D8"/>
                </a:solidFill>
                <a:latin typeface="Roboto Mono"/>
                <a:ea typeface="Roboto Mono"/>
                <a:cs typeface="Roboto Mono"/>
                <a:sym typeface="Roboto Mono"/>
              </a:rPr>
            </a:br>
            <a:r>
              <a:rPr lang="en" sz="1000" b="1">
                <a:solidFill>
                  <a:srgbClr val="3C78D8"/>
                </a:solidFill>
                <a:latin typeface="Roboto Mono"/>
                <a:ea typeface="Roboto Mono"/>
                <a:cs typeface="Roboto Mono"/>
                <a:sym typeface="Roboto Mono"/>
              </a:rPr>
              <a:t>![Alt text](./assets/screenshot.png "Optional title")</a:t>
            </a:r>
            <a:endParaRPr sz="1000" b="1">
              <a:solidFill>
                <a:srgbClr val="3C78D8"/>
              </a:solidFill>
              <a:latin typeface="Roboto Mono"/>
              <a:ea typeface="Roboto Mono"/>
              <a:cs typeface="Roboto Mono"/>
              <a:sym typeface="Roboto Mono"/>
            </a:endParaRPr>
          </a:p>
          <a:p>
            <a:pPr marL="171450" marR="0" lvl="0" indent="-133350" algn="l" rtl="0">
              <a:lnSpc>
                <a:spcPct val="100000"/>
              </a:lnSpc>
              <a:spcBef>
                <a:spcPts val="0"/>
              </a:spcBef>
              <a:spcAft>
                <a:spcPts val="0"/>
              </a:spcAft>
              <a:buClr>
                <a:srgbClr val="3C78D8"/>
              </a:buClr>
              <a:buSzPts val="1200"/>
              <a:buFont typeface="Roboto Mono"/>
              <a:buChar char="●"/>
            </a:pPr>
            <a:r>
              <a:rPr lang="en" sz="1200" b="1">
                <a:solidFill>
                  <a:srgbClr val="3C78D8"/>
                </a:solidFill>
                <a:latin typeface="Roboto Mono"/>
                <a:ea typeface="Roboto Mono"/>
                <a:cs typeface="Roboto Mono"/>
                <a:sym typeface="Roboto Mono"/>
              </a:rPr>
              <a:t>document.md</a:t>
            </a:r>
            <a:br>
              <a:rPr lang="en" sz="1200" b="1">
                <a:solidFill>
                  <a:srgbClr val="3C78D8"/>
                </a:solidFill>
                <a:latin typeface="Roboto Mono"/>
                <a:ea typeface="Roboto Mono"/>
                <a:cs typeface="Roboto Mono"/>
                <a:sym typeface="Roboto Mono"/>
              </a:rPr>
            </a:br>
            <a:r>
              <a:rPr lang="en" sz="1200" b="1">
                <a:solidFill>
                  <a:srgbClr val="3C78D8"/>
                </a:solidFill>
                <a:latin typeface="Roboto Mono"/>
                <a:ea typeface="Roboto Mono"/>
                <a:cs typeface="Roboto Mono"/>
                <a:sym typeface="Roboto Mono"/>
              </a:rPr>
              <a:t>images/...</a:t>
            </a:r>
            <a:endParaRPr sz="1200" b="1">
              <a:solidFill>
                <a:srgbClr val="3C78D8"/>
              </a:solidFill>
              <a:latin typeface="Roboto Mono"/>
              <a:ea typeface="Roboto Mono"/>
              <a:cs typeface="Roboto Mono"/>
              <a:sym typeface="Roboto Mono"/>
            </a:endParaRPr>
          </a:p>
        </p:txBody>
      </p:sp>
      <p:sp>
        <p:nvSpPr>
          <p:cNvPr id="240" name="Google Shape;240;p33"/>
          <p:cNvSpPr txBox="1"/>
          <p:nvPr/>
        </p:nvSpPr>
        <p:spPr>
          <a:xfrm>
            <a:off x="81775" y="67675"/>
            <a:ext cx="2553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Markdown vs HTML</a:t>
            </a:r>
            <a:endParaRPr sz="2000" b="1">
              <a:solidFill>
                <a:schemeClr val="dk1"/>
              </a:solidFill>
              <a:latin typeface="Calibri"/>
              <a:ea typeface="Calibri"/>
              <a:cs typeface="Calibri"/>
              <a:sym typeface="Calibri"/>
            </a:endParaRPr>
          </a:p>
        </p:txBody>
      </p:sp>
      <p:sp>
        <p:nvSpPr>
          <p:cNvPr id="241" name="Google Shape;241;p33"/>
          <p:cNvSpPr txBox="1"/>
          <p:nvPr/>
        </p:nvSpPr>
        <p:spPr>
          <a:xfrm>
            <a:off x="81775" y="3397531"/>
            <a:ext cx="45114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HTML can convey much richer information compared to markdown.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rgbClr val="CC0000"/>
                </a:solidFill>
                <a:latin typeface="Calibri"/>
                <a:ea typeface="Calibri"/>
                <a:cs typeface="Calibri"/>
                <a:sym typeface="Calibri"/>
              </a:rPr>
              <a:t>Formatted text | Tables | CSS | SVG Illustrations | Code blocks | </a:t>
            </a:r>
            <a:br>
              <a:rPr lang="en" sz="1200">
                <a:solidFill>
                  <a:srgbClr val="CC0000"/>
                </a:solidFill>
                <a:latin typeface="Calibri"/>
                <a:ea typeface="Calibri"/>
                <a:cs typeface="Calibri"/>
                <a:sym typeface="Calibri"/>
              </a:rPr>
            </a:br>
            <a:r>
              <a:rPr lang="en" sz="1200">
                <a:solidFill>
                  <a:srgbClr val="CC0000"/>
                </a:solidFill>
                <a:latin typeface="Calibri"/>
                <a:ea typeface="Calibri"/>
                <a:cs typeface="Calibri"/>
                <a:sym typeface="Calibri"/>
              </a:rPr>
              <a:t>Images | Interactive elements (Jacascript+CSS) | Workflows (SVG and HTML) | Spatial data (coordinates, canvases)</a:t>
            </a:r>
            <a:br>
              <a:rPr lang="en" sz="1200">
                <a:latin typeface="Calibri"/>
                <a:ea typeface="Calibri"/>
                <a:cs typeface="Calibri"/>
                <a:sym typeface="Calibri"/>
              </a:rPr>
            </a:br>
            <a:r>
              <a:rPr lang="en" sz="1200" b="1">
                <a:solidFill>
                  <a:srgbClr val="3C78D8"/>
                </a:solidFill>
                <a:latin typeface="Roboto Mono"/>
                <a:ea typeface="Roboto Mono"/>
                <a:cs typeface="Roboto Mono"/>
                <a:sym typeface="Roboto Mono"/>
              </a:rPr>
              <a:t>document.html</a:t>
            </a:r>
            <a:br>
              <a:rPr lang="en" sz="1200" b="1">
                <a:solidFill>
                  <a:srgbClr val="3C78D8"/>
                </a:solidFill>
                <a:latin typeface="Roboto Mono"/>
                <a:ea typeface="Roboto Mono"/>
                <a:cs typeface="Roboto Mono"/>
                <a:sym typeface="Roboto Mono"/>
              </a:rPr>
            </a:br>
            <a:r>
              <a:rPr lang="en" sz="1200" b="1">
                <a:solidFill>
                  <a:srgbClr val="3C78D8"/>
                </a:solidFill>
                <a:latin typeface="Roboto Mono"/>
                <a:ea typeface="Roboto Mono"/>
                <a:cs typeface="Roboto Mono"/>
                <a:sym typeface="Roboto Mono"/>
              </a:rPr>
              <a:t>images/...</a:t>
            </a:r>
            <a:endParaRPr sz="1200" b="1">
              <a:solidFill>
                <a:srgbClr val="3C78D8"/>
              </a:solidFill>
              <a:latin typeface="Roboto Mono"/>
              <a:ea typeface="Roboto Mono"/>
              <a:cs typeface="Roboto Mono"/>
              <a:sym typeface="Roboto Mono"/>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https://thariqs.github.io/html-effectiveness/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https://x.com/trq212/status/2052809885763747935</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42" name="Google Shape;242;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15933" y="3300685"/>
            <a:ext cx="2860499" cy="1668624"/>
          </a:xfrm>
          <a:prstGeom prst="rect">
            <a:avLst/>
          </a:prstGeom>
          <a:noFill/>
          <a:ln w="9525" cap="flat" cmpd="sng">
            <a:solidFill>
              <a:srgbClr val="FF0000"/>
            </a:solidFill>
            <a:prstDash val="solid"/>
            <a:round/>
            <a:headEnd type="none" w="sm" len="sm"/>
            <a:tailEnd type="none" w="sm" len="sm"/>
          </a:ln>
        </p:spPr>
      </p:pic>
      <p:sp>
        <p:nvSpPr>
          <p:cNvPr id="243" name="Google Shape;243;p33"/>
          <p:cNvSpPr txBox="1"/>
          <p:nvPr/>
        </p:nvSpPr>
        <p:spPr>
          <a:xfrm>
            <a:off x="81775" y="541150"/>
            <a:ext cx="2860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agents can easily create and use both </a:t>
            </a:r>
            <a:br>
              <a:rPr lang="en" sz="1200">
                <a:latin typeface="Calibri"/>
                <a:ea typeface="Calibri"/>
                <a:cs typeface="Calibri"/>
                <a:sym typeface="Calibri"/>
              </a:rPr>
            </a:br>
            <a:r>
              <a:rPr lang="en" sz="1200">
                <a:latin typeface="Calibri"/>
                <a:ea typeface="Calibri"/>
                <a:cs typeface="Calibri"/>
                <a:sym typeface="Calibri"/>
              </a:rPr>
              <a:t>Markdown (md) and HTML (html) files</a:t>
            </a:r>
            <a:endParaRPr sz="1200">
              <a:latin typeface="Calibri"/>
              <a:ea typeface="Calibri"/>
              <a:cs typeface="Calibri"/>
              <a:sym typeface="Calibri"/>
            </a:endParaRPr>
          </a:p>
        </p:txBody>
      </p:sp>
      <p:pic>
        <p:nvPicPr>
          <p:cNvPr id="244" name="Google Shape;244;p33"/>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7234750" y="1919813"/>
            <a:ext cx="1709250" cy="909374"/>
          </a:xfrm>
          <a:prstGeom prst="rect">
            <a:avLst/>
          </a:prstGeom>
          <a:noFill/>
          <a:ln w="9525" cap="flat" cmpd="sng">
            <a:solidFill>
              <a:srgbClr val="FF0000"/>
            </a:solidFill>
            <a:prstDash val="solid"/>
            <a:round/>
            <a:headEnd type="none" w="sm" len="sm"/>
            <a:tailEnd type="none" w="sm" len="sm"/>
          </a:ln>
        </p:spPr>
      </p:pic>
      <p:pic>
        <p:nvPicPr>
          <p:cNvPr id="245" name="Google Shape;245;p3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15933" y="2026652"/>
            <a:ext cx="2414787" cy="695688"/>
          </a:xfrm>
          <a:prstGeom prst="rect">
            <a:avLst/>
          </a:prstGeom>
          <a:noFill/>
          <a:ln w="9525" cap="flat" cmpd="sng">
            <a:solidFill>
              <a:srgbClr val="FF0000"/>
            </a:solidFill>
            <a:prstDash val="solid"/>
            <a:round/>
            <a:headEnd type="none" w="sm" len="sm"/>
            <a:tailEnd type="none" w="sm" len="sm"/>
          </a:ln>
        </p:spPr>
      </p:pic>
      <p:pic>
        <p:nvPicPr>
          <p:cNvPr id="246" name="Google Shape;246;p3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863175" y="178050"/>
            <a:ext cx="3080826" cy="1114100"/>
          </a:xfrm>
          <a:prstGeom prst="rect">
            <a:avLst/>
          </a:prstGeom>
          <a:noFill/>
          <a:ln w="9525" cap="flat" cmpd="sng">
            <a:solidFill>
              <a:srgbClr val="FF0000"/>
            </a:solidFill>
            <a:prstDash val="solid"/>
            <a:round/>
            <a:headEnd type="none" w="sm" len="sm"/>
            <a:tailEnd type="none" w="sm" len="sm"/>
          </a:ln>
        </p:spPr>
      </p:pic>
      <p:pic>
        <p:nvPicPr>
          <p:cNvPr id="247" name="Google Shape;247;p33"/>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3954388" y="178050"/>
            <a:ext cx="1810412" cy="1114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4"/>
          <p:cNvSpPr txBox="1"/>
          <p:nvPr/>
        </p:nvSpPr>
        <p:spPr>
          <a:xfrm>
            <a:off x="81775" y="492750"/>
            <a:ext cx="4425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Quantum stocks exploded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IonQ up 72%, D-Wave up 56%, and Rigetti up 37% in recent trading days, sparked by Nvidia's quantum AI announcements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https://www.youtube.com/watch?v=WPPhts8bWgQ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53" name="Google Shape;253;p34"/>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News</a:t>
            </a:r>
            <a:endParaRPr sz="2000" b="1">
              <a:solidFill>
                <a:schemeClr val="dk1"/>
              </a:solidFill>
              <a:latin typeface="Calibri"/>
              <a:ea typeface="Calibri"/>
              <a:cs typeface="Calibri"/>
              <a:sym typeface="Calibri"/>
            </a:endParaRPr>
          </a:p>
        </p:txBody>
      </p:sp>
      <p:sp>
        <p:nvSpPr>
          <p:cNvPr id="254" name="Google Shape;254;p34"/>
          <p:cNvSpPr txBox="1"/>
          <p:nvPr/>
        </p:nvSpPr>
        <p:spPr>
          <a:xfrm>
            <a:off x="81775" y="2092950"/>
            <a:ext cx="44259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OpenAI Realtime Voice Models</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https://www.youtube.com/watch?v=o_igSi-ED6s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GPT-Realtime-2 - the flagship model - $32 per 1M tokens. Featuring GPT-5-class reasoning, a 128k token context window, parallel tool calls, and improved conversational recovery for complex, long-form interactions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GPT-Realtime-Translate - live speech-to-speech translation across 70+ input languages and 13 output languages, handling accents and domain-specific terminology in real time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GPT-Realtime-Whisper - low-latency streaming transcription, returning transcript segments while the speaker is still talking</a:t>
            </a:r>
            <a:endParaRPr sz="1200">
              <a:solidFill>
                <a:schemeClr val="dk1"/>
              </a:solidFill>
              <a:latin typeface="Calibri"/>
              <a:ea typeface="Calibri"/>
              <a:cs typeface="Calibri"/>
              <a:sym typeface="Calibri"/>
            </a:endParaRPr>
          </a:p>
        </p:txBody>
      </p:sp>
      <p:pic>
        <p:nvPicPr>
          <p:cNvPr id="255" name="Google Shape;255;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87043" y="67675"/>
            <a:ext cx="2116874" cy="2116874"/>
          </a:xfrm>
          <a:prstGeom prst="rect">
            <a:avLst/>
          </a:prstGeom>
          <a:noFill/>
          <a:ln w="9525" cap="flat" cmpd="sng">
            <a:solidFill>
              <a:srgbClr val="FF0000"/>
            </a:solidFill>
            <a:prstDash val="solid"/>
            <a:round/>
            <a:headEnd type="none" w="sm" len="sm"/>
            <a:tailEnd type="none" w="sm" len="sm"/>
          </a:ln>
        </p:spPr>
      </p:pic>
      <p:pic>
        <p:nvPicPr>
          <p:cNvPr id="256" name="Google Shape;256;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980751" y="2378700"/>
            <a:ext cx="2451098" cy="18383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5"/>
          <p:cNvSpPr txBox="1"/>
          <p:nvPr/>
        </p:nvSpPr>
        <p:spPr>
          <a:xfrm>
            <a:off x="81775" y="67675"/>
            <a:ext cx="2870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Progress in 3.5 years</a:t>
            </a:r>
            <a:endParaRPr sz="2000" b="1">
              <a:solidFill>
                <a:schemeClr val="dk1"/>
              </a:solidFill>
              <a:latin typeface="Calibri"/>
              <a:ea typeface="Calibri"/>
              <a:cs typeface="Calibri"/>
              <a:sym typeface="Calibri"/>
            </a:endParaRPr>
          </a:p>
        </p:txBody>
      </p:sp>
      <p:sp>
        <p:nvSpPr>
          <p:cNvPr id="262" name="Google Shape;262;p35"/>
          <p:cNvSpPr txBox="1"/>
          <p:nvPr/>
        </p:nvSpPr>
        <p:spPr>
          <a:xfrm>
            <a:off x="1247525" y="3294855"/>
            <a:ext cx="18075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ChatGPT</a:t>
            </a:r>
            <a:endParaRPr sz="12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2022</a:t>
            </a:r>
            <a:endParaRPr sz="12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endParaRPr sz="12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None/>
            </a:pPr>
            <a:r>
              <a:rPr lang="en" sz="1200" b="1">
                <a:solidFill>
                  <a:srgbClr val="3C78D8"/>
                </a:solidFill>
                <a:latin typeface="Calibri"/>
                <a:ea typeface="Calibri"/>
                <a:cs typeface="Calibri"/>
                <a:sym typeface="Calibri"/>
              </a:rPr>
              <a:t>Answers Questions</a:t>
            </a:r>
            <a:endParaRPr sz="12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None/>
            </a:pPr>
            <a:r>
              <a:rPr lang="en" sz="1200" b="1">
                <a:solidFill>
                  <a:srgbClr val="3C78D8"/>
                </a:solidFill>
                <a:latin typeface="Calibri"/>
                <a:ea typeface="Calibri"/>
                <a:cs typeface="Calibri"/>
                <a:sym typeface="Calibri"/>
              </a:rPr>
              <a:t>Context Length -  4K</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Hallucination - 40% </a:t>
            </a:r>
            <a:endParaRPr sz="1200" b="1">
              <a:solidFill>
                <a:srgbClr val="3C78D8"/>
              </a:solidFill>
              <a:latin typeface="Calibri"/>
              <a:ea typeface="Calibri"/>
              <a:cs typeface="Calibri"/>
              <a:sym typeface="Calibri"/>
            </a:endParaRPr>
          </a:p>
        </p:txBody>
      </p:sp>
      <p:sp>
        <p:nvSpPr>
          <p:cNvPr id="263" name="Google Shape;263;p35"/>
          <p:cNvSpPr txBox="1"/>
          <p:nvPr/>
        </p:nvSpPr>
        <p:spPr>
          <a:xfrm>
            <a:off x="4875150" y="3294855"/>
            <a:ext cx="25599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Digital Employee </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Today</a:t>
            </a:r>
            <a:endParaRPr sz="12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endParaRPr sz="12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None/>
            </a:pPr>
            <a:r>
              <a:rPr lang="en" sz="1200" b="1">
                <a:solidFill>
                  <a:srgbClr val="3C78D8"/>
                </a:solidFill>
                <a:latin typeface="Calibri"/>
                <a:ea typeface="Calibri"/>
                <a:cs typeface="Calibri"/>
                <a:sym typeface="Calibri"/>
              </a:rPr>
              <a:t>Can create and execute plans,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Context Length - 1,000K</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Can handle complex multi-step tasks</a:t>
            </a:r>
            <a:endParaRPr sz="12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None/>
            </a:pPr>
            <a:r>
              <a:rPr lang="en" sz="1200" b="1">
                <a:solidFill>
                  <a:srgbClr val="3C78D8"/>
                </a:solidFill>
                <a:latin typeface="Calibri"/>
                <a:ea typeface="Calibri"/>
                <a:cs typeface="Calibri"/>
                <a:sym typeface="Calibri"/>
              </a:rPr>
              <a:t>Can work for many hours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without losing coherence</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Halucination - 2%</a:t>
            </a:r>
            <a:endParaRPr sz="1200" b="1">
              <a:solidFill>
                <a:srgbClr val="3C78D8"/>
              </a:solidFill>
              <a:latin typeface="Calibri"/>
              <a:ea typeface="Calibri"/>
              <a:cs typeface="Calibri"/>
              <a:sym typeface="Calibri"/>
            </a:endParaRPr>
          </a:p>
        </p:txBody>
      </p:sp>
      <p:pic>
        <p:nvPicPr>
          <p:cNvPr id="264" name="Google Shape;264;p3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875139" y="1605175"/>
            <a:ext cx="2559875" cy="1433525"/>
          </a:xfrm>
          <a:prstGeom prst="rect">
            <a:avLst/>
          </a:prstGeom>
          <a:noFill/>
          <a:ln w="9525" cap="flat" cmpd="sng">
            <a:solidFill>
              <a:srgbClr val="FF0000"/>
            </a:solidFill>
            <a:prstDash val="solid"/>
            <a:round/>
            <a:headEnd type="none" w="sm" len="sm"/>
            <a:tailEnd type="none" w="sm" len="sm"/>
          </a:ln>
        </p:spPr>
      </p:pic>
      <p:pic>
        <p:nvPicPr>
          <p:cNvPr id="265" name="Google Shape;265;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247517" y="1605177"/>
            <a:ext cx="1807475" cy="1433525"/>
          </a:xfrm>
          <a:prstGeom prst="rect">
            <a:avLst/>
          </a:prstGeom>
          <a:noFill/>
          <a:ln w="9525" cap="flat" cmpd="sng">
            <a:solidFill>
              <a:srgbClr val="FF0000"/>
            </a:solidFill>
            <a:prstDash val="solid"/>
            <a:round/>
            <a:headEnd type="none" w="sm" len="sm"/>
            <a:tailEnd type="none" w="sm" len="sm"/>
          </a:ln>
        </p:spPr>
      </p:pic>
      <p:sp>
        <p:nvSpPr>
          <p:cNvPr id="266" name="Google Shape;266;p35"/>
          <p:cNvSpPr/>
          <p:nvPr/>
        </p:nvSpPr>
        <p:spPr>
          <a:xfrm>
            <a:off x="3522950" y="2226500"/>
            <a:ext cx="864900" cy="326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6"/>
          <p:cNvSpPr txBox="1"/>
          <p:nvPr/>
        </p:nvSpPr>
        <p:spPr>
          <a:xfrm>
            <a:off x="81775" y="67675"/>
            <a:ext cx="2870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Digital Employee</a:t>
            </a:r>
            <a:endParaRPr sz="2000" b="1">
              <a:solidFill>
                <a:schemeClr val="dk1"/>
              </a:solidFill>
              <a:latin typeface="Calibri"/>
              <a:ea typeface="Calibri"/>
              <a:cs typeface="Calibri"/>
              <a:sym typeface="Calibri"/>
            </a:endParaRPr>
          </a:p>
        </p:txBody>
      </p:sp>
      <p:sp>
        <p:nvSpPr>
          <p:cNvPr id="272" name="Google Shape;272;p36"/>
          <p:cNvSpPr txBox="1"/>
          <p:nvPr/>
        </p:nvSpPr>
        <p:spPr>
          <a:xfrm>
            <a:off x="4619625" y="2492150"/>
            <a:ext cx="44100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Example: Genspark Claw - "AI employee"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Executes multi-step tasks end to end, not just generates drafts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runs inside a dedicated </a:t>
            </a:r>
            <a:r>
              <a:rPr lang="en" sz="1200" b="1">
                <a:solidFill>
                  <a:srgbClr val="3C78D8"/>
                </a:solidFill>
                <a:latin typeface="Calibri"/>
                <a:ea typeface="Calibri"/>
                <a:cs typeface="Calibri"/>
                <a:sym typeface="Calibri"/>
              </a:rPr>
              <a:t>Genspark Cloud Computer per user</a:t>
            </a:r>
            <a:r>
              <a:rPr lang="en" sz="1200">
                <a:solidFill>
                  <a:schemeClr val="dk1"/>
                </a:solidFill>
                <a:latin typeface="Calibri"/>
                <a:ea typeface="Calibri"/>
                <a:cs typeface="Calibri"/>
                <a:sym typeface="Calibri"/>
              </a:rPr>
              <a:t>, ensuring privacy through isolation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assign tasks via a simple message on WhatsApp, Telegram, Slack, or Teams, and Claw handles research, drafting, scheduling, email, calls, and code deployment - then returns finished results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orchestrates over 70 AI models, including Claude Opus, GPT, and NVIDIA Nemotron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Part of AI Workspace 3.0, it launched alongside Workflows, Meeting Bots, a Chrome Extension, and voice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Genspark has reached $200M ARR and a $1.6B valuation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https://www.youtube.com/watch?v=FJT5Rh0eKe8</a:t>
            </a:r>
            <a:r>
              <a:rPr lang="en" sz="1200">
                <a:solidFill>
                  <a:schemeClr val="dk1"/>
                </a:solidFill>
                <a:latin typeface="Calibri"/>
                <a:ea typeface="Calibri"/>
                <a:cs typeface="Calibri"/>
                <a:sym typeface="Calibri"/>
              </a:rPr>
              <a:t> - video</a:t>
            </a:r>
            <a:endParaRPr sz="1200">
              <a:solidFill>
                <a:schemeClr val="dk1"/>
              </a:solidFill>
              <a:latin typeface="Calibri"/>
              <a:ea typeface="Calibri"/>
              <a:cs typeface="Calibri"/>
              <a:sym typeface="Calibri"/>
            </a:endParaRPr>
          </a:p>
        </p:txBody>
      </p:sp>
      <p:sp>
        <p:nvSpPr>
          <p:cNvPr id="273" name="Google Shape;273;p36"/>
          <p:cNvSpPr txBox="1"/>
          <p:nvPr/>
        </p:nvSpPr>
        <p:spPr>
          <a:xfrm>
            <a:off x="81775" y="499550"/>
            <a:ext cx="48426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 digital employee is an AI agent that doesn't just answer questions, but it takes autonomous action</a:t>
            </a:r>
            <a:r>
              <a:rPr lang="en" sz="1200">
                <a:solidFill>
                  <a:schemeClr val="dk1"/>
                </a:solidFill>
                <a:latin typeface="Calibri"/>
                <a:ea typeface="Calibri"/>
                <a:cs typeface="Calibri"/>
                <a:sym typeface="Calibri"/>
              </a:rPr>
              <a:t>: managing email, running workflows, browsing the web, updating CRMs, booking travel,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Genspark Claw is one commercial example, positioned as a proprietary "AI Employee" platform with 631+ integrations</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https://kilo.ai/kiloclaw/alternatives/genspark-claw-alternative</a:t>
            </a:r>
            <a:endParaRPr sz="1200">
              <a:solidFill>
                <a:schemeClr val="dk1"/>
              </a:solidFill>
              <a:latin typeface="Calibri"/>
              <a:ea typeface="Calibri"/>
              <a:cs typeface="Calibri"/>
              <a:sym typeface="Calibri"/>
            </a:endParaRPr>
          </a:p>
        </p:txBody>
      </p:sp>
      <p:sp>
        <p:nvSpPr>
          <p:cNvPr id="274" name="Google Shape;274;p36"/>
          <p:cNvSpPr txBox="1"/>
          <p:nvPr/>
        </p:nvSpPr>
        <p:spPr>
          <a:xfrm>
            <a:off x="81775" y="1680650"/>
            <a:ext cx="4410000" cy="1834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 Source Options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 self-host, pick LLM, interact through WhatsApp, Telegram, Slack, or 50+ messaging apps. Extends via 5,700+ community skills from the ClawHub marketplace. Its personality is defined in a SOUL.md file</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5"/>
              </a:rPr>
              <a:t>https://agentfactory.panaversity.org/docs/which-agents-2026</a:t>
            </a:r>
            <a:endParaRPr sz="10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6"/>
              </a:rPr>
              <a:t>https://hermes-agent.org</a:t>
            </a:r>
            <a:endParaRPr sz="10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Manus AI</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7"/>
              </a:rPr>
              <a:t>https://manus.im/blog/best-ai-agents-for-small-business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hosting options: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KiloClaw ; Abacus Claw ; Blink Claw ; ...</a:t>
            </a:r>
            <a:endParaRPr sz="1200">
              <a:solidFill>
                <a:schemeClr val="dk1"/>
              </a:solidFill>
              <a:latin typeface="Calibri"/>
              <a:ea typeface="Calibri"/>
              <a:cs typeface="Calibri"/>
              <a:sym typeface="Calibri"/>
            </a:endParaRPr>
          </a:p>
        </p:txBody>
      </p:sp>
      <p:sp>
        <p:nvSpPr>
          <p:cNvPr id="275" name="Google Shape;275;p36"/>
          <p:cNvSpPr txBox="1"/>
          <p:nvPr/>
        </p:nvSpPr>
        <p:spPr>
          <a:xfrm>
            <a:off x="81775" y="3600350"/>
            <a:ext cx="44100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Enterprise Options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Genspark Claw - Enterprise AI employee, 631+ integrations</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https://kilo.ai/kiloclaw/alternatives/genspark-claw-alternative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Abacus ; Google Agentspace &amp; Remy ; Microsoft Copilot Studio; Salesforce Agentforce ; 11x ; Moveworks ; Vybe ; Get BOB ; Noca 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https://www.vybe.build/blog/best-ai-agent-platforms-2026</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9"/>
              </a:rPr>
              <a:t>https://noca.ai/digital-employees-top-10-platforms-for-2026/</a:t>
            </a:r>
            <a:endParaRPr sz="1200">
              <a:solidFill>
                <a:schemeClr val="dk1"/>
              </a:solidFill>
              <a:latin typeface="Calibri"/>
              <a:ea typeface="Calibri"/>
              <a:cs typeface="Calibri"/>
              <a:sym typeface="Calibri"/>
            </a:endParaRPr>
          </a:p>
        </p:txBody>
      </p:sp>
      <p:pic>
        <p:nvPicPr>
          <p:cNvPr id="276" name="Google Shape;276;p36"/>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019675" y="499550"/>
            <a:ext cx="2012143" cy="11268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7"/>
          <p:cNvSpPr txBox="1"/>
          <p:nvPr/>
        </p:nvSpPr>
        <p:spPr>
          <a:xfrm>
            <a:off x="81775" y="394075"/>
            <a:ext cx="44832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Pi (pi.dev) minimal, open-source, terminal-based AI coding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 by developer Mario Zechner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Connects to 15+ model providers - including Anthropic, OpenAI, Google, Ollama, and others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Four modes: interactive TUI, print/JSON, RPC, and SDK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Pi deliberately omits features like sub-agents and plan mode, letting users build or install exactly what they need - </a:t>
            </a:r>
            <a:r>
              <a:rPr lang="en" sz="1200" u="sng">
                <a:solidFill>
                  <a:schemeClr val="hlink"/>
                </a:solidFill>
                <a:latin typeface="Calibri"/>
                <a:ea typeface="Calibri"/>
                <a:cs typeface="Calibri"/>
                <a:sym typeface="Calibri"/>
                <a:hlinkClick r:id="rId3"/>
              </a:rPr>
              <a:t>https://pi.dev</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82" name="Google Shape;282;p37"/>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83" name="Google Shape;283;p37"/>
          <p:cNvSpPr txBox="1"/>
          <p:nvPr/>
        </p:nvSpPr>
        <p:spPr>
          <a:xfrm>
            <a:off x="81775" y="2045050"/>
            <a:ext cx="44832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holaOS is an open agent computer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shared environment where humans and AI agents operate side by side, accessing the same browser, files, and apps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Everything lives in one place where memory, execution, and goals remain coherent, so work doesn’t reset or lose state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Agents operate continuously within this environment, evolving over time while remaining fully inspectable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shape agents via roles and templates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https://www.holaos.ai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https://github.com/holaboss-ai/holaOS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84" name="Google Shape;284;p37"/>
          <p:cNvPicPr preferRelativeResize="0"/>
          <p:nvPr/>
        </p:nvPicPr>
        <p:blipFill>
          <a:blip r:embed="rId6">
            <a:alphaModFix/>
          </a:blip>
          <a:stretch>
            <a:fillRect/>
          </a:stretch>
        </p:blipFill>
        <p:spPr>
          <a:xfrm>
            <a:off x="4879300" y="2483950"/>
            <a:ext cx="2400300" cy="876300"/>
          </a:xfrm>
          <a:prstGeom prst="rect">
            <a:avLst/>
          </a:prstGeom>
          <a:noFill/>
          <a:ln w="9525" cap="flat" cmpd="sng">
            <a:solidFill>
              <a:srgbClr val="FF0000"/>
            </a:solidFill>
            <a:prstDash val="solid"/>
            <a:round/>
            <a:headEnd type="none" w="sm" len="sm"/>
            <a:tailEnd type="none" w="sm" len="sm"/>
          </a:ln>
        </p:spPr>
      </p:pic>
      <p:pic>
        <p:nvPicPr>
          <p:cNvPr id="285" name="Google Shape;285;p37"/>
          <p:cNvPicPr preferRelativeResize="0"/>
          <p:nvPr/>
        </p:nvPicPr>
        <p:blipFill>
          <a:blip r:embed="rId7">
            <a:alphaModFix/>
          </a:blip>
          <a:stretch>
            <a:fillRect/>
          </a:stretch>
        </p:blipFill>
        <p:spPr>
          <a:xfrm>
            <a:off x="4879300" y="619125"/>
            <a:ext cx="762000" cy="7810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8"/>
          <p:cNvSpPr txBox="1"/>
          <p:nvPr/>
        </p:nvSpPr>
        <p:spPr>
          <a:xfrm>
            <a:off x="69775" y="497825"/>
            <a:ext cx="45213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Agent and Pareto Code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Agent acts as a persistent "brain" that remembers past interactions and builds custom skills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Pareto Code, an experimental router from Open Router</a:t>
            </a:r>
            <a:r>
              <a:rPr lang="en" sz="1200">
                <a:solidFill>
                  <a:schemeClr val="dk1"/>
                </a:solidFill>
                <a:latin typeface="Calibri"/>
                <a:ea typeface="Calibri"/>
                <a:cs typeface="Calibri"/>
                <a:sym typeface="Calibri"/>
              </a:rPr>
              <a:t>, automatically selects the most effective coding model (such as Claude or Gemini) based on task complexity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manages project memory and scheduling while ensuring the best available model handles technical execution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setup eliminates decision fatigue and allows for cross-device continuity and sophisticated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https://openrouter.ai/openrouter/pareto-code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https://www.youtube.com/watch?v=kQHi_dXugbI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91" name="Google Shape;291;p38"/>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292" name="Google Shape;292;p3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29200" y="1351700"/>
            <a:ext cx="3200400" cy="686725"/>
          </a:xfrm>
          <a:prstGeom prst="rect">
            <a:avLst/>
          </a:prstGeom>
          <a:noFill/>
          <a:ln w="9525" cap="flat" cmpd="sng">
            <a:solidFill>
              <a:srgbClr val="FF0000"/>
            </a:solidFill>
            <a:prstDash val="solid"/>
            <a:round/>
            <a:headEnd type="none" w="sm" len="sm"/>
            <a:tailEnd type="none" w="sm" len="sm"/>
          </a:ln>
        </p:spPr>
      </p:pic>
      <p:sp>
        <p:nvSpPr>
          <p:cNvPr id="293" name="Google Shape;293;p38"/>
          <p:cNvSpPr txBox="1"/>
          <p:nvPr/>
        </p:nvSpPr>
        <p:spPr>
          <a:xfrm>
            <a:off x="69775" y="2783658"/>
            <a:ext cx="45213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"computer use" on MacOS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Autonomously operate a Mac desktop - clicking, typing, and scrolling - entirely in the background without interrupting the user's active workflow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agent uses vision-based screenshot analysis to navigate the screen and supports multiple AI models, including Claude, GPT-4, Gemini, and local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Multi-layer safety guardrails require user approval for sensitive actions like file deletion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demos, Hermes handled simple tasks well, such as creating notes and even spawning a second instance of itself, but struggled with complex workflows like organizing an Obsidian knowledge base</a:t>
            </a:r>
            <a:endParaRPr sz="1200">
              <a:solidFill>
                <a:schemeClr val="dk1"/>
              </a:solidFill>
              <a:latin typeface="Calibri"/>
              <a:ea typeface="Calibri"/>
              <a:cs typeface="Calibri"/>
              <a:sym typeface="Calibri"/>
            </a:endParaRPr>
          </a:p>
        </p:txBody>
      </p:sp>
      <p:pic>
        <p:nvPicPr>
          <p:cNvPr id="294" name="Google Shape;294;p38"/>
          <p:cNvPicPr preferRelativeResize="0"/>
          <p:nvPr/>
        </p:nvPicPr>
        <p:blipFill>
          <a:blip r:embed="rId6">
            <a:alphaModFix/>
          </a:blip>
          <a:stretch>
            <a:fillRect/>
          </a:stretch>
        </p:blipFill>
        <p:spPr>
          <a:xfrm>
            <a:off x="5200650" y="3101050"/>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9"/>
          <p:cNvSpPr txBox="1"/>
          <p:nvPr/>
        </p:nvSpPr>
        <p:spPr>
          <a:xfrm>
            <a:off x="69775" y="497825"/>
            <a:ext cx="45213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Pokee.ai</a:t>
            </a:r>
            <a:r>
              <a:rPr lang="en" sz="1200" b="1">
                <a:solidFill>
                  <a:srgbClr val="FF0000"/>
                </a:solidFill>
                <a:latin typeface="Calibri"/>
                <a:ea typeface="Calibri"/>
                <a:cs typeface="Calibri"/>
                <a:sym typeface="Calibri"/>
              </a:rPr>
              <a:t> </a:t>
            </a:r>
            <a:r>
              <a:rPr lang="en" sz="1200">
                <a:solidFill>
                  <a:schemeClr val="dk1"/>
                </a:solidFill>
                <a:latin typeface="Calibri"/>
                <a:ea typeface="Calibri"/>
                <a:cs typeface="Calibri"/>
                <a:sym typeface="Calibri"/>
              </a:rPr>
              <a:t>- </a:t>
            </a:r>
            <a:r>
              <a:rPr lang="en" sz="1200" u="sng">
                <a:solidFill>
                  <a:schemeClr val="hlink"/>
                </a:solidFill>
                <a:latin typeface="Calibri"/>
                <a:ea typeface="Calibri"/>
                <a:cs typeface="Calibri"/>
                <a:sym typeface="Calibri"/>
                <a:hlinkClick r:id="rId4"/>
              </a:rPr>
              <a:t>https://pokee.ai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https://www.youtube.com/watch?v=yZbgYOW-2rI</a:t>
            </a:r>
            <a:r>
              <a:rPr lang="en" sz="1200">
                <a:solidFill>
                  <a:schemeClr val="dk1"/>
                </a:solidFill>
                <a:latin typeface="Calibri"/>
                <a:ea typeface="Calibri"/>
                <a:cs typeface="Calibri"/>
                <a:sym typeface="Calibri"/>
              </a:rPr>
              <a:t> - video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managed agentic AI platform built around a sandboxed agent called Pokey Claw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runs agents in isolated environments with encrypted credentials, a full audit log, and a human-in-the-loop approval gate for any actions touching files or public platforms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state-management architecture claims 70% lower token costs compared to standard GPT models by avoiding full context re-reads at each step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platform supports parallel sub-agents, enabling complex tasks like building web apps, automating social media pipelines, and conducting market research simultaneously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Pricing: Free, $20/mo, $50/mo, $200/mo, Enterprise plans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Startup in Bellevue, WA, USA</a:t>
            </a:r>
            <a:endParaRPr sz="1200">
              <a:solidFill>
                <a:schemeClr val="dk1"/>
              </a:solidFill>
              <a:latin typeface="Calibri"/>
              <a:ea typeface="Calibri"/>
              <a:cs typeface="Calibri"/>
              <a:sym typeface="Calibri"/>
            </a:endParaRPr>
          </a:p>
        </p:txBody>
      </p:sp>
      <p:sp>
        <p:nvSpPr>
          <p:cNvPr id="300" name="Google Shape;300;p39"/>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301" name="Google Shape;301;p3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43475" y="1211729"/>
            <a:ext cx="2893450" cy="952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0"/>
          <p:cNvSpPr txBox="1"/>
          <p:nvPr/>
        </p:nvSpPr>
        <p:spPr>
          <a:xfrm>
            <a:off x="60250" y="626093"/>
            <a:ext cx="5038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 Ways to Make Money in 2026 with AI - by Sabrina Ramonov</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https://www.youtube.com/watch?v=Xl57Pki6ChE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1. building a personal brand by creating AI educational content and earning through sponsorships from well-funded AI startups.</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2. making faceless videos using AI avatars for TikTok shop, motivation content, or offering avatar services to busy business owners.</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3. providing Claude AI training to businesses, teaching teams to use Claude's productivity features through workshops.</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4. vibe coding single-feature apps while avoiding overcomplication and focusing heavily on marketing rather than just product development.</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5. setting up AI marketing automations including Go High Level CRM systems, ManyChat for Instagram/Facebook, and LinkedIn automation tools to help businesses convert social media attention into revenue.</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Start simple, avoid perfectionism, choosing one path to stick with</a:t>
            </a:r>
            <a:endParaRPr sz="1200">
              <a:solidFill>
                <a:schemeClr val="dk1"/>
              </a:solidFill>
              <a:latin typeface="Calibri"/>
              <a:ea typeface="Calibri"/>
              <a:cs typeface="Calibri"/>
              <a:sym typeface="Calibri"/>
            </a:endParaRPr>
          </a:p>
        </p:txBody>
      </p:sp>
      <p:sp>
        <p:nvSpPr>
          <p:cNvPr id="307" name="Google Shape;307;p40"/>
          <p:cNvSpPr txBox="1"/>
          <p:nvPr/>
        </p:nvSpPr>
        <p:spPr>
          <a:xfrm>
            <a:off x="81775" y="67675"/>
            <a:ext cx="4452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Sabrina Ramonov - Making Money</a:t>
            </a:r>
            <a:endParaRPr sz="2000" b="1">
              <a:solidFill>
                <a:schemeClr val="dk1"/>
              </a:solidFill>
              <a:latin typeface="Calibri"/>
              <a:ea typeface="Calibri"/>
              <a:cs typeface="Calibri"/>
              <a:sym typeface="Calibri"/>
            </a:endParaRPr>
          </a:p>
        </p:txBody>
      </p:sp>
      <p:pic>
        <p:nvPicPr>
          <p:cNvPr id="308" name="Google Shape;308;p4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10174" y="626100"/>
            <a:ext cx="1592675" cy="1719625"/>
          </a:xfrm>
          <a:prstGeom prst="rect">
            <a:avLst/>
          </a:prstGeom>
          <a:noFill/>
          <a:ln w="9525" cap="flat" cmpd="sng">
            <a:solidFill>
              <a:srgbClr val="FF0000"/>
            </a:solidFill>
            <a:prstDash val="solid"/>
            <a:round/>
            <a:headEnd type="none" w="sm" len="sm"/>
            <a:tailEnd type="none" w="sm" len="sm"/>
          </a:ln>
        </p:spPr>
      </p:pic>
      <p:sp>
        <p:nvSpPr>
          <p:cNvPr id="309" name="Google Shape;309;p40"/>
          <p:cNvSpPr txBox="1"/>
          <p:nvPr/>
        </p:nvSpPr>
        <p:spPr>
          <a:xfrm>
            <a:off x="60250" y="3359768"/>
            <a:ext cx="5038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reduces marketing costs x10</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Automation includes voice-trained content engines, automated content pipelines, AI-powered distribution across platforms, and optimization for AI search engines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https://www.youtube.com/watch?v=74TkxLMfWOo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1"/>
          <p:cNvSpPr txBox="1"/>
          <p:nvPr/>
        </p:nvSpPr>
        <p:spPr>
          <a:xfrm>
            <a:off x="60250" y="456768"/>
            <a:ext cx="5038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$80M in 6 Months With No Team (New Startup Playbook)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2026, the traditional barriers to starting a company (technical co-founders, capital, and long runways) have collapsed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now enables individuals to build prototypes in days, while lean methodology allows for validation without outside investment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shift has created the "Founder Economy," where the primary advantage is ownership of a business model rather than just an audience or gig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However, this accessibility creates a new trap: the ability to build the wrong thing 10x faster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Because execution is now cheap, the new bottleneck is problem clarity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succeed, "latent founders" with deep domain expertise must prioritize customer validation and small experiments over immediate building to ensure they are solving a problem people will actually pay for.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https://www.youtube.com/watch?v=KO7MxL6bKj4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315" name="Google Shape;315;p41"/>
          <p:cNvSpPr txBox="1"/>
          <p:nvPr/>
        </p:nvSpPr>
        <p:spPr>
          <a:xfrm>
            <a:off x="81775" y="67675"/>
            <a:ext cx="4452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316" name="Google Shape;316;p4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92950" y="456775"/>
            <a:ext cx="1470500" cy="1448225"/>
          </a:xfrm>
          <a:prstGeom prst="rect">
            <a:avLst/>
          </a:prstGeom>
          <a:noFill/>
          <a:ln w="9525" cap="flat" cmpd="sng">
            <a:solidFill>
              <a:srgbClr val="FF0000"/>
            </a:solidFill>
            <a:prstDash val="solid"/>
            <a:round/>
            <a:headEnd type="none" w="sm" len="sm"/>
            <a:tailEnd type="none" w="sm" len="sm"/>
          </a:ln>
        </p:spPr>
      </p:pic>
      <p:sp>
        <p:nvSpPr>
          <p:cNvPr id="317" name="Google Shape;317;p41"/>
          <p:cNvSpPr txBox="1"/>
          <p:nvPr/>
        </p:nvSpPr>
        <p:spPr>
          <a:xfrm>
            <a:off x="5292950" y="2016749"/>
            <a:ext cx="14706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rgbClr val="3C78D8"/>
                </a:solidFill>
                <a:latin typeface="Calibri"/>
                <a:ea typeface="Calibri"/>
                <a:cs typeface="Calibri"/>
                <a:sym typeface="Calibri"/>
              </a:rPr>
              <a:t>Ash Maurya</a:t>
            </a:r>
            <a:endParaRPr sz="1200" b="1">
              <a:solidFill>
                <a:srgbClr val="3C78D8"/>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2"/>
          <p:cNvSpPr txBox="1"/>
          <p:nvPr/>
        </p:nvSpPr>
        <p:spPr>
          <a:xfrm>
            <a:off x="60250" y="626100"/>
            <a:ext cx="44520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Companies Are Re-hiring Developers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https://www.youtube.com/watch?v=6aTNBCqm3zE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2023, tech companies began massive layoffs switching to 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Companies soon discovered that AI-generated code produced nearly twice as many errors, created 38% more code to maintain, and reduced real productivity by 50%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core issue was that AI lacked understanding of system context, architecture decisions, and complex integrations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Debugging AI-generated code became extremely time-consuming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2026, companies began quietly rehiring developers, often the same people they had laid off, through "boomerang hiring."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industry realized that understanding systems, debugging, and making informed architectural decisions are the valuable skills that AI cannot yet replicate effectively</a:t>
            </a:r>
            <a:endParaRPr sz="1200">
              <a:solidFill>
                <a:schemeClr val="dk1"/>
              </a:solidFill>
              <a:latin typeface="Calibri"/>
              <a:ea typeface="Calibri"/>
              <a:cs typeface="Calibri"/>
              <a:sym typeface="Calibri"/>
            </a:endParaRPr>
          </a:p>
        </p:txBody>
      </p:sp>
      <p:sp>
        <p:nvSpPr>
          <p:cNvPr id="323" name="Google Shape;323;p42"/>
          <p:cNvSpPr txBox="1"/>
          <p:nvPr/>
        </p:nvSpPr>
        <p:spPr>
          <a:xfrm>
            <a:off x="81775" y="67675"/>
            <a:ext cx="4452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Companies Are Re-hiring Developers</a:t>
            </a:r>
            <a:endParaRPr sz="2000" b="1">
              <a:solidFill>
                <a:schemeClr val="dk1"/>
              </a:solidFill>
              <a:latin typeface="Calibri"/>
              <a:ea typeface="Calibri"/>
              <a:cs typeface="Calibri"/>
              <a:sym typeface="Calibri"/>
            </a:endParaRPr>
          </a:p>
        </p:txBody>
      </p:sp>
      <p:pic>
        <p:nvPicPr>
          <p:cNvPr id="324" name="Google Shape;324;p4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86175" y="152400"/>
            <a:ext cx="3872342" cy="483870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3"/>
          <p:cNvSpPr txBox="1"/>
          <p:nvPr/>
        </p:nvSpPr>
        <p:spPr>
          <a:xfrm>
            <a:off x="172065" y="682008"/>
            <a:ext cx="44520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Julia McCoy argues that </a:t>
            </a:r>
            <a:r>
              <a:rPr lang="en" sz="1200" b="1">
                <a:solidFill>
                  <a:srgbClr val="3C78D8"/>
                </a:solidFill>
                <a:latin typeface="Calibri"/>
                <a:ea typeface="Calibri"/>
                <a:cs typeface="Calibri"/>
                <a:sym typeface="Calibri"/>
              </a:rPr>
              <a:t>LinkedIn is broken due to pay-to-play promotions, ghost jobs (30–50% of listings), and companies bypassing aggregators entirely</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job market has three layers: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visible market (high competition on LinkedIn/Indeed),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 aggregated market of 400,000+ scraped listings</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a hidden market of direct corporate postings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tool JobRight surfaces these hidden roles hours before they hit LinkedIn, with under 25 applicants. McCoy predicts LinkedIn loses dominance by end of 2026, AI agents handle first-round interviews by mid-2027, and traditional job searching is replaced by continuous AI-to-AI matching by late 2027</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https://jobright.ai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330" name="Google Shape;330;p43"/>
          <p:cNvSpPr txBox="1"/>
          <p:nvPr/>
        </p:nvSpPr>
        <p:spPr>
          <a:xfrm>
            <a:off x="81775" y="67675"/>
            <a:ext cx="4452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JobRight.AI</a:t>
            </a:r>
            <a:endParaRPr sz="2000" b="1">
              <a:solidFill>
                <a:schemeClr val="dk1"/>
              </a:solidFill>
              <a:latin typeface="Calibri"/>
              <a:ea typeface="Calibri"/>
              <a:cs typeface="Calibri"/>
              <a:sym typeface="Calibri"/>
            </a:endParaRPr>
          </a:p>
        </p:txBody>
      </p:sp>
      <p:pic>
        <p:nvPicPr>
          <p:cNvPr id="331" name="Google Shape;331;p4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34667" y="817694"/>
            <a:ext cx="4133127" cy="213134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4"/>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37" name="Google Shape;337;p44"/>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38" name="Google Shape;338;p44"/>
          <p:cNvSpPr txBox="1"/>
          <p:nvPr/>
        </p:nvSpPr>
        <p:spPr>
          <a:xfrm>
            <a:off x="5367150" y="3435238"/>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109K in 2026 </a:t>
            </a:r>
            <a:r>
              <a:rPr lang="en" sz="1000" b="1">
                <a:solidFill>
                  <a:schemeClr val="dk1"/>
                </a:solidFill>
                <a:latin typeface="Roboto Mono"/>
                <a:ea typeface="Roboto Mono"/>
                <a:cs typeface="Roboto Mono"/>
                <a:sym typeface="Roboto Mono"/>
              </a:rPr>
              <a:t>(as of May 15,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39" name="Google Shape;339;p44"/>
          <p:cNvSpPr txBox="1"/>
          <p:nvPr/>
        </p:nvSpPr>
        <p:spPr>
          <a:xfrm>
            <a:off x="5422950" y="5312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137,017</a:t>
            </a:r>
            <a:r>
              <a:rPr lang="en" sz="1200">
                <a:latin typeface="Calibri"/>
                <a:ea typeface="Calibri"/>
                <a:cs typeface="Calibri"/>
                <a:sym typeface="Calibri"/>
              </a:rPr>
              <a:t> people laid off (1,015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40" name="Google Shape;340;p4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462523"/>
            <a:ext cx="4950374" cy="2624108"/>
          </a:xfrm>
          <a:prstGeom prst="rect">
            <a:avLst/>
          </a:prstGeom>
          <a:noFill/>
          <a:ln w="9525" cap="flat" cmpd="sng">
            <a:solidFill>
              <a:srgbClr val="FF0000"/>
            </a:solidFill>
            <a:prstDash val="solid"/>
            <a:round/>
            <a:headEnd type="none" w="sm" len="sm"/>
            <a:tailEnd type="none" w="sm" len="sm"/>
          </a:ln>
        </p:spPr>
      </p:pic>
      <p:pic>
        <p:nvPicPr>
          <p:cNvPr id="341" name="Google Shape;341;p4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3160973"/>
            <a:ext cx="4950373" cy="194542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pic>
        <p:nvPicPr>
          <p:cNvPr id="346" name="Google Shape;346;p4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47" name="Google Shape;347;p45"/>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48" name="Google Shape;348;p45"/>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49" name="Google Shape;349;p4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50" name="Google Shape;350;p45"/>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51" name="Google Shape;351;p45"/>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6"/>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5801</Words>
  <Application>Microsoft Macintosh PowerPoint</Application>
  <PresentationFormat>On-screen Show (16:9)</PresentationFormat>
  <Paragraphs>652</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2026-05-15T17:19:30Z</dcterms:modified>
</cp:coreProperties>
</file>