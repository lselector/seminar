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1"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9144000" cy="5143500" type="screen16x9"/>
  <p:notesSz cx="6858000" cy="9144000"/>
  <p:embeddedFontLst>
    <p:embeddedFont>
      <p:font typeface="Roboto Mono" pitchFamily="49" charset="0"/>
      <p:regular r:id="rId28"/>
      <p:bold r:id="rId29"/>
      <p:italic r:id="rId30"/>
      <p:boldItalic r:id="rId3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2F2584C-ECAE-4EC3-92F7-DB7612EED62C}">
  <a:tblStyle styleId="{A2F2584C-ECAE-4EC3-92F7-DB7612EED62C}"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67"/>
  </p:normalViewPr>
  <p:slideViewPr>
    <p:cSldViewPr>
      <p:cViewPr varScale="1">
        <p:scale>
          <a:sx n="124" d="100"/>
          <a:sy n="124" d="100"/>
        </p:scale>
        <p:origin x="57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1.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4.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font" Target="fonts/font3.fntdata"/><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g3633c15ed8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1" name="Google Shape;61;g3633c15ed8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
        <p:cNvGrpSpPr/>
        <p:nvPr/>
      </p:nvGrpSpPr>
      <p:grpSpPr>
        <a:xfrm>
          <a:off x="0" y="0"/>
          <a:ext cx="0" cy="0"/>
          <a:chOff x="0" y="0"/>
          <a:chExt cx="0" cy="0"/>
        </a:xfrm>
      </p:grpSpPr>
      <p:sp>
        <p:nvSpPr>
          <p:cNvPr id="69" name="Google Shape;69;g3cc01bf30ee_1_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0" name="Google Shape;70;g3cc01bf30ee_1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
        <p:cNvGrpSpPr/>
        <p:nvPr/>
      </p:nvGrpSpPr>
      <p:grpSpPr>
        <a:xfrm>
          <a:off x="0" y="0"/>
          <a:ext cx="0" cy="0"/>
          <a:chOff x="0" y="0"/>
          <a:chExt cx="0" cy="0"/>
        </a:xfrm>
      </p:grpSpPr>
      <p:sp>
        <p:nvSpPr>
          <p:cNvPr id="84" name="Google Shape;84;g3df2144e99d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5" name="Google Shape;85;g3df2144e99d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g3e0f37d2495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4" name="Google Shape;94;g3e0f37d2495_0_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g3e083d60db8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1" name="Google Shape;101;g3e083d60db8_0_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p:cNvGrpSpPr/>
        <p:nvPr/>
      </p:nvGrpSpPr>
      <p:grpSpPr>
        <a:xfrm>
          <a:off x="0" y="0"/>
          <a:ext cx="0" cy="0"/>
          <a:chOff x="0" y="0"/>
          <a:chExt cx="0" cy="0"/>
        </a:xfrm>
      </p:grpSpPr>
      <p:sp>
        <p:nvSpPr>
          <p:cNvPr id="109" name="Google Shape;109;g39318675434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0" name="Google Shape;110;g39318675434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g3e0ee844e26_1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6" name="Google Shape;116;g3e0ee844e26_1_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g3e083d60db8_0_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3" name="Google Shape;123;g3e083d60db8_0_1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g3e0f37d2495_0_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1" name="Google Shape;131;g3e0f37d2495_0_1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
        <p:cNvGrpSpPr/>
        <p:nvPr/>
      </p:nvGrpSpPr>
      <p:grpSpPr>
        <a:xfrm>
          <a:off x="0" y="0"/>
          <a:ext cx="0" cy="0"/>
          <a:chOff x="0" y="0"/>
          <a:chExt cx="0" cy="0"/>
        </a:xfrm>
      </p:grpSpPr>
      <p:sp>
        <p:nvSpPr>
          <p:cNvPr id="139" name="Google Shape;139;g39aafc5afa9_1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0" name="Google Shape;140;g39aafc5afa9_1_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g39aafc5afa9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0" name="Google Shape;160;g39aafc5afa9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
        <p:cNvGrpSpPr/>
        <p:nvPr/>
      </p:nvGrpSpPr>
      <p:grpSpPr>
        <a:xfrm>
          <a:off x="0" y="0"/>
          <a:ext cx="0" cy="0"/>
          <a:chOff x="0" y="0"/>
          <a:chExt cx="0" cy="0"/>
        </a:xfrm>
      </p:grpSpPr>
      <p:sp>
        <p:nvSpPr>
          <p:cNvPr id="166" name="Google Shape;166;g39ab185bf5c_0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7" name="Google Shape;167;g39ab185bf5c_0_1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p:cNvGrpSpPr/>
        <p:nvPr/>
      </p:nvGrpSpPr>
      <p:grpSpPr>
        <a:xfrm>
          <a:off x="0" y="0"/>
          <a:ext cx="0" cy="0"/>
          <a:chOff x="0" y="0"/>
          <a:chExt cx="0" cy="0"/>
        </a:xfrm>
      </p:grpSpPr>
      <p:sp>
        <p:nvSpPr>
          <p:cNvPr id="174" name="Google Shape;174;g39ab185bf5c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5" name="Google Shape;175;g39ab185bf5c_0_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
        <p:cNvGrpSpPr/>
        <p:nvPr/>
      </p:nvGrpSpPr>
      <p:grpSpPr>
        <a:xfrm>
          <a:off x="0" y="0"/>
          <a:ext cx="0" cy="0"/>
          <a:chOff x="0" y="0"/>
          <a:chExt cx="0" cy="0"/>
        </a:xfrm>
      </p:grpSpPr>
      <p:sp>
        <p:nvSpPr>
          <p:cNvPr id="181" name="Google Shape;181;g3e08c5cd45e_0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2" name="Google Shape;182;g3e08c5cd45e_0_1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g3e0db0690ba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1" name="Google Shape;191;g3e0db0690ba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Google Shape;201;g3e083d60db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2" name="Google Shape;202;g3e083d60db8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
        <p:cNvGrpSpPr/>
        <p:nvPr/>
      </p:nvGrpSpPr>
      <p:grpSpPr>
        <a:xfrm>
          <a:off x="0" y="0"/>
          <a:ext cx="0" cy="0"/>
          <a:chOff x="0" y="0"/>
          <a:chExt cx="0" cy="0"/>
        </a:xfrm>
      </p:grpSpPr>
      <p:sp>
        <p:nvSpPr>
          <p:cNvPr id="210" name="Google Shape;210;g3e0db0690ba_0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1" name="Google Shape;211;g3e0db0690ba_0_1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3e08c5cd45e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1" name="Google Shape;221;g3e08c5cd45e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g3dfae3e4a0d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1" name="Google Shape;231;g3dfae3e4a0d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8"/>
        <p:cNvGrpSpPr/>
        <p:nvPr/>
      </p:nvGrpSpPr>
      <p:grpSpPr>
        <a:xfrm>
          <a:off x="0" y="0"/>
          <a:ext cx="0" cy="0"/>
          <a:chOff x="0" y="0"/>
          <a:chExt cx="0" cy="0"/>
        </a:xfrm>
      </p:grpSpPr>
      <p:sp>
        <p:nvSpPr>
          <p:cNvPr id="239" name="Google Shape;239;g3e0f37d2495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0" name="Google Shape;240;g3e0f37d2495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5"/>
        <p:cNvGrpSpPr/>
        <p:nvPr/>
      </p:nvGrpSpPr>
      <p:grpSpPr>
        <a:xfrm>
          <a:off x="0" y="0"/>
          <a:ext cx="0" cy="0"/>
          <a:chOff x="0" y="0"/>
          <a:chExt cx="0" cy="0"/>
        </a:xfrm>
      </p:grpSpPr>
      <p:sp>
        <p:nvSpPr>
          <p:cNvPr id="246" name="Google Shape;246;g39ab185bf5c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7" name="Google Shape;247;g39ab185bf5c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3"/>
        <p:cNvGrpSpPr/>
        <p:nvPr/>
      </p:nvGrpSpPr>
      <p:grpSpPr>
        <a:xfrm>
          <a:off x="0" y="0"/>
          <a:ext cx="0" cy="0"/>
          <a:chOff x="0" y="0"/>
          <a:chExt cx="0" cy="0"/>
        </a:xfrm>
      </p:grpSpPr>
      <p:sp>
        <p:nvSpPr>
          <p:cNvPr id="254" name="Google Shape;254;g39ab185bf5c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5" name="Google Shape;255;g39ab185bf5c_0_2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g3d971967e09_0_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2" name="Google Shape;262;g3d971967e09_0_1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g3d971967e09_0_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3" name="Google Shape;273;g3d971967e09_0_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1"/>
        <p:cNvGrpSpPr/>
        <p:nvPr/>
      </p:nvGrpSpPr>
      <p:grpSpPr>
        <a:xfrm>
          <a:off x="0" y="0"/>
          <a:ext cx="0" cy="0"/>
          <a:chOff x="0" y="0"/>
          <a:chExt cx="0" cy="0"/>
        </a:xfrm>
      </p:grpSpPr>
      <p:sp>
        <p:nvSpPr>
          <p:cNvPr id="282" name="Google Shape;282;g3d971967e09_0_3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83" name="Google Shape;283;g3d971967e09_0_3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 name="Google Shape;37;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172" y="205067"/>
            <a:ext cx="8228700" cy="858600"/>
          </a:xfrm>
          <a:prstGeom prst="rect">
            <a:avLst/>
          </a:prstGeom>
          <a:noFill/>
          <a:ln>
            <a:noFill/>
          </a:ln>
        </p:spPr>
        <p:txBody>
          <a:bodyPr spcFirstLastPara="1" wrap="square" lIns="0" tIns="0" rIns="0" bIns="0" anchor="ctr"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52" name="Google Shape;52;p13"/>
          <p:cNvSpPr txBox="1">
            <a:spLocks noGrp="1"/>
          </p:cNvSpPr>
          <p:nvPr>
            <p:ph type="body" idx="1"/>
          </p:nvPr>
        </p:nvSpPr>
        <p:spPr>
          <a:xfrm>
            <a:off x="457172" y="1203299"/>
            <a:ext cx="8228700" cy="2982600"/>
          </a:xfrm>
          <a:prstGeom prst="rect">
            <a:avLst/>
          </a:prstGeom>
          <a:noFill/>
          <a:ln>
            <a:noFill/>
          </a:ln>
        </p:spPr>
        <p:txBody>
          <a:bodyPr spcFirstLastPara="1" wrap="square" lIns="0" tIns="0" rIns="0" bIns="0" anchor="t" anchorCtr="0">
            <a:normAutofit/>
          </a:bodyPr>
          <a:lstStyle>
            <a:lvl1pPr marL="457200" lvl="0" indent="-228600" algn="l">
              <a:lnSpc>
                <a:spcPct val="115000"/>
              </a:lnSpc>
              <a:spcBef>
                <a:spcPts val="0"/>
              </a:spcBef>
              <a:spcAft>
                <a:spcPts val="0"/>
              </a:spcAft>
              <a:buSzPts val="1800"/>
              <a:buNone/>
              <a:defRPr/>
            </a:lvl1pPr>
            <a:lvl2pPr marL="914400" lvl="1" indent="-228600" algn="l">
              <a:lnSpc>
                <a:spcPct val="115000"/>
              </a:lnSpc>
              <a:spcBef>
                <a:spcPts val="0"/>
              </a:spcBef>
              <a:spcAft>
                <a:spcPts val="0"/>
              </a:spcAft>
              <a:buSzPts val="1400"/>
              <a:buNone/>
              <a:defRPr/>
            </a:lvl2pPr>
            <a:lvl3pPr marL="1371600" lvl="2" indent="-228600" algn="l">
              <a:lnSpc>
                <a:spcPct val="115000"/>
              </a:lnSpc>
              <a:spcBef>
                <a:spcPts val="0"/>
              </a:spcBef>
              <a:spcAft>
                <a:spcPts val="0"/>
              </a:spcAft>
              <a:buSzPts val="1400"/>
              <a:buNone/>
              <a:defRPr/>
            </a:lvl3pPr>
            <a:lvl4pPr marL="1828800" lvl="3" indent="-228600" algn="l">
              <a:lnSpc>
                <a:spcPct val="115000"/>
              </a:lnSpc>
              <a:spcBef>
                <a:spcPts val="0"/>
              </a:spcBef>
              <a:spcAft>
                <a:spcPts val="0"/>
              </a:spcAft>
              <a:buSzPts val="1400"/>
              <a:buNone/>
              <a:defRPr/>
            </a:lvl4pPr>
            <a:lvl5pPr marL="2286000" lvl="4" indent="-228600" algn="l">
              <a:lnSpc>
                <a:spcPct val="115000"/>
              </a:lnSpc>
              <a:spcBef>
                <a:spcPts val="0"/>
              </a:spcBef>
              <a:spcAft>
                <a:spcPts val="0"/>
              </a:spcAft>
              <a:buSzPts val="1400"/>
              <a:buNone/>
              <a:defRPr/>
            </a:lvl5pPr>
            <a:lvl6pPr marL="2743200" lvl="5" indent="-228600" algn="l">
              <a:lnSpc>
                <a:spcPct val="115000"/>
              </a:lnSpc>
              <a:spcBef>
                <a:spcPts val="0"/>
              </a:spcBef>
              <a:spcAft>
                <a:spcPts val="0"/>
              </a:spcAft>
              <a:buSzPts val="1400"/>
              <a:buNone/>
              <a:defRPr/>
            </a:lvl6pPr>
            <a:lvl7pPr marL="3200400" lvl="6" indent="-228600" algn="l">
              <a:lnSpc>
                <a:spcPct val="115000"/>
              </a:lnSpc>
              <a:spcBef>
                <a:spcPts val="0"/>
              </a:spcBef>
              <a:spcAft>
                <a:spcPts val="0"/>
              </a:spcAft>
              <a:buSzPts val="1400"/>
              <a:buNone/>
              <a:defRPr/>
            </a:lvl7pPr>
            <a:lvl8pPr marL="3657600" lvl="7" indent="-228600" algn="l">
              <a:lnSpc>
                <a:spcPct val="115000"/>
              </a:lnSpc>
              <a:spcBef>
                <a:spcPts val="0"/>
              </a:spcBef>
              <a:spcAft>
                <a:spcPts val="0"/>
              </a:spcAft>
              <a:buSzPts val="1400"/>
              <a:buNone/>
              <a:defRPr/>
            </a:lvl8pPr>
            <a:lvl9pPr marL="4114800" lvl="8" indent="-228600" algn="l">
              <a:lnSpc>
                <a:spcPct val="115000"/>
              </a:lnSpc>
              <a:spcBef>
                <a:spcPts val="0"/>
              </a:spcBef>
              <a:spcAft>
                <a:spcPts val="0"/>
              </a:spcAft>
              <a:buSzPts val="14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p:cSld name="SECTION_HEADER_1">
    <p:spTree>
      <p:nvGrpSpPr>
        <p:cNvPr id="1" name="Shape 53"/>
        <p:cNvGrpSpPr/>
        <p:nvPr/>
      </p:nvGrpSpPr>
      <p:grpSpPr>
        <a:xfrm>
          <a:off x="0" y="0"/>
          <a:ext cx="0" cy="0"/>
          <a:chOff x="0" y="0"/>
          <a:chExt cx="0" cy="0"/>
        </a:xfrm>
      </p:grpSpPr>
      <p:sp>
        <p:nvSpPr>
          <p:cNvPr id="54" name="Google Shape;54;p14"/>
          <p:cNvSpPr txBox="1">
            <a:spLocks noGrp="1"/>
          </p:cNvSpPr>
          <p:nvPr>
            <p:ph type="title"/>
          </p:nvPr>
        </p:nvSpPr>
        <p:spPr>
          <a:xfrm>
            <a:off x="623888" y="1282303"/>
            <a:ext cx="7886700" cy="2139600"/>
          </a:xfrm>
          <a:prstGeom prst="rect">
            <a:avLst/>
          </a:prstGeom>
          <a:noFill/>
          <a:ln>
            <a:noFill/>
          </a:ln>
        </p:spPr>
        <p:txBody>
          <a:bodyPr spcFirstLastPara="1" wrap="square" lIns="68575" tIns="68575" rIns="68575" bIns="68575" anchor="b" anchorCtr="0">
            <a:noAutofit/>
          </a:bodyPr>
          <a:lstStyle>
            <a:lvl1pPr marR="0" lvl="0" algn="l">
              <a:lnSpc>
                <a:spcPct val="90000"/>
              </a:lnSpc>
              <a:spcBef>
                <a:spcPts val="0"/>
              </a:spcBef>
              <a:spcAft>
                <a:spcPts val="0"/>
              </a:spcAft>
              <a:buClr>
                <a:schemeClr val="dk1"/>
              </a:buClr>
              <a:buSzPts val="4500"/>
              <a:buFont typeface="Calibri"/>
              <a:buNone/>
              <a:defRPr sz="4500" b="0" i="0" u="none" strike="noStrike" cap="none">
                <a:solidFill>
                  <a:schemeClr val="dk1"/>
                </a:solidFill>
                <a:latin typeface="Calibri"/>
                <a:ea typeface="Calibri"/>
                <a:cs typeface="Calibri"/>
                <a:sym typeface="Calibri"/>
              </a:defRPr>
            </a:lvl1pPr>
            <a:lvl2pPr lvl="1" algn="l">
              <a:lnSpc>
                <a:spcPct val="100000"/>
              </a:lnSpc>
              <a:spcBef>
                <a:spcPts val="0"/>
              </a:spcBef>
              <a:spcAft>
                <a:spcPts val="0"/>
              </a:spcAft>
              <a:buSzPts val="1100"/>
              <a:buNone/>
              <a:defRPr sz="1400"/>
            </a:lvl2pPr>
            <a:lvl3pPr lvl="2" algn="l">
              <a:lnSpc>
                <a:spcPct val="100000"/>
              </a:lnSpc>
              <a:spcBef>
                <a:spcPts val="0"/>
              </a:spcBef>
              <a:spcAft>
                <a:spcPts val="0"/>
              </a:spcAft>
              <a:buSzPts val="1100"/>
              <a:buNone/>
              <a:defRPr sz="1400"/>
            </a:lvl3pPr>
            <a:lvl4pPr lvl="3" algn="l">
              <a:lnSpc>
                <a:spcPct val="100000"/>
              </a:lnSpc>
              <a:spcBef>
                <a:spcPts val="0"/>
              </a:spcBef>
              <a:spcAft>
                <a:spcPts val="0"/>
              </a:spcAft>
              <a:buSzPts val="1100"/>
              <a:buNone/>
              <a:defRPr sz="1400"/>
            </a:lvl4pPr>
            <a:lvl5pPr lvl="4" algn="l">
              <a:lnSpc>
                <a:spcPct val="100000"/>
              </a:lnSpc>
              <a:spcBef>
                <a:spcPts val="0"/>
              </a:spcBef>
              <a:spcAft>
                <a:spcPts val="0"/>
              </a:spcAft>
              <a:buSzPts val="1100"/>
              <a:buNone/>
              <a:defRPr sz="1400"/>
            </a:lvl5pPr>
            <a:lvl6pPr lvl="5" algn="l">
              <a:lnSpc>
                <a:spcPct val="100000"/>
              </a:lnSpc>
              <a:spcBef>
                <a:spcPts val="0"/>
              </a:spcBef>
              <a:spcAft>
                <a:spcPts val="0"/>
              </a:spcAft>
              <a:buSzPts val="1100"/>
              <a:buNone/>
              <a:defRPr sz="1400"/>
            </a:lvl6pPr>
            <a:lvl7pPr lvl="6" algn="l">
              <a:lnSpc>
                <a:spcPct val="100000"/>
              </a:lnSpc>
              <a:spcBef>
                <a:spcPts val="0"/>
              </a:spcBef>
              <a:spcAft>
                <a:spcPts val="0"/>
              </a:spcAft>
              <a:buSzPts val="1100"/>
              <a:buNone/>
              <a:defRPr sz="1400"/>
            </a:lvl7pPr>
            <a:lvl8pPr lvl="7" algn="l">
              <a:lnSpc>
                <a:spcPct val="100000"/>
              </a:lnSpc>
              <a:spcBef>
                <a:spcPts val="0"/>
              </a:spcBef>
              <a:spcAft>
                <a:spcPts val="0"/>
              </a:spcAft>
              <a:buSzPts val="1100"/>
              <a:buNone/>
              <a:defRPr sz="1400"/>
            </a:lvl8pPr>
            <a:lvl9pPr lvl="8" algn="l">
              <a:lnSpc>
                <a:spcPct val="100000"/>
              </a:lnSpc>
              <a:spcBef>
                <a:spcPts val="0"/>
              </a:spcBef>
              <a:spcAft>
                <a:spcPts val="0"/>
              </a:spcAft>
              <a:buSzPts val="1100"/>
              <a:buNone/>
              <a:defRPr sz="1400"/>
            </a:lvl9pPr>
          </a:lstStyle>
          <a:p>
            <a:endParaRPr/>
          </a:p>
        </p:txBody>
      </p:sp>
      <p:sp>
        <p:nvSpPr>
          <p:cNvPr id="55" name="Google Shape;55;p14"/>
          <p:cNvSpPr txBox="1">
            <a:spLocks noGrp="1"/>
          </p:cNvSpPr>
          <p:nvPr>
            <p:ph type="body" idx="1"/>
          </p:nvPr>
        </p:nvSpPr>
        <p:spPr>
          <a:xfrm>
            <a:off x="623888" y="3442097"/>
            <a:ext cx="7886700" cy="1125300"/>
          </a:xfrm>
          <a:prstGeom prst="rect">
            <a:avLst/>
          </a:prstGeom>
          <a:noFill/>
          <a:ln>
            <a:noFill/>
          </a:ln>
        </p:spPr>
        <p:txBody>
          <a:bodyPr spcFirstLastPara="1" wrap="square" lIns="68575" tIns="68575" rIns="68575" bIns="68575" anchor="t" anchorCtr="0">
            <a:noAutofit/>
          </a:bodyPr>
          <a:lstStyle>
            <a:lvl1pPr marL="457200" marR="0" lvl="0" indent="-228600" algn="l">
              <a:lnSpc>
                <a:spcPct val="90000"/>
              </a:lnSpc>
              <a:spcBef>
                <a:spcPts val="8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1pPr>
            <a:lvl2pPr marL="914400" marR="0" lvl="1" indent="-228600" algn="l">
              <a:lnSpc>
                <a:spcPct val="90000"/>
              </a:lnSpc>
              <a:spcBef>
                <a:spcPts val="400"/>
              </a:spcBef>
              <a:spcAft>
                <a:spcPts val="0"/>
              </a:spcAft>
              <a:buClr>
                <a:srgbClr val="888888"/>
              </a:buClr>
              <a:buSzPts val="1500"/>
              <a:buFont typeface="Arial"/>
              <a:buNone/>
              <a:defRPr sz="1500" b="0" i="0" u="none" strike="noStrike" cap="none">
                <a:solidFill>
                  <a:srgbClr val="888888"/>
                </a:solidFill>
                <a:latin typeface="Calibri"/>
                <a:ea typeface="Calibri"/>
                <a:cs typeface="Calibri"/>
                <a:sym typeface="Calibri"/>
              </a:defRPr>
            </a:lvl2pPr>
            <a:lvl3pPr marL="1371600" marR="0" lvl="2" indent="-228600" algn="l">
              <a:lnSpc>
                <a:spcPct val="90000"/>
              </a:lnSpc>
              <a:spcBef>
                <a:spcPts val="40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3pPr>
            <a:lvl4pPr marL="1828800" marR="0" lvl="3"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4pPr>
            <a:lvl5pPr marL="2286000" marR="0" lvl="4"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5pPr>
            <a:lvl6pPr marL="2743200" marR="0" lvl="5"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6pPr>
            <a:lvl7pPr marL="3200400" marR="0" lvl="6"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7pPr>
            <a:lvl8pPr marL="3657600" marR="0" lvl="7"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8pPr>
            <a:lvl9pPr marL="4114800" marR="0" lvl="8"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9pPr>
          </a:lstStyle>
          <a:p>
            <a:endParaRPr/>
          </a:p>
        </p:txBody>
      </p:sp>
      <p:sp>
        <p:nvSpPr>
          <p:cNvPr id="56" name="Google Shape;56;p14"/>
          <p:cNvSpPr txBox="1">
            <a:spLocks noGrp="1"/>
          </p:cNvSpPr>
          <p:nvPr>
            <p:ph type="dt" idx="10"/>
          </p:nvPr>
        </p:nvSpPr>
        <p:spPr>
          <a:xfrm>
            <a:off x="628650" y="4767263"/>
            <a:ext cx="2057400" cy="273900"/>
          </a:xfrm>
          <a:prstGeom prst="rect">
            <a:avLst/>
          </a:prstGeom>
          <a:noFill/>
          <a:ln>
            <a:noFill/>
          </a:ln>
        </p:spPr>
        <p:txBody>
          <a:bodyPr spcFirstLastPara="1" wrap="square" lIns="68575" tIns="68575" rIns="68575" bIns="685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7" name="Google Shape;57;p14"/>
          <p:cNvSpPr txBox="1">
            <a:spLocks noGrp="1"/>
          </p:cNvSpPr>
          <p:nvPr>
            <p:ph type="ftr" idx="11"/>
          </p:nvPr>
        </p:nvSpPr>
        <p:spPr>
          <a:xfrm>
            <a:off x="3028950" y="4767263"/>
            <a:ext cx="3086100" cy="273900"/>
          </a:xfrm>
          <a:prstGeom prst="rect">
            <a:avLst/>
          </a:prstGeom>
          <a:noFill/>
          <a:ln>
            <a:noFill/>
          </a:ln>
        </p:spPr>
        <p:txBody>
          <a:bodyPr spcFirstLastPara="1" wrap="square" lIns="68575" tIns="68575" rIns="68575" bIns="685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8" name="Google Shape;58;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3" Type="http://schemas.openxmlformats.org/officeDocument/2006/relationships/hyperlink" Target="https://huggingface.co/open-llm-leaderboard" TargetMode="External"/><Relationship Id="rId18" Type="http://schemas.openxmlformats.org/officeDocument/2006/relationships/hyperlink" Target="https://lmarena.ai/leaderboard/text-to-image" TargetMode="External"/><Relationship Id="rId26" Type="http://schemas.openxmlformats.org/officeDocument/2006/relationships/hyperlink" Target="https://openai.com/index/introducing-gpt-5-5/" TargetMode="External"/><Relationship Id="rId39" Type="http://schemas.openxmlformats.org/officeDocument/2006/relationships/hyperlink" Target="https://blog.google/products/gemini/gemini-3-flash" TargetMode="External"/><Relationship Id="rId21" Type="http://schemas.openxmlformats.org/officeDocument/2006/relationships/hyperlink" Target="https://www.anthropic.com/news/claude-opus-4-5" TargetMode="External"/><Relationship Id="rId34" Type="http://schemas.openxmlformats.org/officeDocument/2006/relationships/hyperlink" Target="https://ernie.baidu.com/blog/posts/ernie-5.1-preview-0430-release-on-lmarena/" TargetMode="External"/><Relationship Id="rId42" Type="http://schemas.openxmlformats.org/officeDocument/2006/relationships/hyperlink" Target="https://qwen.ai/blog?id=qwen3.5-max-preview" TargetMode="External"/><Relationship Id="rId7" Type="http://schemas.openxmlformats.org/officeDocument/2006/relationships/hyperlink" Target="https://openlm.ai/chatbot-arena/" TargetMode="External"/><Relationship Id="rId2" Type="http://schemas.openxmlformats.org/officeDocument/2006/relationships/notesSlide" Target="../notesSlides/notesSlide2.xml"/><Relationship Id="rId16" Type="http://schemas.openxmlformats.org/officeDocument/2006/relationships/hyperlink" Target="https://artificialanalysis.ai/models/grok-4" TargetMode="External"/><Relationship Id="rId20" Type="http://schemas.openxmlformats.org/officeDocument/2006/relationships/hyperlink" Target="https://www.anthropic.com/news/claude-opus-4-6" TargetMode="External"/><Relationship Id="rId29" Type="http://schemas.openxmlformats.org/officeDocument/2006/relationships/hyperlink" Target="https://www.anthropic.com/news/claude-sonnet-4-5" TargetMode="External"/><Relationship Id="rId41" Type="http://schemas.openxmlformats.org/officeDocument/2006/relationships/hyperlink" Target="https://mimo.xiaomi.com/mimo-v2-5-pro/" TargetMode="External"/><Relationship Id="rId1" Type="http://schemas.openxmlformats.org/officeDocument/2006/relationships/slideLayout" Target="../slideLayouts/slideLayout1.xml"/><Relationship Id="rId6" Type="http://schemas.openxmlformats.org/officeDocument/2006/relationships/hyperlink" Target="https://www.designarena.ai" TargetMode="External"/><Relationship Id="rId11" Type="http://schemas.openxmlformats.org/officeDocument/2006/relationships/hyperlink" Target="https://www.stack-ai.com/llm-leaderboard" TargetMode="External"/><Relationship Id="rId24" Type="http://schemas.openxmlformats.org/officeDocument/2006/relationships/hyperlink" Target="https://platform.openai.com/docs/models/gpt-5.4" TargetMode="External"/><Relationship Id="rId32" Type="http://schemas.openxmlformats.org/officeDocument/2006/relationships/hyperlink" Target="https://aistudio.google.com/app/prompts/new_chat?model=gemini-3-pro-preview" TargetMode="External"/><Relationship Id="rId37" Type="http://schemas.openxmlformats.org/officeDocument/2006/relationships/hyperlink" Target="https://grok.com" TargetMode="External"/><Relationship Id="rId40" Type="http://schemas.openxmlformats.org/officeDocument/2006/relationships/hyperlink" Target="https://x.ai/news/grok-4-1" TargetMode="External"/><Relationship Id="rId5" Type="http://schemas.openxmlformats.org/officeDocument/2006/relationships/hyperlink" Target="https://lmarena.ai/leaderboard/text/coding" TargetMode="External"/><Relationship Id="rId15" Type="http://schemas.openxmlformats.org/officeDocument/2006/relationships/hyperlink" Target="https://epoch.ai/data/ai-benchmarking-dashboard" TargetMode="External"/><Relationship Id="rId23" Type="http://schemas.openxmlformats.org/officeDocument/2006/relationships/hyperlink" Target="https://blog.google/innovation-and-ai/models-and-research/gemini-models/gemini-3-1-pro/" TargetMode="External"/><Relationship Id="rId28" Type="http://schemas.openxmlformats.org/officeDocument/2006/relationships/hyperlink" Target="https://docs.x.ai/developers/models/grok-4.20-multi-agent-beta-0309" TargetMode="External"/><Relationship Id="rId36" Type="http://schemas.openxmlformats.org/officeDocument/2006/relationships/hyperlink" Target="https://www.byteplus.com/en/blog/dola-seed-2-0-pro" TargetMode="External"/><Relationship Id="rId10" Type="http://schemas.openxmlformats.org/officeDocument/2006/relationships/hyperlink" Target="https://llmworld.net/llm_leaderboards/" TargetMode="External"/><Relationship Id="rId19" Type="http://schemas.openxmlformats.org/officeDocument/2006/relationships/hyperlink" Target="https://www.anthropic.com/news/claude-opus-4-7" TargetMode="External"/><Relationship Id="rId31" Type="http://schemas.openxmlformats.org/officeDocument/2006/relationships/hyperlink" Target="https://www.kimi.com/blog/kimi-k2-6" TargetMode="External"/><Relationship Id="rId4" Type="http://schemas.openxmlformats.org/officeDocument/2006/relationships/hyperlink" Target="https://lmarena.ai/leaderboard/text" TargetMode="External"/><Relationship Id="rId9" Type="http://schemas.openxmlformats.org/officeDocument/2006/relationships/hyperlink" Target="https://web.lmarena.ai/leaderboard" TargetMode="External"/><Relationship Id="rId14" Type="http://schemas.openxmlformats.org/officeDocument/2006/relationships/hyperlink" Target="https://www.vellum.ai/llm-leaderboard" TargetMode="External"/><Relationship Id="rId22" Type="http://schemas.openxmlformats.org/officeDocument/2006/relationships/hyperlink" Target="https://ai.meta.com/blog/introducing-muse-spark-msl/" TargetMode="External"/><Relationship Id="rId27" Type="http://schemas.openxmlformats.org/officeDocument/2006/relationships/hyperlink" Target="https://www.anthropic.com/news/claude-sonnet-4-6" TargetMode="External"/><Relationship Id="rId30" Type="http://schemas.openxmlformats.org/officeDocument/2006/relationships/hyperlink" Target="https://developers.openai.com/api/docs/models/gpt-5.2-chat-latest" TargetMode="External"/><Relationship Id="rId35" Type="http://schemas.openxmlformats.org/officeDocument/2006/relationships/hyperlink" Target="https://www.anthropic.com/news/claude-opus-4-1" TargetMode="External"/><Relationship Id="rId8" Type="http://schemas.openxmlformats.org/officeDocument/2006/relationships/hyperlink" Target="https://beta.lmarena.ai" TargetMode="External"/><Relationship Id="rId3" Type="http://schemas.openxmlformats.org/officeDocument/2006/relationships/hyperlink" Target="https://en.wikipedia.org/wiki/Elo_rating_system" TargetMode="External"/><Relationship Id="rId12" Type="http://schemas.openxmlformats.org/officeDocument/2006/relationships/hyperlink" Target="https://artificialanalysis.ai/leaderboards/models" TargetMode="External"/><Relationship Id="rId17" Type="http://schemas.openxmlformats.org/officeDocument/2006/relationships/hyperlink" Target="http://aiarena.alibaba-inc.com/corpora/arena/leaderboard?arenaType=T2I" TargetMode="External"/><Relationship Id="rId25" Type="http://schemas.openxmlformats.org/officeDocument/2006/relationships/hyperlink" Target="https://huggingface.co/zai-org/GLM-5.1" TargetMode="External"/><Relationship Id="rId33" Type="http://schemas.openxmlformats.org/officeDocument/2006/relationships/hyperlink" Target="https://docs.x.ai/developers/models/grok-4.20-beta-0309-reasoning" TargetMode="External"/><Relationship Id="rId38" Type="http://schemas.openxmlformats.org/officeDocument/2006/relationships/hyperlink" Target="https://openai.com/index/gpt-5-5-instant"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ai.meta.com/blog/introducing-muse-spark-msl/"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3" Type="http://schemas.openxmlformats.org/officeDocument/2006/relationships/hyperlink" Target="https://www.youtube.com/watch?v=_jU6jAkqsDw" TargetMode="External"/><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6.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hyperlink" Target="https://www.youtube.com/@lev-selector/videos" TargetMode="External"/><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hyperlink" Target="https://www.youtube.com/watch?v=9UpLmjlDgPg" TargetMode="External"/><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hyperlink" Target="https://x.com/ArtificialAnlys/status/2046424230401843314" TargetMode="External"/><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hyperlink" Target="https://suprmind.ai/hub/ai-hallucination-rates-and-benchmarks/" TargetMode="External"/><Relationship Id="rId7"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hyperlink" Target="https://www.mayhemcode.com/2026/04/vectara-hallucination-leaderboard.html" TargetMode="External"/><Relationship Id="rId5" Type="http://schemas.openxmlformats.org/officeDocument/2006/relationships/hyperlink" Target="https://www.vectara.com/blog/introducing-the-next-generation-of-vectaras-hallucination-leaderboard" TargetMode="External"/><Relationship Id="rId4" Type="http://schemas.openxmlformats.org/officeDocument/2006/relationships/hyperlink" Target="https://www.bridgebench.ai/hallucination" TargetMode="External"/></Relationships>
</file>

<file path=ppt/slides/_rels/slide10.xml.rels><?xml version="1.0" encoding="UTF-8" standalone="yes"?>
<Relationships xmlns="http://schemas.openxmlformats.org/package/2006/relationships"><Relationship Id="rId8" Type="http://schemas.openxmlformats.org/officeDocument/2006/relationships/image" Target="../media/image16.jpeg"/><Relationship Id="rId3" Type="http://schemas.openxmlformats.org/officeDocument/2006/relationships/image" Target="../media/image11.jpeg"/><Relationship Id="rId7"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 Id="rId9" Type="http://schemas.openxmlformats.org/officeDocument/2006/relationships/image" Target="../media/image17.jpeg"/></Relationships>
</file>

<file path=ppt/slides/_rels/slide11.xml.rels><?xml version="1.0" encoding="UTF-8" standalone="yes"?>
<Relationships xmlns="http://schemas.openxmlformats.org/package/2006/relationships"><Relationship Id="rId3" Type="http://schemas.openxmlformats.org/officeDocument/2006/relationships/hyperlink" Target="http://www.youtube.com/watch?v=sViyNJzf-OQ" TargetMode="External"/><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hyperlink" Target="https://github.com/anthropics/financial-services" TargetMode="External"/><Relationship Id="rId7" Type="http://schemas.openxmlformats.org/officeDocument/2006/relationships/hyperlink" Target="https://github.com/mkll/awesome-claude-skills-ai" TargetMode="External"/><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hyperlink" Target="https://www.youtube.com/watch?v=E4GNZxJQqfM" TargetMode="External"/><Relationship Id="rId5" Type="http://schemas.openxmlformats.org/officeDocument/2006/relationships/hyperlink" Target="https://claude.com/resources/tutorials/claude-for-financial-services-skills" TargetMode="External"/><Relationship Id="rId4" Type="http://schemas.openxmlformats.org/officeDocument/2006/relationships/hyperlink" Target="https://github.com/anthropics/financial-services-plugins" TargetMode="External"/><Relationship Id="rId9" Type="http://schemas.openxmlformats.org/officeDocument/2006/relationships/image" Target="../media/image20.png"/></Relationships>
</file>

<file path=ppt/slides/_rels/slide13.xml.rels><?xml version="1.0" encoding="UTF-8" standalone="yes"?>
<Relationships xmlns="http://schemas.openxmlformats.org/package/2006/relationships"><Relationship Id="rId3" Type="http://schemas.openxmlformats.org/officeDocument/2006/relationships/hyperlink" Target="https://www.youtube.com/watch?v=RxwjoegpI98" TargetMode="External"/><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21.png"/></Relationships>
</file>

<file path=ppt/slides/_rels/slide14.xml.rels><?xml version="1.0" encoding="UTF-8" standalone="yes"?>
<Relationships xmlns="http://schemas.openxmlformats.org/package/2006/relationships"><Relationship Id="rId8" Type="http://schemas.openxmlformats.org/officeDocument/2006/relationships/image" Target="../media/image23.jpeg"/><Relationship Id="rId3" Type="http://schemas.openxmlformats.org/officeDocument/2006/relationships/hyperlink" Target="http://www.youtube.com/watch?v=CLjTCe_cvJs" TargetMode="External"/><Relationship Id="rId7" Type="http://schemas.openxmlformats.org/officeDocument/2006/relationships/hyperlink" Target="https://www.youtube.com/watch?v=gxbp3BUo3wk" TargetMode="External"/><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hyperlink" Target="https://github.com/facebookresearch/sira" TargetMode="External"/><Relationship Id="rId5" Type="http://schemas.openxmlformats.org/officeDocument/2006/relationships/image" Target="../media/image22.png"/><Relationship Id="rId4" Type="http://schemas.openxmlformats.org/officeDocument/2006/relationships/hyperlink" Target="https://www.youtube.com/watch?v=CLjTCe_cvJs" TargetMode="External"/></Relationships>
</file>

<file path=ppt/slides/_rels/slide15.xml.rels><?xml version="1.0" encoding="UTF-8" standalone="yes"?>
<Relationships xmlns="http://schemas.openxmlformats.org/package/2006/relationships"><Relationship Id="rId3" Type="http://schemas.openxmlformats.org/officeDocument/2006/relationships/hyperlink" Target="https://thariqs.github.io/html-effectiveness/" TargetMode="External"/><Relationship Id="rId7" Type="http://schemas.openxmlformats.org/officeDocument/2006/relationships/image" Target="../media/image26.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hyperlink" Target="https://x.com/trq212/status/2052809885763747935" TargetMode="External"/></Relationships>
</file>

<file path=ppt/slides/_rels/slide16.xml.rels><?xml version="1.0" encoding="UTF-8" standalone="yes"?>
<Relationships xmlns="http://schemas.openxmlformats.org/package/2006/relationships"><Relationship Id="rId3" Type="http://schemas.openxmlformats.org/officeDocument/2006/relationships/hyperlink" Target="https://www.youtube.com/watch?v=WPPhts8bWgQ" TargetMode="External"/><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hyperlink" Target="https://www.youtube.com/watch?v=o_igSi-ED6s" TargetMode="External"/></Relationships>
</file>

<file path=ppt/slides/_rels/slide17.xml.rels><?xml version="1.0" encoding="UTF-8" standalone="yes"?>
<Relationships xmlns="http://schemas.openxmlformats.org/package/2006/relationships"><Relationship Id="rId3" Type="http://schemas.openxmlformats.org/officeDocument/2006/relationships/image" Target="../media/image29.jpe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30.png"/></Relationships>
</file>

<file path=ppt/slides/_rels/slide18.xml.rels><?xml version="1.0" encoding="UTF-8" standalone="yes"?>
<Relationships xmlns="http://schemas.openxmlformats.org/package/2006/relationships"><Relationship Id="rId8" Type="http://schemas.openxmlformats.org/officeDocument/2006/relationships/hyperlink" Target="https://www.vybe.build/blog/best-ai-agent-platforms-2026" TargetMode="External"/><Relationship Id="rId3" Type="http://schemas.openxmlformats.org/officeDocument/2006/relationships/hyperlink" Target="https://www.youtube.com/watch?v=FJT5Rh0eKe8" TargetMode="External"/><Relationship Id="rId7" Type="http://schemas.openxmlformats.org/officeDocument/2006/relationships/hyperlink" Target="https://manus.im/blog/best-ai-agents-for-small-business" TargetMode="External"/><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hyperlink" Target="https://hermes-agent.org" TargetMode="External"/><Relationship Id="rId5" Type="http://schemas.openxmlformats.org/officeDocument/2006/relationships/hyperlink" Target="https://agentfactory.panaversity.org/docs/which-agents-2026" TargetMode="External"/><Relationship Id="rId10" Type="http://schemas.openxmlformats.org/officeDocument/2006/relationships/image" Target="../media/image31.jpeg"/><Relationship Id="rId4" Type="http://schemas.openxmlformats.org/officeDocument/2006/relationships/hyperlink" Target="https://kilo.ai/kiloclaw/alternatives/genspark-claw-alternative" TargetMode="External"/><Relationship Id="rId9" Type="http://schemas.openxmlformats.org/officeDocument/2006/relationships/hyperlink" Target="https://noca.ai/digital-employees-top-10-platforms-for-2026/" TargetMode="External"/></Relationships>
</file>

<file path=ppt/slides/_rels/slide19.xml.rels><?xml version="1.0" encoding="UTF-8" standalone="yes"?>
<Relationships xmlns="http://schemas.openxmlformats.org/package/2006/relationships"><Relationship Id="rId3" Type="http://schemas.openxmlformats.org/officeDocument/2006/relationships/hyperlink" Target="https://pi.dev" TargetMode="External"/><Relationship Id="rId7" Type="http://schemas.openxmlformats.org/officeDocument/2006/relationships/image" Target="../media/image33.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32.png"/><Relationship Id="rId5" Type="http://schemas.openxmlformats.org/officeDocument/2006/relationships/hyperlink" Target="https://github.com/holaboss-ai/holaOS" TargetMode="External"/><Relationship Id="rId4" Type="http://schemas.openxmlformats.org/officeDocument/2006/relationships/hyperlink" Target="https://www.holaos.ai"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openrouter.ai/openrouter/pareto-code" TargetMode="External"/><Relationship Id="rId2" Type="http://schemas.openxmlformats.org/officeDocument/2006/relationships/notesSlide" Target="../notesSlides/notesSlide20.xml"/><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hyperlink" Target="https://www.youtube.com/watch?v=kQHi_dXugbI" TargetMode="External"/></Relationships>
</file>

<file path=ppt/slides/_rels/slide21.xml.rels><?xml version="1.0" encoding="UTF-8" standalone="yes"?>
<Relationships xmlns="http://schemas.openxmlformats.org/package/2006/relationships"><Relationship Id="rId3" Type="http://schemas.openxmlformats.org/officeDocument/2006/relationships/hyperlink" Target="https://www.youtube.com/watch?v=Xl57Pki6ChE" TargetMode="External"/><Relationship Id="rId2" Type="http://schemas.openxmlformats.org/officeDocument/2006/relationships/notesSlide" Target="../notesSlides/notesSlide21.xml"/><Relationship Id="rId1" Type="http://schemas.openxmlformats.org/officeDocument/2006/relationships/slideLayout" Target="../slideLayouts/slideLayout1.xml"/><Relationship Id="rId5" Type="http://schemas.openxmlformats.org/officeDocument/2006/relationships/hyperlink" Target="https://www.youtube.com/watch?v=74TkxLMfWOo" TargetMode="External"/><Relationship Id="rId4" Type="http://schemas.openxmlformats.org/officeDocument/2006/relationships/image" Target="../media/image35.png"/></Relationships>
</file>

<file path=ppt/slides/_rels/slide22.xml.rels><?xml version="1.0" encoding="UTF-8" standalone="yes"?>
<Relationships xmlns="http://schemas.openxmlformats.org/package/2006/relationships"><Relationship Id="rId3" Type="http://schemas.openxmlformats.org/officeDocument/2006/relationships/hyperlink" Target="https://www.youtube.com/watch?v=6aTNBCqm3zE" TargetMode="External"/><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36.png"/></Relationships>
</file>

<file path=ppt/slides/_rels/slide23.xml.rels><?xml version="1.0" encoding="UTF-8" standalone="yes"?>
<Relationships xmlns="http://schemas.openxmlformats.org/package/2006/relationships"><Relationship Id="rId3" Type="http://schemas.openxmlformats.org/officeDocument/2006/relationships/hyperlink" Target="https://layoffs.fyi" TargetMode="External"/><Relationship Id="rId7" Type="http://schemas.openxmlformats.org/officeDocument/2006/relationships/image" Target="../media/image39.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hyperlink" Target="https://trueup.io/layoffs" TargetMode="External"/></Relationships>
</file>

<file path=ppt/slides/_rels/slide24.xml.rels><?xml version="1.0" encoding="UTF-8" standalone="yes"?>
<Relationships xmlns="http://schemas.openxmlformats.org/package/2006/relationships"><Relationship Id="rId3" Type="http://schemas.openxmlformats.org/officeDocument/2006/relationships/image" Target="../media/image40.jpeg"/><Relationship Id="rId2" Type="http://schemas.openxmlformats.org/officeDocument/2006/relationships/notesSlide" Target="../notesSlides/notesSlide24.xml"/><Relationship Id="rId1" Type="http://schemas.openxmlformats.org/officeDocument/2006/relationships/slideLayout" Target="../slideLayouts/slideLayout1.xml"/><Relationship Id="rId5" Type="http://schemas.openxmlformats.org/officeDocument/2006/relationships/hyperlink" Target="https://eais.ai" TargetMode="External"/><Relationship Id="rId4" Type="http://schemas.openxmlformats.org/officeDocument/2006/relationships/image" Target="../media/image41.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63" name="Google Shape;63;p15"/>
          <p:cNvSpPr txBox="1"/>
          <p:nvPr/>
        </p:nvSpPr>
        <p:spPr>
          <a:xfrm>
            <a:off x="100175" y="664158"/>
            <a:ext cx="4330200" cy="4174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Crowd-sourced "LM Arena" Leaderboard</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Meta - Muse Spark</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China Yuan 3.0 Ultra - Open Source</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AI Humor</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AI Models to Know</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Hallucination Tests, Leaderboards</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How to Reduce Hallucination</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Anthropic Co-founders</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Jack Clark Interview</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Anthropic Open-Sourced Wall Street</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Agentic RAG</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A Better, Cheaper RAG</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Meta’s Super Intelligent Retrieval Agent (SIRA) RAG</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Markdown vs HTML</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Quantum stocks exploded</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OpenAI Realtime Voice Models</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Progress in 3.5 years</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Digital Employee</a:t>
            </a:r>
            <a:endParaRPr sz="1500" b="1">
              <a:solidFill>
                <a:srgbClr val="3C78D8"/>
              </a:solidFill>
              <a:latin typeface="Calibri"/>
              <a:ea typeface="Calibri"/>
              <a:cs typeface="Calibri"/>
              <a:sym typeface="Calibri"/>
            </a:endParaRPr>
          </a:p>
        </p:txBody>
      </p:sp>
      <p:sp>
        <p:nvSpPr>
          <p:cNvPr id="64" name="Google Shape;64;p15"/>
          <p:cNvSpPr txBox="1"/>
          <p:nvPr/>
        </p:nvSpPr>
        <p:spPr>
          <a:xfrm>
            <a:off x="55167" y="-22692"/>
            <a:ext cx="4420200" cy="480300"/>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 sz="3000" b="1">
                <a:solidFill>
                  <a:srgbClr val="3C78D8"/>
                </a:solidFill>
                <a:latin typeface="Calibri"/>
                <a:ea typeface="Calibri"/>
                <a:cs typeface="Calibri"/>
                <a:sym typeface="Calibri"/>
              </a:rPr>
              <a:t>AI Updates - May 15, 2026</a:t>
            </a:r>
            <a:endParaRPr sz="3000" b="1">
              <a:solidFill>
                <a:srgbClr val="3C78D8"/>
              </a:solidFill>
              <a:latin typeface="Calibri"/>
              <a:ea typeface="Calibri"/>
              <a:cs typeface="Calibri"/>
              <a:sym typeface="Calibri"/>
            </a:endParaRPr>
          </a:p>
        </p:txBody>
      </p:sp>
      <p:sp>
        <p:nvSpPr>
          <p:cNvPr id="65" name="Google Shape;65;p15"/>
          <p:cNvSpPr txBox="1"/>
          <p:nvPr/>
        </p:nvSpPr>
        <p:spPr>
          <a:xfrm>
            <a:off x="4532532" y="4291676"/>
            <a:ext cx="4525800" cy="7110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5 Ways to Make Money in 2026</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Companies Are Re-hiring Developers</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Jobs &amp; Layoffs</a:t>
            </a:r>
            <a:endParaRPr sz="1500" b="1">
              <a:solidFill>
                <a:srgbClr val="3C78D8"/>
              </a:solidFill>
              <a:latin typeface="Calibri"/>
              <a:ea typeface="Calibri"/>
              <a:cs typeface="Calibri"/>
              <a:sym typeface="Calibri"/>
            </a:endParaRPr>
          </a:p>
        </p:txBody>
      </p:sp>
      <p:sp>
        <p:nvSpPr>
          <p:cNvPr id="66" name="Google Shape;66;p15"/>
          <p:cNvSpPr txBox="1"/>
          <p:nvPr/>
        </p:nvSpPr>
        <p:spPr>
          <a:xfrm>
            <a:off x="4809450" y="228675"/>
            <a:ext cx="3980100" cy="400200"/>
          </a:xfrm>
          <a:prstGeom prst="rect">
            <a:avLst/>
          </a:prstGeom>
          <a:noFill/>
          <a:ln>
            <a:noFill/>
          </a:ln>
        </p:spPr>
        <p:txBody>
          <a:bodyPr spcFirstLastPara="1" wrap="square" lIns="45700" tIns="45700" rIns="45700" bIns="45700" anchor="t" anchorCtr="0">
            <a:spAutoFit/>
          </a:bodyPr>
          <a:lstStyle/>
          <a:p>
            <a:pPr marL="0" marR="0" lvl="0" indent="0" algn="l" rtl="0">
              <a:lnSpc>
                <a:spcPct val="100000"/>
              </a:lnSpc>
              <a:spcBef>
                <a:spcPts val="0"/>
              </a:spcBef>
              <a:spcAft>
                <a:spcPts val="0"/>
              </a:spcAft>
              <a:buNone/>
            </a:pPr>
            <a:r>
              <a:rPr lang="en" sz="2000" b="1" i="1">
                <a:solidFill>
                  <a:srgbClr val="FF0000"/>
                </a:solidFill>
                <a:latin typeface="Calibri"/>
                <a:ea typeface="Calibri"/>
                <a:cs typeface="Calibri"/>
                <a:sym typeface="Calibri"/>
              </a:rPr>
              <a:t>xx</a:t>
            </a:r>
            <a:endParaRPr sz="2000" b="1" i="1">
              <a:solidFill>
                <a:srgbClr val="FF0000"/>
              </a:solidFill>
              <a:latin typeface="Calibri"/>
              <a:ea typeface="Calibri"/>
              <a:cs typeface="Calibri"/>
              <a:sym typeface="Calibri"/>
            </a:endParaRPr>
          </a:p>
        </p:txBody>
      </p:sp>
      <p:sp>
        <p:nvSpPr>
          <p:cNvPr id="67" name="Google Shape;67;p15"/>
          <p:cNvSpPr txBox="1"/>
          <p:nvPr/>
        </p:nvSpPr>
        <p:spPr>
          <a:xfrm>
            <a:off x="4536607" y="820801"/>
            <a:ext cx="4525800" cy="711000"/>
          </a:xfrm>
          <a:prstGeom prst="rect">
            <a:avLst/>
          </a:prstGeom>
          <a:solidFill>
            <a:srgbClr val="D9EAD3"/>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Pi.dev - minimal open-source Coding Agent</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holaOS is an open agent computer</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Hermes Agent and Pareto Code</a:t>
            </a:r>
            <a:endParaRPr sz="1500" b="1">
              <a:solidFill>
                <a:srgbClr val="3C78D8"/>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1"/>
        <p:cNvGrpSpPr/>
        <p:nvPr/>
      </p:nvGrpSpPr>
      <p:grpSpPr>
        <a:xfrm>
          <a:off x="0" y="0"/>
          <a:ext cx="0" cy="0"/>
          <a:chOff x="0" y="0"/>
          <a:chExt cx="0" cy="0"/>
        </a:xfrm>
      </p:grpSpPr>
      <p:sp>
        <p:nvSpPr>
          <p:cNvPr id="72" name="Google Shape;72;p16"/>
          <p:cNvSpPr txBox="1"/>
          <p:nvPr/>
        </p:nvSpPr>
        <p:spPr>
          <a:xfrm>
            <a:off x="6736325" y="52350"/>
            <a:ext cx="2356200" cy="341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Starting Elo rating = 1000</a:t>
            </a: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900" b="0" i="0" u="sng" strike="noStrike" cap="none">
                <a:solidFill>
                  <a:schemeClr val="hlink"/>
                </a:solidFill>
                <a:latin typeface="Calibri"/>
                <a:ea typeface="Calibri"/>
                <a:cs typeface="Calibri"/>
                <a:sym typeface="Calibri"/>
                <a:hlinkClick r:id="rId3"/>
              </a:rPr>
              <a:t>https://en.wikipedia.org/wiki/Elo_rating_system</a:t>
            </a:r>
            <a:r>
              <a:rPr lang="en" sz="900" b="0" i="0" u="none" strike="noStrike" cap="none">
                <a:solidFill>
                  <a:schemeClr val="dk1"/>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3" name="Google Shape;73;p16"/>
          <p:cNvSpPr txBox="1"/>
          <p:nvPr/>
        </p:nvSpPr>
        <p:spPr>
          <a:xfrm>
            <a:off x="38150" y="2125"/>
            <a:ext cx="25998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1800" b="1" i="0" u="none" strike="noStrike" cap="none">
                <a:solidFill>
                  <a:schemeClr val="dk1"/>
                </a:solidFill>
                <a:latin typeface="Calibri"/>
                <a:ea typeface="Calibri"/>
                <a:cs typeface="Calibri"/>
                <a:sym typeface="Calibri"/>
              </a:rPr>
              <a:t>"LM Arena" Leaderboard</a:t>
            </a:r>
            <a:endParaRPr sz="1800" b="1" i="0" u="none" strike="noStrike" cap="none">
              <a:solidFill>
                <a:srgbClr val="000000"/>
              </a:solidFill>
              <a:latin typeface="Calibri"/>
              <a:ea typeface="Calibri"/>
              <a:cs typeface="Calibri"/>
              <a:sym typeface="Calibri"/>
            </a:endParaRPr>
          </a:p>
        </p:txBody>
      </p:sp>
      <p:sp>
        <p:nvSpPr>
          <p:cNvPr id="74" name="Google Shape;74;p16"/>
          <p:cNvSpPr txBox="1"/>
          <p:nvPr/>
        </p:nvSpPr>
        <p:spPr>
          <a:xfrm>
            <a:off x="52418" y="476072"/>
            <a:ext cx="25998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English - </a:t>
            </a:r>
            <a:r>
              <a:rPr lang="en" sz="900" b="1" u="sng">
                <a:solidFill>
                  <a:schemeClr val="hlink"/>
                </a:solidFill>
                <a:latin typeface="Calibri"/>
                <a:ea typeface="Calibri"/>
                <a:cs typeface="Calibri"/>
                <a:sym typeface="Calibri"/>
                <a:hlinkClick r:id="rId4"/>
              </a:rPr>
              <a:t>https://lmarena.ai/leaderboard/text</a:t>
            </a:r>
            <a:r>
              <a:rPr lang="en" sz="900" b="1">
                <a:solidFill>
                  <a:srgbClr val="FF0000"/>
                </a:solidFill>
                <a:latin typeface="Calibri"/>
                <a:ea typeface="Calibri"/>
                <a:cs typeface="Calibri"/>
                <a:sym typeface="Calibri"/>
              </a:rPr>
              <a:t> </a:t>
            </a:r>
            <a:endParaRPr sz="900" b="1">
              <a:solidFill>
                <a:srgbClr val="FF0000"/>
              </a:solidFill>
              <a:latin typeface="Calibri"/>
              <a:ea typeface="Calibri"/>
              <a:cs typeface="Calibri"/>
              <a:sym typeface="Calibri"/>
            </a:endParaRPr>
          </a:p>
        </p:txBody>
      </p:sp>
      <p:sp>
        <p:nvSpPr>
          <p:cNvPr id="75" name="Google Shape;75;p16"/>
          <p:cNvSpPr txBox="1"/>
          <p:nvPr/>
        </p:nvSpPr>
        <p:spPr>
          <a:xfrm>
            <a:off x="2726905" y="476078"/>
            <a:ext cx="28395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Coding - </a:t>
            </a:r>
            <a:r>
              <a:rPr lang="en" sz="900" b="1" u="sng">
                <a:solidFill>
                  <a:schemeClr val="hlink"/>
                </a:solidFill>
                <a:latin typeface="Calibri"/>
                <a:ea typeface="Calibri"/>
                <a:cs typeface="Calibri"/>
                <a:sym typeface="Calibri"/>
                <a:hlinkClick r:id="rId5"/>
              </a:rPr>
              <a:t>https://lmarena.ai/leaderboard/text/coding</a:t>
            </a:r>
            <a:r>
              <a:rPr lang="en" sz="900" b="1">
                <a:solidFill>
                  <a:srgbClr val="FF0000"/>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6" name="Google Shape;76;p16"/>
          <p:cNvSpPr txBox="1"/>
          <p:nvPr/>
        </p:nvSpPr>
        <p:spPr>
          <a:xfrm>
            <a:off x="6183999" y="1858050"/>
            <a:ext cx="2908500" cy="3096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4"/>
              </a:rPr>
              <a:t>https://lmarena.ai/leaderboard/text</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latin typeface="Calibri"/>
                <a:ea typeface="Calibri"/>
                <a:cs typeface="Calibri"/>
                <a:sym typeface="Calibri"/>
              </a:rPr>
              <a:t>Design Arena -    </a:t>
            </a:r>
            <a:br>
              <a:rPr lang="en" sz="800">
                <a:latin typeface="Calibri"/>
                <a:ea typeface="Calibri"/>
                <a:cs typeface="Calibri"/>
                <a:sym typeface="Calibri"/>
              </a:rPr>
            </a:br>
            <a:r>
              <a:rPr lang="en" sz="800" u="sng">
                <a:solidFill>
                  <a:schemeClr val="hlink"/>
                </a:solidFill>
                <a:latin typeface="Calibri"/>
                <a:ea typeface="Calibri"/>
                <a:cs typeface="Calibri"/>
                <a:sym typeface="Calibri"/>
                <a:hlinkClick r:id="rId6"/>
              </a:rPr>
              <a:t>https://www.designarena.ai</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7"/>
              </a:rPr>
              <a:t>https://openlm.ai/chatbot-arena/</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8"/>
              </a:rPr>
              <a:t>https://beta.lmarena.ai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Web Leaderboard -  1T params</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9"/>
              </a:rPr>
              <a:t>https://web.lmarena.ai/leaderboard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@LlmStats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0"/>
              </a:rPr>
              <a:t>https://llmworld.net/llm_leaderboards/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StackAI</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1"/>
              </a:rPr>
              <a:t>https://www.stack-ai.com/llm-leaderboard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Artificial Analysis</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2"/>
              </a:rPr>
              <a:t>https://artificialanalysis.ai/leaderboards/models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Open LLM Leaderboard - by Hugging Face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3"/>
              </a:rPr>
              <a:t>https://huggingface.co/open-llm-leaderboard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Vellum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4"/>
              </a:rPr>
              <a:t>https://www.vellum.ai/llm-leaderboard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AI Benchmarking Hub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5"/>
              </a:rPr>
              <a:t>https://epoch.ai/data/ai-benchmarking-dashboard</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Grok 4 Benchmarks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6"/>
              </a:rPr>
              <a:t>https://artificialanalysis.ai/models/grok-4</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Image arena (alibaba)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7"/>
              </a:rPr>
              <a:t>http://aiarena.alibaba-inc.com/corpora/arena/leaderboard?arenaType=T2I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image arena - </a:t>
            </a:r>
            <a:r>
              <a:rPr lang="en" sz="800" u="sng">
                <a:solidFill>
                  <a:schemeClr val="hlink"/>
                </a:solidFill>
                <a:latin typeface="Calibri"/>
                <a:ea typeface="Calibri"/>
                <a:cs typeface="Calibri"/>
                <a:sym typeface="Calibri"/>
                <a:hlinkClick r:id="rId18"/>
              </a:rPr>
              <a:t>https://lmarena.ai/leaderboard/text-to-image</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p:txBody>
      </p:sp>
      <p:sp>
        <p:nvSpPr>
          <p:cNvPr id="77" name="Google Shape;77;p16"/>
          <p:cNvSpPr txBox="1"/>
          <p:nvPr/>
        </p:nvSpPr>
        <p:spPr>
          <a:xfrm>
            <a:off x="4431041" y="63625"/>
            <a:ext cx="1408200" cy="17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chemeClr val="dk1"/>
              </a:buClr>
              <a:buSzPts val="1000"/>
              <a:buFont typeface="Calibri"/>
              <a:buChar char="●"/>
            </a:pPr>
            <a:r>
              <a:rPr lang="en" sz="1000">
                <a:latin typeface="Calibri"/>
                <a:ea typeface="Calibri"/>
                <a:cs typeface="Calibri"/>
                <a:sym typeface="Calibri"/>
              </a:rPr>
              <a:t>Data for May 07</a:t>
            </a:r>
            <a:endParaRPr sz="1000">
              <a:latin typeface="Calibri"/>
              <a:ea typeface="Calibri"/>
              <a:cs typeface="Calibri"/>
              <a:sym typeface="Calibri"/>
            </a:endParaRPr>
          </a:p>
        </p:txBody>
      </p:sp>
      <p:sp>
        <p:nvSpPr>
          <p:cNvPr id="78" name="Google Shape;78;p16"/>
          <p:cNvSpPr txBox="1"/>
          <p:nvPr/>
        </p:nvSpPr>
        <p:spPr>
          <a:xfrm>
            <a:off x="6978275" y="551325"/>
            <a:ext cx="2114400" cy="1249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deepseek-v4 - 1.6T</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Baidu Ernie-5.1 - 800B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GLM-5.1 - 744B </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kimi-k2.6 - 1T</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Qwen3.5-397B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Xiaomi MiMo-V2-Pro - 1T+</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Meta muse-spark  30B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solidFill>
                  <a:schemeClr val="dk1"/>
                </a:solidFill>
                <a:latin typeface="Calibri"/>
                <a:ea typeface="Calibri"/>
                <a:cs typeface="Calibri"/>
                <a:sym typeface="Calibri"/>
              </a:rPr>
              <a:t>ByteDance </a:t>
            </a:r>
            <a:r>
              <a:rPr lang="en" sz="1000">
                <a:latin typeface="Calibri"/>
                <a:ea typeface="Calibri"/>
                <a:cs typeface="Calibri"/>
                <a:sym typeface="Calibri"/>
              </a:rPr>
              <a:t>dola-seed-2.0-pro 400B  </a:t>
            </a:r>
            <a:endParaRPr sz="1000">
              <a:latin typeface="Calibri"/>
              <a:ea typeface="Calibri"/>
              <a:cs typeface="Calibri"/>
              <a:sym typeface="Calibri"/>
            </a:endParaRPr>
          </a:p>
        </p:txBody>
      </p:sp>
      <p:graphicFrame>
        <p:nvGraphicFramePr>
          <p:cNvPr id="79" name="Google Shape;79;p16"/>
          <p:cNvGraphicFramePr/>
          <p:nvPr/>
        </p:nvGraphicFramePr>
        <p:xfrm>
          <a:off x="5742420" y="430065"/>
          <a:ext cx="3000000" cy="3000000"/>
        </p:xfrm>
        <a:graphic>
          <a:graphicData uri="http://schemas.openxmlformats.org/drawingml/2006/table">
            <a:tbl>
              <a:tblPr>
                <a:noFill/>
                <a:tableStyleId>{A2F2584C-ECAE-4EC3-92F7-DB7612EED62C}</a:tableStyleId>
              </a:tblPr>
              <a:tblGrid>
                <a:gridCol w="219050">
                  <a:extLst>
                    <a:ext uri="{9D8B030D-6E8A-4147-A177-3AD203B41FA5}">
                      <a16:colId xmlns:a16="http://schemas.microsoft.com/office/drawing/2014/main" val="20000"/>
                    </a:ext>
                  </a:extLst>
                </a:gridCol>
                <a:gridCol w="585450">
                  <a:extLst>
                    <a:ext uri="{9D8B030D-6E8A-4147-A177-3AD203B41FA5}">
                      <a16:colId xmlns:a16="http://schemas.microsoft.com/office/drawing/2014/main" val="20001"/>
                    </a:ext>
                  </a:extLst>
                </a:gridCol>
              </a:tblGrid>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solidFill>
                      <a:srgbClr val="4472C4"/>
                    </a:solidFill>
                  </a:tcPr>
                </a:tc>
                <a:tc>
                  <a:txBody>
                    <a:bodyPr/>
                    <a:lstStyle/>
                    <a:p>
                      <a:pPr marL="0" lvl="0" indent="0" algn="l" rtl="0">
                        <a:spcBef>
                          <a:spcPts val="0"/>
                        </a:spcBef>
                        <a:spcAft>
                          <a:spcPts val="0"/>
                        </a:spcAft>
                        <a:buNone/>
                      </a:pPr>
                      <a:r>
                        <a:rPr lang="en" sz="800">
                          <a:latin typeface="Calibri"/>
                          <a:ea typeface="Calibri"/>
                          <a:cs typeface="Calibri"/>
                          <a:sym typeface="Calibri"/>
                        </a:rPr>
                        <a:t>Claude</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0"/>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solidFill>
                      <a:srgbClr val="FF0000"/>
                    </a:solidFill>
                  </a:tcPr>
                </a:tc>
                <a:tc>
                  <a:txBody>
                    <a:bodyPr/>
                    <a:lstStyle/>
                    <a:p>
                      <a:pPr marL="0" lvl="0" indent="0" algn="l" rtl="0">
                        <a:spcBef>
                          <a:spcPts val="0"/>
                        </a:spcBef>
                        <a:spcAft>
                          <a:spcPts val="0"/>
                        </a:spcAft>
                        <a:buNone/>
                      </a:pPr>
                      <a:r>
                        <a:rPr lang="en" sz="800">
                          <a:latin typeface="Calibri"/>
                          <a:ea typeface="Calibri"/>
                          <a:cs typeface="Calibri"/>
                          <a:sym typeface="Calibri"/>
                        </a:rPr>
                        <a:t>Gemini</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1"/>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solidFill>
                      <a:srgbClr val="FFD700"/>
                    </a:solidFill>
                  </a:tcPr>
                </a:tc>
                <a:tc>
                  <a:txBody>
                    <a:bodyPr/>
                    <a:lstStyle/>
                    <a:p>
                      <a:pPr marL="0" lvl="0" indent="0" algn="l" rtl="0">
                        <a:spcBef>
                          <a:spcPts val="0"/>
                        </a:spcBef>
                        <a:spcAft>
                          <a:spcPts val="0"/>
                        </a:spcAft>
                        <a:buNone/>
                      </a:pPr>
                      <a:r>
                        <a:rPr lang="en" sz="800">
                          <a:latin typeface="Calibri"/>
                          <a:ea typeface="Calibri"/>
                          <a:cs typeface="Calibri"/>
                          <a:sym typeface="Calibri"/>
                        </a:rPr>
                        <a:t>OpenAI</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2"/>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solidFill>
                      <a:srgbClr val="00B050"/>
                    </a:solidFill>
                  </a:tcPr>
                </a:tc>
                <a:tc>
                  <a:txBody>
                    <a:bodyPr/>
                    <a:lstStyle/>
                    <a:p>
                      <a:pPr marL="0" lvl="0" indent="0" algn="l" rtl="0">
                        <a:spcBef>
                          <a:spcPts val="0"/>
                        </a:spcBef>
                        <a:spcAft>
                          <a:spcPts val="0"/>
                        </a:spcAft>
                        <a:buNone/>
                      </a:pPr>
                      <a:r>
                        <a:rPr lang="en" sz="800">
                          <a:latin typeface="Calibri"/>
                          <a:ea typeface="Calibri"/>
                          <a:cs typeface="Calibri"/>
                          <a:sym typeface="Calibri"/>
                        </a:rPr>
                        <a:t>Open Source</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3"/>
                  </a:ext>
                </a:extLst>
              </a:tr>
            </a:tbl>
          </a:graphicData>
        </a:graphic>
      </p:graphicFrame>
      <p:sp>
        <p:nvSpPr>
          <p:cNvPr id="80" name="Google Shape;80;p16"/>
          <p:cNvSpPr txBox="1"/>
          <p:nvPr/>
        </p:nvSpPr>
        <p:spPr>
          <a:xfrm>
            <a:off x="5404475" y="1189675"/>
            <a:ext cx="1483200" cy="480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000">
                <a:solidFill>
                  <a:srgbClr val="3C78D8"/>
                </a:solidFill>
                <a:latin typeface="Calibri"/>
                <a:ea typeface="Calibri"/>
                <a:cs typeface="Calibri"/>
                <a:sym typeface="Calibri"/>
              </a:rPr>
              <a:t>deepseek-v4-pro-thinking</a:t>
            </a:r>
            <a:endParaRPr sz="1000">
              <a:solidFill>
                <a:srgbClr val="3C78D8"/>
              </a:solidFill>
              <a:latin typeface="Calibri"/>
              <a:ea typeface="Calibri"/>
              <a:cs typeface="Calibri"/>
              <a:sym typeface="Calibri"/>
            </a:endParaRPr>
          </a:p>
          <a:p>
            <a:pPr marL="0" marR="0" lvl="0" indent="0" algn="l" rtl="0">
              <a:lnSpc>
                <a:spcPct val="100000"/>
              </a:lnSpc>
              <a:spcBef>
                <a:spcPts val="0"/>
              </a:spcBef>
              <a:spcAft>
                <a:spcPts val="0"/>
              </a:spcAft>
              <a:buNone/>
            </a:pPr>
            <a:r>
              <a:rPr lang="en" sz="1000">
                <a:solidFill>
                  <a:srgbClr val="3C78D8"/>
                </a:solidFill>
                <a:latin typeface="Calibri"/>
                <a:ea typeface="Calibri"/>
                <a:cs typeface="Calibri"/>
                <a:sym typeface="Calibri"/>
              </a:rPr>
              <a:t>Qwen-3.6-plus</a:t>
            </a:r>
            <a:br>
              <a:rPr lang="en" sz="1000">
                <a:latin typeface="Calibri"/>
                <a:ea typeface="Calibri"/>
                <a:cs typeface="Calibri"/>
                <a:sym typeface="Calibri"/>
              </a:rPr>
            </a:br>
            <a:r>
              <a:rPr lang="en" sz="1000">
                <a:latin typeface="Calibri"/>
                <a:ea typeface="Calibri"/>
                <a:cs typeface="Calibri"/>
                <a:sym typeface="Calibri"/>
              </a:rPr>
              <a:t>is on 36th place </a:t>
            </a:r>
            <a:endParaRPr sz="1000">
              <a:latin typeface="Calibri"/>
              <a:ea typeface="Calibri"/>
              <a:cs typeface="Calibri"/>
              <a:sym typeface="Calibri"/>
            </a:endParaRPr>
          </a:p>
        </p:txBody>
      </p:sp>
      <p:graphicFrame>
        <p:nvGraphicFramePr>
          <p:cNvPr id="81" name="Google Shape;81;p16"/>
          <p:cNvGraphicFramePr/>
          <p:nvPr/>
        </p:nvGraphicFramePr>
        <p:xfrm>
          <a:off x="2952750" y="715825"/>
          <a:ext cx="3000000" cy="3000000"/>
        </p:xfrm>
        <a:graphic>
          <a:graphicData uri="http://schemas.openxmlformats.org/drawingml/2006/table">
            <a:tbl>
              <a:tblPr>
                <a:noFill/>
                <a:tableStyleId>{A2F2584C-ECAE-4EC3-92F7-DB7612EED62C}</a:tableStyleId>
              </a:tblPr>
              <a:tblGrid>
                <a:gridCol w="276225">
                  <a:extLst>
                    <a:ext uri="{9D8B030D-6E8A-4147-A177-3AD203B41FA5}">
                      <a16:colId xmlns:a16="http://schemas.microsoft.com/office/drawing/2014/main" val="20000"/>
                    </a:ext>
                  </a:extLst>
                </a:gridCol>
                <a:gridCol w="1800225">
                  <a:extLst>
                    <a:ext uri="{9D8B030D-6E8A-4147-A177-3AD203B41FA5}">
                      <a16:colId xmlns:a16="http://schemas.microsoft.com/office/drawing/2014/main" val="20001"/>
                    </a:ext>
                  </a:extLst>
                </a:gridCol>
                <a:gridCol w="295275">
                  <a:extLst>
                    <a:ext uri="{9D8B030D-6E8A-4147-A177-3AD203B41FA5}">
                      <a16:colId xmlns:a16="http://schemas.microsoft.com/office/drawing/2014/main" val="20002"/>
                    </a:ext>
                  </a:extLst>
                </a:gridCol>
              </a:tblGrid>
              <a:tr h="136225">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Code</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Model</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Score</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0"/>
                  </a:ext>
                </a:extLst>
              </a:tr>
              <a:tr h="136225">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9"/>
                        </a:rPr>
                        <a:t>claude-opus-4-7-thinking</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1569</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136225">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0"/>
                        </a:rPr>
                        <a:t>claude-opus-4-6-thinking</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1553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136225">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9"/>
                        </a:rPr>
                        <a:t>claude-opus-4-7</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1550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136225">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0"/>
                        </a:rPr>
                        <a:t>claude-opus-4-6</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1550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r h="136225">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1"/>
                        </a:rPr>
                        <a:t>claude-opus-4-5-20251101-thinking-32k</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5"/>
                  </a:ext>
                </a:extLst>
              </a:tr>
              <a:tr h="136225">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2"/>
                        </a:rPr>
                        <a:t>muse-spark</a:t>
                      </a:r>
                      <a:r>
                        <a:rPr lang="en" sz="800">
                          <a:solidFill>
                            <a:schemeClr val="dk1"/>
                          </a:solidFill>
                          <a:latin typeface="Calibri"/>
                          <a:ea typeface="Calibri"/>
                          <a:cs typeface="Calibri"/>
                          <a:sym typeface="Calibri"/>
                        </a:rPr>
                        <a:t> Meta</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6"/>
                  </a:ext>
                </a:extLst>
              </a:tr>
              <a:tr h="136225">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3"/>
                        </a:rPr>
                        <a:t>gemini-3.1-pro-preview</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1529</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7"/>
                  </a:ext>
                </a:extLst>
              </a:tr>
              <a:tr h="136225">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4"/>
                        </a:rPr>
                        <a:t>gpt-5.4-high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8"/>
                  </a:ext>
                </a:extLst>
              </a:tr>
              <a:tr h="136225">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5"/>
                        </a:rPr>
                        <a:t>glm-5.1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9"/>
                  </a:ext>
                </a:extLst>
              </a:tr>
              <a:tr h="136225">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6"/>
                        </a:rPr>
                        <a:t>gpt-5.5-high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0"/>
                  </a:ext>
                </a:extLst>
              </a:tr>
              <a:tr h="136225">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7"/>
                        </a:rPr>
                        <a:t>claude-sonnet-4-6</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1"/>
                  </a:ext>
                </a:extLst>
              </a:tr>
              <a:tr h="136225">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8"/>
                        </a:rPr>
                        <a:t>grok-4.20-multi-agent-beta-0309</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2"/>
                  </a:ext>
                </a:extLst>
              </a:tr>
              <a:tr h="136225">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9"/>
                        </a:rPr>
                        <a:t>claude-sonnet-4-5-20250929-thinking-32k</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3"/>
                  </a:ext>
                </a:extLst>
              </a:tr>
              <a:tr h="136225">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0"/>
                        </a:rPr>
                        <a:t>gpt-5.2-chat-latest-20260210</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1519</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4"/>
                  </a:ext>
                </a:extLst>
              </a:tr>
              <a:tr h="136225">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1"/>
                        </a:rPr>
                        <a:t>claude-opus-4-5-20251101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1519</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5"/>
                  </a:ext>
                </a:extLst>
              </a:tr>
              <a:tr h="136225">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1"/>
                        </a:rPr>
                        <a:t>kimi-k2.6</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1519</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6"/>
                  </a:ext>
                </a:extLst>
              </a:tr>
              <a:tr h="136225">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2"/>
                        </a:rPr>
                        <a:t>gemini-3-pro</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1519</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7"/>
                  </a:ext>
                </a:extLst>
              </a:tr>
              <a:tr h="136225">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3"/>
                        </a:rPr>
                        <a:t>grok-4.20-beta-0309-reasoning</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8"/>
                  </a:ext>
                </a:extLst>
              </a:tr>
              <a:tr h="136225">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4"/>
                        </a:rPr>
                        <a:t>gpt-5.4</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9"/>
                  </a:ext>
                </a:extLst>
              </a:tr>
              <a:tr h="136225">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4"/>
                        </a:rPr>
                        <a:t>ernie-5.1</a:t>
                      </a:r>
                      <a:r>
                        <a:rPr lang="en" sz="800">
                          <a:solidFill>
                            <a:schemeClr val="dk1"/>
                          </a:solidFill>
                          <a:latin typeface="Calibri"/>
                          <a:ea typeface="Calibri"/>
                          <a:cs typeface="Calibri"/>
                          <a:sym typeface="Calibri"/>
                        </a:rPr>
                        <a:t> Baidu</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CE5CD"/>
                    </a:solidFill>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1517</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0"/>
                  </a:ext>
                </a:extLst>
              </a:tr>
              <a:tr h="136225">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9"/>
                        </a:rPr>
                        <a:t>claude-sonnet-4-5-20250929</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1"/>
                  </a:ext>
                </a:extLst>
              </a:tr>
              <a:tr h="136225">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5"/>
                        </a:rPr>
                        <a:t>claude-opus-4-1-20250805-thinking-16k</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2"/>
                  </a:ext>
                </a:extLst>
              </a:tr>
              <a:tr h="136225">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6"/>
                        </a:rPr>
                        <a:t>dola-seed-2.0-pro</a:t>
                      </a:r>
                      <a:r>
                        <a:rPr lang="en" sz="800">
                          <a:solidFill>
                            <a:schemeClr val="dk1"/>
                          </a:solidFill>
                          <a:latin typeface="Calibri"/>
                          <a:ea typeface="Calibri"/>
                          <a:cs typeface="Calibri"/>
                          <a:sym typeface="Calibri"/>
                        </a:rPr>
                        <a:t>  ByteDance</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3"/>
                  </a:ext>
                </a:extLst>
              </a:tr>
              <a:tr h="136225">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7"/>
                        </a:rPr>
                        <a:t>grok-4.20-beta1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4"/>
                  </a:ext>
                </a:extLst>
              </a:tr>
              <a:tr h="136225">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8"/>
                        </a:rPr>
                        <a:t>gpt-5.5-instant</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5"/>
                  </a:ext>
                </a:extLst>
              </a:tr>
            </a:tbl>
          </a:graphicData>
        </a:graphic>
      </p:graphicFrame>
      <p:graphicFrame>
        <p:nvGraphicFramePr>
          <p:cNvPr id="82" name="Google Shape;82;p16"/>
          <p:cNvGraphicFramePr/>
          <p:nvPr/>
        </p:nvGraphicFramePr>
        <p:xfrm>
          <a:off x="209550" y="715950"/>
          <a:ext cx="3000000" cy="3000000"/>
        </p:xfrm>
        <a:graphic>
          <a:graphicData uri="http://schemas.openxmlformats.org/drawingml/2006/table">
            <a:tbl>
              <a:tblPr>
                <a:noFill/>
                <a:tableStyleId>{A2F2584C-ECAE-4EC3-92F7-DB7612EED62C}</a:tableStyleId>
              </a:tblPr>
              <a:tblGrid>
                <a:gridCol w="276225">
                  <a:extLst>
                    <a:ext uri="{9D8B030D-6E8A-4147-A177-3AD203B41FA5}">
                      <a16:colId xmlns:a16="http://schemas.microsoft.com/office/drawing/2014/main" val="20000"/>
                    </a:ext>
                  </a:extLst>
                </a:gridCol>
                <a:gridCol w="1724025">
                  <a:extLst>
                    <a:ext uri="{9D8B030D-6E8A-4147-A177-3AD203B41FA5}">
                      <a16:colId xmlns:a16="http://schemas.microsoft.com/office/drawing/2014/main" val="20001"/>
                    </a:ext>
                  </a:extLst>
                </a:gridCol>
                <a:gridCol w="295275">
                  <a:extLst>
                    <a:ext uri="{9D8B030D-6E8A-4147-A177-3AD203B41FA5}">
                      <a16:colId xmlns:a16="http://schemas.microsoft.com/office/drawing/2014/main" val="20002"/>
                    </a:ext>
                  </a:extLst>
                </a:gridCol>
              </a:tblGrid>
              <a:tr h="145375">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Code</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Model</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Score</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0"/>
                  </a:ext>
                </a:extLst>
              </a:tr>
              <a:tr h="145375">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9"/>
                        </a:rPr>
                        <a:t>claude-opus-4-7-thinking</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145375">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0"/>
                        </a:rPr>
                        <a:t>claude-opus-4-6-thinking</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145375">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0"/>
                        </a:rPr>
                        <a:t>claude-opus-4-6</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145375">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3"/>
                        </a:rPr>
                        <a:t>gemini-3.1-pro-preview</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r h="145375">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9"/>
                        </a:rPr>
                        <a:t>claude-opus-4-7</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5"/>
                  </a:ext>
                </a:extLst>
              </a:tr>
              <a:tr h="145375">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2"/>
                        </a:rPr>
                        <a:t>muse-spark</a:t>
                      </a:r>
                      <a:r>
                        <a:rPr lang="en" sz="800">
                          <a:solidFill>
                            <a:schemeClr val="dk1"/>
                          </a:solidFill>
                          <a:latin typeface="Calibri"/>
                          <a:ea typeface="Calibri"/>
                          <a:cs typeface="Calibri"/>
                          <a:sym typeface="Calibri"/>
                        </a:rPr>
                        <a:t> Meta</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6"/>
                  </a:ext>
                </a:extLst>
              </a:tr>
              <a:tr h="145375">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2"/>
                        </a:rPr>
                        <a:t>gemini-3-pro</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7"/>
                  </a:ext>
                </a:extLst>
              </a:tr>
              <a:tr h="145375">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6"/>
                        </a:rPr>
                        <a:t>gpt-5.5-high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8"/>
                  </a:ext>
                </a:extLst>
              </a:tr>
              <a:tr h="145375">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7"/>
                        </a:rPr>
                        <a:t>grok-4.20-beta1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9"/>
                  </a:ext>
                </a:extLst>
              </a:tr>
              <a:tr h="145375">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0"/>
                        </a:rPr>
                        <a:t>gpt-5.2-chat-latest-20260210</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1477</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0"/>
                  </a:ext>
                </a:extLst>
              </a:tr>
              <a:tr h="145375">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4"/>
                        </a:rPr>
                        <a:t>gpt-5.4-high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1477</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1"/>
                  </a:ext>
                </a:extLst>
              </a:tr>
              <a:tr h="145375">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3"/>
                        </a:rPr>
                        <a:t>grok-4.20-beta-0309-reasoning</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1477</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2"/>
                  </a:ext>
                </a:extLst>
              </a:tr>
              <a:tr h="145375">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6"/>
                        </a:rPr>
                        <a:t>gpt-5.5</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3"/>
                  </a:ext>
                </a:extLst>
              </a:tr>
              <a:tr h="145375">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4"/>
                        </a:rPr>
                        <a:t>ernie-5.1</a:t>
                      </a:r>
                      <a:r>
                        <a:rPr lang="en" sz="800">
                          <a:solidFill>
                            <a:schemeClr val="dk1"/>
                          </a:solidFill>
                          <a:latin typeface="Calibri"/>
                          <a:ea typeface="Calibri"/>
                          <a:cs typeface="Calibri"/>
                          <a:sym typeface="Calibri"/>
                        </a:rPr>
                        <a:t> Baidu</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CE5CD"/>
                    </a:solidFill>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4"/>
                  </a:ext>
                </a:extLst>
              </a:tr>
              <a:tr h="145375">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8"/>
                        </a:rPr>
                        <a:t>grok-4.20-multi-agent-beta-0309</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5"/>
                  </a:ext>
                </a:extLst>
              </a:tr>
              <a:tr h="145375">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9"/>
                        </a:rPr>
                        <a:t>gemini-3-flash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6"/>
                  </a:ext>
                </a:extLst>
              </a:tr>
              <a:tr h="145375">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1"/>
                        </a:rPr>
                        <a:t>claude-opus-4-5-20251101-thinking-32k</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7"/>
                  </a:ext>
                </a:extLst>
              </a:tr>
              <a:tr h="145375">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8"/>
                        </a:rPr>
                        <a:t>gpt-5.5-instant</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8"/>
                  </a:ext>
                </a:extLst>
              </a:tr>
              <a:tr h="145375">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5"/>
                        </a:rPr>
                        <a:t>glm-5.1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9"/>
                  </a:ext>
                </a:extLst>
              </a:tr>
              <a:tr h="145375">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1"/>
                        </a:rPr>
                        <a:t>claude-opus-4-5-20251101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0"/>
                  </a:ext>
                </a:extLst>
              </a:tr>
              <a:tr h="145375">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4"/>
                        </a:rPr>
                        <a:t>gpt-5.4</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1"/>
                  </a:ext>
                </a:extLst>
              </a:tr>
              <a:tr h="145375">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40"/>
                        </a:rPr>
                        <a:t>grok-4.1-thinking</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1467</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2"/>
                  </a:ext>
                </a:extLst>
              </a:tr>
              <a:tr h="145375">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7"/>
                        </a:rPr>
                        <a:t>claude-sonnet-4-6</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3"/>
                  </a:ext>
                </a:extLst>
              </a:tr>
              <a:tr h="145375">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41"/>
                        </a:rPr>
                        <a:t>mimo-v2.5-pro</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4"/>
                  </a:ext>
                </a:extLst>
              </a:tr>
              <a:tr h="145375">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42"/>
                        </a:rPr>
                        <a:t>qwen3.5-max-preview</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5"/>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6"/>
        <p:cNvGrpSpPr/>
        <p:nvPr/>
      </p:nvGrpSpPr>
      <p:grpSpPr>
        <a:xfrm>
          <a:off x="0" y="0"/>
          <a:ext cx="0" cy="0"/>
          <a:chOff x="0" y="0"/>
          <a:chExt cx="0" cy="0"/>
        </a:xfrm>
      </p:grpSpPr>
      <p:sp>
        <p:nvSpPr>
          <p:cNvPr id="87" name="Google Shape;87;p17"/>
          <p:cNvSpPr txBox="1"/>
          <p:nvPr/>
        </p:nvSpPr>
        <p:spPr>
          <a:xfrm>
            <a:off x="60250" y="431150"/>
            <a:ext cx="4483200" cy="2973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Meta's Muse Spark</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Small (under 100 Bln params) - yet competes with huge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models ( ~ Trillion params). How is it even possible?</a:t>
            </a:r>
            <a:endParaRPr sz="1200">
              <a:solidFill>
                <a:schemeClr val="dk1"/>
              </a:solidFill>
              <a:latin typeface="Calibri"/>
              <a:ea typeface="Calibri"/>
              <a:cs typeface="Calibri"/>
              <a:sym typeface="Calibri"/>
            </a:endParaRPr>
          </a:p>
          <a:p>
            <a:pPr marL="4000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1. Meta completely rebuilt its pretraining stack from scratch, achieving the same capability as larger models using over 10× less compute</a:t>
            </a:r>
            <a:endParaRPr sz="1200">
              <a:solidFill>
                <a:srgbClr val="3C78D8"/>
              </a:solidFill>
              <a:latin typeface="Calibri"/>
              <a:ea typeface="Calibri"/>
              <a:cs typeface="Calibri"/>
              <a:sym typeface="Calibri"/>
            </a:endParaRPr>
          </a:p>
          <a:p>
            <a:pPr marL="4000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2. "Thought compression" trained via reinforcement learning helps to solve problems with far fewer reasoning tokens, making it dramatically faster</a:t>
            </a:r>
            <a:endParaRPr sz="1200">
              <a:solidFill>
                <a:srgbClr val="3C78D8"/>
              </a:solidFill>
              <a:latin typeface="Calibri"/>
              <a:ea typeface="Calibri"/>
              <a:cs typeface="Calibri"/>
              <a:sym typeface="Calibri"/>
            </a:endParaRPr>
          </a:p>
          <a:p>
            <a:pPr marL="4000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3. </a:t>
            </a:r>
            <a:r>
              <a:rPr lang="en" sz="1200" b="1">
                <a:solidFill>
                  <a:srgbClr val="FF0000"/>
                </a:solidFill>
                <a:latin typeface="Calibri"/>
                <a:ea typeface="Calibri"/>
                <a:cs typeface="Calibri"/>
                <a:sym typeface="Calibri"/>
              </a:rPr>
              <a:t>Multiple (16) small (70B) agents reasoning in parallel ("Contemplating mode") </a:t>
            </a:r>
            <a:r>
              <a:rPr lang="en" sz="1200">
                <a:solidFill>
                  <a:srgbClr val="3C78D8"/>
                </a:solidFill>
                <a:latin typeface="Calibri"/>
                <a:ea typeface="Calibri"/>
                <a:cs typeface="Calibri"/>
                <a:sym typeface="Calibri"/>
              </a:rPr>
              <a:t>- cutting latency without sacrificing quality </a:t>
            </a:r>
            <a:r>
              <a:rPr lang="en" sz="1200" b="1">
                <a:solidFill>
                  <a:srgbClr val="3C78D8"/>
                </a:solidFill>
                <a:latin typeface="Calibri"/>
                <a:ea typeface="Calibri"/>
                <a:cs typeface="Calibri"/>
                <a:sym typeface="Calibri"/>
              </a:rPr>
              <a:t>(16*70B = 1.12T params)</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Combined with native multimodal architecture, these engineering choices prove that smarter design beats raw parameter count — efficiency, not size, is the new frontier.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https://ai.meta.com/blog/introducing-muse-spark-msl/</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
        <p:nvSpPr>
          <p:cNvPr id="88" name="Google Shape;88;p17"/>
          <p:cNvSpPr txBox="1"/>
          <p:nvPr/>
        </p:nvSpPr>
        <p:spPr>
          <a:xfrm>
            <a:off x="81775" y="67675"/>
            <a:ext cx="2527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Meta - Muse Spark</a:t>
            </a:r>
            <a:endParaRPr sz="2000" b="1">
              <a:solidFill>
                <a:schemeClr val="dk1"/>
              </a:solidFill>
              <a:latin typeface="Calibri"/>
              <a:ea typeface="Calibri"/>
              <a:cs typeface="Calibri"/>
              <a:sym typeface="Calibri"/>
            </a:endParaRPr>
          </a:p>
        </p:txBody>
      </p:sp>
      <p:sp>
        <p:nvSpPr>
          <p:cNvPr id="89" name="Google Shape;89;p17"/>
          <p:cNvSpPr txBox="1"/>
          <p:nvPr/>
        </p:nvSpPr>
        <p:spPr>
          <a:xfrm>
            <a:off x="4888350" y="2410233"/>
            <a:ext cx="40281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From Llama to Muse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Name "Muse" - creative assistance and deep personalization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"Spark" - entry-level model, fast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Developed internally as "Project Avocado"</a:t>
            </a:r>
            <a:endParaRPr sz="1200">
              <a:solidFill>
                <a:schemeClr val="dk1"/>
              </a:solidFill>
              <a:latin typeface="Calibri"/>
              <a:ea typeface="Calibri"/>
              <a:cs typeface="Calibri"/>
              <a:sym typeface="Calibri"/>
            </a:endParaRPr>
          </a:p>
        </p:txBody>
      </p:sp>
      <p:pic>
        <p:nvPicPr>
          <p:cNvPr id="90" name="Google Shape;90;p17"/>
          <p:cNvPicPr preferRelativeResize="0"/>
          <p:nvPr/>
        </p:nvPicPr>
        <p:blipFill>
          <a:blip r:embed="rId4">
            <a:alphaModFix/>
          </a:blip>
          <a:stretch>
            <a:fillRect/>
          </a:stretch>
        </p:blipFill>
        <p:spPr>
          <a:xfrm>
            <a:off x="5249813" y="3351500"/>
            <a:ext cx="3305175" cy="1381125"/>
          </a:xfrm>
          <a:prstGeom prst="rect">
            <a:avLst/>
          </a:prstGeom>
          <a:noFill/>
          <a:ln w="9525" cap="flat" cmpd="sng">
            <a:solidFill>
              <a:srgbClr val="FF0000"/>
            </a:solidFill>
            <a:prstDash val="solid"/>
            <a:round/>
            <a:headEnd type="none" w="sm" len="sm"/>
            <a:tailEnd type="none" w="sm" len="sm"/>
          </a:ln>
        </p:spPr>
      </p:pic>
      <p:pic>
        <p:nvPicPr>
          <p:cNvPr id="91" name="Google Shape;91;p17"/>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093188" y="607700"/>
            <a:ext cx="1618451" cy="1618451"/>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18"/>
          <p:cNvSpPr txBox="1"/>
          <p:nvPr/>
        </p:nvSpPr>
        <p:spPr>
          <a:xfrm>
            <a:off x="60250" y="431150"/>
            <a:ext cx="44832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China Yuan 3.0 Ultra - Open Source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by Yuan Lab, 1 Trillion params, MoE (69 Bln active)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https://www.youtube.com/watch?v=_jU6jAkqsDw</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Layer-adaptive expert pruning - deleted a third of its expert networks during training to boost efficiency by 49% without losing accuracy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Matches the performance of Western models like GPT-5.2 at a fraction of the cost</a:t>
            </a:r>
            <a:endParaRPr sz="1200">
              <a:solidFill>
                <a:schemeClr val="dk1"/>
              </a:solidFill>
              <a:latin typeface="Calibri"/>
              <a:ea typeface="Calibri"/>
              <a:cs typeface="Calibri"/>
              <a:sym typeface="Calibri"/>
            </a:endParaRPr>
          </a:p>
        </p:txBody>
      </p:sp>
      <p:sp>
        <p:nvSpPr>
          <p:cNvPr id="97" name="Google Shape;97;p18"/>
          <p:cNvSpPr txBox="1"/>
          <p:nvPr/>
        </p:nvSpPr>
        <p:spPr>
          <a:xfrm>
            <a:off x="81775" y="67675"/>
            <a:ext cx="2527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pic>
        <p:nvPicPr>
          <p:cNvPr id="98" name="Google Shape;98;p18"/>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5273700" y="637013"/>
            <a:ext cx="2113475" cy="8995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2"/>
        <p:cNvGrpSpPr/>
        <p:nvPr/>
      </p:nvGrpSpPr>
      <p:grpSpPr>
        <a:xfrm>
          <a:off x="0" y="0"/>
          <a:ext cx="0" cy="0"/>
          <a:chOff x="0" y="0"/>
          <a:chExt cx="0" cy="0"/>
        </a:xfrm>
      </p:grpSpPr>
      <p:sp>
        <p:nvSpPr>
          <p:cNvPr id="103" name="Google Shape;103;p19"/>
          <p:cNvSpPr txBox="1"/>
          <p:nvPr/>
        </p:nvSpPr>
        <p:spPr>
          <a:xfrm>
            <a:off x="60250" y="431150"/>
            <a:ext cx="44832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xxx</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xxx</a:t>
            </a:r>
            <a:endParaRPr sz="1200">
              <a:solidFill>
                <a:schemeClr val="dk1"/>
              </a:solidFill>
              <a:latin typeface="Calibri"/>
              <a:ea typeface="Calibri"/>
              <a:cs typeface="Calibri"/>
              <a:sym typeface="Calibri"/>
            </a:endParaRPr>
          </a:p>
        </p:txBody>
      </p:sp>
      <p:sp>
        <p:nvSpPr>
          <p:cNvPr id="104" name="Google Shape;104;p19"/>
          <p:cNvSpPr txBox="1"/>
          <p:nvPr/>
        </p:nvSpPr>
        <p:spPr>
          <a:xfrm>
            <a:off x="81775" y="67675"/>
            <a:ext cx="2527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Humor</a:t>
            </a:r>
            <a:endParaRPr sz="2000" b="1">
              <a:solidFill>
                <a:schemeClr val="dk1"/>
              </a:solidFill>
              <a:latin typeface="Calibri"/>
              <a:ea typeface="Calibri"/>
              <a:cs typeface="Calibri"/>
              <a:sym typeface="Calibri"/>
            </a:endParaRPr>
          </a:p>
        </p:txBody>
      </p:sp>
      <p:pic>
        <p:nvPicPr>
          <p:cNvPr id="105" name="Google Shape;105;p19"/>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152400" y="971450"/>
            <a:ext cx="3281449" cy="2879500"/>
          </a:xfrm>
          <a:prstGeom prst="rect">
            <a:avLst/>
          </a:prstGeom>
          <a:noFill/>
          <a:ln w="9525" cap="flat" cmpd="sng">
            <a:solidFill>
              <a:srgbClr val="FF0000"/>
            </a:solidFill>
            <a:prstDash val="solid"/>
            <a:round/>
            <a:headEnd type="none" w="sm" len="sm"/>
            <a:tailEnd type="none" w="sm" len="sm"/>
          </a:ln>
        </p:spPr>
      </p:pic>
      <p:pic>
        <p:nvPicPr>
          <p:cNvPr id="106" name="Google Shape;106;p19"/>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529925" y="3248975"/>
            <a:ext cx="3514976" cy="1768774"/>
          </a:xfrm>
          <a:prstGeom prst="rect">
            <a:avLst/>
          </a:prstGeom>
          <a:noFill/>
          <a:ln w="9525" cap="flat" cmpd="sng">
            <a:solidFill>
              <a:srgbClr val="FF0000"/>
            </a:solidFill>
            <a:prstDash val="solid"/>
            <a:round/>
            <a:headEnd type="none" w="sm" len="sm"/>
            <a:tailEnd type="none" w="sm" len="sm"/>
          </a:ln>
        </p:spPr>
      </p:pic>
      <p:pic>
        <p:nvPicPr>
          <p:cNvPr id="107" name="Google Shape;107;p19"/>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376325" y="925651"/>
            <a:ext cx="4668573" cy="2205751"/>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1"/>
        <p:cNvGrpSpPr/>
        <p:nvPr/>
      </p:nvGrpSpPr>
      <p:grpSpPr>
        <a:xfrm>
          <a:off x="0" y="0"/>
          <a:ext cx="0" cy="0"/>
          <a:chOff x="0" y="0"/>
          <a:chExt cx="0" cy="0"/>
        </a:xfrm>
      </p:grpSpPr>
      <p:sp>
        <p:nvSpPr>
          <p:cNvPr id="112" name="Google Shape;112;p20"/>
          <p:cNvSpPr txBox="1"/>
          <p:nvPr/>
        </p:nvSpPr>
        <p:spPr>
          <a:xfrm>
            <a:off x="179326" y="478350"/>
            <a:ext cx="4917900" cy="418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We do these weekly videos every Friday</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Stats: 6.7K subscribers, 285 videos</a:t>
            </a: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1. Subscribe to this channel </a:t>
            </a:r>
            <a:r>
              <a:rPr lang="en" sz="1800" b="1" u="sng">
                <a:solidFill>
                  <a:schemeClr val="accent5"/>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https://www.youtube.com/@lev-selector</a:t>
            </a:r>
            <a:r>
              <a:rPr lang="en" sz="1800" b="1">
                <a:solidFill>
                  <a:schemeClr val="dk1"/>
                </a:solidFill>
                <a:latin typeface="Calibri"/>
                <a:ea typeface="Calibri"/>
                <a:cs typeface="Calibri"/>
                <a:sym typeface="Calibri"/>
              </a:rPr>
              <a:t> </a:t>
            </a:r>
            <a:endParaRPr sz="1800" b="1">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2. Download slides from GitHub using links under the videos</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b="1">
                <a:solidFill>
                  <a:srgbClr val="FF0000"/>
                </a:solidFill>
                <a:latin typeface="Calibri"/>
                <a:ea typeface="Calibri"/>
                <a:cs typeface="Calibri"/>
                <a:sym typeface="Calibri"/>
              </a:rPr>
              <a:t>3. Please pause the video - and answer the pinned question in comments under the video</a:t>
            </a:r>
            <a:endParaRPr sz="1800" b="1" i="0" u="none" strike="noStrike" cap="none">
              <a:solidFill>
                <a:srgbClr val="FF0000"/>
              </a:solidFill>
              <a:latin typeface="Calibri"/>
              <a:ea typeface="Calibri"/>
              <a:cs typeface="Calibri"/>
              <a:sym typeface="Calibri"/>
            </a:endParaRPr>
          </a:p>
        </p:txBody>
      </p:sp>
      <p:pic>
        <p:nvPicPr>
          <p:cNvPr id="113" name="Google Shape;113;p20"/>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6233650" y="80363"/>
            <a:ext cx="2541900" cy="49827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21"/>
          <p:cNvSpPr txBox="1"/>
          <p:nvPr/>
        </p:nvSpPr>
        <p:spPr>
          <a:xfrm>
            <a:off x="60250" y="431150"/>
            <a:ext cx="4570500" cy="3897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GPT-5.5 (OpenAI) - The "iPhone of AI"; the most polished, all-in-one ecosystem with the largest user base.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Claude 4.7 (Anthropic) - The developer favorite; excels in coding accuracy, nuanced writing, and complex reasoning.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Gemini 3.1 (Google) - Integrated into Google Workspace; features a massive 2-million-token context window for huge files.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Llama 4 (Meta) - The open-source standard; allows developers to build and run powerful models on their own hardware.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DeepSeek V4 - A high-performance Chinese model known for being extremely cost-effective and efficient.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Gemma 4 - Google’s lightweight open-weights line designed to run locally on laptops and mobile devices.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Mistral Large 3 - Europe’s flagship model; focuses on high efficiency and privacy-conscious local deployment.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Quen 3.6 (Alibaba) - A versatile family of models that leads in multilingual support and Asian languages.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Kimmy K2.6 - Specialized for "agentic" workflows, capable of running hundreds of sub-tasks autonomously.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Perplexity - An AI search engine that pulls data from the models above to provide sourced, real-time research.</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https://www.youtube.com/watch?v=9UpLmjlDgPg</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
        <p:nvSpPr>
          <p:cNvPr id="119" name="Google Shape;119;p21"/>
          <p:cNvSpPr txBox="1"/>
          <p:nvPr/>
        </p:nvSpPr>
        <p:spPr>
          <a:xfrm>
            <a:off x="81775" y="67675"/>
            <a:ext cx="4483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Models to Know</a:t>
            </a:r>
            <a:endParaRPr sz="2000" b="1">
              <a:solidFill>
                <a:schemeClr val="dk1"/>
              </a:solidFill>
              <a:latin typeface="Calibri"/>
              <a:ea typeface="Calibri"/>
              <a:cs typeface="Calibri"/>
              <a:sym typeface="Calibri"/>
            </a:endParaRPr>
          </a:p>
        </p:txBody>
      </p:sp>
      <p:pic>
        <p:nvPicPr>
          <p:cNvPr id="120" name="Google Shape;120;p21"/>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783150" y="969600"/>
            <a:ext cx="4208451" cy="2287112"/>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24"/>
        <p:cNvGrpSpPr/>
        <p:nvPr/>
      </p:nvGrpSpPr>
      <p:grpSpPr>
        <a:xfrm>
          <a:off x="0" y="0"/>
          <a:ext cx="0" cy="0"/>
          <a:chOff x="0" y="0"/>
          <a:chExt cx="0" cy="0"/>
        </a:xfrm>
      </p:grpSpPr>
      <p:sp>
        <p:nvSpPr>
          <p:cNvPr id="125" name="Google Shape;125;p22"/>
          <p:cNvSpPr txBox="1"/>
          <p:nvPr/>
        </p:nvSpPr>
        <p:spPr>
          <a:xfrm>
            <a:off x="81775" y="383525"/>
            <a:ext cx="5490300" cy="57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Two types of Hallucination tests:</a:t>
            </a:r>
            <a:endParaRPr sz="1200" b="1">
              <a:solidFill>
                <a:srgbClr val="FF0000"/>
              </a:solidFill>
              <a:latin typeface="Calibri"/>
              <a:ea typeface="Calibri"/>
              <a:cs typeface="Calibri"/>
              <a:sym typeface="Calibri"/>
            </a:endParaRPr>
          </a:p>
          <a:p>
            <a:pPr marL="4000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1. Summarization-based tests (like Vectara's Hallucination Leaderboard)</a:t>
            </a:r>
            <a:endParaRPr sz="1200">
              <a:solidFill>
                <a:schemeClr val="dk1"/>
              </a:solidFill>
              <a:latin typeface="Calibri"/>
              <a:ea typeface="Calibri"/>
              <a:cs typeface="Calibri"/>
              <a:sym typeface="Calibri"/>
            </a:endParaRPr>
          </a:p>
          <a:p>
            <a:pPr marL="4000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2. Open-knowledge / factual recall tests (like Artificial Analysis AA-Omniscience)</a:t>
            </a:r>
            <a:endParaRPr sz="1200">
              <a:solidFill>
                <a:schemeClr val="dk1"/>
              </a:solidFill>
              <a:latin typeface="Calibri"/>
              <a:ea typeface="Calibri"/>
              <a:cs typeface="Calibri"/>
              <a:sym typeface="Calibri"/>
            </a:endParaRPr>
          </a:p>
        </p:txBody>
      </p:sp>
      <p:sp>
        <p:nvSpPr>
          <p:cNvPr id="126" name="Google Shape;126;p22"/>
          <p:cNvSpPr txBox="1"/>
          <p:nvPr/>
        </p:nvSpPr>
        <p:spPr>
          <a:xfrm>
            <a:off x="81775" y="67675"/>
            <a:ext cx="2527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Hallucination Tests</a:t>
            </a:r>
            <a:endParaRPr sz="2000" b="1">
              <a:solidFill>
                <a:schemeClr val="dk1"/>
              </a:solidFill>
              <a:latin typeface="Calibri"/>
              <a:ea typeface="Calibri"/>
              <a:cs typeface="Calibri"/>
              <a:sym typeface="Calibri"/>
            </a:endParaRPr>
          </a:p>
        </p:txBody>
      </p:sp>
      <p:graphicFrame>
        <p:nvGraphicFramePr>
          <p:cNvPr id="127" name="Google Shape;127;p22"/>
          <p:cNvGraphicFramePr/>
          <p:nvPr/>
        </p:nvGraphicFramePr>
        <p:xfrm>
          <a:off x="91300" y="990475"/>
          <a:ext cx="3000000" cy="3000000"/>
        </p:xfrm>
        <a:graphic>
          <a:graphicData uri="http://schemas.openxmlformats.org/drawingml/2006/table">
            <a:tbl>
              <a:tblPr>
                <a:noFill/>
                <a:tableStyleId>{A2F2584C-ECAE-4EC3-92F7-DB7612EED62C}</a:tableStyleId>
              </a:tblPr>
              <a:tblGrid>
                <a:gridCol w="1623725">
                  <a:extLst>
                    <a:ext uri="{9D8B030D-6E8A-4147-A177-3AD203B41FA5}">
                      <a16:colId xmlns:a16="http://schemas.microsoft.com/office/drawing/2014/main" val="20000"/>
                    </a:ext>
                  </a:extLst>
                </a:gridCol>
                <a:gridCol w="1585225">
                  <a:extLst>
                    <a:ext uri="{9D8B030D-6E8A-4147-A177-3AD203B41FA5}">
                      <a16:colId xmlns:a16="http://schemas.microsoft.com/office/drawing/2014/main" val="20001"/>
                    </a:ext>
                  </a:extLst>
                </a:gridCol>
                <a:gridCol w="1433025">
                  <a:extLst>
                    <a:ext uri="{9D8B030D-6E8A-4147-A177-3AD203B41FA5}">
                      <a16:colId xmlns:a16="http://schemas.microsoft.com/office/drawing/2014/main" val="20002"/>
                    </a:ext>
                  </a:extLst>
                </a:gridCol>
                <a:gridCol w="2625600">
                  <a:extLst>
                    <a:ext uri="{9D8B030D-6E8A-4147-A177-3AD203B41FA5}">
                      <a16:colId xmlns:a16="http://schemas.microsoft.com/office/drawing/2014/main" val="20003"/>
                    </a:ext>
                  </a:extLst>
                </a:gridCol>
              </a:tblGrid>
              <a:tr h="127825">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Model</a:t>
                      </a:r>
                      <a:endParaRPr sz="8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2F2F2"/>
                    </a:solidFill>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AA-Omniscience Hallucination</a:t>
                      </a:r>
                      <a:endParaRPr sz="8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2F2F2"/>
                    </a:solidFill>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Vectara / Summarization</a:t>
                      </a:r>
                      <a:endParaRPr sz="8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2F2F2"/>
                    </a:solidFill>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Notes</a:t>
                      </a:r>
                      <a:endParaRPr sz="8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2F2F2"/>
                    </a:solidFill>
                  </a:tcPr>
                </a:tc>
                <a:extLst>
                  <a:ext uri="{0D108BD9-81ED-4DB2-BD59-A6C34878D82A}">
                    <a16:rowId xmlns:a16="http://schemas.microsoft.com/office/drawing/2014/main" val="10000"/>
                  </a:ext>
                </a:extLst>
              </a:tr>
              <a:tr h="89950">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Grok 4.20</a:t>
                      </a:r>
                      <a:endParaRPr sz="8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17%</a:t>
                      </a:r>
                      <a:r>
                        <a:rPr lang="en" sz="800">
                          <a:latin typeface="Calibri"/>
                          <a:ea typeface="Calibri"/>
                          <a:cs typeface="Calibri"/>
                          <a:sym typeface="Calibri"/>
                        </a:rPr>
                        <a:t> 🟢</a:t>
                      </a:r>
                      <a:endParaRPr sz="8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~1–2% est.</a:t>
                      </a:r>
                      <a:endParaRPr sz="8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Record low on AA-Omniscience</a:t>
                      </a:r>
                      <a:endParaRPr sz="800" u="sng">
                        <a:solidFill>
                          <a:schemeClr val="hlink"/>
                        </a:solidFill>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85225">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MiMo-V2.5-Pro</a:t>
                      </a:r>
                      <a:endParaRPr sz="8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25%</a:t>
                      </a:r>
                      <a:endParaRPr sz="8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~1–2% est.</a:t>
                      </a:r>
                      <a:endParaRPr sz="8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Best open-weights model</a:t>
                      </a:r>
                      <a:endParaRPr sz="800" u="sng">
                        <a:solidFill>
                          <a:schemeClr val="hlink"/>
                        </a:solidFill>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85225">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GLM-5.1</a:t>
                      </a:r>
                      <a:endParaRPr sz="8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29%</a:t>
                      </a:r>
                      <a:endParaRPr sz="8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~2% est.</a:t>
                      </a:r>
                      <a:endParaRPr sz="8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Best open-weights at release</a:t>
                      </a:r>
                      <a:endParaRPr sz="800" u="sng">
                        <a:solidFill>
                          <a:schemeClr val="hlink"/>
                        </a:solidFill>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85225">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Claude Opus 4.7</a:t>
                      </a:r>
                      <a:endParaRPr sz="8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36%</a:t>
                      </a:r>
                      <a:endParaRPr sz="8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~1.5%</a:t>
                      </a:r>
                      <a:endParaRPr sz="8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MASK honesty 91.7%</a:t>
                      </a:r>
                      <a:endParaRPr sz="8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r h="127825">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Perplexity + Claude Opus 4.7</a:t>
                      </a:r>
                      <a:endParaRPr sz="8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CE5CD"/>
                    </a:solidFill>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~5–10% est.</a:t>
                      </a:r>
                      <a:r>
                        <a:rPr lang="en" sz="800">
                          <a:latin typeface="Calibri"/>
                          <a:ea typeface="Calibri"/>
                          <a:cs typeface="Calibri"/>
                          <a:sym typeface="Calibri"/>
                        </a:rPr>
                        <a:t> 🟢</a:t>
                      </a:r>
                      <a:endParaRPr sz="8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CE5CD"/>
                    </a:solidFill>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~1% est.</a:t>
                      </a:r>
                      <a:endParaRPr sz="8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CE5CD"/>
                    </a:solidFill>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Grounded search reduces hallucination by ~73–86%</a:t>
                      </a:r>
                      <a:endParaRPr sz="800" u="sng">
                        <a:solidFill>
                          <a:schemeClr val="hlink"/>
                        </a:solidFill>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CE5CD"/>
                    </a:solidFill>
                  </a:tcPr>
                </a:tc>
                <a:extLst>
                  <a:ext uri="{0D108BD9-81ED-4DB2-BD59-A6C34878D82A}">
                    <a16:rowId xmlns:a16="http://schemas.microsoft.com/office/drawing/2014/main" val="10005"/>
                  </a:ext>
                </a:extLst>
              </a:tr>
              <a:tr h="85225">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Kimi K2.6</a:t>
                      </a:r>
                      <a:endParaRPr sz="8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39%</a:t>
                      </a:r>
                      <a:endParaRPr sz="8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~2% est.</a:t>
                      </a:r>
                      <a:endParaRPr sz="8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Down from 65% in K2.5</a:t>
                      </a:r>
                      <a:r>
                        <a:rPr lang="en" sz="800">
                          <a:uFill>
                            <a:noFill/>
                          </a:uFill>
                          <a:latin typeface="Calibri"/>
                          <a:ea typeface="Calibri"/>
                          <a:cs typeface="Calibri"/>
                          <a:sym typeface="Calibri"/>
                          <a:hlinkClick r:id="rId3"/>
                        </a:rPr>
                        <a:t> </a:t>
                      </a:r>
                      <a:r>
                        <a:rPr lang="en" sz="800" u="sng">
                          <a:solidFill>
                            <a:schemeClr val="hlink"/>
                          </a:solidFill>
                          <a:latin typeface="Calibri"/>
                          <a:ea typeface="Calibri"/>
                          <a:cs typeface="Calibri"/>
                          <a:sym typeface="Calibri"/>
                          <a:hlinkClick r:id="rId3"/>
                        </a:rPr>
                        <a:t>x</a:t>
                      </a:r>
                      <a:endParaRPr sz="800" u="sng">
                        <a:solidFill>
                          <a:schemeClr val="hlink"/>
                        </a:solidFill>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6"/>
                  </a:ext>
                </a:extLst>
              </a:tr>
              <a:tr h="127825">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Gemini 3.1 Pro</a:t>
                      </a:r>
                      <a:endParaRPr sz="8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50%</a:t>
                      </a:r>
                      <a:endParaRPr sz="8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~0.7–1%</a:t>
                      </a:r>
                      <a:endParaRPr sz="8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Massive improvement vs Gemini 3.0's 88%</a:t>
                      </a:r>
                      <a:endParaRPr sz="800" u="sng">
                        <a:solidFill>
                          <a:schemeClr val="hlink"/>
                        </a:solidFill>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7"/>
                  </a:ext>
                </a:extLst>
              </a:tr>
              <a:tr h="85225">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Qwen 3.6 Plus</a:t>
                      </a:r>
                      <a:endParaRPr sz="8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~27%</a:t>
                      </a:r>
                      <a:r>
                        <a:rPr lang="en" sz="800">
                          <a:latin typeface="Calibri"/>
                          <a:ea typeface="Calibri"/>
                          <a:cs typeface="Calibri"/>
                          <a:sym typeface="Calibri"/>
                        </a:rPr>
                        <a:t> (code)</a:t>
                      </a:r>
                      <a:endParaRPr sz="8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~2% est.</a:t>
                      </a:r>
                      <a:endParaRPr sz="8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BridgeBench fabrication rate</a:t>
                      </a:r>
                      <a:endParaRPr sz="800" u="sng">
                        <a:solidFill>
                          <a:schemeClr val="hlink"/>
                        </a:solidFill>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8"/>
                  </a:ext>
                </a:extLst>
              </a:tr>
              <a:tr h="85225">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Qwen3.6 Max Preview</a:t>
                      </a:r>
                      <a:endParaRPr sz="800">
                        <a:latin typeface="Calibri"/>
                        <a:ea typeface="Calibri"/>
                        <a:cs typeface="Calibri"/>
                        <a:sym typeface="Calibri"/>
                      </a:endParaRPr>
                    </a:p>
                  </a:txBody>
                  <a:tcPr marL="9125" marR="912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Not published</a:t>
                      </a:r>
                      <a:endParaRPr sz="800" b="1">
                        <a:latin typeface="Calibri"/>
                        <a:ea typeface="Calibri"/>
                        <a:cs typeface="Calibri"/>
                        <a:sym typeface="Calibri"/>
                      </a:endParaRPr>
                    </a:p>
                  </a:txBody>
                  <a:tcPr marL="9125" marR="912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~2% est.</a:t>
                      </a:r>
                      <a:endParaRPr sz="800">
                        <a:latin typeface="Calibri"/>
                        <a:ea typeface="Calibri"/>
                        <a:cs typeface="Calibri"/>
                        <a:sym typeface="Calibri"/>
                      </a:endParaRPr>
                    </a:p>
                  </a:txBody>
                  <a:tcPr marL="9125" marR="912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SimpleQA factual accuracy 52%; no AA-Omni figure yet</a:t>
                      </a:r>
                      <a:endParaRPr sz="800">
                        <a:latin typeface="Calibri"/>
                        <a:ea typeface="Calibri"/>
                        <a:cs typeface="Calibri"/>
                        <a:sym typeface="Calibri"/>
                      </a:endParaRPr>
                    </a:p>
                  </a:txBody>
                  <a:tcPr marL="9125" marR="912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9"/>
                  </a:ext>
                </a:extLst>
              </a:tr>
              <a:tr h="85225">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Meta Muse-Spark</a:t>
                      </a:r>
                      <a:endParaRPr sz="8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N/A</a:t>
                      </a:r>
                      <a:endParaRPr sz="8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N/A</a:t>
                      </a:r>
                      <a:endParaRPr sz="8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No full AA-Omniscience published</a:t>
                      </a:r>
                      <a:endParaRPr sz="800" u="sng">
                        <a:solidFill>
                          <a:schemeClr val="hlink"/>
                        </a:solidFill>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0"/>
                  </a:ext>
                </a:extLst>
              </a:tr>
              <a:tr h="127825">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GPT-5.5</a:t>
                      </a:r>
                      <a:endParaRPr sz="8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86%</a:t>
                      </a:r>
                      <a:r>
                        <a:rPr lang="en" sz="800">
                          <a:latin typeface="Calibri"/>
                          <a:ea typeface="Calibri"/>
                          <a:cs typeface="Calibri"/>
                          <a:sym typeface="Calibri"/>
                        </a:rPr>
                        <a:t> 🔴</a:t>
                      </a:r>
                      <a:endParaRPr sz="8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~1% est.</a:t>
                      </a:r>
                      <a:endParaRPr sz="8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Highest accuracy but almost never abstains</a:t>
                      </a:r>
                      <a:endParaRPr sz="800" u="sng">
                        <a:solidFill>
                          <a:schemeClr val="hlink"/>
                        </a:solidFill>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1"/>
                  </a:ext>
                </a:extLst>
              </a:tr>
              <a:tr h="127825">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DeepSeek-V4-Pro</a:t>
                      </a:r>
                      <a:endParaRPr sz="8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94%</a:t>
                      </a:r>
                      <a:r>
                        <a:rPr lang="en" sz="800">
                          <a:latin typeface="Calibri"/>
                          <a:ea typeface="Calibri"/>
                          <a:cs typeface="Calibri"/>
                          <a:sym typeface="Calibri"/>
                        </a:rPr>
                        <a:t> 🔴</a:t>
                      </a:r>
                      <a:endParaRPr sz="8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~1–2% est.</a:t>
                      </a:r>
                      <a:endParaRPr sz="8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Almost always guesses rather than abstaining</a:t>
                      </a:r>
                      <a:endParaRPr sz="800" u="sng">
                        <a:solidFill>
                          <a:schemeClr val="hlink"/>
                        </a:solidFill>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2"/>
                  </a:ext>
                </a:extLst>
              </a:tr>
              <a:tr h="127825">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GPT-3.5 Turbo</a:t>
                      </a:r>
                      <a:endParaRPr sz="8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N/A (pre-benchmark)</a:t>
                      </a:r>
                      <a:endParaRPr sz="8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1.9–3.5%</a:t>
                      </a:r>
                      <a:endParaRPr sz="8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40% figure comes from medical citation tasks</a:t>
                      </a:r>
                      <a:endParaRPr sz="8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3"/>
                  </a:ext>
                </a:extLst>
              </a:tr>
              <a:tr h="127825">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Ernie 5.1</a:t>
                      </a:r>
                      <a:endParaRPr sz="8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Not published</a:t>
                      </a:r>
                      <a:endParaRPr sz="8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Not published</a:t>
                      </a:r>
                      <a:endParaRPr sz="8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Released May 2026; no hallucination benchmarks yet</a:t>
                      </a:r>
                      <a:endParaRPr sz="800" u="sng">
                        <a:solidFill>
                          <a:schemeClr val="hlink"/>
                        </a:solidFill>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4"/>
                  </a:ext>
                </a:extLst>
              </a:tr>
              <a:tr h="85225">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Dola-seed-2.0-Pro</a:t>
                      </a:r>
                      <a:endParaRPr sz="8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Not published</a:t>
                      </a:r>
                      <a:endParaRPr sz="8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Not published</a:t>
                      </a:r>
                      <a:endParaRPr sz="8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No published hallucination benchmarks</a:t>
                      </a:r>
                      <a:endParaRPr sz="800" u="sng">
                        <a:solidFill>
                          <a:schemeClr val="hlink"/>
                        </a:solidFill>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5"/>
                  </a:ext>
                </a:extLst>
              </a:tr>
              <a:tr h="85225">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Mistral Large</a:t>
                      </a:r>
                      <a:endParaRPr sz="800">
                        <a:latin typeface="Calibri"/>
                        <a:ea typeface="Calibri"/>
                        <a:cs typeface="Calibri"/>
                        <a:sym typeface="Calibri"/>
                      </a:endParaRPr>
                    </a:p>
                  </a:txBody>
                  <a:tcPr marL="9125" marR="912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Not published</a:t>
                      </a:r>
                      <a:endParaRPr sz="800">
                        <a:latin typeface="Calibri"/>
                        <a:ea typeface="Calibri"/>
                        <a:cs typeface="Calibri"/>
                        <a:sym typeface="Calibri"/>
                      </a:endParaRPr>
                    </a:p>
                  </a:txBody>
                  <a:tcPr marL="9125" marR="912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4.5% 🟢</a:t>
                      </a:r>
                      <a:endParaRPr sz="800">
                        <a:latin typeface="Calibri"/>
                        <a:ea typeface="Calibri"/>
                        <a:cs typeface="Calibri"/>
                        <a:sym typeface="Calibri"/>
                      </a:endParaRPr>
                    </a:p>
                  </a:txBody>
                  <a:tcPr marL="9125" marR="912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One of the best Vectara scores among non-Google models</a:t>
                      </a:r>
                      <a:endParaRPr sz="800">
                        <a:latin typeface="Calibri"/>
                        <a:ea typeface="Calibri"/>
                        <a:cs typeface="Calibri"/>
                        <a:sym typeface="Calibri"/>
                      </a:endParaRPr>
                    </a:p>
                  </a:txBody>
                  <a:tcPr marL="9125" marR="912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6"/>
                  </a:ext>
                </a:extLst>
              </a:tr>
            </a:tbl>
          </a:graphicData>
        </a:graphic>
      </p:graphicFrame>
      <p:sp>
        <p:nvSpPr>
          <p:cNvPr id="128" name="Google Shape;128;p22"/>
          <p:cNvSpPr txBox="1"/>
          <p:nvPr/>
        </p:nvSpPr>
        <p:spPr>
          <a:xfrm>
            <a:off x="81775" y="3760975"/>
            <a:ext cx="54903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Claude 4.1 Opus in Reasoning mode</a:t>
            </a:r>
            <a:r>
              <a:rPr lang="en" sz="1200">
                <a:solidFill>
                  <a:schemeClr val="dk1"/>
                </a:solidFill>
                <a:latin typeface="Calibri"/>
                <a:ea typeface="Calibri"/>
                <a:cs typeface="Calibri"/>
                <a:sym typeface="Calibri"/>
              </a:rPr>
              <a:t> achieved 0% on AA-Omniscience by refusing to guess when uncertain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Claude 4.5 Haiku with web search</a:t>
            </a:r>
            <a:r>
              <a:rPr lang="en" sz="1200">
                <a:solidFill>
                  <a:schemeClr val="dk1"/>
                </a:solidFill>
                <a:latin typeface="Calibri"/>
                <a:ea typeface="Calibri"/>
                <a:cs typeface="Calibri"/>
                <a:sym typeface="Calibri"/>
              </a:rPr>
              <a:t> scores best on HalluHard (30%)</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Prompt techniques </a:t>
            </a:r>
            <a:r>
              <a:rPr lang="en" sz="1200">
                <a:solidFill>
                  <a:schemeClr val="dk1"/>
                </a:solidFill>
                <a:latin typeface="Calibri"/>
                <a:ea typeface="Calibri"/>
                <a:cs typeface="Calibri"/>
                <a:sym typeface="Calibri"/>
              </a:rPr>
              <a:t>reducing hallucination - allowing "I don't know," quote extraction, and citation verification loops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Extended thinking halves hallucination rates</a:t>
            </a:r>
            <a:r>
              <a:rPr lang="en" sz="1200">
                <a:solidFill>
                  <a:schemeClr val="dk1"/>
                </a:solidFill>
                <a:latin typeface="Calibri"/>
                <a:ea typeface="Calibri"/>
                <a:cs typeface="Calibri"/>
                <a:sym typeface="Calibri"/>
              </a:rPr>
              <a:t>, dropping Opus 4.7 from 36% to ~5%</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Best overall: 3-model consensus (Claude + Grok + Gemini) pushes rates under 3%.</a:t>
            </a:r>
            <a:endParaRPr sz="1200" b="1">
              <a:solidFill>
                <a:srgbClr val="FF0000"/>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32"/>
        <p:cNvGrpSpPr/>
        <p:nvPr/>
      </p:nvGrpSpPr>
      <p:grpSpPr>
        <a:xfrm>
          <a:off x="0" y="0"/>
          <a:ext cx="0" cy="0"/>
          <a:chOff x="0" y="0"/>
          <a:chExt cx="0" cy="0"/>
        </a:xfrm>
      </p:grpSpPr>
      <p:sp>
        <p:nvSpPr>
          <p:cNvPr id="133" name="Google Shape;133;p23"/>
          <p:cNvSpPr txBox="1"/>
          <p:nvPr/>
        </p:nvSpPr>
        <p:spPr>
          <a:xfrm>
            <a:off x="81775" y="383525"/>
            <a:ext cx="54903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Suprmind AI Hallucination Hub</a:t>
            </a:r>
            <a:br>
              <a:rPr lang="en" sz="1200">
                <a:solidFill>
                  <a:schemeClr val="dk1"/>
                </a:solidFill>
                <a:latin typeface="Calibri"/>
                <a:ea typeface="Calibri"/>
                <a:cs typeface="Calibri"/>
                <a:sym typeface="Calibri"/>
              </a:rPr>
            </a:br>
            <a:r>
              <a:rPr lang="en" sz="1200" u="sng">
                <a:solidFill>
                  <a:schemeClr val="hlink"/>
                </a:solidFill>
                <a:latin typeface="Calibri"/>
                <a:ea typeface="Calibri"/>
                <a:cs typeface="Calibri"/>
                <a:sym typeface="Calibri"/>
                <a:hlinkClick r:id="rId3"/>
              </a:rPr>
              <a:t>https://suprmind.ai/hub/ai-hallucination-rates-and-benchmarks/</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BridgeBench Hallucination Leaderboard</a:t>
            </a:r>
            <a:br>
              <a:rPr lang="en" sz="1200">
                <a:solidFill>
                  <a:schemeClr val="dk1"/>
                </a:solidFill>
                <a:latin typeface="Calibri"/>
                <a:ea typeface="Calibri"/>
                <a:cs typeface="Calibri"/>
                <a:sym typeface="Calibri"/>
              </a:rPr>
            </a:br>
            <a:r>
              <a:rPr lang="en" sz="1200" u="sng">
                <a:solidFill>
                  <a:schemeClr val="hlink"/>
                </a:solidFill>
                <a:latin typeface="Calibri"/>
                <a:ea typeface="Calibri"/>
                <a:cs typeface="Calibri"/>
                <a:sym typeface="Calibri"/>
                <a:hlinkClick r:id="rId4"/>
              </a:rPr>
              <a:t>https://www.bridgebench.ai/hallucination</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Vectara Leaderboard on Hugging Face</a:t>
            </a:r>
            <a:br>
              <a:rPr lang="en" sz="1200">
                <a:solidFill>
                  <a:schemeClr val="dk1"/>
                </a:solidFill>
                <a:latin typeface="Calibri"/>
                <a:ea typeface="Calibri"/>
                <a:cs typeface="Calibri"/>
                <a:sym typeface="Calibri"/>
              </a:rPr>
            </a:br>
            <a:r>
              <a:rPr lang="en" sz="1200" u="sng">
                <a:solidFill>
                  <a:schemeClr val="hlink"/>
                </a:solidFill>
                <a:latin typeface="Calibri"/>
                <a:ea typeface="Calibri"/>
                <a:cs typeface="Calibri"/>
                <a:sym typeface="Calibri"/>
                <a:hlinkClick r:id="rId5"/>
              </a:rPr>
              <a:t>https://www.vectara.com/blog/introducing-the-next-generation-of-vectaras-hallucination-leaderboard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rgbClr val="FF0000"/>
                </a:solidFill>
                <a:latin typeface="Calibri"/>
                <a:ea typeface="Calibri"/>
                <a:cs typeface="Calibri"/>
                <a:sym typeface="Calibri"/>
              </a:rPr>
              <a:t>Reasoning/thinking models consistently score worse</a:t>
            </a:r>
            <a:r>
              <a:rPr lang="en" sz="1200">
                <a:solidFill>
                  <a:schemeClr val="dk1"/>
                </a:solidFill>
                <a:latin typeface="Calibri"/>
                <a:ea typeface="Calibri"/>
                <a:cs typeface="Calibri"/>
                <a:sym typeface="Calibri"/>
              </a:rPr>
              <a:t> on Vectara's harder new dataset than non-reasoning models - GPT-5, Claude Sonnet 4.6, Grok-4, and DeepSeek-R1 all exceed 10%, while the non-reasoning Gemini 2.5 Flash-Lite sits at just 3.3%. This is counterintuitive - "thinking more" appears to introduce more fabrication in summarization tasks, </a:t>
            </a:r>
            <a:r>
              <a:rPr lang="en" sz="1200">
                <a:solidFill>
                  <a:srgbClr val="FF0000"/>
                </a:solidFill>
                <a:latin typeface="Calibri"/>
                <a:ea typeface="Calibri"/>
                <a:cs typeface="Calibri"/>
                <a:sym typeface="Calibri"/>
              </a:rPr>
              <a:t>possibly because extended reasoning generates more text that strays from the source</a:t>
            </a:r>
            <a:br>
              <a:rPr lang="en" sz="1200">
                <a:solidFill>
                  <a:schemeClr val="dk1"/>
                </a:solidFill>
                <a:latin typeface="Calibri"/>
                <a:ea typeface="Calibri"/>
                <a:cs typeface="Calibri"/>
                <a:sym typeface="Calibri"/>
              </a:rPr>
            </a:br>
            <a:r>
              <a:rPr lang="en" sz="1200" u="sng">
                <a:solidFill>
                  <a:schemeClr val="hlink"/>
                </a:solidFill>
                <a:latin typeface="Calibri"/>
                <a:ea typeface="Calibri"/>
                <a:cs typeface="Calibri"/>
                <a:sym typeface="Calibri"/>
                <a:hlinkClick r:id="rId6"/>
              </a:rPr>
              <a:t>https://www.mayhemcode.com/2026/04/vectara-hallucination-leaderboard.html</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
        <p:nvSpPr>
          <p:cNvPr id="134" name="Google Shape;134;p23"/>
          <p:cNvSpPr txBox="1"/>
          <p:nvPr/>
        </p:nvSpPr>
        <p:spPr>
          <a:xfrm>
            <a:off x="81775" y="67675"/>
            <a:ext cx="4461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Hallucination Leaderboards</a:t>
            </a:r>
            <a:endParaRPr sz="2000" b="1">
              <a:solidFill>
                <a:schemeClr val="dk1"/>
              </a:solidFill>
              <a:latin typeface="Calibri"/>
              <a:ea typeface="Calibri"/>
              <a:cs typeface="Calibri"/>
              <a:sym typeface="Calibri"/>
            </a:endParaRPr>
          </a:p>
        </p:txBody>
      </p:sp>
      <p:sp>
        <p:nvSpPr>
          <p:cNvPr id="135" name="Google Shape;135;p23"/>
          <p:cNvSpPr txBox="1"/>
          <p:nvPr/>
        </p:nvSpPr>
        <p:spPr>
          <a:xfrm>
            <a:off x="81775" y="3060050"/>
            <a:ext cx="5490300" cy="186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Reducing RAG hallucinations: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1. clean your knowledge base, remove duplicates, outdated content, and use 300–500 token chunks with metadata</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2. improve retrieval with hybrid search (dense + BM25), a cross-encoder reranker, and query expansion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3. strengthen prompts: set temperature to 0, explicitly allow "I don't know," and require the model to cite verbatim quotes before composing answers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4. add an output verification step - a second LLM-as-judge call or semantic similarity check to catch claims not grounded in retrieved context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For quick wins: </a:t>
            </a:r>
            <a:r>
              <a:rPr lang="en" sz="1200" b="1">
                <a:solidFill>
                  <a:srgbClr val="FF0000"/>
                </a:solidFill>
                <a:latin typeface="Calibri"/>
                <a:ea typeface="Calibri"/>
                <a:cs typeface="Calibri"/>
                <a:sym typeface="Calibri"/>
              </a:rPr>
              <a:t>temperature=0, a reranker, and an LLM judge are the highest-impact</a:t>
            </a:r>
            <a:endParaRPr sz="1200" b="1">
              <a:solidFill>
                <a:srgbClr val="FF0000"/>
              </a:solidFill>
              <a:latin typeface="Calibri"/>
              <a:ea typeface="Calibri"/>
              <a:cs typeface="Calibri"/>
              <a:sym typeface="Calibri"/>
            </a:endParaRPr>
          </a:p>
        </p:txBody>
      </p:sp>
      <p:pic>
        <p:nvPicPr>
          <p:cNvPr id="136" name="Google Shape;136;p23"/>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6071125" y="964401"/>
            <a:ext cx="2683599" cy="1633399"/>
          </a:xfrm>
          <a:prstGeom prst="rect">
            <a:avLst/>
          </a:prstGeom>
          <a:noFill/>
          <a:ln w="9525" cap="flat" cmpd="sng">
            <a:solidFill>
              <a:srgbClr val="FF0000"/>
            </a:solidFill>
            <a:prstDash val="solid"/>
            <a:round/>
            <a:headEnd type="none" w="sm" len="sm"/>
            <a:tailEnd type="none" w="sm" len="sm"/>
          </a:ln>
        </p:spPr>
      </p:pic>
      <p:pic>
        <p:nvPicPr>
          <p:cNvPr id="137" name="Google Shape;137;p23"/>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5804787" y="3176049"/>
            <a:ext cx="3216288" cy="16334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41"/>
        <p:cNvGrpSpPr/>
        <p:nvPr/>
      </p:nvGrpSpPr>
      <p:grpSpPr>
        <a:xfrm>
          <a:off x="0" y="0"/>
          <a:ext cx="0" cy="0"/>
          <a:chOff x="0" y="0"/>
          <a:chExt cx="0" cy="0"/>
        </a:xfrm>
      </p:grpSpPr>
      <p:sp>
        <p:nvSpPr>
          <p:cNvPr id="142" name="Google Shape;142;p24"/>
          <p:cNvSpPr txBox="1"/>
          <p:nvPr/>
        </p:nvSpPr>
        <p:spPr>
          <a:xfrm>
            <a:off x="81775" y="862700"/>
            <a:ext cx="4956600" cy="112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Anthropic has eight (8) co-founders.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They have left OpenAI in 2021 to start Anthropic with safety-first mission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They initially had 6%+ ownership each, but over successive funding rounds (Amazon, Google, Nvidia, ...) founder stakes have been progressively diluted down to ~1.8% today. Collectively, founders hold an estimated 10–15% of the company (valued at ~$900 Bln and employing ~ 3K people).</a:t>
            </a:r>
            <a:endParaRPr sz="1200">
              <a:solidFill>
                <a:schemeClr val="dk1"/>
              </a:solidFill>
              <a:latin typeface="Calibri"/>
              <a:ea typeface="Calibri"/>
              <a:cs typeface="Calibri"/>
              <a:sym typeface="Calibri"/>
            </a:endParaRPr>
          </a:p>
        </p:txBody>
      </p:sp>
      <p:sp>
        <p:nvSpPr>
          <p:cNvPr id="143" name="Google Shape;143;p24"/>
          <p:cNvSpPr txBox="1"/>
          <p:nvPr/>
        </p:nvSpPr>
        <p:spPr>
          <a:xfrm>
            <a:off x="81775" y="67675"/>
            <a:ext cx="2527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Anthropic Co-founders</a:t>
            </a:r>
            <a:endParaRPr sz="2000" b="1">
              <a:solidFill>
                <a:schemeClr val="dk1"/>
              </a:solidFill>
              <a:latin typeface="Calibri"/>
              <a:ea typeface="Calibri"/>
              <a:cs typeface="Calibri"/>
              <a:sym typeface="Calibri"/>
            </a:endParaRPr>
          </a:p>
        </p:txBody>
      </p:sp>
      <p:pic>
        <p:nvPicPr>
          <p:cNvPr id="144" name="Google Shape;144;p24"/>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5664827" y="232027"/>
            <a:ext cx="2636200" cy="1757475"/>
          </a:xfrm>
          <a:prstGeom prst="rect">
            <a:avLst/>
          </a:prstGeom>
          <a:noFill/>
          <a:ln w="9525" cap="flat" cmpd="sng">
            <a:solidFill>
              <a:srgbClr val="FF0000"/>
            </a:solidFill>
            <a:prstDash val="solid"/>
            <a:round/>
            <a:headEnd type="none" w="sm" len="sm"/>
            <a:tailEnd type="none" w="sm" len="sm"/>
          </a:ln>
        </p:spPr>
      </p:pic>
      <p:pic>
        <p:nvPicPr>
          <p:cNvPr id="145" name="Google Shape;145;p24"/>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275763" y="2677636"/>
            <a:ext cx="1173675" cy="1206274"/>
          </a:xfrm>
          <a:prstGeom prst="rect">
            <a:avLst/>
          </a:prstGeom>
          <a:noFill/>
          <a:ln w="9525" cap="flat" cmpd="sng">
            <a:solidFill>
              <a:srgbClr val="FF0000"/>
            </a:solidFill>
            <a:prstDash val="solid"/>
            <a:round/>
            <a:headEnd type="none" w="sm" len="sm"/>
            <a:tailEnd type="none" w="sm" len="sm"/>
          </a:ln>
        </p:spPr>
      </p:pic>
      <p:sp>
        <p:nvSpPr>
          <p:cNvPr id="146" name="Google Shape;146;p24"/>
          <p:cNvSpPr txBox="1"/>
          <p:nvPr/>
        </p:nvSpPr>
        <p:spPr>
          <a:xfrm>
            <a:off x="5860764" y="2049473"/>
            <a:ext cx="22443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Dario Amodei - CEO</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Daniela Amodei - President</a:t>
            </a:r>
            <a:endParaRPr sz="1200">
              <a:solidFill>
                <a:schemeClr val="dk1"/>
              </a:solidFill>
              <a:latin typeface="Calibri"/>
              <a:ea typeface="Calibri"/>
              <a:cs typeface="Calibri"/>
              <a:sym typeface="Calibri"/>
            </a:endParaRPr>
          </a:p>
        </p:txBody>
      </p:sp>
      <p:sp>
        <p:nvSpPr>
          <p:cNvPr id="147" name="Google Shape;147;p24"/>
          <p:cNvSpPr txBox="1"/>
          <p:nvPr/>
        </p:nvSpPr>
        <p:spPr>
          <a:xfrm>
            <a:off x="146975" y="3987256"/>
            <a:ext cx="13893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200">
                <a:solidFill>
                  <a:schemeClr val="dk1"/>
                </a:solidFill>
                <a:latin typeface="Calibri"/>
                <a:ea typeface="Calibri"/>
                <a:cs typeface="Calibri"/>
                <a:sym typeface="Calibri"/>
              </a:rPr>
              <a:t>Jared Kaplan</a:t>
            </a:r>
            <a:endParaRPr sz="1200">
              <a:solidFill>
                <a:schemeClr val="dk1"/>
              </a:solidFill>
              <a:latin typeface="Calibri"/>
              <a:ea typeface="Calibri"/>
              <a:cs typeface="Calibri"/>
              <a:sym typeface="Calibri"/>
            </a:endParaRPr>
          </a:p>
          <a:p>
            <a:pPr marL="0" marR="0" lvl="0" indent="0" algn="ctr" rtl="0">
              <a:lnSpc>
                <a:spcPct val="100000"/>
              </a:lnSpc>
              <a:spcBef>
                <a:spcPts val="0"/>
              </a:spcBef>
              <a:spcAft>
                <a:spcPts val="0"/>
              </a:spcAft>
              <a:buNone/>
            </a:pPr>
            <a:r>
              <a:rPr lang="en" sz="1200">
                <a:solidFill>
                  <a:schemeClr val="dk1"/>
                </a:solidFill>
                <a:latin typeface="Calibri"/>
                <a:ea typeface="Calibri"/>
                <a:cs typeface="Calibri"/>
                <a:sym typeface="Calibri"/>
              </a:rPr>
              <a:t>Chief Science Officer</a:t>
            </a:r>
            <a:endParaRPr sz="1200">
              <a:solidFill>
                <a:schemeClr val="dk1"/>
              </a:solidFill>
              <a:latin typeface="Calibri"/>
              <a:ea typeface="Calibri"/>
              <a:cs typeface="Calibri"/>
              <a:sym typeface="Calibri"/>
            </a:endParaRPr>
          </a:p>
        </p:txBody>
      </p:sp>
      <p:pic>
        <p:nvPicPr>
          <p:cNvPr id="148" name="Google Shape;148;p24"/>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1750223" y="2677636"/>
            <a:ext cx="1173675" cy="1215587"/>
          </a:xfrm>
          <a:prstGeom prst="rect">
            <a:avLst/>
          </a:prstGeom>
          <a:noFill/>
          <a:ln w="9525" cap="flat" cmpd="sng">
            <a:solidFill>
              <a:srgbClr val="FF0000"/>
            </a:solidFill>
            <a:prstDash val="solid"/>
            <a:round/>
            <a:headEnd type="none" w="sm" len="sm"/>
            <a:tailEnd type="none" w="sm" len="sm"/>
          </a:ln>
        </p:spPr>
      </p:pic>
      <p:sp>
        <p:nvSpPr>
          <p:cNvPr id="149" name="Google Shape;149;p24"/>
          <p:cNvSpPr txBox="1"/>
          <p:nvPr/>
        </p:nvSpPr>
        <p:spPr>
          <a:xfrm>
            <a:off x="1771580" y="3987256"/>
            <a:ext cx="1173600" cy="57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200">
                <a:solidFill>
                  <a:schemeClr val="dk1"/>
                </a:solidFill>
                <a:latin typeface="Calibri"/>
                <a:ea typeface="Calibri"/>
                <a:cs typeface="Calibri"/>
                <a:sym typeface="Calibri"/>
              </a:rPr>
              <a:t>Jack Clark - Policy/Public Benefit</a:t>
            </a:r>
            <a:endParaRPr sz="1200">
              <a:solidFill>
                <a:schemeClr val="dk1"/>
              </a:solidFill>
              <a:latin typeface="Calibri"/>
              <a:ea typeface="Calibri"/>
              <a:cs typeface="Calibri"/>
              <a:sym typeface="Calibri"/>
            </a:endParaRPr>
          </a:p>
        </p:txBody>
      </p:sp>
      <p:pic>
        <p:nvPicPr>
          <p:cNvPr id="150" name="Google Shape;150;p24"/>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3224683" y="2677636"/>
            <a:ext cx="1215600" cy="1215600"/>
          </a:xfrm>
          <a:prstGeom prst="rect">
            <a:avLst/>
          </a:prstGeom>
          <a:noFill/>
          <a:ln w="9525" cap="flat" cmpd="sng">
            <a:solidFill>
              <a:srgbClr val="FF0000"/>
            </a:solidFill>
            <a:prstDash val="solid"/>
            <a:round/>
            <a:headEnd type="none" w="sm" len="sm"/>
            <a:tailEnd type="none" w="sm" len="sm"/>
          </a:ln>
        </p:spPr>
      </p:pic>
      <p:sp>
        <p:nvSpPr>
          <p:cNvPr id="151" name="Google Shape;151;p24"/>
          <p:cNvSpPr txBox="1"/>
          <p:nvPr/>
        </p:nvSpPr>
        <p:spPr>
          <a:xfrm>
            <a:off x="3245680" y="3987256"/>
            <a:ext cx="11736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200">
                <a:solidFill>
                  <a:schemeClr val="dk1"/>
                </a:solidFill>
                <a:latin typeface="Calibri"/>
                <a:ea typeface="Calibri"/>
                <a:cs typeface="Calibri"/>
                <a:sym typeface="Calibri"/>
              </a:rPr>
              <a:t>Sam McCandlish - Chief Architect</a:t>
            </a:r>
            <a:endParaRPr sz="1200">
              <a:solidFill>
                <a:schemeClr val="dk1"/>
              </a:solidFill>
              <a:latin typeface="Calibri"/>
              <a:ea typeface="Calibri"/>
              <a:cs typeface="Calibri"/>
              <a:sym typeface="Calibri"/>
            </a:endParaRPr>
          </a:p>
        </p:txBody>
      </p:sp>
      <p:pic>
        <p:nvPicPr>
          <p:cNvPr id="152" name="Google Shape;152;p24"/>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741069" y="2677636"/>
            <a:ext cx="1065810" cy="1215599"/>
          </a:xfrm>
          <a:prstGeom prst="rect">
            <a:avLst/>
          </a:prstGeom>
          <a:noFill/>
          <a:ln w="9525" cap="flat" cmpd="sng">
            <a:solidFill>
              <a:srgbClr val="FF0000"/>
            </a:solidFill>
            <a:prstDash val="solid"/>
            <a:round/>
            <a:headEnd type="none" w="sm" len="sm"/>
            <a:tailEnd type="none" w="sm" len="sm"/>
          </a:ln>
        </p:spPr>
      </p:pic>
      <p:sp>
        <p:nvSpPr>
          <p:cNvPr id="153" name="Google Shape;153;p24"/>
          <p:cNvSpPr txBox="1"/>
          <p:nvPr/>
        </p:nvSpPr>
        <p:spPr>
          <a:xfrm>
            <a:off x="4687180" y="3987256"/>
            <a:ext cx="1173600" cy="57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200">
                <a:solidFill>
                  <a:schemeClr val="dk1"/>
                </a:solidFill>
                <a:latin typeface="Calibri"/>
                <a:ea typeface="Calibri"/>
                <a:cs typeface="Calibri"/>
                <a:sym typeface="Calibri"/>
              </a:rPr>
              <a:t>Christopher Olah - Interpretability Research</a:t>
            </a:r>
            <a:endParaRPr sz="1200">
              <a:solidFill>
                <a:schemeClr val="dk1"/>
              </a:solidFill>
              <a:latin typeface="Calibri"/>
              <a:ea typeface="Calibri"/>
              <a:cs typeface="Calibri"/>
              <a:sym typeface="Calibri"/>
            </a:endParaRPr>
          </a:p>
        </p:txBody>
      </p:sp>
      <p:sp>
        <p:nvSpPr>
          <p:cNvPr id="154" name="Google Shape;154;p24"/>
          <p:cNvSpPr txBox="1"/>
          <p:nvPr/>
        </p:nvSpPr>
        <p:spPr>
          <a:xfrm>
            <a:off x="6128680" y="3987256"/>
            <a:ext cx="11736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200">
                <a:solidFill>
                  <a:schemeClr val="dk1"/>
                </a:solidFill>
                <a:latin typeface="Calibri"/>
                <a:ea typeface="Calibri"/>
                <a:cs typeface="Calibri"/>
                <a:sym typeface="Calibri"/>
              </a:rPr>
              <a:t>Tom Brown - Technical Lead</a:t>
            </a:r>
            <a:endParaRPr sz="1200">
              <a:solidFill>
                <a:schemeClr val="dk1"/>
              </a:solidFill>
              <a:latin typeface="Calibri"/>
              <a:ea typeface="Calibri"/>
              <a:cs typeface="Calibri"/>
              <a:sym typeface="Calibri"/>
            </a:endParaRPr>
          </a:p>
        </p:txBody>
      </p:sp>
      <p:sp>
        <p:nvSpPr>
          <p:cNvPr id="155" name="Google Shape;155;p24"/>
          <p:cNvSpPr txBox="1"/>
          <p:nvPr/>
        </p:nvSpPr>
        <p:spPr>
          <a:xfrm>
            <a:off x="7645055" y="3969806"/>
            <a:ext cx="11736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200">
                <a:solidFill>
                  <a:schemeClr val="dk1"/>
                </a:solidFill>
                <a:latin typeface="Calibri"/>
                <a:ea typeface="Calibri"/>
                <a:cs typeface="Calibri"/>
                <a:sym typeface="Calibri"/>
              </a:rPr>
              <a:t>Ben Mann - Anthropic's product safety / alignment work</a:t>
            </a:r>
            <a:endParaRPr sz="1200">
              <a:solidFill>
                <a:schemeClr val="dk1"/>
              </a:solidFill>
              <a:latin typeface="Calibri"/>
              <a:ea typeface="Calibri"/>
              <a:cs typeface="Calibri"/>
              <a:sym typeface="Calibri"/>
            </a:endParaRPr>
          </a:p>
        </p:txBody>
      </p:sp>
      <p:pic>
        <p:nvPicPr>
          <p:cNvPr id="156" name="Google Shape;156;p24"/>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6107664" y="2677636"/>
            <a:ext cx="1215600" cy="1215600"/>
          </a:xfrm>
          <a:prstGeom prst="rect">
            <a:avLst/>
          </a:prstGeom>
          <a:noFill/>
          <a:ln w="9525" cap="flat" cmpd="sng">
            <a:solidFill>
              <a:srgbClr val="FF0000"/>
            </a:solidFill>
            <a:prstDash val="solid"/>
            <a:round/>
            <a:headEnd type="none" w="sm" len="sm"/>
            <a:tailEnd type="none" w="sm" len="sm"/>
          </a:ln>
        </p:spPr>
      </p:pic>
      <p:pic>
        <p:nvPicPr>
          <p:cNvPr id="157" name="Google Shape;157;p24"/>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7624050" y="2677636"/>
            <a:ext cx="1215600" cy="12156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61"/>
        <p:cNvGrpSpPr/>
        <p:nvPr/>
      </p:nvGrpSpPr>
      <p:grpSpPr>
        <a:xfrm>
          <a:off x="0" y="0"/>
          <a:ext cx="0" cy="0"/>
          <a:chOff x="0" y="0"/>
          <a:chExt cx="0" cy="0"/>
        </a:xfrm>
      </p:grpSpPr>
      <p:sp>
        <p:nvSpPr>
          <p:cNvPr id="162" name="Google Shape;162;p25"/>
          <p:cNvSpPr txBox="1"/>
          <p:nvPr/>
        </p:nvSpPr>
        <p:spPr>
          <a:xfrm>
            <a:off x="60250" y="626093"/>
            <a:ext cx="5038200" cy="4082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Jack Clark, co-founder of Anthropic - future vision</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AI Building/imporoving Itself by 2028</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Intelligence Explosion AI systems - growth and "abundance" across scientific fields like medicine and biology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Mythos and Defense Dominance - help the U.S. government and major organizations create a "defense-dominant" cyber environment, digital infrastructure resilient against advanced AI-driven threats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Economic Impact and Industrial Policy - economy cannot remain the same with such powerful technology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Jobs like customer service have high AI exposure and are already declining, whereas biology and law have rising employment despite AI exposure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"Jagged Frontier" - AI is exceptionally good at some tasks (like coding) but still struggles with others (like advanced medical research)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Anthropic is actively researching how AI affects human behavior. For example, they recently intervened to reduce "sycophancy" in Claude (specifically in version 4.7) so it acts more like a "knowledgeable friend" who can challenge the user rather than just agreeing with everything they say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Clark advises young people to focus on curiosity and becoming deeply opinionated nerds in a specific area. AI will provide help, but umans will be most valuable when they are deeply knowledgeable and ambitious in their questioning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http://www.youtube.com/watch?v=sViyNJzf-OQ</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
        <p:nvSpPr>
          <p:cNvPr id="163" name="Google Shape;163;p25"/>
          <p:cNvSpPr txBox="1"/>
          <p:nvPr/>
        </p:nvSpPr>
        <p:spPr>
          <a:xfrm>
            <a:off x="81775" y="67675"/>
            <a:ext cx="2527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Jack Clark Interview</a:t>
            </a:r>
            <a:endParaRPr sz="2000" b="1">
              <a:solidFill>
                <a:schemeClr val="dk1"/>
              </a:solidFill>
              <a:latin typeface="Calibri"/>
              <a:ea typeface="Calibri"/>
              <a:cs typeface="Calibri"/>
              <a:sym typeface="Calibri"/>
            </a:endParaRPr>
          </a:p>
        </p:txBody>
      </p:sp>
      <p:pic>
        <p:nvPicPr>
          <p:cNvPr id="164" name="Google Shape;164;p25"/>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363575" y="1155963"/>
            <a:ext cx="2527500" cy="2632481"/>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68"/>
        <p:cNvGrpSpPr/>
        <p:nvPr/>
      </p:nvGrpSpPr>
      <p:grpSpPr>
        <a:xfrm>
          <a:off x="0" y="0"/>
          <a:ext cx="0" cy="0"/>
          <a:chOff x="0" y="0"/>
          <a:chExt cx="0" cy="0"/>
        </a:xfrm>
      </p:grpSpPr>
      <p:sp>
        <p:nvSpPr>
          <p:cNvPr id="169" name="Google Shape;169;p26"/>
          <p:cNvSpPr txBox="1"/>
          <p:nvPr/>
        </p:nvSpPr>
        <p:spPr>
          <a:xfrm>
            <a:off x="81775" y="884334"/>
            <a:ext cx="4425900" cy="322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Anthropic open-sourced Wall Street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Repository "Claude for Financial Services" - open source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https://github.com/anthropics/financial-services</a:t>
            </a:r>
            <a:r>
              <a:rPr lang="en" sz="1200">
                <a:solidFill>
                  <a:schemeClr val="dk1"/>
                </a:solidFill>
                <a:latin typeface="Calibri"/>
                <a:ea typeface="Calibri"/>
                <a:cs typeface="Calibri"/>
                <a:sym typeface="Calibri"/>
              </a:rPr>
              <a:t> - 11.4k stars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10 named agents (Pitch Agent, Market Researcher, Earnings Reviewer, GL Reconciler, KYC Screener, etc.) that mirror Goldman Sachs analyst roles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Supports dual deployment as Claude Cowork plugins or via the Claude Managed Agents API</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https://www.youtube.com/watch?v=E4GNZxJQqfM</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There is also a related companion repository:</a:t>
            </a:r>
            <a:br>
              <a:rPr lang="en" sz="1200">
                <a:solidFill>
                  <a:schemeClr val="dk1"/>
                </a:solidFill>
                <a:latin typeface="Calibri"/>
                <a:ea typeface="Calibri"/>
                <a:cs typeface="Calibri"/>
                <a:sym typeface="Calibri"/>
              </a:rPr>
            </a:br>
            <a:r>
              <a:rPr lang="en" sz="1000" u="sng">
                <a:solidFill>
                  <a:schemeClr val="hlink"/>
                </a:solidFill>
                <a:latin typeface="Calibri"/>
                <a:ea typeface="Calibri"/>
                <a:cs typeface="Calibri"/>
                <a:sym typeface="Calibri"/>
                <a:hlinkClick r:id="rId4"/>
              </a:rPr>
              <a:t>https://github.com/anthropics/financial-services-plugins</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u="sng">
                <a:solidFill>
                  <a:schemeClr val="hlink"/>
                </a:solidFill>
                <a:latin typeface="Calibri"/>
                <a:ea typeface="Calibri"/>
                <a:cs typeface="Calibri"/>
                <a:sym typeface="Calibri"/>
                <a:hlinkClick r:id="rId5"/>
              </a:rPr>
              <a:t>https://claude.com/resources/tutorials/claude-for-financial-services-skills</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u="sng">
                <a:solidFill>
                  <a:schemeClr val="hlink"/>
                </a:solidFill>
                <a:latin typeface="Calibri"/>
                <a:ea typeface="Calibri"/>
                <a:cs typeface="Calibri"/>
                <a:sym typeface="Calibri"/>
                <a:hlinkClick r:id="rId6"/>
              </a:rPr>
              <a:t>https://www.youtube.com/watch?v=E4GNZxJQqfM</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u="sng">
                <a:solidFill>
                  <a:schemeClr val="hlink"/>
                </a:solidFill>
                <a:latin typeface="Calibri"/>
                <a:ea typeface="Calibri"/>
                <a:cs typeface="Calibri"/>
                <a:sym typeface="Calibri"/>
                <a:hlinkClick r:id="rId7"/>
              </a:rPr>
              <a:t>https://github.com/mkll/awesome-claude-skills-ai</a:t>
            </a:r>
            <a:endParaRPr sz="10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Each agent can perform complex financial tasks like building pitch decks, running DCF models, and conducting earnings analysis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system includes licensed connectors to major financial data providers like Bloomberg, FactSet, and Moody's</a:t>
            </a:r>
            <a:endParaRPr sz="1200">
              <a:solidFill>
                <a:schemeClr val="dk1"/>
              </a:solidFill>
              <a:latin typeface="Calibri"/>
              <a:ea typeface="Calibri"/>
              <a:cs typeface="Calibri"/>
              <a:sym typeface="Calibri"/>
            </a:endParaRPr>
          </a:p>
        </p:txBody>
      </p:sp>
      <p:sp>
        <p:nvSpPr>
          <p:cNvPr id="170" name="Google Shape;170;p26"/>
          <p:cNvSpPr txBox="1"/>
          <p:nvPr/>
        </p:nvSpPr>
        <p:spPr>
          <a:xfrm>
            <a:off x="81775" y="67675"/>
            <a:ext cx="4004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Anthropic Open-Sourced Wall Street</a:t>
            </a:r>
            <a:endParaRPr sz="2000" b="1">
              <a:solidFill>
                <a:schemeClr val="dk1"/>
              </a:solidFill>
              <a:latin typeface="Calibri"/>
              <a:ea typeface="Calibri"/>
              <a:cs typeface="Calibri"/>
              <a:sym typeface="Calibri"/>
            </a:endParaRPr>
          </a:p>
        </p:txBody>
      </p:sp>
      <p:pic>
        <p:nvPicPr>
          <p:cNvPr id="171" name="Google Shape;171;p26"/>
          <p:cNvPicPr preferRelativeResize="0"/>
          <p:nvPr/>
        </p:nvPicPr>
        <p:blipFill>
          <a:blip r:embed="rId8">
            <a:alphaModFix/>
          </a:blip>
          <a:stretch>
            <a:fillRect/>
          </a:stretch>
        </p:blipFill>
        <p:spPr>
          <a:xfrm>
            <a:off x="4901375" y="926667"/>
            <a:ext cx="2857500" cy="1600200"/>
          </a:xfrm>
          <a:prstGeom prst="rect">
            <a:avLst/>
          </a:prstGeom>
          <a:noFill/>
          <a:ln w="9525" cap="flat" cmpd="sng">
            <a:solidFill>
              <a:srgbClr val="FF0000"/>
            </a:solidFill>
            <a:prstDash val="solid"/>
            <a:round/>
            <a:headEnd type="none" w="sm" len="sm"/>
            <a:tailEnd type="none" w="sm" len="sm"/>
          </a:ln>
        </p:spPr>
      </p:pic>
      <p:pic>
        <p:nvPicPr>
          <p:cNvPr id="172" name="Google Shape;172;p26"/>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5281092" y="2875867"/>
            <a:ext cx="2140175" cy="8299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76"/>
        <p:cNvGrpSpPr/>
        <p:nvPr/>
      </p:nvGrpSpPr>
      <p:grpSpPr>
        <a:xfrm>
          <a:off x="0" y="0"/>
          <a:ext cx="0" cy="0"/>
          <a:chOff x="0" y="0"/>
          <a:chExt cx="0" cy="0"/>
        </a:xfrm>
      </p:grpSpPr>
      <p:sp>
        <p:nvSpPr>
          <p:cNvPr id="177" name="Google Shape;177;p27"/>
          <p:cNvSpPr txBox="1"/>
          <p:nvPr/>
        </p:nvSpPr>
        <p:spPr>
          <a:xfrm>
            <a:off x="81775" y="492750"/>
            <a:ext cx="4032900" cy="4451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Agentic RAG - uses a loop with LLM and tools to search, read, and self-correct until it finds the correct information</a:t>
            </a:r>
            <a:br>
              <a:rPr lang="en" sz="1200" b="1">
                <a:solidFill>
                  <a:srgbClr val="FF0000"/>
                </a:solidFill>
                <a:latin typeface="Calibri"/>
                <a:ea typeface="Calibri"/>
                <a:cs typeface="Calibri"/>
                <a:sym typeface="Calibri"/>
              </a:rPr>
            </a:br>
            <a:r>
              <a:rPr lang="en" sz="1200" u="sng">
                <a:solidFill>
                  <a:schemeClr val="hlink"/>
                </a:solidFill>
                <a:latin typeface="Calibri"/>
                <a:ea typeface="Calibri"/>
                <a:cs typeface="Calibri"/>
                <a:sym typeface="Calibri"/>
                <a:hlinkClick r:id="rId3"/>
              </a:rPr>
              <a:t>https://www.youtube.com/watch?v=RxwjoegpI98</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List Files, Grep (regex search) - returning line numbers and context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PydanticAI - helps to connect tools to an LLM</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Loop: The agent first lists files, then uses the "grep" tool to find mentions of a topic, and finally reads the most relevant files to formulate an answer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Visibility - streaming steps, debugging to see exactly which tool parameters the LLM is choosing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Structured Output (Pydantic model) - agent returns a clean JSON object containing the answer and specific citations (file name, quote, and line number)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Improvement - use ripgrep (rg) - better and faster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Safety Guards - request limits and maximum line-read constraints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Error Handling - return human-readable error messages - allows the LLM to understand what went wrong and try a different approach</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Agentic RAG is more expensive and has higher latency than semantic RAG, but it is far more accurate for complex queries over private documentation because the agent can "think" and refine its search strategy dynamically </a:t>
            </a:r>
            <a:endParaRPr sz="1200">
              <a:solidFill>
                <a:schemeClr val="dk1"/>
              </a:solidFill>
              <a:latin typeface="Calibri"/>
              <a:ea typeface="Calibri"/>
              <a:cs typeface="Calibri"/>
              <a:sym typeface="Calibri"/>
            </a:endParaRPr>
          </a:p>
        </p:txBody>
      </p:sp>
      <p:sp>
        <p:nvSpPr>
          <p:cNvPr id="178" name="Google Shape;178;p27"/>
          <p:cNvSpPr txBox="1"/>
          <p:nvPr/>
        </p:nvSpPr>
        <p:spPr>
          <a:xfrm>
            <a:off x="81775" y="67675"/>
            <a:ext cx="2527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Agentic RAG</a:t>
            </a:r>
            <a:endParaRPr sz="2000" b="1">
              <a:solidFill>
                <a:schemeClr val="dk1"/>
              </a:solidFill>
              <a:latin typeface="Calibri"/>
              <a:ea typeface="Calibri"/>
              <a:cs typeface="Calibri"/>
              <a:sym typeface="Calibri"/>
            </a:endParaRPr>
          </a:p>
        </p:txBody>
      </p:sp>
      <p:pic>
        <p:nvPicPr>
          <p:cNvPr id="179" name="Google Shape;179;p27"/>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229100" y="733425"/>
            <a:ext cx="4762501" cy="3571876"/>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83"/>
        <p:cNvGrpSpPr/>
        <p:nvPr/>
      </p:nvGrpSpPr>
      <p:grpSpPr>
        <a:xfrm>
          <a:off x="0" y="0"/>
          <a:ext cx="0" cy="0"/>
          <a:chOff x="0" y="0"/>
          <a:chExt cx="0" cy="0"/>
        </a:xfrm>
      </p:grpSpPr>
      <p:sp>
        <p:nvSpPr>
          <p:cNvPr id="184" name="Google Shape;184;p28"/>
          <p:cNvSpPr txBox="1"/>
          <p:nvPr/>
        </p:nvSpPr>
        <p:spPr>
          <a:xfrm>
            <a:off x="81775" y="492750"/>
            <a:ext cx="5927100" cy="186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A Better, Cheaper RAG</a:t>
            </a:r>
            <a:r>
              <a:rPr lang="en" sz="1200">
                <a:latin typeface="Calibri"/>
                <a:ea typeface="Calibri"/>
                <a:cs typeface="Calibri"/>
                <a:sym typeface="Calibri"/>
              </a:rPr>
              <a:t> - (Neuro-Sym Multi-hop Reasoning)</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http://www.youtube.com/watch?v=CLjTCe_cvJs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TGS-RAG - bidirectional, makes RAG both more accurate and significantly cheaper</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Combines text search with knowledge graphs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"orphan entity bridging" - saves pruned graph nodes in a memory buffer</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If a parallel text search identifies a discarded node as relevant, the path is instantly "resurrected" without new database queries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This approach achieves superior local accuracy while using 80% less compute and drastically reducing token costs compared to industry standards like GraphRAG</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https://www.youtube.com/watch?v=CLjTCe_cvJs</a:t>
            </a:r>
            <a:endParaRPr sz="1200">
              <a:solidFill>
                <a:schemeClr val="dk1"/>
              </a:solidFill>
              <a:latin typeface="Calibri"/>
              <a:ea typeface="Calibri"/>
              <a:cs typeface="Calibri"/>
              <a:sym typeface="Calibri"/>
            </a:endParaRPr>
          </a:p>
        </p:txBody>
      </p:sp>
      <p:sp>
        <p:nvSpPr>
          <p:cNvPr id="185" name="Google Shape;185;p28"/>
          <p:cNvSpPr txBox="1"/>
          <p:nvPr/>
        </p:nvSpPr>
        <p:spPr>
          <a:xfrm>
            <a:off x="81775" y="67675"/>
            <a:ext cx="3156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 Better, Cheaper RAG</a:t>
            </a:r>
            <a:endParaRPr sz="2000" b="1">
              <a:solidFill>
                <a:schemeClr val="dk1"/>
              </a:solidFill>
              <a:latin typeface="Calibri"/>
              <a:ea typeface="Calibri"/>
              <a:cs typeface="Calibri"/>
              <a:sym typeface="Calibri"/>
            </a:endParaRPr>
          </a:p>
        </p:txBody>
      </p:sp>
      <p:pic>
        <p:nvPicPr>
          <p:cNvPr id="186" name="Google Shape;186;p28"/>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195612" y="660935"/>
            <a:ext cx="2762250" cy="1561426"/>
          </a:xfrm>
          <a:prstGeom prst="rect">
            <a:avLst/>
          </a:prstGeom>
          <a:noFill/>
          <a:ln w="9525" cap="flat" cmpd="sng">
            <a:solidFill>
              <a:srgbClr val="FF0000"/>
            </a:solidFill>
            <a:prstDash val="solid"/>
            <a:round/>
            <a:headEnd type="none" w="sm" len="sm"/>
            <a:tailEnd type="none" w="sm" len="sm"/>
          </a:ln>
        </p:spPr>
      </p:pic>
      <p:sp>
        <p:nvSpPr>
          <p:cNvPr id="187" name="Google Shape;187;p28"/>
          <p:cNvSpPr txBox="1"/>
          <p:nvPr/>
        </p:nvSpPr>
        <p:spPr>
          <a:xfrm>
            <a:off x="81775" y="2593555"/>
            <a:ext cx="59271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Meta’s Super Intelligent Retrieval Agent (SIRA) RAG</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SIRA replaces multi-step agentic loops with a precise, one-shot mathematical approach</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SIRA uses expanded BM25 lexical search instead of </a:t>
            </a:r>
            <a:r>
              <a:rPr lang="en" sz="1200">
                <a:latin typeface="Calibri"/>
                <a:ea typeface="Calibri"/>
                <a:cs typeface="Calibri"/>
                <a:sym typeface="Calibri"/>
              </a:rPr>
              <a:t>vector embeddings </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It works by using an LLM to predict "expected response sketches" for queries and pre-expanding document indices with latent synonyms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This allows the system to capture fine-grained technical jargon often lost in vector compression</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Benchmarks show significant accuracy gains over current models, critics highlight high offline compute costs and a heavy reliance on the LLM’s internal knowledge cutoff</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SIRA aims to transform information retrieval into a deterministic, expert-level action rather than a stochastic search process.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6"/>
              </a:rPr>
              <a:t>https://github.com/facebookresearch/sira</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7"/>
              </a:rPr>
              <a:t>https://www.youtube.com/watch?v=gxbp3BUo3wk</a:t>
            </a:r>
            <a:r>
              <a:rPr lang="en" sz="1200">
                <a:latin typeface="Calibri"/>
                <a:ea typeface="Calibri"/>
                <a:cs typeface="Calibri"/>
                <a:sym typeface="Calibri"/>
              </a:rPr>
              <a:t> </a:t>
            </a:r>
            <a:endParaRPr sz="1200">
              <a:latin typeface="Calibri"/>
              <a:ea typeface="Calibri"/>
              <a:cs typeface="Calibri"/>
              <a:sym typeface="Calibri"/>
            </a:endParaRPr>
          </a:p>
        </p:txBody>
      </p:sp>
      <p:pic>
        <p:nvPicPr>
          <p:cNvPr id="188" name="Google Shape;188;p28"/>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6161563" y="3008161"/>
            <a:ext cx="2830325" cy="1590283"/>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sp>
        <p:nvSpPr>
          <p:cNvPr id="193" name="Google Shape;193;p29"/>
          <p:cNvSpPr txBox="1"/>
          <p:nvPr/>
        </p:nvSpPr>
        <p:spPr>
          <a:xfrm>
            <a:off x="81775" y="1076113"/>
            <a:ext cx="43803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Markdown files - default "work" files for documentation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Simple text format enables easy search (Grep)</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Allow formatting, diagrams, links, images, tables (ASCII &amp; Mermaid)</a:t>
            </a:r>
            <a:br>
              <a:rPr lang="en" sz="1200">
                <a:latin typeface="Calibri"/>
                <a:ea typeface="Calibri"/>
                <a:cs typeface="Calibri"/>
                <a:sym typeface="Calibri"/>
              </a:rPr>
            </a:br>
            <a:br>
              <a:rPr lang="en" sz="1000" b="1">
                <a:solidFill>
                  <a:srgbClr val="3C78D8"/>
                </a:solidFill>
                <a:latin typeface="Roboto Mono"/>
                <a:ea typeface="Roboto Mono"/>
                <a:cs typeface="Roboto Mono"/>
                <a:sym typeface="Roboto Mono"/>
              </a:rPr>
            </a:br>
            <a:r>
              <a:rPr lang="en" sz="1000" b="1">
                <a:solidFill>
                  <a:srgbClr val="3C78D8"/>
                </a:solidFill>
                <a:latin typeface="Roboto Mono"/>
                <a:ea typeface="Roboto Mono"/>
                <a:cs typeface="Roboto Mono"/>
                <a:sym typeface="Roboto Mono"/>
              </a:rPr>
              <a:t>[GitHub](https://github.com)</a:t>
            </a:r>
            <a:br>
              <a:rPr lang="en" sz="1000" b="1">
                <a:solidFill>
                  <a:srgbClr val="3C78D8"/>
                </a:solidFill>
                <a:latin typeface="Roboto Mono"/>
                <a:ea typeface="Roboto Mono"/>
                <a:cs typeface="Roboto Mono"/>
                <a:sym typeface="Roboto Mono"/>
              </a:rPr>
            </a:br>
            <a:r>
              <a:rPr lang="en" sz="1000" b="1">
                <a:solidFill>
                  <a:srgbClr val="3C78D8"/>
                </a:solidFill>
                <a:latin typeface="Roboto Mono"/>
                <a:ea typeface="Roboto Mono"/>
                <a:cs typeface="Roboto Mono"/>
                <a:sym typeface="Roboto Mono"/>
              </a:rPr>
              <a:t>![Alt text](./assets/screenshot.png "Optional title")</a:t>
            </a:r>
            <a:endParaRPr sz="1000" b="1">
              <a:solidFill>
                <a:srgbClr val="3C78D8"/>
              </a:solidFill>
              <a:latin typeface="Roboto Mono"/>
              <a:ea typeface="Roboto Mono"/>
              <a:cs typeface="Roboto Mono"/>
              <a:sym typeface="Roboto Mono"/>
            </a:endParaRPr>
          </a:p>
          <a:p>
            <a:pPr marL="171450" marR="0" lvl="0" indent="-120650" algn="l" rtl="0">
              <a:lnSpc>
                <a:spcPct val="100000"/>
              </a:lnSpc>
              <a:spcBef>
                <a:spcPts val="0"/>
              </a:spcBef>
              <a:spcAft>
                <a:spcPts val="0"/>
              </a:spcAft>
              <a:buClr>
                <a:srgbClr val="3C78D8"/>
              </a:buClr>
              <a:buSzPts val="1000"/>
              <a:buFont typeface="Roboto Mono"/>
              <a:buChar char="●"/>
            </a:pPr>
            <a:br>
              <a:rPr lang="en" sz="1000" b="1">
                <a:solidFill>
                  <a:srgbClr val="3C78D8"/>
                </a:solidFill>
                <a:latin typeface="Roboto Mono"/>
                <a:ea typeface="Roboto Mono"/>
                <a:cs typeface="Roboto Mono"/>
                <a:sym typeface="Roboto Mono"/>
              </a:rPr>
            </a:br>
            <a:r>
              <a:rPr lang="en" sz="1000" b="1">
                <a:solidFill>
                  <a:srgbClr val="3C78D8"/>
                </a:solidFill>
                <a:latin typeface="Roboto Mono"/>
                <a:ea typeface="Roboto Mono"/>
                <a:cs typeface="Roboto Mono"/>
                <a:sym typeface="Roboto Mono"/>
              </a:rPr>
              <a:t>document.md</a:t>
            </a:r>
            <a:br>
              <a:rPr lang="en" sz="1000" b="1">
                <a:solidFill>
                  <a:srgbClr val="3C78D8"/>
                </a:solidFill>
                <a:latin typeface="Roboto Mono"/>
                <a:ea typeface="Roboto Mono"/>
                <a:cs typeface="Roboto Mono"/>
                <a:sym typeface="Roboto Mono"/>
              </a:rPr>
            </a:br>
            <a:r>
              <a:rPr lang="en" sz="1000" b="1">
                <a:solidFill>
                  <a:srgbClr val="3C78D8"/>
                </a:solidFill>
                <a:latin typeface="Roboto Mono"/>
                <a:ea typeface="Roboto Mono"/>
                <a:cs typeface="Roboto Mono"/>
                <a:sym typeface="Roboto Mono"/>
              </a:rPr>
              <a:t>images/...</a:t>
            </a:r>
            <a:endParaRPr sz="1000" b="1">
              <a:solidFill>
                <a:srgbClr val="3C78D8"/>
              </a:solidFill>
              <a:latin typeface="Roboto Mono"/>
              <a:ea typeface="Roboto Mono"/>
              <a:cs typeface="Roboto Mono"/>
              <a:sym typeface="Roboto Mono"/>
            </a:endParaRPr>
          </a:p>
        </p:txBody>
      </p:sp>
      <p:sp>
        <p:nvSpPr>
          <p:cNvPr id="194" name="Google Shape;194;p29"/>
          <p:cNvSpPr txBox="1"/>
          <p:nvPr/>
        </p:nvSpPr>
        <p:spPr>
          <a:xfrm>
            <a:off x="81775" y="67675"/>
            <a:ext cx="3156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Markdown vs HTML</a:t>
            </a:r>
            <a:endParaRPr sz="2000" b="1">
              <a:solidFill>
                <a:schemeClr val="dk1"/>
              </a:solidFill>
              <a:latin typeface="Calibri"/>
              <a:ea typeface="Calibri"/>
              <a:cs typeface="Calibri"/>
              <a:sym typeface="Calibri"/>
            </a:endParaRPr>
          </a:p>
        </p:txBody>
      </p:sp>
      <p:sp>
        <p:nvSpPr>
          <p:cNvPr id="195" name="Google Shape;195;p29"/>
          <p:cNvSpPr txBox="1"/>
          <p:nvPr/>
        </p:nvSpPr>
        <p:spPr>
          <a:xfrm>
            <a:off x="81775" y="2963618"/>
            <a:ext cx="43803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HTML can convey much richer information compared to markdown.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Formatted text | Tables | CSS | SVG Illustrations | Code blocks | </a:t>
            </a:r>
            <a:br>
              <a:rPr lang="en" sz="1200">
                <a:latin typeface="Calibri"/>
                <a:ea typeface="Calibri"/>
                <a:cs typeface="Calibri"/>
                <a:sym typeface="Calibri"/>
              </a:rPr>
            </a:br>
            <a:r>
              <a:rPr lang="en" sz="1200">
                <a:latin typeface="Calibri"/>
                <a:ea typeface="Calibri"/>
                <a:cs typeface="Calibri"/>
                <a:sym typeface="Calibri"/>
              </a:rPr>
              <a:t>Images | Interactive elements (Jacascript+CSS) | Workflows (SVG and HTML) | Spatial data (coordinates, canvases)</a:t>
            </a:r>
            <a:br>
              <a:rPr lang="en" sz="1200">
                <a:latin typeface="Calibri"/>
                <a:ea typeface="Calibri"/>
                <a:cs typeface="Calibri"/>
                <a:sym typeface="Calibri"/>
              </a:rPr>
            </a:br>
            <a:r>
              <a:rPr lang="en" sz="1200" b="1">
                <a:solidFill>
                  <a:srgbClr val="3C78D8"/>
                </a:solidFill>
                <a:latin typeface="Roboto Mono"/>
                <a:ea typeface="Roboto Mono"/>
                <a:cs typeface="Roboto Mono"/>
                <a:sym typeface="Roboto Mono"/>
              </a:rPr>
              <a:t>document.html</a:t>
            </a:r>
            <a:br>
              <a:rPr lang="en" sz="1200" b="1">
                <a:solidFill>
                  <a:srgbClr val="3C78D8"/>
                </a:solidFill>
                <a:latin typeface="Roboto Mono"/>
                <a:ea typeface="Roboto Mono"/>
                <a:cs typeface="Roboto Mono"/>
                <a:sym typeface="Roboto Mono"/>
              </a:rPr>
            </a:br>
            <a:r>
              <a:rPr lang="en" sz="1200" b="1">
                <a:solidFill>
                  <a:srgbClr val="3C78D8"/>
                </a:solidFill>
                <a:latin typeface="Roboto Mono"/>
                <a:ea typeface="Roboto Mono"/>
                <a:cs typeface="Roboto Mono"/>
                <a:sym typeface="Roboto Mono"/>
              </a:rPr>
              <a:t>images/...</a:t>
            </a:r>
            <a:endParaRPr sz="1200" b="1">
              <a:solidFill>
                <a:srgbClr val="3C78D8"/>
              </a:solidFill>
              <a:latin typeface="Roboto Mono"/>
              <a:ea typeface="Roboto Mono"/>
              <a:cs typeface="Roboto Mono"/>
              <a:sym typeface="Roboto Mono"/>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https://thariqs.github.io/html-effectiveness/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https://x.com/trq212/status/2052809885763747935</a:t>
            </a:r>
            <a:r>
              <a:rPr lang="en" sz="1200">
                <a:latin typeface="Calibri"/>
                <a:ea typeface="Calibri"/>
                <a:cs typeface="Calibri"/>
                <a:sym typeface="Calibri"/>
              </a:rPr>
              <a:t> </a:t>
            </a:r>
            <a:endParaRPr sz="1200">
              <a:latin typeface="Calibri"/>
              <a:ea typeface="Calibri"/>
              <a:cs typeface="Calibri"/>
              <a:sym typeface="Calibri"/>
            </a:endParaRPr>
          </a:p>
        </p:txBody>
      </p:sp>
      <p:pic>
        <p:nvPicPr>
          <p:cNvPr id="196" name="Google Shape;196;p29"/>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673600" y="2444398"/>
            <a:ext cx="4380300" cy="2555190"/>
          </a:xfrm>
          <a:prstGeom prst="rect">
            <a:avLst/>
          </a:prstGeom>
          <a:noFill/>
          <a:ln w="9525" cap="flat" cmpd="sng">
            <a:solidFill>
              <a:srgbClr val="FF0000"/>
            </a:solidFill>
            <a:prstDash val="solid"/>
            <a:round/>
            <a:headEnd type="none" w="sm" len="sm"/>
            <a:tailEnd type="none" w="sm" len="sm"/>
          </a:ln>
        </p:spPr>
      </p:pic>
      <p:sp>
        <p:nvSpPr>
          <p:cNvPr id="197" name="Google Shape;197;p29"/>
          <p:cNvSpPr txBox="1"/>
          <p:nvPr/>
        </p:nvSpPr>
        <p:spPr>
          <a:xfrm>
            <a:off x="81775" y="541138"/>
            <a:ext cx="43803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AI agents can easily create and use both Markdown (md) and HTML (.html) files</a:t>
            </a:r>
            <a:endParaRPr sz="1200">
              <a:latin typeface="Calibri"/>
              <a:ea typeface="Calibri"/>
              <a:cs typeface="Calibri"/>
              <a:sym typeface="Calibri"/>
            </a:endParaRPr>
          </a:p>
        </p:txBody>
      </p:sp>
      <p:pic>
        <p:nvPicPr>
          <p:cNvPr id="198" name="Google Shape;198;p29"/>
          <p:cNvPicPr preferRelativeResize="0"/>
          <p:nvPr/>
        </p:nvPicPr>
        <p:blipFill rotWithShape="1">
          <a:blip r:embed="rId6" cstate="email">
            <a:alphaModFix/>
            <a:extLst>
              <a:ext uri="{28A0092B-C50C-407E-A947-70E740481C1C}">
                <a14:useLocalDpi xmlns:a14="http://schemas.microsoft.com/office/drawing/2010/main"/>
              </a:ext>
            </a:extLst>
          </a:blip>
          <a:srcRect/>
          <a:stretch/>
        </p:blipFill>
        <p:spPr>
          <a:xfrm>
            <a:off x="4673600" y="280413"/>
            <a:ext cx="1709250" cy="909374"/>
          </a:xfrm>
          <a:prstGeom prst="rect">
            <a:avLst/>
          </a:prstGeom>
          <a:noFill/>
          <a:ln w="9525" cap="flat" cmpd="sng">
            <a:solidFill>
              <a:srgbClr val="FF0000"/>
            </a:solidFill>
            <a:prstDash val="solid"/>
            <a:round/>
            <a:headEnd type="none" w="sm" len="sm"/>
            <a:tailEnd type="none" w="sm" len="sm"/>
          </a:ln>
        </p:spPr>
      </p:pic>
      <p:pic>
        <p:nvPicPr>
          <p:cNvPr id="199" name="Google Shape;199;p29"/>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673600" y="1298388"/>
            <a:ext cx="3156600" cy="909381"/>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03"/>
        <p:cNvGrpSpPr/>
        <p:nvPr/>
      </p:nvGrpSpPr>
      <p:grpSpPr>
        <a:xfrm>
          <a:off x="0" y="0"/>
          <a:ext cx="0" cy="0"/>
          <a:chOff x="0" y="0"/>
          <a:chExt cx="0" cy="0"/>
        </a:xfrm>
      </p:grpSpPr>
      <p:sp>
        <p:nvSpPr>
          <p:cNvPr id="204" name="Google Shape;204;p30"/>
          <p:cNvSpPr txBox="1"/>
          <p:nvPr/>
        </p:nvSpPr>
        <p:spPr>
          <a:xfrm>
            <a:off x="81775" y="492750"/>
            <a:ext cx="44259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Quantum stocks exploded</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IonQ up 72%, D-Wave up 56%, and Rigetti up 37% in recent trading days, sparked by Nvidia's quantum AI announcements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https://www.youtube.com/watch?v=WPPhts8bWgQ</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
        <p:nvSpPr>
          <p:cNvPr id="205" name="Google Shape;205;p30"/>
          <p:cNvSpPr txBox="1"/>
          <p:nvPr/>
        </p:nvSpPr>
        <p:spPr>
          <a:xfrm>
            <a:off x="81775" y="67675"/>
            <a:ext cx="2527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News</a:t>
            </a:r>
            <a:endParaRPr sz="2000" b="1">
              <a:solidFill>
                <a:schemeClr val="dk1"/>
              </a:solidFill>
              <a:latin typeface="Calibri"/>
              <a:ea typeface="Calibri"/>
              <a:cs typeface="Calibri"/>
              <a:sym typeface="Calibri"/>
            </a:endParaRPr>
          </a:p>
        </p:txBody>
      </p:sp>
      <p:sp>
        <p:nvSpPr>
          <p:cNvPr id="206" name="Google Shape;206;p30"/>
          <p:cNvSpPr txBox="1"/>
          <p:nvPr/>
        </p:nvSpPr>
        <p:spPr>
          <a:xfrm>
            <a:off x="81775" y="2092950"/>
            <a:ext cx="44259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OpenAI Realtime Voice Models</a:t>
            </a:r>
            <a:br>
              <a:rPr lang="en" sz="1200">
                <a:solidFill>
                  <a:schemeClr val="dk1"/>
                </a:solidFill>
                <a:latin typeface="Calibri"/>
                <a:ea typeface="Calibri"/>
                <a:cs typeface="Calibri"/>
                <a:sym typeface="Calibri"/>
              </a:rPr>
            </a:br>
            <a:r>
              <a:rPr lang="en" sz="1200" u="sng">
                <a:solidFill>
                  <a:schemeClr val="hlink"/>
                </a:solidFill>
                <a:latin typeface="Calibri"/>
                <a:ea typeface="Calibri"/>
                <a:cs typeface="Calibri"/>
                <a:sym typeface="Calibri"/>
                <a:hlinkClick r:id="rId4"/>
              </a:rPr>
              <a:t>https://www.youtube.com/watch?v=o_igSi-ED6s</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GPT-Realtime-2 - the flagship model - $32 per 1M tokens. Featuring GPT-5-class reasoning, a 128k token context window, parallel tool calls, and improved conversational recovery for complex, long-form interactions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GPT-Realtime-Translate - live speech-to-speech translation across 70+ input languages and 13 output languages, handling accents and domain-specific terminology in real time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GPT-Realtime-Whisper - low-latency streaming transcription, returning transcript segments while the speaker is still talking</a:t>
            </a:r>
            <a:endParaRPr sz="1200">
              <a:solidFill>
                <a:schemeClr val="dk1"/>
              </a:solidFill>
              <a:latin typeface="Calibri"/>
              <a:ea typeface="Calibri"/>
              <a:cs typeface="Calibri"/>
              <a:sym typeface="Calibri"/>
            </a:endParaRPr>
          </a:p>
        </p:txBody>
      </p:sp>
      <p:pic>
        <p:nvPicPr>
          <p:cNvPr id="207" name="Google Shape;207;p30"/>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5064975" y="67675"/>
            <a:ext cx="2116874" cy="2116874"/>
          </a:xfrm>
          <a:prstGeom prst="rect">
            <a:avLst/>
          </a:prstGeom>
          <a:noFill/>
          <a:ln w="9525" cap="flat" cmpd="sng">
            <a:solidFill>
              <a:srgbClr val="FF0000"/>
            </a:solidFill>
            <a:prstDash val="solid"/>
            <a:round/>
            <a:headEnd type="none" w="sm" len="sm"/>
            <a:tailEnd type="none" w="sm" len="sm"/>
          </a:ln>
        </p:spPr>
      </p:pic>
      <p:pic>
        <p:nvPicPr>
          <p:cNvPr id="208" name="Google Shape;208;p30"/>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980751" y="2378700"/>
            <a:ext cx="2451098" cy="1838324"/>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12"/>
        <p:cNvGrpSpPr/>
        <p:nvPr/>
      </p:nvGrpSpPr>
      <p:grpSpPr>
        <a:xfrm>
          <a:off x="0" y="0"/>
          <a:ext cx="0" cy="0"/>
          <a:chOff x="0" y="0"/>
          <a:chExt cx="0" cy="0"/>
        </a:xfrm>
      </p:grpSpPr>
      <p:sp>
        <p:nvSpPr>
          <p:cNvPr id="213" name="Google Shape;213;p31"/>
          <p:cNvSpPr txBox="1"/>
          <p:nvPr/>
        </p:nvSpPr>
        <p:spPr>
          <a:xfrm>
            <a:off x="81775" y="67675"/>
            <a:ext cx="2870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Progress in 3.5 years</a:t>
            </a:r>
            <a:endParaRPr sz="2000" b="1">
              <a:solidFill>
                <a:schemeClr val="dk1"/>
              </a:solidFill>
              <a:latin typeface="Calibri"/>
              <a:ea typeface="Calibri"/>
              <a:cs typeface="Calibri"/>
              <a:sym typeface="Calibri"/>
            </a:endParaRPr>
          </a:p>
        </p:txBody>
      </p:sp>
      <p:sp>
        <p:nvSpPr>
          <p:cNvPr id="214" name="Google Shape;214;p31"/>
          <p:cNvSpPr txBox="1"/>
          <p:nvPr/>
        </p:nvSpPr>
        <p:spPr>
          <a:xfrm>
            <a:off x="1247525" y="3294855"/>
            <a:ext cx="1807500" cy="112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200" b="1">
                <a:solidFill>
                  <a:srgbClr val="FF0000"/>
                </a:solidFill>
                <a:latin typeface="Calibri"/>
                <a:ea typeface="Calibri"/>
                <a:cs typeface="Calibri"/>
                <a:sym typeface="Calibri"/>
              </a:rPr>
              <a:t>ChatGPT</a:t>
            </a:r>
            <a:endParaRPr sz="1200" b="1">
              <a:solidFill>
                <a:srgbClr val="FF0000"/>
              </a:solidFill>
              <a:latin typeface="Calibri"/>
              <a:ea typeface="Calibri"/>
              <a:cs typeface="Calibri"/>
              <a:sym typeface="Calibri"/>
            </a:endParaRPr>
          </a:p>
          <a:p>
            <a:pPr marL="0" marR="0" lvl="0" indent="0" algn="ctr" rtl="0">
              <a:lnSpc>
                <a:spcPct val="100000"/>
              </a:lnSpc>
              <a:spcBef>
                <a:spcPts val="0"/>
              </a:spcBef>
              <a:spcAft>
                <a:spcPts val="0"/>
              </a:spcAft>
              <a:buNone/>
            </a:pPr>
            <a:r>
              <a:rPr lang="en" sz="1200" b="1">
                <a:solidFill>
                  <a:srgbClr val="FF0000"/>
                </a:solidFill>
                <a:latin typeface="Calibri"/>
                <a:ea typeface="Calibri"/>
                <a:cs typeface="Calibri"/>
                <a:sym typeface="Calibri"/>
              </a:rPr>
              <a:t>2022</a:t>
            </a:r>
            <a:endParaRPr sz="1200" b="1">
              <a:solidFill>
                <a:srgbClr val="FF0000"/>
              </a:solidFill>
              <a:latin typeface="Calibri"/>
              <a:ea typeface="Calibri"/>
              <a:cs typeface="Calibri"/>
              <a:sym typeface="Calibri"/>
            </a:endParaRPr>
          </a:p>
          <a:p>
            <a:pPr marL="0" marR="0" lvl="0" indent="0" algn="ctr" rtl="0">
              <a:lnSpc>
                <a:spcPct val="100000"/>
              </a:lnSpc>
              <a:spcBef>
                <a:spcPts val="0"/>
              </a:spcBef>
              <a:spcAft>
                <a:spcPts val="0"/>
              </a:spcAft>
              <a:buNone/>
            </a:pPr>
            <a:endParaRPr sz="1200" b="1">
              <a:solidFill>
                <a:srgbClr val="3C78D8"/>
              </a:solidFill>
              <a:latin typeface="Calibri"/>
              <a:ea typeface="Calibri"/>
              <a:cs typeface="Calibri"/>
              <a:sym typeface="Calibri"/>
            </a:endParaRPr>
          </a:p>
          <a:p>
            <a:pPr marL="0" marR="0" lvl="0" indent="0" algn="ctr" rtl="0">
              <a:lnSpc>
                <a:spcPct val="100000"/>
              </a:lnSpc>
              <a:spcBef>
                <a:spcPts val="0"/>
              </a:spcBef>
              <a:spcAft>
                <a:spcPts val="0"/>
              </a:spcAft>
              <a:buNone/>
            </a:pPr>
            <a:r>
              <a:rPr lang="en" sz="1200" b="1">
                <a:solidFill>
                  <a:srgbClr val="3C78D8"/>
                </a:solidFill>
                <a:latin typeface="Calibri"/>
                <a:ea typeface="Calibri"/>
                <a:cs typeface="Calibri"/>
                <a:sym typeface="Calibri"/>
              </a:rPr>
              <a:t>Answers Questions</a:t>
            </a:r>
            <a:endParaRPr sz="1200" b="1">
              <a:solidFill>
                <a:srgbClr val="3C78D8"/>
              </a:solidFill>
              <a:latin typeface="Calibri"/>
              <a:ea typeface="Calibri"/>
              <a:cs typeface="Calibri"/>
              <a:sym typeface="Calibri"/>
            </a:endParaRPr>
          </a:p>
          <a:p>
            <a:pPr marL="0" marR="0" lvl="0" indent="0" algn="ctr" rtl="0">
              <a:lnSpc>
                <a:spcPct val="100000"/>
              </a:lnSpc>
              <a:spcBef>
                <a:spcPts val="0"/>
              </a:spcBef>
              <a:spcAft>
                <a:spcPts val="0"/>
              </a:spcAft>
              <a:buNone/>
            </a:pPr>
            <a:r>
              <a:rPr lang="en" sz="1200" b="1">
                <a:solidFill>
                  <a:srgbClr val="3C78D8"/>
                </a:solidFill>
                <a:latin typeface="Calibri"/>
                <a:ea typeface="Calibri"/>
                <a:cs typeface="Calibri"/>
                <a:sym typeface="Calibri"/>
              </a:rPr>
              <a:t>Context Length -  4K</a:t>
            </a:r>
            <a:br>
              <a:rPr lang="en" sz="1200" b="1">
                <a:solidFill>
                  <a:srgbClr val="3C78D8"/>
                </a:solidFill>
                <a:latin typeface="Calibri"/>
                <a:ea typeface="Calibri"/>
                <a:cs typeface="Calibri"/>
                <a:sym typeface="Calibri"/>
              </a:rPr>
            </a:br>
            <a:r>
              <a:rPr lang="en" sz="1200" b="1">
                <a:solidFill>
                  <a:srgbClr val="3C78D8"/>
                </a:solidFill>
                <a:latin typeface="Calibri"/>
                <a:ea typeface="Calibri"/>
                <a:cs typeface="Calibri"/>
                <a:sym typeface="Calibri"/>
              </a:rPr>
              <a:t>Hallucination - 40% </a:t>
            </a:r>
            <a:endParaRPr sz="1200" b="1">
              <a:solidFill>
                <a:srgbClr val="3C78D8"/>
              </a:solidFill>
              <a:latin typeface="Calibri"/>
              <a:ea typeface="Calibri"/>
              <a:cs typeface="Calibri"/>
              <a:sym typeface="Calibri"/>
            </a:endParaRPr>
          </a:p>
        </p:txBody>
      </p:sp>
      <p:sp>
        <p:nvSpPr>
          <p:cNvPr id="215" name="Google Shape;215;p31"/>
          <p:cNvSpPr txBox="1"/>
          <p:nvPr/>
        </p:nvSpPr>
        <p:spPr>
          <a:xfrm>
            <a:off x="4875150" y="3294855"/>
            <a:ext cx="2559900" cy="168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200" b="1">
                <a:solidFill>
                  <a:srgbClr val="FF0000"/>
                </a:solidFill>
                <a:latin typeface="Calibri"/>
                <a:ea typeface="Calibri"/>
                <a:cs typeface="Calibri"/>
                <a:sym typeface="Calibri"/>
              </a:rPr>
              <a:t>Digital Employee </a:t>
            </a:r>
            <a:br>
              <a:rPr lang="en" sz="1200" b="1">
                <a:solidFill>
                  <a:srgbClr val="FF0000"/>
                </a:solidFill>
                <a:latin typeface="Calibri"/>
                <a:ea typeface="Calibri"/>
                <a:cs typeface="Calibri"/>
                <a:sym typeface="Calibri"/>
              </a:rPr>
            </a:br>
            <a:r>
              <a:rPr lang="en" sz="1200" b="1">
                <a:solidFill>
                  <a:srgbClr val="FF0000"/>
                </a:solidFill>
                <a:latin typeface="Calibri"/>
                <a:ea typeface="Calibri"/>
                <a:cs typeface="Calibri"/>
                <a:sym typeface="Calibri"/>
              </a:rPr>
              <a:t>Today</a:t>
            </a:r>
            <a:endParaRPr sz="1200" b="1">
              <a:solidFill>
                <a:srgbClr val="FF0000"/>
              </a:solidFill>
              <a:latin typeface="Calibri"/>
              <a:ea typeface="Calibri"/>
              <a:cs typeface="Calibri"/>
              <a:sym typeface="Calibri"/>
            </a:endParaRPr>
          </a:p>
          <a:p>
            <a:pPr marL="0" marR="0" lvl="0" indent="0" algn="ctr" rtl="0">
              <a:lnSpc>
                <a:spcPct val="100000"/>
              </a:lnSpc>
              <a:spcBef>
                <a:spcPts val="0"/>
              </a:spcBef>
              <a:spcAft>
                <a:spcPts val="0"/>
              </a:spcAft>
              <a:buNone/>
            </a:pPr>
            <a:endParaRPr sz="1200" b="1">
              <a:solidFill>
                <a:srgbClr val="3C78D8"/>
              </a:solidFill>
              <a:latin typeface="Calibri"/>
              <a:ea typeface="Calibri"/>
              <a:cs typeface="Calibri"/>
              <a:sym typeface="Calibri"/>
            </a:endParaRPr>
          </a:p>
          <a:p>
            <a:pPr marL="0" marR="0" lvl="0" indent="0" algn="ctr" rtl="0">
              <a:lnSpc>
                <a:spcPct val="100000"/>
              </a:lnSpc>
              <a:spcBef>
                <a:spcPts val="0"/>
              </a:spcBef>
              <a:spcAft>
                <a:spcPts val="0"/>
              </a:spcAft>
              <a:buNone/>
            </a:pPr>
            <a:r>
              <a:rPr lang="en" sz="1200" b="1">
                <a:solidFill>
                  <a:srgbClr val="3C78D8"/>
                </a:solidFill>
                <a:latin typeface="Calibri"/>
                <a:ea typeface="Calibri"/>
                <a:cs typeface="Calibri"/>
                <a:sym typeface="Calibri"/>
              </a:rPr>
              <a:t>Can create and execute plans, </a:t>
            </a:r>
            <a:br>
              <a:rPr lang="en" sz="1200" b="1">
                <a:solidFill>
                  <a:srgbClr val="3C78D8"/>
                </a:solidFill>
                <a:latin typeface="Calibri"/>
                <a:ea typeface="Calibri"/>
                <a:cs typeface="Calibri"/>
                <a:sym typeface="Calibri"/>
              </a:rPr>
            </a:br>
            <a:r>
              <a:rPr lang="en" sz="1200" b="1">
                <a:solidFill>
                  <a:srgbClr val="3C78D8"/>
                </a:solidFill>
                <a:latin typeface="Calibri"/>
                <a:ea typeface="Calibri"/>
                <a:cs typeface="Calibri"/>
                <a:sym typeface="Calibri"/>
              </a:rPr>
              <a:t>Context Length - 1,000K</a:t>
            </a:r>
            <a:br>
              <a:rPr lang="en" sz="1200" b="1">
                <a:solidFill>
                  <a:srgbClr val="3C78D8"/>
                </a:solidFill>
                <a:latin typeface="Calibri"/>
                <a:ea typeface="Calibri"/>
                <a:cs typeface="Calibri"/>
                <a:sym typeface="Calibri"/>
              </a:rPr>
            </a:br>
            <a:r>
              <a:rPr lang="en" sz="1200" b="1">
                <a:solidFill>
                  <a:srgbClr val="3C78D8"/>
                </a:solidFill>
                <a:latin typeface="Calibri"/>
                <a:ea typeface="Calibri"/>
                <a:cs typeface="Calibri"/>
                <a:sym typeface="Calibri"/>
              </a:rPr>
              <a:t>Can handle complex multi-step tasks</a:t>
            </a:r>
            <a:endParaRPr sz="1200" b="1">
              <a:solidFill>
                <a:srgbClr val="3C78D8"/>
              </a:solidFill>
              <a:latin typeface="Calibri"/>
              <a:ea typeface="Calibri"/>
              <a:cs typeface="Calibri"/>
              <a:sym typeface="Calibri"/>
            </a:endParaRPr>
          </a:p>
          <a:p>
            <a:pPr marL="0" marR="0" lvl="0" indent="0" algn="ctr" rtl="0">
              <a:lnSpc>
                <a:spcPct val="100000"/>
              </a:lnSpc>
              <a:spcBef>
                <a:spcPts val="0"/>
              </a:spcBef>
              <a:spcAft>
                <a:spcPts val="0"/>
              </a:spcAft>
              <a:buNone/>
            </a:pPr>
            <a:r>
              <a:rPr lang="en" sz="1200" b="1">
                <a:solidFill>
                  <a:srgbClr val="3C78D8"/>
                </a:solidFill>
                <a:latin typeface="Calibri"/>
                <a:ea typeface="Calibri"/>
                <a:cs typeface="Calibri"/>
                <a:sym typeface="Calibri"/>
              </a:rPr>
              <a:t>Can work for many hours </a:t>
            </a:r>
            <a:br>
              <a:rPr lang="en" sz="1200" b="1">
                <a:solidFill>
                  <a:srgbClr val="3C78D8"/>
                </a:solidFill>
                <a:latin typeface="Calibri"/>
                <a:ea typeface="Calibri"/>
                <a:cs typeface="Calibri"/>
                <a:sym typeface="Calibri"/>
              </a:rPr>
            </a:br>
            <a:r>
              <a:rPr lang="en" sz="1200" b="1">
                <a:solidFill>
                  <a:srgbClr val="3C78D8"/>
                </a:solidFill>
                <a:latin typeface="Calibri"/>
                <a:ea typeface="Calibri"/>
                <a:cs typeface="Calibri"/>
                <a:sym typeface="Calibri"/>
              </a:rPr>
              <a:t>without losing coherence</a:t>
            </a:r>
            <a:br>
              <a:rPr lang="en" sz="1200" b="1">
                <a:solidFill>
                  <a:srgbClr val="3C78D8"/>
                </a:solidFill>
                <a:latin typeface="Calibri"/>
                <a:ea typeface="Calibri"/>
                <a:cs typeface="Calibri"/>
                <a:sym typeface="Calibri"/>
              </a:rPr>
            </a:br>
            <a:r>
              <a:rPr lang="en" sz="1200" b="1">
                <a:solidFill>
                  <a:srgbClr val="3C78D8"/>
                </a:solidFill>
                <a:latin typeface="Calibri"/>
                <a:ea typeface="Calibri"/>
                <a:cs typeface="Calibri"/>
                <a:sym typeface="Calibri"/>
              </a:rPr>
              <a:t>Halucination - 2%</a:t>
            </a:r>
            <a:endParaRPr sz="1200" b="1">
              <a:solidFill>
                <a:srgbClr val="3C78D8"/>
              </a:solidFill>
              <a:latin typeface="Calibri"/>
              <a:ea typeface="Calibri"/>
              <a:cs typeface="Calibri"/>
              <a:sym typeface="Calibri"/>
            </a:endParaRPr>
          </a:p>
        </p:txBody>
      </p:sp>
      <p:pic>
        <p:nvPicPr>
          <p:cNvPr id="216" name="Google Shape;216;p31"/>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4875139" y="1605175"/>
            <a:ext cx="2559875" cy="1433525"/>
          </a:xfrm>
          <a:prstGeom prst="rect">
            <a:avLst/>
          </a:prstGeom>
          <a:noFill/>
          <a:ln w="9525" cap="flat" cmpd="sng">
            <a:solidFill>
              <a:srgbClr val="FF0000"/>
            </a:solidFill>
            <a:prstDash val="solid"/>
            <a:round/>
            <a:headEnd type="none" w="sm" len="sm"/>
            <a:tailEnd type="none" w="sm" len="sm"/>
          </a:ln>
        </p:spPr>
      </p:pic>
      <p:pic>
        <p:nvPicPr>
          <p:cNvPr id="217" name="Google Shape;217;p31"/>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1247517" y="1605177"/>
            <a:ext cx="1807475" cy="1433525"/>
          </a:xfrm>
          <a:prstGeom prst="rect">
            <a:avLst/>
          </a:prstGeom>
          <a:noFill/>
          <a:ln>
            <a:noFill/>
          </a:ln>
        </p:spPr>
      </p:pic>
      <p:sp>
        <p:nvSpPr>
          <p:cNvPr id="218" name="Google Shape;218;p31"/>
          <p:cNvSpPr/>
          <p:nvPr/>
        </p:nvSpPr>
        <p:spPr>
          <a:xfrm>
            <a:off x="3522950" y="2226500"/>
            <a:ext cx="864900" cy="326400"/>
          </a:xfrm>
          <a:prstGeom prst="righ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32"/>
          <p:cNvSpPr txBox="1"/>
          <p:nvPr/>
        </p:nvSpPr>
        <p:spPr>
          <a:xfrm>
            <a:off x="81775" y="67675"/>
            <a:ext cx="2870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Digital Employee</a:t>
            </a:r>
            <a:endParaRPr sz="2000" b="1">
              <a:solidFill>
                <a:schemeClr val="dk1"/>
              </a:solidFill>
              <a:latin typeface="Calibri"/>
              <a:ea typeface="Calibri"/>
              <a:cs typeface="Calibri"/>
              <a:sym typeface="Calibri"/>
            </a:endParaRPr>
          </a:p>
        </p:txBody>
      </p:sp>
      <p:sp>
        <p:nvSpPr>
          <p:cNvPr id="224" name="Google Shape;224;p32"/>
          <p:cNvSpPr txBox="1"/>
          <p:nvPr/>
        </p:nvSpPr>
        <p:spPr>
          <a:xfrm>
            <a:off x="4619625" y="2492150"/>
            <a:ext cx="44100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Example: Genspark Claw - "AI employee"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Executes multi-step tasks end to end, not just generates drafts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runs inside a dedicated </a:t>
            </a:r>
            <a:r>
              <a:rPr lang="en" sz="1200" b="1">
                <a:solidFill>
                  <a:srgbClr val="3C78D8"/>
                </a:solidFill>
                <a:latin typeface="Calibri"/>
                <a:ea typeface="Calibri"/>
                <a:cs typeface="Calibri"/>
                <a:sym typeface="Calibri"/>
              </a:rPr>
              <a:t>Genspark Cloud Computer per user</a:t>
            </a:r>
            <a:r>
              <a:rPr lang="en" sz="1200">
                <a:solidFill>
                  <a:schemeClr val="dk1"/>
                </a:solidFill>
                <a:latin typeface="Calibri"/>
                <a:ea typeface="Calibri"/>
                <a:cs typeface="Calibri"/>
                <a:sym typeface="Calibri"/>
              </a:rPr>
              <a:t>, ensuring privacy through isolation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You assign tasks via a simple message on WhatsApp, Telegram, Slack, or Teams, and Claw handles research, drafting, scheduling, email, calls, and code deployment - then returns finished results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orchestrates over 70 AI models, including Claude Opus, GPT, and NVIDIA Nemotron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Part of AI Workspace 3.0, it launched alongside Workflows, Meeting Bots, a Chrome Extension, and voice tools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Genspark has reached $200M ARR and a $1.6B valuation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https://www.youtube.com/watch?v=FJT5Rh0eKe8</a:t>
            </a:r>
            <a:r>
              <a:rPr lang="en" sz="1200">
                <a:solidFill>
                  <a:schemeClr val="dk1"/>
                </a:solidFill>
                <a:latin typeface="Calibri"/>
                <a:ea typeface="Calibri"/>
                <a:cs typeface="Calibri"/>
                <a:sym typeface="Calibri"/>
              </a:rPr>
              <a:t> - video</a:t>
            </a:r>
            <a:endParaRPr sz="1200">
              <a:solidFill>
                <a:schemeClr val="dk1"/>
              </a:solidFill>
              <a:latin typeface="Calibri"/>
              <a:ea typeface="Calibri"/>
              <a:cs typeface="Calibri"/>
              <a:sym typeface="Calibri"/>
            </a:endParaRPr>
          </a:p>
        </p:txBody>
      </p:sp>
      <p:sp>
        <p:nvSpPr>
          <p:cNvPr id="225" name="Google Shape;225;p32"/>
          <p:cNvSpPr txBox="1"/>
          <p:nvPr/>
        </p:nvSpPr>
        <p:spPr>
          <a:xfrm>
            <a:off x="81775" y="499550"/>
            <a:ext cx="4842600" cy="112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A digital employee is an AI agent that doesn't just answer questions, but it takes autonomous action</a:t>
            </a:r>
            <a:r>
              <a:rPr lang="en" sz="1200">
                <a:solidFill>
                  <a:schemeClr val="dk1"/>
                </a:solidFill>
                <a:latin typeface="Calibri"/>
                <a:ea typeface="Calibri"/>
                <a:cs typeface="Calibri"/>
                <a:sym typeface="Calibri"/>
              </a:rPr>
              <a:t>: managing email, running workflows, browsing the web, updating CRMs, booking travel,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Genspark Claw is one commercial example, positioned as a proprietary "AI Employee" platform with 631+ integrations</a:t>
            </a:r>
            <a:br>
              <a:rPr lang="en" sz="1200">
                <a:solidFill>
                  <a:schemeClr val="dk1"/>
                </a:solidFill>
                <a:latin typeface="Calibri"/>
                <a:ea typeface="Calibri"/>
                <a:cs typeface="Calibri"/>
                <a:sym typeface="Calibri"/>
              </a:rPr>
            </a:br>
            <a:r>
              <a:rPr lang="en" sz="1200" u="sng">
                <a:solidFill>
                  <a:schemeClr val="hlink"/>
                </a:solidFill>
                <a:latin typeface="Calibri"/>
                <a:ea typeface="Calibri"/>
                <a:cs typeface="Calibri"/>
                <a:sym typeface="Calibri"/>
                <a:hlinkClick r:id="rId4"/>
              </a:rPr>
              <a:t>https://kilo.ai/kiloclaw/alternatives/genspark-claw-alternative</a:t>
            </a:r>
            <a:endParaRPr sz="1200">
              <a:solidFill>
                <a:schemeClr val="dk1"/>
              </a:solidFill>
              <a:latin typeface="Calibri"/>
              <a:ea typeface="Calibri"/>
              <a:cs typeface="Calibri"/>
              <a:sym typeface="Calibri"/>
            </a:endParaRPr>
          </a:p>
        </p:txBody>
      </p:sp>
      <p:sp>
        <p:nvSpPr>
          <p:cNvPr id="226" name="Google Shape;226;p32"/>
          <p:cNvSpPr txBox="1"/>
          <p:nvPr/>
        </p:nvSpPr>
        <p:spPr>
          <a:xfrm>
            <a:off x="81775" y="1680650"/>
            <a:ext cx="4410000" cy="1834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 Source Options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OpenClaw - self-host, pick LLM, interact through WhatsApp, Telegram, Slack, or 50+ messaging apps. Extends via 5,700+ community skills from the ClawHub marketplace. Its personality is defined in a SOUL.md file</a:t>
            </a:r>
            <a:br>
              <a:rPr lang="en" sz="1000">
                <a:solidFill>
                  <a:schemeClr val="dk1"/>
                </a:solidFill>
                <a:latin typeface="Calibri"/>
                <a:ea typeface="Calibri"/>
                <a:cs typeface="Calibri"/>
                <a:sym typeface="Calibri"/>
              </a:rPr>
            </a:br>
            <a:r>
              <a:rPr lang="en" sz="1000" u="sng">
                <a:solidFill>
                  <a:schemeClr val="hlink"/>
                </a:solidFill>
                <a:latin typeface="Calibri"/>
                <a:ea typeface="Calibri"/>
                <a:cs typeface="Calibri"/>
                <a:sym typeface="Calibri"/>
                <a:hlinkClick r:id="rId5"/>
              </a:rPr>
              <a:t>https://agentfactory.panaversity.org/docs/which-agents-2026</a:t>
            </a:r>
            <a:endParaRPr sz="10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Hermes</a:t>
            </a:r>
            <a:r>
              <a:rPr lang="en" sz="1000">
                <a:solidFill>
                  <a:schemeClr val="dk1"/>
                </a:solidFill>
                <a:latin typeface="Calibri"/>
                <a:ea typeface="Calibri"/>
                <a:cs typeface="Calibri"/>
                <a:sym typeface="Calibri"/>
              </a:rPr>
              <a:t> - </a:t>
            </a:r>
            <a:r>
              <a:rPr lang="en" sz="1000" u="sng">
                <a:solidFill>
                  <a:schemeClr val="hlink"/>
                </a:solidFill>
                <a:latin typeface="Calibri"/>
                <a:ea typeface="Calibri"/>
                <a:cs typeface="Calibri"/>
                <a:sym typeface="Calibri"/>
                <a:hlinkClick r:id="rId6"/>
              </a:rPr>
              <a:t>https://hermes-agent.org</a:t>
            </a:r>
            <a:endParaRPr sz="10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Manus AI</a:t>
            </a:r>
            <a:r>
              <a:rPr lang="en" sz="1000">
                <a:solidFill>
                  <a:schemeClr val="dk1"/>
                </a:solidFill>
                <a:latin typeface="Calibri"/>
                <a:ea typeface="Calibri"/>
                <a:cs typeface="Calibri"/>
                <a:sym typeface="Calibri"/>
              </a:rPr>
              <a:t> - </a:t>
            </a:r>
            <a:r>
              <a:rPr lang="en" sz="1000" u="sng">
                <a:solidFill>
                  <a:schemeClr val="hlink"/>
                </a:solidFill>
                <a:latin typeface="Calibri"/>
                <a:ea typeface="Calibri"/>
                <a:cs typeface="Calibri"/>
                <a:sym typeface="Calibri"/>
                <a:hlinkClick r:id="rId7"/>
              </a:rPr>
              <a:t>https://manus.im/blog/best-ai-agents-for-small-business</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OpenClaw hosting options: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KiloClaw ; Abacus Claw ; Blink Claw ; ...</a:t>
            </a:r>
            <a:endParaRPr sz="1200">
              <a:solidFill>
                <a:schemeClr val="dk1"/>
              </a:solidFill>
              <a:latin typeface="Calibri"/>
              <a:ea typeface="Calibri"/>
              <a:cs typeface="Calibri"/>
              <a:sym typeface="Calibri"/>
            </a:endParaRPr>
          </a:p>
        </p:txBody>
      </p:sp>
      <p:sp>
        <p:nvSpPr>
          <p:cNvPr id="227" name="Google Shape;227;p32"/>
          <p:cNvSpPr txBox="1"/>
          <p:nvPr/>
        </p:nvSpPr>
        <p:spPr>
          <a:xfrm>
            <a:off x="81775" y="3600350"/>
            <a:ext cx="44100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Enterprise Options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Genspark Claw - Enterprise AI employee, 631+ integrations</a:t>
            </a:r>
            <a:br>
              <a:rPr lang="en" sz="1200">
                <a:solidFill>
                  <a:schemeClr val="dk1"/>
                </a:solidFill>
                <a:latin typeface="Calibri"/>
                <a:ea typeface="Calibri"/>
                <a:cs typeface="Calibri"/>
                <a:sym typeface="Calibri"/>
              </a:rPr>
            </a:br>
            <a:r>
              <a:rPr lang="en" sz="1200" u="sng">
                <a:solidFill>
                  <a:schemeClr val="hlink"/>
                </a:solidFill>
                <a:latin typeface="Calibri"/>
                <a:ea typeface="Calibri"/>
                <a:cs typeface="Calibri"/>
                <a:sym typeface="Calibri"/>
                <a:hlinkClick r:id="rId4"/>
              </a:rPr>
              <a:t>https://kilo.ai/kiloclaw/alternatives/genspark-claw-alternative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Abacus ; Google Agentspace &amp; Remy ; Microsoft Copilot Studio; Salesforce Agentforce ; 11x ; Moveworks ; Vybe ; Get BOB ; Noca AI</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8"/>
              </a:rPr>
              <a:t>https://www.vybe.build/blog/best-ai-agent-platforms-2026</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9"/>
              </a:rPr>
              <a:t>https://noca.ai/digital-employees-top-10-platforms-for-2026/</a:t>
            </a:r>
            <a:endParaRPr sz="1200">
              <a:solidFill>
                <a:schemeClr val="dk1"/>
              </a:solidFill>
              <a:latin typeface="Calibri"/>
              <a:ea typeface="Calibri"/>
              <a:cs typeface="Calibri"/>
              <a:sym typeface="Calibri"/>
            </a:endParaRPr>
          </a:p>
        </p:txBody>
      </p:sp>
      <p:pic>
        <p:nvPicPr>
          <p:cNvPr id="228" name="Google Shape;228;p32"/>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5019675" y="499550"/>
            <a:ext cx="2012143" cy="11268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sp>
        <p:nvSpPr>
          <p:cNvPr id="233" name="Google Shape;233;p33"/>
          <p:cNvSpPr txBox="1"/>
          <p:nvPr/>
        </p:nvSpPr>
        <p:spPr>
          <a:xfrm>
            <a:off x="81775" y="394075"/>
            <a:ext cx="44832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Pi (pi.dev) minimal, open-source, terminal-based AI coding agent</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Built by developer Mario Zechner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Connects to 15+ model providers - including Anthropic, OpenAI, Google, Ollama, and others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Four modes: interactive TUI, print/JSON, RPC, and SDK</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Pi deliberately omits features like sub-agents and plan mode, letting users build or install exactly what they need - </a:t>
            </a:r>
            <a:r>
              <a:rPr lang="en" sz="1200" u="sng">
                <a:solidFill>
                  <a:schemeClr val="hlink"/>
                </a:solidFill>
                <a:latin typeface="Calibri"/>
                <a:ea typeface="Calibri"/>
                <a:cs typeface="Calibri"/>
                <a:sym typeface="Calibri"/>
                <a:hlinkClick r:id="rId3"/>
              </a:rPr>
              <a:t>https://pi.dev</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
        <p:nvSpPr>
          <p:cNvPr id="234" name="Google Shape;234;p33"/>
          <p:cNvSpPr txBox="1"/>
          <p:nvPr/>
        </p:nvSpPr>
        <p:spPr>
          <a:xfrm>
            <a:off x="81775" y="67675"/>
            <a:ext cx="2527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35" name="Google Shape;235;p33"/>
          <p:cNvSpPr txBox="1"/>
          <p:nvPr/>
        </p:nvSpPr>
        <p:spPr>
          <a:xfrm>
            <a:off x="81775" y="2045050"/>
            <a:ext cx="4483200" cy="186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holaOS is an open agent computer</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 shared environment where humans and AI agents operate side by side, accessing the same browser, files, and apps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Everything lives in one place where memory, execution, and goals remain coherent, so work doesn’t reset or lose state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Agents operate continuously within this environment, evolving over time while remaining fully inspectable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You can shape agents via roles and templates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https://www.holaos.ai</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https://github.com/holaboss-ai/holaOS</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236" name="Google Shape;236;p33"/>
          <p:cNvPicPr preferRelativeResize="0"/>
          <p:nvPr/>
        </p:nvPicPr>
        <p:blipFill>
          <a:blip r:embed="rId6">
            <a:alphaModFix/>
          </a:blip>
          <a:stretch>
            <a:fillRect/>
          </a:stretch>
        </p:blipFill>
        <p:spPr>
          <a:xfrm>
            <a:off x="4879300" y="2483950"/>
            <a:ext cx="2400300" cy="876300"/>
          </a:xfrm>
          <a:prstGeom prst="rect">
            <a:avLst/>
          </a:prstGeom>
          <a:noFill/>
          <a:ln w="9525" cap="flat" cmpd="sng">
            <a:solidFill>
              <a:srgbClr val="FF0000"/>
            </a:solidFill>
            <a:prstDash val="solid"/>
            <a:round/>
            <a:headEnd type="none" w="sm" len="sm"/>
            <a:tailEnd type="none" w="sm" len="sm"/>
          </a:ln>
        </p:spPr>
      </p:pic>
      <p:pic>
        <p:nvPicPr>
          <p:cNvPr id="237" name="Google Shape;237;p33"/>
          <p:cNvPicPr preferRelativeResize="0"/>
          <p:nvPr/>
        </p:nvPicPr>
        <p:blipFill>
          <a:blip r:embed="rId7">
            <a:alphaModFix/>
          </a:blip>
          <a:stretch>
            <a:fillRect/>
          </a:stretch>
        </p:blipFill>
        <p:spPr>
          <a:xfrm>
            <a:off x="4879300" y="619125"/>
            <a:ext cx="762000" cy="7810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1"/>
        <p:cNvGrpSpPr/>
        <p:nvPr/>
      </p:nvGrpSpPr>
      <p:grpSpPr>
        <a:xfrm>
          <a:off x="0" y="0"/>
          <a:ext cx="0" cy="0"/>
          <a:chOff x="0" y="0"/>
          <a:chExt cx="0" cy="0"/>
        </a:xfrm>
      </p:grpSpPr>
      <p:sp>
        <p:nvSpPr>
          <p:cNvPr id="242" name="Google Shape;242;p34"/>
          <p:cNvSpPr txBox="1"/>
          <p:nvPr/>
        </p:nvSpPr>
        <p:spPr>
          <a:xfrm>
            <a:off x="69775" y="497825"/>
            <a:ext cx="45213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Hermes Agent and Pareto Code </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Hermes Agent acts as a persistent "brain" that remembers past interactions and builds custom skills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Pareto Code, an experimental router from Open Router</a:t>
            </a:r>
            <a:r>
              <a:rPr lang="en" sz="1200">
                <a:solidFill>
                  <a:schemeClr val="dk1"/>
                </a:solidFill>
                <a:latin typeface="Calibri"/>
                <a:ea typeface="Calibri"/>
                <a:cs typeface="Calibri"/>
                <a:sym typeface="Calibri"/>
              </a:rPr>
              <a:t>, automatically selects the most effective coding model (such as Claude or Gemini) based on task complexity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system manages project memory and scheduling while ensuring the best available model handles technical execution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This setup eliminates decision fatigue and allows for cross-device continuity and sophisticated automation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https://openrouter.ai/openrouter/pareto-code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https://www.youtube.com/watch?v=kQHi_dXugbI</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
        <p:nvSpPr>
          <p:cNvPr id="243" name="Google Shape;243;p34"/>
          <p:cNvSpPr txBox="1"/>
          <p:nvPr/>
        </p:nvSpPr>
        <p:spPr>
          <a:xfrm>
            <a:off x="81775" y="67675"/>
            <a:ext cx="2527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pic>
        <p:nvPicPr>
          <p:cNvPr id="244" name="Google Shape;244;p34"/>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5029200" y="1351700"/>
            <a:ext cx="3200400" cy="6867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48"/>
        <p:cNvGrpSpPr/>
        <p:nvPr/>
      </p:nvGrpSpPr>
      <p:grpSpPr>
        <a:xfrm>
          <a:off x="0" y="0"/>
          <a:ext cx="0" cy="0"/>
          <a:chOff x="0" y="0"/>
          <a:chExt cx="0" cy="0"/>
        </a:xfrm>
      </p:grpSpPr>
      <p:sp>
        <p:nvSpPr>
          <p:cNvPr id="249" name="Google Shape;249;p35"/>
          <p:cNvSpPr txBox="1"/>
          <p:nvPr/>
        </p:nvSpPr>
        <p:spPr>
          <a:xfrm>
            <a:off x="60250" y="626093"/>
            <a:ext cx="50382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5 Ways to Make Money in 2026 with AI - by Sabrina Ramonov</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https://www.youtube.com/watch?v=Xl57Pki6ChE</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4000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1. building a personal brand by creating AI educational content and earning through sponsorships from well-funded AI startups.</a:t>
            </a:r>
            <a:endParaRPr sz="1200">
              <a:solidFill>
                <a:srgbClr val="3C78D8"/>
              </a:solidFill>
              <a:latin typeface="Calibri"/>
              <a:ea typeface="Calibri"/>
              <a:cs typeface="Calibri"/>
              <a:sym typeface="Calibri"/>
            </a:endParaRPr>
          </a:p>
          <a:p>
            <a:pPr marL="4000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2. making faceless videos using AI avatars for TikTok shop, motivation content, or offering avatar services to busy business owners.</a:t>
            </a:r>
            <a:endParaRPr sz="1200">
              <a:solidFill>
                <a:srgbClr val="3C78D8"/>
              </a:solidFill>
              <a:latin typeface="Calibri"/>
              <a:ea typeface="Calibri"/>
              <a:cs typeface="Calibri"/>
              <a:sym typeface="Calibri"/>
            </a:endParaRPr>
          </a:p>
          <a:p>
            <a:pPr marL="4000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3. providing Claude AI training to businesses, teaching teams to use Claude's productivity features through workshops.</a:t>
            </a:r>
            <a:endParaRPr sz="1200">
              <a:solidFill>
                <a:srgbClr val="3C78D8"/>
              </a:solidFill>
              <a:latin typeface="Calibri"/>
              <a:ea typeface="Calibri"/>
              <a:cs typeface="Calibri"/>
              <a:sym typeface="Calibri"/>
            </a:endParaRPr>
          </a:p>
          <a:p>
            <a:pPr marL="4000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4. vibe coding single-feature apps while avoiding overcomplication and focusing heavily on marketing rather than just product development.</a:t>
            </a:r>
            <a:endParaRPr sz="1200">
              <a:solidFill>
                <a:srgbClr val="3C78D8"/>
              </a:solidFill>
              <a:latin typeface="Calibri"/>
              <a:ea typeface="Calibri"/>
              <a:cs typeface="Calibri"/>
              <a:sym typeface="Calibri"/>
            </a:endParaRPr>
          </a:p>
          <a:p>
            <a:pPr marL="4000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5. setting up AI marketing automations including Go High Level CRM systems, ManyChat for Instagram/Facebook, and LinkedIn automation tools to help businesses convert social media attention into revenue.</a:t>
            </a:r>
            <a:endParaRPr sz="1200">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Start simple, avoid perfectionism, choosing one path to stick with</a:t>
            </a:r>
            <a:endParaRPr sz="1200">
              <a:solidFill>
                <a:schemeClr val="dk1"/>
              </a:solidFill>
              <a:latin typeface="Calibri"/>
              <a:ea typeface="Calibri"/>
              <a:cs typeface="Calibri"/>
              <a:sym typeface="Calibri"/>
            </a:endParaRPr>
          </a:p>
        </p:txBody>
      </p:sp>
      <p:sp>
        <p:nvSpPr>
          <p:cNvPr id="250" name="Google Shape;250;p35"/>
          <p:cNvSpPr txBox="1"/>
          <p:nvPr/>
        </p:nvSpPr>
        <p:spPr>
          <a:xfrm>
            <a:off x="81775" y="67675"/>
            <a:ext cx="4452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Sabrina Ramonov - Making Money</a:t>
            </a:r>
            <a:endParaRPr sz="2000" b="1">
              <a:solidFill>
                <a:schemeClr val="dk1"/>
              </a:solidFill>
              <a:latin typeface="Calibri"/>
              <a:ea typeface="Calibri"/>
              <a:cs typeface="Calibri"/>
              <a:sym typeface="Calibri"/>
            </a:endParaRPr>
          </a:p>
        </p:txBody>
      </p:sp>
      <p:pic>
        <p:nvPicPr>
          <p:cNvPr id="251" name="Google Shape;251;p35"/>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210174" y="626100"/>
            <a:ext cx="1592675" cy="1719625"/>
          </a:xfrm>
          <a:prstGeom prst="rect">
            <a:avLst/>
          </a:prstGeom>
          <a:noFill/>
          <a:ln w="9525" cap="flat" cmpd="sng">
            <a:solidFill>
              <a:srgbClr val="FF0000"/>
            </a:solidFill>
            <a:prstDash val="solid"/>
            <a:round/>
            <a:headEnd type="none" w="sm" len="sm"/>
            <a:tailEnd type="none" w="sm" len="sm"/>
          </a:ln>
        </p:spPr>
      </p:pic>
      <p:sp>
        <p:nvSpPr>
          <p:cNvPr id="252" name="Google Shape;252;p35"/>
          <p:cNvSpPr txBox="1"/>
          <p:nvPr/>
        </p:nvSpPr>
        <p:spPr>
          <a:xfrm>
            <a:off x="60250" y="3359768"/>
            <a:ext cx="50382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AI reduces marketing costs x10</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Automation includes voice-trained content engines, automated content pipelines, AI-powered distribution across platforms, and optimization for AI search engines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https://www.youtube.com/watch?v=74TkxLMfWOo</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56"/>
        <p:cNvGrpSpPr/>
        <p:nvPr/>
      </p:nvGrpSpPr>
      <p:grpSpPr>
        <a:xfrm>
          <a:off x="0" y="0"/>
          <a:ext cx="0" cy="0"/>
          <a:chOff x="0" y="0"/>
          <a:chExt cx="0" cy="0"/>
        </a:xfrm>
      </p:grpSpPr>
      <p:sp>
        <p:nvSpPr>
          <p:cNvPr id="257" name="Google Shape;257;p36"/>
          <p:cNvSpPr txBox="1"/>
          <p:nvPr/>
        </p:nvSpPr>
        <p:spPr>
          <a:xfrm>
            <a:off x="60250" y="626100"/>
            <a:ext cx="44520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Companies Are Re-hiring Developers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https://www.youtube.com/watch?v=6aTNBCqm3zE</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 2023, tech companies began massive layoffs switching to AI</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Companies soon discovered that AI-generated code produced nearly twice as many errors, created 38% more code to maintain, and reduced real productivity by 50%</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core issue was that AI lacked understanding of system context, architecture decisions, and complex integrations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Debugging AI-generated code became extremely time-consuming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By 2026, companies began quietly rehiring developers, often the same people they had laid off, through "boomerang hiring."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industry realized that understanding systems, debugging, and making informed architectural decisions are the valuable skills that AI cannot yet replicate effectively</a:t>
            </a:r>
            <a:endParaRPr sz="1200">
              <a:solidFill>
                <a:schemeClr val="dk1"/>
              </a:solidFill>
              <a:latin typeface="Calibri"/>
              <a:ea typeface="Calibri"/>
              <a:cs typeface="Calibri"/>
              <a:sym typeface="Calibri"/>
            </a:endParaRPr>
          </a:p>
        </p:txBody>
      </p:sp>
      <p:sp>
        <p:nvSpPr>
          <p:cNvPr id="258" name="Google Shape;258;p36"/>
          <p:cNvSpPr txBox="1"/>
          <p:nvPr/>
        </p:nvSpPr>
        <p:spPr>
          <a:xfrm>
            <a:off x="81775" y="67675"/>
            <a:ext cx="4452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Companies Are Re-hiring Developers</a:t>
            </a:r>
            <a:endParaRPr sz="2000" b="1">
              <a:solidFill>
                <a:schemeClr val="dk1"/>
              </a:solidFill>
              <a:latin typeface="Calibri"/>
              <a:ea typeface="Calibri"/>
              <a:cs typeface="Calibri"/>
              <a:sym typeface="Calibri"/>
            </a:endParaRPr>
          </a:p>
        </p:txBody>
      </p:sp>
      <p:pic>
        <p:nvPicPr>
          <p:cNvPr id="259" name="Google Shape;259;p36"/>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86175" y="152400"/>
            <a:ext cx="3872342" cy="4838702"/>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63"/>
        <p:cNvGrpSpPr/>
        <p:nvPr/>
      </p:nvGrpSpPr>
      <p:grpSpPr>
        <a:xfrm>
          <a:off x="0" y="0"/>
          <a:ext cx="0" cy="0"/>
          <a:chOff x="0" y="0"/>
          <a:chExt cx="0" cy="0"/>
        </a:xfrm>
      </p:grpSpPr>
      <p:sp>
        <p:nvSpPr>
          <p:cNvPr id="264" name="Google Shape;264;p37"/>
          <p:cNvSpPr txBox="1"/>
          <p:nvPr/>
        </p:nvSpPr>
        <p:spPr>
          <a:xfrm>
            <a:off x="67350" y="52750"/>
            <a:ext cx="3179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i="0" u="none" strike="noStrike" cap="none">
                <a:solidFill>
                  <a:schemeClr val="dk1"/>
                </a:solidFill>
                <a:latin typeface="Calibri"/>
                <a:ea typeface="Calibri"/>
                <a:cs typeface="Calibri"/>
                <a:sym typeface="Calibri"/>
              </a:rPr>
              <a:t>Jobs</a:t>
            </a:r>
            <a:endParaRPr sz="2000" b="1" i="0" u="none" strike="noStrike" cap="none">
              <a:solidFill>
                <a:schemeClr val="dk1"/>
              </a:solidFill>
              <a:latin typeface="Calibri"/>
              <a:ea typeface="Calibri"/>
              <a:cs typeface="Calibri"/>
              <a:sym typeface="Calibri"/>
            </a:endParaRPr>
          </a:p>
        </p:txBody>
      </p:sp>
      <p:sp>
        <p:nvSpPr>
          <p:cNvPr id="265" name="Google Shape;265;p37"/>
          <p:cNvSpPr txBox="1"/>
          <p:nvPr/>
        </p:nvSpPr>
        <p:spPr>
          <a:xfrm>
            <a:off x="2134467" y="34252"/>
            <a:ext cx="18006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0" i="0" u="sng" strike="noStrike" cap="none">
                <a:solidFill>
                  <a:schemeClr val="hlink"/>
                </a:solidFill>
                <a:latin typeface="Calibri"/>
                <a:ea typeface="Calibri"/>
                <a:cs typeface="Calibri"/>
                <a:sym typeface="Calibri"/>
                <a:hlinkClick r:id="rId3"/>
              </a:rPr>
              <a:t>https://layoffs.fyi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https://trueup.io/layoffs</a:t>
            </a:r>
            <a:r>
              <a:rPr lang="en" sz="1200">
                <a:latin typeface="Calibri"/>
                <a:ea typeface="Calibri"/>
                <a:cs typeface="Calibri"/>
                <a:sym typeface="Calibri"/>
              </a:rPr>
              <a:t> </a:t>
            </a:r>
            <a:r>
              <a:rPr lang="en" sz="1200" b="0" i="0" u="none" strike="noStrike" cap="none">
                <a:solidFill>
                  <a:srgbClr val="000000"/>
                </a:solidFill>
                <a:latin typeface="Calibri"/>
                <a:ea typeface="Calibri"/>
                <a:cs typeface="Calibri"/>
                <a:sym typeface="Calibri"/>
              </a:rPr>
              <a:t> </a:t>
            </a:r>
            <a:endParaRPr sz="1200" b="0" i="0" u="none" strike="noStrike" cap="none">
              <a:solidFill>
                <a:srgbClr val="000000"/>
              </a:solidFill>
              <a:latin typeface="Calibri"/>
              <a:ea typeface="Calibri"/>
              <a:cs typeface="Calibri"/>
              <a:sym typeface="Calibri"/>
            </a:endParaRPr>
          </a:p>
        </p:txBody>
      </p:sp>
      <p:sp>
        <p:nvSpPr>
          <p:cNvPr id="266" name="Google Shape;266;p37"/>
          <p:cNvSpPr txBox="1"/>
          <p:nvPr/>
        </p:nvSpPr>
        <p:spPr>
          <a:xfrm>
            <a:off x="5367150" y="3435238"/>
            <a:ext cx="33606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200" b="1">
                <a:solidFill>
                  <a:srgbClr val="FF0000"/>
                </a:solidFill>
                <a:latin typeface="Calibri"/>
                <a:ea typeface="Calibri"/>
                <a:cs typeface="Calibri"/>
                <a:sym typeface="Calibri"/>
              </a:rPr>
              <a:t>  Tech Layoffs by year (US only):</a:t>
            </a:r>
            <a:endParaRPr sz="1200" b="1">
              <a:solidFill>
                <a:srgbClr val="FF0000"/>
              </a:solidFill>
              <a:latin typeface="Calibri"/>
              <a:ea typeface="Calibri"/>
              <a:cs typeface="Calibri"/>
              <a:sym typeface="Calibri"/>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101.6K  in 2026 </a:t>
            </a:r>
            <a:r>
              <a:rPr lang="en" sz="1000" b="1">
                <a:solidFill>
                  <a:schemeClr val="dk1"/>
                </a:solidFill>
                <a:latin typeface="Roboto Mono"/>
                <a:ea typeface="Roboto Mono"/>
                <a:cs typeface="Roboto Mono"/>
                <a:sym typeface="Roboto Mono"/>
              </a:rPr>
              <a:t>(as of May 8, 2026)</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124K in 2025 </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153K in </a:t>
            </a:r>
            <a:r>
              <a:rPr lang="en" sz="1000" b="1">
                <a:solidFill>
                  <a:srgbClr val="000000"/>
                </a:solidFill>
                <a:latin typeface="Roboto Mono"/>
                <a:ea typeface="Roboto Mono"/>
                <a:cs typeface="Roboto Mono"/>
                <a:sym typeface="Roboto Mono"/>
              </a:rPr>
              <a:t>2024</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264K in 2023</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165K in 2022                  </a:t>
            </a:r>
            <a:r>
              <a:rPr lang="en" sz="1200" i="0" u="sng" strike="noStrike" cap="none">
                <a:solidFill>
                  <a:srgbClr val="0097A7"/>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https://layoffs.fyi</a:t>
            </a:r>
            <a:endParaRPr sz="1200" i="0" u="none" strike="noStrike" cap="none">
              <a:solidFill>
                <a:srgbClr val="000000"/>
              </a:solidFill>
              <a:latin typeface="Calibri"/>
              <a:ea typeface="Calibri"/>
              <a:cs typeface="Calibri"/>
              <a:sym typeface="Calibri"/>
            </a:endParaRPr>
          </a:p>
        </p:txBody>
      </p:sp>
      <p:sp>
        <p:nvSpPr>
          <p:cNvPr id="267" name="Google Shape;267;p37"/>
          <p:cNvSpPr txBox="1"/>
          <p:nvPr/>
        </p:nvSpPr>
        <p:spPr>
          <a:xfrm>
            <a:off x="5422950" y="531250"/>
            <a:ext cx="35589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  The Tech Layoff Tracker</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2026: </a:t>
            </a:r>
            <a:r>
              <a:rPr lang="en" sz="1200" b="1">
                <a:latin typeface="Calibri"/>
                <a:ea typeface="Calibri"/>
                <a:cs typeface="Calibri"/>
                <a:sym typeface="Calibri"/>
              </a:rPr>
              <a:t>128,270</a:t>
            </a:r>
            <a:r>
              <a:rPr lang="en" sz="1200">
                <a:latin typeface="Calibri"/>
                <a:ea typeface="Calibri"/>
                <a:cs typeface="Calibri"/>
                <a:sym typeface="Calibri"/>
              </a:rPr>
              <a:t> people laid off (1,002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2025: </a:t>
            </a:r>
            <a:r>
              <a:rPr lang="en" sz="1200" b="1">
                <a:latin typeface="Calibri"/>
                <a:ea typeface="Calibri"/>
                <a:cs typeface="Calibri"/>
                <a:sym typeface="Calibri"/>
              </a:rPr>
              <a:t>245,953</a:t>
            </a:r>
            <a:r>
              <a:rPr lang="en" sz="1200">
                <a:latin typeface="Calibri"/>
                <a:ea typeface="Calibri"/>
                <a:cs typeface="Calibri"/>
                <a:sym typeface="Calibri"/>
              </a:rPr>
              <a:t> people laid off (674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2024: </a:t>
            </a:r>
            <a:r>
              <a:rPr lang="en" sz="1200" b="1">
                <a:latin typeface="Calibri"/>
                <a:ea typeface="Calibri"/>
                <a:cs typeface="Calibri"/>
                <a:sym typeface="Calibri"/>
              </a:rPr>
              <a:t>238,461</a:t>
            </a:r>
            <a:r>
              <a:rPr lang="en" sz="1200">
                <a:latin typeface="Calibri"/>
                <a:ea typeface="Calibri"/>
                <a:cs typeface="Calibri"/>
                <a:sym typeface="Calibri"/>
              </a:rPr>
              <a:t> people </a:t>
            </a:r>
            <a:r>
              <a:rPr lang="en" sz="1200">
                <a:solidFill>
                  <a:srgbClr val="000000"/>
                </a:solidFill>
                <a:latin typeface="Calibri"/>
                <a:ea typeface="Calibri"/>
                <a:cs typeface="Calibri"/>
                <a:sym typeface="Calibri"/>
              </a:rPr>
              <a:t>laid off</a:t>
            </a:r>
            <a:r>
              <a:rPr lang="en" sz="1200">
                <a:latin typeface="Calibri"/>
                <a:ea typeface="Calibri"/>
                <a:cs typeface="Calibri"/>
                <a:sym typeface="Calibri"/>
              </a:rPr>
              <a:t> (653 per day)</a:t>
            </a:r>
            <a:endParaRPr sz="1200">
              <a:latin typeface="Calibri"/>
              <a:ea typeface="Calibri"/>
              <a:cs typeface="Calibri"/>
              <a:sym typeface="Calibri"/>
            </a:endParaRPr>
          </a:p>
          <a:p>
            <a:pPr marL="228600" marR="460858" lvl="0" indent="-57150" algn="r" rtl="0">
              <a:spcBef>
                <a:spcPts val="0"/>
              </a:spcBef>
              <a:spcAft>
                <a:spcPts val="0"/>
              </a:spcAft>
              <a:buNone/>
            </a:pPr>
            <a:r>
              <a:rPr lang="en" sz="1200" u="sng">
                <a:solidFill>
                  <a:srgbClr val="0097A7"/>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https://trueup.io/layoffs</a:t>
            </a:r>
            <a:endParaRPr sz="1200">
              <a:latin typeface="Calibri"/>
              <a:ea typeface="Calibri"/>
              <a:cs typeface="Calibri"/>
              <a:sym typeface="Calibri"/>
            </a:endParaRPr>
          </a:p>
        </p:txBody>
      </p:sp>
      <p:pic>
        <p:nvPicPr>
          <p:cNvPr id="268" name="Google Shape;268;p37"/>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7350" y="452037"/>
            <a:ext cx="4950376" cy="2651808"/>
          </a:xfrm>
          <a:prstGeom prst="rect">
            <a:avLst/>
          </a:prstGeom>
          <a:noFill/>
          <a:ln w="9525" cap="flat" cmpd="sng">
            <a:solidFill>
              <a:srgbClr val="FF0000"/>
            </a:solidFill>
            <a:prstDash val="solid"/>
            <a:round/>
            <a:headEnd type="none" w="sm" len="sm"/>
            <a:tailEnd type="none" w="sm" len="sm"/>
          </a:ln>
        </p:spPr>
      </p:pic>
      <p:pic>
        <p:nvPicPr>
          <p:cNvPr id="269" name="Google Shape;269;p37"/>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7350" y="3157217"/>
            <a:ext cx="4950376" cy="1943133"/>
          </a:xfrm>
          <a:prstGeom prst="rect">
            <a:avLst/>
          </a:prstGeom>
          <a:noFill/>
          <a:ln w="9525" cap="flat" cmpd="sng">
            <a:solidFill>
              <a:srgbClr val="FF0000"/>
            </a:solidFill>
            <a:prstDash val="solid"/>
            <a:round/>
            <a:headEnd type="none" w="sm" len="sm"/>
            <a:tailEnd type="none" w="sm" len="sm"/>
          </a:ln>
        </p:spPr>
      </p:pic>
      <p:pic>
        <p:nvPicPr>
          <p:cNvPr id="270" name="Google Shape;270;p37"/>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5098981" y="2233000"/>
            <a:ext cx="4030824" cy="442489"/>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645525" y="1203525"/>
            <a:ext cx="1570556" cy="1570556"/>
          </a:xfrm>
          <a:prstGeom prst="rect">
            <a:avLst/>
          </a:prstGeom>
          <a:noFill/>
          <a:ln>
            <a:noFill/>
          </a:ln>
        </p:spPr>
      </p:pic>
      <p:sp>
        <p:nvSpPr>
          <p:cNvPr id="276" name="Google Shape;276;p38"/>
          <p:cNvSpPr txBox="1"/>
          <p:nvPr/>
        </p:nvSpPr>
        <p:spPr>
          <a:xfrm>
            <a:off x="-25625" y="-14775"/>
            <a:ext cx="3355800" cy="5694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 sz="2500" b="1" i="0" u="none" strike="noStrike" cap="none">
                <a:solidFill>
                  <a:srgbClr val="000000"/>
                </a:solidFill>
                <a:latin typeface="Calibri"/>
                <a:ea typeface="Calibri"/>
                <a:cs typeface="Calibri"/>
                <a:sym typeface="Calibri"/>
              </a:rPr>
              <a:t>About the Speaker</a:t>
            </a:r>
            <a:endParaRPr sz="2500" b="1" i="0" u="none" strike="noStrike" cap="none">
              <a:solidFill>
                <a:srgbClr val="000000"/>
              </a:solidFill>
              <a:latin typeface="Calibri"/>
              <a:ea typeface="Calibri"/>
              <a:cs typeface="Calibri"/>
              <a:sym typeface="Calibri"/>
            </a:endParaRPr>
          </a:p>
        </p:txBody>
      </p:sp>
      <p:sp>
        <p:nvSpPr>
          <p:cNvPr id="277" name="Google Shape;277;p38"/>
          <p:cNvSpPr txBox="1"/>
          <p:nvPr/>
        </p:nvSpPr>
        <p:spPr>
          <a:xfrm>
            <a:off x="3330175" y="878750"/>
            <a:ext cx="5621700" cy="3309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500" b="1" i="0" u="none" strike="noStrike" cap="none">
                <a:solidFill>
                  <a:srgbClr val="000000"/>
                </a:solidFill>
                <a:latin typeface="Calibri"/>
                <a:ea typeface="Calibri"/>
                <a:cs typeface="Calibri"/>
                <a:sym typeface="Calibri"/>
              </a:rPr>
              <a:t>Lev Selector, Ph.D.</a:t>
            </a:r>
            <a:endParaRPr sz="2500" b="1"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8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40+ years of software engineering, data science, and building teams (hiring, training, and managing)</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Ph.D. in mathematical modeling and computer simulations</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Interests: </a:t>
            </a:r>
            <a:endParaRPr sz="16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Generative AI, Using LLM with your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chemeClr val="dk1"/>
              </a:buClr>
              <a:buSzPts val="1600"/>
              <a:buFont typeface="Calibri"/>
              <a:buChar char="●"/>
            </a:pPr>
            <a:r>
              <a:rPr lang="en" sz="1600" b="0" i="0" u="none" strike="noStrike" cap="none">
                <a:solidFill>
                  <a:schemeClr val="dk1"/>
                </a:solidFill>
                <a:latin typeface="Calibri"/>
                <a:ea typeface="Calibri"/>
                <a:cs typeface="Calibri"/>
                <a:sym typeface="Calibri"/>
              </a:rPr>
              <a:t>Local AI for Local Private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rgbClr val="000000"/>
                </a:solidFill>
                <a:latin typeface="Calibri"/>
                <a:ea typeface="Calibri"/>
                <a:cs typeface="Calibri"/>
                <a:sym typeface="Calibri"/>
              </a:rPr>
              <a:t>Cloud architecture, fin-tech, application security</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Find/connect: Linkedin, GitHub, YouTube, Google</a:t>
            </a:r>
            <a:endParaRPr sz="1600" b="0" i="0" u="none" strike="noStrike" cap="none">
              <a:solidFill>
                <a:srgbClr val="000000"/>
              </a:solidFill>
              <a:latin typeface="Calibri"/>
              <a:ea typeface="Calibri"/>
              <a:cs typeface="Calibri"/>
              <a:sym typeface="Calibri"/>
            </a:endParaRPr>
          </a:p>
        </p:txBody>
      </p:sp>
      <p:pic>
        <p:nvPicPr>
          <p:cNvPr id="278" name="Google Shape;278;p38"/>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01578" y="3664175"/>
            <a:ext cx="858450" cy="311906"/>
          </a:xfrm>
          <a:prstGeom prst="rect">
            <a:avLst/>
          </a:prstGeom>
          <a:noFill/>
          <a:ln>
            <a:noFill/>
          </a:ln>
        </p:spPr>
      </p:pic>
      <p:sp>
        <p:nvSpPr>
          <p:cNvPr id="279" name="Google Shape;279;p38"/>
          <p:cNvSpPr txBox="1"/>
          <p:nvPr/>
        </p:nvSpPr>
        <p:spPr>
          <a:xfrm>
            <a:off x="735103" y="4005903"/>
            <a:ext cx="13914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 sz="1600" b="0" i="0" u="sng" strike="noStrike" cap="none">
                <a:solidFill>
                  <a:schemeClr val="hlink"/>
                </a:solidFill>
                <a:latin typeface="Calibri"/>
                <a:ea typeface="Calibri"/>
                <a:cs typeface="Calibri"/>
                <a:sym typeface="Calibri"/>
                <a:hlinkClick r:id="rId5"/>
              </a:rPr>
              <a:t>https://eais.ai</a:t>
            </a:r>
            <a:r>
              <a:rPr lang="en" sz="1600" b="0" i="0" u="none" strike="noStrike" cap="none">
                <a:solidFill>
                  <a:srgbClr val="000000"/>
                </a:solidFill>
                <a:latin typeface="Calibri"/>
                <a:ea typeface="Calibri"/>
                <a:cs typeface="Calibri"/>
                <a:sym typeface="Calibri"/>
              </a:rPr>
              <a:t> </a:t>
            </a:r>
            <a:endParaRPr sz="1600" b="0" i="0" u="none" strike="noStrike" cap="none">
              <a:solidFill>
                <a:srgbClr val="000000"/>
              </a:solidFill>
              <a:latin typeface="Calibri"/>
              <a:ea typeface="Calibri"/>
              <a:cs typeface="Calibri"/>
              <a:sym typeface="Calibri"/>
            </a:endParaRPr>
          </a:p>
        </p:txBody>
      </p:sp>
      <p:sp>
        <p:nvSpPr>
          <p:cNvPr id="280" name="Google Shape;280;p38"/>
          <p:cNvSpPr txBox="1"/>
          <p:nvPr/>
        </p:nvSpPr>
        <p:spPr>
          <a:xfrm>
            <a:off x="383803" y="4360974"/>
            <a:ext cx="2094000" cy="431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600" b="0" i="0" u="none" strike="noStrike" cap="none">
                <a:solidFill>
                  <a:srgbClr val="000000"/>
                </a:solidFill>
                <a:latin typeface="Calibri"/>
                <a:ea typeface="Calibri"/>
                <a:cs typeface="Calibri"/>
                <a:sym typeface="Calibri"/>
              </a:rPr>
              <a:t>Enterprise AI Systems</a:t>
            </a:r>
            <a:endParaRPr sz="1600" b="0" i="0" u="none" strike="noStrike" cap="none">
              <a:solidFill>
                <a:srgbClr val="000000"/>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84"/>
        <p:cNvGrpSpPr/>
        <p:nvPr/>
      </p:nvGrpSpPr>
      <p:grpSpPr>
        <a:xfrm>
          <a:off x="0" y="0"/>
          <a:ext cx="0" cy="0"/>
          <a:chOff x="0" y="0"/>
          <a:chExt cx="0" cy="0"/>
        </a:xfrm>
      </p:grpSpPr>
      <p:sp>
        <p:nvSpPr>
          <p:cNvPr id="285" name="Google Shape;285;p39"/>
          <p:cNvSpPr txBox="1"/>
          <p:nvPr/>
        </p:nvSpPr>
        <p:spPr>
          <a:xfrm>
            <a:off x="2151375" y="1533150"/>
            <a:ext cx="4632600" cy="1262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0"/>
              <a:buFont typeface="Arial"/>
              <a:buNone/>
            </a:pPr>
            <a:r>
              <a:rPr lang="en" sz="7000" b="1" i="0" u="none" strike="noStrike" cap="none">
                <a:solidFill>
                  <a:srgbClr val="3C78D8"/>
                </a:solidFill>
                <a:latin typeface="Calibri"/>
                <a:ea typeface="Calibri"/>
                <a:cs typeface="Calibri"/>
                <a:sym typeface="Calibri"/>
              </a:rPr>
              <a:t>Thank You!</a:t>
            </a:r>
            <a:endParaRPr sz="7000" b="1" i="0" u="none" strike="noStrike" cap="none">
              <a:solidFill>
                <a:srgbClr val="3C78D8"/>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4199</Words>
  <Application>Microsoft Macintosh PowerPoint</Application>
  <PresentationFormat>On-screen Show (16:9)</PresentationFormat>
  <Paragraphs>536</Paragraphs>
  <Slides>25</Slides>
  <Notes>25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25</vt:i4>
      </vt:variant>
    </vt:vector>
  </HeadingPairs>
  <TitlesOfParts>
    <vt:vector size="29" baseType="lpstr">
      <vt:lpstr>Arial</vt:lpstr>
      <vt:lpstr>Calibri</vt:lpstr>
      <vt:lpstr>Roboto Mono</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Lev Selector</cp:lastModifiedBy>
  <cp:revision>1</cp:revision>
  <dcterms:modified xsi:type="dcterms:W3CDTF">2026-05-11T22:58:27Z</dcterms:modified>
</cp:coreProperties>
</file>