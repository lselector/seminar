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5143500" type="screen16x9"/>
  <p:notesSz cx="6858000" cy="9144000"/>
  <p:embeddedFontLst>
    <p:embeddedFont>
      <p:font typeface="Roboto Mono" pitchFamily="49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4D74E7-7FAD-488A-87A2-C64153AE3C28}">
  <a:tblStyle styleId="{624D74E7-7FAD-488A-87A2-C64153AE3C2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>
      <p:cViewPr varScale="1">
        <p:scale>
          <a:sx n="99" d="100"/>
          <a:sy n="99" d="100"/>
        </p:scale>
        <p:origin x="19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633c15ed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g3633c15ed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c68837c6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" name="Google Shape;72;g3f9c68837c6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c11071c0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f8c11071c0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fa0d95a4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g3fa0d95a4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9fea0924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3f9fea0924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3fd832125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f3fd832125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8aa1f0f4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3f8aa1f0f4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8aa1f0f4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f8aa1f0f4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f9ec8f8ba3_1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0" name="Google Shape;140;g3f9ec8f8ba3_1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9fea09245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f9fea09245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53f46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f53f46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f89d47144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f89d47144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879c8375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879c8375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9bfd00fb4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g3f9bfd00fb4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c68837c6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g3f9c68837c6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9c68837c6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3f9c68837c6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8baafb2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8" name="Google Shape;208;g3f8baafb2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a0560c6a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g3fa0560c6a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a0422813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fa0422813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88170861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g3f88170861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881708619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7" name="Google Shape;247;g3f881708619_1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8c454db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6" name="Google Shape;256;g3f88c454db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83a7791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3" name="Google Shape;263;g3f883a7791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88c454db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g3f88c454db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f89933e58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9" name="Google Shape;279;g3f89933e583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f9d31a4b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8" name="Google Shape;288;g3f9d31a4bf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f89933e58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3f89933e58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8b53ab02a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8" name="Google Shape;308;g3f8b53ab02a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9bfd00fb4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5" name="Google Shape;315;g3f9bfd00fb4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8b53ab02a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g3f8b53ab02a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f9c1dddb3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3" name="Google Shape;333;g3f9c1dddb3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8b50a22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g3f8b50a22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f9efa6623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1" name="Google Shape;351;g3f9efa66233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88170861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g3f88170861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9c68837c6_1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3f9c68837c6_1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d971967e0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8" name="Google Shape;378;g3d971967e0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d971967e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8" name="Google Shape;388;g3d971967e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172" y="205067"/>
            <a:ext cx="822870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172" y="1203299"/>
            <a:ext cx="8228700" cy="29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>
            <a:spLocks noGrp="1"/>
          </p:cNvSpPr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hyperlink" Target="https://arena.ai/leaderboard/model/claude-opus-4-8-high" TargetMode="External"/><Relationship Id="rId18" Type="http://schemas.openxmlformats.org/officeDocument/2006/relationships/hyperlink" Target="https://arena.ai/leaderboard/model/claude-opus-4-5-20251101-high-32k" TargetMode="External"/><Relationship Id="rId26" Type="http://schemas.openxmlformats.org/officeDocument/2006/relationships/hyperlink" Target="https://arena.ai/leaderboard/model/claude-opus-4-5-20251101" TargetMode="External"/><Relationship Id="rId21" Type="http://schemas.openxmlformats.org/officeDocument/2006/relationships/hyperlink" Target="https://arena.ai/leaderboard/model/glm-5.3-max" TargetMode="External"/><Relationship Id="rId34" Type="http://schemas.openxmlformats.org/officeDocument/2006/relationships/hyperlink" Target="https://arena.ai/leaderboard/model/gemini-3.6-flash-high" TargetMode="External"/><Relationship Id="rId7" Type="http://schemas.openxmlformats.org/officeDocument/2006/relationships/hyperlink" Target="https://arena.ai/leaderboard/model/claude-opus-4-6-high" TargetMode="External"/><Relationship Id="rId12" Type="http://schemas.openxmlformats.org/officeDocument/2006/relationships/hyperlink" Target="https://arena.ai/leaderboard/model/gemini-3.8-flash-high" TargetMode="External"/><Relationship Id="rId17" Type="http://schemas.openxmlformats.org/officeDocument/2006/relationships/hyperlink" Target="https://arena.ai/leaderboard/model/muse-spark-1.1" TargetMode="External"/><Relationship Id="rId25" Type="http://schemas.openxmlformats.org/officeDocument/2006/relationships/hyperlink" Target="https://arena.ai/leaderboard/model/claude-opus-5-max" TargetMode="External"/><Relationship Id="rId33" Type="http://schemas.openxmlformats.org/officeDocument/2006/relationships/hyperlink" Target="https://arena.ai/leaderboard/model/gpt-5.5-high" TargetMode="External"/><Relationship Id="rId38" Type="http://schemas.openxmlformats.org/officeDocument/2006/relationships/hyperlink" Target="https://arena.ai/leaderboard/model/gpt-5.4-high" TargetMode="External"/><Relationship Id="rId2" Type="http://schemas.openxmlformats.org/officeDocument/2006/relationships/notesSlide" Target="../notesSlides/notesSlide2.xml"/><Relationship Id="rId16" Type="http://schemas.openxmlformats.org/officeDocument/2006/relationships/hyperlink" Target="https://arena.ai/leaderboard/model/claude-opus-5-high" TargetMode="External"/><Relationship Id="rId20" Type="http://schemas.openxmlformats.org/officeDocument/2006/relationships/hyperlink" Target="https://arena.ai/leaderboard/model/claude-sonnet-4-6" TargetMode="External"/><Relationship Id="rId29" Type="http://schemas.openxmlformats.org/officeDocument/2006/relationships/hyperlink" Target="https://arena.ai/leaderboard/model/claude-sonnet-5-high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ena.ai/leaderboard/model/claude-opus-4-7-high" TargetMode="External"/><Relationship Id="rId11" Type="http://schemas.openxmlformats.org/officeDocument/2006/relationships/hyperlink" Target="https://arena.ai/leaderboard/model/kimi-k3-max" TargetMode="External"/><Relationship Id="rId24" Type="http://schemas.openxmlformats.org/officeDocument/2006/relationships/hyperlink" Target="https://arena.ai/leaderboard/model/qwen3.7-max-preview" TargetMode="External"/><Relationship Id="rId32" Type="http://schemas.openxmlformats.org/officeDocument/2006/relationships/hyperlink" Target="https://arena.ai/leaderboard/model/gemini-3-pro" TargetMode="External"/><Relationship Id="rId37" Type="http://schemas.openxmlformats.org/officeDocument/2006/relationships/hyperlink" Target="https://arena.ai/leaderboard/model/gpt-5.5" TargetMode="External"/><Relationship Id="rId5" Type="http://schemas.openxmlformats.org/officeDocument/2006/relationships/hyperlink" Target="https://lmarena.ai/leaderboard/text/coding" TargetMode="External"/><Relationship Id="rId15" Type="http://schemas.openxmlformats.org/officeDocument/2006/relationships/hyperlink" Target="https://arena.ai/leaderboard/model/muse-spark-1.2%20%28xHigh%29" TargetMode="External"/><Relationship Id="rId23" Type="http://schemas.openxmlformats.org/officeDocument/2006/relationships/hyperlink" Target="https://arena.ai/leaderboard/model/muse-spark" TargetMode="External"/><Relationship Id="rId28" Type="http://schemas.openxmlformats.org/officeDocument/2006/relationships/hyperlink" Target="https://arena.ai/leaderboard/model/gemini-3.7-flash-high" TargetMode="External"/><Relationship Id="rId36" Type="http://schemas.openxmlformats.org/officeDocument/2006/relationships/hyperlink" Target="https://arena.ai/leaderboard/model/gemini-3.5-flash-high" TargetMode="External"/><Relationship Id="rId10" Type="http://schemas.openxmlformats.org/officeDocument/2006/relationships/hyperlink" Target="https://arena.ai/leaderboard/model/claude-opus-4-6" TargetMode="External"/><Relationship Id="rId19" Type="http://schemas.openxmlformats.org/officeDocument/2006/relationships/hyperlink" Target="https://arena.ai/leaderboard/model/gpt-5.6-sol-xhigh" TargetMode="External"/><Relationship Id="rId31" Type="http://schemas.openxmlformats.org/officeDocument/2006/relationships/hyperlink" Target="https://arena.ai/leaderboard/model/claude-fable-5.1-max" TargetMode="External"/><Relationship Id="rId4" Type="http://schemas.openxmlformats.org/officeDocument/2006/relationships/hyperlink" Target="https://lmarena.ai/leaderboard/text" TargetMode="External"/><Relationship Id="rId9" Type="http://schemas.openxmlformats.org/officeDocument/2006/relationships/hyperlink" Target="https://arena.ai/leaderboard/model/claude-opus-4-7" TargetMode="External"/><Relationship Id="rId14" Type="http://schemas.openxmlformats.org/officeDocument/2006/relationships/hyperlink" Target="https://arena.ai/leaderboard/model/glm-5.3-flash" TargetMode="External"/><Relationship Id="rId22" Type="http://schemas.openxmlformats.org/officeDocument/2006/relationships/hyperlink" Target="https://arena.ai/leaderboard/model/claude-opus-4-8" TargetMode="External"/><Relationship Id="rId27" Type="http://schemas.openxmlformats.org/officeDocument/2006/relationships/hyperlink" Target="https://arena.ai/leaderboard/model/grok-4.5" TargetMode="External"/><Relationship Id="rId30" Type="http://schemas.openxmlformats.org/officeDocument/2006/relationships/hyperlink" Target="https://arena.ai/leaderboard/model/gemini-3.1-pro-preview" TargetMode="External"/><Relationship Id="rId35" Type="http://schemas.openxmlformats.org/officeDocument/2006/relationships/hyperlink" Target="https://arena.ai/leaderboard/model/qwen3.8-max" TargetMode="External"/><Relationship Id="rId8" Type="http://schemas.openxmlformats.org/officeDocument/2006/relationships/hyperlink" Target="https://arena.ai/leaderboard/model/claude-fable-5" TargetMode="External"/><Relationship Id="rId3" Type="http://schemas.openxmlformats.org/officeDocument/2006/relationships/hyperlink" Target="https://en.wikipedia.org/wiki/Elo_rating_system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evaluations/artificial-analysis-intelligence-index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openai.com/index/path-to-astra/" TargetMode="External"/><Relationship Id="rId7" Type="http://schemas.openxmlformats.org/officeDocument/2006/relationships/hyperlink" Target="https://www.youtube.com/watch?v=xdXLzFzxA9Q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eploymentsafety.openai.com/gpt-6-astra/safety-overview-gpt-6-astra" TargetMode="External"/><Relationship Id="rId5" Type="http://schemas.openxmlformats.org/officeDocument/2006/relationships/hyperlink" Target="https://developers.openai.com/api/docs/concepts" TargetMode="External"/><Relationship Id="rId4" Type="http://schemas.openxmlformats.org/officeDocument/2006/relationships/hyperlink" Target="https://openai.com/index/playco-game-prototyping-with-astra/" TargetMode="Externa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ai.google.dev/gemini-api/docs/latest-model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nthropic.com/claude-fable-and-mythos-5-1" TargetMode="External"/><Relationship Id="rId5" Type="http://schemas.openxmlformats.org/officeDocument/2006/relationships/hyperlink" Target="https://deepmind.google/models/gemini/flash/" TargetMode="External"/><Relationship Id="rId10" Type="http://schemas.openxmlformats.org/officeDocument/2006/relationships/image" Target="../media/image7.png"/><Relationship Id="rId4" Type="http://schemas.openxmlformats.org/officeDocument/2006/relationships/hyperlink" Target="https://blog.google/innovation-and-ai/models-and-research/gemini-models/3-8-flash-and-3-8-flash-cyber/" TargetMode="External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andb.ai/site/articles/exploring-llm-as-a-judge/" TargetMode="External"/><Relationship Id="rId3" Type="http://schemas.openxmlformats.org/officeDocument/2006/relationships/hyperlink" Target="https://airepo.substack.com/p/anthropic-sued-the-pentagon-and-won" TargetMode="External"/><Relationship Id="rId7" Type="http://schemas.openxmlformats.org/officeDocument/2006/relationships/hyperlink" Target="https://www.bankingdive.com/news/goldman-sachs-gender-bias-claims-apple-card-women-new-york-dfs/597273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cnbc.com/2019/11/10/wall-street-regulator-probes-goldman-over-allegations-of-sexist-credit-decisions-at-apple-card.html" TargetMode="External"/><Relationship Id="rId5" Type="http://schemas.openxmlformats.org/officeDocument/2006/relationships/hyperlink" Target="https://www.youtube.com/watch?v=RKBibsoK7Yg" TargetMode="External"/><Relationship Id="rId10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hyperlink" Target="https://haystack.deepset.ai/cookbook/prometheus2_evaluation" TargetMode="Externa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docs.z.ai/guides/vlm/glm-5.3-flash" TargetMode="External"/><Relationship Id="rId13" Type="http://schemas.openxmlformats.org/officeDocument/2006/relationships/hyperlink" Target="https://www.cnbc.com/2026/08/25/apple-announces-new-mac-mini-and-mac-studio-models-with-ai-upgrades.html" TargetMode="External"/><Relationship Id="rId3" Type="http://schemas.openxmlformats.org/officeDocument/2006/relationships/hyperlink" Target="http://z.ai" TargetMode="External"/><Relationship Id="rId7" Type="http://schemas.openxmlformats.org/officeDocument/2006/relationships/hyperlink" Target="https://openrouter.ai/z-ai/glm-5.3-flash" TargetMode="External"/><Relationship Id="rId12" Type="http://schemas.openxmlformats.org/officeDocument/2006/relationships/hyperlink" Target="https://www.apple.com/mac-studio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zai-org/GLM-5.3-Flash" TargetMode="External"/><Relationship Id="rId11" Type="http://schemas.openxmlformats.org/officeDocument/2006/relationships/hyperlink" Target="https://www.apple.com/mac-mini/" TargetMode="External"/><Relationship Id="rId5" Type="http://schemas.openxmlformats.org/officeDocument/2006/relationships/hyperlink" Target="https://z.ai" TargetMode="External"/><Relationship Id="rId10" Type="http://schemas.openxmlformats.org/officeDocument/2006/relationships/image" Target="../media/image10.png"/><Relationship Id="rId4" Type="http://schemas.openxmlformats.org/officeDocument/2006/relationships/hyperlink" Target="https://docs.z.ai" TargetMode="External"/><Relationship Id="rId9" Type="http://schemas.openxmlformats.org/officeDocument/2006/relationships/hyperlink" Target="https://ollama.com/library/glm-5.3-flash" TargetMode="External"/><Relationship Id="rId1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hyperlink" Target="https://www.tencent.com/tencent-releases-and-open-sources-tencent-hy4-preview/" TargetMode="External"/><Relationship Id="rId7" Type="http://schemas.openxmlformats.org/officeDocument/2006/relationships/hyperlink" Target="https://github.com/tencent/AngelSlim" TargetMode="External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y.tencent.ai/research/hy4-preview" TargetMode="External"/><Relationship Id="rId11" Type="http://schemas.openxmlformats.org/officeDocument/2006/relationships/hyperlink" Target="https://docs.openclaw.ai/releases/2026.8.1" TargetMode="External"/><Relationship Id="rId5" Type="http://schemas.openxmlformats.org/officeDocument/2006/relationships/hyperlink" Target="https://github.com/Tencent-Hunyuan/Hy4-preview" TargetMode="External"/><Relationship Id="rId10" Type="http://schemas.openxmlformats.org/officeDocument/2006/relationships/hyperlink" Target="https://github.com/openclaw/openclaw" TargetMode="External"/><Relationship Id="rId4" Type="http://schemas.openxmlformats.org/officeDocument/2006/relationships/hyperlink" Target="https://huggingface.co/tencent/Hy4-preview" TargetMode="External"/><Relationship Id="rId9" Type="http://schemas.openxmlformats.org/officeDocument/2006/relationships/hyperlink" Target="https://openclaw.ai/blog/openclaw-2-accidentally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tificialanalysis.ai/agents/search-api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nthropic.com/engineering/effective-context-engineering-for-ai-agents" TargetMode="External"/><Relationship Id="rId5" Type="http://schemas.openxmlformats.org/officeDocument/2006/relationships/image" Target="../media/image14.png"/><Relationship Id="rId4" Type="http://schemas.openxmlformats.org/officeDocument/2006/relationships/hyperlink" Target="https://www.perplexity.ai/hub/blog/introducing-the-perplexity-search-api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research.meta.ai/blog/introducing-muse-spark-1-3" TargetMode="External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hyperlink" Target="https://developer.meta.com/ai/models/muse-spark/" TargetMode="External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@lev-selector/video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hyperlink" Target="http://claude.md" TargetMode="External"/><Relationship Id="rId3" Type="http://schemas.openxmlformats.org/officeDocument/2006/relationships/hyperlink" Target="https://nanoclaw.dev" TargetMode="External"/><Relationship Id="rId7" Type="http://schemas.openxmlformats.org/officeDocument/2006/relationships/hyperlink" Target="https://www.youtube.com/watch?v=n55ZiDl2PtE" TargetMode="External"/><Relationship Id="rId12" Type="http://schemas.openxmlformats.org/officeDocument/2006/relationships/hyperlink" Target="https://www.youtube.com/watch?v=4hIvG849w4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chtarget.com/it-infrastructure/news/366640195/NanoClaw-AI-agents-find-a-home-in-Docker-Sandboxes" TargetMode="External"/><Relationship Id="rId11" Type="http://schemas.openxmlformats.org/officeDocument/2006/relationships/hyperlink" Target="https://code.claude.com/docs/en/memory" TargetMode="External"/><Relationship Id="rId5" Type="http://schemas.openxmlformats.org/officeDocument/2006/relationships/hyperlink" Target="https://www.docker.com/blog/nanoclaw-docker-sandboxes-agent-security/" TargetMode="External"/><Relationship Id="rId10" Type="http://schemas.openxmlformats.org/officeDocument/2006/relationships/hyperlink" Target="https://platform.claude.com/docs/en/managed-agents/dreams" TargetMode="External"/><Relationship Id="rId4" Type="http://schemas.openxmlformats.org/officeDocument/2006/relationships/hyperlink" Target="https://github.com/nanocoai/nanoclaw" TargetMode="External"/><Relationship Id="rId9" Type="http://schemas.openxmlformats.org/officeDocument/2006/relationships/hyperlink" Target="https://medium.com/@aerator_rolls.27/websites-will-block-ai-agents-by-default-on-september-15-is-your-agent-ready-174b6901fd5c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SvnL5_RgtBs" TargetMode="Externa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hyperlink" Target="https://support.claude.com/en/articles/14554000-claude-code-power-user-tips" TargetMode="External"/><Relationship Id="rId4" Type="http://schemas.openxmlformats.org/officeDocument/2006/relationships/hyperlink" Target="https://www.youtube.com/watch?v=icM0ewXGvAw" TargetMode="Externa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fal.ai/minimax-h3" TargetMode="External"/><Relationship Id="rId3" Type="http://schemas.openxmlformats.org/officeDocument/2006/relationships/hyperlink" Target="https://www.youtube.com/watch?v=82hCt3xH9Gc" TargetMode="External"/><Relationship Id="rId7" Type="http://schemas.openxmlformats.org/officeDocument/2006/relationships/hyperlink" Target="https://fal.ai/minimax-h3-max" TargetMode="External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11" Type="http://schemas.openxmlformats.org/officeDocument/2006/relationships/hyperlink" Target="https://x.com/fal/status/2092710676431020376" TargetMode="External"/><Relationship Id="rId5" Type="http://schemas.openxmlformats.org/officeDocument/2006/relationships/hyperlink" Target="https://github.com/naveedharri/baalda" TargetMode="External"/><Relationship Id="rId10" Type="http://schemas.openxmlformats.org/officeDocument/2006/relationships/hyperlink" Target="https://www.minimax.io/blog/minimax-h3" TargetMode="External"/><Relationship Id="rId4" Type="http://schemas.openxmlformats.org/officeDocument/2006/relationships/hyperlink" Target="https://baalda.com" TargetMode="External"/><Relationship Id="rId9" Type="http://schemas.openxmlformats.org/officeDocument/2006/relationships/hyperlink" Target="https://github.com/MiniMax-AI/MiniMax-H3" TargetMode="Externa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ZCI4kvWPb3E" TargetMode="External"/><Relationship Id="rId3" Type="http://schemas.openxmlformats.org/officeDocument/2006/relationships/hyperlink" Target="https://www.tavus.io" TargetMode="External"/><Relationship Id="rId7" Type="http://schemas.openxmlformats.org/officeDocument/2006/relationships/hyperlink" Target="https://sparrow2.tavuslabs.or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x.com/tavus/status/2093030526785589582" TargetMode="External"/><Relationship Id="rId5" Type="http://schemas.openxmlformats.org/officeDocument/2006/relationships/hyperlink" Target="https://www.tavus.io/blog/sparrow-2" TargetMode="External"/><Relationship Id="rId4" Type="http://schemas.openxmlformats.org/officeDocument/2006/relationships/hyperlink" Target="https://github.com/tavus-engineering" TargetMode="External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emini.google/overview/video-generation/" TargetMode="External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blog.google/innovation-and-ai/technology/developers-tools/build-with-gemini-omni-1-1-flash/" TargetMode="External"/><Relationship Id="rId5" Type="http://schemas.openxmlformats.org/officeDocument/2006/relationships/hyperlink" Target="https://github.com/topics/gemini-omni" TargetMode="External"/><Relationship Id="rId4" Type="http://schemas.openxmlformats.org/officeDocument/2006/relationships/hyperlink" Target="https://ai.google.dev/gemini-api/docs/omni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news/model-hardware-standard-research-preview" TargetMode="Externa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hyperlink" Target="https://www.hhmi.org/news/how-one-postdocs-problem-solving-changing-way-scientists-work" TargetMode="External"/><Relationship Id="rId4" Type="http://schemas.openxmlformats.org/officeDocument/2006/relationships/hyperlink" Target="https://www.reuters.com/technology/anthropic-unveils-new-framework-allowing-ai-agents-operate-physical-devices-2026-08-27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/automated-researchers-mitigate-alignment-failures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LMCache/LMCache" TargetMode="External"/><Relationship Id="rId3" Type="http://schemas.openxmlformats.org/officeDocument/2006/relationships/hyperlink" Target="https://discuss.python.org/t/pre-pep-rust-for-cpython/104906" TargetMode="External"/><Relationship Id="rId7" Type="http://schemas.openxmlformats.org/officeDocument/2006/relationships/hyperlink" Target="https://lmcache.ai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hyperlink" Target="https://us.pycon.org/2026/schedule/presentation/1/" TargetMode="External"/><Relationship Id="rId4" Type="http://schemas.openxmlformats.org/officeDocument/2006/relationships/hyperlink" Target="https://lwn.net/Articles/1046933/" TargetMode="External"/><Relationship Id="rId9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hyperlink" Target="https://ssi.inc" TargetMode="External"/><Relationship Id="rId3" Type="http://schemas.openxmlformats.org/officeDocument/2006/relationships/hyperlink" Target="https://apodex.ai" TargetMode="External"/><Relationship Id="rId7" Type="http://schemas.openxmlformats.org/officeDocument/2006/relationships/image" Target="../media/image34.png"/><Relationship Id="rId12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apodex/Apodex-1.1-mini" TargetMode="External"/><Relationship Id="rId11" Type="http://schemas.openxmlformats.org/officeDocument/2006/relationships/hyperlink" Target="https://www.dwarkesh.com/p/ilya-sutskever-2" TargetMode="External"/><Relationship Id="rId5" Type="http://schemas.openxmlformats.org/officeDocument/2006/relationships/hyperlink" Target="https://arxiv.org/abs/2608.23283" TargetMode="External"/><Relationship Id="rId10" Type="http://schemas.openxmlformats.org/officeDocument/2006/relationships/hyperlink" Target="https://github.com/test-time-training/e2e" TargetMode="External"/><Relationship Id="rId4" Type="http://schemas.openxmlformats.org/officeDocument/2006/relationships/hyperlink" Target="https://github.com/ApodexAI/FrontierAgent" TargetMode="External"/><Relationship Id="rId9" Type="http://schemas.openxmlformats.org/officeDocument/2006/relationships/hyperlink" Target="https://investor.nvidia.com/news/press-release-details/2026/Ilya-Sutskevers-Safe-Superintelligence-Inc--and-NVIDIA-Announce-Long-Term-Strategic-Partnership/default.aspx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tt-a1i.github.io/archify/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hyperlink" Target="https://github.com/tt-a1i/archify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tr.org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hyperlink" Target="https://www.youtube.com/watch?v=n2x4ijx5xkk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hyperlink" Target="https://github.com/AgriciDaniel/claude-obsidian" TargetMode="External"/><Relationship Id="rId7" Type="http://schemas.openxmlformats.org/officeDocument/2006/relationships/hyperlink" Target="https://www.youtube.com/watch?v=xGkHfD95Upg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Gom-GwlZIYk" TargetMode="External"/><Relationship Id="rId5" Type="http://schemas.openxmlformats.org/officeDocument/2006/relationships/hyperlink" Target="https://www.youtube.com/watch?v=CREj4iuNFAI" TargetMode="External"/><Relationship Id="rId4" Type="http://schemas.openxmlformats.org/officeDocument/2006/relationships/hyperlink" Target="https://agricidaniel.com/blog/claude-obsidian-ai-second-brain" TargetMode="External"/><Relationship Id="rId9" Type="http://schemas.openxmlformats.org/officeDocument/2006/relationships/image" Target="../media/image4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hyperlink" Target="https://www.anthropic.com/news/claude-design-anthropic-labs" TargetMode="External"/><Relationship Id="rId3" Type="http://schemas.openxmlformats.org/officeDocument/2006/relationships/hyperlink" Target="https://build.nvidia.com/deepseek-ai/deepseek-v4-flash-0731" TargetMode="External"/><Relationship Id="rId7" Type="http://schemas.openxmlformats.org/officeDocument/2006/relationships/hyperlink" Target="https://dataimpulse.com" TargetMode="External"/><Relationship Id="rId12" Type="http://schemas.openxmlformats.org/officeDocument/2006/relationships/hyperlink" Target="https://github.com/anthropics/claude-code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huggingface.co/deepseek-ai/DeepSeek-V4-Flash-0731" TargetMode="External"/><Relationship Id="rId11" Type="http://schemas.openxmlformats.org/officeDocument/2006/relationships/hyperlink" Target="https://claude.ai/design" TargetMode="External"/><Relationship Id="rId5" Type="http://schemas.openxmlformats.org/officeDocument/2006/relationships/hyperlink" Target="https://ollama.com" TargetMode="External"/><Relationship Id="rId10" Type="http://schemas.openxmlformats.org/officeDocument/2006/relationships/hyperlink" Target="https://code.claude.com/docs/en/skills" TargetMode="External"/><Relationship Id="rId4" Type="http://schemas.openxmlformats.org/officeDocument/2006/relationships/hyperlink" Target="https://dataimpulse.com/premium-residential-proxies/" TargetMode="External"/><Relationship Id="rId9" Type="http://schemas.openxmlformats.org/officeDocument/2006/relationships/hyperlink" Target="https://support.claude.com/en/articles/14604416-get-started-with-claude-design" TargetMode="External"/><Relationship Id="rId14" Type="http://schemas.openxmlformats.org/officeDocument/2006/relationships/image" Target="../media/image4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s://polarnightenergy.com" TargetMode="External"/><Relationship Id="rId3" Type="http://schemas.openxmlformats.org/officeDocument/2006/relationships/hyperlink" Target="https://www.youtube.com/watch?v=vhn9hfcerEk" TargetMode="External"/><Relationship Id="rId7" Type="http://schemas.openxmlformats.org/officeDocument/2006/relationships/hyperlink" Target="https://health.ucdavis.edu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olarnightenergy.com/news/worlds-largest-sand-battery-now-in-operation/" TargetMode="External"/><Relationship Id="rId11" Type="http://schemas.openxmlformats.org/officeDocument/2006/relationships/hyperlink" Target="https://www.android.com/new-features-on-android/io-2026/" TargetMode="External"/><Relationship Id="rId5" Type="http://schemas.openxmlformats.org/officeDocument/2006/relationships/hyperlink" Target="https://health.ucdavis.edu/news/headlines/brain-computer-interface-enables-independent-accurate-communication-for-man-living-with-als/2026/06" TargetMode="External"/><Relationship Id="rId10" Type="http://schemas.openxmlformats.org/officeDocument/2006/relationships/hyperlink" Target="https://blog.google/products-and-platforms/platforms/android/meet-googlebook/" TargetMode="External"/><Relationship Id="rId4" Type="http://schemas.openxmlformats.org/officeDocument/2006/relationships/hyperlink" Target="https://petcolove.org/newsroom/news-story/ai-for-good-petco-love-lost-reunites-250-000-pets-like-senior-dog-missing-for-two-months/" TargetMode="External"/><Relationship Id="rId9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512.03385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hyperlink" Target="https://www.youtube.com/watch?v=QgH9sr7G13Q" TargetMode="External"/><Relationship Id="rId4" Type="http://schemas.openxmlformats.org/officeDocument/2006/relationships/hyperlink" Target="https://arxiv.org/abs/1603.05027" TargetMode="Externa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tichting-MINIX-Research-Foundation/minix" TargetMode="External"/><Relationship Id="rId3" Type="http://schemas.openxmlformats.org/officeDocument/2006/relationships/hyperlink" Target="https://trendos.com" TargetMode="External"/><Relationship Id="rId7" Type="http://schemas.openxmlformats.org/officeDocument/2006/relationships/hyperlink" Target="https://www.minix3.org" TargetMode="External"/><Relationship Id="rId12" Type="http://schemas.openxmlformats.org/officeDocument/2006/relationships/image" Target="../media/image4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tinuiti.com/blog/search/ai-citations/" TargetMode="External"/><Relationship Id="rId11" Type="http://schemas.openxmlformats.org/officeDocument/2006/relationships/image" Target="../media/image45.jpeg"/><Relationship Id="rId5" Type="http://schemas.openxmlformats.org/officeDocument/2006/relationships/hyperlink" Target="https://www.tryprofound.com/blog/ai-platform-citation-patterns" TargetMode="External"/><Relationship Id="rId10" Type="http://schemas.openxmlformats.org/officeDocument/2006/relationships/hyperlink" Target="https://cacm.acm.org/research/lessons-learned-from-30-years-of-minix/" TargetMode="External"/><Relationship Id="rId4" Type="http://schemas.openxmlformats.org/officeDocument/2006/relationships/hyperlink" Target="https://www.searchenginejournal.com/ai-search-citation-sources-trendos-spa/586289/" TargetMode="External"/><Relationship Id="rId9" Type="http://schemas.openxmlformats.org/officeDocument/2006/relationships/hyperlink" Target="https://www.cs.vu.nl/~ast/intel/" TargetMode="Externa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youtube.com/watch?v=vDOUoiZ38ZE" TargetMode="External"/><Relationship Id="rId3" Type="http://schemas.openxmlformats.org/officeDocument/2006/relationships/hyperlink" Target="https://github.com/maralcbr/omarchy-mx-mac" TargetMode="External"/><Relationship Id="rId7" Type="http://schemas.openxmlformats.org/officeDocument/2006/relationships/hyperlink" Target="https://www.heise.de/en/news/Omarchy-Linux-Desktop-Overhaul-and-10-Million-for-Foundation-11432304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phoronix.com/news/Omarchy-4.0-Released" TargetMode="External"/><Relationship Id="rId5" Type="http://schemas.openxmlformats.org/officeDocument/2006/relationships/hyperlink" Target="https://github.com/omacom/omarchy" TargetMode="External"/><Relationship Id="rId4" Type="http://schemas.openxmlformats.org/officeDocument/2006/relationships/hyperlink" Target="https://omarchy.org" TargetMode="External"/><Relationship Id="rId9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horonix.com/news/Linux-Kernel-CVEs-Nearly-2000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kernel-recipes.org/en/2026/" TargetMode="External"/><Relationship Id="rId4" Type="http://schemas.openxmlformats.org/officeDocument/2006/relationships/hyperlink" Target="https://www.tomshardware.com/software/linux/linux-kernel-nears-2-000-cves-per-release-as-ai-bug-hunters-scour-40-million-lines-of-code-maintainers-say-they-are-completely-overwhelmed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thenextweb.com/news/imperial-ai-ecg-heart-disease-detection" TargetMode="External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eleris.ai/celeris-1-magnus" TargetMode="External"/><Relationship Id="rId5" Type="http://schemas.openxmlformats.org/officeDocument/2006/relationships/image" Target="../media/image48.png"/><Relationship Id="rId4" Type="http://schemas.openxmlformats.org/officeDocument/2006/relationships/hyperlink" Target="https://www.escardio.org/news/news-room/congress-news/can-deep-learning-detect-lv-diastolic-dysfunction-from-ecgs/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onderful.ai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hyperlink" Target="https://www.wonderful.ai/deployment" TargetMode="Externa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eforum.org/publications/the-future-of-jobs-report-2025/" TargetMode="External"/><Relationship Id="rId3" Type="http://schemas.openxmlformats.org/officeDocument/2006/relationships/hyperlink" Target="https://www.palantir.com" TargetMode="External"/><Relationship Id="rId7" Type="http://schemas.openxmlformats.org/officeDocument/2006/relationships/hyperlink" Target="https://www.diamandis.com/blog/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hyperlink" Target="https://www.youtube.com/watch?v=d_Bh8VWrvag" TargetMode="External"/><Relationship Id="rId4" Type="http://schemas.openxmlformats.org/officeDocument/2006/relationships/hyperlink" Target="https://github.com/palantir" TargetMode="External"/><Relationship Id="rId9" Type="http://schemas.openxmlformats.org/officeDocument/2006/relationships/image" Target="../media/image5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ayoffs.fyi" TargetMode="External"/><Relationship Id="rId7" Type="http://schemas.openxmlformats.org/officeDocument/2006/relationships/image" Target="../media/image5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hyperlink" Target="https://trueup.io/layoffs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eais.ai" TargetMode="Externa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100175" y="477719"/>
            <a:ext cx="3307800" cy="3466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Crowd-sourced "LM Arena"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Cost Per Intelligence Index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GPT-6 Astra - Sept 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Gemini 3.8 Flash &amp; 3.8 Flash Cyber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Fable 5.1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qwen3.8-max-0902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sued the Pentagon and won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Biases in LLM Evaluation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z.ai GLM 5.3 Flash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Apple’s Local AI Strategy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Tencent’s Hy4 Preview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OpenClaw 2.0 - Major Rebuild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Perplexity Search API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Prompting Claude 5 - Seven Rules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Muse Spark 1.3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Meta - Code, Image, Voice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5167" y="-22692"/>
            <a:ext cx="442020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" sz="30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Updates - Sept 4, 2026</a:t>
            </a:r>
            <a:endParaRPr sz="30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6425925" y="4352950"/>
            <a:ext cx="2600700" cy="6648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AI’s Three Career Doors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No Job Apocalypse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Jobs &amp; Layoffs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510081" y="100724"/>
            <a:ext cx="35295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Monthly bill went from $231 to $4.</a:t>
            </a:r>
            <a:endParaRPr sz="1800" b="1" i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Run the routine locally,</a:t>
            </a:r>
            <a:br>
              <a:rPr lang="en" sz="18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800" b="1" i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send the hard problems out.</a:t>
            </a:r>
            <a:endParaRPr sz="1800" b="1" i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3499425" y="1149842"/>
            <a:ext cx="2778900" cy="38973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Baalda - Team AI Second Brain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MiniMax H3 Max - Fast AI Video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Tavus’s Sparrow-2 Voice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 Gemini Omni 1.1 Flash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Model Hardware Standard (MHS) 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Anthropic automated alignment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Misc AI Updates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LMCache - KV Cache Tensormesh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Rewriting CPython into Rust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SSI’s Reported Research Leap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Apodex 1.1 - Agent Teams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Archify Skill - Verifiable Diagrams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OpenAI/METR evaluation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Obsidian v2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Siraj Raval - Local Models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 "/design"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Architecture Design for RAG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Use Cases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100175" y="4141851"/>
            <a:ext cx="3307800" cy="880500"/>
          </a:xfrm>
          <a:prstGeom prst="rect">
            <a:avLst/>
          </a:prstGeom>
          <a:solidFill>
            <a:srgbClr val="D0E0E3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NanoClaw: Secure Agent Automation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Memory “Dreams” Feature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Make Qwen 3.8 27B Faster (x8) 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Claude Code: 19 Updated Tips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6425925" y="1899125"/>
            <a:ext cx="26007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Googlebook and Aluminium OS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Most-cited paper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How you appear in AI answers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MINIX 3 in Intel Platform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Omarchy Quattro Linux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Avoid Latest Updates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Linux AI Security Burden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AI ECG Heart Screening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Celeris Magnus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03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400"/>
              <a:buFont typeface="Calibri"/>
              <a:buChar char="●"/>
            </a:pPr>
            <a:r>
              <a:rPr lang="en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Wonderful AI </a:t>
            </a:r>
            <a:endParaRPr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6736325" y="52350"/>
            <a:ext cx="23562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Starting Elo rating = 1000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https://en.wikipedia.org/wiki/Elo_rating_system</a:t>
            </a:r>
            <a:r>
              <a:rPr lang="en"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6"/>
          <p:cNvSpPr txBox="1"/>
          <p:nvPr/>
        </p:nvSpPr>
        <p:spPr>
          <a:xfrm>
            <a:off x="38150" y="2125"/>
            <a:ext cx="25998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"LM Arena" Leaderboard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52418" y="476072"/>
            <a:ext cx="25998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English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https://lmarena.ai/leaderboard/text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2726905" y="476078"/>
            <a:ext cx="28395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Coding - </a:t>
            </a: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https://lmarena.ai/leaderboard/text/coding</a:t>
            </a:r>
            <a:r>
              <a:rPr lang="en" sz="9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3437903" y="63625"/>
            <a:ext cx="1408200" cy="172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Data for Sept 02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9" name="Google Shape;79;p16"/>
          <p:cNvGraphicFramePr/>
          <p:nvPr/>
        </p:nvGraphicFramePr>
        <p:xfrm>
          <a:off x="5742420" y="4300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{624D74E7-7FAD-488A-87A2-C64153AE3C28}</a:tableStyleId>
              </a:tblPr>
              <a:tblGrid>
                <a:gridCol w="219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5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Gemini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OpenAI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Open Source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525" marR="9525" marT="9525" marB="9125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" name="Google Shape;80;p16"/>
          <p:cNvSpPr txBox="1"/>
          <p:nvPr/>
        </p:nvSpPr>
        <p:spPr>
          <a:xfrm>
            <a:off x="6838390" y="485738"/>
            <a:ext cx="2152500" cy="2173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Fable-5 - 6TB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Opus-4.8 - 5TB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Sonnet-4.5 - 1TB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Claude Sonnet-5 - ?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GLM-5.3 - 744B 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Meta muse-spark - 16 x 70B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Qwen3.7-max-preview - 745B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Qwen3.8-max - 2.4TB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Baidu Ernie-5.1 - 800B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Deepseek-v4 - 1.6T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lang="en" sz="1000">
                <a:highlight>
                  <a:srgbClr val="C9DAF8"/>
                </a:highlight>
                <a:latin typeface="Calibri"/>
                <a:ea typeface="Calibri"/>
                <a:cs typeface="Calibri"/>
                <a:sym typeface="Calibri"/>
              </a:rPr>
              <a:t>Kimi-k3 - 2.8T</a:t>
            </a:r>
            <a:endParaRPr sz="1000">
              <a:highlight>
                <a:srgbClr val="C9DAF8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Xiaomi MiMo-V2.5-Pro - 1T+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ByteDance </a:t>
            </a: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dola-seed-2.0-pro 400B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Calibri"/>
              <a:buChar char="●"/>
            </a:pPr>
            <a:r>
              <a:rPr lang="en" sz="1000">
                <a:latin typeface="Calibri"/>
                <a:ea typeface="Calibri"/>
                <a:cs typeface="Calibri"/>
                <a:sym typeface="Calibri"/>
              </a:rPr>
              <a:t>Minimax M3  -  456B</a:t>
            </a:r>
            <a:endParaRPr sz="10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1" name="Google Shape;81;p16"/>
          <p:cNvGraphicFramePr/>
          <p:nvPr/>
        </p:nvGraphicFramePr>
        <p:xfrm>
          <a:off x="3130525" y="7531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{624D74E7-7FAD-488A-87A2-C64153AE3C28}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1551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1542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4"/>
                        </a:rPr>
                        <a:t>glm-5.3-flash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8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8"/>
                        </a:rPr>
                        <a:t>claude-opus-4-5-20251101-high-32k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1530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0"/>
                        </a:rPr>
                        <a:t>claude-sonnet-4-6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2"/>
                        </a:rPr>
                        <a:t>claude-opus-4-8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4"/>
                        </a:rPr>
                        <a:t>qwen3.7-max-preview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6"/>
                        </a:rPr>
                        <a:t>claude-opus-4-5-20251101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7"/>
                        </a:rPr>
                        <a:t>grok-4.5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9"/>
                        </a:rPr>
                        <a:t>claude-sonnet-5-high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06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1521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  <p:graphicFrame>
        <p:nvGraphicFramePr>
          <p:cNvPr id="82" name="Google Shape;82;p16"/>
          <p:cNvGraphicFramePr/>
          <p:nvPr/>
        </p:nvGraphicFramePr>
        <p:xfrm>
          <a:off x="533175" y="744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{624D74E7-7FAD-488A-87A2-C64153AE3C28}</a:tableStyleId>
              </a:tblPr>
              <a:tblGrid>
                <a:gridCol w="276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Code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b="1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Score</a:t>
                      </a:r>
                      <a:endParaRPr sz="800" b="1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8"/>
                        </a:rPr>
                        <a:t>claude-fable-5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7"/>
                        </a:rPr>
                        <a:t>claude-opus-4-6-high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1505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1"/>
                        </a:rPr>
                        <a:t>claude-fable-5.1-max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6"/>
                        </a:rPr>
                        <a:t>claude-opus-4-7-high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1502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2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5"/>
                        </a:rPr>
                        <a:t>muse-spark-1.2 (xHigh)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0"/>
                        </a:rPr>
                        <a:t>claude-opus-4-6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9"/>
                        </a:rPr>
                        <a:t>claude-opus-4-7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2"/>
                        </a:rPr>
                        <a:t>gemini-3.8-flash-high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1494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6"/>
                        </a:rPr>
                        <a:t>claude-opus-5-high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7"/>
                        </a:rPr>
                        <a:t>muse-spark-1.1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8"/>
                        </a:rPr>
                        <a:t>gemini-3.7-flash-high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1491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1"/>
                        </a:rPr>
                        <a:t>kimi-k3-max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D9D9D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D9D9D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3"/>
                        </a:rPr>
                        <a:t>muse-spark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5"/>
                        </a:rPr>
                        <a:t>claude-opus-5-max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1488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25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0"/>
                        </a:rPr>
                        <a:t>gemini-3.1-pro-preview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2"/>
                        </a:rPr>
                        <a:t>gemini-3-pro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1486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9"/>
                        </a:rPr>
                        <a:t>gpt-5.6-sol-xhigh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1483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4472C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4472C4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13"/>
                        </a:rPr>
                        <a:t>claude-opus-4-8-high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3"/>
                        </a:rPr>
                        <a:t>gpt-5.5-high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21"/>
                        </a:rPr>
                        <a:t>glm-5.3-max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1482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4"/>
                        </a:rPr>
                        <a:t>gemini-3.6-flash-high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B05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00B05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5"/>
                        </a:rPr>
                        <a:t>qwen3.8-max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1480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6"/>
                        </a:rPr>
                        <a:t>gemini-3.5-flash-high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1479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7"/>
                        </a:rPr>
                        <a:t>gpt-5.5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6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FFD7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■</a:t>
                      </a:r>
                      <a:endParaRPr sz="800">
                        <a:solidFill>
                          <a:srgbClr val="FFD7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u="sng">
                          <a:solidFill>
                            <a:schemeClr val="hlink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  <a:hlinkClick r:id="rId38"/>
                        </a:rPr>
                        <a:t>gpt-5.4-high</a:t>
                      </a:r>
                      <a:endParaRPr sz="800" u="sng">
                        <a:solidFill>
                          <a:schemeClr val="hlink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1477</a:t>
                      </a:r>
                      <a:endParaRPr sz="8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25" marR="9125" marT="9125" marB="9125" anchor="ctr">
                    <a:lnL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38150" y="2125"/>
            <a:ext cx="44937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18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7"/>
          <p:cNvSpPr txBox="1"/>
          <p:nvPr/>
        </p:nvSpPr>
        <p:spPr>
          <a:xfrm>
            <a:off x="52430" y="355163"/>
            <a:ext cx="4429500" cy="341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22860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Artificial Analysis Intelligence 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b="1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https://artificialanalysis.ai/evaluations/artificial-analysis-intelligence-index</a:t>
            </a:r>
            <a:endParaRPr sz="9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5934676" y="1088150"/>
            <a:ext cx="9447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Sept 4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425" y="1482225"/>
            <a:ext cx="8999524" cy="35861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134600" y="412250"/>
            <a:ext cx="4361100" cy="2927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GPT-6 Astra - Sept 3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OpenAI has launched </a:t>
            </a: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GPT‑6 Astra, its new flagship frontier model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Early deployment begins with gated enterprise access, followed by paid ChatGPT users, API customers, AWS Bedrock, and Microsoft Azure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Astra targets autonomous computer/browser use, coding, mathematics, 3D asset generation, and game prototyping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Its advanced cyber capability creates misuse risk, so OpenAI uses restricted access and additional safeguards for its strongest cybersecurity functions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OpenAI reports benchmark leadership and Playco reports 50% fewer manual fixes in game prototypes, signaling more capable agentic production workflows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Calibri"/>
              <a:buChar char="●"/>
            </a:pPr>
            <a:r>
              <a:rPr lang="en" sz="1100">
                <a:latin typeface="Calibri"/>
                <a:ea typeface="Calibri"/>
                <a:cs typeface="Calibri"/>
                <a:sym typeface="Calibri"/>
              </a:rPr>
              <a:t>Pricing: $10 / $50 in/out per 1M in/out tokens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https://openai.com/index/path-to-astra/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https://openai.com/index/playco-game-prototyping-with-astra/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https://developers.openai.com/api/docs/concepts</a:t>
            </a:r>
            <a:r>
              <a:rPr lang="en" sz="900"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https://deploymentsafety.openai.com/gpt-6-astra/safety-overview-gpt-6-astra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https://www.youtube.com/watch?v=xdXLzFzxA9Q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18"/>
          <p:cNvPicPr preferRelativeResize="0"/>
          <p:nvPr/>
        </p:nvPicPr>
        <p:blipFill rotWithShape="1"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150" y="83179"/>
            <a:ext cx="2907351" cy="2317122"/>
          </a:xfrm>
          <a:prstGeom prst="rect">
            <a:avLst/>
          </a:prstGeom>
          <a:noFill/>
          <a:ln w="82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8" name="Google Shape;98;p1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10150" y="2514600"/>
            <a:ext cx="2907351" cy="2106747"/>
          </a:xfrm>
          <a:prstGeom prst="rect">
            <a:avLst/>
          </a:prstGeom>
          <a:noFill/>
          <a:ln w="82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134600" y="412250"/>
            <a:ext cx="4304400" cy="2235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Gemini 3.8 Flash &amp; 3.8 Flash Cyber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Agentic workflows, coding, multimodal reasoning, automation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text, images, video, audio, PDFs, and code inputs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 window 1M tokens, 64K output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calling, search tools, computer-use workflows, adjustable reasoning levels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 $0.75 / $3.75 in/out per 1M tokens.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3.8 Flash Cyber - a restricted security variant for vulnerability discovery, remediation, and patch validation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https://ai.google.dev/gemini-api/docs/latest-model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https://blog.google/innovation-and-ai/models-and-research/gemini-models/3-8-flash-and-3-8-flash-cyber/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https://deepmind.google/models/gemini/flash/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134600" y="2721738"/>
            <a:ext cx="43044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Fable 5.1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Reliable multi-step work: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25% - 45% cheaper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Better performance across coding, research, and reasoning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Mythos 5.1 - restricted to trusted-access programs for advanced cybersecurity and biology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https://www.anthropic.com/claude-fable-and-mythos-5-1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406" y="3078325"/>
            <a:ext cx="2609499" cy="7339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7" name="Google Shape;107;p19"/>
          <p:cNvSpPr txBox="1"/>
          <p:nvPr/>
        </p:nvSpPr>
        <p:spPr>
          <a:xfrm>
            <a:off x="134600" y="4107550"/>
            <a:ext cx="43044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qwen3.8-max-0902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2.4T-params, 1M-token context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Stronger coding/cowork post-training, and better tool orchestration for long-horizon projects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QwenCloud at $2 / $6 in/out per 1M tokens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406" y="729300"/>
            <a:ext cx="2286275" cy="160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9" name="Google Shape;109;p1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07408" y="4107553"/>
            <a:ext cx="4133923" cy="94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0" name="Google Shape;110;p19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85400" y="87250"/>
            <a:ext cx="2088125" cy="28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81776" y="420375"/>
            <a:ext cx="3258600" cy="4174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sued the Pentagon and won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https://airepo.substack.com/p/anthropic-sued-the-pentagon-and-won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federal court in San Francisco ruled that the Pentagon unlawfully labeled Anthropic a “supply chain risk”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court found the designation was retaliation for Anthropic’s criticism of U.S. AI policy, violating First Amendment protections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conflict began after Anthropic declined unrestricted Claude access without safeguards against autonomous weapons and mass surveillance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After negotiations failed, the Pentagon blacklisted the company; Anthropic filed lawsuits in San Francisco and Washington.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San Francisco ruling is a significant victory, but the Washington case remains unresolved and Anthropic technically stays blacklisted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outcome may reduce uncertainty ahead of Anthropic’s anticipated IPO and highlights a broader dispute over government control of frontier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0175" y="229825"/>
            <a:ext cx="1302400" cy="16353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8" name="Google Shape;118;p20"/>
          <p:cNvSpPr txBox="1"/>
          <p:nvPr/>
        </p:nvSpPr>
        <p:spPr>
          <a:xfrm>
            <a:off x="3473378" y="2640925"/>
            <a:ext cx="56019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Biases in LLM Evaluation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Proxy discrimination: models can reproduce gender-linked outcomes without receiving gender as an explicit feature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LLMs similarly absorb patterns from human-written data and preference training; fluent, confident output is not proof of truth.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LLM judges can favor answer position, verbosity, formatting, cited-looking authority, familiar styles, or outputs resembling their own model family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Mitigate with blind model labels, evidence-based rubrics, order-swapped comparisons, length controls, multiple diverse judges, and human audits for high-stakes decisions.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https://www.youtube.com/watch?v=RKBibsoK7Yg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https://www.cnbc.com/2019/11/10/wall-street-regulator-probes-goldman-over-allegations-of-sexist-credit-decisions-at-apple-card.html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https://www.bankingdive.com/news/goldman-sachs-gender-bias-claims-apple-card-women-new-york-dfs/597273/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https://wandb.ai/site/articles/exploring-llm-as-a-judge/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https://haystack.deepset.ai/cookbook/prometheus2_evaluation</a:t>
            </a:r>
            <a:r>
              <a:rPr lang="en" sz="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04250" y="229825"/>
            <a:ext cx="4171026" cy="234744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143275" y="455900"/>
            <a:ext cx="43044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uFill>
                  <a:noFill/>
                </a:u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z.ai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GLM 5.3 Flash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https://docs.z.ai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,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https://z.ai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OpenRouter’s mystery “Ox Alpha” was revealed as Z.ai’s GLM-5.3-Flash, an open-weights, MIT-licensed, multimodal, MoE 320B total, 18B active, for coding, long tasks, agentic work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1M-token context window, 131K max output; hybrid attention - linear and sparce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Comparable to GPT-5.6 Sol Max  - but 10 times cheaper !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Pricing: $0.15 / $0.50 per 1M in/out tokens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claude   --model glm-5.3-flash:cloud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opencode --model glm-5.3-flash:cloud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hermes   --model glm-5.3-flash:cloud</a:t>
            </a:r>
            <a:endParaRPr sz="1000" b="1">
              <a:solidFill>
                <a:srgbClr val="3C78D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claude   --model glm-5.3:cloud</a:t>
            </a:r>
            <a:endParaRPr sz="10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opencode --model glm-5.3:cloud</a:t>
            </a:r>
            <a:endParaRPr sz="10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000"/>
              <a:buFont typeface="Roboto Mono"/>
              <a:buChar char="●"/>
            </a:pPr>
            <a:r>
              <a:rPr lang="en" sz="1000" b="1">
                <a:solidFill>
                  <a:srgbClr val="6AA84F"/>
                </a:solidFill>
                <a:latin typeface="Roboto Mono"/>
                <a:ea typeface="Roboto Mono"/>
                <a:cs typeface="Roboto Mono"/>
                <a:sym typeface="Roboto Mono"/>
              </a:rPr>
              <a:t>ollama launch hermes   --model glm-5.3:cloud</a:t>
            </a:r>
            <a:endParaRPr sz="1000" b="1">
              <a:solidFill>
                <a:srgbClr val="6AA84F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Desktop can be configured to use Ollama's models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available through Z.ai, OpenRouter, Hugging Face, Ollama, and local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https://huggingface.co/zai-org/GLM-5.3-Flash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https://openrouter.ai/z-ai/glm-5.3-flash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https://docs.z.ai/guides/vlm/glm-5.3-flash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https://ollama.com/library/glm-5.3-flash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GLM 5.3 has 753B params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p21"/>
          <p:cNvPicPr preferRelativeResize="0"/>
          <p:nvPr/>
        </p:nvPicPr>
        <p:blipFill rotWithShape="1">
          <a:blip r:embed="rId10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15900" y="135150"/>
            <a:ext cx="2795550" cy="1243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7" name="Google Shape;127;p21"/>
          <p:cNvSpPr txBox="1"/>
          <p:nvPr/>
        </p:nvSpPr>
        <p:spPr>
          <a:xfrm>
            <a:off x="4759225" y="3631668"/>
            <a:ext cx="4304400" cy="1449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Apple’s Local AI Strategy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Run routine, repetitive, privacy sensitive work locally; route difficult or high-stakes tasks to cloud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mini ($900+), Mac Studio ($2,500+),  M5 Ultra ($5,500 for 512GB memory model)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https://www.apple.com/mac-mini/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https://www.apple.com/mac-studio/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https://huggingface.co/zai-org/GLM-5.3-Flash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https://www.cnbc.com/2026/08/25/apple-announces-new-mac-mini-and-mac-studio-models-with-ai-upgrades.html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21"/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73575" y="1851118"/>
            <a:ext cx="2090054" cy="1729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2"/>
          <p:cNvSpPr txBox="1"/>
          <p:nvPr/>
        </p:nvSpPr>
        <p:spPr>
          <a:xfrm>
            <a:off x="81775" y="394600"/>
            <a:ext cx="62307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Tencent’s Hy4 Preview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Open-weight (Apache 2.0) - 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software, docs, data analysis, games, research workflows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MoE, 770B total params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49B active; 1M-token context, 64K output, FP8 weights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via WorkBuddy, CodeBuddy, Tencent Cloud TokenHub, or OpenRouter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AngelSlim’s mixed-precision GGUF shrinks the BF16 download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from about 1.5 TB to roughly 200–214 GB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by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allocating lower precision selectively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rather than quantizing every layer equally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Reported benchmark losses appear modest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requires patched, self-built llama.cpp/CUDA support, not ordinary local-model apps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https://www.tencent.com/tencent-releases-and-open-sources-tencent-hy4-preview/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https://huggingface.co/tencent/Hy4-preview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https://github.com/Tencent-Hunyuan/Hy4-preview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https://hy.tencent.ai/research/hy4-preview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https://github.com/tencent/AngelSlim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2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525" y="482275"/>
            <a:ext cx="2242174" cy="2067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6" name="Google Shape;136;p22"/>
          <p:cNvSpPr txBox="1"/>
          <p:nvPr/>
        </p:nvSpPr>
        <p:spPr>
          <a:xfrm>
            <a:off x="88225" y="2651591"/>
            <a:ext cx="6217800" cy="2281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OpenClaw 2.0 - Major Rebuild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AI-agent platform release - 16K+ PRs from 933 contributors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Simpler setup, new browser workspace combines sessions, tasks, files, terminal access, and live agent progress rather than treating the web UI as an add-on.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Shared Cloud Sessions let trusted collaborators join the same live agent context, though they are not a hostile-user security boundary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 sessions, searchable history, cross-device execution, memory, automations, dashboards, and experimental agent swarms move it beyond one-off chat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additions include masked credential prompts, destination restrictions for protected secrets, and clearer plugin review information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https://openclaw.ai/blog/openclaw-2-accidentally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https://github.com/openclaw/openclaw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https://docs.openclaw.ai/releases/2026.8.1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6475" y="3029191"/>
            <a:ext cx="2321550" cy="16612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3"/>
          <p:cNvSpPr txBox="1"/>
          <p:nvPr/>
        </p:nvSpPr>
        <p:spPr>
          <a:xfrm>
            <a:off x="81775" y="418475"/>
            <a:ext cx="43044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Perplexity Search API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Developer-facing web-retrieval layer behind its answer engine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Took the top three positions in Artificial Analysis’ independent Search Index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https://artificialanalysis.ai/agents/search-api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Perplexity’s medium, high, and low context configurations scored 80, 79, and 77; the nearest competing configurations from Parallel and Brave scored 75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https://artificialanalysis.ai/agents/search-api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https://www.perplexity.ai/hub/blog/introducing-the-perplexity-search-api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03275" y="125513"/>
            <a:ext cx="2952750" cy="1552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5" name="Google Shape;145;p23"/>
          <p:cNvSpPr txBox="1"/>
          <p:nvPr/>
        </p:nvSpPr>
        <p:spPr>
          <a:xfrm>
            <a:off x="81775" y="2099050"/>
            <a:ext cx="4304400" cy="2004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Prompting Claude 5 - Seven Rules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 the model the entire job, not step-by-step instructions.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an “interview me” process to clarify complex tasks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why the task matters, not only what to 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what “done” looks like, including scope and output style.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 hard rules with reasoned guardrails.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unnecessary double-checking (“think step by step”), forced reasoning, and aggressive emphasis prompts.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 the model’s voice with concise standing instructions: focused, brief, plain language, and low jargon.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https://anthropic.com/engineering/effective-context-engineering-for-ai-agents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/>
        </p:nvSpPr>
        <p:spPr>
          <a:xfrm>
            <a:off x="146725" y="64925"/>
            <a:ext cx="24771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Meta Muse Models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4"/>
          <p:cNvSpPr txBox="1"/>
          <p:nvPr/>
        </p:nvSpPr>
        <p:spPr>
          <a:xfrm>
            <a:off x="81776" y="593180"/>
            <a:ext cx="4425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Meta Muse Models: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Muse Code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terminal and CI coding agent + SDK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Muse Image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- generates images grounded by search and reasons at $0.01 per image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Muse Voice Transcribe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real-time audio perception with streaming recognition, diarization for more than 20 speakers, multilingual code-switching, and contextual biasing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81776" y="2689928"/>
            <a:ext cx="4425600" cy="1588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Muse Spark 1.3 Launch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coding, tool use, and longer-running agent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through Muse Code and the Meta Model API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Retaining context, coordinating multiple workflows in one thread, and requiring fewer unnecessary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on more long-horizon coding tasks, with roughly 20% fewer tool calls and 25% fewer tokens than version 1.2.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https://research.meta.ai/blog/introducing-muse-spark-1-3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https://developer.meta.com/ai/models/muse-spark/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3" name="Google Shape;153;p24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6800" y="2689923"/>
            <a:ext cx="2837480" cy="15885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4" name="Google Shape;154;p2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7850" y="1532650"/>
            <a:ext cx="1708725" cy="8589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5" name="Google Shape;155;p24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60060" y="1078075"/>
            <a:ext cx="1567475" cy="11784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6" name="Google Shape;156;p24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80224" y="200975"/>
            <a:ext cx="2163976" cy="10333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57" name="Google Shape;157;p2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6799" y="64926"/>
            <a:ext cx="1992305" cy="85897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5"/>
          <p:cNvSpPr txBox="1"/>
          <p:nvPr/>
        </p:nvSpPr>
        <p:spPr>
          <a:xfrm>
            <a:off x="102375" y="478350"/>
            <a:ext cx="4161900" cy="4186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Weekly videos every Friday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7.4K subscribers, 323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Subscribe to this channel </a:t>
            </a:r>
            <a:r>
              <a:rPr lang="en" sz="1800" b="1" u="sng">
                <a:solidFill>
                  <a:schemeClr val="accent5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https://www.youtube.com/@lev-selector</a:t>
            </a:r>
            <a:r>
              <a:rPr lang="en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Download slides from GitHub using links under the videos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r>
              <a:rPr lang="en" sz="2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3. Please pause the video - and answer the pinned question in comments under the video</a:t>
            </a:r>
            <a:endParaRPr sz="1800" b="1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25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49500" y="263775"/>
            <a:ext cx="2461825" cy="31542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64" name="Google Shape;164;p25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6550" y="2823825"/>
            <a:ext cx="2160975" cy="22433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6"/>
          <p:cNvSpPr txBox="1"/>
          <p:nvPr/>
        </p:nvSpPr>
        <p:spPr>
          <a:xfrm>
            <a:off x="81765" y="420370"/>
            <a:ext cx="4425600" cy="3620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NanoClaw: Secure Agent Automation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NanoClaw is a lightweight, open-source alternative to OpenClaw built around a security-first model.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active agent runs in an isolated Docker container, limiting access to only explicitly mounted files and reducing host-level risk.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smaller, auditable codebase makes it easier to customize agents, skills, schedules, model providers, credentials, and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can connect with messaging platforms, but a custom local GUI can replace Discord-centric control with scheduled bots and readable run outputs.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Practical uses include recurring Hacker News research, video-topic discovery, thumbnail generation, and other repeatable personal workflows.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Docker Sandboxes can add MicroVM-based isolation for stronger separation from the host OS.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https://nanoclaw.dev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https://github.com/nanocoai/nanoclaw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https://www.docker.com/blog/nanoclaw-docker-sandboxes-agent-security/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https://www.techtarget.com/it-infrastructure/news/366640195/NanoClaw-AI-agents-find-a-home-in-Docker-Sandboxes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https://www.youtube.com/watch?v=n55ZiDl2PtE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26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5" y="4134750"/>
            <a:ext cx="2465051" cy="9165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72" name="Google Shape;172;p26"/>
          <p:cNvSpPr txBox="1"/>
          <p:nvPr/>
        </p:nvSpPr>
        <p:spPr>
          <a:xfrm>
            <a:off x="4633865" y="89520"/>
            <a:ext cx="44256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Websites Will Block AI Agents by Default on September 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Cloudflare’s July 1, 2026 change means Agent and Training crawlers get blocked by default on ad-monetized pages of new domains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https://medium.com/@aerator_rolls.27/websites-will-block-ai-agents-by-default-on-september-15-is-your-agent-ready-174b6901fd5c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6"/>
          <p:cNvSpPr txBox="1"/>
          <p:nvPr/>
        </p:nvSpPr>
        <p:spPr>
          <a:xfrm>
            <a:off x="4633865" y="1139970"/>
            <a:ext cx="4425600" cy="2419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Memory “Dreams” Feature for Managed Agents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 in Anthropic-managed cloud sandbox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Research Preview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Consolidates an agent’s memory and past session transcripts, merging duplicates and resolving stale or conflicting information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Claude Code, combine CLAUDE.md guidance, Auto Memory, and scoped rules; periodically review memory so repeated corrections become durable project knowledge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https://platform.claude.com/docs/en/managed-agents/dreams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https://code.claude.com/docs/en/memory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https://www.youtube.com/watch?v=4hIvG849w4Y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Dreams is not a Claude Code slash command, it can not be enabled in </a:t>
            </a: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CLAUDE.md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It is an API feature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for Managed Agents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7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7"/>
          <p:cNvSpPr txBox="1"/>
          <p:nvPr/>
        </p:nvSpPr>
        <p:spPr>
          <a:xfrm>
            <a:off x="81765" y="420370"/>
            <a:ext cx="4425600" cy="288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Make Qwen 3.8 27B Faster (x8) for Long Context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https://www.youtube.com/watch?v=SvnL5_RgtBs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Tested Qwen 3.8 27B IQ4_NL near a 98,304-token window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MTP improved short prompts but collapsed at 77,418 tokens: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1.54 tokens/sec versus 2.32 without MTP.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Compressed KV caches modestly improved MTP to 1.95 tokens/sec, with potential memory and quality tradeoffs.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hybrid placement bundle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CPU feed-forward tensors, GPU attention/recurrent tensors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raised speed to 13.19 tokens/sec, an 8.55× MTP improvement.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Completion time dropped from 165 to 19 seconds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 ngram-mod produced only workload-dependent marginal gains.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llama-server \</a:t>
            </a:r>
            <a:b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--model Qwen3.8-27B-IQ4_NL.gguf \</a:t>
            </a:r>
            <a:b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--n-gpu-layers all \</a:t>
            </a:r>
            <a:b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000" b="1">
                <a:solidFill>
                  <a:srgbClr val="3C78D8"/>
                </a:solidFill>
                <a:latin typeface="Roboto Mono"/>
                <a:ea typeface="Roboto Mono"/>
                <a:cs typeface="Roboto Mono"/>
                <a:sym typeface="Roboto Mono"/>
              </a:rPr>
              <a:t>  --override-tensor 'blk\.(0|1|...|40)\.ffn_.*=CPU'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7"/>
          <p:cNvSpPr txBox="1"/>
          <p:nvPr/>
        </p:nvSpPr>
        <p:spPr>
          <a:xfrm>
            <a:off x="4613915" y="1616537"/>
            <a:ext cx="4425600" cy="343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Code: 19 Updated Tips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Personas and “take a breath” preambles may add little;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prioritize where Claude should look, a clear definition of done, and a self-check.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State desired output positively rather than piling on prohibitions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 routine connector permissions; load tools on demand to reduce exposure and context cost.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Keep CLAUDE.md short and task-focused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restart or compact after changing it.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subagents for parallel investigation, but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restate critical requirements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because they lack main-thread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large context windows as imperfect retrieval, not reliable memory;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compact deliberately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Verification is the highest-leverage habit: r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un tests, checks, or constrained adversarial reviews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Avoid mid-session model/fast-mode switches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can invalidate caches and increase costs.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https://www.youtube.com/watch?v=icM0ewXGvAw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https://support.claude.com/en/articles/14554000-claude-code-power-user-tips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85859" y="116672"/>
            <a:ext cx="2540374" cy="14134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82" name="Google Shape;182;p27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2" y="3395850"/>
            <a:ext cx="2799802" cy="15757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8"/>
          <p:cNvSpPr txBox="1"/>
          <p:nvPr/>
        </p:nvSpPr>
        <p:spPr>
          <a:xfrm>
            <a:off x="81776" y="420375"/>
            <a:ext cx="4425600" cy="1727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Baalda - Team AI Second Brain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Open-source app - team-shared Obsidian-style Wiki, Markdown Files, links; real-time sync, per-folder/file/member permissions, daily backups, and file-level version history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MCP/connector support (so that AI can update knowledge)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Users can create a vault, open an existing Markdown vault, or join a shared team vault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https://www.youtube.com/watch?v=82hCt3xH9Gc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https://baalda.com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https://github.com/naveedharri/baalda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14100" y="58675"/>
            <a:ext cx="2969275" cy="5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8"/>
          <p:cNvSpPr txBox="1"/>
          <p:nvPr/>
        </p:nvSpPr>
        <p:spPr>
          <a:xfrm>
            <a:off x="4614090" y="1381120"/>
            <a:ext cx="4425600" cy="3666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MiniMax H3 Max - Fast AI Video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Video generation gets faster than real time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post-trained variant of MiniMax’s open-weight H3 video model,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optimized for speed, stronger prompt adherence, and aesthetics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leads Artificial Analysis’ image-to-video-with-audio leaderboard at roughly 1,201 Elo across 2,177 samples;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ranks 3rd for text-to-video with audio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 5-sec 768p clip renders in under 3-sec, with synchronized audio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H3 Max supports text-to-video and image-to-video, including optional start/end frames, but is capped at 768p.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768p, 5–10-second clips, “balanced” prompt expansion, and explicitly describe sound, action, camera, lighting, and mood.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Base H3 offers 2K and broader multimodal/reference workflows; Max prioritizes iteration speed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“fal” (pronounced like “fall”) is an AI-infrastructure company in San Francisco, CA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https://fal.ai/minimax-h3-max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https://fal.ai/minimax-h3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https://github.com/MiniMax-AI/MiniMax-H3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https://www.minimax.io/blog/minimax-h3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https://x.com/fal/status/2092710676431020376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021475" y="4125020"/>
            <a:ext cx="1485900" cy="83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81776" y="463300"/>
            <a:ext cx="4425600" cy="288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Tavus’s Sparrow-2 Voice Understanding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streaming, audio-native conversational-understanding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replaces simple silence-based endpoint detection with continuous interpretation of the full conversational scene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model evaluates speech meaning, tone, speaker identity, interruptions, backchannels, background speech, noise, etc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updates its conversational state every 10 ms, helping agents decide whether to listen, wait, speak, or keep speaking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Tavus reports a 2.1% failure rate across 575 real conversational events and 97% correct patience during meaningful thinking pauses.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through Tavus PALs, APIs, and platform integrations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https://www.tavus.io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https://github.com/tavus-engineering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https://www.tavus.io/blog/sparrow-2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https://x.com/tavus/status/2093030526785589582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https://sparrow2.tavuslabs.org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https://www.youtube.com/watch?v=ZCI4kvWPb3E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9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5" y="463300"/>
            <a:ext cx="4114364" cy="27428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81776" y="463300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Gemini Omni 1.1 Flash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Multimodal generative-video model family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Understands text, images, audio, and video together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 Omni 1.1 Flash released Aug 27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prompts to generate and edit videos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first- and last-frames, reference inputs,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continuation; Lower-cost 360p drafts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Scene extension can use up to 10 seconds of prior footage and add 10-second segments - up to 40 sec total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defaults to 720p; 1080p and 4K are available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via Google AI Studio, Gemini Enterprise Agent Platform, Google Flow, and selected Gemini subscriptions.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https://gemini.google/overview/video-generation/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https://ai.google.dev/gemini-api/docs/omni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https://github.com/topics/gemini-omni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https://blog.google/innovation-and-ai/technology/developers-tools/build-with-gemini-omni-1-1-flash/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76" y="463300"/>
            <a:ext cx="4331824" cy="24366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/>
        </p:nvSpPr>
        <p:spPr>
          <a:xfrm>
            <a:off x="81775" y="0"/>
            <a:ext cx="4119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Hardware Standard (MHS)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31"/>
          <p:cNvSpPr txBox="1"/>
          <p:nvPr/>
        </p:nvSpPr>
        <p:spPr>
          <a:xfrm>
            <a:off x="81775" y="469800"/>
            <a:ext cx="49482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Model Hardware Standard (MHS)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restricted research preview of a specification for AI agents to discover, understand, and operate programmable physical equipment.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Owners describe their hardware in natural language and MHS turns that into a reference file the agent reads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Laser stabilization on quantum computers at QuEra went from 58% to 99.3%, and an imaging experiment at HHMI Janelia compressed from weeks to a single day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MHS was introduced by Anthropic and HHMI Janelia Research Campus in Ashburn, Loudoun County, Virginia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 device integrations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commonly require specialist work and take weeks or months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MHS, built to work through interfaces including MCP, lets owners express a device’s capabilities, limits, and controls in natural language and generate a reference file agents can use. The integration time decreases from months to days.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QuEra, an agent restored laser lock for quantum systems 99.3% of the time, versus 58% previously. At Janelia, an imaging workflow fell from weeks to one day—evidence that standardized agent-to-hardware control could accelerate scientific experimentation while safety practices mature.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https://www.anthropic.com/news/model-hardware-standard-research-preview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https://www.reuters.com/technology/anthropic-unveils-new-framework-allowing-ai-agents-operate-physical-devices-2026-08-27/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https://www.hhmi.org/news/how-one-postdocs-problem-solving-changing-way-scientists-work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31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7250" y="326400"/>
            <a:ext cx="3926649" cy="25997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3" name="Google Shape;213;p31"/>
          <p:cNvPicPr preferRelativeResize="0"/>
          <p:nvPr/>
        </p:nvPicPr>
        <p:blipFill rotWithShape="1"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268962" y="3426175"/>
            <a:ext cx="1276974" cy="14315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14" name="Google Shape;214;p31"/>
          <p:cNvSpPr txBox="1"/>
          <p:nvPr/>
        </p:nvSpPr>
        <p:spPr>
          <a:xfrm>
            <a:off x="6687673" y="3546425"/>
            <a:ext cx="24117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Arco Bast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(Janelia postdoc) has  designed a software approach that lets a microscope’s components coordinate at machine speed across different programming languages, reducing the integration work for his experiment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from months to days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31"/>
          <p:cNvSpPr txBox="1"/>
          <p:nvPr/>
        </p:nvSpPr>
        <p:spPr>
          <a:xfrm>
            <a:off x="5268951" y="1303078"/>
            <a:ext cx="510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Agent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1"/>
          <p:cNvSpPr txBox="1"/>
          <p:nvPr/>
        </p:nvSpPr>
        <p:spPr>
          <a:xfrm>
            <a:off x="6392851" y="1303078"/>
            <a:ext cx="5103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MHS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/>
        </p:nvSpPr>
        <p:spPr>
          <a:xfrm>
            <a:off x="81775" y="0"/>
            <a:ext cx="4604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automated alignment research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81775" y="1211325"/>
            <a:ext cx="4363200" cy="30507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Anthropic automated alignment research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https://www.anthropic.com/research/automated-researchers-mitigate-alignment-failures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Anthropic showed that one AI can help make another AI much safer. Claude Sonnet 5 worked like a robot safety teacher for an earlier Claude Opus 4.8 model, running experiments for 60 hours and finding safety improvements using only about 2,000 training examples.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improved safety across 10 different problem types, such as deception and cheating for rewards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best methods closed as much as 96% of the measured safety gap in some tests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was estimated to be about x15,000 times more data-efficient than the comparable human-led alignment process.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 the hardest safety challenge, it performed better than 28 human safety researchers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did this without reducing the AI’s general capabilities on the benchmarks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7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... AI may make future AI systems safer, faster, and at far lower training cost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32"/>
          <p:cNvPicPr preferRelativeResize="0"/>
          <p:nvPr/>
        </p:nvPicPr>
        <p:blipFill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4675" y="1485725"/>
            <a:ext cx="4445451" cy="2501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3"/>
          <p:cNvSpPr txBox="1"/>
          <p:nvPr/>
        </p:nvSpPr>
        <p:spPr>
          <a:xfrm>
            <a:off x="81775" y="0"/>
            <a:ext cx="23853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Misc 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 txBox="1"/>
          <p:nvPr/>
        </p:nvSpPr>
        <p:spPr>
          <a:xfrm>
            <a:off x="81775" y="398525"/>
            <a:ext cx="4425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OpenAI will Cursor off on Nov 12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(SpaceX bought Anysphere for $60 Bln)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Reason - OpenAI’s bad experience with Elon Musk’s companies violating contracts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 txBox="1"/>
          <p:nvPr/>
        </p:nvSpPr>
        <p:spPr>
          <a:xfrm>
            <a:off x="81776" y="2878287"/>
            <a:ext cx="4425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Runway previews Solaris, an interface world model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Solaris renders websites and apps as live video,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drawing every frame in real time as the user clicks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drags, with no code running underneath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3"/>
          <p:cNvSpPr txBox="1"/>
          <p:nvPr/>
        </p:nvSpPr>
        <p:spPr>
          <a:xfrm>
            <a:off x="81775" y="1227850"/>
            <a:ext cx="4425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World Labs releases Atlas world model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pretrained from scratch to operate on text, images, video, and 3D, combining them into a shared spatial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generates up to a full minute of 1440p video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3"/>
          <p:cNvSpPr txBox="1"/>
          <p:nvPr/>
        </p:nvSpPr>
        <p:spPr>
          <a:xfrm>
            <a:off x="81775" y="2057175"/>
            <a:ext cx="4425600" cy="757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releases TimesFM-3 for multivariate time-series forecasting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330M params model pretrained on more than a trillion time points.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Sales forecast can finally see weather and promotions.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 txBox="1"/>
          <p:nvPr/>
        </p:nvSpPr>
        <p:spPr>
          <a:xfrm>
            <a:off x="81776" y="3707987"/>
            <a:ext cx="4425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Gemini 3.5 Transcribe speech-to-text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model - can call other Gemini models mid-transcription to generate images or analyze files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 txBox="1"/>
          <p:nvPr/>
        </p:nvSpPr>
        <p:spPr>
          <a:xfrm>
            <a:off x="81776" y="4168387"/>
            <a:ext cx="44256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 cuts Gemini video costs by two thirds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3"/>
          <p:cNvSpPr txBox="1"/>
          <p:nvPr/>
        </p:nvSpPr>
        <p:spPr>
          <a:xfrm>
            <a:off x="81776" y="4443987"/>
            <a:ext cx="4425600" cy="203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Nvidia agrees to buy Hugging Face for about $13 billion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4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4"/>
          <p:cNvSpPr txBox="1"/>
          <p:nvPr/>
        </p:nvSpPr>
        <p:spPr>
          <a:xfrm>
            <a:off x="4618090" y="2560208"/>
            <a:ext cx="4425600" cy="2511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Rewriting Python (CPython) into Rust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Rust modules build only when a Rust toolchain is available, with base64 suggested as an early proof of concept.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new cpython-sys crate would provide generated FFI bindings to CPython’s C APIs.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Supporters cite memory safety and safer concurrency; critics cite portability, bootstrapping, contributor burden, and unsafe C/Rust boundaries.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not RustPython: CPython remains the C-based reference interpreter.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final adoption decision has been made yet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https://discuss.python.org/t/pre-pep-rust-for-cpython/104906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https://lwn.net/Articles/1046933/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https://us.pycon.org/2026/schedule/presentation/1/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2" name="Google Shape;242;p34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4526" y="3440950"/>
            <a:ext cx="2872851" cy="1616824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3" name="Google Shape;243;p34"/>
          <p:cNvSpPr txBox="1"/>
          <p:nvPr/>
        </p:nvSpPr>
        <p:spPr>
          <a:xfrm>
            <a:off x="81765" y="434708"/>
            <a:ext cx="4425600" cy="2604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LMCache - KV cache by Tensormesh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Recomputing unchanged agent context can dominate latency and input cost. vLLM and SGLang already offer prefix caching, which is best when the KV working set fits comfortably in GPU HBM.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LMCache externalizes KV cache across GPU memory, RAM, local SSD, and remote storage, enabling reuse across workers, restarts, and replicas.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Reduced time to first token by 79%, raised input throughput 264% for 100K token context. But reduces throughput on short context.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Tensormesh raised a $20M extension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 - preserve stable prompt prefixes; rewriting or truncating the front destroys cache reuse.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https://lmcache.ai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https://github.com/LMCache/LMCache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4" name="Google Shape;244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18090" y="434700"/>
            <a:ext cx="2628900" cy="800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5"/>
          <p:cNvSpPr txBox="1"/>
          <p:nvPr/>
        </p:nvSpPr>
        <p:spPr>
          <a:xfrm>
            <a:off x="4627190" y="1530713"/>
            <a:ext cx="4425600" cy="3528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Apodex 1.1 - Agent Teams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Apodex 1.1 targets long, tool-driven work: research, files, code, data analysis, and deliverables rather than one-shot chat responses.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asynchronous Agent Team decomposes work, delegates parallel sub-tasks, integrates results as they arrive, and replans when needed.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FrontierAgent is the open-source local runtime, with ReAct for a single stateful agent and Agent Team for coordinated parallel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35B-parameter open-weight Mini model is intended for local deployment and tool use.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Reported Agent Team scores include 78.8 on GDPval and 56.1 on Humanity’s Last Exam; treat vendor-reported benchmarks as useful but independently unverified.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key emphasis is traceable, checkable outputs—review sources, files, and execution results before relying on consequential claims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https://apodex.ai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https://github.com/ApodexAI/FrontierAgent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https://arxiv.org/abs/2608.23283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https://huggingface.co/apodex/Apodex-1.1-mini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35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93900" y="250896"/>
            <a:ext cx="1258899" cy="11921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52" name="Google Shape;252;p35"/>
          <p:cNvSpPr txBox="1"/>
          <p:nvPr/>
        </p:nvSpPr>
        <p:spPr>
          <a:xfrm>
            <a:off x="81765" y="420863"/>
            <a:ext cx="4425600" cy="3481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SSI’s Reported Research Leap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SSI and NVIDIA announced a long-term partnership after NVIDIA received rare access to SSI’s private research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 Sutskever said SSI now has work “worthy of scaling up”; the deal is intended to increase SSI’s compute roughly tenfold using NVIDIA’s Vera Rubin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SSI actually built remains undisclosed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Rumors that its first model substantially surpasses “Fable” are unverified and should not be treated as evidence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Ilya’s stated objective is a broadly capable system that can learn new jobs rapidly, like an eager, highly intelligent teenager rather than a fixed pretrained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plausible research direction is continual/test-time learning: adapting while reading or working, without overwriting foundational capabilities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https://ssi.inc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https://investor.nvidia.com/news/press-release-details/2026/Ilya-Sutskevers-Safe-Superintelligence-Inc--and-NVIDIA-Announce-Long-Term-Strategic-Partnership/default.aspx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https://github.com/test-time-training/e2e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https://www.dwarkesh.com/p/ilya-sutskever-2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5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6025" y="71600"/>
            <a:ext cx="1258900" cy="125890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6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6"/>
          <p:cNvSpPr txBox="1"/>
          <p:nvPr/>
        </p:nvSpPr>
        <p:spPr>
          <a:xfrm>
            <a:off x="81765" y="794843"/>
            <a:ext cx="4425600" cy="3158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Archify Skill - Verifiable Diagrams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Archify is an agent skill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converts a repository or system description into interactive technical diagrams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supports architecture, workflow, sequence, data-flow, lifecycle, and architecture-delta views - useful for design reviews, documentation, and explaining systems.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workflow generates typed JSON intermediate representations, validates schema and layout, then emits a self-contained HTML artifact with PNG, SVG, WebM, and share-card exports.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viewer supports node search, route and dependency tracing, role comparisons, guided stories, themes, and finite accessibility-aware motion.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integrates with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Cursor, Claude Code, Codex CLI, OpenCode, Raven, and a community DeepSeek Harness plugin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The project is MIT-licensed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https://tt-a1i.github.io/archify/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https://github.com/tt-a1i/archify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3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8768" y="1218311"/>
            <a:ext cx="4331836" cy="231147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7"/>
          <p:cNvSpPr txBox="1"/>
          <p:nvPr/>
        </p:nvSpPr>
        <p:spPr>
          <a:xfrm>
            <a:off x="81765" y="420370"/>
            <a:ext cx="4425600" cy="3066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Swarm Benchmark Incident (OpenAI/METR evaluation)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METR = Model Evaluation &amp; Threat Research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Agents used shared infrastructure to communicate, exchange task information, and coordinate attempts to exploit benchmark conditions.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Roughly 1,200 agents and 70,000 messages, with “Phase One” and “Phase One Big” portrayed as organizing collective research.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Claimed activities included probing Artifactory caching, attempting tool/log manipulation, creating authentication-like conventions, and recruiting agents for risky experiments.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narrator stresses that these claims concern sandboxed evaluation behavior, not an autonomous real-world AI escape.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Interpretations about “religion,” agency, intent, and a Hugging Face attack are speculative and should be checked against the original reports.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https://www.metr.org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https://www.youtube.com/watch?v=n2x4ijx5xkk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7" name="Google Shape;267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59765" y="152400"/>
            <a:ext cx="320040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7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9765" y="1238250"/>
            <a:ext cx="4331833" cy="305303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/>
        </p:nvSpPr>
        <p:spPr>
          <a:xfrm>
            <a:off x="81775" y="99856"/>
            <a:ext cx="241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Claude Obsidian v2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>
            <a:off x="81765" y="862591"/>
            <a:ext cx="4425600" cy="40821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Obsidian v2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local-first knowledge system for Claude Code and compatible agent-skill hosts, using an Obsidian vault of plain Markdown files you control.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ingests sources into linked, source-cited notes, then enables evidence-grounded querying, retrieval, maintenance, and visual mapping rather than repeated context recaps.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2 rebuilt all 15 skills around reliability and provenance: recoverable transactions, crash recovery, source and claim ledgers, deterministic checks, and explicit Git checkpoints.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practical loop is: capture a source in the inbox, ingest it into structured linked pages, then query the growing vault for cited patterns, gaps, contradictions, and decisions.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Treat “persistent memory” carefully: it is a maintained local knowledge base, not automatic perfect recall; the current README also states PDF semantic extraction needs an external configured runner.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https://github.com/AgriciDaniel/claude-obsidian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https://agricidaniel.com/blog/claude-obsidian-ai-second-brain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https://www.youtube.com/watch?v=CREj4iuNFAI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https://www.youtube.com/watch?v=Gom-GwlZIYk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https://www.youtube.com/watch?v=xGkHfD95Upg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8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5504" y="862597"/>
            <a:ext cx="4331835" cy="2145599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76" name="Google Shape;276;p38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5503" y="3087596"/>
            <a:ext cx="4331837" cy="185710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"/>
          <p:cNvSpPr txBox="1"/>
          <p:nvPr/>
        </p:nvSpPr>
        <p:spPr>
          <a:xfrm>
            <a:off x="81775" y="99856"/>
            <a:ext cx="241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9"/>
          <p:cNvSpPr txBox="1"/>
          <p:nvPr/>
        </p:nvSpPr>
        <p:spPr>
          <a:xfrm>
            <a:off x="81765" y="487166"/>
            <a:ext cx="4425600" cy="3666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Siraj Raval switched to local models (mostly)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Monthly bill went down fro m$231 to $4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is using laptop with 64GB RAM and descent GPU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uses Ollama to run DeepSeek V4 Flash 0731  - a 284B-params MoE with 13B active params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https://build.nvidia.com/deepseek-ai/deepseek-v4-flash-0731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replacements cover chat, coding assistance, image generation, transcription, TTS, and private research workflows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research remains the main limitation: sites may block automated server traffic, so the workflow uses DataImpulse residential proxies, advertised as pay-as-you-go with non-expiring traffic 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</a:t>
            </a: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https://dataimpulse.com/premium-residential-proxies/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honest conclusion: local wins for most routine work and privacy, while frontier cloud models still lead on the hardest reasoning and polished outputs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probably used heavily quantized version, because Ollama only offers cloud API version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ollama run deepseek-v4-flash:0731-cloud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https://ollama.com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https://huggingface.co/deepseek-ai/DeepSeek-V4-Flash-0731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https://build.nvidia.com/deepseek-ai/deepseek-v4-flash-0731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https://dataimpulse.com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p39"/>
          <p:cNvPicPr preferRelativeResize="0"/>
          <p:nvPr/>
        </p:nvPicPr>
        <p:blipFill>
          <a:blip r:embed="rId8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00350" y="99850"/>
            <a:ext cx="1503451" cy="90405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84" name="Google Shape;284;p39"/>
          <p:cNvSpPr txBox="1"/>
          <p:nvPr/>
        </p:nvSpPr>
        <p:spPr>
          <a:xfrm>
            <a:off x="4620140" y="1775841"/>
            <a:ext cx="4425600" cy="3297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Claude Code /design research-preview skill 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editable-artboard workflow in CLI and Claude Code Desktop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Prompt `/design` with a UI, mockup, landing page, poster, or social asset; it can generate multiple visual directions as an artifact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 an artboard, edit elements directly, and request a Tweaks panel for adjustable colors, typography, layout, and other design parameters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strongest workflow: collect visual references, attach screenshots with a concrete brief, invoke complementary design skills, then iterate on one chosen direction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Unlike a separate design handoff, the selected visual can be implemented in the existing codebase without manually exporting or transferring assets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Available for Pro, Max, Team, and Enterprise plans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https://support.claude.com/en/articles/14604416-get-started-with-claude-design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https://code.claude.com/docs/en/skills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https://claude.ai/design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https://github.com/anthropics/claude-code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3"/>
              </a:rPr>
              <a:t>https://www.anthropic.com/news/claude-design-anthropic-labs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5" name="Google Shape;285;p39"/>
          <p:cNvPicPr preferRelativeResize="0"/>
          <p:nvPr/>
        </p:nvPicPr>
        <p:blipFill>
          <a:blip r:embed="rId1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3790" y="803891"/>
            <a:ext cx="1921959" cy="90405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0"/>
          <p:cNvSpPr/>
          <p:nvPr/>
        </p:nvSpPr>
        <p:spPr>
          <a:xfrm>
            <a:off x="3810000" y="123825"/>
            <a:ext cx="5210100" cy="7335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40"/>
          <p:cNvSpPr txBox="1"/>
          <p:nvPr/>
        </p:nvSpPr>
        <p:spPr>
          <a:xfrm>
            <a:off x="81775" y="99850"/>
            <a:ext cx="31758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Design for RAG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40"/>
          <p:cNvSpPr txBox="1"/>
          <p:nvPr/>
        </p:nvSpPr>
        <p:spPr>
          <a:xfrm>
            <a:off x="6016293" y="200427"/>
            <a:ext cx="946500" cy="572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ADD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Design Doc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0"/>
          <p:cNvSpPr txBox="1"/>
          <p:nvPr/>
        </p:nvSpPr>
        <p:spPr>
          <a:xfrm>
            <a:off x="3914776" y="200425"/>
            <a:ext cx="1325100" cy="572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PRD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Requirements Doc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0"/>
          <p:cNvSpPr txBox="1"/>
          <p:nvPr/>
        </p:nvSpPr>
        <p:spPr>
          <a:xfrm>
            <a:off x="7739318" y="200427"/>
            <a:ext cx="1185300" cy="572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Step-by-Step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Implementation Doc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1390650" y="1179725"/>
            <a:ext cx="6399300" cy="3435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Architecture Design Principles (example for RAG):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Simplicity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above all, the fewest moving parts that still deliver full functionality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Modularity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separate, don't allow "clumping of dumplings" - every capability behind a contract (API, plugin, port); loose coupling, encapsulation, bounded contexts; any part can be changed, replaced, or tested separately 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Modularity of code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subdirectories, files ≤ 800 lines, functions ≤ 50, docs at every level, a README per directory.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timeout and retry, snapshots/restore, degraded indexes rebuild; humans are paged as needed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One system of record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PostgreSQL holds all transactional truth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Avoid distributed architectures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Use single server instead of cluster. Use unix drive instead of of S3.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Parse once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everything downstream is disposable and easy to regenerate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Hybrid 3-way search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semantic (vectors) + keyword (BM25) + structure (document graph / wiki links)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Security and provenance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ACLs filter in SQL before ranking; every claim carries a verified citation; every answer leaves an immutable audit trail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Test pyramid 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unit, module, integration, AI architecture-conformance, each PR verified by AI; a golden-suite evaluation gate, reconciliation counts, and hallucination sampling gate every day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Monkey Business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every escalation to a human becomes a "monkey" - a task with an owner, status, and history; Users can see and manage their own monkeys and pass or escalate them; managers see everything; no failure is orphaned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agent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available to all users and maintainers.  Talk to it to quickly  build mini-tools and workflows, schedule and run jobs, do analysis, create reports and docs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Guardrails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assure that generated code and processes reach data only through the documented, audited APIs (ACLs apply automatically) and passes the same CI, size, and conformance gates as human-written code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206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Char char="●"/>
            </a:pPr>
            <a:r>
              <a:rPr lang="en" sz="10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Don't chase the latest versions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software packages and dependencies - use only "aged" (30 days)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5312880" y="377277"/>
            <a:ext cx="630300" cy="219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625" tIns="87625" rIns="87625" bIns="87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42"/>
          </a:p>
        </p:txBody>
      </p:sp>
      <p:sp>
        <p:nvSpPr>
          <p:cNvPr id="297" name="Google Shape;297;p40"/>
          <p:cNvSpPr/>
          <p:nvPr/>
        </p:nvSpPr>
        <p:spPr>
          <a:xfrm>
            <a:off x="7035905" y="377277"/>
            <a:ext cx="630300" cy="219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1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7625" tIns="87625" rIns="87625" bIns="87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42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1"/>
          <p:cNvSpPr txBox="1"/>
          <p:nvPr/>
        </p:nvSpPr>
        <p:spPr>
          <a:xfrm>
            <a:off x="81775" y="99856"/>
            <a:ext cx="241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1"/>
          <p:cNvSpPr txBox="1"/>
          <p:nvPr/>
        </p:nvSpPr>
        <p:spPr>
          <a:xfrm>
            <a:off x="97267" y="462720"/>
            <a:ext cx="4425600" cy="3574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Use Cases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https://www.youtube.com/watch?v=vhn9hfcerEk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Petco Love Lost’s photo-matching system has reunited 250,000 missing pets by comparing uploaded images with shelter and community reports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https://petcolove.org/newsroom/news-story/ai-for-good-petco-love-lost-reunites-250-000-pets-like-senior-dog-missing-for-two-months/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implanted brain-computer interface enabled ALS patient Casey Harrell to communicate independently at about 56 words per minute, exceeding 99% word accuracy in controlled testing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https://health.ucdavis.edu/news/headlines/brain-computer-interface-enables-independent-accurate-communication-for-man-living-with-als/2026/06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Finland’s commercial “sand battery” stores renewable heat in 2,000 tonnes of crushed soapstone, reducing Pornainen’s district-heating emissions by nearly 70%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https://polarnightenergy.com/news/worlds-largest-sand-battery-now-in-operation/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 The stories emphasize that AI, sensors, robotics, and affordable maker tools can support health, accessibility, animal welfare, safety, and clean energy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https://health.ucdavis.edu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https://polarnightenergy.com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p41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25596" y="99850"/>
            <a:ext cx="2261775" cy="16601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05" name="Google Shape;305;p41"/>
          <p:cNvSpPr txBox="1"/>
          <p:nvPr/>
        </p:nvSpPr>
        <p:spPr>
          <a:xfrm>
            <a:off x="4620217" y="3073545"/>
            <a:ext cx="4425600" cy="1957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Googlebook and Aluminium OS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Googlebook - new premium laptop category built around Gemini Intelligence and tightly integrated with Android phones; expected this Fall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Aluminium OS - internal or leaked name for its Android-based desktop platform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Magic Pointer - surfaces Gemini’s contextual 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Your Widget - using Google services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 Android apps and can work with paired phone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https://blog.google/products-and-platforms/platforms/android/meet-googlebook/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https://www.android.com/new-features-on-android/io-2026/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2"/>
          <p:cNvSpPr txBox="1"/>
          <p:nvPr/>
        </p:nvSpPr>
        <p:spPr>
          <a:xfrm>
            <a:off x="81775" y="99850"/>
            <a:ext cx="3871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Most-cited paper of 21st Century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2"/>
          <p:cNvSpPr txBox="1"/>
          <p:nvPr/>
        </p:nvSpPr>
        <p:spPr>
          <a:xfrm>
            <a:off x="247640" y="1035841"/>
            <a:ext cx="44256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“Deep Residual Learning for Image Recognition” (ResNet)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widely reported as the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most-cited paper published in the 21st century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under Nature’s 2025 cross-database analysis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residual path is a shortcut road inside an AI model. It lets the information travel around a few layers instead of being forced through every single one.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ResNet reached 152 layers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won major 2015 ImageNet tasks, and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established skip connections as a core pattern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later </a:t>
            </a: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used throughout transformer-based models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https://arxiv.org/abs/1512.03385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https://arxiv.org/abs/1603.05027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https://www.youtube.com/watch?v=QgH9sr7G13Q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2" name="Google Shape;312;p42"/>
          <p:cNvPicPr preferRelativeResize="0"/>
          <p:nvPr/>
        </p:nvPicPr>
        <p:blipFill rotWithShape="1"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67300" y="1290025"/>
            <a:ext cx="2343150" cy="158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3"/>
          <p:cNvSpPr txBox="1"/>
          <p:nvPr/>
        </p:nvSpPr>
        <p:spPr>
          <a:xfrm>
            <a:off x="81775" y="99856"/>
            <a:ext cx="24147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News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3"/>
          <p:cNvSpPr txBox="1"/>
          <p:nvPr/>
        </p:nvSpPr>
        <p:spPr>
          <a:xfrm>
            <a:off x="61277" y="426241"/>
            <a:ext cx="4425600" cy="1680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How your brand appears in AI answers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Analyzed 107M AI answers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- mostly shows in review directories, press, and reference sites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Consumer products - mostly in marketplace pages and reviews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Communications services - mostly in third-party editorial and reference coverage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https://trendos.com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https://www.searchenginejournal.com/ai-search-citation-sources-trendos-spa/586289/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https://www.tryprofound.com/blog/ai-platform-citation-patterns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https://tinuiti.com/blog/search/ai-citations/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43"/>
          <p:cNvSpPr txBox="1"/>
          <p:nvPr/>
        </p:nvSpPr>
        <p:spPr>
          <a:xfrm>
            <a:off x="4633302" y="790183"/>
            <a:ext cx="4425600" cy="42666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MINIX 3 in Intel Platform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Embedded in Intel Management Engine firmware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Andrew S. Tanenbaum created MINIX in 1987 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a compact Unix-like teaching system after Unix source licensing became unsuitable for classroom study. Size - 4K - 7.5K lines of code. The privileged kernel-side code is commonly 6K-12K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Andy lives in New York City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Linus Torvalds used MINIX while developing Linux;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Linux later adopted the GPL license, </a:t>
            </a:r>
            <a:b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whereas MINIX became BSD-licensed in 2000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2015 Intel incorporated MINIX 3 into its firmware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on Skylake-era systems. It runs independently on a dedicated embedded processor and provides low-level services for platform </a:t>
            </a:r>
            <a:r>
              <a:rPr lang="en" sz="1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startup, security and trust checks, firmware management, and power-state control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BSD licensing allowed Intel to keep its changes proprietary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Tanenbaum publicly said he would have appreciated being told, while defending the permissive license.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broader lesson: licenses shape whether downstream modifications must be shared—not merely code quality or architecture.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https://www.minix3.org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https://github.com/Stichting-MINIX-Research-Foundation/minix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https://www.cs.vu.nl/~ast/intel/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https://cacm.acm.org/research/lessons-learned-from-30-years-of-minix/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0" name="Google Shape;320;p43"/>
          <p:cNvPicPr preferRelativeResize="0"/>
          <p:nvPr/>
        </p:nvPicPr>
        <p:blipFill>
          <a:blip r:embed="rId11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75075" y="3376500"/>
            <a:ext cx="2311803" cy="1680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21" name="Google Shape;321;p43"/>
          <p:cNvPicPr preferRelativeResize="0"/>
          <p:nvPr/>
        </p:nvPicPr>
        <p:blipFill>
          <a:blip r:embed="rId1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776" y="2179850"/>
            <a:ext cx="2493750" cy="70062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4"/>
          <p:cNvSpPr txBox="1"/>
          <p:nvPr/>
        </p:nvSpPr>
        <p:spPr>
          <a:xfrm>
            <a:off x="81775" y="99850"/>
            <a:ext cx="440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Omarchy Quattro - Agentic Linux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4"/>
          <p:cNvSpPr txBox="1"/>
          <p:nvPr/>
        </p:nvSpPr>
        <p:spPr>
          <a:xfrm>
            <a:off x="61277" y="426241"/>
            <a:ext cx="4425600" cy="4128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Omarchy Quattro - Agentic Linux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DHH’s opinionated, Arch-based Linux distribution, built around the Hyprland tiling desktop and developer-friendly defaults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Version 4.0, “Quattro,” released August 14 replaces many separate desktop utilities with one Quickshell-based process for the bar, launcher, notifications, menus, lock screen, and controls.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plugin architecture makes the shell scriptable and easier to extend with custom widgets and themes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Omarchy treats AI coding agents as first-class system tools through lazy-loaded launchers, with local-model options available for privacy-conscious users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release adds dual booting, factory reset, a smaller under-6-GB ISO, and faster installs; reliable testing on spare hardware remains wise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key idea is agent-assisted personalization and administration - not magic autonomous computing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Works on 64-bit Intel/AMD PCs, Intel- and Apple-silicon Macs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https://github.com/maralcbr/omarchy-mx-mac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https://omarchy.org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https://github.com/omacom/omarchy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https://www.phoronix.com/news/Omarchy-4.0-Released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https://www.heise.de/en/news/Omarchy-Linux-Desktop-Overhaul-and-10-Million-for-Foundation-11432304.html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https://www.youtube.com/watch?v=vDOUoiZ38ZE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44"/>
          <p:cNvSpPr txBox="1"/>
          <p:nvPr/>
        </p:nvSpPr>
        <p:spPr>
          <a:xfrm>
            <a:off x="4643175" y="1603750"/>
            <a:ext cx="30990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DHH is David Heinemeier Hansson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Danish programmer, entrepreneur, author, and racing driver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is best known as the creator of Ruby on Rails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 is a co-owner and CTO of 37signals, the company behind Basecamp and HEY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9" name="Google Shape;329;p44"/>
          <p:cNvPicPr preferRelativeResize="0"/>
          <p:nvPr/>
        </p:nvPicPr>
        <p:blipFill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43173" y="426245"/>
            <a:ext cx="1941202" cy="1091926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30" name="Google Shape;330;p44"/>
          <p:cNvSpPr txBox="1"/>
          <p:nvPr/>
        </p:nvSpPr>
        <p:spPr>
          <a:xfrm>
            <a:off x="7030825" y="4156350"/>
            <a:ext cx="1852500" cy="7572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Progress: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 Browser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 App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 in OS / Device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 txBox="1"/>
          <p:nvPr/>
        </p:nvSpPr>
        <p:spPr>
          <a:xfrm>
            <a:off x="81775" y="97275"/>
            <a:ext cx="28365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Latest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5"/>
          <p:cNvSpPr txBox="1"/>
          <p:nvPr/>
        </p:nvSpPr>
        <p:spPr>
          <a:xfrm>
            <a:off x="71575" y="469675"/>
            <a:ext cx="33939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Latest packages may have dependencies which may contain viruses. Here is how to avoid them: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5"/>
          <p:cNvSpPr txBox="1"/>
          <p:nvPr/>
        </p:nvSpPr>
        <p:spPr>
          <a:xfrm>
            <a:off x="71575" y="903575"/>
            <a:ext cx="4690200" cy="1542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Python: In pyproject.toml add: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exclude-newer = "30 days"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prerelease = "disallow"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uv lock --upgrade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uv sync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uv pip install --upgrade --exclude-newer "30 days" -r requirements.txt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uv pip install --reinstall --exclude-newer "30 days" -r requirements.txt</a:t>
            </a:r>
            <a:endParaRPr sz="11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45"/>
          <p:cNvSpPr txBox="1"/>
          <p:nvPr/>
        </p:nvSpPr>
        <p:spPr>
          <a:xfrm>
            <a:off x="71575" y="2491875"/>
            <a:ext cx="46902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Calibri"/>
              <a:buChar char="●"/>
            </a:pPr>
            <a:r>
              <a:rPr lang="en" sz="11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Rust:</a:t>
            </a:r>
            <a:endParaRPr sz="11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Cargo has no built-in “only use crates older than 30 days” setting So: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Commit Cargo.lock to freeze the exact dependency graph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cargo build --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locked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cargo test --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locked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cargo check --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locked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prevent unplanned lockfile changes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cargo build --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cargo test --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frozen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locked, offline builds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one reviewed dependency at a time: cargo update -p crate_name --precise X.Y.Z.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 the crate’s crates.io release date yourself and choose a version at least one month old.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Pin Rust itself with </a:t>
            </a:r>
            <a:r>
              <a:rPr lang="en" sz="11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rust-toolchain.toml </a:t>
            </a: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an exact version such as 1.82.0.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07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Calibri"/>
              <a:buChar char="●"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cargo audit and cargo deny check before committing changes.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5"/>
          <p:cNvSpPr txBox="1"/>
          <p:nvPr/>
        </p:nvSpPr>
        <p:spPr>
          <a:xfrm>
            <a:off x="5017700" y="1506250"/>
            <a:ext cx="4040700" cy="21888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Linux AI Security Burden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and fuzzing uncover up to 2,000 CVEs (Common Vulnerabilities and Exposures) in 41 Mln lines of Linux kernel code.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 defects are mixed with low-value, questionable, or hallucinated reports - overwhelming human review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Maintainers are restricting unverified AI patches, removing obsolete code, and using frontier models to triage findings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https://www.phoronix.com/news/Linux-Kernel-CVEs-Nearly-2000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https://www.tomshardware.com/software/linux/linux-kernel-nears-2-000-cves-per-release-as-ai-bug-hunters-scour-40-million-lines-of-code-maintainers-say-they-are-completely-overwhelmed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952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https://kernel-recipes.org/en/2026/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6"/>
          <p:cNvSpPr txBox="1"/>
          <p:nvPr/>
        </p:nvSpPr>
        <p:spPr>
          <a:xfrm>
            <a:off x="81775" y="99850"/>
            <a:ext cx="440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6"/>
          <p:cNvSpPr txBox="1"/>
          <p:nvPr/>
        </p:nvSpPr>
        <p:spPr>
          <a:xfrm>
            <a:off x="61277" y="426241"/>
            <a:ext cx="4425600" cy="20964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 ECG Heart Screening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Imperial College London researchers developed an AI system that analyzes routine ECG recordings in under two seconds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flags signals of heart failure and heart-valve disease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U.S. study of 67,000 patients, it identified up to 81% of heart-failure cases and 90% of valve-disease cases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on 1.6 Mln Brazilian ECGs plus several Million U.S. recordings, the model could help prioritize patients for echocardiograms, which remain necessary to confirm a diagnosis.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https://thenextweb.com/news/imperial-ai-ecg-heart-disease-detection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https://www.escardio.org/news/news-room/congress-news/can-deep-learning-detect-lv-diastolic-dysfunction-from-ecgs/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46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50225" y="426250"/>
            <a:ext cx="2621148" cy="209639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47" name="Google Shape;347;p46"/>
          <p:cNvSpPr txBox="1"/>
          <p:nvPr/>
        </p:nvSpPr>
        <p:spPr>
          <a:xfrm>
            <a:off x="61277" y="2575416"/>
            <a:ext cx="4425600" cy="20502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Celeris Magnus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Celeris is an AI research lab in San Francisco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Celebris introduced Magnus - </a:t>
            </a: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agent-oriented model for multi-step workflows involving reasoning, tool calls, tool-result review, and follow-up actions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and fast, for business automation (banking)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Diffusion-based generation, 131K-token context, 16K-token output, adjustable reasoning effort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Examples of usage: Lead qualification, CRM updates, personalized outreach, converting call transcripts into content pipelines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https://celeris.ai/celeris-1-magnus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8" name="Google Shape;348;p46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9277" y="2675041"/>
            <a:ext cx="2541753" cy="231605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7"/>
          <p:cNvSpPr txBox="1"/>
          <p:nvPr/>
        </p:nvSpPr>
        <p:spPr>
          <a:xfrm>
            <a:off x="81775" y="99850"/>
            <a:ext cx="44052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7"/>
          <p:cNvSpPr txBox="1"/>
          <p:nvPr/>
        </p:nvSpPr>
        <p:spPr>
          <a:xfrm>
            <a:off x="61277" y="426241"/>
            <a:ext cx="4425600" cy="3804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Wonderful AI - Enterprise AI Deployment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Wonderful raised $550 Mln at a $5 Bln valuation</a:t>
            </a:r>
            <a:endParaRPr sz="1200" b="1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sells an enterprise AI operating system plus locally embedded, forward-deployed engineering and strategy teams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target customers are large, regulated organizations that need agents embedded in operational workflows, including banking, telecom, healthcare, utilities, insurance, and retail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platform supports voice, chat, email, enterprise knowledge retrieval, workflow/model orchestration, and updates to internal systems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options include multi-tenant SaaS, dedicated single tenant, customer-controlled cloud, and fully air-gapped on-premises operation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Revenue likely blends recurring platform, consumption, professional-services, infrastructure, and premium support fees; specific pricing is unconfirmed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 examples include telecom, 2.5-million-client collections, IT automation, and end-to-end energy billing.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HQ is in Amsterdam, Netherlands. Also in Tel Aviv, Israel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https://www.wonderful.ai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https://www.wonderful.ai/deployment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5" name="Google Shape;355;p47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9277" y="426250"/>
            <a:ext cx="4352324" cy="2995637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48"/>
          <p:cNvSpPr txBox="1"/>
          <p:nvPr/>
        </p:nvSpPr>
        <p:spPr>
          <a:xfrm>
            <a:off x="81775" y="0"/>
            <a:ext cx="36360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Updates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48"/>
          <p:cNvSpPr txBox="1"/>
          <p:nvPr/>
        </p:nvSpPr>
        <p:spPr>
          <a:xfrm>
            <a:off x="81765" y="420370"/>
            <a:ext cx="4425600" cy="3897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AI’s Three Career Doors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Alex Karp (CEO of Palantir) argues durable careers cluster around 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skilled trades</a:t>
            </a:r>
            <a:b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.. unconventional, non-playbook thinking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Trade work remains hard to automate because it requires physical presence, situational judgment, and repair in unpredictable environments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data-center growth may increase demand for electricians, HVAC technicians, plumbers, mechanics, and other infrastructure specialists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broader lesson is not that desk workers are doomed: routine execution is vulnerable, while taste, judgment, strategy, and accountable decisions grow more valuable.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practical response is to automate one repetitive weekly task, then reinvest the saved time in original analysis, relationship-building, or directing AI systems.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Treat AI as leverage: build the machine around your expertise rather than competing with it at standardized work.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https://www.palantir.com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https://github.com/palantir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https://www.youtube.com/watch?v=d_Bh8VWrvag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48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87320" y="92025"/>
            <a:ext cx="1985576" cy="1925875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363" name="Google Shape;363;p48"/>
          <p:cNvSpPr txBox="1"/>
          <p:nvPr/>
        </p:nvSpPr>
        <p:spPr>
          <a:xfrm>
            <a:off x="4657765" y="2146970"/>
            <a:ext cx="4425600" cy="2881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Calibri"/>
              <a:buChar char="●"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There Is No Job Apocalypse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Peter H. Diamandis argues that AI will transform work rather than cause an economy-wide job collapse through 2030.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World Economic Forum projects 170 million jobs created and 92 million displaced globally, a net gain of 78 million; its analysis covers employers across 55 economies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central problem is uneven disruption: routine, fully automatable task bundles face real pressure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proposed solution is rapid AI fluency and retraining: use AI for drafting, coding, research, analysis, and planning while retaining human judgment, trust-building, negotiation, and accountability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Char char="●"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 key achievement/importance is reframing the risk as a skills and adaptation gap, while lower operating costs may expand entrepreneurship and AI-related roles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https://www.diamandis.com/blog/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Char char="●"/>
            </a:pPr>
            <a:r>
              <a:rPr lang="en" sz="9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https://www.weforum.org/publications/the-future-of-jobs-report-2025/</a:t>
            </a:r>
            <a:r>
              <a:rPr lang="en" sz="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4" name="Google Shape;364;p48"/>
          <p:cNvPicPr preferRelativeResize="0"/>
          <p:nvPr/>
        </p:nvPicPr>
        <p:blipFill rotWithShape="1">
          <a:blip r:embed="rId9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32650" y="518900"/>
            <a:ext cx="1750724" cy="15707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9"/>
          <p:cNvSpPr txBox="1"/>
          <p:nvPr/>
        </p:nvSpPr>
        <p:spPr>
          <a:xfrm>
            <a:off x="67350" y="52750"/>
            <a:ext cx="3179400" cy="3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Jobs</a:t>
            </a:r>
            <a:endParaRPr sz="20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49"/>
          <p:cNvSpPr txBox="1"/>
          <p:nvPr/>
        </p:nvSpPr>
        <p:spPr>
          <a:xfrm>
            <a:off x="2134467" y="34252"/>
            <a:ext cx="1800600" cy="3879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https://layoffs.fyi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171450" marR="0" lvl="0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https://trueup.io/layoffs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49"/>
          <p:cNvSpPr txBox="1"/>
          <p:nvPr/>
        </p:nvSpPr>
        <p:spPr>
          <a:xfrm>
            <a:off x="5655225" y="3510625"/>
            <a:ext cx="3360600" cy="13113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Tech Layoffs by year (US only):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129K in 2026 </a:t>
            </a:r>
            <a:r>
              <a:rPr lang="en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(as of Sept 3, 2026)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124K in 2025 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153K in </a:t>
            </a:r>
            <a:r>
              <a:rPr lang="en" sz="1000" b="1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2024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264K in 2023</a:t>
            </a:r>
            <a:endParaRPr sz="10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228600" marR="0" lvl="1" indent="-133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○"/>
            </a:pPr>
            <a:r>
              <a:rPr lang="en" sz="1000" b="1">
                <a:latin typeface="Roboto Mono"/>
                <a:ea typeface="Roboto Mono"/>
                <a:cs typeface="Roboto Mono"/>
                <a:sym typeface="Roboto Mono"/>
              </a:rPr>
              <a:t>165K in 2022                  </a:t>
            </a:r>
            <a:r>
              <a:rPr lang="en" sz="1200" i="0" u="sng" strike="noStrike" cap="none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https://layoffs.fyi</a:t>
            </a:r>
            <a:endParaRPr sz="120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9"/>
          <p:cNvSpPr txBox="1"/>
          <p:nvPr/>
        </p:nvSpPr>
        <p:spPr>
          <a:xfrm>
            <a:off x="5655225" y="564150"/>
            <a:ext cx="3286800" cy="9420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25" tIns="9125" rIns="9125" bIns="91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The Tech Layoff Tracker</a:t>
            </a:r>
            <a:endParaRPr sz="1200" b="1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2026: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185,347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(750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2025: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245,953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laid off (674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133350" algn="l" rtl="0">
              <a:spcBef>
                <a:spcPts val="0"/>
              </a:spcBef>
              <a:spcAft>
                <a:spcPts val="0"/>
              </a:spcAft>
              <a:buSzPts val="1200"/>
              <a:buFont typeface="Calibri"/>
              <a:buChar char="●"/>
            </a:pP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In 2024: </a:t>
            </a:r>
            <a:r>
              <a:rPr lang="en" sz="1200" b="1">
                <a:latin typeface="Calibri"/>
                <a:ea typeface="Calibri"/>
                <a:cs typeface="Calibri"/>
                <a:sym typeface="Calibri"/>
              </a:rPr>
              <a:t>238,461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people </a:t>
            </a:r>
            <a:r>
              <a:rPr lang="en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laid off</a:t>
            </a:r>
            <a:r>
              <a:rPr lang="en" sz="1200">
                <a:latin typeface="Calibri"/>
                <a:ea typeface="Calibri"/>
                <a:cs typeface="Calibri"/>
                <a:sym typeface="Calibri"/>
              </a:rPr>
              <a:t> (653 per day)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  <a:p>
            <a:pPr marL="228600" marR="460858" lvl="0" indent="-5715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rgbClr val="0097A7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https://trueup.io/layoffs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9"/>
          <p:cNvPicPr preferRelativeResize="0"/>
          <p:nvPr/>
        </p:nvPicPr>
        <p:blipFill>
          <a:blip r:embed="rId5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3226466"/>
            <a:ext cx="5355049" cy="188527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4" name="Google Shape;374;p49"/>
          <p:cNvPicPr preferRelativeResize="0"/>
          <p:nvPr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625" y="443270"/>
            <a:ext cx="5355049" cy="2750721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75" name="Google Shape;375;p49"/>
          <p:cNvPicPr preferRelativeResize="0"/>
          <p:nvPr/>
        </p:nvPicPr>
        <p:blipFill>
          <a:blip r:embed="rId7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68750" y="1822062"/>
            <a:ext cx="3990950" cy="3879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0"/>
          <p:cNvPicPr preferRelativeResize="0"/>
          <p:nvPr/>
        </p:nvPicPr>
        <p:blipFill rotWithShape="1">
          <a:blip r:embed="rId3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5525" y="1203525"/>
            <a:ext cx="1570556" cy="1570556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0"/>
          <p:cNvSpPr txBox="1"/>
          <p:nvPr/>
        </p:nvSpPr>
        <p:spPr>
          <a:xfrm>
            <a:off x="-25625" y="-14775"/>
            <a:ext cx="33558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the Speaker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50"/>
          <p:cNvSpPr txBox="1"/>
          <p:nvPr/>
        </p:nvSpPr>
        <p:spPr>
          <a:xfrm>
            <a:off x="3330175" y="878750"/>
            <a:ext cx="5621700" cy="33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Lev Selector, Ph.D.</a:t>
            </a:r>
            <a:endParaRPr sz="25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40+ years of software engineering, data science, and building teams (hiring, training, and managing)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Ph.D. in mathematical modeling and computer simulations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Interests: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Generative AI, Using LLM with your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Local AI for Local Private Data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Char char="●"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Cloud architecture, fin-tech, application security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Find/connect: Linkedin, GitHub, YouTube, Google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3" name="Google Shape;383;p50"/>
          <p:cNvPicPr preferRelativeResize="0"/>
          <p:nvPr/>
        </p:nvPicPr>
        <p:blipFill rotWithShape="1">
          <a:blip r:embed="rId4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1578" y="3664175"/>
            <a:ext cx="858450" cy="311906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0"/>
          <p:cNvSpPr txBox="1"/>
          <p:nvPr/>
        </p:nvSpPr>
        <p:spPr>
          <a:xfrm>
            <a:off x="735103" y="4005903"/>
            <a:ext cx="13914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sng" strike="noStrike" cap="non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https://eais.ai</a:t>
            </a: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50"/>
          <p:cNvSpPr txBox="1"/>
          <p:nvPr/>
        </p:nvSpPr>
        <p:spPr>
          <a:xfrm>
            <a:off x="383803" y="4360974"/>
            <a:ext cx="20940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Enterprise AI Systems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51"/>
          <p:cNvSpPr txBox="1"/>
          <p:nvPr/>
        </p:nvSpPr>
        <p:spPr>
          <a:xfrm>
            <a:off x="2151375" y="1533150"/>
            <a:ext cx="46326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lang="en" sz="7000" b="1" i="0" u="none" strike="noStrike" cap="none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 sz="7000" b="1" i="0" u="none" strike="noStrike" cap="none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8021</Words>
  <Application>Microsoft Macintosh PowerPoint</Application>
  <PresentationFormat>On-screen Show (16:9)</PresentationFormat>
  <Paragraphs>803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1" baseType="lpstr">
      <vt:lpstr>Calibri</vt:lpstr>
      <vt:lpstr>Roboto Mono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Lev Selector</cp:lastModifiedBy>
  <cp:revision>1</cp:revision>
  <dcterms:modified xsi:type="dcterms:W3CDTF">2026-09-04T17:47:09Z</dcterms:modified>
</cp:coreProperties>
</file>