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embeddedFontLst>
    <p:embeddedFont>
      <p:font typeface="Roboto Mono" pitchFamily="49" charset="0"/>
      <p:regular r:id="rId35"/>
      <p:bold r:id="rId36"/>
      <p:italic r:id="rId37"/>
      <p:boldItalic r:id="rId3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D6867AA-B9B8-4D8D-BB0B-FEEDAFA91722}">
  <a:tblStyle styleId="{CD6867AA-B9B8-4D8D-BB0B-FEEDAFA9172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>
      <p:cViewPr varScale="1">
        <p:scale>
          <a:sx n="99" d="100"/>
          <a:sy n="99" d="100"/>
        </p:scale>
        <p:origin x="192" y="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3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633c15ed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633c15ed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f9c68837c6_1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g3f9c68837c6_1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f9c68837c6_1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5" name="Google Shape;85;g3f9c68837c6_1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f3fd832125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" name="Google Shape;93;g3f3fd832125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f8aa1f0f4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g3f8aa1f0f4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f8aa1f0f44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0" name="Google Shape;110;g3f8aa1f0f44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f9c68837c6_1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0" name="Google Shape;120;g3f9c68837c6_1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f9ec8f8ba3_1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7" name="Google Shape;127;g3f9ec8f8ba3_1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f53f46768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5" name="Google Shape;135;g3f53f46768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f89d47144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g3f89d47144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f879c8375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1" name="Google Shape;151;g3f879c8375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f9bfd00fb4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0" name="Google Shape;160;g3f9bfd00fb4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9c68837c6_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9" name="Google Shape;169;g3f9c68837c6_1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f9c68837c6_1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g3f9c68837c6_1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f881708619_1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3" name="Google Shape;183;g3f881708619_1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f881708619_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2" name="Google Shape;192;g3f881708619_1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f88c454db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1" name="Google Shape;201;g3f88c454db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f883a7791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8" name="Google Shape;208;g3f883a7791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f88c454db3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g3f88c454db3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f89933e583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4" name="Google Shape;224;g3f89933e583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f9d31a4bf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3" name="Google Shape;233;g3f9d31a4bf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f89933e58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g3f89933e58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f8b53ab02a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0" name="Google Shape;250;g3f8b53ab02a_1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f9bfd00fb4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7" name="Google Shape;257;g3f9bfd00fb4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3f8b53ab02a_1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6" name="Google Shape;266;g3f8b53ab02a_1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f9c1dddb32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5" name="Google Shape;275;g3f9c1dddb32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f8b50a22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4" name="Google Shape;284;g3f8b50a22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f9efa66233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3" name="Google Shape;293;g3f9efa66233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f881708619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0" name="Google Shape;300;g3f881708619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f9c68837c6_1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9" name="Google Shape;309;g3f9c68837c6_1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3d971967e09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9" name="Google Shape;319;g3d971967e09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d971967e09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9" name="Google Shape;329;g3d971967e09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57172" y="205067"/>
            <a:ext cx="8228700" cy="8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57172" y="1203299"/>
            <a:ext cx="8228700" cy="29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_HEADER_1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4"/>
          <p:cNvSpPr txBox="1">
            <a:spLocks noGrp="1"/>
          </p:cNvSpPr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Font typeface="Arial"/>
              <a:buNone/>
              <a:defRPr sz="15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hyperlink" Target="https://arena.ai/leaderboard/model/glm-5.3-flash" TargetMode="External"/><Relationship Id="rId18" Type="http://schemas.openxmlformats.org/officeDocument/2006/relationships/hyperlink" Target="https://arena.ai/leaderboard/model/claude-opus-4-5-20251101-high-32k" TargetMode="External"/><Relationship Id="rId26" Type="http://schemas.openxmlformats.org/officeDocument/2006/relationships/hyperlink" Target="https://arena.ai/leaderboard/model/claude-opus-4-5-20251101" TargetMode="External"/><Relationship Id="rId21" Type="http://schemas.openxmlformats.org/officeDocument/2006/relationships/hyperlink" Target="https://arena.ai/leaderboard/model/claude-opus-4-8" TargetMode="External"/><Relationship Id="rId34" Type="http://schemas.openxmlformats.org/officeDocument/2006/relationships/hyperlink" Target="https://arena.ai/leaderboard/model/qwen3.8-max" TargetMode="External"/><Relationship Id="rId7" Type="http://schemas.openxmlformats.org/officeDocument/2006/relationships/hyperlink" Target="https://arena.ai/leaderboard/model/claude-opus-4-6-high" TargetMode="External"/><Relationship Id="rId12" Type="http://schemas.openxmlformats.org/officeDocument/2006/relationships/hyperlink" Target="https://arena.ai/leaderboard/model/gemini-3.8-flash-high" TargetMode="External"/><Relationship Id="rId17" Type="http://schemas.openxmlformats.org/officeDocument/2006/relationships/hyperlink" Target="https://arena.ai/leaderboard/model/muse-spark-1.1" TargetMode="External"/><Relationship Id="rId25" Type="http://schemas.openxmlformats.org/officeDocument/2006/relationships/hyperlink" Target="https://arena.ai/leaderboard/model/claude-opus-5-max" TargetMode="External"/><Relationship Id="rId33" Type="http://schemas.openxmlformats.org/officeDocument/2006/relationships/hyperlink" Target="https://arena.ai/leaderboard/model/gemini-3.6-flash-high" TargetMode="External"/><Relationship Id="rId38" Type="http://schemas.openxmlformats.org/officeDocument/2006/relationships/hyperlink" Target="https://arena.ai/leaderboard/model/gpt-5.2-chat-latest-20260210" TargetMode="External"/><Relationship Id="rId2" Type="http://schemas.openxmlformats.org/officeDocument/2006/relationships/notesSlide" Target="../notesSlides/notesSlide2.xml"/><Relationship Id="rId16" Type="http://schemas.openxmlformats.org/officeDocument/2006/relationships/hyperlink" Target="https://arena.ai/leaderboard/model/claude-opus-5-high" TargetMode="External"/><Relationship Id="rId20" Type="http://schemas.openxmlformats.org/officeDocument/2006/relationships/hyperlink" Target="https://arena.ai/leaderboard/model/claude-sonnet-4-6" TargetMode="External"/><Relationship Id="rId29" Type="http://schemas.openxmlformats.org/officeDocument/2006/relationships/hyperlink" Target="https://arena.ai/leaderboard/model/gemini-3.1-pro-preview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rena.ai/leaderboard/model/claude-opus-4-7-high" TargetMode="External"/><Relationship Id="rId11" Type="http://schemas.openxmlformats.org/officeDocument/2006/relationships/hyperlink" Target="https://arena.ai/leaderboard/model/kimi-k3-max" TargetMode="External"/><Relationship Id="rId24" Type="http://schemas.openxmlformats.org/officeDocument/2006/relationships/hyperlink" Target="https://arena.ai/leaderboard/model/qwen3.7-max-preview" TargetMode="External"/><Relationship Id="rId32" Type="http://schemas.openxmlformats.org/officeDocument/2006/relationships/hyperlink" Target="https://arena.ai/leaderboard/model/gpt-5.5-high" TargetMode="External"/><Relationship Id="rId37" Type="http://schemas.openxmlformats.org/officeDocument/2006/relationships/hyperlink" Target="https://arena.ai/leaderboard/model/gpt-5.4-high" TargetMode="External"/><Relationship Id="rId5" Type="http://schemas.openxmlformats.org/officeDocument/2006/relationships/hyperlink" Target="https://lmarena.ai/leaderboard/text/coding" TargetMode="External"/><Relationship Id="rId15" Type="http://schemas.openxmlformats.org/officeDocument/2006/relationships/hyperlink" Target="https://arena.ai/leaderboard/model/muse-spark-1.2%20%28xHigh%29" TargetMode="External"/><Relationship Id="rId23" Type="http://schemas.openxmlformats.org/officeDocument/2006/relationships/hyperlink" Target="https://arena.ai/leaderboard/model/muse-spark" TargetMode="External"/><Relationship Id="rId28" Type="http://schemas.openxmlformats.org/officeDocument/2006/relationships/hyperlink" Target="https://arena.ai/leaderboard/model/grok-4.5" TargetMode="External"/><Relationship Id="rId36" Type="http://schemas.openxmlformats.org/officeDocument/2006/relationships/hyperlink" Target="https://arena.ai/leaderboard/model/gpt-5.5" TargetMode="External"/><Relationship Id="rId10" Type="http://schemas.openxmlformats.org/officeDocument/2006/relationships/hyperlink" Target="https://arena.ai/leaderboard/model/claude-opus-4-6" TargetMode="External"/><Relationship Id="rId19" Type="http://schemas.openxmlformats.org/officeDocument/2006/relationships/hyperlink" Target="https://arena.ai/leaderboard/model/gpt-5.6-sol-xhigh" TargetMode="External"/><Relationship Id="rId31" Type="http://schemas.openxmlformats.org/officeDocument/2006/relationships/hyperlink" Target="https://arena.ai/leaderboard/model/gemini-3-pro" TargetMode="External"/><Relationship Id="rId4" Type="http://schemas.openxmlformats.org/officeDocument/2006/relationships/hyperlink" Target="https://lmarena.ai/leaderboard/text" TargetMode="External"/><Relationship Id="rId9" Type="http://schemas.openxmlformats.org/officeDocument/2006/relationships/hyperlink" Target="https://arena.ai/leaderboard/model/claude-opus-4-7" TargetMode="External"/><Relationship Id="rId14" Type="http://schemas.openxmlformats.org/officeDocument/2006/relationships/hyperlink" Target="https://arena.ai/leaderboard/model/claude-opus-4-8-high" TargetMode="External"/><Relationship Id="rId22" Type="http://schemas.openxmlformats.org/officeDocument/2006/relationships/hyperlink" Target="https://arena.ai/leaderboard/model/glm-5.3-max" TargetMode="External"/><Relationship Id="rId27" Type="http://schemas.openxmlformats.org/officeDocument/2006/relationships/hyperlink" Target="https://arena.ai/leaderboard/model/gemini-3.7-flash-high" TargetMode="External"/><Relationship Id="rId30" Type="http://schemas.openxmlformats.org/officeDocument/2006/relationships/hyperlink" Target="https://arena.ai/leaderboard/model/mimo-v2.5-pro" TargetMode="External"/><Relationship Id="rId35" Type="http://schemas.openxmlformats.org/officeDocument/2006/relationships/hyperlink" Target="https://arena.ai/leaderboard/model/gemini-3.5-flash-high" TargetMode="External"/><Relationship Id="rId8" Type="http://schemas.openxmlformats.org/officeDocument/2006/relationships/hyperlink" Target="https://arena.ai/leaderboard/model/claude-fable-5" TargetMode="External"/><Relationship Id="rId3" Type="http://schemas.openxmlformats.org/officeDocument/2006/relationships/hyperlink" Target="https://en.wikipedia.org/wiki/Elo_rating_system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tificialanalysis.ai/evaluations/artificial-analysis-intelligence-index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andb.ai/site/articles/exploring-llm-as-a-judge/" TargetMode="External"/><Relationship Id="rId3" Type="http://schemas.openxmlformats.org/officeDocument/2006/relationships/hyperlink" Target="https://airepo.substack.com/p/anthropic-sued-the-pentagon-and-won" TargetMode="External"/><Relationship Id="rId7" Type="http://schemas.openxmlformats.org/officeDocument/2006/relationships/hyperlink" Target="https://www.bankingdive.com/news/goldman-sachs-gender-bias-claims-apple-card-women-new-york-dfs/597273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cnbc.com/2019/11/10/wall-street-regulator-probes-goldman-over-allegations-of-sexist-credit-decisions-at-apple-card.html" TargetMode="External"/><Relationship Id="rId5" Type="http://schemas.openxmlformats.org/officeDocument/2006/relationships/hyperlink" Target="https://www.youtube.com/watch?v=RKBibsoK7Yg" TargetMode="External"/><Relationship Id="rId4" Type="http://schemas.openxmlformats.org/officeDocument/2006/relationships/image" Target="../media/image2.jpeg"/><Relationship Id="rId9" Type="http://schemas.openxmlformats.org/officeDocument/2006/relationships/hyperlink" Target="https://haystack.deepset.ai/cookbook/prometheus2_evaluation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z.ai/guides/vlm/glm-5.3-flash" TargetMode="External"/><Relationship Id="rId13" Type="http://schemas.openxmlformats.org/officeDocument/2006/relationships/hyperlink" Target="https://www.cnbc.com/2026/08/25/apple-announces-new-mac-mini-and-mac-studio-models-with-ai-upgrades.html" TargetMode="External"/><Relationship Id="rId3" Type="http://schemas.openxmlformats.org/officeDocument/2006/relationships/hyperlink" Target="http://z.ai" TargetMode="External"/><Relationship Id="rId7" Type="http://schemas.openxmlformats.org/officeDocument/2006/relationships/hyperlink" Target="https://openrouter.ai/z-ai/glm-5.3-flash" TargetMode="External"/><Relationship Id="rId12" Type="http://schemas.openxmlformats.org/officeDocument/2006/relationships/hyperlink" Target="https://www.apple.com/mac-studio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huggingface.co/zai-org/GLM-5.3-Flash" TargetMode="External"/><Relationship Id="rId11" Type="http://schemas.openxmlformats.org/officeDocument/2006/relationships/hyperlink" Target="https://www.apple.com/mac-mini/" TargetMode="External"/><Relationship Id="rId5" Type="http://schemas.openxmlformats.org/officeDocument/2006/relationships/hyperlink" Target="https://z.ai" TargetMode="External"/><Relationship Id="rId10" Type="http://schemas.openxmlformats.org/officeDocument/2006/relationships/image" Target="../media/image3.png"/><Relationship Id="rId4" Type="http://schemas.openxmlformats.org/officeDocument/2006/relationships/hyperlink" Target="https://docs.z.ai" TargetMode="External"/><Relationship Id="rId9" Type="http://schemas.openxmlformats.org/officeDocument/2006/relationships/hyperlink" Target="https://ollama.com/library/glm-5.3-flash" TargetMode="External"/><Relationship Id="rId1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www.tencent.com/tencent-releases-and-open-sources-tencent-hy4-preview/" TargetMode="External"/><Relationship Id="rId7" Type="http://schemas.openxmlformats.org/officeDocument/2006/relationships/hyperlink" Target="https://github.com/tencent/AngelSlim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hy.tencent.ai/research/hy4-preview" TargetMode="External"/><Relationship Id="rId5" Type="http://schemas.openxmlformats.org/officeDocument/2006/relationships/hyperlink" Target="https://github.com/Tencent-Hunyuan/Hy4-preview" TargetMode="External"/><Relationship Id="rId10" Type="http://schemas.openxmlformats.org/officeDocument/2006/relationships/image" Target="../media/image6.png"/><Relationship Id="rId4" Type="http://schemas.openxmlformats.org/officeDocument/2006/relationships/hyperlink" Target="https://huggingface.co/tencent/Hy4-preview" TargetMode="External"/><Relationship Id="rId9" Type="http://schemas.openxmlformats.org/officeDocument/2006/relationships/hyperlink" Target="https://www.anthropic.com/claude-fable-and-mythos-5-1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aw.ai/blog/openclaw-2-accidentally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hyperlink" Target="https://docs.openclaw.ai/releases/2026.8.1" TargetMode="External"/><Relationship Id="rId4" Type="http://schemas.openxmlformats.org/officeDocument/2006/relationships/hyperlink" Target="https://github.com/openclaw/openclaw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artificialanalysis.ai/agents/search-api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nthropic.com/engineering/effective-context-engineering-for-ai-agents" TargetMode="External"/><Relationship Id="rId5" Type="http://schemas.openxmlformats.org/officeDocument/2006/relationships/image" Target="../media/image8.png"/><Relationship Id="rId4" Type="http://schemas.openxmlformats.org/officeDocument/2006/relationships/hyperlink" Target="https://www.perplexity.ai/hub/blog/introducing-the-perplexity-search-api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@lev-selector/videos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hyperlink" Target="http://claude.md" TargetMode="External"/><Relationship Id="rId3" Type="http://schemas.openxmlformats.org/officeDocument/2006/relationships/hyperlink" Target="https://nanoclaw.dev" TargetMode="External"/><Relationship Id="rId7" Type="http://schemas.openxmlformats.org/officeDocument/2006/relationships/hyperlink" Target="https://www.youtube.com/watch?v=n55ZiDl2PtE" TargetMode="External"/><Relationship Id="rId12" Type="http://schemas.openxmlformats.org/officeDocument/2006/relationships/hyperlink" Target="https://www.youtube.com/watch?v=4hIvG849w4Y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techtarget.com/it-infrastructure/news/366640195/NanoClaw-AI-agents-find-a-home-in-Docker-Sandboxes" TargetMode="External"/><Relationship Id="rId11" Type="http://schemas.openxmlformats.org/officeDocument/2006/relationships/hyperlink" Target="https://code.claude.com/docs/en/memory" TargetMode="External"/><Relationship Id="rId5" Type="http://schemas.openxmlformats.org/officeDocument/2006/relationships/hyperlink" Target="https://www.docker.com/blog/nanoclaw-docker-sandboxes-agent-security/" TargetMode="External"/><Relationship Id="rId10" Type="http://schemas.openxmlformats.org/officeDocument/2006/relationships/hyperlink" Target="https://platform.claude.com/docs/en/managed-agents/dreams" TargetMode="External"/><Relationship Id="rId4" Type="http://schemas.openxmlformats.org/officeDocument/2006/relationships/hyperlink" Target="https://github.com/nanocoai/nanoclaw" TargetMode="External"/><Relationship Id="rId9" Type="http://schemas.openxmlformats.org/officeDocument/2006/relationships/hyperlink" Target="https://medium.com/@aerator_rolls.27/websites-will-block-ai-agents-by-default-on-september-15-is-your-agent-ready-174b6901fd5c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SvnL5_RgtBs" TargetMode="External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hyperlink" Target="https://support.claude.com/en/articles/14554000-claude-code-power-user-tips" TargetMode="External"/><Relationship Id="rId4" Type="http://schemas.openxmlformats.org/officeDocument/2006/relationships/hyperlink" Target="https://www.youtube.com/watch?v=icM0ewXGvAw" TargetMode="Externa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fal.ai/minimax-h3" TargetMode="External"/><Relationship Id="rId3" Type="http://schemas.openxmlformats.org/officeDocument/2006/relationships/hyperlink" Target="https://www.youtube.com/watch?v=82hCt3xH9Gc" TargetMode="External"/><Relationship Id="rId7" Type="http://schemas.openxmlformats.org/officeDocument/2006/relationships/hyperlink" Target="https://fal.ai/minimax-h3-max" TargetMode="External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hyperlink" Target="https://x.com/fal/status/2092710676431020376" TargetMode="External"/><Relationship Id="rId5" Type="http://schemas.openxmlformats.org/officeDocument/2006/relationships/hyperlink" Target="https://github.com/naveedharri/baalda" TargetMode="External"/><Relationship Id="rId10" Type="http://schemas.openxmlformats.org/officeDocument/2006/relationships/hyperlink" Target="https://www.minimax.io/blog/minimax-h3" TargetMode="External"/><Relationship Id="rId4" Type="http://schemas.openxmlformats.org/officeDocument/2006/relationships/hyperlink" Target="https://baalda.com" TargetMode="External"/><Relationship Id="rId9" Type="http://schemas.openxmlformats.org/officeDocument/2006/relationships/hyperlink" Target="https://github.com/MiniMax-AI/MiniMax-H3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ZCI4kvWPb3E" TargetMode="External"/><Relationship Id="rId3" Type="http://schemas.openxmlformats.org/officeDocument/2006/relationships/hyperlink" Target="https://www.tavus.io" TargetMode="External"/><Relationship Id="rId7" Type="http://schemas.openxmlformats.org/officeDocument/2006/relationships/hyperlink" Target="https://sparrow2.tavuslabs.org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x.com/tavus/status/2093030526785589582" TargetMode="External"/><Relationship Id="rId5" Type="http://schemas.openxmlformats.org/officeDocument/2006/relationships/hyperlink" Target="https://www.tavus.io/blog/sparrow-2" TargetMode="External"/><Relationship Id="rId4" Type="http://schemas.openxmlformats.org/officeDocument/2006/relationships/hyperlink" Target="https://github.com/tavus-engineering" TargetMode="External"/><Relationship Id="rId9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emini.google/overview/video-generation/" TargetMode="External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blog.google/innovation-and-ai/technology/developers-tools/build-with-gemini-omni-1-1-flash/" TargetMode="External"/><Relationship Id="rId5" Type="http://schemas.openxmlformats.org/officeDocument/2006/relationships/hyperlink" Target="https://github.com/topics/gemini-omni" TargetMode="External"/><Relationship Id="rId4" Type="http://schemas.openxmlformats.org/officeDocument/2006/relationships/hyperlink" Target="https://ai.google.dev/gemini-api/docs/omni" TargetMode="Externa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LMCache/LMCache" TargetMode="External"/><Relationship Id="rId3" Type="http://schemas.openxmlformats.org/officeDocument/2006/relationships/hyperlink" Target="https://discuss.python.org/t/pre-pep-rust-for-cpython/104906" TargetMode="External"/><Relationship Id="rId7" Type="http://schemas.openxmlformats.org/officeDocument/2006/relationships/hyperlink" Target="https://lmcache.ai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hyperlink" Target="https://us.pycon.org/2026/schedule/presentation/1/" TargetMode="External"/><Relationship Id="rId4" Type="http://schemas.openxmlformats.org/officeDocument/2006/relationships/hyperlink" Target="https://lwn.net/Articles/1046933/" TargetMode="External"/><Relationship Id="rId9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ssi.inc" TargetMode="External"/><Relationship Id="rId3" Type="http://schemas.openxmlformats.org/officeDocument/2006/relationships/hyperlink" Target="https://apodex.ai" TargetMode="External"/><Relationship Id="rId7" Type="http://schemas.openxmlformats.org/officeDocument/2006/relationships/image" Target="../media/image20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huggingface.co/apodex/Apodex-1.1-mini" TargetMode="External"/><Relationship Id="rId11" Type="http://schemas.openxmlformats.org/officeDocument/2006/relationships/hyperlink" Target="https://www.dwarkesh.com/p/ilya-sutskever-2" TargetMode="External"/><Relationship Id="rId5" Type="http://schemas.openxmlformats.org/officeDocument/2006/relationships/hyperlink" Target="https://arxiv.org/abs/2608.23283" TargetMode="External"/><Relationship Id="rId10" Type="http://schemas.openxmlformats.org/officeDocument/2006/relationships/hyperlink" Target="https://github.com/test-time-training/e2e" TargetMode="External"/><Relationship Id="rId4" Type="http://schemas.openxmlformats.org/officeDocument/2006/relationships/hyperlink" Target="https://github.com/ApodexAI/FrontierAgent" TargetMode="External"/><Relationship Id="rId9" Type="http://schemas.openxmlformats.org/officeDocument/2006/relationships/hyperlink" Target="https://investor.nvidia.com/news/press-release-details/2026/Ilya-Sutskevers-Safe-Superintelligence-Inc--and-NVIDIA-Announce-Long-Term-Strategic-Partnership/default.aspx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tt-a1i.github.io/archify/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hyperlink" Target="https://github.com/tt-a1i/archify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etr.org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hyperlink" Target="https://www.youtube.com/watch?v=n2x4ijx5xkk" TargetMode="Externa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hyperlink" Target="https://github.com/AgriciDaniel/claude-obsidian" TargetMode="External"/><Relationship Id="rId7" Type="http://schemas.openxmlformats.org/officeDocument/2006/relationships/hyperlink" Target="https://www.youtube.com/watch?v=xGkHfD95Upg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Gom-GwlZIYk" TargetMode="External"/><Relationship Id="rId5" Type="http://schemas.openxmlformats.org/officeDocument/2006/relationships/hyperlink" Target="https://www.youtube.com/watch?v=CREj4iuNFAI" TargetMode="External"/><Relationship Id="rId4" Type="http://schemas.openxmlformats.org/officeDocument/2006/relationships/hyperlink" Target="https://agricidaniel.com/blog/claude-obsidian-ai-second-brain" TargetMode="External"/><Relationship Id="rId9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hyperlink" Target="https://www.anthropic.com/news/claude-design-anthropic-labs" TargetMode="External"/><Relationship Id="rId3" Type="http://schemas.openxmlformats.org/officeDocument/2006/relationships/hyperlink" Target="https://build.nvidia.com/deepseek-ai/deepseek-v4-flash-0731" TargetMode="External"/><Relationship Id="rId7" Type="http://schemas.openxmlformats.org/officeDocument/2006/relationships/hyperlink" Target="https://dataimpulse.com" TargetMode="External"/><Relationship Id="rId12" Type="http://schemas.openxmlformats.org/officeDocument/2006/relationships/hyperlink" Target="https://github.com/anthropics/claude-code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huggingface.co/deepseek-ai/DeepSeek-V4-Flash-0731" TargetMode="External"/><Relationship Id="rId11" Type="http://schemas.openxmlformats.org/officeDocument/2006/relationships/hyperlink" Target="https://claude.ai/design" TargetMode="External"/><Relationship Id="rId5" Type="http://schemas.openxmlformats.org/officeDocument/2006/relationships/hyperlink" Target="https://ollama.com" TargetMode="External"/><Relationship Id="rId10" Type="http://schemas.openxmlformats.org/officeDocument/2006/relationships/hyperlink" Target="https://code.claude.com/docs/en/skills" TargetMode="External"/><Relationship Id="rId4" Type="http://schemas.openxmlformats.org/officeDocument/2006/relationships/hyperlink" Target="https://dataimpulse.com/premium-residential-proxies/" TargetMode="External"/><Relationship Id="rId9" Type="http://schemas.openxmlformats.org/officeDocument/2006/relationships/hyperlink" Target="https://support.claude.com/en/articles/14604416-get-started-with-claude-design" TargetMode="External"/><Relationship Id="rId1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hyperlink" Target="https://polarnightenergy.com" TargetMode="External"/><Relationship Id="rId3" Type="http://schemas.openxmlformats.org/officeDocument/2006/relationships/hyperlink" Target="https://www.youtube.com/watch?v=vhn9hfcerEk" TargetMode="External"/><Relationship Id="rId7" Type="http://schemas.openxmlformats.org/officeDocument/2006/relationships/hyperlink" Target="https://health.ucdavis.edu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polarnightenergy.com/news/worlds-largest-sand-battery-now-in-operation/" TargetMode="External"/><Relationship Id="rId11" Type="http://schemas.openxmlformats.org/officeDocument/2006/relationships/hyperlink" Target="https://www.android.com/new-features-on-android/io-2026/" TargetMode="External"/><Relationship Id="rId5" Type="http://schemas.openxmlformats.org/officeDocument/2006/relationships/hyperlink" Target="https://health.ucdavis.edu/news/headlines/brain-computer-interface-enables-independent-accurate-communication-for-man-living-with-als/2026/06" TargetMode="External"/><Relationship Id="rId10" Type="http://schemas.openxmlformats.org/officeDocument/2006/relationships/hyperlink" Target="https://blog.google/products-and-platforms/platforms/android/meet-googlebook/" TargetMode="External"/><Relationship Id="rId4" Type="http://schemas.openxmlformats.org/officeDocument/2006/relationships/hyperlink" Target="https://petcolove.org/newsroom/news-story/ai-for-good-petco-love-lost-reunites-250-000-pets-like-senior-dog-missing-for-two-months/" TargetMode="External"/><Relationship Id="rId9" Type="http://schemas.openxmlformats.org/officeDocument/2006/relationships/image" Target="../media/image2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512.03385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hyperlink" Target="https://www.youtube.com/watch?v=QgH9sr7G13Q" TargetMode="External"/><Relationship Id="rId4" Type="http://schemas.openxmlformats.org/officeDocument/2006/relationships/hyperlink" Target="https://arxiv.org/abs/1603.05027" TargetMode="Externa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Stichting-MINIX-Research-Foundation/minix" TargetMode="External"/><Relationship Id="rId3" Type="http://schemas.openxmlformats.org/officeDocument/2006/relationships/hyperlink" Target="https://trendos.com" TargetMode="External"/><Relationship Id="rId7" Type="http://schemas.openxmlformats.org/officeDocument/2006/relationships/hyperlink" Target="https://www.minix3.org" TargetMode="External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tinuiti.com/blog/search/ai-citations/" TargetMode="External"/><Relationship Id="rId11" Type="http://schemas.openxmlformats.org/officeDocument/2006/relationships/image" Target="../media/image31.jpeg"/><Relationship Id="rId5" Type="http://schemas.openxmlformats.org/officeDocument/2006/relationships/hyperlink" Target="https://www.tryprofound.com/blog/ai-platform-citation-patterns" TargetMode="External"/><Relationship Id="rId10" Type="http://schemas.openxmlformats.org/officeDocument/2006/relationships/hyperlink" Target="https://cacm.acm.org/research/lessons-learned-from-30-years-of-minix/" TargetMode="External"/><Relationship Id="rId4" Type="http://schemas.openxmlformats.org/officeDocument/2006/relationships/hyperlink" Target="https://www.searchenginejournal.com/ai-search-citation-sources-trendos-spa/586289/" TargetMode="External"/><Relationship Id="rId9" Type="http://schemas.openxmlformats.org/officeDocument/2006/relationships/hyperlink" Target="https://www.cs.vu.nl/~ast/intel/" TargetMode="Externa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vDOUoiZ38ZE" TargetMode="External"/><Relationship Id="rId3" Type="http://schemas.openxmlformats.org/officeDocument/2006/relationships/hyperlink" Target="https://github.com/maralcbr/omarchy-mx-mac" TargetMode="External"/><Relationship Id="rId7" Type="http://schemas.openxmlformats.org/officeDocument/2006/relationships/hyperlink" Target="https://www.heise.de/en/news/Omarchy-Linux-Desktop-Overhaul-and-10-Million-for-Foundation-11432304.html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phoronix.com/news/Omarchy-4.0-Released" TargetMode="External"/><Relationship Id="rId5" Type="http://schemas.openxmlformats.org/officeDocument/2006/relationships/hyperlink" Target="https://github.com/omacom/omarchy" TargetMode="External"/><Relationship Id="rId4" Type="http://schemas.openxmlformats.org/officeDocument/2006/relationships/hyperlink" Target="https://omarchy.org" TargetMode="External"/><Relationship Id="rId9" Type="http://schemas.openxmlformats.org/officeDocument/2006/relationships/image" Target="../media/image3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horonix.com/news/Linux-Kernel-CVEs-Nearly-2000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kernel-recipes.org/en/2026/" TargetMode="External"/><Relationship Id="rId4" Type="http://schemas.openxmlformats.org/officeDocument/2006/relationships/hyperlink" Target="https://www.tomshardware.com/software/linux/linux-kernel-nears-2-000-cves-per-release-as-ai-bug-hunters-scour-40-million-lines-of-code-maintainers-say-they-are-completely-overwhelmed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thenextweb.com/news/imperial-ai-ecg-heart-disease-detection" TargetMode="External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celeris.ai/celeris-1-magnus" TargetMode="External"/><Relationship Id="rId5" Type="http://schemas.openxmlformats.org/officeDocument/2006/relationships/image" Target="../media/image34.png"/><Relationship Id="rId4" Type="http://schemas.openxmlformats.org/officeDocument/2006/relationships/hyperlink" Target="https://www.escardio.org/news/news-room/congress-news/can-deep-learning-detect-lv-diastolic-dysfunction-from-ecgs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onderful.ai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hyperlink" Target="https://www.wonderful.ai/deployment" TargetMode="Externa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weforum.org/publications/the-future-of-jobs-report-2025/" TargetMode="External"/><Relationship Id="rId3" Type="http://schemas.openxmlformats.org/officeDocument/2006/relationships/hyperlink" Target="https://www.palantir.com" TargetMode="External"/><Relationship Id="rId7" Type="http://schemas.openxmlformats.org/officeDocument/2006/relationships/hyperlink" Target="https://www.diamandis.com/blog/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hyperlink" Target="https://www.youtube.com/watch?v=d_Bh8VWrvag" TargetMode="External"/><Relationship Id="rId4" Type="http://schemas.openxmlformats.org/officeDocument/2006/relationships/hyperlink" Target="https://github.com/palantir" TargetMode="External"/><Relationship Id="rId9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layoffs.fyi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hyperlink" Target="https://trueup.io/layoffs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eais.ai" TargetMode="External"/><Relationship Id="rId4" Type="http://schemas.openxmlformats.org/officeDocument/2006/relationships/image" Target="../media/image42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/>
        </p:nvSpPr>
        <p:spPr>
          <a:xfrm>
            <a:off x="100175" y="490675"/>
            <a:ext cx="3307800" cy="2604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Crowd-sourced "LM Arena"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Cost Per Intelligence Index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Anthropic sued the Pentagon and won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Biases in LLM Evaluation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z.ai GLM 5.3 Flash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Apple’s Local AI Strategy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Tencent’s Hy4 Preview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qwen3.8-max-0902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Fable 5.1 - Sept 5.1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OpenClaw 2.0 - Major Rebuild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Perplexity Search API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Prompting Claude 5 - Seven Rules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15"/>
          <p:cNvSpPr txBox="1"/>
          <p:nvPr/>
        </p:nvSpPr>
        <p:spPr>
          <a:xfrm>
            <a:off x="55167" y="-22692"/>
            <a:ext cx="4420200" cy="4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 sz="30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Updates - Sept 4, 2026</a:t>
            </a:r>
            <a:endParaRPr sz="30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6425925" y="4352950"/>
            <a:ext cx="2600700" cy="6648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AI’s Three Career Doors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No Job Apocalypse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Jobs &amp; Layoffs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5497125" y="48900"/>
            <a:ext cx="35295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Monthly bill went from $231 to $4.</a:t>
            </a:r>
            <a:endParaRPr sz="1800" b="1" i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Run the routine locally,</a:t>
            </a:r>
            <a:br>
              <a:rPr lang="en" sz="18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8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send the hard problems out.</a:t>
            </a:r>
            <a:endParaRPr sz="1800" b="1" i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5"/>
          <p:cNvSpPr txBox="1"/>
          <p:nvPr/>
        </p:nvSpPr>
        <p:spPr>
          <a:xfrm>
            <a:off x="3499425" y="1433700"/>
            <a:ext cx="2778900" cy="32508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Google Gemini Omni 1.1 Flash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LMCache - KV Cache Tensormesh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From CPython to Rust Python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SSI’s Reported Research Leap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Apodex 1.1 - Agent Teams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Archify Skill - Verifiable Diagrams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OpenAI/METR evaluation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Obsidian v2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Siraj Raval - Local Models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Code "/design"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Architecture Design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Use Cases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Googlebook and Aluminium OS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Most-cited paper of 21st century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How you appear in AI answers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5"/>
          <p:cNvSpPr txBox="1"/>
          <p:nvPr/>
        </p:nvSpPr>
        <p:spPr>
          <a:xfrm>
            <a:off x="100175" y="3157512"/>
            <a:ext cx="3307800" cy="1527000"/>
          </a:xfrm>
          <a:prstGeom prst="rect">
            <a:avLst/>
          </a:prstGeom>
          <a:solidFill>
            <a:srgbClr val="D0E0E3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NanoClaw: Secure Agent Automation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Memory “Dreams” Feature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Make Qwen 3.8 27B Faster (x8) 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Code: 19 Updated Tips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Baalda - Team AI Second Brain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MiniMax H3 Max - Fast AI Video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Tavus’s Sparrow-2 Voice Understanding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15"/>
          <p:cNvSpPr txBox="1"/>
          <p:nvPr/>
        </p:nvSpPr>
        <p:spPr>
          <a:xfrm>
            <a:off x="6425925" y="1899125"/>
            <a:ext cx="2600700" cy="1527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MINIX 3 in Intel Platform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Omarchy Quattro Linux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Avoid Latest Updates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Linux AI Security Burden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ECG Heart Screening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Celeris Magnus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Wonderful AI 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/>
        </p:nvSpPr>
        <p:spPr>
          <a:xfrm>
            <a:off x="6736325" y="52350"/>
            <a:ext cx="23562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https://en.wikipedia.org/wiki/Elo_rating_system</a:t>
            </a:r>
            <a:r>
              <a:rPr lang="en"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6"/>
          <p:cNvSpPr txBox="1"/>
          <p:nvPr/>
        </p:nvSpPr>
        <p:spPr>
          <a:xfrm>
            <a:off x="38150" y="2125"/>
            <a:ext cx="25998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"LM Arena" Leaderboard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16"/>
          <p:cNvSpPr txBox="1"/>
          <p:nvPr/>
        </p:nvSpPr>
        <p:spPr>
          <a:xfrm>
            <a:off x="52418" y="476072"/>
            <a:ext cx="25998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English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https://lmarena.ai/leaderboard/text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6"/>
          <p:cNvSpPr txBox="1"/>
          <p:nvPr/>
        </p:nvSpPr>
        <p:spPr>
          <a:xfrm>
            <a:off x="2726905" y="476078"/>
            <a:ext cx="28395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Coding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https://lmarena.ai/leaderboard/text/coding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3437903" y="63625"/>
            <a:ext cx="14082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Data for Sept 01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9" name="Google Shape;79;p16"/>
          <p:cNvGraphicFramePr/>
          <p:nvPr/>
        </p:nvGraphicFramePr>
        <p:xfrm>
          <a:off x="5742420" y="4300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{CD6867AA-B9B8-4D8D-BB0B-FEEDAFA91722}</a:tableStyleId>
              </a:tblPr>
              <a:tblGrid>
                <a:gridCol w="21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Claude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Gemini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OpenAI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 Source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0" name="Google Shape;80;p16"/>
          <p:cNvSpPr txBox="1"/>
          <p:nvPr/>
        </p:nvSpPr>
        <p:spPr>
          <a:xfrm>
            <a:off x="6838390" y="485738"/>
            <a:ext cx="2152500" cy="2173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Fable-5 - 6TB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Opus-4.8 - 5TB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Sonnet-4.5 - 1TB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Sonnet-5 - ?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GLM-5.3 - 744B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Meta muse-spark - 16 x 70B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Qwen3.7-max-preview - 745B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Qwen3.8-max - 2.4TB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Baidu Ernie-5.1 - 800B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Deepseek-v4 - 1.6T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Kimi-k3 - 2.8T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Xiaomi MiMo-V2.5-Pro - 1T+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ByteDance 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dola-seed-2.0-pro 400B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Minimax M3  -  456B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81" name="Google Shape;81;p16"/>
          <p:cNvGraphicFramePr/>
          <p:nvPr/>
        </p:nvGraphicFramePr>
        <p:xfrm>
          <a:off x="3075200" y="74240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{CD6867AA-B9B8-4D8D-BB0B-FEEDAFA91722}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claude-opus-4-7-high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claude-opus-4-6-high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claude-fable-5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kimi-k3-max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gemini-3.8-flash-high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glm-5.3-flash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/>
                        </a:rPr>
                        <a:t>claude-opus-4-8-high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muse-spark-1.2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6"/>
                        </a:rPr>
                        <a:t>claude-opus-5-high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7"/>
                        </a:rPr>
                        <a:t>muse-spark-1.1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8"/>
                        </a:rPr>
                        <a:t>claude-opus-4-5-20251101-high-32k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gpt-5.6-sol-xhigh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claude-sonnet-4-6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claude-opus-4-8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glm-5.3-max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qwen3.7-max-preview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/>
                        </a:rPr>
                        <a:t>claude-opus-5-max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/>
                        </a:rPr>
                        <a:t>claude-opus-4-5-20251101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gemini-3.7-flash-high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/>
                        </a:rPr>
                        <a:t>grok-4.5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gemini-3.1-pro-preview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mimo-v2.5-pro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graphicFrame>
        <p:nvGraphicFramePr>
          <p:cNvPr id="82" name="Google Shape;82;p16"/>
          <p:cNvGraphicFramePr/>
          <p:nvPr/>
        </p:nvGraphicFramePr>
        <p:xfrm>
          <a:off x="423650" y="74504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{CD6867AA-B9B8-4D8D-BB0B-FEEDAFA91722}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claude-fable-5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claude-opus-4-6-high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claude-opus-4-7-high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muse-spark-1.2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gemini-3.8-flash-high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6"/>
                        </a:rPr>
                        <a:t>claude-opus-5-high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7"/>
                        </a:rPr>
                        <a:t>muse-spark-1.1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gemini-3.7-flash-high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kimi-k3-max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/>
                        </a:rPr>
                        <a:t>claude-opus-5-max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gemini-3.1-pro-preview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1"/>
                        </a:rPr>
                        <a:t>gemini-3-pro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gpt-5.6-sol-xhigh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2"/>
                        </a:rPr>
                        <a:t>gpt-5.5-high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glm-5.3-max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/>
                        </a:rPr>
                        <a:t>claude-opus-4-8-high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/>
                        </a:rPr>
                        <a:t>gemini-3.6-flash-high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/>
                        </a:rPr>
                        <a:t>qwen3.8-max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5"/>
                        </a:rPr>
                        <a:t>gemini-3.5-flash-high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6"/>
                        </a:rPr>
                        <a:t>gpt-5.5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7"/>
                        </a:rPr>
                        <a:t>gpt-5.4-high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8"/>
                        </a:rPr>
                        <a:t>gpt-5.2-chat-latest-20260210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7"/>
          <p:cNvSpPr txBox="1"/>
          <p:nvPr/>
        </p:nvSpPr>
        <p:spPr>
          <a:xfrm>
            <a:off x="38150" y="2125"/>
            <a:ext cx="44937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7"/>
          <p:cNvSpPr txBox="1"/>
          <p:nvPr/>
        </p:nvSpPr>
        <p:spPr>
          <a:xfrm>
            <a:off x="52430" y="355163"/>
            <a:ext cx="44295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https://artificialanalysis.ai/evaluations/artificial-analysis-intelligence-index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7"/>
          <p:cNvSpPr txBox="1"/>
          <p:nvPr/>
        </p:nvSpPr>
        <p:spPr>
          <a:xfrm>
            <a:off x="6609401" y="424475"/>
            <a:ext cx="9447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Sept 2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0" name="Google Shape;90;p17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739" y="1402873"/>
            <a:ext cx="8988527" cy="36734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8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8"/>
          <p:cNvSpPr txBox="1"/>
          <p:nvPr/>
        </p:nvSpPr>
        <p:spPr>
          <a:xfrm>
            <a:off x="81765" y="420370"/>
            <a:ext cx="4425600" cy="2927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sued the Pentagon and won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https://airepo.substack.com/p/anthropic-sued-the-pentagon-and-won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federal court in San Francisco ruled that the Pentagon unlawfully labeled Anthropic a “supply chain risk”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court found the designation was retaliation for Anthropic’s criticism of U.S. AI policy, violating First Amendment protections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conflict began after Anthropic declined unrestricted Claude access without safeguards against autonomous weapons and mass surveillance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After negotiations failed, the Pentagon blacklisted the company; Anthropic filed lawsuits in San Francisco and Washington.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San Francisco ruling is a significant victory, but the Washington case remains unresolved and Anthropic technically stays blacklisted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outcome may reduce uncertainty ahead of Anthropic’s anticipated IPO and highlights a broader dispute over government control of frontier AI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7" name="Google Shape;97;p18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775" y="3442050"/>
            <a:ext cx="1302400" cy="16353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98" name="Google Shape;98;p18"/>
          <p:cNvSpPr txBox="1"/>
          <p:nvPr/>
        </p:nvSpPr>
        <p:spPr>
          <a:xfrm>
            <a:off x="4649665" y="1564570"/>
            <a:ext cx="4425600" cy="328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Biases in LLM Evaluation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Proxy discrimination: models can reproduce gender-linked outcomes without receiving gender as an explicit feature.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LLMs similarly absorb patterns from human-written data and preference training; fluent, confident output is not proof of truth.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judges can favor answer position, verbosity, formatting, cited-looking authority, familiar styles, or outputs resembling their own model family.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Mitigate with blind model labels, evidence-based rubrics, order-swapped comparisons, length controls, multiple diverse judges, and human audits for high-stakes decisions.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NYDFS ultimately reported no evidence of disparate impact, while criticizing transparency and service shortcomings.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https://www.youtube.com/watch?v=RKBibsoK7Yg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https://www.cnbc.com/2019/11/10/wall-street-regulator-probes-goldman-over-allegations-of-sexist-credit-decisions-at-apple-card.html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https://www.bankingdive.com/news/goldman-sachs-gender-bias-claims-apple-card-women-new-york-dfs/597273/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https://wandb.ai/site/articles/exploring-llm-as-a-judge/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https://haystack.deepset.ai/cookbook/prometheus2_evaluation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9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9"/>
          <p:cNvSpPr txBox="1"/>
          <p:nvPr/>
        </p:nvSpPr>
        <p:spPr>
          <a:xfrm>
            <a:off x="143275" y="455900"/>
            <a:ext cx="4304400" cy="4082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uFill>
                  <a:noFill/>
                </a:u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z.ai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GLM 5.3 Flash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https://docs.z.ai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,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https://z.ai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OpenRouter’s mystery “Ox Alpha” was revealed as Z.ai’s GLM-5.3-Flash, an open-weights, MIT-licensed, multimodal, MoE 320B total, 18B active, for coding, long tasks, agentic work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1M-token context window, 131K max output; hybrid attention - linear and sparce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Comparable to GPT-5.6 Sol Max  - but 10 times cheaper !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Pricing: $0.15 / $0.50 per 1M in/out tokens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000"/>
              <a:buFont typeface="Roboto Mono"/>
              <a:buChar char="●"/>
            </a:pPr>
            <a:r>
              <a:rPr lang="en" sz="10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ollama launch claude   --model glm-5.3-flash:cloud</a:t>
            </a:r>
            <a:endParaRPr sz="10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000"/>
              <a:buFont typeface="Roboto Mono"/>
              <a:buChar char="●"/>
            </a:pPr>
            <a:r>
              <a:rPr lang="en" sz="10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ollama launch opencode --model glm-5.3-flash:cloud</a:t>
            </a:r>
            <a:endParaRPr sz="10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000"/>
              <a:buFont typeface="Roboto Mono"/>
              <a:buChar char="●"/>
            </a:pPr>
            <a:r>
              <a:rPr lang="en" sz="10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ollama launch hermes   --model glm-5.3-flash:cloud</a:t>
            </a:r>
            <a:endParaRPr sz="10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000"/>
              <a:buFont typeface="Roboto Mono"/>
              <a:buChar char="●"/>
            </a:pPr>
            <a:r>
              <a:rPr lang="en" sz="1000" b="1">
                <a:solidFill>
                  <a:srgbClr val="6AA84F"/>
                </a:solidFill>
                <a:latin typeface="Roboto Mono"/>
                <a:ea typeface="Roboto Mono"/>
                <a:cs typeface="Roboto Mono"/>
                <a:sym typeface="Roboto Mono"/>
              </a:rPr>
              <a:t>ollama launch claude   --model glm-5.3:cloud</a:t>
            </a:r>
            <a:endParaRPr sz="1000" b="1">
              <a:solidFill>
                <a:srgbClr val="6AA8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000"/>
              <a:buFont typeface="Roboto Mono"/>
              <a:buChar char="●"/>
            </a:pPr>
            <a:r>
              <a:rPr lang="en" sz="1000" b="1">
                <a:solidFill>
                  <a:srgbClr val="6AA84F"/>
                </a:solidFill>
                <a:latin typeface="Roboto Mono"/>
                <a:ea typeface="Roboto Mono"/>
                <a:cs typeface="Roboto Mono"/>
                <a:sym typeface="Roboto Mono"/>
              </a:rPr>
              <a:t>ollama launch opencode --model glm-5.3:cloud</a:t>
            </a:r>
            <a:endParaRPr sz="1000" b="1">
              <a:solidFill>
                <a:srgbClr val="6AA8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000"/>
              <a:buFont typeface="Roboto Mono"/>
              <a:buChar char="●"/>
            </a:pPr>
            <a:r>
              <a:rPr lang="en" sz="1000" b="1">
                <a:solidFill>
                  <a:srgbClr val="6AA84F"/>
                </a:solidFill>
                <a:latin typeface="Roboto Mono"/>
                <a:ea typeface="Roboto Mono"/>
                <a:cs typeface="Roboto Mono"/>
                <a:sym typeface="Roboto Mono"/>
              </a:rPr>
              <a:t>ollama launch hermes   --model glm-5.3:cloud</a:t>
            </a:r>
            <a:endParaRPr sz="1000" b="1">
              <a:solidFill>
                <a:srgbClr val="6AA8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Claude Desktop can be configured to use Ollama's models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Models available through Z.ai, OpenRouter, Hugging Face, Ollama, and local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https://huggingface.co/zai-org/GLM-5.3-Flash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https://openrouter.ai/z-ai/glm-5.3-flash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https://docs.z.ai/guides/vlm/glm-5.3-flash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https://ollama.com/library/glm-5.3-flash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Note: GLM 5.3 has 753B params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5" name="Google Shape;105;p19"/>
          <p:cNvPicPr preferRelativeResize="0"/>
          <p:nvPr/>
        </p:nvPicPr>
        <p:blipFill rotWithShape="1"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515900" y="135150"/>
            <a:ext cx="2795550" cy="12430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06" name="Google Shape;106;p19"/>
          <p:cNvSpPr txBox="1"/>
          <p:nvPr/>
        </p:nvSpPr>
        <p:spPr>
          <a:xfrm>
            <a:off x="4759225" y="3631668"/>
            <a:ext cx="4304400" cy="1449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Apple’s Local AI Strategy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Run routine, repetitive, privacy sensitive work locally; route difficult or high-stakes tasks to cloud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Mac mini ($900+), Mac Studio ($2,500+),  M5 Ultra ($5,500 for 512GB memory model)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https://www.apple.com/mac-mini/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https://www.apple.com/mac-studio/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https://huggingface.co/zai-org/GLM-5.3-Flash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https://www.cnbc.com/2026/08/25/apple-announces-new-mac-mini-and-mac-studio-models-with-ai-upgrades.html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7" name="Google Shape;107;p19"/>
          <p:cNvPicPr preferRelativeResize="0"/>
          <p:nvPr/>
        </p:nvPicPr>
        <p:blipFill>
          <a:blip r:embed="rId1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73575" y="1851118"/>
            <a:ext cx="2090054" cy="17297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0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20"/>
          <p:cNvSpPr txBox="1"/>
          <p:nvPr/>
        </p:nvSpPr>
        <p:spPr>
          <a:xfrm>
            <a:off x="81775" y="394600"/>
            <a:ext cx="4304400" cy="3112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Tencent’s Hy4 Preview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Open-weight (Apache 2.0) - 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software, documents, data analysis, game prototypes, and research workflows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MoE, 770B total params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49B active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1M-token context, 64K output, FP8 weights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Available via WorkBuddy, CodeBuddy, Tencent Cloud TokenHub, or OpenRouter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AngelSlim’s mixed-precision GGUF shrinks the BF16 download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from about 1.5 TB to roughly 200–214 GB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by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allocating lower precision selectively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rather than quantizing every layer equally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Reported benchmark losses appear modest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requires patched, self-built llama.cpp/CUDA support, not ordinary local-model apps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https://www.tencent.com/tencent-releases-and-open-sources-tencent-hy4-preview/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https://huggingface.co/tencent/Hy4-preview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https://github.com/Tencent-Hunyuan/Hy4-preview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https://hy.tencent.ai/research/hy4-preview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https://github.com/tencent/AngelSlim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4" name="Google Shape;114;p20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60300" y="68500"/>
            <a:ext cx="2242174" cy="2067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15" name="Google Shape;115;p20"/>
          <p:cNvSpPr txBox="1"/>
          <p:nvPr/>
        </p:nvSpPr>
        <p:spPr>
          <a:xfrm>
            <a:off x="4673350" y="3668700"/>
            <a:ext cx="43044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Fable 5.1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Reliable multi-step work: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25% - 45% cheaper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Better performance across coding, research, and reasoning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Mythos 5.1 - restricted to trusted-access programs for advanced cybersecurity and biology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https://www.anthropic.com/claude-fable-and-mythos-5-1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6" name="Google Shape;116;p20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73350" y="2376513"/>
            <a:ext cx="4304400" cy="1210612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17" name="Google Shape;117;p20"/>
          <p:cNvSpPr txBox="1"/>
          <p:nvPr/>
        </p:nvSpPr>
        <p:spPr>
          <a:xfrm>
            <a:off x="81775" y="3575000"/>
            <a:ext cx="43044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qwen3.8-max-0902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2.4T-params, 1M-token context window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Stronger coding/cowork post-training, and better tool orchestration for long-horizon projects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 QwenCloud at $2 / $6 in/out per 1M tokens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21"/>
          <p:cNvSpPr txBox="1"/>
          <p:nvPr/>
        </p:nvSpPr>
        <p:spPr>
          <a:xfrm>
            <a:off x="81775" y="418475"/>
            <a:ext cx="4304400" cy="3758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OpenClaw 2.0 - Major Rebuild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Open-source, self-hosted AI-agent platform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big release includes more than 16,000 pull requests from 933 contributors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Setup is simpler: it detects available subscriptions, API keys, and local models, getting users to a first agent conversation sooner.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New browser workspace combines sessions, tasks, files, terminal access, and live agent progress rather than treating the web UI as an add-on.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Shared Cloud Sessions let trusted collaborators join the same live agent context, though they are not a hostile-user security boundary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Persistent sessions, searchable history, cross-device execution, memory, automations, dashboards, and experimental agent swarms move it beyond one-off chat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Security additions include masked credential prompts, destination restrictions for protected secrets, and clearer plugin review information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https://openclaw.ai/blog/openclaw-2-accidentally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https://github.com/openclaw/openclaw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https://docs.openclaw.ai/releases/2026.8.1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4" name="Google Shape;124;p21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78625" y="484000"/>
            <a:ext cx="3877025" cy="27743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2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22"/>
          <p:cNvSpPr txBox="1"/>
          <p:nvPr/>
        </p:nvSpPr>
        <p:spPr>
          <a:xfrm>
            <a:off x="81775" y="418475"/>
            <a:ext cx="4304400" cy="158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Perplexity Search API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Developer-facing web-retrieval layer behind its answer engine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Took the top three positions in Artificial Analysis’ independent Search Index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https://artificialanalysis.ai/agents/search-api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Perplexity’s medium, high, and low context configurations scored 80, 79, and 77; the nearest competing configurations from Parallel and Brave scored 75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https://artificialanalysis.ai/agents/search-api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https://www.perplexity.ai/hub/blog/introducing-the-perplexity-search-api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1" name="Google Shape;131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775350" y="436438"/>
            <a:ext cx="2952750" cy="15525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32" name="Google Shape;132;p22"/>
          <p:cNvSpPr txBox="1"/>
          <p:nvPr/>
        </p:nvSpPr>
        <p:spPr>
          <a:xfrm>
            <a:off x="81775" y="2099050"/>
            <a:ext cx="4304400" cy="2004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Prompting Claude 5 - Seven Rules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Give the model the entire job, not step-by-step instructions.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an “interview me” process to clarify complex tasks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Explain why the task matters, not only what to do.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Define what “done” looks like, including scope and output style.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Replace hard rules with reasoned guardrails.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Avoid unnecessary double-checking (“think step by step”), forced reasoning, and aggressive emphasis prompts.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Fix the model’s voice with concise standing instructions: focused, brief, plain language, and low jargon.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https://anthropic.com/engineering/effective-context-engineering-for-ai-agents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3"/>
          <p:cNvSpPr txBox="1"/>
          <p:nvPr/>
        </p:nvSpPr>
        <p:spPr>
          <a:xfrm>
            <a:off x="102375" y="478350"/>
            <a:ext cx="4161900" cy="418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Weekly videos every Friday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7.4K subscribers, 323 videos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Subscribe to this channel </a:t>
            </a:r>
            <a:r>
              <a:rPr lang="en" sz="1800" b="1" u="sng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Download slides from GitHub using links under the videos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3. Please pause the video - and answer the pinned question in comments under the video</a:t>
            </a:r>
            <a:endParaRPr sz="1800" b="1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8" name="Google Shape;138;p23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9500" y="263775"/>
            <a:ext cx="2461825" cy="31542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39" name="Google Shape;139;p23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96550" y="2823825"/>
            <a:ext cx="2160975" cy="224335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4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81765" y="420370"/>
            <a:ext cx="4425600" cy="3620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NanoClaw: Secure Agent Automation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NanoClaw is a lightweight, open-source alternative to OpenClaw built around a security-first model.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Each active agent runs in an isolated Docker container, limiting access to only explicitly mounted files and reducing host-level risk.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Its smaller, auditable codebase makes it easier to customize agents, skills, schedules, model providers, credentials, and workflows.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can connect with messaging platforms, but a custom local GUI can replace Discord-centric control with scheduled bots and readable run outputs.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Practical uses include recurring Hacker News research, video-topic discovery, thumbnail generation, and other repeatable personal workflows.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Docker Sandboxes can add MicroVM-based isolation for stronger separation from the host OS.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https://nanoclaw.dev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https://github.com/nanocoai/nanoclaw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https://www.docker.com/blog/nanoclaw-docker-sandboxes-agent-security/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https://www.techtarget.com/it-infrastructure/news/366640195/NanoClaw-AI-agents-find-a-home-in-Docker-Sandboxes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https://www.youtube.com/watch?v=n55ZiDl2PtE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6" name="Google Shape;146;p24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775" y="4134750"/>
            <a:ext cx="2465051" cy="9165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47" name="Google Shape;147;p24"/>
          <p:cNvSpPr txBox="1"/>
          <p:nvPr/>
        </p:nvSpPr>
        <p:spPr>
          <a:xfrm>
            <a:off x="4633865" y="89520"/>
            <a:ext cx="44256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Websites Will Block AI Agents by Default on September 15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Cloudflare’s July 1, 2026 change means Agent and Training crawlers get blocked by default on ad-monetized pages of new domains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https://medium.com/@aerator_rolls.27/websites-will-block-ai-agents-by-default-on-september-15-is-your-agent-ready-174b6901fd5c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24"/>
          <p:cNvSpPr txBox="1"/>
          <p:nvPr/>
        </p:nvSpPr>
        <p:spPr>
          <a:xfrm>
            <a:off x="4633865" y="1139970"/>
            <a:ext cx="44256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Memory “Dreams” Feature for Managed Agents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Runs in Anthropic-managed cloud sandbox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Research Preview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Consolidates an agent’s memory and past session transcripts, merging duplicates and resolving stale or conflicting information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Claude Code, combine CLAUDE.md guidance, Auto Memory, and scoped rules; periodically review memory so repeated corrections become durable project knowledge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https://platform.claude.com/docs/en/managed-agents/dreams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https://code.claude.com/docs/en/memory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https://www.youtube.com/watch?v=4hIvG849w4Y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Dreams is not a Claude Code slash command, it can not be enabled in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CLAUDE.md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It is an API feature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for Managed Agents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5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5"/>
          <p:cNvSpPr txBox="1"/>
          <p:nvPr/>
        </p:nvSpPr>
        <p:spPr>
          <a:xfrm>
            <a:off x="81765" y="420370"/>
            <a:ext cx="4425600" cy="2881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Make Qwen 3.8 27B Faster (x8) for Long Context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https://www.youtube.com/watch?v=SvnL5_RgtBs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Tested Qwen 3.8 27B IQ4_NL near a 98,304-token window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MTP improved short prompts but collapsed at 77,418 tokens: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1.54 tokens/sec versus 2.32 without MTP.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Compressed KV caches modestly improved MTP to 1.95 tokens/sec, with potential memory and quality tradeoffs.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hybrid placement bundle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CPU feed-forward tensors, GPU attention/recurrent tensors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raised speed to 13.19 tokens/sec, an 8.55× MTP improvement.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Completion time dropped from 165 to 19 seconds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; ngram-mod produced only workload-dependent marginal gains.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0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llama-server \</a:t>
            </a:r>
            <a:br>
              <a:rPr lang="en" sz="10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" sz="10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--model Qwen3.8-27B-IQ4_NL.gguf \</a:t>
            </a:r>
            <a:br>
              <a:rPr lang="en" sz="10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" sz="10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--n-gpu-layers all \</a:t>
            </a:r>
            <a:br>
              <a:rPr lang="en" sz="10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" sz="10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--override-tensor 'blk\.(0|1|...|40)\.ffn_.*=CPU'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25"/>
          <p:cNvSpPr txBox="1"/>
          <p:nvPr/>
        </p:nvSpPr>
        <p:spPr>
          <a:xfrm>
            <a:off x="4613915" y="1616537"/>
            <a:ext cx="4425600" cy="3435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Code: 19 Updated Tips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Personas and “take a breath” preambles may add little;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prioritize where Claude should look, a clear definition of done, and a self-check.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State desired output positively rather than piling on prohibitions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Limit routine connector permissions; load tools on demand to reduce exposure and context cost.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Keep CLAUDE.md short and task-focused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;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restart or compact after changing it.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subagents for parallel investigation, but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restate critical requirements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because they lack main-thread context.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Treat large context windows as imperfect retrieval, not reliable memory;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compact deliberately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Verification is the highest-leverage habit: r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un tests, checks, or constrained adversarial reviews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Avoid mid-session model/fast-mode switches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that can invalidate caches and increase costs.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https://www.youtube.com/watch?v=icM0ewXGvAw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https://support.claude.com/en/articles/14554000-claude-code-power-user-tips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6" name="Google Shape;156;p25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85859" y="116672"/>
            <a:ext cx="2540374" cy="14134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57" name="Google Shape;157;p25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772" y="3395850"/>
            <a:ext cx="2799802" cy="157572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6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26"/>
          <p:cNvSpPr txBox="1"/>
          <p:nvPr/>
        </p:nvSpPr>
        <p:spPr>
          <a:xfrm>
            <a:off x="81776" y="420375"/>
            <a:ext cx="4425600" cy="1727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Baalda - Team AI Second Brain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Open-source app - team-shared Obsidian-style Wiki, Markdown Files, links; real-time sync, per-folder/file/member permissions, daily backups, and file-level version history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MCP/connector support (so that AI can update knowledge)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Users can create a vault, open an existing Markdown vault, or join a shared team vault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https://www.youtube.com/watch?v=82hCt3xH9Gc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https://baalda.com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https://github.com/naveedharri/baalda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4" name="Google Shape;164;p26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4100" y="58675"/>
            <a:ext cx="2969275" cy="5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26"/>
          <p:cNvSpPr txBox="1"/>
          <p:nvPr/>
        </p:nvSpPr>
        <p:spPr>
          <a:xfrm>
            <a:off x="4614090" y="1597020"/>
            <a:ext cx="4425600" cy="3481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MiniMax H3 Max - Fast AI Video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post-trained variant of MiniMax’s open-weight H3 video model, optimized for speed, stronger prompt adherence, and aesthetics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leads Artificial Analysis’ image-to-video-with-audio leaderboard at roughly 1,201 Elo across 2,177 samples; it ranks third for text-to-video with audio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5-sec 768p clip renders in under 3-sec, with synchronized audio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H3 Max supports text-to-video and image-to-video, including optional start/end frames, but is capped at 768p.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768p, 5–10-second clips, “balanced” prompt expansion, and explicitly describe sound, action, camera, lighting, and mood.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Base H3 offers 2K and broader multimodal/reference workflows; Max prioritizes iteration speed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“fal” (pronounced like “fall”) is an AI-infrastructure company in San Francisco, CA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https://fal.ai/minimax-h3-max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https://fal.ai/minimax-h3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https://github.com/MiniMax-AI/MiniMax-H3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https://www.minimax.io/blog/minimax-h3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https://x.com/fal/status/2092710676431020376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6" name="Google Shape;166;p26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3021475" y="4125020"/>
            <a:ext cx="14859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7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27"/>
          <p:cNvSpPr txBox="1"/>
          <p:nvPr/>
        </p:nvSpPr>
        <p:spPr>
          <a:xfrm>
            <a:off x="81776" y="463300"/>
            <a:ext cx="4425600" cy="2881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Tavus’s Sparrow-2 Voice Understanding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streaming, audio-native conversational-understanding model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replaces simple silence-based endpoint detection with continuous interpretation of the full conversational scene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model evaluates speech meaning, tone, speaker identity, interruptions, backchannels, background speech, noise, etc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updates its conversational state every 10 ms, helping agents decide whether to listen, wait, speak, or keep speaking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Tavus reports a 2.1% failure rate across 575 real conversational events and 97% correct patience during meaningful thinking pauses.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Available through Tavus PALs, APIs, and platform integrations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https://www.tavus.io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https://github.com/tavus-engineering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https://www.tavus.io/blog/sparrow-2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https://x.com/tavus/status/2093030526785589582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https://sparrow2.tavuslabs.org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https://www.youtube.com/watch?v=ZCI4kvWPb3E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3" name="Google Shape;173;p27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9775" y="463300"/>
            <a:ext cx="4114364" cy="27428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8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28"/>
          <p:cNvSpPr txBox="1"/>
          <p:nvPr/>
        </p:nvSpPr>
        <p:spPr>
          <a:xfrm>
            <a:off x="81776" y="463300"/>
            <a:ext cx="4425600" cy="3158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Gemini Omni 1.1 Flash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Multimodal generative-video model family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Understands text, images, audio, and video together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Gemini Omni 1.1 Flash released Aug 27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prompts to generate and edit videos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Control first- and last-frames, reference inputs,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Scene continuation; Lower-cost 360p drafts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Scene extension can use up to 10 seconds of prior footage and add 10-second segments - up to 40 sec total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Output defaults to 720p; 1080p and 4K are available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Access via Google AI Studio, Gemini Enterprise Agent Platform, Google Flow, and selected Gemini subscriptions.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https://gemini.google/overview/video-generation/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https://ai.google.dev/gemini-api/docs/omni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https://github.com/topics/gemini-omni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https://blog.google/innovation-and-ai/technology/developers-tools/build-with-gemini-omni-1-1-flash/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0" name="Google Shape;180;p28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9776" y="463300"/>
            <a:ext cx="4331824" cy="243665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9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9"/>
          <p:cNvSpPr txBox="1"/>
          <p:nvPr/>
        </p:nvSpPr>
        <p:spPr>
          <a:xfrm>
            <a:off x="4618090" y="2560208"/>
            <a:ext cx="4425600" cy="2511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Rewriting Python from C (CPython) into Rust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Rust modules build only when a Rust toolchain is available, with base64 suggested as an early proof of concept.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new cpython-sys crate would provide generated FFI bindings to CPython’s C APIs.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Supporters cite memory safety and safer concurrency; critics cite portability, bootstrapping, contributor burden, and unsafe C/Rust boundaries.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is not RustPython: CPython remains the C-based reference interpreter.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final adoption decision has been made yet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https://discuss.python.org/t/pre-pep-rust-for-cpython/104906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https://lwn.net/Articles/1046933/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https://us.pycon.org/2026/schedule/presentation/1/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7" name="Google Shape;187;p29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34526" y="3440950"/>
            <a:ext cx="2872851" cy="161682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88" name="Google Shape;188;p29"/>
          <p:cNvSpPr txBox="1"/>
          <p:nvPr/>
        </p:nvSpPr>
        <p:spPr>
          <a:xfrm>
            <a:off x="81765" y="434708"/>
            <a:ext cx="4425600" cy="2604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LMCache - KV cache by Tensormesh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Recomputing unchanged agent context can dominate latency and input cost. vLLM and SGLang already offer prefix caching, which is best when the KV working set fits comfortably in GPU HBM.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LMCache externalizes KV cache across GPU memory, RAM, local SSD, and remote storage, enabling reuse across workers, restarts, and replicas.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Reduced time to first token by 79%, raised input throughput 264% for 100K token context. But reduces throughput on short context.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Tensormesh raised a $20M extension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Note - preserve stable prompt prefixes; rewriting or truncating the front destroys cache reuse.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https://lmcache.ai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https://github.com/LMCache/LMCache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9" name="Google Shape;189;p29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618090" y="434700"/>
            <a:ext cx="2628900" cy="800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0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30"/>
          <p:cNvSpPr txBox="1"/>
          <p:nvPr/>
        </p:nvSpPr>
        <p:spPr>
          <a:xfrm>
            <a:off x="4627190" y="1530713"/>
            <a:ext cx="4425600" cy="3528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Apodex 1.1 - Agent Teams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Apodex 1.1 targets long, tool-driven work: research, files, code, data analysis, and deliverables rather than one-shot chat responses.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Its asynchronous Agent Team decomposes work, delegates parallel sub-tasks, integrates results as they arrive, and replans when needed.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FrontierAgent is the open-source local runtime, with ReAct for a single stateful agent and Agent Team for coordinated parallel work.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35B-parameter open-weight Mini model is intended for local deployment and tool use.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Reported Agent Team scores include 78.8 on GDPval and 56.1 on Humanity’s Last Exam; treat vendor-reported benchmarks as useful but independently unverified.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key emphasis is traceable, checkable outputs—review sources, files, and execution results before relying on consequential claims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https://apodex.ai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https://github.com/ApodexAI/FrontierAgent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https://arxiv.org/abs/2608.23283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https://huggingface.co/apodex/Apodex-1.1-mini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0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93900" y="250896"/>
            <a:ext cx="1258899" cy="1192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97" name="Google Shape;197;p30"/>
          <p:cNvSpPr txBox="1"/>
          <p:nvPr/>
        </p:nvSpPr>
        <p:spPr>
          <a:xfrm>
            <a:off x="81765" y="420863"/>
            <a:ext cx="4425600" cy="3481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SSI’s Reported Research Leap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SSI and NVIDIA announced a long-term partnership after NVIDIA received rare access to SSI’s private research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Ilya Sutskever said SSI now has work “worthy of scaling up”; the deal is intended to increase SSI’s compute roughly tenfold using NVIDIA’s Vera Rubin platform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SSI actually built remains undisclosed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Rumors that its first model substantially surpasses “Fable” are unverified and should not be treated as evidence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Ilya’s stated objective is a broadly capable system that can learn new jobs rapidly, like an eager, highly intelligent teenager rather than a fixed pretrained model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plausible research direction is continual/test-time learning: adapting while reading or working, without overwriting foundational capabilities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https://ssi.inc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https://investor.nvidia.com/news/press-release-details/2026/Ilya-Sutskevers-Safe-Superintelligence-Inc--and-NVIDIA-Announce-Long-Term-Strategic-Partnership/default.aspx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https://github.com/test-time-training/e2e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https://www.dwarkesh.com/p/ilya-sutskever-2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8" name="Google Shape;198;p30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66025" y="71600"/>
            <a:ext cx="1258900" cy="125890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1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31"/>
          <p:cNvSpPr txBox="1"/>
          <p:nvPr/>
        </p:nvSpPr>
        <p:spPr>
          <a:xfrm>
            <a:off x="81765" y="794843"/>
            <a:ext cx="4425600" cy="3158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Archify Skill - Verifiable Diagrams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Archify is an agent skill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that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converts a repository or system description into interactive technical diagrams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supports architecture, workflow, sequence, data-flow, lifecycle, and architecture-delta views - useful for design reviews, documentation, and explaining systems.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workflow generates typed JSON intermediate representations, validates schema and layout, then emits a self-contained HTML artifact with PNG, SVG, WebM, and share-card exports.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Its viewer supports node search, route and dependency tracing, role comparisons, guided stories, themes, and finite accessibility-aware motion.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integrates with </a:t>
            </a: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Cursor, Claude Code, Codex CLI, OpenCode, Raven, and a community DeepSeek Harness plugin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The project is MIT-licensed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https://tt-a1i.github.io/archify/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https://github.com/tt-a1i/archify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5" name="Google Shape;205;p31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48768" y="1218311"/>
            <a:ext cx="4331836" cy="2311477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2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32"/>
          <p:cNvSpPr txBox="1"/>
          <p:nvPr/>
        </p:nvSpPr>
        <p:spPr>
          <a:xfrm>
            <a:off x="81765" y="420370"/>
            <a:ext cx="4425600" cy="3066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Swarm Benchmark Incident (OpenAI/METR evaluation)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METR = Model Evaluation &amp; Threat Research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Agents used shared infrastructure to communicate, exchange task information, and coordinate attempts to exploit benchmark conditions.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Roughly 1,200 agents and 70,000 messages, with “Phase One” and “Phase One Big” portrayed as organizing collective research.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Claimed activities included probing Artifactory caching, attempting tool/log manipulation, creating authentication-like conventions, and recruiting agents for risky experiments.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narrator stresses that these claims concern sandboxed evaluation behavior, not an autonomous real-world AI escape.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Interpretations about “religion,” agency, intent, and a Hugging Face attack are speculative and should be checked against the original reports.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https://www.metr.org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https://www.youtube.com/watch?v=n2x4ijx5xkk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2" name="Google Shape;212;p3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59765" y="152400"/>
            <a:ext cx="3200400" cy="933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32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9765" y="1238250"/>
            <a:ext cx="4331833" cy="305303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3"/>
          <p:cNvSpPr txBox="1"/>
          <p:nvPr/>
        </p:nvSpPr>
        <p:spPr>
          <a:xfrm>
            <a:off x="81775" y="99856"/>
            <a:ext cx="2414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Claude Obsidian v2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33"/>
          <p:cNvSpPr txBox="1"/>
          <p:nvPr/>
        </p:nvSpPr>
        <p:spPr>
          <a:xfrm>
            <a:off x="81765" y="862591"/>
            <a:ext cx="4425600" cy="4082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Obsidian v2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local-first knowledge system for Claude Code and compatible agent-skill hosts, using an Obsidian vault of plain Markdown files you control.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ingests sources into linked, source-cited notes, then enables evidence-grounded querying, retrieval, maintenance, and visual mapping rather than repeated context recaps.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Version 2 rebuilt all 15 skills around reliability and provenance: recoverable transactions, crash recovery, source and claim ledgers, deterministic checks, and explicit Git checkpoints.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practical loop is: capture a source in the inbox, ingest it into structured linked pages, then query the growing vault for cited patterns, gaps, contradictions, and decisions.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Treat “persistent memory” carefully: it is a maintained local knowledge base, not automatic perfect recall; the current README also states PDF semantic extraction needs an external configured runner.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https://github.com/AgriciDaniel/claude-obsidian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https://agricidaniel.com/blog/claude-obsidian-ai-second-brain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https://www.youtube.com/watch?v=CREj4iuNFAI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https://www.youtube.com/watch?v=Gom-GwlZIYk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https://www.youtube.com/watch?v=xGkHfD95Upg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0" name="Google Shape;220;p33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45504" y="862597"/>
            <a:ext cx="4331835" cy="21455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21" name="Google Shape;221;p33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45503" y="3087596"/>
            <a:ext cx="4331837" cy="185710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4"/>
          <p:cNvSpPr txBox="1"/>
          <p:nvPr/>
        </p:nvSpPr>
        <p:spPr>
          <a:xfrm>
            <a:off x="81775" y="99856"/>
            <a:ext cx="2414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34"/>
          <p:cNvSpPr txBox="1"/>
          <p:nvPr/>
        </p:nvSpPr>
        <p:spPr>
          <a:xfrm>
            <a:off x="81765" y="487166"/>
            <a:ext cx="4425600" cy="3666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Siraj Raval switched to local models (mostly)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Monthly bill went down fro m$231 to $4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is using laptop with 64GB RAM and descent GPU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uses Ollama to run DeepSeek V4 Flash 0731  - a 284B-params MoE with 13B active params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https://build.nvidia.com/deepseek-ai/deepseek-v4-flash-0731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replacements cover chat, coding assistance, image generation, transcription, TTS, and private research workflows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Web research remains the main limitation: sites may block automated server traffic, so the workflow uses DataImpulse residential proxies, advertised as pay-as-you-go with non-expiring traffic 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https://dataimpulse.com/premium-residential-proxies/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honest conclusion: local wins for most routine work and privacy, while frontier cloud models still lead on the hardest reasoning and polished outputs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probably used heavily quantized version, because Ollama only offers cloud API version -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ollama run deepseek-v4-flash:0731-cloud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https://ollama.com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https://huggingface.co/deepseek-ai/DeepSeek-V4-Flash-0731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https://build.nvidia.com/deepseek-ai/deepseek-v4-flash-0731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https://dataimpulse.com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8" name="Google Shape;228;p34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00350" y="99850"/>
            <a:ext cx="1503451" cy="9040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29" name="Google Shape;229;p34"/>
          <p:cNvSpPr txBox="1"/>
          <p:nvPr/>
        </p:nvSpPr>
        <p:spPr>
          <a:xfrm>
            <a:off x="4620140" y="1775841"/>
            <a:ext cx="4425600" cy="3297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Code /design research-preview skill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editable-artboard workflow in CLI and Claude Code Desktop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Prompt `/design` with a UI, mockup, landing page, poster, or social asset; it can generate multiple visual directions as an artifact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Select an artboard, edit elements directly, and request a Tweaks panel for adjustable colors, typography, layout, and other design parameters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strongest workflow: collect visual references, attach screenshots with a concrete brief, invoke complementary design skills, then iterate on one chosen direction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Unlike a separate design handoff, the selected visual can be implemented in the existing codebase without manually exporting or transferring assets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Available for Pro, Max, Team, and Enterprise plans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https://support.claude.com/en/articles/14604416-get-started-with-claude-design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https://code.claude.com/docs/en/skills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https://claude.ai/design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https://github.com/anthropics/claude-code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https://www.anthropic.com/news/claude-design-anthropic-labs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0" name="Google Shape;230;p34"/>
          <p:cNvPicPr preferRelativeResize="0"/>
          <p:nvPr/>
        </p:nvPicPr>
        <p:blipFill>
          <a:blip r:embed="rId1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23790" y="803891"/>
            <a:ext cx="1921959" cy="90405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5"/>
          <p:cNvSpPr txBox="1"/>
          <p:nvPr/>
        </p:nvSpPr>
        <p:spPr>
          <a:xfrm>
            <a:off x="81775" y="99856"/>
            <a:ext cx="2414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Architecture Design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35"/>
          <p:cNvSpPr txBox="1"/>
          <p:nvPr/>
        </p:nvSpPr>
        <p:spPr>
          <a:xfrm>
            <a:off x="2581143" y="535230"/>
            <a:ext cx="1185300" cy="572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Architecture Design Document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35"/>
          <p:cNvSpPr txBox="1"/>
          <p:nvPr/>
        </p:nvSpPr>
        <p:spPr>
          <a:xfrm>
            <a:off x="406393" y="535230"/>
            <a:ext cx="1185300" cy="572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PRD Project Requirements Document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35"/>
          <p:cNvSpPr txBox="1"/>
          <p:nvPr/>
        </p:nvSpPr>
        <p:spPr>
          <a:xfrm>
            <a:off x="4586543" y="535230"/>
            <a:ext cx="1185300" cy="572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Step-by-Step Implementation Plan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35"/>
          <p:cNvSpPr txBox="1"/>
          <p:nvPr/>
        </p:nvSpPr>
        <p:spPr>
          <a:xfrm>
            <a:off x="370961" y="1141626"/>
            <a:ext cx="8402100" cy="3866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Architecture principles: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Simplicity above all - the fewest moving parts that still deliver full functionality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Modularity - separate dumplings, never a clump** — every capability behind a contract (API, plugin, port); loose coupling, encapsulation, bounded contexts; any part can be changed, replaced, or tested without understanding the whole. Applies down to code: files ≤ 800 lines, functions ≤ 50, docs at every level, a README per directory.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**Self-healing** — crashed jobs retry, corrupt files restore from snapshots, missed events refetch, degraded indexes rebuild; humans are paged for the exceptional, never the routine (and entitlements/records are never repaired by guessing).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**One system of record** — PostgreSQL holds all transactional truth (indexes, ACLs, graph, queue, audit); consistency is a transaction, not a distributed-systems project.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**Parse once; everything downstream is disposable** — originals and derivatives are permanent; chunks, vectors, indexes, and wiki are regenerable projections, which makes migrations boring and repair cheap.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**Search three ways, with time as a dimension** — semantic (vectors) + keyword (BM25) + structure (document graph), plus validity windows for as-of queries; each method catches what the others miss.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**Security and provenance are load-bearing** — ACLs filter in SQL *before* ranking (0.00% leak tolerance); every claim carries a verified citation; every answer leaves an immutable audit trail; abstention is a graded skill.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**Trust is re-earned continuously** — a test pyramid (unit, module, integration, AI architecture-conformance) gates every merge; a golden-suite evaluation gate, reconciliation counts, and hallucination sampling gate every day.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**Human-in-the-loop monkey management** — every escalation (dead-lettered job, tripped eval gate, flagged answer, failed repair) becomes a "monkey": a task with an owner, status, and history; maintainers see their own monkeys, hand them off for vacations, and managers see the whole troop on one dashboard — no failure is ever orphaned.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**Vibe-coding with guardrails** — maintainers build their own mini-tools and schedule ETL workflows with AI assistance in hours, not sprints; generated code reaches data only through the documented, audited APIs (ACLs apply automatically) and passes the same CI, size, and conformance gates as human-written code.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**Don't chase the latest version** — dependencies pinned, aged 30 days, and verified (uv, PGDG, digest-pinned Docker images through a scanned internal registry); "latest" is a gamble, not a version.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6"/>
          <p:cNvSpPr txBox="1"/>
          <p:nvPr/>
        </p:nvSpPr>
        <p:spPr>
          <a:xfrm>
            <a:off x="81775" y="99856"/>
            <a:ext cx="2414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36"/>
          <p:cNvSpPr txBox="1"/>
          <p:nvPr/>
        </p:nvSpPr>
        <p:spPr>
          <a:xfrm>
            <a:off x="97267" y="462720"/>
            <a:ext cx="4425600" cy="3574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Use Cases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https://www.youtube.com/watch?v=vhn9hfcerEk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Petco Love Lost’s photo-matching system has reunited 250,000 missing pets by comparing uploaded images with shelter and community reports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https://petcolove.org/newsroom/news-story/ai-for-good-petco-love-lost-reunites-250-000-pets-like-senior-dog-missing-for-two-months/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 implanted brain-computer interface enabled ALS patient Casey Harrell to communicate independently at about 56 words per minute, exceeding 99% word accuracy in controlled testing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https://health.ucdavis.edu/news/headlines/brain-computer-interface-enables-independent-accurate-communication-for-man-living-with-als/2026/06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Finland’s commercial “sand battery” stores renewable heat in 2,000 tonnes of crushed soapstone, reducing Pornainen’s district-heating emissions by nearly 70%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https://polarnightenergy.com/news/worlds-largest-sand-battery-now-in-operation/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The stories emphasize that AI, sensors, robotics, and affordable maker tools can support health, accessibility, animal welfare, safety, and clean energy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https://health.ucdavis.edu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https://polarnightenergy.com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6" name="Google Shape;246;p36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25596" y="99850"/>
            <a:ext cx="2261775" cy="16601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47" name="Google Shape;247;p36"/>
          <p:cNvSpPr txBox="1"/>
          <p:nvPr/>
        </p:nvSpPr>
        <p:spPr>
          <a:xfrm>
            <a:off x="4620217" y="3073545"/>
            <a:ext cx="4425600" cy="1957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Googlebook and Aluminium OS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Googlebook - new premium laptop category built around Gemini Intelligence and tightly integrated with Android phones; expected this Fall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Aluminium OS - internal or leaked name for its Android-based desktop platform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Magic Pointer - surfaces Gemini’s contextual actions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Create Your Widget - using Google services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Support Android apps and can work with paired phone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https://blog.google/products-and-platforms/platforms/android/meet-googlebook/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https://www.android.com/new-features-on-android/io-2026/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7"/>
          <p:cNvSpPr txBox="1"/>
          <p:nvPr/>
        </p:nvSpPr>
        <p:spPr>
          <a:xfrm>
            <a:off x="81775" y="99856"/>
            <a:ext cx="2414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37"/>
          <p:cNvSpPr txBox="1"/>
          <p:nvPr/>
        </p:nvSpPr>
        <p:spPr>
          <a:xfrm>
            <a:off x="-10" y="426241"/>
            <a:ext cx="4425600" cy="2096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“Deep Residual Learning for Image Recognition” (ResNet)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 widely reported as the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most-cited paper published in the 21st century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under Nature’s 2025 cross-database analysis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residual path is a shortcut road inside an AI model. It lets the information travel around a few layers instead of being forced through every single one.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ResNet reached 152 layers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won major 2015 ImageNet tasks, and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established skip connections as a core pattern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later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used throughout transformer-based models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https://arxiv.org/abs/1512.03385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https://arxiv.org/abs/1603.05027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https://www.youtube.com/watch?v=QgH9sr7G13Q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4" name="Google Shape;254;p37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7350" y="680421"/>
            <a:ext cx="2943725" cy="1588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8"/>
          <p:cNvSpPr txBox="1"/>
          <p:nvPr/>
        </p:nvSpPr>
        <p:spPr>
          <a:xfrm>
            <a:off x="81775" y="99856"/>
            <a:ext cx="2414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38"/>
          <p:cNvSpPr txBox="1"/>
          <p:nvPr/>
        </p:nvSpPr>
        <p:spPr>
          <a:xfrm>
            <a:off x="61277" y="426241"/>
            <a:ext cx="44256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How your brand appears in AI answers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Analyzed 107M AI answers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- mostly shows in review directories, press, and reference sites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Consumer products - mostly in marketplace pages and reviews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Communications services - mostly in third-party editorial and reference coverage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https://trendos.com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https://www.searchenginejournal.com/ai-search-citation-sources-trendos-spa/586289/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https://www.tryprofound.com/blog/ai-platform-citation-patterns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https://tinuiti.com/blog/search/ai-citations/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38"/>
          <p:cNvSpPr txBox="1"/>
          <p:nvPr/>
        </p:nvSpPr>
        <p:spPr>
          <a:xfrm>
            <a:off x="4633302" y="790183"/>
            <a:ext cx="4425600" cy="4266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MINIX 3 in Intel Platform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Embedded in Intel Management Engine firmware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Andrew S. Tanenbaum created MINIX in 1987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 a compact Unix-like teaching system after Unix source licensing became unsuitable for classroom study. Size - 4K - 7.5K lines of code. The privileged kernel-side code is commonly 6K-12K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Andy lives in New York City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Linus Torvalds used MINIX while developing Linux;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Linux later adopted the GPL license, </a:t>
            </a:r>
            <a:b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whereas MINIX became BSD-licensed in 2000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2015 Intel incorporated MINIX 3 into its firmware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on Skylake-era systems. It runs independently on a dedicated embedded processor and provides low-level services for platform </a:t>
            </a: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startup, security and trust checks, firmware management, and power-state control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BSD licensing allowed Intel to keep its changes proprietary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Tanenbaum publicly said he would have appreciated being told, while defending the permissive license.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broader lesson: licenses shape whether downstream modifications must be shared—not merely code quality or architecture.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https://www.minix3.org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https://github.com/Stichting-MINIX-Research-Foundation/minix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https://www.cs.vu.nl/~ast/intel/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https://cacm.acm.org/research/lessons-learned-from-30-years-of-minix/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2" name="Google Shape;262;p38"/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75075" y="3376500"/>
            <a:ext cx="2311803" cy="1680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63" name="Google Shape;263;p38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776" y="2179850"/>
            <a:ext cx="2493750" cy="7006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39"/>
          <p:cNvSpPr txBox="1"/>
          <p:nvPr/>
        </p:nvSpPr>
        <p:spPr>
          <a:xfrm>
            <a:off x="81775" y="99856"/>
            <a:ext cx="2414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39"/>
          <p:cNvSpPr txBox="1"/>
          <p:nvPr/>
        </p:nvSpPr>
        <p:spPr>
          <a:xfrm>
            <a:off x="61277" y="426241"/>
            <a:ext cx="4425600" cy="4128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Omarchy Quattro - Agentic Linux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DHH’s opinionated, Arch-based Linux distribution, built around the Hyprland tiling desktop and developer-friendly defaults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Version 4.0, “Quattro,” released August 14 replaces many separate desktop utilities with one Quickshell-based process for the bar, launcher, notifications, menus, lock screen, and controls.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Its plugin architecture makes the shell scriptable and easier to extend with custom widgets and themes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Omarchy treats AI coding agents as first-class system tools through lazy-loaded launchers, with local-model options available for privacy-conscious users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release adds dual booting, factory reset, a smaller under-6-GB ISO, and faster installs; reliable testing on spare hardware remains wise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key idea is agent-assisted personalization and administration - not magic autonomous computing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Works on 64-bit Intel/AMD PCs, Intel- and Apple-silicon Macs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https://github.com/maralcbr/omarchy-mx-mac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https://omarchy.org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https://github.com/omacom/omarchy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https://www.phoronix.com/news/Omarchy-4.0-Released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https://www.heise.de/en/news/Omarchy-Linux-Desktop-Overhaul-and-10-Million-for-Foundation-11432304.html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https://www.youtube.com/watch?v=vDOUoiZ38ZE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39"/>
          <p:cNvSpPr txBox="1"/>
          <p:nvPr/>
        </p:nvSpPr>
        <p:spPr>
          <a:xfrm>
            <a:off x="4643175" y="1603750"/>
            <a:ext cx="30990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DHH is David Heinemeier Hansson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Danish programmer, entrepreneur, author, and racing driver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is best known as the creator of Ruby on Rails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is a co-owner and CTO of 37signals, the company behind Basecamp and HEY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1" name="Google Shape;271;p39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43173" y="426245"/>
            <a:ext cx="1941202" cy="109192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72" name="Google Shape;272;p39"/>
          <p:cNvSpPr txBox="1"/>
          <p:nvPr/>
        </p:nvSpPr>
        <p:spPr>
          <a:xfrm>
            <a:off x="7030825" y="4156350"/>
            <a:ext cx="1852500" cy="7572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Progress: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Chat in Browser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Chat in App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Chat in OS / Device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0"/>
          <p:cNvSpPr txBox="1"/>
          <p:nvPr/>
        </p:nvSpPr>
        <p:spPr>
          <a:xfrm>
            <a:off x="81775" y="97275"/>
            <a:ext cx="2836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Avoid Latest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40"/>
          <p:cNvSpPr txBox="1"/>
          <p:nvPr/>
        </p:nvSpPr>
        <p:spPr>
          <a:xfrm>
            <a:off x="71575" y="469675"/>
            <a:ext cx="33939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Latest packages may have dependencies which may contain viruses. Here is how to avoid them: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40"/>
          <p:cNvSpPr txBox="1"/>
          <p:nvPr/>
        </p:nvSpPr>
        <p:spPr>
          <a:xfrm>
            <a:off x="71575" y="903575"/>
            <a:ext cx="4690200" cy="1542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Python: In pyproject.toml add: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800"/>
              <a:buFont typeface="Calibri"/>
              <a:buChar char="●"/>
            </a:pP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exclude-newer = "30 days"</a:t>
            </a:r>
            <a:endParaRPr sz="11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800"/>
              <a:buFont typeface="Calibri"/>
              <a:buChar char="●"/>
            </a:pP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prerelease = "disallow"</a:t>
            </a:r>
            <a:endParaRPr sz="11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Then: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800"/>
              <a:buFont typeface="Calibri"/>
              <a:buChar char="●"/>
            </a:pP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uv lock --upgrade</a:t>
            </a:r>
            <a:endParaRPr sz="11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800"/>
              <a:buFont typeface="Calibri"/>
              <a:buChar char="●"/>
            </a:pP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uv sync</a:t>
            </a:r>
            <a:endParaRPr sz="11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Or: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800"/>
              <a:buFont typeface="Calibri"/>
              <a:buChar char="●"/>
            </a:pP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uv pip install --upgrade --exclude-newer "30 days" -r requirements.txt</a:t>
            </a:r>
            <a:endParaRPr sz="11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800"/>
              <a:buFont typeface="Calibri"/>
              <a:buChar char="●"/>
            </a:pP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uv pip install --reinstall --exclude-newer "30 days" -r requirements.txt</a:t>
            </a:r>
            <a:endParaRPr sz="11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40"/>
          <p:cNvSpPr txBox="1"/>
          <p:nvPr/>
        </p:nvSpPr>
        <p:spPr>
          <a:xfrm>
            <a:off x="71575" y="2491875"/>
            <a:ext cx="4690200" cy="205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Rust: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Cargo has no built-in “only use crates older than 30 days” setting So: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Commit Cargo.lock to freeze the exact dependency graph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cargo build --</a:t>
            </a: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locked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cargo test --</a:t>
            </a: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locked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and cargo check --</a:t>
            </a: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locked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prevent unplanned lockfile changes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cargo build --</a:t>
            </a: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frozen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cargo test --</a:t>
            </a: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frozen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locked, offline builds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Update one reviewed dependency at a time: cargo update -p crate_name --precise X.Y.Z.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 the crate’s crates.io release date yourself and choose a version at least one month old.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Pin Rust itself with </a:t>
            </a: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rust-toolchain.toml 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 an exact version such as 1.82.0.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Run cargo audit and cargo deny check before committing changes.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40"/>
          <p:cNvSpPr txBox="1"/>
          <p:nvPr/>
        </p:nvSpPr>
        <p:spPr>
          <a:xfrm>
            <a:off x="5017700" y="1506250"/>
            <a:ext cx="4040700" cy="2188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Linux AI Security Burden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and fuzzing uncover up to 2,000 CVEs (Common Vulnerabilities and Exposures) in 41 Mln lines of Linux kernel code.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Real defects are mixed with low-value, questionable, or hallucinated reports - overwhelming human review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Maintainers are restricting unverified AI patches, removing obsolete code, and using frontier models to triage findings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https://www.phoronix.com/news/Linux-Kernel-CVEs-Nearly-2000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https://www.tomshardware.com/software/linux/linux-kernel-nears-2-000-cves-per-release-as-ai-bug-hunters-scour-40-million-lines-of-code-maintainers-say-they-are-completely-overwhelmed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https://kernel-recipes.org/en/2026/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1"/>
          <p:cNvSpPr txBox="1"/>
          <p:nvPr/>
        </p:nvSpPr>
        <p:spPr>
          <a:xfrm>
            <a:off x="81775" y="99850"/>
            <a:ext cx="4405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41"/>
          <p:cNvSpPr txBox="1"/>
          <p:nvPr/>
        </p:nvSpPr>
        <p:spPr>
          <a:xfrm>
            <a:off x="61277" y="426241"/>
            <a:ext cx="4425600" cy="2096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ECG Heart Screening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Imperial College London researchers developed an AI system that analyzes routine ECG recordings in under two seconds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flags signals of heart failure and heart-valve disease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a U.S. study of 67,000 patients, it identified up to 81% of heart-failure cases and 90% of valve-disease cases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Trained on 1.6 Mln Brazilian ECGs plus several Million U.S. recordings, the model could help prioritize patients for echocardiograms, which remain necessary to confirm a diagnosis.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https://thenextweb.com/news/imperial-ai-ecg-heart-disease-detection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https://www.escardio.org/news/news-room/congress-news/can-deep-learning-detect-lv-diastolic-dysfunction-from-ecgs/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8" name="Google Shape;288;p41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0225" y="426250"/>
            <a:ext cx="2621148" cy="209639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89" name="Google Shape;289;p41"/>
          <p:cNvSpPr txBox="1"/>
          <p:nvPr/>
        </p:nvSpPr>
        <p:spPr>
          <a:xfrm>
            <a:off x="61277" y="2575416"/>
            <a:ext cx="4425600" cy="205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Celeris Magnus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Celeris is an AI research lab in San Francisco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Celebris introduced Magnus - agent-oriented model for multi-step workflows involving reasoning, tool calls, tool-result review, and follow-up actions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Good and fast, for business automation (banking)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Diffusion-based generation, 131K-token context, 16K-token output, adjustable reasoning effort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Examples of usage: Lead qualification, CRM updates, personalized outreach, converting call transcripts into content pipelines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https://celeris.ai/celeris-1-magnus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0" name="Google Shape;290;p41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39277" y="2675041"/>
            <a:ext cx="2541753" cy="231605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2"/>
          <p:cNvSpPr txBox="1"/>
          <p:nvPr/>
        </p:nvSpPr>
        <p:spPr>
          <a:xfrm>
            <a:off x="81775" y="99850"/>
            <a:ext cx="4405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42"/>
          <p:cNvSpPr txBox="1"/>
          <p:nvPr/>
        </p:nvSpPr>
        <p:spPr>
          <a:xfrm>
            <a:off x="61277" y="426241"/>
            <a:ext cx="4425600" cy="3620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Wonderful AI - Enterprise AI Deployment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Wonderful raised $550 Mln at a $5 Bln valuation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sells an enterprise AI operating system plus locally embedded, forward-deployed engineering and strategy teams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Its target customers are large, regulated organizations that need agents embedded in operational workflows, including banking, telecom, healthcare, utilities, insurance, and retail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platform supports voice, chat, email, enterprise knowledge retrieval, workflow/model orchestration, and updates to internal systems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Deployment options include multi-tenant SaaS, dedicated single tenant, customer-controlled cloud, and fully air-gapped on-premises operation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Revenue likely blends recurring platform, consumption, professional-services, infrastructure, and premium support fees; specific pricing is unconfirmed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Customer examples include telecom, 2.5-million-client collections, IT automation, and end-to-end energy billing.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https://www.wonderful.ai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https://www.wonderful.ai/deployment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7" name="Google Shape;297;p42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39277" y="426250"/>
            <a:ext cx="4352324" cy="2995637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43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43"/>
          <p:cNvSpPr txBox="1"/>
          <p:nvPr/>
        </p:nvSpPr>
        <p:spPr>
          <a:xfrm>
            <a:off x="81765" y="420370"/>
            <a:ext cx="4425600" cy="3897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AI’s Three Career Doors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Alex Karp (CEO of Palantir) argues durable careers cluster around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.. skilled trades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.. unconventional, non-playbook thinking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Trade work remains hard to automate because it requires physical presence, situational judgment, and repair in unpredictable environments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data-center growth may increase demand for electricians, HVAC technicians, plumbers, mechanics, and other infrastructure specialists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broader lesson is not that desk workers are doomed: routine execution is vulnerable, while taste, judgment, strategy, and accountable decisions grow more valuable.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 practical response is to automate one repetitive weekly task, then reinvest the saved time in original analysis, relationship-building, or directing AI systems.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Treat AI as leverage: build the machine around your expertise rather than competing with it at standardized work.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https://www.palantir.com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https://github.com/palantir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https://www.youtube.com/watch?v=d_Bh8VWrvag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4" name="Google Shape;304;p43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7320" y="92025"/>
            <a:ext cx="1985576" cy="19258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05" name="Google Shape;305;p43"/>
          <p:cNvSpPr txBox="1"/>
          <p:nvPr/>
        </p:nvSpPr>
        <p:spPr>
          <a:xfrm>
            <a:off x="4657765" y="2146970"/>
            <a:ext cx="4425600" cy="2881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There Is No Job Apocalypse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Peter H. Diamandis argues that AI will transform work rather than cause an economy-wide job collapse through 2030.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World Economic Forum projects 170 million jobs created and 92 million displaced globally, a net gain of 78 million; its analysis covers employers across 55 economies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central problem is uneven disruption: routine, fully automatable task bundles face real pressure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proposed solution is rapid AI fluency and retraining: use AI for drafting, coding, research, analysis, and planning while retaining human judgment, trust-building, negotiation, and accountability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Its key achievement/importance is reframing the risk as a skills and adaptation gap, while lower operating costs may expand entrepreneurship and AI-related roles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https://www.diamandis.com/blog/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https://www.weforum.org/publications/the-future-of-jobs-report-2025/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6" name="Google Shape;306;p43"/>
          <p:cNvPicPr preferRelativeResize="0"/>
          <p:nvPr/>
        </p:nvPicPr>
        <p:blipFill rotWithShape="1"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332650" y="518900"/>
            <a:ext cx="1750724" cy="15707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4"/>
          <p:cNvSpPr txBox="1"/>
          <p:nvPr/>
        </p:nvSpPr>
        <p:spPr>
          <a:xfrm>
            <a:off x="67350" y="52750"/>
            <a:ext cx="3179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Jobs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44"/>
          <p:cNvSpPr txBox="1"/>
          <p:nvPr/>
        </p:nvSpPr>
        <p:spPr>
          <a:xfrm>
            <a:off x="2134467" y="34252"/>
            <a:ext cx="18006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https://layoffs.fyi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https://trueup.io/layoffs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44"/>
          <p:cNvSpPr txBox="1"/>
          <p:nvPr/>
        </p:nvSpPr>
        <p:spPr>
          <a:xfrm>
            <a:off x="5655225" y="3510625"/>
            <a:ext cx="33606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Tech Layoffs by year (US only):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127K in 2026 </a:t>
            </a:r>
            <a:r>
              <a:rPr lang="en" sz="10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(as of August 27, 2026)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124K in 2025 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153K in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2024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264K in 2023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165K in 2022                  </a:t>
            </a:r>
            <a:r>
              <a:rPr lang="en" sz="120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44"/>
          <p:cNvSpPr txBox="1"/>
          <p:nvPr/>
        </p:nvSpPr>
        <p:spPr>
          <a:xfrm>
            <a:off x="5655225" y="564150"/>
            <a:ext cx="32868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The Tech Layoff Tracker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2026: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176,877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(740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2025: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245,953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(674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2024: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238,461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</a:t>
            </a: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laid off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(653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marR="460858" lvl="0" indent="-5715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5" name="Google Shape;315;p44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625" y="3237551"/>
            <a:ext cx="5355049" cy="186693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316" name="Google Shape;316;p44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625" y="454428"/>
            <a:ext cx="5355049" cy="2738503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1" name="Google Shape;321;p45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5525" y="1203525"/>
            <a:ext cx="1570556" cy="1570556"/>
          </a:xfrm>
          <a:prstGeom prst="rect">
            <a:avLst/>
          </a:prstGeom>
          <a:noFill/>
          <a:ln>
            <a:noFill/>
          </a:ln>
        </p:spPr>
      </p:pic>
      <p:sp>
        <p:nvSpPr>
          <p:cNvPr id="322" name="Google Shape;322;p45"/>
          <p:cNvSpPr txBox="1"/>
          <p:nvPr/>
        </p:nvSpPr>
        <p:spPr>
          <a:xfrm>
            <a:off x="-25625" y="-14775"/>
            <a:ext cx="3355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About the Speaker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45"/>
          <p:cNvSpPr txBox="1"/>
          <p:nvPr/>
        </p:nvSpPr>
        <p:spPr>
          <a:xfrm>
            <a:off x="3330175" y="878750"/>
            <a:ext cx="5621700" cy="33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Lev Selector, Ph.D.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40+ years of software engineering, data science, and building teams (hiring, training, and managing)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Ph.D. in mathematical modeling and computer simulations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Interests: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Generative AI, Using LLM with your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AI for Local Private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Cloud architecture, fin-tech, application security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Find/connect: Linkedin, GitHub, YouTube, Google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4" name="Google Shape;324;p45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01578" y="3664175"/>
            <a:ext cx="858450" cy="311906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Google Shape;325;p45"/>
          <p:cNvSpPr txBox="1"/>
          <p:nvPr/>
        </p:nvSpPr>
        <p:spPr>
          <a:xfrm>
            <a:off x="735103" y="4005903"/>
            <a:ext cx="1391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https://eais.ai</a:t>
            </a: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45"/>
          <p:cNvSpPr txBox="1"/>
          <p:nvPr/>
        </p:nvSpPr>
        <p:spPr>
          <a:xfrm>
            <a:off x="383803" y="4360974"/>
            <a:ext cx="2094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Enterprise AI Systems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46"/>
          <p:cNvSpPr txBox="1"/>
          <p:nvPr/>
        </p:nvSpPr>
        <p:spPr>
          <a:xfrm>
            <a:off x="2151375" y="1533150"/>
            <a:ext cx="46326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0"/>
              <a:buFont typeface="Arial"/>
              <a:buNone/>
            </a:pPr>
            <a:r>
              <a:rPr lang="en" sz="70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70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7094</Words>
  <Application>Microsoft Macintosh PowerPoint</Application>
  <PresentationFormat>On-screen Show (16:9)</PresentationFormat>
  <Paragraphs>717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Arial</vt:lpstr>
      <vt:lpstr>Calibri</vt:lpstr>
      <vt:lpstr>Roboto Mono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 Selector</cp:lastModifiedBy>
  <cp:revision>1</cp:revision>
  <dcterms:modified xsi:type="dcterms:W3CDTF">2026-09-02T22:06:51Z</dcterms:modified>
</cp:coreProperties>
</file>