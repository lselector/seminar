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embeddedFontLst>
    <p:embeddedFont>
      <p:font typeface="Roboto Mono" pitchFamily="49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79BFB94-3C2A-4A1A-891E-2CDABA30E3B0}">
  <a:tblStyle styleId="{179BFB94-3C2A-4A1A-891E-2CDABA30E3B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175"/>
    <p:restoredTop sz="94667"/>
  </p:normalViewPr>
  <p:slideViewPr>
    <p:cSldViewPr>
      <p:cViewPr varScale="1">
        <p:scale>
          <a:sx n="99" d="100"/>
          <a:sy n="99" d="100"/>
        </p:scale>
        <p:origin x="192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9c68837c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f9c68837c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9c68837c6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3f9c68837c6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3fd83212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f3fd83212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8aa1f0f4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g3f8aa1f0f4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8aa1f0f44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g3f8aa1f0f44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9c68837c6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g3f9c68837c6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f89d4714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g3f89d4714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879c837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g3f879c837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9bfd00fb4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g3f9bfd00fb4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9c68837c6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3f9c68837c6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c68837c6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3f9c68837c6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881708619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" name="Google Shape;171;g3f881708619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88170861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3f881708619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88c454db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g3f88c454db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883a779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g3f883a779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88c454db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f88c454db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89933e583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3f89933e583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f9d31a4b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f9d31a4b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89933e58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3f89933e58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f8b53ab02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f8b53ab02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9bfd00fb4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f9bfd00fb4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f8b53ab02a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g3f8b53ab02a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9c1dddb3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g3f9c1dddb3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8b50a22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g3f8b50a22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f88170861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8" name="Google Shape;278;g3f88170861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f9c68837c6_1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5" name="Google Shape;285;g3f9c68837c6_1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5" name="Google Shape;295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claude-opus-5-high" TargetMode="External"/><Relationship Id="rId18" Type="http://schemas.openxmlformats.org/officeDocument/2006/relationships/hyperlink" Target="https://arena.ai/leaderboard/model/glm-5.3-max" TargetMode="External"/><Relationship Id="rId26" Type="http://schemas.openxmlformats.org/officeDocument/2006/relationships/hyperlink" Target="https://arena.ai/leaderboard/model/grok-4.5" TargetMode="External"/><Relationship Id="rId21" Type="http://schemas.openxmlformats.org/officeDocument/2006/relationships/hyperlink" Target="https://arena.ai/leaderboard/model/claude-opus-4-8" TargetMode="External"/><Relationship Id="rId34" Type="http://schemas.openxmlformats.org/officeDocument/2006/relationships/hyperlink" Target="https://arena.ai/leaderboard/model/qwen3.8-max" TargetMode="External"/><Relationship Id="rId7" Type="http://schemas.openxmlformats.org/officeDocument/2006/relationships/hyperlink" Target="https://arena.ai/leaderboard/model/claude-opus-4-6-high" TargetMode="External"/><Relationship Id="rId12" Type="http://schemas.openxmlformats.org/officeDocument/2006/relationships/hyperlink" Target="https://arena.ai/leaderboard/model/muse-spark-1.2%20%28xHigh%29" TargetMode="External"/><Relationship Id="rId17" Type="http://schemas.openxmlformats.org/officeDocument/2006/relationships/hyperlink" Target="https://arena.ai/leaderboard/model/claude-opus-4-5-20251101-high-32k" TargetMode="External"/><Relationship Id="rId25" Type="http://schemas.openxmlformats.org/officeDocument/2006/relationships/hyperlink" Target="https://arena.ai/leaderboard/model/claude-opus-4-5-20251101" TargetMode="External"/><Relationship Id="rId33" Type="http://schemas.openxmlformats.org/officeDocument/2006/relationships/hyperlink" Target="https://arena.ai/leaderboard/model/gemini-3.6-flash-high" TargetMode="External"/><Relationship Id="rId38" Type="http://schemas.openxmlformats.org/officeDocument/2006/relationships/hyperlink" Target="https://arena.ai/leaderboard/model/grok-4.20-beta1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glm-5.3-flash" TargetMode="External"/><Relationship Id="rId20" Type="http://schemas.openxmlformats.org/officeDocument/2006/relationships/hyperlink" Target="https://arena.ai/leaderboard/model/gpt-5.6-sol-xhigh" TargetMode="External"/><Relationship Id="rId29" Type="http://schemas.openxmlformats.org/officeDocument/2006/relationships/hyperlink" Target="https://arena.ai/leaderboard/model/gemini-3.7-flash-high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7-high" TargetMode="External"/><Relationship Id="rId11" Type="http://schemas.openxmlformats.org/officeDocument/2006/relationships/hyperlink" Target="https://arena.ai/leaderboard/model/kimi-k3-max" TargetMode="External"/><Relationship Id="rId24" Type="http://schemas.openxmlformats.org/officeDocument/2006/relationships/hyperlink" Target="https://arena.ai/leaderboard/model/claude-opus-5-max" TargetMode="External"/><Relationship Id="rId32" Type="http://schemas.openxmlformats.org/officeDocument/2006/relationships/hyperlink" Target="https://arena.ai/leaderboard/model/gpt-5.5-high" TargetMode="External"/><Relationship Id="rId37" Type="http://schemas.openxmlformats.org/officeDocument/2006/relationships/hyperlink" Target="https://arena.ai/leaderboard/model/gpt-5.2-chat-latest-20260210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1" TargetMode="External"/><Relationship Id="rId23" Type="http://schemas.openxmlformats.org/officeDocument/2006/relationships/hyperlink" Target="https://arena.ai/leaderboard/model/qwen3.7-max-preview" TargetMode="External"/><Relationship Id="rId28" Type="http://schemas.openxmlformats.org/officeDocument/2006/relationships/hyperlink" Target="https://arena.ai/leaderboard/model/gemini-3.1-pro-preview" TargetMode="External"/><Relationship Id="rId36" Type="http://schemas.openxmlformats.org/officeDocument/2006/relationships/hyperlink" Target="https://arena.ai/leaderboard/model/gpt-5.5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sonnet-4-6" TargetMode="External"/><Relationship Id="rId31" Type="http://schemas.openxmlformats.org/officeDocument/2006/relationships/hyperlink" Target="https://arena.ai/leaderboard/model/gemini-3-pro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claude-opus-4-8-high" TargetMode="External"/><Relationship Id="rId22" Type="http://schemas.openxmlformats.org/officeDocument/2006/relationships/hyperlink" Target="https://arena.ai/leaderboard/model/muse-spark" TargetMode="External"/><Relationship Id="rId27" Type="http://schemas.openxmlformats.org/officeDocument/2006/relationships/hyperlink" Target="https://arena.ai/leaderboard/model/claude-sonnet-5-high" TargetMode="External"/><Relationship Id="rId30" Type="http://schemas.openxmlformats.org/officeDocument/2006/relationships/hyperlink" Target="https://arena.ai/leaderboard/model/gpt-5.4-high" TargetMode="External"/><Relationship Id="rId35" Type="http://schemas.openxmlformats.org/officeDocument/2006/relationships/hyperlink" Target="https://arena.ai/leaderboard/model/gemini-3.5-flash-high" TargetMode="External"/><Relationship Id="rId8" Type="http://schemas.openxmlformats.org/officeDocument/2006/relationships/hyperlink" Target="https://arena.ai/leaderboard/model/claude-fable-5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andb.ai/site/articles/exploring-llm-as-a-judge/" TargetMode="External"/><Relationship Id="rId3" Type="http://schemas.openxmlformats.org/officeDocument/2006/relationships/hyperlink" Target="https://airepo.substack.com/p/anthropic-sued-the-pentagon-and-won" TargetMode="External"/><Relationship Id="rId7" Type="http://schemas.openxmlformats.org/officeDocument/2006/relationships/hyperlink" Target="https://www.bankingdive.com/news/goldman-sachs-gender-bias-claims-apple-card-women-new-york-dfs/597273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nbc.com/2019/11/10/wall-street-regulator-probes-goldman-over-allegations-of-sexist-credit-decisions-at-apple-card.html" TargetMode="External"/><Relationship Id="rId5" Type="http://schemas.openxmlformats.org/officeDocument/2006/relationships/hyperlink" Target="https://www.youtube.com/watch?v=RKBibsoK7Yg" TargetMode="External"/><Relationship Id="rId4" Type="http://schemas.openxmlformats.org/officeDocument/2006/relationships/image" Target="../media/image2.jpeg"/><Relationship Id="rId9" Type="http://schemas.openxmlformats.org/officeDocument/2006/relationships/hyperlink" Target="https://haystack.deepset.ai/cookbook/prometheus2_evaluation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z.ai/guides/vlm/glm-5.3-flash" TargetMode="External"/><Relationship Id="rId13" Type="http://schemas.openxmlformats.org/officeDocument/2006/relationships/hyperlink" Target="https://www.cnbc.com/2026/08/25/apple-announces-new-mac-mini-and-mac-studio-models-with-ai-upgrades.html" TargetMode="External"/><Relationship Id="rId3" Type="http://schemas.openxmlformats.org/officeDocument/2006/relationships/hyperlink" Target="http://z.ai" TargetMode="External"/><Relationship Id="rId7" Type="http://schemas.openxmlformats.org/officeDocument/2006/relationships/hyperlink" Target="https://openrouter.ai/z-ai/glm-5.3-flash" TargetMode="External"/><Relationship Id="rId12" Type="http://schemas.openxmlformats.org/officeDocument/2006/relationships/hyperlink" Target="https://www.apple.com/mac-studio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zai-org/GLM-5.3-Flash" TargetMode="External"/><Relationship Id="rId11" Type="http://schemas.openxmlformats.org/officeDocument/2006/relationships/hyperlink" Target="https://www.apple.com/mac-mini/" TargetMode="External"/><Relationship Id="rId5" Type="http://schemas.openxmlformats.org/officeDocument/2006/relationships/hyperlink" Target="https://z.ai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docs.z.ai" TargetMode="External"/><Relationship Id="rId9" Type="http://schemas.openxmlformats.org/officeDocument/2006/relationships/hyperlink" Target="https://ollama.com/library/glm-5.3-flash" TargetMode="External"/><Relationship Id="rId1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tencent.com/tencent-releases-and-open-sources-tencent-hy4-preview/" TargetMode="External"/><Relationship Id="rId7" Type="http://schemas.openxmlformats.org/officeDocument/2006/relationships/hyperlink" Target="https://github.com/tencent/AngelSli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y.tencent.ai/research/hy4-preview" TargetMode="External"/><Relationship Id="rId5" Type="http://schemas.openxmlformats.org/officeDocument/2006/relationships/hyperlink" Target="https://github.com/Tencent-Hunyuan/Hy4-preview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huggingface.co/tencent/Hy4-preview" TargetMode="External"/><Relationship Id="rId9" Type="http://schemas.openxmlformats.org/officeDocument/2006/relationships/hyperlink" Target="https://www.anthropic.com/claude-fable-and-mythos-5-1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aw.ai/blog/openclaw-2-accidentall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docs.openclaw.ai/releases/2026.8.1" TargetMode="External"/><Relationship Id="rId4" Type="http://schemas.openxmlformats.org/officeDocument/2006/relationships/hyperlink" Target="https://github.com/openclaw/openclaw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nanoclaw.dev" TargetMode="External"/><Relationship Id="rId7" Type="http://schemas.openxmlformats.org/officeDocument/2006/relationships/hyperlink" Target="https://www.youtube.com/watch?v=n55ZiDl2PtE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techtarget.com/it-infrastructure/news/366640195/NanoClaw-AI-agents-find-a-home-in-Docker-Sandboxes" TargetMode="External"/><Relationship Id="rId5" Type="http://schemas.openxmlformats.org/officeDocument/2006/relationships/hyperlink" Target="https://www.docker.com/blog/nanoclaw-docker-sandboxes-agent-security/" TargetMode="External"/><Relationship Id="rId4" Type="http://schemas.openxmlformats.org/officeDocument/2006/relationships/hyperlink" Target="https://github.com/nanocoai/nanoclaw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vnL5_RgtBs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hyperlink" Target="https://support.claude.com/en/articles/14554000-claude-code-power-user-tips" TargetMode="External"/><Relationship Id="rId4" Type="http://schemas.openxmlformats.org/officeDocument/2006/relationships/hyperlink" Target="https://www.youtube.com/watch?v=icM0ewXGvAw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fal.ai/minimax-h3" TargetMode="External"/><Relationship Id="rId3" Type="http://schemas.openxmlformats.org/officeDocument/2006/relationships/hyperlink" Target="https://www.youtube.com/watch?v=82hCt3xH9Gc" TargetMode="External"/><Relationship Id="rId7" Type="http://schemas.openxmlformats.org/officeDocument/2006/relationships/hyperlink" Target="https://fal.ai/minimax-h3-max" TargetMode="External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hyperlink" Target="https://x.com/fal/status/2092710676431020376" TargetMode="External"/><Relationship Id="rId5" Type="http://schemas.openxmlformats.org/officeDocument/2006/relationships/hyperlink" Target="https://github.com/naveedharri/baalda" TargetMode="External"/><Relationship Id="rId10" Type="http://schemas.openxmlformats.org/officeDocument/2006/relationships/hyperlink" Target="https://www.minimax.io/blog/minimax-h3" TargetMode="External"/><Relationship Id="rId4" Type="http://schemas.openxmlformats.org/officeDocument/2006/relationships/hyperlink" Target="https://baalda.com" TargetMode="External"/><Relationship Id="rId9" Type="http://schemas.openxmlformats.org/officeDocument/2006/relationships/hyperlink" Target="https://github.com/MiniMax-AI/MiniMax-H3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ZCI4kvWPb3E" TargetMode="External"/><Relationship Id="rId3" Type="http://schemas.openxmlformats.org/officeDocument/2006/relationships/hyperlink" Target="https://www.tavus.io" TargetMode="External"/><Relationship Id="rId7" Type="http://schemas.openxmlformats.org/officeDocument/2006/relationships/hyperlink" Target="https://sparrow2.tavuslabs.org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tavus/status/2093030526785589582" TargetMode="External"/><Relationship Id="rId5" Type="http://schemas.openxmlformats.org/officeDocument/2006/relationships/hyperlink" Target="https://www.tavus.io/blog/sparrow-2" TargetMode="External"/><Relationship Id="rId4" Type="http://schemas.openxmlformats.org/officeDocument/2006/relationships/hyperlink" Target="https://github.com/tavus-engineering" TargetMode="External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/overview/video-generation/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blog.google/innovation-and-ai/technology/developers-tools/build-with-gemini-omni-1-1-flash/" TargetMode="External"/><Relationship Id="rId5" Type="http://schemas.openxmlformats.org/officeDocument/2006/relationships/hyperlink" Target="https://github.com/topics/gemini-omni" TargetMode="External"/><Relationship Id="rId4" Type="http://schemas.openxmlformats.org/officeDocument/2006/relationships/hyperlink" Target="https://ai.google.dev/gemini-api/docs/omni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MCache/LMCache" TargetMode="External"/><Relationship Id="rId3" Type="http://schemas.openxmlformats.org/officeDocument/2006/relationships/hyperlink" Target="https://discuss.python.org/t/pre-pep-rust-for-cpython/104906" TargetMode="External"/><Relationship Id="rId7" Type="http://schemas.openxmlformats.org/officeDocument/2006/relationships/hyperlink" Target="https://lmcache.a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hyperlink" Target="https://us.pycon.org/2026/schedule/presentation/1/" TargetMode="External"/><Relationship Id="rId4" Type="http://schemas.openxmlformats.org/officeDocument/2006/relationships/hyperlink" Target="https://lwn.net/Articles/1046933/" TargetMode="External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si.inc" TargetMode="External"/><Relationship Id="rId3" Type="http://schemas.openxmlformats.org/officeDocument/2006/relationships/hyperlink" Target="https://apodex.ai" TargetMode="External"/><Relationship Id="rId7" Type="http://schemas.openxmlformats.org/officeDocument/2006/relationships/image" Target="../media/image19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apodex/Apodex-1.1-mini" TargetMode="External"/><Relationship Id="rId11" Type="http://schemas.openxmlformats.org/officeDocument/2006/relationships/hyperlink" Target="https://www.dwarkesh.com/p/ilya-sutskever-2" TargetMode="External"/><Relationship Id="rId5" Type="http://schemas.openxmlformats.org/officeDocument/2006/relationships/hyperlink" Target="https://arxiv.org/abs/2608.23283" TargetMode="External"/><Relationship Id="rId10" Type="http://schemas.openxmlformats.org/officeDocument/2006/relationships/hyperlink" Target="https://github.com/test-time-training/e2e" TargetMode="External"/><Relationship Id="rId4" Type="http://schemas.openxmlformats.org/officeDocument/2006/relationships/hyperlink" Target="https://github.com/ApodexAI/FrontierAgent" TargetMode="External"/><Relationship Id="rId9" Type="http://schemas.openxmlformats.org/officeDocument/2006/relationships/hyperlink" Target="https://investor.nvidia.com/news/press-release-details/2026/Ilya-Sutskevers-Safe-Superintelligence-Inc--and-NVIDIA-Announce-Long-Term-Strategic-Partnership/default.aspx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t-a1i.github.io/archify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hyperlink" Target="https://github.com/tt-a1i/archify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tr.org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www.youtube.com/watch?v=n2x4ijx5xkk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hyperlink" Target="https://github.com/AgriciDaniel/claude-obsidian" TargetMode="External"/><Relationship Id="rId7" Type="http://schemas.openxmlformats.org/officeDocument/2006/relationships/hyperlink" Target="https://www.youtube.com/watch?v=xGkHfD95Up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Gom-GwlZIYk" TargetMode="External"/><Relationship Id="rId5" Type="http://schemas.openxmlformats.org/officeDocument/2006/relationships/hyperlink" Target="https://www.youtube.com/watch?v=CREj4iuNFAI" TargetMode="External"/><Relationship Id="rId4" Type="http://schemas.openxmlformats.org/officeDocument/2006/relationships/hyperlink" Target="https://agricidaniel.com/blog/claude-obsidian-ai-second-brain" TargetMode="External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hyperlink" Target="https://www.anthropic.com/news/claude-design-anthropic-labs" TargetMode="External"/><Relationship Id="rId3" Type="http://schemas.openxmlformats.org/officeDocument/2006/relationships/hyperlink" Target="https://build.nvidia.com/deepseek-ai/deepseek-v4-flash-0731" TargetMode="External"/><Relationship Id="rId7" Type="http://schemas.openxmlformats.org/officeDocument/2006/relationships/hyperlink" Target="https://dataimpulse.com" TargetMode="External"/><Relationship Id="rId12" Type="http://schemas.openxmlformats.org/officeDocument/2006/relationships/hyperlink" Target="https://github.com/anthropics/claude-cod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deepseek-ai/DeepSeek-V4-Flash-0731" TargetMode="External"/><Relationship Id="rId11" Type="http://schemas.openxmlformats.org/officeDocument/2006/relationships/hyperlink" Target="https://claude.ai/design" TargetMode="External"/><Relationship Id="rId5" Type="http://schemas.openxmlformats.org/officeDocument/2006/relationships/hyperlink" Target="https://ollama.com" TargetMode="External"/><Relationship Id="rId10" Type="http://schemas.openxmlformats.org/officeDocument/2006/relationships/hyperlink" Target="https://code.claude.com/docs/en/skills" TargetMode="External"/><Relationship Id="rId4" Type="http://schemas.openxmlformats.org/officeDocument/2006/relationships/hyperlink" Target="https://dataimpulse.com/premium-residential-proxies/" TargetMode="External"/><Relationship Id="rId9" Type="http://schemas.openxmlformats.org/officeDocument/2006/relationships/hyperlink" Target="https://support.claude.com/en/articles/14604416-get-started-with-claude-design" TargetMode="External"/><Relationship Id="rId1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polarnightenergy.com" TargetMode="External"/><Relationship Id="rId3" Type="http://schemas.openxmlformats.org/officeDocument/2006/relationships/hyperlink" Target="https://www.youtube.com/watch?v=vhn9hfcerEk" TargetMode="External"/><Relationship Id="rId7" Type="http://schemas.openxmlformats.org/officeDocument/2006/relationships/hyperlink" Target="https://health.ucdavis.edu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olarnightenergy.com/news/worlds-largest-sand-battery-now-in-operation/" TargetMode="External"/><Relationship Id="rId11" Type="http://schemas.openxmlformats.org/officeDocument/2006/relationships/hyperlink" Target="https://www.android.com/new-features-on-android/io-2026/" TargetMode="External"/><Relationship Id="rId5" Type="http://schemas.openxmlformats.org/officeDocument/2006/relationships/hyperlink" Target="https://health.ucdavis.edu/news/headlines/brain-computer-interface-enables-independent-accurate-communication-for-man-living-with-als/2026/06" TargetMode="External"/><Relationship Id="rId10" Type="http://schemas.openxmlformats.org/officeDocument/2006/relationships/hyperlink" Target="https://blog.google/products-and-platforms/platforms/android/meet-googlebook/" TargetMode="External"/><Relationship Id="rId4" Type="http://schemas.openxmlformats.org/officeDocument/2006/relationships/hyperlink" Target="https://petcolove.org/newsroom/news-story/ai-for-good-petco-love-lost-reunites-250-000-pets-like-senior-dog-missing-for-two-months/" TargetMode="External"/><Relationship Id="rId9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12.03385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hyperlink" Target="https://www.youtube.com/watch?v=QgH9sr7G13Q" TargetMode="External"/><Relationship Id="rId4" Type="http://schemas.openxmlformats.org/officeDocument/2006/relationships/hyperlink" Target="https://arxiv.org/abs/1603.05027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tichting-MINIX-Research-Foundation/minix" TargetMode="External"/><Relationship Id="rId3" Type="http://schemas.openxmlformats.org/officeDocument/2006/relationships/hyperlink" Target="https://trendos.com" TargetMode="External"/><Relationship Id="rId7" Type="http://schemas.openxmlformats.org/officeDocument/2006/relationships/hyperlink" Target="https://www.minix3.org" TargetMode="External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inuiti.com/blog/search/ai-citations/" TargetMode="External"/><Relationship Id="rId11" Type="http://schemas.openxmlformats.org/officeDocument/2006/relationships/image" Target="../media/image30.jpeg"/><Relationship Id="rId5" Type="http://schemas.openxmlformats.org/officeDocument/2006/relationships/hyperlink" Target="https://www.tryprofound.com/blog/ai-platform-citation-patterns" TargetMode="External"/><Relationship Id="rId10" Type="http://schemas.openxmlformats.org/officeDocument/2006/relationships/hyperlink" Target="https://cacm.acm.org/research/lessons-learned-from-30-years-of-minix/" TargetMode="External"/><Relationship Id="rId4" Type="http://schemas.openxmlformats.org/officeDocument/2006/relationships/hyperlink" Target="https://www.searchenginejournal.com/ai-search-citation-sources-trendos-spa/586289/" TargetMode="External"/><Relationship Id="rId9" Type="http://schemas.openxmlformats.org/officeDocument/2006/relationships/hyperlink" Target="https://www.cs.vu.nl/~ast/intel/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DOUoiZ38ZE" TargetMode="External"/><Relationship Id="rId3" Type="http://schemas.openxmlformats.org/officeDocument/2006/relationships/hyperlink" Target="https://github.com/maralcbr/omarchy-mx-mac" TargetMode="External"/><Relationship Id="rId7" Type="http://schemas.openxmlformats.org/officeDocument/2006/relationships/hyperlink" Target="https://www.heise.de/en/news/Omarchy-Linux-Desktop-Overhaul-and-10-Million-for-Foundation-11432304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horonix.com/news/Omarchy-4.0-Released" TargetMode="External"/><Relationship Id="rId5" Type="http://schemas.openxmlformats.org/officeDocument/2006/relationships/hyperlink" Target="https://github.com/omacom/omarchy" TargetMode="External"/><Relationship Id="rId4" Type="http://schemas.openxmlformats.org/officeDocument/2006/relationships/hyperlink" Target="https://omarchy.org" TargetMode="External"/><Relationship Id="rId9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thenextweb.com/news/imperial-ai-ecg-heart-disease-detection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hyperlink" Target="https://www.escardio.org/news/news-room/congress-news/can-deep-learning-detect-lv-diastolic-dysfunction-from-ecgs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lantir.com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hyperlink" Target="https://www.youtube.com/watch?v=d_Bh8VWrvag" TargetMode="External"/><Relationship Id="rId4" Type="http://schemas.openxmlformats.org/officeDocument/2006/relationships/hyperlink" Target="https://github.com/palantir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trueup.io/layoff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627450"/>
            <a:ext cx="33078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sued the Pentagon and won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Biases in LLM Evaluation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z.ai GLM 5.3 Flash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Apple’s Local AI Strategy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Tencent’s Hy4 Preview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Fable 5.1 - Sept 5.1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2.0 - Major Rebuild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Sept 4,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7041206" y="4694589"/>
            <a:ext cx="1632600" cy="234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933750" y="88300"/>
            <a:ext cx="4092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xxxx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99425" y="905050"/>
            <a:ext cx="3307800" cy="3681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SSI’s Reported Research Leap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Apodex 1.1 - Agent Teams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Archify Skill - Verifiable Diagrams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OpenAI/METR evaluation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Siraj Raval switched to local models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"/design"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Architecture Design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Use Cases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Googlebook and Aluminium OS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Most-cited paper of 21st century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your brand appears in AI answers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MINIX 3 in Intel Platform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Omarchy Quattro - Agentic Linux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Avoid Latest Updates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ECG Heart Screening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AI’s Three Career Doors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2885908"/>
            <a:ext cx="3307800" cy="19578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NanoClaw: Secure Agent Automation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Make Qwen 3.8 27B Faster (x8)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Code: 19 Updated Tips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Baalda - Team AI Second Brain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MiniMax H3 Max - Fast AI Video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Tavus’s Sparrow-2 Voice Understanding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Gemini Omni 1.1 Flash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LMCache - KV cache by Tensormesh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From CPython to Rust Python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Aug 27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8" name="Google Shape;78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{179BFB94-3C2A-4A1A-891E-2CDABA30E3B0}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9" name="Google Shape;79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Qwen3.8-max-preview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3075200" y="74030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{179BFB94-3C2A-4A1A-891E-2CDABA30E3B0}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claude-sonnet-5-high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1" name="Google Shape;81;p16"/>
          <p:cNvGraphicFramePr/>
          <p:nvPr/>
        </p:nvGraphicFramePr>
        <p:xfrm>
          <a:off x="437925" y="754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{179BFB94-3C2A-4A1A-891E-2CDABA30E3B0}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6609401" y="424475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August 28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865" y="743194"/>
            <a:ext cx="8951801" cy="43257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81765" y="420370"/>
            <a:ext cx="4425600" cy="2927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sued the Pentagon and won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https://airepo.substack.com/p/anthropic-sued-the-pentagon-and-won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federal court in San Francisco ruled that the Pentagon unlawfully labeled Anthropic a “supply chain risk”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court found the designation was retaliation for Anthropic’s criticism of U.S. AI policy, violating First Amendment protections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conflict began after Anthropic declined unrestricted Claude access without safeguards against autonomous weapons and mass surveillance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After negotiations failed, the Pentagon blacklisted the company; Anthropic filed lawsuits in San Francisco and Washington.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San Francisco ruling is a significant victory, but the Washington case remains unresolved and Anthropic technically stays blacklisted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outcome may reduce uncertainty ahead of Anthropic’s anticipated IPO and highlights a broader dispute over government control of frontier AI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3442050"/>
            <a:ext cx="1302400" cy="1635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7" name="Google Shape;97;p18"/>
          <p:cNvSpPr txBox="1"/>
          <p:nvPr/>
        </p:nvSpPr>
        <p:spPr>
          <a:xfrm>
            <a:off x="4649665" y="1564570"/>
            <a:ext cx="4425600" cy="328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Biases in LLM Evaluation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Proxy discrimination: models can reproduce gender-linked outcomes without receiving gender as an explicit feature.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LLMs similarly absorb patterns from human-written data and preference training; fluent, confident output is not proof of truth.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judges can favor answer position, verbosity, formatting, cited-looking authority, familiar styles, or outputs resembling their own model family.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Mitigate with blind model labels, evidence-based rubrics, order-swapped comparisons, length controls, multiple diverse judges, and human audits for high-stakes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NYDFS ultimately reported no evidence of disparate impact, while criticizing transparency and service shortcomings.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https://www.youtube.com/watch?v=RKBibsoK7Yg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https://www.cnbc.com/2019/11/10/wall-street-regulator-probes-goldman-over-allegations-of-sexist-credit-decisions-at-apple-card.html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https://www.bankingdive.com/news/goldman-sachs-gender-bias-claims-apple-card-women-new-york-dfs/597273/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https://wandb.ai/site/articles/exploring-llm-as-a-judge/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https://haystack.deepset.ai/cookbook/prometheus2_evaluation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143275" y="455900"/>
            <a:ext cx="43044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z.ai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GLM 5.3 Flash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https://docs.z.ai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,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https://z.ai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OpenRouter’s mystery “Ox Alpha” was revealed as Z.ai’s GLM-5.3-Flash, an open-weights, MIT-licensed, multimodal, MoE 320B total, 18B active, for coding, long tasks, agentic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1M-token context window, 131K max output; hybrid attention - linear and sparce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Comparable to GPT-5.6 Sol Max  - but 10 times cheaper !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Pricing: $0.15 / $0.50 per 1M in/out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claude  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opencode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hermes  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claude  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opencode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hermes  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Desktop can be configured to use Ollama's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 available through Z.ai, OpenRouter, Hugging Face, Ollama, and local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https://huggingface.co/zai-org/GLM-5.3-Flash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https://openrouter.ai/z-ai/glm-5.3-flash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https://docs.z.ai/guides/vlm/glm-5.3-flash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https://ollama.com/library/glm-5.3-flash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GLM 5.3 has 753B params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9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15900" y="135150"/>
            <a:ext cx="2795550" cy="1243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5" name="Google Shape;105;p19"/>
          <p:cNvSpPr txBox="1"/>
          <p:nvPr/>
        </p:nvSpPr>
        <p:spPr>
          <a:xfrm>
            <a:off x="4759225" y="3631668"/>
            <a:ext cx="4304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Apple’s Local AI Strategy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Run routine, repetitive, privacy sensitive work locally; route difficult or high-stakes tasks to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 mini ($900+), Mac Studio ($2,500+),  M5 Ultra ($5,500 for 512GB memory model)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https://www.apple.com/mac-mini/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https://www.apple.com/mac-studio/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https://huggingface.co/zai-org/GLM-5.3-Flash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https://www.cnbc.com/2026/08/25/apple-announces-new-mac-mini-and-mac-studio-models-with-ai-upgrades.html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3575" y="1851118"/>
            <a:ext cx="2090054" cy="1729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0"/>
          <p:cNvSpPr txBox="1"/>
          <p:nvPr/>
        </p:nvSpPr>
        <p:spPr>
          <a:xfrm>
            <a:off x="81775" y="394600"/>
            <a:ext cx="4304400" cy="3112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Tencent’s Hy4 Preview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 (Apache 2.0) - 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software, documents, data analysis, game prototypes, and research workflows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MoE, 770B total params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49B active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1M-token context, 64K output, FP8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via WorkBuddy, CodeBuddy, Tencent Cloud TokenHub, or OpenRouter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AngelSlim’s mixed-precision GGUF shrinks the BF16 download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from about 1.5 TB to roughly 200–214 GB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by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allocating lower precision selectively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rather than quantizing every layer equally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benchmark losses appear modest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requires patched, self-built llama.cpp/CUDA support, not ordinary local-model apps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https://www.tencent.com/tencent-releases-and-open-sources-tencent-hy4-preview/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https://huggingface.co/tencent/Hy4-preview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https://github.com/Tencent-Hunyuan/Hy4-preview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https://hy.tencent.ai/research/hy4-preview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https://github.com/tencent/AngelSlim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2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0300" y="68500"/>
            <a:ext cx="2242174" cy="2067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4" name="Google Shape;114;p20"/>
          <p:cNvSpPr txBox="1"/>
          <p:nvPr/>
        </p:nvSpPr>
        <p:spPr>
          <a:xfrm>
            <a:off x="4673350" y="3668700"/>
            <a:ext cx="43044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Fable 5.1 - Sept 5.1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Reliable multi-step work: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claude-fable-5-1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Cache-read pricing falls 75%, making typical token-billed workloads about 25% cheaper and highly agentic work up to 45% cheaper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https://www.anthropic.com/claude-fable-and-mythos-5-1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350" y="2362163"/>
            <a:ext cx="4304400" cy="121061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81775" y="418475"/>
            <a:ext cx="4304400" cy="375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2.0 - Major Rebuild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Open-source, self-hosted AI-agent platform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big release includes more than 16,000 pull requests from 933 contributors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Setup is simpler: it detects available subscriptions, API keys, and local models, getting users to a first agent conversation sooner.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browser workspace combines sessions, tasks, files, terminal access, and live agent progress rather than treating the web UI as an add-on.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Shared Cloud Sessions let trusted collaborators join the same live agent context, though they are not a hostile-user security boundary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Persistent sessions, searchable history, cross-device execution, memory, automations, dashboards, and experimental agent swarms move it beyond one-off chat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Security additions include masked credential prompts, destination restrictions for protected secrets, and clearer plugin review information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https://openclaw.ai/blog/openclaw-2-accidentally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https://github.com/openclaw/openclaw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https://docs.openclaw.ai/releases/2026.8.1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8625" y="484000"/>
            <a:ext cx="3877025" cy="2774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/>
          <p:nvPr/>
        </p:nvSpPr>
        <p:spPr>
          <a:xfrm>
            <a:off x="102375" y="478350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7.4K subscribers, 323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263775"/>
            <a:ext cx="2461825" cy="3154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9" name="Google Shape;129;p2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6550" y="2823825"/>
            <a:ext cx="2160975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3"/>
          <p:cNvSpPr txBox="1"/>
          <p:nvPr/>
        </p:nvSpPr>
        <p:spPr>
          <a:xfrm>
            <a:off x="81765" y="420370"/>
            <a:ext cx="44256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NanoClaw: Secure Agent Automation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NanoClaw is a lightweight, open-source alternative to OpenClaw built around a security-first model.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active agent runs in an isolated Docker container, limiting access to only explicitly mounted files and reducing host-level risk.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smaller, auditable codebase makes it easier to customize agents, skills, schedules, model providers, credentials, and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connect with messaging platforms, but a custom local GUI can replace Discord-centric control with scheduled bots and readable run outputs.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Practical uses include recurring Hacker News research, video-topic discovery, thumbnail generation, and other repeatable personal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Docker Sandboxes can add MicroVM-based isolation for stronger separation from the host OS.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https://nanoclaw.dev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https://github.com/nanocoai/nanoclaw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https://www.docker.com/blog/nanoclaw-docker-sandboxes-agent-security/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https://www.techtarget.com/it-infrastructure/news/366640195/NanoClaw-AI-agents-find-a-home-in-Docker-Sandboxes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https://www.youtube.com/watch?v=n55ZiDl2PtE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4134750"/>
            <a:ext cx="2465051" cy="916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4"/>
          <p:cNvSpPr txBox="1"/>
          <p:nvPr/>
        </p:nvSpPr>
        <p:spPr>
          <a:xfrm>
            <a:off x="81765" y="42037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Make Qwen 3.8 27B Faster (x8) for Long Context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https://www.youtube.com/watch?v=SvnL5_RgtBs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Tested Qwen 3.8 27B IQ4_NL near a 98,304-token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improved short prompts but collapsed at 77,418 tokens: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1.54 tokens/sec versus 2.32 without MTP.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Compressed KV caches modestly improved MTP to 1.95 tokens/sec, with potential memory and quality tradeoffs.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hybrid placement bundle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CPU feed-forward tensors, GPU attention/recurrent tensors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raised speed to 13.19 tokens/sec, an 8.55× MTP improvement.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Completion time dropped from 165 to 19 seconds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 ngram-mod produced only workload-dependent marginal gains.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llama-server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--model Qwen3.8-27B-IQ4_NL.gguf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--n-gpu-layers all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--override-tensor 'blk\.(0|1|...|40)\.ffn_.*=CPU'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4"/>
          <p:cNvSpPr txBox="1"/>
          <p:nvPr/>
        </p:nvSpPr>
        <p:spPr>
          <a:xfrm>
            <a:off x="4613915" y="1616537"/>
            <a:ext cx="44256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Code: 19 Updated Tips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Personas and “take a breath” preambles may add little;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prioritize where Claude should look, a clear definition of done, and a self-check.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State desired output positively rather than piling on prohibitions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 routine connector permissions; load tools on demand to reduce exposure and context cost.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Keep CLAUDE.md short and task-focused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restart or compact after changing 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subagents for parallel investigation, but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restate critical requirements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because they lack main-thread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large context windows as imperfect retrieval, not reliable memory;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compact deliberately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Verification is the highest-leverage habit: r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 tests, checks, or constrained adversarial reviews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Avoid mid-session model/fast-mode switches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can invalidate caches and increase costs.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https://www.youtube.com/watch?v=icM0ewXGvAw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https://support.claude.com/en/articles/14554000-claude-code-power-user-tips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5859" y="116672"/>
            <a:ext cx="2540374" cy="14134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5" name="Google Shape;145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2" y="3395850"/>
            <a:ext cx="2799802" cy="15757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5"/>
          <p:cNvSpPr txBox="1"/>
          <p:nvPr/>
        </p:nvSpPr>
        <p:spPr>
          <a:xfrm>
            <a:off x="81776" y="420375"/>
            <a:ext cx="4425600" cy="172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Baalda - Team AI Second Brain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app - team-shared Obsidian-style Wiki, Markdown Files, links; real-time sync, per-folder/file/member permissions, daily backups, and file-level version history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MCP/connector support (so that AI can update knowledge)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create a vault, open an existing Markdown vault, or join a shared team vault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https://www.youtube.com/watch?v=82hCt3xH9Gc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https://baalda.com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https://github.com/naveedharri/baalda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4100" y="58675"/>
            <a:ext cx="2969275" cy="5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5"/>
          <p:cNvSpPr txBox="1"/>
          <p:nvPr/>
        </p:nvSpPr>
        <p:spPr>
          <a:xfrm>
            <a:off x="4614090" y="1597020"/>
            <a:ext cx="44256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H3 Max - Fast AI Video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post-trained variant of MiniMax’s open-weight H3 video model, optimized for speed, stronger prompt adherence, and aesthetics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leads Artificial Analysis’ image-to-video-with-audio leaderboard at roughly 1,201 Elo across 2,177 samples; it ranks third for text-to-video with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5-sec 768p clip renders in under 3-sec, with synchronized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H3 Max supports text-to-video and image-to-video, including optional start/end frames, but is capped at 768p.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768p, 5–10-second clips, “balanced” prompt expansion, and explicitly describe sound, action, camera, lighting, and mood.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 H3 offers 2K and broader multimodal/reference workflows; Max prioritizes iteration speed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“fal” (pronounced like “fall”) is an AI-infrastructure company in San Francisco, CA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https://fal.ai/minimax-h3-max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https://fal.ai/minimax-h3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https://github.com/MiniMax-AI/MiniMax-H3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https://www.minimax.io/blog/minimax-h3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https://x.com/fal/status/2092710676431020376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25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021475" y="4125020"/>
            <a:ext cx="14859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81776" y="46330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Tavus’s Sparrow-2 Voice Understanding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streaming, audio-native conversational-understanding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replaces simple silence-based endpoint detection with continuous interpretation of the full conversational scene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evaluates speech meaning, tone, speaker identity, interruptions, backchannels, background speech, noise, etc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updates its conversational state every 10 ms, helping agents decide whether to listen, wait, speak, or keep speaking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Tavus reports a 2.1% failure rate across 575 real conversational events and 97% correct patience during meaningful thinking pauses.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through Tavus PALs, APIs, and platform integrations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https://www.tavus.io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https://github.com/tavus-engineering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https://www.tavus.io/blog/sparrow-2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https://x.com/tavus/status/2093030526785589582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https://sparrow2.tavuslabs.org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https://www.youtube.com/watch?v=ZCI4kvWPb3E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2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5" y="463300"/>
            <a:ext cx="4114364" cy="2742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7"/>
          <p:cNvSpPr txBox="1"/>
          <p:nvPr/>
        </p:nvSpPr>
        <p:spPr>
          <a:xfrm>
            <a:off x="81776" y="463300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Gemini Omni 1.1 Flash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Multimodal generative-video model family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Understands text, images, audio, and video together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 Omni 1.1 Flash released Aug 27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prompts to generate and edit videos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 first- and last-frames, reference inputs,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Scene continuation; Lower-cost 360p drafts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Scene extension can use up to 10 seconds of prior footage and add 10-second segments - up to 40 sec total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 defaults to 720p; 1080p and 4K are available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Access via Google AI Studio, Gemini Enterprise Agent Platform, Google Flow, and selected Gemini subscriptions.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https://gemini.google/overview/video-generation/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https://ai.google.dev/gemini-api/docs/omni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https://github.com/topics/gemini-omni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https://blog.google/innovation-and-ai/technology/developers-tools/build-with-gemini-omni-1-1-flash/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6" y="463300"/>
            <a:ext cx="4331824" cy="24366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8"/>
          <p:cNvSpPr txBox="1"/>
          <p:nvPr/>
        </p:nvSpPr>
        <p:spPr>
          <a:xfrm>
            <a:off x="4618090" y="2560208"/>
            <a:ext cx="44256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Rewriting Python from C (CPython) into Rust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Rust modules build only when a Rust toolchain is available, with base64 suggested as an early proof of concept.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new cpython-sys crate would provide generated FFI bindings to CPython’s C APIs.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Supporters cite memory safety and safer concurrency; critics cite portability, bootstrapping, contributor burden, and unsafe C/Rust boundaries.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not RustPython: CPython remains the C-based reference interpreter.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final adoption decision has been made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https://discuss.python.org/t/pre-pep-rust-for-cpython/104906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https://lwn.net/Articles/1046933/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https://us.pycon.org/2026/schedule/presentation/1/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4526" y="3440950"/>
            <a:ext cx="2872851" cy="16168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6" name="Google Shape;176;p28"/>
          <p:cNvSpPr txBox="1"/>
          <p:nvPr/>
        </p:nvSpPr>
        <p:spPr>
          <a:xfrm>
            <a:off x="81765" y="434708"/>
            <a:ext cx="4425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LMCache - KV cache by Tensormesh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Recomputing unchanged agent context can dominate latency and input cost. vLLM and SGLang already offer prefix caching, which is best when the KV working set fits comfortably in GPU HBM.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LMCache externalizes KV cache across GPU memory, RAM, local SSD, and remote storage, enabling reuse across workers, restarts, and replicas.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Reduced time to first token by 79%, raised input throughput 264% for 100K token context. But reduces throughput on short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Tensormesh raised a $20M extension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- preserve stable prompt prefixes; rewriting or truncating the front destroys cache reuse.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https://lmcache.ai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https://github.com/LMCache/LMCache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2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618090" y="434700"/>
            <a:ext cx="2628900" cy="800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9"/>
          <p:cNvSpPr txBox="1"/>
          <p:nvPr/>
        </p:nvSpPr>
        <p:spPr>
          <a:xfrm>
            <a:off x="4627190" y="1530713"/>
            <a:ext cx="44256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Apodex 1.1 - Agent Teams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Apodex 1.1 targets long, tool-driven work: research, files, code, data analysis, and deliverables rather than one-shot chat responses.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asynchronous Agent Team decomposes work, delegates parallel sub-tasks, integrates results as they arrive, and replans when needed.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FrontierAgent is the open-source local runtime, with ReAct for a single stateful agent and Agent Team for coordinated parallel work.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35B-parameter open-weight Mini model is intended for local deployment and tool 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Agent Team scores include 78.8 on GDPval and 56.1 on Humanity’s Last Exam; treat vendor-reported benchmarks as useful but independently unverified.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key emphasis is traceable, checkable outputs—review sources, files, and execution results before relying on consequential claims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https://apodex.ai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https://github.com/ApodexAI/FrontierAgent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https://arxiv.org/abs/2608.23283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https://huggingface.co/apodex/Apodex-1.1-mini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2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900" y="250896"/>
            <a:ext cx="1258899" cy="1192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5" name="Google Shape;185;p29"/>
          <p:cNvSpPr txBox="1"/>
          <p:nvPr/>
        </p:nvSpPr>
        <p:spPr>
          <a:xfrm>
            <a:off x="81765" y="420863"/>
            <a:ext cx="44256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SSI’s Reported Research Leap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SSI and NVIDIA announced a long-term partnership after NVIDIA received rare access to SSI’s private research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 Sutskever said SSI now has work “worthy of scaling up”; the deal is intended to increase SSI’s compute roughly tenfold using NVIDIA’s Vera Rubin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SSI actually built remains undisclosed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Rumors that its first model substantially surpasses “Fable” are unverified and should not be treated as evidence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Ilya’s stated objective is a broadly capable system that can learn new jobs rapidly, like an eager, highly intelligent teenager rather than a fixed pretrained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plausible research direction is continual/test-time learning: adapting while reading or working, without overwriting foundational capabilities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https://ssi.inc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https://investor.nvidia.com/news/press-release-details/2026/Ilya-Sutskevers-Safe-Superintelligence-Inc--and-NVIDIA-Announce-Long-Term-Strategic-Partnership/default.aspx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https://github.com/test-time-training/e2e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https://www.dwarkesh.com/p/ilya-sutskever-2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9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66025" y="71600"/>
            <a:ext cx="1258900" cy="12589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30"/>
          <p:cNvSpPr txBox="1"/>
          <p:nvPr/>
        </p:nvSpPr>
        <p:spPr>
          <a:xfrm>
            <a:off x="81765" y="794843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Archify Skill - Verifiable Diagrams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Archify is an agent skill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converts a repository or system description into interactive technical diagrams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architecture, workflow, sequence, data-flow, lifecycle, and architecture-delta views - useful for design reviews, documentation, and explaining systems.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workflow generates typed JSON intermediate representations, validates schema and layout, then emits a self-contained HTML artifact with PNG, SVG, WebM, and share-card exports.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viewer supports node search, route and dependency tracing, role comparisons, guided stories, themes, and finite accessibility-aware motion.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integrates with </a:t>
            </a: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Cursor, Claude Code, Codex CLI, OpenCode, Raven, and a community DeepSeek Harness plugin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project is MIT-licensed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https://tt-a1i.github.io/archify/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https://github.com/tt-a1i/archify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3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8768" y="1218311"/>
            <a:ext cx="4331836" cy="231147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31"/>
          <p:cNvSpPr txBox="1"/>
          <p:nvPr/>
        </p:nvSpPr>
        <p:spPr>
          <a:xfrm>
            <a:off x="81765" y="420370"/>
            <a:ext cx="4425600" cy="306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Swarm Benchmark Incident (OpenAI/METR evaluation)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METR = Model Evaluation &amp; Threat Research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used shared infrastructure to communicate, exchange task information, and coordinate attempts to exploit benchmark conditions.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Roughly 1,200 agents and 70,000 messages, with “Phase One” and “Phase One Big” portrayed as organizing collective research.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Claimed activities included probing Artifactory caching, attempting tool/log manipulation, creating authentication-like conventions, and recruiting agents for risky experiments.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narrator stresses that these claims concern sandboxed evaluation behavior, not an autonomous real-world AI escape.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Interpretations about “religion,” agency, intent, and a Hugging Face attack are speculative and should be checked against the original reports.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https://www.metr.org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https://www.youtube.com/watch?v=n2x4ijx5xkk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9765" y="152400"/>
            <a:ext cx="3200400" cy="93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3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65" y="1238250"/>
            <a:ext cx="4331833" cy="305303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2"/>
          <p:cNvSpPr txBox="1"/>
          <p:nvPr/>
        </p:nvSpPr>
        <p:spPr>
          <a:xfrm>
            <a:off x="81765" y="862591"/>
            <a:ext cx="4425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local-first knowledge system for Claude Code and compatible agent-skill hosts, using an Obsidian vault of plain Markdown files you control.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ingests sources into linked, source-cited notes, then enables evidence-grounded querying, retrieval, maintenance, and visual mapping rather than repeated context recaps.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 2 rebuilt all 15 skills around reliability and provenance: recoverable transactions, crash recovery, source and claim ledgers, deterministic checks, and explicit Git checkpoints.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practical loop is: capture a source in the inbox, ingest it into structured linked pages, then query the growing vault for cited patterns, gaps, contradictions, and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“persistent memory” carefully: it is a maintained local knowledge base, not automatic perfect recall; the current README also states PDF semantic extraction needs an external configured runner.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https://github.com/AgriciDaniel/claude-obsidian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https://agricidaniel.com/blog/claude-obsidian-ai-second-brain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https://www.youtube.com/watch?v=CREj4iuNFAI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https://www.youtube.com/watch?v=Gom-GwlZIYk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https://www.youtube.com/watch?v=xGkHfD95Upg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3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504" y="862597"/>
            <a:ext cx="4331835" cy="21455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9" name="Google Shape;209;p32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503" y="3087596"/>
            <a:ext cx="4331837" cy="18571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3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3"/>
          <p:cNvSpPr txBox="1"/>
          <p:nvPr/>
        </p:nvSpPr>
        <p:spPr>
          <a:xfrm>
            <a:off x="81765" y="487166"/>
            <a:ext cx="44256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Siraj Raval switched to local models (mostly)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bill went down fro m$231 to $4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using laptop with 64GB RAM and descent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uses Ollama to run DeepSeek V4 Flash 0731  - a 284B-params MoE with 13B active params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https://build.nvidia.com/deepseek-ai/deepseek-v4-flash-0731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replacements cover chat, coding assistance, image generation, transcription, TTS, and private research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research remains the main limitation: sites may block automated server traffic, so the workflow uses DataImpulse residential proxies, advertised as pay-as-you-go with non-expiring traffic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https://dataimpulse.com/premium-residential-proxies/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honest conclusion: local wins for most routine work and privacy, while frontier cloud models still lead on the hardest reasoning and polished outputs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probably used heavily quantized version, because Ollama only offers cloud API version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ollama run deepseek-v4-flash:0731-cloud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https://ollama.com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https://huggingface.co/deepseek-ai/DeepSeek-V4-Flash-0731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https://build.nvidia.com/deepseek-ai/deepseek-v4-flash-0731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https://dataimpulse.com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3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00350" y="99850"/>
            <a:ext cx="1503451" cy="904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7" name="Google Shape;217;p33"/>
          <p:cNvSpPr txBox="1"/>
          <p:nvPr/>
        </p:nvSpPr>
        <p:spPr>
          <a:xfrm>
            <a:off x="4620140" y="1775841"/>
            <a:ext cx="4425600" cy="329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/design research-preview skill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editable-artboard workflow in CLI and Claude Code Desktop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 `/design` with a UI, mockup, landing page, poster, or social asset; it can generate multiple visual directions as an artifact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an artboard, edit elements directly, and request a Tweaks panel for adjustable colors, typography, layout, and other design parameters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strongest workflow: collect visual references, attach screenshots with a concrete brief, invoke complementary design skills, then iterate on one chosen direction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a separate design handoff, the selected visual can be implemented in the existing codebase without manually exporting or transferring assets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for Pro, Max, Team, and Enterprise plans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https://support.claude.com/en/articles/14604416-get-started-with-claude-design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https://code.claude.com/docs/en/skills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https://claude.ai/design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https://github.com/anthropics/claude-code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https://www.anthropic.com/news/claude-design-anthropic-labs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8" name="Google Shape;218;p33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3790" y="803891"/>
            <a:ext cx="1921959" cy="9040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Design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4"/>
          <p:cNvSpPr txBox="1"/>
          <p:nvPr/>
        </p:nvSpPr>
        <p:spPr>
          <a:xfrm>
            <a:off x="2581143" y="535230"/>
            <a:ext cx="1185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Design Document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4"/>
          <p:cNvSpPr txBox="1"/>
          <p:nvPr/>
        </p:nvSpPr>
        <p:spPr>
          <a:xfrm>
            <a:off x="406393" y="535230"/>
            <a:ext cx="1185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PRD Project Requirements Document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4"/>
          <p:cNvSpPr txBox="1"/>
          <p:nvPr/>
        </p:nvSpPr>
        <p:spPr>
          <a:xfrm>
            <a:off x="4586543" y="535230"/>
            <a:ext cx="1185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Step-by-Step Implementation Plan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4"/>
          <p:cNvSpPr txBox="1"/>
          <p:nvPr/>
        </p:nvSpPr>
        <p:spPr>
          <a:xfrm>
            <a:off x="370961" y="1141626"/>
            <a:ext cx="8402100" cy="386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principles: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Simplicity above all - the fewest moving parts that still deliver full functionality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Modularity - separate dumplings, never a clump** — every capability behind a contract (API, plugin, port); loose coupling, encapsulation, bounded contexts; any part can be changed, replaced, or tested without understanding the whole. Applies down to code: files ≤ 800 lines, functions ≤ 50, docs at every level, a README per directory.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**Self-healing** — crashed jobs retry, corrupt files restore from snapshots, missed events refetch, degraded indexes rebuild; humans are paged for the exceptional, never the routine (and entitlements/records are never repaired by guessing).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**One system of record** — PostgreSQL holds all transactional truth (indexes, ACLs, graph, queue, audit); consistency is a transaction, not a distributed-systems project.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**Parse once; everything downstream is disposable** — originals and derivatives are permanent; chunks, vectors, indexes, and wiki are regenerable projections, which makes migrations boring and repair cheap.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**Search three ways, with time as a dimension** — semantic (vectors) + keyword (BM25) + structure (document graph), plus validity windows for as-of queries; each method catches what the others miss.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**Security and provenance are load-bearing** — ACLs filter in SQL *before* ranking (0.00% leak tolerance); every claim carries a verified citation; every answer leaves an immutable audit trail; abstention is a graded skill.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**Trust is re-earned continuously** — a test pyramid (unit, module, integration, AI architecture-conformance) gates every merge; a golden-suite evaluation gate, reconciliation counts, and hallucination sampling gate every day.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**Human-in-the-loop monkey management** — every escalation (dead-lettered job, tripped eval gate, flagged answer, failed repair) becomes a "monkey": a task with an owner, status, and history; maintainers see their own monkeys, hand them off for vacations, and managers see the whole troop on one dashboard — no failure is ever orphaned.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**Vibe-coding with guardrails** — maintainers build their own mini-tools and schedule ETL workflows with AI assistance in hours, not sprints; generated code reaches data only through the documented, audited APIs (ACLs apply automatically) and passes the same CI, size, and conformance gates as human-written code.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**Don't chase the latest version** — dependencies pinned, aged 30 days, and verified (uv, PGDG, digest-pinned Docker images through a scanned internal registry); "latest" is a gamble, not a version.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5"/>
          <p:cNvSpPr txBox="1"/>
          <p:nvPr/>
        </p:nvSpPr>
        <p:spPr>
          <a:xfrm>
            <a:off x="97267" y="462720"/>
            <a:ext cx="4425600" cy="357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Use Cases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https://www.youtube.com/watch?v=vhn9hfcerEk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Petco Love Lost’s photo-matching system has reunited 250,000 missing pets by comparing uploaded images with shelter and community reports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https://petcolove.org/newsroom/news-story/ai-for-good-petco-love-lost-reunites-250-000-pets-like-senior-dog-missing-for-two-months/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implanted brain-computer interface enabled ALS patient Casey Harrell to communicate independently at about 56 words per minute, exceeding 99% word accuracy in controlled testing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https://health.ucdavis.edu/news/headlines/brain-computer-interface-enables-independent-accurate-communication-for-man-living-with-als/2026/06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Finland’s commercial “sand battery” stores renewable heat in 2,000 tonnes of crushed soapstone, reducing Pornainen’s district-heating emissions by nearly 70%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https://polarnightenergy.com/news/worlds-largest-sand-battery-now-in-operation/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The stories emphasize that AI, sensors, robotics, and affordable maker tools can support health, accessibility, animal welfare, safety, and clean energy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https://health.ucdavis.edu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https://polarnightenergy.com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25596" y="99850"/>
            <a:ext cx="2261775" cy="1660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35" name="Google Shape;235;p35"/>
          <p:cNvSpPr txBox="1"/>
          <p:nvPr/>
        </p:nvSpPr>
        <p:spPr>
          <a:xfrm>
            <a:off x="4620217" y="3073545"/>
            <a:ext cx="44256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Googlebook and Aluminium OS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Googlebook - new premium laptop category built around Gemini Intelligence and tightly integrated with Android phones; expected this Fall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Aluminium OS - internal or leaked name for its Android-based desktop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Magic Pointer - surfaces Gemini’s contextual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Your Widget - using Google services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 Android apps and can work with paired phone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https://blog.google/products-and-platforms/platforms/android/meet-googlebook/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https://www.android.com/new-features-on-android/io-2026/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6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6"/>
          <p:cNvSpPr txBox="1"/>
          <p:nvPr/>
        </p:nvSpPr>
        <p:spPr>
          <a:xfrm>
            <a:off x="-10" y="426241"/>
            <a:ext cx="44256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“Deep Residual Learning for Image Recognition” (ResNet)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widely reported as the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most-cited paper published in the 21st century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under Nature’s 2025 cross-database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residual path is a shortcut road inside an AI model. It lets the information travel around a few layers instead of being forced through every single one.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ResNet reached 152 layers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won major 2015 ImageNet tasks,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established skip connections as a core pattern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later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used throughout transformer-based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https://arxiv.org/abs/1512.03385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https://arxiv.org/abs/1603.05027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https://www.youtube.com/watch?v=QgH9sr7G13Q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7350" y="680421"/>
            <a:ext cx="2943725" cy="158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7"/>
          <p:cNvSpPr txBox="1"/>
          <p:nvPr/>
        </p:nvSpPr>
        <p:spPr>
          <a:xfrm>
            <a:off x="61277" y="426241"/>
            <a:ext cx="4425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your brand appears in AI answers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Analyzed 107M AI answers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- mostly shows in review directories, press, and reference sites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Consumer products - mostly in marketplace pages and reviews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Communications services - mostly in third-party editorial and reference coverage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https://trendos.com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https://www.searchenginejournal.com/ai-search-citation-sources-trendos-spa/586289/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https://www.tryprofound.com/blog/ai-platform-citation-patterns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https://tinuiti.com/blog/search/ai-citations/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7"/>
          <p:cNvSpPr txBox="1"/>
          <p:nvPr/>
        </p:nvSpPr>
        <p:spPr>
          <a:xfrm>
            <a:off x="4633302" y="790183"/>
            <a:ext cx="44256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MINIX 3 in Intel Platform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Embedded in Intel Management Engine firmware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Andrew S. Tanenbaum created MINIX in 1987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compact Unix-like teaching system after Unix source licensing became unsuitable for classroom study. Size - 4K - 7.5K lines of code. The privileged kernel-side code is commonly 6K-12K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Andy lives in New York 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Linus Torvalds used MINIX while developing Linux;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Linux later adopted the GPL license,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whereas MINIX became BSD-licensed in 2000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2015 Intel incorporated MINIX 3 into its firmware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Skylake-era systems. It runs independently on a dedicated embedded processor and provides low-level services for platform </a:t>
            </a: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startup, security and trust checks, firmware management, and power-state control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BSD licensing allowed Intel to keep its changes proprietary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Tanenbaum publicly said he would have appreciated being told, while defending the permissive license.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lesson: licenses shape whether downstream modifications must be shared—not merely code quality or architecture.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https://www.minix3.org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https://github.com/Stichting-MINIX-Research-Foundation/minix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https://www.cs.vu.nl/~ast/intel/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https://cacm.acm.org/research/lessons-learned-from-30-years-of-minix/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37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75075" y="3376500"/>
            <a:ext cx="2311803" cy="1680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1" name="Google Shape;251;p37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6" y="2179850"/>
            <a:ext cx="2493750" cy="700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8"/>
          <p:cNvSpPr txBox="1"/>
          <p:nvPr/>
        </p:nvSpPr>
        <p:spPr>
          <a:xfrm>
            <a:off x="61277" y="426241"/>
            <a:ext cx="4425600" cy="4128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Omarchy Quattro - Agentic Linux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DHH’s opinionated, Arch-based Linux distribution, built around the Hyprland tiling desktop and developer-friendly defaults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 4.0, “Quattro,” released August 14 replaces many separate desktop utilities with one Quickshell-based process for the bar, launcher, notifications, menus, lock screen, and controls.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plugin architecture makes the shell scriptable and easier to extend with custom widgets and themes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Omarchy treats AI coding agents as first-class system tools through lazy-loaded launchers, with local-model options available for privacy-conscious users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release adds dual booting, factory reset, a smaller under-6-GB ISO, and faster installs; reliable testing on spare hardware remains wise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key idea is agent-assisted personalization and administration - not magic autonomous computing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on 64-bit Intel/AMD PCs, Intel- and Apple-silicon Macs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https://github.com/maralcbr/omarchy-mx-mac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https://omarchy.org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https://github.com/omacom/omarchy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https://www.phoronix.com/news/Omarchy-4.0-Released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https://www.heise.de/en/news/Omarchy-Linux-Desktop-Overhaul-and-10-Million-for-Foundation-11432304.html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https://www.youtube.com/watch?v=vDOUoiZ38ZE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8"/>
          <p:cNvSpPr txBox="1"/>
          <p:nvPr/>
        </p:nvSpPr>
        <p:spPr>
          <a:xfrm>
            <a:off x="4643175" y="1603750"/>
            <a:ext cx="30990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DHH is David Heinemeier Hansson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Danish programmer, entrepreneur, author, and racing driver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best known as the creator of Ruby on Rails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a co-owner and CTO of 37signals, the company behind Basecamp and HEY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9" name="Google Shape;259;p3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3173" y="426245"/>
            <a:ext cx="1941202" cy="1091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60" name="Google Shape;260;p38"/>
          <p:cNvSpPr txBox="1"/>
          <p:nvPr/>
        </p:nvSpPr>
        <p:spPr>
          <a:xfrm>
            <a:off x="7030825" y="4156350"/>
            <a:ext cx="1852500" cy="757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Browser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OS / Device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9"/>
          <p:cNvSpPr txBox="1"/>
          <p:nvPr/>
        </p:nvSpPr>
        <p:spPr>
          <a:xfrm>
            <a:off x="81775" y="97275"/>
            <a:ext cx="2836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Latest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39"/>
          <p:cNvSpPr txBox="1"/>
          <p:nvPr/>
        </p:nvSpPr>
        <p:spPr>
          <a:xfrm>
            <a:off x="71575" y="469675"/>
            <a:ext cx="33939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Latest packages may have dependencies which may contain viruses. Here is how to avoid them: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9"/>
          <p:cNvSpPr txBox="1"/>
          <p:nvPr/>
        </p:nvSpPr>
        <p:spPr>
          <a:xfrm>
            <a:off x="4354025" y="307775"/>
            <a:ext cx="46902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Python: In pyproject.toml add: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exclude-newer = "30 days"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prerelease = "disallow"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lock --upgrade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sync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pip install --upgrade --exclude-newer "30 days" -r requirements.txt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pip install --reinstall --exclude-newer "30 days" -r requirements.txt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9"/>
          <p:cNvSpPr txBox="1"/>
          <p:nvPr/>
        </p:nvSpPr>
        <p:spPr>
          <a:xfrm>
            <a:off x="5286725" y="2067100"/>
            <a:ext cx="37575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Rust: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Cargo has no built-in “only use crates older than 30 days” setting So: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Commit Cargo.lock to freeze the exact dependency graph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cargo build --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cargo test --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and cargo check --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prevent unplanned lockfile changes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cargo build --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cargo test --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locked, offline builds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one reviewed dependency at a time: cargo update -p crate_name --precise X.Y.Z.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the crate’s crates.io release date yourself and choose a version at least one month old.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Pin Rust itself with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rust-toolchain.toml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an exact version such as 1.82.0.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cargo audit and cargo deny check before committing changes.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0"/>
          <p:cNvSpPr txBox="1"/>
          <p:nvPr/>
        </p:nvSpPr>
        <p:spPr>
          <a:xfrm>
            <a:off x="81775" y="99850"/>
            <a:ext cx="440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0"/>
          <p:cNvSpPr txBox="1"/>
          <p:nvPr/>
        </p:nvSpPr>
        <p:spPr>
          <a:xfrm>
            <a:off x="61277" y="426241"/>
            <a:ext cx="44256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ECG Heart Screening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Imperial College London researchers developed an AI system that analyzes routine ECG recordings in under two seconds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flags signals of heart failure and heart-valve disease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U.S. study of 67,000 patients, it identified up to 81% of heart-failure cases and 90% of valve-disease cases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Trained on 1.6 Mln Brazilian ECGs plus several Million U.S. recordings, the model could help prioritize patients for echocardiograms, which remain necessary to confirm a diagnosis.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https://thenextweb.com/news/imperial-ai-ecg-heart-disease-detection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https://www.escardio.org/news/news-room/congress-news/can-deep-learning-detect-lv-diastolic-dysfunction-from-ecgs/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4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0225" y="426250"/>
            <a:ext cx="2621148" cy="209639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41"/>
          <p:cNvSpPr txBox="1"/>
          <p:nvPr/>
        </p:nvSpPr>
        <p:spPr>
          <a:xfrm>
            <a:off x="81765" y="420370"/>
            <a:ext cx="44256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AI’s Three Career Doors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Alex Karp (CEO of Palantir) argues durable careers cluster around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skilled trades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unconventional, non-playbook thinking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Trade work remains hard to automate because it requires physical presence, situational judgment, and repair in unpredictable environments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data-center growth may increase demand for electricians, HVAC technicians, plumbers, mechanics, and other infrastructure specialists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lesson is not that desk workers are doomed: routine execution is vulnerable, while taste, judgment, strategy, and accountable decisions grow more valuable.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practical response is to automate one repetitive weekly task, then reinvest the saved time in original analysis, relationship-building, or directing AI systems.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Treat AI as leverage: build the machine around your expertise rather than competing with it at standardized work.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https://www.palantir.com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https://github.com/palantir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https://www.youtube.com/watch?v=d_Bh8VWrvag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2" name="Google Shape;282;p4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0" y="152400"/>
            <a:ext cx="1985576" cy="1925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2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42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42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127K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August 27,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42"/>
          <p:cNvSpPr txBox="1"/>
          <p:nvPr/>
        </p:nvSpPr>
        <p:spPr>
          <a:xfrm>
            <a:off x="5655225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176,877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(740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1" name="Google Shape;291;p4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3237551"/>
            <a:ext cx="5355049" cy="186693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92" name="Google Shape;292;p4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454428"/>
            <a:ext cx="5355049" cy="27385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Google Shape;297;p4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43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3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p43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43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43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4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6169</Words>
  <Application>Microsoft Macintosh PowerPoint</Application>
  <PresentationFormat>On-screen Show (16:9)</PresentationFormat>
  <Paragraphs>642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Roboto Mono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2026-09-01T19:33:46Z</dcterms:modified>
</cp:coreProperties>
</file>