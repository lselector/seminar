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6858000" cy="9144000"/>
  <p:embeddedFontLst>
    <p:embeddedFont>
      <p:font typeface="Roboto Mono" pitchFamily="49"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78060D3-E47D-442D-BAAC-3F8D07A33644}">
  <a:tblStyle styleId="{378060D3-E47D-442D-BAAC-3F8D07A3364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1"/>
  </p:normalViewPr>
  <p:slideViewPr>
    <p:cSldViewPr>
      <p:cViewPr varScale="1">
        <p:scale>
          <a:sx n="125" d="100"/>
          <a:sy n="125" d="100"/>
        </p:scale>
        <p:origin x="5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cc01bf30ee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g3cc01bf30ee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d00f0b5581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 name="Google Shape;86;g3d00f0b5581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964f5a9299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g3964f5a9299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965794991b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g3965794991b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967e5cca0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g3967e5cca06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931867543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931867543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96870ff39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96870ff39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969226e930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3969226e930_1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d27381d120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3d27381d120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d27381d12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g3d27381d120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965794991b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g3965794991b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965f323ae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g3965f323ae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965794991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g3965794991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d141879f2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d141879f2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9646540ac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39646540ac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964f5a92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g3964f5a929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966fa18b9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g3966fa18b9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d23f4a095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g3d23f4a095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967362f0ee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 name="Google Shape;227;g3967362f0ee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d27381d120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8" name="Google Shape;238;g3d27381d120_3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d278522803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d278522803_1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d278522803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g3d278522803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96407788a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3" name="Google Shape;263;g396407788a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0" name="Google Shape;270;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969226e93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3969226e930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0" name="Google Shape;290;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0" name="Google Shape;30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www.anthropic.com/news/claude-sonnet-4-6" TargetMode="External"/><Relationship Id="rId39" Type="http://schemas.openxmlformats.org/officeDocument/2006/relationships/hyperlink" Target="https://openai.com/index/gpt-5-1/" TargetMode="External"/><Relationship Id="rId21" Type="http://schemas.openxmlformats.org/officeDocument/2006/relationships/hyperlink" Target="https://platform.openai.com/docs/models/gpt-5.4" TargetMode="External"/><Relationship Id="rId34" Type="http://schemas.openxmlformats.org/officeDocument/2006/relationships/hyperlink" Target="https://blog.google/products/gemini/gemini-3-flash" TargetMode="External"/><Relationship Id="rId7" Type="http://schemas.openxmlformats.org/officeDocument/2006/relationships/hyperlink" Target="https://openlm.ai/chatbot-arena/"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developers.openai.com/api/docs/models/gpt-5.2-chat-latest" TargetMode="External"/><Relationship Id="rId33" Type="http://schemas.openxmlformats.org/officeDocument/2006/relationships/hyperlink" Target="https://seed.bytedance.com/en/blog/dola-seed-2-0-preview-model-release-on-arena" TargetMode="External"/><Relationship Id="rId38" Type="http://schemas.openxmlformats.org/officeDocument/2006/relationships/hyperlink" Target="https://huggingface.co/zai-org/GLM-5"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blog.google/innovation-and-ai/models-and-research/gemini-models/gemini-3-1-pro/" TargetMode="External"/><Relationship Id="rId29" Type="http://schemas.openxmlformats.org/officeDocument/2006/relationships/hyperlink" Target="https://openai.com/index/gpt-5-3-instant/"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docs.x.ai/developers/models/grok-4.20-beta-0309-reasoning" TargetMode="External"/><Relationship Id="rId32" Type="http://schemas.openxmlformats.org/officeDocument/2006/relationships/hyperlink" Target="https://mimo.xiaomi.com/mimo-v2-pro" TargetMode="External"/><Relationship Id="rId37" Type="http://schemas.openxmlformats.org/officeDocument/2006/relationships/hyperlink" Target="https://x.ai/news/grok-4-1"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grok.com/" TargetMode="External"/><Relationship Id="rId28" Type="http://schemas.openxmlformats.org/officeDocument/2006/relationships/hyperlink" Target="https://aistudio.google.com/app/prompts/new_chat?model=gemini-3-pro-preview" TargetMode="External"/><Relationship Id="rId36" Type="http://schemas.openxmlformats.org/officeDocument/2006/relationships/hyperlink" Target="https://openai.com/index/introducing-gpt-5-4-mini-and-nano/"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opus-4-6" TargetMode="External"/><Relationship Id="rId31" Type="http://schemas.openxmlformats.org/officeDocument/2006/relationships/hyperlink" Target="https://qwen.ai/blog?id=qwen3.5-max-preview"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www.anthropic.com/news/claude-opus-4-5" TargetMode="External"/><Relationship Id="rId27" Type="http://schemas.openxmlformats.org/officeDocument/2006/relationships/hyperlink" Target="https://www.anthropic.com/news/claude-sonnet-4-5" TargetMode="External"/><Relationship Id="rId30" Type="http://schemas.openxmlformats.org/officeDocument/2006/relationships/hyperlink" Target="https://www.anthropic.com/news/claude-opus-4-1" TargetMode="External"/><Relationship Id="rId35" Type="http://schemas.openxmlformats.org/officeDocument/2006/relationships/hyperlink" Target="https://www.kimi.com/blog/kimi-k2-5.html"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kwSVtQ7dziU"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4CiCwvAA5FI"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hyperlink" Target="http://minbrowser.org" TargetMode="External"/><Relationship Id="rId7" Type="http://schemas.openxmlformats.org/officeDocument/2006/relationships/hyperlink" Target="https://www.youtube.com/watch?v=2u93VTYvG5U"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github.com/minbrowser/min" TargetMode="External"/><Relationship Id="rId5" Type="http://schemas.openxmlformats.org/officeDocument/2006/relationships/hyperlink" Target="https://minbrowser.org" TargetMode="Externa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mimo.xiaomi.com/mimo-v2-pro"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openclaw/openclaw" TargetMode="External"/><Relationship Id="rId7"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www.youtube.com/watch?v=BeeKm5x3UMU" TargetMode="External"/><Relationship Id="rId5" Type="http://schemas.openxmlformats.org/officeDocument/2006/relationships/image" Target="../media/image10.png"/><Relationship Id="rId4" Type="http://schemas.openxmlformats.org/officeDocument/2006/relationships/hyperlink" Target="https://github.com/openclaw/openclaw/releases"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Pysh7jiZ0h8"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hyperlink" Target="https://microsoft.ai/news/introducing-mai-image-2/"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github.com/supabase/cli" TargetMode="External"/><Relationship Id="rId13" Type="http://schemas.openxmlformats.org/officeDocument/2006/relationships/hyperlink" Target="https://techcrunch.com/2026/03/21/are-ai-tokens-the-new-signing-bonus-or-just-a-cost-of-doing-business/" TargetMode="External"/><Relationship Id="rId3" Type="http://schemas.openxmlformats.org/officeDocument/2006/relationships/hyperlink" Target="https://github.com/HKUDS/CLI-Anything" TargetMode="External"/><Relationship Id="rId7" Type="http://schemas.openxmlformats.org/officeDocument/2006/relationships/hyperlink" Target="https://github.com/cli/cli" TargetMode="External"/><Relationship Id="rId12" Type="http://schemas.openxmlformats.org/officeDocument/2006/relationships/hyperlink" Target="https://github.com/googleworkspace/cli" TargetMode="External"/><Relationship Id="rId2" Type="http://schemas.openxmlformats.org/officeDocument/2006/relationships/notesSlide" Target="../notesSlides/notesSlide12.xml"/><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hyperlink" Target="https://github.com/FFmpeg/FFmpeg" TargetMode="External"/><Relationship Id="rId11" Type="http://schemas.openxmlformats.org/officeDocument/2006/relationships/hyperlink" Target="https://github.com/AlexsJones/llmfit" TargetMode="External"/><Relationship Id="rId5" Type="http://schemas.openxmlformats.org/officeDocument/2006/relationships/hyperlink" Target="https://github.com/stripe/stripe-cli" TargetMode="External"/><Relationship Id="rId15" Type="http://schemas.openxmlformats.org/officeDocument/2006/relationships/image" Target="../media/image15.png"/><Relationship Id="rId10" Type="http://schemas.openxmlformats.org/officeDocument/2006/relationships/hyperlink" Target="https://github.com/microsoft/playwright-cli" TargetMode="External"/><Relationship Id="rId4" Type="http://schemas.openxmlformats.org/officeDocument/2006/relationships/hyperlink" Target="https://github.com/teng-lin/notebooklm-py" TargetMode="External"/><Relationship Id="rId9" Type="http://schemas.openxmlformats.org/officeDocument/2006/relationships/hyperlink" Target="https://github.com/vercel/vercel" TargetMode="External"/><Relationship Id="rId1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hyperlink" Target="https://www.investors.com/news/tesla-stock-elon-musk-tesla-spacex-terafab-project/"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14.xml.rels><?xml version="1.0" encoding="UTF-8" standalone="yes"?>
<Relationships xmlns="http://schemas.openxmlformats.org/package/2006/relationships"><Relationship Id="rId3" Type="http://schemas.openxmlformats.org/officeDocument/2006/relationships/hyperlink" Target="https://tradingagents-ai.github.io/" TargetMode="External"/><Relationship Id="rId7"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x.com/heynavtoor/status/2035199111872618555" TargetMode="External"/><Relationship Id="rId5" Type="http://schemas.openxmlformats.org/officeDocument/2006/relationships/hyperlink" Target="https://github.com/TauricResearch/TradingAgents" TargetMode="External"/><Relationship Id="rId4" Type="http://schemas.openxmlformats.org/officeDocument/2006/relationships/hyperlink" Target="https://arxiv.org/abs/2412.20138"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docs.databricks.com/aws/en/machine-learning/"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hyperlink" Target="https://stitch.withgoogle.com"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hyperlink" Target="https://blog.google/innovation-and-ai/models-and-research/google-labs/stitch-ai-ui-design/"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ll784fIsQew"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g8Zs12L2kVU"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7.jpe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8" Type="http://schemas.openxmlformats.org/officeDocument/2006/relationships/hyperlink" Target="https://github.com/Piebald-AI/claude-code-system-prompts" TargetMode="External"/><Relationship Id="rId3" Type="http://schemas.openxmlformats.org/officeDocument/2006/relationships/hyperlink" Target="https://www.youtube.com/watch?v=LrgfmZkl3nc" TargetMode="External"/><Relationship Id="rId7" Type="http://schemas.openxmlformats.org/officeDocument/2006/relationships/hyperlink" Target="https://github.com/Piebald-AI" TargetMode="External"/><Relationship Id="rId12"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hyperlink" Target="https://www.youtube.com/shorts/2chQzrrGfUw" TargetMode="External"/><Relationship Id="rId11" Type="http://schemas.openxmlformats.org/officeDocument/2006/relationships/image" Target="../media/image29.png"/><Relationship Id="rId5" Type="http://schemas.openxmlformats.org/officeDocument/2006/relationships/hyperlink" Target="https://piebald.ai" TargetMode="External"/><Relationship Id="rId10" Type="http://schemas.openxmlformats.org/officeDocument/2006/relationships/image" Target="../media/image28.png"/><Relationship Id="rId4" Type="http://schemas.openxmlformats.org/officeDocument/2006/relationships/hyperlink" Target="https://www.youtube.com/watch?v=8eustEguF9Q" TargetMode="External"/><Relationship Id="rId9" Type="http://schemas.openxmlformats.org/officeDocument/2006/relationships/hyperlink" Target="https://github.com/Piebald-AI/claude-code-system-prompts/blob/main/system-prompts/agent-prompt-dream-memory-consolidation.md"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mGFlD40FFwM"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UHLagfG2nJE"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hyperlink" Target="https://www.youtube.com/watch?v=RJWbk-4JvLU" TargetMode="External"/><Relationship Id="rId4" Type="http://schemas.openxmlformats.org/officeDocument/2006/relationships/hyperlink" Target="https://www.youtube.com/watch?v=d7TABYDHSE8"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PG6w8_HEn-o"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hyperlink" Target="https://trueup.io/layoffs"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hyperlink" Target="https://jobloss.ai"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1" y="547701"/>
            <a:ext cx="4420200" cy="1742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Crowd-sourced "LM Arena" Leaderboard</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Andrej Karpathy Interview</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Anthropic Claude Code Channels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Cowork Projects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now covers 90% of OpenClaw Use Cases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Code "Auto-Mode" setting</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Remote Control &amp; Dispatch</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Desktop Computer Use &amp; Min Browser</a:t>
            </a:r>
            <a:endParaRPr b="1">
              <a:solidFill>
                <a:srgbClr val="3C78D8"/>
              </a:solidFill>
              <a:latin typeface="Calibri"/>
              <a:ea typeface="Calibri"/>
              <a:cs typeface="Calibri"/>
              <a:sym typeface="Calibri"/>
            </a:endParaRPr>
          </a:p>
        </p:txBody>
      </p:sp>
      <p:sp>
        <p:nvSpPr>
          <p:cNvPr id="64" name="Google Shape;64;p15"/>
          <p:cNvSpPr txBox="1"/>
          <p:nvPr/>
        </p:nvSpPr>
        <p:spPr>
          <a:xfrm>
            <a:off x="0" y="-22692"/>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AI Updates - Mar 27, 2026</a:t>
            </a:r>
            <a:endParaRPr sz="3000" b="1">
              <a:solidFill>
                <a:srgbClr val="3C78D8"/>
              </a:solidFill>
              <a:latin typeface="Calibri"/>
              <a:ea typeface="Calibri"/>
              <a:cs typeface="Calibri"/>
              <a:sym typeface="Calibri"/>
            </a:endParaRPr>
          </a:p>
        </p:txBody>
      </p:sp>
      <p:sp>
        <p:nvSpPr>
          <p:cNvPr id="65" name="Google Shape;65;p15"/>
          <p:cNvSpPr txBox="1"/>
          <p:nvPr/>
        </p:nvSpPr>
        <p:spPr>
          <a:xfrm>
            <a:off x="4574323" y="4750490"/>
            <a:ext cx="4502400" cy="23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i="0" u="none" strike="noStrike" cap="none">
                <a:solidFill>
                  <a:srgbClr val="3C78D8"/>
                </a:solidFill>
                <a:latin typeface="Calibri"/>
                <a:ea typeface="Calibri"/>
                <a:cs typeface="Calibri"/>
                <a:sym typeface="Calibri"/>
              </a:rPr>
              <a:t>Jobs, Layoffs, </a:t>
            </a:r>
            <a:r>
              <a:rPr lang="en" b="1">
                <a:solidFill>
                  <a:srgbClr val="3C78D8"/>
                </a:solidFill>
                <a:latin typeface="Calibri"/>
                <a:ea typeface="Calibri"/>
                <a:cs typeface="Calibri"/>
                <a:sym typeface="Calibri"/>
              </a:rPr>
              <a:t>demand for AI Engineers</a:t>
            </a:r>
            <a:endParaRPr b="1" i="0" u="none" strike="noStrike" cap="none">
              <a:solidFill>
                <a:srgbClr val="3C78D8"/>
              </a:solidFill>
              <a:latin typeface="Calibri"/>
              <a:ea typeface="Calibri"/>
              <a:cs typeface="Calibri"/>
              <a:sym typeface="Calibri"/>
            </a:endParaRPr>
          </a:p>
        </p:txBody>
      </p:sp>
      <p:sp>
        <p:nvSpPr>
          <p:cNvPr id="66" name="Google Shape;66;p15"/>
          <p:cNvSpPr txBox="1"/>
          <p:nvPr/>
        </p:nvSpPr>
        <p:spPr>
          <a:xfrm>
            <a:off x="78651" y="2380212"/>
            <a:ext cx="4420200" cy="26043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Anthropic vs US Government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Xiaomi MiMo-V2-Pro - Foundation Model</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OpenClaw Updates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Manus's "My Computer" Feature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Microsoft MAI-Image-2 text-to-image AI model</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CLI tools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AI Tokens as a New Employee Bonus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OpenAI Shuts Down Sora AI video generation app</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Tesla TeraFab</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TradingAgents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AI on Databricks platform</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Google Stitch - Free AI UI Vibe Design</a:t>
            </a:r>
            <a:endParaRPr b="1">
              <a:solidFill>
                <a:srgbClr val="3C78D8"/>
              </a:solidFill>
              <a:latin typeface="Calibri"/>
              <a:ea typeface="Calibri"/>
              <a:cs typeface="Calibri"/>
              <a:sym typeface="Calibri"/>
            </a:endParaRPr>
          </a:p>
        </p:txBody>
      </p:sp>
      <p:sp>
        <p:nvSpPr>
          <p:cNvPr id="67" name="Google Shape;67;p15"/>
          <p:cNvSpPr txBox="1"/>
          <p:nvPr/>
        </p:nvSpPr>
        <p:spPr>
          <a:xfrm>
            <a:off x="4574323" y="1521358"/>
            <a:ext cx="4502400" cy="28197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Boston Dynamics Robots for Manufacturing</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Siraj Raval - Build Your Personal Agent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Perplexity Health</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OpenAI $110B funding  at a $840B valuation</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DeepSeek's Engram</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Anthropic AutoDream feature for Claude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Meta's Hyperagents - Self-modification</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OpenClaw Nerve Dashboard</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AI + Obsidian = Your Own JARVIS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Hermes Agent by News Research - Self-improving</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 Collaborator</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I Made Claude My Co-Founder</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Chrome Extension</a:t>
            </a:r>
            <a:endParaRPr b="1">
              <a:solidFill>
                <a:srgbClr val="3C78D8"/>
              </a:solidFill>
              <a:latin typeface="Calibri"/>
              <a:ea typeface="Calibri"/>
              <a:cs typeface="Calibri"/>
              <a:sym typeface="Calibri"/>
            </a:endParaRPr>
          </a:p>
        </p:txBody>
      </p:sp>
      <p:sp>
        <p:nvSpPr>
          <p:cNvPr id="68" name="Google Shape;68;p15"/>
          <p:cNvSpPr txBox="1"/>
          <p:nvPr/>
        </p:nvSpPr>
        <p:spPr>
          <a:xfrm>
            <a:off x="4574325" y="83950"/>
            <a:ext cx="2565900" cy="1249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600" b="1" i="1">
                <a:solidFill>
                  <a:srgbClr val="FF0000"/>
                </a:solidFill>
                <a:latin typeface="Calibri"/>
                <a:ea typeface="Calibri"/>
                <a:cs typeface="Calibri"/>
                <a:sym typeface="Calibri"/>
              </a:rPr>
              <a:t>"It is not the strongest of the species that survives, nor the most intelligent, but the one most responsive to change." — Charles Darwin</a:t>
            </a:r>
            <a:endParaRPr sz="1600" b="1" i="1">
              <a:solidFill>
                <a:srgbClr val="FF0000"/>
              </a:solidFill>
              <a:latin typeface="Calibri"/>
              <a:ea typeface="Calibri"/>
              <a:cs typeface="Calibri"/>
              <a:sym typeface="Calibri"/>
            </a:endParaRPr>
          </a:p>
        </p:txBody>
      </p:sp>
      <p:pic>
        <p:nvPicPr>
          <p:cNvPr id="69" name="Google Shape;69;p15"/>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969225" y="83950"/>
            <a:ext cx="1043975" cy="13601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5" name="Google Shape;75;p16"/>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76" name="Google Shape;76;p16"/>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7" name="Google Shape;77;p16"/>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8" name="Google Shape;78;p16"/>
          <p:cNvSpPr txBox="1"/>
          <p:nvPr/>
        </p:nvSpPr>
        <p:spPr>
          <a:xfrm>
            <a:off x="6183999" y="1858050"/>
            <a:ext cx="2908500" cy="309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(alibaba)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7"/>
              </a:rPr>
              <a:t>http://aiarena.alibaba-inc.com/corpora/arena/leaderboard?arenaType=T2I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 </a:t>
            </a:r>
            <a:r>
              <a:rPr lang="en" sz="800" u="sng">
                <a:solidFill>
                  <a:schemeClr val="hlink"/>
                </a:solidFill>
                <a:latin typeface="Calibri"/>
                <a:ea typeface="Calibri"/>
                <a:cs typeface="Calibri"/>
                <a:sym typeface="Calibri"/>
                <a:hlinkClick r:id="rId18"/>
              </a:rPr>
              <a:t>https://lmarena.ai/leaderboard/text-to-image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79" name="Google Shape;79;p16"/>
          <p:cNvSpPr txBox="1"/>
          <p:nvPr/>
        </p:nvSpPr>
        <p:spPr>
          <a:xfrm>
            <a:off x="4431041"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March 26</a:t>
            </a:r>
            <a:endParaRPr sz="1000">
              <a:latin typeface="Calibri"/>
              <a:ea typeface="Calibri"/>
              <a:cs typeface="Calibri"/>
              <a:sym typeface="Calibri"/>
            </a:endParaRPr>
          </a:p>
        </p:txBody>
      </p:sp>
      <p:sp>
        <p:nvSpPr>
          <p:cNvPr id="80" name="Google Shape;80;p16"/>
          <p:cNvSpPr txBox="1"/>
          <p:nvPr/>
        </p:nvSpPr>
        <p:spPr>
          <a:xfrm>
            <a:off x="7346795" y="608477"/>
            <a:ext cx="17457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deepseek-v3.2  -  671B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ernie-5.0 - 2.4T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glm-5.0 - 744B </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kimi-k2.5-thinking - 1T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qwen3.5-397B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Xiaomi MiMo-V2-Pro - 1T+</a:t>
            </a:r>
            <a:endParaRPr sz="1000">
              <a:latin typeface="Calibri"/>
              <a:ea typeface="Calibri"/>
              <a:cs typeface="Calibri"/>
              <a:sym typeface="Calibri"/>
            </a:endParaRPr>
          </a:p>
        </p:txBody>
      </p:sp>
      <p:graphicFrame>
        <p:nvGraphicFramePr>
          <p:cNvPr id="81" name="Google Shape;81;p16"/>
          <p:cNvGraphicFramePr/>
          <p:nvPr/>
        </p:nvGraphicFramePr>
        <p:xfrm>
          <a:off x="5742420" y="430065"/>
          <a:ext cx="3000000" cy="3000000"/>
        </p:xfrm>
        <a:graphic>
          <a:graphicData uri="http://schemas.openxmlformats.org/drawingml/2006/table">
            <a:tbl>
              <a:tblPr>
                <a:noFill/>
                <a:tableStyleId>{378060D3-E47D-442D-BAAC-3F8D07A33644}</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graphicFrame>
        <p:nvGraphicFramePr>
          <p:cNvPr id="82" name="Google Shape;82;p16"/>
          <p:cNvGraphicFramePr/>
          <p:nvPr/>
        </p:nvGraphicFramePr>
        <p:xfrm>
          <a:off x="2971800" y="819150"/>
          <a:ext cx="3000000" cy="3000000"/>
        </p:xfrm>
        <a:graphic>
          <a:graphicData uri="http://schemas.openxmlformats.org/drawingml/2006/table">
            <a:tbl>
              <a:tblPr>
                <a:noFill/>
                <a:tableStyleId>{378060D3-E47D-442D-BAAC-3F8D07A33644}</a:tableStyleId>
              </a:tblPr>
              <a:tblGrid>
                <a:gridCol w="247650">
                  <a:extLst>
                    <a:ext uri="{9D8B030D-6E8A-4147-A177-3AD203B41FA5}">
                      <a16:colId xmlns:a16="http://schemas.microsoft.com/office/drawing/2014/main" val="20000"/>
                    </a:ext>
                  </a:extLst>
                </a:gridCol>
                <a:gridCol w="1781175">
                  <a:extLst>
                    <a:ext uri="{9D8B030D-6E8A-4147-A177-3AD203B41FA5}">
                      <a16:colId xmlns:a16="http://schemas.microsoft.com/office/drawing/2014/main" val="20001"/>
                    </a:ext>
                  </a:extLst>
                </a:gridCol>
                <a:gridCol w="285750">
                  <a:extLst>
                    <a:ext uri="{9D8B030D-6E8A-4147-A177-3AD203B41FA5}">
                      <a16:colId xmlns:a16="http://schemas.microsoft.com/office/drawing/2014/main" val="20002"/>
                    </a:ext>
                  </a:extLst>
                </a:gridCol>
              </a:tblGrid>
              <a:tr h="142875">
                <a:tc>
                  <a:txBody>
                    <a:bodyPr/>
                    <a:lstStyle/>
                    <a:p>
                      <a:pPr marL="0" lvl="0" indent="0" algn="l" rtl="0">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gemini-3.1-pro-preview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gpt-5.4-high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claude-opus-4-5-20251101-thinking-32k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grok-4.20-beta1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grok-4.20-beta-0309-reasoning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gpt-5.2-chat-latest-20260210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claude-sonnet-4-6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1522</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claude-sonnet-4-5-20250929-thinking-32k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gemini-3-pro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claude-opus-4-5-20251101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1517</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gpt-5.3-chat-latest</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claude-opus-4-1-20250805-thinking-16k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claude-sonnet-4-5-20250929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qwen3.5-max-preview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mimo-v2-pro</a:t>
                      </a:r>
                      <a:r>
                        <a:rPr lang="en" sz="800" u="sng">
                          <a:solidFill>
                            <a:srgbClr val="0563C1"/>
                          </a:solidFill>
                          <a:latin typeface="Calibri"/>
                          <a:ea typeface="Calibri"/>
                          <a:cs typeface="Calibri"/>
                          <a:sym typeface="Calibri"/>
                        </a:rPr>
                        <a:t> (Xiaomi)</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dola-seed-2.0-preview</a:t>
                      </a:r>
                      <a:r>
                        <a:rPr lang="en" sz="800" u="sng">
                          <a:solidFill>
                            <a:srgbClr val="0563C1"/>
                          </a:solidFill>
                          <a:latin typeface="Calibri"/>
                          <a:ea typeface="Calibri"/>
                          <a:cs typeface="Calibri"/>
                          <a:sym typeface="Calibri"/>
                        </a:rPr>
                        <a:t> (ByteDance)</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gemini-3-flash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gpt-5.4</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kimi-k2.5-thinking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1509</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claude-opus-4-1-20250805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kimi-k2.5-instant</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gpt-5.4-mini-high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grok-4.1-thinking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83" name="Google Shape;83;p16"/>
          <p:cNvGraphicFramePr/>
          <p:nvPr/>
        </p:nvGraphicFramePr>
        <p:xfrm>
          <a:off x="190500" y="838200"/>
          <a:ext cx="3000000" cy="3000000"/>
        </p:xfrm>
        <a:graphic>
          <a:graphicData uri="http://schemas.openxmlformats.org/drawingml/2006/table">
            <a:tbl>
              <a:tblPr>
                <a:noFill/>
                <a:tableStyleId>{378060D3-E47D-442D-BAAC-3F8D07A33644}</a:tableStyleId>
              </a:tblPr>
              <a:tblGrid>
                <a:gridCol w="247650">
                  <a:extLst>
                    <a:ext uri="{9D8B030D-6E8A-4147-A177-3AD203B41FA5}">
                      <a16:colId xmlns:a16="http://schemas.microsoft.com/office/drawing/2014/main" val="20000"/>
                    </a:ext>
                  </a:extLst>
                </a:gridCol>
                <a:gridCol w="1781175">
                  <a:extLst>
                    <a:ext uri="{9D8B030D-6E8A-4147-A177-3AD203B41FA5}">
                      <a16:colId xmlns:a16="http://schemas.microsoft.com/office/drawing/2014/main" val="20001"/>
                    </a:ext>
                  </a:extLst>
                </a:gridCol>
                <a:gridCol w="285750">
                  <a:extLst>
                    <a:ext uri="{9D8B030D-6E8A-4147-A177-3AD203B41FA5}">
                      <a16:colId xmlns:a16="http://schemas.microsoft.com/office/drawing/2014/main" val="20002"/>
                    </a:ext>
                  </a:extLst>
                </a:gridCol>
              </a:tblGrid>
              <a:tr h="142875">
                <a:tc>
                  <a:txBody>
                    <a:bodyPr/>
                    <a:lstStyle/>
                    <a:p>
                      <a:pPr marL="0" lvl="0" indent="0" algn="l" rtl="0">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claude-opus-4-6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gemini-3.1-pro-preview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grok-4.20-beta1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gemini-3-pro</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gpt-5.4-high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grok-4.20-beta-0309-reasoning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gpt-5.2-chat-latest-20260210</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1480</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gemini-3-flash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claude-opus-4-5-20251101-thinking-32k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grok-4.1-thinking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claude-opus-4-5-20251101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1468</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gpt-5.4</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qwen3.5-max-preview</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gpt-5.3-chat-latest</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gemini-3-flash (thinking-minimal)</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claude-sonnet-4-6</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dola-seed-2.0-preview</a:t>
                      </a:r>
                      <a:r>
                        <a:rPr lang="en" sz="800" u="sng">
                          <a:solidFill>
                            <a:srgbClr val="0563C1"/>
                          </a:solidFill>
                          <a:latin typeface="Calibri"/>
                          <a:ea typeface="Calibri"/>
                          <a:cs typeface="Calibri"/>
                          <a:sym typeface="Calibri"/>
                        </a:rPr>
                        <a:t> (ByteDance)</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42875">
                <a:tc>
                  <a:txBody>
                    <a:bodyPr/>
                    <a:lstStyle/>
                    <a:p>
                      <a:pPr marL="0" lvl="0" indent="0" algn="l" rtl="0">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grok-4.1</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1461</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glm-5</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1456</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gpt-5.1-high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1455</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gpt-5.4-mini-high</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kimi-k2.5-thinking</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1454</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claude-sonnet-4-5-20250929-thinking-32k</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spcBef>
                          <a:spcPts val="0"/>
                        </a:spcBef>
                        <a:spcAft>
                          <a:spcPts val="0"/>
                        </a:spcAft>
                        <a:buNone/>
                      </a:pPr>
                      <a:r>
                        <a:rPr lang="en" sz="800" u="sng">
                          <a:solidFill>
                            <a:srgbClr val="0563C1"/>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claude-sonnet-4-5-20250929</a:t>
                      </a:r>
                      <a:endParaRPr sz="800" u="sng">
                        <a:solidFill>
                          <a:srgbClr val="0563C1"/>
                        </a:solidFill>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1453</a:t>
                      </a:r>
                      <a:endParaRPr sz="800">
                        <a:latin typeface="Calibri"/>
                        <a:ea typeface="Calibri"/>
                        <a:cs typeface="Calibri"/>
                        <a:sym typeface="Calibri"/>
                      </a:endParaRPr>
                    </a:p>
                  </a:txBody>
                  <a:tcPr marL="9525" marR="9525" marT="95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Andrej Karpathy Interview</a:t>
            </a:r>
            <a:endParaRPr sz="2000" b="1">
              <a:solidFill>
                <a:schemeClr val="dk1"/>
              </a:solidFill>
              <a:latin typeface="Calibri"/>
              <a:ea typeface="Calibri"/>
              <a:cs typeface="Calibri"/>
              <a:sym typeface="Calibri"/>
            </a:endParaRPr>
          </a:p>
        </p:txBody>
      </p:sp>
      <p:sp>
        <p:nvSpPr>
          <p:cNvPr id="89" name="Google Shape;89;p17"/>
          <p:cNvSpPr txBox="1"/>
          <p:nvPr/>
        </p:nvSpPr>
        <p:spPr>
          <a:xfrm>
            <a:off x="100600" y="390050"/>
            <a:ext cx="4392600" cy="371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Code Agents, AutoResearch, and the Loopy Era of AI</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https://www.youtube.com/watch?v=kwSVtQ7dziU</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this episode of the No Priors podcast, Andrej Karpathy discusses the transition from manual coding to the "agentic era."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describes a state of "AI psychosis," where he now spends his time </a:t>
            </a:r>
            <a:r>
              <a:rPr lang="en" sz="1200" b="1">
                <a:solidFill>
                  <a:srgbClr val="3C78D8"/>
                </a:solidFill>
                <a:latin typeface="Calibri"/>
                <a:ea typeface="Calibri"/>
                <a:cs typeface="Calibri"/>
                <a:sym typeface="Calibri"/>
              </a:rPr>
              <a:t>delegating high-level intent to autonomous agents</a:t>
            </a:r>
            <a:r>
              <a:rPr lang="en" sz="1200">
                <a:solidFill>
                  <a:schemeClr val="dk1"/>
                </a:solidFill>
                <a:latin typeface="Calibri"/>
                <a:ea typeface="Calibri"/>
                <a:cs typeface="Calibri"/>
                <a:sym typeface="Calibri"/>
              </a:rPr>
              <a:t> rather than writing lines of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AutoResearch</a:t>
            </a:r>
            <a:r>
              <a:rPr lang="en" sz="1200">
                <a:solidFill>
                  <a:schemeClr val="dk1"/>
                </a:solidFill>
                <a:latin typeface="Calibri"/>
                <a:ea typeface="Calibri"/>
                <a:cs typeface="Calibri"/>
                <a:sym typeface="Calibri"/>
              </a:rPr>
              <a:t>: Karpathy introduces his project where agents autonomously design and run AI experiments, finding optimizations that human researchers - overlook.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t>
            </a:r>
            <a:r>
              <a:rPr lang="en" sz="1200" b="1">
                <a:solidFill>
                  <a:srgbClr val="3C78D8"/>
                </a:solidFill>
                <a:latin typeface="Calibri"/>
                <a:ea typeface="Calibri"/>
                <a:cs typeface="Calibri"/>
                <a:sym typeface="Calibri"/>
              </a:rPr>
              <a:t>"Claw"</a:t>
            </a:r>
            <a:r>
              <a:rPr lang="en" sz="1200">
                <a:solidFill>
                  <a:schemeClr val="dk1"/>
                </a:solidFill>
                <a:latin typeface="Calibri"/>
                <a:ea typeface="Calibri"/>
                <a:cs typeface="Calibri"/>
                <a:sym typeface="Calibri"/>
              </a:rPr>
              <a:t> Concept: He describes persistent, looping agent harnesses that manage complex tasks, such as his "Dobby" agent that hacked and unified his entire smart home system.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Future of Work: Karpathy envisions a </a:t>
            </a:r>
            <a:r>
              <a:rPr lang="en" sz="1200" b="1">
                <a:solidFill>
                  <a:srgbClr val="3C78D8"/>
                </a:solidFill>
                <a:latin typeface="Calibri"/>
                <a:ea typeface="Calibri"/>
                <a:cs typeface="Calibri"/>
                <a:sym typeface="Calibri"/>
              </a:rPr>
              <a:t>"swarm" of untrusted global compute collaborating on research</a:t>
            </a:r>
            <a:r>
              <a:rPr lang="en" sz="1200">
                <a:solidFill>
                  <a:schemeClr val="dk1"/>
                </a:solidFill>
                <a:latin typeface="Calibri"/>
                <a:ea typeface="Calibri"/>
                <a:cs typeface="Calibri"/>
                <a:sym typeface="Calibri"/>
              </a:rPr>
              <a:t>, suggesting that while the digital world will transform at light speed, </a:t>
            </a:r>
            <a:r>
              <a:rPr lang="en" sz="1200" b="1">
                <a:solidFill>
                  <a:srgbClr val="3C78D8"/>
                </a:solidFill>
                <a:latin typeface="Calibri"/>
                <a:ea typeface="Calibri"/>
                <a:cs typeface="Calibri"/>
                <a:sym typeface="Calibri"/>
              </a:rPr>
              <a:t>physical robotics will lag </a:t>
            </a:r>
            <a:r>
              <a:rPr lang="en" sz="1200">
                <a:solidFill>
                  <a:schemeClr val="dk1"/>
                </a:solidFill>
                <a:latin typeface="Calibri"/>
                <a:ea typeface="Calibri"/>
                <a:cs typeface="Calibri"/>
                <a:sym typeface="Calibri"/>
              </a:rPr>
              <a:t>due to the complexity of "atoms."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Education: He predicts a shift where </a:t>
            </a:r>
            <a:r>
              <a:rPr lang="en" sz="1200" b="1">
                <a:solidFill>
                  <a:srgbClr val="3C78D8"/>
                </a:solidFill>
                <a:latin typeface="Calibri"/>
                <a:ea typeface="Calibri"/>
                <a:cs typeface="Calibri"/>
                <a:sym typeface="Calibri"/>
              </a:rPr>
              <a:t>humans explain concepts to agents</a:t>
            </a:r>
            <a:r>
              <a:rPr lang="en" sz="1200">
                <a:solidFill>
                  <a:schemeClr val="dk1"/>
                </a:solidFill>
                <a:latin typeface="Calibri"/>
                <a:ea typeface="Calibri"/>
                <a:cs typeface="Calibri"/>
                <a:sym typeface="Calibri"/>
              </a:rPr>
              <a:t>, </a:t>
            </a:r>
            <a:r>
              <a:rPr lang="en" sz="1200" b="1">
                <a:solidFill>
                  <a:srgbClr val="6AA84F"/>
                </a:solidFill>
                <a:latin typeface="Calibri"/>
                <a:ea typeface="Calibri"/>
                <a:cs typeface="Calibri"/>
                <a:sym typeface="Calibri"/>
              </a:rPr>
              <a:t>which then provide personalized, infinitely patient tutoring to students.</a:t>
            </a:r>
            <a:endParaRPr sz="1200" b="1">
              <a:solidFill>
                <a:srgbClr val="6AA84F"/>
              </a:solidFill>
              <a:latin typeface="Calibri"/>
              <a:ea typeface="Calibri"/>
              <a:cs typeface="Calibri"/>
              <a:sym typeface="Calibri"/>
            </a:endParaRPr>
          </a:p>
        </p:txBody>
      </p:sp>
      <p:pic>
        <p:nvPicPr>
          <p:cNvPr id="90" name="Google Shape;90;p1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18650" y="390050"/>
            <a:ext cx="4470401" cy="25228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Anthropic Claude Code Channels</a:t>
            </a:r>
            <a:endParaRPr sz="2000" b="1">
              <a:solidFill>
                <a:schemeClr val="dk1"/>
              </a:solidFill>
              <a:latin typeface="Calibri"/>
              <a:ea typeface="Calibri"/>
              <a:cs typeface="Calibri"/>
              <a:sym typeface="Calibri"/>
            </a:endParaRPr>
          </a:p>
        </p:txBody>
      </p:sp>
      <p:sp>
        <p:nvSpPr>
          <p:cNvPr id="96" name="Google Shape;96;p18"/>
          <p:cNvSpPr txBox="1"/>
          <p:nvPr/>
        </p:nvSpPr>
        <p:spPr>
          <a:xfrm>
            <a:off x="100600" y="492957"/>
            <a:ext cx="4392600" cy="371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Claude Code Channels (in "Research")</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Use Telegram or Discord to interact with Claude Code AI agent</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This mirrors how OpenClaw works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You can send text messages to Claude from your phone - and receive back notifications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It turns your terminal-based AI agent (Claude Code) into an "always-on" assistant that you can "text" with</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 "Channel" is technically a specialized Model Context Protocol (MCP) server. It acts as a two-way bridge between an external service and your active Claude Code session</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Inbound: When you send a message via Telegram or Discord, it is pushed into the active Claude Code session as an event.Outbound: Claude can use its internal tools to execute commands, fix bugs, or run tests, and then reply back to you through that same message thread</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/plugin install telegram@claude-plugins-official</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/telegram:configure &lt;your_bot_token&gt;</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claude --channels plugin:telegram@claude-plugins-official</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Pairing: Send a message to your bot; it will give you a code to enter in the terminal to verify your identity</a:t>
            </a:r>
            <a:endParaRPr sz="1200">
              <a:latin typeface="Calibri"/>
              <a:ea typeface="Calibri"/>
              <a:cs typeface="Calibri"/>
              <a:sym typeface="Calibri"/>
            </a:endParaRPr>
          </a:p>
        </p:txBody>
      </p:sp>
      <p:pic>
        <p:nvPicPr>
          <p:cNvPr id="97" name="Google Shape;97;p18"/>
          <p:cNvPicPr preferRelativeResize="0"/>
          <p:nvPr/>
        </p:nvPicPr>
        <p:blipFill>
          <a:blip r:embed="rId3">
            <a:alphaModFix/>
          </a:blip>
          <a:stretch>
            <a:fillRect/>
          </a:stretch>
        </p:blipFill>
        <p:spPr>
          <a:xfrm>
            <a:off x="4646100" y="492950"/>
            <a:ext cx="2197475" cy="27441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Anthropic Claude Cowork Projects</a:t>
            </a:r>
            <a:endParaRPr sz="2000" b="1">
              <a:solidFill>
                <a:schemeClr val="dk1"/>
              </a:solidFill>
              <a:latin typeface="Calibri"/>
              <a:ea typeface="Calibri"/>
              <a:cs typeface="Calibri"/>
              <a:sym typeface="Calibri"/>
            </a:endParaRPr>
          </a:p>
        </p:txBody>
      </p:sp>
      <p:sp>
        <p:nvSpPr>
          <p:cNvPr id="103" name="Google Shape;103;p19"/>
          <p:cNvSpPr txBox="1"/>
          <p:nvPr/>
        </p:nvSpPr>
        <p:spPr>
          <a:xfrm>
            <a:off x="100600" y="514123"/>
            <a:ext cx="4392600" cy="1634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Cowork Projects</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https://www.youtube.com/watch?v=4CiCwvAA5FI</a:t>
            </a:r>
            <a:r>
              <a:rPr lang="en" sz="900">
                <a:latin typeface="Calibri"/>
                <a:ea typeface="Calibri"/>
                <a:cs typeface="Calibri"/>
                <a:sym typeface="Calibri"/>
              </a:rPr>
              <a:t> </a:t>
            </a:r>
            <a:endParaRPr sz="9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Projects function as dedicated workspaces with their own files, persistent memory, instructions, skills, and scheduled tasks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Example - using projects for specific business areas like YouTube content creation, where Claude remembers brand voice, upload schedules, and performs automated competitor analysis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Projects can be enhanced with memory features, web connectors, and integration with other apps.</a:t>
            </a:r>
            <a:endParaRPr sz="1200">
              <a:latin typeface="Calibri"/>
              <a:ea typeface="Calibri"/>
              <a:cs typeface="Calibri"/>
              <a:sym typeface="Calibri"/>
            </a:endParaRPr>
          </a:p>
        </p:txBody>
      </p:sp>
      <p:pic>
        <p:nvPicPr>
          <p:cNvPr id="104" name="Google Shape;104;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80650" y="577625"/>
            <a:ext cx="2377849" cy="1337975"/>
          </a:xfrm>
          <a:prstGeom prst="rect">
            <a:avLst/>
          </a:prstGeom>
          <a:noFill/>
          <a:ln w="9525" cap="flat" cmpd="sng">
            <a:solidFill>
              <a:srgbClr val="FF0000"/>
            </a:solidFill>
            <a:prstDash val="solid"/>
            <a:round/>
            <a:headEnd type="none" w="sm" len="sm"/>
            <a:tailEnd type="none" w="sm" len="sm"/>
          </a:ln>
        </p:spPr>
      </p:pic>
      <p:sp>
        <p:nvSpPr>
          <p:cNvPr id="105" name="Google Shape;105;p19"/>
          <p:cNvSpPr txBox="1"/>
          <p:nvPr/>
        </p:nvSpPr>
        <p:spPr>
          <a:xfrm>
            <a:off x="100600" y="2550357"/>
            <a:ext cx="43926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vs OpenClaw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Anthropic recently added Claude features which closely mirror OpenClaw  - </a:t>
            </a:r>
            <a:r>
              <a:rPr lang="en" sz="1200" b="1">
                <a:solidFill>
                  <a:srgbClr val="3C78D8"/>
                </a:solidFill>
                <a:latin typeface="Calibri"/>
                <a:ea typeface="Calibri"/>
                <a:cs typeface="Calibri"/>
                <a:sym typeface="Calibri"/>
              </a:rPr>
              <a:t>persistent desktop automation, computer use (navigating apps and browsers like a human), mobile task delegation via the Claude app, and integrations with Slack, Google Workspace, and Notion - all without complex setup. This covers 90% of his OpenClaw use cases with far less security risk</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OpenClaw remains relevant: it's free, open-source, works with any LLM, runs on Linux/Mac/Windows, and builds deep personalized memory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Claude's version is sandboxed, beginner-friendly, and Mac-only for now - a safer but less flexible alternative</a:t>
            </a:r>
            <a:endParaRPr sz="1200">
              <a:latin typeface="Calibri"/>
              <a:ea typeface="Calibri"/>
              <a:cs typeface="Calibri"/>
              <a:sym typeface="Calibri"/>
            </a:endParaRPr>
          </a:p>
        </p:txBody>
      </p:sp>
      <p:sp>
        <p:nvSpPr>
          <p:cNvPr id="106" name="Google Shape;106;p19"/>
          <p:cNvSpPr txBox="1"/>
          <p:nvPr/>
        </p:nvSpPr>
        <p:spPr>
          <a:xfrm>
            <a:off x="4577350" y="2603273"/>
            <a:ext cx="43926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Code "Auto-Mode" setting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 built-in "classifier" robot checks every action before Claude executes it - and </a:t>
            </a:r>
            <a:r>
              <a:rPr lang="en" sz="1200" b="1">
                <a:solidFill>
                  <a:srgbClr val="3C78D8"/>
                </a:solidFill>
                <a:latin typeface="Calibri"/>
                <a:ea typeface="Calibri"/>
                <a:cs typeface="Calibri"/>
                <a:sym typeface="Calibri"/>
              </a:rPr>
              <a:t>blocks only "unsafe" operations</a:t>
            </a:r>
            <a:r>
              <a:rPr lang="en" sz="1200">
                <a:latin typeface="Calibri"/>
                <a:ea typeface="Calibri"/>
                <a:cs typeface="Calibri"/>
                <a:sym typeface="Calibri"/>
              </a:rPr>
              <a:t>. Thus user doesn't have to "approve" dozens of times. And it is safer than the old "skip permissions" mode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Toggle "Allow auto permissions mode" in settings, and run the command </a:t>
            </a:r>
            <a:r>
              <a:rPr lang="en" sz="1200" b="1">
                <a:solidFill>
                  <a:srgbClr val="3C78D8"/>
                </a:solidFill>
                <a:latin typeface="Calibri"/>
                <a:ea typeface="Calibri"/>
                <a:cs typeface="Calibri"/>
                <a:sym typeface="Calibri"/>
              </a:rPr>
              <a:t>claude enable auto mode</a:t>
            </a:r>
            <a:r>
              <a:rPr lang="en" sz="1200">
                <a:latin typeface="Calibri"/>
                <a:ea typeface="Calibri"/>
                <a:cs typeface="Calibri"/>
                <a:sym typeface="Calibri"/>
              </a:rPr>
              <a:t> in the terminal</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Currently available for Claude Team Plan users, with Enterprise and API access rolling out shortly after</a:t>
            </a:r>
            <a:endParaRPr sz="1200">
              <a:latin typeface="Calibri"/>
              <a:ea typeface="Calibri"/>
              <a:cs typeface="Calibri"/>
              <a:sym typeface="Calibri"/>
            </a:endParaRPr>
          </a:p>
        </p:txBody>
      </p:sp>
      <p:sp>
        <p:nvSpPr>
          <p:cNvPr id="107" name="Google Shape;107;p19"/>
          <p:cNvSpPr txBox="1"/>
          <p:nvPr/>
        </p:nvSpPr>
        <p:spPr>
          <a:xfrm>
            <a:off x="4577350" y="4397450"/>
            <a:ext cx="4392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Remote Control</a:t>
            </a:r>
            <a:r>
              <a:rPr lang="en" sz="1200">
                <a:latin typeface="Calibri"/>
                <a:ea typeface="Calibri"/>
                <a:cs typeface="Calibri"/>
                <a:sym typeface="Calibri"/>
              </a:rPr>
              <a:t> - for Claude Code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Dispatch</a:t>
            </a:r>
            <a:r>
              <a:rPr lang="en" sz="1200">
                <a:latin typeface="Calibri"/>
                <a:ea typeface="Calibri"/>
                <a:cs typeface="Calibri"/>
                <a:sym typeface="Calibri"/>
              </a:rPr>
              <a:t> - for Claude Cowork Desktop app</a:t>
            </a:r>
            <a:endParaRPr sz="12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p:nvPr/>
        </p:nvSpPr>
        <p:spPr>
          <a:xfrm>
            <a:off x="55075" y="63650"/>
            <a:ext cx="4463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Desktop Computer Use</a:t>
            </a:r>
            <a:endParaRPr sz="2000" b="1">
              <a:solidFill>
                <a:schemeClr val="dk1"/>
              </a:solidFill>
              <a:latin typeface="Calibri"/>
              <a:ea typeface="Calibri"/>
              <a:cs typeface="Calibri"/>
              <a:sym typeface="Calibri"/>
            </a:endParaRPr>
          </a:p>
        </p:txBody>
      </p:sp>
      <p:sp>
        <p:nvSpPr>
          <p:cNvPr id="113" name="Google Shape;113;p20"/>
          <p:cNvSpPr txBox="1"/>
          <p:nvPr/>
        </p:nvSpPr>
        <p:spPr>
          <a:xfrm>
            <a:off x="55067" y="439936"/>
            <a:ext cx="43926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Anthropic's computer use feature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makes screen snapshots - and controls keyboard and mouse to take over browser and applications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Anthropic has a "block list" for certain actions in the browser implemented for major browsers (Chrome, Firefox, Safari, Edge). The workaround is to use a less popular light weight open source browser (like "Min Browser" - </a:t>
            </a:r>
            <a:r>
              <a:rPr lang="en" sz="1200" u="sng">
                <a:solidFill>
                  <a:schemeClr val="hlink"/>
                </a:solidFill>
                <a:latin typeface="Calibri"/>
                <a:ea typeface="Calibri"/>
                <a:cs typeface="Calibri"/>
                <a:sym typeface="Calibri"/>
                <a:hlinkClick r:id="rId3"/>
              </a:rPr>
              <a:t>minbrowser.org</a:t>
            </a:r>
            <a:r>
              <a:rPr lang="en" sz="1200">
                <a:solidFill>
                  <a:schemeClr val="dk1"/>
                </a:solidFill>
                <a:latin typeface="Calibri"/>
                <a:ea typeface="Calibri"/>
                <a:cs typeface="Calibri"/>
                <a:sym typeface="Calibri"/>
              </a:rPr>
              <a:t>) which is not on Anthropic's block list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Once Claude's computer use is enabled in Claude Desktop's settings (under General → Browser Use + Computer Use), you direct it via the Co-work tab by prepending requests with "computer use."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then opens Min Browser, where a yellow outline visually confirms it has taken control.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operates by taking rapid screenshots and then physically moving your mouse and typing via your keyboard — mimicking genuine human interaction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can intervene at any time to make minor adjustments without breaking the workflow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human-like behavior is exactly what bypasses bot-detection on platforms like LinkedIn, Instagram, and Facebook, which normally block traditional browser automation scripts.</a:t>
            </a:r>
            <a:endParaRPr sz="1200">
              <a:solidFill>
                <a:schemeClr val="dk1"/>
              </a:solidFill>
              <a:latin typeface="Calibri"/>
              <a:ea typeface="Calibri"/>
              <a:cs typeface="Calibri"/>
              <a:sym typeface="Calibri"/>
            </a:endParaRPr>
          </a:p>
        </p:txBody>
      </p:sp>
      <p:pic>
        <p:nvPicPr>
          <p:cNvPr id="114" name="Google Shape;114;p20"/>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663500" y="545750"/>
            <a:ext cx="4392599" cy="1436300"/>
          </a:xfrm>
          <a:prstGeom prst="rect">
            <a:avLst/>
          </a:prstGeom>
          <a:noFill/>
          <a:ln w="9525" cap="flat" cmpd="sng">
            <a:solidFill>
              <a:srgbClr val="FF0000"/>
            </a:solidFill>
            <a:prstDash val="solid"/>
            <a:round/>
            <a:headEnd type="none" w="sm" len="sm"/>
            <a:tailEnd type="none" w="sm" len="sm"/>
          </a:ln>
        </p:spPr>
      </p:pic>
      <p:sp>
        <p:nvSpPr>
          <p:cNvPr id="115" name="Google Shape;115;p20"/>
          <p:cNvSpPr txBox="1"/>
          <p:nvPr/>
        </p:nvSpPr>
        <p:spPr>
          <a:xfrm>
            <a:off x="5164050" y="173700"/>
            <a:ext cx="1736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Min Browser</a:t>
            </a:r>
            <a:endParaRPr sz="2000" b="1">
              <a:solidFill>
                <a:schemeClr val="dk1"/>
              </a:solidFill>
              <a:latin typeface="Calibri"/>
              <a:ea typeface="Calibri"/>
              <a:cs typeface="Calibri"/>
              <a:sym typeface="Calibri"/>
            </a:endParaRPr>
          </a:p>
        </p:txBody>
      </p:sp>
      <p:sp>
        <p:nvSpPr>
          <p:cNvPr id="116" name="Google Shape;116;p20"/>
          <p:cNvSpPr txBox="1"/>
          <p:nvPr/>
        </p:nvSpPr>
        <p:spPr>
          <a:xfrm>
            <a:off x="4876794" y="2130237"/>
            <a:ext cx="3966000" cy="209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Min Browser - open source, not blocked by Claude</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https://minbrowser.org</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https://github.com/minbrowser/min</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https://www.youtube.com/watch?v=2u93VTYvG5U</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core difference is that Anthropic intentionally restricts Chrome (and Safari, Firefox, Edge) from performing outreach-style write actions - like sending LinkedIn connection requests or filling out forms. The Claude Chrome extension enables some browser control, but it won't let you do the automation tasks shown in the video.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Min Browser bypasses that restriction entirely, giving Claude unrestricted read and write access</a:t>
            </a:r>
            <a:endParaRPr sz="12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1"/>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6.49K subscribers, 276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3. 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22" name="Google Shape;122;p2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626400" y="110513"/>
            <a:ext cx="3294949" cy="492247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Anthropic vs US Government</a:t>
            </a:r>
            <a:endParaRPr sz="2000" b="1">
              <a:solidFill>
                <a:schemeClr val="dk1"/>
              </a:solidFill>
              <a:latin typeface="Calibri"/>
              <a:ea typeface="Calibri"/>
              <a:cs typeface="Calibri"/>
              <a:sym typeface="Calibri"/>
            </a:endParaRPr>
          </a:p>
        </p:txBody>
      </p:sp>
      <p:sp>
        <p:nvSpPr>
          <p:cNvPr id="128" name="Google Shape;128;p22"/>
          <p:cNvSpPr txBox="1"/>
          <p:nvPr/>
        </p:nvSpPr>
        <p:spPr>
          <a:xfrm>
            <a:off x="100600" y="492957"/>
            <a:ext cx="43926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On March 24, 2026, a federal judge in San Francisco heard Anthropic's request to block the Pentagon's "supply chain risk" blacklisting of the company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On March 25 Judge Rita Lin issued a 43-page preliminary injunction ruling in Anthropic's favor. She blocked the Trump administration from enforcing the presidential directive banning federal agencies from using Claude, and halted the Pentagon's "supply chain risk" designation.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She wrote that "there is nothing in the relevant statute that supports the dystopian idea that a U.S. company can be labeled as a potential enemy and saboteur for dissenting with the government"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ruling is not yet in full effect - Judge Lin put it on hold for one week to give the Justice Department time to appeal</a:t>
            </a:r>
            <a:endParaRPr sz="1200">
              <a:latin typeface="Calibri"/>
              <a:ea typeface="Calibri"/>
              <a:cs typeface="Calibri"/>
              <a:sym typeface="Calibri"/>
            </a:endParaRPr>
          </a:p>
        </p:txBody>
      </p:sp>
      <p:pic>
        <p:nvPicPr>
          <p:cNvPr id="129" name="Google Shape;129;p22"/>
          <p:cNvPicPr preferRelativeResize="0"/>
          <p:nvPr/>
        </p:nvPicPr>
        <p:blipFill>
          <a:blip r:embed="rId3">
            <a:alphaModFix/>
          </a:blip>
          <a:stretch>
            <a:fillRect/>
          </a:stretch>
        </p:blipFill>
        <p:spPr>
          <a:xfrm>
            <a:off x="4623950" y="492950"/>
            <a:ext cx="3302450" cy="18493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3"/>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35" name="Google Shape;135;p23"/>
          <p:cNvSpPr txBox="1"/>
          <p:nvPr/>
        </p:nvSpPr>
        <p:spPr>
          <a:xfrm>
            <a:off x="100600" y="492957"/>
            <a:ext cx="43926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Xiaomi MiMo-V2-Pro - Foundation Model</a:t>
            </a:r>
            <a:endParaRPr sz="1200" b="1">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https://mimo.xiaomi.com/mimo-v2-pro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Released March 18, via API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MoE: 1T+ total, 42B active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Context window 1M tokens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API Pricing $1/$3 per 1M in/out (≤256K); $2/$6 (256K–1M)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smaller MiMo-V2-Flash was released with open weights (MIT)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Scores high on benchmarks, (between Kimi K2.5 and GLM-5)</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Coding performance reportedly surpasses Claude 4.6 Sonnet</a:t>
            </a:r>
            <a:endParaRPr sz="1200">
              <a:solidFill>
                <a:schemeClr val="dk1"/>
              </a:solidFill>
              <a:latin typeface="Calibri"/>
              <a:ea typeface="Calibri"/>
              <a:cs typeface="Calibri"/>
              <a:sym typeface="Calibri"/>
            </a:endParaRPr>
          </a:p>
        </p:txBody>
      </p:sp>
      <p:pic>
        <p:nvPicPr>
          <p:cNvPr id="136" name="Google Shape;136;p2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59325" y="722104"/>
            <a:ext cx="1961025" cy="250150"/>
          </a:xfrm>
          <a:prstGeom prst="rect">
            <a:avLst/>
          </a:prstGeom>
          <a:noFill/>
          <a:ln>
            <a:noFill/>
          </a:ln>
        </p:spPr>
      </p:pic>
      <p:pic>
        <p:nvPicPr>
          <p:cNvPr id="137" name="Google Shape;137;p2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45600" y="1124654"/>
            <a:ext cx="4345998" cy="350989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4"/>
          <p:cNvSpPr txBox="1"/>
          <p:nvPr/>
        </p:nvSpPr>
        <p:spPr>
          <a:xfrm>
            <a:off x="55075" y="63650"/>
            <a:ext cx="2449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OpenClaw Updates</a:t>
            </a:r>
            <a:endParaRPr sz="2000" b="1">
              <a:solidFill>
                <a:schemeClr val="dk1"/>
              </a:solidFill>
              <a:latin typeface="Calibri"/>
              <a:ea typeface="Calibri"/>
              <a:cs typeface="Calibri"/>
              <a:sym typeface="Calibri"/>
            </a:endParaRPr>
          </a:p>
        </p:txBody>
      </p:sp>
      <p:sp>
        <p:nvSpPr>
          <p:cNvPr id="143" name="Google Shape;143;p24"/>
          <p:cNvSpPr txBox="1"/>
          <p:nvPr/>
        </p:nvSpPr>
        <p:spPr>
          <a:xfrm>
            <a:off x="55075" y="431305"/>
            <a:ext cx="43926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https://github.com/openclaw/openclaw</a:t>
            </a:r>
            <a:r>
              <a:rPr lang="en" sz="1200">
                <a:solidFill>
                  <a:schemeClr val="dk1"/>
                </a:solidFill>
                <a:latin typeface="Calibri"/>
                <a:ea typeface="Calibri"/>
                <a:cs typeface="Calibri"/>
                <a:sym typeface="Calibri"/>
              </a:rPr>
              <a:t> - 338K</a:t>
            </a:r>
            <a:endParaRPr sz="1200">
              <a:solidFill>
                <a:schemeClr val="dk1"/>
              </a:solidFill>
              <a:latin typeface="Calibri"/>
              <a:ea typeface="Calibri"/>
              <a:cs typeface="Calibri"/>
              <a:sym typeface="Calibri"/>
            </a:endParaRPr>
          </a:p>
        </p:txBody>
      </p:sp>
      <p:sp>
        <p:nvSpPr>
          <p:cNvPr id="144" name="Google Shape;144;p24"/>
          <p:cNvSpPr txBox="1"/>
          <p:nvPr/>
        </p:nvSpPr>
        <p:spPr>
          <a:xfrm>
            <a:off x="55075" y="683342"/>
            <a:ext cx="4392600" cy="3066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https://github.com/openclaw/openclaw/releases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3.22 </a:t>
            </a:r>
            <a:r>
              <a:rPr lang="en" sz="1100">
                <a:solidFill>
                  <a:schemeClr val="dk1"/>
                </a:solidFill>
                <a:latin typeface="Calibri"/>
                <a:ea typeface="Calibri"/>
                <a:cs typeface="Calibri"/>
                <a:sym typeface="Calibri"/>
              </a:rPr>
              <a:t>- major release with many breaking changes: </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removed legacy Chrome extension relay, "nano-banana-pro" skill, old clawdbot / moltbot related names, </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Added ClawHub native install flows, new plugin SDK (`openclaw/plugin-sdk/*`), SSH/OpenShell sandbox backends, bundled Exa/Tavily/Firecrawl web-search plugins, Anthropic Vertex support, and new Matrix plugin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3.23</a:t>
            </a:r>
            <a:r>
              <a:rPr lang="en" sz="1100">
                <a:solidFill>
                  <a:schemeClr val="dk1"/>
                </a:solidFill>
                <a:latin typeface="Calibri"/>
                <a:ea typeface="Calibri"/>
                <a:cs typeface="Calibri"/>
                <a:sym typeface="Calibri"/>
              </a:rPr>
              <a:t> - Patch release. Added Qwen/DashScope pay-as-you-go endpoints and UI/accessibility improvements (Knot theme). Fixed plugin runtime bundling, ClawHub auth on macOS, OpenAI token credential reversion, Mistral 422 errors, agent web_search provider selection, and Chrome MCP stability issues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3.24</a:t>
            </a:r>
            <a:r>
              <a:rPr lang="en" sz="1100">
                <a:solidFill>
                  <a:schemeClr val="dk1"/>
                </a:solidFill>
                <a:latin typeface="Calibri"/>
                <a:ea typeface="Calibri"/>
                <a:cs typeface="Calibri"/>
                <a:sym typeface="Calibri"/>
              </a:rPr>
              <a:t> - adds Microsoft Teams SDK migration with streaming, Docker/Podman container support, a redesigned Skills panel UI, overhauled Slack interactive replies, a new agent /tools page, and multi-platform messaging reliability improvements across Teams, Slack, Discord, Telegram, and WhatsApp.</a:t>
            </a:r>
            <a:endParaRPr sz="1100">
              <a:solidFill>
                <a:schemeClr val="dk1"/>
              </a:solidFill>
              <a:latin typeface="Calibri"/>
              <a:ea typeface="Calibri"/>
              <a:cs typeface="Calibri"/>
              <a:sym typeface="Calibri"/>
            </a:endParaRPr>
          </a:p>
        </p:txBody>
      </p:sp>
      <p:pic>
        <p:nvPicPr>
          <p:cNvPr id="145" name="Google Shape;145;p2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678400" y="63650"/>
            <a:ext cx="2388549" cy="516200"/>
          </a:xfrm>
          <a:prstGeom prst="rect">
            <a:avLst/>
          </a:prstGeom>
          <a:noFill/>
          <a:ln w="9525" cap="flat" cmpd="sng">
            <a:solidFill>
              <a:srgbClr val="FF0000"/>
            </a:solidFill>
            <a:prstDash val="solid"/>
            <a:round/>
            <a:headEnd type="none" w="sm" len="sm"/>
            <a:tailEnd type="none" w="sm" len="sm"/>
          </a:ln>
        </p:spPr>
      </p:pic>
      <p:sp>
        <p:nvSpPr>
          <p:cNvPr id="146" name="Google Shape;146;p24"/>
          <p:cNvSpPr txBox="1"/>
          <p:nvPr/>
        </p:nvSpPr>
        <p:spPr>
          <a:xfrm>
            <a:off x="55067" y="3791094"/>
            <a:ext cx="4392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ClawFlows, a free workflow system for OpenClaw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https://www.youtube.com/watch?v=BeeKm5x3UMU</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Provides 111 pre-built automations for productivity, health, home automation, meal planning, and business tasks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system personalizes recommendations based on OpenClaw's memory of user preferences and creates scheduled tasks like morning briefings, habit tracking, and social media posting</a:t>
            </a:r>
            <a:endParaRPr sz="1200">
              <a:solidFill>
                <a:schemeClr val="dk1"/>
              </a:solidFill>
              <a:latin typeface="Calibri"/>
              <a:ea typeface="Calibri"/>
              <a:cs typeface="Calibri"/>
              <a:sym typeface="Calibri"/>
            </a:endParaRPr>
          </a:p>
        </p:txBody>
      </p:sp>
      <p:sp>
        <p:nvSpPr>
          <p:cNvPr id="147" name="Google Shape;147;p24"/>
          <p:cNvSpPr txBox="1"/>
          <p:nvPr/>
        </p:nvSpPr>
        <p:spPr>
          <a:xfrm>
            <a:off x="4675000" y="3221111"/>
            <a:ext cx="43926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Using WhatsApp with OpenClaw for multiple threads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You can create multiple WhatsApp group chats — one per project — since each group gets its own isolated session</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Alternatively, you can configure multiple OpenClaw agents, each tied to a different WhatsApp number, for stricter separation with distinct tools and workspaces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For quick task switching within a single chat, commands like /new or /reset start a fresh context on demand</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It is also recommended to use a dedicated WhatsApp number for OpenClaw rather than your personal one</a:t>
            </a:r>
            <a:endParaRPr sz="1200">
              <a:latin typeface="Calibri"/>
              <a:ea typeface="Calibri"/>
              <a:cs typeface="Calibri"/>
              <a:sym typeface="Calibri"/>
            </a:endParaRPr>
          </a:p>
        </p:txBody>
      </p:sp>
      <p:pic>
        <p:nvPicPr>
          <p:cNvPr id="148" name="Google Shape;148;p24"/>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543900" y="1197179"/>
            <a:ext cx="2523700" cy="19695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5"/>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a:t>
            </a:r>
            <a:endParaRPr sz="2000" b="1">
              <a:solidFill>
                <a:schemeClr val="dk1"/>
              </a:solidFill>
              <a:latin typeface="Calibri"/>
              <a:ea typeface="Calibri"/>
              <a:cs typeface="Calibri"/>
              <a:sym typeface="Calibri"/>
            </a:endParaRPr>
          </a:p>
        </p:txBody>
      </p:sp>
      <p:sp>
        <p:nvSpPr>
          <p:cNvPr id="154" name="Google Shape;154;p25"/>
          <p:cNvSpPr txBox="1"/>
          <p:nvPr/>
        </p:nvSpPr>
        <p:spPr>
          <a:xfrm>
            <a:off x="100601" y="390050"/>
            <a:ext cx="46938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Manus's "My Computer" Feature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AI agent runs local LLM on your machine (no cloud needed)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can read, edit, and organize your local files, open applications, and execute terminal commands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Manus has full operating system access, allowing it to perform tasks like building a Mac app from scratch via the terminal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can send tasks from your mobile phone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Security &amp; Control - it requires manual approval for every command before it is executed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Examples - organizing thousands of messy files, renaming them, and tagging them; Building applications, running CLI commands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Setting up workflows that run on your machine even when you aren't actively using it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Trend - local AI agents, moving from the cloud to the OS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https://www.youtube.com/watch?v=Pysh7jiZ0h8</a:t>
            </a:r>
            <a:endParaRPr sz="1200">
              <a:solidFill>
                <a:schemeClr val="dk1"/>
              </a:solidFill>
              <a:latin typeface="Calibri"/>
              <a:ea typeface="Calibri"/>
              <a:cs typeface="Calibri"/>
              <a:sym typeface="Calibri"/>
            </a:endParaRPr>
          </a:p>
        </p:txBody>
      </p:sp>
      <p:sp>
        <p:nvSpPr>
          <p:cNvPr id="155" name="Google Shape;155;p25"/>
          <p:cNvSpPr txBox="1"/>
          <p:nvPr/>
        </p:nvSpPr>
        <p:spPr>
          <a:xfrm>
            <a:off x="100601" y="3248450"/>
            <a:ext cx="46938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Microsoft MAI-Image-2 text-to-image AI model</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https://microsoft.ai/news/introducing-mai-image-2/</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Ranking #3 on the Arena.ai leaderboard</a:t>
            </a:r>
            <a:r>
              <a:rPr lang="en" sz="1200">
                <a:solidFill>
                  <a:schemeClr val="dk1"/>
                </a:solidFill>
                <a:latin typeface="Calibri"/>
                <a:ea typeface="Calibri"/>
                <a:cs typeface="Calibri"/>
                <a:sym typeface="Calibri"/>
              </a:rPr>
              <a:t>, behind Google and OpenAI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Enhanced photorealism, reliable in-image text rendering, rich cinematic scene generation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Available now on MAI Playground and rolling out to Copilot and Bing Image Creator; API access open to select enterprise partners, with broader Microsoft Foundry availability coming soon.</a:t>
            </a:r>
            <a:endParaRPr sz="1200">
              <a:solidFill>
                <a:schemeClr val="dk1"/>
              </a:solidFill>
              <a:latin typeface="Calibri"/>
              <a:ea typeface="Calibri"/>
              <a:cs typeface="Calibri"/>
              <a:sym typeface="Calibri"/>
            </a:endParaRPr>
          </a:p>
        </p:txBody>
      </p:sp>
      <p:pic>
        <p:nvPicPr>
          <p:cNvPr id="156" name="Google Shape;156;p25"/>
          <p:cNvPicPr preferRelativeResize="0"/>
          <p:nvPr/>
        </p:nvPicPr>
        <p:blipFill>
          <a:blip r:embed="rId5">
            <a:alphaModFix/>
          </a:blip>
          <a:stretch>
            <a:fillRect/>
          </a:stretch>
        </p:blipFill>
        <p:spPr>
          <a:xfrm>
            <a:off x="5418668" y="1067375"/>
            <a:ext cx="2971800" cy="1047750"/>
          </a:xfrm>
          <a:prstGeom prst="rect">
            <a:avLst/>
          </a:prstGeom>
          <a:noFill/>
          <a:ln w="9525" cap="flat" cmpd="sng">
            <a:solidFill>
              <a:srgbClr val="FF0000"/>
            </a:solidFill>
            <a:prstDash val="solid"/>
            <a:round/>
            <a:headEnd type="none" w="sm" len="sm"/>
            <a:tailEnd type="none" w="sm" len="sm"/>
          </a:ln>
        </p:spPr>
      </p:pic>
      <p:pic>
        <p:nvPicPr>
          <p:cNvPr id="157" name="Google Shape;157;p2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905497" y="3396625"/>
            <a:ext cx="2338724" cy="12739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6"/>
          <p:cNvSpPr txBox="1"/>
          <p:nvPr/>
        </p:nvSpPr>
        <p:spPr>
          <a:xfrm>
            <a:off x="55075" y="63650"/>
            <a:ext cx="15729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a:t>
            </a:r>
            <a:endParaRPr sz="2000" b="1">
              <a:solidFill>
                <a:schemeClr val="dk1"/>
              </a:solidFill>
              <a:latin typeface="Calibri"/>
              <a:ea typeface="Calibri"/>
              <a:cs typeface="Calibri"/>
              <a:sym typeface="Calibri"/>
            </a:endParaRPr>
          </a:p>
        </p:txBody>
      </p:sp>
      <p:sp>
        <p:nvSpPr>
          <p:cNvPr id="163" name="Google Shape;163;p26"/>
          <p:cNvSpPr txBox="1"/>
          <p:nvPr/>
        </p:nvSpPr>
        <p:spPr>
          <a:xfrm>
            <a:off x="111175" y="428022"/>
            <a:ext cx="4280400" cy="1742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CLI tools</a:t>
            </a:r>
            <a:endParaRPr sz="1200" b="1">
              <a:solidFill>
                <a:srgbClr val="FF0000"/>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1. CLI Anything - </a:t>
            </a:r>
            <a:r>
              <a:rPr lang="en" sz="1000" u="sng">
                <a:solidFill>
                  <a:schemeClr val="hlink"/>
                </a:solidFill>
                <a:latin typeface="Calibri"/>
                <a:ea typeface="Calibri"/>
                <a:cs typeface="Calibri"/>
                <a:sym typeface="Calibri"/>
                <a:hlinkClick r:id="rId3"/>
              </a:rPr>
              <a:t>https://github.com/HKUDS/CLI-Anything</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2. NotebookLM CLI - </a:t>
            </a:r>
            <a:r>
              <a:rPr lang="en" sz="1000" u="sng">
                <a:solidFill>
                  <a:schemeClr val="hlink"/>
                </a:solidFill>
                <a:latin typeface="Calibri"/>
                <a:ea typeface="Calibri"/>
                <a:cs typeface="Calibri"/>
                <a:sym typeface="Calibri"/>
                <a:hlinkClick r:id="rId4"/>
              </a:rPr>
              <a:t>https://github.com/teng-lin/notebooklm-py</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3. Stripe CLI - </a:t>
            </a:r>
            <a:r>
              <a:rPr lang="en" sz="1000" u="sng">
                <a:solidFill>
                  <a:schemeClr val="hlink"/>
                </a:solidFill>
                <a:latin typeface="Calibri"/>
                <a:ea typeface="Calibri"/>
                <a:cs typeface="Calibri"/>
                <a:sym typeface="Calibri"/>
                <a:hlinkClick r:id="rId5"/>
              </a:rPr>
              <a:t>https://github.com/stripe/stripe-cli</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4. FFmpeg - </a:t>
            </a:r>
            <a:r>
              <a:rPr lang="en" sz="1000" u="sng">
                <a:solidFill>
                  <a:schemeClr val="hlink"/>
                </a:solidFill>
                <a:latin typeface="Calibri"/>
                <a:ea typeface="Calibri"/>
                <a:cs typeface="Calibri"/>
                <a:sym typeface="Calibri"/>
                <a:hlinkClick r:id="rId6"/>
              </a:rPr>
              <a:t>https://github.com/FFmpeg/FFmpeg</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5. gh (GitHub CLI) - </a:t>
            </a:r>
            <a:r>
              <a:rPr lang="en" sz="1000" u="sng">
                <a:solidFill>
                  <a:schemeClr val="hlink"/>
                </a:solidFill>
                <a:latin typeface="Calibri"/>
                <a:ea typeface="Calibri"/>
                <a:cs typeface="Calibri"/>
                <a:sym typeface="Calibri"/>
                <a:hlinkClick r:id="rId7"/>
              </a:rPr>
              <a:t>https://github.com/cli/cli</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6. Supabase CLI - </a:t>
            </a:r>
            <a:r>
              <a:rPr lang="en" sz="1000" u="sng">
                <a:solidFill>
                  <a:schemeClr val="hlink"/>
                </a:solidFill>
                <a:latin typeface="Calibri"/>
                <a:ea typeface="Calibri"/>
                <a:cs typeface="Calibri"/>
                <a:sym typeface="Calibri"/>
                <a:hlinkClick r:id="rId8"/>
              </a:rPr>
              <a:t>https://github.com/supabase/cli</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7. Vercel CLI - </a:t>
            </a:r>
            <a:r>
              <a:rPr lang="en" sz="1000" u="sng">
                <a:solidFill>
                  <a:schemeClr val="hlink"/>
                </a:solidFill>
                <a:latin typeface="Calibri"/>
                <a:ea typeface="Calibri"/>
                <a:cs typeface="Calibri"/>
                <a:sym typeface="Calibri"/>
                <a:hlinkClick r:id="rId9"/>
              </a:rPr>
              <a:t>https://github.com/vercel/vercel</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8. Playwright CLI - </a:t>
            </a:r>
            <a:r>
              <a:rPr lang="en" sz="1000" u="sng">
                <a:solidFill>
                  <a:schemeClr val="hlink"/>
                </a:solidFill>
                <a:latin typeface="Calibri"/>
                <a:ea typeface="Calibri"/>
                <a:cs typeface="Calibri"/>
                <a:sym typeface="Calibri"/>
                <a:hlinkClick r:id="rId10"/>
              </a:rPr>
              <a:t>https://github.com/microsoft/playwright-cli</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9. LLMFit - </a:t>
            </a:r>
            <a:r>
              <a:rPr lang="en" sz="1000" u="sng">
                <a:solidFill>
                  <a:schemeClr val="hlink"/>
                </a:solidFill>
                <a:latin typeface="Calibri"/>
                <a:ea typeface="Calibri"/>
                <a:cs typeface="Calibri"/>
                <a:sym typeface="Calibri"/>
                <a:hlinkClick r:id="rId11"/>
              </a:rPr>
              <a:t>https://github.com/AlexsJones/llmfit</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10. Google Workspace - </a:t>
            </a:r>
            <a:r>
              <a:rPr lang="en" sz="1000" u="sng">
                <a:solidFill>
                  <a:schemeClr val="hlink"/>
                </a:solidFill>
                <a:latin typeface="Calibri"/>
                <a:ea typeface="Calibri"/>
                <a:cs typeface="Calibri"/>
                <a:sym typeface="Calibri"/>
                <a:hlinkClick r:id="rId12"/>
              </a:rPr>
              <a:t>https://github.com/googleworkspace/cli</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64" name="Google Shape;164;p26"/>
          <p:cNvSpPr txBox="1"/>
          <p:nvPr/>
        </p:nvSpPr>
        <p:spPr>
          <a:xfrm>
            <a:off x="111175" y="2228043"/>
            <a:ext cx="4280400" cy="880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Tokens as a New Employee Bonus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Tech firms (like Nvidia) now offer engineers not just salary, benefits, and bonuses - but also tokens ($100K+ in tokens)</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13"/>
              </a:rPr>
              <a:t>https://techcrunch.com/2026/03/21/are-ai-tokens-the-new-signing-bonus-or-just-a-cost-of-doing-business/</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165" name="Google Shape;165;p26"/>
          <p:cNvPicPr preferRelativeResize="0"/>
          <p:nvPr/>
        </p:nvPicPr>
        <p:blipFill>
          <a:blip r:embed="rId14" cstate="email">
            <a:alphaModFix/>
            <a:extLst>
              <a:ext uri="{28A0092B-C50C-407E-A947-70E740481C1C}">
                <a14:useLocalDpi xmlns:a14="http://schemas.microsoft.com/office/drawing/2010/main"/>
              </a:ext>
            </a:extLst>
          </a:blip>
          <a:stretch>
            <a:fillRect/>
          </a:stretch>
        </p:blipFill>
        <p:spPr>
          <a:xfrm>
            <a:off x="4523475" y="428025"/>
            <a:ext cx="4428355" cy="942000"/>
          </a:xfrm>
          <a:prstGeom prst="rect">
            <a:avLst/>
          </a:prstGeom>
          <a:noFill/>
          <a:ln w="9525" cap="flat" cmpd="sng">
            <a:solidFill>
              <a:srgbClr val="FF0000"/>
            </a:solidFill>
            <a:prstDash val="solid"/>
            <a:round/>
            <a:headEnd type="none" w="sm" len="sm"/>
            <a:tailEnd type="none" w="sm" len="sm"/>
          </a:ln>
        </p:spPr>
      </p:pic>
      <p:pic>
        <p:nvPicPr>
          <p:cNvPr id="166" name="Google Shape;166;p26"/>
          <p:cNvPicPr preferRelativeResize="0"/>
          <p:nvPr/>
        </p:nvPicPr>
        <p:blipFill>
          <a:blip r:embed="rId15" cstate="email">
            <a:alphaModFix/>
            <a:extLst>
              <a:ext uri="{28A0092B-C50C-407E-A947-70E740481C1C}">
                <a14:useLocalDpi xmlns:a14="http://schemas.microsoft.com/office/drawing/2010/main"/>
              </a:ext>
            </a:extLst>
          </a:blip>
          <a:stretch>
            <a:fillRect/>
          </a:stretch>
        </p:blipFill>
        <p:spPr>
          <a:xfrm>
            <a:off x="4523475" y="1580950"/>
            <a:ext cx="2508849" cy="1527599"/>
          </a:xfrm>
          <a:prstGeom prst="rect">
            <a:avLst/>
          </a:prstGeom>
          <a:noFill/>
          <a:ln w="9525" cap="flat" cmpd="sng">
            <a:solidFill>
              <a:srgbClr val="FF0000"/>
            </a:solidFill>
            <a:prstDash val="solid"/>
            <a:round/>
            <a:headEnd type="none" w="sm" len="sm"/>
            <a:tailEnd type="none" w="sm" len="sm"/>
          </a:ln>
        </p:spPr>
      </p:pic>
      <p:sp>
        <p:nvSpPr>
          <p:cNvPr id="167" name="Google Shape;167;p26"/>
          <p:cNvSpPr txBox="1"/>
          <p:nvPr/>
        </p:nvSpPr>
        <p:spPr>
          <a:xfrm>
            <a:off x="111175" y="3164792"/>
            <a:ext cx="42804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 Shuts Down Sora AI video generation app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Reasons: Cost and resource strain; Narrowing focus toward capital investment, chips, and enterprise solutions; Weak user interest; Criticism for hosting harmful content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OpenAI has shutdown Sora iOS app and Sora.com, API, and video generation in ChatGPT, and has disovled teir deal with Disney</a:t>
            </a:r>
            <a:endParaRPr sz="1200">
              <a:solidFill>
                <a:schemeClr val="dk1"/>
              </a:solidFill>
              <a:latin typeface="Calibri"/>
              <a:ea typeface="Calibri"/>
              <a:cs typeface="Calibri"/>
              <a:sym typeface="Calibri"/>
            </a:endParaRPr>
          </a:p>
        </p:txBody>
      </p:sp>
      <p:pic>
        <p:nvPicPr>
          <p:cNvPr id="168" name="Google Shape;168;p26"/>
          <p:cNvPicPr preferRelativeResize="0"/>
          <p:nvPr/>
        </p:nvPicPr>
        <p:blipFill>
          <a:blip r:embed="rId16" cstate="email">
            <a:alphaModFix/>
            <a:extLst>
              <a:ext uri="{28A0092B-C50C-407E-A947-70E740481C1C}">
                <a14:useLocalDpi xmlns:a14="http://schemas.microsoft.com/office/drawing/2010/main"/>
              </a:ext>
            </a:extLst>
          </a:blip>
          <a:stretch>
            <a:fillRect/>
          </a:stretch>
        </p:blipFill>
        <p:spPr>
          <a:xfrm>
            <a:off x="4523475" y="3164800"/>
            <a:ext cx="1513715" cy="1126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7"/>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Tesla TeraFab</a:t>
            </a:r>
            <a:endParaRPr sz="2000" b="1">
              <a:solidFill>
                <a:schemeClr val="dk1"/>
              </a:solidFill>
              <a:latin typeface="Calibri"/>
              <a:ea typeface="Calibri"/>
              <a:cs typeface="Calibri"/>
              <a:sym typeface="Calibri"/>
            </a:endParaRPr>
          </a:p>
        </p:txBody>
      </p:sp>
      <p:sp>
        <p:nvSpPr>
          <p:cNvPr id="174" name="Google Shape;174;p27"/>
          <p:cNvSpPr txBox="1"/>
          <p:nvPr/>
        </p:nvSpPr>
        <p:spPr>
          <a:xfrm>
            <a:off x="111175" y="528875"/>
            <a:ext cx="42804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Tesla TeraFab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Tesla has been designing its own AI inference chips for Full Self-Driving (FSD) since 2019, when it transitioned away from NVIDIA hardware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FSD Chip are custom-built to run Tesla's neural networks for autonomous driving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Tesla has historically relied on TSMC and Samsung to manufacture them - but this will change with the new TeraFab</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TeraFab will be built at Tesla's facility in Austin, Texas. Planned investment $20-25 Bln. The facility will do logic, packaging, testing, lithography mask production, and chip evaluation all under one roof.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TeraFab will produce two chip variants: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Edge inference chips - for cars and robots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Space-hardened chips - for SpaceX satellites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Musk targets a staggering output of 100–200 GW of terrestrial AI compute per year, with up to 1 terawatt** destined for space-based AI on solar-powered satellites. For context, the entire global AI compute output today is roughly 20 gigawatts.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https://www.investors.com/news/tesla-stock-elon-musk-tesla-spacex-terafab-project/</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75" name="Google Shape;175;p2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565650" y="528875"/>
            <a:ext cx="4172899" cy="23472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8"/>
          <p:cNvSpPr txBox="1"/>
          <p:nvPr/>
        </p:nvSpPr>
        <p:spPr>
          <a:xfrm>
            <a:off x="55075" y="63650"/>
            <a:ext cx="179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TradingAgents</a:t>
            </a:r>
            <a:endParaRPr sz="2000" b="1">
              <a:solidFill>
                <a:schemeClr val="dk1"/>
              </a:solidFill>
              <a:latin typeface="Calibri"/>
              <a:ea typeface="Calibri"/>
              <a:cs typeface="Calibri"/>
              <a:sym typeface="Calibri"/>
            </a:endParaRPr>
          </a:p>
        </p:txBody>
      </p:sp>
      <p:sp>
        <p:nvSpPr>
          <p:cNvPr id="181" name="Google Shape;181;p28"/>
          <p:cNvSpPr txBox="1"/>
          <p:nvPr/>
        </p:nvSpPr>
        <p:spPr>
          <a:xfrm>
            <a:off x="100600" y="491000"/>
            <a:ext cx="4392600" cy="155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TradingAgents: Multi-Agents LLM Financial Trading Framework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 Source, from US (UCLA/Los Angeles project)</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3"/>
              </a:rPr>
              <a:t>https://tradingagents-ai.github.io/</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4"/>
              </a:rPr>
              <a:t>https://arxiv.org/abs/2412.20138</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5"/>
              </a:rPr>
              <a:t>https://github.com/TauricResearch/TradingAgents</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6"/>
              </a:rPr>
              <a:t>https://x.com/heynavtoor/status/2035199111872618555</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TradingAgents is utilizing multiple LLM-powered agents with specialized roles such as fundamental, sentiment, and technical analysts, as well as traders with diverse risk profiles</a:t>
            </a:r>
            <a:endParaRPr sz="1200">
              <a:solidFill>
                <a:schemeClr val="dk1"/>
              </a:solidFill>
              <a:latin typeface="Calibri"/>
              <a:ea typeface="Calibri"/>
              <a:cs typeface="Calibri"/>
              <a:sym typeface="Calibri"/>
            </a:endParaRPr>
          </a:p>
        </p:txBody>
      </p:sp>
      <p:pic>
        <p:nvPicPr>
          <p:cNvPr id="182" name="Google Shape;182;p2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361306" y="2472911"/>
            <a:ext cx="8507924" cy="2559026"/>
          </a:xfrm>
          <a:prstGeom prst="rect">
            <a:avLst/>
          </a:prstGeom>
          <a:noFill/>
          <a:ln w="9525" cap="flat" cmpd="sng">
            <a:solidFill>
              <a:srgbClr val="FF0000"/>
            </a:solidFill>
            <a:prstDash val="solid"/>
            <a:round/>
            <a:headEnd type="none" w="sm" len="sm"/>
            <a:tailEnd type="none" w="sm" len="sm"/>
          </a:ln>
        </p:spPr>
      </p:pic>
      <p:sp>
        <p:nvSpPr>
          <p:cNvPr id="183" name="Google Shape;183;p28"/>
          <p:cNvSpPr txBox="1"/>
          <p:nvPr/>
        </p:nvSpPr>
        <p:spPr>
          <a:xfrm>
            <a:off x="4669798" y="491009"/>
            <a:ext cx="43926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system features Bull and Bear researchers evaluating market conditions, a risk management team overseeing exposure, and traders integrating insights from debates and historical data to make informed decisions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collaborative, dynamic environment enhances trading performance, as demonstrated by our comprehensive experiments showing significant improvements in cumulative returns, Sharpe ratio, and maximum drawdown compared to baseline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Our results highlight the </a:t>
            </a:r>
            <a:r>
              <a:rPr lang="en" sz="1200" b="1">
                <a:solidFill>
                  <a:srgbClr val="FF0000"/>
                </a:solidFill>
                <a:latin typeface="Calibri"/>
                <a:ea typeface="Calibri"/>
                <a:cs typeface="Calibri"/>
                <a:sym typeface="Calibri"/>
              </a:rPr>
              <a:t>effectiveness of multi-agent LLM frameworks in financial trading</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9"/>
          <p:cNvSpPr txBox="1"/>
          <p:nvPr/>
        </p:nvSpPr>
        <p:spPr>
          <a:xfrm>
            <a:off x="55075" y="63650"/>
            <a:ext cx="2999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on Databricks platform</a:t>
            </a:r>
            <a:endParaRPr sz="2000" b="1">
              <a:solidFill>
                <a:schemeClr val="dk1"/>
              </a:solidFill>
              <a:latin typeface="Calibri"/>
              <a:ea typeface="Calibri"/>
              <a:cs typeface="Calibri"/>
              <a:sym typeface="Calibri"/>
            </a:endParaRPr>
          </a:p>
        </p:txBody>
      </p:sp>
      <p:sp>
        <p:nvSpPr>
          <p:cNvPr id="189" name="Google Shape;189;p29"/>
          <p:cNvSpPr txBox="1"/>
          <p:nvPr/>
        </p:nvSpPr>
        <p:spPr>
          <a:xfrm>
            <a:off x="55075" y="421622"/>
            <a:ext cx="44631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Mosaic AI </a:t>
            </a:r>
            <a:r>
              <a:rPr lang="en" sz="1100">
                <a:solidFill>
                  <a:schemeClr val="dk1"/>
                </a:solidFill>
                <a:latin typeface="Calibri"/>
                <a:ea typeface="Calibri"/>
                <a:cs typeface="Calibri"/>
                <a:sym typeface="Calibri"/>
              </a:rPr>
              <a:t>- full AI lifecycle - from data prep to model deployment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Building, evaluating, deploying, and monitoring AI applications, whether you're using open-source models, fine-tuned LLMs, or external APIs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https://docs.databricks.com/aws/en/machine-learning/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AI/BI Genie </a:t>
            </a:r>
            <a:r>
              <a:rPr lang="en" sz="1100">
                <a:solidFill>
                  <a:schemeClr val="dk1"/>
                </a:solidFill>
                <a:latin typeface="Calibri"/>
                <a:ea typeface="Calibri"/>
                <a:cs typeface="Calibri"/>
                <a:sym typeface="Calibri"/>
              </a:rPr>
              <a:t>- query data using text prompts (no SQL or Python)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Genie Agent Mode </a:t>
            </a:r>
            <a:r>
              <a:rPr lang="en" sz="1100">
                <a:solidFill>
                  <a:schemeClr val="dk1"/>
                </a:solidFill>
                <a:latin typeface="Calibri"/>
                <a:ea typeface="Calibri"/>
                <a:cs typeface="Calibri"/>
                <a:sym typeface="Calibri"/>
              </a:rPr>
              <a:t>- automatically generates and executes multi-step research plans, tests hypotheses, and delivers comprehensive answers with tables and charts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Databricks One </a:t>
            </a:r>
            <a:r>
              <a:rPr lang="en" sz="1100">
                <a:solidFill>
                  <a:schemeClr val="dk1"/>
                </a:solidFill>
                <a:latin typeface="Calibri"/>
                <a:ea typeface="Calibri"/>
                <a:cs typeface="Calibri"/>
                <a:sym typeface="Calibri"/>
              </a:rPr>
              <a:t>- UI for multi-agent chat experience powered by Genie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AI Functions </a:t>
            </a:r>
            <a:r>
              <a:rPr lang="en" sz="1100">
                <a:solidFill>
                  <a:schemeClr val="dk1"/>
                </a:solidFill>
                <a:latin typeface="Calibri"/>
                <a:ea typeface="Calibri"/>
                <a:cs typeface="Calibri"/>
                <a:sym typeface="Calibri"/>
              </a:rPr>
              <a:t>- built-in SQL functions that apply AI models directly to your data in notebooks, Databricks SQL, Lakeflow pipelines, and Workflows. Examples - </a:t>
            </a:r>
            <a:r>
              <a:rPr lang="en" sz="1100">
                <a:solidFill>
                  <a:srgbClr val="3C78D8"/>
                </a:solidFill>
                <a:latin typeface="Calibri"/>
                <a:ea typeface="Calibri"/>
                <a:cs typeface="Calibri"/>
                <a:sym typeface="Calibri"/>
              </a:rPr>
              <a:t>ai_analyze_sentiment, ai_classify, ai_extract, ai_fix_grammar, ai_gen, ai_query() - call any model (foundation models, external LLMs, or your own custom ML models</a:t>
            </a:r>
            <a:r>
              <a:rPr lang="en"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Mosaic AI Agent Framework</a:t>
            </a:r>
            <a:r>
              <a:rPr lang="en" sz="1100">
                <a:solidFill>
                  <a:schemeClr val="dk1"/>
                </a:solidFill>
                <a:latin typeface="Calibri"/>
                <a:ea typeface="Calibri"/>
                <a:cs typeface="Calibri"/>
                <a:sym typeface="Calibri"/>
              </a:rPr>
              <a:t> - build, test, and deploy autonomous agents that can reason over tasks, use tools, and work with your organization's data in a governed environment: </a:t>
            </a:r>
            <a:r>
              <a:rPr lang="en" sz="1100">
                <a:solidFill>
                  <a:srgbClr val="3C78D8"/>
                </a:solidFill>
                <a:latin typeface="Calibri"/>
                <a:ea typeface="Calibri"/>
                <a:cs typeface="Calibri"/>
                <a:sym typeface="Calibri"/>
              </a:rPr>
              <a:t>Model Serving (REST endpoints), AI Gateway with usage tracking, payload logging, and rate limiting; External Models APIs (OpenAI, Anthropic, etc.)</a:t>
            </a:r>
            <a:endParaRPr sz="1100">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RAG &amp; Vector Search</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Data Governance with Unity Catalog</a:t>
            </a:r>
            <a:r>
              <a:rPr lang="en" sz="1100">
                <a:solidFill>
                  <a:schemeClr val="dk1"/>
                </a:solidFill>
                <a:latin typeface="Calibri"/>
                <a:ea typeface="Calibri"/>
                <a:cs typeface="Calibri"/>
                <a:sym typeface="Calibri"/>
              </a:rPr>
              <a:t> - control plane for all data, models, agents, and AI assets across clouds. It enforces access control, auditing, and data lineage — critical when using sensitive enterprise data with AI applications and staying compliant with GDPR and HIPAA</a:t>
            </a:r>
            <a:endParaRPr sz="1100">
              <a:solidFill>
                <a:schemeClr val="dk1"/>
              </a:solidFill>
              <a:latin typeface="Calibri"/>
              <a:ea typeface="Calibri"/>
              <a:cs typeface="Calibri"/>
              <a:sym typeface="Calibri"/>
            </a:endParaRPr>
          </a:p>
        </p:txBody>
      </p:sp>
      <p:pic>
        <p:nvPicPr>
          <p:cNvPr id="190" name="Google Shape;190;p2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05225" y="421625"/>
            <a:ext cx="4251300" cy="42513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0"/>
          <p:cNvSpPr txBox="1"/>
          <p:nvPr/>
        </p:nvSpPr>
        <p:spPr>
          <a:xfrm>
            <a:off x="55075" y="63650"/>
            <a:ext cx="4392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Google Stitch - Free AI UI Vibe Design</a:t>
            </a:r>
            <a:endParaRPr sz="2000" b="1">
              <a:solidFill>
                <a:schemeClr val="dk1"/>
              </a:solidFill>
              <a:latin typeface="Calibri"/>
              <a:ea typeface="Calibri"/>
              <a:cs typeface="Calibri"/>
              <a:sym typeface="Calibri"/>
            </a:endParaRPr>
          </a:p>
        </p:txBody>
      </p:sp>
      <p:sp>
        <p:nvSpPr>
          <p:cNvPr id="196" name="Google Shape;196;p30"/>
          <p:cNvSpPr txBox="1"/>
          <p:nvPr/>
        </p:nvSpPr>
        <p:spPr>
          <a:xfrm>
            <a:off x="100600" y="390050"/>
            <a:ext cx="4942800" cy="4543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Stitch - Free AI UI Vibe Design</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https://stitch.withgoogle.com</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Accepts natural language prompts, hand-drawn sketches, or screenshots into high-fidelity web and mobile interface designs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Rapid prototyping UIs, Powered by Google's Gemini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May 2025 - first intro, Dec 2025 - major update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March 17–18, 2026 - update transformed Stitch into a full "AI-native design canvas", introducing a complete UI redesign with new features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https://blog.google/innovation-and-ai/models-and-research/google-labs/stitch-ai-ui-design/</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Infinite AI-native canvas - text, images, and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New design agent + Agent Manager - reasons across an entire project's history and lets you run multiple design directions in parallel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DESIGN.md - an agent-friendly markdown file for exporting / importing design systems to/from other tools, including coding tools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Interactive prototypes - stitch screens together and click "Play" to instantly preview app flows; AI auto-generates logical next screens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Voice control - speak to canvas for real-time critiques and design updates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MCP server &amp; SDK - lets Stitch connect to developer tools like AI Studio for seamless design-to-code handoffs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Figma remains the gold standard for production-level work requiring fine-grained control, team collaboration, and developer handoff</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Tools like v0 and Bolt.new sit closer to the code side, while Stitch bridges design and code without requiring deep expertise in either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Stitch's biggest limitation remains its tendency to default to Material Design components, making it less ideal for iOS-focused products.</a:t>
            </a:r>
            <a:endParaRPr sz="1200">
              <a:solidFill>
                <a:schemeClr val="dk1"/>
              </a:solidFill>
              <a:latin typeface="Calibri"/>
              <a:ea typeface="Calibri"/>
              <a:cs typeface="Calibri"/>
              <a:sym typeface="Calibri"/>
            </a:endParaRPr>
          </a:p>
        </p:txBody>
      </p:sp>
      <p:pic>
        <p:nvPicPr>
          <p:cNvPr id="197" name="Google Shape;197;p30"/>
          <p:cNvPicPr preferRelativeResize="0"/>
          <p:nvPr/>
        </p:nvPicPr>
        <p:blipFill>
          <a:blip r:embed="rId5">
            <a:alphaModFix/>
          </a:blip>
          <a:stretch>
            <a:fillRect/>
          </a:stretch>
        </p:blipFill>
        <p:spPr>
          <a:xfrm>
            <a:off x="5242075" y="1754500"/>
            <a:ext cx="3767175" cy="2116683"/>
          </a:xfrm>
          <a:prstGeom prst="rect">
            <a:avLst/>
          </a:prstGeom>
          <a:noFill/>
          <a:ln>
            <a:noFill/>
          </a:ln>
        </p:spPr>
      </p:pic>
      <p:pic>
        <p:nvPicPr>
          <p:cNvPr id="198" name="Google Shape;198;p3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242075" y="390050"/>
            <a:ext cx="3767174" cy="116912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1"/>
          <p:cNvSpPr txBox="1"/>
          <p:nvPr/>
        </p:nvSpPr>
        <p:spPr>
          <a:xfrm>
            <a:off x="55075" y="73500"/>
            <a:ext cx="4942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Boston Dynamics Robots for Manufacturing</a:t>
            </a:r>
            <a:endParaRPr sz="2000" b="1">
              <a:solidFill>
                <a:schemeClr val="dk1"/>
              </a:solidFill>
              <a:latin typeface="Calibri"/>
              <a:ea typeface="Calibri"/>
              <a:cs typeface="Calibri"/>
              <a:sym typeface="Calibri"/>
            </a:endParaRPr>
          </a:p>
        </p:txBody>
      </p:sp>
      <p:sp>
        <p:nvSpPr>
          <p:cNvPr id="204" name="Google Shape;204;p31"/>
          <p:cNvSpPr txBox="1"/>
          <p:nvPr/>
        </p:nvSpPr>
        <p:spPr>
          <a:xfrm>
            <a:off x="100600" y="390050"/>
            <a:ext cx="49428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Why Boston Dynamics' New Atlas is Years Ahead of Tesla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https://www.youtube.com/watch?v=ll784fIsQew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History of financing:</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b="1">
                <a:solidFill>
                  <a:srgbClr val="FF0000"/>
                </a:solidFill>
                <a:latin typeface="Calibri"/>
                <a:ea typeface="Calibri"/>
                <a:cs typeface="Calibri"/>
                <a:sym typeface="Calibri"/>
              </a:rPr>
              <a:t>Google</a:t>
            </a:r>
            <a:r>
              <a:rPr lang="en" sz="1200">
                <a:solidFill>
                  <a:srgbClr val="3C78D8"/>
                </a:solidFill>
                <a:latin typeface="Calibri"/>
                <a:ea typeface="Calibri"/>
                <a:cs typeface="Calibri"/>
                <a:sym typeface="Calibri"/>
              </a:rPr>
              <a:t> - viewed it as a software platform, no hardware infrastructure</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b="1">
                <a:solidFill>
                  <a:srgbClr val="FF0000"/>
                </a:solidFill>
                <a:latin typeface="Calibri"/>
                <a:ea typeface="Calibri"/>
                <a:cs typeface="Calibri"/>
                <a:sym typeface="Calibri"/>
              </a:rPr>
              <a:t>SoftBank</a:t>
            </a:r>
            <a:r>
              <a:rPr lang="en" sz="1200">
                <a:solidFill>
                  <a:srgbClr val="3C78D8"/>
                </a:solidFill>
                <a:latin typeface="Calibri"/>
                <a:ea typeface="Calibri"/>
                <a:cs typeface="Calibri"/>
                <a:sym typeface="Calibri"/>
              </a:rPr>
              <a:t> - teated it as a financial investment/IPO play</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b="1">
                <a:solidFill>
                  <a:srgbClr val="FF0000"/>
                </a:solidFill>
                <a:latin typeface="Calibri"/>
                <a:ea typeface="Calibri"/>
                <a:cs typeface="Calibri"/>
                <a:sym typeface="Calibri"/>
              </a:rPr>
              <a:t>Hyundai</a:t>
            </a:r>
            <a:r>
              <a:rPr lang="en" sz="1200">
                <a:solidFill>
                  <a:srgbClr val="3C78D8"/>
                </a:solidFill>
                <a:latin typeface="Calibri"/>
                <a:ea typeface="Calibri"/>
                <a:cs typeface="Calibri"/>
                <a:sym typeface="Calibri"/>
              </a:rPr>
              <a:t> - realized that the most expensive parts of a robot, actuators, are 60% similar to automotive electric power steering units. Since Hyundai already produces these by the millions, they could scale production and ensure reliability in a way a tech company or investment firm never could</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new electric Atlas (replacing the old hydraulic version) is designed for the "human world" but with superhuman capabilities:</a:t>
            </a:r>
            <a:endParaRPr sz="1200">
              <a:solidFill>
                <a:schemeClr val="dk1"/>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360-Degree Movement</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Industrial Strength, water and dust resistant, can operate from -4 to 104°F;</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Endless Operation - robot can swap its own battery in 3 minutes without human help</a:t>
            </a:r>
            <a:endParaRPr sz="1200">
              <a:solidFill>
                <a:srgbClr val="3C78D8"/>
              </a:solidFill>
              <a:latin typeface="Calibri"/>
              <a:ea typeface="Calibri"/>
              <a:cs typeface="Calibri"/>
              <a:sym typeface="Calibri"/>
            </a:endParaRPr>
          </a:p>
          <a:p>
            <a:pPr marL="3429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Uses Google DeepMind’s Gemini for logic language, and Toyota Research Institute tech for "one-shot" learning</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Aiming for a higher price ($200K) </a:t>
            </a:r>
            <a:r>
              <a:rPr lang="en" sz="1200">
                <a:solidFill>
                  <a:schemeClr val="dk1"/>
                </a:solidFill>
                <a:latin typeface="Calibri"/>
                <a:ea typeface="Calibri"/>
                <a:cs typeface="Calibri"/>
                <a:sym typeface="Calibri"/>
              </a:rPr>
              <a:t>- but reliability, no mistakes, 24/7 operations, 10 years durability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The 2026 production run is already sold out at $200K/unit </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Hyundai is investing $26 Bln into U.S. manufacturing, including a dedicated factory aiming to produce 30K units per year by 2030.</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Tesla focuses on a "robot for every home," at $20K price</a:t>
            </a:r>
            <a:endParaRPr sz="1200">
              <a:solidFill>
                <a:schemeClr val="dk1"/>
              </a:solidFill>
              <a:latin typeface="Calibri"/>
              <a:ea typeface="Calibri"/>
              <a:cs typeface="Calibri"/>
              <a:sym typeface="Calibri"/>
            </a:endParaRPr>
          </a:p>
        </p:txBody>
      </p:sp>
      <p:pic>
        <p:nvPicPr>
          <p:cNvPr id="205" name="Google Shape;205;p3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468350" y="639975"/>
            <a:ext cx="2852825" cy="1536150"/>
          </a:xfrm>
          <a:prstGeom prst="rect">
            <a:avLst/>
          </a:prstGeom>
          <a:noFill/>
          <a:ln w="9525" cap="flat" cmpd="sng">
            <a:solidFill>
              <a:srgbClr val="FF0000"/>
            </a:solidFill>
            <a:prstDash val="solid"/>
            <a:round/>
            <a:headEnd type="none" w="sm" len="sm"/>
            <a:tailEnd type="none" w="sm" len="sm"/>
          </a:ln>
        </p:spPr>
      </p:pic>
      <p:pic>
        <p:nvPicPr>
          <p:cNvPr id="206" name="Google Shape;206;p31"/>
          <p:cNvPicPr preferRelativeResize="0"/>
          <p:nvPr/>
        </p:nvPicPr>
        <p:blipFill>
          <a:blip r:embed="rId5">
            <a:alphaModFix/>
          </a:blip>
          <a:stretch>
            <a:fillRect/>
          </a:stretch>
        </p:blipFill>
        <p:spPr>
          <a:xfrm>
            <a:off x="5468349" y="2324195"/>
            <a:ext cx="2852825" cy="200873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2"/>
          <p:cNvSpPr txBox="1"/>
          <p:nvPr/>
        </p:nvSpPr>
        <p:spPr>
          <a:xfrm>
            <a:off x="55075" y="73500"/>
            <a:ext cx="4942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Siraj Raval - Build Your Personal Agent</a:t>
            </a:r>
            <a:endParaRPr sz="2000" b="1">
              <a:solidFill>
                <a:schemeClr val="dk1"/>
              </a:solidFill>
              <a:latin typeface="Calibri"/>
              <a:ea typeface="Calibri"/>
              <a:cs typeface="Calibri"/>
              <a:sym typeface="Calibri"/>
            </a:endParaRPr>
          </a:p>
        </p:txBody>
      </p:sp>
      <p:sp>
        <p:nvSpPr>
          <p:cNvPr id="212" name="Google Shape;212;p32"/>
          <p:cNvSpPr txBox="1"/>
          <p:nvPr/>
        </p:nvSpPr>
        <p:spPr>
          <a:xfrm>
            <a:off x="100600" y="591756"/>
            <a:ext cx="49428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50 days ago, I gave my AI a name (Aurelion)  and a personality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Today he manages 130+ parts of my life. Emails. Calendar. Groceries. Government forms. Phone calls. Sponsor deals. All from a single WhatsApp conversation.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Aurelion runs 24/7 for about $300/month. He texts me a morning brief at 5 AM. He drafts replies to my inbox while I sleep. He ordered groceries last Tuesday while I was at the park with my son.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Tutorial to build the agent:</a:t>
            </a:r>
            <a:endParaRPr sz="1200">
              <a:solidFill>
                <a:schemeClr val="dk1"/>
              </a:solidFill>
              <a:latin typeface="Calibri"/>
              <a:ea typeface="Calibri"/>
              <a:cs typeface="Calibri"/>
              <a:sym typeface="Calibri"/>
            </a:endParaRPr>
          </a:p>
          <a:p>
            <a:pPr marL="5143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Week 1	Your AI is live and talking to you</a:t>
            </a:r>
            <a:endParaRPr sz="1200">
              <a:solidFill>
                <a:schemeClr val="dk1"/>
              </a:solidFill>
              <a:latin typeface="Calibri"/>
              <a:ea typeface="Calibri"/>
              <a:cs typeface="Calibri"/>
              <a:sym typeface="Calibri"/>
            </a:endParaRPr>
          </a:p>
          <a:p>
            <a:pPr marL="5143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Week 2	Connected to WhatsApp with voice commands</a:t>
            </a:r>
            <a:endParaRPr sz="1200">
              <a:solidFill>
                <a:schemeClr val="dk1"/>
              </a:solidFill>
              <a:latin typeface="Calibri"/>
              <a:ea typeface="Calibri"/>
              <a:cs typeface="Calibri"/>
              <a:sym typeface="Calibri"/>
            </a:endParaRPr>
          </a:p>
          <a:p>
            <a:pPr marL="5143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Week 3	Managing your email and calendar</a:t>
            </a:r>
            <a:endParaRPr sz="1200">
              <a:solidFill>
                <a:schemeClr val="dk1"/>
              </a:solidFill>
              <a:latin typeface="Calibri"/>
              <a:ea typeface="Calibri"/>
              <a:cs typeface="Calibri"/>
              <a:sym typeface="Calibri"/>
            </a:endParaRPr>
          </a:p>
          <a:p>
            <a:pPr marL="5143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Week 4	Browsing the web, ordering groceries, filling forms</a:t>
            </a:r>
            <a:endParaRPr sz="1200">
              <a:solidFill>
                <a:schemeClr val="dk1"/>
              </a:solidFill>
              <a:latin typeface="Calibri"/>
              <a:ea typeface="Calibri"/>
              <a:cs typeface="Calibri"/>
              <a:sym typeface="Calibri"/>
            </a:endParaRPr>
          </a:p>
          <a:p>
            <a:pPr marL="5143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Week 5	Long-term memory that grows smarter every day</a:t>
            </a:r>
            <a:endParaRPr sz="1200">
              <a:solidFill>
                <a:schemeClr val="dk1"/>
              </a:solidFill>
              <a:latin typeface="Calibri"/>
              <a:ea typeface="Calibri"/>
              <a:cs typeface="Calibri"/>
              <a:sym typeface="Calibri"/>
            </a:endParaRPr>
          </a:p>
          <a:p>
            <a:pPr marL="5143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Week 6	Phone calls, production hardening, custom skills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By week 6, you'll have a production AI agent running your life from your phone. Cost - $199</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https://www.youtube.com/watch?v=g8Zs12L2kVU</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13" name="Google Shape;213;p3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195800" y="824750"/>
            <a:ext cx="3795800" cy="209885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3"/>
          <p:cNvSpPr txBox="1"/>
          <p:nvPr/>
        </p:nvSpPr>
        <p:spPr>
          <a:xfrm>
            <a:off x="55075" y="73500"/>
            <a:ext cx="4942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Misc AI Updates</a:t>
            </a:r>
            <a:endParaRPr sz="2000" b="1">
              <a:solidFill>
                <a:schemeClr val="dk1"/>
              </a:solidFill>
              <a:latin typeface="Calibri"/>
              <a:ea typeface="Calibri"/>
              <a:cs typeface="Calibri"/>
              <a:sym typeface="Calibri"/>
            </a:endParaRPr>
          </a:p>
        </p:txBody>
      </p:sp>
      <p:sp>
        <p:nvSpPr>
          <p:cNvPr id="219" name="Google Shape;219;p33"/>
          <p:cNvSpPr txBox="1"/>
          <p:nvPr/>
        </p:nvSpPr>
        <p:spPr>
          <a:xfrm>
            <a:off x="55075" y="558130"/>
            <a:ext cx="44001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Perplexity Health</a:t>
            </a:r>
            <a:r>
              <a:rPr lang="en" sz="1200">
                <a:solidFill>
                  <a:schemeClr val="dk1"/>
                </a:solidFill>
                <a:latin typeface="Calibri"/>
                <a:ea typeface="Calibri"/>
                <a:cs typeface="Calibri"/>
                <a:sym typeface="Calibri"/>
              </a:rPr>
              <a:t> - integrates with Apple Health (iPhone and iPad) and platforms including Fitbit, Ultrahuman, Withings, and Clue. Can build personalized fitness and nutrition plans. Health data is not used to train AI models or sold to third parties</a:t>
            </a:r>
            <a:endParaRPr sz="1200">
              <a:solidFill>
                <a:schemeClr val="dk1"/>
              </a:solidFill>
              <a:latin typeface="Calibri"/>
              <a:ea typeface="Calibri"/>
              <a:cs typeface="Calibri"/>
              <a:sym typeface="Calibri"/>
            </a:endParaRPr>
          </a:p>
        </p:txBody>
      </p:sp>
      <p:sp>
        <p:nvSpPr>
          <p:cNvPr id="220" name="Google Shape;220;p33"/>
          <p:cNvSpPr txBox="1"/>
          <p:nvPr/>
        </p:nvSpPr>
        <p:spPr>
          <a:xfrm>
            <a:off x="55075" y="1389462"/>
            <a:ext cx="44001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OpenAI announced a $110 Bln funding round at a $840 Bln post-money valuation</a:t>
            </a:r>
            <a:r>
              <a:rPr lang="en" sz="1200">
                <a:solidFill>
                  <a:schemeClr val="dk1"/>
                </a:solidFill>
                <a:latin typeface="Calibri"/>
                <a:ea typeface="Calibri"/>
                <a:cs typeface="Calibri"/>
                <a:sym typeface="Calibri"/>
              </a:rPr>
              <a:t> (50-Amazon, 30-Nvidia, 30-Softbank) on Feb 26–27. The round remains open. This is the largest ever private tech fundraise.</a:t>
            </a:r>
            <a:endParaRPr sz="1200">
              <a:solidFill>
                <a:schemeClr val="dk1"/>
              </a:solidFill>
              <a:latin typeface="Calibri"/>
              <a:ea typeface="Calibri"/>
              <a:cs typeface="Calibri"/>
              <a:sym typeface="Calibri"/>
            </a:endParaRPr>
          </a:p>
        </p:txBody>
      </p:sp>
      <p:sp>
        <p:nvSpPr>
          <p:cNvPr id="221" name="Google Shape;221;p33"/>
          <p:cNvSpPr txBox="1"/>
          <p:nvPr/>
        </p:nvSpPr>
        <p:spPr>
          <a:xfrm>
            <a:off x="55075" y="2435690"/>
            <a:ext cx="44001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DeepSeek's Engram</a:t>
            </a:r>
            <a:r>
              <a:rPr lang="en" sz="1200">
                <a:solidFill>
                  <a:schemeClr val="dk1"/>
                </a:solidFill>
                <a:latin typeface="Calibri"/>
                <a:ea typeface="Calibri"/>
                <a:cs typeface="Calibri"/>
                <a:sym typeface="Calibri"/>
              </a:rPr>
              <a:t> - Conditional Memory for Transformers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Engram is a new architectural block that adds conditional memory to transformers, sitting alongside traditional attention and feedforward layers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Instead of recomputing familiar multi-token phrases at runtime, Engram acts like a lookup table, recognizing common patterns and instantly retrieving pre-stored representations via hash-based lookups with contextualized gating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Studies show models reach final predictions earlier in the network, ffectively gaining functional depth without adding layers</a:t>
            </a:r>
            <a:endParaRPr sz="1200">
              <a:solidFill>
                <a:schemeClr val="dk1"/>
              </a:solidFill>
              <a:latin typeface="Calibri"/>
              <a:ea typeface="Calibri"/>
              <a:cs typeface="Calibri"/>
              <a:sym typeface="Calibri"/>
            </a:endParaRPr>
          </a:p>
        </p:txBody>
      </p:sp>
      <p:pic>
        <p:nvPicPr>
          <p:cNvPr id="222" name="Google Shape;222;p33"/>
          <p:cNvPicPr preferRelativeResize="0"/>
          <p:nvPr/>
        </p:nvPicPr>
        <p:blipFill>
          <a:blip r:embed="rId3">
            <a:alphaModFix/>
          </a:blip>
          <a:stretch>
            <a:fillRect/>
          </a:stretch>
        </p:blipFill>
        <p:spPr>
          <a:xfrm>
            <a:off x="4596725" y="584300"/>
            <a:ext cx="3829050" cy="704850"/>
          </a:xfrm>
          <a:prstGeom prst="rect">
            <a:avLst/>
          </a:prstGeom>
          <a:noFill/>
          <a:ln w="9525" cap="flat" cmpd="sng">
            <a:solidFill>
              <a:srgbClr val="FF0000"/>
            </a:solidFill>
            <a:prstDash val="solid"/>
            <a:round/>
            <a:headEnd type="none" w="sm" len="sm"/>
            <a:tailEnd type="none" w="sm" len="sm"/>
          </a:ln>
        </p:spPr>
      </p:pic>
      <p:pic>
        <p:nvPicPr>
          <p:cNvPr id="223" name="Google Shape;223;p3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596725" y="1389452"/>
            <a:ext cx="2711219" cy="757200"/>
          </a:xfrm>
          <a:prstGeom prst="rect">
            <a:avLst/>
          </a:prstGeom>
          <a:noFill/>
          <a:ln w="9525" cap="flat" cmpd="sng">
            <a:solidFill>
              <a:srgbClr val="FF0000"/>
            </a:solidFill>
            <a:prstDash val="solid"/>
            <a:round/>
            <a:headEnd type="none" w="sm" len="sm"/>
            <a:tailEnd type="none" w="sm" len="sm"/>
          </a:ln>
        </p:spPr>
      </p:pic>
      <p:pic>
        <p:nvPicPr>
          <p:cNvPr id="224" name="Google Shape;224;p3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596725" y="2410508"/>
            <a:ext cx="3359917" cy="18905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4"/>
          <p:cNvSpPr txBox="1"/>
          <p:nvPr/>
        </p:nvSpPr>
        <p:spPr>
          <a:xfrm>
            <a:off x="55075" y="73500"/>
            <a:ext cx="3783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Misc</a:t>
            </a:r>
            <a:endParaRPr sz="2000" b="1">
              <a:solidFill>
                <a:schemeClr val="dk1"/>
              </a:solidFill>
              <a:latin typeface="Calibri"/>
              <a:ea typeface="Calibri"/>
              <a:cs typeface="Calibri"/>
              <a:sym typeface="Calibri"/>
            </a:endParaRPr>
          </a:p>
        </p:txBody>
      </p:sp>
      <p:sp>
        <p:nvSpPr>
          <p:cNvPr id="230" name="Google Shape;230;p34"/>
          <p:cNvSpPr txBox="1"/>
          <p:nvPr/>
        </p:nvSpPr>
        <p:spPr>
          <a:xfrm>
            <a:off x="55075" y="558130"/>
            <a:ext cx="44001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Anthropic AutoDream feature for Claude</a:t>
            </a:r>
            <a:r>
              <a:rPr lang="en" sz="1200">
                <a:solidFill>
                  <a:schemeClr val="dk1"/>
                </a:solidFill>
                <a:latin typeface="Calibri"/>
                <a:ea typeface="Calibri"/>
                <a:cs typeface="Calibri"/>
                <a:sym typeface="Calibri"/>
              </a:rPr>
              <a:t> that automatically consolidates and cleans memory files using a background sub-agent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https://www.youtube.com/watch?v=LrgfmZkl3nc</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AutoDream periodically reviews chat sessions, prunes unnecessary information, and organizes memory files to reduce bloat and improve recall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feature runs automatically based on time intervals or session counts, touching only memory files while leaving code untouched.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Users can enable it</a:t>
            </a:r>
            <a:r>
              <a:rPr lang="en" sz="1200">
                <a:solidFill>
                  <a:schemeClr val="dk1"/>
                </a:solidFill>
                <a:latin typeface="Calibri"/>
                <a:ea typeface="Calibri"/>
                <a:cs typeface="Calibri"/>
                <a:sym typeface="Calibri"/>
              </a:rPr>
              <a:t> through the </a:t>
            </a:r>
            <a:r>
              <a:rPr lang="en" sz="1200" b="1">
                <a:solidFill>
                  <a:srgbClr val="3C78D8"/>
                </a:solidFill>
                <a:latin typeface="Calibri"/>
                <a:ea typeface="Calibri"/>
                <a:cs typeface="Calibri"/>
                <a:sym typeface="Calibri"/>
              </a:rPr>
              <a:t>/memory </a:t>
            </a:r>
            <a:r>
              <a:rPr lang="en" sz="1200">
                <a:solidFill>
                  <a:schemeClr val="dk1"/>
                </a:solidFill>
                <a:latin typeface="Calibri"/>
                <a:ea typeface="Calibri"/>
                <a:cs typeface="Calibri"/>
                <a:sym typeface="Calibri"/>
              </a:rPr>
              <a:t>interface and </a:t>
            </a:r>
            <a:r>
              <a:rPr lang="en" sz="1200" b="1">
                <a:solidFill>
                  <a:srgbClr val="FF0000"/>
                </a:solidFill>
                <a:latin typeface="Calibri"/>
                <a:ea typeface="Calibri"/>
                <a:cs typeface="Calibri"/>
                <a:sym typeface="Calibri"/>
              </a:rPr>
              <a:t>manually trigger it </a:t>
            </a:r>
            <a:r>
              <a:rPr lang="en" sz="1200">
                <a:solidFill>
                  <a:schemeClr val="dk1"/>
                </a:solidFill>
                <a:latin typeface="Calibri"/>
                <a:ea typeface="Calibri"/>
                <a:cs typeface="Calibri"/>
                <a:sym typeface="Calibri"/>
              </a:rPr>
              <a:t>with </a:t>
            </a:r>
            <a:r>
              <a:rPr lang="en" sz="1200" b="1">
                <a:solidFill>
                  <a:srgbClr val="3C78D8"/>
                </a:solidFill>
                <a:latin typeface="Calibri"/>
                <a:ea typeface="Calibri"/>
                <a:cs typeface="Calibri"/>
                <a:sym typeface="Calibri"/>
              </a:rPr>
              <a:t>/dream</a:t>
            </a:r>
            <a:r>
              <a:rPr lang="en" sz="1200">
                <a:solidFill>
                  <a:schemeClr val="dk1"/>
                </a:solidFill>
                <a:latin typeface="Calibri"/>
                <a:ea typeface="Calibri"/>
                <a:cs typeface="Calibri"/>
                <a:sym typeface="Calibri"/>
              </a:rPr>
              <a:t> feature command (Piebald)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"Hey, I want to create a new skill. I want it called dream. Use this to build it.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AutoDream</a:t>
            </a:r>
            <a:r>
              <a:rPr lang="en" sz="1200">
                <a:solidFill>
                  <a:schemeClr val="dk1"/>
                </a:solidFill>
                <a:latin typeface="Calibri"/>
                <a:ea typeface="Calibri"/>
                <a:cs typeface="Calibri"/>
                <a:sym typeface="Calibri"/>
              </a:rPr>
              <a:t> works alongside existing </a:t>
            </a:r>
            <a:r>
              <a:rPr lang="en" sz="1200" b="1">
                <a:solidFill>
                  <a:srgbClr val="3C78D8"/>
                </a:solidFill>
                <a:latin typeface="Calibri"/>
                <a:ea typeface="Calibri"/>
                <a:cs typeface="Calibri"/>
                <a:sym typeface="Calibri"/>
              </a:rPr>
              <a:t>auto-memory</a:t>
            </a:r>
            <a:r>
              <a:rPr lang="en" sz="1200">
                <a:solidFill>
                  <a:schemeClr val="dk1"/>
                </a:solidFill>
                <a:latin typeface="Calibri"/>
                <a:ea typeface="Calibri"/>
                <a:cs typeface="Calibri"/>
                <a:sym typeface="Calibri"/>
              </a:rPr>
              <a:t> features to create a </a:t>
            </a:r>
            <a:r>
              <a:rPr lang="en" sz="1200" b="1">
                <a:solidFill>
                  <a:srgbClr val="FF0000"/>
                </a:solidFill>
                <a:latin typeface="Calibri"/>
                <a:ea typeface="Calibri"/>
                <a:cs typeface="Calibri"/>
                <a:sym typeface="Calibri"/>
              </a:rPr>
              <a:t>three-layer memory system</a:t>
            </a:r>
            <a:r>
              <a:rPr lang="en" sz="1200">
                <a:solidFill>
                  <a:schemeClr val="dk1"/>
                </a:solidFill>
                <a:latin typeface="Calibri"/>
                <a:ea typeface="Calibri"/>
                <a:cs typeface="Calibri"/>
                <a:sym typeface="Calibri"/>
              </a:rPr>
              <a:t> that maintains cleaner, more focused context across sessions, reducing repetition and making Claude feel more like a human assistant with organized long-term memory rather than a forgetful chatbot.</a:t>
            </a:r>
            <a:endParaRPr sz="1200">
              <a:solidFill>
                <a:schemeClr val="dk1"/>
              </a:solidFill>
              <a:latin typeface="Calibri"/>
              <a:ea typeface="Calibri"/>
              <a:cs typeface="Calibri"/>
              <a:sym typeface="Calibri"/>
            </a:endParaRPr>
          </a:p>
        </p:txBody>
      </p:sp>
      <p:sp>
        <p:nvSpPr>
          <p:cNvPr id="231" name="Google Shape;231;p34"/>
          <p:cNvSpPr txBox="1"/>
          <p:nvPr/>
        </p:nvSpPr>
        <p:spPr>
          <a:xfrm>
            <a:off x="4549275" y="1481680"/>
            <a:ext cx="44001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Screen Pipe - free open-source AI memory</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works with Claude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Records screen and audio locally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https://www.youtube.com/watch?v=8eustEguF9Q</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tool analyzes what you're working on, tracks time spent on tasks, and recommends high-value, low-effort automations tailored to your specific needs</a:t>
            </a:r>
            <a:endParaRPr sz="1200">
              <a:solidFill>
                <a:schemeClr val="dk1"/>
              </a:solidFill>
              <a:latin typeface="Calibri"/>
              <a:ea typeface="Calibri"/>
              <a:cs typeface="Calibri"/>
              <a:sym typeface="Calibri"/>
            </a:endParaRPr>
          </a:p>
        </p:txBody>
      </p:sp>
      <p:sp>
        <p:nvSpPr>
          <p:cNvPr id="232" name="Google Shape;232;p34"/>
          <p:cNvSpPr txBox="1"/>
          <p:nvPr/>
        </p:nvSpPr>
        <p:spPr>
          <a:xfrm>
            <a:off x="55075" y="3784064"/>
            <a:ext cx="4400100" cy="103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1600" algn="l" rtl="0">
              <a:lnSpc>
                <a:spcPct val="100000"/>
              </a:lnSpc>
              <a:spcBef>
                <a:spcPts val="0"/>
              </a:spcBef>
              <a:spcAft>
                <a:spcPts val="0"/>
              </a:spcAft>
              <a:buClr>
                <a:srgbClr val="FF0000"/>
              </a:buClr>
              <a:buSzPts val="700"/>
              <a:buFont typeface="Calibri"/>
              <a:buChar char="●"/>
            </a:pPr>
            <a:r>
              <a:rPr lang="en" sz="1200" b="1">
                <a:solidFill>
                  <a:srgbClr val="FF0000"/>
                </a:solidFill>
                <a:latin typeface="Calibri"/>
                <a:ea typeface="Calibri"/>
                <a:cs typeface="Calibri"/>
                <a:sym typeface="Calibri"/>
              </a:rPr>
              <a:t>Piebald /dream feature command</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https://piebald.ai</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https://www.youtube.com/shorts/2chQzrrGfUw</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https://github.com/Piebald-AI</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8"/>
              </a:rPr>
              <a:t>https://github.com/Piebald-AI/claude-code-system-prompts</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9"/>
              </a:rPr>
              <a:t>https://github.com/Piebald-AI/claude-code-system-prompts/blob/main/system-prompts/agent-prompt-dream-memory-consolidation.md</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33" name="Google Shape;233;p34"/>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4672200" y="3784075"/>
            <a:ext cx="2080048" cy="849600"/>
          </a:xfrm>
          <a:prstGeom prst="rect">
            <a:avLst/>
          </a:prstGeom>
          <a:noFill/>
          <a:ln w="9525" cap="flat" cmpd="sng">
            <a:solidFill>
              <a:srgbClr val="FF0000"/>
            </a:solidFill>
            <a:prstDash val="solid"/>
            <a:round/>
            <a:headEnd type="none" w="sm" len="sm"/>
            <a:tailEnd type="none" w="sm" len="sm"/>
          </a:ln>
        </p:spPr>
      </p:pic>
      <p:pic>
        <p:nvPicPr>
          <p:cNvPr id="234" name="Google Shape;234;p34"/>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4549279" y="145851"/>
            <a:ext cx="1644500" cy="1096350"/>
          </a:xfrm>
          <a:prstGeom prst="rect">
            <a:avLst/>
          </a:prstGeom>
          <a:noFill/>
          <a:ln w="9525" cap="flat" cmpd="sng">
            <a:solidFill>
              <a:srgbClr val="FF0000"/>
            </a:solidFill>
            <a:prstDash val="solid"/>
            <a:round/>
            <a:headEnd type="none" w="sm" len="sm"/>
            <a:tailEnd type="none" w="sm" len="sm"/>
          </a:ln>
        </p:spPr>
      </p:pic>
      <p:pic>
        <p:nvPicPr>
          <p:cNvPr id="235" name="Google Shape;235;p34"/>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6615925" y="789725"/>
            <a:ext cx="2333450" cy="5882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5"/>
          <p:cNvSpPr txBox="1"/>
          <p:nvPr/>
        </p:nvSpPr>
        <p:spPr>
          <a:xfrm>
            <a:off x="55075" y="73500"/>
            <a:ext cx="4466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Meta's Hyperagents - Self-modification</a:t>
            </a:r>
            <a:endParaRPr sz="2000" b="1">
              <a:solidFill>
                <a:schemeClr val="dk1"/>
              </a:solidFill>
              <a:latin typeface="Calibri"/>
              <a:ea typeface="Calibri"/>
              <a:cs typeface="Calibri"/>
              <a:sym typeface="Calibri"/>
            </a:endParaRPr>
          </a:p>
        </p:txBody>
      </p:sp>
      <p:sp>
        <p:nvSpPr>
          <p:cNvPr id="241" name="Google Shape;241;p35"/>
          <p:cNvSpPr txBox="1"/>
          <p:nvPr/>
        </p:nvSpPr>
        <p:spPr>
          <a:xfrm>
            <a:off x="55075" y="558130"/>
            <a:ext cx="44001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Meta's Hyperagents </a:t>
            </a:r>
            <a:r>
              <a:rPr lang="en" sz="1200">
                <a:solidFill>
                  <a:schemeClr val="dk1"/>
                </a:solidFill>
                <a:latin typeface="Calibri"/>
                <a:ea typeface="Calibri"/>
                <a:cs typeface="Calibri"/>
                <a:sym typeface="Calibri"/>
              </a:rPr>
              <a:t>are a new class of self-referential AI systems introduced by researchers from FAIR at Meta and Meta Superintelligence Labs (alongside academic partners) in March 2026</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Built as an extension of the Darwin Gödel Machine, they enable metacognitive </a:t>
            </a:r>
            <a:r>
              <a:rPr lang="en" sz="1200" b="1">
                <a:solidFill>
                  <a:srgbClr val="FF0000"/>
                </a:solidFill>
                <a:latin typeface="Calibri"/>
                <a:ea typeface="Calibri"/>
                <a:cs typeface="Calibri"/>
                <a:sym typeface="Calibri"/>
              </a:rPr>
              <a:t>self-modification - meaning they don't just improve at tasks, they also rewrite the very process that generates those improvements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meta-level mechanism is fully editable, not fixed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Tested across coding, paper review, robotics reward design, and Olympiad-level math grading, Hyperagents achieved transferable performance gains where prior systems scored zero</a:t>
            </a:r>
            <a:endParaRPr sz="1200">
              <a:solidFill>
                <a:schemeClr val="dk1"/>
              </a:solidFill>
              <a:latin typeface="Calibri"/>
              <a:ea typeface="Calibri"/>
              <a:cs typeface="Calibri"/>
              <a:sym typeface="Calibri"/>
            </a:endParaRPr>
          </a:p>
        </p:txBody>
      </p:sp>
      <p:sp>
        <p:nvSpPr>
          <p:cNvPr id="242" name="Google Shape;242;p35"/>
          <p:cNvSpPr txBox="1"/>
          <p:nvPr/>
        </p:nvSpPr>
        <p:spPr>
          <a:xfrm>
            <a:off x="55075" y="2865180"/>
            <a:ext cx="44001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OpenClaw Nerve Dashboard</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replaces complex terminal setups with a clean, user-friendly dashboard that features a </a:t>
            </a:r>
            <a:r>
              <a:rPr lang="en" sz="1200" b="1">
                <a:solidFill>
                  <a:srgbClr val="FF0000"/>
                </a:solidFill>
                <a:latin typeface="Calibri"/>
                <a:ea typeface="Calibri"/>
                <a:cs typeface="Calibri"/>
                <a:sym typeface="Calibri"/>
              </a:rPr>
              <a:t>Trello-like Kanban board</a:t>
            </a:r>
            <a:r>
              <a:rPr lang="en" sz="1200">
                <a:solidFill>
                  <a:schemeClr val="dk1"/>
                </a:solidFill>
                <a:latin typeface="Calibri"/>
                <a:ea typeface="Calibri"/>
                <a:cs typeface="Calibri"/>
                <a:sym typeface="Calibri"/>
              </a:rPr>
              <a:t> for task organization, a file manager, and a proposal inbox where users can approve agent actions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Key highlights include a voice mode powered by Whisper, the ability to easily manage fleets of sub-agents with specific models and "thinking levels", and real-time editing of agent memory and context.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Installation is quick, requiring only a GitHub link to be pasted into the OpenClaw gateway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https://www.youtube.com/watch?v=mGFlD40FFwM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43" name="Google Shape;243;p3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24575" y="618055"/>
            <a:ext cx="4327374" cy="1930348"/>
          </a:xfrm>
          <a:prstGeom prst="rect">
            <a:avLst/>
          </a:prstGeom>
          <a:noFill/>
          <a:ln w="9525" cap="flat" cmpd="sng">
            <a:solidFill>
              <a:srgbClr val="FF0000"/>
            </a:solidFill>
            <a:prstDash val="solid"/>
            <a:round/>
            <a:headEnd type="none" w="sm" len="sm"/>
            <a:tailEnd type="none" w="sm" len="sm"/>
          </a:ln>
        </p:spPr>
      </p:pic>
      <p:pic>
        <p:nvPicPr>
          <p:cNvPr id="244" name="Google Shape;244;p3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555075" y="2865175"/>
            <a:ext cx="4466375" cy="9299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6"/>
          <p:cNvSpPr txBox="1"/>
          <p:nvPr/>
        </p:nvSpPr>
        <p:spPr>
          <a:xfrm>
            <a:off x="55075" y="73500"/>
            <a:ext cx="3783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Misc</a:t>
            </a:r>
            <a:endParaRPr sz="2000" b="1">
              <a:solidFill>
                <a:schemeClr val="dk1"/>
              </a:solidFill>
              <a:latin typeface="Calibri"/>
              <a:ea typeface="Calibri"/>
              <a:cs typeface="Calibri"/>
              <a:sym typeface="Calibri"/>
            </a:endParaRPr>
          </a:p>
        </p:txBody>
      </p:sp>
      <p:sp>
        <p:nvSpPr>
          <p:cNvPr id="250" name="Google Shape;250;p36"/>
          <p:cNvSpPr txBox="1"/>
          <p:nvPr/>
        </p:nvSpPr>
        <p:spPr>
          <a:xfrm>
            <a:off x="55075" y="399905"/>
            <a:ext cx="44001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AI + Obsidian = Your Own JARVIS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https://www.youtube.com/watch?v=UHLagfG2nJE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Obsidian stores all your notes, research, and business information locally on your computer as plain text files, while Claude can access this entire knowledge base for context-aware responses.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setup involves creating an Obsidian vault, organizing folders for clients/projects, installing Claude Code, and creating a "Claude.md" briefing file.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creates continuity between sessions, allowing Claude to understand your business, remember previous work, and provide more relevant outputs.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system costs around $20 monthly and becomes more powerful over time as you add more information, essentially creating a knowledgeable AI assistant that knows your specific context and work.</a:t>
            </a:r>
            <a:endParaRPr sz="1200">
              <a:solidFill>
                <a:schemeClr val="dk1"/>
              </a:solidFill>
              <a:latin typeface="Calibri"/>
              <a:ea typeface="Calibri"/>
              <a:cs typeface="Calibri"/>
              <a:sym typeface="Calibri"/>
            </a:endParaRPr>
          </a:p>
        </p:txBody>
      </p:sp>
      <p:sp>
        <p:nvSpPr>
          <p:cNvPr id="251" name="Google Shape;251;p36"/>
          <p:cNvSpPr txBox="1"/>
          <p:nvPr/>
        </p:nvSpPr>
        <p:spPr>
          <a:xfrm>
            <a:off x="55075" y="3278105"/>
            <a:ext cx="44001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Hermes Agent by News Research</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https://www.youtube.com/watch?v=d7TABYDHSE8</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Hermes Agent has a self-improving capability</a:t>
            </a:r>
            <a:r>
              <a:rPr lang="en" sz="1200">
                <a:solidFill>
                  <a:schemeClr val="dk1"/>
                </a:solidFill>
                <a:latin typeface="Calibri"/>
                <a:ea typeface="Calibri"/>
                <a:cs typeface="Calibri"/>
                <a:sym typeface="Calibri"/>
              </a:rPr>
              <a:t> - it learns and remembers from each interaction, building a skill library based on user preferences and work patterns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Hermes stores experiences as searchable markdown files, becoming more personalized over time like a trained AI employee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Hermes has 8,800 GitHub stars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Hermes runs on multiple platforms, integrates with messaging apps, and can operate 24/7 on a $5 server</a:t>
            </a:r>
            <a:endParaRPr sz="1200">
              <a:solidFill>
                <a:schemeClr val="dk1"/>
              </a:solidFill>
              <a:latin typeface="Calibri"/>
              <a:ea typeface="Calibri"/>
              <a:cs typeface="Calibri"/>
              <a:sym typeface="Calibri"/>
            </a:endParaRPr>
          </a:p>
        </p:txBody>
      </p:sp>
      <p:sp>
        <p:nvSpPr>
          <p:cNvPr id="252" name="Google Shape;252;p36"/>
          <p:cNvSpPr txBox="1"/>
          <p:nvPr/>
        </p:nvSpPr>
        <p:spPr>
          <a:xfrm>
            <a:off x="4647500" y="2374630"/>
            <a:ext cx="44001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 Collaborator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https://www.youtube.com/watch?v=RJWbk-4JvLU</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Collaborator is a free Mac desktop app </a:t>
            </a:r>
            <a:r>
              <a:rPr lang="en" sz="1200">
                <a:solidFill>
                  <a:schemeClr val="dk1"/>
                </a:solidFill>
                <a:latin typeface="Calibri"/>
                <a:ea typeface="Calibri"/>
                <a:cs typeface="Calibri"/>
                <a:sym typeface="Calibri"/>
              </a:rPr>
              <a:t>that allows you to run multiple AI agent teams, particularly Claude instances, working together on a single project through an organized canvas interface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app lets you open different terminals where each Claude agent can focus on specific tasks like UI improvement, design, or copywriting, all within the same project folder.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Unlike using regular terminals which can be messy, Collaborator provides a clean dashboard where you can orchestrate multiple agents simultaneously and see their work in real-time through live previews.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app also supports browser tiles for web browsing and can potentially work with other AI models like OpenClaw.</a:t>
            </a:r>
            <a:endParaRPr sz="1200">
              <a:solidFill>
                <a:schemeClr val="dk1"/>
              </a:solidFill>
              <a:latin typeface="Calibri"/>
              <a:ea typeface="Calibri"/>
              <a:cs typeface="Calibri"/>
              <a:sym typeface="Calibri"/>
            </a:endParaRPr>
          </a:p>
        </p:txBody>
      </p:sp>
      <p:pic>
        <p:nvPicPr>
          <p:cNvPr id="253" name="Google Shape;253;p3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570400" y="172500"/>
            <a:ext cx="4199567" cy="18654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7"/>
          <p:cNvSpPr txBox="1"/>
          <p:nvPr/>
        </p:nvSpPr>
        <p:spPr>
          <a:xfrm>
            <a:off x="55075" y="73500"/>
            <a:ext cx="3783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Misc</a:t>
            </a:r>
            <a:endParaRPr sz="2000" b="1">
              <a:solidFill>
                <a:schemeClr val="dk1"/>
              </a:solidFill>
              <a:latin typeface="Calibri"/>
              <a:ea typeface="Calibri"/>
              <a:cs typeface="Calibri"/>
              <a:sym typeface="Calibri"/>
            </a:endParaRPr>
          </a:p>
        </p:txBody>
      </p:sp>
      <p:sp>
        <p:nvSpPr>
          <p:cNvPr id="259" name="Google Shape;259;p37"/>
          <p:cNvSpPr txBox="1"/>
          <p:nvPr/>
        </p:nvSpPr>
        <p:spPr>
          <a:xfrm>
            <a:off x="55075" y="399905"/>
            <a:ext cx="44001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I Made Claude My Co-Founder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https://www.youtube.com/watch?v=PG6w8_HEn-o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business owner built 4 key layers: </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the intelligence foundation using Opus, Sonnet, and Haiku models for different task complexities; </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the interface layer with projects, memory, artifacts, and connectors providing persistent context and business knowledge; </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the office suite including </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 Chrome extension</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 Co-work desktop automation</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 Claude Code for development work; </a:t>
            </a:r>
            <a:endParaRPr sz="1200">
              <a:solidFill>
                <a:srgbClr val="3C78D8"/>
              </a:solidFill>
              <a:latin typeface="Calibri"/>
              <a:ea typeface="Calibri"/>
              <a:cs typeface="Calibri"/>
              <a:sym typeface="Calibri"/>
            </a:endParaRPr>
          </a:p>
          <a:p>
            <a:pPr marL="4000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the engine room with skills, sub-agents, and autonomous systems.</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key insight is that people succeeding with AI aren't using better prompts but </a:t>
            </a:r>
            <a:r>
              <a:rPr lang="en" sz="1200" b="1">
                <a:solidFill>
                  <a:srgbClr val="FF0000"/>
                </a:solidFill>
                <a:latin typeface="Calibri"/>
                <a:ea typeface="Calibri"/>
                <a:cs typeface="Calibri"/>
                <a:sym typeface="Calibri"/>
              </a:rPr>
              <a:t>building deeper, interconnected layers</a:t>
            </a:r>
            <a:r>
              <a:rPr lang="en" sz="1200">
                <a:solidFill>
                  <a:schemeClr val="dk1"/>
                </a:solidFill>
                <a:latin typeface="Calibri"/>
                <a:ea typeface="Calibri"/>
                <a:cs typeface="Calibri"/>
                <a:sym typeface="Calibri"/>
              </a:rPr>
              <a:t> that compound over time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Each document uploaded, skill written, and connector enabled makes every layer more powerful, creating a system that knows the business context, preferences, and standards automatically rather than requiring repeated explanations</a:t>
            </a:r>
            <a:endParaRPr sz="1200">
              <a:solidFill>
                <a:schemeClr val="dk1"/>
              </a:solidFill>
              <a:latin typeface="Calibri"/>
              <a:ea typeface="Calibri"/>
              <a:cs typeface="Calibri"/>
              <a:sym typeface="Calibri"/>
            </a:endParaRPr>
          </a:p>
        </p:txBody>
      </p:sp>
      <p:pic>
        <p:nvPicPr>
          <p:cNvPr id="260" name="Google Shape;260;p3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94200" y="336500"/>
            <a:ext cx="3623900" cy="20132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8"/>
          <p:cNvSpPr txBox="1"/>
          <p:nvPr/>
        </p:nvSpPr>
        <p:spPr>
          <a:xfrm>
            <a:off x="55075" y="63650"/>
            <a:ext cx="2940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Claude Chrome Extension</a:t>
            </a:r>
            <a:endParaRPr sz="2000" b="1">
              <a:solidFill>
                <a:schemeClr val="dk1"/>
              </a:solidFill>
              <a:latin typeface="Calibri"/>
              <a:ea typeface="Calibri"/>
              <a:cs typeface="Calibri"/>
              <a:sym typeface="Calibri"/>
            </a:endParaRPr>
          </a:p>
        </p:txBody>
      </p:sp>
      <p:pic>
        <p:nvPicPr>
          <p:cNvPr id="266" name="Google Shape;266;p38" title="Screenshot 2026-03-19 at 8.36.21 AM.png"/>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52400" y="745550"/>
            <a:ext cx="4559024" cy="3182101"/>
          </a:xfrm>
          <a:prstGeom prst="rect">
            <a:avLst/>
          </a:prstGeom>
          <a:noFill/>
          <a:ln w="9525" cap="flat" cmpd="sng">
            <a:solidFill>
              <a:srgbClr val="FF0000"/>
            </a:solidFill>
            <a:prstDash val="solid"/>
            <a:round/>
            <a:headEnd type="none" w="sm" len="sm"/>
            <a:tailEnd type="none" w="sm" len="sm"/>
          </a:ln>
        </p:spPr>
      </p:pic>
      <p:pic>
        <p:nvPicPr>
          <p:cNvPr id="267" name="Google Shape;267;p38" title="Screenshot 2026-03-19 at 8.38.17 AM.png"/>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975625" y="745550"/>
            <a:ext cx="3780483" cy="31821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9"/>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273" name="Google Shape;273;p39"/>
          <p:cNvSpPr txBox="1"/>
          <p:nvPr/>
        </p:nvSpPr>
        <p:spPr>
          <a:xfrm>
            <a:off x="2134467" y="342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274" name="Google Shape;274;p39"/>
          <p:cNvSpPr txBox="1"/>
          <p:nvPr/>
        </p:nvSpPr>
        <p:spPr>
          <a:xfrm>
            <a:off x="5322525" y="3150775"/>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40.5K  in 2026 </a:t>
            </a:r>
            <a:r>
              <a:rPr lang="en" sz="1000" b="1">
                <a:solidFill>
                  <a:schemeClr val="dk1"/>
                </a:solidFill>
                <a:latin typeface="Roboto Mono"/>
                <a:ea typeface="Roboto Mono"/>
                <a:cs typeface="Roboto Mono"/>
                <a:sym typeface="Roboto Mono"/>
              </a:rPr>
              <a:t>(as of March 27,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275" name="Google Shape;275;p39"/>
          <p:cNvSpPr txBox="1"/>
          <p:nvPr/>
        </p:nvSpPr>
        <p:spPr>
          <a:xfrm>
            <a:off x="5322525" y="507125"/>
            <a:ext cx="3558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59,841</a:t>
            </a:r>
            <a:r>
              <a:rPr lang="en" sz="1200">
                <a:latin typeface="Calibri"/>
                <a:ea typeface="Calibri"/>
                <a:cs typeface="Calibri"/>
                <a:sym typeface="Calibri"/>
              </a:rPr>
              <a:t> people laid off (696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7"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pic>
        <p:nvPicPr>
          <p:cNvPr id="276" name="Google Shape;276;p3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3175" y="3150764"/>
            <a:ext cx="5026177" cy="1962412"/>
          </a:xfrm>
          <a:prstGeom prst="rect">
            <a:avLst/>
          </a:prstGeom>
          <a:noFill/>
          <a:ln w="9525" cap="flat" cmpd="sng">
            <a:solidFill>
              <a:srgbClr val="FF0000"/>
            </a:solidFill>
            <a:prstDash val="solid"/>
            <a:round/>
            <a:headEnd type="none" w="sm" len="sm"/>
            <a:tailEnd type="none" w="sm" len="sm"/>
          </a:ln>
        </p:spPr>
      </p:pic>
      <p:pic>
        <p:nvPicPr>
          <p:cNvPr id="277" name="Google Shape;277;p3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3175" y="507118"/>
            <a:ext cx="5026173" cy="257857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0"/>
          <p:cNvSpPr txBox="1"/>
          <p:nvPr/>
        </p:nvSpPr>
        <p:spPr>
          <a:xfrm>
            <a:off x="55075" y="73500"/>
            <a:ext cx="4942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Jobs</a:t>
            </a:r>
            <a:endParaRPr sz="2000" b="1">
              <a:solidFill>
                <a:schemeClr val="dk1"/>
              </a:solidFill>
              <a:latin typeface="Calibri"/>
              <a:ea typeface="Calibri"/>
              <a:cs typeface="Calibri"/>
              <a:sym typeface="Calibri"/>
            </a:endParaRPr>
          </a:p>
        </p:txBody>
      </p:sp>
      <p:sp>
        <p:nvSpPr>
          <p:cNvPr id="283" name="Google Shape;283;p40"/>
          <p:cNvSpPr txBox="1"/>
          <p:nvPr/>
        </p:nvSpPr>
        <p:spPr>
          <a:xfrm>
            <a:off x="169650" y="586252"/>
            <a:ext cx="44001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Oracle Plans to cut up to 30K jobs out of 162K globally targeting roles expected to become redundant due to AI</a:t>
            </a:r>
            <a:endParaRPr sz="1200">
              <a:solidFill>
                <a:schemeClr val="dk1"/>
              </a:solidFill>
              <a:latin typeface="Calibri"/>
              <a:ea typeface="Calibri"/>
              <a:cs typeface="Calibri"/>
              <a:sym typeface="Calibri"/>
            </a:endParaRPr>
          </a:p>
        </p:txBody>
      </p:sp>
      <p:sp>
        <p:nvSpPr>
          <p:cNvPr id="284" name="Google Shape;284;p40"/>
          <p:cNvSpPr txBox="1"/>
          <p:nvPr/>
        </p:nvSpPr>
        <p:spPr>
          <a:xfrm>
            <a:off x="169650" y="1059015"/>
            <a:ext cx="44001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Meta is reportedly planning layoffs of up to ~20% of its ~79K employees (15K-16K workers)</a:t>
            </a:r>
            <a:endParaRPr sz="1200">
              <a:solidFill>
                <a:schemeClr val="dk1"/>
              </a:solidFill>
              <a:latin typeface="Calibri"/>
              <a:ea typeface="Calibri"/>
              <a:cs typeface="Calibri"/>
              <a:sym typeface="Calibri"/>
            </a:endParaRPr>
          </a:p>
        </p:txBody>
      </p:sp>
      <p:pic>
        <p:nvPicPr>
          <p:cNvPr id="285" name="Google Shape;285;p40"/>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152400" y="1599315"/>
            <a:ext cx="5846004" cy="3391785"/>
          </a:xfrm>
          <a:prstGeom prst="rect">
            <a:avLst/>
          </a:prstGeom>
          <a:noFill/>
          <a:ln w="9525" cap="flat" cmpd="sng">
            <a:solidFill>
              <a:srgbClr val="FF0000"/>
            </a:solidFill>
            <a:prstDash val="solid"/>
            <a:round/>
            <a:headEnd type="none" w="sm" len="sm"/>
            <a:tailEnd type="none" w="sm" len="sm"/>
          </a:ln>
        </p:spPr>
      </p:pic>
      <p:sp>
        <p:nvSpPr>
          <p:cNvPr id="286" name="Google Shape;286;p40"/>
          <p:cNvSpPr txBox="1"/>
          <p:nvPr/>
        </p:nvSpPr>
        <p:spPr>
          <a:xfrm>
            <a:off x="4284950" y="1765025"/>
            <a:ext cx="1335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u="sng">
                <a:solidFill>
                  <a:schemeClr val="hlink"/>
                </a:solidFill>
                <a:hlinkClick r:id="rId4"/>
              </a:rPr>
              <a:t>https://jobloss.ai</a:t>
            </a:r>
            <a:endParaRPr sz="1100"/>
          </a:p>
        </p:txBody>
      </p:sp>
      <p:pic>
        <p:nvPicPr>
          <p:cNvPr id="287" name="Google Shape;287;p4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394912" y="119900"/>
            <a:ext cx="2430238" cy="201442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pic>
        <p:nvPicPr>
          <p:cNvPr id="292" name="Google Shape;292;p41"/>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293" name="Google Shape;293;p41"/>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294" name="Google Shape;294;p41"/>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295" name="Google Shape;295;p41"/>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296" name="Google Shape;296;p41"/>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97" name="Google Shape;297;p41"/>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42"/>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5504</Words>
  <Application>Microsoft Macintosh PowerPoint</Application>
  <PresentationFormat>On-screen Show (16:9)</PresentationFormat>
  <Paragraphs>529</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Roboto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2026-03-27T14:37:42Z</dcterms:modified>
</cp:coreProperties>
</file>