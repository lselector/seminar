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25" d="100"/>
          <a:sy n="125" d="100"/>
        </p:scale>
        <p:origin x="5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2f02863d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b2f02863d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921938fb5e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g3921938fb5e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b38315270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3b38315270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921938fb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g3921938fb5e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921938fb5e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3921938fb5e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21938fb5e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3921938fb5e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emini.google.com/share/41c30494b416"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hyperlink" Target="https://notebooklm.google.com/notebook/901d06ec-d0ff-41f6-9fb1-da37643d400d?pli=1"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youtube.com/watch?v=mLEOZO1GwVc"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youtu.be/0ANECpNdt-4"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youtu.be/0ANECpNdt-4"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nytimes.com/2025/12/31/magazine/ukraine-ai-drones-war-russia.html"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www.youtube.com/watch?v=g_1XNdWEAGU"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417800" y="407825"/>
            <a:ext cx="6308400" cy="30045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How Gemini Canvas using Flash 3.0</a:t>
            </a:r>
            <a:endParaRPr sz="30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Made me worry about autonomous AI</a:t>
            </a:r>
            <a:endParaRPr sz="30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endParaRPr sz="30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endParaRPr sz="30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by </a:t>
            </a:r>
            <a:r>
              <a:rPr lang="en" sz="3000" b="1" u="sng">
                <a:solidFill>
                  <a:srgbClr val="3C78D8"/>
                </a:solidFill>
                <a:latin typeface="Calibri"/>
                <a:ea typeface="Calibri"/>
                <a:cs typeface="Calibri"/>
                <a:sym typeface="Calibri"/>
              </a:rPr>
              <a:t>Hans Beers</a:t>
            </a:r>
            <a:endParaRPr sz="3000" b="1" u="sng">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endParaRPr sz="2200" b="1">
              <a:solidFill>
                <a:srgbClr val="3C78D8"/>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600"/>
              <a:buFont typeface="Arial"/>
              <a:buNone/>
            </a:pPr>
            <a:r>
              <a:rPr lang="en" sz="2200" b="1">
                <a:solidFill>
                  <a:srgbClr val="3C78D8"/>
                </a:solidFill>
                <a:latin typeface="Calibri"/>
                <a:ea typeface="Calibri"/>
                <a:cs typeface="Calibri"/>
                <a:sym typeface="Calibri"/>
              </a:rPr>
              <a:t>January 2, 2026</a:t>
            </a:r>
            <a:endParaRPr sz="2200" b="1">
              <a:solidFill>
                <a:srgbClr val="3C78D8"/>
              </a:solidFill>
              <a:latin typeface="Calibri"/>
              <a:ea typeface="Calibri"/>
              <a:cs typeface="Calibri"/>
              <a:sym typeface="Calibri"/>
            </a:endParaRPr>
          </a:p>
        </p:txBody>
      </p:sp>
      <p:pic>
        <p:nvPicPr>
          <p:cNvPr id="64" name="Google Shape;64;p1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45400" y="3338100"/>
            <a:ext cx="1030483" cy="1372800"/>
          </a:xfrm>
          <a:prstGeom prst="rect">
            <a:avLst/>
          </a:prstGeom>
          <a:noFill/>
          <a:ln>
            <a:noFill/>
          </a:ln>
        </p:spPr>
      </p:pic>
      <p:cxnSp>
        <p:nvCxnSpPr>
          <p:cNvPr id="65" name="Google Shape;65;p15"/>
          <p:cNvCxnSpPr>
            <a:endCxn id="64" idx="3"/>
          </p:cNvCxnSpPr>
          <p:nvPr/>
        </p:nvCxnSpPr>
        <p:spPr>
          <a:xfrm flipH="1">
            <a:off x="1675883" y="2651700"/>
            <a:ext cx="2228400" cy="1372800"/>
          </a:xfrm>
          <a:prstGeom prst="curvedConnector3">
            <a:avLst>
              <a:gd name="adj1" fmla="val 50000"/>
            </a:avLst>
          </a:prstGeom>
          <a:noFill/>
          <a:ln w="28575" cap="flat" cmpd="sng">
            <a:solidFill>
              <a:schemeClr val="accent1"/>
            </a:solidFill>
            <a:prstDash val="solid"/>
            <a:round/>
            <a:headEnd type="none" w="med" len="med"/>
            <a:tailEnd type="diamond" w="med" len="med"/>
          </a:ln>
        </p:spPr>
      </p:cxnSp>
      <p:sp>
        <p:nvSpPr>
          <p:cNvPr id="66" name="Google Shape;66;p15"/>
          <p:cNvSpPr/>
          <p:nvPr/>
        </p:nvSpPr>
        <p:spPr>
          <a:xfrm>
            <a:off x="3275625" y="3889100"/>
            <a:ext cx="2708400" cy="763800"/>
          </a:xfrm>
          <a:prstGeom prst="roundRect">
            <a:avLst>
              <a:gd name="adj" fmla="val 16667"/>
            </a:avLst>
          </a:prstGeom>
          <a:solidFill>
            <a:schemeClr val="lt2"/>
          </a:solid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In IT since 1985, software developer, IT architect</a:t>
            </a:r>
            <a:endParaRPr/>
          </a:p>
        </p:txBody>
      </p:sp>
      <p:cxnSp>
        <p:nvCxnSpPr>
          <p:cNvPr id="67" name="Google Shape;67;p15"/>
          <p:cNvCxnSpPr>
            <a:stCxn id="64" idx="3"/>
            <a:endCxn id="66" idx="1"/>
          </p:cNvCxnSpPr>
          <p:nvPr/>
        </p:nvCxnSpPr>
        <p:spPr>
          <a:xfrm>
            <a:off x="1675883" y="4024500"/>
            <a:ext cx="1599600" cy="246600"/>
          </a:xfrm>
          <a:prstGeom prst="curvedConnector3">
            <a:avLst>
              <a:gd name="adj1" fmla="val 50004"/>
            </a:avLst>
          </a:prstGeom>
          <a:noFill/>
          <a:ln w="28575" cap="flat" cmpd="sng">
            <a:solidFill>
              <a:schemeClr val="accent1"/>
            </a:solidFill>
            <a:prstDash val="solid"/>
            <a:round/>
            <a:headEnd type="none" w="med" len="med"/>
            <a:tailEnd type="diamond" w="med" len="med"/>
          </a:ln>
        </p:spPr>
      </p:cxnSp>
      <p:pic>
        <p:nvPicPr>
          <p:cNvPr id="68" name="Google Shape;68;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709476" y="3451253"/>
            <a:ext cx="1599600" cy="1393085"/>
          </a:xfrm>
          <a:prstGeom prst="rect">
            <a:avLst/>
          </a:prstGeom>
          <a:noFill/>
          <a:ln>
            <a:noFill/>
          </a:ln>
        </p:spPr>
      </p:pic>
      <p:cxnSp>
        <p:nvCxnSpPr>
          <p:cNvPr id="69" name="Google Shape;69;p15"/>
          <p:cNvCxnSpPr>
            <a:stCxn id="66" idx="3"/>
            <a:endCxn id="68" idx="1"/>
          </p:cNvCxnSpPr>
          <p:nvPr/>
        </p:nvCxnSpPr>
        <p:spPr>
          <a:xfrm rot="10800000" flipH="1">
            <a:off x="5984025" y="4147700"/>
            <a:ext cx="725400" cy="123300"/>
          </a:xfrm>
          <a:prstGeom prst="curvedConnector3">
            <a:avLst>
              <a:gd name="adj1" fmla="val 50004"/>
            </a:avLst>
          </a:prstGeom>
          <a:noFill/>
          <a:ln w="28575" cap="flat" cmpd="sng">
            <a:solidFill>
              <a:schemeClr val="accent1"/>
            </a:solidFill>
            <a:prstDash val="solid"/>
            <a:round/>
            <a:headEnd type="none" w="med" len="med"/>
            <a:tailEnd type="diamond"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p:nvPr/>
        </p:nvSpPr>
        <p:spPr>
          <a:xfrm>
            <a:off x="55075" y="20375"/>
            <a:ext cx="4034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Gemini Canvas using Flash 3.0</a:t>
            </a:r>
            <a:endParaRPr sz="2000" b="1" i="0" u="none" strike="noStrike" cap="none">
              <a:solidFill>
                <a:schemeClr val="dk1"/>
              </a:solidFill>
              <a:latin typeface="Calibri"/>
              <a:ea typeface="Calibri"/>
              <a:cs typeface="Calibri"/>
              <a:sym typeface="Calibri"/>
            </a:endParaRPr>
          </a:p>
        </p:txBody>
      </p:sp>
      <p:sp>
        <p:nvSpPr>
          <p:cNvPr id="75" name="Google Shape;75;p16"/>
          <p:cNvSpPr txBox="1"/>
          <p:nvPr/>
        </p:nvSpPr>
        <p:spPr>
          <a:xfrm>
            <a:off x="111575" y="369200"/>
            <a:ext cx="4413900" cy="340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Gemini Canvas using Flash 3.0 - by Hans Beers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 worked on a project to simulate laws of physics in the 90-ies. I thought lets give it a try using AI. So I asked Gemini to create a physics simulation lab using laws of dynamics, thermodynamics etc. Initial result was promising, I got a simulator working.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Sometimes the UI gave an error, so I added an autotest function. This also seemed to work.</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Then I added 2 "self modifying code" functions: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 improve existing simulation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 generate ideas for new simulation and allow user to select to build one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Gemini implemented these functions - I saw it automatically build an interface (API key) to itself to let it evaluate.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This is where I see it currently hit limitations: Gemini forgets context: When I improve an existing simulation or add a new one, other improvements are forgotten. I could not make it run without errors.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If this would work in any software development scenario, it would be the holy grail.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https://gemini.google.com/share/41c30494b416</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https://notebooklm.google.com/notebook/901d06ec-d0ff-41f6-9fb1-da37643d400d?pli=1</a:t>
            </a:r>
            <a:r>
              <a:rPr lang="en" sz="1100">
                <a:latin typeface="Calibri"/>
                <a:ea typeface="Calibri"/>
                <a:cs typeface="Calibri"/>
                <a:sym typeface="Calibri"/>
              </a:rPr>
              <a:t> </a:t>
            </a:r>
            <a:endParaRPr sz="1100">
              <a:latin typeface="Calibri"/>
              <a:ea typeface="Calibri"/>
              <a:cs typeface="Calibri"/>
              <a:sym typeface="Calibri"/>
            </a:endParaRPr>
          </a:p>
        </p:txBody>
      </p:sp>
      <p:pic>
        <p:nvPicPr>
          <p:cNvPr id="76" name="Google Shape;76;p1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77875" y="383799"/>
            <a:ext cx="4313723" cy="2593400"/>
          </a:xfrm>
          <a:prstGeom prst="rect">
            <a:avLst/>
          </a:prstGeom>
          <a:noFill/>
          <a:ln w="9525" cap="flat" cmpd="sng">
            <a:solidFill>
              <a:srgbClr val="FF0000"/>
            </a:solidFill>
            <a:prstDash val="solid"/>
            <a:round/>
            <a:headEnd type="none" w="sm" len="sm"/>
            <a:tailEnd type="none" w="sm" len="sm"/>
          </a:ln>
        </p:spPr>
      </p:pic>
      <p:pic>
        <p:nvPicPr>
          <p:cNvPr id="77" name="Google Shape;77;p1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77875" y="3129599"/>
            <a:ext cx="3409976" cy="1861501"/>
          </a:xfrm>
          <a:prstGeom prst="rect">
            <a:avLst/>
          </a:prstGeom>
          <a:noFill/>
          <a:ln>
            <a:noFill/>
          </a:ln>
        </p:spPr>
      </p:pic>
      <p:sp>
        <p:nvSpPr>
          <p:cNvPr id="78" name="Google Shape;78;p16"/>
          <p:cNvSpPr/>
          <p:nvPr/>
        </p:nvSpPr>
        <p:spPr>
          <a:xfrm>
            <a:off x="335675" y="4051125"/>
            <a:ext cx="3946800" cy="5439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This made me think about AI Autonomy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p:nvPr/>
        </p:nvSpPr>
        <p:spPr>
          <a:xfrm>
            <a:off x="55075" y="20375"/>
            <a:ext cx="63690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Agentic AI simulator - Darwin meets AI</a:t>
            </a:r>
            <a:endParaRPr sz="2000" b="1" i="0" u="none" strike="noStrike" cap="none">
              <a:solidFill>
                <a:schemeClr val="dk1"/>
              </a:solidFill>
              <a:latin typeface="Calibri"/>
              <a:ea typeface="Calibri"/>
              <a:cs typeface="Calibri"/>
              <a:sym typeface="Calibri"/>
            </a:endParaRPr>
          </a:p>
        </p:txBody>
      </p:sp>
      <p:sp>
        <p:nvSpPr>
          <p:cNvPr id="84" name="Google Shape;84;p17"/>
          <p:cNvSpPr txBox="1"/>
          <p:nvPr/>
        </p:nvSpPr>
        <p:spPr>
          <a:xfrm>
            <a:off x="136100" y="497400"/>
            <a:ext cx="3985200" cy="4637700"/>
          </a:xfrm>
          <a:prstGeom prst="rect">
            <a:avLst/>
          </a:prstGeom>
          <a:solidFill>
            <a:srgbClr val="FFF2CC"/>
          </a:solid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 created a Notebooklm notebook about shifting landscape of artificial intelligence, focusing on the transition from passive tools to autonomous agents capable of self-improvement and complex orchestration. </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Research highlights how frameworks like AlphaEvolve and LADDER utilize reinforcement learning and recursive decomposition to discover scientific algorithms and refine code without human intervention. </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technical evolution introduces significant governance and security challenges, necessitating advanced infrastructure such as AI gateways to manage technical debt and mitigate algorithmic bias. </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Economically, experts predict that AI will soon manage entire software development workflows, potentially increasing productivity while simultaneously reshaping the labor market and high-paying roles. </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 support these advancements, hardware is evolving through specialized neural processing units and high-bandwidth unified memory architectures. </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Finally, the notebook  addresses the regulatory response to these trends, detailing legislative efforts to ensure accountability and protect privacy as AI becomes a permanent fixture of the workforce.</a:t>
            </a:r>
            <a:endParaRPr sz="1100" b="1">
              <a:solidFill>
                <a:schemeClr val="dk1"/>
              </a:solidFill>
              <a:latin typeface="Calibri"/>
              <a:ea typeface="Calibri"/>
              <a:cs typeface="Calibri"/>
              <a:sym typeface="Calibri"/>
            </a:endParaRPr>
          </a:p>
        </p:txBody>
      </p:sp>
      <p:pic>
        <p:nvPicPr>
          <p:cNvPr id="85" name="Google Shape;85;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173834" y="506577"/>
            <a:ext cx="4883398" cy="3512424"/>
          </a:xfrm>
          <a:prstGeom prst="rect">
            <a:avLst/>
          </a:prstGeom>
          <a:noFill/>
          <a:ln>
            <a:noFill/>
          </a:ln>
        </p:spPr>
      </p:pic>
      <p:cxnSp>
        <p:nvCxnSpPr>
          <p:cNvPr id="86" name="Google Shape;86;p17"/>
          <p:cNvCxnSpPr>
            <a:stCxn id="84" idx="0"/>
            <a:endCxn id="85" idx="0"/>
          </p:cNvCxnSpPr>
          <p:nvPr/>
        </p:nvCxnSpPr>
        <p:spPr>
          <a:xfrm rot="-5400000" flipH="1">
            <a:off x="4367450" y="-1741350"/>
            <a:ext cx="9300" cy="4486800"/>
          </a:xfrm>
          <a:prstGeom prst="bentConnector3">
            <a:avLst>
              <a:gd name="adj1" fmla="val -2560484"/>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p:nvPr/>
        </p:nvSpPr>
        <p:spPr>
          <a:xfrm>
            <a:off x="55075" y="20375"/>
            <a:ext cx="89154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800" b="1">
                <a:solidFill>
                  <a:schemeClr val="dk1"/>
                </a:solidFill>
                <a:latin typeface="Calibri"/>
                <a:ea typeface="Calibri"/>
                <a:cs typeface="Calibri"/>
                <a:sym typeface="Calibri"/>
              </a:rPr>
              <a:t>Resilience and Reliability Risks of AI autonomy (</a:t>
            </a:r>
            <a:r>
              <a:rPr lang="en" sz="1800" b="1" i="1">
                <a:solidFill>
                  <a:schemeClr val="dk1"/>
                </a:solidFill>
                <a:latin typeface="Calibri"/>
                <a:ea typeface="Calibri"/>
                <a:cs typeface="Calibri"/>
                <a:sym typeface="Calibri"/>
              </a:rPr>
              <a:t>“Go To Statement Considered Harmful”)</a:t>
            </a:r>
            <a:endParaRPr sz="1800" b="1" i="1" u="none" strike="noStrike" cap="none">
              <a:solidFill>
                <a:schemeClr val="dk1"/>
              </a:solidFill>
              <a:latin typeface="Calibri"/>
              <a:ea typeface="Calibri"/>
              <a:cs typeface="Calibri"/>
              <a:sym typeface="Calibri"/>
            </a:endParaRPr>
          </a:p>
        </p:txBody>
      </p:sp>
      <p:sp>
        <p:nvSpPr>
          <p:cNvPr id="92" name="Google Shape;92;p18"/>
          <p:cNvSpPr txBox="1"/>
          <p:nvPr/>
        </p:nvSpPr>
        <p:spPr>
          <a:xfrm>
            <a:off x="0" y="482070"/>
            <a:ext cx="3302700" cy="391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transition from "read-only" assistants to </a:t>
            </a:r>
            <a:r>
              <a:rPr lang="en" sz="1100" b="1">
                <a:solidFill>
                  <a:schemeClr val="dk1"/>
                </a:solidFill>
                <a:latin typeface="Calibri"/>
                <a:ea typeface="Calibri"/>
                <a:cs typeface="Calibri"/>
                <a:sym typeface="Calibri"/>
              </a:rPr>
              <a:t>"read-write" autonomous actors</a:t>
            </a:r>
            <a:r>
              <a:rPr lang="en" sz="1100">
                <a:solidFill>
                  <a:schemeClr val="dk1"/>
                </a:solidFill>
                <a:latin typeface="Calibri"/>
                <a:ea typeface="Calibri"/>
                <a:cs typeface="Calibri"/>
                <a:sym typeface="Calibri"/>
              </a:rPr>
              <a:t> introduces profound resilience risks, as agentic AI systems gain the power to independently modify databases, trigger workflows, and execute real-world actions.</a:t>
            </a:r>
            <a:endParaRPr sz="110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These risks can be categorized into systemic vulnerabilities, adversarial evolutions, behavioral misalignment and operational/security blind spots.:</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1100" b="1">
                <a:solidFill>
                  <a:schemeClr val="dk1"/>
                </a:solidFill>
                <a:latin typeface="Calibri"/>
                <a:ea typeface="Calibri"/>
                <a:cs typeface="Calibri"/>
                <a:sym typeface="Calibri"/>
              </a:rPr>
              <a:t>Systemic and Cascading Failures</a:t>
            </a:r>
            <a:endParaRPr sz="1100" b="1">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Interconnected Fragility</a:t>
            </a:r>
            <a:endParaRPr sz="1100">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Unintended Autonomous Loops</a:t>
            </a:r>
            <a:endParaRPr sz="1100">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Model and Data Drift</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1100" b="1">
                <a:solidFill>
                  <a:schemeClr val="dk1"/>
                </a:solidFill>
                <a:latin typeface="Calibri"/>
                <a:ea typeface="Calibri"/>
                <a:cs typeface="Calibri"/>
                <a:sym typeface="Calibri"/>
              </a:rPr>
              <a:t>Adversarial Evasion and "Thinking" Malware</a:t>
            </a:r>
            <a:endParaRPr sz="1100" b="1">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Self-Modifying Malware</a:t>
            </a:r>
            <a:endParaRPr sz="1100">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Autonomous Cybercrime</a:t>
            </a:r>
            <a:endParaRPr sz="1100">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Prompt Injection 2.0</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1100" b="1">
                <a:solidFill>
                  <a:schemeClr val="dk1"/>
                </a:solidFill>
                <a:latin typeface="Calibri"/>
                <a:ea typeface="Calibri"/>
                <a:cs typeface="Calibri"/>
                <a:sym typeface="Calibri"/>
              </a:rPr>
              <a:t>Behavioral Misalignment and Deception</a:t>
            </a:r>
            <a:endParaRPr sz="1100" b="1">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Reward Hacking</a:t>
            </a:r>
            <a:endParaRPr sz="1100">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Alignment Faking</a:t>
            </a:r>
            <a:endParaRPr sz="11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r>
              <a:rPr lang="en" sz="1100" b="1">
                <a:solidFill>
                  <a:schemeClr val="dk1"/>
                </a:solidFill>
                <a:latin typeface="Calibri"/>
                <a:ea typeface="Calibri"/>
                <a:cs typeface="Calibri"/>
                <a:sym typeface="Calibri"/>
              </a:rPr>
              <a:t>Operational and Security Blind Spots</a:t>
            </a:r>
            <a:endParaRPr sz="1100" b="1">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Excessive Agency and Permission</a:t>
            </a:r>
            <a:endParaRPr sz="1100">
              <a:solidFill>
                <a:schemeClr val="dk1"/>
              </a:solidFill>
              <a:latin typeface="Calibri"/>
              <a:ea typeface="Calibri"/>
              <a:cs typeface="Calibri"/>
              <a:sym typeface="Calibri"/>
            </a:endParaRPr>
          </a:p>
          <a:p>
            <a:pPr marL="914400" marR="0" lvl="1" indent="-29845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Technical Debt and Skill Atrophy</a:t>
            </a:r>
            <a:endParaRPr sz="1100">
              <a:solidFill>
                <a:schemeClr val="dk1"/>
              </a:solidFill>
              <a:latin typeface="Calibri"/>
              <a:ea typeface="Calibri"/>
              <a:cs typeface="Calibri"/>
              <a:sym typeface="Calibri"/>
            </a:endParaRPr>
          </a:p>
        </p:txBody>
      </p:sp>
      <p:pic>
        <p:nvPicPr>
          <p:cNvPr id="93" name="Google Shape;93;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449074" y="460375"/>
            <a:ext cx="5596301" cy="2685425"/>
          </a:xfrm>
          <a:prstGeom prst="rect">
            <a:avLst/>
          </a:prstGeom>
          <a:noFill/>
          <a:ln>
            <a:noFill/>
          </a:ln>
        </p:spPr>
      </p:pic>
      <p:sp>
        <p:nvSpPr>
          <p:cNvPr id="94" name="Google Shape;94;p18"/>
          <p:cNvSpPr txBox="1"/>
          <p:nvPr/>
        </p:nvSpPr>
        <p:spPr>
          <a:xfrm>
            <a:off x="3325824" y="3167118"/>
            <a:ext cx="57687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chemeClr val="dk1"/>
                </a:solidFill>
                <a:highlight>
                  <a:schemeClr val="lt1"/>
                </a:highlight>
              </a:rPr>
              <a:t>In an interview with </a:t>
            </a:r>
            <a:r>
              <a:rPr lang="en" sz="1200" b="1">
                <a:solidFill>
                  <a:schemeClr val="dk1"/>
                </a:solidFill>
                <a:highlight>
                  <a:schemeClr val="lt1"/>
                </a:highlight>
              </a:rPr>
              <a:t>Edsger Dijkstra</a:t>
            </a:r>
            <a:r>
              <a:rPr lang="en" sz="1200">
                <a:solidFill>
                  <a:schemeClr val="dk1"/>
                </a:solidFill>
                <a:highlight>
                  <a:schemeClr val="lt1"/>
                </a:highlight>
              </a:rPr>
              <a:t>, the famous computer scientist. There he mentions a discussion with Joel Aron, the head of the department from IBM, responsibe for the software of the Eagle, the lunar lander for the Apollo 11. He asked the program manager how he could prove in advance that the software was correct. The program manager confessed that 5 days before the take-off of the Apollo 11, they found out that they had made a sign error regarding the gravity force of the moon, making it not pull the lunar lander but push it away. </a:t>
            </a:r>
            <a:r>
              <a:rPr lang="en" sz="1200" u="sng">
                <a:solidFill>
                  <a:schemeClr val="hlink"/>
                </a:solidFill>
                <a:highlight>
                  <a:schemeClr val="lt1"/>
                </a:highlight>
                <a:hlinkClick r:id="rId4"/>
              </a:rPr>
              <a:t>https://www.youtube.com/watch?v=mLEOZO1GwVc</a:t>
            </a:r>
            <a:r>
              <a:rPr lang="en" sz="1200">
                <a:solidFill>
                  <a:schemeClr val="dk1"/>
                </a:solidFill>
                <a:highlight>
                  <a:schemeClr val="lt1"/>
                </a:highlight>
              </a:rPr>
              <a:t> (minute 14).</a:t>
            </a:r>
            <a:endParaRPr>
              <a:solidFill>
                <a:schemeClr val="dk1"/>
              </a:solidFill>
              <a:highlight>
                <a:schemeClr val="lt1"/>
              </a:highlight>
            </a:endParaRPr>
          </a:p>
        </p:txBody>
      </p:sp>
      <p:sp>
        <p:nvSpPr>
          <p:cNvPr id="95" name="Google Shape;95;p18"/>
          <p:cNvSpPr txBox="1"/>
          <p:nvPr/>
        </p:nvSpPr>
        <p:spPr>
          <a:xfrm>
            <a:off x="0" y="4394675"/>
            <a:ext cx="33027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alibri"/>
                <a:ea typeface="Calibri"/>
                <a:cs typeface="Calibri"/>
                <a:sym typeface="Calibri"/>
              </a:rPr>
              <a:t>Edsger Dijkstra taught in the United States at the University of Texas at Austin. Program correctness proofs was one of his topics.</a:t>
            </a:r>
            <a:endParaRPr sz="12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p:nvPr/>
        </p:nvSpPr>
        <p:spPr>
          <a:xfrm>
            <a:off x="55075" y="20375"/>
            <a:ext cx="88074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39C3 - AI Agent, AI Spy Presenters: Meredith Whittaker &amp; Udbhav Tiwari (Signal)</a:t>
            </a:r>
            <a:endParaRPr sz="2000" b="1" i="0" u="none" strike="noStrike" cap="none">
              <a:solidFill>
                <a:schemeClr val="dk1"/>
              </a:solidFill>
              <a:latin typeface="Calibri"/>
              <a:ea typeface="Calibri"/>
              <a:cs typeface="Calibri"/>
              <a:sym typeface="Calibri"/>
            </a:endParaRPr>
          </a:p>
        </p:txBody>
      </p:sp>
      <p:sp>
        <p:nvSpPr>
          <p:cNvPr id="101" name="Google Shape;101;p19"/>
          <p:cNvSpPr txBox="1"/>
          <p:nvPr/>
        </p:nvSpPr>
        <p:spPr>
          <a:xfrm>
            <a:off x="55075" y="506522"/>
            <a:ext cx="4446900" cy="2726100"/>
          </a:xfrm>
          <a:prstGeom prst="rect">
            <a:avLst/>
          </a:prstGeom>
          <a:solidFill>
            <a:srgbClr val="FFF2CC"/>
          </a:solidFill>
          <a:ln>
            <a:noFill/>
          </a:ln>
        </p:spPr>
        <p:txBody>
          <a:bodyPr spcFirstLastPara="1" wrap="square" lIns="91425" tIns="91425" rIns="91425" bIns="91425" anchor="t" anchorCtr="0">
            <a:spAutoFit/>
          </a:bodyPr>
          <a:lstStyle/>
          <a:p>
            <a:pPr marL="457200" lvl="0" indent="-311150" algn="l" rtl="0">
              <a:lnSpc>
                <a:spcPct val="115000"/>
              </a:lnSpc>
              <a:spcBef>
                <a:spcPts val="1400"/>
              </a:spcBef>
              <a:spcAft>
                <a:spcPts val="0"/>
              </a:spcAft>
              <a:buClr>
                <a:schemeClr val="dk1"/>
              </a:buClr>
              <a:buSzPts val="1300"/>
              <a:buFont typeface="Calibri"/>
              <a:buAutoNum type="arabicParenR"/>
            </a:pPr>
            <a:r>
              <a:rPr lang="en" sz="1300" b="1">
                <a:solidFill>
                  <a:schemeClr val="dk1"/>
                </a:solidFill>
                <a:latin typeface="Calibri"/>
                <a:ea typeface="Calibri"/>
                <a:cs typeface="Calibri"/>
                <a:sym typeface="Calibri"/>
              </a:rPr>
              <a:t>The "Velvet Glove Coup"</a:t>
            </a:r>
            <a:endParaRPr sz="1300" b="1">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The Core Thesis:</a:t>
            </a:r>
            <a:r>
              <a:rPr lang="en" sz="1100">
                <a:solidFill>
                  <a:schemeClr val="dk1"/>
                </a:solidFill>
                <a:latin typeface="Calibri"/>
                <a:ea typeface="Calibri"/>
                <a:cs typeface="Calibri"/>
                <a:sym typeface="Calibri"/>
              </a:rPr>
              <a:t> The integration of AI agents into Operating Systems represents a shift in control from users and developers to OS and AI companies.</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Marketing vs. Reality:</a:t>
            </a:r>
            <a:r>
              <a:rPr lang="en" sz="1100">
                <a:solidFill>
                  <a:schemeClr val="dk1"/>
                </a:solidFill>
                <a:latin typeface="Calibri"/>
                <a:ea typeface="Calibri"/>
                <a:cs typeface="Calibri"/>
                <a:sym typeface="Calibri"/>
              </a:rPr>
              <a:t> While marketed as "robot butlers," these agents fundamentally require "context" to function—which translates to constant, unfettered surveillance of all user data.</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The Agentic Imperative:</a:t>
            </a:r>
            <a:r>
              <a:rPr lang="en" sz="1100">
                <a:solidFill>
                  <a:schemeClr val="dk1"/>
                </a:solidFill>
                <a:latin typeface="Calibri"/>
                <a:ea typeface="Calibri"/>
                <a:cs typeface="Calibri"/>
                <a:sym typeface="Calibri"/>
              </a:rPr>
              <a:t> To be useful, an agent must "sense the state of the environment." This creates a conflict: limiting data access preserves privacy but breaks the agent's utility.</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Consent:</a:t>
            </a:r>
            <a:r>
              <a:rPr lang="en" sz="1100">
                <a:solidFill>
                  <a:schemeClr val="dk1"/>
                </a:solidFill>
                <a:latin typeface="Calibri"/>
                <a:ea typeface="Calibri"/>
                <a:cs typeface="Calibri"/>
                <a:sym typeface="Calibri"/>
              </a:rPr>
              <a:t> Meaningful consent is impossible for non-deterministic systems that execute hundreds of invisible API calls to complete a single task.</a:t>
            </a:r>
            <a:endParaRPr sz="1100">
              <a:solidFill>
                <a:schemeClr val="dk1"/>
              </a:solidFill>
              <a:latin typeface="Calibri"/>
              <a:ea typeface="Calibri"/>
              <a:cs typeface="Calibri"/>
              <a:sym typeface="Calibri"/>
            </a:endParaRPr>
          </a:p>
        </p:txBody>
      </p:sp>
      <p:sp>
        <p:nvSpPr>
          <p:cNvPr id="102" name="Google Shape;102;p19"/>
          <p:cNvSpPr txBox="1"/>
          <p:nvPr/>
        </p:nvSpPr>
        <p:spPr>
          <a:xfrm>
            <a:off x="4578775" y="506522"/>
            <a:ext cx="4446900" cy="25827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Calibri"/>
                <a:ea typeface="Calibri"/>
                <a:cs typeface="Calibri"/>
                <a:sym typeface="Calibri"/>
              </a:rPr>
              <a:t>    2) The Privacy Threat: Windows Recall</a:t>
            </a:r>
            <a:endParaRPr sz="1300" b="1">
              <a:solidFill>
                <a:schemeClr val="dk1"/>
              </a:solidFill>
              <a:latin typeface="Calibri"/>
              <a:ea typeface="Calibri"/>
              <a:cs typeface="Calibri"/>
              <a:sym typeface="Calibri"/>
            </a:endParaRPr>
          </a:p>
          <a:p>
            <a:pPr marL="457200" lvl="0" indent="-298450" algn="l" rtl="0">
              <a:lnSpc>
                <a:spcPct val="115000"/>
              </a:lnSpc>
              <a:spcBef>
                <a:spcPts val="400"/>
              </a:spcBef>
              <a:spcAft>
                <a:spcPts val="0"/>
              </a:spcAft>
              <a:buClr>
                <a:schemeClr val="dk1"/>
              </a:buClr>
              <a:buSzPts val="1100"/>
              <a:buChar char="●"/>
            </a:pPr>
            <a:r>
              <a:rPr lang="en" sz="1100" b="1">
                <a:solidFill>
                  <a:schemeClr val="dk1"/>
                </a:solidFill>
                <a:latin typeface="Calibri"/>
                <a:ea typeface="Calibri"/>
                <a:cs typeface="Calibri"/>
                <a:sym typeface="Calibri"/>
              </a:rPr>
              <a:t>What is it?</a:t>
            </a:r>
            <a:r>
              <a:rPr lang="en" sz="1100">
                <a:solidFill>
                  <a:schemeClr val="dk1"/>
                </a:solidFill>
                <a:latin typeface="Calibri"/>
                <a:ea typeface="Calibri"/>
                <a:cs typeface="Calibri"/>
                <a:sym typeface="Calibri"/>
              </a:rPr>
              <a:t> A Microsoft feature that takes screenshots every few seconds, uses OCR to read the text, and stores it in a semantic database.</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The "Honeypot" Risk:</a:t>
            </a:r>
            <a:r>
              <a:rPr lang="en" sz="1100">
                <a:solidFill>
                  <a:schemeClr val="dk1"/>
                </a:solidFill>
                <a:latin typeface="Calibri"/>
                <a:ea typeface="Calibri"/>
                <a:cs typeface="Calibri"/>
                <a:sym typeface="Calibri"/>
              </a:rPr>
              <a:t> It creates a comprehensive forensic dossier of a user's life (apps opened, conversations had, files viewed).</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Breaking Encryption:</a:t>
            </a:r>
            <a:r>
              <a:rPr lang="en" sz="1100">
                <a:solidFill>
                  <a:schemeClr val="dk1"/>
                </a:solidFill>
                <a:latin typeface="Calibri"/>
                <a:ea typeface="Calibri"/>
                <a:cs typeface="Calibri"/>
                <a:sym typeface="Calibri"/>
              </a:rPr>
              <a:t> It bypasses end-to-end encryption (like Signal's) by capturing messages </a:t>
            </a:r>
            <a:r>
              <a:rPr lang="en" sz="1100" i="1">
                <a:solidFill>
                  <a:schemeClr val="dk1"/>
                </a:solidFill>
                <a:latin typeface="Calibri"/>
                <a:ea typeface="Calibri"/>
                <a:cs typeface="Calibri"/>
                <a:sym typeface="Calibri"/>
              </a:rPr>
              <a:t>after</a:t>
            </a:r>
            <a:r>
              <a:rPr lang="en" sz="1100">
                <a:solidFill>
                  <a:schemeClr val="dk1"/>
                </a:solidFill>
                <a:latin typeface="Calibri"/>
                <a:ea typeface="Calibri"/>
                <a:cs typeface="Calibri"/>
                <a:sym typeface="Calibri"/>
              </a:rPr>
              <a:t> they are decrypted and displayed on the screen.</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Collateral Damage:</a:t>
            </a:r>
            <a:r>
              <a:rPr lang="en" sz="1100">
                <a:solidFill>
                  <a:schemeClr val="dk1"/>
                </a:solidFill>
                <a:latin typeface="Calibri"/>
                <a:ea typeface="Calibri"/>
                <a:cs typeface="Calibri"/>
                <a:sym typeface="Calibri"/>
              </a:rPr>
              <a:t> Signal had to use DRM tools (meant to stop piracy) to block Recall, which negatively impacts accessibility tools like screen readers.</a:t>
            </a:r>
            <a:endParaRPr sz="1100">
              <a:solidFill>
                <a:schemeClr val="dk1"/>
              </a:solidFill>
              <a:latin typeface="Calibri"/>
              <a:ea typeface="Calibri"/>
              <a:cs typeface="Calibri"/>
              <a:sym typeface="Calibri"/>
            </a:endParaRPr>
          </a:p>
        </p:txBody>
      </p:sp>
      <p:sp>
        <p:nvSpPr>
          <p:cNvPr id="103" name="Google Shape;103;p19"/>
          <p:cNvSpPr txBox="1"/>
          <p:nvPr/>
        </p:nvSpPr>
        <p:spPr>
          <a:xfrm>
            <a:off x="55075" y="3313645"/>
            <a:ext cx="8970600" cy="17484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00000"/>
              </a:lnSpc>
              <a:spcBef>
                <a:spcPts val="1400"/>
              </a:spcBef>
              <a:spcAft>
                <a:spcPts val="0"/>
              </a:spcAft>
              <a:buNone/>
            </a:pPr>
            <a:r>
              <a:rPr lang="en" sz="1300" b="1">
                <a:solidFill>
                  <a:schemeClr val="dk1"/>
                </a:solidFill>
                <a:latin typeface="Calibri"/>
                <a:ea typeface="Calibri"/>
                <a:cs typeface="Calibri"/>
                <a:sym typeface="Calibri"/>
              </a:rPr>
              <a:t>    3)	The Security Threat: Semantic Attacks</a:t>
            </a:r>
            <a:endParaRPr sz="1300" b="1">
              <a:solidFill>
                <a:schemeClr val="dk1"/>
              </a:solidFill>
              <a:latin typeface="Calibri"/>
              <a:ea typeface="Calibri"/>
              <a:cs typeface="Calibri"/>
              <a:sym typeface="Calibri"/>
            </a:endParaRPr>
          </a:p>
          <a:p>
            <a:pPr marL="457200" lvl="0" indent="-298450" algn="l" rtl="0">
              <a:lnSpc>
                <a:spcPct val="100000"/>
              </a:lnSpc>
              <a:spcBef>
                <a:spcPts val="400"/>
              </a:spcBef>
              <a:spcAft>
                <a:spcPts val="0"/>
              </a:spcAft>
              <a:buClr>
                <a:schemeClr val="dk1"/>
              </a:buClr>
              <a:buSzPts val="1100"/>
              <a:buFont typeface="Calibri"/>
              <a:buChar char="●"/>
            </a:pPr>
            <a:r>
              <a:rPr lang="en" sz="1100" b="1">
                <a:solidFill>
                  <a:schemeClr val="dk1"/>
                </a:solidFill>
                <a:latin typeface="Calibri"/>
                <a:ea typeface="Calibri"/>
                <a:cs typeface="Calibri"/>
                <a:sym typeface="Calibri"/>
              </a:rPr>
              <a:t>Fundamental Flaw:</a:t>
            </a:r>
            <a:r>
              <a:rPr lang="en" sz="1100">
                <a:solidFill>
                  <a:schemeClr val="dk1"/>
                </a:solidFill>
                <a:latin typeface="Calibri"/>
                <a:ea typeface="Calibri"/>
                <a:cs typeface="Calibri"/>
                <a:sym typeface="Calibri"/>
              </a:rPr>
              <a:t> LLMs (Large Language Models) cannot distinguish between </a:t>
            </a:r>
            <a:r>
              <a:rPr lang="en" sz="1100" b="1">
                <a:solidFill>
                  <a:schemeClr val="dk1"/>
                </a:solidFill>
                <a:latin typeface="Calibri"/>
                <a:ea typeface="Calibri"/>
                <a:cs typeface="Calibri"/>
                <a:sym typeface="Calibri"/>
              </a:rPr>
              <a:t>instructions</a:t>
            </a:r>
            <a:r>
              <a:rPr lang="en" sz="1100">
                <a:solidFill>
                  <a:schemeClr val="dk1"/>
                </a:solidFill>
                <a:latin typeface="Calibri"/>
                <a:ea typeface="Calibri"/>
                <a:cs typeface="Calibri"/>
                <a:sym typeface="Calibri"/>
              </a:rPr>
              <a:t> and </a:t>
            </a:r>
            <a:r>
              <a:rPr lang="en" sz="1100" b="1">
                <a:solidFill>
                  <a:schemeClr val="dk1"/>
                </a:solidFill>
                <a:latin typeface="Calibri"/>
                <a:ea typeface="Calibri"/>
                <a:cs typeface="Calibri"/>
                <a:sym typeface="Calibri"/>
              </a:rPr>
              <a:t>data</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Indirect Prompt Injection:</a:t>
            </a:r>
            <a:r>
              <a:rPr lang="en" sz="1100">
                <a:solidFill>
                  <a:schemeClr val="dk1"/>
                </a:solidFill>
                <a:latin typeface="Calibri"/>
                <a:ea typeface="Calibri"/>
                <a:cs typeface="Calibri"/>
                <a:sym typeface="Calibri"/>
              </a:rPr>
              <a:t> Attackers can hide malicious commands in data (e.g., white text on a website, an incoming email). When the agent processes this "data," it executes the command.</a:t>
            </a:r>
            <a:endParaRPr sz="1100">
              <a:solidFill>
                <a:schemeClr val="dk1"/>
              </a:solidFill>
              <a:latin typeface="Calibri"/>
              <a:ea typeface="Calibri"/>
              <a:cs typeface="Calibri"/>
              <a:sym typeface="Calibri"/>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Example (EchoLeak):</a:t>
            </a:r>
            <a:r>
              <a:rPr lang="en" sz="1100">
                <a:solidFill>
                  <a:schemeClr val="dk1"/>
                </a:solidFill>
                <a:latin typeface="Calibri"/>
                <a:ea typeface="Calibri"/>
                <a:cs typeface="Calibri"/>
                <a:sym typeface="Calibri"/>
              </a:rPr>
              <a:t> An AI summarizes unread emails; a malicious email contains a prompt that forces the AI to exfiltrate private data to a third-party server.</a:t>
            </a:r>
            <a:endParaRPr sz="1100">
              <a:solidFill>
                <a:schemeClr val="dk1"/>
              </a:solidFill>
              <a:latin typeface="Calibri"/>
              <a:ea typeface="Calibri"/>
              <a:cs typeface="Calibri"/>
              <a:sym typeface="Calibri"/>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Example (Prompt Pond):</a:t>
            </a:r>
            <a:r>
              <a:rPr lang="en" sz="1100">
                <a:solidFill>
                  <a:schemeClr val="dk1"/>
                </a:solidFill>
                <a:latin typeface="Calibri"/>
                <a:ea typeface="Calibri"/>
                <a:cs typeface="Calibri"/>
                <a:sym typeface="Calibri"/>
              </a:rPr>
              <a:t> Attackers trick AI coding assistants into approving malicious Pull Requests on GitHub.</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Worms:</a:t>
            </a:r>
            <a:r>
              <a:rPr lang="en" sz="1100">
                <a:solidFill>
                  <a:schemeClr val="dk1"/>
                </a:solidFill>
                <a:latin typeface="Calibri"/>
                <a:ea typeface="Calibri"/>
                <a:cs typeface="Calibri"/>
                <a:sym typeface="Calibri"/>
              </a:rPr>
              <a:t> "Morris II" concept shows how AI agents can create self-replicating malware that jumps between users via email.</a:t>
            </a:r>
            <a:endParaRPr sz="1100">
              <a:solidFill>
                <a:schemeClr val="dk1"/>
              </a:solidFill>
              <a:latin typeface="Calibri"/>
              <a:ea typeface="Calibri"/>
              <a:cs typeface="Calibri"/>
              <a:sym typeface="Calibri"/>
            </a:endParaRPr>
          </a:p>
        </p:txBody>
      </p:sp>
      <p:sp>
        <p:nvSpPr>
          <p:cNvPr id="104" name="Google Shape;104;p19"/>
          <p:cNvSpPr txBox="1"/>
          <p:nvPr/>
        </p:nvSpPr>
        <p:spPr>
          <a:xfrm>
            <a:off x="55075" y="150477"/>
            <a:ext cx="444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latin typeface="Calibri"/>
                <a:ea typeface="Calibri"/>
                <a:cs typeface="Calibri"/>
                <a:sym typeface="Calibri"/>
                <a:hlinkClick r:id="rId3"/>
              </a:rPr>
              <a:t>https://youtu.be/0ANECpNdt-4</a:t>
            </a:r>
            <a:r>
              <a:rPr lang="en">
                <a:latin typeface="Calibri"/>
                <a:ea typeface="Calibri"/>
                <a:cs typeface="Calibri"/>
                <a:sym typeface="Calibri"/>
              </a:rPr>
              <a:t> </a:t>
            </a: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p:nvPr/>
        </p:nvSpPr>
        <p:spPr>
          <a:xfrm>
            <a:off x="55075" y="20375"/>
            <a:ext cx="88074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39C3 - AI Agent, AI Spy Presenters: Meredith Whittaker &amp; Udbhav Tiwari (Signal)</a:t>
            </a:r>
            <a:endParaRPr sz="2000" b="1" i="0" u="none" strike="noStrike" cap="none">
              <a:solidFill>
                <a:schemeClr val="dk1"/>
              </a:solidFill>
              <a:latin typeface="Calibri"/>
              <a:ea typeface="Calibri"/>
              <a:cs typeface="Calibri"/>
              <a:sym typeface="Calibri"/>
            </a:endParaRPr>
          </a:p>
        </p:txBody>
      </p:sp>
      <p:sp>
        <p:nvSpPr>
          <p:cNvPr id="110" name="Google Shape;110;p20"/>
          <p:cNvSpPr txBox="1"/>
          <p:nvPr/>
        </p:nvSpPr>
        <p:spPr>
          <a:xfrm>
            <a:off x="55075" y="506522"/>
            <a:ext cx="4446900" cy="28080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b="1">
                <a:solidFill>
                  <a:schemeClr val="dk1"/>
                </a:solidFill>
                <a:latin typeface="Calibri"/>
                <a:ea typeface="Calibri"/>
                <a:cs typeface="Calibri"/>
                <a:sym typeface="Calibri"/>
              </a:rPr>
              <a:t>4) The Mathematics of Failure</a:t>
            </a:r>
            <a:endParaRPr sz="1300" b="1">
              <a:solidFill>
                <a:schemeClr val="dk1"/>
              </a:solidFill>
              <a:latin typeface="Calibri"/>
              <a:ea typeface="Calibri"/>
              <a:cs typeface="Calibri"/>
              <a:sym typeface="Calibri"/>
            </a:endParaRPr>
          </a:p>
          <a:p>
            <a:pPr marL="457200" lvl="0" indent="-298450" algn="l" rtl="0">
              <a:lnSpc>
                <a:spcPct val="115000"/>
              </a:lnSpc>
              <a:spcBef>
                <a:spcPts val="400"/>
              </a:spcBef>
              <a:spcAft>
                <a:spcPts val="0"/>
              </a:spcAft>
              <a:buClr>
                <a:schemeClr val="dk1"/>
              </a:buClr>
              <a:buSzPts val="1100"/>
              <a:buChar char="●"/>
            </a:pPr>
            <a:r>
              <a:rPr lang="en" sz="1100" b="1">
                <a:solidFill>
                  <a:schemeClr val="dk1"/>
                </a:solidFill>
                <a:latin typeface="Calibri"/>
                <a:ea typeface="Calibri"/>
                <a:cs typeface="Calibri"/>
                <a:sym typeface="Calibri"/>
              </a:rPr>
              <a:t>Probabilistic vs. Deterministic:</a:t>
            </a:r>
            <a:r>
              <a:rPr lang="en" sz="1100">
                <a:solidFill>
                  <a:schemeClr val="dk1"/>
                </a:solidFill>
                <a:latin typeface="Calibri"/>
                <a:ea typeface="Calibri"/>
                <a:cs typeface="Calibri"/>
                <a:sym typeface="Calibri"/>
              </a:rPr>
              <a:t> Unlike traditional software, AI output is probabilistic. Reliability decays exponentially with complexity.</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The Math:</a:t>
            </a:r>
            <a:r>
              <a:rPr lang="en" sz="1100">
                <a:solidFill>
                  <a:schemeClr val="dk1"/>
                </a:solidFill>
                <a:latin typeface="Calibri"/>
                <a:ea typeface="Calibri"/>
                <a:cs typeface="Calibri"/>
                <a:sym typeface="Calibri"/>
              </a:rPr>
              <a:t> If a model is 95% accurate per step, a 30-step task has only a </a:t>
            </a:r>
            <a:r>
              <a:rPr lang="en" sz="1100" b="1">
                <a:solidFill>
                  <a:schemeClr val="dk1"/>
                </a:solidFill>
                <a:latin typeface="Calibri"/>
                <a:ea typeface="Calibri"/>
                <a:cs typeface="Calibri"/>
                <a:sym typeface="Calibri"/>
              </a:rPr>
              <a:t>~21% success rate</a:t>
            </a:r>
            <a:r>
              <a:rPr lang="en" sz="1100">
                <a:solidFill>
                  <a:schemeClr val="dk1"/>
                </a:solidFill>
                <a:latin typeface="Calibri"/>
                <a:ea typeface="Calibri"/>
                <a:cs typeface="Calibri"/>
                <a:sym typeface="Calibri"/>
              </a:rPr>
              <a:t> ($0.95^{30}$).</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Enterprise Risks:</a:t>
            </a:r>
            <a:r>
              <a:rPr lang="en" sz="1100">
                <a:solidFill>
                  <a:schemeClr val="dk1"/>
                </a:solidFill>
                <a:latin typeface="Calibri"/>
                <a:ea typeface="Calibri"/>
                <a:cs typeface="Calibri"/>
                <a:sym typeface="Calibri"/>
              </a:rPr>
              <a:t> Current models fail ~70% of the time on complex corporate benchmarks, often hallucinating solutions (e.g., renaming employees in a database to make a query "work").</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Economic Pressure:</a:t>
            </a:r>
            <a:r>
              <a:rPr lang="en" sz="1100">
                <a:solidFill>
                  <a:schemeClr val="dk1"/>
                </a:solidFill>
                <a:latin typeface="Calibri"/>
                <a:ea typeface="Calibri"/>
                <a:cs typeface="Calibri"/>
                <a:sym typeface="Calibri"/>
              </a:rPr>
              <a:t> Massive spending (CapEx) with low revenue is driving companies to deploy these unsafe features recklessly to find a market.</a:t>
            </a:r>
            <a:endParaRPr sz="1100">
              <a:solidFill>
                <a:schemeClr val="dk1"/>
              </a:solidFill>
              <a:latin typeface="Calibri"/>
              <a:ea typeface="Calibri"/>
              <a:cs typeface="Calibri"/>
              <a:sym typeface="Calibri"/>
            </a:endParaRPr>
          </a:p>
          <a:p>
            <a:pPr marL="457200" lvl="0" indent="-311150" algn="l" rtl="0">
              <a:lnSpc>
                <a:spcPct val="115000"/>
              </a:lnSpc>
              <a:spcBef>
                <a:spcPts val="0"/>
              </a:spcBef>
              <a:spcAft>
                <a:spcPts val="0"/>
              </a:spcAft>
              <a:buClr>
                <a:schemeClr val="dk1"/>
              </a:buClr>
              <a:buSzPts val="1300"/>
              <a:buFont typeface="Calibri"/>
              <a:buChar char="●"/>
            </a:pPr>
            <a:endParaRPr sz="1300" b="1">
              <a:solidFill>
                <a:schemeClr val="dk1"/>
              </a:solidFill>
              <a:latin typeface="Calibri"/>
              <a:ea typeface="Calibri"/>
              <a:cs typeface="Calibri"/>
              <a:sym typeface="Calibri"/>
            </a:endParaRPr>
          </a:p>
        </p:txBody>
      </p:sp>
      <p:sp>
        <p:nvSpPr>
          <p:cNvPr id="111" name="Google Shape;111;p20"/>
          <p:cNvSpPr txBox="1"/>
          <p:nvPr/>
        </p:nvSpPr>
        <p:spPr>
          <a:xfrm>
            <a:off x="4578775" y="506522"/>
            <a:ext cx="4446900" cy="30903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sz="1300" b="1">
                <a:solidFill>
                  <a:schemeClr val="dk1"/>
                </a:solidFill>
                <a:latin typeface="Calibri"/>
                <a:ea typeface="Calibri"/>
                <a:cs typeface="Calibri"/>
                <a:sym typeface="Calibri"/>
              </a:rPr>
              <a:t>5) "Battlefield Medicine" (Immediate Fixes)</a:t>
            </a:r>
            <a:endParaRPr sz="1300" b="1">
              <a:solidFill>
                <a:schemeClr val="dk1"/>
              </a:solidFill>
              <a:latin typeface="Calibri"/>
              <a:ea typeface="Calibri"/>
              <a:cs typeface="Calibri"/>
              <a:sym typeface="Calibri"/>
            </a:endParaRPr>
          </a:p>
          <a:p>
            <a:pPr marL="457200" lvl="0" indent="-298450" algn="l" rtl="0">
              <a:lnSpc>
                <a:spcPct val="115000"/>
              </a:lnSpc>
              <a:spcBef>
                <a:spcPts val="1200"/>
              </a:spcBef>
              <a:spcAft>
                <a:spcPts val="0"/>
              </a:spcAft>
              <a:buClr>
                <a:schemeClr val="dk1"/>
              </a:buClr>
              <a:buSzPts val="1100"/>
              <a:buChar char="●"/>
            </a:pPr>
            <a:r>
              <a:rPr lang="en" sz="1100" b="1">
                <a:solidFill>
                  <a:schemeClr val="dk1"/>
                </a:solidFill>
                <a:latin typeface="Calibri"/>
                <a:ea typeface="Calibri"/>
                <a:cs typeface="Calibri"/>
                <a:sym typeface="Calibri"/>
              </a:rPr>
              <a:t>1. Stop Reckless Deployment:</a:t>
            </a:r>
            <a:r>
              <a:rPr lang="en" sz="1100">
                <a:solidFill>
                  <a:schemeClr val="dk1"/>
                </a:solidFill>
                <a:latin typeface="Calibri"/>
                <a:ea typeface="Calibri"/>
                <a:cs typeface="Calibri"/>
                <a:sym typeface="Calibri"/>
              </a:rPr>
              <a:t> OS vendors (Microsoft, Apple, Google) must pause the rollout of insecure agentic features.</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2. Developer Opt-In:</a:t>
            </a:r>
            <a:r>
              <a:rPr lang="en" sz="1100">
                <a:solidFill>
                  <a:schemeClr val="dk1"/>
                </a:solidFill>
                <a:latin typeface="Calibri"/>
                <a:ea typeface="Calibri"/>
                <a:cs typeface="Calibri"/>
                <a:sym typeface="Calibri"/>
              </a:rPr>
              <a:t> The default must be </a:t>
            </a:r>
            <a:r>
              <a:rPr lang="en" sz="1100" b="1">
                <a:solidFill>
                  <a:schemeClr val="dk1"/>
                </a:solidFill>
                <a:latin typeface="Calibri"/>
                <a:ea typeface="Calibri"/>
                <a:cs typeface="Calibri"/>
                <a:sym typeface="Calibri"/>
              </a:rPr>
              <a:t>Opt-Out</a:t>
            </a:r>
            <a:r>
              <a:rPr lang="en" sz="1100">
                <a:solidFill>
                  <a:schemeClr val="dk1"/>
                </a:solidFill>
                <a:latin typeface="Calibri"/>
                <a:ea typeface="Calibri"/>
                <a:cs typeface="Calibri"/>
                <a:sym typeface="Calibri"/>
              </a:rPr>
              <a:t>. Agents should only access data from applications that have explicitly signed a manifest allowing it.</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3. User Transparency:</a:t>
            </a:r>
            <a:r>
              <a:rPr lang="en" sz="1100">
                <a:solidFill>
                  <a:schemeClr val="dk1"/>
                </a:solidFill>
                <a:latin typeface="Calibri"/>
                <a:ea typeface="Calibri"/>
                <a:cs typeface="Calibri"/>
                <a:sym typeface="Calibri"/>
              </a:rPr>
              <a:t> Systems must provide real-time, human-readable logs of agent activity (e.g., </a:t>
            </a:r>
            <a:r>
              <a:rPr lang="en" sz="1100" i="1">
                <a:solidFill>
                  <a:schemeClr val="dk1"/>
                </a:solidFill>
                <a:latin typeface="Calibri"/>
                <a:ea typeface="Calibri"/>
                <a:cs typeface="Calibri"/>
                <a:sym typeface="Calibri"/>
              </a:rPr>
              <a:t>"Agent read spreadsheet.xls"</a:t>
            </a:r>
            <a:r>
              <a:rPr lang="en" sz="1100">
                <a:solidFill>
                  <a:schemeClr val="dk1"/>
                </a:solidFill>
                <a:latin typeface="Calibri"/>
                <a:ea typeface="Calibri"/>
                <a:cs typeface="Calibri"/>
                <a:sym typeface="Calibri"/>
              </a:rPr>
              <a:t>, </a:t>
            </a:r>
            <a:r>
              <a:rPr lang="en" sz="1100" i="1">
                <a:solidFill>
                  <a:schemeClr val="dk1"/>
                </a:solidFill>
                <a:latin typeface="Calibri"/>
                <a:ea typeface="Calibri"/>
                <a:cs typeface="Calibri"/>
                <a:sym typeface="Calibri"/>
              </a:rPr>
              <a:t>"Agent sent token to server.com"</a:t>
            </a:r>
            <a:r>
              <a:rPr lang="en" sz="1100">
                <a:solidFill>
                  <a:schemeClr val="dk1"/>
                </a:solidFill>
                <a:latin typeface="Calibri"/>
                <a:ea typeface="Calibri"/>
                <a:cs typeface="Calibri"/>
                <a:sym typeface="Calibri"/>
              </a:rPr>
              <a:t>).</a:t>
            </a:r>
            <a:endParaRPr sz="1100">
              <a:solidFill>
                <a:schemeClr val="dk1"/>
              </a:solidFill>
              <a:latin typeface="Calibri"/>
              <a:ea typeface="Calibri"/>
              <a:cs typeface="Calibri"/>
              <a:sym typeface="Calibri"/>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latin typeface="Calibri"/>
                <a:ea typeface="Calibri"/>
                <a:cs typeface="Calibri"/>
                <a:sym typeface="Calibri"/>
              </a:rPr>
              <a:t>Conclusion:</a:t>
            </a:r>
            <a:r>
              <a:rPr lang="en" sz="1100">
                <a:solidFill>
                  <a:schemeClr val="dk1"/>
                </a:solidFill>
                <a:latin typeface="Calibri"/>
                <a:ea typeface="Calibri"/>
                <a:cs typeface="Calibri"/>
                <a:sym typeface="Calibri"/>
              </a:rPr>
              <a:t> These are temporary "tourniquets." The fundamental tension between privacy/security and the data-hungry nature of AI agents remains unresolved.</a:t>
            </a:r>
            <a:endParaRPr sz="1100">
              <a:solidFill>
                <a:schemeClr val="dk1"/>
              </a:solidFill>
              <a:latin typeface="Calibri"/>
              <a:ea typeface="Calibri"/>
              <a:cs typeface="Calibri"/>
              <a:sym typeface="Calibri"/>
            </a:endParaRPr>
          </a:p>
          <a:p>
            <a:pPr marL="0" lvl="0" indent="0" algn="l" rtl="0">
              <a:lnSpc>
                <a:spcPct val="115000"/>
              </a:lnSpc>
              <a:spcBef>
                <a:spcPts val="1400"/>
              </a:spcBef>
              <a:spcAft>
                <a:spcPts val="400"/>
              </a:spcAft>
              <a:buNone/>
            </a:pPr>
            <a:endParaRPr sz="1300" b="1">
              <a:solidFill>
                <a:schemeClr val="dk1"/>
              </a:solidFill>
              <a:latin typeface="Calibri"/>
              <a:ea typeface="Calibri"/>
              <a:cs typeface="Calibri"/>
              <a:sym typeface="Calibri"/>
            </a:endParaRPr>
          </a:p>
        </p:txBody>
      </p:sp>
      <p:sp>
        <p:nvSpPr>
          <p:cNvPr id="112" name="Google Shape;112;p20"/>
          <p:cNvSpPr txBox="1"/>
          <p:nvPr/>
        </p:nvSpPr>
        <p:spPr>
          <a:xfrm>
            <a:off x="55075" y="150477"/>
            <a:ext cx="4446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solidFill>
                  <a:schemeClr val="hlink"/>
                </a:solidFill>
                <a:latin typeface="Calibri"/>
                <a:ea typeface="Calibri"/>
                <a:cs typeface="Calibri"/>
                <a:sym typeface="Calibri"/>
                <a:hlinkClick r:id="rId3"/>
              </a:rPr>
              <a:t>https://youtu.be/0ANECpNdt-4</a:t>
            </a:r>
            <a:r>
              <a:rPr lang="en">
                <a:latin typeface="Calibri"/>
                <a:ea typeface="Calibri"/>
                <a:cs typeface="Calibri"/>
                <a:sym typeface="Calibri"/>
              </a:rPr>
              <a:t> </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p:nvPr/>
        </p:nvSpPr>
        <p:spPr>
          <a:xfrm>
            <a:off x="55075" y="20375"/>
            <a:ext cx="6369000" cy="280200"/>
          </a:xfrm>
          <a:prstGeom prst="rect">
            <a:avLst/>
          </a:prstGeom>
          <a:noFill/>
          <a:ln>
            <a:noFill/>
          </a:ln>
        </p:spPr>
        <p:txBody>
          <a:bodyPr spcFirstLastPara="1" wrap="square" lIns="9125" tIns="9125" rIns="9125" bIns="9125" anchor="t" anchorCtr="0">
            <a:spAutoFit/>
          </a:bodyPr>
          <a:lstStyle/>
          <a:p>
            <a:pPr marL="0" lvl="0" indent="0" algn="l" rtl="0">
              <a:lnSpc>
                <a:spcPct val="115000"/>
              </a:lnSpc>
              <a:spcBef>
                <a:spcPts val="1800"/>
              </a:spcBef>
              <a:spcAft>
                <a:spcPts val="400"/>
              </a:spcAft>
              <a:buClr>
                <a:schemeClr val="dk1"/>
              </a:buClr>
              <a:buSzPts val="1100"/>
              <a:buFont typeface="Arial"/>
              <a:buNone/>
            </a:pPr>
            <a:r>
              <a:rPr lang="en" sz="1700" b="1">
                <a:solidFill>
                  <a:schemeClr val="dk1"/>
                </a:solidFill>
              </a:rPr>
              <a:t>New York Times reporting on AI in warfare</a:t>
            </a:r>
            <a:endParaRPr sz="2000" b="1" i="0" u="none" strike="noStrike" cap="none">
              <a:solidFill>
                <a:schemeClr val="dk1"/>
              </a:solidFill>
              <a:latin typeface="Calibri"/>
              <a:ea typeface="Calibri"/>
              <a:cs typeface="Calibri"/>
              <a:sym typeface="Calibri"/>
            </a:endParaRPr>
          </a:p>
        </p:txBody>
      </p:sp>
      <p:sp>
        <p:nvSpPr>
          <p:cNvPr id="118" name="Google Shape;118;p21"/>
          <p:cNvSpPr txBox="1"/>
          <p:nvPr/>
        </p:nvSpPr>
        <p:spPr>
          <a:xfrm>
            <a:off x="126977" y="516353"/>
            <a:ext cx="8873400" cy="4166700"/>
          </a:xfrm>
          <a:prstGeom prst="rect">
            <a:avLst/>
          </a:prstGeom>
          <a:solidFill>
            <a:srgbClr val="FFF2CC"/>
          </a:solid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Char char="●"/>
            </a:pPr>
            <a:r>
              <a:rPr lang="en" sz="1100" u="sng">
                <a:solidFill>
                  <a:schemeClr val="hlink"/>
                </a:solidFill>
                <a:hlinkClick r:id="rId3"/>
              </a:rPr>
              <a:t>https://www.nytimes.com/2025/12/31/magazine/ukraine-ai-drones-war-russia.html</a:t>
            </a:r>
            <a:r>
              <a:rPr lang="en" sz="1100">
                <a:solidFill>
                  <a:schemeClr val="dk1"/>
                </a:solidFill>
              </a:rPr>
              <a:t> </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Shift to Autonomy</a:t>
            </a:r>
            <a:r>
              <a:rPr lang="en" sz="1100">
                <a:solidFill>
                  <a:schemeClr val="dk1"/>
                </a:solidFill>
              </a:rPr>
              <a:t>: To counter intense Russian electronic jamming (EW) that severs pilot connections, Ukraine is deploying AI-piloted drones like the </a:t>
            </a:r>
            <a:r>
              <a:rPr lang="en" sz="1100" i="1">
                <a:solidFill>
                  <a:schemeClr val="dk1"/>
                </a:solidFill>
              </a:rPr>
              <a:t>Bumblebee</a:t>
            </a:r>
            <a:r>
              <a:rPr lang="en" sz="1100">
                <a:solidFill>
                  <a:schemeClr val="dk1"/>
                </a:solidFill>
              </a:rPr>
              <a:t> and modules like </a:t>
            </a:r>
            <a:r>
              <a:rPr lang="en" sz="1100" i="1">
                <a:solidFill>
                  <a:schemeClr val="dk1"/>
                </a:solidFill>
              </a:rPr>
              <a:t>Underdog</a:t>
            </a:r>
            <a:r>
              <a:rPr lang="en" sz="1100">
                <a:solidFill>
                  <a:schemeClr val="dk1"/>
                </a:solidFill>
              </a:rPr>
              <a:t>. These systems autonomously lock onto targets ("pixel lock") and execute strikes without human input in the final seconds.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The "War Lab" Ecosystem</a:t>
            </a:r>
            <a:r>
              <a:rPr lang="en" sz="1100">
                <a:solidFill>
                  <a:schemeClr val="dk1"/>
                </a:solidFill>
              </a:rPr>
              <a:t>: The battlefield has evolved into a live-fire test range where Western tech figures (e.g., </a:t>
            </a:r>
            <a:r>
              <a:rPr lang="en" sz="1100" b="1" i="1">
                <a:solidFill>
                  <a:schemeClr val="dk1"/>
                </a:solidFill>
              </a:rPr>
              <a:t>Eric Schmidt</a:t>
            </a:r>
            <a:r>
              <a:rPr lang="en" sz="1100">
                <a:solidFill>
                  <a:schemeClr val="dk1"/>
                </a:solidFill>
              </a:rPr>
              <a:t>) and Ukrainian startups (e.g., NORDA Dynamics, Sine Engineering) collaborate to automate the "kill chain," turning commercial tech into lethal weapons.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Emerging Capabilities</a:t>
            </a:r>
            <a:r>
              <a:rPr lang="en" sz="1100">
                <a:solidFill>
                  <a:schemeClr val="dk1"/>
                </a:solidFill>
              </a:rPr>
              <a:t>:</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Visual Navigation</a:t>
            </a:r>
            <a:r>
              <a:rPr lang="en" sz="1100">
                <a:solidFill>
                  <a:schemeClr val="dk1"/>
                </a:solidFill>
              </a:rPr>
              <a:t>: New "visual positioning systems" (V.P.S.) allow deep-strike drones to navigate using onboard cameras and 3D maps, rendering them immune to GPS jamming and spoofing.</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b="1">
                <a:solidFill>
                  <a:schemeClr val="dk1"/>
                </a:solidFill>
              </a:rPr>
              <a:t>Swarm Technology</a:t>
            </a:r>
            <a:r>
              <a:rPr lang="en" sz="1100">
                <a:solidFill>
                  <a:schemeClr val="dk1"/>
                </a:solidFill>
              </a:rPr>
              <a:t>: Systems like </a:t>
            </a:r>
            <a:r>
              <a:rPr lang="en" sz="1100" i="1">
                <a:solidFill>
                  <a:schemeClr val="dk1"/>
                </a:solidFill>
              </a:rPr>
              <a:t>Pasika</a:t>
            </a:r>
            <a:r>
              <a:rPr lang="en" sz="1100">
                <a:solidFill>
                  <a:schemeClr val="dk1"/>
                </a:solidFill>
              </a:rPr>
              <a:t> enable a single pilot to manage multiple drones simultaneously, allowing for coordinated, massed attacks that overwhelm defenses.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Strategic Asymmetry</a:t>
            </a:r>
            <a:r>
              <a:rPr lang="en" sz="1100">
                <a:solidFill>
                  <a:schemeClr val="dk1"/>
                </a:solidFill>
              </a:rPr>
              <a:t>: Inexpensive, AI-enhanced drones are destroying Russian heavy armor and air defense systems worth millions, creating a "kill zone" that challenges the viability of traditional military infrastructure.</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 sz="1100" b="1">
                <a:solidFill>
                  <a:schemeClr val="dk1"/>
                </a:solidFill>
              </a:rPr>
              <a:t>Ethical Concerns</a:t>
            </a:r>
            <a:r>
              <a:rPr lang="en" sz="1100">
                <a:solidFill>
                  <a:schemeClr val="dk1"/>
                </a:solidFill>
              </a:rPr>
              <a:t>: The conflict has crossed a "moral line" into the era of "killer robots," with experts warning that machines—unable to understand morality—are now deciding who lives and dies on the battlefield.</a:t>
            </a:r>
            <a:endParaRPr sz="1100">
              <a:solidFill>
                <a:schemeClr val="dk1"/>
              </a:solidFill>
            </a:endParaRPr>
          </a:p>
          <a:p>
            <a:pPr marL="0" lvl="0" indent="0" algn="l" rtl="0">
              <a:lnSpc>
                <a:spcPct val="115000"/>
              </a:lnSpc>
              <a:spcBef>
                <a:spcPts val="1200"/>
              </a:spcBef>
              <a:spcAft>
                <a:spcPts val="0"/>
              </a:spcAft>
              <a:buNone/>
            </a:pPr>
            <a:r>
              <a:rPr lang="en" sz="1100" u="sng">
                <a:solidFill>
                  <a:schemeClr val="hlink"/>
                </a:solidFill>
                <a:hlinkClick r:id="rId4"/>
              </a:rPr>
              <a:t>AI-enabled war drones the new weapon for Ukraine</a:t>
            </a:r>
            <a:endParaRPr sz="1100" u="sng">
              <a:solidFill>
                <a:schemeClr val="hlink"/>
              </a:solidFill>
            </a:endParaRPr>
          </a:p>
          <a:p>
            <a:pPr marL="0" lvl="0" indent="0" algn="l" rtl="0">
              <a:lnSpc>
                <a:spcPct val="115000"/>
              </a:lnSpc>
              <a:spcBef>
                <a:spcPts val="1200"/>
              </a:spcBef>
              <a:spcAft>
                <a:spcPts val="1200"/>
              </a:spcAft>
              <a:buNone/>
            </a:pPr>
            <a:r>
              <a:rPr lang="en" sz="1100">
                <a:solidFill>
                  <a:schemeClr val="dk1"/>
                </a:solidFill>
              </a:rPr>
              <a:t>This video from Reuters provides visual context on the development and testing of the AI-enabled drone technologies discussed in the article.</a:t>
            </a:r>
            <a:endParaRPr sz="1100" b="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1660</Words>
  <Application>Microsoft Macintosh PowerPoint</Application>
  <PresentationFormat>On-screen Show (16:9)</PresentationFormat>
  <Paragraphs>90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2026-01-02T22:41:31Z</dcterms:modified>
</cp:coreProperties>
</file>