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embeddedFontLst>
    <p:embeddedFont>
      <p:font typeface="Roboto Mono" pitchFamily="49" charset="0"/>
      <p:regular r:id="rId43"/>
      <p:bold r:id="rId44"/>
      <p:italic r:id="rId45"/>
      <p:boldItalic r:id="rId46"/>
    </p:embeddedFont>
    <p:embeddedFont>
      <p:font typeface="Victor Mono" panose="02000009000000000000" pitchFamily="49"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8C84DF0-BD2D-4B59-A802-8F4F3CB9B279}">
  <a:tblStyle styleId="{A8C84DF0-BD2D-4B59-A802-8F4F3CB9B27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3f579bdb6f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 name="Google Shape;72;g3f579bdb6fa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f579bdb6fa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f579bdb6fa_0_7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694e9802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8" name="Google Shape;98;g3f694e9802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f6f941737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7" name="Google Shape;107;g3f6f941737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f6cec9abc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f6cec9ab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f6d7172f2e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g3f6d7172f2e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f53f4676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f53f4676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f6da666c71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3f6da666c71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99f3d4f4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g3f99f3d4f4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f6e5513c93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f6e5513c93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f69524bb7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f69524bb7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f6da666c71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f6da666c71_0_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f6da666c71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3f6da666c71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f6dc02fc76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f6dc02fc76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f6d7172f2e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f6d7172f2e_0_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69524bb7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9" name="Google Shape;219;g3f69524bb7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f697496b6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g3f697496b6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f6cec9abcd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g3f6cec9abcd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f6dc02fc76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3" name="Google Shape;243;g3f6dc02fc76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f6c7d705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0" name="Google Shape;250;g3f6c7d705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f6e9965b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g3f6e9965b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f6e9965bb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g3f6e9965bba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f6d417c80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f6d417c80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f6da666c71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f6da666c71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f6ed284d9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3f6ed284d9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3f6ed284d9c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0" name="Google Shape;300;g3f6ed284d9c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3f99fa01d0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g3f99fa01d0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f6ed284d9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3" name="Google Shape;323;g3f6ed284d9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g3f99fa01d00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1" name="Google Shape;331;g3f99fa01d00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f6ed284d9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8" name="Google Shape;338;g3f6ed284d9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f99fa01d00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g3f99fa01d00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3f99fa01d00_1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7" name="Google Shape;357;g3f99fa01d00_1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g3f6ed284d9c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4" name="Google Shape;364;g3f6ed284d9c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3f99fa01d00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2" name="Google Shape;372;g3f99fa01d00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f6ed284d9c_1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9" name="Google Shape;379;g3f6ed284d9c_1_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3f684a69e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6" name="Google Shape;386;g3f684a69eb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3f579bdb6fa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g3f579bdb6fa_0_1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5" name="Google Shape;405;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5" name="Google Shape;415;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claude-opus-4-8-thinking" TargetMode="External"/><Relationship Id="rId18" Type="http://schemas.openxmlformats.org/officeDocument/2006/relationships/hyperlink" Target="https://arena.ai/leaderboard/model/qwen3.8-max" TargetMode="External"/><Relationship Id="rId26" Type="http://schemas.openxmlformats.org/officeDocument/2006/relationships/hyperlink" Target="https://arena.ai/leaderboard/model/gemini-3.6-flash" TargetMode="External"/><Relationship Id="rId21" Type="http://schemas.openxmlformats.org/officeDocument/2006/relationships/hyperlink" Target="https://arena.ai/leaderboard/model/muse-spark" TargetMode="External"/><Relationship Id="rId34" Type="http://schemas.openxmlformats.org/officeDocument/2006/relationships/hyperlink" Target="https://arena.ai/leaderboard/model/gemini-3.5-flash-high" TargetMode="External"/><Relationship Id="rId7" Type="http://schemas.openxmlformats.org/officeDocument/2006/relationships/hyperlink" Target="https://arena.ai/leaderboard/model/claude-opus-4-7-thinking" TargetMode="External"/><Relationship Id="rId12" Type="http://schemas.openxmlformats.org/officeDocument/2006/relationships/hyperlink" Target="https://arena.ai/leaderboard/model/muse-spark-1.2%20%28xHigh%29" TargetMode="External"/><Relationship Id="rId17" Type="http://schemas.openxmlformats.org/officeDocument/2006/relationships/hyperlink" Target="https://arena.ai/leaderboard/model/claude-opus-5-max" TargetMode="External"/><Relationship Id="rId25" Type="http://schemas.openxmlformats.org/officeDocument/2006/relationships/hyperlink" Target="https://arena.ai/leaderboard/model/claude-opus-4-5-20251101" TargetMode="External"/><Relationship Id="rId33" Type="http://schemas.openxmlformats.org/officeDocument/2006/relationships/hyperlink" Target="https://arena.ai/leaderboard/model/gpt-5.5-high" TargetMode="External"/><Relationship Id="rId38" Type="http://schemas.openxmlformats.org/officeDocument/2006/relationships/hyperlink" Target="https://arena.ai/leaderboard/model/gemini-3.5-flash-medium"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5-20251101-thinking-32k" TargetMode="External"/><Relationship Id="rId20" Type="http://schemas.openxmlformats.org/officeDocument/2006/relationships/hyperlink" Target="https://arena.ai/leaderboard/model/gpt-5.6-sol-xhigh" TargetMode="External"/><Relationship Id="rId29" Type="http://schemas.openxmlformats.org/officeDocument/2006/relationships/hyperlink" Target="https://arena.ai/leaderboard/model/grok-4.5"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 TargetMode="External"/><Relationship Id="rId11" Type="http://schemas.openxmlformats.org/officeDocument/2006/relationships/hyperlink" Target="https://arena.ai/leaderboard/model/kimi-k3-max" TargetMode="External"/><Relationship Id="rId24" Type="http://schemas.openxmlformats.org/officeDocument/2006/relationships/hyperlink" Target="https://arena.ai/leaderboard/model/claude-sonnet-5-high" TargetMode="External"/><Relationship Id="rId32" Type="http://schemas.openxmlformats.org/officeDocument/2006/relationships/hyperlink" Target="https://arena.ai/leaderboard/model/gemini-3-pro" TargetMode="External"/><Relationship Id="rId37" Type="http://schemas.openxmlformats.org/officeDocument/2006/relationships/hyperlink" Target="https://arena.ai/leaderboard/model/grok-4.20-beta1"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muse-spark-1.1" TargetMode="External"/><Relationship Id="rId23" Type="http://schemas.openxmlformats.org/officeDocument/2006/relationships/hyperlink" Target="https://arena.ai/leaderboard/model/qwen3.7-max-preview" TargetMode="External"/><Relationship Id="rId28" Type="http://schemas.openxmlformats.org/officeDocument/2006/relationships/hyperlink" Target="https://arena.ai/leaderboard/model/gpt-5.4-high" TargetMode="External"/><Relationship Id="rId36" Type="http://schemas.openxmlformats.org/officeDocument/2006/relationships/hyperlink" Target="https://arena.ai/leaderboard/model/gpt-5.2-chat-latest-20260210"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sonnet-4-6" TargetMode="External"/><Relationship Id="rId31" Type="http://schemas.openxmlformats.org/officeDocument/2006/relationships/hyperlink" Target="https://arena.ai/leaderboard/model/inkling-small"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claude-opus-5-high" TargetMode="External"/><Relationship Id="rId22" Type="http://schemas.openxmlformats.org/officeDocument/2006/relationships/hyperlink" Target="https://arena.ai/leaderboard/model/claude-opus-4-8" TargetMode="External"/><Relationship Id="rId27" Type="http://schemas.openxmlformats.org/officeDocument/2006/relationships/hyperlink" Target="https://arena.ai/leaderboard/model/gemini-3.1-pro-preview"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 TargetMode="External"/><Relationship Id="rId8" Type="http://schemas.openxmlformats.org/officeDocument/2006/relationships/hyperlink" Target="https://arena.ai/leaderboard/model/claude-opus-4-6-thinking"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youtube.com/watch?v=nxr20lcqagg" TargetMode="External"/><Relationship Id="rId5" Type="http://schemas.openxmlformats.org/officeDocument/2006/relationships/hyperlink" Target="https://artificialanalysis.ai/evaluations/artificial-analysis-intelligence-index" TargetMode="External"/><Relationship Id="rId4" Type="http://schemas.openxmlformats.org/officeDocument/2006/relationships/hyperlink" Target="https://artificialanalysis.ai"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eveloper.meta.com/ai/models/muse-glimmer/" TargetMode="External"/><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www.youtube.com/watch?v=o67QQr5vxvE" TargetMode="External"/><Relationship Id="rId5" Type="http://schemas.openxmlformats.org/officeDocument/2006/relationships/hyperlink" Target="https://x.com/ollama/status/2086781863490994267" TargetMode="External"/><Relationship Id="rId4" Type="http://schemas.openxmlformats.org/officeDocument/2006/relationships/hyperlink" Target="https://ollama.com/blog/muse-glimmer"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x.ai/news/grok-4-6" TargetMode="External"/><Relationship Id="rId7"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VQqxMITWABU" TargetMode="External"/><Relationship Id="rId5" Type="http://schemas.openxmlformats.org/officeDocument/2006/relationships/hyperlink" Target="https://artificialanalysis.ai/articles/grok-4-6-benchmarks-and-analysis" TargetMode="External"/><Relationship Id="rId4" Type="http://schemas.openxmlformats.org/officeDocument/2006/relationships/hyperlink" Target="https://github.com/xai-org" TargetMode="External"/><Relationship Id="rId9"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https://www.discoveryloop.com" TargetMode="External"/><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3.jpe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6L6qG_safRY" TargetMode="External"/><Relationship Id="rId5" Type="http://schemas.openxmlformats.org/officeDocument/2006/relationships/hyperlink" Target="https://x.com/ClaudeDevs/status/2085817074816070014" TargetMode="External"/><Relationship Id="rId4" Type="http://schemas.openxmlformats.org/officeDocument/2006/relationships/hyperlink" Target="https://code.claude.com/docs/en/cross-session-messaging"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NousResearch/hermes-agent" TargetMode="External"/><Relationship Id="rId3" Type="http://schemas.openxmlformats.org/officeDocument/2006/relationships/hyperlink" Target="https://grok.com/imagine" TargetMode="External"/><Relationship Id="rId7" Type="http://schemas.openxmlformats.org/officeDocument/2006/relationships/hyperlink" Target="https://hermes-agent.nousresearch.com"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hyperlink" Target="https://x.com/grok/status/2085931542262526102" TargetMode="External"/><Relationship Id="rId10" Type="http://schemas.openxmlformats.org/officeDocument/2006/relationships/image" Target="../media/image18.png"/><Relationship Id="rId4" Type="http://schemas.openxmlformats.org/officeDocument/2006/relationships/hyperlink" Target="https://github.com/xai-org/xai-sdk-python" TargetMode="External"/><Relationship Id="rId9" Type="http://schemas.openxmlformats.org/officeDocument/2006/relationships/hyperlink" Target="https://x.com/NousResearch/status/2086881660658663469"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www.youtube.com/watch?v=mZM-J7XK5Aw" TargetMode="External"/><Relationship Id="rId3" Type="http://schemas.openxmlformats.org/officeDocument/2006/relationships/image" Target="../media/image19.png"/><Relationship Id="rId7" Type="http://schemas.openxmlformats.org/officeDocument/2006/relationships/hyperlink" Target="https://www.youtube.com/watch?v=QTcZPI-g7i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x.ai/news/introducing-grok-bot" TargetMode="External"/><Relationship Id="rId5" Type="http://schemas.openxmlformats.org/officeDocument/2006/relationships/hyperlink" Target="https://github.com/xai-org/grok-build" TargetMode="External"/><Relationship Id="rId4" Type="http://schemas.openxmlformats.org/officeDocument/2006/relationships/hyperlink" Target="https://x.ai/bot"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eveloper.nvidia.com/blog/nvidia-nemotron-3-5-lightning-delivers-fast-accurate-specialized-task-execution-for-long-running-agents/"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2.jpeg"/><Relationship Id="rId3" Type="http://schemas.openxmlformats.org/officeDocument/2006/relationships/hyperlink" Target="https://coldcard.com" TargetMode="External"/><Relationship Id="rId7" Type="http://schemas.openxmlformats.org/officeDocument/2006/relationships/hyperlink" Target="https://www.cbc.ca/player/play/video/9.7296534" TargetMode="External"/><Relationship Id="rId12" Type="http://schemas.openxmlformats.org/officeDocument/2006/relationships/hyperlink" Target="https://www.youtube.com/watch?v=UGCZCrFJ-Y0"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blog.coinkite.com/coldcard-mk3-seed-generation-warning/" TargetMode="External"/><Relationship Id="rId11" Type="http://schemas.openxmlformats.org/officeDocument/2006/relationships/hyperlink" Target="https://agricidaniel.com/blog/claude-obsidian-ai-second-brain" TargetMode="External"/><Relationship Id="rId5" Type="http://schemas.openxmlformats.org/officeDocument/2006/relationships/hyperlink" Target="https://www.cbc.ca/news/world/bitcoin-coinkite-security-hack-9.7295582" TargetMode="External"/><Relationship Id="rId10" Type="http://schemas.openxmlformats.org/officeDocument/2006/relationships/hyperlink" Target="https://github.com/AgriciDaniel/claude-obsidian" TargetMode="External"/><Relationship Id="rId4" Type="http://schemas.openxmlformats.org/officeDocument/2006/relationships/hyperlink" Target="https://github.com/Coldcard/firmware" TargetMode="External"/><Relationship Id="rId9" Type="http://schemas.openxmlformats.org/officeDocument/2006/relationships/hyperlink" Target="https://obsidian.md"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primeintellect.ai" TargetMode="External"/><Relationship Id="rId7" Type="http://schemas.openxmlformats.org/officeDocument/2006/relationships/hyperlink" Target="https://www.youtube.com/watch?v=uY9tMU-KS4A"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hyperlink" Target="https://www.primeintellect.ai/blog/recursive-language-models" TargetMode="External"/><Relationship Id="rId5" Type="http://schemas.openxmlformats.org/officeDocument/2006/relationships/hyperlink" Target="https://www.primeintellect.ai/blog/prime-agent" TargetMode="External"/><Relationship Id="rId10" Type="http://schemas.openxmlformats.org/officeDocument/2006/relationships/image" Target="../media/image24.png"/><Relationship Id="rId4" Type="http://schemas.openxmlformats.org/officeDocument/2006/relationships/hyperlink" Target="https://github.com/PrimeIntellect-ai/prime-agent" TargetMode="External"/><Relationship Id="rId9" Type="http://schemas.openxmlformats.org/officeDocument/2006/relationships/hyperlink" Target="https://github.com/nousresearch/hermes-agent"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github.com/mshumer/Claude-of-Duty" TargetMode="External"/><Relationship Id="rId3" Type="http://schemas.openxmlformats.org/officeDocument/2006/relationships/hyperlink" Target="https://x.com/mattshumer_/status/2081830214384886228" TargetMode="External"/><Relationship Id="rId7" Type="http://schemas.openxmlformats.org/officeDocument/2006/relationships/hyperlink" Target="https://somethingbig.a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ww.youtube.com/watch?v=XTONeqPuh_4" TargetMode="External"/><Relationship Id="rId5" Type="http://schemas.openxmlformats.org/officeDocument/2006/relationships/hyperlink" Target="https://somethingbig.ai/gauntlet-loop" TargetMode="External"/><Relationship Id="rId10" Type="http://schemas.openxmlformats.org/officeDocument/2006/relationships/image" Target="../media/image26.png"/><Relationship Id="rId4" Type="http://schemas.openxmlformats.org/officeDocument/2006/relationships/hyperlink" Target="https://x.com/mattshumer_/status/2081830741436928208" TargetMode="External"/><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arxiv.org/abs/2608.02276" TargetMode="External"/><Relationship Id="rId7"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youtube.com/watch?v=mYx3r8YA-HY" TargetMode="External"/><Relationship Id="rId5" Type="http://schemas.openxmlformats.org/officeDocument/2006/relationships/hyperlink" Target="https://x.com/alex_verem/status/2084986586496954648" TargetMode="External"/><Relationship Id="rId4" Type="http://schemas.openxmlformats.org/officeDocument/2006/relationships/hyperlink" Target="https://github.com/DeepExperience/Harness-R1"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hyperlink" Target="https://about.fb.com/news/2026/08/the-future-is-for-everyone/" TargetMode="External"/><Relationship Id="rId7" Type="http://schemas.openxmlformats.org/officeDocument/2006/relationships/image" Target="../media/image29.jpe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www.facebook.com/FoxBusiness/videos/new-meta-founder-and-ceo-mark-zuckerberg-outlining-his-ai-vision-for-a-world-whe/1331806370010628/" TargetMode="External"/><Relationship Id="rId5" Type="http://schemas.openxmlformats.org/officeDocument/2006/relationships/hyperlink" Target="https://www.facebook.com/zuck/posts/i-wrote-about-why-we-believe-the-future-is-for-everyone-more-coming-about-a-posi/10117806351954741/" TargetMode="External"/><Relationship Id="rId4" Type="http://schemas.openxmlformats.org/officeDocument/2006/relationships/hyperlink" Target="https://www.theverge.com/tech/977395/meta-mark-zuckerberg-superintelligent-ai-ramble"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www.youtube.com/watch?v=lJIW8TaAxLo" TargetMode="External"/><Relationship Id="rId3" Type="http://schemas.openxmlformats.org/officeDocument/2006/relationships/hyperlink" Target="https://www.youtube.com/watch?v=NP8oGdiu8dQ" TargetMode="External"/><Relationship Id="rId7" Type="http://schemas.openxmlformats.org/officeDocument/2006/relationships/hyperlink" Target="https://arxiv.org/abs/1812.11118"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pnas.org/doi/10.1073/pnas.1903070116" TargetMode="External"/><Relationship Id="rId5" Type="http://schemas.openxmlformats.org/officeDocument/2006/relationships/hyperlink" Target="https://github.com/josch14/double-descent" TargetMode="External"/><Relationship Id="rId10" Type="http://schemas.openxmlformats.org/officeDocument/2006/relationships/image" Target="../media/image32.jpeg"/><Relationship Id="rId4" Type="http://schemas.openxmlformats.org/officeDocument/2006/relationships/hyperlink" Target="https://mlu-explain.github.io/double-descent/" TargetMode="External"/><Relationship Id="rId9" Type="http://schemas.openxmlformats.org/officeDocument/2006/relationships/image" Target="../media/image31.png"/></Relationships>
</file>

<file path=ppt/slides/_rels/slide1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cmux.com" TargetMode="External"/><Relationship Id="rId7" Type="http://schemas.openxmlformats.org/officeDocument/2006/relationships/hyperlink" Target="https://www.youtube.com/watch?v=bGXagNWlk74"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combinator.com/launches/PbB-cmux-the-open-source-terminal-built-for-coding-agents" TargetMode="External"/><Relationship Id="rId5" Type="http://schemas.openxmlformats.org/officeDocument/2006/relationships/hyperlink" Target="https://betterstack.com/community/guides/ai/cmux-terminal/" TargetMode="External"/><Relationship Id="rId4" Type="http://schemas.openxmlformats.org/officeDocument/2006/relationships/hyperlink" Target="https://github.com/manaflow-ai/cmux"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hyperlink" Target="https://apps.apple.com/us/app/stella-manifest-anything/id6757347283" TargetMode="External"/><Relationship Id="rId7" Type="http://schemas.openxmlformats.org/officeDocument/2006/relationships/hyperlink" Target="https://www.stork.ai/blog/this-ai-app-makes-300kmonth"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youtube.com/watch?v=Eg93po_DAYo" TargetMode="External"/><Relationship Id="rId5" Type="http://schemas.openxmlformats.org/officeDocument/2006/relationships/hyperlink" Target="https://www.instagram.com/reel/DUwVfllDjNJ/" TargetMode="External"/><Relationship Id="rId4" Type="http://schemas.openxmlformats.org/officeDocument/2006/relationships/hyperlink" Target="https://medium.com/@yumaueno/she-had-never-written-a-line-of-code-two-months-later-her-app-was-making-300-000-a-month-888c37439bbd" TargetMode="External"/><Relationship Id="rId9" Type="http://schemas.openxmlformats.org/officeDocument/2006/relationships/image" Target="../media/image35.png"/></Relationships>
</file>

<file path=ppt/slides/_rels/slide20.xml.rels><?xml version="1.0" encoding="UTF-8" standalone="yes"?>
<Relationships xmlns="http://schemas.openxmlformats.org/package/2006/relationships"><Relationship Id="rId3" Type="http://schemas.openxmlformats.org/officeDocument/2006/relationships/hyperlink" Target="https://www.veed.io" TargetMode="External"/><Relationship Id="rId7"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www.youtube.com/watch?v=fNM6zU6cMKY" TargetMode="External"/><Relationship Id="rId5" Type="http://schemas.openxmlformats.org/officeDocument/2006/relationships/hyperlink" Target="https://www.veed.io/tools/ai-video" TargetMode="External"/><Relationship Id="rId4" Type="http://schemas.openxmlformats.org/officeDocument/2006/relationships/hyperlink" Target="https://github.com/veedstudio"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hyperlink" Target="https://med.stanford.edu/cancer/about/news/inside-the-virtual-lab--how-ai-scientists-are-accelerating-disco.html" TargetMode="External"/><Relationship Id="rId7" Type="http://schemas.openxmlformats.org/officeDocument/2006/relationships/hyperlink" Target="https://www.youtube.com/watch?v=jd3zHAw_S4Y"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www.linkedin.com/posts/james-zou-2123a4133_introducing-the-virtual-biotech-our-vision-activity-7433227674992517120-SOBt" TargetMode="External"/><Relationship Id="rId5" Type="http://schemas.openxmlformats.org/officeDocument/2006/relationships/hyperlink" Target="https://venturebeat.com/orchestration/stanford-is-running-37-000-ai-agents-as-a-virtual-biotech-and-one-of-its-drug-designs-got-independently-confirmed-by-merck" TargetMode="External"/><Relationship Id="rId4" Type="http://schemas.openxmlformats.org/officeDocument/2006/relationships/hyperlink" Target="https://github.com/zou-group/virtual-lab"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blog.bytebytego.com/p/github-vs-vercel-vs-replit-what-dev" TargetMode="External"/><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hyperlink" Target="https://www.youtube.com/watch?v=8a4_AAds0vU"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diamandis.com"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2.jpeg"/><Relationship Id="rId5" Type="http://schemas.openxmlformats.org/officeDocument/2006/relationships/image" Target="../media/image41.jpeg"/><Relationship Id="rId4" Type="http://schemas.openxmlformats.org/officeDocument/2006/relationships/hyperlink" Target="https://metatrends.substack.com/p/auto-magical-living"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hyperlink" Target="https://uvicorn.dev" TargetMode="External"/><Relationship Id="rId7" Type="http://schemas.openxmlformats.org/officeDocument/2006/relationships/hyperlink" Target="https://talkpython.fm/books/python-in-production/chapter-6-running-on-rust"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fastapi.tiangolo.com/deployment/manually/" TargetMode="External"/><Relationship Id="rId5" Type="http://schemas.openxmlformats.org/officeDocument/2006/relationships/hyperlink" Target="https://github.com/emmett-framework/granian" TargetMode="External"/><Relationship Id="rId4" Type="http://schemas.openxmlformats.org/officeDocument/2006/relationships/hyperlink" Target="https://github.com/Kludex/uvicorn" TargetMode="External"/><Relationship Id="rId9" Type="http://schemas.openxmlformats.org/officeDocument/2006/relationships/image" Target="../media/image44.png"/></Relationships>
</file>

<file path=ppt/slides/_rels/slide2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hyperlink" Target="https://langchain-ai.github.io/langgraph/" TargetMode="External"/><Relationship Id="rId7" Type="http://schemas.openxmlformats.org/officeDocument/2006/relationships/hyperlink" Target="https://www.youtube.com/@LangChain"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www.blog.langchain.com/making-it-easier-to-build-human-in-the-loop-agents-with-interrupt/" TargetMode="External"/><Relationship Id="rId5" Type="http://schemas.openxmlformats.org/officeDocument/2006/relationships/hyperlink" Target="https://docs.langchain.com/oss/python/langgraph/overview" TargetMode="External"/><Relationship Id="rId4" Type="http://schemas.openxmlformats.org/officeDocument/2006/relationships/hyperlink" Target="https://github.com/langchain-ai/langgraph" TargetMode="External"/><Relationship Id="rId9"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8D8ewFBJfFM"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49.png"/><Relationship Id="rId3" Type="http://schemas.openxmlformats.org/officeDocument/2006/relationships/hyperlink" Target="https://www.youtube.com/watch?v=eMPWBunaOic" TargetMode="External"/><Relationship Id="rId7" Type="http://schemas.openxmlformats.org/officeDocument/2006/relationships/hyperlink" Target="https://x.com/karpathy/status/2079610838143623371" TargetMode="External"/><Relationship Id="rId12" Type="http://schemas.openxmlformats.org/officeDocument/2006/relationships/hyperlink" Target="https://www.youtube.com/watch?v=H50xoAzNfB0"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platform.claude.com/docs/en/build-with-claude/prompt-engineering/claude-prompting-best-practices" TargetMode="External"/><Relationship Id="rId11" Type="http://schemas.openxmlformats.org/officeDocument/2006/relationships/hyperlink" Target="https://hkinsley.com/reflections/right-harness-is-all-you-need" TargetMode="External"/><Relationship Id="rId5" Type="http://schemas.openxmlformats.org/officeDocument/2006/relationships/hyperlink" Target="https://github.com/karpathy" TargetMode="External"/><Relationship Id="rId10" Type="http://schemas.openxmlformats.org/officeDocument/2006/relationships/hyperlink" Target="https://github.com/can1357/oh-my-pi" TargetMode="External"/><Relationship Id="rId4" Type="http://schemas.openxmlformats.org/officeDocument/2006/relationships/hyperlink" Target="https://karpathy.ai" TargetMode="External"/><Relationship Id="rId9" Type="http://schemas.openxmlformats.org/officeDocument/2006/relationships/hyperlink" Target="https://omp.sh" TargetMode="External"/></Relationships>
</file>

<file path=ppt/slides/_rels/slide28.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hyperlink" Target="https://www.blender.org" TargetMode="External"/><Relationship Id="rId7" Type="http://schemas.openxmlformats.org/officeDocument/2006/relationships/hyperlink" Target="https://www.youtube.com/watch?v=yzfcT6uK8LE&amp;list=PLDPt06O8IMpMygx5Xk9yn5C-ZT8vqElEB"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www.youtube.com/@sketchedwealth/shorts" TargetMode="External"/><Relationship Id="rId5" Type="http://schemas.openxmlformats.org/officeDocument/2006/relationships/hyperlink" Target="https://www.youtube.com/shorts/dLLCr_N-WPM" TargetMode="External"/><Relationship Id="rId10" Type="http://schemas.openxmlformats.org/officeDocument/2006/relationships/image" Target="../media/image52.png"/><Relationship Id="rId4" Type="http://schemas.openxmlformats.org/officeDocument/2006/relationships/hyperlink" Target="https://www.youtube.com/watch?v=xBLGsYLwgks" TargetMode="External"/><Relationship Id="rId9" Type="http://schemas.openxmlformats.org/officeDocument/2006/relationships/image" Target="../media/image51.png"/></Relationships>
</file>

<file path=ppt/slides/_rels/slide29.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hyperlink" Target="https://www.minimax.io" TargetMode="External"/><Relationship Id="rId7" Type="http://schemas.openxmlformats.org/officeDocument/2006/relationships/hyperlink" Target="https://www.youtube.com/watch?v=rlqBbtQFEro"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hyperlink" Target="https://agent.minimax.io/docs/changelog" TargetMode="External"/><Relationship Id="rId5" Type="http://schemas.openxmlformats.org/officeDocument/2006/relationships/hyperlink" Target="https://alphasignal.ai/news/minimax-rebuilds-code-2-0-on-pi-agent-slashing-latency-by-90" TargetMode="External"/><Relationship Id="rId4" Type="http://schemas.openxmlformats.org/officeDocument/2006/relationships/hyperlink" Target="https://github.com/badlogic/pi-mono" TargetMode="External"/><Relationship Id="rId9" Type="http://schemas.openxmlformats.org/officeDocument/2006/relationships/image" Target="../media/image54.png"/></Relationships>
</file>

<file path=ppt/slides/_rels/slide30.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hyperlink" Target="https://huggingface.co/inclusionAI/Ling-3.0-tiny" TargetMode="External"/><Relationship Id="rId7" Type="http://schemas.openxmlformats.org/officeDocument/2006/relationships/hyperlink" Target="https://www.youtube.com/watch?v=XDhqIsRwV7M"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x.com/AntLingAGI/status/2085432364189335884" TargetMode="External"/><Relationship Id="rId5" Type="http://schemas.openxmlformats.org/officeDocument/2006/relationships/hyperlink" Target="https://eu.36kr.com/en/p/3935123373866371" TargetMode="External"/><Relationship Id="rId4" Type="http://schemas.openxmlformats.org/officeDocument/2006/relationships/hyperlink" Target="https://github.com/inclusionAI/Ling" TargetMode="External"/></Relationships>
</file>

<file path=ppt/slides/_rels/slide31.xml.rels><?xml version="1.0" encoding="UTF-8" standalone="yes"?>
<Relationships xmlns="http://schemas.openxmlformats.org/package/2006/relationships"><Relationship Id="rId8" Type="http://schemas.openxmlformats.org/officeDocument/2006/relationships/hyperlink" Target="https://alexriosme.substack.com/p/there-is-a-reason-that-caveman-is" TargetMode="External"/><Relationship Id="rId13" Type="http://schemas.openxmlformats.org/officeDocument/2006/relationships/image" Target="../media/image56.png"/><Relationship Id="rId3" Type="http://schemas.openxmlformats.org/officeDocument/2006/relationships/hyperlink" Target="https://github.com/rtk-ai/rtk" TargetMode="External"/><Relationship Id="rId7" Type="http://schemas.openxmlformats.org/officeDocument/2006/relationships/hyperlink" Target="https://github.com/JuliusBrussee/caveman" TargetMode="External"/><Relationship Id="rId12" Type="http://schemas.openxmlformats.org/officeDocument/2006/relationships/hyperlink" Target="https://www.youtube.com/watch?v=_8GF2zIJf9w" TargetMode="External"/><Relationship Id="rId2" Type="http://schemas.openxmlformats.org/officeDocument/2006/relationships/notesSlide" Target="../notesSlides/notesSlide31.xml"/><Relationship Id="rId16" Type="http://schemas.openxmlformats.org/officeDocument/2006/relationships/image" Target="../media/image59.png"/><Relationship Id="rId1" Type="http://schemas.openxmlformats.org/officeDocument/2006/relationships/slideLayout" Target="../slideLayouts/slideLayout1.xml"/><Relationship Id="rId6" Type="http://schemas.openxmlformats.org/officeDocument/2006/relationships/hyperlink" Target="https://omniroute.online" TargetMode="External"/><Relationship Id="rId11" Type="http://schemas.openxmlformats.org/officeDocument/2006/relationships/hyperlink" Target="https://www.linkedin.com/pulse/how-reduce-claude-code-token-usage-rtk-omniroute-julian-goldie-phvwc" TargetMode="External"/><Relationship Id="rId5" Type="http://schemas.openxmlformats.org/officeDocument/2006/relationships/hyperlink" Target="https://ponytail.dev" TargetMode="External"/><Relationship Id="rId15" Type="http://schemas.openxmlformats.org/officeDocument/2006/relationships/image" Target="../media/image58.png"/><Relationship Id="rId10" Type="http://schemas.openxmlformats.org/officeDocument/2006/relationships/hyperlink" Target="https://blog.jetbrains.com/ai/2026/07/ponytail-skill-claude-tested/" TargetMode="External"/><Relationship Id="rId4" Type="http://schemas.openxmlformats.org/officeDocument/2006/relationships/hyperlink" Target="https://caveman.so" TargetMode="External"/><Relationship Id="rId9" Type="http://schemas.openxmlformats.org/officeDocument/2006/relationships/hyperlink" Target="https://github.com/diegosouzapw/OmniRoute" TargetMode="External"/><Relationship Id="rId14" Type="http://schemas.openxmlformats.org/officeDocument/2006/relationships/image" Target="../media/image57.png"/></Relationships>
</file>

<file path=ppt/slides/_rels/slide32.xml.rels><?xml version="1.0" encoding="UTF-8" standalone="yes"?>
<Relationships xmlns="http://schemas.openxmlformats.org/package/2006/relationships"><Relationship Id="rId8" Type="http://schemas.openxmlformats.org/officeDocument/2006/relationships/image" Target="../media/image60.jpeg"/><Relationship Id="rId3" Type="http://schemas.openxmlformats.org/officeDocument/2006/relationships/hyperlink" Target="https://github.com/kestra-io/kestra" TargetMode="External"/><Relationship Id="rId7" Type="http://schemas.openxmlformats.org/officeDocument/2006/relationships/hyperlink" Target="https://www.youtube.com/watch?v=7wnjIZ70MVk"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kestra.io/blogs/release-1-1" TargetMode="External"/><Relationship Id="rId5" Type="http://schemas.openxmlformats.org/officeDocument/2006/relationships/hyperlink" Target="https://kestra.io/blogs/introducing-ai-agents" TargetMode="External"/><Relationship Id="rId4" Type="http://schemas.openxmlformats.org/officeDocument/2006/relationships/hyperlink" Target="https://kestra.io"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hermes-agent.nousresearch.com/docs/" TargetMode="External"/><Relationship Id="rId7" Type="http://schemas.openxmlformats.org/officeDocument/2006/relationships/image" Target="../media/image61.jpe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hyperlink" Target="https://www.youtube.com/watch?v=0sDKQMO23xE" TargetMode="External"/><Relationship Id="rId5" Type="http://schemas.openxmlformats.org/officeDocument/2006/relationships/hyperlink" Target="https://github.com/virgiliojr94/book-to-skill" TargetMode="External"/><Relationship Id="rId4" Type="http://schemas.openxmlformats.org/officeDocument/2006/relationships/hyperlink" Target="https://github.com/NousResearch/hermes-agent"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www.state.gov/pax-silica" TargetMode="External"/><Relationship Id="rId7"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hyperlink" Target="https://www.youtube.com/watch?v=sO-jLp8jSe4" TargetMode="External"/><Relationship Id="rId4" Type="http://schemas.openxmlformats.org/officeDocument/2006/relationships/hyperlink" Target="https://www.pna.gov.ph/articles/1281392" TargetMode="External"/></Relationships>
</file>

<file path=ppt/slides/_rels/slide35.xml.rels><?xml version="1.0" encoding="UTF-8" standalone="yes"?>
<Relationships xmlns="http://schemas.openxmlformats.org/package/2006/relationships"><Relationship Id="rId8" Type="http://schemas.openxmlformats.org/officeDocument/2006/relationships/hyperlink" Target="https://www.youtube.com/watch?v=yHgHU75N5T8" TargetMode="External"/><Relationship Id="rId3" Type="http://schemas.openxmlformats.org/officeDocument/2006/relationships/hyperlink" Target="https://api-docs.deepseek.com" TargetMode="External"/><Relationship Id="rId7" Type="http://schemas.openxmlformats.org/officeDocument/2006/relationships/hyperlink" Target="https://api-docs.deepseek.com/news/news260424"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hyperlink" Target="https://simonwillison.net/2026/Apr/24/deepseek-v4/" TargetMode="External"/><Relationship Id="rId5" Type="http://schemas.openxmlformats.org/officeDocument/2006/relationships/hyperlink" Target="https://github.com/deepseek-ai/awesome-deepseek-agent" TargetMode="External"/><Relationship Id="rId10" Type="http://schemas.openxmlformats.org/officeDocument/2006/relationships/image" Target="../media/image64.png"/><Relationship Id="rId4" Type="http://schemas.openxmlformats.org/officeDocument/2006/relationships/hyperlink" Target="https://chat.deepseek.com" TargetMode="External"/><Relationship Id="rId9" Type="http://schemas.openxmlformats.org/officeDocument/2006/relationships/hyperlink" Target="https://www.youtube.com/watch?v=kTRUVjN8ldc"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milind-soni/OpenMausBot" TargetMode="External"/><Relationship Id="rId7"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hyperlink" Target="https://www.youtube.com/watch?v=midY3xIxKAk" TargetMode="External"/><Relationship Id="rId5" Type="http://schemas.openxmlformats.org/officeDocument/2006/relationships/hyperlink" Target="https://x.com/LinearUncle" TargetMode="External"/><Relationship Id="rId4" Type="http://schemas.openxmlformats.org/officeDocument/2006/relationships/hyperlink" Target="https://aisuccesslabjuliangoldie.com/blog/openmausbot-vs-grok-bot/" TargetMode="External"/></Relationships>
</file>

<file path=ppt/slides/_rels/slide37.xml.rels><?xml version="1.0" encoding="UTF-8" standalone="yes"?>
<Relationships xmlns="http://schemas.openxmlformats.org/package/2006/relationships"><Relationship Id="rId8" Type="http://schemas.openxmlformats.org/officeDocument/2006/relationships/image" Target="../media/image66.jpeg"/><Relationship Id="rId3" Type="http://schemas.openxmlformats.org/officeDocument/2006/relationships/hyperlink" Target="https://en.wikipedia.org/wiki/Sybase" TargetMode="External"/><Relationship Id="rId7" Type="http://schemas.openxmlformats.org/officeDocument/2006/relationships/hyperlink" Target="https://www.youtube.com/watch?v=dK5iwBxFzGI"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hyperlink" Target="https://community.sap.com/t5/additional-blog-posts-by-sap/a-deeper-look-at-sybase-history-of-ase/ba-p/12923660" TargetMode="External"/><Relationship Id="rId5" Type="http://schemas.openxmlformats.org/officeDocument/2006/relationships/hyperlink" Target="https://github.com/MicrosoftDocs/sql-docs" TargetMode="External"/><Relationship Id="rId4" Type="http://schemas.openxmlformats.org/officeDocument/2006/relationships/hyperlink" Target="https://www.sap.com/products/technology-platform/sql-server.html" TargetMode="External"/><Relationship Id="rId9" Type="http://schemas.openxmlformats.org/officeDocument/2006/relationships/image" Target="../media/image67.png"/></Relationships>
</file>

<file path=ppt/slides/_rels/slide3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hyperlink" Target="https://trueup.io/layoffs"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70.jpeg"/><Relationship Id="rId2" Type="http://schemas.openxmlformats.org/officeDocument/2006/relationships/notesSlide" Target="../notesSlides/notesSlide39.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71.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27462"/>
            <a:ext cx="3143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Cost Per Intelligence Index</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Meta Muse Glimmer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Discovery Loop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Ships GPT-5.6-Cyber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Cross-Session Messaging</a:t>
            </a:r>
            <a:endParaRPr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Aug 14, 2026</a:t>
            </a:r>
            <a:endParaRPr sz="3000" b="1">
              <a:solidFill>
                <a:srgbClr val="3C78D8"/>
              </a:solidFill>
              <a:latin typeface="Calibri"/>
              <a:ea typeface="Calibri"/>
              <a:cs typeface="Calibri"/>
              <a:sym typeface="Calibri"/>
            </a:endParaRPr>
          </a:p>
        </p:txBody>
      </p:sp>
      <p:sp>
        <p:nvSpPr>
          <p:cNvPr id="65" name="Google Shape;65;p15"/>
          <p:cNvSpPr txBox="1"/>
          <p:nvPr/>
        </p:nvSpPr>
        <p:spPr>
          <a:xfrm>
            <a:off x="6427081" y="4379150"/>
            <a:ext cx="1632600" cy="234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Jobs &amp; Layoffs</a:t>
            </a:r>
            <a:endParaRPr b="1">
              <a:solidFill>
                <a:srgbClr val="3C78D8"/>
              </a:solidFill>
              <a:latin typeface="Calibri"/>
              <a:ea typeface="Calibri"/>
              <a:cs typeface="Calibri"/>
              <a:sym typeface="Calibri"/>
            </a:endParaRPr>
          </a:p>
        </p:txBody>
      </p:sp>
      <p:sp>
        <p:nvSpPr>
          <p:cNvPr id="66" name="Google Shape;66;p15"/>
          <p:cNvSpPr txBox="1"/>
          <p:nvPr/>
        </p:nvSpPr>
        <p:spPr>
          <a:xfrm>
            <a:off x="5028475" y="137681"/>
            <a:ext cx="4017000" cy="9234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1800" b="1" i="1">
                <a:solidFill>
                  <a:srgbClr val="FF0000"/>
                </a:solidFill>
                <a:latin typeface="Calibri"/>
                <a:ea typeface="Calibri"/>
                <a:cs typeface="Calibri"/>
                <a:sym typeface="Calibri"/>
              </a:rPr>
              <a:t>“The first rule of autonomous systems: make recovery more automatic than the mistake.”</a:t>
            </a:r>
            <a:endParaRPr sz="1800" b="1" i="1">
              <a:solidFill>
                <a:srgbClr val="FF0000"/>
              </a:solidFill>
              <a:latin typeface="Calibri"/>
              <a:ea typeface="Calibri"/>
              <a:cs typeface="Calibri"/>
              <a:sym typeface="Calibri"/>
            </a:endParaRPr>
          </a:p>
        </p:txBody>
      </p:sp>
      <p:sp>
        <p:nvSpPr>
          <p:cNvPr id="67" name="Google Shape;67;p15"/>
          <p:cNvSpPr txBox="1"/>
          <p:nvPr/>
        </p:nvSpPr>
        <p:spPr>
          <a:xfrm>
            <a:off x="3499425" y="1479150"/>
            <a:ext cx="2836200" cy="23889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Stella’s AI-App Launch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VEED Fabric AI Video Test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Stanford Virtual Biotech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GitHub vs Vercel vs Replit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Peter Diamandis Automagical Life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granian vs uvicorn for SaaS </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LangGraph</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Coding Skills: Modular Control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Karpathy’s Prompting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 Improves  Local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Blender Animations - AI + MCP</a:t>
            </a:r>
            <a:endParaRPr b="1">
              <a:solidFill>
                <a:srgbClr val="3C78D8"/>
              </a:solidFill>
              <a:latin typeface="Calibri"/>
              <a:ea typeface="Calibri"/>
              <a:cs typeface="Calibri"/>
              <a:sym typeface="Calibri"/>
            </a:endParaRPr>
          </a:p>
        </p:txBody>
      </p:sp>
      <p:sp>
        <p:nvSpPr>
          <p:cNvPr id="68" name="Google Shape;68;p15"/>
          <p:cNvSpPr txBox="1"/>
          <p:nvPr/>
        </p:nvSpPr>
        <p:spPr>
          <a:xfrm>
            <a:off x="100175" y="2115067"/>
            <a:ext cx="3307800" cy="28197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Imagine Image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Browser-Use Upgrade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Bot: Agent Team</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Nemotron 3.5 Lightning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is adding invisible watermarks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Obsidian plugin v.2</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Coldcard Seed Exploit - $100 Mln Theft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Prime Agent Harness vs Hermes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Gauntlet Loop: AI QA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Harness-R1: Outcome-Graded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Mark Zuckerberg - AI Access vs Compute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Double Descent Explained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cmux - an Agent-Friendly Terminal</a:t>
            </a:r>
            <a:endParaRPr b="1">
              <a:solidFill>
                <a:srgbClr val="3C78D8"/>
              </a:solidFill>
              <a:latin typeface="Calibri"/>
              <a:ea typeface="Calibri"/>
              <a:cs typeface="Calibri"/>
              <a:sym typeface="Calibri"/>
            </a:endParaRPr>
          </a:p>
        </p:txBody>
      </p:sp>
      <p:sp>
        <p:nvSpPr>
          <p:cNvPr id="69" name="Google Shape;69;p15"/>
          <p:cNvSpPr txBox="1"/>
          <p:nvPr/>
        </p:nvSpPr>
        <p:spPr>
          <a:xfrm>
            <a:off x="6427082" y="2191075"/>
            <a:ext cx="2618400" cy="19578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MiniMax Code 2.0</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Ling-3.0-tiny: Small, Sparse, Fast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Token Leak Fixes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Kestra: Governed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Hermes /learn docs into skills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Pax Silica: Philippine AI Bet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DeepSeek V4 Pro: Coding Test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OpenMausBot: Agent Teams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Sybase &amp; Microsoft SQL Server</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5" name="Google Shape;75;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6" name="Google Shape;76;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7" name="Google Shape;77;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Aug 11</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804500" cy="571500"/>
        </p:xfrm>
        <a:graphic>
          <a:graphicData uri="http://schemas.openxmlformats.org/drawingml/2006/table">
            <a:tbl>
              <a:tblPr>
                <a:noFill/>
                <a:tableStyleId>{A8C84DF0-BD2D-4B59-A802-8F4F3CB9B279}</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Qwen3.8-max-preview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1" name="Google Shape;81;p16"/>
          <p:cNvGraphicFramePr/>
          <p:nvPr/>
        </p:nvGraphicFramePr>
        <p:xfrm>
          <a:off x="2994238" y="715825"/>
          <a:ext cx="2295525" cy="3905278"/>
        </p:xfrm>
        <a:graphic>
          <a:graphicData uri="http://schemas.openxmlformats.org/drawingml/2006/table">
            <a:tbl>
              <a:tblPr>
                <a:noFill/>
                <a:tableStyleId>{A8C84DF0-BD2D-4B59-A802-8F4F3CB9B279}</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claude-sonnet-5-high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437925" y="715825"/>
          <a:ext cx="1828800" cy="3905278"/>
        </p:xfrm>
        <a:graphic>
          <a:graphicData uri="http://schemas.openxmlformats.org/drawingml/2006/table">
            <a:tbl>
              <a:tblPr>
                <a:noFill/>
                <a:tableStyleId>{A8C84DF0-BD2D-4B59-A802-8F4F3CB9B279}</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inkling-small</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gemini-3.6-flash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gemini-3.5-flash-medium</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pic>
        <p:nvPicPr>
          <p:cNvPr id="87" name="Google Shape;87;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463" y="1010275"/>
            <a:ext cx="8610922" cy="4133225"/>
          </a:xfrm>
          <a:prstGeom prst="rect">
            <a:avLst/>
          </a:prstGeom>
          <a:noFill/>
          <a:ln>
            <a:noFill/>
          </a:ln>
        </p:spPr>
      </p:pic>
      <p:sp>
        <p:nvSpPr>
          <p:cNvPr id="88" name="Google Shape;88;p17"/>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89" name="Google Shape;89;p17"/>
          <p:cNvSpPr txBox="1"/>
          <p:nvPr/>
        </p:nvSpPr>
        <p:spPr>
          <a:xfrm>
            <a:off x="52430" y="355163"/>
            <a:ext cx="44295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12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4"/>
              </a:rPr>
              <a:t>https://artificialanalysis.ai</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5"/>
              </a:rPr>
              <a:t>https://artificialanalysis.ai/evaluations/artificial-analysis-intelligence-index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6"/>
              </a:rPr>
              <a:t>https://www.youtube.com/watch?v=nxr20lcqagg</a:t>
            </a:r>
            <a:r>
              <a:rPr lang="en" sz="900" b="1">
                <a:solidFill>
                  <a:srgbClr val="FF0000"/>
                </a:solidFill>
                <a:latin typeface="Calibri"/>
                <a:ea typeface="Calibri"/>
                <a:cs typeface="Calibri"/>
                <a:sym typeface="Calibri"/>
              </a:rPr>
              <a:t> - Anthropic vs OpenAI </a:t>
            </a:r>
            <a:endParaRPr sz="900" b="1">
              <a:solidFill>
                <a:srgbClr val="FF0000"/>
              </a:solidFill>
              <a:latin typeface="Calibri"/>
              <a:ea typeface="Calibri"/>
              <a:cs typeface="Calibri"/>
              <a:sym typeface="Calibri"/>
            </a:endParaRPr>
          </a:p>
        </p:txBody>
      </p:sp>
      <p:sp>
        <p:nvSpPr>
          <p:cNvPr id="90" name="Google Shape;90;p17"/>
          <p:cNvSpPr/>
          <p:nvPr/>
        </p:nvSpPr>
        <p:spPr>
          <a:xfrm>
            <a:off x="6538683" y="2683500"/>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1" name="Google Shape;91;p17"/>
          <p:cNvSpPr/>
          <p:nvPr/>
        </p:nvSpPr>
        <p:spPr>
          <a:xfrm>
            <a:off x="1061883"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7"/>
          <p:cNvSpPr/>
          <p:nvPr/>
        </p:nvSpPr>
        <p:spPr>
          <a:xfrm>
            <a:off x="2811375" y="2804413"/>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3" name="Google Shape;93;p17"/>
          <p:cNvSpPr/>
          <p:nvPr/>
        </p:nvSpPr>
        <p:spPr>
          <a:xfrm>
            <a:off x="5179838" y="2810938"/>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4" name="Google Shape;94;p17"/>
          <p:cNvSpPr/>
          <p:nvPr/>
        </p:nvSpPr>
        <p:spPr>
          <a:xfrm>
            <a:off x="372133" y="2789175"/>
            <a:ext cx="249600" cy="531900"/>
          </a:xfrm>
          <a:prstGeom prst="down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7"/>
          <p:cNvSpPr txBox="1"/>
          <p:nvPr/>
        </p:nvSpPr>
        <p:spPr>
          <a:xfrm>
            <a:off x="6295251" y="578225"/>
            <a:ext cx="944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July 21</a:t>
            </a:r>
            <a:endParaRPr sz="10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Meta Muse Glimmer</a:t>
            </a:r>
            <a:endParaRPr sz="2000" b="1">
              <a:solidFill>
                <a:schemeClr val="dk1"/>
              </a:solidFill>
              <a:latin typeface="Calibri"/>
              <a:ea typeface="Calibri"/>
              <a:cs typeface="Calibri"/>
              <a:sym typeface="Calibri"/>
            </a:endParaRPr>
          </a:p>
        </p:txBody>
      </p:sp>
      <p:sp>
        <p:nvSpPr>
          <p:cNvPr id="101" name="Google Shape;101;p18"/>
          <p:cNvSpPr txBox="1"/>
          <p:nvPr/>
        </p:nvSpPr>
        <p:spPr>
          <a:xfrm>
            <a:off x="81775" y="425675"/>
            <a:ext cx="4786800" cy="277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Glimmer Model for Ollama</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https://developer.meta.com/ai/models/muse-glimmer/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https://ollama.com/blog/muse-glimmer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https://x.com/ollama/status/2086781863490994267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https://www.youtube.com/watch?v=o67QQr5vxvE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Muse Glimmer is Meta’s Apache-2.0-licensed, open-weight 30B multimodal model for always-on local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combines text-and-image perception, tool use, multi-step/long-horizon tasks, and failure recovery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128K+ context, multimodal model for autonomous local agents</a:t>
            </a:r>
            <a:endParaRPr sz="12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Victor Mono"/>
              <a:buChar char="●"/>
            </a:pPr>
            <a:r>
              <a:rPr lang="en" sz="1100" b="1">
                <a:solidFill>
                  <a:srgbClr val="3C78D8"/>
                </a:solidFill>
                <a:latin typeface="Victor Mono"/>
                <a:ea typeface="Victor Mono"/>
                <a:cs typeface="Victor Mono"/>
                <a:sym typeface="Victor Mono"/>
              </a:rPr>
              <a:t>ollama run muse-glimmer</a:t>
            </a:r>
            <a:endParaRPr sz="1100" b="1">
              <a:solidFill>
                <a:srgbClr val="3C78D8"/>
              </a:solidFill>
              <a:latin typeface="Victor Mono"/>
              <a:ea typeface="Victor Mono"/>
              <a:cs typeface="Victor Mono"/>
              <a:sym typeface="Victor Mono"/>
            </a:endParaRPr>
          </a:p>
          <a:p>
            <a:pPr marL="171450" marR="0" lvl="0" indent="-133350" algn="l" rtl="0">
              <a:lnSpc>
                <a:spcPct val="100000"/>
              </a:lnSpc>
              <a:spcBef>
                <a:spcPts val="0"/>
              </a:spcBef>
              <a:spcAft>
                <a:spcPts val="0"/>
              </a:spcAft>
              <a:buClr>
                <a:schemeClr val="dk1"/>
              </a:buClr>
              <a:buSzPts val="1200"/>
              <a:buFont typeface="Calibri"/>
              <a:buChar char="●"/>
            </a:pPr>
            <a:r>
              <a:rPr lang="en" sz="1100" b="1">
                <a:solidFill>
                  <a:srgbClr val="3C78D8"/>
                </a:solidFill>
                <a:latin typeface="Victor Mono"/>
                <a:ea typeface="Victor Mono"/>
                <a:cs typeface="Victor Mono"/>
                <a:sym typeface="Victor Mono"/>
              </a:rPr>
              <a:t>ollama run muse-glimmer:30b-mlx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MLX adds DFlash speculative decoding and image input </a:t>
            </a:r>
            <a:r>
              <a:rPr lang="en" sz="1200">
                <a:solidFill>
                  <a:schemeClr val="dk1"/>
                </a:solidFill>
                <a:latin typeface="Calibri"/>
                <a:ea typeface="Calibri"/>
                <a:cs typeface="Calibri"/>
                <a:sym typeface="Calibri"/>
              </a:rPr>
              <a:t>- fast visual coding and screenshot-driven tool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 Claude Code, Pi, Codex, OpenClaw, or Hermes through Ollama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Select low, medium, high, or xhigh reasoning strength</a:t>
            </a:r>
            <a:endParaRPr sz="1200">
              <a:solidFill>
                <a:schemeClr val="dk1"/>
              </a:solidFill>
              <a:latin typeface="Calibri"/>
              <a:ea typeface="Calibri"/>
              <a:cs typeface="Calibri"/>
              <a:sym typeface="Calibri"/>
            </a:endParaRPr>
          </a:p>
        </p:txBody>
      </p:sp>
      <p:pic>
        <p:nvPicPr>
          <p:cNvPr id="102" name="Google Shape;102;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20975" y="425675"/>
            <a:ext cx="3970625" cy="2085061"/>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020975" y="2637491"/>
            <a:ext cx="39705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Glimmer</a:t>
            </a:r>
            <a:r>
              <a:rPr lang="en" sz="1200">
                <a:solidFill>
                  <a:schemeClr val="dk1"/>
                </a:solidFill>
                <a:latin typeface="Calibri"/>
                <a:ea typeface="Calibri"/>
                <a:cs typeface="Calibri"/>
                <a:sym typeface="Calibri"/>
              </a:rPr>
              <a:t> means a faint, unsteady, or intermittent light—like a candle flickering in darkness or distant lights barely visible at night</a:t>
            </a:r>
            <a:endParaRPr sz="1200">
              <a:solidFill>
                <a:schemeClr val="dk1"/>
              </a:solidFill>
              <a:latin typeface="Calibri"/>
              <a:ea typeface="Calibri"/>
              <a:cs typeface="Calibri"/>
              <a:sym typeface="Calibri"/>
            </a:endParaRPr>
          </a:p>
        </p:txBody>
      </p:sp>
      <p:sp>
        <p:nvSpPr>
          <p:cNvPr id="104" name="Google Shape;104;p18"/>
          <p:cNvSpPr txBox="1"/>
          <p:nvPr/>
        </p:nvSpPr>
        <p:spPr>
          <a:xfrm>
            <a:off x="81775" y="3325328"/>
            <a:ext cx="478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Variants: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Full-precision - BF16 - 64 GB -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K-Quant-Dynamic - (~4-bit) - 32 GB memory  - 0.2% degradation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K-Quant-17GB - (~4-bit) - 24 GB memory - 1.0% degradation</a:t>
            </a:r>
            <a:endParaRPr sz="12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4.6</a:t>
            </a:r>
            <a:endParaRPr sz="2000" b="1">
              <a:solidFill>
                <a:schemeClr val="dk1"/>
              </a:solidFill>
              <a:latin typeface="Calibri"/>
              <a:ea typeface="Calibri"/>
              <a:cs typeface="Calibri"/>
              <a:sym typeface="Calibri"/>
            </a:endParaRPr>
          </a:p>
        </p:txBody>
      </p:sp>
      <p:sp>
        <p:nvSpPr>
          <p:cNvPr id="110" name="Google Shape;110;p19"/>
          <p:cNvSpPr txBox="1"/>
          <p:nvPr/>
        </p:nvSpPr>
        <p:spPr>
          <a:xfrm>
            <a:off x="81775" y="525525"/>
            <a:ext cx="4023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SpaceXAI Grok 4.6 - August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via SpaceXAI API Console, Cursor, and Grok Build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Scores - like </a:t>
            </a:r>
            <a:r>
              <a:rPr lang="en" sz="1200" b="1">
                <a:solidFill>
                  <a:srgbClr val="FF0000"/>
                </a:solidFill>
                <a:latin typeface="Calibri"/>
                <a:ea typeface="Calibri"/>
                <a:cs typeface="Calibri"/>
                <a:sym typeface="Calibri"/>
              </a:rPr>
              <a:t>GPT-5.6 Sol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500K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$2 / $6 in/out per 1M tokens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https://x.ai/news/grok-4-6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https://artificialanalysis.ai/articles/grok-4-6-benchmarks-and-analysis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https://www.youtube.com/watch?v=VQqxMITWABU</a:t>
            </a:r>
            <a:r>
              <a:rPr lang="en" sz="900">
                <a:solidFill>
                  <a:schemeClr val="dk1"/>
                </a:solidFill>
                <a:latin typeface="Calibri"/>
                <a:ea typeface="Calibri"/>
                <a:cs typeface="Calibri"/>
                <a:sym typeface="Calibri"/>
              </a:rPr>
              <a:t> - video</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Targets long-running agents, coding, research, visual apps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Ability to turn a product description into a functioning, visually coherent interactive app in a strong first pass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demo generated a single-file Falcon 9 return simulation: separation, boost-back, re-entry plasma, grid-fin guidance, drone-ship landing, and voice commentary</a:t>
            </a:r>
            <a:endParaRPr sz="1200">
              <a:solidFill>
                <a:schemeClr val="dk1"/>
              </a:solidFill>
              <a:latin typeface="Calibri"/>
              <a:ea typeface="Calibri"/>
              <a:cs typeface="Calibri"/>
              <a:sym typeface="Calibri"/>
            </a:endParaRPr>
          </a:p>
        </p:txBody>
      </p:sp>
      <p:pic>
        <p:nvPicPr>
          <p:cNvPr id="111" name="Google Shape;111;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234850" y="2229699"/>
            <a:ext cx="4744100" cy="2644125"/>
          </a:xfrm>
          <a:prstGeom prst="rect">
            <a:avLst/>
          </a:prstGeom>
          <a:noFill/>
          <a:ln w="9525" cap="flat" cmpd="sng">
            <a:solidFill>
              <a:srgbClr val="FF0000"/>
            </a:solidFill>
            <a:prstDash val="solid"/>
            <a:round/>
            <a:headEnd type="none" w="sm" len="sm"/>
            <a:tailEnd type="none" w="sm" len="sm"/>
          </a:ln>
        </p:spPr>
      </p:pic>
      <p:pic>
        <p:nvPicPr>
          <p:cNvPr id="112" name="Google Shape;112;p19"/>
          <p:cNvPicPr preferRelativeResize="0"/>
          <p:nvPr/>
        </p:nvPicPr>
        <p:blipFill>
          <a:blip r:embed="rId8">
            <a:alphaModFix/>
          </a:blip>
          <a:stretch>
            <a:fillRect/>
          </a:stretch>
        </p:blipFill>
        <p:spPr>
          <a:xfrm>
            <a:off x="5006700" y="418450"/>
            <a:ext cx="3200400" cy="1466850"/>
          </a:xfrm>
          <a:prstGeom prst="rect">
            <a:avLst/>
          </a:prstGeom>
          <a:noFill/>
          <a:ln w="9525" cap="flat" cmpd="sng">
            <a:solidFill>
              <a:srgbClr val="FF0000"/>
            </a:solidFill>
            <a:prstDash val="solid"/>
            <a:round/>
            <a:headEnd type="none" w="sm" len="sm"/>
            <a:tailEnd type="none" w="sm" len="sm"/>
          </a:ln>
        </p:spPr>
      </p:pic>
      <p:pic>
        <p:nvPicPr>
          <p:cNvPr id="113" name="Google Shape;113;p1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81775" y="3218900"/>
            <a:ext cx="2231590" cy="1708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0"/>
          <p:cNvSpPr txBox="1"/>
          <p:nvPr/>
        </p:nvSpPr>
        <p:spPr>
          <a:xfrm>
            <a:off x="81775" y="0"/>
            <a:ext cx="3636000" cy="3264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Discovery Loop</a:t>
            </a:r>
            <a:endParaRPr sz="2000" b="1">
              <a:solidFill>
                <a:schemeClr val="dk1"/>
              </a:solidFill>
              <a:latin typeface="Calibri"/>
              <a:ea typeface="Calibri"/>
              <a:cs typeface="Calibri"/>
              <a:sym typeface="Calibri"/>
            </a:endParaRPr>
          </a:p>
        </p:txBody>
      </p:sp>
      <p:sp>
        <p:nvSpPr>
          <p:cNvPr id="119" name="Google Shape;119;p20"/>
          <p:cNvSpPr txBox="1"/>
          <p:nvPr/>
        </p:nvSpPr>
        <p:spPr>
          <a:xfrm>
            <a:off x="81775" y="405875"/>
            <a:ext cx="3205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Jeff Dean</a:t>
            </a:r>
            <a:r>
              <a:rPr lang="en" sz="1200">
                <a:solidFill>
                  <a:schemeClr val="dk1"/>
                </a:solidFill>
                <a:latin typeface="Calibri"/>
                <a:ea typeface="Calibri"/>
                <a:cs typeface="Calibri"/>
                <a:sym typeface="Calibri"/>
              </a:rPr>
              <a:t>, chief scientist and a 27-year veteran who basically wired half of modern Google, is leaving to start </a:t>
            </a:r>
            <a:r>
              <a:rPr lang="en" sz="1200" b="1">
                <a:solidFill>
                  <a:srgbClr val="FF0000"/>
                </a:solidFill>
                <a:latin typeface="Calibri"/>
                <a:ea typeface="Calibri"/>
                <a:cs typeface="Calibri"/>
                <a:sym typeface="Calibri"/>
              </a:rPr>
              <a:t>Discovery Loop</a:t>
            </a:r>
            <a:r>
              <a:rPr lang="en" sz="1200">
                <a:solidFill>
                  <a:schemeClr val="dk1"/>
                </a:solidFill>
                <a:latin typeface="Calibri"/>
                <a:ea typeface="Calibri"/>
                <a:cs typeface="Calibri"/>
                <a:sym typeface="Calibri"/>
              </a:rPr>
              <a:t>, a company whose entire pitch is automating scientific discovery</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https://www.discoveryloop.com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investing in it, because nothing soothes a breakup like funding your ex's next relationship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Jeff is taking with him:</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Gemini co-lead </a:t>
            </a:r>
            <a:r>
              <a:rPr lang="en" sz="1200" b="1">
                <a:solidFill>
                  <a:srgbClr val="FF0000"/>
                </a:solidFill>
                <a:latin typeface="Calibri"/>
                <a:ea typeface="Calibri"/>
                <a:cs typeface="Calibri"/>
                <a:sym typeface="Calibri"/>
              </a:rPr>
              <a:t>Oriol Vinyals</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Google Brain founder </a:t>
            </a:r>
            <a:r>
              <a:rPr lang="en" sz="1200" b="1">
                <a:solidFill>
                  <a:srgbClr val="FF0000"/>
                </a:solidFill>
                <a:latin typeface="Calibri"/>
                <a:ea typeface="Calibri"/>
                <a:cs typeface="Calibri"/>
                <a:sym typeface="Calibri"/>
              </a:rPr>
              <a:t>Quoc Le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longtime partner-in-code </a:t>
            </a:r>
            <a:r>
              <a:rPr lang="en" sz="1200" b="1">
                <a:solidFill>
                  <a:srgbClr val="FF0000"/>
                </a:solidFill>
                <a:latin typeface="Calibri"/>
                <a:ea typeface="Calibri"/>
                <a:cs typeface="Calibri"/>
                <a:sym typeface="Calibri"/>
              </a:rPr>
              <a:t>Sanjay Ghemawat</a:t>
            </a:r>
            <a:endParaRPr sz="1200" b="1">
              <a:solidFill>
                <a:srgbClr val="FF0000"/>
              </a:solidFill>
              <a:latin typeface="Calibri"/>
              <a:ea typeface="Calibri"/>
              <a:cs typeface="Calibri"/>
              <a:sym typeface="Calibri"/>
            </a:endParaRPr>
          </a:p>
        </p:txBody>
      </p:sp>
      <p:pic>
        <p:nvPicPr>
          <p:cNvPr id="120" name="Google Shape;120;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654725" y="651875"/>
            <a:ext cx="1176621" cy="1680900"/>
          </a:xfrm>
          <a:prstGeom prst="rect">
            <a:avLst/>
          </a:prstGeom>
          <a:noFill/>
          <a:ln w="9525" cap="flat" cmpd="sng">
            <a:solidFill>
              <a:srgbClr val="FF0000"/>
            </a:solidFill>
            <a:prstDash val="solid"/>
            <a:round/>
            <a:headEnd type="none" w="sm" len="sm"/>
            <a:tailEnd type="none" w="sm" len="sm"/>
          </a:ln>
        </p:spPr>
      </p:pic>
      <p:pic>
        <p:nvPicPr>
          <p:cNvPr id="121" name="Google Shape;121;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88275" y="651875"/>
            <a:ext cx="1269378" cy="1680899"/>
          </a:xfrm>
          <a:prstGeom prst="rect">
            <a:avLst/>
          </a:prstGeom>
          <a:noFill/>
          <a:ln w="9525" cap="flat" cmpd="sng">
            <a:solidFill>
              <a:srgbClr val="FF0000"/>
            </a:solidFill>
            <a:prstDash val="solid"/>
            <a:round/>
            <a:headEnd type="none" w="sm" len="sm"/>
            <a:tailEnd type="none" w="sm" len="sm"/>
          </a:ln>
        </p:spPr>
      </p:pic>
      <p:pic>
        <p:nvPicPr>
          <p:cNvPr id="122" name="Google Shape;122;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214575" y="651875"/>
            <a:ext cx="1269375" cy="1680917"/>
          </a:xfrm>
          <a:prstGeom prst="rect">
            <a:avLst/>
          </a:prstGeom>
          <a:noFill/>
          <a:ln w="9525" cap="flat" cmpd="sng">
            <a:solidFill>
              <a:srgbClr val="FF0000"/>
            </a:solidFill>
            <a:prstDash val="solid"/>
            <a:round/>
            <a:headEnd type="none" w="sm" len="sm"/>
            <a:tailEnd type="none" w="sm" len="sm"/>
          </a:ln>
        </p:spPr>
      </p:pic>
      <p:pic>
        <p:nvPicPr>
          <p:cNvPr id="123" name="Google Shape;123;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540876" y="651875"/>
            <a:ext cx="1134231" cy="1680900"/>
          </a:xfrm>
          <a:prstGeom prst="rect">
            <a:avLst/>
          </a:prstGeom>
          <a:noFill/>
          <a:ln w="9525" cap="flat" cmpd="sng">
            <a:solidFill>
              <a:srgbClr val="FF0000"/>
            </a:solidFill>
            <a:prstDash val="solid"/>
            <a:round/>
            <a:headEnd type="none" w="sm" len="sm"/>
            <a:tailEnd type="none" w="sm" len="sm"/>
          </a:ln>
        </p:spPr>
      </p:pic>
      <p:sp>
        <p:nvSpPr>
          <p:cNvPr id="124" name="Google Shape;124;p20"/>
          <p:cNvSpPr txBox="1"/>
          <p:nvPr/>
        </p:nvSpPr>
        <p:spPr>
          <a:xfrm>
            <a:off x="3813876"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Jeff Dean</a:t>
            </a:r>
            <a:endParaRPr sz="1200">
              <a:solidFill>
                <a:schemeClr val="dk1"/>
              </a:solidFill>
              <a:latin typeface="Calibri"/>
              <a:ea typeface="Calibri"/>
              <a:cs typeface="Calibri"/>
              <a:sym typeface="Calibri"/>
            </a:endParaRPr>
          </a:p>
        </p:txBody>
      </p:sp>
      <p:sp>
        <p:nvSpPr>
          <p:cNvPr id="125" name="Google Shape;125;p20"/>
          <p:cNvSpPr txBox="1"/>
          <p:nvPr/>
        </p:nvSpPr>
        <p:spPr>
          <a:xfrm>
            <a:off x="4967825" y="2493675"/>
            <a:ext cx="10050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Oriol Vinyals</a:t>
            </a:r>
            <a:endParaRPr sz="1200">
              <a:solidFill>
                <a:schemeClr val="dk1"/>
              </a:solidFill>
              <a:latin typeface="Calibri"/>
              <a:ea typeface="Calibri"/>
              <a:cs typeface="Calibri"/>
              <a:sym typeface="Calibri"/>
            </a:endParaRPr>
          </a:p>
        </p:txBody>
      </p:sp>
      <p:sp>
        <p:nvSpPr>
          <p:cNvPr id="126" name="Google Shape;126;p20"/>
          <p:cNvSpPr txBox="1"/>
          <p:nvPr/>
        </p:nvSpPr>
        <p:spPr>
          <a:xfrm>
            <a:off x="6421013" y="2493675"/>
            <a:ext cx="856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Quoc Le</a:t>
            </a:r>
            <a:endParaRPr sz="1200">
              <a:solidFill>
                <a:schemeClr val="dk1"/>
              </a:solidFill>
              <a:latin typeface="Calibri"/>
              <a:ea typeface="Calibri"/>
              <a:cs typeface="Calibri"/>
              <a:sym typeface="Calibri"/>
            </a:endParaRPr>
          </a:p>
        </p:txBody>
      </p:sp>
      <p:sp>
        <p:nvSpPr>
          <p:cNvPr id="127" name="Google Shape;127;p20"/>
          <p:cNvSpPr txBox="1"/>
          <p:nvPr/>
        </p:nvSpPr>
        <p:spPr>
          <a:xfrm>
            <a:off x="7442350" y="2493675"/>
            <a:ext cx="13716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Sanjay Ghemawat</a:t>
            </a:r>
            <a:endParaRPr sz="1200">
              <a:solidFill>
                <a:schemeClr val="dk1"/>
              </a:solidFill>
              <a:latin typeface="Calibri"/>
              <a:ea typeface="Calibri"/>
              <a:cs typeface="Calibri"/>
              <a:sym typeface="Calibri"/>
            </a:endParaRPr>
          </a:p>
        </p:txBody>
      </p:sp>
      <p:pic>
        <p:nvPicPr>
          <p:cNvPr id="128" name="Google Shape;128;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26150" y="73487"/>
            <a:ext cx="1269375" cy="510413"/>
          </a:xfrm>
          <a:prstGeom prst="rect">
            <a:avLst/>
          </a:prstGeom>
          <a:noFill/>
          <a:ln w="9525" cap="flat" cmpd="sng">
            <a:solidFill>
              <a:srgbClr val="FF0000"/>
            </a:solidFill>
            <a:prstDash val="solid"/>
            <a:round/>
            <a:headEnd type="none" w="sm" len="sm"/>
            <a:tailEnd type="none" w="sm" len="sm"/>
          </a:ln>
        </p:spPr>
      </p:pic>
      <p:pic>
        <p:nvPicPr>
          <p:cNvPr id="129" name="Google Shape;129;p2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334988" y="2995200"/>
            <a:ext cx="2699064" cy="2024298"/>
          </a:xfrm>
          <a:prstGeom prst="rect">
            <a:avLst/>
          </a:prstGeom>
          <a:noFill/>
          <a:ln w="9525" cap="flat" cmpd="sng">
            <a:solidFill>
              <a:srgbClr val="FF0000"/>
            </a:solidFill>
            <a:prstDash val="solid"/>
            <a:round/>
            <a:headEnd type="none" w="sm" len="sm"/>
            <a:tailEnd type="none" w="sm" len="sm"/>
          </a:ln>
        </p:spPr>
      </p:pic>
      <p:pic>
        <p:nvPicPr>
          <p:cNvPr id="130" name="Google Shape;130;p20"/>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967825" y="2933025"/>
            <a:ext cx="2498286" cy="201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6" name="Google Shape;136;p21"/>
          <p:cNvSpPr txBox="1"/>
          <p:nvPr/>
        </p:nvSpPr>
        <p:spPr>
          <a:xfrm>
            <a:off x="125075" y="487300"/>
            <a:ext cx="43794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Ships GPT-5.6-Cyber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GPT-5.6-Cyber is OpenAI's first frontier model tuned specifically for </a:t>
            </a:r>
            <a:r>
              <a:rPr lang="en" sz="1200" b="1">
                <a:solidFill>
                  <a:srgbClr val="3C78D8"/>
                </a:solidFill>
                <a:latin typeface="Calibri"/>
                <a:ea typeface="Calibri"/>
                <a:cs typeface="Calibri"/>
                <a:sym typeface="Calibri"/>
              </a:rPr>
              <a:t>advanced cybersecurity work</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Alignment researcher Eric Wallace says the company is already using it for red-teaming and to find and patch "a huge host of 0-day vulnerabilities in open-source software"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release lands five days after OpenAI publicly disclosed at Black Hat that its own agents secretly coordinated for two months before compromising Hugging Face's platform.</a:t>
            </a:r>
            <a:endParaRPr sz="1200">
              <a:solidFill>
                <a:schemeClr val="dk1"/>
              </a:solidFill>
              <a:latin typeface="Calibri"/>
              <a:ea typeface="Calibri"/>
              <a:cs typeface="Calibri"/>
              <a:sym typeface="Calibri"/>
            </a:endParaRPr>
          </a:p>
        </p:txBody>
      </p:sp>
      <p:pic>
        <p:nvPicPr>
          <p:cNvPr id="137" name="Google Shape;137;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590553" y="144413"/>
            <a:ext cx="2243149" cy="1261775"/>
          </a:xfrm>
          <a:prstGeom prst="rect">
            <a:avLst/>
          </a:prstGeom>
          <a:noFill/>
          <a:ln w="9525" cap="flat" cmpd="sng">
            <a:solidFill>
              <a:srgbClr val="FF0000"/>
            </a:solidFill>
            <a:prstDash val="solid"/>
            <a:round/>
            <a:headEnd type="none" w="sm" len="sm"/>
            <a:tailEnd type="none" w="sm" len="sm"/>
          </a:ln>
        </p:spPr>
      </p:pic>
      <p:sp>
        <p:nvSpPr>
          <p:cNvPr id="138" name="Google Shape;138;p21"/>
          <p:cNvSpPr txBox="1"/>
          <p:nvPr/>
        </p:nvSpPr>
        <p:spPr>
          <a:xfrm>
            <a:off x="6773525" y="2168200"/>
            <a:ext cx="2084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ByteDance is reportedly pretraining a 10-Trillion-parameter model</a:t>
            </a:r>
            <a:endParaRPr sz="1200">
              <a:solidFill>
                <a:schemeClr val="dk1"/>
              </a:solidFill>
              <a:latin typeface="Calibri"/>
              <a:ea typeface="Calibri"/>
              <a:cs typeface="Calibri"/>
              <a:sym typeface="Calibri"/>
            </a:endParaRPr>
          </a:p>
        </p:txBody>
      </p:sp>
      <p:sp>
        <p:nvSpPr>
          <p:cNvPr id="139" name="Google Shape;139;p21"/>
          <p:cNvSpPr txBox="1"/>
          <p:nvPr/>
        </p:nvSpPr>
        <p:spPr>
          <a:xfrm>
            <a:off x="125075" y="2933800"/>
            <a:ext cx="43794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Cross-Session Messaging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https://code.claude.com/docs/en/cross-session-messaging</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https://x.com/ClaudeDevs/status/2085817074816070014</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https://www.youtube.com/watch?v=6L6qG_safRY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Code sessions can now exchange concise, plain-text handoffs</a:t>
            </a:r>
            <a:r>
              <a:rPr lang="en" sz="1200">
                <a:solidFill>
                  <a:schemeClr val="dk1"/>
                </a:solidFill>
                <a:latin typeface="Calibri"/>
                <a:ea typeface="Calibri"/>
                <a:cs typeface="Calibri"/>
                <a:sym typeface="Calibri"/>
              </a:rPr>
              <a:t>, reducing manual copy-and-paste between parallel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requires Claude Code 2.1.224 or later, runs on macOS and Linux, including WSL 2, and activates by default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Sessions discover peers through ListAgents and deliver messages through SendMessage; same-machine traffic uses local sockets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Messages contain summaries, not conversation history, files, or user permissions, so this is not a shared AI brain</a:t>
            </a:r>
            <a:endParaRPr sz="1200">
              <a:solidFill>
                <a:schemeClr val="dk1"/>
              </a:solidFill>
              <a:latin typeface="Calibri"/>
              <a:ea typeface="Calibri"/>
              <a:cs typeface="Calibri"/>
              <a:sym typeface="Calibri"/>
            </a:endParaRPr>
          </a:p>
        </p:txBody>
      </p:sp>
      <p:pic>
        <p:nvPicPr>
          <p:cNvPr id="140" name="Google Shape;140;p2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0550" y="3668774"/>
            <a:ext cx="3400924" cy="885175"/>
          </a:xfrm>
          <a:prstGeom prst="rect">
            <a:avLst/>
          </a:prstGeom>
          <a:noFill/>
          <a:ln w="9525" cap="flat" cmpd="sng">
            <a:solidFill>
              <a:srgbClr val="FF0000"/>
            </a:solidFill>
            <a:prstDash val="solid"/>
            <a:round/>
            <a:headEnd type="none" w="sm" len="sm"/>
            <a:tailEnd type="none" w="sm" len="sm"/>
          </a:ln>
        </p:spPr>
      </p:pic>
      <p:pic>
        <p:nvPicPr>
          <p:cNvPr id="141" name="Google Shape;141;p21"/>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51275" y="1914525"/>
            <a:ext cx="2043300" cy="1200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2"/>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7.25K subscribers, 306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47" name="Google Shape;147;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31975" y="171338"/>
            <a:ext cx="2145049" cy="48008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3" name="Google Shape;153;p23"/>
          <p:cNvSpPr txBox="1"/>
          <p:nvPr/>
        </p:nvSpPr>
        <p:spPr>
          <a:xfrm>
            <a:off x="81775" y="388575"/>
            <a:ext cx="44427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Imagine Image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Magic Wand, segmentation, and background removal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Improved typography and layout make it more suitable for readable ads, posters, infographics, and UI mockups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Multi-Ref Editing combines up to five inputs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Resize recomposes assets across nine aspect ratios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as Quality Mode on Grok web and mobile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https://grok.com/imagine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https://github.com/xai-org/xai-sdk-python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https://x.com/grok/status/2085931542262526102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54" name="Google Shape;154;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91150" y="441647"/>
            <a:ext cx="2381251" cy="1259500"/>
          </a:xfrm>
          <a:prstGeom prst="rect">
            <a:avLst/>
          </a:prstGeom>
          <a:noFill/>
          <a:ln w="9525" cap="flat" cmpd="sng">
            <a:solidFill>
              <a:srgbClr val="FF0000"/>
            </a:solidFill>
            <a:prstDash val="solid"/>
            <a:round/>
            <a:headEnd type="none" w="sm" len="sm"/>
            <a:tailEnd type="none" w="sm" len="sm"/>
          </a:ln>
        </p:spPr>
      </p:pic>
      <p:sp>
        <p:nvSpPr>
          <p:cNvPr id="155" name="Google Shape;155;p23"/>
          <p:cNvSpPr txBox="1"/>
          <p:nvPr/>
        </p:nvSpPr>
        <p:spPr>
          <a:xfrm>
            <a:off x="81775" y="2388825"/>
            <a:ext cx="3354300" cy="265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Browser-Use Upgrade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https://hermes-agent.nousresearch.com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https://github.com/NousResearch/hermes-agent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https://x.com/NousResearch/status/2086881660658663469</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Hermes replaces 12 per-action browser tools with one Browser Use mode</a:t>
            </a:r>
            <a:r>
              <a:rPr lang="en" sz="1200">
                <a:solidFill>
                  <a:schemeClr val="dk1"/>
                </a:solidFill>
                <a:latin typeface="Calibri"/>
                <a:ea typeface="Calibri"/>
                <a:cs typeface="Calibri"/>
                <a:sym typeface="Calibri"/>
              </a:rPr>
              <a:t>, driven by Browser Use CLI 3.0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agent writes and executes a browser script, avoiding repeated click-think-report round trips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Nous reports </a:t>
            </a:r>
            <a:r>
              <a:rPr lang="en" sz="1200" b="1">
                <a:solidFill>
                  <a:srgbClr val="3C78D8"/>
                </a:solidFill>
                <a:latin typeface="Calibri"/>
                <a:ea typeface="Calibri"/>
                <a:cs typeface="Calibri"/>
                <a:sym typeface="Calibri"/>
              </a:rPr>
              <a:t>48–66% lower token use </a:t>
            </a:r>
            <a:r>
              <a:rPr lang="en" sz="1200">
                <a:solidFill>
                  <a:schemeClr val="dk1"/>
                </a:solidFill>
                <a:latin typeface="Calibri"/>
                <a:ea typeface="Calibri"/>
                <a:cs typeface="Calibri"/>
                <a:sym typeface="Calibri"/>
              </a:rPr>
              <a:t>without measured accuracy loss, enabling cheaper, longer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activates automatically when the CLI is available; set browser.backend: browser-use to force 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Local and cloud browsing can coexist</a:t>
            </a:r>
            <a:endParaRPr sz="1200">
              <a:solidFill>
                <a:schemeClr val="dk1"/>
              </a:solidFill>
              <a:latin typeface="Calibri"/>
              <a:ea typeface="Calibri"/>
              <a:cs typeface="Calibri"/>
              <a:sym typeface="Calibri"/>
            </a:endParaRPr>
          </a:p>
        </p:txBody>
      </p:sp>
      <p:pic>
        <p:nvPicPr>
          <p:cNvPr id="156" name="Google Shape;156;p2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3506925" y="3240150"/>
            <a:ext cx="2381250" cy="135528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Grok Bot: Agent Team</a:t>
            </a:r>
            <a:endParaRPr sz="2000" b="1">
              <a:solidFill>
                <a:schemeClr val="dk1"/>
              </a:solidFill>
              <a:latin typeface="Calibri"/>
              <a:ea typeface="Calibri"/>
              <a:cs typeface="Calibri"/>
              <a:sym typeface="Calibri"/>
            </a:endParaRPr>
          </a:p>
        </p:txBody>
      </p:sp>
      <p:pic>
        <p:nvPicPr>
          <p:cNvPr id="162" name="Google Shape;162;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175729" y="1119500"/>
            <a:ext cx="2239094" cy="1259499"/>
          </a:xfrm>
          <a:prstGeom prst="rect">
            <a:avLst/>
          </a:prstGeom>
          <a:noFill/>
          <a:ln w="9525" cap="flat" cmpd="sng">
            <a:solidFill>
              <a:srgbClr val="FF0000"/>
            </a:solidFill>
            <a:prstDash val="solid"/>
            <a:round/>
            <a:headEnd type="none" w="sm" len="sm"/>
            <a:tailEnd type="none" w="sm" len="sm"/>
          </a:ln>
        </p:spPr>
      </p:pic>
      <p:sp>
        <p:nvSpPr>
          <p:cNvPr id="163" name="Google Shape;163;p24"/>
          <p:cNvSpPr txBox="1"/>
          <p:nvPr/>
        </p:nvSpPr>
        <p:spPr>
          <a:xfrm>
            <a:off x="81775" y="515925"/>
            <a:ext cx="5416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Bot: Agent Team - in Beta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https://x.ai/bot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https://github.com/xai-org/grok-build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https://x.ai/news/introducing-grok-bot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https://www.youtube.com/watch?v=QTcZPI-g7is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https://www.youtube.com/watch?v=mZM-J7XK5Aw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Grok Bot presents persistent AI teammates in a consumer-friendly chat interface that hides code, tool calls, file trees, and model selection.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agents on cloud computers, using apps and websites, always-on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Bots can coordinate in parallel, learn workflows, and retain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Access starts with SuperGrok Heavy, Cursor Ultra, and Cursor Teams Premium.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Bots can operate cloud computers and assist with local-device tasks.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Plugins connect services including Gmail, Drive, Calendar, Slack, Notion, and Box.</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Routines automate recurring work, while “Teach a task” converts demonstrated browser workflows into reusable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main trade-off is context: agent-per-thread organization can feel fragmented compared with a single chief-of-staff agent</a:t>
            </a:r>
            <a:endParaRPr sz="12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9" name="Google Shape;169;p25"/>
          <p:cNvSpPr txBox="1"/>
          <p:nvPr/>
        </p:nvSpPr>
        <p:spPr>
          <a:xfrm>
            <a:off x="81775" y="388575"/>
            <a:ext cx="4442700" cy="343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3.5 Lightning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open-source</a:t>
            </a:r>
            <a:r>
              <a:rPr lang="en" sz="1200">
                <a:solidFill>
                  <a:schemeClr val="dk1"/>
                </a:solidFill>
                <a:latin typeface="Calibri"/>
                <a:ea typeface="Calibri"/>
                <a:cs typeface="Calibri"/>
                <a:sym typeface="Calibri"/>
              </a:rPr>
              <a:t> model (OpenMDW-1.1 license), commercially usable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30B params (3B active), runs on single GPU</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Sparse hybrid architecture: </a:t>
            </a:r>
            <a:r>
              <a:rPr lang="en" sz="1200" b="1">
                <a:solidFill>
                  <a:srgbClr val="FF0000"/>
                </a:solidFill>
                <a:latin typeface="Calibri"/>
                <a:ea typeface="Calibri"/>
                <a:cs typeface="Calibri"/>
                <a:sym typeface="Calibri"/>
              </a:rPr>
              <a:t>MoE + Mamba-2 </a:t>
            </a:r>
            <a:r>
              <a:rPr lang="en" sz="1200">
                <a:solidFill>
                  <a:schemeClr val="dk1"/>
                </a:solidFill>
                <a:latin typeface="Calibri"/>
                <a:ea typeface="Calibri"/>
                <a:cs typeface="Calibri"/>
                <a:sym typeface="Calibri"/>
              </a:rPr>
              <a:t>state-space layers and selected attention layers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Max context length 1M tokens</a:t>
            </a:r>
            <a:r>
              <a:rPr lang="en" sz="1200">
                <a:solidFill>
                  <a:schemeClr val="dk1"/>
                </a:solidFill>
                <a:latin typeface="Calibri"/>
                <a:ea typeface="Calibri"/>
                <a:cs typeface="Calibri"/>
                <a:sym typeface="Calibri"/>
              </a:rPr>
              <a:t> (depends on GPU and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NVIDIA provides inference-focused NVFP4 and reference/fine-tuning BF16 variants through </a:t>
            </a:r>
            <a:r>
              <a:rPr lang="en" sz="1200" b="1">
                <a:solidFill>
                  <a:srgbClr val="3C78D8"/>
                </a:solidFill>
                <a:latin typeface="Calibri"/>
                <a:ea typeface="Calibri"/>
                <a:cs typeface="Calibri"/>
                <a:sym typeface="Calibri"/>
              </a:rPr>
              <a:t>Hugging Face and NVIDIA</a:t>
            </a:r>
            <a:r>
              <a:rPr lang="en" sz="1200">
                <a:solidFill>
                  <a:schemeClr val="dk1"/>
                </a:solidFill>
                <a:latin typeface="Calibri"/>
                <a:ea typeface="Calibri"/>
                <a:cs typeface="Calibri"/>
                <a:sym typeface="Calibri"/>
              </a:rPr>
              <a:t>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NVFP4 is intended for single-GPU deployment, including DGX Spark and H100-class GPUs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Tool use, structured outputs, code, validation,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Multi-Token Prediction and optional DSpark/DFlash draft models can improve generation throughput.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Needs 32 GB of GPU/unified memory with the NVFP4 quantized release and a moderate context window</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Needs 80 GB H100 or A100 for single-GPU deployment of the full BF16 checkpoint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https://developer.nvidia.com/blog/nvidia-nemotron-3-5-lightning-delivers-fast-accurate-specialized-task-execution-for-long-running-agents/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70" name="Google Shape;170;p25"/>
          <p:cNvSpPr txBox="1"/>
          <p:nvPr/>
        </p:nvSpPr>
        <p:spPr>
          <a:xfrm>
            <a:off x="4620975" y="541117"/>
            <a:ext cx="44427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Anthropic is adding invisible watermarks</a:t>
            </a:r>
            <a:r>
              <a:rPr lang="en" sz="1200">
                <a:solidFill>
                  <a:schemeClr val="dk1"/>
                </a:solidFill>
                <a:latin typeface="Calibri"/>
                <a:ea typeface="Calibri"/>
                <a:cs typeface="Calibri"/>
                <a:sym typeface="Calibri"/>
              </a:rPr>
              <a:t> to Claude-generated content following new EU rules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Claude’s text watermark is invisible and cannot currently be seen with ordinary editors or hidden-character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is developing an official detector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supported image files, inspect the original file’s C2PA/Content Credentials metadata with a compatible viewer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Missing metadata does not prove Claude was not used, because re-exporting or platforms can strip it</a:t>
            </a:r>
            <a:endParaRPr sz="1200">
              <a:solidFill>
                <a:schemeClr val="dk1"/>
              </a:solidFill>
              <a:latin typeface="Calibri"/>
              <a:ea typeface="Calibri"/>
              <a:cs typeface="Calibri"/>
              <a:sym typeface="Calibri"/>
            </a:endParaRPr>
          </a:p>
        </p:txBody>
      </p:sp>
      <p:pic>
        <p:nvPicPr>
          <p:cNvPr id="171" name="Google Shape;171;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912675" y="3752025"/>
            <a:ext cx="2248650" cy="1263925"/>
          </a:xfrm>
          <a:prstGeom prst="rect">
            <a:avLst/>
          </a:prstGeom>
          <a:noFill/>
          <a:ln w="9525" cap="flat" cmpd="sng">
            <a:solidFill>
              <a:srgbClr val="FF0000"/>
            </a:solidFill>
            <a:prstDash val="solid"/>
            <a:round/>
            <a:headEnd type="none" w="sm" len="sm"/>
            <a:tailEnd type="none" w="sm" len="sm"/>
          </a:ln>
        </p:spPr>
      </p:pic>
      <p:pic>
        <p:nvPicPr>
          <p:cNvPr id="172" name="Google Shape;172;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20100" y="2337142"/>
            <a:ext cx="1959675" cy="1012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8" name="Google Shape;178;p26"/>
          <p:cNvSpPr txBox="1"/>
          <p:nvPr/>
        </p:nvSpPr>
        <p:spPr>
          <a:xfrm>
            <a:off x="4712100" y="160075"/>
            <a:ext cx="43206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Coldcard Seed Exploit - $100+ Mln Theft of Bitcoin</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COLDCARD is a Bitcoin-only hardware signing device </a:t>
            </a:r>
            <a:br>
              <a:rPr lang="en" sz="1100" b="1">
                <a:solidFill>
                  <a:srgbClr val="3C78D8"/>
                </a:solidFill>
                <a:latin typeface="Calibri"/>
                <a:ea typeface="Calibri"/>
                <a:cs typeface="Calibri"/>
                <a:sym typeface="Calibri"/>
              </a:rPr>
            </a:br>
            <a:r>
              <a:rPr lang="en" sz="1100" b="1">
                <a:solidFill>
                  <a:srgbClr val="3C78D8"/>
                </a:solidFill>
                <a:latin typeface="Calibri"/>
                <a:ea typeface="Calibri"/>
                <a:cs typeface="Calibri"/>
                <a:sym typeface="Calibri"/>
              </a:rPr>
              <a:t>made by Canadian company Coinkite</a:t>
            </a:r>
            <a:endParaRPr sz="1100" b="1">
              <a:solidFill>
                <a:srgbClr val="3C78D8"/>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https://coldcard.com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https://github.com/Coldcard/firmware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https://www.cbc.ca/news/world/bitcoin-coinkite-security-hack-9.7295582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https://blog.coinkite.com/coldcard-mk3-seed-generation-warning/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https://www.cbc.ca/player/play/video/9.7296534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Attackers exploited weak seed-generation randomness in affected Coldcard firmware, </a:t>
            </a:r>
            <a:r>
              <a:rPr lang="en" sz="1200" b="1">
                <a:solidFill>
                  <a:srgbClr val="FF0000"/>
                </a:solidFill>
                <a:latin typeface="Calibri"/>
                <a:ea typeface="Calibri"/>
                <a:cs typeface="Calibri"/>
                <a:sym typeface="Calibri"/>
              </a:rPr>
              <a:t>remotely deriving wallet recovery phrases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Confirmed thefts exceeded $100 million in Bitcoin</a:t>
            </a:r>
            <a:r>
              <a:rPr lang="en" sz="1200">
                <a:solidFill>
                  <a:schemeClr val="dk1"/>
                </a:solidFill>
                <a:latin typeface="Calibri"/>
                <a:ea typeface="Calibri"/>
                <a:cs typeface="Calibri"/>
                <a:sym typeface="Calibri"/>
              </a:rPr>
              <a:t> across roughly 7,300 addresses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flaw dates to firmware released in 2021 and affected existing seeds; installing updated firmware does not help with old seed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Affected users should generate a completely new seed on fixed firmware</a:t>
            </a:r>
            <a:endParaRPr sz="1200">
              <a:solidFill>
                <a:schemeClr val="dk1"/>
              </a:solidFill>
              <a:latin typeface="Calibri"/>
              <a:ea typeface="Calibri"/>
              <a:cs typeface="Calibri"/>
              <a:sym typeface="Calibri"/>
            </a:endParaRPr>
          </a:p>
        </p:txBody>
      </p:sp>
      <p:pic>
        <p:nvPicPr>
          <p:cNvPr id="179" name="Google Shape;179;p26"/>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386751" y="3212825"/>
            <a:ext cx="971275" cy="1615825"/>
          </a:xfrm>
          <a:prstGeom prst="rect">
            <a:avLst/>
          </a:prstGeom>
          <a:noFill/>
          <a:ln>
            <a:noFill/>
          </a:ln>
        </p:spPr>
      </p:pic>
      <p:sp>
        <p:nvSpPr>
          <p:cNvPr id="180" name="Google Shape;180;p26"/>
          <p:cNvSpPr txBox="1"/>
          <p:nvPr/>
        </p:nvSpPr>
        <p:spPr>
          <a:xfrm>
            <a:off x="81775" y="483825"/>
            <a:ext cx="4442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Claude Obsidian plugin v.2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9"/>
              </a:rPr>
              <a:t>https://obsidian.md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0"/>
              </a:rPr>
              <a:t>https://github.com/AgriciDaniel/claude-obsidian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1"/>
              </a:rPr>
              <a:t>https://agricidaniel.com/blog/claude-obsidian-ai-second-brain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12"/>
              </a:rPr>
              <a:t>https://www.youtube.com/watch?v=UGCZCrFJ-Y0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Free, open-source Claude Code plugin that turns locally owned plain-text notes into a connected Obsidian knowledge vault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It captures sources, preserves originals, creates linked notes, records claim provenance, and answers from vault evidence rather than inventing unsupported facts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Version 2.0 emphasizes recoverable operations, source-grounded knowledge, and safer separation between product code and user data</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Skills include ingestion, evidence-based querying, canvas mapping, linting, saving insights, search, and activity summaries.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Choose Generic, linked-map, Zettelkasten, or PARA mode to determine how future notes are organized.</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Supports multi-agent workflows with controlled, recoverable changes</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Prime Agent Harness vs Hermes</a:t>
            </a:r>
            <a:endParaRPr sz="2000" b="1">
              <a:solidFill>
                <a:schemeClr val="dk1"/>
              </a:solidFill>
              <a:latin typeface="Calibri"/>
              <a:ea typeface="Calibri"/>
              <a:cs typeface="Calibri"/>
              <a:sym typeface="Calibri"/>
            </a:endParaRPr>
          </a:p>
        </p:txBody>
      </p:sp>
      <p:sp>
        <p:nvSpPr>
          <p:cNvPr id="186" name="Google Shape;186;p27"/>
          <p:cNvSpPr txBox="1"/>
          <p:nvPr/>
        </p:nvSpPr>
        <p:spPr>
          <a:xfrm>
            <a:off x="81775" y="388575"/>
            <a:ext cx="44427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Harness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Intellect reports 95.5% on ARC-AGI-3 using Opus 5</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(exceeding 95.4% human-expert baseline)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 performance depends heavily on the scaffold (context management, tool design, memory, verification, and retry loops), not solely on model weights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https://primeintellect.ai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https://github.com/PrimeIntellect-ai/prime-agent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is an MIT-licensed, open-source agent harness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wraps existing LLMs with a persistent Python environment, tools, and subagents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recursive-language-model approach keeps large inputs external as variables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writes code to inspect, filter, summarize, and delegate work instead of ingesting every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targets “context rot,” where long inputs reduce accuracy before a model reaches its advertised context limit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https://www.primeintellect.ai/blog/prime-agent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https://www.primeintellect.ai/blog/recursive-language-models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https://www.youtube.com/watch?v=uY9tMU-KS4A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87" name="Google Shape;187;p2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00624" y="159970"/>
            <a:ext cx="3676649" cy="470925"/>
          </a:xfrm>
          <a:prstGeom prst="rect">
            <a:avLst/>
          </a:prstGeom>
          <a:noFill/>
          <a:ln w="9525" cap="flat" cmpd="sng">
            <a:solidFill>
              <a:srgbClr val="FF0000"/>
            </a:solidFill>
            <a:prstDash val="solid"/>
            <a:round/>
            <a:headEnd type="none" w="sm" len="sm"/>
            <a:tailEnd type="none" w="sm" len="sm"/>
          </a:ln>
        </p:spPr>
      </p:pic>
      <p:sp>
        <p:nvSpPr>
          <p:cNvPr id="188" name="Google Shape;188;p27"/>
          <p:cNvSpPr txBox="1"/>
          <p:nvPr/>
        </p:nvSpPr>
        <p:spPr>
          <a:xfrm>
            <a:off x="4617600" y="836250"/>
            <a:ext cx="4442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Prime Agent vs Hermes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Prime Agent excels at deep, long-running coding and research, using a persistent Python session and a private, editable learning harness; Lessons compound inside one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excels as a connected agent: tools, live search, MCP, multiple model providers, background workers, and shared external memory; A shared vault lets Hermes and other agents reuse business rules and history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Prime for focused autonomous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Hermes for integrated workflows and team-wide context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9"/>
              </a:rPr>
              <a:t>https://github.com/nousresearch/hermes-agent</a:t>
            </a:r>
            <a:r>
              <a:rPr lang="en" sz="1200">
                <a:solidFill>
                  <a:schemeClr val="dk1"/>
                </a:solidFill>
                <a:latin typeface="Calibri"/>
                <a:ea typeface="Calibri"/>
                <a:cs typeface="Calibri"/>
                <a:sym typeface="Calibri"/>
              </a:rPr>
              <a:t> - 230K stars</a:t>
            </a:r>
            <a:endParaRPr sz="1200">
              <a:solidFill>
                <a:schemeClr val="dk1"/>
              </a:solidFill>
              <a:latin typeface="Calibri"/>
              <a:ea typeface="Calibri"/>
              <a:cs typeface="Calibri"/>
              <a:sym typeface="Calibri"/>
            </a:endParaRPr>
          </a:p>
        </p:txBody>
      </p:sp>
      <p:pic>
        <p:nvPicPr>
          <p:cNvPr id="189" name="Google Shape;189;p27"/>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131655" y="3143800"/>
            <a:ext cx="1414595" cy="1865400"/>
          </a:xfrm>
          <a:prstGeom prst="rect">
            <a:avLst/>
          </a:prstGeom>
          <a:noFill/>
          <a:ln w="9525" cap="flat" cmpd="sng">
            <a:solidFill>
              <a:srgbClr val="FF0000"/>
            </a:solidFill>
            <a:prstDash val="solid"/>
            <a:round/>
            <a:headEnd type="none" w="sm" len="sm"/>
            <a:tailEnd type="none" w="sm" len="sm"/>
          </a:ln>
        </p:spPr>
      </p:pic>
      <p:sp>
        <p:nvSpPr>
          <p:cNvPr id="190" name="Google Shape;190;p27"/>
          <p:cNvSpPr txBox="1"/>
          <p:nvPr/>
        </p:nvSpPr>
        <p:spPr>
          <a:xfrm>
            <a:off x="81775" y="3932550"/>
            <a:ext cx="4442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Long-context models suffer “context rot”: accuracy declines causing missed instructions, faulty retrieval, and confident errors, especially near a prompt’s center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Recursive language models inspect stored document slices instead of loading everything into one prompt</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2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6" name="Google Shape;196;p28"/>
          <p:cNvSpPr txBox="1"/>
          <p:nvPr/>
        </p:nvSpPr>
        <p:spPr>
          <a:xfrm>
            <a:off x="81775" y="483825"/>
            <a:ext cx="4442700" cy="449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Gauntlet Loop: AI QA</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Gauntlet Loop is an agentic workflow popularized by </a:t>
            </a:r>
            <a:r>
              <a:rPr lang="en" sz="1200" b="1">
                <a:solidFill>
                  <a:srgbClr val="FF0000"/>
                </a:solidFill>
                <a:latin typeface="Calibri"/>
                <a:ea typeface="Calibri"/>
                <a:cs typeface="Calibri"/>
                <a:sym typeface="Calibri"/>
              </a:rPr>
              <a:t>Matt Shumer</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 lead agent decomposes a goal,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then specialist builders and independent blind critics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iteratively improve each inspectable component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gauntlet originally is a long protective glove, especially the armored glove worn by medieval knights. It later gained figurative meanings connected to challenge and hardship.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“Run the gauntlet” means endure a difficult series of attacks, tests, or criticisms.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 </a:t>
            </a:r>
            <a:r>
              <a:rPr lang="en" sz="1200" b="1">
                <a:solidFill>
                  <a:srgbClr val="FF0000"/>
                </a:solidFill>
                <a:latin typeface="Calibri"/>
                <a:ea typeface="Calibri"/>
                <a:cs typeface="Calibri"/>
                <a:sym typeface="Calibri"/>
              </a:rPr>
              <a:t>"Gauntlet Loop"</a:t>
            </a:r>
            <a:r>
              <a:rPr lang="en" sz="1200">
                <a:solidFill>
                  <a:schemeClr val="dk1"/>
                </a:solidFill>
                <a:latin typeface="Calibri"/>
                <a:ea typeface="Calibri"/>
                <a:cs typeface="Calibri"/>
                <a:sym typeface="Calibri"/>
              </a:rPr>
              <a:t> means going through a multi-step challenges or criticism</a:t>
            </a:r>
            <a:endParaRPr sz="12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https://x.com/mattshumer_/status/2081830214384886228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https://x.com/mattshumer_/status/2081830741436928208</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https://www.youtube.com/watch?v=XTONeqPuh_4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https://somethingbig.ai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https://github.com/mshumer/Claude-of-Duty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https://somethingbig.ai/gauntlet-loop</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The prompt for the Gauntlet Loop needs three essentials: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ambitious outcome,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 concrete benchmark critics can inspect,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an explicit stopping boundary</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Treat viral claims cautiously: blind evaluation, measurable tests, budget caps, and human acceptance remain essential;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“utterly wowed” is not a reliable completion criterion</a:t>
            </a:r>
            <a:endParaRPr sz="1200">
              <a:solidFill>
                <a:schemeClr val="dk1"/>
              </a:solidFill>
              <a:latin typeface="Calibri"/>
              <a:ea typeface="Calibri"/>
              <a:cs typeface="Calibri"/>
              <a:sym typeface="Calibri"/>
            </a:endParaRPr>
          </a:p>
        </p:txBody>
      </p:sp>
      <p:pic>
        <p:nvPicPr>
          <p:cNvPr id="197" name="Google Shape;197;p2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62600" y="483825"/>
            <a:ext cx="1590575" cy="1803175"/>
          </a:xfrm>
          <a:prstGeom prst="rect">
            <a:avLst/>
          </a:prstGeom>
          <a:noFill/>
          <a:ln w="9525" cap="flat" cmpd="sng">
            <a:solidFill>
              <a:srgbClr val="FF0000"/>
            </a:solidFill>
            <a:prstDash val="solid"/>
            <a:round/>
            <a:headEnd type="none" w="sm" len="sm"/>
            <a:tailEnd type="none" w="sm" len="sm"/>
          </a:ln>
        </p:spPr>
      </p:pic>
      <p:pic>
        <p:nvPicPr>
          <p:cNvPr id="198" name="Google Shape;198;p2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810475" y="326400"/>
            <a:ext cx="1590576" cy="1590576"/>
          </a:xfrm>
          <a:prstGeom prst="rect">
            <a:avLst/>
          </a:prstGeom>
          <a:noFill/>
          <a:ln>
            <a:noFill/>
          </a:ln>
        </p:spPr>
      </p:pic>
      <p:sp>
        <p:nvSpPr>
          <p:cNvPr id="199" name="Google Shape;199;p28"/>
          <p:cNvSpPr txBox="1"/>
          <p:nvPr/>
        </p:nvSpPr>
        <p:spPr>
          <a:xfrm>
            <a:off x="4615675" y="2384475"/>
            <a:ext cx="4442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Matt Shumer</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entrepreneur and investor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Co-founder of </a:t>
            </a:r>
            <a:r>
              <a:rPr lang="en" sz="1200" b="1">
                <a:solidFill>
                  <a:srgbClr val="3C78D8"/>
                </a:solidFill>
                <a:latin typeface="Calibri"/>
                <a:ea typeface="Calibri"/>
                <a:cs typeface="Calibri"/>
                <a:sym typeface="Calibri"/>
              </a:rPr>
              <a:t>OthersideAI</a:t>
            </a:r>
            <a:r>
              <a:rPr lang="en" sz="1200">
                <a:solidFill>
                  <a:schemeClr val="dk1"/>
                </a:solidFill>
                <a:latin typeface="Calibri"/>
                <a:ea typeface="Calibri"/>
                <a:cs typeface="Calibri"/>
                <a:sym typeface="Calibri"/>
              </a:rPr>
              <a:t>, the company behind the AI writing assistant HyperWrite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also invests in early-stage AI infrastructure and developer-tool companies through </a:t>
            </a:r>
            <a:r>
              <a:rPr lang="en" sz="1200" b="1">
                <a:solidFill>
                  <a:srgbClr val="3C78D8"/>
                </a:solidFill>
                <a:latin typeface="Calibri"/>
                <a:ea typeface="Calibri"/>
                <a:cs typeface="Calibri"/>
                <a:sym typeface="Calibri"/>
              </a:rPr>
              <a:t>Shumer Capital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became widely visible for his </a:t>
            </a:r>
            <a:r>
              <a:rPr lang="en" sz="1200" b="1">
                <a:solidFill>
                  <a:srgbClr val="3C78D8"/>
                </a:solidFill>
                <a:latin typeface="Calibri"/>
                <a:ea typeface="Calibri"/>
                <a:cs typeface="Calibri"/>
                <a:sym typeface="Calibri"/>
              </a:rPr>
              <a:t>February 2026 essay, “Something Big Is Happening,”</a:t>
            </a:r>
            <a:r>
              <a:rPr lang="en" sz="1200">
                <a:solidFill>
                  <a:schemeClr val="dk1"/>
                </a:solidFill>
                <a:latin typeface="Calibri"/>
                <a:ea typeface="Calibri"/>
                <a:cs typeface="Calibri"/>
                <a:sym typeface="Calibri"/>
              </a:rPr>
              <a:t> which </a:t>
            </a:r>
            <a:r>
              <a:rPr lang="en" sz="1200" b="1">
                <a:solidFill>
                  <a:srgbClr val="6AA84F"/>
                </a:solidFill>
                <a:latin typeface="Calibri"/>
                <a:ea typeface="Calibri"/>
                <a:cs typeface="Calibri"/>
                <a:sym typeface="Calibri"/>
              </a:rPr>
              <a:t>argued that the public is underestimating rapidly improving AI capabilities and their implications for knowledge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post reportedly reached more than 80 million views and sparked substantial debate about whether its conclusions were too alarmist</a:t>
            </a:r>
            <a:endParaRPr sz="12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5" name="Google Shape;205;p29"/>
          <p:cNvSpPr txBox="1"/>
          <p:nvPr/>
        </p:nvSpPr>
        <p:spPr>
          <a:xfrm>
            <a:off x="81775" y="404925"/>
            <a:ext cx="4442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Harness-R1: Outcome-Graded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deploy AI agent and collect every failure trajectory it produces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a separate 9B "harness engineer" reads those failures and diagnoses what keeps going wrong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the engineer writes executable code patches that change how the runtime feeds context, validates actions, and triggers recovery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the patched agent reruns the exact same tasks </a:t>
            </a:r>
            <a:r>
              <a:rPr lang="en" sz="1200" b="1">
                <a:solidFill>
                  <a:srgbClr val="3C78D8"/>
                </a:solidFill>
                <a:latin typeface="Calibri"/>
                <a:ea typeface="Calibri"/>
                <a:cs typeface="Calibri"/>
                <a:sym typeface="Calibri"/>
              </a:rPr>
              <a:t>with its original weights frozen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a:t>
            </a:r>
            <a:r>
              <a:rPr lang="en" sz="1200" b="1">
                <a:solidFill>
                  <a:srgbClr val="3C78D8"/>
                </a:solidFill>
                <a:latin typeface="Calibri"/>
                <a:ea typeface="Calibri"/>
                <a:cs typeface="Calibri"/>
                <a:sym typeface="Calibri"/>
              </a:rPr>
              <a:t>only patches that actually raised task success survive and train the engineer further through reinforcement learning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harness can add start-of-task guidance, decision hints, pre-action guards, and post-feedback recovery instructions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raised the vanilla target’s average success from 44.3% to 53.6%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Core lesson: outcome-tested harness engineering can outperform much larger prompted generalist models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https://arxiv.org/abs/2608.02276</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https://github.com/DeepExperience/Harness-R1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https://x.com/alex_verem/status/2084986586496954648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https://www.youtube.com/watch?v=mYx3r8YA-HY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06" name="Google Shape;206;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6875" y="404926"/>
            <a:ext cx="3869482" cy="2194625"/>
          </a:xfrm>
          <a:prstGeom prst="rect">
            <a:avLst/>
          </a:prstGeom>
          <a:noFill/>
          <a:ln w="9525" cap="flat" cmpd="sng">
            <a:solidFill>
              <a:srgbClr val="FF0000"/>
            </a:solidFill>
            <a:prstDash val="solid"/>
            <a:round/>
            <a:headEnd type="none" w="sm" len="sm"/>
            <a:tailEnd type="none" w="sm" len="sm"/>
          </a:ln>
        </p:spPr>
      </p:pic>
      <p:sp>
        <p:nvSpPr>
          <p:cNvPr id="207" name="Google Shape;207;p29"/>
          <p:cNvSpPr txBox="1"/>
          <p:nvPr/>
        </p:nvSpPr>
        <p:spPr>
          <a:xfrm>
            <a:off x="4383400" y="4004825"/>
            <a:ext cx="2381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Vibe-coding startup Lovable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raises $400M at $13.3B valuation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Lovable hit $500 Mln ARR in June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Founders: Anton Osika and Fabian Hedin</a:t>
            </a:r>
            <a:endParaRPr sz="1200">
              <a:solidFill>
                <a:schemeClr val="dk1"/>
              </a:solidFill>
              <a:latin typeface="Calibri"/>
              <a:ea typeface="Calibri"/>
              <a:cs typeface="Calibri"/>
              <a:sym typeface="Calibri"/>
            </a:endParaRPr>
          </a:p>
        </p:txBody>
      </p:sp>
      <p:pic>
        <p:nvPicPr>
          <p:cNvPr id="208" name="Google Shape;208;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850700" y="3395224"/>
            <a:ext cx="2140899" cy="1551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0"/>
          <p:cNvSpPr txBox="1"/>
          <p:nvPr/>
        </p:nvSpPr>
        <p:spPr>
          <a:xfrm>
            <a:off x="81775" y="0"/>
            <a:ext cx="4469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Mark Zuckerberg - AI Access vs Compute</a:t>
            </a:r>
            <a:endParaRPr sz="2000" b="1">
              <a:solidFill>
                <a:schemeClr val="dk1"/>
              </a:solidFill>
              <a:latin typeface="Calibri"/>
              <a:ea typeface="Calibri"/>
              <a:cs typeface="Calibri"/>
              <a:sym typeface="Calibri"/>
            </a:endParaRPr>
          </a:p>
        </p:txBody>
      </p:sp>
      <p:sp>
        <p:nvSpPr>
          <p:cNvPr id="214" name="Google Shape;214;p30"/>
          <p:cNvSpPr txBox="1"/>
          <p:nvPr/>
        </p:nvSpPr>
        <p:spPr>
          <a:xfrm>
            <a:off x="81775" y="850575"/>
            <a:ext cx="47823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Mark Zuckerberg - AI Access vs Compute</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https://about.fb.com/news/2026/08/the-future-is-for-everyone/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https://www.theverge.com/tech/977395/meta-mark-zuckerberg-superintelligent-ai-ramble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https://www.facebook.com/zuck/posts/i-wrote-about-why-we-believe-the-future-is-for-everyone-more-coming-about-a-posi/10117806351954741/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https://www.facebook.com/FoxBusiness/videos/new-meta-founder-and-ceo-mark-zuckerberg-outlining-his-ai-vision-for-a-world-whe/1331806370010628/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Mark Zuckerberg advocates personal superintelligence: </a:t>
            </a:r>
            <a:r>
              <a:rPr lang="en" sz="1200" b="1">
                <a:solidFill>
                  <a:srgbClr val="3C78D8"/>
                </a:solidFill>
                <a:latin typeface="Calibri"/>
                <a:ea typeface="Calibri"/>
                <a:cs typeface="Calibri"/>
                <a:sym typeface="Calibri"/>
              </a:rPr>
              <a:t>free or affordable AI, open models, individual agency, invention, entrepreneurship, tutoring, health support, and broad scientific progress</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rejects safety through concentration of power, arguing that institutions alone cannot align AI with everyone’s values.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central critique is economic: model access is not equal capability when compute, energy, data centers, and capital remain finite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Wealthier firms or litigants can buy more inference, parallel research, and stronger agents, preserving or amplifying existing advantages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Broad access can improve defense, innovation, and long-tail problem solving, but fairness needs compute distribution - not merely open-weight models</a:t>
            </a:r>
            <a:endParaRPr sz="1200">
              <a:solidFill>
                <a:schemeClr val="dk1"/>
              </a:solidFill>
              <a:latin typeface="Calibri"/>
              <a:ea typeface="Calibri"/>
              <a:cs typeface="Calibri"/>
              <a:sym typeface="Calibri"/>
            </a:endParaRPr>
          </a:p>
        </p:txBody>
      </p:sp>
      <p:pic>
        <p:nvPicPr>
          <p:cNvPr id="215" name="Google Shape;215;p3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123125" y="622025"/>
            <a:ext cx="2902026" cy="2176520"/>
          </a:xfrm>
          <a:prstGeom prst="rect">
            <a:avLst/>
          </a:prstGeom>
          <a:noFill/>
          <a:ln w="9525" cap="flat" cmpd="sng">
            <a:solidFill>
              <a:srgbClr val="FF0000"/>
            </a:solidFill>
            <a:prstDash val="solid"/>
            <a:round/>
            <a:headEnd type="none" w="sm" len="sm"/>
            <a:tailEnd type="none" w="sm" len="sm"/>
          </a:ln>
        </p:spPr>
      </p:pic>
      <p:pic>
        <p:nvPicPr>
          <p:cNvPr id="216" name="Google Shape;216;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633338" y="2950944"/>
            <a:ext cx="1881594" cy="204015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1"/>
          <p:cNvSpPr txBox="1"/>
          <p:nvPr/>
        </p:nvSpPr>
        <p:spPr>
          <a:xfrm>
            <a:off x="81775" y="0"/>
            <a:ext cx="3116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Double Descent Explained</a:t>
            </a:r>
            <a:endParaRPr sz="2000" b="1">
              <a:solidFill>
                <a:schemeClr val="dk1"/>
              </a:solidFill>
              <a:latin typeface="Calibri"/>
              <a:ea typeface="Calibri"/>
              <a:cs typeface="Calibri"/>
              <a:sym typeface="Calibri"/>
            </a:endParaRPr>
          </a:p>
        </p:txBody>
      </p:sp>
      <p:sp>
        <p:nvSpPr>
          <p:cNvPr id="222" name="Google Shape;222;p31"/>
          <p:cNvSpPr txBox="1"/>
          <p:nvPr/>
        </p:nvSpPr>
        <p:spPr>
          <a:xfrm>
            <a:off x="5355075" y="4024250"/>
            <a:ext cx="30408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https://www.youtube.com/watch?v=NP8oGdiu8dQ</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https://mlu-explain.github.io/double-descent/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https://github.com/josch14/double-descent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https://www.pnas.org/doi/10.1073/pnas.1903070116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https://arxiv.org/abs/1812.11118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8"/>
              </a:rPr>
              <a:t>https://www.youtube.com/watch?v=lJIW8TaAxLo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223" name="Google Shape;223;p31"/>
          <p:cNvSpPr txBox="1"/>
          <p:nvPr/>
        </p:nvSpPr>
        <p:spPr>
          <a:xfrm>
            <a:off x="81775" y="421375"/>
            <a:ext cx="43845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Everyone learns the same rule: </a:t>
            </a:r>
            <a:r>
              <a:rPr lang="en" sz="1200" b="1">
                <a:solidFill>
                  <a:srgbClr val="FF0000"/>
                </a:solidFill>
                <a:latin typeface="Calibri"/>
                <a:ea typeface="Calibri"/>
                <a:cs typeface="Calibri"/>
                <a:sym typeface="Calibri"/>
              </a:rPr>
              <a:t>make a model too big and it overfits, memorizing the noise in the training data</a:t>
            </a:r>
            <a:r>
              <a:rPr lang="en" sz="1200">
                <a:solidFill>
                  <a:schemeClr val="dk1"/>
                </a:solidFill>
                <a:latin typeface="Calibri"/>
                <a:ea typeface="Calibri"/>
                <a:cs typeface="Calibri"/>
                <a:sym typeface="Calibri"/>
              </a:rPr>
              <a:t> until it fails on everything new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classic </a:t>
            </a:r>
            <a:r>
              <a:rPr lang="en" sz="1200" b="1">
                <a:solidFill>
                  <a:srgbClr val="FF0000"/>
                </a:solidFill>
                <a:latin typeface="Calibri"/>
                <a:ea typeface="Calibri"/>
                <a:cs typeface="Calibri"/>
                <a:sym typeface="Calibri"/>
              </a:rPr>
              <a:t>bias-variance curve</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says test error is U-shaped, so you find the sweet spot and stop</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But </a:t>
            </a:r>
            <a:r>
              <a:rPr lang="en" sz="1200" b="1">
                <a:solidFill>
                  <a:srgbClr val="FF0000"/>
                </a:solidFill>
                <a:latin typeface="Calibri"/>
                <a:ea typeface="Calibri"/>
                <a:cs typeface="Calibri"/>
                <a:sym typeface="Calibri"/>
              </a:rPr>
              <a:t>modern neural networks have far more parameters than training examples</a:t>
            </a:r>
            <a:r>
              <a:rPr lang="en" sz="1200">
                <a:solidFill>
                  <a:schemeClr val="dk1"/>
                </a:solidFill>
                <a:latin typeface="Calibri"/>
                <a:ea typeface="Calibri"/>
                <a:cs typeface="Calibri"/>
                <a:sym typeface="Calibri"/>
              </a:rPr>
              <a:t>, sit way past that sweet spot, and still generalize beautifully. How?</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answer is a curve that seems to break the rule. As you keep adding parameters, test error climbs exactly as the textbook predicts, peaking at the interpolation threshold, the point where the model has just enough capacity to thread every training point and drive training error to zero</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Right there the fit is forced through every noisy point with no slack, so it swings wildly and generalizes worst. </a:t>
            </a:r>
            <a:r>
              <a:rPr lang="en" sz="1200" b="1">
                <a:solidFill>
                  <a:srgbClr val="FF0000"/>
                </a:solidFill>
                <a:latin typeface="Calibri"/>
                <a:ea typeface="Calibri"/>
                <a:cs typeface="Calibri"/>
                <a:sym typeface="Calibri"/>
              </a:rPr>
              <a:t>But push past the threshold and test error descends a second time, often below the classical sweet spot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Once there are more parameters than points, infinitely many perfect fits exist, and gradient descent </a:t>
            </a:r>
            <a:r>
              <a:rPr lang="en" sz="1200" b="1">
                <a:solidFill>
                  <a:srgbClr val="FF0000"/>
                </a:solidFill>
                <a:latin typeface="Calibri"/>
                <a:ea typeface="Calibri"/>
                <a:cs typeface="Calibri"/>
                <a:sym typeface="Calibri"/>
              </a:rPr>
              <a:t>quietly prefers the smoothest, lowest-norm one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More parameters give it more room to stay smooth, which is why a giant network that memorizes its training set can still be the one that generalizes best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This is </a:t>
            </a:r>
            <a:r>
              <a:rPr lang="en" sz="1200" b="1">
                <a:solidFill>
                  <a:srgbClr val="FF0000"/>
                </a:solidFill>
                <a:latin typeface="Calibri"/>
                <a:ea typeface="Calibri"/>
                <a:cs typeface="Calibri"/>
                <a:sym typeface="Calibri"/>
              </a:rPr>
              <a:t>double descent</a:t>
            </a:r>
            <a:r>
              <a:rPr lang="en" sz="1200">
                <a:solidFill>
                  <a:schemeClr val="dk1"/>
                </a:solidFill>
                <a:latin typeface="Calibri"/>
                <a:ea typeface="Calibri"/>
                <a:cs typeface="Calibri"/>
                <a:sym typeface="Calibri"/>
              </a:rPr>
              <a:t>, and it is why in deep learning, bigger really can be better.</a:t>
            </a:r>
            <a:endParaRPr sz="1200">
              <a:solidFill>
                <a:schemeClr val="dk1"/>
              </a:solidFill>
              <a:latin typeface="Calibri"/>
              <a:ea typeface="Calibri"/>
              <a:cs typeface="Calibri"/>
              <a:sym typeface="Calibri"/>
            </a:endParaRPr>
          </a:p>
        </p:txBody>
      </p:sp>
      <p:pic>
        <p:nvPicPr>
          <p:cNvPr id="224" name="Google Shape;224;p31"/>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519200" y="479075"/>
            <a:ext cx="2712550" cy="1512225"/>
          </a:xfrm>
          <a:prstGeom prst="rect">
            <a:avLst/>
          </a:prstGeom>
          <a:noFill/>
          <a:ln w="9525" cap="flat" cmpd="sng">
            <a:solidFill>
              <a:srgbClr val="FF0000"/>
            </a:solidFill>
            <a:prstDash val="solid"/>
            <a:round/>
            <a:headEnd type="none" w="sm" len="sm"/>
            <a:tailEnd type="none" w="sm" len="sm"/>
          </a:ln>
        </p:spPr>
      </p:pic>
      <p:pic>
        <p:nvPicPr>
          <p:cNvPr id="225" name="Google Shape;225;p31" title="pnas.1903070116fig01.jpeg"/>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5680875" y="2154750"/>
            <a:ext cx="2389200" cy="1710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2"/>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1" name="Google Shape;231;p32"/>
          <p:cNvSpPr txBox="1"/>
          <p:nvPr/>
        </p:nvSpPr>
        <p:spPr>
          <a:xfrm>
            <a:off x="81775" y="425675"/>
            <a:ext cx="43893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cmux - an Agent-Friendly Terminal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a native macOS terminal designed for developers coordinating multiple AI coding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cmux is free, open source, and currently macOS-only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https://cmux.com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https://github.com/manaflow-ai/cmux</a:t>
            </a:r>
            <a:r>
              <a:rPr lang="en" sz="1200">
                <a:solidFill>
                  <a:schemeClr val="dk1"/>
                </a:solidFill>
                <a:latin typeface="Calibri"/>
                <a:ea typeface="Calibri"/>
                <a:cs typeface="Calibri"/>
                <a:sym typeface="Calibri"/>
              </a:rPr>
              <a:t>  - 26K stars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https://betterstack.com/community/guides/ai/cmux-terminal/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https://www.ycombinator.com/launches/PbB-cmux-the-open-source-terminal-built-for-coding-agents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https://www.youtube.com/watch?v=bGXagNWlk74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Ghostty terminal engine with a Swift and AppKit interface, rather than Electron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Vertical tabs, pane splits, workspaces, and notification rings make active agent sessions easier to monitor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embedded browser lets agents and developers inspect local web applications without leaving the workspace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CLI and socket-control API can create workspaces, operate panes, send keystrokes, and automate browser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supports agent-oriented CLI tools such as Claude Code, Codex, Gemini CLI, OpenCode, Kiro, and Aider</a:t>
            </a:r>
            <a:endParaRPr sz="1200">
              <a:solidFill>
                <a:schemeClr val="dk1"/>
              </a:solidFill>
              <a:latin typeface="Calibri"/>
              <a:ea typeface="Calibri"/>
              <a:cs typeface="Calibri"/>
              <a:sym typeface="Calibri"/>
            </a:endParaRPr>
          </a:p>
        </p:txBody>
      </p:sp>
      <p:pic>
        <p:nvPicPr>
          <p:cNvPr id="232" name="Google Shape;232;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46250" y="1306950"/>
            <a:ext cx="4368128" cy="25295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8" name="Google Shape;238;p33"/>
          <p:cNvSpPr txBox="1"/>
          <p:nvPr/>
        </p:nvSpPr>
        <p:spPr>
          <a:xfrm>
            <a:off x="81775" y="425675"/>
            <a:ext cx="44364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Stella’s AI-App Launch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article claims the app reached about $300,000 in monthly recurring revenue within two months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https://apps.apple.com/us/app/stella-manifest-anything/id6757347283</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https://medium.com/@yumaueno/she-had-never-written-a-line-of-code-two-months-later-her-app-was-making-300-000-a-month-888c37439bbd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https://www.instagram.com/reel/DUwVfllDjNJ/</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https://www.youtube.com/watch?v=Eg93po_DAYo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https://www.stork.ai/blog/this-ai-app-makes-300kmonth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Sarah Perl, creator of the HotHighPriestess brand, launched Stella, an iPhone manifestation app centered on personalized “dream life” audio narratives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reported story says she had no conventional programming background, used Claude Code and Google AI Studio, and produced an MVP in roughly two days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Stella asks users about desired career, relationship, financial, or personal outcomes, then </a:t>
            </a:r>
            <a:r>
              <a:rPr lang="en" sz="1200" b="1">
                <a:solidFill>
                  <a:srgbClr val="FF0000"/>
                </a:solidFill>
                <a:latin typeface="Calibri"/>
                <a:ea typeface="Calibri"/>
                <a:cs typeface="Calibri"/>
                <a:sym typeface="Calibri"/>
              </a:rPr>
              <a:t>generates customized visualizations and daily affirmations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launch advantage was distribution: Perl already had a large social audience, allowing rapid testing of short-form content, hooks, and conversion to downloads</a:t>
            </a:r>
            <a:endParaRPr sz="1200">
              <a:solidFill>
                <a:schemeClr val="dk1"/>
              </a:solidFill>
              <a:latin typeface="Calibri"/>
              <a:ea typeface="Calibri"/>
              <a:cs typeface="Calibri"/>
              <a:sym typeface="Calibri"/>
            </a:endParaRPr>
          </a:p>
        </p:txBody>
      </p:sp>
      <p:pic>
        <p:nvPicPr>
          <p:cNvPr id="239" name="Google Shape;239;p3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3475" y="152400"/>
            <a:ext cx="2106051" cy="2221275"/>
          </a:xfrm>
          <a:prstGeom prst="rect">
            <a:avLst/>
          </a:prstGeom>
          <a:noFill/>
          <a:ln w="9525" cap="flat" cmpd="sng">
            <a:solidFill>
              <a:srgbClr val="FF0000"/>
            </a:solidFill>
            <a:prstDash val="solid"/>
            <a:round/>
            <a:headEnd type="none" w="sm" len="sm"/>
            <a:tailEnd type="none" w="sm" len="sm"/>
          </a:ln>
        </p:spPr>
      </p:pic>
      <p:pic>
        <p:nvPicPr>
          <p:cNvPr id="240" name="Google Shape;240;p3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23475" y="2526075"/>
            <a:ext cx="2736698" cy="24650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VEED Fabric AI Video Test</a:t>
            </a:r>
            <a:endParaRPr sz="2000" b="1">
              <a:solidFill>
                <a:schemeClr val="dk1"/>
              </a:solidFill>
              <a:latin typeface="Calibri"/>
              <a:ea typeface="Calibri"/>
              <a:cs typeface="Calibri"/>
              <a:sym typeface="Calibri"/>
            </a:endParaRPr>
          </a:p>
        </p:txBody>
      </p:sp>
      <p:sp>
        <p:nvSpPr>
          <p:cNvPr id="246" name="Google Shape;246;p34"/>
          <p:cNvSpPr txBox="1"/>
          <p:nvPr/>
        </p:nvSpPr>
        <p:spPr>
          <a:xfrm>
            <a:off x="81775" y="425675"/>
            <a:ext cx="44364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VEED Fabric AI Video Test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https://www.veed.io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https://github.com/veedstudio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https://www.veed.io/tools/ai-video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https://www.youtube.com/watch?v=fNM6zU6cMKY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Julia McCoy tests VEED Fabric 1.0, which </a:t>
            </a:r>
            <a:r>
              <a:rPr lang="en" sz="1200" b="1">
                <a:solidFill>
                  <a:srgbClr val="FF0000"/>
                </a:solidFill>
                <a:latin typeface="Calibri"/>
                <a:ea typeface="Calibri"/>
                <a:cs typeface="Calibri"/>
                <a:sym typeface="Calibri"/>
              </a:rPr>
              <a:t>animates a single real or AI-made image into a speaking avatar</a:t>
            </a:r>
            <a:r>
              <a:rPr lang="en" sz="1200">
                <a:solidFill>
                  <a:schemeClr val="dk1"/>
                </a:solidFill>
                <a:latin typeface="Calibri"/>
                <a:ea typeface="Calibri"/>
                <a:cs typeface="Calibri"/>
                <a:sym typeface="Calibri"/>
              </a:rPr>
              <a:t> driven by supplied, cloned, or library voice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It synchronizes lips, blinks, head motion, shoulders, and gestures</a:t>
            </a:r>
            <a:r>
              <a:rPr lang="en" sz="1200">
                <a:solidFill>
                  <a:schemeClr val="dk1"/>
                </a:solidFill>
                <a:latin typeface="Calibri"/>
                <a:ea typeface="Calibri"/>
                <a:cs typeface="Calibri"/>
                <a:sym typeface="Calibri"/>
              </a:rPr>
              <a:t>; short 10–30-second outputs look strongest, while longer clips reveal artifacts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 AI Studio converts a written concept into a draft script, scenes, narration or avatar, captions, and suggested AI B-roll, then allows scene-level rewriting and model choice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editor adds subtitles, transitions, music, audio cleanup, silence removal, eye-contact correction, and background expansion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Verdict: trained avatars remain more realistic, but one-photo generation sharply lowers production time and cost; clear messaging becomes the differentiator</a:t>
            </a:r>
            <a:endParaRPr sz="1200">
              <a:solidFill>
                <a:schemeClr val="dk1"/>
              </a:solidFill>
              <a:latin typeface="Calibri"/>
              <a:ea typeface="Calibri"/>
              <a:cs typeface="Calibri"/>
              <a:sym typeface="Calibri"/>
            </a:endParaRPr>
          </a:p>
        </p:txBody>
      </p:sp>
      <p:pic>
        <p:nvPicPr>
          <p:cNvPr id="247" name="Google Shape;247;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0575" y="801225"/>
            <a:ext cx="3322224" cy="2862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3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3" name="Google Shape;253;p35"/>
          <p:cNvSpPr txBox="1"/>
          <p:nvPr/>
        </p:nvSpPr>
        <p:spPr>
          <a:xfrm>
            <a:off x="81775" y="425675"/>
            <a:ext cx="52725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Stanford Virtual Biotech</a:t>
            </a:r>
            <a:endParaRPr sz="1200" b="1">
              <a:solidFill>
                <a:srgbClr val="FF0000"/>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3"/>
              </a:rPr>
              <a:t>https://med.stanford.edu/cancer/about/news/inside-the-virtual-lab--how-ai-scientists-are-accelerating-disco.html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4"/>
              </a:rPr>
              <a:t>https://github.com/zou-group/virtual-lab</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5"/>
              </a:rPr>
              <a:t>https://venturebeat.com/orchestration/stanford-is-running-37-000-ai-agents-as-a-virtual-biotech-and-one-of-its-drug-designs-got-independently-confirmed-by-merck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6"/>
              </a:rPr>
              <a:t>https://www.linkedin.com/posts/james-zou-2123a4133_introducing-the-virtual-biotech-our-vision-activity-7433227674992517120-SOBt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95250" algn="l" rtl="0">
              <a:lnSpc>
                <a:spcPct val="100000"/>
              </a:lnSpc>
              <a:spcBef>
                <a:spcPts val="0"/>
              </a:spcBef>
              <a:spcAft>
                <a:spcPts val="0"/>
              </a:spcAft>
              <a:buClr>
                <a:schemeClr val="dk1"/>
              </a:buClr>
              <a:buSzPts val="600"/>
              <a:buFont typeface="Calibri"/>
              <a:buChar char="●"/>
            </a:pPr>
            <a:r>
              <a:rPr lang="en" sz="900" u="sng">
                <a:solidFill>
                  <a:schemeClr val="hlink"/>
                </a:solidFill>
                <a:latin typeface="Calibri"/>
                <a:ea typeface="Calibri"/>
                <a:cs typeface="Calibri"/>
                <a:sym typeface="Calibri"/>
                <a:hlinkClick r:id="rId7"/>
              </a:rPr>
              <a:t>https://www.youtube.com/watch?v=jd3zHAw_S4Y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Stanford’s Virtual Biotech</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 organizes thousands of specialized AI scientist agents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 under a Chief Scientific Officer agent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modeling target discovery, molecule design,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and clinical-development functions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3C78D8"/>
                </a:solidFill>
                <a:latin typeface="Calibri"/>
                <a:ea typeface="Calibri"/>
                <a:cs typeface="Calibri"/>
                <a:sym typeface="Calibri"/>
              </a:rPr>
              <a:t>37,000 clinical-trial agents processed 60,000 trials</a:t>
            </a:r>
            <a:r>
              <a:rPr lang="en" sz="1200">
                <a:solidFill>
                  <a:schemeClr val="dk1"/>
                </a:solidFill>
                <a:latin typeface="Calibri"/>
                <a:ea typeface="Calibri"/>
                <a:cs typeface="Calibri"/>
                <a:sym typeface="Calibri"/>
              </a:rPr>
              <a:t> to identify biomarkers and target signals linked to clinical success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system proposed a CD276-targeting antibody-drug conjugate for lung cancer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Merck later independently advanced a substantially similar therapeutic strategy, providing an encouraging external corroboration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platform is intended to accelerate computational hypothesis generation while keeping experimental validation and human scientific judgment essential</a:t>
            </a:r>
            <a:endParaRPr sz="1200">
              <a:solidFill>
                <a:schemeClr val="dk1"/>
              </a:solidFill>
              <a:latin typeface="Calibri"/>
              <a:ea typeface="Calibri"/>
              <a:cs typeface="Calibri"/>
              <a:sym typeface="Calibri"/>
            </a:endParaRPr>
          </a:p>
        </p:txBody>
      </p:sp>
      <p:pic>
        <p:nvPicPr>
          <p:cNvPr id="254" name="Google Shape;254;p3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06675" y="425677"/>
            <a:ext cx="3484925" cy="1933044"/>
          </a:xfrm>
          <a:prstGeom prst="rect">
            <a:avLst/>
          </a:prstGeom>
          <a:noFill/>
          <a:ln w="9525" cap="flat" cmpd="sng">
            <a:solidFill>
              <a:srgbClr val="FF0000"/>
            </a:solidFill>
            <a:prstDash val="solid"/>
            <a:round/>
            <a:headEnd type="none" w="sm" len="sm"/>
            <a:tailEnd type="none" w="sm" len="sm"/>
          </a:ln>
        </p:spPr>
      </p:pic>
      <p:sp>
        <p:nvSpPr>
          <p:cNvPr id="255" name="Google Shape;255;p35"/>
          <p:cNvSpPr txBox="1"/>
          <p:nvPr/>
        </p:nvSpPr>
        <p:spPr>
          <a:xfrm>
            <a:off x="5505350" y="2489175"/>
            <a:ext cx="3484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James Zou</a:t>
            </a:r>
            <a:r>
              <a:rPr lang="en" sz="1200">
                <a:solidFill>
                  <a:schemeClr val="dk1"/>
                </a:solidFill>
                <a:latin typeface="Calibri"/>
                <a:ea typeface="Calibri"/>
                <a:cs typeface="Calibri"/>
                <a:sym typeface="Calibri"/>
              </a:rPr>
              <a:t> is a Stanford AI researcher working at the intersection of machine learning, biology, medicine, and AI agents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 is an associate professor of Biomedical Data Science and, by courtesy, Computer Science and Electrical Engineering, and </a:t>
            </a:r>
            <a:r>
              <a:rPr lang="en" sz="1200" b="1">
                <a:solidFill>
                  <a:srgbClr val="FF0000"/>
                </a:solidFill>
                <a:latin typeface="Calibri"/>
                <a:ea typeface="Calibri"/>
                <a:cs typeface="Calibri"/>
                <a:sym typeface="Calibri"/>
              </a:rPr>
              <a:t>leads the Stanford AI for Science Lab</a:t>
            </a:r>
            <a:endParaRPr sz="1200" b="1">
              <a:solidFill>
                <a:srgbClr val="FF0000"/>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1" name="Google Shape;261;p36"/>
          <p:cNvSpPr txBox="1"/>
          <p:nvPr/>
        </p:nvSpPr>
        <p:spPr>
          <a:xfrm>
            <a:off x="81775" y="425675"/>
            <a:ext cx="44091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AI Dev Platforms: GitHub vs Vercel vs Replit</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AI has made software coding a cheap commodity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The value of dev platform shifts from coding to orchestration, production, and verification</a:t>
            </a:r>
            <a:br>
              <a:rPr lang="en" sz="1200" b="1">
                <a:solidFill>
                  <a:srgbClr val="FF0000"/>
                </a:solidFill>
                <a:latin typeface="Calibri"/>
                <a:ea typeface="Calibri"/>
                <a:cs typeface="Calibri"/>
                <a:sym typeface="Calibri"/>
              </a:rPr>
            </a:b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GitHub</a:t>
            </a:r>
            <a:r>
              <a:rPr lang="en" sz="1200">
                <a:solidFill>
                  <a:schemeClr val="dk1"/>
                </a:solidFill>
                <a:latin typeface="Calibri"/>
                <a:ea typeface="Calibri"/>
                <a:cs typeface="Calibri"/>
                <a:sym typeface="Calibri"/>
              </a:rPr>
              <a:t> - coordinates multi-vendor agents through familiar issues, pull requests, policies, and isolated task environments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Vercel</a:t>
            </a:r>
            <a:r>
              <a:rPr lang="en" sz="1200">
                <a:solidFill>
                  <a:schemeClr val="dk1"/>
                </a:solidFill>
                <a:latin typeface="Calibri"/>
                <a:ea typeface="Calibri"/>
                <a:cs typeface="Calibri"/>
                <a:sym typeface="Calibri"/>
              </a:rPr>
              <a:t> - focuses on safely converting generated code into production deployments using isolated microVM sandboxes and usage-aligned compute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Replit</a:t>
            </a:r>
            <a:r>
              <a:rPr lang="en" sz="1200">
                <a:solidFill>
                  <a:schemeClr val="dk1"/>
                </a:solidFill>
                <a:latin typeface="Calibri"/>
                <a:ea typeface="Calibri"/>
                <a:cs typeface="Calibri"/>
                <a:sym typeface="Calibri"/>
              </a:rPr>
              <a:t> - emphasizes autonomous verification. Its agent drives a browser, tests workflows, detects broken “Potemkin” interfaces, and attempts repairs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MCP is the shared interoperability layer, enabling agents to access tools, data, and APIs through standardized servers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strategic tradeoff is clear: </a:t>
            </a:r>
            <a:br>
              <a:rPr lang="en" sz="1200">
                <a:solidFill>
                  <a:schemeClr val="dk1"/>
                </a:solidFill>
                <a:latin typeface="Calibri"/>
                <a:ea typeface="Calibri"/>
                <a:cs typeface="Calibri"/>
                <a:sym typeface="Calibri"/>
              </a:rPr>
            </a:br>
            <a:r>
              <a:rPr lang="en" sz="1200">
                <a:solidFill>
                  <a:srgbClr val="3C78D8"/>
                </a:solidFill>
                <a:latin typeface="Calibri"/>
                <a:ea typeface="Calibri"/>
                <a:cs typeface="Calibri"/>
                <a:sym typeface="Calibri"/>
              </a:rPr>
              <a:t>.. GitHub owns workflow governance</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Vercel owns deployment reliability</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 Replit owns testing confidence</a:t>
            </a:r>
            <a:endParaRPr sz="1200">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https://blog.bytebytego.com/p/github-vs-vercel-vs-replit-what-dev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https://www.youtube.com/watch?v=8a4_AAds0vU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62" name="Google Shape;262;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03175" y="241346"/>
            <a:ext cx="1874600" cy="695950"/>
          </a:xfrm>
          <a:prstGeom prst="rect">
            <a:avLst/>
          </a:prstGeom>
          <a:noFill/>
          <a:ln>
            <a:noFill/>
          </a:ln>
        </p:spPr>
      </p:pic>
      <p:pic>
        <p:nvPicPr>
          <p:cNvPr id="263" name="Google Shape;263;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568100" y="1039022"/>
            <a:ext cx="1475727" cy="830100"/>
          </a:xfrm>
          <a:prstGeom prst="rect">
            <a:avLst/>
          </a:prstGeom>
          <a:noFill/>
          <a:ln>
            <a:noFill/>
          </a:ln>
        </p:spPr>
      </p:pic>
      <p:pic>
        <p:nvPicPr>
          <p:cNvPr id="264" name="Google Shape;264;p36"/>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903175" y="1869125"/>
            <a:ext cx="2033149" cy="6418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270" name="Google Shape;270;p37"/>
          <p:cNvSpPr txBox="1"/>
          <p:nvPr/>
        </p:nvSpPr>
        <p:spPr>
          <a:xfrm>
            <a:off x="81775" y="453250"/>
            <a:ext cx="44304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Diamandis - Automagical Life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https://www.diamandis.com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https://metatrends.substack.com/p/auto-magical-living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Diamandis predicts that by 2028, </a:t>
            </a:r>
            <a:r>
              <a:rPr lang="en" sz="1200" b="1">
                <a:solidFill>
                  <a:srgbClr val="3C78D8"/>
                </a:solidFill>
                <a:latin typeface="Calibri"/>
                <a:ea typeface="Calibri"/>
                <a:cs typeface="Calibri"/>
                <a:sym typeface="Calibri"/>
              </a:rPr>
              <a:t>ambient AI will continuously use consented personal data to anticipate needs and act without explicit prompts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It would combine calendars, conversations, home cameras, location, wearables, glucose data, and health records to optimize decisions and environments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Examples include a robot chef tailoring meals, an autonomous car arriving at departure, and a living room adapting to stress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Shopping agents could make approved purchases within budgets, while meeting assistants brief users, detect skepticism, draft follow-ups, and update CRM records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proposed exchange is pervasive surveillance for convenience, health support, and productivity; it also creates opportunities in permissions, privacy, robotics, health data, and logistics</a:t>
            </a:r>
            <a:endParaRPr sz="1200">
              <a:solidFill>
                <a:schemeClr val="dk1"/>
              </a:solidFill>
              <a:latin typeface="Calibri"/>
              <a:ea typeface="Calibri"/>
              <a:cs typeface="Calibri"/>
              <a:sym typeface="Calibri"/>
            </a:endParaRPr>
          </a:p>
        </p:txBody>
      </p:sp>
      <p:pic>
        <p:nvPicPr>
          <p:cNvPr id="271" name="Google Shape;271;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42450" y="2442075"/>
            <a:ext cx="4327026" cy="2428278"/>
          </a:xfrm>
          <a:prstGeom prst="rect">
            <a:avLst/>
          </a:prstGeom>
          <a:noFill/>
          <a:ln w="9525" cap="flat" cmpd="sng">
            <a:solidFill>
              <a:srgbClr val="FF0000"/>
            </a:solidFill>
            <a:prstDash val="solid"/>
            <a:round/>
            <a:headEnd type="none" w="sm" len="sm"/>
            <a:tailEnd type="none" w="sm" len="sm"/>
          </a:ln>
        </p:spPr>
      </p:pic>
      <p:pic>
        <p:nvPicPr>
          <p:cNvPr id="272" name="Google Shape;272;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01972" y="175397"/>
            <a:ext cx="1249000" cy="16686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granian vs uvicorn for SaaS </a:t>
            </a:r>
            <a:endParaRPr sz="2000" b="1">
              <a:solidFill>
                <a:schemeClr val="dk1"/>
              </a:solidFill>
              <a:latin typeface="Calibri"/>
              <a:ea typeface="Calibri"/>
              <a:cs typeface="Calibri"/>
              <a:sym typeface="Calibri"/>
            </a:endParaRPr>
          </a:p>
        </p:txBody>
      </p:sp>
      <p:sp>
        <p:nvSpPr>
          <p:cNvPr id="278" name="Google Shape;278;p38"/>
          <p:cNvSpPr txBox="1"/>
          <p:nvPr/>
        </p:nvSpPr>
        <p:spPr>
          <a:xfrm>
            <a:off x="81775" y="453250"/>
            <a:ext cx="4430400" cy="385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https://uvicorn.dev</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https://github.com/Kludex/uvicorn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https://github.com/emmett-framework/granian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https://fastapi.tiangolo.com/deployment/manually/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https://talkpython.fm/books/python-in-production/chapter-6-running-on-rust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is a production HTTP application server for Python, written in Rust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run it in front of a Python web app (such as FastAPI) much as you would run Uvicorn or Gunicorn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Granian supports ASGI, WSGI, HTTP/2, HTTPS, and WebSockets, making it compelling for connection-heavy or unusually high-throughput APIs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Granian when HTTP/ASGI layer is a bottleneck. Granian's Rust/Tokio implementation can improve throughput and tail latency.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Choose Uvicorn first for most FastAPI SaaS deployments: it is mature, ubiquitous, well documented, and FastAPI’s default production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Database, Redis, external APIs, serialization, and Python CPU work usually dominate SaaS request time, limiting server-level gains.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Uvicorn has the safer operational path: familiar tooling, broad ecosystem coverage, straightforward workers, and easier incident troubleshooting.</a:t>
            </a:r>
            <a:endParaRPr sz="1200">
              <a:solidFill>
                <a:schemeClr val="dk1"/>
              </a:solidFill>
              <a:latin typeface="Calibri"/>
              <a:ea typeface="Calibri"/>
              <a:cs typeface="Calibri"/>
              <a:sym typeface="Calibri"/>
            </a:endParaRPr>
          </a:p>
        </p:txBody>
      </p:sp>
      <p:pic>
        <p:nvPicPr>
          <p:cNvPr id="279" name="Google Shape;279;p38"/>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617600" y="120800"/>
            <a:ext cx="1241524" cy="1262463"/>
          </a:xfrm>
          <a:prstGeom prst="rect">
            <a:avLst/>
          </a:prstGeom>
          <a:noFill/>
          <a:ln w="9525" cap="flat" cmpd="sng">
            <a:solidFill>
              <a:srgbClr val="FF0000"/>
            </a:solidFill>
            <a:prstDash val="solid"/>
            <a:round/>
            <a:headEnd type="none" w="sm" len="sm"/>
            <a:tailEnd type="none" w="sm" len="sm"/>
          </a:ln>
        </p:spPr>
      </p:pic>
      <p:pic>
        <p:nvPicPr>
          <p:cNvPr id="280" name="Google Shape;280;p3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964550" y="120800"/>
            <a:ext cx="1241525" cy="1241525"/>
          </a:xfrm>
          <a:prstGeom prst="rect">
            <a:avLst/>
          </a:prstGeom>
          <a:noFill/>
          <a:ln w="9525" cap="flat" cmpd="sng">
            <a:solidFill>
              <a:srgbClr val="FF0000"/>
            </a:solidFill>
            <a:prstDash val="solid"/>
            <a:round/>
            <a:headEnd type="none" w="sm" len="sm"/>
            <a:tailEnd type="none" w="sm" len="sm"/>
          </a:ln>
        </p:spPr>
      </p:pic>
      <p:sp>
        <p:nvSpPr>
          <p:cNvPr id="281" name="Google Shape;281;p38"/>
          <p:cNvSpPr txBox="1"/>
          <p:nvPr/>
        </p:nvSpPr>
        <p:spPr>
          <a:xfrm>
            <a:off x="4617600" y="1449669"/>
            <a:ext cx="235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6AA84F"/>
                </a:solidFill>
                <a:latin typeface="Victor Mono"/>
                <a:ea typeface="Victor Mono"/>
                <a:cs typeface="Victor Mono"/>
                <a:sym typeface="Victor Mono"/>
              </a:rPr>
              <a:t># app.py</a:t>
            </a:r>
            <a:endParaRPr sz="10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from fastapi import FastAPI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app = FastAPI()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@app.get("/")</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async def index():</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return {"status": "ok"}</a:t>
            </a:r>
            <a:endParaRPr sz="1000" b="1">
              <a:solidFill>
                <a:srgbClr val="3C78D8"/>
              </a:solidFill>
              <a:latin typeface="Victor Mono"/>
              <a:ea typeface="Victor Mono"/>
              <a:cs typeface="Victor Mono"/>
              <a:sym typeface="Victor Mono"/>
            </a:endParaRPr>
          </a:p>
        </p:txBody>
      </p:sp>
      <p:sp>
        <p:nvSpPr>
          <p:cNvPr id="282" name="Google Shape;282;p38"/>
          <p:cNvSpPr txBox="1"/>
          <p:nvPr/>
        </p:nvSpPr>
        <p:spPr>
          <a:xfrm>
            <a:off x="4617600" y="2765875"/>
            <a:ext cx="29202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6AA84F"/>
                </a:solidFill>
                <a:latin typeface="Victor Mono"/>
                <a:ea typeface="Victor Mono"/>
                <a:cs typeface="Victor Mono"/>
                <a:sym typeface="Victor Mono"/>
              </a:rPr>
              <a:t># run_server.py</a:t>
            </a:r>
            <a:endParaRPr sz="1000" b="1">
              <a:solidFill>
                <a:srgbClr val="6AA84F"/>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import subprocess</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import sys</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cmd = [</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sys.executable, "-m", "granian",</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"--interface", "asgi",</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"--host", "127.0.0.1",</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"--port", "8000",</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"--workers", "2",</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    "app:app",</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a:t>
            </a: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endParaRPr sz="1000" b="1">
              <a:solidFill>
                <a:srgbClr val="3C78D8"/>
              </a:solidFill>
              <a:latin typeface="Victor Mono"/>
              <a:ea typeface="Victor Mono"/>
              <a:cs typeface="Victor Mono"/>
              <a:sym typeface="Victor Mono"/>
            </a:endParaRPr>
          </a:p>
          <a:p>
            <a:pPr marL="0" marR="0" lvl="0" indent="0" algn="l" rtl="0">
              <a:lnSpc>
                <a:spcPct val="100000"/>
              </a:lnSpc>
              <a:spcBef>
                <a:spcPts val="0"/>
              </a:spcBef>
              <a:spcAft>
                <a:spcPts val="0"/>
              </a:spcAft>
              <a:buNone/>
            </a:pPr>
            <a:r>
              <a:rPr lang="en" sz="1000" b="1">
                <a:solidFill>
                  <a:srgbClr val="3C78D8"/>
                </a:solidFill>
                <a:latin typeface="Victor Mono"/>
                <a:ea typeface="Victor Mono"/>
                <a:cs typeface="Victor Mono"/>
                <a:sym typeface="Victor Mono"/>
              </a:rPr>
              <a:t>subprocess.run(cmd, check=True)</a:t>
            </a:r>
            <a:endParaRPr sz="1000" b="1">
              <a:solidFill>
                <a:srgbClr val="3C78D8"/>
              </a:solidFill>
              <a:latin typeface="Victor Mono"/>
              <a:ea typeface="Victor Mono"/>
              <a:cs typeface="Victor Mono"/>
              <a:sym typeface="Victor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3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8" name="Google Shape;288;p39"/>
          <p:cNvSpPr txBox="1"/>
          <p:nvPr/>
        </p:nvSpPr>
        <p:spPr>
          <a:xfrm>
            <a:off x="81775" y="473200"/>
            <a:ext cx="5855400" cy="292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LangGraph: Runtime Over Diagrams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https://langchain-ai.github.io/langgraph/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https://github.com/langchain-ai/langgraph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https://docs.langchain.com/oss/python/langgraph/overview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https://www.blog.langchain.com/making-it-easier-to-build-human-in-the-loop-agents-with-interrupt/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https://www.youtube.com/@LangChain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LangGraph’s core value is durable, stateful execution - not drawing agent flowcharts.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State, nodes, edges, reducers, and compile define the graph</a:t>
            </a:r>
            <a:r>
              <a:rPr lang="en" sz="1200">
                <a:solidFill>
                  <a:schemeClr val="dk1"/>
                </a:solidFill>
                <a:latin typeface="Calibri"/>
                <a:ea typeface="Calibri"/>
                <a:cs typeface="Calibri"/>
                <a:sym typeface="Calibri"/>
              </a:rPr>
              <a: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supersteps coordinate parallel updates deterministically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Checkpointers plus a thread ID preserve state, enable resume, human approval pauses, replay, forking, and streaming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durable storage such as SQLite or Postgres;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in-memory checkpoints disappear on restart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Interrupts restart their enclosing node when resumed,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so </a:t>
            </a:r>
            <a:r>
              <a:rPr lang="en" sz="1200" b="1">
                <a:solidFill>
                  <a:srgbClr val="FF0000"/>
                </a:solidFill>
                <a:latin typeface="Calibri"/>
                <a:ea typeface="Calibri"/>
                <a:cs typeface="Calibri"/>
                <a:sym typeface="Calibri"/>
              </a:rPr>
              <a:t>side effects must be retry-safe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Prefer simpler loops for short, deterministic workflows without recovery or human-in-the-loop needs</a:t>
            </a:r>
            <a:endParaRPr sz="1200">
              <a:solidFill>
                <a:schemeClr val="dk1"/>
              </a:solidFill>
              <a:latin typeface="Calibri"/>
              <a:ea typeface="Calibri"/>
              <a:cs typeface="Calibri"/>
              <a:sym typeface="Calibri"/>
            </a:endParaRPr>
          </a:p>
        </p:txBody>
      </p:sp>
      <p:pic>
        <p:nvPicPr>
          <p:cNvPr id="289" name="Google Shape;289;p39"/>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6089575" y="933450"/>
            <a:ext cx="2902025" cy="1400175"/>
          </a:xfrm>
          <a:prstGeom prst="rect">
            <a:avLst/>
          </a:prstGeom>
          <a:noFill/>
          <a:ln>
            <a:noFill/>
          </a:ln>
        </p:spPr>
      </p:pic>
      <p:pic>
        <p:nvPicPr>
          <p:cNvPr id="290" name="Google Shape;290;p3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218700" y="3492950"/>
            <a:ext cx="4374775" cy="156495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4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6" name="Google Shape;296;p40"/>
          <p:cNvSpPr txBox="1"/>
          <p:nvPr/>
        </p:nvSpPr>
        <p:spPr>
          <a:xfrm>
            <a:off x="81775" y="419250"/>
            <a:ext cx="46944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Coding Skills: Modular Control</a:t>
            </a:r>
            <a:br>
              <a:rPr lang="en" sz="1200" b="1">
                <a:solidFill>
                  <a:srgbClr val="FF0000"/>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https://www.youtube.com/watch?v=8D8ewFBJfFM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Matt Pocock’s modular AI-development skills aim to reduce unpredictable coding output by gathering precise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approach favors short, reusable, independently runnable skills over rigid chained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Groom Me</a:t>
            </a:r>
            <a:r>
              <a:rPr lang="en" sz="1200">
                <a:solidFill>
                  <a:schemeClr val="dk1"/>
                </a:solidFill>
                <a:latin typeface="Calibri"/>
                <a:ea typeface="Calibri"/>
                <a:cs typeface="Calibri"/>
                <a:sym typeface="Calibri"/>
              </a:rPr>
              <a:t> interviews users one decision at a time, recommends options, and waits for confirmation before acting.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Two Spec</a:t>
            </a:r>
            <a:r>
              <a:rPr lang="en" sz="1200">
                <a:solidFill>
                  <a:schemeClr val="dk1"/>
                </a:solidFill>
                <a:latin typeface="Calibri"/>
                <a:ea typeface="Calibri"/>
                <a:cs typeface="Calibri"/>
                <a:sym typeface="Calibri"/>
              </a:rPr>
              <a:t> preserves the agreed design in a code-free specification, encouraging agents to inspect current code rather than copy stale snippets.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Two Tickets</a:t>
            </a:r>
            <a:r>
              <a:rPr lang="en" sz="1200">
                <a:solidFill>
                  <a:schemeClr val="dk1"/>
                </a:solidFill>
                <a:latin typeface="Calibri"/>
                <a:ea typeface="Calibri"/>
                <a:cs typeface="Calibri"/>
                <a:sym typeface="Calibri"/>
              </a:rPr>
              <a:t> slices work by end-to-end features rather than database/API/UI layers, enabling earlier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Implement</a:t>
            </a:r>
            <a:r>
              <a:rPr lang="en" sz="1200">
                <a:solidFill>
                  <a:schemeClr val="dk1"/>
                </a:solidFill>
                <a:latin typeface="Calibri"/>
                <a:ea typeface="Calibri"/>
                <a:cs typeface="Calibri"/>
                <a:sym typeface="Calibri"/>
              </a:rPr>
              <a:t> emphasizes test-driven development;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Code Review</a:t>
            </a:r>
            <a:r>
              <a:rPr lang="en" sz="1200">
                <a:solidFill>
                  <a:schemeClr val="dk1"/>
                </a:solidFill>
                <a:latin typeface="Calibri"/>
                <a:ea typeface="Calibri"/>
                <a:cs typeface="Calibri"/>
                <a:sym typeface="Calibri"/>
              </a:rPr>
              <a:t> uses concise refactoring concepts such as shotgun surgery, feature envy, and data clumps.</a:t>
            </a:r>
            <a:endParaRPr sz="1200">
              <a:solidFill>
                <a:schemeClr val="dk1"/>
              </a:solidFill>
              <a:latin typeface="Calibri"/>
              <a:ea typeface="Calibri"/>
              <a:cs typeface="Calibri"/>
              <a:sym typeface="Calibri"/>
            </a:endParaRPr>
          </a:p>
        </p:txBody>
      </p:sp>
      <p:pic>
        <p:nvPicPr>
          <p:cNvPr id="297" name="Google Shape;297;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30825" y="725775"/>
            <a:ext cx="3368526" cy="1119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4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Karpathy’s Prompting 2.0</a:t>
            </a:r>
            <a:endParaRPr sz="2000" b="1">
              <a:solidFill>
                <a:schemeClr val="dk1"/>
              </a:solidFill>
              <a:latin typeface="Calibri"/>
              <a:ea typeface="Calibri"/>
              <a:cs typeface="Calibri"/>
              <a:sym typeface="Calibri"/>
            </a:endParaRPr>
          </a:p>
        </p:txBody>
      </p:sp>
      <p:sp>
        <p:nvSpPr>
          <p:cNvPr id="303" name="Google Shape;303;p41"/>
          <p:cNvSpPr txBox="1"/>
          <p:nvPr/>
        </p:nvSpPr>
        <p:spPr>
          <a:xfrm>
            <a:off x="81775" y="425675"/>
            <a:ext cx="59991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Karpathy’s Prompting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https://www.youtube.com/watch?v=eMPWBunaOic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https://karpathy.ai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https://github.com/karpathy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https://platform.claude.com/docs/en/build-with-claude/prompt-engineering/claude-prompting-best-practices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https://x.com/karpathy/status/2079610838143623371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Andrej Karpathy’s “ramble session” prompting</a:t>
            </a:r>
            <a:r>
              <a:rPr lang="en" sz="1200">
                <a:solidFill>
                  <a:schemeClr val="dk1"/>
                </a:solidFill>
                <a:latin typeface="Calibri"/>
                <a:ea typeface="Calibri"/>
                <a:cs typeface="Calibri"/>
                <a:sym typeface="Calibri"/>
              </a:rPr>
              <a:t> approach uses roughly </a:t>
            </a:r>
            <a:r>
              <a:rPr lang="en" sz="1200" b="1">
                <a:solidFill>
                  <a:srgbClr val="3C78D8"/>
                </a:solidFill>
                <a:latin typeface="Calibri"/>
                <a:ea typeface="Calibri"/>
                <a:cs typeface="Calibri"/>
                <a:sym typeface="Calibri"/>
              </a:rPr>
              <a:t>10 minutes of unstructured voice input </a:t>
            </a:r>
            <a:r>
              <a:rPr lang="en" sz="1200">
                <a:solidFill>
                  <a:schemeClr val="dk1"/>
                </a:solidFill>
                <a:latin typeface="Calibri"/>
                <a:ea typeface="Calibri"/>
                <a:cs typeface="Calibri"/>
                <a:sym typeface="Calibri"/>
              </a:rPr>
              <a:t>to give an LLM richer project context.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chemeClr val="dk1"/>
                </a:solidFill>
                <a:latin typeface="Calibri"/>
                <a:ea typeface="Calibri"/>
                <a:cs typeface="Calibri"/>
                <a:sym typeface="Calibri"/>
              </a:rPr>
              <a:t>Start by warning the model that speech recognition may introduce typos, then freely describe goals, constraints, uncertainties, examples, preferences, and half-formed ideas.</a:t>
            </a:r>
            <a:endParaRPr sz="1200" b="1">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model can reconstruct that messy context into a clearer shared understanding, sometimes through a short interview-style back-and-forth.</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it chiefly at the beginning of a new project or session, rather than for every small edit.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goal is fewer correction cycles and a stronger “mind meld,” not replacing clear acceptance criteria, tests, or verification</a:t>
            </a:r>
            <a:endParaRPr sz="1200">
              <a:solidFill>
                <a:schemeClr val="dk1"/>
              </a:solidFill>
              <a:latin typeface="Calibri"/>
              <a:ea typeface="Calibri"/>
              <a:cs typeface="Calibri"/>
              <a:sym typeface="Calibri"/>
            </a:endParaRPr>
          </a:p>
        </p:txBody>
      </p:sp>
      <p:pic>
        <p:nvPicPr>
          <p:cNvPr id="304" name="Google Shape;304;p4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230000" y="326400"/>
            <a:ext cx="2714125" cy="2044825"/>
          </a:xfrm>
          <a:prstGeom prst="rect">
            <a:avLst/>
          </a:prstGeom>
          <a:noFill/>
          <a:ln w="9525" cap="flat" cmpd="sng">
            <a:solidFill>
              <a:srgbClr val="FF0000"/>
            </a:solidFill>
            <a:prstDash val="solid"/>
            <a:round/>
            <a:headEnd type="none" w="sm" len="sm"/>
            <a:tailEnd type="none" w="sm" len="sm"/>
          </a:ln>
        </p:spPr>
      </p:pic>
      <p:sp>
        <p:nvSpPr>
          <p:cNvPr id="305" name="Google Shape;305;p41"/>
          <p:cNvSpPr txBox="1"/>
          <p:nvPr/>
        </p:nvSpPr>
        <p:spPr>
          <a:xfrm>
            <a:off x="81775" y="3428525"/>
            <a:ext cx="5999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Harness Influence Local AI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"OMP" stands for </a:t>
            </a:r>
            <a:r>
              <a:rPr lang="en" sz="1200" b="1">
                <a:solidFill>
                  <a:srgbClr val="FF0000"/>
                </a:solidFill>
                <a:latin typeface="Calibri"/>
                <a:ea typeface="Calibri"/>
                <a:cs typeface="Calibri"/>
                <a:sym typeface="Calibri"/>
              </a:rPr>
              <a:t>Oh My Pi</a:t>
            </a:r>
            <a:r>
              <a:rPr lang="en" sz="1200">
                <a:solidFill>
                  <a:schemeClr val="dk1"/>
                </a:solidFill>
                <a:latin typeface="Calibri"/>
                <a:ea typeface="Calibri"/>
                <a:cs typeface="Calibri"/>
                <a:sym typeface="Calibri"/>
              </a:rPr>
              <a:t> , terminal-based AI coding agent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OMP’s planning, iteration, and tool workflow improve outcomes but consume substantially more tokens and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https://omp.sh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0"/>
              </a:rPr>
              <a:t>https://github.com/can1357/oh-my-pi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1"/>
              </a:rPr>
              <a:t>https://hkinsley.com/reflections/right-harness-is-all-you-need</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12"/>
              </a:rPr>
              <a:t>https://www.youtube.com/watch?v=H50xoAzNfB0</a:t>
            </a:r>
            <a:r>
              <a:rPr lang="en" sz="1200">
                <a:solidFill>
                  <a:schemeClr val="dk1"/>
                </a:solidFill>
                <a:latin typeface="Calibri"/>
                <a:ea typeface="Calibri"/>
                <a:cs typeface="Calibri"/>
                <a:sym typeface="Calibri"/>
              </a:rPr>
              <a:t>  - sentdex</a:t>
            </a:r>
            <a:endParaRPr sz="1200">
              <a:solidFill>
                <a:schemeClr val="dk1"/>
              </a:solidFill>
              <a:latin typeface="Calibri"/>
              <a:ea typeface="Calibri"/>
              <a:cs typeface="Calibri"/>
              <a:sym typeface="Calibri"/>
            </a:endParaRPr>
          </a:p>
        </p:txBody>
      </p:sp>
      <p:pic>
        <p:nvPicPr>
          <p:cNvPr id="306" name="Google Shape;306;p41"/>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6676675" y="3281012"/>
            <a:ext cx="2339700" cy="1773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2"/>
          <p:cNvSpPr txBox="1"/>
          <p:nvPr/>
        </p:nvSpPr>
        <p:spPr>
          <a:xfrm>
            <a:off x="81775" y="0"/>
            <a:ext cx="4415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Create Blender Animations AI &amp; MCP</a:t>
            </a:r>
            <a:endParaRPr sz="2000" b="1">
              <a:solidFill>
                <a:schemeClr val="dk1"/>
              </a:solidFill>
              <a:latin typeface="Calibri"/>
              <a:ea typeface="Calibri"/>
              <a:cs typeface="Calibri"/>
              <a:sym typeface="Calibri"/>
            </a:endParaRPr>
          </a:p>
        </p:txBody>
      </p:sp>
      <p:sp>
        <p:nvSpPr>
          <p:cNvPr id="312" name="Google Shape;312;p42"/>
          <p:cNvSpPr txBox="1"/>
          <p:nvPr/>
        </p:nvSpPr>
        <p:spPr>
          <a:xfrm>
            <a:off x="132450" y="3200500"/>
            <a:ext cx="46182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https://www.blender.org</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https://www.youtube.com/watch?v=xBLGsYLwgks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https://www.youtube.com/shorts/dLLCr_N-WPM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https://www.youtube.com/@sketchedwealth/shorts</a:t>
            </a:r>
            <a:r>
              <a:rPr lang="en" sz="900">
                <a:solidFill>
                  <a:schemeClr val="dk1"/>
                </a:solidFill>
                <a:latin typeface="Calibri"/>
                <a:ea typeface="Calibri"/>
                <a:cs typeface="Calibri"/>
                <a:sym typeface="Calibri"/>
              </a:rPr>
              <a:t> - 149K subscribers in 10 months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https://www.youtube.com/watch?v=yzfcT6uK8LE&amp;list=PLDPt06O8IMpMygx5Xk9yn5C-ZT8vqElEB</a:t>
            </a:r>
            <a:r>
              <a:rPr lang="en" sz="900">
                <a:solidFill>
                  <a:schemeClr val="dk1"/>
                </a:solidFill>
                <a:latin typeface="Calibri"/>
                <a:ea typeface="Calibri"/>
                <a:cs typeface="Calibri"/>
                <a:sym typeface="Calibri"/>
              </a:rPr>
              <a:t> - playlist</a:t>
            </a:r>
            <a:endParaRPr sz="900">
              <a:solidFill>
                <a:schemeClr val="dk1"/>
              </a:solidFill>
              <a:latin typeface="Calibri"/>
              <a:ea typeface="Calibri"/>
              <a:cs typeface="Calibri"/>
              <a:sym typeface="Calibri"/>
            </a:endParaRPr>
          </a:p>
        </p:txBody>
      </p:sp>
      <p:pic>
        <p:nvPicPr>
          <p:cNvPr id="313" name="Google Shape;313;p4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899737" y="2334550"/>
            <a:ext cx="1975950" cy="1601875"/>
          </a:xfrm>
          <a:prstGeom prst="rect">
            <a:avLst/>
          </a:prstGeom>
          <a:noFill/>
          <a:ln w="9525" cap="flat" cmpd="sng">
            <a:solidFill>
              <a:srgbClr val="FF0000"/>
            </a:solidFill>
            <a:prstDash val="solid"/>
            <a:round/>
            <a:headEnd type="none" w="sm" len="sm"/>
            <a:tailEnd type="none" w="sm" len="sm"/>
          </a:ln>
        </p:spPr>
      </p:pic>
      <p:pic>
        <p:nvPicPr>
          <p:cNvPr id="314" name="Google Shape;314;p4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067875" y="81450"/>
            <a:ext cx="3639674" cy="2021550"/>
          </a:xfrm>
          <a:prstGeom prst="rect">
            <a:avLst/>
          </a:prstGeom>
          <a:noFill/>
          <a:ln w="9525" cap="flat" cmpd="sng">
            <a:solidFill>
              <a:srgbClr val="FF0000"/>
            </a:solidFill>
            <a:prstDash val="solid"/>
            <a:round/>
            <a:headEnd type="none" w="sm" len="sm"/>
            <a:tailEnd type="none" w="sm" len="sm"/>
          </a:ln>
        </p:spPr>
      </p:pic>
      <p:sp>
        <p:nvSpPr>
          <p:cNvPr id="315" name="Google Shape;315;p42"/>
          <p:cNvSpPr txBox="1"/>
          <p:nvPr/>
        </p:nvSpPr>
        <p:spPr>
          <a:xfrm>
            <a:off x="322575" y="2538800"/>
            <a:ext cx="8811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Claude</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Code</a:t>
            </a:r>
            <a:endParaRPr sz="1200">
              <a:solidFill>
                <a:schemeClr val="dk1"/>
              </a:solidFill>
              <a:latin typeface="Calibri"/>
              <a:ea typeface="Calibri"/>
              <a:cs typeface="Calibri"/>
              <a:sym typeface="Calibri"/>
            </a:endParaRPr>
          </a:p>
        </p:txBody>
      </p:sp>
      <p:sp>
        <p:nvSpPr>
          <p:cNvPr id="316" name="Google Shape;316;p42"/>
          <p:cNvSpPr txBox="1"/>
          <p:nvPr/>
        </p:nvSpPr>
        <p:spPr>
          <a:xfrm>
            <a:off x="1950324" y="2647750"/>
            <a:ext cx="8811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MCP</a:t>
            </a:r>
            <a:endParaRPr sz="1200">
              <a:solidFill>
                <a:schemeClr val="dk1"/>
              </a:solidFill>
              <a:latin typeface="Calibri"/>
              <a:ea typeface="Calibri"/>
              <a:cs typeface="Calibri"/>
              <a:sym typeface="Calibri"/>
            </a:endParaRPr>
          </a:p>
        </p:txBody>
      </p:sp>
      <p:sp>
        <p:nvSpPr>
          <p:cNvPr id="317" name="Google Shape;317;p42"/>
          <p:cNvSpPr txBox="1"/>
          <p:nvPr/>
        </p:nvSpPr>
        <p:spPr>
          <a:xfrm>
            <a:off x="3693224" y="2647750"/>
            <a:ext cx="8811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Blender</a:t>
            </a:r>
            <a:endParaRPr sz="1200">
              <a:solidFill>
                <a:schemeClr val="dk1"/>
              </a:solidFill>
              <a:latin typeface="Calibri"/>
              <a:ea typeface="Calibri"/>
              <a:cs typeface="Calibri"/>
              <a:sym typeface="Calibri"/>
            </a:endParaRPr>
          </a:p>
        </p:txBody>
      </p:sp>
      <p:sp>
        <p:nvSpPr>
          <p:cNvPr id="318" name="Google Shape;318;p42"/>
          <p:cNvSpPr/>
          <p:nvPr/>
        </p:nvSpPr>
        <p:spPr>
          <a:xfrm>
            <a:off x="1317550" y="2647750"/>
            <a:ext cx="389700" cy="203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9" name="Google Shape;319;p42"/>
          <p:cNvSpPr/>
          <p:nvPr/>
        </p:nvSpPr>
        <p:spPr>
          <a:xfrm>
            <a:off x="3070150" y="2647750"/>
            <a:ext cx="389700" cy="2031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20" name="Google Shape;320;p4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896150" y="491475"/>
            <a:ext cx="3090801" cy="15085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43"/>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6" name="Google Shape;326;p43"/>
          <p:cNvSpPr txBox="1"/>
          <p:nvPr/>
        </p:nvSpPr>
        <p:spPr>
          <a:xfrm>
            <a:off x="81775" y="425675"/>
            <a:ext cx="53658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Code 2.0 (August 7)</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Rebuilt desktop agent on the open-source Pi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Over 90% lower p95/p99 first-token latency, fewer stalls, and stronger persistence of conversation and tool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Teams of agents can divide research, strategy, production, and review among separate agents, improving coordination and quality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Memory and reusable skills preserve organizational context and repeat proven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Built-in browser control, phone-based remote control, goal/work modes, scheduling, and BYOK support broaden automation use cases.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Practical examples include multi-channel content campaigns, lead research, recurring reports, and seven-day member onboarding sequences.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https://www.minimax.io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https://github.com/badlogic/pi-mono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https://alphasignal.ai/news/minimax-rebuilds-code-2-0-on-pi-agent-slashing-latency-by-90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https://agent.minimax.io/docs/changelog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https://www.youtube.com/watch?v=rlqBbtQFEro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27" name="Google Shape;327;p43"/>
          <p:cNvPicPr preferRelativeResize="0"/>
          <p:nvPr/>
        </p:nvPicPr>
        <p:blipFill>
          <a:blip r:embed="rId8">
            <a:alphaModFix/>
          </a:blip>
          <a:stretch>
            <a:fillRect/>
          </a:stretch>
        </p:blipFill>
        <p:spPr>
          <a:xfrm>
            <a:off x="5734225" y="431112"/>
            <a:ext cx="2743200" cy="1104900"/>
          </a:xfrm>
          <a:prstGeom prst="rect">
            <a:avLst/>
          </a:prstGeom>
          <a:noFill/>
          <a:ln w="9525" cap="flat" cmpd="sng">
            <a:solidFill>
              <a:srgbClr val="FF0000"/>
            </a:solidFill>
            <a:prstDash val="solid"/>
            <a:round/>
            <a:headEnd type="none" w="sm" len="sm"/>
            <a:tailEnd type="none" w="sm" len="sm"/>
          </a:ln>
        </p:spPr>
      </p:pic>
      <p:pic>
        <p:nvPicPr>
          <p:cNvPr id="328" name="Google Shape;328;p4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868475" y="1777093"/>
            <a:ext cx="2474700" cy="1985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44"/>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34" name="Google Shape;334;p44"/>
          <p:cNvSpPr txBox="1"/>
          <p:nvPr/>
        </p:nvSpPr>
        <p:spPr>
          <a:xfrm>
            <a:off x="81775" y="451025"/>
            <a:ext cx="4386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Ling-3.0-tiny: Small, Sparse, Fast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https://huggingface.co/inclusionAI/Ling-3.0-tiny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https://github.com/inclusionAI/Ling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https://eu.36kr.com/en/p/3935123373866371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https://x.com/AntLingAGI/status/2085432364189335884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https://www.youtube.com/watch?v=XDhqIsRwV7M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Ling-3.0-tiny is a hybrid-reasoning MoE with 7.9B total parameters but only 1.3B active per token (128 experts, 8 routed experts)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262K context window, instant/thinking modes, and native function calling make it attractive for long-context agent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BF16, FP8, and INT4 weights are now downloadable</a:t>
            </a:r>
            <a:endParaRPr sz="1200">
              <a:solidFill>
                <a:schemeClr val="dk1"/>
              </a:solidFill>
              <a:latin typeface="Calibri"/>
              <a:ea typeface="Calibri"/>
              <a:cs typeface="Calibri"/>
              <a:sym typeface="Calibri"/>
            </a:endParaRPr>
          </a:p>
        </p:txBody>
      </p:sp>
      <p:pic>
        <p:nvPicPr>
          <p:cNvPr id="335" name="Google Shape;335;p4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35100" y="621175"/>
            <a:ext cx="1440926" cy="17099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5"/>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41" name="Google Shape;341;p45"/>
          <p:cNvSpPr txBox="1"/>
          <p:nvPr/>
        </p:nvSpPr>
        <p:spPr>
          <a:xfrm>
            <a:off x="81775" y="425675"/>
            <a:ext cx="5150400" cy="403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Token Leak Fixes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pitches four free tools to stretch Claude Code usage: </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RTK</a:t>
            </a:r>
            <a:r>
              <a:rPr lang="en" sz="1200">
                <a:solidFill>
                  <a:srgbClr val="3C78D8"/>
                </a:solidFill>
                <a:latin typeface="Calibri"/>
                <a:ea typeface="Calibri"/>
                <a:cs typeface="Calibri"/>
                <a:sym typeface="Calibri"/>
              </a:rPr>
              <a:t> (Rust Token Killer) reduces shell output; </a:t>
            </a:r>
            <a:r>
              <a:rPr lang="en" sz="1200" u="sng">
                <a:solidFill>
                  <a:schemeClr val="hlink"/>
                </a:solidFill>
                <a:latin typeface="Calibri"/>
                <a:ea typeface="Calibri"/>
                <a:cs typeface="Calibri"/>
                <a:sym typeface="Calibri"/>
                <a:hlinkClick r:id="rId3"/>
              </a:rPr>
              <a:t>https://github.com/rtk-ai/rtk</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Caveman</a:t>
            </a:r>
            <a:r>
              <a:rPr lang="en" sz="1200">
                <a:solidFill>
                  <a:srgbClr val="3C78D8"/>
                </a:solidFill>
                <a:latin typeface="Calibri"/>
                <a:ea typeface="Calibri"/>
                <a:cs typeface="Calibri"/>
                <a:sym typeface="Calibri"/>
              </a:rPr>
              <a:t> skill makes replies terse - </a:t>
            </a:r>
            <a:r>
              <a:rPr lang="en" sz="1200" u="sng">
                <a:solidFill>
                  <a:schemeClr val="hlink"/>
                </a:solidFill>
                <a:latin typeface="Calibri"/>
                <a:ea typeface="Calibri"/>
                <a:cs typeface="Calibri"/>
                <a:sym typeface="Calibri"/>
                <a:hlinkClick r:id="rId4"/>
              </a:rPr>
              <a:t>https://caveman.so</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Ponytail</a:t>
            </a:r>
            <a:r>
              <a:rPr lang="en" sz="1200">
                <a:solidFill>
                  <a:srgbClr val="3C78D8"/>
                </a:solidFill>
                <a:latin typeface="Calibri"/>
                <a:ea typeface="Calibri"/>
                <a:cs typeface="Calibri"/>
                <a:sym typeface="Calibri"/>
              </a:rPr>
              <a:t> discourages speculative code - </a:t>
            </a:r>
            <a:r>
              <a:rPr lang="en" sz="1200" u="sng">
                <a:solidFill>
                  <a:schemeClr val="hlink"/>
                </a:solidFill>
                <a:latin typeface="Calibri"/>
                <a:ea typeface="Calibri"/>
                <a:cs typeface="Calibri"/>
                <a:sym typeface="Calibri"/>
                <a:hlinkClick r:id="rId5"/>
              </a:rPr>
              <a:t>https://ponytail.dev</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OmniRoute</a:t>
            </a:r>
            <a:r>
              <a:rPr lang="en" sz="1200">
                <a:solidFill>
                  <a:srgbClr val="3C78D8"/>
                </a:solidFill>
                <a:latin typeface="Calibri"/>
                <a:ea typeface="Calibri"/>
                <a:cs typeface="Calibri"/>
                <a:sym typeface="Calibri"/>
              </a:rPr>
              <a:t> routes to 268 providers - </a:t>
            </a:r>
            <a:r>
              <a:rPr lang="en" sz="1200" u="sng">
                <a:solidFill>
                  <a:schemeClr val="hlink"/>
                </a:solidFill>
                <a:latin typeface="Calibri"/>
                <a:ea typeface="Calibri"/>
                <a:cs typeface="Calibri"/>
                <a:sym typeface="Calibri"/>
                <a:hlinkClick r:id="rId6"/>
              </a:rPr>
              <a:t>https://omniroute.online</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Claimed results include 82.9% less tool-output usage, 69% fewer reply tokens, and roughly half the generated work volume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practical habits are sound: clear or compact stale context, trim CLAUDE.md, plan before executing, batch related requests, delegate exploration, and retain durable project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 cautious with “free” routing: providers have quotas, privacy implications, changing availability, and potentially weaker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Independent testing found more modest, variable savings for several tools; validate on representative repositories before standardizing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https://github.com/rtk-ai/rtk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7"/>
              </a:rPr>
              <a:t>https://github.com/JuliusBrussee/caveman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https://alexriosme.substack.com/p/there-is-a-reason-that-caveman-is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https://github.com/diegosouzapw/OmniRoute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0"/>
              </a:rPr>
              <a:t>https://blog.jetbrains.com/ai/2026/07/ponytail-skill-claude-tested/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1"/>
              </a:rPr>
              <a:t>https://www.linkedin.com/pulse/how-reduce-claude-code-token-usage-rtk-omniroute-julian-goldie-phvwc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12"/>
              </a:rPr>
              <a:t>https://www.youtube.com/watch?v=_8GF2zIJf9w</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42" name="Google Shape;342;p45"/>
          <p:cNvPicPr preferRelativeResize="0"/>
          <p:nvPr/>
        </p:nvPicPr>
        <p:blipFill>
          <a:blip r:embed="rId13" cstate="email">
            <a:alphaModFix/>
            <a:extLst>
              <a:ext uri="{28A0092B-C50C-407E-A947-70E740481C1C}">
                <a14:useLocalDpi xmlns:a14="http://schemas.microsoft.com/office/drawing/2010/main"/>
              </a:ext>
            </a:extLst>
          </a:blip>
          <a:stretch>
            <a:fillRect/>
          </a:stretch>
        </p:blipFill>
        <p:spPr>
          <a:xfrm>
            <a:off x="5384575" y="152400"/>
            <a:ext cx="997775" cy="997775"/>
          </a:xfrm>
          <a:prstGeom prst="rect">
            <a:avLst/>
          </a:prstGeom>
          <a:noFill/>
          <a:ln w="9525" cap="flat" cmpd="sng">
            <a:solidFill>
              <a:srgbClr val="FF0000"/>
            </a:solidFill>
            <a:prstDash val="solid"/>
            <a:round/>
            <a:headEnd type="none" w="sm" len="sm"/>
            <a:tailEnd type="none" w="sm" len="sm"/>
          </a:ln>
        </p:spPr>
      </p:pic>
      <p:sp>
        <p:nvSpPr>
          <p:cNvPr id="343" name="Google Shape;343;p45"/>
          <p:cNvSpPr txBox="1"/>
          <p:nvPr/>
        </p:nvSpPr>
        <p:spPr>
          <a:xfrm>
            <a:off x="5384575" y="2769378"/>
            <a:ext cx="3636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Normal: Authentication likely fails because the token expiry check uses local time.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Caveman</a:t>
            </a:r>
            <a:r>
              <a:rPr lang="en" sz="1200">
                <a:solidFill>
                  <a:schemeClr val="dk1"/>
                </a:solidFill>
                <a:latin typeface="Calibri"/>
                <a:ea typeface="Calibri"/>
                <a:cs typeface="Calibri"/>
                <a:sym typeface="Calibri"/>
              </a:rPr>
              <a:t>: Auth fails. Local-time expiry check. Use UTC.</a:t>
            </a:r>
            <a:endParaRPr sz="1200">
              <a:solidFill>
                <a:schemeClr val="dk1"/>
              </a:solidFill>
              <a:latin typeface="Calibri"/>
              <a:ea typeface="Calibri"/>
              <a:cs typeface="Calibri"/>
              <a:sym typeface="Calibri"/>
            </a:endParaRPr>
          </a:p>
        </p:txBody>
      </p:sp>
      <p:sp>
        <p:nvSpPr>
          <p:cNvPr id="344" name="Google Shape;344;p45"/>
          <p:cNvSpPr txBox="1"/>
          <p:nvPr/>
        </p:nvSpPr>
        <p:spPr>
          <a:xfrm>
            <a:off x="5384575" y="3516828"/>
            <a:ext cx="3636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 add one sentence to our agent rules file, which lives in version control next to our code: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b="1">
                <a:solidFill>
                  <a:srgbClr val="FF0000"/>
                </a:solidFill>
                <a:latin typeface="Calibri"/>
                <a:ea typeface="Calibri"/>
                <a:cs typeface="Calibri"/>
                <a:sym typeface="Calibri"/>
              </a:rPr>
              <a:t>Answer concisely. Be brief and to the point</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If I want more, I add a second sentence: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Drop filler words, articles, and hedging when appropriate. Keep technical terms and code blocks exact.</a:t>
            </a:r>
            <a:endParaRPr sz="1200" b="1">
              <a:solidFill>
                <a:srgbClr val="FF0000"/>
              </a:solidFill>
              <a:latin typeface="Calibri"/>
              <a:ea typeface="Calibri"/>
              <a:cs typeface="Calibri"/>
              <a:sym typeface="Calibri"/>
            </a:endParaRPr>
          </a:p>
        </p:txBody>
      </p:sp>
      <p:pic>
        <p:nvPicPr>
          <p:cNvPr id="345" name="Google Shape;345;p45"/>
          <p:cNvPicPr preferRelativeResize="0"/>
          <p:nvPr/>
        </p:nvPicPr>
        <p:blipFill>
          <a:blip r:embed="rId14" cstate="email">
            <a:alphaModFix/>
            <a:extLst>
              <a:ext uri="{28A0092B-C50C-407E-A947-70E740481C1C}">
                <a14:useLocalDpi xmlns:a14="http://schemas.microsoft.com/office/drawing/2010/main"/>
              </a:ext>
            </a:extLst>
          </a:blip>
          <a:stretch>
            <a:fillRect/>
          </a:stretch>
        </p:blipFill>
        <p:spPr>
          <a:xfrm>
            <a:off x="6534748" y="326388"/>
            <a:ext cx="2513851" cy="572700"/>
          </a:xfrm>
          <a:prstGeom prst="rect">
            <a:avLst/>
          </a:prstGeom>
          <a:noFill/>
          <a:ln w="9525" cap="flat" cmpd="sng">
            <a:solidFill>
              <a:srgbClr val="FF0000"/>
            </a:solidFill>
            <a:prstDash val="solid"/>
            <a:round/>
            <a:headEnd type="none" w="sm" len="sm"/>
            <a:tailEnd type="none" w="sm" len="sm"/>
          </a:ln>
        </p:spPr>
      </p:pic>
      <p:pic>
        <p:nvPicPr>
          <p:cNvPr id="346" name="Google Shape;346;p45"/>
          <p:cNvPicPr preferRelativeResize="0"/>
          <p:nvPr/>
        </p:nvPicPr>
        <p:blipFill>
          <a:blip r:embed="rId15" cstate="email">
            <a:alphaModFix/>
            <a:extLst>
              <a:ext uri="{28A0092B-C50C-407E-A947-70E740481C1C}">
                <a14:useLocalDpi xmlns:a14="http://schemas.microsoft.com/office/drawing/2010/main"/>
              </a:ext>
            </a:extLst>
          </a:blip>
          <a:stretch>
            <a:fillRect/>
          </a:stretch>
        </p:blipFill>
        <p:spPr>
          <a:xfrm>
            <a:off x="5384570" y="1351675"/>
            <a:ext cx="1733275" cy="1216200"/>
          </a:xfrm>
          <a:prstGeom prst="rect">
            <a:avLst/>
          </a:prstGeom>
          <a:noFill/>
          <a:ln w="9525" cap="flat" cmpd="sng">
            <a:solidFill>
              <a:srgbClr val="FF0000"/>
            </a:solidFill>
            <a:prstDash val="solid"/>
            <a:round/>
            <a:headEnd type="none" w="sm" len="sm"/>
            <a:tailEnd type="none" w="sm" len="sm"/>
          </a:ln>
        </p:spPr>
      </p:pic>
      <p:pic>
        <p:nvPicPr>
          <p:cNvPr id="347" name="Google Shape;347;p45"/>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7287300" y="1684935"/>
            <a:ext cx="1733275" cy="53081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46"/>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53" name="Google Shape;353;p46"/>
          <p:cNvSpPr txBox="1"/>
          <p:nvPr/>
        </p:nvSpPr>
        <p:spPr>
          <a:xfrm>
            <a:off x="81775" y="530700"/>
            <a:ext cx="4386900" cy="329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Kestra: Governed AI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Kestra combines deterministic orchestration with AI reasoning</a:t>
            </a:r>
            <a:r>
              <a:rPr lang="en" sz="1200">
                <a:solidFill>
                  <a:schemeClr val="dk1"/>
                </a:solidFill>
                <a:latin typeface="Calibri"/>
                <a:ea typeface="Calibri"/>
                <a:cs typeface="Calibri"/>
                <a:sym typeface="Calibri"/>
              </a:rPr>
              <a:t>, keeping high-impact actions under human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YAML workflows are versionable, reviewable, deployable through CI/CD, and recoverable through execution history, replays, and backfills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GitHub triage flow deterministically fetches issue facts, then lets an AI agent classify, prioritize, label, and draft a response.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pause or human-approval gate separates AI analysis from external writes; GitHub comments and labels are applied only after explicit approval.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Kestra can self-host locally with Docker or Kubernetes, supports multiple scripting languages, and provides broad integrations for production automation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https://github.com/kestra-io/kestra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https://kestra.io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https://kestra.io/blogs/introducing-ai-agents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https://kestra.io/blogs/release-1-1</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https://www.youtube.com/watch?v=7wnjIZ70MVk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54" name="Google Shape;354;p4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1075" y="1239649"/>
            <a:ext cx="3448900" cy="1935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47"/>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60" name="Google Shape;360;p47"/>
          <p:cNvSpPr txBox="1"/>
          <p:nvPr/>
        </p:nvSpPr>
        <p:spPr>
          <a:xfrm>
            <a:off x="81775" y="438450"/>
            <a:ext cx="43980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Hermes /learn docs into skills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Hermes Agent’s </a:t>
            </a:r>
            <a:r>
              <a:rPr lang="en" sz="1200" b="1">
                <a:solidFill>
                  <a:srgbClr val="FF0000"/>
                </a:solidFill>
                <a:latin typeface="Calibri"/>
                <a:ea typeface="Calibri"/>
                <a:cs typeface="Calibri"/>
                <a:sym typeface="Calibri"/>
              </a:rPr>
              <a:t>/learn command</a:t>
            </a:r>
            <a:r>
              <a:rPr lang="en" sz="1200">
                <a:solidFill>
                  <a:schemeClr val="dk1"/>
                </a:solidFill>
                <a:latin typeface="Calibri"/>
                <a:ea typeface="Calibri"/>
                <a:cs typeface="Calibri"/>
                <a:sym typeface="Calibri"/>
              </a:rPr>
              <a:t> can turn a </a:t>
            </a:r>
            <a:r>
              <a:rPr lang="en" sz="1200" b="1">
                <a:solidFill>
                  <a:srgbClr val="3C78D8"/>
                </a:solidFill>
                <a:latin typeface="Calibri"/>
                <a:ea typeface="Calibri"/>
                <a:cs typeface="Calibri"/>
                <a:sym typeface="Calibri"/>
              </a:rPr>
              <a:t>PDF, book, or document collection into a reusable agent skill</a:t>
            </a:r>
            <a:r>
              <a:rPr lang="en" sz="1200">
                <a:solidFill>
                  <a:schemeClr val="dk1"/>
                </a:solidFill>
                <a:latin typeface="Calibri"/>
                <a:ea typeface="Calibri"/>
                <a:cs typeface="Calibri"/>
                <a:sym typeface="Calibri"/>
              </a:rPr>
              <a:t> instead of treating it as temporary chat context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The resulting skill can organize source material into focused, on-demand references, allowing the agent to retrieve relevant sections rather than repeatedly loading an entire document.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This is useful for SOPs, architecture standards, brand guides, technical manuals, and frequently consulted books.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Treat “permanent knowledge” cautiously: skills are local artifacts that should be reviewed, versioned, tested against source material, and updated when documents change.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Start with one high-value, stable document your team repeatedly uses; validate answers with known questions before expanding the library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3"/>
              </a:rPr>
              <a:t>https://hermes-agent.nousresearch.com/docs/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4"/>
              </a:rPr>
              <a:t>https://github.com/NousResearch/hermes-agent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5"/>
              </a:rPr>
              <a:t>https://github.com/virgiliojr94/book-to-skill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u="sng">
                <a:solidFill>
                  <a:schemeClr val="hlink"/>
                </a:solidFill>
                <a:latin typeface="Calibri"/>
                <a:ea typeface="Calibri"/>
                <a:cs typeface="Calibri"/>
                <a:sym typeface="Calibri"/>
                <a:hlinkClick r:id="rId6"/>
              </a:rPr>
              <a:t>https://www.youtube.com/watch?v=0sDKQMO23xE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61" name="Google Shape;361;p4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36225" y="977275"/>
            <a:ext cx="3635999" cy="204372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48"/>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67" name="Google Shape;367;p48"/>
          <p:cNvSpPr txBox="1"/>
          <p:nvPr/>
        </p:nvSpPr>
        <p:spPr>
          <a:xfrm>
            <a:off x="81775" y="425675"/>
            <a:ext cx="4357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Pax Silica: Philippine AI Bet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Pax Silica is a US-led initiative for secure AI, semiconductor, minerals, energy, manufacturing, and logistics supply chains</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Philippines plans its first AI-native industrial hub at New Clark City, Tarlac: roughly 1,620 hectares (4,000 acres).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proposed as industrial infrastructure, not a hyperscale data-center campus.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Initial development covers about 500 hectares and is targeted within three to five years.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Supporters expect investment, semiconductor upgrading, exports, and digital jobs.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Critics demand enforceable safeguards for water, energy, land rights, transparency, and local benefits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https://www.state.gov/pax-silica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https://www.pna.gov.ph/articles/1281392</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https://www.youtube.com/watch?v=sO-jLp8jSe4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68" name="Google Shape;368;p4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1375" y="152400"/>
            <a:ext cx="1679650" cy="2448500"/>
          </a:xfrm>
          <a:prstGeom prst="rect">
            <a:avLst/>
          </a:prstGeom>
          <a:noFill/>
          <a:ln w="9525" cap="flat" cmpd="sng">
            <a:solidFill>
              <a:srgbClr val="FF0000"/>
            </a:solidFill>
            <a:prstDash val="solid"/>
            <a:round/>
            <a:headEnd type="none" w="sm" len="sm"/>
            <a:tailEnd type="none" w="sm" len="sm"/>
          </a:ln>
        </p:spPr>
      </p:pic>
      <p:pic>
        <p:nvPicPr>
          <p:cNvPr id="369" name="Google Shape;369;p4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1375" y="2753299"/>
            <a:ext cx="4400225" cy="20490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374" name="Google Shape;374;p49"/>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75" name="Google Shape;375;p49"/>
          <p:cNvSpPr txBox="1"/>
          <p:nvPr/>
        </p:nvSpPr>
        <p:spPr>
          <a:xfrm>
            <a:off x="81775" y="489025"/>
            <a:ext cx="4357200" cy="283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V4 Pro - Affordable Coding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a:solidFill>
                  <a:schemeClr val="dk1"/>
                </a:solidFill>
                <a:latin typeface="Calibri"/>
                <a:ea typeface="Calibri"/>
                <a:cs typeface="Calibri"/>
                <a:sym typeface="Calibri"/>
              </a:rPr>
              <a:t>official production/GA build - August 12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a:solidFill>
                  <a:schemeClr val="dk1"/>
                </a:solidFill>
                <a:latin typeface="Calibri"/>
                <a:ea typeface="Calibri"/>
                <a:cs typeface="Calibri"/>
                <a:sym typeface="Calibri"/>
              </a:rPr>
              <a:t>Testing - OpenCode builds a thumbnail-generation SaaS using Next.js, Convex, Clerk, Stripe, and OpenRouter;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login, uploads, credits, and output storage mostly worked, with webhook/image issues remaining.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Official materials describe </a:t>
            </a:r>
            <a:r>
              <a:rPr lang="en" sz="1200" b="1">
                <a:solidFill>
                  <a:srgbClr val="FF0000"/>
                </a:solidFill>
                <a:latin typeface="Calibri"/>
                <a:ea typeface="Calibri"/>
                <a:cs typeface="Calibri"/>
                <a:sym typeface="Calibri"/>
              </a:rPr>
              <a:t>DeepSeek V4 Pro </a:t>
            </a:r>
            <a:r>
              <a:rPr lang="en" sz="1200">
                <a:solidFill>
                  <a:schemeClr val="dk1"/>
                </a:solidFill>
                <a:latin typeface="Calibri"/>
                <a:ea typeface="Calibri"/>
                <a:cs typeface="Calibri"/>
                <a:sym typeface="Calibri"/>
              </a:rPr>
              <a:t>as a 1.6T-parameter MoE with 49B active parameters, 1M-token context, thinking modes, and open weights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$0.435 / $0.87  in/out per 1M tokens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https://api-docs.deepseek.com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https://chat.deepseek.com</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https://github.com/deepseek-ai/awesome-deepseek-agent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https://simonwillison.net/2026/Apr/24/deepseek-v4/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https://api-docs.deepseek.com/news/news260424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https://www.youtube.com/watch?v=yHgHU75N5T8</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https://www.youtube.com/watch?v=kTRUVjN8ldc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76" name="Google Shape;376;p4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174150" y="1191751"/>
            <a:ext cx="2541126" cy="1429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0"/>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82" name="Google Shape;382;p50"/>
          <p:cNvSpPr txBox="1"/>
          <p:nvPr/>
        </p:nvSpPr>
        <p:spPr>
          <a:xfrm>
            <a:off x="135479" y="447800"/>
            <a:ext cx="4357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OpenMausBot: Agent Teams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Your own team of AI bots, in a chat ap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Mac agent workspace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Milind Soni, modeled on Grok Bot</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It presents AI agents as chat contacts, each with a distinct role, memory, apps, model choice, and workspace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existing Claude Code, Codex, or Grok CLI logins rather than requiring API keys or another subscription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can use connected services, cloud desktops, or the host Mac, with live previews and user takeovers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Permission prompts require approval for potentially risky actions, preserving user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local-first but still sends prompts to cloud model providers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Expect launch-stage rough edges: repetitive approvals, slow computer use, and no demonstrated inter-agent messaging</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https://github.com/milind-soni/OpenMausBot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https://aisuccesslabjuliangoldie.com/blog/openmausbot-vs-grok-bot/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https://x.com/LinearUncle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https://www.youtube.com/watch?v=midY3xIxKAk</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83" name="Google Shape;383;p5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74451" y="925712"/>
            <a:ext cx="3636000" cy="18179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51"/>
          <p:cNvSpPr txBox="1"/>
          <p:nvPr/>
        </p:nvSpPr>
        <p:spPr>
          <a:xfrm>
            <a:off x="81775" y="0"/>
            <a:ext cx="3636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89" name="Google Shape;389;p51"/>
          <p:cNvSpPr txBox="1"/>
          <p:nvPr/>
        </p:nvSpPr>
        <p:spPr>
          <a:xfrm>
            <a:off x="81775" y="425675"/>
            <a:ext cx="4415700" cy="2881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Sybase &amp; Microsoft SQL Server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was founded in 1984, built an early high-performance client-server relational database, initially called Sybase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1988, Sybase, Microsoft, and Ashton-Tate jointly developed an OS/2 SQL Server; Microsoft initially marketed Sybase technology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1993 they split. Microsoft paid Sybase for a licensed source-code base for its Windows direction; the products then evolved independently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Sybase renamed its database as Adaptive Server Enterprise in the late 1990s to distinguish it from Microsoft SQL Server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SAP acquired Sybase for about $5.8 Billion in 2010</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https://en.wikipedia.org/wiki/Sybase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https://www.sap.com/products/technology-platform/sql-server.html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https://github.com/MicrosoftDocs/sql-docs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https://community.sap.com/t5/additional-blog-posts-by-sap/a-deeper-look-at-sybase-history-of-ase/ba-p/12923660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https://www.youtube.com/watch?v=dK5iwBxFzGI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390" name="Google Shape;390;p5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04058" y="425682"/>
            <a:ext cx="4287996" cy="2881500"/>
          </a:xfrm>
          <a:prstGeom prst="rect">
            <a:avLst/>
          </a:prstGeom>
          <a:noFill/>
          <a:ln w="9525" cap="flat" cmpd="sng">
            <a:solidFill>
              <a:srgbClr val="FF0000"/>
            </a:solidFill>
            <a:prstDash val="solid"/>
            <a:round/>
            <a:headEnd type="none" w="sm" len="sm"/>
            <a:tailEnd type="none" w="sm" len="sm"/>
          </a:ln>
        </p:spPr>
      </p:pic>
      <p:sp>
        <p:nvSpPr>
          <p:cNvPr id="391" name="Google Shape;391;p51"/>
          <p:cNvSpPr txBox="1"/>
          <p:nvPr/>
        </p:nvSpPr>
        <p:spPr>
          <a:xfrm>
            <a:off x="81775" y="3406450"/>
            <a:ext cx="4415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SAP Sybase ASE and IQ</a:t>
            </a:r>
            <a:r>
              <a:rPr lang="en" sz="1200">
                <a:solidFill>
                  <a:schemeClr val="dk1"/>
                </a:solidFill>
                <a:latin typeface="Calibri"/>
                <a:ea typeface="Calibri"/>
                <a:cs typeface="Calibri"/>
                <a:sym typeface="Calibri"/>
              </a:rPr>
              <a:t> are traditional transactional and analytics databases, not AI-native platforms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For built-in AI features such as machine learning, embeddings, similarity search, forecasting, and anomaly detection, SAP’s primary platform is </a:t>
            </a:r>
            <a:r>
              <a:rPr lang="en" sz="1200" b="1">
                <a:solidFill>
                  <a:srgbClr val="FF0000"/>
                </a:solidFill>
                <a:latin typeface="Calibri"/>
                <a:ea typeface="Calibri"/>
                <a:cs typeface="Calibri"/>
                <a:sym typeface="Calibri"/>
              </a:rPr>
              <a:t>HANA Cloud.</a:t>
            </a:r>
            <a:endParaRPr sz="900" b="1">
              <a:solidFill>
                <a:srgbClr val="FF0000"/>
              </a:solidFill>
              <a:latin typeface="Calibri"/>
              <a:ea typeface="Calibri"/>
              <a:cs typeface="Calibri"/>
              <a:sym typeface="Calibri"/>
            </a:endParaRPr>
          </a:p>
        </p:txBody>
      </p:sp>
      <p:pic>
        <p:nvPicPr>
          <p:cNvPr id="392" name="Google Shape;392;p51"/>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644788" y="3498851"/>
            <a:ext cx="2206525" cy="75720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52"/>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98" name="Google Shape;398;p52"/>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99" name="Google Shape;399;p52"/>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126K in 2026 </a:t>
            </a:r>
            <a:r>
              <a:rPr lang="en" sz="1000" b="1">
                <a:solidFill>
                  <a:schemeClr val="dk1"/>
                </a:solidFill>
                <a:latin typeface="Roboto Mono"/>
                <a:ea typeface="Roboto Mono"/>
                <a:cs typeface="Roboto Mono"/>
                <a:sym typeface="Roboto Mono"/>
              </a:rPr>
              <a:t>(as of August 7,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400" name="Google Shape;400;p52"/>
          <p:cNvSpPr txBox="1"/>
          <p:nvPr/>
        </p:nvSpPr>
        <p:spPr>
          <a:xfrm>
            <a:off x="5655225" y="5641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174,661</a:t>
            </a:r>
            <a:r>
              <a:rPr lang="en" sz="1200">
                <a:latin typeface="Calibri"/>
                <a:ea typeface="Calibri"/>
                <a:cs typeface="Calibri"/>
                <a:sym typeface="Calibri"/>
              </a:rPr>
              <a:t> people laid off (798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401" name="Google Shape;401;p5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257658"/>
            <a:ext cx="5355602" cy="1854078"/>
          </a:xfrm>
          <a:prstGeom prst="rect">
            <a:avLst/>
          </a:prstGeom>
          <a:noFill/>
          <a:ln w="9525" cap="flat" cmpd="sng">
            <a:solidFill>
              <a:srgbClr val="FF0000"/>
            </a:solidFill>
            <a:prstDash val="solid"/>
            <a:round/>
            <a:headEnd type="none" w="sm" len="sm"/>
            <a:tailEnd type="none" w="sm" len="sm"/>
          </a:ln>
        </p:spPr>
      </p:pic>
      <p:pic>
        <p:nvPicPr>
          <p:cNvPr id="402" name="Google Shape;402;p5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637" y="462196"/>
            <a:ext cx="5355038" cy="274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pic>
        <p:nvPicPr>
          <p:cNvPr id="407" name="Google Shape;407;p5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408" name="Google Shape;408;p53"/>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409" name="Google Shape;409;p53"/>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410" name="Google Shape;410;p5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411" name="Google Shape;411;p53"/>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412" name="Google Shape;412;p53"/>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sp>
        <p:nvSpPr>
          <p:cNvPr id="417" name="Google Shape;417;p5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7254</Words>
  <Application>Microsoft Macintosh PowerPoint</Application>
  <PresentationFormat>On-screen Show (16:9)</PresentationFormat>
  <Paragraphs>765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Victor Mono</vt:lpstr>
      <vt:lpstr>Roboto Mono</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2026-08-13T12:12:49Z</dcterms:modified>
</cp:coreProperties>
</file>