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embeddedFontLst>
    <p:embeddedFont>
      <p:font typeface="Roboto Mono" pitchFamily="49" charset="0"/>
      <p:regular r:id="rId38"/>
      <p:bold r:id="rId39"/>
      <p:italic r:id="rId40"/>
      <p:boldItalic r:id="rId41"/>
    </p:embeddedFont>
    <p:embeddedFont>
      <p:font typeface="Victor Mono" panose="02000009000000000000" pitchFamily="49"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7E74F10-A367-40DD-8B1A-B89EFE30DC87}">
  <a:tblStyle styleId="{C7E74F10-A367-40DD-8B1A-B89EFE30DC8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5.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3.fntdata"/><Relationship Id="rId45"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6.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3f579bdb6fa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 name="Google Shape;72;g3f579bdb6fa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f579bdb6fa_0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3f579bdb6fa_0_7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694e9802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 name="Google Shape;98;g3f694e9802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3f6cec9abcd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7" name="Google Shape;107;g3f6cec9abcd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f6d7172f2e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4" name="Google Shape;124;g3f6d7172f2e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f53f46768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g3f53f46768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f6da666c71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g3f6da666c71_0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f99f3d4f4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0" name="Google Shape;150;g3f99f3d4f42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f6e5513c93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 name="Google Shape;158;g3f6e5513c93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f69524bb7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f69524bb7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f6da666c71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f6da666c71_0_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3f6da666c71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5" name="Google Shape;185;g3f6da666c71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f6dc02fc76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f6dc02fc76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f6d7172f2e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3f6d7172f2e_0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f69524bb7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9" name="Google Shape;209;g3f69524bb7a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f697496b6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3f697496b6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f6cec9abcd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5" name="Google Shape;225;g3f6cec9abcd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f6dc02fc7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3" name="Google Shape;233;g3f6dc02fc76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f6c7d7056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0" name="Google Shape;240;g3f6c7d7056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f6e9965bb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g3f6e9965bb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f6e9965bb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4" name="Google Shape;254;g3f6e9965bba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f6d417c80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2" name="Google Shape;262;g3f6d417c80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f6da666c71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0" name="Google Shape;270;g3f6da666c71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3f6ed284d9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7" name="Google Shape;277;g3f6ed284d9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f6ed284d9c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4" name="Google Shape;284;g3f6ed284d9c_1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f6ed284d9c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1" name="Google Shape;291;g3f6ed284d9c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3f6ed284d9c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8" name="Google Shape;298;g3f6ed284d9c_1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f6ed284d9c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5" name="Google Shape;305;g3f6ed284d9c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3f6ed284d9c_1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2" name="Google Shape;312;g3f6ed284d9c_1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3f6ed284d9c_1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g3f6ed284d9c_1_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g3f684a69eb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5" name="Google Shape;325;g3f684a69eb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3f579bdb6fa_0_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3" name="Google Shape;333;g3f579bdb6fa_0_1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3" name="Google Shape;343;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3" name="Google Shape;353;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claude-opus-4-8-thinking" TargetMode="External"/><Relationship Id="rId18" Type="http://schemas.openxmlformats.org/officeDocument/2006/relationships/hyperlink" Target="https://arena.ai/leaderboard/model/qwen3.8-max" TargetMode="External"/><Relationship Id="rId26" Type="http://schemas.openxmlformats.org/officeDocument/2006/relationships/hyperlink" Target="https://arena.ai/leaderboard/model/gemini-3.6-flash" TargetMode="External"/><Relationship Id="rId21" Type="http://schemas.openxmlformats.org/officeDocument/2006/relationships/hyperlink" Target="https://arena.ai/leaderboard/model/muse-spark" TargetMode="External"/><Relationship Id="rId34" Type="http://schemas.openxmlformats.org/officeDocument/2006/relationships/hyperlink" Target="https://arena.ai/leaderboard/model/gemini-3.5-flash-high" TargetMode="External"/><Relationship Id="rId7" Type="http://schemas.openxmlformats.org/officeDocument/2006/relationships/hyperlink" Target="https://arena.ai/leaderboard/model/claude-opus-4-7-thinking" TargetMode="External"/><Relationship Id="rId12" Type="http://schemas.openxmlformats.org/officeDocument/2006/relationships/hyperlink" Target="https://arena.ai/leaderboard/model/muse-spark-1.2%20%28xHigh%29" TargetMode="External"/><Relationship Id="rId17" Type="http://schemas.openxmlformats.org/officeDocument/2006/relationships/hyperlink" Target="https://arena.ai/leaderboard/model/claude-opus-5-max" TargetMode="External"/><Relationship Id="rId25" Type="http://schemas.openxmlformats.org/officeDocument/2006/relationships/hyperlink" Target="https://arena.ai/leaderboard/model/claude-opus-4-5-20251101" TargetMode="External"/><Relationship Id="rId33" Type="http://schemas.openxmlformats.org/officeDocument/2006/relationships/hyperlink" Target="https://arena.ai/leaderboard/model/gpt-5.5-high" TargetMode="External"/><Relationship Id="rId38" Type="http://schemas.openxmlformats.org/officeDocument/2006/relationships/hyperlink" Target="https://arena.ai/leaderboard/model/gemini-3.5-flash-medium" TargetMode="External"/><Relationship Id="rId2" Type="http://schemas.openxmlformats.org/officeDocument/2006/relationships/notesSlide" Target="../notesSlides/notesSlide2.xml"/><Relationship Id="rId16" Type="http://schemas.openxmlformats.org/officeDocument/2006/relationships/hyperlink" Target="https://arena.ai/leaderboard/model/claude-opus-4-5-20251101-thinking-32k" TargetMode="External"/><Relationship Id="rId20" Type="http://schemas.openxmlformats.org/officeDocument/2006/relationships/hyperlink" Target="https://arena.ai/leaderboard/model/gpt-5.6-sol-xhigh" TargetMode="External"/><Relationship Id="rId29" Type="http://schemas.openxmlformats.org/officeDocument/2006/relationships/hyperlink" Target="https://arena.ai/leaderboard/model/grok-4.5" TargetMode="External"/><Relationship Id="rId1" Type="http://schemas.openxmlformats.org/officeDocument/2006/relationships/slideLayout" Target="../slideLayouts/slideLayout1.xml"/><Relationship Id="rId6" Type="http://schemas.openxmlformats.org/officeDocument/2006/relationships/hyperlink" Target="https://arena.ai/leaderboard/model/claude-fable-5" TargetMode="External"/><Relationship Id="rId11" Type="http://schemas.openxmlformats.org/officeDocument/2006/relationships/hyperlink" Target="https://arena.ai/leaderboard/model/kimi-k3-max" TargetMode="External"/><Relationship Id="rId24" Type="http://schemas.openxmlformats.org/officeDocument/2006/relationships/hyperlink" Target="https://arena.ai/leaderboard/model/claude-sonnet-5-high" TargetMode="External"/><Relationship Id="rId32" Type="http://schemas.openxmlformats.org/officeDocument/2006/relationships/hyperlink" Target="https://arena.ai/leaderboard/model/gemini-3-pro" TargetMode="External"/><Relationship Id="rId37" Type="http://schemas.openxmlformats.org/officeDocument/2006/relationships/hyperlink" Target="https://arena.ai/leaderboard/model/grok-4.20-beta1"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muse-spark-1.1" TargetMode="External"/><Relationship Id="rId23" Type="http://schemas.openxmlformats.org/officeDocument/2006/relationships/hyperlink" Target="https://arena.ai/leaderboard/model/qwen3.7-max-preview" TargetMode="External"/><Relationship Id="rId28" Type="http://schemas.openxmlformats.org/officeDocument/2006/relationships/hyperlink" Target="https://arena.ai/leaderboard/model/gpt-5.4-high" TargetMode="External"/><Relationship Id="rId36" Type="http://schemas.openxmlformats.org/officeDocument/2006/relationships/hyperlink" Target="https://arena.ai/leaderboard/model/gpt-5.2-chat-latest-20260210"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claude-sonnet-4-6" TargetMode="External"/><Relationship Id="rId31" Type="http://schemas.openxmlformats.org/officeDocument/2006/relationships/hyperlink" Target="https://arena.ai/leaderboard/model/inkling-small"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 TargetMode="External"/><Relationship Id="rId14" Type="http://schemas.openxmlformats.org/officeDocument/2006/relationships/hyperlink" Target="https://arena.ai/leaderboard/model/claude-opus-5-high" TargetMode="External"/><Relationship Id="rId22" Type="http://schemas.openxmlformats.org/officeDocument/2006/relationships/hyperlink" Target="https://arena.ai/leaderboard/model/claude-opus-4-8" TargetMode="External"/><Relationship Id="rId27" Type="http://schemas.openxmlformats.org/officeDocument/2006/relationships/hyperlink" Target="https://arena.ai/leaderboard/model/gemini-3.1-pro-preview" TargetMode="External"/><Relationship Id="rId30" Type="http://schemas.openxmlformats.org/officeDocument/2006/relationships/hyperlink" Target="https://arena.ai/leaderboard/model/mimo-v2.5-pro" TargetMode="External"/><Relationship Id="rId35" Type="http://schemas.openxmlformats.org/officeDocument/2006/relationships/hyperlink" Target="https://arena.ai/leaderboard/model/gpt-5.5" TargetMode="External"/><Relationship Id="rId8" Type="http://schemas.openxmlformats.org/officeDocument/2006/relationships/hyperlink" Target="https://arena.ai/leaderboard/model/claude-opus-4-6-thinking"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www.youtube.com/watch?v=nxr20lcqagg" TargetMode="External"/><Relationship Id="rId5" Type="http://schemas.openxmlformats.org/officeDocument/2006/relationships/hyperlink" Target="https://artificialanalysis.ai/evaluations/artificial-analysis-intelligence-index" TargetMode="External"/><Relationship Id="rId4" Type="http://schemas.openxmlformats.org/officeDocument/2006/relationships/hyperlink" Target="https://artificialanalysis.ai"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developer.meta.com/ai/models/muse-glimmer/" TargetMode="External"/><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www.youtube.com/watch?v=o67QQr5vxvE" TargetMode="External"/><Relationship Id="rId5" Type="http://schemas.openxmlformats.org/officeDocument/2006/relationships/hyperlink" Target="https://x.com/ollama/status/2086781863490994267" TargetMode="External"/><Relationship Id="rId4" Type="http://schemas.openxmlformats.org/officeDocument/2006/relationships/hyperlink" Target="https://ollama.com/blog/muse-glimmer"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www.discoveryloop.com" TargetMode="External"/><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6.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image" Target="../media/image10.jpe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www.youtube.com/watch?v=6L6qG_safRY" TargetMode="External"/><Relationship Id="rId5" Type="http://schemas.openxmlformats.org/officeDocument/2006/relationships/hyperlink" Target="https://x.com/ClaudeDevs/status/2085817074816070014" TargetMode="External"/><Relationship Id="rId4" Type="http://schemas.openxmlformats.org/officeDocument/2006/relationships/hyperlink" Target="https://code.claude.com/docs/en/cross-session-messaging"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hyperlink" Target="https://github.com/NousResearch/hermes-agent" TargetMode="External"/><Relationship Id="rId3" Type="http://schemas.openxmlformats.org/officeDocument/2006/relationships/hyperlink" Target="https://grok.com/imagine" TargetMode="External"/><Relationship Id="rId7" Type="http://schemas.openxmlformats.org/officeDocument/2006/relationships/hyperlink" Target="https://hermes-agent.nousresearch.com"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x.com/grok/status/2085931542262526102" TargetMode="External"/><Relationship Id="rId10" Type="http://schemas.openxmlformats.org/officeDocument/2006/relationships/image" Target="../media/image15.png"/><Relationship Id="rId4" Type="http://schemas.openxmlformats.org/officeDocument/2006/relationships/hyperlink" Target="https://github.com/xai-org/xai-sdk-python" TargetMode="External"/><Relationship Id="rId9" Type="http://schemas.openxmlformats.org/officeDocument/2006/relationships/hyperlink" Target="https://x.com/NousResearch/status/2086881660658663469"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mZM-J7XK5Aw" TargetMode="External"/><Relationship Id="rId3" Type="http://schemas.openxmlformats.org/officeDocument/2006/relationships/image" Target="../media/image16.png"/><Relationship Id="rId7" Type="http://schemas.openxmlformats.org/officeDocument/2006/relationships/hyperlink" Target="https://www.youtube.com/watch?v=QTcZPI-g7is"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x.ai/news/introducing-grok-bot" TargetMode="External"/><Relationship Id="rId5" Type="http://schemas.openxmlformats.org/officeDocument/2006/relationships/hyperlink" Target="https://github.com/xai-org/grok-build" TargetMode="External"/><Relationship Id="rId4" Type="http://schemas.openxmlformats.org/officeDocument/2006/relationships/hyperlink" Target="https://x.ai/bot"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developer.nvidia.com/blog/nvidia-nemotron-3-5-lightning-delivers-fast-accurate-specialized-task-execution-for-long-running-agents/"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hyperlink" Target="https://coldcard.com" TargetMode="External"/><Relationship Id="rId7" Type="http://schemas.openxmlformats.org/officeDocument/2006/relationships/hyperlink" Target="https://www.cbc.ca/player/play/video/9.7296534" TargetMode="External"/><Relationship Id="rId12" Type="http://schemas.openxmlformats.org/officeDocument/2006/relationships/hyperlink" Target="https://www.youtube.com/watch?v=UGCZCrFJ-Y0"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blog.coinkite.com/coldcard-mk3-seed-generation-warning/" TargetMode="External"/><Relationship Id="rId11" Type="http://schemas.openxmlformats.org/officeDocument/2006/relationships/hyperlink" Target="https://agricidaniel.com/blog/claude-obsidian-ai-second-brain" TargetMode="External"/><Relationship Id="rId5" Type="http://schemas.openxmlformats.org/officeDocument/2006/relationships/hyperlink" Target="https://www.cbc.ca/news/world/bitcoin-coinkite-security-hack-9.7295582" TargetMode="External"/><Relationship Id="rId10" Type="http://schemas.openxmlformats.org/officeDocument/2006/relationships/hyperlink" Target="https://github.com/AgriciDaniel/claude-obsidian" TargetMode="External"/><Relationship Id="rId4" Type="http://schemas.openxmlformats.org/officeDocument/2006/relationships/hyperlink" Target="https://github.com/Coldcard/firmware" TargetMode="External"/><Relationship Id="rId9" Type="http://schemas.openxmlformats.org/officeDocument/2006/relationships/hyperlink" Target="https://obsidian.md" TargetMode="External"/></Relationships>
</file>

<file path=ppt/slides/_rels/slide12.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primeintellect.ai" TargetMode="External"/><Relationship Id="rId7" Type="http://schemas.openxmlformats.org/officeDocument/2006/relationships/hyperlink" Target="https://www.youtube.com/watch?v=uY9tMU-KS4A"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primeintellect.ai/blog/recursive-language-models" TargetMode="External"/><Relationship Id="rId5" Type="http://schemas.openxmlformats.org/officeDocument/2006/relationships/hyperlink" Target="https://www.primeintellect.ai/blog/prime-agent" TargetMode="External"/><Relationship Id="rId4" Type="http://schemas.openxmlformats.org/officeDocument/2006/relationships/hyperlink" Target="https://github.com/PrimeIntellect-ai/prime-agent" TargetMode="External"/><Relationship Id="rId9" Type="http://schemas.openxmlformats.org/officeDocument/2006/relationships/image" Target="../media/image21.png"/></Relationships>
</file>

<file path=ppt/slides/_rels/slide13.xml.rels><?xml version="1.0" encoding="UTF-8" standalone="yes"?>
<Relationships xmlns="http://schemas.openxmlformats.org/package/2006/relationships"><Relationship Id="rId8" Type="http://schemas.openxmlformats.org/officeDocument/2006/relationships/hyperlink" Target="https://github.com/mshumer/Claude-of-Duty" TargetMode="External"/><Relationship Id="rId3" Type="http://schemas.openxmlformats.org/officeDocument/2006/relationships/hyperlink" Target="https://x.com/mattshumer_/status/2081830214384886228" TargetMode="External"/><Relationship Id="rId7" Type="http://schemas.openxmlformats.org/officeDocument/2006/relationships/hyperlink" Target="https://somethingbig.ai"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www.youtube.com/watch?v=XTONeqPuh_4" TargetMode="External"/><Relationship Id="rId5" Type="http://schemas.openxmlformats.org/officeDocument/2006/relationships/hyperlink" Target="https://somethingbig.ai/gauntlet-loop" TargetMode="External"/><Relationship Id="rId10" Type="http://schemas.openxmlformats.org/officeDocument/2006/relationships/image" Target="../media/image23.png"/><Relationship Id="rId4" Type="http://schemas.openxmlformats.org/officeDocument/2006/relationships/hyperlink" Target="https://x.com/mattshumer_/status/2081830741436928208" TargetMode="External"/><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hyperlink" Target="https://about.fb.com/news/2026/08/the-future-is-for-everyone/" TargetMode="External"/><Relationship Id="rId7" Type="http://schemas.openxmlformats.org/officeDocument/2006/relationships/image" Target="../media/image25.jpe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www.facebook.com/FoxBusiness/videos/new-meta-founder-and-ceo-mark-zuckerberg-outlining-his-ai-vision-for-a-world-whe/1331806370010628/" TargetMode="External"/><Relationship Id="rId5" Type="http://schemas.openxmlformats.org/officeDocument/2006/relationships/hyperlink" Target="https://www.facebook.com/zuck/posts/i-wrote-about-why-we-believe-the-future-is-for-everyone-more-coming-about-a-posi/10117806351954741/" TargetMode="External"/><Relationship Id="rId4" Type="http://schemas.openxmlformats.org/officeDocument/2006/relationships/hyperlink" Target="https://www.theverge.com/tech/977395/meta-mark-zuckerberg-superintelligent-ai-ramble"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lJIW8TaAxLo" TargetMode="External"/><Relationship Id="rId3" Type="http://schemas.openxmlformats.org/officeDocument/2006/relationships/hyperlink" Target="https://www.youtube.com/watch?v=NP8oGdiu8dQ" TargetMode="External"/><Relationship Id="rId7" Type="http://schemas.openxmlformats.org/officeDocument/2006/relationships/hyperlink" Target="https://arxiv.org/abs/1812.11118"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www.pnas.org/doi/10.1073/pnas.1903070116" TargetMode="External"/><Relationship Id="rId5" Type="http://schemas.openxmlformats.org/officeDocument/2006/relationships/hyperlink" Target="https://github.com/josch14/double-descent" TargetMode="External"/><Relationship Id="rId10" Type="http://schemas.openxmlformats.org/officeDocument/2006/relationships/image" Target="../media/image28.jpeg"/><Relationship Id="rId4" Type="http://schemas.openxmlformats.org/officeDocument/2006/relationships/hyperlink" Target="https://mlu-explain.github.io/double-descent/" TargetMode="External"/><Relationship Id="rId9" Type="http://schemas.openxmlformats.org/officeDocument/2006/relationships/image" Target="../media/image27.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hyperlink" Target="https://cmux.com" TargetMode="External"/><Relationship Id="rId7" Type="http://schemas.openxmlformats.org/officeDocument/2006/relationships/hyperlink" Target="https://www.youtube.com/watch?v=bGXagNWlk74"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www.ycombinator.com/launches/PbB-cmux-the-open-source-terminal-built-for-coding-agents" TargetMode="External"/><Relationship Id="rId5" Type="http://schemas.openxmlformats.org/officeDocument/2006/relationships/hyperlink" Target="https://betterstack.com/community/guides/ai/cmux-terminal/" TargetMode="External"/><Relationship Id="rId4" Type="http://schemas.openxmlformats.org/officeDocument/2006/relationships/hyperlink" Target="https://github.com/manaflow-ai/cmux" TargetMode="External"/></Relationships>
</file>

<file path=ppt/slides/_rels/slide18.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hyperlink" Target="https://apps.apple.com/us/app/stella-manifest-anything/id6757347283" TargetMode="External"/><Relationship Id="rId7" Type="http://schemas.openxmlformats.org/officeDocument/2006/relationships/hyperlink" Target="https://www.stork.ai/blog/this-ai-app-makes-300kmonth"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www.youtube.com/watch?v=Eg93po_DAYo" TargetMode="External"/><Relationship Id="rId5" Type="http://schemas.openxmlformats.org/officeDocument/2006/relationships/hyperlink" Target="https://www.instagram.com/reel/DUwVfllDjNJ/" TargetMode="External"/><Relationship Id="rId4" Type="http://schemas.openxmlformats.org/officeDocument/2006/relationships/hyperlink" Target="https://medium.com/@yumaueno/she-had-never-written-a-line-of-code-two-months-later-her-app-was-making-300-000-a-month-888c37439bbd" TargetMode="External"/><Relationship Id="rId9"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hyperlink" Target="https://www.veed.io" TargetMode="External"/><Relationship Id="rId7"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www.youtube.com/watch?v=fNM6zU6cMKY" TargetMode="External"/><Relationship Id="rId5" Type="http://schemas.openxmlformats.org/officeDocument/2006/relationships/hyperlink" Target="https://www.veed.io/tools/ai-video" TargetMode="External"/><Relationship Id="rId4" Type="http://schemas.openxmlformats.org/officeDocument/2006/relationships/hyperlink" Target="https://github.com/veedstudio" TargetMode="External"/></Relationships>
</file>

<file path=ppt/slides/_rels/slide2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s://med.stanford.edu/cancer/about/news/inside-the-virtual-lab--how-ai-scientists-are-accelerating-disco.html" TargetMode="External"/><Relationship Id="rId7" Type="http://schemas.openxmlformats.org/officeDocument/2006/relationships/hyperlink" Target="https://www.youtube.com/watch?v=jd3zHAw_S4Y"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hyperlink" Target="https://www.linkedin.com/posts/james-zou-2123a4133_introducing-the-virtual-biotech-our-vision-activity-7433227674992517120-SOBt" TargetMode="External"/><Relationship Id="rId5" Type="http://schemas.openxmlformats.org/officeDocument/2006/relationships/hyperlink" Target="https://venturebeat.com/orchestration/stanford-is-running-37-000-ai-agents-as-a-virtual-biotech-and-one-of-its-drug-designs-got-independently-confirmed-by-merck" TargetMode="External"/><Relationship Id="rId4" Type="http://schemas.openxmlformats.org/officeDocument/2006/relationships/hyperlink" Target="https://github.com/zou-group/virtual-lab"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blog.bytebytego.com/p/github-vs-vercel-vs-replit-what-dev"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hyperlink" Target="https://www.youtube.com/watch?v=8a4_AAds0vU"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diamandis.com"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5.jpeg"/><Relationship Id="rId5" Type="http://schemas.openxmlformats.org/officeDocument/2006/relationships/image" Target="../media/image34.jpeg"/><Relationship Id="rId4" Type="http://schemas.openxmlformats.org/officeDocument/2006/relationships/hyperlink" Target="https://metatrends.substack.com/p/auto-magical-living"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hyperlink" Target="https://uvicorn.dev" TargetMode="External"/><Relationship Id="rId7" Type="http://schemas.openxmlformats.org/officeDocument/2006/relationships/hyperlink" Target="https://talkpython.fm/books/python-in-production/chapter-6-running-on-rust"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hyperlink" Target="https://fastapi.tiangolo.com/deployment/manually/" TargetMode="External"/><Relationship Id="rId5" Type="http://schemas.openxmlformats.org/officeDocument/2006/relationships/hyperlink" Target="https://github.com/emmett-framework/granian" TargetMode="External"/><Relationship Id="rId4" Type="http://schemas.openxmlformats.org/officeDocument/2006/relationships/hyperlink" Target="https://github.com/Kludex/uvicorn" TargetMode="External"/><Relationship Id="rId9" Type="http://schemas.openxmlformats.org/officeDocument/2006/relationships/image" Target="../media/image37.png"/></Relationships>
</file>

<file path=ppt/slides/_rels/slide24.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hyperlink" Target="https://langchain-ai.github.io/langgraph/" TargetMode="External"/><Relationship Id="rId7" Type="http://schemas.openxmlformats.org/officeDocument/2006/relationships/hyperlink" Target="https://www.youtube.com/@LangChain"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www.blog.langchain.com/making-it-easier-to-build-human-in-the-loop-agents-with-interrupt/" TargetMode="External"/><Relationship Id="rId5" Type="http://schemas.openxmlformats.org/officeDocument/2006/relationships/hyperlink" Target="https://docs.langchain.com/oss/python/langgraph/overview" TargetMode="External"/><Relationship Id="rId4" Type="http://schemas.openxmlformats.org/officeDocument/2006/relationships/hyperlink" Target="https://github.com/langchain-ai/langgraph"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CLeInabCKYQ"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hyperlink" Target="https://www.youtube.com/watch?v=8D8ewFBJfFM"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watch?v=eMPWBunaOic" TargetMode="External"/><Relationship Id="rId7" Type="http://schemas.openxmlformats.org/officeDocument/2006/relationships/hyperlink" Target="https://x.com/karpathy/status/2079610838143623371"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hyperlink" Target="https://platform.claude.com/docs/en/build-with-claude/prompt-engineering/claude-prompting-best-practices" TargetMode="External"/><Relationship Id="rId5" Type="http://schemas.openxmlformats.org/officeDocument/2006/relationships/hyperlink" Target="https://github.com/karpathy" TargetMode="External"/><Relationship Id="rId4" Type="http://schemas.openxmlformats.org/officeDocument/2006/relationships/hyperlink" Target="https://karpathy.ai"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hyperlink" Target="https://www.state.gov/pax-silica"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hyperlink" Target="https://www.youtube.com/watch?v=kTRUVjN8ldc" TargetMode="External"/><Relationship Id="rId4" Type="http://schemas.openxmlformats.org/officeDocument/2006/relationships/hyperlink" Target="https://www.youtube.com/watch?v=yHgHU75N5T8"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8" Type="http://schemas.openxmlformats.org/officeDocument/2006/relationships/image" Target="../media/image39.jpeg"/><Relationship Id="rId3" Type="http://schemas.openxmlformats.org/officeDocument/2006/relationships/hyperlink" Target="https://en.wikipedia.org/wiki/Sybase" TargetMode="External"/><Relationship Id="rId7" Type="http://schemas.openxmlformats.org/officeDocument/2006/relationships/hyperlink" Target="https://www.youtube.com/watch?v=dK5iwBxFzGI"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hyperlink" Target="https://community.sap.com/t5/additional-blog-posts-by-sap/a-deeper-look-at-sybase-history-of-ase/ba-p/12923660" TargetMode="External"/><Relationship Id="rId5" Type="http://schemas.openxmlformats.org/officeDocument/2006/relationships/hyperlink" Target="https://github.com/MicrosoftDocs/sql-docs" TargetMode="External"/><Relationship Id="rId4" Type="http://schemas.openxmlformats.org/officeDocument/2006/relationships/hyperlink" Target="https://www.sap.com/products/technology-platform/sql-server.html"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hyperlink" Target="https://trueup.io/layoffs"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627462"/>
            <a:ext cx="31431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Cost Per Intelligence Index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Meta Muse Glimmer Model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Discovery Loop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Ships GPT-5.6-Cyber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Cross-Session Messaging</a:t>
            </a:r>
            <a:endParaRPr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Aug 14, 2026</a:t>
            </a:r>
            <a:endParaRPr sz="3000" b="1">
              <a:solidFill>
                <a:srgbClr val="3C78D8"/>
              </a:solidFill>
              <a:latin typeface="Calibri"/>
              <a:ea typeface="Calibri"/>
              <a:cs typeface="Calibri"/>
              <a:sym typeface="Calibri"/>
            </a:endParaRPr>
          </a:p>
        </p:txBody>
      </p:sp>
      <p:sp>
        <p:nvSpPr>
          <p:cNvPr id="65" name="Google Shape;65;p15"/>
          <p:cNvSpPr txBox="1"/>
          <p:nvPr/>
        </p:nvSpPr>
        <p:spPr>
          <a:xfrm>
            <a:off x="6427081" y="4379150"/>
            <a:ext cx="1632600" cy="234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Jobs &amp; Layoffs</a:t>
            </a:r>
            <a:endParaRPr b="1">
              <a:solidFill>
                <a:srgbClr val="3C78D8"/>
              </a:solidFill>
              <a:latin typeface="Calibri"/>
              <a:ea typeface="Calibri"/>
              <a:cs typeface="Calibri"/>
              <a:sym typeface="Calibri"/>
            </a:endParaRPr>
          </a:p>
        </p:txBody>
      </p:sp>
      <p:sp>
        <p:nvSpPr>
          <p:cNvPr id="66" name="Google Shape;66;p15"/>
          <p:cNvSpPr txBox="1"/>
          <p:nvPr/>
        </p:nvSpPr>
        <p:spPr>
          <a:xfrm>
            <a:off x="5028475" y="137681"/>
            <a:ext cx="4017000" cy="9234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1800" b="1" i="1">
                <a:solidFill>
                  <a:srgbClr val="FF0000"/>
                </a:solidFill>
                <a:latin typeface="Calibri"/>
                <a:ea typeface="Calibri"/>
                <a:cs typeface="Calibri"/>
                <a:sym typeface="Calibri"/>
              </a:rPr>
              <a:t>“The first rule of autonomous systems: make recovery more automatic than the mistake.”</a:t>
            </a:r>
            <a:endParaRPr sz="1800" b="1" i="1">
              <a:solidFill>
                <a:srgbClr val="FF0000"/>
              </a:solidFill>
              <a:latin typeface="Calibri"/>
              <a:ea typeface="Calibri"/>
              <a:cs typeface="Calibri"/>
              <a:sym typeface="Calibri"/>
            </a:endParaRPr>
          </a:p>
        </p:txBody>
      </p:sp>
      <p:sp>
        <p:nvSpPr>
          <p:cNvPr id="67" name="Google Shape;67;p15"/>
          <p:cNvSpPr txBox="1"/>
          <p:nvPr/>
        </p:nvSpPr>
        <p:spPr>
          <a:xfrm>
            <a:off x="3499425" y="1479150"/>
            <a:ext cx="2836200" cy="23889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Stella’s AI-App Launch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VEED Fabric AI Video Test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Stanford Virtual Biotech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GitHub vs Vercel vs Replit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Peter Diamandis Automagical Life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granian vs uvicorn for SaaS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LangGraph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Seven Rules for Business Scale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Coding Skills: Modular Control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Karpathy’s Prompting 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Local AI Harness Findings</a:t>
            </a:r>
            <a:endParaRPr b="1">
              <a:solidFill>
                <a:srgbClr val="3C78D8"/>
              </a:solidFill>
              <a:latin typeface="Calibri"/>
              <a:ea typeface="Calibri"/>
              <a:cs typeface="Calibri"/>
              <a:sym typeface="Calibri"/>
            </a:endParaRPr>
          </a:p>
        </p:txBody>
      </p:sp>
      <p:sp>
        <p:nvSpPr>
          <p:cNvPr id="68" name="Google Shape;68;p15"/>
          <p:cNvSpPr txBox="1"/>
          <p:nvPr/>
        </p:nvSpPr>
        <p:spPr>
          <a:xfrm>
            <a:off x="100175" y="2115067"/>
            <a:ext cx="3307800" cy="2819700"/>
          </a:xfrm>
          <a:prstGeom prst="rect">
            <a:avLst/>
          </a:prstGeom>
          <a:solidFill>
            <a:srgbClr val="D0E0E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Grok Imagine Image 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Hermes Browser-Use Upgrade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Grok Bot: Agent Team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Nemotron 3.5 Lightning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is adding invisible watermarks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Obsidian plugin v.2</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Coldcard Seed Exploit - $100 Mln Theft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Prime Agent Harness vs Hermes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Gauntlet Loop: AI QA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Harness-R1: Outcome-Graded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Mark Zuckerberg - AI Access vs Compute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Double Descent Explained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cmux - an Agent-Friendly Terminal</a:t>
            </a:r>
            <a:endParaRPr b="1">
              <a:solidFill>
                <a:srgbClr val="3C78D8"/>
              </a:solidFill>
              <a:latin typeface="Calibri"/>
              <a:ea typeface="Calibri"/>
              <a:cs typeface="Calibri"/>
              <a:sym typeface="Calibri"/>
            </a:endParaRPr>
          </a:p>
        </p:txBody>
      </p:sp>
      <p:sp>
        <p:nvSpPr>
          <p:cNvPr id="69" name="Google Shape;69;p15"/>
          <p:cNvSpPr txBox="1"/>
          <p:nvPr/>
        </p:nvSpPr>
        <p:spPr>
          <a:xfrm>
            <a:off x="6427082" y="1937700"/>
            <a:ext cx="2618400" cy="21735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MiniMax Code 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Ling-3.0-tiny: Small, Sparse, Fast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Token Leak Fixes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Kestra: Governed AI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Doug Rumor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Hermes Learns Documents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Pax Silica: Philippine AI Bet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DeepSeek V4 Pro: Coding Test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OpenMausBot: Agent Teams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Sybase &amp; Microsoft SQL Server</a:t>
            </a:r>
            <a:endParaRPr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5" name="Google Shape;75;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6" name="Google Shape;76;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7" name="Google Shape;77;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8" name="Google Shape;78;p16"/>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Aug 11</a:t>
            </a:r>
            <a:endParaRPr sz="1000">
              <a:latin typeface="Calibri"/>
              <a:ea typeface="Calibri"/>
              <a:cs typeface="Calibri"/>
              <a:sym typeface="Calibri"/>
            </a:endParaRPr>
          </a:p>
        </p:txBody>
      </p:sp>
      <p:graphicFrame>
        <p:nvGraphicFramePr>
          <p:cNvPr id="79" name="Google Shape;79;p16"/>
          <p:cNvGraphicFramePr/>
          <p:nvPr/>
        </p:nvGraphicFramePr>
        <p:xfrm>
          <a:off x="5742420" y="430065"/>
          <a:ext cx="3000000" cy="3000000"/>
        </p:xfrm>
        <a:graphic>
          <a:graphicData uri="http://schemas.openxmlformats.org/drawingml/2006/table">
            <a:tbl>
              <a:tblPr>
                <a:noFill/>
                <a:tableStyleId>{C7E74F10-A367-40DD-8B1A-B89EFE30DC87}</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80" name="Google Shape;80;p16"/>
          <p:cNvSpPr txBox="1"/>
          <p:nvPr/>
        </p:nvSpPr>
        <p:spPr>
          <a:xfrm>
            <a:off x="6838390" y="485738"/>
            <a:ext cx="21525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Sonnet-5 - ?</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GLM-5.1 - 744B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Qwen3.8-max-preview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81" name="Google Shape;81;p16"/>
          <p:cNvGraphicFramePr/>
          <p:nvPr/>
        </p:nvGraphicFramePr>
        <p:xfrm>
          <a:off x="2994238" y="715825"/>
          <a:ext cx="3000000" cy="3000000"/>
        </p:xfrm>
        <a:graphic>
          <a:graphicData uri="http://schemas.openxmlformats.org/drawingml/2006/table">
            <a:tbl>
              <a:tblPr>
                <a:noFill/>
                <a:tableStyleId>{C7E74F10-A367-40DD-8B1A-B89EFE30DC87}</a:tableStyleId>
              </a:tblPr>
              <a:tblGrid>
                <a:gridCol w="276225">
                  <a:extLst>
                    <a:ext uri="{9D8B030D-6E8A-4147-A177-3AD203B41FA5}">
                      <a16:colId xmlns:a16="http://schemas.microsoft.com/office/drawing/2014/main" val="20000"/>
                    </a:ext>
                  </a:extLst>
                </a:gridCol>
                <a:gridCol w="17240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claude-opus-4-8-thinking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claude-sonnet-5-high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gemini-3.6-flash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grok-4.5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437925" y="715825"/>
          <a:ext cx="3000000" cy="3000000"/>
        </p:xfrm>
        <a:graphic>
          <a:graphicData uri="http://schemas.openxmlformats.org/drawingml/2006/table">
            <a:tbl>
              <a:tblPr>
                <a:noFill/>
                <a:tableStyleId>{C7E74F10-A367-40DD-8B1A-B89EFE30DC87}</a:tableStyleId>
              </a:tblPr>
              <a:tblGrid>
                <a:gridCol w="276225">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inkling-small</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gemini-3.6-flash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claude-opus-4-8-thinking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gemini-3.5-flash-high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gpt-5.5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8"/>
                        </a:rPr>
                        <a:t>gemini-3.5-flash-medium</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pic>
        <p:nvPicPr>
          <p:cNvPr id="87" name="Google Shape;87;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5463" y="1010275"/>
            <a:ext cx="8610922" cy="4133225"/>
          </a:xfrm>
          <a:prstGeom prst="rect">
            <a:avLst/>
          </a:prstGeom>
          <a:noFill/>
          <a:ln>
            <a:noFill/>
          </a:ln>
        </p:spPr>
      </p:pic>
      <p:sp>
        <p:nvSpPr>
          <p:cNvPr id="88" name="Google Shape;88;p17"/>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89" name="Google Shape;89;p17"/>
          <p:cNvSpPr txBox="1"/>
          <p:nvPr/>
        </p:nvSpPr>
        <p:spPr>
          <a:xfrm>
            <a:off x="52430" y="355163"/>
            <a:ext cx="44295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12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4"/>
              </a:rPr>
              <a:t>https://artificialanalysis.ai</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5"/>
              </a:rPr>
              <a:t>https://artificialanalysis.ai/evaluations/artificial-analysis-intelligence-index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6"/>
              </a:rPr>
              <a:t>https://www.youtube.com/watch?v=nxr20lcqagg</a:t>
            </a:r>
            <a:r>
              <a:rPr lang="en" sz="900" b="1">
                <a:solidFill>
                  <a:srgbClr val="FF0000"/>
                </a:solidFill>
                <a:latin typeface="Calibri"/>
                <a:ea typeface="Calibri"/>
                <a:cs typeface="Calibri"/>
                <a:sym typeface="Calibri"/>
              </a:rPr>
              <a:t> - Anthropic vs OpenAI </a:t>
            </a:r>
            <a:endParaRPr sz="900" b="1">
              <a:solidFill>
                <a:srgbClr val="FF0000"/>
              </a:solidFill>
              <a:latin typeface="Calibri"/>
              <a:ea typeface="Calibri"/>
              <a:cs typeface="Calibri"/>
              <a:sym typeface="Calibri"/>
            </a:endParaRPr>
          </a:p>
        </p:txBody>
      </p:sp>
      <p:sp>
        <p:nvSpPr>
          <p:cNvPr id="90" name="Google Shape;90;p17"/>
          <p:cNvSpPr/>
          <p:nvPr/>
        </p:nvSpPr>
        <p:spPr>
          <a:xfrm>
            <a:off x="6538683" y="2683500"/>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1" name="Google Shape;91;p17"/>
          <p:cNvSpPr/>
          <p:nvPr/>
        </p:nvSpPr>
        <p:spPr>
          <a:xfrm>
            <a:off x="1061883"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7"/>
          <p:cNvSpPr/>
          <p:nvPr/>
        </p:nvSpPr>
        <p:spPr>
          <a:xfrm>
            <a:off x="2811375" y="2804413"/>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3" name="Google Shape;93;p17"/>
          <p:cNvSpPr/>
          <p:nvPr/>
        </p:nvSpPr>
        <p:spPr>
          <a:xfrm>
            <a:off x="5179838" y="2810938"/>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4" name="Google Shape;94;p17"/>
          <p:cNvSpPr/>
          <p:nvPr/>
        </p:nvSpPr>
        <p:spPr>
          <a:xfrm>
            <a:off x="372133"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7"/>
          <p:cNvSpPr txBox="1"/>
          <p:nvPr/>
        </p:nvSpPr>
        <p:spPr>
          <a:xfrm>
            <a:off x="6295251" y="578225"/>
            <a:ext cx="9447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July 21</a:t>
            </a:r>
            <a:endParaRPr sz="100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Meta Muse Glimmer</a:t>
            </a:r>
            <a:endParaRPr sz="2000" b="1">
              <a:solidFill>
                <a:schemeClr val="dk1"/>
              </a:solidFill>
              <a:latin typeface="Calibri"/>
              <a:ea typeface="Calibri"/>
              <a:cs typeface="Calibri"/>
              <a:sym typeface="Calibri"/>
            </a:endParaRPr>
          </a:p>
        </p:txBody>
      </p:sp>
      <p:sp>
        <p:nvSpPr>
          <p:cNvPr id="101" name="Google Shape;101;p18"/>
          <p:cNvSpPr txBox="1"/>
          <p:nvPr/>
        </p:nvSpPr>
        <p:spPr>
          <a:xfrm>
            <a:off x="81775" y="425675"/>
            <a:ext cx="4786800" cy="2773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Muse Glimmer Model for Ollama</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https://developer.meta.com/ai/models/muse-glimmer/</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https://ollama.com/blog/muse-glimmer</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https://x.com/ollama/status/2086781863490994267</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https://www.youtube.com/watch?v=o67QQr5vxvE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Muse Glimmer is Meta’s Apache-2.0-licensed, open-weight 30B multimodal model for always-on local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combines text-and-image perception, tool use, multi-step/long-horizon tasks, and failure recovery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128K+ context, multimodal model for autonomous local agents</a:t>
            </a:r>
            <a:endParaRPr sz="12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Victor Mono"/>
              <a:buChar char="●"/>
            </a:pPr>
            <a:r>
              <a:rPr lang="en" sz="1100" b="1">
                <a:solidFill>
                  <a:srgbClr val="3C78D8"/>
                </a:solidFill>
                <a:latin typeface="Victor Mono"/>
                <a:ea typeface="Victor Mono"/>
                <a:cs typeface="Victor Mono"/>
                <a:sym typeface="Victor Mono"/>
              </a:rPr>
              <a:t>ollama run muse-glimmer</a:t>
            </a:r>
            <a:endParaRPr sz="1100" b="1">
              <a:solidFill>
                <a:srgbClr val="3C78D8"/>
              </a:solidFill>
              <a:latin typeface="Victor Mono"/>
              <a:ea typeface="Victor Mono"/>
              <a:cs typeface="Victor Mono"/>
              <a:sym typeface="Victor Mono"/>
            </a:endParaRPr>
          </a:p>
          <a:p>
            <a:pPr marL="171450" marR="0" lvl="0" indent="-133350" algn="l" rtl="0">
              <a:lnSpc>
                <a:spcPct val="100000"/>
              </a:lnSpc>
              <a:spcBef>
                <a:spcPts val="0"/>
              </a:spcBef>
              <a:spcAft>
                <a:spcPts val="0"/>
              </a:spcAft>
              <a:buClr>
                <a:schemeClr val="dk1"/>
              </a:buClr>
              <a:buSzPts val="1200"/>
              <a:buFont typeface="Calibri"/>
              <a:buChar char="●"/>
            </a:pPr>
            <a:r>
              <a:rPr lang="en" sz="1100" b="1">
                <a:solidFill>
                  <a:srgbClr val="3C78D8"/>
                </a:solidFill>
                <a:latin typeface="Victor Mono"/>
                <a:ea typeface="Victor Mono"/>
                <a:cs typeface="Victor Mono"/>
                <a:sym typeface="Victor Mono"/>
              </a:rPr>
              <a:t>ollama run muse-glimmer:30b-mlx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MLX adds DFlash speculative decoding and image input </a:t>
            </a:r>
            <a:r>
              <a:rPr lang="en" sz="1200">
                <a:solidFill>
                  <a:schemeClr val="dk1"/>
                </a:solidFill>
                <a:latin typeface="Calibri"/>
                <a:ea typeface="Calibri"/>
                <a:cs typeface="Calibri"/>
                <a:sym typeface="Calibri"/>
              </a:rPr>
              <a:t>- fast visual coding and screenshot-driven tool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Launch Claude Code, Pi, Codex, OpenClaw, or Hermes through Ollama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Select low, medium, high, or xhigh reasoning strength</a:t>
            </a:r>
            <a:endParaRPr sz="1200">
              <a:solidFill>
                <a:schemeClr val="dk1"/>
              </a:solidFill>
              <a:latin typeface="Calibri"/>
              <a:ea typeface="Calibri"/>
              <a:cs typeface="Calibri"/>
              <a:sym typeface="Calibri"/>
            </a:endParaRPr>
          </a:p>
        </p:txBody>
      </p:sp>
      <p:pic>
        <p:nvPicPr>
          <p:cNvPr id="102" name="Google Shape;102;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020975" y="425675"/>
            <a:ext cx="3970625" cy="2085061"/>
          </a:xfrm>
          <a:prstGeom prst="rect">
            <a:avLst/>
          </a:prstGeom>
          <a:noFill/>
          <a:ln w="9525" cap="flat" cmpd="sng">
            <a:solidFill>
              <a:srgbClr val="FF0000"/>
            </a:solidFill>
            <a:prstDash val="solid"/>
            <a:round/>
            <a:headEnd type="none" w="sm" len="sm"/>
            <a:tailEnd type="none" w="sm" len="sm"/>
          </a:ln>
        </p:spPr>
      </p:pic>
      <p:sp>
        <p:nvSpPr>
          <p:cNvPr id="103" name="Google Shape;103;p18"/>
          <p:cNvSpPr txBox="1"/>
          <p:nvPr/>
        </p:nvSpPr>
        <p:spPr>
          <a:xfrm>
            <a:off x="5020975" y="2637491"/>
            <a:ext cx="39705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Glimmer</a:t>
            </a:r>
            <a:r>
              <a:rPr lang="en" sz="1200">
                <a:solidFill>
                  <a:schemeClr val="dk1"/>
                </a:solidFill>
                <a:latin typeface="Calibri"/>
                <a:ea typeface="Calibri"/>
                <a:cs typeface="Calibri"/>
                <a:sym typeface="Calibri"/>
              </a:rPr>
              <a:t> means a faint, unsteady, or intermittent light—like a candle flickering in darkness or distant lights barely visible at night</a:t>
            </a:r>
            <a:endParaRPr sz="1200">
              <a:solidFill>
                <a:schemeClr val="dk1"/>
              </a:solidFill>
              <a:latin typeface="Calibri"/>
              <a:ea typeface="Calibri"/>
              <a:cs typeface="Calibri"/>
              <a:sym typeface="Calibri"/>
            </a:endParaRPr>
          </a:p>
        </p:txBody>
      </p:sp>
      <p:sp>
        <p:nvSpPr>
          <p:cNvPr id="104" name="Google Shape;104;p18"/>
          <p:cNvSpPr txBox="1"/>
          <p:nvPr/>
        </p:nvSpPr>
        <p:spPr>
          <a:xfrm>
            <a:off x="81775" y="3325328"/>
            <a:ext cx="4786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Variants: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Full-precision - BF16 - 64 GB - Baseline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K-Quant-Dynamic - (~4-bit) - 32 GB memory  - 0.2% degradation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K-Quant-17GB - (~4-bit) - 24 GB memory - 1.0% degradation</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9"/>
          <p:cNvSpPr txBox="1"/>
          <p:nvPr/>
        </p:nvSpPr>
        <p:spPr>
          <a:xfrm>
            <a:off x="81775" y="0"/>
            <a:ext cx="3636000" cy="3264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Discovery Loop</a:t>
            </a:r>
            <a:endParaRPr sz="2000" b="1">
              <a:solidFill>
                <a:schemeClr val="dk1"/>
              </a:solidFill>
              <a:latin typeface="Calibri"/>
              <a:ea typeface="Calibri"/>
              <a:cs typeface="Calibri"/>
              <a:sym typeface="Calibri"/>
            </a:endParaRPr>
          </a:p>
        </p:txBody>
      </p:sp>
      <p:sp>
        <p:nvSpPr>
          <p:cNvPr id="110" name="Google Shape;110;p19"/>
          <p:cNvSpPr txBox="1"/>
          <p:nvPr/>
        </p:nvSpPr>
        <p:spPr>
          <a:xfrm>
            <a:off x="81775" y="405875"/>
            <a:ext cx="3205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Jeff Dean</a:t>
            </a:r>
            <a:r>
              <a:rPr lang="en" sz="1200">
                <a:solidFill>
                  <a:schemeClr val="dk1"/>
                </a:solidFill>
                <a:latin typeface="Calibri"/>
                <a:ea typeface="Calibri"/>
                <a:cs typeface="Calibri"/>
                <a:sym typeface="Calibri"/>
              </a:rPr>
              <a:t>, chief scientist and a 27-year veteran who basically wired half of modern Google, is leaving to start </a:t>
            </a:r>
            <a:r>
              <a:rPr lang="en" sz="1200" b="1">
                <a:solidFill>
                  <a:srgbClr val="FF0000"/>
                </a:solidFill>
                <a:latin typeface="Calibri"/>
                <a:ea typeface="Calibri"/>
                <a:cs typeface="Calibri"/>
                <a:sym typeface="Calibri"/>
              </a:rPr>
              <a:t>Discovery Loop</a:t>
            </a:r>
            <a:r>
              <a:rPr lang="en" sz="1200">
                <a:solidFill>
                  <a:schemeClr val="dk1"/>
                </a:solidFill>
                <a:latin typeface="Calibri"/>
                <a:ea typeface="Calibri"/>
                <a:cs typeface="Calibri"/>
                <a:sym typeface="Calibri"/>
              </a:rPr>
              <a:t>, a company whose entire pitch is automating scientific discovery</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https://www.discoveryloop.com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is investing in it, because nothing soothes a breakup like funding your ex's next relationship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Jeff is taking with him:</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Gemini co-lead </a:t>
            </a:r>
            <a:r>
              <a:rPr lang="en" sz="1200" b="1">
                <a:solidFill>
                  <a:srgbClr val="FF0000"/>
                </a:solidFill>
                <a:latin typeface="Calibri"/>
                <a:ea typeface="Calibri"/>
                <a:cs typeface="Calibri"/>
                <a:sym typeface="Calibri"/>
              </a:rPr>
              <a:t>Oriol Vinyals</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Google Brain founder </a:t>
            </a:r>
            <a:r>
              <a:rPr lang="en" sz="1200" b="1">
                <a:solidFill>
                  <a:srgbClr val="FF0000"/>
                </a:solidFill>
                <a:latin typeface="Calibri"/>
                <a:ea typeface="Calibri"/>
                <a:cs typeface="Calibri"/>
                <a:sym typeface="Calibri"/>
              </a:rPr>
              <a:t>Quoc Le</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longtime partner-in-code </a:t>
            </a:r>
            <a:r>
              <a:rPr lang="en" sz="1200" b="1">
                <a:solidFill>
                  <a:srgbClr val="FF0000"/>
                </a:solidFill>
                <a:latin typeface="Calibri"/>
                <a:ea typeface="Calibri"/>
                <a:cs typeface="Calibri"/>
                <a:sym typeface="Calibri"/>
              </a:rPr>
              <a:t>Sanjay Ghemawat</a:t>
            </a:r>
            <a:endParaRPr sz="1200" b="1">
              <a:solidFill>
                <a:srgbClr val="FF0000"/>
              </a:solidFill>
              <a:latin typeface="Calibri"/>
              <a:ea typeface="Calibri"/>
              <a:cs typeface="Calibri"/>
              <a:sym typeface="Calibri"/>
            </a:endParaRPr>
          </a:p>
        </p:txBody>
      </p:sp>
      <p:pic>
        <p:nvPicPr>
          <p:cNvPr id="111" name="Google Shape;111;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654725" y="651875"/>
            <a:ext cx="1176621" cy="1680900"/>
          </a:xfrm>
          <a:prstGeom prst="rect">
            <a:avLst/>
          </a:prstGeom>
          <a:noFill/>
          <a:ln w="9525" cap="flat" cmpd="sng">
            <a:solidFill>
              <a:srgbClr val="FF0000"/>
            </a:solidFill>
            <a:prstDash val="solid"/>
            <a:round/>
            <a:headEnd type="none" w="sm" len="sm"/>
            <a:tailEnd type="none" w="sm" len="sm"/>
          </a:ln>
        </p:spPr>
      </p:pic>
      <p:pic>
        <p:nvPicPr>
          <p:cNvPr id="112" name="Google Shape;112;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88275" y="651875"/>
            <a:ext cx="1269378" cy="1680899"/>
          </a:xfrm>
          <a:prstGeom prst="rect">
            <a:avLst/>
          </a:prstGeom>
          <a:noFill/>
          <a:ln w="9525" cap="flat" cmpd="sng">
            <a:solidFill>
              <a:srgbClr val="FF0000"/>
            </a:solidFill>
            <a:prstDash val="solid"/>
            <a:round/>
            <a:headEnd type="none" w="sm" len="sm"/>
            <a:tailEnd type="none" w="sm" len="sm"/>
          </a:ln>
        </p:spPr>
      </p:pic>
      <p:pic>
        <p:nvPicPr>
          <p:cNvPr id="113" name="Google Shape;113;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214575" y="651875"/>
            <a:ext cx="1269375" cy="1680917"/>
          </a:xfrm>
          <a:prstGeom prst="rect">
            <a:avLst/>
          </a:prstGeom>
          <a:noFill/>
          <a:ln w="9525" cap="flat" cmpd="sng">
            <a:solidFill>
              <a:srgbClr val="FF0000"/>
            </a:solidFill>
            <a:prstDash val="solid"/>
            <a:round/>
            <a:headEnd type="none" w="sm" len="sm"/>
            <a:tailEnd type="none" w="sm" len="sm"/>
          </a:ln>
        </p:spPr>
      </p:pic>
      <p:pic>
        <p:nvPicPr>
          <p:cNvPr id="114" name="Google Shape;114;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540876" y="651875"/>
            <a:ext cx="1134231" cy="1680900"/>
          </a:xfrm>
          <a:prstGeom prst="rect">
            <a:avLst/>
          </a:prstGeom>
          <a:noFill/>
          <a:ln w="9525" cap="flat" cmpd="sng">
            <a:solidFill>
              <a:srgbClr val="FF0000"/>
            </a:solidFill>
            <a:prstDash val="solid"/>
            <a:round/>
            <a:headEnd type="none" w="sm" len="sm"/>
            <a:tailEnd type="none" w="sm" len="sm"/>
          </a:ln>
        </p:spPr>
      </p:pic>
      <p:sp>
        <p:nvSpPr>
          <p:cNvPr id="115" name="Google Shape;115;p19"/>
          <p:cNvSpPr txBox="1"/>
          <p:nvPr/>
        </p:nvSpPr>
        <p:spPr>
          <a:xfrm>
            <a:off x="3813876" y="2493675"/>
            <a:ext cx="856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Jeff Dean</a:t>
            </a:r>
            <a:endParaRPr sz="1200">
              <a:solidFill>
                <a:schemeClr val="dk1"/>
              </a:solidFill>
              <a:latin typeface="Calibri"/>
              <a:ea typeface="Calibri"/>
              <a:cs typeface="Calibri"/>
              <a:sym typeface="Calibri"/>
            </a:endParaRPr>
          </a:p>
        </p:txBody>
      </p:sp>
      <p:sp>
        <p:nvSpPr>
          <p:cNvPr id="116" name="Google Shape;116;p19"/>
          <p:cNvSpPr txBox="1"/>
          <p:nvPr/>
        </p:nvSpPr>
        <p:spPr>
          <a:xfrm>
            <a:off x="4967825" y="2493675"/>
            <a:ext cx="10050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Oriol Vinyals</a:t>
            </a:r>
            <a:endParaRPr sz="1200">
              <a:solidFill>
                <a:schemeClr val="dk1"/>
              </a:solidFill>
              <a:latin typeface="Calibri"/>
              <a:ea typeface="Calibri"/>
              <a:cs typeface="Calibri"/>
              <a:sym typeface="Calibri"/>
            </a:endParaRPr>
          </a:p>
        </p:txBody>
      </p:sp>
      <p:sp>
        <p:nvSpPr>
          <p:cNvPr id="117" name="Google Shape;117;p19"/>
          <p:cNvSpPr txBox="1"/>
          <p:nvPr/>
        </p:nvSpPr>
        <p:spPr>
          <a:xfrm>
            <a:off x="6421013" y="2493675"/>
            <a:ext cx="856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Quoc Le</a:t>
            </a:r>
            <a:endParaRPr sz="1200">
              <a:solidFill>
                <a:schemeClr val="dk1"/>
              </a:solidFill>
              <a:latin typeface="Calibri"/>
              <a:ea typeface="Calibri"/>
              <a:cs typeface="Calibri"/>
              <a:sym typeface="Calibri"/>
            </a:endParaRPr>
          </a:p>
        </p:txBody>
      </p:sp>
      <p:sp>
        <p:nvSpPr>
          <p:cNvPr id="118" name="Google Shape;118;p19"/>
          <p:cNvSpPr txBox="1"/>
          <p:nvPr/>
        </p:nvSpPr>
        <p:spPr>
          <a:xfrm>
            <a:off x="7442350" y="2493675"/>
            <a:ext cx="13716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Sanjay Ghemawat</a:t>
            </a:r>
            <a:endParaRPr sz="1200">
              <a:solidFill>
                <a:schemeClr val="dk1"/>
              </a:solidFill>
              <a:latin typeface="Calibri"/>
              <a:ea typeface="Calibri"/>
              <a:cs typeface="Calibri"/>
              <a:sym typeface="Calibri"/>
            </a:endParaRPr>
          </a:p>
        </p:txBody>
      </p:sp>
      <p:pic>
        <p:nvPicPr>
          <p:cNvPr id="119" name="Google Shape;119;p1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526150" y="73487"/>
            <a:ext cx="1269375" cy="510413"/>
          </a:xfrm>
          <a:prstGeom prst="rect">
            <a:avLst/>
          </a:prstGeom>
          <a:noFill/>
          <a:ln w="9525" cap="flat" cmpd="sng">
            <a:solidFill>
              <a:srgbClr val="FF0000"/>
            </a:solidFill>
            <a:prstDash val="solid"/>
            <a:round/>
            <a:headEnd type="none" w="sm" len="sm"/>
            <a:tailEnd type="none" w="sm" len="sm"/>
          </a:ln>
        </p:spPr>
      </p:pic>
      <p:pic>
        <p:nvPicPr>
          <p:cNvPr id="120" name="Google Shape;120;p1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334988" y="2995200"/>
            <a:ext cx="2699064" cy="2024298"/>
          </a:xfrm>
          <a:prstGeom prst="rect">
            <a:avLst/>
          </a:prstGeom>
          <a:noFill/>
          <a:ln w="9525" cap="flat" cmpd="sng">
            <a:solidFill>
              <a:srgbClr val="FF0000"/>
            </a:solidFill>
            <a:prstDash val="solid"/>
            <a:round/>
            <a:headEnd type="none" w="sm" len="sm"/>
            <a:tailEnd type="none" w="sm" len="sm"/>
          </a:ln>
        </p:spPr>
      </p:pic>
      <p:pic>
        <p:nvPicPr>
          <p:cNvPr id="121" name="Google Shape;121;p1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967825" y="2933025"/>
            <a:ext cx="2498286" cy="2013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0"/>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27" name="Google Shape;127;p20"/>
          <p:cNvSpPr txBox="1"/>
          <p:nvPr/>
        </p:nvSpPr>
        <p:spPr>
          <a:xfrm>
            <a:off x="125075" y="487300"/>
            <a:ext cx="43794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Ships GPT-5.6-Cyber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GPT-5.6-Cyber is OpenAI's first frontier  model tuned specifically for advanced cybersecurity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Alignment researcher Eric Wallace says the company is already using it for red-teaming and to find and patch "a huge host of 0-day vulnerabilities in open-source software"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release lands five days after OpenAI publicly disclosed at Black Hat that its own agents secretly coordinated for two months before compromising Hugging Face's platform.</a:t>
            </a:r>
            <a:endParaRPr sz="1200">
              <a:solidFill>
                <a:schemeClr val="dk1"/>
              </a:solidFill>
              <a:latin typeface="Calibri"/>
              <a:ea typeface="Calibri"/>
              <a:cs typeface="Calibri"/>
              <a:sym typeface="Calibri"/>
            </a:endParaRPr>
          </a:p>
        </p:txBody>
      </p:sp>
      <p:pic>
        <p:nvPicPr>
          <p:cNvPr id="128" name="Google Shape;128;p20"/>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590553" y="144413"/>
            <a:ext cx="2243149" cy="1261775"/>
          </a:xfrm>
          <a:prstGeom prst="rect">
            <a:avLst/>
          </a:prstGeom>
          <a:noFill/>
          <a:ln w="9525" cap="flat" cmpd="sng">
            <a:solidFill>
              <a:srgbClr val="FF0000"/>
            </a:solidFill>
            <a:prstDash val="solid"/>
            <a:round/>
            <a:headEnd type="none" w="sm" len="sm"/>
            <a:tailEnd type="none" w="sm" len="sm"/>
          </a:ln>
        </p:spPr>
      </p:pic>
      <p:sp>
        <p:nvSpPr>
          <p:cNvPr id="129" name="Google Shape;129;p20"/>
          <p:cNvSpPr txBox="1"/>
          <p:nvPr/>
        </p:nvSpPr>
        <p:spPr>
          <a:xfrm>
            <a:off x="6773525" y="2168200"/>
            <a:ext cx="20847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ByteDance is reportedly pretraining a 10-Trillion-parameter model</a:t>
            </a:r>
            <a:endParaRPr sz="1200">
              <a:solidFill>
                <a:schemeClr val="dk1"/>
              </a:solidFill>
              <a:latin typeface="Calibri"/>
              <a:ea typeface="Calibri"/>
              <a:cs typeface="Calibri"/>
              <a:sym typeface="Calibri"/>
            </a:endParaRPr>
          </a:p>
        </p:txBody>
      </p:sp>
      <p:sp>
        <p:nvSpPr>
          <p:cNvPr id="130" name="Google Shape;130;p20"/>
          <p:cNvSpPr txBox="1"/>
          <p:nvPr/>
        </p:nvSpPr>
        <p:spPr>
          <a:xfrm>
            <a:off x="125075" y="2933800"/>
            <a:ext cx="43794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Cross-Session Messaging</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https://code.claude.com/docs/en/cross-session-messaging</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https://x.com/ClaudeDevs/status/2085817074816070014</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https://www.youtube.com/watch?v=6L6qG_safRY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Code sessions can now exchange concise, plain-text handoffs, reducing manual copy-and-paste between parallel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requires Claude Code 2.1.224 or later, runs on macOS and Linux, including WSL 2, and activates by default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Sessions discover peers through ListAgents and deliver messages through SendMessage; same-machine traffic uses local sockets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Messages contain summaries, not conversation history, files, or user permissions, so this is not a shared AI brain</a:t>
            </a:r>
            <a:endParaRPr sz="1200">
              <a:solidFill>
                <a:schemeClr val="dk1"/>
              </a:solidFill>
              <a:latin typeface="Calibri"/>
              <a:ea typeface="Calibri"/>
              <a:cs typeface="Calibri"/>
              <a:sym typeface="Calibri"/>
            </a:endParaRPr>
          </a:p>
        </p:txBody>
      </p:sp>
      <p:pic>
        <p:nvPicPr>
          <p:cNvPr id="131" name="Google Shape;131;p2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90550" y="3668774"/>
            <a:ext cx="3400924" cy="885175"/>
          </a:xfrm>
          <a:prstGeom prst="rect">
            <a:avLst/>
          </a:prstGeom>
          <a:noFill/>
          <a:ln w="9525" cap="flat" cmpd="sng">
            <a:solidFill>
              <a:srgbClr val="FF0000"/>
            </a:solidFill>
            <a:prstDash val="solid"/>
            <a:round/>
            <a:headEnd type="none" w="sm" len="sm"/>
            <a:tailEnd type="none" w="sm" len="sm"/>
          </a:ln>
        </p:spPr>
      </p:pic>
      <p:pic>
        <p:nvPicPr>
          <p:cNvPr id="132" name="Google Shape;132;p20"/>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651275" y="1914525"/>
            <a:ext cx="2043300" cy="1200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1"/>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7.19K subscribers, 302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38" name="Google Shape;138;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31975" y="171338"/>
            <a:ext cx="2145049" cy="48008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2"/>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44" name="Google Shape;144;p22"/>
          <p:cNvSpPr txBox="1"/>
          <p:nvPr/>
        </p:nvSpPr>
        <p:spPr>
          <a:xfrm>
            <a:off x="81775" y="388575"/>
            <a:ext cx="44427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Imagine Image 2.0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Magic Wand, segmentation, and background removal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Improved typography and layout make it more suitable for readable ads, posters, infographics, and UI mockups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Multi-Ref Editing combines up to five inputs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Smart Resize recomposes assets across nine aspect ratios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as Quality Mode on Grok web and mobile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https://grok.com/imagine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https://github.com/xai-org/xai-sdk-python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https://x.com/grok/status/2085931542262526102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https://x.com/grok/status/2085931542262526102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45" name="Google Shape;145;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391150" y="441647"/>
            <a:ext cx="2381251" cy="1259500"/>
          </a:xfrm>
          <a:prstGeom prst="rect">
            <a:avLst/>
          </a:prstGeom>
          <a:noFill/>
          <a:ln w="9525" cap="flat" cmpd="sng">
            <a:solidFill>
              <a:srgbClr val="FF0000"/>
            </a:solidFill>
            <a:prstDash val="solid"/>
            <a:round/>
            <a:headEnd type="none" w="sm" len="sm"/>
            <a:tailEnd type="none" w="sm" len="sm"/>
          </a:ln>
        </p:spPr>
      </p:pic>
      <p:sp>
        <p:nvSpPr>
          <p:cNvPr id="146" name="Google Shape;146;p22"/>
          <p:cNvSpPr txBox="1"/>
          <p:nvPr/>
        </p:nvSpPr>
        <p:spPr>
          <a:xfrm>
            <a:off x="81775" y="2388825"/>
            <a:ext cx="3354300" cy="265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Browser-Use Upgrade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https://hermes-agent.nousresearch.com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https://github.com/NousResearch/hermes-agent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https://x.com/NousResearch/status/2086881660658663469</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replaces 12 per-action browser tools with one Browser Use mode, driven by Browser Use CLI 3.0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agent writes and executes a browser script, avoiding repeated click-think-report round trips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Nous reports 48–66% lower token use without measured accuracy loss, enabling cheaper, longer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activates automatically when the CLI is available; set browser.backend: browser-use to force 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Local and cloud browsing can coexist</a:t>
            </a:r>
            <a:endParaRPr sz="1200">
              <a:solidFill>
                <a:schemeClr val="dk1"/>
              </a:solidFill>
              <a:latin typeface="Calibri"/>
              <a:ea typeface="Calibri"/>
              <a:cs typeface="Calibri"/>
              <a:sym typeface="Calibri"/>
            </a:endParaRPr>
          </a:p>
        </p:txBody>
      </p:sp>
      <p:pic>
        <p:nvPicPr>
          <p:cNvPr id="147" name="Google Shape;147;p22"/>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3506925" y="3240150"/>
            <a:ext cx="2381250" cy="135528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3"/>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Grok Bot: Agent Team</a:t>
            </a:r>
            <a:endParaRPr sz="2000" b="1">
              <a:solidFill>
                <a:schemeClr val="dk1"/>
              </a:solidFill>
              <a:latin typeface="Calibri"/>
              <a:ea typeface="Calibri"/>
              <a:cs typeface="Calibri"/>
              <a:sym typeface="Calibri"/>
            </a:endParaRPr>
          </a:p>
        </p:txBody>
      </p:sp>
      <p:sp>
        <p:nvSpPr>
          <p:cNvPr id="153" name="Google Shape;153;p23"/>
          <p:cNvSpPr txBox="1"/>
          <p:nvPr/>
        </p:nvSpPr>
        <p:spPr>
          <a:xfrm>
            <a:off x="6137550" y="2004600"/>
            <a:ext cx="29235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Bot Beta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agents on cloud computers, using apps and websites, always-on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Bots can coordinate in parallel, learn workflows, and retain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Access starts with SuperGrok Heavy, Cursor Ultra, and Cursor Teams Premium.</a:t>
            </a:r>
            <a:endParaRPr sz="1200">
              <a:solidFill>
                <a:schemeClr val="dk1"/>
              </a:solidFill>
              <a:latin typeface="Calibri"/>
              <a:ea typeface="Calibri"/>
              <a:cs typeface="Calibri"/>
              <a:sym typeface="Calibri"/>
            </a:endParaRPr>
          </a:p>
        </p:txBody>
      </p:sp>
      <p:pic>
        <p:nvPicPr>
          <p:cNvPr id="154" name="Google Shape;154;p23"/>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479754" y="3412550"/>
            <a:ext cx="2239094" cy="1259499"/>
          </a:xfrm>
          <a:prstGeom prst="rect">
            <a:avLst/>
          </a:prstGeom>
          <a:noFill/>
          <a:ln w="9525" cap="flat" cmpd="sng">
            <a:solidFill>
              <a:srgbClr val="FF0000"/>
            </a:solidFill>
            <a:prstDash val="solid"/>
            <a:round/>
            <a:headEnd type="none" w="sm" len="sm"/>
            <a:tailEnd type="none" w="sm" len="sm"/>
          </a:ln>
        </p:spPr>
      </p:pic>
      <p:sp>
        <p:nvSpPr>
          <p:cNvPr id="155" name="Google Shape;155;p23"/>
          <p:cNvSpPr txBox="1"/>
          <p:nvPr/>
        </p:nvSpPr>
        <p:spPr>
          <a:xfrm>
            <a:off x="208700" y="693300"/>
            <a:ext cx="42711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Bot: Agent Team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https://x.ai/bot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https://github.com/xai-org/grok-build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https://x.ai/news/introducing-grok-bot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https://www.youtube.com/watch?v=QTcZPI-g7is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https://www.youtube.com/watch?v=mZM-J7XK5Aw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Grok Bot presents persistent AI teammates in a consumer-friendly chat interface that hides code, tool calls, file trees, and model selection.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Each thread is a separate agent with its own computer; agents can exchange persistent messages while sharing authentication.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Bots can operate cloud computers and assist with local-device tasks. Plugins connect services including Gmail, Drive, Calendar, Slack, Notion, and Box.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Routines automate recurring work, while “Teach a task” converts demonstrated browser workflows into reusable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main trade-off is context: agent-per-thread organization can feel fragmented compared with a single chief-of-staff agent. [x](https://x.ai/news/introducing-grok-bot)</a:t>
            </a:r>
            <a:endParaRPr sz="12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4"/>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61" name="Google Shape;161;p24"/>
          <p:cNvSpPr txBox="1"/>
          <p:nvPr/>
        </p:nvSpPr>
        <p:spPr>
          <a:xfrm>
            <a:off x="81775" y="388575"/>
            <a:ext cx="4442700" cy="343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Nemotron 3.5 Lightning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model (OpenMDW-1.1 license), commercially usable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30B params (3B active), runs on single GPU</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Sparse hybrid architecture: MoE + Mamba-2 state-space layers and selected attention layers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Max context length 1M tokens (depends on GPU and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NVIDIA provides inference-focused NVFP4 and reference/fine-tuning BF16 variants through Hugging Face and NVIDIA services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NVFP4 is intended for single-GPU deployment, including DGX Spark and H100-class GPUs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Tool use, structured outputs, code, validation, sub-agents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Multi-Token Prediction and optional DSpark/DFlash draft models can improve generation throughput.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Needs 32 GB of GPU/unified memory with the NVFP4 quantized release and a moderate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Needs 80 GB H100 or A100 for single-GPU deployment of the full BF16 checkpoint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https://developer.nvidia.com/blog/nvidia-nemotron-3-5-lightning-delivers-fast-accurate-specialized-task-execution-for-long-running-agents/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62" name="Google Shape;162;p24"/>
          <p:cNvSpPr txBox="1"/>
          <p:nvPr/>
        </p:nvSpPr>
        <p:spPr>
          <a:xfrm>
            <a:off x="4620975" y="541117"/>
            <a:ext cx="44427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Anthropic is adding invisible watermarks</a:t>
            </a:r>
            <a:r>
              <a:rPr lang="en" sz="1200">
                <a:solidFill>
                  <a:schemeClr val="dk1"/>
                </a:solidFill>
                <a:latin typeface="Calibri"/>
                <a:ea typeface="Calibri"/>
                <a:cs typeface="Calibri"/>
                <a:sym typeface="Calibri"/>
              </a:rPr>
              <a:t> to Claude-generated content following new EU rules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Claude’s text watermark is invisible and cannot currently be seen with ordinary editors or hidden-character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is developing an official detector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supported image files, inspect the original file’s C2PA/Content Credentials metadata with a compatible viewer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Missing metadata does not prove Claude was not used, because re-exporting or platforms can strip it</a:t>
            </a:r>
            <a:endParaRPr sz="1200">
              <a:solidFill>
                <a:schemeClr val="dk1"/>
              </a:solidFill>
              <a:latin typeface="Calibri"/>
              <a:ea typeface="Calibri"/>
              <a:cs typeface="Calibri"/>
              <a:sym typeface="Calibri"/>
            </a:endParaRPr>
          </a:p>
        </p:txBody>
      </p:sp>
      <p:pic>
        <p:nvPicPr>
          <p:cNvPr id="163" name="Google Shape;163;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912675" y="3752025"/>
            <a:ext cx="2248650" cy="1263925"/>
          </a:xfrm>
          <a:prstGeom prst="rect">
            <a:avLst/>
          </a:prstGeom>
          <a:noFill/>
          <a:ln w="9525" cap="flat" cmpd="sng">
            <a:solidFill>
              <a:srgbClr val="FF0000"/>
            </a:solidFill>
            <a:prstDash val="solid"/>
            <a:round/>
            <a:headEnd type="none" w="sm" len="sm"/>
            <a:tailEnd type="none" w="sm" len="sm"/>
          </a:ln>
        </p:spPr>
      </p:pic>
      <p:pic>
        <p:nvPicPr>
          <p:cNvPr id="164" name="Google Shape;164;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920100" y="2337142"/>
            <a:ext cx="1959675" cy="1012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5"/>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70" name="Google Shape;170;p25"/>
          <p:cNvSpPr txBox="1"/>
          <p:nvPr/>
        </p:nvSpPr>
        <p:spPr>
          <a:xfrm>
            <a:off x="5282175" y="198075"/>
            <a:ext cx="3764400" cy="3081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Coldcard Seed Exploit - $100 Mln Theft of Bitcoin</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COLDCARD is a Bitcoin-only hardware signing device </a:t>
            </a:r>
            <a:br>
              <a:rPr lang="en" sz="1100" b="1">
                <a:solidFill>
                  <a:srgbClr val="3C78D8"/>
                </a:solidFill>
                <a:latin typeface="Calibri"/>
                <a:ea typeface="Calibri"/>
                <a:cs typeface="Calibri"/>
                <a:sym typeface="Calibri"/>
              </a:rPr>
            </a:br>
            <a:r>
              <a:rPr lang="en" sz="1100" b="1">
                <a:solidFill>
                  <a:srgbClr val="3C78D8"/>
                </a:solidFill>
                <a:latin typeface="Calibri"/>
                <a:ea typeface="Calibri"/>
                <a:cs typeface="Calibri"/>
                <a:sym typeface="Calibri"/>
              </a:rPr>
              <a:t>made by Canadian company Coinkite</a:t>
            </a:r>
            <a:endParaRPr sz="1100" b="1">
              <a:solidFill>
                <a:srgbClr val="3C78D8"/>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https://coldcard.com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https://github.com/Coldcard/firmware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https://www.cbc.ca/news/world/bitcoin-coinkite-security-hack-9.7295582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https://blog.coinkite.com/coldcard-mk3-seed-generation-warning/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https://www.cbc.ca/player/play/video/9.7296534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Attackers exploited weak seed-generation randomness in affected Coldcard firmware, </a:t>
            </a:r>
            <a:r>
              <a:rPr lang="en" sz="1200" b="1">
                <a:solidFill>
                  <a:srgbClr val="FF0000"/>
                </a:solidFill>
                <a:latin typeface="Calibri"/>
                <a:ea typeface="Calibri"/>
                <a:cs typeface="Calibri"/>
                <a:sym typeface="Calibri"/>
              </a:rPr>
              <a:t>remotely deriving wallet recovery phrases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Confirmed thefts exceeded $100 million in Bitcoin</a:t>
            </a:r>
            <a:r>
              <a:rPr lang="en" sz="1200">
                <a:solidFill>
                  <a:schemeClr val="dk1"/>
                </a:solidFill>
                <a:latin typeface="Calibri"/>
                <a:ea typeface="Calibri"/>
                <a:cs typeface="Calibri"/>
                <a:sym typeface="Calibri"/>
              </a:rPr>
              <a:t> across roughly 7,300 addresses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flaw dates to firmware released in 2021 and affected existing seeds; installing updated firmware does not help with old seed</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Affected users should generate a completely new seed on fixed firmware</a:t>
            </a:r>
            <a:endParaRPr sz="1200">
              <a:solidFill>
                <a:schemeClr val="dk1"/>
              </a:solidFill>
              <a:latin typeface="Calibri"/>
              <a:ea typeface="Calibri"/>
              <a:cs typeface="Calibri"/>
              <a:sym typeface="Calibri"/>
            </a:endParaRPr>
          </a:p>
        </p:txBody>
      </p:sp>
      <p:pic>
        <p:nvPicPr>
          <p:cNvPr id="171" name="Google Shape;171;p25"/>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6678739" y="3402850"/>
            <a:ext cx="971275" cy="1615825"/>
          </a:xfrm>
          <a:prstGeom prst="rect">
            <a:avLst/>
          </a:prstGeom>
          <a:noFill/>
          <a:ln>
            <a:noFill/>
          </a:ln>
        </p:spPr>
      </p:pic>
      <p:sp>
        <p:nvSpPr>
          <p:cNvPr id="172" name="Google Shape;172;p25"/>
          <p:cNvSpPr txBox="1"/>
          <p:nvPr/>
        </p:nvSpPr>
        <p:spPr>
          <a:xfrm>
            <a:off x="81775" y="483825"/>
            <a:ext cx="44427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Claude Obsidian plugin v.2 </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9"/>
              </a:rPr>
              <a:t>https://obsidian.md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10"/>
              </a:rPr>
              <a:t>https://github.com/AgriciDaniel/claude-obsidian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11"/>
              </a:rPr>
              <a:t>https://agricidaniel.com/blog/claude-obsidian-ai-second-brain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12"/>
              </a:rPr>
              <a:t>https://www.youtube.com/watch?v=UGCZCrFJ-Y0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Free, open-source Claude Code plugin that turns locally owned plain-text notes into a connected Obsidian knowledge vault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It captures sources, preserves originals, creates linked notes, records claim provenance, and answers from vault evidence rather than inventing unsupported facts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Version 2.0 emphasizes recoverable operations, source-grounded knowledge, and safer separation between product code and user data</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Skills include ingestion, evidence-based querying, canvas mapping, linting, saving insights, search, and activity summaries.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Choose Generic, linked-map, Zettelkasten, or PARA mode to determine how future notes are organized.</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Supports multi-agent workflows with controlled, recoverable changes</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6"/>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Prime Agent Harness vs Hermes</a:t>
            </a:r>
            <a:endParaRPr sz="2000" b="1">
              <a:solidFill>
                <a:schemeClr val="dk1"/>
              </a:solidFill>
              <a:latin typeface="Calibri"/>
              <a:ea typeface="Calibri"/>
              <a:cs typeface="Calibri"/>
              <a:sym typeface="Calibri"/>
            </a:endParaRPr>
          </a:p>
        </p:txBody>
      </p:sp>
      <p:sp>
        <p:nvSpPr>
          <p:cNvPr id="178" name="Google Shape;178;p26"/>
          <p:cNvSpPr txBox="1"/>
          <p:nvPr/>
        </p:nvSpPr>
        <p:spPr>
          <a:xfrm>
            <a:off x="81775" y="388575"/>
            <a:ext cx="4442700" cy="348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Prime Agent Harness vs Hermes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Intellect reports 95.5% on ARC-AGI-3 using Opus 5</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(exceeding 95.4% human-expert baseline)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performance depends heavily on the scaffold (context management, tool design, memory, verification, and retry loops), not solely on model weights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https://primeintellect.ai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https://github.com/PrimeIntellect-ai/prime-agent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Agent is an MIT-licensed, open-source agent harness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Agent wraps existing LLMs with a persistent Python environment, tools, and subagents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recursive-language-model approach keeps large inputs external as variables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writes code to inspect, filter, summarize, and delegate work instead of ingesting every token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targets “context rot,” where long inputs reduce accuracy before a model reaches its advertised context limit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https://www.primeintellect.ai/blog/prime-agent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https://www.primeintellect.ai/blog/recursive-language-models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https://www.youtube.com/watch?v=uY9tMU-KS4A</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79" name="Google Shape;179;p2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000624" y="159970"/>
            <a:ext cx="3676649" cy="470925"/>
          </a:xfrm>
          <a:prstGeom prst="rect">
            <a:avLst/>
          </a:prstGeom>
          <a:noFill/>
          <a:ln w="9525" cap="flat" cmpd="sng">
            <a:solidFill>
              <a:srgbClr val="FF0000"/>
            </a:solidFill>
            <a:prstDash val="solid"/>
            <a:round/>
            <a:headEnd type="none" w="sm" len="sm"/>
            <a:tailEnd type="none" w="sm" len="sm"/>
          </a:ln>
        </p:spPr>
      </p:pic>
      <p:sp>
        <p:nvSpPr>
          <p:cNvPr id="180" name="Google Shape;180;p26"/>
          <p:cNvSpPr txBox="1"/>
          <p:nvPr/>
        </p:nvSpPr>
        <p:spPr>
          <a:xfrm>
            <a:off x="4617600" y="836250"/>
            <a:ext cx="44427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Prime Agent vs Hermes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Agent excels at deep, long-running coding and research, using a persistent Python session and a private, editable learning harness; Lessons compound inside one 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excels as a connected agent: tools, live search, MCP, multiple model providers, background workers, and shared external memory; A shared vault lets Hermes and other agents reuse business rules and history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Prime for focused autonomous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Hermes for integrated workflows and team-wide context</a:t>
            </a:r>
            <a:endParaRPr sz="1200">
              <a:solidFill>
                <a:schemeClr val="dk1"/>
              </a:solidFill>
              <a:latin typeface="Calibri"/>
              <a:ea typeface="Calibri"/>
              <a:cs typeface="Calibri"/>
              <a:sym typeface="Calibri"/>
            </a:endParaRPr>
          </a:p>
        </p:txBody>
      </p:sp>
      <p:pic>
        <p:nvPicPr>
          <p:cNvPr id="181" name="Google Shape;181;p2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131655" y="2763750"/>
            <a:ext cx="1414595" cy="1865400"/>
          </a:xfrm>
          <a:prstGeom prst="rect">
            <a:avLst/>
          </a:prstGeom>
          <a:noFill/>
          <a:ln w="9525" cap="flat" cmpd="sng">
            <a:solidFill>
              <a:srgbClr val="FF0000"/>
            </a:solidFill>
            <a:prstDash val="solid"/>
            <a:round/>
            <a:headEnd type="none" w="sm" len="sm"/>
            <a:tailEnd type="none" w="sm" len="sm"/>
          </a:ln>
        </p:spPr>
      </p:pic>
      <p:sp>
        <p:nvSpPr>
          <p:cNvPr id="182" name="Google Shape;182;p26"/>
          <p:cNvSpPr txBox="1"/>
          <p:nvPr/>
        </p:nvSpPr>
        <p:spPr>
          <a:xfrm>
            <a:off x="81775" y="3932550"/>
            <a:ext cx="4442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Long-context models suffer “context rot”: accuracy declines causing missed instructions, faulty retrieval, and confident errors, especially near a prompt’s center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Recursive language models inspect stored document slices instead of loading everything into one prompt</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27"/>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88" name="Google Shape;188;p27"/>
          <p:cNvSpPr txBox="1"/>
          <p:nvPr/>
        </p:nvSpPr>
        <p:spPr>
          <a:xfrm>
            <a:off x="81775" y="483825"/>
            <a:ext cx="4442700" cy="449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Gauntlet Loop: AI QA</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Gauntlet Loop is an agentic workflow popularized by Matt Shumer: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 lead agent decomposes a goal,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then specialist builders and independent blind critics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iteratively improve each inspectable component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gauntlet originally is a long protective glove, especially the armored glove worn by medieval knights. It later gained figurative meanings connected to challenge and hardship.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 the gauntlet” means endure a difficult series of attacks, tests, or criticisms.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 "Gauntlet Loop" means going through a multi-step challenges or criticism</a:t>
            </a:r>
            <a:endParaRPr sz="12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https://x.com/mattshumer_/status/2081830214384886228</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https://x.com/mattshumer_/status/2081830741436928208</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https://somethingbig.ai/gauntlet-loop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https://www.youtube.com/watch?v=XTONeqPuh_4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https://somethingbig.ai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https://github.com/mshumer/Claude-of-Duty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https://somethingbig.ai/gauntlet-loop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The prompt for the Gauntlet Loop needs three essentials: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an ambitious outcome,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a concrete benchmark critics can inspect,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an explicit stopping boundary</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Treat viral claims cautiously: blind evaluation, measurable tests, budget caps, and human acceptance remain essential;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“utterly wowed” is not a reliable completion criterion</a:t>
            </a:r>
            <a:endParaRPr sz="1200">
              <a:solidFill>
                <a:schemeClr val="dk1"/>
              </a:solidFill>
              <a:latin typeface="Calibri"/>
              <a:ea typeface="Calibri"/>
              <a:cs typeface="Calibri"/>
              <a:sym typeface="Calibri"/>
            </a:endParaRPr>
          </a:p>
        </p:txBody>
      </p:sp>
      <p:pic>
        <p:nvPicPr>
          <p:cNvPr id="189" name="Google Shape;189;p27"/>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762600" y="483825"/>
            <a:ext cx="1590575" cy="1803175"/>
          </a:xfrm>
          <a:prstGeom prst="rect">
            <a:avLst/>
          </a:prstGeom>
          <a:noFill/>
          <a:ln w="9525" cap="flat" cmpd="sng">
            <a:solidFill>
              <a:srgbClr val="FF0000"/>
            </a:solidFill>
            <a:prstDash val="solid"/>
            <a:round/>
            <a:headEnd type="none" w="sm" len="sm"/>
            <a:tailEnd type="none" w="sm" len="sm"/>
          </a:ln>
        </p:spPr>
      </p:pic>
      <p:pic>
        <p:nvPicPr>
          <p:cNvPr id="190" name="Google Shape;190;p27"/>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810475" y="326400"/>
            <a:ext cx="1590576" cy="1590576"/>
          </a:xfrm>
          <a:prstGeom prst="rect">
            <a:avLst/>
          </a:prstGeom>
          <a:noFill/>
          <a:ln>
            <a:noFill/>
          </a:ln>
        </p:spPr>
      </p:pic>
      <p:sp>
        <p:nvSpPr>
          <p:cNvPr id="191" name="Google Shape;191;p27"/>
          <p:cNvSpPr txBox="1"/>
          <p:nvPr/>
        </p:nvSpPr>
        <p:spPr>
          <a:xfrm>
            <a:off x="4615675" y="2384475"/>
            <a:ext cx="44427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Matt Shumer</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entrepreneur and investor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Co-founder of </a:t>
            </a:r>
            <a:r>
              <a:rPr lang="en" sz="1200" b="1">
                <a:solidFill>
                  <a:srgbClr val="3C78D8"/>
                </a:solidFill>
                <a:latin typeface="Calibri"/>
                <a:ea typeface="Calibri"/>
                <a:cs typeface="Calibri"/>
                <a:sym typeface="Calibri"/>
              </a:rPr>
              <a:t>OthersideAI</a:t>
            </a:r>
            <a:r>
              <a:rPr lang="en" sz="1200">
                <a:solidFill>
                  <a:schemeClr val="dk1"/>
                </a:solidFill>
                <a:latin typeface="Calibri"/>
                <a:ea typeface="Calibri"/>
                <a:cs typeface="Calibri"/>
                <a:sym typeface="Calibri"/>
              </a:rPr>
              <a:t>, the company behind the AI writing assistant HyperWrite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also invests in early-stage AI infrastructure and developer-tool companies through </a:t>
            </a:r>
            <a:r>
              <a:rPr lang="en" sz="1200" b="1">
                <a:solidFill>
                  <a:srgbClr val="3C78D8"/>
                </a:solidFill>
                <a:latin typeface="Calibri"/>
                <a:ea typeface="Calibri"/>
                <a:cs typeface="Calibri"/>
                <a:sym typeface="Calibri"/>
              </a:rPr>
              <a:t>Shumer Capital</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became widely visible for his </a:t>
            </a:r>
            <a:r>
              <a:rPr lang="en" sz="1200" b="1">
                <a:solidFill>
                  <a:srgbClr val="3C78D8"/>
                </a:solidFill>
                <a:latin typeface="Calibri"/>
                <a:ea typeface="Calibri"/>
                <a:cs typeface="Calibri"/>
                <a:sym typeface="Calibri"/>
              </a:rPr>
              <a:t>February 2026 essay, “Something Big Is Happening,”</a:t>
            </a:r>
            <a:r>
              <a:rPr lang="en" sz="1200">
                <a:solidFill>
                  <a:schemeClr val="dk1"/>
                </a:solidFill>
                <a:latin typeface="Calibri"/>
                <a:ea typeface="Calibri"/>
                <a:cs typeface="Calibri"/>
                <a:sym typeface="Calibri"/>
              </a:rPr>
              <a:t> which </a:t>
            </a:r>
            <a:r>
              <a:rPr lang="en" sz="1200" b="1">
                <a:solidFill>
                  <a:srgbClr val="6AA84F"/>
                </a:solidFill>
                <a:latin typeface="Calibri"/>
                <a:ea typeface="Calibri"/>
                <a:cs typeface="Calibri"/>
                <a:sym typeface="Calibri"/>
              </a:rPr>
              <a:t>argued that the public is underestimating rapidly improving AI capabilities and their implications for knowledge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post reportedly reached more than 80 million views and sparked substantial debate about whether its conclusions were too alarmist</a:t>
            </a:r>
            <a:endParaRPr sz="12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7" name="Google Shape;197;p28"/>
          <p:cNvSpPr txBox="1"/>
          <p:nvPr/>
        </p:nvSpPr>
        <p:spPr>
          <a:xfrm>
            <a:off x="81775" y="404925"/>
            <a:ext cx="44427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Harness-R1: Outcome-Graded Agents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Harness-R1 trains a dedicated 9B “harness engineer” to repair an agent’s surrounding runtime code, while the target agent itself remains frozen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learns from rerun outcomes: patches earn reward only when they improve task success, not merely when they compile or sound sensible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harness can add start-of-task guidance, decision hints, pre-action guards, and post-feedback recovery instructions.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Across WebShop, ALFWorld, and DBBench, it raised the vanilla target’s average success from 44.3% to 53.6%; the paper’s 45.8% figure refers to a comparison editor, not the baseline. [arxiv](https://arxiv.org/html/2608.02276)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Core lesson: outcome-tested harness engineering can outperform much larger prompted generalist models.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https://arxiv.org/abs/2608.02276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https://github.com/DeepExperience/Harness-R1</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https://www.alphaxiv.org/abs/2608.02276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https://x.com/alex_verem/status/2084986586496954648</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https://www.youtube.com/watch?v=mYx3r8YA-HY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p:txBody>
      </p:sp>
      <p:pic>
        <p:nvPicPr>
          <p:cNvPr id="198" name="Google Shape;198;p2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76875" y="404926"/>
            <a:ext cx="3869482" cy="21946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29"/>
          <p:cNvSpPr txBox="1"/>
          <p:nvPr/>
        </p:nvSpPr>
        <p:spPr>
          <a:xfrm>
            <a:off x="81775" y="0"/>
            <a:ext cx="4469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Mark Zuckerberg - AI Access vs Compute</a:t>
            </a:r>
            <a:endParaRPr sz="2000" b="1">
              <a:solidFill>
                <a:schemeClr val="dk1"/>
              </a:solidFill>
              <a:latin typeface="Calibri"/>
              <a:ea typeface="Calibri"/>
              <a:cs typeface="Calibri"/>
              <a:sym typeface="Calibri"/>
            </a:endParaRPr>
          </a:p>
        </p:txBody>
      </p:sp>
      <p:sp>
        <p:nvSpPr>
          <p:cNvPr id="204" name="Google Shape;204;p29"/>
          <p:cNvSpPr txBox="1"/>
          <p:nvPr/>
        </p:nvSpPr>
        <p:spPr>
          <a:xfrm>
            <a:off x="81775" y="850575"/>
            <a:ext cx="4782300" cy="325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Mark Zuckerberg - AI Access vs Compute</a:t>
            </a:r>
            <a:endParaRPr sz="1200" b="1">
              <a:solidFill>
                <a:srgbClr val="FF0000"/>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https://about.fb.com/news/2026/08/the-future-is-for-everyone/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https://www.theverge.com/tech/977395/meta-mark-zuckerberg-superintelligent-ai-ramble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https://www.facebook.com/zuck/posts/i-wrote-about-why-we-believe-the-future-is-for-everyone-more-coming-about-a-posi/10117806351954741/</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https://www.facebook.com/FoxBusiness/videos/new-meta-founder-and-ceo-mark-zuckerberg-outlining-his-ai-vision-for-a-world-whe/1331806370010628/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Mark Zuckerberg advocates personal superintelligence: free or affordable AI, open models, individual agency, invention, entrepreneurship, tutoring, health support, and broad scientific progress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He rejects safety through concentration of power, arguing that institutions alone cannot align AI with everyone’s values.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central critique is economic: model access is not equal capability when compute, energy, data centers, and capital remain finite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Wealthier firms or litigants can buy more inference, parallel research, and stronger agents, preserving or amplifying existing advantages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Broad access can improve defense, innovation, and long-tail problem solving, but fairness needs compute distribution - not merely open-weight models</a:t>
            </a:r>
            <a:endParaRPr sz="1200">
              <a:solidFill>
                <a:schemeClr val="dk1"/>
              </a:solidFill>
              <a:latin typeface="Calibri"/>
              <a:ea typeface="Calibri"/>
              <a:cs typeface="Calibri"/>
              <a:sym typeface="Calibri"/>
            </a:endParaRPr>
          </a:p>
        </p:txBody>
      </p:sp>
      <p:pic>
        <p:nvPicPr>
          <p:cNvPr id="205" name="Google Shape;205;p2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123125" y="622025"/>
            <a:ext cx="2902026" cy="2176520"/>
          </a:xfrm>
          <a:prstGeom prst="rect">
            <a:avLst/>
          </a:prstGeom>
          <a:noFill/>
          <a:ln w="9525" cap="flat" cmpd="sng">
            <a:solidFill>
              <a:srgbClr val="FF0000"/>
            </a:solidFill>
            <a:prstDash val="solid"/>
            <a:round/>
            <a:headEnd type="none" w="sm" len="sm"/>
            <a:tailEnd type="none" w="sm" len="sm"/>
          </a:ln>
        </p:spPr>
      </p:pic>
      <p:pic>
        <p:nvPicPr>
          <p:cNvPr id="206" name="Google Shape;206;p2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633338" y="2950944"/>
            <a:ext cx="1881594" cy="204015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30"/>
          <p:cNvSpPr txBox="1"/>
          <p:nvPr/>
        </p:nvSpPr>
        <p:spPr>
          <a:xfrm>
            <a:off x="81775" y="0"/>
            <a:ext cx="3116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Double Descent Explained</a:t>
            </a:r>
            <a:endParaRPr sz="2000" b="1">
              <a:solidFill>
                <a:schemeClr val="dk1"/>
              </a:solidFill>
              <a:latin typeface="Calibri"/>
              <a:ea typeface="Calibri"/>
              <a:cs typeface="Calibri"/>
              <a:sym typeface="Calibri"/>
            </a:endParaRPr>
          </a:p>
        </p:txBody>
      </p:sp>
      <p:sp>
        <p:nvSpPr>
          <p:cNvPr id="212" name="Google Shape;212;p30"/>
          <p:cNvSpPr txBox="1"/>
          <p:nvPr/>
        </p:nvSpPr>
        <p:spPr>
          <a:xfrm>
            <a:off x="5355075" y="4024250"/>
            <a:ext cx="3040800" cy="84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https://www.youtube.com/watch?v=NP8oGdiu8dQ</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https://mlu-explain.github.io/double-descent/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https://github.com/josch14/double-descent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https://www.pnas.org/doi/10.1073/pnas.1903070116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https://arxiv.org/abs/1812.11118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8"/>
              </a:rPr>
              <a:t>https://www.youtube.com/watch?v=lJIW8TaAxLo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213" name="Google Shape;213;p30"/>
          <p:cNvSpPr txBox="1"/>
          <p:nvPr/>
        </p:nvSpPr>
        <p:spPr>
          <a:xfrm>
            <a:off x="81775" y="421375"/>
            <a:ext cx="43845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Everyone learns the same rule: make a model too big and it overfits, memorizing the noise in the training data until it fails on everything new</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classic bias-variance curve says test error is U-shaped, so you find the sweet spot and stop</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But modern neural networks have far more parameters than training examples, sit way past that sweet spot, and still generalize beautifully. How?</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answer is a curve that seems to break the rule. As you keep adding parameters, test error climbs exactly as the textbook predicts, peaking at the interpolation threshold, the point where the model has just enough capacity to thread every training point and drive training error to zero</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Right there the fit is forced through every noisy point with no slack, so it swings wildly and generalizes worst. But push past the threshold and test error descends a second time, often below the classical sweet spot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Once there are more parameters than points, infinitely many perfect fits exist, and gradient descent quietly prefers the smoothest, lowest-norm one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More parameters give it more room to stay smooth, which is why a giant network that memorizes its training set can still be the one that generalizes best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This is double descent, and it is why in deep learning, bigger really can be better.</a:t>
            </a:r>
            <a:endParaRPr sz="1200">
              <a:solidFill>
                <a:schemeClr val="dk1"/>
              </a:solidFill>
              <a:latin typeface="Calibri"/>
              <a:ea typeface="Calibri"/>
              <a:cs typeface="Calibri"/>
              <a:sym typeface="Calibri"/>
            </a:endParaRPr>
          </a:p>
        </p:txBody>
      </p:sp>
      <p:pic>
        <p:nvPicPr>
          <p:cNvPr id="214" name="Google Shape;214;p30"/>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519200" y="479075"/>
            <a:ext cx="2712550" cy="1512225"/>
          </a:xfrm>
          <a:prstGeom prst="rect">
            <a:avLst/>
          </a:prstGeom>
          <a:noFill/>
          <a:ln w="9525" cap="flat" cmpd="sng">
            <a:solidFill>
              <a:srgbClr val="FF0000"/>
            </a:solidFill>
            <a:prstDash val="solid"/>
            <a:round/>
            <a:headEnd type="none" w="sm" len="sm"/>
            <a:tailEnd type="none" w="sm" len="sm"/>
          </a:ln>
        </p:spPr>
      </p:pic>
      <p:pic>
        <p:nvPicPr>
          <p:cNvPr id="215" name="Google Shape;215;p30" title="pnas.1903070116fig01.jpeg"/>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5680875" y="2154750"/>
            <a:ext cx="2389200" cy="1710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1"/>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1" name="Google Shape;221;p31"/>
          <p:cNvSpPr txBox="1"/>
          <p:nvPr/>
        </p:nvSpPr>
        <p:spPr>
          <a:xfrm>
            <a:off x="81775" y="425675"/>
            <a:ext cx="43893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cmux - an Agent-Friendly Terminal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cmux is a native macOS terminal designed for developers coordinating multiple AI coding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cmux is free, open source, and currently macOS-only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https://cmux.com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https://github.com/manaflow-ai/cmux</a:t>
            </a:r>
            <a:r>
              <a:rPr lang="en" sz="1200">
                <a:solidFill>
                  <a:schemeClr val="dk1"/>
                </a:solidFill>
                <a:latin typeface="Calibri"/>
                <a:ea typeface="Calibri"/>
                <a:cs typeface="Calibri"/>
                <a:sym typeface="Calibri"/>
              </a:rPr>
              <a:t>  - 26K stars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https://betterstack.com/community/guides/ai/cmux-terminal/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https://www.ycombinator.com/launches/PbB-cmux-the-open-source-terminal-built-for-coding-agents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https://www.youtube.com/watch?v=bGXagNWlk74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Ghostty’s terminal engine with a Swift and AppKit interface, rather than Electron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Vertical tabs, pane splits, workspaces, and notification rings make active agent sessions easier to monitor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 embedded browser lets agents and developers inspect local web applications without leaving the workspace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CLI and socket-control API can create workspaces, operate panes, send keystrokes, and automate browser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supports agent-oriented CLI tools such as Claude Code, Codex, Gemini CLI, OpenCode, Kiro, and Aider</a:t>
            </a:r>
            <a:endParaRPr sz="1200">
              <a:solidFill>
                <a:schemeClr val="dk1"/>
              </a:solidFill>
              <a:latin typeface="Calibri"/>
              <a:ea typeface="Calibri"/>
              <a:cs typeface="Calibri"/>
              <a:sym typeface="Calibri"/>
            </a:endParaRPr>
          </a:p>
        </p:txBody>
      </p:sp>
      <p:pic>
        <p:nvPicPr>
          <p:cNvPr id="222" name="Google Shape;222;p31"/>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46250" y="1306950"/>
            <a:ext cx="4368128" cy="252959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2"/>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8" name="Google Shape;228;p32"/>
          <p:cNvSpPr txBox="1"/>
          <p:nvPr/>
        </p:nvSpPr>
        <p:spPr>
          <a:xfrm>
            <a:off x="81775" y="425675"/>
            <a:ext cx="4436400" cy="362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Stella’s AI-App Launch</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https://apps.apple.com/us/app/stella-manifest-anything/id6757347283</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https://medium.com/@yumaueno/she-had-never-written-a-line-of-code-two-months-later-her-app-was-making-300-000-a-month-888c37439bbd</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https://www.instagram.com/reel/DUwVfllDjNJ/</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https://www.youtube.com/watch?v=Eg93po_DAYo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https://www.stork.ai/blog/this-ai-app-makes-300kmonth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Sarah Perl, creator of the HotHighPriestess brand, launched Stella, an iPhone manifestation app centered on personalized “dream life” audio narratives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reported story says she had no conventional programming background, used Claude Code and Google AI Studio, and produced an MVP in roughly two days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Stella asks users about desired career, relationship, financial, or personal outcomes, then generates customized visualizations and daily affirmations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article claims </a:t>
            </a:r>
            <a:r>
              <a:rPr lang="en" sz="1200" b="1">
                <a:solidFill>
                  <a:srgbClr val="FF0000"/>
                </a:solidFill>
                <a:latin typeface="Calibri"/>
                <a:ea typeface="Calibri"/>
                <a:cs typeface="Calibri"/>
                <a:sym typeface="Calibri"/>
              </a:rPr>
              <a:t>the app reached about $300,000 in monthly recurring revenue within two months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launch advantage was distribution: Perl already had a large social audience, allowing rapid testing of short-form content, hooks, and conversion to downloads</a:t>
            </a:r>
            <a:endParaRPr sz="1200">
              <a:solidFill>
                <a:schemeClr val="dk1"/>
              </a:solidFill>
              <a:latin typeface="Calibri"/>
              <a:ea typeface="Calibri"/>
              <a:cs typeface="Calibri"/>
              <a:sym typeface="Calibri"/>
            </a:endParaRPr>
          </a:p>
        </p:txBody>
      </p:sp>
      <p:pic>
        <p:nvPicPr>
          <p:cNvPr id="229" name="Google Shape;229;p32"/>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23475" y="152400"/>
            <a:ext cx="2106051" cy="2221275"/>
          </a:xfrm>
          <a:prstGeom prst="rect">
            <a:avLst/>
          </a:prstGeom>
          <a:noFill/>
          <a:ln w="9525" cap="flat" cmpd="sng">
            <a:solidFill>
              <a:srgbClr val="FF0000"/>
            </a:solidFill>
            <a:prstDash val="solid"/>
            <a:round/>
            <a:headEnd type="none" w="sm" len="sm"/>
            <a:tailEnd type="none" w="sm" len="sm"/>
          </a:ln>
        </p:spPr>
      </p:pic>
      <p:pic>
        <p:nvPicPr>
          <p:cNvPr id="230" name="Google Shape;230;p32"/>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23475" y="2526075"/>
            <a:ext cx="2736698" cy="24650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3"/>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VEED Fabric AI Video Test</a:t>
            </a:r>
            <a:endParaRPr sz="2000" b="1">
              <a:solidFill>
                <a:schemeClr val="dk1"/>
              </a:solidFill>
              <a:latin typeface="Calibri"/>
              <a:ea typeface="Calibri"/>
              <a:cs typeface="Calibri"/>
              <a:sym typeface="Calibri"/>
            </a:endParaRPr>
          </a:p>
        </p:txBody>
      </p:sp>
      <p:sp>
        <p:nvSpPr>
          <p:cNvPr id="236" name="Google Shape;236;p33"/>
          <p:cNvSpPr txBox="1"/>
          <p:nvPr/>
        </p:nvSpPr>
        <p:spPr>
          <a:xfrm>
            <a:off x="81775" y="425675"/>
            <a:ext cx="44364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VEED Fabric AI Video Test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https://www.veed.io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https://github.com/veedstudio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https://www.veed.io/tools/ai-video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https://www.youtube.com/watch?v=fNM6zU6cMKY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Julia McCoy tests VEED Fabric 1.0, which animates a single real or AI-made image into a speaking avatar driven by supplied, cloned, or library voice audio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synchronizes lips, blinks, head motion, shoulders, and gestures; short 10–30-second outputs look strongest, while longer clips reveal artifacts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 AI Studio converts a written concept into a draft script, scenes, narration or avatar, captions, and suggested AI B-roll, then allows scene-level rewriting and model choice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editor adds subtitles, transitions, music, audio cleanup, silence removal, eye-contact correction, and background expansion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Verdict: trained avatars remain more realistic, but one-photo generation sharply lowers production time and cost; clear messaging becomes the differentiator</a:t>
            </a:r>
            <a:endParaRPr sz="1200">
              <a:solidFill>
                <a:schemeClr val="dk1"/>
              </a:solidFill>
              <a:latin typeface="Calibri"/>
              <a:ea typeface="Calibri"/>
              <a:cs typeface="Calibri"/>
              <a:sym typeface="Calibri"/>
            </a:endParaRPr>
          </a:p>
        </p:txBody>
      </p:sp>
      <p:pic>
        <p:nvPicPr>
          <p:cNvPr id="237" name="Google Shape;237;p3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70575" y="801225"/>
            <a:ext cx="3322224" cy="2862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34"/>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43" name="Google Shape;243;p34"/>
          <p:cNvSpPr txBox="1"/>
          <p:nvPr/>
        </p:nvSpPr>
        <p:spPr>
          <a:xfrm>
            <a:off x="81775" y="425675"/>
            <a:ext cx="52725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Stanford Virtual Biotech</a:t>
            </a:r>
            <a:endParaRPr sz="1200" b="1">
              <a:solidFill>
                <a:srgbClr val="FF0000"/>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https://med.stanford.edu/cancer/about/news/inside-the-virtual-lab--how-ai-scientists-are-accelerating-disco.html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https://github.com/zou-group/virtual-lab</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https://venturebeat.com/orchestration/stanford-is-running-37-000-ai-agents-as-a-virtual-biotech-and-one-of-its-drug-designs-got-independently-confirmed-by-merck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https://www.linkedin.com/posts/james-zou-2123a4133_introducing-the-virtual-biotech-our-vision-activity-7433227674992517120-SOBt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https://www.youtube.com/watch?v=jd3zHAw_S4Y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Stanford’s Virtual Biotech</a:t>
            </a:r>
            <a:br>
              <a:rPr lang="en" sz="1200">
                <a:solidFill>
                  <a:schemeClr val="dk1"/>
                </a:solidFill>
                <a:latin typeface="Calibri"/>
                <a:ea typeface="Calibri"/>
                <a:cs typeface="Calibri"/>
                <a:sym typeface="Calibri"/>
              </a:rPr>
            </a:br>
            <a:r>
              <a:rPr lang="en" sz="1200" b="1">
                <a:solidFill>
                  <a:srgbClr val="3C78D8"/>
                </a:solidFill>
                <a:latin typeface="Calibri"/>
                <a:ea typeface="Calibri"/>
                <a:cs typeface="Calibri"/>
                <a:sym typeface="Calibri"/>
              </a:rPr>
              <a:t>.. organizes specialized AI scientist agents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under a Chief Scientific Officer agent</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modeling target discovery, molecule design,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and clinical-development functions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37,000 clinical-trial agents processed 60,000 trials</a:t>
            </a:r>
            <a:r>
              <a:rPr lang="en" sz="1200">
                <a:solidFill>
                  <a:schemeClr val="dk1"/>
                </a:solidFill>
                <a:latin typeface="Calibri"/>
                <a:ea typeface="Calibri"/>
                <a:cs typeface="Calibri"/>
                <a:sym typeface="Calibri"/>
              </a:rPr>
              <a:t> to identify biomarkers and target signals linked to clinical success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system proposed a CD276-targeting antibody-drug conjugate for lung cancer</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Merck later independently advanced a substantially similar therapeutic strategy, providing an encouraging external corroboration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platform is intended to accelerate computational hypothesis generation while keeping experimental validation and human scientific judgment essential</a:t>
            </a:r>
            <a:endParaRPr sz="1200">
              <a:solidFill>
                <a:schemeClr val="dk1"/>
              </a:solidFill>
              <a:latin typeface="Calibri"/>
              <a:ea typeface="Calibri"/>
              <a:cs typeface="Calibri"/>
              <a:sym typeface="Calibri"/>
            </a:endParaRPr>
          </a:p>
        </p:txBody>
      </p:sp>
      <p:pic>
        <p:nvPicPr>
          <p:cNvPr id="244" name="Google Shape;244;p3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506675" y="425677"/>
            <a:ext cx="3484925" cy="1933044"/>
          </a:xfrm>
          <a:prstGeom prst="rect">
            <a:avLst/>
          </a:prstGeom>
          <a:noFill/>
          <a:ln w="9525" cap="flat" cmpd="sng">
            <a:solidFill>
              <a:srgbClr val="FF0000"/>
            </a:solidFill>
            <a:prstDash val="solid"/>
            <a:round/>
            <a:headEnd type="none" w="sm" len="sm"/>
            <a:tailEnd type="none" w="sm" len="sm"/>
          </a:ln>
        </p:spPr>
      </p:pic>
      <p:sp>
        <p:nvSpPr>
          <p:cNvPr id="245" name="Google Shape;245;p34"/>
          <p:cNvSpPr txBox="1"/>
          <p:nvPr/>
        </p:nvSpPr>
        <p:spPr>
          <a:xfrm>
            <a:off x="5505350" y="2489175"/>
            <a:ext cx="3484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James Zou</a:t>
            </a:r>
            <a:r>
              <a:rPr lang="en" sz="1200">
                <a:solidFill>
                  <a:schemeClr val="dk1"/>
                </a:solidFill>
                <a:latin typeface="Calibri"/>
                <a:ea typeface="Calibri"/>
                <a:cs typeface="Calibri"/>
                <a:sym typeface="Calibri"/>
              </a:rPr>
              <a:t> is a Stanford AI researcher working at the intersection of machine learning, biology, medicine, and AI agents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He is an associate professor of Biomedical Data Science and, by courtesy, Computer Science and Electrical Engineering, and </a:t>
            </a:r>
            <a:r>
              <a:rPr lang="en" sz="1200" b="1">
                <a:solidFill>
                  <a:srgbClr val="FF0000"/>
                </a:solidFill>
                <a:latin typeface="Calibri"/>
                <a:ea typeface="Calibri"/>
                <a:cs typeface="Calibri"/>
                <a:sym typeface="Calibri"/>
              </a:rPr>
              <a:t>leads the Stanford AI for Science Lab</a:t>
            </a:r>
            <a:endParaRPr sz="1200" b="1">
              <a:solidFill>
                <a:srgbClr val="FF0000"/>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35"/>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1" name="Google Shape;251;p35"/>
          <p:cNvSpPr txBox="1"/>
          <p:nvPr/>
        </p:nvSpPr>
        <p:spPr>
          <a:xfrm>
            <a:off x="81775" y="425675"/>
            <a:ext cx="44091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AI Dev Platforms: GitHub vs Vercel vs Replit</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AI has made software coding a cheap commodity</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value of dev platform shifts from coding to orchestration, production, and verification</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GitHub - coordinates multi-vendor agents through familiar issues, pull requests, policies, and isolated task environments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Vercel - focuses on safely converting generated code into production deployments using isolated microVM sandboxes and usage-aligned compute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Replit - emphasizes autonomous verification. Its agent drives a browser, tests workflows, detects broken “Potemkin” interfaces, and attempts repairs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MCP is the shared interoperability layer, enabling agents to access tools, data, and APIs through standardized servers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strategic tradeoff is clear: </a:t>
            </a:r>
            <a:br>
              <a:rPr lang="en" sz="1200">
                <a:solidFill>
                  <a:schemeClr val="dk1"/>
                </a:solidFill>
                <a:latin typeface="Calibri"/>
                <a:ea typeface="Calibri"/>
                <a:cs typeface="Calibri"/>
                <a:sym typeface="Calibri"/>
              </a:rPr>
            </a:br>
            <a:r>
              <a:rPr lang="en" sz="1200">
                <a:solidFill>
                  <a:srgbClr val="3C78D8"/>
                </a:solidFill>
                <a:latin typeface="Calibri"/>
                <a:ea typeface="Calibri"/>
                <a:cs typeface="Calibri"/>
                <a:sym typeface="Calibri"/>
              </a:rPr>
              <a:t>.. GitHub owns workflow governance</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Vercel owns deployment reliability</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Replit owns testing confidence</a:t>
            </a:r>
            <a:endParaRPr sz="1200">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3"/>
              </a:rPr>
              <a:t>https://blog.bytebytego.com/p/github-vs-vercel-vs-replit-what-dev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4"/>
              </a:rPr>
              <a:t>https://www.youtube.com/watch?v=8a4_AAds0vU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36"/>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granian vs uvicorn for SaaS </a:t>
            </a:r>
            <a:endParaRPr sz="2000" b="1">
              <a:solidFill>
                <a:schemeClr val="dk1"/>
              </a:solidFill>
              <a:latin typeface="Calibri"/>
              <a:ea typeface="Calibri"/>
              <a:cs typeface="Calibri"/>
              <a:sym typeface="Calibri"/>
            </a:endParaRPr>
          </a:p>
        </p:txBody>
      </p:sp>
      <p:sp>
        <p:nvSpPr>
          <p:cNvPr id="257" name="Google Shape;257;p36"/>
          <p:cNvSpPr txBox="1"/>
          <p:nvPr/>
        </p:nvSpPr>
        <p:spPr>
          <a:xfrm>
            <a:off x="81775" y="453250"/>
            <a:ext cx="44304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Peter Diamandis - Automagical Life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https://www.diamandis.com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https://metatrends.substack.com/p/auto-magical-living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Diamandis predicts that by 2028, ambient AI will continuously use consented personal data to anticipate needs and act without explicit prompts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would combine calendars, conversations, home cameras, location, wearables, glucose data, and health records to optimize decisions and environments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Examples include a robot chef tailoring meals, an autonomous car arriving at departure, and a living room adapting to stress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Shopping agents could make approved purchases within budgets, while meeting assistants brief users, detect skepticism, draft follow-ups, and update CRM records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proposed exchange is pervasive surveillance for convenience, health support, and productivity; it also creates opportunities in permissions, privacy, robotics, health data, and logistics</a:t>
            </a:r>
            <a:endParaRPr sz="1200">
              <a:solidFill>
                <a:schemeClr val="dk1"/>
              </a:solidFill>
              <a:latin typeface="Calibri"/>
              <a:ea typeface="Calibri"/>
              <a:cs typeface="Calibri"/>
              <a:sym typeface="Calibri"/>
            </a:endParaRPr>
          </a:p>
        </p:txBody>
      </p:sp>
      <p:pic>
        <p:nvPicPr>
          <p:cNvPr id="258" name="Google Shape;258;p3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42450" y="2442075"/>
            <a:ext cx="4327026" cy="2428278"/>
          </a:xfrm>
          <a:prstGeom prst="rect">
            <a:avLst/>
          </a:prstGeom>
          <a:noFill/>
          <a:ln w="9525" cap="flat" cmpd="sng">
            <a:solidFill>
              <a:srgbClr val="FF0000"/>
            </a:solidFill>
            <a:prstDash val="solid"/>
            <a:round/>
            <a:headEnd type="none" w="sm" len="sm"/>
            <a:tailEnd type="none" w="sm" len="sm"/>
          </a:ln>
        </p:spPr>
      </p:pic>
      <p:pic>
        <p:nvPicPr>
          <p:cNvPr id="259" name="Google Shape;259;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01972" y="175397"/>
            <a:ext cx="1249000" cy="16686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37"/>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granian vs uvicorn for SaaS </a:t>
            </a:r>
            <a:endParaRPr sz="2000" b="1">
              <a:solidFill>
                <a:schemeClr val="dk1"/>
              </a:solidFill>
              <a:latin typeface="Calibri"/>
              <a:ea typeface="Calibri"/>
              <a:cs typeface="Calibri"/>
              <a:sym typeface="Calibri"/>
            </a:endParaRPr>
          </a:p>
        </p:txBody>
      </p:sp>
      <p:sp>
        <p:nvSpPr>
          <p:cNvPr id="265" name="Google Shape;265;p37"/>
          <p:cNvSpPr txBox="1"/>
          <p:nvPr/>
        </p:nvSpPr>
        <p:spPr>
          <a:xfrm>
            <a:off x="81775" y="453250"/>
            <a:ext cx="4430400" cy="3851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https://uvicorn.dev</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https://github.com/Kludex/uvicorn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https://github.com/emmett-framework/granian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https://fastapi.tiangolo.com/deployment/manually/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https://talkpython.fm/books/python-in-production/chapter-6-running-on-rust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Granian is a production HTTP application server for Python, written in Rust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run it in front of a Python web app (such as FastAPI) much as you would run Uvicorn or Gunicorn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Granian supports ASGI, WSGI, HTTP/2, HTTPS, and WebSockets, making it compelling for connection-heavy or unusually high-throughput APIs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Granian when HTTP/ASGI layer is a bottleneck. Granian's Rust/Tokio implementation can improve throughput and tail latency.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Uvicorn first for most FastAPI SaaS deployments: it is mature, ubiquitous, well documented, and FastAPI’s default production server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Database, Redis, external APIs, serialization, and Python CPU work usually dominate SaaS request time, limiting server-level gains.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Uvicorn has the safer operational path: familiar tooling, broad ecosystem coverage, straightforward workers, and easier incident troubleshooting.</a:t>
            </a:r>
            <a:endParaRPr sz="1200">
              <a:solidFill>
                <a:schemeClr val="dk1"/>
              </a:solidFill>
              <a:latin typeface="Calibri"/>
              <a:ea typeface="Calibri"/>
              <a:cs typeface="Calibri"/>
              <a:sym typeface="Calibri"/>
            </a:endParaRPr>
          </a:p>
        </p:txBody>
      </p:sp>
      <p:pic>
        <p:nvPicPr>
          <p:cNvPr id="266" name="Google Shape;266;p37"/>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5859125" y="234800"/>
            <a:ext cx="1849975" cy="1881176"/>
          </a:xfrm>
          <a:prstGeom prst="rect">
            <a:avLst/>
          </a:prstGeom>
          <a:noFill/>
          <a:ln w="9525" cap="flat" cmpd="sng">
            <a:solidFill>
              <a:srgbClr val="FF0000"/>
            </a:solidFill>
            <a:prstDash val="solid"/>
            <a:round/>
            <a:headEnd type="none" w="sm" len="sm"/>
            <a:tailEnd type="none" w="sm" len="sm"/>
          </a:ln>
        </p:spPr>
      </p:pic>
      <p:pic>
        <p:nvPicPr>
          <p:cNvPr id="267" name="Google Shape;267;p37"/>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859125" y="2268975"/>
            <a:ext cx="1849975" cy="1849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3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73" name="Google Shape;273;p38"/>
          <p:cNvSpPr txBox="1"/>
          <p:nvPr/>
        </p:nvSpPr>
        <p:spPr>
          <a:xfrm>
            <a:off x="81775" y="473200"/>
            <a:ext cx="5855400" cy="2927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LangGraph: Runtime Over Diagrams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https://langchain-ai.github.io/langgraph/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https://github.com/langchain-ai/langgraph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https://docs.langchain.com/oss/python/langgraph/overview</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https://www.blog.langchain.com/making-it-easier-to-build-human-in-the-loop-agents-with-interrupt/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https://www.youtube.com/@LangChain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LangGraph’s core value is durable, stateful execution - not drawing agent flowcharts.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State, nodes, edges, reducers, and compile define the graph;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supersteps coordinate parallel updates deterministically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Checkpointers plus a thread ID preserve state, enable resume, human approval pauses, replay, forking, and streaming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durable storage such as SQLite or Postgres;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in-memory checkpoints disappear on restart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Interrupts restart their enclosing node when resumed,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so side effects must be retry-safe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Prefer simpler loops for short, deterministic workflows without recovery or human-in-the-loop needs</a:t>
            </a:r>
            <a:endParaRPr sz="1200">
              <a:solidFill>
                <a:schemeClr val="dk1"/>
              </a:solidFill>
              <a:latin typeface="Calibri"/>
              <a:ea typeface="Calibri"/>
              <a:cs typeface="Calibri"/>
              <a:sym typeface="Calibri"/>
            </a:endParaRPr>
          </a:p>
        </p:txBody>
      </p:sp>
      <p:pic>
        <p:nvPicPr>
          <p:cNvPr id="274" name="Google Shape;274;p38"/>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6089575" y="933450"/>
            <a:ext cx="2902025" cy="140017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39"/>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0" name="Google Shape;280;p39"/>
          <p:cNvSpPr txBox="1"/>
          <p:nvPr/>
        </p:nvSpPr>
        <p:spPr>
          <a:xfrm>
            <a:off x="81775" y="425675"/>
            <a:ext cx="43869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Seven Rules for Business Scale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https://www.youtube.com/watch?v=CLeInabCKYQ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https://www.ryandeiss.com/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https://www.linkedin.com/posts/ryandeiss_stop-doing-annual-planning-right-now-activity-7412152270404055042-n3MI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Announcement: https://www.youtube.com/@RyanDeissOfficial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Video: https://www.youtube.com/watch?v=CLeInabCKYQ [youtube](https://www.youtube.com/watch?v=CLeInabCKYQ)</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Replace ad hoc hiring with documented systems; use specialists to build unknown processes before staffing them.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Operate from a weekly scorecard: three health metrics, three 90-day North Stars, and owned departmental measures.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Protect gross margin, cash, and distributable cash; treat profit as a constraint that funds scale.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Hire outcome-owning experts, especially where leadership is weakest, rather than task helpers.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Decentralize decisions with research, peer input, and a 1-3-1 recommendation.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Plan in 90-day 3-5-1 sprints, not static annual plans.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Run weekly pulses and monthly reviews; prioritize consistent execution over shiny objects.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Set three-year revenue and profit targets, then adjust from results rather than intuition.</a:t>
            </a:r>
            <a:endParaRPr sz="1200">
              <a:solidFill>
                <a:schemeClr val="dk1"/>
              </a:solidFill>
              <a:latin typeface="Calibri"/>
              <a:ea typeface="Calibri"/>
              <a:cs typeface="Calibri"/>
              <a:sym typeface="Calibri"/>
            </a:endParaRPr>
          </a:p>
        </p:txBody>
      </p:sp>
      <p:sp>
        <p:nvSpPr>
          <p:cNvPr id="281" name="Google Shape;281;p39"/>
          <p:cNvSpPr txBox="1"/>
          <p:nvPr/>
        </p:nvSpPr>
        <p:spPr>
          <a:xfrm>
            <a:off x="4616900" y="469925"/>
            <a:ext cx="43869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Coding Skills: Modular Control</a:t>
            </a:r>
            <a:br>
              <a:rPr lang="en" sz="1200" b="1">
                <a:solidFill>
                  <a:srgbClr val="FF0000"/>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https://www.youtube.com/watch?v=8D8ewFBJfFM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Matt Pocock’s modular AI-development skills aim to reduce unpredictable coding output by gathering precise project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Groom Me interviews users one decision at a time, recommends options, and waits for confirmation before acting.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Two Spec preserves the agreed design in a code-free specification, encouraging agents to inspect current code rather than copy stale snippets.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Two Tickets slices work by end-to-end features rather than database/API/UI layers, enabling earlier testing.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Implement emphasizes test-driven development; Code Review uses concise refactoring concepts such as shotgun surgery, feature envy, and data clumps.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approach favors short, reusable, independently runnable skills over rigid chained workflows.</a:t>
            </a:r>
            <a:endParaRPr sz="12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0"/>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7" name="Google Shape;287;p40"/>
          <p:cNvSpPr txBox="1"/>
          <p:nvPr/>
        </p:nvSpPr>
        <p:spPr>
          <a:xfrm>
            <a:off x="81775" y="425675"/>
            <a:ext cx="43869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Karpathy’s Prompting 2.0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https://www.youtube.com/watch?v=eMPWBunaOic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https://karpathy.ai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https://github.com/karpathy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https://platform.claude.com/docs/en/build-with-claude/prompt-engineering/claude-prompting-best-practices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https://x.com/karpathy/status/2079610838143623371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Andrej Karpathy’s “ramble session” prompting approach uses roughly 10 minutes of unstructured voice input to give an LLM richer project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Start by warning the model that speech recognition may introduce typos, then freely describe goals, constraints, uncertainties, examples, preferences, and half-formed ideas.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model can reconstruct that messy context into a clearer shared understanding, sometimes through a short interview-style back-and-forth.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Use it chiefly at the beginning of a new project or session, rather than for every small edit.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goal is fewer correction cycles and a stronger “mind meld,” not replacing clear acceptance criteria, tests, or verification. [x](https://x.com/karpathy/status/2079610838143623371)</a:t>
            </a:r>
            <a:endParaRPr sz="1200">
              <a:solidFill>
                <a:schemeClr val="dk1"/>
              </a:solidFill>
              <a:latin typeface="Calibri"/>
              <a:ea typeface="Calibri"/>
              <a:cs typeface="Calibri"/>
              <a:sym typeface="Calibri"/>
            </a:endParaRPr>
          </a:p>
        </p:txBody>
      </p:sp>
      <p:sp>
        <p:nvSpPr>
          <p:cNvPr id="288" name="Google Shape;288;p40"/>
          <p:cNvSpPr txBox="1"/>
          <p:nvPr/>
        </p:nvSpPr>
        <p:spPr>
          <a:xfrm>
            <a:off x="4616900" y="248675"/>
            <a:ext cx="4386900" cy="519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Local AI Harness Findings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https://omp.sh/ [omp](https://omp.sh/)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https://github.com/can1357/oh-my-pi [github](https://github.com/can1357/oh-my-pi)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https://hkinsley.com/reflections/right-harness-is-all-you-need [hkinsley](https://hkinsley.com/reflections/right-harness-is-all-you-need)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https://api-docs.deepseek.com/updates [api-docs.deepseek](https://api-docs.deepseek.com/updates)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https://www.youtube.com/watch?v=H50xoAzNfB0 [youtube](https://www.youtube.com/watch?v=H50xoAzNfB0)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Agent harness design materially changed local-model coding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GLM-5.2 3.25-BPW with OMP achieved 65/89 Terminal-Bench tasks, or 73%.</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simpler Minion harness scored 61/89 with the same GLM weights.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DeepSeek V4 Flash 0731 jumped from 44/89 under Minion to 64/89 using OMP.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OMP’s planning, iteration, and tool workflow improve outcomes but consume substantially more tokens and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GLM decoded near 75 tokens/second; DeepSeek Flash reached roughly 350 tokens/second.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A PCIe Gen 5 switch enabled four RTX PRO 6000 GPUs, but ReBAR and Above 4G Decoding were critical for avoiding major throughput losses.</a:t>
            </a:r>
            <a:endParaRPr sz="12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41"/>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94" name="Google Shape;294;p41"/>
          <p:cNvSpPr txBox="1"/>
          <p:nvPr/>
        </p:nvSpPr>
        <p:spPr>
          <a:xfrm>
            <a:off x="81775" y="425675"/>
            <a:ext cx="43869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MiniMax Code 2.0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https://www.minimax.io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https://github.com/badlogic/pi-mono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https://alphasignal.ai/news/minimax-rebuilds-code-2-0-on-pi-agent-slashing-latency-by-90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https://agent.minimax.io/docs/changelog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https://www.youtube.com/watch?v=rlqBbtQFEro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MiniMax Code 2.0 rebuilds its desktop agent on the open-source Pi framework for more reliable long, tool-driven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update claims over 90% lower p95/p99 first-token latency, fewer stalls, and stronger persistence of conversation and tool state.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Teams can divide research, strategy, production, and review among separate agents, improving coordination and quality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Memory and reusable skills preserve organizational context and repeat proven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Built-in browser control, phone-based remote control, goal/work modes, scheduling, and BYOK support broaden automation use cases.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Practical examples include multi-channel content campaigns, lead research, recurring reports, and seven-day member onboarding sequences. [agent.minimax](https://agent.minimax.io/docs/changelog)</a:t>
            </a:r>
            <a:endParaRPr sz="1200">
              <a:solidFill>
                <a:schemeClr val="dk1"/>
              </a:solidFill>
              <a:latin typeface="Calibri"/>
              <a:ea typeface="Calibri"/>
              <a:cs typeface="Calibri"/>
              <a:sym typeface="Calibri"/>
            </a:endParaRPr>
          </a:p>
        </p:txBody>
      </p:sp>
      <p:sp>
        <p:nvSpPr>
          <p:cNvPr id="295" name="Google Shape;295;p41"/>
          <p:cNvSpPr txBox="1"/>
          <p:nvPr/>
        </p:nvSpPr>
        <p:spPr>
          <a:xfrm>
            <a:off x="4528400" y="425675"/>
            <a:ext cx="43869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Ling-3.0-tiny: Small, Sparse, Fast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Main: https://huggingface.co/inclusionAI/Ling-3.0-tiny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GitHub: https://github.com/inclusionAI/Ling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Article: https://eu.36kr.com/en/p/3935123373866371</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Announcement: https://x.com/AntLingAGI/status/2085432364189335884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Video: https://www.youtube.com/watch?v=XDhqIsRwV7M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Released August 6, Ling-3.0-tiny is a hybrid-reasoning MoE with 7.9B total parameters but only 1.3B active per token. [huggingface](https://huggingface.co/inclusionAI/Ling-3.0-tiny)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Its 262K context window, instant/thinking modes, and native function calling make it attractive for long-context agent workflows. [huggingface](https://huggingface.co/inclusionAI/Ling-3.0-tiny)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“64 departments” explanation is oversimplified: official specs describe 128 experts, selecting eight routed experts plus one shared expert per token. [huggingface](https://huggingface.co/inclusionAI/Ling-3.0-tiny)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original video is already outdated: BF16, FP8, and INT4 weights are now downloadable for local deployment. [huggingface](https://huggingface.co/inclusionAI/Ling-3.0-tiny)</a:t>
            </a:r>
            <a:endParaRPr sz="12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1" name="Google Shape;301;p42"/>
          <p:cNvSpPr txBox="1"/>
          <p:nvPr/>
        </p:nvSpPr>
        <p:spPr>
          <a:xfrm>
            <a:off x="81775" y="425675"/>
            <a:ext cx="4386900" cy="482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Token Leak Fixes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https://omniroute.online/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https://github.com/diegosouzapw/OmniRoute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https://blog.jetbrains.com/ai/2026/07/ponytail-skill-claude-tested/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https://www.linkedin.com/pulse/how-reduce-claude-code-token-usage-rtk-omniroute-julian-goldie-phvwc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https://www.youtube.com/watch?v=_8GF2zIJf9w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video pitches four free tools to stretch Claude Code usage: RTK filters noisy shell output; Caveman makes replies terse; Ponytail discourages speculative code; OmniRoute routes suitable tasks to alternate providers.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Claimed results include 82.9% less tool-output usage, 69% fewer reply tokens, and roughly half the generated work volume—but these are workload-specific tests, not guarantees. [youtube](https://www.youtube.com/watch?v=_8GF2zIJf9w)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practical habits are sound: clear or compact stale context, trim CLAUDE.md, plan before executing, batch related requests, delegate exploration, and retain durable project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Be cautious with “free” routing: providers have quotas, privacy implications, changing availability, and potentially weaker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Independent testing found more modest, variable savings for several tools; validate on representative repositories before standardizing. [blog.jetbrains](https://blog.jetbrains.com/ai/2026/07/ponytail-skill-claude-tested/)</a:t>
            </a:r>
            <a:endParaRPr sz="1200">
              <a:solidFill>
                <a:schemeClr val="dk1"/>
              </a:solidFill>
              <a:latin typeface="Calibri"/>
              <a:ea typeface="Calibri"/>
              <a:cs typeface="Calibri"/>
              <a:sym typeface="Calibri"/>
            </a:endParaRPr>
          </a:p>
        </p:txBody>
      </p:sp>
      <p:sp>
        <p:nvSpPr>
          <p:cNvPr id="302" name="Google Shape;302;p42"/>
          <p:cNvSpPr txBox="1"/>
          <p:nvPr/>
        </p:nvSpPr>
        <p:spPr>
          <a:xfrm>
            <a:off x="4528400" y="425675"/>
            <a:ext cx="43869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Kestra: Governed AI Agents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Main: https://kestra.io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GitHub: https://github.com/kestra-io/kestra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Article: https://kestra.io/blogs/introducing-ai-agents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Announcement: https://kestra.io/blogs/release-1-1</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Video: https://www.youtube.com/watch?v=7wnjIZ70MVk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Kestra combines deterministic orchestration with AI reasoning, keeping high-impact actions under human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YAML workflows are versionable, reviewable, deployable through CI/CD, and recoverable through execution history, replays, and backfills.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A GitHub triage flow deterministically fetches issue facts, then lets an AI agent classify, prioritize, label, and draft a response.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A pause or human-approval gate separates AI analysis from external writes; GitHub comments and labels are applied only after explicit approval.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Kestra can self-host locally with Docker or Kubernetes, supports multiple scripting languages, and provides broad integrations for production automation. [github](https://github.com/kestra-io/kestra)</a:t>
            </a:r>
            <a:endParaRPr sz="12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43"/>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8" name="Google Shape;308;p43"/>
          <p:cNvSpPr txBox="1"/>
          <p:nvPr/>
        </p:nvSpPr>
        <p:spPr>
          <a:xfrm>
            <a:off x="81775" y="425675"/>
            <a:ext cx="43980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OpenAI Doug Rumor </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Main: https://openai.com</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GitHub: https://github.com/openai</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Article: https://eu.36kr.com/en/p/3931902519639429</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Announcement: No official announcement available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Video: https://www.youtube.com/watch?v=h_P9if2fdQI</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 “Doug” is an unconfirmed alleged OpenAI codename, reportedly separate from Astra and GPT-6.</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 Rumors attribute it to ChrisGPT and describe OpenAI’s largest attempted pre-training run, possibly arriving by November.</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 SemiAnalysis reported that OpenAI had resolved pre-training difficulties and was pursuing a much larger model, but did not confirm a release plan.</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 Claims that Doug will make rival models “primitive,” plus White House involvement and cyber testing, remain speculation rather than product facts.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 OpenAI has published no Doug API, system card, pricing, availability details, or safety documentation. Treat it as watchlist intelligence—not an engineering roadmap. [newsletter.semianalysis](https://newsletter.semianalysis.com/p/gemini-is-cooked-but-gcp-is-cooking)</a:t>
            </a:r>
            <a:endParaRPr sz="1200">
              <a:solidFill>
                <a:schemeClr val="dk1"/>
              </a:solidFill>
              <a:latin typeface="Calibri"/>
              <a:ea typeface="Calibri"/>
              <a:cs typeface="Calibri"/>
              <a:sym typeface="Calibri"/>
            </a:endParaRPr>
          </a:p>
        </p:txBody>
      </p:sp>
      <p:sp>
        <p:nvSpPr>
          <p:cNvPr id="309" name="Google Shape;309;p43"/>
          <p:cNvSpPr txBox="1"/>
          <p:nvPr/>
        </p:nvSpPr>
        <p:spPr>
          <a:xfrm>
            <a:off x="4650100" y="326400"/>
            <a:ext cx="43980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Hermes Learns Documents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https://hermes-agent.nousresearch.com/docs/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https://github.com/NousResearch/hermes-agent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https://hermes-agent.nousresearch.com/docs/user-guide/features/skills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https://github.com/virgiliojr94/book-to-skill</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https://www.youtube.com/watch?v=0sDKQMO23xE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 Hermes Agent’s /learn command can turn a PDF, book, or document collection into a reusable agent skill instead of treating it as temporary chat context.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 The resulting skill can organize source material into focused, on-demand references, allowing the agent to retrieve relevant sections rather than repeatedly loading an entire document.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 This is useful for SOPs, architecture standards, brand guides, technical manuals, and frequently consulted books.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 Treat “permanent knowledge” cautiously: skills are local artifacts that should be reviewed, versioned, tested against source material, and updated when documents change.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 Start with one high-value, stable document your team repeatedly uses; validate answers with known questions before expanding the library. [github](https://github.com/nousresearch/hermes-agent)</a:t>
            </a:r>
            <a:endParaRPr sz="12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44"/>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15" name="Google Shape;315;p44"/>
          <p:cNvSpPr txBox="1"/>
          <p:nvPr/>
        </p:nvSpPr>
        <p:spPr>
          <a:xfrm>
            <a:off x="81775" y="425675"/>
            <a:ext cx="4357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Pax Silica: Philippine AI Bet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https://www.state.gov/pax-silica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https://www.pna.gov.ph/articles/1281392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Pax Silica is a US-led initiative for secure AI, semiconductor, minerals, energy, manufacturing, and logistics supply chains.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Philippines plans its first AI-native industrial hub at New Clark City, Tarlac: roughly 1,620 hectares (4,000 acres).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It is proposed as industrial infrastructure, not a hyperscale data-center campus.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Initial development covers about 500 hectares and is targeted within three to five years.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Supporters expect investment, semiconductor upgrading, exports, and digital jobs.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Critics demand enforceable safeguards for water, energy, land rights, transparency, and local benefits. </a:t>
            </a:r>
            <a:r>
              <a:rPr lang="en" sz="1200" u="sng">
                <a:solidFill>
                  <a:schemeClr val="hlink"/>
                </a:solidFill>
                <a:latin typeface="Calibri"/>
                <a:ea typeface="Calibri"/>
                <a:cs typeface="Calibri"/>
                <a:sym typeface="Calibri"/>
                <a:hlinkClick r:id="rId3"/>
              </a:rPr>
              <a:t>state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https://www.youtube.com/watch?v=sO-jLp8jSe4</a:t>
            </a:r>
            <a:endParaRPr sz="1200">
              <a:solidFill>
                <a:schemeClr val="dk1"/>
              </a:solidFill>
              <a:latin typeface="Calibri"/>
              <a:ea typeface="Calibri"/>
              <a:cs typeface="Calibri"/>
              <a:sym typeface="Calibri"/>
            </a:endParaRPr>
          </a:p>
        </p:txBody>
      </p:sp>
      <p:sp>
        <p:nvSpPr>
          <p:cNvPr id="316" name="Google Shape;316;p44"/>
          <p:cNvSpPr txBox="1"/>
          <p:nvPr/>
        </p:nvSpPr>
        <p:spPr>
          <a:xfrm>
            <a:off x="4673100" y="425675"/>
            <a:ext cx="43572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DeepSeek V4 Pro: Coding Test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https://chat.deepseek.com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https://github.com/deepseek-ai/awesome-deepseek-agent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https://simonwillison.net/2026/Apr/24/deepseek-v4/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https://api-docs.deepseek.com/news/news260424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https://www.youtube.com/watch?v=yHgHU75N5T8</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https://www.youtube.com/watch?v=kTRUVjN8ldc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Video argues DeepSeek V4 Pro stands out among rapid model releases for coding ability and low API cost.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OpenCode builds a thumbnail-generation SaaS using Next.js, Convex, Clerk, Stripe, and OpenRouter; login, uploads, credits, and output storage mostly worked, with webhook/image issues remaining.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claimed 22-cent build is anecdotal rather than a controlled benchmark.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Official materials describe a 1.6T-parameter MoE with 49B active parameters, 1M-token context, thinking modes, and open weights. Current listed pricing is $0.435 input and $0.87 output per million tokens. [api-docs.deepseek](https://api-docs.deepseek.com/news/news260424)</a:t>
            </a:r>
            <a:endParaRPr sz="12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45"/>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22" name="Google Shape;322;p45"/>
          <p:cNvSpPr txBox="1"/>
          <p:nvPr/>
        </p:nvSpPr>
        <p:spPr>
          <a:xfrm>
            <a:off x="135479" y="447800"/>
            <a:ext cx="43572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OpenMausBot: Agent Teams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Main: https://github.com/milind-soni/OpenMausBot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GitHub: https://github.com/milind-soni/openmausbot-releases/releases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Article: https://aisuccesslabjuliangoldie.com/blog/openmausbot-vs-grok-bot/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Announcement: https://x.com/LinearUncle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Video: https://www.youtube.com/watch?v=midY3xIxKAk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OpenMausBot is a free, open-source Mac agent workspace by Milind Soni, modeled on Grok Bot.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It presents AI agents as chat contacts, each with a distinct role, memory, apps, model choice, and workspace.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It uses existing Claude Code, Codex, or Grok CLI logins rather than requiring API keys or another subscription.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Agents can use connected services, cloud desktops, or the host Mac, with live previews and user takeovers.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Permission prompts require approval for potentially risky actions, preserving user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It is local-first but still sends prompts to cloud model providers.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Expect launch-stage rough edges: repetitive approvals, slow computer use, and no demonstrated inter-agent messaging. [github](https://github.com/milind-soni/OpenMausBot)</a:t>
            </a:r>
            <a:endParaRPr sz="12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sp>
        <p:nvSpPr>
          <p:cNvPr id="327" name="Google Shape;327;p46"/>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28" name="Google Shape;328;p46"/>
          <p:cNvSpPr txBox="1"/>
          <p:nvPr/>
        </p:nvSpPr>
        <p:spPr>
          <a:xfrm>
            <a:off x="81775" y="425675"/>
            <a:ext cx="58554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Sybase &amp; Microsoft SQL Server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Sybase was founded in 1984, built an early high-performance client-server relational database, initially called Sybase SQL Server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1988, Sybase, Microsoft, and Ashton-Tate jointly developed an OS/2 SQL Server; Microsoft initially marketed Sybase technology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1993 they split. Microsoft paid Sybase for a licensed source-code base for its Windows direction; the products then evolved independently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Sybase renamed its database as Adaptive Server Enterprise in the late 1990s to distinguish it from Microsoft SQL Server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SAP acquired Sybase for about $5.8 Billion in 2010</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https://en.wikipedia.org/wiki/Sybase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https://www.sap.com/products/technology-platform/sql-server.html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https://github.com/MicrosoftDocs/sql-docs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https://community.sap.com/t5/additional-blog-posts-by-sap/a-deeper-look-at-sybase-history-of-ase/ba-p/12923660</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https://www.youtube.com/watch?v=dK5iwBxFzGI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29" name="Google Shape;329;p4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220425" y="167250"/>
            <a:ext cx="2760305" cy="1854925"/>
          </a:xfrm>
          <a:prstGeom prst="rect">
            <a:avLst/>
          </a:prstGeom>
          <a:noFill/>
          <a:ln w="9525" cap="flat" cmpd="sng">
            <a:solidFill>
              <a:srgbClr val="FF0000"/>
            </a:solidFill>
            <a:prstDash val="solid"/>
            <a:round/>
            <a:headEnd type="none" w="sm" len="sm"/>
            <a:tailEnd type="none" w="sm" len="sm"/>
          </a:ln>
        </p:spPr>
      </p:pic>
      <p:sp>
        <p:nvSpPr>
          <p:cNvPr id="330" name="Google Shape;330;p46"/>
          <p:cNvSpPr txBox="1"/>
          <p:nvPr/>
        </p:nvSpPr>
        <p:spPr>
          <a:xfrm>
            <a:off x="81775" y="3083050"/>
            <a:ext cx="58554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SAP Sybase ASE and IQ</a:t>
            </a:r>
            <a:r>
              <a:rPr lang="en" sz="1200">
                <a:solidFill>
                  <a:schemeClr val="dk1"/>
                </a:solidFill>
                <a:latin typeface="Calibri"/>
                <a:ea typeface="Calibri"/>
                <a:cs typeface="Calibri"/>
                <a:sym typeface="Calibri"/>
              </a:rPr>
              <a:t> are traditional transactional and analytics databases, not AI-native platforms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For built-in AI features such as machine learning, embeddings, similarity search, forecasting, and anomaly detection, SAP’s primary platform is </a:t>
            </a:r>
            <a:r>
              <a:rPr lang="en" sz="1200" b="1">
                <a:solidFill>
                  <a:srgbClr val="FF0000"/>
                </a:solidFill>
                <a:latin typeface="Calibri"/>
                <a:ea typeface="Calibri"/>
                <a:cs typeface="Calibri"/>
                <a:sym typeface="Calibri"/>
              </a:rPr>
              <a:t>HANA Cloud.</a:t>
            </a:r>
            <a:endParaRPr sz="900" b="1">
              <a:solidFill>
                <a:srgbClr val="FF0000"/>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sp>
        <p:nvSpPr>
          <p:cNvPr id="335" name="Google Shape;335;p47"/>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36" name="Google Shape;336;p47"/>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37" name="Google Shape;337;p47"/>
          <p:cNvSpPr txBox="1"/>
          <p:nvPr/>
        </p:nvSpPr>
        <p:spPr>
          <a:xfrm>
            <a:off x="5655225" y="351062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126K in 2026 </a:t>
            </a:r>
            <a:r>
              <a:rPr lang="en" sz="1000" b="1">
                <a:solidFill>
                  <a:schemeClr val="dk1"/>
                </a:solidFill>
                <a:latin typeface="Roboto Mono"/>
                <a:ea typeface="Roboto Mono"/>
                <a:cs typeface="Roboto Mono"/>
                <a:sym typeface="Roboto Mono"/>
              </a:rPr>
              <a:t>(as of August 7,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38" name="Google Shape;338;p47"/>
          <p:cNvSpPr txBox="1"/>
          <p:nvPr/>
        </p:nvSpPr>
        <p:spPr>
          <a:xfrm>
            <a:off x="5655225" y="564150"/>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174,661</a:t>
            </a:r>
            <a:r>
              <a:rPr lang="en" sz="1200">
                <a:latin typeface="Calibri"/>
                <a:ea typeface="Calibri"/>
                <a:cs typeface="Calibri"/>
                <a:sym typeface="Calibri"/>
              </a:rPr>
              <a:t> people laid off (798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339" name="Google Shape;339;p4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257658"/>
            <a:ext cx="5355602" cy="1854078"/>
          </a:xfrm>
          <a:prstGeom prst="rect">
            <a:avLst/>
          </a:prstGeom>
          <a:noFill/>
          <a:ln w="9525" cap="flat" cmpd="sng">
            <a:solidFill>
              <a:srgbClr val="FF0000"/>
            </a:solidFill>
            <a:prstDash val="solid"/>
            <a:round/>
            <a:headEnd type="none" w="sm" len="sm"/>
            <a:tailEnd type="none" w="sm" len="sm"/>
          </a:ln>
        </p:spPr>
      </p:pic>
      <p:pic>
        <p:nvPicPr>
          <p:cNvPr id="340" name="Google Shape;340;p4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637" y="462196"/>
            <a:ext cx="5355038" cy="2744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pic>
        <p:nvPicPr>
          <p:cNvPr id="345" name="Google Shape;345;p4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46" name="Google Shape;346;p48"/>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47" name="Google Shape;347;p48"/>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48" name="Google Shape;348;p4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49" name="Google Shape;349;p48"/>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50" name="Google Shape;350;p48"/>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49"/>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7728</Words>
  <Application>Microsoft Macintosh PowerPoint</Application>
  <PresentationFormat>On-screen Show (16:9)</PresentationFormat>
  <Paragraphs>745</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Victor Mono</vt:lpstr>
      <vt:lpstr>Roboto Mono</vt:lpstr>
      <vt:lpstr>Calibri</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2026-08-12T23:27:17Z</dcterms:modified>
</cp:coreProperties>
</file>