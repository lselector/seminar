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embeddedFontLst>
    <p:embeddedFont>
      <p:font typeface="Roboto Mono" pitchFamily="49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7129F6D-0678-4C8A-A969-55377194E2CE}">
  <a:tblStyle styleId="{57129F6D-0678-4C8A-A969-55377194E2C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ed2c6c1b0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ed2c6c1b0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ec31c57a0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g3ec31c57a0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fa3d60ac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g3efa3d60ac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ef97f469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ef97f469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019ea50c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3f019ea50c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efa3d60acc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g3efa3d60acc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31867543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g3931867543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fa2e2bb6a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g3efa2e2bb6a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f968259d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3ef968259d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f8ebcb41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3ef8ebcb41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fc05feb3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g3efc05feb3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efb1a4b2d1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g3efb1a4b2d1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efb1a4b2d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g3efb1a4b2d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fe5029d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g3efe5029d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00b579489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3f00b579489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01bee3619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f01bee3619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efea44c4d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g3efea44c4d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ef911667f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3ef911667f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d971967e09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3d971967e09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8" name="Google Shape;248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8" name="Google Shape;258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huggingface.co/open-llm-leaderboard" TargetMode="External"/><Relationship Id="rId18" Type="http://schemas.openxmlformats.org/officeDocument/2006/relationships/hyperlink" Target="https://lmarena.ai/leaderboard/text-to-image" TargetMode="External"/><Relationship Id="rId26" Type="http://schemas.openxmlformats.org/officeDocument/2006/relationships/hyperlink" Target="https://ai.meta.com/blog/introducing-muse-spark-msl/" TargetMode="External"/><Relationship Id="rId39" Type="http://schemas.openxmlformats.org/officeDocument/2006/relationships/hyperlink" Target="https://grok.com" TargetMode="External"/><Relationship Id="rId21" Type="http://schemas.openxmlformats.org/officeDocument/2006/relationships/hyperlink" Target="https://www.anthropic.com/news/claude-opus-4-6" TargetMode="External"/><Relationship Id="rId34" Type="http://schemas.openxmlformats.org/officeDocument/2006/relationships/hyperlink" Target="https://openai.com/index/introducing-gpt-5-5/" TargetMode="External"/><Relationship Id="rId7" Type="http://schemas.openxmlformats.org/officeDocument/2006/relationships/hyperlink" Target="https://openlm.ai/chatbot-arena/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tificialanalysis.ai/models/grok-4" TargetMode="External"/><Relationship Id="rId20" Type="http://schemas.openxmlformats.org/officeDocument/2006/relationships/hyperlink" Target="https://www.anthropic.com/news/claude-opus-4-7" TargetMode="External"/><Relationship Id="rId29" Type="http://schemas.openxmlformats.org/officeDocument/2006/relationships/hyperlink" Target="https://blog.google/innovation-and-ai/models-and-research/gemini-models/gemini-3-1-pro/" TargetMode="External"/><Relationship Id="rId41" Type="http://schemas.openxmlformats.org/officeDocument/2006/relationships/hyperlink" Target="https://docs.x.ai/developers/models/grok-4.20-multi-agent-beta-0309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esignarena.ai" TargetMode="External"/><Relationship Id="rId11" Type="http://schemas.openxmlformats.org/officeDocument/2006/relationships/hyperlink" Target="https://www.stack-ai.com/llm-leaderboard" TargetMode="External"/><Relationship Id="rId24" Type="http://schemas.openxmlformats.org/officeDocument/2006/relationships/hyperlink" Target="https://www.anthropic.com/news/claude-sonnet-4-6" TargetMode="External"/><Relationship Id="rId32" Type="http://schemas.openxmlformats.org/officeDocument/2006/relationships/hyperlink" Target="https://mimo.xiaomi.com/mimo-v2-5-pro/" TargetMode="External"/><Relationship Id="rId37" Type="http://schemas.openxmlformats.org/officeDocument/2006/relationships/hyperlink" Target="https://openai.com/index/gpt-5-5-instant" TargetMode="External"/><Relationship Id="rId40" Type="http://schemas.openxmlformats.org/officeDocument/2006/relationships/hyperlink" Target="https://blog.google/products/gemini/gemini-3-flash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epoch.ai/data/ai-benchmarking-dashboard" TargetMode="External"/><Relationship Id="rId23" Type="http://schemas.openxmlformats.org/officeDocument/2006/relationships/hyperlink" Target="https://www.anthropic.com/news/claude-opus-4-5" TargetMode="External"/><Relationship Id="rId28" Type="http://schemas.openxmlformats.org/officeDocument/2006/relationships/hyperlink" Target="https://huggingface.co/zai-org/GLM-5.2" TargetMode="External"/><Relationship Id="rId36" Type="http://schemas.openxmlformats.org/officeDocument/2006/relationships/hyperlink" Target="https://docs.x.ai/developers/models/grok-4.20-beta-0309-reasoning" TargetMode="External"/><Relationship Id="rId10" Type="http://schemas.openxmlformats.org/officeDocument/2006/relationships/hyperlink" Target="https://llmworld.net/llm_leaderboards/" TargetMode="External"/><Relationship Id="rId19" Type="http://schemas.openxmlformats.org/officeDocument/2006/relationships/hyperlink" Target="https://www.anthropic.com/news/claude-fable-5-mythos-5" TargetMode="External"/><Relationship Id="rId31" Type="http://schemas.openxmlformats.org/officeDocument/2006/relationships/hyperlink" Target="https://www.anthropic.com/news/claude-sonnet-4-5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web.lmarena.ai/leaderboard" TargetMode="External"/><Relationship Id="rId14" Type="http://schemas.openxmlformats.org/officeDocument/2006/relationships/hyperlink" Target="https://www.vellum.ai/llm-leaderboard" TargetMode="External"/><Relationship Id="rId22" Type="http://schemas.openxmlformats.org/officeDocument/2006/relationships/hyperlink" Target="https://www.anthropic.com/news/claude-opus-4-8" TargetMode="External"/><Relationship Id="rId27" Type="http://schemas.openxmlformats.org/officeDocument/2006/relationships/hyperlink" Target="https://huggingface.co/zai-org/GLM-5.1" TargetMode="External"/><Relationship Id="rId30" Type="http://schemas.openxmlformats.org/officeDocument/2006/relationships/hyperlink" Target="https://platform.openai.com/docs/models/gpt-5.4" TargetMode="External"/><Relationship Id="rId35" Type="http://schemas.openxmlformats.org/officeDocument/2006/relationships/hyperlink" Target="https://developers.openai.com/api/docs/models/gpt-5.2-chat-latest" TargetMode="External"/><Relationship Id="rId8" Type="http://schemas.openxmlformats.org/officeDocument/2006/relationships/hyperlink" Target="https://beta.lmarena.ai" TargetMode="External"/><Relationship Id="rId3" Type="http://schemas.openxmlformats.org/officeDocument/2006/relationships/hyperlink" Target="https://en.wikipedia.org/wiki/Elo_rating_system" TargetMode="External"/><Relationship Id="rId12" Type="http://schemas.openxmlformats.org/officeDocument/2006/relationships/hyperlink" Target="https://artificialanalysis.ai/leaderboards/models" TargetMode="External"/><Relationship Id="rId17" Type="http://schemas.openxmlformats.org/officeDocument/2006/relationships/hyperlink" Target="http://aiarena.alibaba-inc.com/corpora/arena/leaderboard?arenaType=T2I" TargetMode="External"/><Relationship Id="rId25" Type="http://schemas.openxmlformats.org/officeDocument/2006/relationships/hyperlink" Target="https://chat.qwen.ai/?models=Qwen3.7-Max-Preview" TargetMode="External"/><Relationship Id="rId33" Type="http://schemas.openxmlformats.org/officeDocument/2006/relationships/hyperlink" Target="https://aistudio.google.com/app/prompts/new_chat?model=gemini-3-pro-preview" TargetMode="External"/><Relationship Id="rId38" Type="http://schemas.openxmlformats.org/officeDocument/2006/relationships/hyperlink" Target="https://blog.google/innovation-and-ai/models-and-research/gemini-models/gemini-3-5/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openai.com/index/previewing-gpt-5-6-sol/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latform.claude.com/docs/en/about-claude/pricing" TargetMode="External"/><Relationship Id="rId5" Type="http://schemas.openxmlformats.org/officeDocument/2006/relationships/hyperlink" Target="https://www.anthropic.com/news/claude-sonnet-5" TargetMode="Externa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hermes-agent.nousresearch.com/docs/user-guide/features/mixture-of-agents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hostinger.com/applications/hermes-agent/1" TargetMode="External"/><Relationship Id="rId5" Type="http://schemas.openxmlformats.org/officeDocument/2006/relationships/image" Target="../media/image6.png"/><Relationship Id="rId4" Type="http://schemas.openxmlformats.org/officeDocument/2006/relationships/hyperlink" Target="https://github.com/nousresearch/hermes-agent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TKe2tmdy7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wKuv4LrCVk" TargetMode="External"/><Relationship Id="rId7" Type="http://schemas.openxmlformats.org/officeDocument/2006/relationships/hyperlink" Target="https://github.com/CopilotKit/OpenTa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hyperlink" Target="https://www.youtube.com/watch?v=Vb_Czw7x-Ow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i.com/index/openai-broadcom-jalapeno-inference-chip/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e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huggingface.co/collections/deepreinforce-ai/ornith-10" TargetMode="External"/><Relationship Id="rId7" Type="http://schemas.openxmlformats.org/officeDocument/2006/relationships/hyperlink" Target="https://www.linkedin.com/in/jiwei-li-5293202a3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hyperlink" Target="https://www.youtube.com/watch?v=UDzw3qzmtvo" TargetMode="External"/><Relationship Id="rId4" Type="http://schemas.openxmlformats.org/officeDocument/2006/relationships/hyperlink" Target="https://deep-reinforce.com/ornith_1_0.html" TargetMode="External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epseek-ai/DeepSpec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hyperlink" Target="https://huggingface.co/deepseek-ai/DeepSeek-V4-Pro-DSpark" TargetMode="External"/><Relationship Id="rId4" Type="http://schemas.openxmlformats.org/officeDocument/2006/relationships/hyperlink" Target="https://github.com/deepseek-ai/DeepSpec/blob/main/DSpark_paper.pdf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blog/products/data-analytics/how-the-open-knowledge-format-can-improve-data-sharing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GoogleCloudPlatform/knowledge-catalog/blob/main/okf/SPEC.md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innovation-and-ai/models-and-research/google-labs/pomelli-agentic-capabilities/" TargetMode="External"/><Relationship Id="rId3" Type="http://schemas.openxmlformats.org/officeDocument/2006/relationships/hyperlink" Target="https://www.youtube.com/watch?v=TP73qyFWDcY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DietrichGebert/ponytail" TargetMode="External"/><Relationship Id="rId5" Type="http://schemas.openxmlformats.org/officeDocument/2006/relationships/hyperlink" Target="https://www.youtube.com/watch?v=aTPTUYC44ds" TargetMode="External"/><Relationship Id="rId4" Type="http://schemas.openxmlformats.org/officeDocument/2006/relationships/image" Target="../media/image21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hermes-agent.org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hyperlink" Target="https://openai.com/index/scaling-trusted-access-for-cyber-defense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nS-lA7SC0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x6WyeI5yO9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hyperlink" Target="https://www.youtube.com/watch?v=Zfgl5rA6ehg" TargetMode="Externa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yARxk6y1_c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BcyKfpldTo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hyperlink" Target="https://trueup.io/layoffs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498650"/>
            <a:ext cx="43302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GPT‑5.6 models: Sol, Terra, Luna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Sonnet 5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will require IDs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+ Qwen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Mythos 5 released to 100+ partners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+ Qwen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MoA - Mixture-of-Agents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Shifting to cheap Chinese open-source models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Anthropic’s new "Claude Tag" feature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"Qwen-AgentWorld" open-source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 Tag - open-source alternative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July 03,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4536607" y="4590014"/>
            <a:ext cx="4525800" cy="26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4589925" y="226675"/>
            <a:ext cx="44202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Competition is the Only Solution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 problems like government involvement and monopoly of Anthropic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536607" y="1417481"/>
            <a:ext cx="4525800" cy="2973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Ponytail prevents "verbose" behavior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Pomelli - AI marketing agent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Agent OS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GPT Cyber - OpenAI fine-tuned for cybersecurity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Qwable 3.6 27B - by Mia-AiLab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LangChain Is Dying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LangChain Deep Agents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Manolo Remiddi tests models for deep thinking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CoreWeave ARIA AI Research Agent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Qwable 3.6 27B - by Mia-AiLab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Dario needs to be stopped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Become more effective with Claude Code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3565400"/>
            <a:ext cx="4330200" cy="14961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"Jalapeno" AI chip for LLM Inference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Gemini‑SQL2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Ornith‑1.0 coding models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DeepSeek's DSpark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Open Knowledge Format - OKF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Six Power Phrases - for Claude Code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6041375" y="2449450"/>
            <a:ext cx="30510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7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latin typeface="Calibri"/>
                <a:ea typeface="Calibri"/>
                <a:cs typeface="Calibri"/>
                <a:sym typeface="Calibri"/>
              </a:rPr>
              <a:t>Design Arena -    </a:t>
            </a:r>
            <a:br>
              <a:rPr lang="en" sz="700">
                <a:latin typeface="Calibri"/>
                <a:ea typeface="Calibri"/>
                <a:cs typeface="Calibri"/>
                <a:sym typeface="Calibri"/>
              </a:rPr>
            </a:b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https://www.designarena.ai</a:t>
            </a:r>
            <a:r>
              <a:rPr lang="en" sz="7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https://openlm.ai/chatbot-arena/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https://beta.lmarena.ai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Leaderboard -  1T params</a:t>
            </a:r>
            <a:b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https://web.lmarena.ai/leaderboard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@LlmStats - </a:t>
            </a:r>
            <a:b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https://llmworld.net/llm_leaderboards/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StackAI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https://www.stack-ai.com/llm-leaderboard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Artificial Analysis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https://artificialanalysis.ai/leaderboards/models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LLM Leaderboard - by Hugging Face - </a:t>
            </a:r>
            <a:b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https://huggingface.co/open-llm-leaderboard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Vellum - </a:t>
            </a:r>
            <a:b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https://www.vellum.ai/llm-leaderboard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Benchmarking Hub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https://epoch.ai/data/ai-benchmarking-dashboard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Grok 4 Benchmarks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https://artificialanalysis.ai/models/grok-4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(alibaba)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http://aiarena.alibaba-inc.com/corpora/arena/leaderboard?arenaType=T2I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- </a:t>
            </a: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https://lmarena.ai/leaderboard/text-to-image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June 25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{57129F6D-0678-4C8A-A969-55377194E2CE}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0" name="Google Shape;80;p16"/>
          <p:cNvSpPr txBox="1"/>
          <p:nvPr/>
        </p:nvSpPr>
        <p:spPr>
          <a:xfrm>
            <a:off x="6838390" y="485738"/>
            <a:ext cx="21525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GLM-5.1 - 744B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Kimi-k2.6 - 1T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1" name="Google Shape;81;p16"/>
          <p:cNvGraphicFramePr/>
          <p:nvPr/>
        </p:nvGraphicFramePr>
        <p:xfrm>
          <a:off x="2956138" y="8166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{57129F6D-0678-4C8A-A969-55377194E2CE}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1564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claude-opus-4-5-20251101-thinking-32k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glm-5.2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claude-sonnet-4-5-20250929-thinking-32k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claude-sonnet-4-5-20250929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grok-4.20-beta-0309-reasoning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gpt-5.5-instant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2" name="Google Shape;82;p16"/>
          <p:cNvGraphicFramePr/>
          <p:nvPr/>
        </p:nvGraphicFramePr>
        <p:xfrm>
          <a:off x="197321" y="8332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{57129F6D-0678-4C8A-A969-55377194E2CE}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gemini-3.5-flash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grok-4.20-beta-0309-reasoning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/>
                        </a:rPr>
                        <a:t>grok-4.20-beta1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0"/>
                        </a:rPr>
                        <a:t>gemini-3-flash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claude-opus-4-5-20251101-thinking-32k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gpt-5.5-instant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1"/>
                        </a:rPr>
                        <a:t>grok-4.20-multi-agent-beta-0309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glm-5.2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81775" y="459238"/>
            <a:ext cx="35958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GPT‑5.6 models: Sol, Terra, Luna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GPT-5.6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https://openai.com/index/previewing-gpt-5-6-sol/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 - the flagship, highest‑capability (reasoning, complex coding, long‑horizon agentic tasks)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Terra - balanced, similar to GPT 5.5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Luna - fastest and most affordable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1.5M-token context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2250" y="578338"/>
            <a:ext cx="2236276" cy="1257901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7"/>
          <p:cNvSpPr txBox="1"/>
          <p:nvPr/>
        </p:nvSpPr>
        <p:spPr>
          <a:xfrm>
            <a:off x="81775" y="2039825"/>
            <a:ext cx="3023400" cy="121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Sonnet 5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Near‑Opus‑level coding and reasoning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Lower cost -  $3 / $15 per 1M in/out tokens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(compare - $5 / $25 for Opus 4.8)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Larger context window (not specified)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https://www.anthropic.com/news/claude-sonnet-5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https://platform.claude.com/docs/en/about-claude/pricing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" name="Google Shape;91;p1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33975" y="2039825"/>
            <a:ext cx="3926149" cy="1863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2" name="Google Shape;92;p1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66775" y="2039825"/>
            <a:ext cx="943659" cy="12188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8"/>
          <p:cNvSpPr txBox="1"/>
          <p:nvPr/>
        </p:nvSpPr>
        <p:spPr>
          <a:xfrm>
            <a:off x="81775" y="662075"/>
            <a:ext cx="44016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will require IDs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Alibaba distillation attack on antropic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28M exchanges, 25K fraud accounts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 - use IDs, KYC (Know Your Custoemr)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8"/>
          <p:cNvSpPr txBox="1"/>
          <p:nvPr/>
        </p:nvSpPr>
        <p:spPr>
          <a:xfrm>
            <a:off x="81775" y="3534183"/>
            <a:ext cx="4401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+ Qwen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Qwen3.6‑35B‑A3B-NVFP4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MoE 4-bit version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Memory  needed: 18-24GB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256K context length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Multimodal - understands text, image, and video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(but many endpoints only expose text inputs)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1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1525" y="3277280"/>
            <a:ext cx="3286074" cy="17744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1" name="Google Shape;10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5775" y="152400"/>
            <a:ext cx="2857500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2" name="Google Shape;102;p18"/>
          <p:cNvSpPr txBox="1"/>
          <p:nvPr/>
        </p:nvSpPr>
        <p:spPr>
          <a:xfrm>
            <a:off x="81775" y="1657444"/>
            <a:ext cx="4401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Mythos 5 released to 100+ partners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 Government has authorized release of Claude Mythos 5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 more than 100 “trusted partners” - U.S. companies and institutions, including many Fortune 500 firms and some federal agencies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News outlets (Semafor, Reuters, CNBC, etc.) all describe the recipients only in aggregate terms like “major companies and government agencies,” “cyber defenders,” and “infrastructure providers,” without identifying specific organizations.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9"/>
          <p:cNvSpPr txBox="1"/>
          <p:nvPr/>
        </p:nvSpPr>
        <p:spPr>
          <a:xfrm>
            <a:off x="81775" y="507325"/>
            <a:ext cx="44016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MoA - Mixture-of-Agents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https://hermes-agent.nousresearch.com/docs/user-guide/features/mixture-of-agents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https://github.com/nousresearch/hermes-agent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- 204K stars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MoA “preset” defines one or more reference models plus an aggregator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references run first, producing analysis that is passed as private context to the aggregator, which then generates the actual reply and tool calls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select MoA presets like any other model (via `/model`, `/moa`, CLI, dashboard, or desktop app), so they integrate seamlessly with goals, gateway sessions, and profiles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Benchmarks show well-designed MoA presets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can outperform any (single component) model on harder tasks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39075" y="696430"/>
            <a:ext cx="2559599" cy="43814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0" name="Google Shape;110;p19"/>
          <p:cNvSpPr txBox="1"/>
          <p:nvPr/>
        </p:nvSpPr>
        <p:spPr>
          <a:xfrm>
            <a:off x="81775" y="2920712"/>
            <a:ext cx="44016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https://www.hostinger.com/applications/hermes-agent/1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39075" y="1309750"/>
            <a:ext cx="1423651" cy="13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9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39075" y="2754562"/>
            <a:ext cx="1814549" cy="4737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0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0"/>
          <p:cNvSpPr txBox="1"/>
          <p:nvPr/>
        </p:nvSpPr>
        <p:spPr>
          <a:xfrm>
            <a:off x="81775" y="548286"/>
            <a:ext cx="44016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see a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massive shift from democratized AI to a highly regulated, government-approved ecosystem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U.S. government is now gating access to frontier models like GPT-5.6, creating a widening capability gap between internal lab technology and public tools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Driven by extreme API costs,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enterprises are shifting to cheaper Chinese open-source models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like DeepSeek and GLM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protect profit margins and national security, closed U.S. labs are lobbying for regulations that could stifle open source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Furthermore, the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U.S. may label foreign models as "radioactive" security risks due to uninspectable "sleeper circuits," rendering them commercially unusable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fracturing environment risks crippling startups, driving tech founders out of America, and dividing the industry into a two-tier system controlled by elite institutions.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0"/>
          <p:cNvSpPr txBox="1"/>
          <p:nvPr/>
        </p:nvSpPr>
        <p:spPr>
          <a:xfrm>
            <a:off x="81775" y="3429461"/>
            <a:ext cx="44016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Dark Ages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Two classes: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Government and Big Companies - get best models first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Others - receive models later (if ever)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https://www.youtube.com/watch?v=CTKe2tmdy7s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0350" y="2909275"/>
            <a:ext cx="1681050" cy="2109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1"/>
          <p:cNvSpPr txBox="1"/>
          <p:nvPr/>
        </p:nvSpPr>
        <p:spPr>
          <a:xfrm>
            <a:off x="81775" y="541275"/>
            <a:ext cx="4401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Anthropic’s new "Claude Tag" feature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may end up owning all the knowledge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Competition is the only defence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https://www.youtube.com/watch?v=IwKuv4LrCVk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@Claude Tag - use in Slack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interact with it using natural language, just as you would with a human colleague, allowing it to join threads, reference shared files, and coordinate between different internal tools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Acts as a proactive, persistent team member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Learns about your company team, operations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Matthew Berman warns that your company becomes dependent on a single AI vendor; Claude Tag is like a Trojan Hourse; It is like renting a digital employee from Anthropic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1"/>
          <p:cNvSpPr txBox="1"/>
          <p:nvPr/>
        </p:nvSpPr>
        <p:spPr>
          <a:xfrm>
            <a:off x="81775" y="3107975"/>
            <a:ext cx="44016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"Qwen-AgentWorld" - open-source from Alibaba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Builds a "virtual world" inside the AI to simulate agentic environments before executing real-world tasks, similar to a flight simulator for AI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Terminal, Search, MCP, Software Engineering (SWE), Web Browsing, Operating Systems, and Android mobile apps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performance, Practical Application, The model was trained using over 10 million real-world interactions rather than synthetic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https://www.youtube.com/watch?v=Vb_Czw7x-Ow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21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01455" y="541275"/>
            <a:ext cx="3804200" cy="12652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9" name="Google Shape;129;p21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58525" y="3616175"/>
            <a:ext cx="3804201" cy="6439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0" name="Google Shape;130;p21"/>
          <p:cNvSpPr txBox="1"/>
          <p:nvPr/>
        </p:nvSpPr>
        <p:spPr>
          <a:xfrm>
            <a:off x="4617064" y="2020404"/>
            <a:ext cx="44016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 Tag - open-source alternative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 with any AI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Advanced features like generative UI (interactive charts and buttons) and "human-in-the-loop" approval safeguards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https://github.com/CopilotKit/OpenTag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/>
          <p:nvPr/>
        </p:nvSpPr>
        <p:spPr>
          <a:xfrm>
            <a:off x="179326" y="478350"/>
            <a:ext cx="4917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do these 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6.96K subscribers, 293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2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33650" y="80363"/>
            <a:ext cx="2541900" cy="4982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3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/>
        </p:nvSpPr>
        <p:spPr>
          <a:xfrm>
            <a:off x="81775" y="541275"/>
            <a:ext cx="4401600" cy="52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"Jalapeno" AI chip for LLM Inference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Broadcom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https://openai.com/index/openai-broadcom-jalapeno-inference-chip/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Google Shape;14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56300" y="123700"/>
            <a:ext cx="1914525" cy="2390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4" name="Google Shape;144;p23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16600" y="324975"/>
            <a:ext cx="1757049" cy="7283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5" name="Google Shape;145;p23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02825" y="1187825"/>
            <a:ext cx="2151524" cy="1584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6" name="Google Shape;146;p23"/>
          <p:cNvSpPr txBox="1"/>
          <p:nvPr/>
        </p:nvSpPr>
        <p:spPr>
          <a:xfrm>
            <a:off x="81775" y="2845275"/>
            <a:ext cx="41661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Gemini‑SQL2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text‑to‑SQL system built on Gemini 3.1 Pro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Translates natural‑language questions into executable, schema‑aware SQL queries for relational databases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Gemini‑SQL2 uses multi‑step reasoning over database schemas and iterative candidate generation and verification, focusing on execution correctness rather than just syntactic validity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the BIRD benchmark, which stresses cross‑domain, noisy, and knowledge‑intensive text‑to‑SQL tasks, it achieves 80.04% execution accuracy, currently topping the single‑model leaderboard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23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68763" y="2965500"/>
            <a:ext cx="2289600" cy="1809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/>
        </p:nvSpPr>
        <p:spPr>
          <a:xfrm>
            <a:off x="81775" y="67675"/>
            <a:ext cx="3724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Ornith‑1.0 coding models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4"/>
          <p:cNvSpPr txBox="1"/>
          <p:nvPr/>
        </p:nvSpPr>
        <p:spPr>
          <a:xfrm>
            <a:off x="81775" y="418001"/>
            <a:ext cx="4401600" cy="4497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Ornith‑1.0 coding models with their own harness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Ornith is an open-source family of agentic coding models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trained with RL to co-learn both task scaffolds (“harnesses”) and code solutions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the core of Ornith-1.0 is a self-improving training framework that jointly learns to solve tasks and to construct the scaffolds that guide those solutions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Rather than relying on a fixed, human-designed harness shared across a task category, Ornith-1.0 treats the scaffold as a learnable object that co-evolves with the policy.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You still run Ornith inside some outer environment, but much of the traditional, bespoke agent wiring is effectively absorbed into the model’s weights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https://huggingface.co/collections/deepreinforce-ai/ornith-10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Ornith-1.0 ships in 9B, 31B, 35B-MoE, and 397B-MoE sizes 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under MIT, built on Gemma 4 and Qwen 3.5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ollama run hf.co/deepreinforce-ai/Ornith-1.0-9B-GGUF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https://deep-reinforce.com/ornith_1_0.html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https://www.youtube.com/watch?v=UDzw3qzmtvo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DeepReinforce is a privately held, early-stage startup founded around 2024, 4 founders, Santa Clara, CA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Led by Jiwei Li; few dozen employees; ~$100M in funding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DeepReinforce’s flagship product is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IterX code optimization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platform that combines LLM reasoning with reinforcement-learning style search over code edits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2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38088" y="126488"/>
            <a:ext cx="1444476" cy="14444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5" name="Google Shape;155;p24"/>
          <p:cNvSpPr txBox="1"/>
          <p:nvPr/>
        </p:nvSpPr>
        <p:spPr>
          <a:xfrm>
            <a:off x="7818875" y="1629775"/>
            <a:ext cx="8829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Jiwei Li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https://www.linkedin.com/in/jiwei-li-5293202a3/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2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60800" y="2604050"/>
            <a:ext cx="4509225" cy="24501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7" name="Google Shape;157;p24"/>
          <p:cNvSpPr txBox="1"/>
          <p:nvPr/>
        </p:nvSpPr>
        <p:spPr>
          <a:xfrm>
            <a:off x="4803413" y="2003013"/>
            <a:ext cx="24249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“The name comes from the ancient Greek word for bird.”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2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8191" y="115196"/>
            <a:ext cx="2955325" cy="167468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/>
        </p:nvSpPr>
        <p:spPr>
          <a:xfrm>
            <a:off x="81775" y="0"/>
            <a:ext cx="2427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DeepSeek's DSpark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5"/>
          <p:cNvSpPr txBox="1"/>
          <p:nvPr/>
        </p:nvSpPr>
        <p:spPr>
          <a:xfrm>
            <a:off x="81775" y="394075"/>
            <a:ext cx="4401600" cy="2835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DeepSeek's DSpark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tool, accelerates LLMs by 50% to 400%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Uses speculative decoding, where a small, fast draft model predicts a block of tokens all at once, and a larger target model verifies them in a single pass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DSpark improves on older methods by adding a lightweight serial head to prevent "suffix decay," ensuring guessed tokens connect logically to increase acceptance rates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also uses a confidence head to skip verifying low-probability tokens when servers are heavily loaded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Already used in production for DeepSeek-V4, it delivers tokens up to 85% faster and can be attached to other open-source models like Qwen and Gemma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https://github.com/deepseek-ai/DeepSpec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https://github.com/deepseek-ai/DeepSpec/blob/main/DSpark_paper.pdf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https://huggingface.co/deepseek-ai/DeepSeek-V4-Pro-DSpark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2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175" y="502850"/>
            <a:ext cx="4355826" cy="37087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6"/>
          <p:cNvSpPr txBox="1"/>
          <p:nvPr/>
        </p:nvSpPr>
        <p:spPr>
          <a:xfrm>
            <a:off x="81775" y="0"/>
            <a:ext cx="4401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Open Knowledge Format - OKF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81775" y="394075"/>
            <a:ext cx="4401600" cy="3989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Google’s Open Knowledge Format (OKF)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directory hierarchy of Markdown files with YAML front‑matter, designed so AI agents can read and reason over it directly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https://cloud.google.com/blog/products/data-analytics/how-the-open-knowledge-format-can-improve-data-sharing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OKF file has structure similar to skills - YAML front‑matter at the top followed by a Markdown body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https://github.com/GoogleCloudPlatform/knowledge-catalog/blob/main/okf/SPEC.md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(simplified):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---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type: Playbook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title: Refund Policy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description: How we handle customer refund requests.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tags: [support, policy]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timestamp: 2026-06-01T10:00:00Z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resource: https://internal.example.com/docs/refunds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---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# Refund Policy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We refund any order within 30 days of purchase…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-----------------------------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Google’s Knowledge Catalog tools ingest OKF bundles and expose them as a searchable catalog, but the format itself is platform‑agnostic: you can store the files in Git, object storage, or any filesystem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7"/>
          <p:cNvSpPr txBox="1"/>
          <p:nvPr/>
        </p:nvSpPr>
        <p:spPr>
          <a:xfrm>
            <a:off x="81775" y="0"/>
            <a:ext cx="1574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81775" y="394075"/>
            <a:ext cx="43227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"Six Power Phrases" for Claude Code - by Austin Marchese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1. "Launch sub agents" 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2. "Write me an implementation spec"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3. "Interview me"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4. "Verify before you build"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5. "Based on this conversation, build me a skill"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6. "Automate this"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most common mistake is failing to provide enough context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 failing to create a plan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https://www.youtube.com/watch?v=TP73qyFWDcY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6702" y="563860"/>
            <a:ext cx="1574100" cy="127428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9" name="Google Shape;179;p27"/>
          <p:cNvSpPr txBox="1"/>
          <p:nvPr/>
        </p:nvSpPr>
        <p:spPr>
          <a:xfrm>
            <a:off x="4721952" y="1864798"/>
            <a:ext cx="15036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Austin Marchese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7"/>
          <p:cNvSpPr txBox="1"/>
          <p:nvPr/>
        </p:nvSpPr>
        <p:spPr>
          <a:xfrm>
            <a:off x="81775" y="2293237"/>
            <a:ext cx="43227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Ponytail prevents "verbose" behavior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Opus 4.8 gets 71% faster, 71% fewer lines of code, and a 53% reduction in costs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Ponytail is open-source tool, low-risk, recommended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https://www.youtube.com/watch?v=aTPTUYC44ds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https://github.com/DietrichGebert/ponytail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2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7335" y="2387073"/>
            <a:ext cx="925150" cy="1057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2" name="Google Shape;182;p27"/>
          <p:cNvSpPr txBox="1"/>
          <p:nvPr/>
        </p:nvSpPr>
        <p:spPr>
          <a:xfrm>
            <a:off x="81775" y="3453799"/>
            <a:ext cx="43227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Pomelli - AI marketing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Helps small and medium‑sized businesses create brand content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analyzes your website or uploaded materials to build a “Business DNA” profile capturing tone, colors, fonts, and imagery style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 Pomelli generates campaign ideas, social posts, ads, and simple websites, plus a brand book with consistent visual guidelines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https://blog.google/innovation-and-ai/models-and-research/google-labs/pomelli-agentic-capabilities/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27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6700" y="3543675"/>
            <a:ext cx="2683326" cy="14087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/>
          <p:nvPr/>
        </p:nvSpPr>
        <p:spPr>
          <a:xfrm>
            <a:off x="81775" y="0"/>
            <a:ext cx="1574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8"/>
          <p:cNvSpPr txBox="1"/>
          <p:nvPr/>
        </p:nvSpPr>
        <p:spPr>
          <a:xfrm>
            <a:off x="81775" y="339777"/>
            <a:ext cx="44451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 OS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self-hosted, always-on AI “operating system”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around the open-source Hermes Agent (MIT License)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autonomous agent with persistent memory and self-created skills that “grow with you” across sessions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Multiple frontends like CLI, Telegram, Slack, Discord, WhatsApp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Model-agnostic - Claude, GPT, DeepSeek, OpenRouter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tools via MCP and APIs for workflow automation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Platforms - Linux, MacOS, WSL2, and even Android via Termux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https://hermes-agent.org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Hermes Jarvis is a voice-driven “Jarvis-style” Agent OS setup built on top of Hermes Agent. You can speak to 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8"/>
          <p:cNvSpPr txBox="1"/>
          <p:nvPr/>
        </p:nvSpPr>
        <p:spPr>
          <a:xfrm>
            <a:off x="81775" y="2639453"/>
            <a:ext cx="44451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GPT Cyber - OpenAI models fine-tuned for cybersecurity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top of fGPT‑5.4 and GPT‑5.5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Vulnerability discovery, malware analysis, secure code review, and incident response automation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 at reasoning on binaries, exploits, and defensive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 available only to OpenAI’s Trusted vetted defenders, enterprises, and institutions such as cybersecurity vendors and the EU AI Office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https://openai.com/index/scaling-trusted-access-for-cyber-defense/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66450" y="781000"/>
            <a:ext cx="3381375" cy="13525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2" name="Google Shape;192;p28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95675" y="2780525"/>
            <a:ext cx="1673050" cy="13525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LangChain Is Dying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81775" y="495300"/>
            <a:ext cx="44826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LangChain Is Dying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https://www.youtube.com/watch?v=DnS-lA7SC0M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shift from heavy AI agent frameworks like LangChain to a lightweight "micro-agent" architecture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Heavy frameworks introduce complex abstractions, increase token costs, and obscure prompts, making debugging exceptionally difficult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contrast, micro-agents function like microservices: they are small, single-purpose, and operate on a simple model, few tools, and a tight loop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Emerging minimalist tools like Pydantic AI and Hugging Face's Small Agents provide type safety and direct Python execution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While large frameworks remain useful for highly complex enterprise state management, the current movement emphasizes owning your prompts and context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core takeaway is to always use the smallest, simplest tool that successfully completes the job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9"/>
          <p:cNvSpPr txBox="1"/>
          <p:nvPr/>
        </p:nvSpPr>
        <p:spPr>
          <a:xfrm>
            <a:off x="81775" y="3681050"/>
            <a:ext cx="44826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"What you got was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 agent inside an executor inside a chain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your real prompt buried eight layers down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under code you never wrote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developers are walking away...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abstractions are over-complicated, the docs never match.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9"/>
          <p:cNvSpPr txBox="1"/>
          <p:nvPr/>
        </p:nvSpPr>
        <p:spPr>
          <a:xfrm>
            <a:off x="4716775" y="3311600"/>
            <a:ext cx="42747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"The bug isn't in your 50 lines, it's somewhere in the framework's 50,000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you end up stepping through abstractions you didn't write in a stack trace that's mostly somebody else's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the ground keeps moving under you.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LangChain rocketed past a 100,000 GitHub stars and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became just as famous for breaking changes between versions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interface you learned last quarter is deprecated...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popularity was never the same thing as stability.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p2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6775" y="152400"/>
            <a:ext cx="4274825" cy="300362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0"/>
          <p:cNvSpPr txBox="1"/>
          <p:nvPr/>
        </p:nvSpPr>
        <p:spPr>
          <a:xfrm>
            <a:off x="81775" y="495300"/>
            <a:ext cx="4482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LangChain Deep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(MIT) agent harness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Includes plumbing like file systems, context management, sub-agents, planning, human gating, and tools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Developers start with a complete, functioning terminal agent and trim away what they don't need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LangGraph, Deep Agents code is model-agnostic. It can be pointed at frontier APIs, open-weight cloud models, or fully local models via Ollama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While Claude Code offers tighter integration and polish for Claude, Deep Agents provides the ultimate flexibility and sandboxing necessary for custom, multi-user AI engineering.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https://www.youtube.com/watch?v=x6WyeI5yO9E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3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6775" y="581625"/>
            <a:ext cx="3994400" cy="2246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09" name="Google Shape;209;p30"/>
          <p:cNvSpPr txBox="1"/>
          <p:nvPr/>
        </p:nvSpPr>
        <p:spPr>
          <a:xfrm>
            <a:off x="100825" y="3150281"/>
            <a:ext cx="3782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Manolo Remiddi tests models for deep thinking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GLM 5.2 wins,  Qwen3.6-27B is close second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GPT-5.5 performed poorly because it was too agreable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https://www.youtube.com/watch?v=Zfgl5rA6ehg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3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33724" y="3090431"/>
            <a:ext cx="1076547" cy="13506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1"/>
          <p:cNvSpPr txBox="1"/>
          <p:nvPr/>
        </p:nvSpPr>
        <p:spPr>
          <a:xfrm>
            <a:off x="81775" y="495300"/>
            <a:ext cx="4482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CoreWeave ARIA AI Research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Weights &amp; Biases Weave + CoreWeave’s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Ingests large volumes of experiment data, analyzes performance, and recommends next steps for models and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ARIA can form hypotheses, trigger new experiments, evaluate results, and update dashboards, shrinking iteration cycles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positions CoreWeave as more than a GPU cloud provider, turning their infrastructure into a full-stack environment for continuous AI experimentation and autonomous improvement.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38712" y="690563"/>
            <a:ext cx="1541700" cy="10191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8" name="Google Shape;218;p3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4750" y="495300"/>
            <a:ext cx="1882025" cy="1409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81775" y="495300"/>
            <a:ext cx="44826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Qwable 3.6 27B - by Mia-AiLab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fine-tuned version of the Qwen 3.6 27B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assistant-style and reasoning-heavy use cases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Focuses on step-by-step responses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81775" y="1362000"/>
            <a:ext cx="44826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Dario needs to be stopped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Mehul Mohan critiques Anthropic CEO Dario Amodei’s 2023 testimony on open-weight AI risks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Dario was saying that centralized models allow control and monitoring and proposes restricting open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Dario has claiming that open AI will enable catastrophic biological or cyber threats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Mohan provides multiple reasons against Dario's position. He also talks about positive sides of open source (example - Linux).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explains that open-weight models, while not fully open source, still allow meaningful modification. Finally, he argues that restricting US AI development could weaken competitiveness, as global players continue advancing open-weight innovation.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https://www.youtube.com/watch?v=EyARxk6y1_c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p3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3600" y="1638251"/>
            <a:ext cx="2436951" cy="140903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7" name="Google Shape;227;p3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49050" y="2166353"/>
            <a:ext cx="1406750" cy="1539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3"/>
          <p:cNvSpPr txBox="1"/>
          <p:nvPr/>
        </p:nvSpPr>
        <p:spPr>
          <a:xfrm>
            <a:off x="81775" y="438061"/>
            <a:ext cx="4482600" cy="4605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Become more effective with Claude Code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https://www.youtube.com/watch?v=CBcyKfpldTo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a "Brand Context Folder" as a permanent source of truth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Voice Profile - defines your core voice rules and style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Visual Identity - json or markdown file containing design tokens (fonts, colors, assets)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Positioning - defines target audience, business goals, pain points.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a "claude.md" file as an index that points to these context folders, preventing "context rot" by keeping individual files lean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Autonomous Loops - keep running even without active supervision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 Mode - use `Shift+Tab` twice to minimize interruptions, allowing Claude to perform safe actions automatically; "/goal" - set specific, measurable exit criteria so Claude knows exactly when a task is finished rather than completing it prematurely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Loop/Routines - use to schedule recurring tasks (e.g., daily email/invoice processing) so the system works even when you are away from your computer.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Handling Complex Tasks without losing focus or finishing prematurely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Increase the "effort of thinking" (reasoning tokens);allow Claude to spin up a "team" of specialized agents, each with its own clean context, to tackle specific parts of a large project.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Human-in-the-Loop - maintain intentional human checkpoints; identify the high-stakes points in your workflow where quality is critical; instruct Claude to pause at these stages, notify you, and wait for your review/edit before proceeding to production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- use AI for the repetitive 80% of research and drafting, while reserving your time for the 20% that provides human value.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" name="Google Shape;234;p3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3450" y="944475"/>
            <a:ext cx="2886074" cy="16856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4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34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4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121.5K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June 26,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34"/>
          <p:cNvSpPr txBox="1"/>
          <p:nvPr/>
        </p:nvSpPr>
        <p:spPr>
          <a:xfrm>
            <a:off x="5422950" y="5312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157,807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(892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3" name="Google Shape;243;p3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3295615"/>
            <a:ext cx="5058401" cy="176106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4" name="Google Shape;244;p3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478362"/>
            <a:ext cx="5058398" cy="2718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5" name="Google Shape;245;p34"/>
          <p:cNvSpPr txBox="1"/>
          <p:nvPr/>
        </p:nvSpPr>
        <p:spPr>
          <a:xfrm>
            <a:off x="5422950" y="2031425"/>
            <a:ext cx="32868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“Oracle sheds 21,000 jobs, shrinking the company’s headcount by 13% as it continues to invest in Artificial Intelligence.” - The Wall Street Journal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5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5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5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35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5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5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3850</Words>
  <Application>Microsoft Macintosh PowerPoint</Application>
  <PresentationFormat>On-screen Show (16:9)</PresentationFormat>
  <Paragraphs>487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Roboto Mono</vt:lpstr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2026-06-30T22:17:23Z</dcterms:modified>
</cp:coreProperties>
</file>