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embeddedFontLst>
    <p:embeddedFont>
      <p:font typeface="Roboto Mono" pitchFamily="49"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AA597ED-DA48-41BE-B06B-3624B39A5316}">
  <a:tblStyle styleId="{AAA597ED-DA48-41BE-B06B-3624B39A531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p:cViewPr varScale="1">
        <p:scale>
          <a:sx n="124" d="100"/>
          <a:sy n="124"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ed2c6c1b0f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g3ed2c6c1b0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ec31c57a0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3ec31c57a0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f07b176d2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g3f07b176d2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efa3d60acc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g3efa3d60acc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ef97f469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g3ef97f4697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f019ea50c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g3f019ea50c9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efa3d60acc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3efa3d60acc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efa2e2bb6a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3efa2e2bb6a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ef968259d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ef968259d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ef8ebcb4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ef8ebcb41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efc05feb3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g3efc05feb36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efb1a4b2d1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efb1a4b2d1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efb1a4b2d1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3efb1a4b2d1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efe5029d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efe5029d7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f00b579489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f00b579489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f01bee3619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g3f01bee3619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efea44c4d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3efea44c4dd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ef911667f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g3ef911667f2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f04271eb5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f04271eb5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d971967e09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9" name="Google Shape;269;g3d971967e09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d971967e0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3d971967e09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d971967e09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g3d971967e09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ai.meta.com/blog/introducing-muse-spark-msl/" TargetMode="External"/><Relationship Id="rId39" Type="http://schemas.openxmlformats.org/officeDocument/2006/relationships/hyperlink" Target="https://grok.com" TargetMode="External"/><Relationship Id="rId21" Type="http://schemas.openxmlformats.org/officeDocument/2006/relationships/hyperlink" Target="https://www.anthropic.com/news/claude-opus-4-6" TargetMode="External"/><Relationship Id="rId34" Type="http://schemas.openxmlformats.org/officeDocument/2006/relationships/hyperlink" Target="https://developers.openai.com/api/docs/models/gpt-5.2-chat-latest" TargetMode="External"/><Relationship Id="rId42" Type="http://schemas.openxmlformats.org/officeDocument/2006/relationships/hyperlink" Target="https://docs.x.ai/developers/models/grok-4.20-multi-agent-beta-0309" TargetMode="External"/><Relationship Id="rId7" Type="http://schemas.openxmlformats.org/officeDocument/2006/relationships/hyperlink" Target="https://openlm.ai/chatbot-arena/"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opus-4-7" TargetMode="External"/><Relationship Id="rId29" Type="http://schemas.openxmlformats.org/officeDocument/2006/relationships/hyperlink" Target="https://platform.openai.com/docs/models/gpt-5.4" TargetMode="External"/><Relationship Id="rId41" Type="http://schemas.openxmlformats.org/officeDocument/2006/relationships/hyperlink" Target="https://openai.com/index/gpt-5-5-instant"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www.anthropic.com/news/claude-sonnet-4-6" TargetMode="External"/><Relationship Id="rId32" Type="http://schemas.openxmlformats.org/officeDocument/2006/relationships/hyperlink" Target="https://aistudio.google.com/app/prompts/new_chat?model=gemini-3-pro-preview" TargetMode="External"/><Relationship Id="rId37" Type="http://schemas.openxmlformats.org/officeDocument/2006/relationships/hyperlink" Target="https://docs.x.ai/developers/models/grok-4.20-beta-0309-reasoning" TargetMode="External"/><Relationship Id="rId40" Type="http://schemas.openxmlformats.org/officeDocument/2006/relationships/hyperlink" Target="https://blog.google/products/gemini/gemini-3-flash"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www.anthropic.com/news/claude-opus-4-5" TargetMode="External"/><Relationship Id="rId28" Type="http://schemas.openxmlformats.org/officeDocument/2006/relationships/hyperlink" Target="https://blog.google/innovation-and-ai/models-and-research/gemini-models/gemini-3-1-pro/" TargetMode="External"/><Relationship Id="rId36" Type="http://schemas.openxmlformats.org/officeDocument/2006/relationships/hyperlink" Target="https://www.anthropic.com/news/claude-sonnet-5"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fable-5-mythos-5" TargetMode="External"/><Relationship Id="rId31" Type="http://schemas.openxmlformats.org/officeDocument/2006/relationships/hyperlink" Target="https://mimo.xiaomi.com/mimo-v2-5-pro/"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www.anthropic.com/news/claude-opus-4-8" TargetMode="External"/><Relationship Id="rId27" Type="http://schemas.openxmlformats.org/officeDocument/2006/relationships/hyperlink" Target="https://huggingface.co/zai-org/GLM-5.1" TargetMode="External"/><Relationship Id="rId30" Type="http://schemas.openxmlformats.org/officeDocument/2006/relationships/hyperlink" Target="https://www.anthropic.com/news/claude-sonnet-4-5" TargetMode="External"/><Relationship Id="rId35" Type="http://schemas.openxmlformats.org/officeDocument/2006/relationships/hyperlink" Target="https://huggingface.co/zai-org/GLM-5.2"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chat.qwen.ai/?models=Qwen3.7-Max-Preview" TargetMode="External"/><Relationship Id="rId33" Type="http://schemas.openxmlformats.org/officeDocument/2006/relationships/hyperlink" Target="https://openai.com/index/introducing-gpt-5-5/" TargetMode="External"/><Relationship Id="rId38" Type="http://schemas.openxmlformats.org/officeDocument/2006/relationships/hyperlink" Target="https://blog.google/innovation-and-ai/models-and-research/gemini-models/gemini-3-5/"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openai.com/index/previewing-gpt-5-6-sol/" TargetMode="External"/><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platform.claude.com/docs/en/about-claude/pricing" TargetMode="External"/><Relationship Id="rId5" Type="http://schemas.openxmlformats.org/officeDocument/2006/relationships/hyperlink" Target="https://www.anthropic.com/news/claude-sonnet-5"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lplVBFr0Ndc"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hermes-agent.nousresearch.com/docs/user-guide/features/mixture-of-agents" TargetMode="External"/><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hostinger.com/applications/hermes-agent/1" TargetMode="External"/><Relationship Id="rId5" Type="http://schemas.openxmlformats.org/officeDocument/2006/relationships/image" Target="../media/image10.png"/><Relationship Id="rId4" Type="http://schemas.openxmlformats.org/officeDocument/2006/relationships/hyperlink" Target="https://github.com/nousresearch/hermes-agent"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CTKe2tmdy7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jpe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hyperlink" Target="https://www.youtube.com/watch?v=IwKuv4LrCVk" TargetMode="External"/><Relationship Id="rId7" Type="http://schemas.openxmlformats.org/officeDocument/2006/relationships/hyperlink" Target="https://github.com/CopilotKit/OpenTag"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www.youtube.com/watch?v=Vb_Czw7x-Ow"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hyperlink" Target="https://openai.com/index/openai-broadcom-jalapeno-inference-chip/" TargetMode="External"/><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huggingface.co/collections/deepreinforce-ai/ornith-10" TargetMode="External"/><Relationship Id="rId7" Type="http://schemas.openxmlformats.org/officeDocument/2006/relationships/hyperlink" Target="https://www.linkedin.com/in/jiwei-li-5293202a3/"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hyperlink" Target="https://www.youtube.com/watch?v=UDzw3qzmtvo" TargetMode="External"/><Relationship Id="rId4" Type="http://schemas.openxmlformats.org/officeDocument/2006/relationships/hyperlink" Target="https://deep-reinforce.com/ornith_1_0.html" TargetMode="External"/><Relationship Id="rId9"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deepseek-ai/DeepSpec"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hyperlink" Target="https://huggingface.co/deepseek-ai/DeepSeek-V4-Pro-DSpark" TargetMode="External"/><Relationship Id="rId4" Type="http://schemas.openxmlformats.org/officeDocument/2006/relationships/hyperlink" Target="https://github.com/deepseek-ai/DeepSpec/blob/main/DSpark_paper.pdf"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cloud.google.com/blog/products/data-analytics/how-the-open-knowledge-format-can-improve-data-sharing"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hyperlink" Target="https://github.com/GoogleCloudPlatform/knowledge-catalog/blob/main/okf/SPEC.md"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blog.google/innovation-and-ai/models-and-research/google-labs/pomelli-agentic-capabilities/" TargetMode="External"/><Relationship Id="rId3" Type="http://schemas.openxmlformats.org/officeDocument/2006/relationships/hyperlink" Target="https://www.youtube.com/watch?v=TP73qyFWDcY" TargetMode="External"/><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github.com/DietrichGebert/ponytail" TargetMode="External"/><Relationship Id="rId5" Type="http://schemas.openxmlformats.org/officeDocument/2006/relationships/hyperlink" Target="https://www.youtube.com/watch?v=aTPTUYC44ds" TargetMode="External"/><Relationship Id="rId4" Type="http://schemas.openxmlformats.org/officeDocument/2006/relationships/image" Target="../media/image28.png"/><Relationship Id="rId9"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hyperlink" Target="https://hermes-agent.org"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hyperlink" Target="https://openai.com/index/scaling-trusted-access-for-cyber-defense/"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DnS-lA7SC0M"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x6WyeI5yO9E"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hyperlink" Target="https://www.youtube.com/watch?v=Zfgl5rA6ehg" TargetMode="Externa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6.png"/><Relationship Id="rId7" Type="http://schemas.openxmlformats.org/officeDocument/2006/relationships/hyperlink" Target="https://elicit.com"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consensus.app" TargetMode="External"/><Relationship Id="rId5" Type="http://schemas.openxmlformats.org/officeDocument/2006/relationships/hyperlink" Target="https://scispace.com" TargetMode="Externa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8" Type="http://schemas.openxmlformats.org/officeDocument/2006/relationships/hyperlink" Target="https://github.com/xdevplatform/xmcp" TargetMode="External"/><Relationship Id="rId3" Type="http://schemas.openxmlformats.org/officeDocument/2006/relationships/hyperlink" Target="https://www.youtube.com/watch?v=EyARxk6y1_c" TargetMode="External"/><Relationship Id="rId7" Type="http://schemas.openxmlformats.org/officeDocument/2006/relationships/hyperlink" Target="https://mcp.directory/servers/x-twitter"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docs.x.com/tools/mcp" TargetMode="External"/><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CBcyKfpldTo"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hyperlink" Target="https://developer.hashicorp.com/terraform"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hyperlink" Target="https://www.pulumi.com"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hyperlink" Target="https://trueup.io/layoff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100175" y="498650"/>
            <a:ext cx="4330200" cy="272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Crowd-sourced "LM Arena" Leaderboard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 GPT‑5.6 models: Sol, Terra, Luna</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Claude Sonnet 5, Claude Fable 5 Returned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Anthropic will require IDs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Claude Mythos 5 released to 100+ partners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Nvidia + Qwen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Hermes MoA - Mixture-of-Agents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Shifting to cheap Chinese open-source models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Anthropic’s new "Claude Tag" feature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"Qwen-AgentWorld" open-source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 Tag - open-source alternative</a:t>
            </a:r>
            <a:endParaRPr sz="1600" b="1">
              <a:solidFill>
                <a:srgbClr val="3C78D8"/>
              </a:solidFill>
              <a:latin typeface="Calibri"/>
              <a:ea typeface="Calibri"/>
              <a:cs typeface="Calibri"/>
              <a:sym typeface="Calibri"/>
            </a:endParaRPr>
          </a:p>
        </p:txBody>
      </p:sp>
      <p:sp>
        <p:nvSpPr>
          <p:cNvPr id="64" name="Google Shape;64;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July 03,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36604" y="4496600"/>
            <a:ext cx="2153700" cy="5109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Pulumi vs Terraform</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Jobs &amp; Layoffs</a:t>
            </a:r>
            <a:endParaRPr sz="1600" b="1">
              <a:solidFill>
                <a:srgbClr val="3C78D8"/>
              </a:solidFill>
              <a:latin typeface="Calibri"/>
              <a:ea typeface="Calibri"/>
              <a:cs typeface="Calibri"/>
              <a:sym typeface="Calibri"/>
            </a:endParaRPr>
          </a:p>
        </p:txBody>
      </p:sp>
      <p:sp>
        <p:nvSpPr>
          <p:cNvPr id="66" name="Google Shape;66;p15"/>
          <p:cNvSpPr txBox="1"/>
          <p:nvPr/>
        </p:nvSpPr>
        <p:spPr>
          <a:xfrm>
            <a:off x="4448725" y="52750"/>
            <a:ext cx="3013200" cy="13236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None/>
            </a:pPr>
            <a:r>
              <a:rPr lang="en" sz="2000" b="1" i="1">
                <a:solidFill>
                  <a:srgbClr val="FF0000"/>
                </a:solidFill>
                <a:latin typeface="Calibri"/>
                <a:ea typeface="Calibri"/>
                <a:cs typeface="Calibri"/>
                <a:sym typeface="Calibri"/>
              </a:rPr>
              <a:t>Competition is the Only </a:t>
            </a:r>
            <a:br>
              <a:rPr lang="en" sz="2000" b="1" i="1">
                <a:solidFill>
                  <a:srgbClr val="FF0000"/>
                </a:solidFill>
                <a:latin typeface="Calibri"/>
                <a:ea typeface="Calibri"/>
                <a:cs typeface="Calibri"/>
                <a:sym typeface="Calibri"/>
              </a:rPr>
            </a:br>
            <a:r>
              <a:rPr lang="en" sz="2000" b="1" i="1">
                <a:solidFill>
                  <a:srgbClr val="FF0000"/>
                </a:solidFill>
                <a:latin typeface="Calibri"/>
                <a:ea typeface="Calibri"/>
                <a:cs typeface="Calibri"/>
                <a:sym typeface="Calibri"/>
              </a:rPr>
              <a:t>Solution to problems like </a:t>
            </a:r>
            <a:br>
              <a:rPr lang="en" sz="2000" b="1" i="1">
                <a:solidFill>
                  <a:srgbClr val="FF0000"/>
                </a:solidFill>
                <a:latin typeface="Calibri"/>
                <a:ea typeface="Calibri"/>
                <a:cs typeface="Calibri"/>
                <a:sym typeface="Calibri"/>
              </a:rPr>
            </a:br>
            <a:r>
              <a:rPr lang="en" sz="2000" b="1" i="1">
                <a:solidFill>
                  <a:srgbClr val="FF0000"/>
                </a:solidFill>
                <a:latin typeface="Calibri"/>
                <a:ea typeface="Calibri"/>
                <a:cs typeface="Calibri"/>
                <a:sym typeface="Calibri"/>
              </a:rPr>
              <a:t>government involvement </a:t>
            </a:r>
            <a:br>
              <a:rPr lang="en" sz="2000" b="1" i="1">
                <a:solidFill>
                  <a:srgbClr val="FF0000"/>
                </a:solidFill>
                <a:latin typeface="Calibri"/>
                <a:ea typeface="Calibri"/>
                <a:cs typeface="Calibri"/>
                <a:sym typeface="Calibri"/>
              </a:rPr>
            </a:br>
            <a:r>
              <a:rPr lang="en" sz="2000" b="1" i="1">
                <a:solidFill>
                  <a:srgbClr val="FF0000"/>
                </a:solidFill>
                <a:latin typeface="Calibri"/>
                <a:ea typeface="Calibri"/>
                <a:cs typeface="Calibri"/>
                <a:sym typeface="Calibri"/>
              </a:rPr>
              <a:t>and monopoly of Anthropic</a:t>
            </a:r>
            <a:endParaRPr sz="2000" b="1" i="1">
              <a:solidFill>
                <a:srgbClr val="FF0000"/>
              </a:solidFill>
              <a:latin typeface="Calibri"/>
              <a:ea typeface="Calibri"/>
              <a:cs typeface="Calibri"/>
              <a:sym typeface="Calibri"/>
            </a:endParaRPr>
          </a:p>
        </p:txBody>
      </p:sp>
      <p:sp>
        <p:nvSpPr>
          <p:cNvPr id="67" name="Google Shape;67;p15"/>
          <p:cNvSpPr txBox="1"/>
          <p:nvPr/>
        </p:nvSpPr>
        <p:spPr>
          <a:xfrm>
            <a:off x="4536607" y="1471481"/>
            <a:ext cx="4525800" cy="29739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Pomelli - AI marketing agent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Hermes Agent OS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GPT Cyber - OpenAI fine-tuned for cybersecurity</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Qwable 3.6 27B - by Mia-AiLab</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LangChain Is Dying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LangChain Deep Agents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Manolo Remiddi tests models for deep thinking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CoreWeave ARIA AI Research Agent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Qwable 3.6 27B - by Mia-AiLab</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Dario needs to be stopped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X (formerly Twitter) MCP server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Become more effective with Claude Code</a:t>
            </a:r>
            <a:endParaRPr sz="1600" b="1">
              <a:solidFill>
                <a:srgbClr val="3C78D8"/>
              </a:solidFill>
              <a:latin typeface="Calibri"/>
              <a:ea typeface="Calibri"/>
              <a:cs typeface="Calibri"/>
              <a:sym typeface="Calibri"/>
            </a:endParaRPr>
          </a:p>
        </p:txBody>
      </p:sp>
      <p:sp>
        <p:nvSpPr>
          <p:cNvPr id="68" name="Google Shape;68;p15"/>
          <p:cNvSpPr txBox="1"/>
          <p:nvPr/>
        </p:nvSpPr>
        <p:spPr>
          <a:xfrm>
            <a:off x="100175" y="3267300"/>
            <a:ext cx="4330200" cy="1742400"/>
          </a:xfrm>
          <a:prstGeom prst="rect">
            <a:avLst/>
          </a:prstGeom>
          <a:solidFill>
            <a:srgbClr val="D0E0E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 "Jalapeno" AI chip for LLM Inference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Gemini‑SQL2</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Ornith‑1.0 coding models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DeepSeek's DSpark</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Open Knowledge Format - OKF</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Six Power Phrases - for Claude Code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Ponytail prevents "verbose" behavior</a:t>
            </a:r>
            <a:endParaRPr sz="1600" b="1">
              <a:solidFill>
                <a:srgbClr val="3C78D8"/>
              </a:solidFill>
              <a:latin typeface="Calibri"/>
              <a:ea typeface="Calibri"/>
              <a:cs typeface="Calibri"/>
              <a:sym typeface="Calibri"/>
            </a:endParaRPr>
          </a:p>
        </p:txBody>
      </p:sp>
      <p:pic>
        <p:nvPicPr>
          <p:cNvPr id="69" name="Google Shape;69;p1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480274" y="12634"/>
            <a:ext cx="1600476" cy="1066717"/>
          </a:xfrm>
          <a:prstGeom prst="rect">
            <a:avLst/>
          </a:prstGeom>
          <a:noFill/>
          <a:ln w="9525" cap="flat" cmpd="sng">
            <a:solidFill>
              <a:srgbClr val="FF0000"/>
            </a:solidFill>
            <a:prstDash val="solid"/>
            <a:round/>
            <a:headEnd type="none" w="sm" len="sm"/>
            <a:tailEnd type="none" w="sm" len="sm"/>
          </a:ln>
        </p:spPr>
      </p:pic>
      <p:sp>
        <p:nvSpPr>
          <p:cNvPr id="70" name="Google Shape;70;p15"/>
          <p:cNvSpPr txBox="1"/>
          <p:nvPr/>
        </p:nvSpPr>
        <p:spPr>
          <a:xfrm>
            <a:off x="7721976" y="1003250"/>
            <a:ext cx="1208700" cy="400200"/>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None/>
            </a:pPr>
            <a:r>
              <a:rPr lang="en" sz="2000" b="1" i="1">
                <a:solidFill>
                  <a:srgbClr val="3C78D8"/>
                </a:solidFill>
                <a:latin typeface="Calibri"/>
                <a:ea typeface="Calibri"/>
                <a:cs typeface="Calibri"/>
                <a:sym typeface="Calibri"/>
              </a:rPr>
              <a:t>250 Years</a:t>
            </a:r>
            <a:endParaRPr sz="2000" b="1" i="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6" name="Google Shape;76;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7" name="Google Shape;77;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8" name="Google Shape;78;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9" name="Google Shape;79;p16"/>
          <p:cNvSpPr txBox="1"/>
          <p:nvPr/>
        </p:nvSpPr>
        <p:spPr>
          <a:xfrm>
            <a:off x="6041375" y="2449450"/>
            <a:ext cx="30510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1600" algn="l" rtl="0">
              <a:lnSpc>
                <a:spcPct val="100000"/>
              </a:lnSpc>
              <a:spcBef>
                <a:spcPts val="0"/>
              </a:spcBef>
              <a:spcAft>
                <a:spcPts val="0"/>
              </a:spcAft>
              <a:buClr>
                <a:schemeClr val="dk1"/>
              </a:buClr>
              <a:buSzPts val="700"/>
              <a:buFont typeface="Calibri"/>
              <a:buChar char="●"/>
            </a:pPr>
            <a:r>
              <a:rPr lang="en" sz="700" u="sng">
                <a:solidFill>
                  <a:schemeClr val="hlink"/>
                </a:solidFill>
                <a:latin typeface="Calibri"/>
                <a:ea typeface="Calibri"/>
                <a:cs typeface="Calibri"/>
                <a:sym typeface="Calibri"/>
                <a:hlinkClick r:id="rId4"/>
              </a:rPr>
              <a:t>https://lmarena.ai/leaderboard/text</a:t>
            </a:r>
            <a:r>
              <a:rPr lang="en" sz="700">
                <a:latin typeface="Calibri"/>
                <a:ea typeface="Calibri"/>
                <a:cs typeface="Calibri"/>
                <a:sym typeface="Calibri"/>
              </a:rPr>
              <a:t> </a:t>
            </a:r>
            <a:endParaRPr sz="700">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latin typeface="Calibri"/>
                <a:ea typeface="Calibri"/>
                <a:cs typeface="Calibri"/>
                <a:sym typeface="Calibri"/>
              </a:rPr>
              <a:t>Design Arena -    </a:t>
            </a:r>
            <a:br>
              <a:rPr lang="en" sz="700">
                <a:latin typeface="Calibri"/>
                <a:ea typeface="Calibri"/>
                <a:cs typeface="Calibri"/>
                <a:sym typeface="Calibri"/>
              </a:rPr>
            </a:br>
            <a:r>
              <a:rPr lang="en" sz="700" u="sng">
                <a:solidFill>
                  <a:schemeClr val="hlink"/>
                </a:solidFill>
                <a:latin typeface="Calibri"/>
                <a:ea typeface="Calibri"/>
                <a:cs typeface="Calibri"/>
                <a:sym typeface="Calibri"/>
                <a:hlinkClick r:id="rId6"/>
              </a:rPr>
              <a:t>https://www.designarena.ai</a:t>
            </a:r>
            <a:r>
              <a:rPr lang="en" sz="700">
                <a:latin typeface="Calibri"/>
                <a:ea typeface="Calibri"/>
                <a:cs typeface="Calibri"/>
                <a:sym typeface="Calibri"/>
              </a:rPr>
              <a:t> </a:t>
            </a:r>
            <a:endParaRPr sz="700">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u="sng">
                <a:solidFill>
                  <a:schemeClr val="hlink"/>
                </a:solidFill>
                <a:latin typeface="Calibri"/>
                <a:ea typeface="Calibri"/>
                <a:cs typeface="Calibri"/>
                <a:sym typeface="Calibri"/>
                <a:hlinkClick r:id="rId7"/>
              </a:rPr>
              <a:t>https://openlm.ai/chatbot-arena/</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u="sng">
                <a:solidFill>
                  <a:schemeClr val="hlink"/>
                </a:solidFill>
                <a:latin typeface="Calibri"/>
                <a:ea typeface="Calibri"/>
                <a:cs typeface="Calibri"/>
                <a:sym typeface="Calibri"/>
                <a:hlinkClick r:id="rId8"/>
              </a:rPr>
              <a:t>https://beta.lmarena.ai</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Web Leaderboard -  1T params</a:t>
            </a:r>
            <a:br>
              <a:rPr lang="en" sz="7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9"/>
              </a:rPr>
              <a:t>https://web.lmarena.ai/leaderboard</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LLM Leaderboard - by @LlmStats - </a:t>
            </a:r>
            <a:br>
              <a:rPr lang="en" sz="7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0"/>
              </a:rPr>
              <a:t>https://llmworld.net/llm_leaderboards/</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LLM Leaderboard - by StackAI</a:t>
            </a:r>
            <a:r>
              <a:rPr lang="en" sz="700">
                <a:solidFill>
                  <a:schemeClr val="dk1"/>
                </a:solidFill>
                <a:latin typeface="Calibri"/>
                <a:ea typeface="Calibri"/>
                <a:cs typeface="Calibri"/>
                <a:sym typeface="Calibri"/>
              </a:rPr>
              <a:t> - </a:t>
            </a:r>
            <a:br>
              <a:rPr lang="en" sz="700">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1"/>
              </a:rPr>
              <a:t>https://www.stack-ai.com/llm-leaderboard</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LLM Leaderboard - by Artificial Analysis</a:t>
            </a:r>
            <a:r>
              <a:rPr lang="en" sz="700">
                <a:solidFill>
                  <a:schemeClr val="dk1"/>
                </a:solidFill>
                <a:latin typeface="Calibri"/>
                <a:ea typeface="Calibri"/>
                <a:cs typeface="Calibri"/>
                <a:sym typeface="Calibri"/>
              </a:rPr>
              <a:t> - </a:t>
            </a:r>
            <a:br>
              <a:rPr lang="en" sz="700">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2"/>
              </a:rPr>
              <a:t>https://artificialanalysis.ai/leaderboards/models</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Open LLM Leaderboard - by Hugging Face - </a:t>
            </a:r>
            <a:br>
              <a:rPr lang="en" sz="7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3"/>
              </a:rPr>
              <a:t>https://huggingface.co/open-llm-leaderboard</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LLM Leaderboard - by Vellum - </a:t>
            </a:r>
            <a:br>
              <a:rPr lang="en" sz="7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4"/>
              </a:rPr>
              <a:t>https://www.vellum.ai/llm-leaderboard</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solidFill>
                  <a:schemeClr val="dk1"/>
                </a:solidFill>
                <a:latin typeface="Calibri"/>
                <a:ea typeface="Calibri"/>
                <a:cs typeface="Calibri"/>
                <a:sym typeface="Calibri"/>
              </a:rPr>
              <a:t>AI Benchmarking Hub - </a:t>
            </a:r>
            <a:br>
              <a:rPr lang="en" sz="700">
                <a:solidFill>
                  <a:schemeClr val="dk1"/>
                </a:solidFill>
                <a:latin typeface="Calibri"/>
                <a:ea typeface="Calibri"/>
                <a:cs typeface="Calibri"/>
                <a:sym typeface="Calibri"/>
              </a:rPr>
            </a:br>
            <a:r>
              <a:rPr lang="en" sz="700" u="sng">
                <a:solidFill>
                  <a:schemeClr val="hlink"/>
                </a:solidFill>
                <a:latin typeface="Calibri"/>
                <a:ea typeface="Calibri"/>
                <a:cs typeface="Calibri"/>
                <a:sym typeface="Calibri"/>
                <a:hlinkClick r:id="rId15"/>
              </a:rPr>
              <a:t>https://epoch.ai/data/ai-benchmarking-dashboard</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solidFill>
                  <a:schemeClr val="dk1"/>
                </a:solidFill>
                <a:latin typeface="Calibri"/>
                <a:ea typeface="Calibri"/>
                <a:cs typeface="Calibri"/>
                <a:sym typeface="Calibri"/>
              </a:rPr>
              <a:t>Grok 4 Benchmarks - </a:t>
            </a:r>
            <a:br>
              <a:rPr lang="en" sz="700">
                <a:solidFill>
                  <a:schemeClr val="dk1"/>
                </a:solidFill>
                <a:latin typeface="Calibri"/>
                <a:ea typeface="Calibri"/>
                <a:cs typeface="Calibri"/>
                <a:sym typeface="Calibri"/>
              </a:rPr>
            </a:br>
            <a:r>
              <a:rPr lang="en" sz="700" u="sng">
                <a:solidFill>
                  <a:schemeClr val="hlink"/>
                </a:solidFill>
                <a:latin typeface="Calibri"/>
                <a:ea typeface="Calibri"/>
                <a:cs typeface="Calibri"/>
                <a:sym typeface="Calibri"/>
                <a:hlinkClick r:id="rId16"/>
              </a:rPr>
              <a:t>https://artificialanalysis.ai/models/grok-4</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solidFill>
                  <a:schemeClr val="dk1"/>
                </a:solidFill>
                <a:latin typeface="Calibri"/>
                <a:ea typeface="Calibri"/>
                <a:cs typeface="Calibri"/>
                <a:sym typeface="Calibri"/>
              </a:rPr>
              <a:t>Image arena (alibaba) - </a:t>
            </a:r>
            <a:br>
              <a:rPr lang="en" sz="700">
                <a:solidFill>
                  <a:schemeClr val="dk1"/>
                </a:solidFill>
                <a:latin typeface="Calibri"/>
                <a:ea typeface="Calibri"/>
                <a:cs typeface="Calibri"/>
                <a:sym typeface="Calibri"/>
              </a:rPr>
            </a:br>
            <a:r>
              <a:rPr lang="en" sz="700" u="sng">
                <a:solidFill>
                  <a:schemeClr val="hlink"/>
                </a:solidFill>
                <a:latin typeface="Calibri"/>
                <a:ea typeface="Calibri"/>
                <a:cs typeface="Calibri"/>
                <a:sym typeface="Calibri"/>
                <a:hlinkClick r:id="rId17"/>
              </a:rPr>
              <a:t>http://aiarena.alibaba-inc.com/corpora/arena/leaderboard?arenaType=T2I</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solidFill>
                  <a:schemeClr val="dk1"/>
                </a:solidFill>
                <a:latin typeface="Calibri"/>
                <a:ea typeface="Calibri"/>
                <a:cs typeface="Calibri"/>
                <a:sym typeface="Calibri"/>
              </a:rPr>
              <a:t>image arena - </a:t>
            </a:r>
            <a:r>
              <a:rPr lang="en" sz="700" u="sng">
                <a:solidFill>
                  <a:schemeClr val="hlink"/>
                </a:solidFill>
                <a:latin typeface="Calibri"/>
                <a:ea typeface="Calibri"/>
                <a:cs typeface="Calibri"/>
                <a:sym typeface="Calibri"/>
                <a:hlinkClick r:id="rId18"/>
              </a:rPr>
              <a:t>https://lmarena.ai/leaderboard/text-to-image</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p:txBody>
      </p:sp>
      <p:sp>
        <p:nvSpPr>
          <p:cNvPr id="80" name="Google Shape;80;p16"/>
          <p:cNvSpPr txBox="1"/>
          <p:nvPr/>
        </p:nvSpPr>
        <p:spPr>
          <a:xfrm>
            <a:off x="3437903"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a:latin typeface="Calibri"/>
                <a:ea typeface="Calibri"/>
                <a:cs typeface="Calibri"/>
                <a:sym typeface="Calibri"/>
              </a:rPr>
              <a:t>Data for July 1</a:t>
            </a:r>
            <a:endParaRPr sz="1000">
              <a:latin typeface="Calibri"/>
              <a:ea typeface="Calibri"/>
              <a:cs typeface="Calibri"/>
              <a:sym typeface="Calibri"/>
            </a:endParaRPr>
          </a:p>
        </p:txBody>
      </p:sp>
      <p:graphicFrame>
        <p:nvGraphicFramePr>
          <p:cNvPr id="81" name="Google Shape;81;p16"/>
          <p:cNvGraphicFramePr/>
          <p:nvPr/>
        </p:nvGraphicFramePr>
        <p:xfrm>
          <a:off x="5742420" y="430065"/>
          <a:ext cx="3000000" cy="3000000"/>
        </p:xfrm>
        <a:graphic>
          <a:graphicData uri="http://schemas.openxmlformats.org/drawingml/2006/table">
            <a:tbl>
              <a:tblPr>
                <a:noFill/>
                <a:tableStyleId>{AAA597ED-DA48-41BE-B06B-3624B39A5316}</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82" name="Google Shape;82;p16"/>
          <p:cNvSpPr txBox="1"/>
          <p:nvPr/>
        </p:nvSpPr>
        <p:spPr>
          <a:xfrm>
            <a:off x="6838390" y="485738"/>
            <a:ext cx="21525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Fable-5 - 6TB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Opus-4.8 - 5TB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Sonnet-4.5 - 1TB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GLM-5.1 - 744B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Meta muse-spark - 16 x 70B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Qwen3.7-max-preview - 745B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Baidu Ernie-5.1 - 800B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Kimi-k2.6 - 1T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MiMo-V2-Pro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solidFill>
                  <a:schemeClr val="dk1"/>
                </a:solidFill>
                <a:latin typeface="Calibri"/>
                <a:ea typeface="Calibri"/>
                <a:cs typeface="Calibri"/>
                <a:sym typeface="Calibri"/>
              </a:rPr>
              <a:t>ByteDance </a:t>
            </a:r>
            <a:r>
              <a:rPr lang="en" sz="1000">
                <a:latin typeface="Calibri"/>
                <a:ea typeface="Calibri"/>
                <a:cs typeface="Calibri"/>
                <a:sym typeface="Calibri"/>
              </a:rPr>
              <a:t>dola-seed-2.0-pro 400B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Minimax M3  -  456B</a:t>
            </a:r>
            <a:endParaRPr sz="1000">
              <a:latin typeface="Calibri"/>
              <a:ea typeface="Calibri"/>
              <a:cs typeface="Calibri"/>
              <a:sym typeface="Calibri"/>
            </a:endParaRPr>
          </a:p>
        </p:txBody>
      </p:sp>
      <p:graphicFrame>
        <p:nvGraphicFramePr>
          <p:cNvPr id="83" name="Google Shape;83;p16"/>
          <p:cNvGraphicFramePr/>
          <p:nvPr/>
        </p:nvGraphicFramePr>
        <p:xfrm>
          <a:off x="2956138" y="824787"/>
          <a:ext cx="3000000" cy="3000000"/>
        </p:xfrm>
        <a:graphic>
          <a:graphicData uri="http://schemas.openxmlformats.org/drawingml/2006/table">
            <a:tbl>
              <a:tblPr>
                <a:noFill/>
                <a:tableStyleId>{AAA597ED-DA48-41BE-B06B-3624B39A5316}</a:tableStyleId>
              </a:tblPr>
              <a:tblGrid>
                <a:gridCol w="276225">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claude-fable-5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1563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claude-opus-4-8</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claude-opus-4-8-thinking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qwen3.7-max-preview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claude-sonnet-4-5-20250929-thinking-32k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glm-5.2 (max)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claude-sonnet-5-thinking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gpt-5.4</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claude-sonnet-4-5-20250929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4" name="Google Shape;84;p16"/>
          <p:cNvGraphicFramePr/>
          <p:nvPr/>
        </p:nvGraphicFramePr>
        <p:xfrm>
          <a:off x="200857" y="819359"/>
          <a:ext cx="3000000" cy="3000000"/>
        </p:xfrm>
        <a:graphic>
          <a:graphicData uri="http://schemas.openxmlformats.org/drawingml/2006/table">
            <a:tbl>
              <a:tblPr>
                <a:noFill/>
                <a:tableStyleId>{AAA597ED-DA48-41BE-B06B-3624B39A5316}</a:tableStyleId>
              </a:tblPr>
              <a:tblGrid>
                <a:gridCol w="276225">
                  <a:extLst>
                    <a:ext uri="{9D8B030D-6E8A-4147-A177-3AD203B41FA5}">
                      <a16:colId xmlns:a16="http://schemas.microsoft.com/office/drawing/2014/main" val="20000"/>
                    </a:ext>
                  </a:extLst>
                </a:gridCol>
                <a:gridCol w="17240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claude-fable-5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claude-opus-4-8-thinking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gemini-3.5-flash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claude-opus-4-8</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qwen3.7-max-preview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gpt-5.5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9"/>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0"/>
                        </a:rPr>
                        <a:t>gemini-3-flash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1"/>
                        </a:rPr>
                        <a:t>gpt-5.5-instant</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2"/>
                        </a:rPr>
                        <a:t>grok-4.20-multi-agent-beta-0309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90" name="Google Shape;90;p17"/>
          <p:cNvSpPr txBox="1"/>
          <p:nvPr/>
        </p:nvSpPr>
        <p:spPr>
          <a:xfrm>
            <a:off x="81775" y="459238"/>
            <a:ext cx="35958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GPT‑5.6 models: Sol, Terra, Luna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GPT-5.6 Benchmarks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https://openai.com/index/previewing-gpt-5-6-sol/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Sol - the flagship, highest‑capability (reasoning, complex coding, long‑horizon agentic tasks)</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Terra - balanced, similar to GPT 5.5</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Luna - fastest and most affordable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1.5M-token context window</a:t>
            </a:r>
            <a:endParaRPr sz="1200">
              <a:solidFill>
                <a:schemeClr val="dk1"/>
              </a:solidFill>
              <a:latin typeface="Calibri"/>
              <a:ea typeface="Calibri"/>
              <a:cs typeface="Calibri"/>
              <a:sym typeface="Calibri"/>
            </a:endParaRPr>
          </a:p>
        </p:txBody>
      </p:sp>
      <p:pic>
        <p:nvPicPr>
          <p:cNvPr id="91" name="Google Shape;91;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862250" y="578338"/>
            <a:ext cx="2236276" cy="1257901"/>
          </a:xfrm>
          <a:prstGeom prst="rect">
            <a:avLst/>
          </a:prstGeom>
          <a:noFill/>
          <a:ln>
            <a:noFill/>
          </a:ln>
        </p:spPr>
      </p:pic>
      <p:sp>
        <p:nvSpPr>
          <p:cNvPr id="92" name="Google Shape;92;p17"/>
          <p:cNvSpPr txBox="1"/>
          <p:nvPr/>
        </p:nvSpPr>
        <p:spPr>
          <a:xfrm>
            <a:off x="81775" y="2077548"/>
            <a:ext cx="3595800" cy="195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Sonnet 5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Not as good as Opus (but close)</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Lower cost -  $2/$10 in July-August</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after that 43 / $15</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(compare - $5 / $25 for Opus 4.8)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But it is actually more expensive than Opus because of updated tokenizer and high output token usage for reasoning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1M context window</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https://www.anthropic.com/news/claude-sonnet-5</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https://platform.claude.com/docs/en/about-claude/pricing</a:t>
            </a:r>
            <a:endParaRPr sz="900">
              <a:solidFill>
                <a:schemeClr val="dk1"/>
              </a:solidFill>
              <a:latin typeface="Calibri"/>
              <a:ea typeface="Calibri"/>
              <a:cs typeface="Calibri"/>
              <a:sym typeface="Calibri"/>
            </a:endParaRPr>
          </a:p>
        </p:txBody>
      </p:sp>
      <p:pic>
        <p:nvPicPr>
          <p:cNvPr id="93" name="Google Shape;93;p1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133975" y="2039825"/>
            <a:ext cx="3926149" cy="1863375"/>
          </a:xfrm>
          <a:prstGeom prst="rect">
            <a:avLst/>
          </a:prstGeom>
          <a:noFill/>
          <a:ln w="9525" cap="flat" cmpd="sng">
            <a:solidFill>
              <a:srgbClr val="FF0000"/>
            </a:solidFill>
            <a:prstDash val="solid"/>
            <a:round/>
            <a:headEnd type="none" w="sm" len="sm"/>
            <a:tailEnd type="none" w="sm" len="sm"/>
          </a:ln>
        </p:spPr>
      </p:pic>
      <p:pic>
        <p:nvPicPr>
          <p:cNvPr id="94" name="Google Shape;94;p17"/>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3862250" y="2115280"/>
            <a:ext cx="943659" cy="1218899"/>
          </a:xfrm>
          <a:prstGeom prst="rect">
            <a:avLst/>
          </a:prstGeom>
          <a:noFill/>
          <a:ln w="9525" cap="flat" cmpd="sng">
            <a:solidFill>
              <a:srgbClr val="FF0000"/>
            </a:solidFill>
            <a:prstDash val="solid"/>
            <a:round/>
            <a:headEnd type="none" w="sm" len="sm"/>
            <a:tailEnd type="none" w="sm" len="sm"/>
          </a:ln>
        </p:spPr>
      </p:pic>
      <p:sp>
        <p:nvSpPr>
          <p:cNvPr id="95" name="Google Shape;95;p17"/>
          <p:cNvSpPr txBox="1"/>
          <p:nvPr/>
        </p:nvSpPr>
        <p:spPr>
          <a:xfrm>
            <a:off x="81775" y="4140000"/>
            <a:ext cx="44691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Fable 5 is returning </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US Department of Commerce has lifted the export controls on Claude Fable 5 and restored access on July 1st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Safeguards were made stronger using "classifiers"</a:t>
            </a:r>
            <a:endParaRPr sz="900">
              <a:solidFill>
                <a:schemeClr val="dk1"/>
              </a:solidFill>
              <a:latin typeface="Calibri"/>
              <a:ea typeface="Calibri"/>
              <a:cs typeface="Calibri"/>
              <a:sym typeface="Calibri"/>
            </a:endParaRPr>
          </a:p>
        </p:txBody>
      </p:sp>
      <p:sp>
        <p:nvSpPr>
          <p:cNvPr id="96" name="Google Shape;96;p17"/>
          <p:cNvSpPr txBox="1"/>
          <p:nvPr/>
        </p:nvSpPr>
        <p:spPr>
          <a:xfrm>
            <a:off x="4654025" y="4140012"/>
            <a:ext cx="44061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Fable 5 promotion July 1-7</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 Max, Team, and some Enterprise users could access it at no extra cost within their weekly usage limits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(only up to 50% of your limits)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Outside these promos, Fable 5 pricing is $10/$50 in/out per 1Mtok</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02" name="Google Shape;102;p18"/>
          <p:cNvSpPr txBox="1"/>
          <p:nvPr/>
        </p:nvSpPr>
        <p:spPr>
          <a:xfrm>
            <a:off x="81775" y="459250"/>
            <a:ext cx="44061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Interesting Projects using Fable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https://www.youtube.com/watch?v=lplVBFr0Ndc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Replicate paid software or cloud services as custom, local applications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 Perform a complete teardown and analysis of how you use Claude Code across your previous development sessions to optimize your workflows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Building an "Agentic OS" - a custom web-app wrapper on top of Claude Code to serve as an "Agentic Operating System." to automate your daily or weekly administrative tasks (like sales, finance, or content calendars) into specific clickable skills, automations, dashboards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 Code Review and Deep Debugging - point Fable 5 at an entire directory for a multi-layered review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5. Complex, Long-Horizon Software Development</a:t>
            </a:r>
            <a:endParaRPr sz="1200">
              <a:solidFill>
                <a:schemeClr val="dk1"/>
              </a:solidFill>
              <a:latin typeface="Calibri"/>
              <a:ea typeface="Calibri"/>
              <a:cs typeface="Calibri"/>
              <a:sym typeface="Calibri"/>
            </a:endParaRPr>
          </a:p>
        </p:txBody>
      </p:sp>
      <p:pic>
        <p:nvPicPr>
          <p:cNvPr id="103" name="Google Shape;103;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02450" y="820550"/>
            <a:ext cx="1500025" cy="1536875"/>
          </a:xfrm>
          <a:prstGeom prst="rect">
            <a:avLst/>
          </a:prstGeom>
          <a:noFill/>
          <a:ln w="9525" cap="flat" cmpd="sng">
            <a:solidFill>
              <a:srgbClr val="FF0000"/>
            </a:solidFill>
            <a:prstDash val="solid"/>
            <a:round/>
            <a:headEnd type="none" w="sm" len="sm"/>
            <a:tailEnd type="none" w="sm" len="sm"/>
          </a:ln>
        </p:spPr>
      </p:pic>
      <p:sp>
        <p:nvSpPr>
          <p:cNvPr id="104" name="Google Shape;104;p18"/>
          <p:cNvSpPr txBox="1"/>
          <p:nvPr/>
        </p:nvSpPr>
        <p:spPr>
          <a:xfrm>
            <a:off x="6860713" y="4482550"/>
            <a:ext cx="19503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Gemini Spark on Mac - An agent for desktop</a:t>
            </a:r>
            <a:endParaRPr sz="1200">
              <a:solidFill>
                <a:schemeClr val="dk1"/>
              </a:solidFill>
              <a:latin typeface="Calibri"/>
              <a:ea typeface="Calibri"/>
              <a:cs typeface="Calibri"/>
              <a:sym typeface="Calibri"/>
            </a:endParaRPr>
          </a:p>
        </p:txBody>
      </p:sp>
      <p:pic>
        <p:nvPicPr>
          <p:cNvPr id="105" name="Google Shape;105;p1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605900" y="1271707"/>
            <a:ext cx="2459950" cy="3088800"/>
          </a:xfrm>
          <a:prstGeom prst="rect">
            <a:avLst/>
          </a:prstGeom>
          <a:noFill/>
          <a:ln w="9525" cap="flat" cmpd="sng">
            <a:solidFill>
              <a:srgbClr val="FF0000"/>
            </a:solidFill>
            <a:prstDash val="solid"/>
            <a:round/>
            <a:headEnd type="none" w="sm" len="sm"/>
            <a:tailEnd type="none" w="sm" len="sm"/>
          </a:ln>
        </p:spPr>
      </p:pic>
      <p:sp>
        <p:nvSpPr>
          <p:cNvPr id="106" name="Google Shape;106;p18"/>
          <p:cNvSpPr txBox="1"/>
          <p:nvPr/>
        </p:nvSpPr>
        <p:spPr>
          <a:xfrm>
            <a:off x="277975" y="4094650"/>
            <a:ext cx="23634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Nano Banana 2 Lite - faster/cheaper image generator </a:t>
            </a:r>
            <a:endParaRPr sz="1200">
              <a:solidFill>
                <a:schemeClr val="dk1"/>
              </a:solidFill>
              <a:latin typeface="Calibri"/>
              <a:ea typeface="Calibri"/>
              <a:cs typeface="Calibri"/>
              <a:sym typeface="Calibri"/>
            </a:endParaRPr>
          </a:p>
        </p:txBody>
      </p:sp>
      <p:pic>
        <p:nvPicPr>
          <p:cNvPr id="107" name="Google Shape;107;p1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822500" y="3302350"/>
            <a:ext cx="2736725" cy="182448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9"/>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13" name="Google Shape;113;p19"/>
          <p:cNvSpPr txBox="1"/>
          <p:nvPr/>
        </p:nvSpPr>
        <p:spPr>
          <a:xfrm>
            <a:off x="81775" y="662075"/>
            <a:ext cx="44016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will require IDs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Alibaba distillation attack on antropic</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28M exchanges, 25K fraud accounts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Solution - use IDs, KYC (Know Your Custoemr)</a:t>
            </a:r>
            <a:endParaRPr sz="1200">
              <a:solidFill>
                <a:schemeClr val="dk1"/>
              </a:solidFill>
              <a:latin typeface="Calibri"/>
              <a:ea typeface="Calibri"/>
              <a:cs typeface="Calibri"/>
              <a:sym typeface="Calibri"/>
            </a:endParaRPr>
          </a:p>
        </p:txBody>
      </p:sp>
      <p:sp>
        <p:nvSpPr>
          <p:cNvPr id="114" name="Google Shape;114;p19"/>
          <p:cNvSpPr txBox="1"/>
          <p:nvPr/>
        </p:nvSpPr>
        <p:spPr>
          <a:xfrm>
            <a:off x="81775" y="3534183"/>
            <a:ext cx="4401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Nvidia + Qwen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Qwen3.6‑35B‑A3B-NVFP4</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MoE 4-bit version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Memory  needed: 18-24GB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256K context length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Multimodal - understands text, image, and video</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(but many endpoints only expose text inputs)</a:t>
            </a:r>
            <a:endParaRPr sz="1200">
              <a:solidFill>
                <a:schemeClr val="dk1"/>
              </a:solidFill>
              <a:latin typeface="Calibri"/>
              <a:ea typeface="Calibri"/>
              <a:cs typeface="Calibri"/>
              <a:sym typeface="Calibri"/>
            </a:endParaRPr>
          </a:p>
        </p:txBody>
      </p:sp>
      <p:pic>
        <p:nvPicPr>
          <p:cNvPr id="115" name="Google Shape;115;p1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21525" y="3277280"/>
            <a:ext cx="3286074" cy="1774475"/>
          </a:xfrm>
          <a:prstGeom prst="rect">
            <a:avLst/>
          </a:prstGeom>
          <a:noFill/>
          <a:ln w="9525" cap="flat" cmpd="sng">
            <a:solidFill>
              <a:srgbClr val="FF0000"/>
            </a:solidFill>
            <a:prstDash val="solid"/>
            <a:round/>
            <a:headEnd type="none" w="sm" len="sm"/>
            <a:tailEnd type="none" w="sm" len="sm"/>
          </a:ln>
        </p:spPr>
      </p:pic>
      <p:pic>
        <p:nvPicPr>
          <p:cNvPr id="116" name="Google Shape;116;p19"/>
          <p:cNvPicPr preferRelativeResize="0"/>
          <p:nvPr/>
        </p:nvPicPr>
        <p:blipFill>
          <a:blip r:embed="rId4">
            <a:alphaModFix/>
          </a:blip>
          <a:stretch>
            <a:fillRect/>
          </a:stretch>
        </p:blipFill>
        <p:spPr>
          <a:xfrm>
            <a:off x="4635775" y="152400"/>
            <a:ext cx="2857500" cy="1600200"/>
          </a:xfrm>
          <a:prstGeom prst="rect">
            <a:avLst/>
          </a:prstGeom>
          <a:noFill/>
          <a:ln w="9525" cap="flat" cmpd="sng">
            <a:solidFill>
              <a:srgbClr val="FF0000"/>
            </a:solidFill>
            <a:prstDash val="solid"/>
            <a:round/>
            <a:headEnd type="none" w="sm" len="sm"/>
            <a:tailEnd type="none" w="sm" len="sm"/>
          </a:ln>
        </p:spPr>
      </p:pic>
      <p:sp>
        <p:nvSpPr>
          <p:cNvPr id="117" name="Google Shape;117;p19"/>
          <p:cNvSpPr txBox="1"/>
          <p:nvPr/>
        </p:nvSpPr>
        <p:spPr>
          <a:xfrm>
            <a:off x="81775" y="1657444"/>
            <a:ext cx="44016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Mythos 5 released to 100+ partners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 Government has authorized release of Claude Mythos 5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to  more than 100 “trusted partners” - U.S. companies and institutions, including many Fortune 500 firms and some federal agencies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News outlets (Semafor, Reuters, CNBC, etc.) all describe the recipients only in aggregate terms like “major companies and government agencies,” “cyber defenders,” and “infrastructure providers,” without identifying specific organizations.</a:t>
            </a: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23" name="Google Shape;123;p20"/>
          <p:cNvSpPr txBox="1"/>
          <p:nvPr/>
        </p:nvSpPr>
        <p:spPr>
          <a:xfrm>
            <a:off x="81775" y="507325"/>
            <a:ext cx="4401600" cy="232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MoA - Mixture-of-Agents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https://hermes-agent.nousresearch.com/docs/user-guide/features/mixture-of-agents</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https://github.com/nousresearch/hermes-agent</a:t>
            </a:r>
            <a:r>
              <a:rPr lang="en" sz="900">
                <a:solidFill>
                  <a:schemeClr val="dk1"/>
                </a:solidFill>
                <a:latin typeface="Calibri"/>
                <a:ea typeface="Calibri"/>
                <a:cs typeface="Calibri"/>
                <a:sym typeface="Calibri"/>
              </a:rPr>
              <a:t> - 204K stars</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MoA “preset” defines one or more reference models plus an aggregator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references run first, producing analysis that is passed as private context to the aggregator, which then generates the actual reply and tool calls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select MoA presets like any other model (via `/model`, `/moa`, CLI, dashboard, or desktop app), so they integrate seamlessly with goals, gateway sessions, and profiles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Benchmarks show well-designed MoA presets </a:t>
            </a:r>
            <a:br>
              <a:rPr lang="en" sz="1200" b="1">
                <a:solidFill>
                  <a:srgbClr val="FF0000"/>
                </a:solidFill>
                <a:latin typeface="Calibri"/>
                <a:ea typeface="Calibri"/>
                <a:cs typeface="Calibri"/>
                <a:sym typeface="Calibri"/>
              </a:rPr>
            </a:br>
            <a:r>
              <a:rPr lang="en" sz="1200" b="1">
                <a:solidFill>
                  <a:srgbClr val="FF0000"/>
                </a:solidFill>
                <a:latin typeface="Calibri"/>
                <a:ea typeface="Calibri"/>
                <a:cs typeface="Calibri"/>
                <a:sym typeface="Calibri"/>
              </a:rPr>
              <a:t>can outperform any (single component) model on harder tasks</a:t>
            </a:r>
            <a:endParaRPr sz="1200" b="1">
              <a:solidFill>
                <a:srgbClr val="FF0000"/>
              </a:solidFill>
              <a:latin typeface="Calibri"/>
              <a:ea typeface="Calibri"/>
              <a:cs typeface="Calibri"/>
              <a:sym typeface="Calibri"/>
            </a:endParaRPr>
          </a:p>
        </p:txBody>
      </p:sp>
      <p:pic>
        <p:nvPicPr>
          <p:cNvPr id="124" name="Google Shape;124;p2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839075" y="696430"/>
            <a:ext cx="2559599" cy="438146"/>
          </a:xfrm>
          <a:prstGeom prst="rect">
            <a:avLst/>
          </a:prstGeom>
          <a:noFill/>
          <a:ln w="9525" cap="flat" cmpd="sng">
            <a:solidFill>
              <a:srgbClr val="FF0000"/>
            </a:solidFill>
            <a:prstDash val="solid"/>
            <a:round/>
            <a:headEnd type="none" w="sm" len="sm"/>
            <a:tailEnd type="none" w="sm" len="sm"/>
          </a:ln>
        </p:spPr>
      </p:pic>
      <p:sp>
        <p:nvSpPr>
          <p:cNvPr id="125" name="Google Shape;125;p20"/>
          <p:cNvSpPr txBox="1"/>
          <p:nvPr/>
        </p:nvSpPr>
        <p:spPr>
          <a:xfrm>
            <a:off x="81775" y="2920712"/>
            <a:ext cx="44016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On Hostinger, “Hermes Agent” is a one‑click Docker/VPS application for self‑hosting Nous Research’s Hermes agent, with optional bundled AI and scraping credits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https://www.hostinger.com/applications/hermes-agent/1</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26" name="Google Shape;126;p20"/>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839075" y="1309750"/>
            <a:ext cx="1423651" cy="1350675"/>
          </a:xfrm>
          <a:prstGeom prst="rect">
            <a:avLst/>
          </a:prstGeom>
          <a:noFill/>
          <a:ln>
            <a:noFill/>
          </a:ln>
        </p:spPr>
      </p:pic>
      <p:pic>
        <p:nvPicPr>
          <p:cNvPr id="127" name="Google Shape;127;p20"/>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4839075" y="3024562"/>
            <a:ext cx="1814549" cy="4737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33" name="Google Shape;133;p21"/>
          <p:cNvSpPr txBox="1"/>
          <p:nvPr/>
        </p:nvSpPr>
        <p:spPr>
          <a:xfrm>
            <a:off x="81775" y="548286"/>
            <a:ext cx="44016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 see a </a:t>
            </a:r>
            <a:r>
              <a:rPr lang="en" sz="1200" b="1">
                <a:solidFill>
                  <a:srgbClr val="FF0000"/>
                </a:solidFill>
                <a:latin typeface="Calibri"/>
                <a:ea typeface="Calibri"/>
                <a:cs typeface="Calibri"/>
                <a:sym typeface="Calibri"/>
              </a:rPr>
              <a:t>massive shift from democratized AI to a highly regulated, government-approved ecosystem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U.S. government is now gating access to frontier models like GPT-5.6, creating a widening capability gap between internal lab technology and public tools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Driven by extreme API costs, </a:t>
            </a:r>
            <a:r>
              <a:rPr lang="en" sz="1200" b="1">
                <a:solidFill>
                  <a:srgbClr val="FF0000"/>
                </a:solidFill>
                <a:latin typeface="Calibri"/>
                <a:ea typeface="Calibri"/>
                <a:cs typeface="Calibri"/>
                <a:sym typeface="Calibri"/>
              </a:rPr>
              <a:t>enterprises are shifting to cheaper Chinese open-source models</a:t>
            </a:r>
            <a:r>
              <a:rPr lang="en" sz="1200">
                <a:solidFill>
                  <a:schemeClr val="dk1"/>
                </a:solidFill>
                <a:latin typeface="Calibri"/>
                <a:ea typeface="Calibri"/>
                <a:cs typeface="Calibri"/>
                <a:sym typeface="Calibri"/>
              </a:rPr>
              <a:t> like DeepSeek and GLM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protect profit margins and national security, closed U.S. labs are lobbying for regulations that could stifle open source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Furthermore, the </a:t>
            </a:r>
            <a:r>
              <a:rPr lang="en" sz="1200" b="1">
                <a:solidFill>
                  <a:srgbClr val="3C78D8"/>
                </a:solidFill>
                <a:latin typeface="Calibri"/>
                <a:ea typeface="Calibri"/>
                <a:cs typeface="Calibri"/>
                <a:sym typeface="Calibri"/>
              </a:rPr>
              <a:t>U.S. may label foreign models as "radioactive" security risks due to uninspectable "sleeper circuits," rendering them commercially unusable</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fracturing environment risks crippling startups, driving tech founders out of America, and dividing the industry into a two-tier system controlled by elite institutions.</a:t>
            </a:r>
            <a:endParaRPr sz="1200">
              <a:solidFill>
                <a:schemeClr val="dk1"/>
              </a:solidFill>
              <a:latin typeface="Calibri"/>
              <a:ea typeface="Calibri"/>
              <a:cs typeface="Calibri"/>
              <a:sym typeface="Calibri"/>
            </a:endParaRPr>
          </a:p>
        </p:txBody>
      </p:sp>
      <p:sp>
        <p:nvSpPr>
          <p:cNvPr id="134" name="Google Shape;134;p21"/>
          <p:cNvSpPr txBox="1"/>
          <p:nvPr/>
        </p:nvSpPr>
        <p:spPr>
          <a:xfrm>
            <a:off x="81775" y="3429461"/>
            <a:ext cx="44016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Dark Ages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Two classes:</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1. Government and Big Companies - get best models first</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2. Others - receive models later (if ever)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https://www.youtube.com/watch?v=CTKe2tmdy7s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35" name="Google Shape;135;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90350" y="2909275"/>
            <a:ext cx="1681050" cy="2109100"/>
          </a:xfrm>
          <a:prstGeom prst="rect">
            <a:avLst/>
          </a:prstGeom>
          <a:noFill/>
          <a:ln w="9525" cap="flat" cmpd="sng">
            <a:solidFill>
              <a:srgbClr val="FF0000"/>
            </a:solidFill>
            <a:prstDash val="solid"/>
            <a:round/>
            <a:headEnd type="none" w="sm" len="sm"/>
            <a:tailEnd type="none" w="sm" len="sm"/>
          </a:ln>
        </p:spPr>
      </p:pic>
      <p:pic>
        <p:nvPicPr>
          <p:cNvPr id="136" name="Google Shape;136;p2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35775" y="810000"/>
            <a:ext cx="2921750" cy="19468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2"/>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42" name="Google Shape;142;p22"/>
          <p:cNvSpPr txBox="1"/>
          <p:nvPr/>
        </p:nvSpPr>
        <p:spPr>
          <a:xfrm>
            <a:off x="81775" y="541275"/>
            <a:ext cx="44016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Anthropic’s new "Claude Tag" feature</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Anthropic may end up owning all the knowledge 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Competition is the only defence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https://www.youtube.com/watch?v=IwKuv4LrCVk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Tag - use in Slack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interact with it using natural language, just as you would with a human colleague, allowing it to join threads, reference shared files, and coordinate between different internal tools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Acts as a proactive, persistent team member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Learns about your company team, operations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Matthew Berman warns that your company becomes dependent on a single AI vendor; Claude Tag is like a Trojan Hourse; It is like renting a digital employee from Anthropic</a:t>
            </a:r>
            <a:endParaRPr sz="1200">
              <a:solidFill>
                <a:schemeClr val="dk1"/>
              </a:solidFill>
              <a:latin typeface="Calibri"/>
              <a:ea typeface="Calibri"/>
              <a:cs typeface="Calibri"/>
              <a:sym typeface="Calibri"/>
            </a:endParaRPr>
          </a:p>
        </p:txBody>
      </p:sp>
      <p:sp>
        <p:nvSpPr>
          <p:cNvPr id="143" name="Google Shape;143;p22"/>
          <p:cNvSpPr txBox="1"/>
          <p:nvPr/>
        </p:nvSpPr>
        <p:spPr>
          <a:xfrm>
            <a:off x="81775" y="3107975"/>
            <a:ext cx="44016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"Qwen-AgentWorld" - open-source from Alibaba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Builds a "virtual world" inside the AI to simulate agentic environments before executing real-world tasks, similar to a flight simulator for AI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Terminal, Search, MCP, Software Engineering (SWE), Web Browsing, Operating Systems, and Android mobile apps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Good performance, Practical Application, The model was trained using over 10 million real-world interactions rather than synthetic data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https://www.youtube.com/watch?v=Vb_Czw7x-Ow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44" name="Google Shape;144;p22"/>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901455" y="541275"/>
            <a:ext cx="3804200" cy="1265274"/>
          </a:xfrm>
          <a:prstGeom prst="rect">
            <a:avLst/>
          </a:prstGeom>
          <a:noFill/>
          <a:ln w="9525" cap="flat" cmpd="sng">
            <a:solidFill>
              <a:srgbClr val="FF0000"/>
            </a:solidFill>
            <a:prstDash val="solid"/>
            <a:round/>
            <a:headEnd type="none" w="sm" len="sm"/>
            <a:tailEnd type="none" w="sm" len="sm"/>
          </a:ln>
        </p:spPr>
      </p:pic>
      <p:pic>
        <p:nvPicPr>
          <p:cNvPr id="145" name="Google Shape;145;p22"/>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483375" y="4585125"/>
            <a:ext cx="2293627" cy="388250"/>
          </a:xfrm>
          <a:prstGeom prst="rect">
            <a:avLst/>
          </a:prstGeom>
          <a:noFill/>
          <a:ln w="9525" cap="flat" cmpd="sng">
            <a:solidFill>
              <a:srgbClr val="FF0000"/>
            </a:solidFill>
            <a:prstDash val="solid"/>
            <a:round/>
            <a:headEnd type="none" w="sm" len="sm"/>
            <a:tailEnd type="none" w="sm" len="sm"/>
          </a:ln>
        </p:spPr>
      </p:pic>
      <p:sp>
        <p:nvSpPr>
          <p:cNvPr id="146" name="Google Shape;146;p22"/>
          <p:cNvSpPr txBox="1"/>
          <p:nvPr/>
        </p:nvSpPr>
        <p:spPr>
          <a:xfrm>
            <a:off x="4617064" y="2020404"/>
            <a:ext cx="44016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 Tag - open-source alternative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Works with any AI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Works with Slack , WhatsApp,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Advanced features like generative UI (interactive charts and buttons) and "human-in-the-loop" approval safeguards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https://github.com/CopilotKit/OpenTag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47" name="Google Shape;147;p2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7079175" y="3147200"/>
            <a:ext cx="1939500" cy="9697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7K subscribers, 294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53" name="Google Shape;153;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233650" y="80363"/>
            <a:ext cx="2541900" cy="4982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4"/>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59" name="Google Shape;159;p24"/>
          <p:cNvSpPr txBox="1"/>
          <p:nvPr/>
        </p:nvSpPr>
        <p:spPr>
          <a:xfrm>
            <a:off x="81775" y="541275"/>
            <a:ext cx="44016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"Jalapeno" AI chip for LLM Inference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with Broadcom, initial deployment in late 2026</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https://openai.com/index/openai-broadcom-jalapeno-inference-chip/</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60" name="Google Shape;160;p24"/>
          <p:cNvPicPr preferRelativeResize="0"/>
          <p:nvPr/>
        </p:nvPicPr>
        <p:blipFill>
          <a:blip r:embed="rId4">
            <a:alphaModFix/>
          </a:blip>
          <a:stretch>
            <a:fillRect/>
          </a:stretch>
        </p:blipFill>
        <p:spPr>
          <a:xfrm>
            <a:off x="4556300" y="123700"/>
            <a:ext cx="1914525" cy="2390775"/>
          </a:xfrm>
          <a:prstGeom prst="rect">
            <a:avLst/>
          </a:prstGeom>
          <a:noFill/>
          <a:ln w="9525" cap="flat" cmpd="sng">
            <a:solidFill>
              <a:srgbClr val="FF0000"/>
            </a:solidFill>
            <a:prstDash val="solid"/>
            <a:round/>
            <a:headEnd type="none" w="sm" len="sm"/>
            <a:tailEnd type="none" w="sm" len="sm"/>
          </a:ln>
        </p:spPr>
      </p:pic>
      <p:pic>
        <p:nvPicPr>
          <p:cNvPr id="161" name="Google Shape;161;p24"/>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7216600" y="324975"/>
            <a:ext cx="1757049" cy="728374"/>
          </a:xfrm>
          <a:prstGeom prst="rect">
            <a:avLst/>
          </a:prstGeom>
          <a:noFill/>
          <a:ln w="9525" cap="flat" cmpd="sng">
            <a:solidFill>
              <a:srgbClr val="FF0000"/>
            </a:solidFill>
            <a:prstDash val="solid"/>
            <a:round/>
            <a:headEnd type="none" w="sm" len="sm"/>
            <a:tailEnd type="none" w="sm" len="sm"/>
          </a:ln>
        </p:spPr>
      </p:pic>
      <p:pic>
        <p:nvPicPr>
          <p:cNvPr id="162" name="Google Shape;162;p24"/>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6902825" y="1187825"/>
            <a:ext cx="2151524" cy="1584400"/>
          </a:xfrm>
          <a:prstGeom prst="rect">
            <a:avLst/>
          </a:prstGeom>
          <a:noFill/>
          <a:ln w="9525" cap="flat" cmpd="sng">
            <a:solidFill>
              <a:srgbClr val="FF0000"/>
            </a:solidFill>
            <a:prstDash val="solid"/>
            <a:round/>
            <a:headEnd type="none" w="sm" len="sm"/>
            <a:tailEnd type="none" w="sm" len="sm"/>
          </a:ln>
        </p:spPr>
      </p:pic>
      <p:sp>
        <p:nvSpPr>
          <p:cNvPr id="163" name="Google Shape;163;p24"/>
          <p:cNvSpPr txBox="1"/>
          <p:nvPr/>
        </p:nvSpPr>
        <p:spPr>
          <a:xfrm>
            <a:off x="81775" y="2845275"/>
            <a:ext cx="41661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Gemini‑SQL2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 text‑to‑SQL system built on Gemini 3.1 Pro </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Translates natural‑language questions into executable, schema‑aware SQL queries for relational databases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Gemini‑SQL2 uses multi‑step reasoning over database schemas and iterative candidate generation and verification, focusing on execution correctness rather than just syntactic validity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 the BIRD benchmark, which stresses cross‑domain, noisy, and knowledge‑intensive text‑to‑SQL tasks, it achieves 80.04% execution accuracy, currently topping the single‑model leaderboard</a:t>
            </a:r>
            <a:endParaRPr sz="900">
              <a:solidFill>
                <a:schemeClr val="dk1"/>
              </a:solidFill>
              <a:latin typeface="Calibri"/>
              <a:ea typeface="Calibri"/>
              <a:cs typeface="Calibri"/>
              <a:sym typeface="Calibri"/>
            </a:endParaRPr>
          </a:p>
        </p:txBody>
      </p:sp>
      <p:pic>
        <p:nvPicPr>
          <p:cNvPr id="164" name="Google Shape;164;p24"/>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368763" y="2965500"/>
            <a:ext cx="2289600" cy="18097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p:nvPr/>
        </p:nvSpPr>
        <p:spPr>
          <a:xfrm>
            <a:off x="81775" y="67675"/>
            <a:ext cx="3724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Ornith‑1.0 coding models</a:t>
            </a:r>
            <a:endParaRPr sz="2000" b="1">
              <a:solidFill>
                <a:schemeClr val="dk1"/>
              </a:solidFill>
              <a:latin typeface="Calibri"/>
              <a:ea typeface="Calibri"/>
              <a:cs typeface="Calibri"/>
              <a:sym typeface="Calibri"/>
            </a:endParaRPr>
          </a:p>
        </p:txBody>
      </p:sp>
      <p:sp>
        <p:nvSpPr>
          <p:cNvPr id="170" name="Google Shape;170;p25"/>
          <p:cNvSpPr txBox="1"/>
          <p:nvPr/>
        </p:nvSpPr>
        <p:spPr>
          <a:xfrm>
            <a:off x="81775" y="418001"/>
            <a:ext cx="4401600" cy="449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Ornith‑1.0 coding models with their own harness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Ornith is an open-source family of agentic coding models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trained with RL to co-learn both task scaffolds (“harnesses”) and code solutions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At the core of Ornith-1.0 is a self-improving training framework that jointly learns to solve tasks and to construct the scaffolds that guide those solutions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Rather than relying on a fixed, human-designed harness shared across a task category, Ornith-1.0 treats the scaffold as a learnable object that co-evolves with the policy.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You still run Ornith inside some outer environment, but much of the traditional, bespoke agent wiring is effectively absorbed into the model’s weights</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https://huggingface.co/collections/deepreinforce-ai/ornith-10</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Ornith-1.0 ships in 9B, 31B, 35B-MoE, and 397B-MoE sizes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under MIT, built on Gemma 4 and Qwen 3.5</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ollama run hf.co/deepreinforce-ai/Ornith-1.0-9B-GGUF</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https://deep-reinforce.com/ornith_1_0.html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https://www.youtube.com/watch?v=UDzw3qzmtvo</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DeepReinforce is a privately held, early-stage startup founded around 2024, 4 founders, Santa Clara, CA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Led by Jiwei Li; few dozen employees; ~$100M in funding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Note: DeepReinforce’s flagship product is </a:t>
            </a:r>
            <a:r>
              <a:rPr lang="en" sz="1200" b="1">
                <a:solidFill>
                  <a:srgbClr val="FF0000"/>
                </a:solidFill>
                <a:latin typeface="Calibri"/>
                <a:ea typeface="Calibri"/>
                <a:cs typeface="Calibri"/>
                <a:sym typeface="Calibri"/>
              </a:rPr>
              <a:t>IterX code optimization </a:t>
            </a:r>
            <a:r>
              <a:rPr lang="en" sz="1200">
                <a:solidFill>
                  <a:schemeClr val="dk1"/>
                </a:solidFill>
                <a:latin typeface="Calibri"/>
                <a:ea typeface="Calibri"/>
                <a:cs typeface="Calibri"/>
                <a:sym typeface="Calibri"/>
              </a:rPr>
              <a:t>platform that combines LLM reasoning with reinforcement-learning style search over code edits</a:t>
            </a:r>
            <a:endParaRPr sz="1200">
              <a:solidFill>
                <a:schemeClr val="dk1"/>
              </a:solidFill>
              <a:latin typeface="Calibri"/>
              <a:ea typeface="Calibri"/>
              <a:cs typeface="Calibri"/>
              <a:sym typeface="Calibri"/>
            </a:endParaRPr>
          </a:p>
        </p:txBody>
      </p:sp>
      <p:pic>
        <p:nvPicPr>
          <p:cNvPr id="171" name="Google Shape;171;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538088" y="126488"/>
            <a:ext cx="1444476" cy="1444476"/>
          </a:xfrm>
          <a:prstGeom prst="rect">
            <a:avLst/>
          </a:prstGeom>
          <a:noFill/>
          <a:ln w="9525" cap="flat" cmpd="sng">
            <a:solidFill>
              <a:srgbClr val="FF0000"/>
            </a:solidFill>
            <a:prstDash val="solid"/>
            <a:round/>
            <a:headEnd type="none" w="sm" len="sm"/>
            <a:tailEnd type="none" w="sm" len="sm"/>
          </a:ln>
        </p:spPr>
      </p:pic>
      <p:sp>
        <p:nvSpPr>
          <p:cNvPr id="172" name="Google Shape;172;p25"/>
          <p:cNvSpPr txBox="1"/>
          <p:nvPr/>
        </p:nvSpPr>
        <p:spPr>
          <a:xfrm>
            <a:off x="7818875" y="1629775"/>
            <a:ext cx="8829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Jiwei Li</a:t>
            </a:r>
            <a:endParaRPr sz="12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en" sz="900" u="sng">
                <a:solidFill>
                  <a:schemeClr val="hlink"/>
                </a:solidFill>
                <a:latin typeface="Calibri"/>
                <a:ea typeface="Calibri"/>
                <a:cs typeface="Calibri"/>
                <a:sym typeface="Calibri"/>
                <a:hlinkClick r:id="rId7"/>
              </a:rPr>
              <a:t>https://www.linkedin.com/in/jiwei-li-5293202a3/</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73" name="Google Shape;173;p25"/>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560800" y="2604050"/>
            <a:ext cx="4509225" cy="2450151"/>
          </a:xfrm>
          <a:prstGeom prst="rect">
            <a:avLst/>
          </a:prstGeom>
          <a:noFill/>
          <a:ln w="9525" cap="flat" cmpd="sng">
            <a:solidFill>
              <a:srgbClr val="FF0000"/>
            </a:solidFill>
            <a:prstDash val="solid"/>
            <a:round/>
            <a:headEnd type="none" w="sm" len="sm"/>
            <a:tailEnd type="none" w="sm" len="sm"/>
          </a:ln>
        </p:spPr>
      </p:pic>
      <p:sp>
        <p:nvSpPr>
          <p:cNvPr id="174" name="Google Shape;174;p25"/>
          <p:cNvSpPr txBox="1"/>
          <p:nvPr/>
        </p:nvSpPr>
        <p:spPr>
          <a:xfrm>
            <a:off x="4803413" y="2003013"/>
            <a:ext cx="24249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“The name comes from the ancient Greek word for bird.”</a:t>
            </a:r>
            <a:endParaRPr sz="900">
              <a:solidFill>
                <a:schemeClr val="dk1"/>
              </a:solidFill>
              <a:latin typeface="Calibri"/>
              <a:ea typeface="Calibri"/>
              <a:cs typeface="Calibri"/>
              <a:sym typeface="Calibri"/>
            </a:endParaRPr>
          </a:p>
        </p:txBody>
      </p:sp>
      <p:pic>
        <p:nvPicPr>
          <p:cNvPr id="175" name="Google Shape;175;p25"/>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538191" y="115196"/>
            <a:ext cx="2955325" cy="167468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6"/>
          <p:cNvSpPr txBox="1"/>
          <p:nvPr/>
        </p:nvSpPr>
        <p:spPr>
          <a:xfrm>
            <a:off x="81775" y="0"/>
            <a:ext cx="2427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DeepSeek's DSpark</a:t>
            </a:r>
            <a:endParaRPr sz="2000" b="1">
              <a:solidFill>
                <a:schemeClr val="dk1"/>
              </a:solidFill>
              <a:latin typeface="Calibri"/>
              <a:ea typeface="Calibri"/>
              <a:cs typeface="Calibri"/>
              <a:sym typeface="Calibri"/>
            </a:endParaRPr>
          </a:p>
        </p:txBody>
      </p:sp>
      <p:sp>
        <p:nvSpPr>
          <p:cNvPr id="181" name="Google Shape;181;p26"/>
          <p:cNvSpPr txBox="1"/>
          <p:nvPr/>
        </p:nvSpPr>
        <p:spPr>
          <a:xfrm>
            <a:off x="81775" y="394075"/>
            <a:ext cx="4401600" cy="283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DeepSeek's DSpark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Open-source tool, accelerates LLMs by 50% to 400%</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Uses speculative decoding</a:t>
            </a:r>
            <a:r>
              <a:rPr lang="en" sz="1200">
                <a:solidFill>
                  <a:schemeClr val="dk1"/>
                </a:solidFill>
                <a:latin typeface="Calibri"/>
                <a:ea typeface="Calibri"/>
                <a:cs typeface="Calibri"/>
                <a:sym typeface="Calibri"/>
              </a:rPr>
              <a:t>, where a small, fast draft model predicts a block of tokens all at once, and a larger target model verifies them in a single pass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DSpark improves on older methods by adding a lightweight serial head to prevent "suffix decay," ensuring guessed tokens connect logically to increase acceptance rates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also uses a confidence head to skip verifying low-probability tokens when servers are heavily loaded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Already used in production for DeepSeek-V4, it delivers tokens up to 85% faster </a:t>
            </a:r>
            <a:r>
              <a:rPr lang="en" sz="1200">
                <a:solidFill>
                  <a:schemeClr val="dk1"/>
                </a:solidFill>
                <a:latin typeface="Calibri"/>
                <a:ea typeface="Calibri"/>
                <a:cs typeface="Calibri"/>
                <a:sym typeface="Calibri"/>
              </a:rPr>
              <a:t>and </a:t>
            </a:r>
            <a:r>
              <a:rPr lang="en" sz="1200" b="1">
                <a:solidFill>
                  <a:srgbClr val="3C78D8"/>
                </a:solidFill>
                <a:latin typeface="Calibri"/>
                <a:ea typeface="Calibri"/>
                <a:cs typeface="Calibri"/>
                <a:sym typeface="Calibri"/>
              </a:rPr>
              <a:t>can be attached to other open-source models like Qwen and Gemma</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https://github.com/deepseek-ai/DeepSpec</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https://github.com/deepseek-ai/DeepSpec/blob/main/DSpark_paper.pdf</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https://huggingface.co/deepseek-ai/DeepSeek-V4-Pro-DSpark</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82" name="Google Shape;182;p2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13175" y="502850"/>
            <a:ext cx="4355826" cy="370870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7"/>
          <p:cNvSpPr txBox="1"/>
          <p:nvPr/>
        </p:nvSpPr>
        <p:spPr>
          <a:xfrm>
            <a:off x="81775" y="0"/>
            <a:ext cx="4401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Open Knowledge Format - OKF</a:t>
            </a:r>
            <a:endParaRPr sz="2000" b="1">
              <a:solidFill>
                <a:schemeClr val="dk1"/>
              </a:solidFill>
              <a:latin typeface="Calibri"/>
              <a:ea typeface="Calibri"/>
              <a:cs typeface="Calibri"/>
              <a:sym typeface="Calibri"/>
            </a:endParaRPr>
          </a:p>
        </p:txBody>
      </p:sp>
      <p:sp>
        <p:nvSpPr>
          <p:cNvPr id="188" name="Google Shape;188;p27"/>
          <p:cNvSpPr txBox="1"/>
          <p:nvPr/>
        </p:nvSpPr>
        <p:spPr>
          <a:xfrm>
            <a:off x="81775" y="394075"/>
            <a:ext cx="4401600" cy="3989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Google’s Open Knowledge Format (OKF)</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directory hierarchy of Markdown files with YAML front‑matter, designed so AI agents can read and reason over it directly</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https://cloud.google.com/blog/products/data-analytics/how-the-open-knowledge-format-can-improve-data-sharing</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OKF file has structure similar to skills - YAML front‑matter at the top followed by a Markdown body</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https://github.com/GoogleCloudPlatform/knowledge-catalog/blob/main/okf/SPEC.md</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 (simplified): </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type: Playbook</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title: Refund Policy</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description: How we handle customer refund requests.</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tags: [support, policy]</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timestamp: 2026-06-01T10:00:00Z</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resource: https://internal.example.com/docs/refunds</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Refund Policy</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We refund any order within 30 days of purchase…</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Google’s Knowledge Catalog tools ingest OKF bundles and expose them as a searchable catalog, but the format itself is platform‑agnostic: you can store the files in Git, object storage, or any filesystem</a:t>
            </a:r>
            <a:endParaRPr sz="1200">
              <a:solidFill>
                <a:schemeClr val="dk1"/>
              </a:solidFill>
              <a:latin typeface="Calibri"/>
              <a:ea typeface="Calibri"/>
              <a:cs typeface="Calibri"/>
              <a:sym typeface="Calibri"/>
            </a:endParaRPr>
          </a:p>
        </p:txBody>
      </p:sp>
      <p:pic>
        <p:nvPicPr>
          <p:cNvPr id="189" name="Google Shape;189;p2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14650" y="394075"/>
            <a:ext cx="4013851" cy="14483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8"/>
          <p:cNvSpPr txBox="1"/>
          <p:nvPr/>
        </p:nvSpPr>
        <p:spPr>
          <a:xfrm>
            <a:off x="81775" y="0"/>
            <a:ext cx="1574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95" name="Google Shape;195;p28"/>
          <p:cNvSpPr txBox="1"/>
          <p:nvPr/>
        </p:nvSpPr>
        <p:spPr>
          <a:xfrm>
            <a:off x="81775" y="394075"/>
            <a:ext cx="43227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"Six Power Phrases" for Claude Code - by Austin Marchese</a:t>
            </a:r>
            <a:endParaRPr sz="1200" b="1">
              <a:solidFill>
                <a:srgbClr val="FF0000"/>
              </a:solidFill>
              <a:latin typeface="Calibri"/>
              <a:ea typeface="Calibri"/>
              <a:cs typeface="Calibri"/>
              <a:sym typeface="Calibri"/>
            </a:endParaRPr>
          </a:p>
          <a:p>
            <a:pPr marL="5715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1. "Launch sub agents" </a:t>
            </a:r>
            <a:endParaRPr sz="1200">
              <a:solidFill>
                <a:srgbClr val="3C78D8"/>
              </a:solidFill>
              <a:latin typeface="Calibri"/>
              <a:ea typeface="Calibri"/>
              <a:cs typeface="Calibri"/>
              <a:sym typeface="Calibri"/>
            </a:endParaRPr>
          </a:p>
          <a:p>
            <a:pPr marL="5715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2. "Write me an implementation spec"</a:t>
            </a:r>
            <a:endParaRPr sz="1200">
              <a:solidFill>
                <a:srgbClr val="3C78D8"/>
              </a:solidFill>
              <a:latin typeface="Calibri"/>
              <a:ea typeface="Calibri"/>
              <a:cs typeface="Calibri"/>
              <a:sym typeface="Calibri"/>
            </a:endParaRPr>
          </a:p>
          <a:p>
            <a:pPr marL="5715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3. "Interview me"</a:t>
            </a:r>
            <a:endParaRPr sz="1200">
              <a:solidFill>
                <a:srgbClr val="3C78D8"/>
              </a:solidFill>
              <a:latin typeface="Calibri"/>
              <a:ea typeface="Calibri"/>
              <a:cs typeface="Calibri"/>
              <a:sym typeface="Calibri"/>
            </a:endParaRPr>
          </a:p>
          <a:p>
            <a:pPr marL="5715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4. "Verify before you build"</a:t>
            </a:r>
            <a:endParaRPr sz="1200">
              <a:solidFill>
                <a:srgbClr val="3C78D8"/>
              </a:solidFill>
              <a:latin typeface="Calibri"/>
              <a:ea typeface="Calibri"/>
              <a:cs typeface="Calibri"/>
              <a:sym typeface="Calibri"/>
            </a:endParaRPr>
          </a:p>
          <a:p>
            <a:pPr marL="5715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5. "Based on this conversation, build me a skill"</a:t>
            </a:r>
            <a:endParaRPr sz="1200">
              <a:solidFill>
                <a:srgbClr val="3C78D8"/>
              </a:solidFill>
              <a:latin typeface="Calibri"/>
              <a:ea typeface="Calibri"/>
              <a:cs typeface="Calibri"/>
              <a:sym typeface="Calibri"/>
            </a:endParaRPr>
          </a:p>
          <a:p>
            <a:pPr marL="5715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6. "Automate this"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most common mistake is failing to provide enough context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or failing to create a plan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https://www.youtube.com/watch?v=TP73qyFWDcY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96" name="Google Shape;196;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484202" y="224860"/>
            <a:ext cx="1574100" cy="1274280"/>
          </a:xfrm>
          <a:prstGeom prst="rect">
            <a:avLst/>
          </a:prstGeom>
          <a:noFill/>
          <a:ln w="9525" cap="flat" cmpd="sng">
            <a:solidFill>
              <a:srgbClr val="FF0000"/>
            </a:solidFill>
            <a:prstDash val="solid"/>
            <a:round/>
            <a:headEnd type="none" w="sm" len="sm"/>
            <a:tailEnd type="none" w="sm" len="sm"/>
          </a:ln>
        </p:spPr>
      </p:pic>
      <p:sp>
        <p:nvSpPr>
          <p:cNvPr id="197" name="Google Shape;197;p28"/>
          <p:cNvSpPr txBox="1"/>
          <p:nvPr/>
        </p:nvSpPr>
        <p:spPr>
          <a:xfrm>
            <a:off x="4519452" y="1525798"/>
            <a:ext cx="15036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Austin Marchese</a:t>
            </a:r>
            <a:endParaRPr sz="1200">
              <a:solidFill>
                <a:schemeClr val="dk1"/>
              </a:solidFill>
              <a:latin typeface="Calibri"/>
              <a:ea typeface="Calibri"/>
              <a:cs typeface="Calibri"/>
              <a:sym typeface="Calibri"/>
            </a:endParaRPr>
          </a:p>
        </p:txBody>
      </p:sp>
      <p:sp>
        <p:nvSpPr>
          <p:cNvPr id="198" name="Google Shape;198;p28"/>
          <p:cNvSpPr txBox="1"/>
          <p:nvPr/>
        </p:nvSpPr>
        <p:spPr>
          <a:xfrm>
            <a:off x="4721950" y="2127524"/>
            <a:ext cx="43227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Ponytail prevents "verbose" behavior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Opus 4.8 gets 71% faster, 71% fewer lines of code, and a 53% reduction in costs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Ponytail is open-source (MIT), low-risk, recommended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It is a plugin for AI coding agents. It provides rules (a strict decision ladder, “lazy senior dev” mode) so the agent writes only necessary code, avoiding verbose, over‑engineered outputs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https://www.youtube.com/watch?v=aTPTUYC44ds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https://github.com/DietrichGebert/ponytail</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99" name="Google Shape;199;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761560" y="2327698"/>
            <a:ext cx="925150" cy="1057900"/>
          </a:xfrm>
          <a:prstGeom prst="rect">
            <a:avLst/>
          </a:prstGeom>
          <a:noFill/>
          <a:ln w="9525" cap="flat" cmpd="sng">
            <a:solidFill>
              <a:srgbClr val="FF0000"/>
            </a:solidFill>
            <a:prstDash val="solid"/>
            <a:round/>
            <a:headEnd type="none" w="sm" len="sm"/>
            <a:tailEnd type="none" w="sm" len="sm"/>
          </a:ln>
        </p:spPr>
      </p:pic>
      <p:sp>
        <p:nvSpPr>
          <p:cNvPr id="200" name="Google Shape;200;p28"/>
          <p:cNvSpPr txBox="1"/>
          <p:nvPr/>
        </p:nvSpPr>
        <p:spPr>
          <a:xfrm>
            <a:off x="81775" y="3453799"/>
            <a:ext cx="4322700" cy="158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Pomelli - AI marketing agent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Helps small and medium‑sized businesses create brand content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analyzes your website or uploaded materials to build a “Business DNA” profile capturing tone, colors, fonts, and imagery style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Then Pomelli generates campaign ideas, social posts, ads, and simple websites, plus a brand book with consistent visual guidelines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https://blog.google/innovation-and-ai/models-and-research/google-labs/pomelli-agentic-capabilities/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01" name="Google Shape;201;p28"/>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484200" y="3984400"/>
            <a:ext cx="2015040" cy="10579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9"/>
          <p:cNvSpPr txBox="1"/>
          <p:nvPr/>
        </p:nvSpPr>
        <p:spPr>
          <a:xfrm>
            <a:off x="81775" y="0"/>
            <a:ext cx="1574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07" name="Google Shape;207;p29"/>
          <p:cNvSpPr txBox="1"/>
          <p:nvPr/>
        </p:nvSpPr>
        <p:spPr>
          <a:xfrm>
            <a:off x="81775" y="339777"/>
            <a:ext cx="44451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Agent OS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self-hosted, always-on AI “operating system”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built around the open-source Hermes Agent (MIT License)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 autonomous agent with persistent memory and self-created skills that “grow with you” across sessions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Multiple frontends like CLI, Telegram, Slack, Discord, WhatsApp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Model-agnostic - Claude, GPT, DeepSeek, OpenRouter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Supports tools via MCP and APIs for workflow automation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Platforms - Linux, MacOS, WSL2, and even Android via Termux</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https://hermes-agent.org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Hermes Jarvis is a voice-driven “Jarvis-style” Agent OS setup built on top of Hermes Agent. You can speak to it</a:t>
            </a:r>
            <a:endParaRPr sz="1200">
              <a:solidFill>
                <a:schemeClr val="dk1"/>
              </a:solidFill>
              <a:latin typeface="Calibri"/>
              <a:ea typeface="Calibri"/>
              <a:cs typeface="Calibri"/>
              <a:sym typeface="Calibri"/>
            </a:endParaRPr>
          </a:p>
        </p:txBody>
      </p:sp>
      <p:sp>
        <p:nvSpPr>
          <p:cNvPr id="208" name="Google Shape;208;p29"/>
          <p:cNvSpPr txBox="1"/>
          <p:nvPr/>
        </p:nvSpPr>
        <p:spPr>
          <a:xfrm>
            <a:off x="81775" y="2895953"/>
            <a:ext cx="4445100" cy="163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GPT Cyber - OpenAI models fine-tuned for cybersecurity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Built on top of fGPT‑5.4 and GPT‑5.5</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Vulnerability discovery, malware analysis, secure code review, and incident response automation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Strong at reasoning on binaries, exploits, and defensive workflows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Models available only to OpenAI’s Trusted vetted defenders, enterprises, and institutions such as cybersecurity vendors and the EU AI Office</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https://openai.com/index/scaling-trusted-access-for-cyber-defense/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09" name="Google Shape;209;p29"/>
          <p:cNvPicPr preferRelativeResize="0"/>
          <p:nvPr/>
        </p:nvPicPr>
        <p:blipFill>
          <a:blip r:embed="rId5">
            <a:alphaModFix/>
          </a:blip>
          <a:stretch>
            <a:fillRect/>
          </a:stretch>
        </p:blipFill>
        <p:spPr>
          <a:xfrm>
            <a:off x="4666450" y="781000"/>
            <a:ext cx="3381375" cy="1352550"/>
          </a:xfrm>
          <a:prstGeom prst="rect">
            <a:avLst/>
          </a:prstGeom>
          <a:noFill/>
          <a:ln w="9525" cap="flat" cmpd="sng">
            <a:solidFill>
              <a:srgbClr val="FF0000"/>
            </a:solidFill>
            <a:prstDash val="solid"/>
            <a:round/>
            <a:headEnd type="none" w="sm" len="sm"/>
            <a:tailEnd type="none" w="sm" len="sm"/>
          </a:ln>
        </p:spPr>
      </p:pic>
      <p:pic>
        <p:nvPicPr>
          <p:cNvPr id="210" name="Google Shape;210;p29"/>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666450" y="3037025"/>
            <a:ext cx="1673050" cy="1352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0"/>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LangChain Is Dying</a:t>
            </a:r>
            <a:endParaRPr sz="2000" b="1">
              <a:solidFill>
                <a:schemeClr val="dk1"/>
              </a:solidFill>
              <a:latin typeface="Calibri"/>
              <a:ea typeface="Calibri"/>
              <a:cs typeface="Calibri"/>
              <a:sym typeface="Calibri"/>
            </a:endParaRPr>
          </a:p>
        </p:txBody>
      </p:sp>
      <p:sp>
        <p:nvSpPr>
          <p:cNvPr id="216" name="Google Shape;216;p30"/>
          <p:cNvSpPr txBox="1"/>
          <p:nvPr/>
        </p:nvSpPr>
        <p:spPr>
          <a:xfrm>
            <a:off x="81775" y="495300"/>
            <a:ext cx="44826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LangChain Is Dying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https://www.youtube.com/watch?v=DnS-lA7SC0M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Current shift from heavy AI agent frameworks like LangChain to a lightweight "micro-agent" architecture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Heavy frameworks introduce complex abstractions, increase token costs, and obscure prompts, making debugging exceptionally difficult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contrast, micro-agents function like microservices: they are small, single-purpose, and operate on a simple model, few tools, and a tight loop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Emerging minimalist tools like Pydantic AI and Hugging Face's Small Agents provide type safety and direct Python execution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While large frameworks remain useful for highly complex enterprise state management, the current movement emphasizes owning your prompts and context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core takeaway is to always use the smallest, simplest tool that successfully completes the job</a:t>
            </a:r>
            <a:endParaRPr sz="1200" b="1">
              <a:solidFill>
                <a:srgbClr val="FF0000"/>
              </a:solidFill>
              <a:latin typeface="Calibri"/>
              <a:ea typeface="Calibri"/>
              <a:cs typeface="Calibri"/>
              <a:sym typeface="Calibri"/>
            </a:endParaRPr>
          </a:p>
        </p:txBody>
      </p:sp>
      <p:sp>
        <p:nvSpPr>
          <p:cNvPr id="217" name="Google Shape;217;p30"/>
          <p:cNvSpPr txBox="1"/>
          <p:nvPr/>
        </p:nvSpPr>
        <p:spPr>
          <a:xfrm>
            <a:off x="81775" y="3681050"/>
            <a:ext cx="44826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a:solidFill>
                  <a:schemeClr val="dk1"/>
                </a:solidFill>
                <a:latin typeface="Calibri"/>
                <a:ea typeface="Calibri"/>
                <a:cs typeface="Calibri"/>
                <a:sym typeface="Calibri"/>
              </a:rPr>
              <a:t>"What you got was </a:t>
            </a:r>
            <a:r>
              <a:rPr lang="en" sz="1200" b="1">
                <a:solidFill>
                  <a:srgbClr val="FF0000"/>
                </a:solidFill>
                <a:latin typeface="Calibri"/>
                <a:ea typeface="Calibri"/>
                <a:cs typeface="Calibri"/>
                <a:sym typeface="Calibri"/>
              </a:rPr>
              <a:t>an agent inside an executor inside a chain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3C78D8"/>
                </a:solidFill>
                <a:latin typeface="Calibri"/>
                <a:ea typeface="Calibri"/>
                <a:cs typeface="Calibri"/>
                <a:sym typeface="Calibri"/>
              </a:rPr>
              <a:t>your real prompt buried eight layers down</a:t>
            </a:r>
            <a:r>
              <a:rPr lang="en" sz="1200">
                <a:solidFill>
                  <a:schemeClr val="dk1"/>
                </a:solidFill>
                <a:latin typeface="Calibri"/>
                <a:ea typeface="Calibri"/>
                <a:cs typeface="Calibri"/>
                <a:sym typeface="Calibri"/>
              </a:rPr>
              <a:t> under code you never wrote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solidFill>
                  <a:schemeClr val="dk1"/>
                </a:solidFill>
                <a:latin typeface="Calibri"/>
                <a:ea typeface="Calibri"/>
                <a:cs typeface="Calibri"/>
                <a:sym typeface="Calibri"/>
              </a:rPr>
              <a:t>So developers are walking away...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abstractions are over-complicated, the docs never match.</a:t>
            </a:r>
            <a:r>
              <a:rPr lang="en" sz="1200">
                <a:solidFill>
                  <a:schemeClr val="dk1"/>
                </a:solidFill>
                <a:latin typeface="Calibri"/>
                <a:ea typeface="Calibri"/>
                <a:cs typeface="Calibri"/>
                <a:sym typeface="Calibri"/>
              </a:rPr>
              <a:t>"</a:t>
            </a:r>
            <a:endParaRPr sz="1200" b="1">
              <a:solidFill>
                <a:srgbClr val="FF0000"/>
              </a:solidFill>
              <a:latin typeface="Calibri"/>
              <a:ea typeface="Calibri"/>
              <a:cs typeface="Calibri"/>
              <a:sym typeface="Calibri"/>
            </a:endParaRPr>
          </a:p>
        </p:txBody>
      </p:sp>
      <p:sp>
        <p:nvSpPr>
          <p:cNvPr id="218" name="Google Shape;218;p30"/>
          <p:cNvSpPr txBox="1"/>
          <p:nvPr/>
        </p:nvSpPr>
        <p:spPr>
          <a:xfrm>
            <a:off x="4716775" y="3311600"/>
            <a:ext cx="42747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bug isn't in your 50 lines, it's somewhere in the framework's 50,000</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solidFill>
                  <a:schemeClr val="dk1"/>
                </a:solidFill>
                <a:latin typeface="Calibri"/>
                <a:ea typeface="Calibri"/>
                <a:cs typeface="Calibri"/>
                <a:sym typeface="Calibri"/>
              </a:rPr>
              <a:t>so you end up stepping through abstractions you didn't write in a stack trace that's mostly somebody else's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solidFill>
                  <a:schemeClr val="dk1"/>
                </a:solidFill>
                <a:latin typeface="Calibri"/>
                <a:ea typeface="Calibri"/>
                <a:cs typeface="Calibri"/>
                <a:sym typeface="Calibri"/>
              </a:rPr>
              <a:t>And the ground keeps moving under you.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solidFill>
                  <a:schemeClr val="dk1"/>
                </a:solidFill>
                <a:latin typeface="Calibri"/>
                <a:ea typeface="Calibri"/>
                <a:cs typeface="Calibri"/>
                <a:sym typeface="Calibri"/>
              </a:rPr>
              <a:t>LangChain rocketed past a 100,000 GitHub stars and </a:t>
            </a:r>
            <a:r>
              <a:rPr lang="en" sz="1200" b="1">
                <a:solidFill>
                  <a:srgbClr val="FF0000"/>
                </a:solidFill>
                <a:latin typeface="Calibri"/>
                <a:ea typeface="Calibri"/>
                <a:cs typeface="Calibri"/>
                <a:sym typeface="Calibri"/>
              </a:rPr>
              <a:t>became just as famous for breaking changes between versions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solidFill>
                  <a:schemeClr val="dk1"/>
                </a:solidFill>
                <a:latin typeface="Calibri"/>
                <a:ea typeface="Calibri"/>
                <a:cs typeface="Calibri"/>
                <a:sym typeface="Calibri"/>
              </a:rPr>
              <a:t>The interface you learned last quarter is deprecated...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popularity was never the same thing as stability.</a:t>
            </a:r>
            <a:r>
              <a:rPr lang="en" sz="1200">
                <a:solidFill>
                  <a:schemeClr val="dk1"/>
                </a:solidFill>
                <a:latin typeface="Calibri"/>
                <a:ea typeface="Calibri"/>
                <a:cs typeface="Calibri"/>
                <a:sym typeface="Calibri"/>
              </a:rPr>
              <a:t>"</a:t>
            </a:r>
            <a:endParaRPr sz="1200" b="1">
              <a:solidFill>
                <a:srgbClr val="FF0000"/>
              </a:solidFill>
              <a:latin typeface="Calibri"/>
              <a:ea typeface="Calibri"/>
              <a:cs typeface="Calibri"/>
              <a:sym typeface="Calibri"/>
            </a:endParaRPr>
          </a:p>
        </p:txBody>
      </p:sp>
      <p:pic>
        <p:nvPicPr>
          <p:cNvPr id="219" name="Google Shape;219;p3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16775" y="152400"/>
            <a:ext cx="4274825" cy="300362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1"/>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25" name="Google Shape;225;p31"/>
          <p:cNvSpPr txBox="1"/>
          <p:nvPr/>
        </p:nvSpPr>
        <p:spPr>
          <a:xfrm>
            <a:off x="81775" y="495300"/>
            <a:ext cx="44826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LangChain Deep Agents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Open-source (MIT) agent harness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Includes plumbing like file systems, context management, sub-agents, planning, human gating, and tools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Developers start with a complete, functioning terminal agent and trim away what they don't need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Built on LangGraph, Deep Agents code is model-agnostic. It can be pointed at frontier APIs, open-weight cloud models, or fully local models via Ollama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While Claude Code offers tighter integration and polish for Claude, Deep Agents provides the ultimate flexibility and sandboxing necessary for custom, multi-user AI engineering.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https://www.youtube.com/watch?v=x6WyeI5yO9E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26" name="Google Shape;226;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16775" y="801113"/>
            <a:ext cx="3214000" cy="1807875"/>
          </a:xfrm>
          <a:prstGeom prst="rect">
            <a:avLst/>
          </a:prstGeom>
          <a:noFill/>
          <a:ln w="9525" cap="flat" cmpd="sng">
            <a:solidFill>
              <a:srgbClr val="FF0000"/>
            </a:solidFill>
            <a:prstDash val="solid"/>
            <a:round/>
            <a:headEnd type="none" w="sm" len="sm"/>
            <a:tailEnd type="none" w="sm" len="sm"/>
          </a:ln>
        </p:spPr>
      </p:pic>
      <p:sp>
        <p:nvSpPr>
          <p:cNvPr id="227" name="Google Shape;227;p31"/>
          <p:cNvSpPr txBox="1"/>
          <p:nvPr/>
        </p:nvSpPr>
        <p:spPr>
          <a:xfrm>
            <a:off x="100825" y="3393281"/>
            <a:ext cx="37824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Manolo Remiddi tests models for deep thinking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GLM 5.2 wins,  Qwen3.6-27B is close second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GPT-5.5 performed poorly because it was too agreeable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https://www.youtube.com/watch?v=Zfgl5rA6ehg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28" name="Google Shape;228;p3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033724" y="3333431"/>
            <a:ext cx="1076547" cy="13506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2"/>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34" name="Google Shape;234;p32"/>
          <p:cNvSpPr txBox="1"/>
          <p:nvPr/>
        </p:nvSpPr>
        <p:spPr>
          <a:xfrm>
            <a:off x="81775" y="439798"/>
            <a:ext cx="44826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CoreWeave ARIA AI Research Agent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Weights &amp; Biases Weave + CoreWeave’s cloud</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Ingests large volumes of experiment data, analyzes performance, and recommends next steps for models and agents</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ARIA can form hypotheses, trigger new experiments, evaluate results, and update dashboards, shrinking iteration cycles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positions CoreWeave as more than a GPU cloud provider, turning their infrastructure into a full-stack environment for continuous AI experimentation and autonomous improvement.</a:t>
            </a:r>
            <a:endParaRPr sz="1200">
              <a:solidFill>
                <a:schemeClr val="dk1"/>
              </a:solidFill>
              <a:latin typeface="Calibri"/>
              <a:ea typeface="Calibri"/>
              <a:cs typeface="Calibri"/>
              <a:sym typeface="Calibri"/>
            </a:endParaRPr>
          </a:p>
        </p:txBody>
      </p:sp>
      <p:pic>
        <p:nvPicPr>
          <p:cNvPr id="235" name="Google Shape;235;p3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938712" y="690563"/>
            <a:ext cx="1541700" cy="1019176"/>
          </a:xfrm>
          <a:prstGeom prst="rect">
            <a:avLst/>
          </a:prstGeom>
          <a:noFill/>
          <a:ln w="9525" cap="flat" cmpd="sng">
            <a:solidFill>
              <a:srgbClr val="FF0000"/>
            </a:solidFill>
            <a:prstDash val="solid"/>
            <a:round/>
            <a:headEnd type="none" w="sm" len="sm"/>
            <a:tailEnd type="none" w="sm" len="sm"/>
          </a:ln>
        </p:spPr>
      </p:pic>
      <p:pic>
        <p:nvPicPr>
          <p:cNvPr id="236" name="Google Shape;236;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854750" y="495300"/>
            <a:ext cx="1882025" cy="1409700"/>
          </a:xfrm>
          <a:prstGeom prst="rect">
            <a:avLst/>
          </a:prstGeom>
          <a:noFill/>
          <a:ln w="9525" cap="flat" cmpd="sng">
            <a:solidFill>
              <a:srgbClr val="FF0000"/>
            </a:solidFill>
            <a:prstDash val="solid"/>
            <a:round/>
            <a:headEnd type="none" w="sm" len="sm"/>
            <a:tailEnd type="none" w="sm" len="sm"/>
          </a:ln>
        </p:spPr>
      </p:pic>
      <p:sp>
        <p:nvSpPr>
          <p:cNvPr id="237" name="Google Shape;237;p32"/>
          <p:cNvSpPr txBox="1"/>
          <p:nvPr/>
        </p:nvSpPr>
        <p:spPr>
          <a:xfrm>
            <a:off x="81775" y="2531296"/>
            <a:ext cx="44826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research assistants - SciSpace vs Concensus vs Elicit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SciSpace (</a:t>
            </a:r>
            <a:r>
              <a:rPr lang="en" sz="1200" u="sng">
                <a:solidFill>
                  <a:schemeClr val="hlink"/>
                </a:solidFill>
                <a:latin typeface="Calibri"/>
                <a:ea typeface="Calibri"/>
                <a:cs typeface="Calibri"/>
                <a:sym typeface="Calibri"/>
                <a:hlinkClick r:id="rId5"/>
              </a:rPr>
              <a:t>https://scispace.com</a:t>
            </a:r>
            <a:r>
              <a:rPr lang="en" sz="1200">
                <a:solidFill>
                  <a:schemeClr val="dk1"/>
                </a:solidFill>
                <a:latin typeface="Calibri"/>
                <a:ea typeface="Calibri"/>
                <a:cs typeface="Calibri"/>
                <a:sym typeface="Calibri"/>
              </a:rPr>
              <a:t>) runs real literature reviews backed by verified, clickable sources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Consensus (</a:t>
            </a:r>
            <a:r>
              <a:rPr lang="en" sz="1200" u="sng">
                <a:solidFill>
                  <a:schemeClr val="hlink"/>
                </a:solidFill>
                <a:latin typeface="Calibri"/>
                <a:ea typeface="Calibri"/>
                <a:cs typeface="Calibri"/>
                <a:sym typeface="Calibri"/>
                <a:hlinkClick r:id="rId6"/>
              </a:rPr>
              <a:t>https://consensus.app</a:t>
            </a:r>
            <a:r>
              <a:rPr lang="en" sz="1200">
                <a:solidFill>
                  <a:schemeClr val="dk1"/>
                </a:solidFill>
                <a:latin typeface="Calibri"/>
                <a:ea typeface="Calibri"/>
                <a:cs typeface="Calibri"/>
                <a:sym typeface="Calibri"/>
              </a:rPr>
              <a:t>) - same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Elicit (</a:t>
            </a:r>
            <a:r>
              <a:rPr lang="en" sz="1200" u="sng">
                <a:solidFill>
                  <a:schemeClr val="hlink"/>
                </a:solidFill>
                <a:latin typeface="Calibri"/>
                <a:ea typeface="Calibri"/>
                <a:cs typeface="Calibri"/>
                <a:sym typeface="Calibri"/>
                <a:hlinkClick r:id="rId7"/>
              </a:rPr>
              <a:t>https://elicit.com</a:t>
            </a:r>
            <a:r>
              <a:rPr lang="en" sz="1200">
                <a:solidFill>
                  <a:schemeClr val="dk1"/>
                </a:solidFill>
                <a:latin typeface="Calibri"/>
                <a:ea typeface="Calibri"/>
                <a:cs typeface="Calibri"/>
                <a:sym typeface="Calibri"/>
              </a:rPr>
              <a:t>) - same</a:t>
            </a:r>
            <a:endParaRPr sz="1200">
              <a:solidFill>
                <a:schemeClr val="dk1"/>
              </a:solidFill>
              <a:latin typeface="Calibri"/>
              <a:ea typeface="Calibri"/>
              <a:cs typeface="Calibri"/>
              <a:sym typeface="Calibri"/>
            </a:endParaRPr>
          </a:p>
        </p:txBody>
      </p:sp>
      <p:pic>
        <p:nvPicPr>
          <p:cNvPr id="238" name="Google Shape;238;p32"/>
          <p:cNvPicPr preferRelativeResize="0"/>
          <p:nvPr/>
        </p:nvPicPr>
        <p:blipFill>
          <a:blip r:embed="rId8">
            <a:alphaModFix/>
          </a:blip>
          <a:stretch>
            <a:fillRect/>
          </a:stretch>
        </p:blipFill>
        <p:spPr>
          <a:xfrm>
            <a:off x="4938700" y="2631096"/>
            <a:ext cx="2152650" cy="7810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3"/>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44" name="Google Shape;244;p33"/>
          <p:cNvSpPr txBox="1"/>
          <p:nvPr/>
        </p:nvSpPr>
        <p:spPr>
          <a:xfrm>
            <a:off x="81775" y="495300"/>
            <a:ext cx="44826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Qwable 3.6 27B - by Mia-AiLab</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fine-tuned version of the Qwen 3.6 27B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For assistant-style and reasoning-heavy use cases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Focuses on step-by-step responses</a:t>
            </a:r>
            <a:endParaRPr sz="1200">
              <a:solidFill>
                <a:schemeClr val="dk1"/>
              </a:solidFill>
              <a:latin typeface="Calibri"/>
              <a:ea typeface="Calibri"/>
              <a:cs typeface="Calibri"/>
              <a:sym typeface="Calibri"/>
            </a:endParaRPr>
          </a:p>
        </p:txBody>
      </p:sp>
      <p:sp>
        <p:nvSpPr>
          <p:cNvPr id="245" name="Google Shape;245;p33"/>
          <p:cNvSpPr txBox="1"/>
          <p:nvPr/>
        </p:nvSpPr>
        <p:spPr>
          <a:xfrm>
            <a:off x="81775" y="1294500"/>
            <a:ext cx="44826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Dario needs to be stopped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Mehul Mohan critiques Anthropic CEO Dario Amodei’s 2023 testimony on open-weight AI risks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Dario was saying that centralized models allow control and monitoring and proposes restricting open models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Dario has claiming that open AI will enable catastrophic biological or cyber threats</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Mohan provides multiple reasons against Dario's position. He also talks about positive sides of open source (example - Linux).</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explains that open-weight models, while not fully open source, still allow meaningful modification. Finally, he argues that restricting US AI development could weaken competitiveness, as global players continue advancing open-weight innovation.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https://www.youtube.com/watch?v=EyARxk6y1_c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46" name="Google Shape;246;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03600" y="1638251"/>
            <a:ext cx="2436951" cy="1409038"/>
          </a:xfrm>
          <a:prstGeom prst="rect">
            <a:avLst/>
          </a:prstGeom>
          <a:noFill/>
          <a:ln w="9525" cap="flat" cmpd="sng">
            <a:solidFill>
              <a:srgbClr val="FF0000"/>
            </a:solidFill>
            <a:prstDash val="solid"/>
            <a:round/>
            <a:headEnd type="none" w="sm" len="sm"/>
            <a:tailEnd type="none" w="sm" len="sm"/>
          </a:ln>
        </p:spPr>
      </p:pic>
      <p:pic>
        <p:nvPicPr>
          <p:cNvPr id="247" name="Google Shape;247;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249050" y="2166353"/>
            <a:ext cx="1406750" cy="1539200"/>
          </a:xfrm>
          <a:prstGeom prst="rect">
            <a:avLst/>
          </a:prstGeom>
          <a:noFill/>
          <a:ln w="9525" cap="flat" cmpd="sng">
            <a:solidFill>
              <a:srgbClr val="FF0000"/>
            </a:solidFill>
            <a:prstDash val="solid"/>
            <a:round/>
            <a:headEnd type="none" w="sm" len="sm"/>
            <a:tailEnd type="none" w="sm" len="sm"/>
          </a:ln>
        </p:spPr>
      </p:pic>
      <p:sp>
        <p:nvSpPr>
          <p:cNvPr id="248" name="Google Shape;248;p33"/>
          <p:cNvSpPr txBox="1"/>
          <p:nvPr/>
        </p:nvSpPr>
        <p:spPr>
          <a:xfrm>
            <a:off x="81775" y="4008000"/>
            <a:ext cx="4482600" cy="988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X (formerly Twitter) MCP server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make its X easier to plug into AI tools and agents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rgbClr val="FF0000"/>
              </a:buClr>
              <a:buSzPts val="900"/>
              <a:buFont typeface="Calibri"/>
              <a:buChar char="●"/>
            </a:pPr>
            <a:r>
              <a:rPr lang="en" sz="900" u="sng">
                <a:solidFill>
                  <a:schemeClr val="hlink"/>
                </a:solidFill>
                <a:latin typeface="Calibri"/>
                <a:ea typeface="Calibri"/>
                <a:cs typeface="Calibri"/>
                <a:sym typeface="Calibri"/>
                <a:hlinkClick r:id="rId6"/>
              </a:rPr>
              <a:t>https://docs.x.com/tools/mcp</a:t>
            </a:r>
            <a:endParaRPr sz="900">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rgbClr val="FF0000"/>
              </a:buClr>
              <a:buSzPts val="900"/>
              <a:buFont typeface="Calibri"/>
              <a:buChar char="●"/>
            </a:pPr>
            <a:r>
              <a:rPr lang="en" sz="900" u="sng">
                <a:solidFill>
                  <a:schemeClr val="hlink"/>
                </a:solidFill>
                <a:latin typeface="Calibri"/>
                <a:ea typeface="Calibri"/>
                <a:cs typeface="Calibri"/>
                <a:sym typeface="Calibri"/>
                <a:hlinkClick r:id="rId7"/>
              </a:rPr>
              <a:t>https://mcp.directory/servers/x-twitter</a:t>
            </a:r>
            <a:r>
              <a:rPr lang="en" sz="900">
                <a:solidFill>
                  <a:srgbClr val="FF0000"/>
                </a:solidFill>
                <a:latin typeface="Calibri"/>
                <a:ea typeface="Calibri"/>
                <a:cs typeface="Calibri"/>
                <a:sym typeface="Calibri"/>
              </a:rPr>
              <a:t> </a:t>
            </a:r>
            <a:endParaRPr sz="900">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rgbClr val="FF0000"/>
              </a:buClr>
              <a:buSzPts val="900"/>
              <a:buFont typeface="Calibri"/>
              <a:buChar char="●"/>
            </a:pPr>
            <a:r>
              <a:rPr lang="en" sz="900" u="sng">
                <a:solidFill>
                  <a:schemeClr val="hlink"/>
                </a:solidFill>
                <a:latin typeface="Calibri"/>
                <a:ea typeface="Calibri"/>
                <a:cs typeface="Calibri"/>
                <a:sym typeface="Calibri"/>
                <a:hlinkClick r:id="rId8"/>
              </a:rPr>
              <a:t>https://github.com/xdevplatform/xmcp</a:t>
            </a:r>
            <a:endParaRPr sz="900">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Software is free, but access to Twitter data is not free</a:t>
            </a:r>
            <a:endParaRPr sz="1200">
              <a:solidFill>
                <a:schemeClr val="dk1"/>
              </a:solidFill>
              <a:latin typeface="Calibri"/>
              <a:ea typeface="Calibri"/>
              <a:cs typeface="Calibri"/>
              <a:sym typeface="Calibri"/>
            </a:endParaRPr>
          </a:p>
        </p:txBody>
      </p:sp>
      <p:pic>
        <p:nvPicPr>
          <p:cNvPr id="249" name="Google Shape;249;p33"/>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4776250" y="3993352"/>
            <a:ext cx="1406750" cy="10174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4"/>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55" name="Google Shape;255;p34"/>
          <p:cNvSpPr txBox="1"/>
          <p:nvPr/>
        </p:nvSpPr>
        <p:spPr>
          <a:xfrm>
            <a:off x="81775" y="438061"/>
            <a:ext cx="4482600" cy="460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200" b="1">
                <a:solidFill>
                  <a:srgbClr val="FF0000"/>
                </a:solidFill>
                <a:latin typeface="Calibri"/>
                <a:ea typeface="Calibri"/>
                <a:cs typeface="Calibri"/>
                <a:sym typeface="Calibri"/>
              </a:rPr>
              <a:t>Become more effective with Claude Code</a:t>
            </a:r>
            <a:br>
              <a:rPr lang="en" sz="1100">
                <a:solidFill>
                  <a:schemeClr val="dk1"/>
                </a:solidFill>
                <a:latin typeface="Calibri"/>
                <a:ea typeface="Calibri"/>
                <a:cs typeface="Calibri"/>
                <a:sym typeface="Calibri"/>
              </a:rPr>
            </a:br>
            <a:r>
              <a:rPr lang="en" sz="1100" u="sng">
                <a:solidFill>
                  <a:schemeClr val="hlink"/>
                </a:solidFill>
                <a:latin typeface="Calibri"/>
                <a:ea typeface="Calibri"/>
                <a:cs typeface="Calibri"/>
                <a:sym typeface="Calibri"/>
                <a:hlinkClick r:id="rId3"/>
              </a:rPr>
              <a:t>https://www.youtube.com/watch?v=CBcyKfpldTo</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Create a "</a:t>
            </a:r>
            <a:r>
              <a:rPr lang="en" sz="1100" b="1">
                <a:solidFill>
                  <a:srgbClr val="FF0000"/>
                </a:solidFill>
                <a:latin typeface="Calibri"/>
                <a:ea typeface="Calibri"/>
                <a:cs typeface="Calibri"/>
                <a:sym typeface="Calibri"/>
              </a:rPr>
              <a:t>Brand Context Folder</a:t>
            </a:r>
            <a:r>
              <a:rPr lang="en" sz="1100">
                <a:solidFill>
                  <a:schemeClr val="dk1"/>
                </a:solidFill>
                <a:latin typeface="Calibri"/>
                <a:ea typeface="Calibri"/>
                <a:cs typeface="Calibri"/>
                <a:sym typeface="Calibri"/>
              </a:rPr>
              <a:t>" as a permanent source of truth</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Voice Profile</a:t>
            </a:r>
            <a:r>
              <a:rPr lang="en" sz="1100">
                <a:solidFill>
                  <a:schemeClr val="dk1"/>
                </a:solidFill>
                <a:latin typeface="Calibri"/>
                <a:ea typeface="Calibri"/>
                <a:cs typeface="Calibri"/>
                <a:sym typeface="Calibri"/>
              </a:rPr>
              <a:t> - defines your core voice rules and style</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Visual Identity</a:t>
            </a:r>
            <a:r>
              <a:rPr lang="en" sz="1100">
                <a:solidFill>
                  <a:schemeClr val="dk1"/>
                </a:solidFill>
                <a:latin typeface="Calibri"/>
                <a:ea typeface="Calibri"/>
                <a:cs typeface="Calibri"/>
                <a:sym typeface="Calibri"/>
              </a:rPr>
              <a:t> - json or markdown file containing design tokens (fonts, colors, assets)</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Positioning</a:t>
            </a:r>
            <a:r>
              <a:rPr lang="en" sz="1100">
                <a:solidFill>
                  <a:schemeClr val="dk1"/>
                </a:solidFill>
                <a:latin typeface="Calibri"/>
                <a:ea typeface="Calibri"/>
                <a:cs typeface="Calibri"/>
                <a:sym typeface="Calibri"/>
              </a:rPr>
              <a:t> - defines target audience, business goals, pain points.</a:t>
            </a:r>
            <a:endParaRPr sz="1100">
              <a:solidFill>
                <a:schemeClr val="dk1"/>
              </a:solidFill>
              <a:latin typeface="Calibri"/>
              <a:ea typeface="Calibri"/>
              <a:cs typeface="Calibri"/>
              <a:sym typeface="Calibri"/>
            </a:endParaRPr>
          </a:p>
          <a:p>
            <a:pPr marL="3429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 a </a:t>
            </a:r>
            <a:r>
              <a:rPr lang="en" sz="1100" b="1">
                <a:solidFill>
                  <a:srgbClr val="3C78D8"/>
                </a:solidFill>
                <a:latin typeface="Calibri"/>
                <a:ea typeface="Calibri"/>
                <a:cs typeface="Calibri"/>
                <a:sym typeface="Calibri"/>
              </a:rPr>
              <a:t>"claude.md" file as an index that points to these context folders,</a:t>
            </a:r>
            <a:r>
              <a:rPr lang="en" sz="1100">
                <a:solidFill>
                  <a:schemeClr val="dk1"/>
                </a:solidFill>
                <a:latin typeface="Calibri"/>
                <a:ea typeface="Calibri"/>
                <a:cs typeface="Calibri"/>
                <a:sym typeface="Calibri"/>
              </a:rPr>
              <a:t> preventing "context rot" by keeping individual files lean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Autonomous Loops - keep running even without active supervision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Auto Mode - use `Shift+Tab` twice to minimize interruptions, allowing Claude to perform safe actions automatically; "/goal" - set specific, measurable exit criteria so Claude knows exactly when a task is finished rather than completing it prematurely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Loop/Routines - use to schedule recurring tasks (e.g., daily email/invoice processing) so the system works even when you are away from your computer.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Handling Complex Tasks without losing focus or finishing prematurely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Increase the "effort of thinking" (reasoning tokens);allow Claude to spin up a "team" of specialized agents, each with its own clean context, to tackle specific parts of a large project.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Human-in-the-Loop - maintain intentional human checkpoints; identify the high-stakes points in your workflow where quality is critical; instruct Claude to pause at these stages, notify you, and wait for your review/edit before proceeding to production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Goal - use AI for the repetitive 80% of research and drafting, while reserving your time for the 20% that provides human value.</a:t>
            </a:r>
            <a:endParaRPr sz="1100">
              <a:solidFill>
                <a:schemeClr val="dk1"/>
              </a:solidFill>
              <a:latin typeface="Calibri"/>
              <a:ea typeface="Calibri"/>
              <a:cs typeface="Calibri"/>
              <a:sym typeface="Calibri"/>
            </a:endParaRPr>
          </a:p>
        </p:txBody>
      </p:sp>
      <p:pic>
        <p:nvPicPr>
          <p:cNvPr id="256" name="Google Shape;256;p3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43450" y="944475"/>
            <a:ext cx="2886074" cy="16856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5"/>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Pulumi vs Terraform</a:t>
            </a:r>
            <a:endParaRPr sz="2000" b="1">
              <a:solidFill>
                <a:schemeClr val="dk1"/>
              </a:solidFill>
              <a:latin typeface="Calibri"/>
              <a:ea typeface="Calibri"/>
              <a:cs typeface="Calibri"/>
              <a:sym typeface="Calibri"/>
            </a:endParaRPr>
          </a:p>
        </p:txBody>
      </p:sp>
      <p:sp>
        <p:nvSpPr>
          <p:cNvPr id="262" name="Google Shape;262;p35"/>
          <p:cNvSpPr txBox="1"/>
          <p:nvPr/>
        </p:nvSpPr>
        <p:spPr>
          <a:xfrm>
            <a:off x="81775" y="438050"/>
            <a:ext cx="43680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Pulumi and Terraform  - Infrastructure as Code tools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Terraform uses its own declarative language, HCL</a:t>
            </a:r>
            <a:br>
              <a:rPr lang="en" sz="1200">
                <a:solidFill>
                  <a:schemeClr val="dk1"/>
                </a:solidFill>
                <a:latin typeface="Calibri"/>
                <a:ea typeface="Calibri"/>
                <a:cs typeface="Calibri"/>
                <a:sym typeface="Calibri"/>
              </a:rPr>
            </a:br>
            <a:r>
              <a:rPr lang="en" sz="1200" b="1">
                <a:solidFill>
                  <a:srgbClr val="3C78D8"/>
                </a:solidFill>
                <a:latin typeface="Calibri"/>
                <a:ea typeface="Calibri"/>
                <a:cs typeface="Calibri"/>
                <a:sym typeface="Calibri"/>
              </a:rPr>
              <a:t>HCL = HashiCorp Configuration Language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https://developer.hashicorp.com/terraform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Pulumi keeps the engine declarative but lets you write infrastructure in general-purpose languages like </a:t>
            </a:r>
            <a:r>
              <a:rPr lang="en" sz="1200" b="1">
                <a:solidFill>
                  <a:srgbClr val="3C78D8"/>
                </a:solidFill>
                <a:latin typeface="Calibri"/>
                <a:ea typeface="Calibri"/>
                <a:cs typeface="Calibri"/>
                <a:sym typeface="Calibri"/>
              </a:rPr>
              <a:t>TypeScript, Python, or Go , it feel like a normal software project with functions, classes, and tests - </a:t>
            </a:r>
            <a:r>
              <a:rPr lang="en" sz="1200" u="sng">
                <a:solidFill>
                  <a:schemeClr val="hlink"/>
                </a:solidFill>
                <a:latin typeface="Calibri"/>
                <a:ea typeface="Calibri"/>
                <a:cs typeface="Calibri"/>
                <a:sym typeface="Calibri"/>
                <a:hlinkClick r:id="rId4"/>
              </a:rPr>
              <a:t>https://www.pulumi.com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Terraform remain industry standard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Pulumi appeals more to developer teams</a:t>
            </a:r>
            <a:endParaRPr sz="1200">
              <a:solidFill>
                <a:schemeClr val="dk1"/>
              </a:solidFill>
              <a:latin typeface="Calibri"/>
              <a:ea typeface="Calibri"/>
              <a:cs typeface="Calibri"/>
              <a:sym typeface="Calibri"/>
            </a:endParaRPr>
          </a:p>
        </p:txBody>
      </p:sp>
      <p:sp>
        <p:nvSpPr>
          <p:cNvPr id="263" name="Google Shape;263;p35"/>
          <p:cNvSpPr txBox="1"/>
          <p:nvPr/>
        </p:nvSpPr>
        <p:spPr>
          <a:xfrm>
            <a:off x="81775" y="2347425"/>
            <a:ext cx="2913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800" b="1">
                <a:solidFill>
                  <a:srgbClr val="FF0000"/>
                </a:solidFill>
                <a:latin typeface="Roboto Mono"/>
                <a:ea typeface="Roboto Mono"/>
                <a:cs typeface="Roboto Mono"/>
                <a:sym typeface="Roboto Mono"/>
              </a:rPr>
              <a:t># Terraform</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provider "aws" {</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  region = "us-east-1"</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resource "aws_s3_bucket" "mybucket" {</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  bucket = "my-example-bucket"</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resource "aws_s3_bucket_object" "index_html" {</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  bucket = aws_s3_bucket.mybucket.id</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  key    = "index.html"</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  source = "./files/index.html"</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a:t>
            </a:r>
            <a:endParaRPr sz="800">
              <a:solidFill>
                <a:srgbClr val="3C78D8"/>
              </a:solidFill>
              <a:latin typeface="Roboto Mono"/>
              <a:ea typeface="Roboto Mono"/>
              <a:cs typeface="Roboto Mono"/>
              <a:sym typeface="Roboto Mono"/>
            </a:endParaRPr>
          </a:p>
        </p:txBody>
      </p:sp>
      <p:sp>
        <p:nvSpPr>
          <p:cNvPr id="264" name="Google Shape;264;p35"/>
          <p:cNvSpPr txBox="1"/>
          <p:nvPr/>
        </p:nvSpPr>
        <p:spPr>
          <a:xfrm>
            <a:off x="81775" y="3887502"/>
            <a:ext cx="33243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800" b="1">
                <a:solidFill>
                  <a:srgbClr val="FF0000"/>
                </a:solidFill>
                <a:latin typeface="Roboto Mono"/>
                <a:ea typeface="Roboto Mono"/>
                <a:cs typeface="Roboto Mono"/>
                <a:sym typeface="Roboto Mono"/>
              </a:rPr>
              <a:t># Pulumi</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import pulumi</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import pulumi_aws as aws</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bucket = aws.s3.Bucket("mybucket",</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    bucket="my-example-bucket")</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index_html = aws.s3.BucketObject("indexHtml",</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    bucket=bucket.id,</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    key="index.html",</a:t>
            </a:r>
            <a:endParaRPr sz="8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a:solidFill>
                  <a:srgbClr val="3C78D8"/>
                </a:solidFill>
                <a:latin typeface="Roboto Mono"/>
                <a:ea typeface="Roboto Mono"/>
                <a:cs typeface="Roboto Mono"/>
                <a:sym typeface="Roboto Mono"/>
              </a:rPr>
              <a:t>    source="./files/index.html")</a:t>
            </a:r>
            <a:endParaRPr sz="800">
              <a:solidFill>
                <a:srgbClr val="3C78D8"/>
              </a:solidFill>
              <a:latin typeface="Roboto Mono"/>
              <a:ea typeface="Roboto Mono"/>
              <a:cs typeface="Roboto Mono"/>
              <a:sym typeface="Roboto Mono"/>
            </a:endParaRPr>
          </a:p>
        </p:txBody>
      </p:sp>
      <p:sp>
        <p:nvSpPr>
          <p:cNvPr id="265" name="Google Shape;265;p35"/>
          <p:cNvSpPr txBox="1"/>
          <p:nvPr/>
        </p:nvSpPr>
        <p:spPr>
          <a:xfrm>
            <a:off x="4693075" y="122125"/>
            <a:ext cx="4368000" cy="4266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You can use AI agent (Claude Code) to create infra code.</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Example: Create a minimal Pulumi Python project for AWS.</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Requirements:</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 Use Python and the pulumi_aws package.</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 Create one private S3 bucket.</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 Enable versioning on the bucket.</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 Add tags: Project=demo and ManagedBy=Pulumi.</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 Export the bucket name and ARN.</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 Keep the code short and beginner-friendly.</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 Put the main code in __main__.py.</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 Also show the commands to initialize and run the project:</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  - pulumi new aws-python</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  - pulumi up</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Please output:</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1. The full __main__.py file</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2. A one-paragraph explanation of what the code does</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3. The exact terminal commands to run it</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Do not add IAM policies, public access, website hosting, or extra resources unless I ask.</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Use the smallest working example.</a:t>
            </a:r>
            <a:endParaRPr sz="1200">
              <a:solidFill>
                <a:schemeClr val="dk1"/>
              </a:solidFill>
              <a:latin typeface="Calibri"/>
              <a:ea typeface="Calibri"/>
              <a:cs typeface="Calibri"/>
              <a:sym typeface="Calibri"/>
            </a:endParaRPr>
          </a:p>
        </p:txBody>
      </p:sp>
      <p:sp>
        <p:nvSpPr>
          <p:cNvPr id="266" name="Google Shape;266;p35"/>
          <p:cNvSpPr txBox="1"/>
          <p:nvPr/>
        </p:nvSpPr>
        <p:spPr>
          <a:xfrm>
            <a:off x="4693075" y="4441600"/>
            <a:ext cx="43680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Claude Code uses the prompt above to generate files such as __main__.py, Pulumi.yaml, and often requirements.txt; then you run </a:t>
            </a:r>
            <a:r>
              <a:rPr lang="en" sz="1200" b="1">
                <a:solidFill>
                  <a:srgbClr val="3C78D8"/>
                </a:solidFill>
                <a:latin typeface="Calibri"/>
                <a:ea typeface="Calibri"/>
                <a:cs typeface="Calibri"/>
                <a:sym typeface="Calibri"/>
              </a:rPr>
              <a:t>pulumi up</a:t>
            </a:r>
            <a:r>
              <a:rPr lang="en" sz="1200">
                <a:solidFill>
                  <a:schemeClr val="dk1"/>
                </a:solidFill>
                <a:latin typeface="Calibri"/>
                <a:ea typeface="Calibri"/>
                <a:cs typeface="Calibri"/>
                <a:sym typeface="Calibri"/>
              </a:rPr>
              <a:t> command in that project directory.</a:t>
            </a:r>
            <a:endParaRPr sz="1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6"/>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72" name="Google Shape;272;p36"/>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73" name="Google Shape;273;p36"/>
          <p:cNvSpPr txBox="1"/>
          <p:nvPr/>
        </p:nvSpPr>
        <p:spPr>
          <a:xfrm>
            <a:off x="5655225" y="351062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119K in 2026 </a:t>
            </a:r>
            <a:r>
              <a:rPr lang="en" sz="1000" b="1">
                <a:solidFill>
                  <a:schemeClr val="dk1"/>
                </a:solidFill>
                <a:latin typeface="Roboto Mono"/>
                <a:ea typeface="Roboto Mono"/>
                <a:cs typeface="Roboto Mono"/>
                <a:sym typeface="Roboto Mono"/>
              </a:rPr>
              <a:t>(as of July 3,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74" name="Google Shape;274;p36"/>
          <p:cNvSpPr txBox="1"/>
          <p:nvPr/>
        </p:nvSpPr>
        <p:spPr>
          <a:xfrm>
            <a:off x="5422950" y="531250"/>
            <a:ext cx="32868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164,483</a:t>
            </a:r>
            <a:r>
              <a:rPr lang="en" sz="1200">
                <a:latin typeface="Calibri"/>
                <a:ea typeface="Calibri"/>
                <a:cs typeface="Calibri"/>
                <a:sym typeface="Calibri"/>
              </a:rPr>
              <a:t> people laid off (894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sp>
        <p:nvSpPr>
          <p:cNvPr id="275" name="Google Shape;275;p36"/>
          <p:cNvSpPr txBox="1"/>
          <p:nvPr/>
        </p:nvSpPr>
        <p:spPr>
          <a:xfrm>
            <a:off x="5422950" y="2031425"/>
            <a:ext cx="17322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Microsoft - 5.5K on July 1</a:t>
            </a:r>
            <a:endParaRPr sz="1200">
              <a:solidFill>
                <a:schemeClr val="dk1"/>
              </a:solidFill>
              <a:latin typeface="Calibri"/>
              <a:ea typeface="Calibri"/>
              <a:cs typeface="Calibri"/>
              <a:sym typeface="Calibri"/>
            </a:endParaRPr>
          </a:p>
        </p:txBody>
      </p:sp>
      <p:pic>
        <p:nvPicPr>
          <p:cNvPr id="276" name="Google Shape;276;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495540"/>
            <a:ext cx="5058399" cy="2742360"/>
          </a:xfrm>
          <a:prstGeom prst="rect">
            <a:avLst/>
          </a:prstGeom>
          <a:noFill/>
          <a:ln w="9525" cap="flat" cmpd="sng">
            <a:solidFill>
              <a:srgbClr val="FF0000"/>
            </a:solidFill>
            <a:prstDash val="solid"/>
            <a:round/>
            <a:headEnd type="none" w="sm" len="sm"/>
            <a:tailEnd type="none" w="sm" len="sm"/>
          </a:ln>
        </p:spPr>
      </p:pic>
      <p:pic>
        <p:nvPicPr>
          <p:cNvPr id="277" name="Google Shape;277;p3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3318899"/>
            <a:ext cx="5058401" cy="17783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pic>
        <p:nvPicPr>
          <p:cNvPr id="282" name="Google Shape;282;p3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283" name="Google Shape;283;p37"/>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84" name="Google Shape;284;p37"/>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85" name="Google Shape;285;p3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286" name="Google Shape;286;p37"/>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87" name="Google Shape;287;p37"/>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8"/>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4730</Words>
  <Application>Microsoft Macintosh PowerPoint</Application>
  <PresentationFormat>On-screen Show (16:9)</PresentationFormat>
  <Paragraphs>566</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2026-07-03T17:43:06Z</dcterms:modified>
</cp:coreProperties>
</file>