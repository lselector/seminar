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embeddedFontLst>
    <p:embeddedFont>
      <p:font typeface="Roboto Mono" pitchFamily="49"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E767F4-4288-4403-81C5-A06B085CE005}">
  <a:tblStyle styleId="{18E767F4-4288-4403-81C5-A06B085CE00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snapToGrid="0">
      <p:cViewPr varScale="1">
        <p:scale>
          <a:sx n="124" d="100"/>
          <a:sy n="124" d="100"/>
        </p:scale>
        <p:origin x="576"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s-to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s-to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labels. Kept by g3_update_toc.py.</a:t>
            </a:r>
            <a:endParaRPr/>
          </a:p>
          <a:p>
            <a:pPr marL="0" lvl="0" indent="0" algn="l" rtl="0">
              <a:spcBef>
                <a:spcPts val="0"/>
              </a:spcBef>
              <a:spcAft>
                <a:spcPts val="0"/>
              </a:spcAft>
              <a:buNone/>
            </a:pPr>
            <a:r>
              <a:rPr lang="en"/>
              <a:t>Sept 30 =&gt; -</a:t>
            </a:r>
            <a:endParaRPr/>
          </a:p>
          <a:p>
            <a:pPr marL="0" lvl="0" indent="0" algn="l" rtl="0">
              <a:spcBef>
                <a:spcPts val="0"/>
              </a:spcBef>
              <a:spcAft>
                <a:spcPts val="0"/>
              </a:spcAft>
              <a:buNone/>
            </a:pPr>
            <a:r>
              <a:rPr lang="en"/>
              <a:t>Sign in with ChatGPT lets apps spend your ChatGPT plan =&gt; Sign in with ChatGPT spends your plan</a:t>
            </a:r>
            <a:endParaRPr/>
          </a:p>
          <a:p>
            <a:pPr marL="0" lvl="0" indent="0" algn="l" rtl="0">
              <a:spcBef>
                <a:spcPts val="0"/>
              </a:spcBef>
              <a:spcAft>
                <a:spcPts val="0"/>
              </a:spcAft>
              <a:buNone/>
            </a:pPr>
            <a:r>
              <a:rPr lang="en"/>
              <a:t>Six AI labs sign the White House Accord on Super Intelligence =&gt; White House Super Intelligence Accord</a:t>
            </a:r>
            <a:endParaRPr/>
          </a:p>
          <a:p>
            <a:pPr marL="0" lvl="0" indent="0" algn="l" rtl="0">
              <a:spcBef>
                <a:spcPts val="0"/>
              </a:spcBef>
              <a:spcAft>
                <a:spcPts val="0"/>
              </a:spcAft>
              <a:buNone/>
            </a:pPr>
            <a:r>
              <a:rPr lang="en"/>
              <a:t>FTC prepares subpoenas for OpenAI, Anthropic and METR =&gt; FTC probes OpenAI, Anthropic, METR</a:t>
            </a:r>
            <a:endParaRPr/>
          </a:p>
          <a:p>
            <a:pPr marL="0" lvl="0" indent="0" algn="l" rtl="0">
              <a:spcBef>
                <a:spcPts val="0"/>
              </a:spcBef>
              <a:spcAft>
                <a:spcPts val="0"/>
              </a:spcAft>
              <a:buNone/>
            </a:pPr>
            <a:r>
              <a:rPr lang="en"/>
              <a:t>Broadcom will lend Anthropic up to $42B to lease TPUs =&gt; Broadcom lends Anthropic $42B</a:t>
            </a:r>
            <a:endParaRPr/>
          </a:p>
          <a:p>
            <a:pPr marL="0" lvl="0" indent="0" algn="l" rtl="0">
              <a:spcBef>
                <a:spcPts val="0"/>
              </a:spcBef>
              <a:spcAft>
                <a:spcPts val="0"/>
              </a:spcAft>
              <a:buNone/>
            </a:pPr>
            <a:r>
              <a:rPr lang="en"/>
              <a:t>NVIDIA DGX Spark 64GB: a cheaper local AI box at $4,999 =&gt; DGX Spark 64GB for $4,999</a:t>
            </a:r>
            <a:endParaRPr/>
          </a:p>
          <a:p>
            <a:pPr marL="0" lvl="0" indent="0" algn="l" rtl="0">
              <a:spcBef>
                <a:spcPts val="0"/>
              </a:spcBef>
              <a:spcAft>
                <a:spcPts val="0"/>
              </a:spcAft>
              <a:buNone/>
            </a:pPr>
            <a:r>
              <a:rPr lang="en"/>
              <a:t>Prime Intellect launches Prime Inference for open models =&gt; Prime Inference for open models</a:t>
            </a:r>
            <a:endParaRPr/>
          </a:p>
          <a:p>
            <a:pPr marL="0" lvl="0" indent="0" algn="l" rtl="0">
              <a:spcBef>
                <a:spcPts val="0"/>
              </a:spcBef>
              <a:spcAft>
                <a:spcPts val="0"/>
              </a:spcAft>
              <a:buNone/>
            </a:pPr>
            <a:r>
              <a:rPr lang="en"/>
              <a:t>Microsoft MAI-Transcribe-2-Streaming tops Artificial Analysis =&gt; MAI-Transcribe-2-Streaming</a:t>
            </a:r>
            <a:endParaRPr/>
          </a:p>
          <a:p>
            <a:pPr marL="0" lvl="0" indent="0" algn="l" rtl="0">
              <a:spcBef>
                <a:spcPts val="0"/>
              </a:spcBef>
              <a:spcAft>
                <a:spcPts val="0"/>
              </a:spcAft>
              <a:buNone/>
            </a:pPr>
            <a:r>
              <a:rPr lang="en"/>
              <a:t>English - https://lmarena.ai/leaderboard/text =&gt; LM Arena Leaderboard</a:t>
            </a:r>
            <a:endParaRPr/>
          </a:p>
          <a:p>
            <a:pPr marL="0" lvl="0" indent="0" algn="l" rtl="0">
              <a:spcBef>
                <a:spcPts val="0"/>
              </a:spcBef>
              <a:spcAft>
                <a:spcPts val="0"/>
              </a:spcAft>
              <a:buNone/>
            </a:pPr>
            <a:r>
              <a:rPr lang="en"/>
              <a:t>Coding - https://lmarena.ai/leaderboard/text/coding =&gt; LM Arena Leaderboard</a:t>
            </a:r>
            <a:endParaRPr/>
          </a:p>
          <a:p>
            <a:pPr marL="0" lvl="0" indent="0" algn="l" rtl="0">
              <a:spcBef>
                <a:spcPts val="0"/>
              </a:spcBef>
              <a:spcAft>
                <a:spcPts val="0"/>
              </a:spcAft>
              <a:buNone/>
            </a:pPr>
            <a:r>
              <a:rPr lang="en"/>
              <a:t>Extreme Programming (XP, 1999) - Agile approach to building software - deliver small improvements often, get feedback quickly, and adapt rather than trying to plan everything up front https://en.wikipedia.org/wiki/Extreme_Programming https://extremeprogrammingalliance.com/about-extreme-programming-xp/ =&gt; Extreme Programming (XP, 1999)</a:t>
            </a:r>
            <a:endParaRPr/>
          </a:p>
          <a:p>
            <a:pPr marL="0" lvl="0" indent="0" algn="l" rtl="0">
              <a:spcBef>
                <a:spcPts val="0"/>
              </a:spcBef>
              <a:spcAft>
                <a:spcPts val="0"/>
              </a:spcAft>
              <a:buNone/>
            </a:pPr>
            <a:r>
              <a:rPr lang="en"/>
              <a:t>Install Zed: On macOS, use Homebrew or download the app; on Windows, use winget or the installer; on Linux, run Zed’s install script - https://zed.dev/docs/installation =&gt; Zed + Claude + GitHub</a:t>
            </a:r>
            <a:endParaRPr/>
          </a:p>
          <a:p>
            <a:pPr marL="0" lvl="0" indent="0" algn="l" rtl="0">
              <a:spcBef>
                <a:spcPts val="0"/>
              </a:spcBef>
              <a:spcAft>
                <a:spcPts val="0"/>
              </a:spcAft>
              <a:buNone/>
            </a:pPr>
            <a:r>
              <a:rPr lang="en"/>
              <a:t>Ascend by Huawei — 812K chips shipped in 2025. =&gt; Huawei Ascend: 812K Chips in 2025</a:t>
            </a:r>
            <a:endParaRPr/>
          </a:p>
          <a:p>
            <a:pPr marL="0" lvl="0" indent="0" algn="l" rtl="0">
              <a:spcBef>
                <a:spcPts val="0"/>
              </a:spcBef>
              <a:spcAft>
                <a:spcPts val="0"/>
              </a:spcAft>
              <a:buNone/>
            </a:pPr>
            <a:r>
              <a:rPr lang="en"/>
              <a:t>Sign in with ChatGPT - lets apps spend your ChatGPT plan =&gt; Sign in with ChatGPT Spends Your Plan</a:t>
            </a:r>
            <a:endParaRPr/>
          </a:p>
          <a:p>
            <a:pPr marL="0" lvl="0" indent="0" algn="l" rtl="0">
              <a:spcBef>
                <a:spcPts val="0"/>
              </a:spcBef>
              <a:spcAft>
                <a:spcPts val="0"/>
              </a:spcAft>
              <a:buNone/>
            </a:pPr>
            <a:r>
              <a:rPr lang="en"/>
              <a:t>The Tech Layoff Tracker =&gt; Jobs &amp; Layoffs</a:t>
            </a:r>
            <a:endParaRPr/>
          </a:p>
          <a:p>
            <a:pPr marL="0" lvl="0" indent="0" algn="l" rtl="0">
              <a:spcBef>
                <a:spcPts val="0"/>
              </a:spcBef>
              <a:spcAft>
                <a:spcPts val="0"/>
              </a:spcAft>
              <a:buNone/>
            </a:pPr>
            <a:r>
              <a:rPr lang="en"/>
              <a:t>Tech Layoffs by year (US only): =&gt; Jobs &amp; Layoffs</a:t>
            </a:r>
            <a:endParaRPr/>
          </a:p>
          <a:p>
            <a:pPr marL="0" lvl="0" indent="0" algn="l" rtl="0">
              <a:spcBef>
                <a:spcPts val="0"/>
              </a:spcBef>
              <a:spcAft>
                <a:spcPts val="0"/>
              </a:spcAft>
              <a:buNone/>
            </a:pPr>
            <a:r>
              <a:rPr lang="en"/>
              <a:t>Top "In Demand" Skills and Qualifications =&gt; Tech Hiring and Skills in Demand</a:t>
            </a:r>
            <a:endParaRPr/>
          </a:p>
          <a:p>
            <a:pPr marL="0" lvl="0" indent="0" algn="l" rtl="0">
              <a:spcBef>
                <a:spcPts val="0"/>
              </a:spcBef>
              <a:spcAft>
                <a:spcPts val="0"/>
              </a:spcAft>
              <a:buNone/>
            </a:pPr>
            <a:r>
              <a:rPr lang="en"/>
              <a:t>Software job postings on Indeed =&gt; Tech Hiring and Skills in Demand</a:t>
            </a:r>
            <a:endParaRPr/>
          </a:p>
          <a:p>
            <a:pPr marL="0" lvl="0" indent="0" algn="l" rtl="0">
              <a:spcBef>
                <a:spcPts val="0"/>
              </a:spcBef>
              <a:spcAft>
                <a:spcPts val="0"/>
              </a:spcAft>
              <a:buNone/>
            </a:pPr>
            <a:r>
              <a:rPr lang="en"/>
              <a:t>Skills in demand =&gt; Tech Hiring and Skills in Demand</a:t>
            </a:r>
            <a:endParaRPr/>
          </a:p>
          <a:p>
            <a:pPr marL="0" lvl="0" indent="0" algn="l" rtl="0">
              <a:spcBef>
                <a:spcPts val="0"/>
              </a:spcBef>
              <a:spcAft>
                <a:spcPts val="0"/>
              </a:spcAft>
              <a:buNone/>
            </a:pPr>
            <a:r>
              <a:rPr lang="en"/>
              <a:t>Oct 4 =&gt; -</a:t>
            </a:r>
            <a:endParaRPr/>
          </a:p>
          <a:p>
            <a:pPr marL="0" lvl="0" indent="0" algn="l" rtl="0">
              <a:spcBef>
                <a:spcPts val="0"/>
              </a:spcBef>
              <a:spcAft>
                <a:spcPts val="0"/>
              </a:spcAft>
              <a:buNone/>
            </a:pPr>
            <a:r>
              <a:rPr lang="en"/>
              <a:t>HumanLayer - The Multiplayer Coding Agent Workspace =&gt; HumanLayer Multiplayer Agent Workspace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fb585c93bf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3fb585c93b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fb585c93bf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g3fb585c93b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h8c6532aae48ba1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h8c6532aae48ba1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h66de801894afa1fa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h66de801894afa1f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s-youtub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s-youtub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h46ddcecdfadec1a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h46ddcecdfadec1a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s-news-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s-news-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hd6f071a16346bd0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hd6f071a16346bd0_1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hd6f071a16346bd0_1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hd6f071a16346bd0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hd6f071a16346bd0_1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hd6f071a16346bd0_1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h8c6532aae48ba11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h8c6532aae48ba11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h1beaa2ea5184a66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h1beaa2ea5184a66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h780e71aaf4dfc92a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h780e71aaf4dfc92a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s-sign-in-with-chatgpt-lets-7fc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s-sign-in-with-chatgpt-lets-7fc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s-layoff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s-layoff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s-hiring: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s-hiring: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s-about: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s-about: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s-thank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s-thank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s-separator: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s-separator: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Topic ledger. Kept by g2_add_news.py.</a:t>
            </a:r>
            <a:endParaRPr/>
          </a:p>
          <a:p>
            <a:pPr marL="0" lvl="0" indent="0" algn="l" rtl="0">
              <a:spcBef>
                <a:spcPts val="0"/>
              </a:spcBef>
              <a:spcAft>
                <a:spcPts val="0"/>
              </a:spcAft>
              <a:buNone/>
            </a:pPr>
            <a:r>
              <a:rPr lang="en"/>
              <a:t>t-sign-in-with-chatgpt-lets-apps-7fc6 | Sign in with ChatGPT lets apps spend your ChatGPT plan</a:t>
            </a:r>
            <a:endParaRPr/>
          </a:p>
          <a:p>
            <a:pPr marL="0" lvl="0" indent="0" algn="l" rtl="0">
              <a:spcBef>
                <a:spcPts val="0"/>
              </a:spcBef>
              <a:spcAft>
                <a:spcPts val="0"/>
              </a:spcAft>
              <a:buNone/>
            </a:pPr>
            <a:r>
              <a:rPr lang="en"/>
              <a:t>t-six-ai-labs-sign-the-white-20a7 | Six AI labs sign the White House Accord on Super Intelligence</a:t>
            </a:r>
            <a:endParaRPr/>
          </a:p>
          <a:p>
            <a:pPr marL="0" lvl="0" indent="0" algn="l" rtl="0">
              <a:spcBef>
                <a:spcPts val="0"/>
              </a:spcBef>
              <a:spcAft>
                <a:spcPts val="0"/>
              </a:spcAft>
              <a:buNone/>
            </a:pPr>
            <a:r>
              <a:rPr lang="en"/>
              <a:t>t-ftc-prepares-subpoenas-for-8e5d | FTC prepares subpoenas for OpenAI, Anthropic and METR</a:t>
            </a:r>
            <a:endParaRPr/>
          </a:p>
          <a:p>
            <a:pPr marL="0" lvl="0" indent="0" algn="l" rtl="0">
              <a:spcBef>
                <a:spcPts val="0"/>
              </a:spcBef>
              <a:spcAft>
                <a:spcPts val="0"/>
              </a:spcAft>
              <a:buNone/>
            </a:pPr>
            <a:r>
              <a:rPr lang="en"/>
              <a:t>t-broadcom-will-lend-anthropic-up-4f6e | Broadcom will lend Anthropic up to $42B to lease TPUs</a:t>
            </a:r>
            <a:endParaRPr/>
          </a:p>
          <a:p>
            <a:pPr marL="0" lvl="0" indent="0" algn="l" rtl="0">
              <a:spcBef>
                <a:spcPts val="0"/>
              </a:spcBef>
              <a:spcAft>
                <a:spcPts val="0"/>
              </a:spcAft>
              <a:buNone/>
            </a:pPr>
            <a:r>
              <a:rPr lang="en"/>
              <a:t>t-nvidia-dgx-spark-64gb-a-cheaper-824b | NVIDIA DGX Spark 64GB: a cheaper local AI box at $4,999</a:t>
            </a:r>
            <a:endParaRPr/>
          </a:p>
          <a:p>
            <a:pPr marL="0" lvl="0" indent="0" algn="l" rtl="0">
              <a:spcBef>
                <a:spcPts val="0"/>
              </a:spcBef>
              <a:spcAft>
                <a:spcPts val="0"/>
              </a:spcAft>
              <a:buNone/>
            </a:pPr>
            <a:r>
              <a:rPr lang="en"/>
              <a:t>t-prime-intellect-launches-prime-126d | Prime Intellect launches Prime Inference for open models</a:t>
            </a:r>
            <a:endParaRPr/>
          </a:p>
          <a:p>
            <a:pPr marL="0" lvl="0" indent="0" algn="l" rtl="0">
              <a:spcBef>
                <a:spcPts val="0"/>
              </a:spcBef>
              <a:spcAft>
                <a:spcPts val="0"/>
              </a:spcAft>
              <a:buNone/>
            </a:pPr>
            <a:r>
              <a:rPr lang="en"/>
              <a:t>t-microsoft-mai-transcribe-2-9d45 | Microsoft MAI-Transcribe-2-Streaming tops Artificial Analysis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h780e71aaf4dfc92a_2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h780e71aaf4dfc92a_2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s-parke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s-parke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gpt-6.1-sol-max" TargetMode="External"/><Relationship Id="rId18" Type="http://schemas.openxmlformats.org/officeDocument/2006/relationships/hyperlink" Target="https://arena.ai/leaderboard/model/claude-sonnet-5.5-xhigh" TargetMode="External"/><Relationship Id="rId26" Type="http://schemas.openxmlformats.org/officeDocument/2006/relationships/hyperlink" Target="https://arena.ai/leaderboard/model/claude-opus-5-max" TargetMode="External"/><Relationship Id="rId3" Type="http://schemas.openxmlformats.org/officeDocument/2006/relationships/hyperlink" Target="https://en.wikipedia.org/wiki/Elo_rating_system" TargetMode="External"/><Relationship Id="rId21" Type="http://schemas.openxmlformats.org/officeDocument/2006/relationships/hyperlink" Target="https://arena.ai/leaderboard/model/claude-opus-4-8-high" TargetMode="External"/><Relationship Id="rId34" Type="http://schemas.openxmlformats.org/officeDocument/2006/relationships/hyperlink" Target="https://arena.ai/leaderboard/model/gemini-3.6-flash-high" TargetMode="External"/><Relationship Id="rId7" Type="http://schemas.openxmlformats.org/officeDocument/2006/relationships/hyperlink" Target="https://arena.ai/leaderboard/model/claude-fable-5-high" TargetMode="External"/><Relationship Id="rId12" Type="http://schemas.openxmlformats.org/officeDocument/2006/relationships/hyperlink" Target="https://arena.ai/leaderboard/model/gpt-6-astra-max" TargetMode="External"/><Relationship Id="rId17" Type="http://schemas.openxmlformats.org/officeDocument/2006/relationships/hyperlink" Target="https://arena.ai/leaderboard/model/claude-opus-5.5-high" TargetMode="External"/><Relationship Id="rId25" Type="http://schemas.openxmlformats.org/officeDocument/2006/relationships/hyperlink" Target="https://arena.ai/leaderboard/model/claude-opus-4-5-20251101-high-32k" TargetMode="External"/><Relationship Id="rId33" Type="http://schemas.openxmlformats.org/officeDocument/2006/relationships/hyperlink" Target="https://arena.ai/leaderboard/model/gemini-3-pro" TargetMode="External"/><Relationship Id="rId2" Type="http://schemas.openxmlformats.org/officeDocument/2006/relationships/notesSlide" Target="../notesSlides/notesSlide2.xml"/><Relationship Id="rId16" Type="http://schemas.openxmlformats.org/officeDocument/2006/relationships/hyperlink" Target="https://arena.ai/leaderboard/model/muse-spark-1.3-max" TargetMode="External"/><Relationship Id="rId20" Type="http://schemas.openxmlformats.org/officeDocument/2006/relationships/hyperlink" Target="https://arena.ai/leaderboard/model/claude-opus-5-high" TargetMode="External"/><Relationship Id="rId29" Type="http://schemas.openxmlformats.org/officeDocument/2006/relationships/hyperlink" Target="https://arena.ai/leaderboard/model/muse-spark" TargetMode="External"/><Relationship Id="rId1" Type="http://schemas.openxmlformats.org/officeDocument/2006/relationships/slideLayout" Target="../slideLayouts/slideLayout1.xml"/><Relationship Id="rId6" Type="http://schemas.openxmlformats.org/officeDocument/2006/relationships/hyperlink" Target="https://arena.ai/leaderboard/model/gemini-4-argon-high" TargetMode="External"/><Relationship Id="rId11" Type="http://schemas.openxmlformats.org/officeDocument/2006/relationships/hyperlink" Target="https://arena.ai/leaderboard/model/claude-opus-4-7" TargetMode="External"/><Relationship Id="rId24" Type="http://schemas.openxmlformats.org/officeDocument/2006/relationships/hyperlink" Target="https://arena.ai/leaderboard/model/claude-fable-5.1-max" TargetMode="External"/><Relationship Id="rId32" Type="http://schemas.openxmlformats.org/officeDocument/2006/relationships/hyperlink" Target="https://arena.ai/leaderboard/model/gemini-3.1-pro-preview"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mimo-v2.6-pro" TargetMode="External"/><Relationship Id="rId23" Type="http://schemas.openxmlformats.org/officeDocument/2006/relationships/hyperlink" Target="https://arena.ai/leaderboard/model/muse-spark-1.2%20%28xHigh%29" TargetMode="External"/><Relationship Id="rId28" Type="http://schemas.openxmlformats.org/officeDocument/2006/relationships/hyperlink" Target="https://arena.ai/leaderboard/model/claude-opus-4-8" TargetMode="External"/><Relationship Id="rId36" Type="http://schemas.openxmlformats.org/officeDocument/2006/relationships/hyperlink" Target="https://arena.ai/leaderboard/model/gpt-5.5-high"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gpt-5.6-sol-xhigh" TargetMode="External"/><Relationship Id="rId31" Type="http://schemas.openxmlformats.org/officeDocument/2006/relationships/hyperlink" Target="https://arena.ai/leaderboard/model/gemini-3.7-flash-high"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high" TargetMode="External"/><Relationship Id="rId14" Type="http://schemas.openxmlformats.org/officeDocument/2006/relationships/hyperlink" Target="https://arena.ai/leaderboard/model/kimi-k3-max" TargetMode="External"/><Relationship Id="rId22" Type="http://schemas.openxmlformats.org/officeDocument/2006/relationships/hyperlink" Target="https://arena.ai/leaderboard/model/muse-spark-1.1" TargetMode="External"/><Relationship Id="rId27" Type="http://schemas.openxmlformats.org/officeDocument/2006/relationships/hyperlink" Target="https://arena.ai/leaderboard/model/gemini-3.8-flash-high" TargetMode="External"/><Relationship Id="rId30" Type="http://schemas.openxmlformats.org/officeDocument/2006/relationships/hyperlink" Target="https://arena.ai/leaderboard/model/claude-sonnet-4-6" TargetMode="External"/><Relationship Id="rId35" Type="http://schemas.openxmlformats.org/officeDocument/2006/relationships/hyperlink" Target="https://arena.ai/leaderboard/model/qwen3.8-max" TargetMode="External"/><Relationship Id="rId8" Type="http://schemas.openxmlformats.org/officeDocument/2006/relationships/hyperlink" Target="https://arena.ai/leaderboard/model/claude-opus-4-6-high"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rtificialanalysis.ai/evaluations/artificial-analysis-intelligence-inde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76rR68ktQvo" TargetMode="External"/><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1.xml"/><Relationship Id="rId6" Type="http://schemas.openxmlformats.org/officeDocument/2006/relationships/hyperlink" Target="https://omarchy.us" TargetMode="External"/><Relationship Id="rId5" Type="http://schemas.openxmlformats.org/officeDocument/2006/relationships/hyperlink" Target="https://37signals.com" TargetMode="External"/><Relationship Id="rId4" Type="http://schemas.openxmlformats.org/officeDocument/2006/relationships/hyperlink" Target="https://basecamp.com"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anthropic.com/claude-opus-5-5" TargetMode="External"/><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3.png"/><Relationship Id="rId5" Type="http://schemas.openxmlformats.org/officeDocument/2006/relationships/hyperlink" Target="https://www.youtube.com/watch?v=2zLuYU_Ub_0" TargetMode="External"/><Relationship Id="rId4" Type="http://schemas.openxmlformats.org/officeDocument/2006/relationships/hyperlink" Target="https://platform.claude.com/docs/en/models/opus-5-5/overview"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1.xml"/><Relationship Id="rId5" Type="http://schemas.openxmlformats.org/officeDocument/2006/relationships/hyperlink" Target="https://www.youtube.com/@lev-selector/videos" TargetMode="External"/><Relationship Id="rId4" Type="http://schemas.openxmlformats.org/officeDocument/2006/relationships/image" Target="../media/image5.jpeg"/></Relationships>
</file>

<file path=ppt/slides/_rels/slide7.xml.rels><?xml version="1.0" encoding="UTF-8" standalone="yes"?>
<Relationships xmlns="http://schemas.openxmlformats.org/package/2006/relationships"><Relationship Id="rId8" Type="http://schemas.openxmlformats.org/officeDocument/2006/relationships/hyperlink" Target="https://newsletter.pragmaticengineer.com/p/how-kent-beck-shapes-the-software" TargetMode="External"/><Relationship Id="rId3" Type="http://schemas.openxmlformats.org/officeDocument/2006/relationships/hyperlink" Target="https://en.wikipedia.org/wiki/Extreme_Programming" TargetMode="External"/><Relationship Id="rId7" Type="http://schemas.openxmlformats.org/officeDocument/2006/relationships/hyperlink" Target="https://kentbeck.com" TargetMode="External"/><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hyperlink" Target="https://www.youtube.com/watch?v=aSXaxOdVtAQ" TargetMode="External"/><Relationship Id="rId5" Type="http://schemas.openxmlformats.org/officeDocument/2006/relationships/hyperlink" Target="https://www.agile-academy.com/en/agile-dictionary/extreme-programming/" TargetMode="External"/><Relationship Id="rId10" Type="http://schemas.openxmlformats.org/officeDocument/2006/relationships/image" Target="../media/image7.png"/><Relationship Id="rId4" Type="http://schemas.openxmlformats.org/officeDocument/2006/relationships/hyperlink" Target="https://extremeprogrammingalliance.com/about-extreme-programming-xp/" TargetMode="External"/><Relationship Id="rId9" Type="http://schemas.openxmlformats.org/officeDocument/2006/relationships/image" Target="../media/image6.png"/></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manus.im/blog/introducing-manus-2-0" TargetMode="External"/><Relationship Id="rId7" Type="http://schemas.openxmlformats.org/officeDocument/2006/relationships/hyperlink" Target="https://openai.com/index/path-to-astra/"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hyperlink" Target="https://arxiv.org/abs/2609.26457" TargetMode="External"/><Relationship Id="rId5" Type="http://schemas.openxmlformats.org/officeDocument/2006/relationships/hyperlink" Target="https://www.weco.ai/blog/first-evidence-of-recursive-self-improvement" TargetMode="External"/><Relationship Id="rId4" Type="http://schemas.openxmlformats.org/officeDocument/2006/relationships/hyperlink" Target="https://www.youtube.com/watch?v=L75zF2WKiVE" TargetMode="External"/><Relationship Id="rId9"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Niko1221/Strata" TargetMode="External"/><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image" Target="../media/image10.png"/><Relationship Id="rId4" Type="http://schemas.openxmlformats.org/officeDocument/2006/relationships/hyperlink" Target="https://huggingface.co/collections/Qwen/Qwen3.8-Flash-Next"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humanlayer.com" TargetMode="External"/><Relationship Id="rId2" Type="http://schemas.openxmlformats.org/officeDocument/2006/relationships/notesSlide" Target="../notesSlides/notesSlide10.xml"/><Relationship Id="rId1" Type="http://schemas.openxmlformats.org/officeDocument/2006/relationships/slideLayout" Target="../slideLayouts/slideLayout11.xml"/><Relationship Id="rId5" Type="http://schemas.openxmlformats.org/officeDocument/2006/relationships/image" Target="../media/image11.png"/><Relationship Id="rId4" Type="http://schemas.openxmlformats.org/officeDocument/2006/relationships/hyperlink" Target="https://x.com/dexhorthy"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https://www.youtube.com/watch?v=flXfwevUJTk" TargetMode="External"/><Relationship Id="rId7" Type="http://schemas.openxmlformats.org/officeDocument/2006/relationships/hyperlink" Target="https://aiprofitboardroom.com"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hyperlink" Target="https://www.blotato.com/mcp" TargetMode="External"/><Relationship Id="rId5" Type="http://schemas.openxmlformats.org/officeDocument/2006/relationships/hyperlink" Target="https://www.remotion.dev" TargetMode="External"/><Relationship Id="rId4" Type="http://schemas.openxmlformats.org/officeDocument/2006/relationships/hyperlink" Target="https://github.com/heygen-com/hyperframes"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arxiv.org/abs/2609.27334" TargetMode="External"/><Relationship Id="rId3" Type="http://schemas.openxmlformats.org/officeDocument/2006/relationships/hyperlink" Target="https://www.youtube.com/watch?v=eXad7m0TjVM" TargetMode="External"/><Relationship Id="rId7" Type="http://schemas.openxmlformats.org/officeDocument/2006/relationships/hyperlink" Target="https://www.youtube.com/watch?v=pSkh-mNd9LQ" TargetMode="External"/><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hyperlink" Target="https://arxiv.org/abs/2405.05254" TargetMode="External"/><Relationship Id="rId11" Type="http://schemas.openxmlformats.org/officeDocument/2006/relationships/image" Target="../media/image14.png"/><Relationship Id="rId5" Type="http://schemas.openxmlformats.org/officeDocument/2006/relationships/hyperlink" Target="https://arxiv.org/html/2609.19969v1" TargetMode="External"/><Relationship Id="rId10" Type="http://schemas.openxmlformats.org/officeDocument/2006/relationships/image" Target="../media/image13.png"/><Relationship Id="rId4" Type="http://schemas.openxmlformats.org/officeDocument/2006/relationships/hyperlink" Target="https://arxiv.org/abs/2609.26368" TargetMode="External"/><Relationship Id="rId9" Type="http://schemas.openxmlformats.org/officeDocument/2006/relationships/hyperlink" Target="https://aiweekly.co/alerts/jitmem-curates-llm-agent-memory-at-read-time-not-write-time"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zed.dev/docs/installation" TargetMode="External"/><Relationship Id="rId2" Type="http://schemas.openxmlformats.org/officeDocument/2006/relationships/notesSlide" Target="../notesSlides/notesSlide13.xml"/><Relationship Id="rId1" Type="http://schemas.openxmlformats.org/officeDocument/2006/relationships/slideLayout" Target="../slideLayouts/slideLayout11.xml"/><Relationship Id="rId6" Type="http://schemas.openxmlformats.org/officeDocument/2006/relationships/image" Target="../media/image15.png"/><Relationship Id="rId5" Type="http://schemas.openxmlformats.org/officeDocument/2006/relationships/hyperlink" Target="https://github.com/lselector/agent-toolkit" TargetMode="External"/><Relationship Id="rId4" Type="http://schemas.openxmlformats.org/officeDocument/2006/relationships/hyperlink" Target="https://zed.dev/docs/ai/external-agent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reuters.com/world/china/chinese-chipmakers-claim-nearly-half-of-local-market-nvidias-lead-shrinks-idc-2026-04-01/"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5" Type="http://schemas.openxmlformats.org/officeDocument/2006/relationships/hyperlink" Target="https://www.tomshardware.com/tech-industry/artificial-intelligence/alibaba-unveils-zhenwu-v900-ai-accelerator-claims-its-the-most-powerful-ai-chip-in-china-accelerator-supports-500-000-chip-supercluster-with-a-10t-parameter-qwen-model-on-the-roadmap" TargetMode="Externa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hyperlink" Target="https://thenewstack.io/sign-in-with-chatgpt/" TargetMode="External"/><Relationship Id="rId7" Type="http://schemas.openxmlformats.org/officeDocument/2006/relationships/hyperlink" Target="https://microsoft.ai/news/our-first-streaming-transcription-model/"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18.png"/><Relationship Id="rId5" Type="http://schemas.openxmlformats.org/officeDocument/2006/relationships/image" Target="../media/image17.jpeg"/><Relationship Id="rId4" Type="http://schemas.openxmlformats.org/officeDocument/2006/relationships/hyperlink" Target="https://www.techtimes.com/articles/328464/20261002/white-house-ai-safety-accord-has-no-penalties-no-breach-reporting-self-chosen-auditors.htm"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21.jpeg"/><Relationship Id="rId5" Type="http://schemas.openxmlformats.org/officeDocument/2006/relationships/image" Target="../media/image20.jpeg"/><Relationship Id="rId4" Type="http://schemas.openxmlformats.org/officeDocument/2006/relationships/hyperlink" Target="https://trueup.io/layoff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red.stlouisfed.org/series/IHLIDXUSTPSOFTDEVE"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5" Type="http://schemas.openxmlformats.org/officeDocument/2006/relationships/hyperlink" Target="https://www.dice.com/hiring/recruitment/reports/dice-tech-job-report" TargetMode="External"/><Relationship Id="rId4" Type="http://schemas.openxmlformats.org/officeDocument/2006/relationships/hyperlink" Target="https://hiringlab.indeed.com/2026/07/08/ai-and-job-postings-from-destruction-to-creation/"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eais.ai" TargetMode="External"/><Relationship Id="rId2" Type="http://schemas.openxmlformats.org/officeDocument/2006/relationships/notesSlide" Target="../notesSlides/notesSlide18.xml"/><Relationship Id="rId1" Type="http://schemas.openxmlformats.org/officeDocument/2006/relationships/slideLayout" Target="../slideLayouts/slideLayout11.xml"/><Relationship Id="rId4" Type="http://schemas.openxmlformats.org/officeDocument/2006/relationships/image" Target="../media/image22.jpe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lev-selector" TargetMode="External"/><Relationship Id="rId2" Type="http://schemas.openxmlformats.org/officeDocument/2006/relationships/notesSlide" Target="../notesSlides/notesSlide19.xml"/><Relationship Id="rId1" Type="http://schemas.openxmlformats.org/officeDocument/2006/relationships/slideLayout" Target="../slideLayouts/slideLayout11.xml"/><Relationship Id="rId5" Type="http://schemas.openxmlformats.org/officeDocument/2006/relationships/hyperlink" Target="https://drive.google.com/drive/folders/1dmj00iilSP-JYmriMUUaHCKz5X54e3UX?ths=true" TargetMode="External"/><Relationship Id="rId4" Type="http://schemas.openxmlformats.org/officeDocument/2006/relationships/hyperlink" Target="https://github.com/lselector/seminar"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hyperlink" Target="https://www.axios.com/2026/09/30/ftc-openai-anthropic-ai-safety-investigation" TargetMode="External"/><Relationship Id="rId2" Type="http://schemas.openxmlformats.org/officeDocument/2006/relationships/notesSlide" Target="../notesSlides/notesSlide21.xml"/><Relationship Id="rId1" Type="http://schemas.openxmlformats.org/officeDocument/2006/relationships/slideLayout" Target="../slideLayouts/slideLayout11.xml"/><Relationship Id="rId5" Type="http://schemas.openxmlformats.org/officeDocument/2006/relationships/hyperlink" Target="https://blogs.nvidia.com/blog/local-ai-dgx-spark-64gb-sync/" TargetMode="External"/><Relationship Id="rId4" Type="http://schemas.openxmlformats.org/officeDocument/2006/relationships/hyperlink" Target="https://www.implicator.ai/broadcom-agrees-to-lend-anthropic-up-to-42-billion-to-lease-chips-it-helps-desig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primeintellect.ai" TargetMode="External"/><Relationship Id="rId2" Type="http://schemas.openxmlformats.org/officeDocument/2006/relationships/notesSlide" Target="../notesSlides/notesSlide22.xml"/><Relationship Id="rId1" Type="http://schemas.openxmlformats.org/officeDocument/2006/relationships/slideLayout" Target="../slideLayouts/slideLayout11.xml"/><Relationship Id="rId4" Type="http://schemas.openxmlformats.org/officeDocument/2006/relationships/hyperlink" Target="https://www.primeintellect.ai/blog/prime-inferenc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36576" y="-27432"/>
            <a:ext cx="2754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 - Oct 9, 2026</a:t>
            </a:r>
            <a:endParaRPr sz="2000" b="1">
              <a:latin typeface="Calibri"/>
              <a:ea typeface="Calibri"/>
              <a:cs typeface="Calibri"/>
              <a:sym typeface="Calibri"/>
            </a:endParaRPr>
          </a:p>
        </p:txBody>
      </p:sp>
      <p:sp>
        <p:nvSpPr>
          <p:cNvPr id="55" name="Google Shape;55;p13"/>
          <p:cNvSpPr txBox="1"/>
          <p:nvPr/>
        </p:nvSpPr>
        <p:spPr>
          <a:xfrm>
            <a:off x="5349240" y="27432"/>
            <a:ext cx="3758100" cy="6768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i="1">
                <a:solidFill>
                  <a:srgbClr val="FF0000"/>
                </a:solidFill>
                <a:latin typeface="Calibri"/>
                <a:ea typeface="Calibri"/>
                <a:cs typeface="Calibri"/>
                <a:sym typeface="Calibri"/>
              </a:rPr>
              <a:t>Six labs signed a safety pact and picked their own referees.</a:t>
            </a:r>
            <a:endParaRPr sz="1800" b="1" i="1">
              <a:solidFill>
                <a:srgbClr val="FF0000"/>
              </a:solidFill>
              <a:latin typeface="Calibri"/>
              <a:ea typeface="Calibri"/>
              <a:cs typeface="Calibri"/>
              <a:sym typeface="Calibri"/>
            </a:endParaRPr>
          </a:p>
        </p:txBody>
      </p:sp>
      <p:sp>
        <p:nvSpPr>
          <p:cNvPr id="56" name="Google Shape;56;p13"/>
          <p:cNvSpPr txBox="1"/>
          <p:nvPr/>
        </p:nvSpPr>
        <p:spPr>
          <a:xfrm>
            <a:off x="36576" y="393192"/>
            <a:ext cx="4517100" cy="231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LM Arena Leaderboard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Artificial Analysis Intelligence Index</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Building Better Through Constraints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AI Agents Build a Complex App Feature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Kent Beck on Craft and AI-Assisted Development</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Manus 2.0 and Cue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Research - AI Improves Its Own Design</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Strata Runs 125 Bln Params Model on a Normal PC</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HumanLayer Multiplayer Agent Workspace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AI-Powered Video Editing Workflow</a:t>
            </a:r>
            <a:endParaRPr b="1">
              <a:solidFill>
                <a:srgbClr val="4472C4"/>
              </a:solidFill>
              <a:latin typeface="Calibri"/>
              <a:ea typeface="Calibri"/>
              <a:cs typeface="Calibri"/>
              <a:sym typeface="Calibri"/>
            </a:endParaRPr>
          </a:p>
        </p:txBody>
      </p:sp>
      <p:sp>
        <p:nvSpPr>
          <p:cNvPr id="57" name="Google Shape;57;p13"/>
          <p:cNvSpPr txBox="1"/>
          <p:nvPr/>
        </p:nvSpPr>
        <p:spPr>
          <a:xfrm>
            <a:off x="36576" y="2744216"/>
            <a:ext cx="4517100" cy="2314500"/>
          </a:xfrm>
          <a:prstGeom prst="rect">
            <a:avLst/>
          </a:prstGeom>
          <a:solidFill>
            <a:srgbClr val="E2F0D9"/>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Xiaomi HySparse2 Cuts Agent Context Costs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Salesforce JitMem: Memory on Demand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Zed + Claude + GitHub</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Chinese Chips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Alibaba’s V900 Chip</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Sign in with ChatGPT Spends Your Plan</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White House Super Intelligence Accord</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Microsoft MAI-Transcribe-2-Streaming</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Jobs &amp; Layoffs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Tech Hiring and Skills in Demand</a:t>
            </a:r>
            <a:endParaRPr b="1">
              <a:solidFill>
                <a:srgbClr val="4472C4"/>
              </a:solidFill>
              <a:latin typeface="Calibri"/>
              <a:ea typeface="Calibri"/>
              <a:cs typeface="Calibri"/>
              <a:sym typeface="Calibri"/>
            </a:endParaRPr>
          </a:p>
        </p:txBody>
      </p:sp>
      <p:sp>
        <p:nvSpPr>
          <p:cNvPr id="58" name="Google Shape;58;p13"/>
          <p:cNvSpPr txBox="1"/>
          <p:nvPr/>
        </p:nvSpPr>
        <p:spPr>
          <a:xfrm>
            <a:off x="4590288" y="768240"/>
            <a:ext cx="4517100" cy="330300"/>
          </a:xfrm>
          <a:prstGeom prst="rect">
            <a:avLst/>
          </a:prstGeom>
          <a:solidFill>
            <a:srgbClr val="DEEBF7"/>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xxx</a:t>
            </a:r>
            <a:endParaRPr b="1">
              <a:solidFill>
                <a:srgbClr val="4472C4"/>
              </a:solidFill>
              <a:latin typeface="Calibri"/>
              <a:ea typeface="Calibri"/>
              <a:cs typeface="Calibri"/>
              <a:sym typeface="Calibri"/>
            </a:endParaRPr>
          </a:p>
        </p:txBody>
      </p:sp>
      <p:sp>
        <p:nvSpPr>
          <p:cNvPr id="59" name="Google Shape;59;p13"/>
          <p:cNvSpPr txBox="1"/>
          <p:nvPr/>
        </p:nvSpPr>
        <p:spPr>
          <a:xfrm>
            <a:off x="4590288" y="1135016"/>
            <a:ext cx="4517100" cy="33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xxx</a:t>
            </a:r>
            <a:endParaRPr b="1">
              <a:solidFill>
                <a:srgbClr val="4472C4"/>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5" name="Google Shape;65;p14"/>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67" name="Google Shape;67;p14"/>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8" name="Google Shape;68;p14"/>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Oct 2</a:t>
            </a:r>
            <a:endParaRPr sz="1000">
              <a:latin typeface="Calibri"/>
              <a:ea typeface="Calibri"/>
              <a:cs typeface="Calibri"/>
              <a:sym typeface="Calibri"/>
            </a:endParaRPr>
          </a:p>
        </p:txBody>
      </p:sp>
      <p:graphicFrame>
        <p:nvGraphicFramePr>
          <p:cNvPr id="69" name="Google Shape;69;p14"/>
          <p:cNvGraphicFramePr/>
          <p:nvPr/>
        </p:nvGraphicFramePr>
        <p:xfrm>
          <a:off x="5742420" y="430065"/>
          <a:ext cx="3000000" cy="3000000"/>
        </p:xfrm>
        <a:graphic>
          <a:graphicData uri="http://schemas.openxmlformats.org/drawingml/2006/table">
            <a:tbl>
              <a:tblPr>
                <a:noFill/>
                <a:tableStyleId>{18E767F4-4288-4403-81C5-A06B085CE005}</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0" name="Google Shape;70;p14"/>
          <p:cNvSpPr txBox="1"/>
          <p:nvPr/>
        </p:nvSpPr>
        <p:spPr>
          <a:xfrm>
            <a:off x="6838390" y="485738"/>
            <a:ext cx="2152500" cy="232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Deepseek-v4.1-Flash - 552B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71" name="Google Shape;71;p14"/>
          <p:cNvGraphicFramePr/>
          <p:nvPr/>
        </p:nvGraphicFramePr>
        <p:xfrm>
          <a:off x="3075200" y="742403"/>
          <a:ext cx="3000000" cy="3000000"/>
        </p:xfrm>
        <a:graphic>
          <a:graphicData uri="http://schemas.openxmlformats.org/drawingml/2006/table">
            <a:tbl>
              <a:tblPr>
                <a:noFill/>
                <a:tableStyleId>{18E767F4-4288-4403-81C5-A06B085CE005}</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gemini-4-argon-high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1560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gpt-6.1-sol-max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mimo-v2.6-pro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238125">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claude-sonnet-5.5-xhigh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72" name="Google Shape;72;p14"/>
          <p:cNvGraphicFramePr/>
          <p:nvPr/>
        </p:nvGraphicFramePr>
        <p:xfrm>
          <a:off x="423650" y="745044"/>
          <a:ext cx="3000000" cy="3000000"/>
        </p:xfrm>
        <a:graphic>
          <a:graphicData uri="http://schemas.openxmlformats.org/drawingml/2006/table">
            <a:tbl>
              <a:tblPr>
                <a:noFill/>
                <a:tableStyleId>{18E767F4-4288-4403-81C5-A06B085CE005}</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gemini-4-argon-high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gpt-6.1-sol-max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5"/>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78" name="Google Shape;78;p15"/>
          <p:cNvSpPr txBox="1"/>
          <p:nvPr/>
        </p:nvSpPr>
        <p:spPr>
          <a:xfrm>
            <a:off x="52430" y="355163"/>
            <a:ext cx="4429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3"/>
              </a:rPr>
              <a:t>https://artificialanalysis.ai/evaluations/artificial-analysis-intelligence-index</a:t>
            </a:r>
            <a:endParaRPr sz="900" b="1">
              <a:solidFill>
                <a:srgbClr val="FF0000"/>
              </a:solidFill>
              <a:latin typeface="Calibri"/>
              <a:ea typeface="Calibri"/>
              <a:cs typeface="Calibri"/>
              <a:sym typeface="Calibri"/>
            </a:endParaRPr>
          </a:p>
        </p:txBody>
      </p:sp>
      <p:sp>
        <p:nvSpPr>
          <p:cNvPr id="79" name="Google Shape;79;p15"/>
          <p:cNvSpPr txBox="1"/>
          <p:nvPr/>
        </p:nvSpPr>
        <p:spPr>
          <a:xfrm>
            <a:off x="5934676" y="1088150"/>
            <a:ext cx="944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Oct 4</a:t>
            </a:r>
            <a:endParaRPr sz="1200" b="1">
              <a:solidFill>
                <a:srgbClr val="FF0000"/>
              </a:solidFill>
              <a:latin typeface="Calibri"/>
              <a:ea typeface="Calibri"/>
              <a:cs typeface="Calibri"/>
              <a:sym typeface="Calibri"/>
            </a:endParaRPr>
          </a:p>
        </p:txBody>
      </p:sp>
      <p:pic>
        <p:nvPicPr>
          <p:cNvPr id="80" name="Google Shape;80;p15" descr="auto: aa-index-chart"/>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11146" y="1598925"/>
            <a:ext cx="8534708" cy="3468749"/>
          </a:xfrm>
          <a:prstGeom prst="rect">
            <a:avLst/>
          </a:prstGeom>
          <a:noFill/>
          <a:ln w="9525" cap="flat" cmpd="sng">
            <a:solidFill>
              <a:srgbClr val="FF0000"/>
            </a:solidFill>
            <a:prstDash val="solid"/>
            <a:round/>
            <a:headEnd type="none" w="sm" len="sm"/>
            <a:tailEnd type="none" w="sm" len="sm"/>
          </a:ln>
        </p:spPr>
      </p:pic>
      <p:sp>
        <p:nvSpPr>
          <p:cNvPr id="81" name="Google Shape;81;p15"/>
          <p:cNvSpPr/>
          <p:nvPr/>
        </p:nvSpPr>
        <p:spPr>
          <a:xfrm>
            <a:off x="3228500" y="3424925"/>
            <a:ext cx="233100" cy="3837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6"/>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87" name="Google Shape;87;p16"/>
          <p:cNvSpPr txBox="1"/>
          <p:nvPr/>
        </p:nvSpPr>
        <p:spPr>
          <a:xfrm>
            <a:off x="36575" y="344662"/>
            <a:ext cx="54411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Building Better Through Constraints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David Heinemeier Hansson, 37signals co-owner and Basecamp creator, in a long-form interview</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argues that software improves when teams deliberately </a:t>
            </a:r>
            <a:r>
              <a:rPr lang="en" sz="1200" b="1">
                <a:solidFill>
                  <a:srgbClr val="FF0000"/>
                </a:solidFill>
                <a:latin typeface="Calibri"/>
                <a:ea typeface="Calibri"/>
                <a:cs typeface="Calibri"/>
                <a:sym typeface="Calibri"/>
              </a:rPr>
              <a:t>limit features, resources, and interruptions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discussion covers Basecamp’s 2004 launch, current AI-assisted development, and his work on the Omarchy Linux distribution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abundant resources and large teams can encourage bloated products, forced upgrades, and needless complexity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Solution: </a:t>
            </a:r>
            <a:r>
              <a:rPr lang="en" sz="1200" b="1">
                <a:solidFill>
                  <a:srgbClr val="3C78D8"/>
                </a:solidFill>
                <a:latin typeface="Calibri"/>
                <a:ea typeface="Calibri"/>
                <a:cs typeface="Calibri"/>
                <a:sym typeface="Calibri"/>
              </a:rPr>
              <a:t>Preserve constraints, keep proven software stable, build for real jobs</a:t>
            </a:r>
            <a:r>
              <a:rPr lang="en" sz="1200">
                <a:solidFill>
                  <a:schemeClr val="dk1"/>
                </a:solidFill>
                <a:latin typeface="Calibri"/>
                <a:ea typeface="Calibri"/>
                <a:cs typeface="Calibri"/>
                <a:sym typeface="Calibri"/>
              </a:rPr>
              <a:t>, and favor </a:t>
            </a:r>
            <a:r>
              <a:rPr lang="en" sz="1200" b="1">
                <a:solidFill>
                  <a:srgbClr val="FF0000"/>
                </a:solidFill>
                <a:latin typeface="Calibri"/>
                <a:ea typeface="Calibri"/>
                <a:cs typeface="Calibri"/>
                <a:sym typeface="Calibri"/>
              </a:rPr>
              <a:t>focused small teams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Achievement: </a:t>
            </a:r>
            <a:r>
              <a:rPr lang="en" sz="1200" b="1">
                <a:solidFill>
                  <a:srgbClr val="3C78D8"/>
                </a:solidFill>
                <a:latin typeface="Calibri"/>
                <a:ea typeface="Calibri"/>
                <a:cs typeface="Calibri"/>
                <a:sym typeface="Calibri"/>
              </a:rPr>
              <a:t>Basecamp was initially built in 380 hours </a:t>
            </a:r>
            <a:r>
              <a:rPr lang="en" sz="1200">
                <a:solidFill>
                  <a:schemeClr val="dk1"/>
                </a:solidFill>
                <a:latin typeface="Calibri"/>
                <a:ea typeface="Calibri"/>
                <a:cs typeface="Calibri"/>
                <a:sym typeface="Calibri"/>
              </a:rPr>
              <a:t>and still supports profitable legacy versions for longtime customers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lesson: Use AI to sharpen judgment - not merely to produce more code.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https://www.youtube.com/watch?v=76rR68ktQvo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https://basecamp.com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https://37signals.com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https://omarchy.us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88" name="Google Shape;88;p1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30075" y="152400"/>
            <a:ext cx="2341200" cy="2048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94" name="Google Shape;94;p17"/>
          <p:cNvSpPr txBox="1"/>
          <p:nvPr/>
        </p:nvSpPr>
        <p:spPr>
          <a:xfrm>
            <a:off x="36575" y="344662"/>
            <a:ext cx="5441100" cy="283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Agents Build a Complex App Feature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of Enjoy, an AI-agent app, describes using </a:t>
            </a:r>
            <a:r>
              <a:rPr lang="en" sz="1200" b="1">
                <a:solidFill>
                  <a:srgbClr val="FF0000"/>
                </a:solidFill>
                <a:latin typeface="Calibri"/>
                <a:ea typeface="Calibri"/>
                <a:cs typeface="Calibri"/>
                <a:sym typeface="Calibri"/>
              </a:rPr>
              <a:t>Claude Opus 5.5 in Ultra Code</a:t>
            </a:r>
            <a:r>
              <a:rPr lang="en" sz="1200">
                <a:solidFill>
                  <a:schemeClr val="dk1"/>
                </a:solidFill>
                <a:latin typeface="Calibri"/>
                <a:ea typeface="Calibri"/>
                <a:cs typeface="Calibri"/>
                <a:sym typeface="Calibri"/>
              </a:rPr>
              <a:t> to implement a 2,700-line specification for team collaboration.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involved redesigning the app for multiple users and coordinating phones, browsers, desktop clients, a relay server, and encrypted traffic.</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creator says the agent worked for about seven hours, using dozens of implementation and review agents, with tests and CI checks.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reports that the feature matched the specification and worked well, contrasting it with earlier agents that failed on smaller tasks and left codebases broken.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His proposed shift is </a:t>
            </a:r>
            <a:r>
              <a:rPr lang="en" sz="1200" b="1">
                <a:solidFill>
                  <a:srgbClr val="FF0000"/>
                </a:solidFill>
                <a:latin typeface="Calibri"/>
                <a:ea typeface="Calibri"/>
                <a:cs typeface="Calibri"/>
                <a:sym typeface="Calibri"/>
              </a:rPr>
              <a:t>from manually reviewing every line to evolutionary coding</a:t>
            </a:r>
            <a:r>
              <a:rPr lang="en" sz="1200">
                <a:solidFill>
                  <a:schemeClr val="dk1"/>
                </a:solidFill>
                <a:latin typeface="Calibri"/>
                <a:ea typeface="Calibri"/>
                <a:cs typeface="Calibri"/>
                <a:sym typeface="Calibri"/>
              </a:rPr>
              <a:t>: </a:t>
            </a:r>
            <a:r>
              <a:rPr lang="en" sz="1200" b="1">
                <a:solidFill>
                  <a:srgbClr val="FF0000"/>
                </a:solidFill>
                <a:latin typeface="Calibri"/>
                <a:ea typeface="Calibri"/>
                <a:cs typeface="Calibri"/>
                <a:sym typeface="Calibri"/>
              </a:rPr>
              <a:t>automated tests, adversarial agent reviews, and production results guide iteration</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achievement suggests AI may shorten complex development and change engineering practice.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https://www.anthropic.com/claude-opus-5-5</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https://platform.claude.com/docs/en/models/opus-5-5/overview</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https://www.youtube.com/watch?v=2zLuYU_Ub_0</a:t>
            </a:r>
            <a:endParaRPr sz="900">
              <a:solidFill>
                <a:schemeClr val="dk1"/>
              </a:solidFill>
              <a:latin typeface="Calibri"/>
              <a:ea typeface="Calibri"/>
              <a:cs typeface="Calibri"/>
              <a:sym typeface="Calibri"/>
            </a:endParaRPr>
          </a:p>
        </p:txBody>
      </p:sp>
      <p:pic>
        <p:nvPicPr>
          <p:cNvPr id="95" name="Google Shape;95;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603500" y="354796"/>
            <a:ext cx="2296475" cy="21438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36576" y="-27432"/>
            <a:ext cx="3517200" cy="384000"/>
          </a:xfrm>
          <a:prstGeom prst="rect">
            <a:avLst/>
          </a:prstGeom>
          <a:noFill/>
          <a:ln>
            <a:noFill/>
          </a:ln>
        </p:spPr>
        <p:txBody>
          <a:bodyPr spcFirstLastPara="1" wrap="square" lIns="9125" tIns="9125" rIns="9125" bIns="9125" anchor="t" anchorCtr="0">
            <a:noAutofit/>
          </a:bodyPr>
          <a:lstStyle/>
          <a:p>
            <a:pPr marL="0" lvl="0" indent="0" algn="l" rtl="0">
              <a:spcBef>
                <a:spcPts val="0"/>
              </a:spcBef>
              <a:spcAft>
                <a:spcPts val="0"/>
              </a:spcAft>
              <a:buNone/>
            </a:pPr>
            <a:r>
              <a:rPr lang="en" sz="2000" b="1">
                <a:latin typeface="Calibri"/>
                <a:ea typeface="Calibri"/>
                <a:cs typeface="Calibri"/>
                <a:sym typeface="Calibri"/>
              </a:rPr>
              <a:t>Weekly videos every Friday</a:t>
            </a:r>
            <a:endParaRPr sz="2000" b="1">
              <a:latin typeface="Calibri"/>
              <a:ea typeface="Calibri"/>
              <a:cs typeface="Calibri"/>
              <a:sym typeface="Calibri"/>
            </a:endParaRPr>
          </a:p>
        </p:txBody>
      </p:sp>
      <p:pic>
        <p:nvPicPr>
          <p:cNvPr id="101" name="Google Shape;101;p18" descr="auto: youtube-videos"/>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349500" y="820188"/>
            <a:ext cx="2461825" cy="3029939"/>
          </a:xfrm>
          <a:prstGeom prst="rect">
            <a:avLst/>
          </a:prstGeom>
          <a:noFill/>
          <a:ln w="9525" cap="flat" cmpd="sng">
            <a:solidFill>
              <a:srgbClr val="FF0000"/>
            </a:solidFill>
            <a:prstDash val="solid"/>
            <a:round/>
            <a:headEnd type="none" w="sm" len="sm"/>
            <a:tailEnd type="none" w="sm" len="sm"/>
          </a:ln>
        </p:spPr>
      </p:pic>
      <p:pic>
        <p:nvPicPr>
          <p:cNvPr id="102" name="Google Shape;102;p18" descr="auto: youtube-shorts"/>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907179" y="2700257"/>
            <a:ext cx="2139718" cy="2243351"/>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102375" y="725485"/>
            <a:ext cx="4161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Weekly videos every Friday</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latin typeface="Calibri"/>
                <a:ea typeface="Calibri"/>
                <a:cs typeface="Calibri"/>
                <a:sym typeface="Calibri"/>
              </a:rPr>
              <a:t>7.58K subscribers, 352 videos</a:t>
            </a: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1. Subscribe to this channel </a:t>
            </a:r>
            <a:r>
              <a:rPr lang="en" sz="1800" b="1"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https://www.youtube.com/@lev-selector</a:t>
            </a:r>
            <a:r>
              <a:rPr lang="en" sz="1800" b="1">
                <a:solidFill>
                  <a:srgbClr val="000000"/>
                </a:solidFill>
                <a:latin typeface="Calibri"/>
                <a:ea typeface="Calibri"/>
                <a:cs typeface="Calibri"/>
                <a:sym typeface="Calibri"/>
              </a:rPr>
              <a:t> </a:t>
            </a:r>
            <a:endParaRPr sz="1800" b="1">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2. Download slides from GitHub using links under the videos</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09" name="Google Shape;109;p19"/>
          <p:cNvSpPr txBox="1"/>
          <p:nvPr/>
        </p:nvSpPr>
        <p:spPr>
          <a:xfrm>
            <a:off x="121300" y="298975"/>
            <a:ext cx="4379400" cy="380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Kent Beck on Craft and AI-Assisted Development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Kent Beck is known for his book Extreme Programming (XP, 1999) - Agile approach to building software - deliver small improvements often, get feedback quickly, and adapt rather than trying to plan everything up front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https://en.wikipedia.org/wiki/Extreme_Programming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https://extremeprogrammingalliance.com/about-extreme-programming-xp/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Common XP practices include: Test-driven development (TDD), Pair programming, Continuous integration, Small releases and regular customer feedback, Refactoring: improve the code’s structure</a:t>
            </a:r>
            <a:br>
              <a:rPr lang="en" sz="900">
                <a:solidFill>
                  <a:schemeClr val="dk1"/>
                </a:solidFill>
                <a:latin typeface="Calibri"/>
                <a:ea typeface="Calibri"/>
                <a:cs typeface="Calibri"/>
                <a:sym typeface="Calibri"/>
              </a:rPr>
            </a:br>
            <a:r>
              <a:rPr lang="en" sz="900" u="sng">
                <a:solidFill>
                  <a:schemeClr val="hlink"/>
                </a:solidFill>
                <a:latin typeface="Calibri"/>
                <a:ea typeface="Calibri"/>
                <a:cs typeface="Calibri"/>
                <a:sym typeface="Calibri"/>
                <a:hlinkClick r:id="rId5"/>
              </a:rPr>
              <a:t>https://www.agile-academy.com/en/agile-dictionary/extreme-programming/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Kent Beck warns that AI-generated code may be broken; developers must verify behavior rather than trust appearances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His solution: work iteratively, test continuously, and alternate shipping features with refactoring that preserves future choices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balance enables learning and keeps software adaptable, instead of rapidly accumulating complexity until change becomes dangerous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Beck argues that code volume do not prove progress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https://www.youtube.com/watch?v=aSXaxOdVtAQ</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https://kentbeck.com</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https://newsletter.pragmaticengineer.com/p/how-kent-beck-shapes-the-software</a:t>
            </a:r>
            <a:endParaRPr sz="900">
              <a:solidFill>
                <a:schemeClr val="dk1"/>
              </a:solidFill>
              <a:latin typeface="Calibri"/>
              <a:ea typeface="Calibri"/>
              <a:cs typeface="Calibri"/>
              <a:sym typeface="Calibri"/>
            </a:endParaRPr>
          </a:p>
        </p:txBody>
      </p:sp>
      <p:pic>
        <p:nvPicPr>
          <p:cNvPr id="110" name="Google Shape;110;p1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278286" y="1501001"/>
            <a:ext cx="926689" cy="1228650"/>
          </a:xfrm>
          <a:prstGeom prst="rect">
            <a:avLst/>
          </a:prstGeom>
          <a:noFill/>
          <a:ln w="9525" cap="flat" cmpd="sng">
            <a:solidFill>
              <a:srgbClr val="FF0000"/>
            </a:solidFill>
            <a:prstDash val="solid"/>
            <a:round/>
            <a:headEnd type="none" w="sm" len="sm"/>
            <a:tailEnd type="none" w="sm" len="sm"/>
          </a:ln>
        </p:spPr>
      </p:pic>
      <p:pic>
        <p:nvPicPr>
          <p:cNvPr id="111" name="Google Shape;111;p1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308900" y="1501000"/>
            <a:ext cx="1255950" cy="122864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17" name="Google Shape;117;p20"/>
          <p:cNvSpPr txBox="1"/>
          <p:nvPr/>
        </p:nvSpPr>
        <p:spPr>
          <a:xfrm>
            <a:off x="121491" y="405316"/>
            <a:ext cx="54411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Manus 2.0 and Cue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app - web, desktop, and mobile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Manus’s Cascade harness, Studio, and cloud computers let agents handle projects, edit videos, build games, run automations, and work remotely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Cue gives each agent an email, phone number, wallet, and computer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https://manus.im/blog/introducing-manus-2-0</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https://www.youtube.com/watch?v=L75zF2WKiVE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18" name="Google Shape;118;p20"/>
          <p:cNvSpPr txBox="1"/>
          <p:nvPr/>
        </p:nvSpPr>
        <p:spPr>
          <a:xfrm>
            <a:off x="97229" y="1809677"/>
            <a:ext cx="5010000" cy="3204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Research - AI Improves Its Own Design</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Weco’s AIDE² experiment - "autoresearch on autoresearch"</a:t>
            </a:r>
            <a:endParaRPr sz="1200" b="1">
              <a:solidFill>
                <a:srgbClr val="3C78D8"/>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Used two nested AI-agent loops.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inner agent tried to improve solutions to research and engineering tasks;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outer agent repeatedly rewrote the inner agent’s harness code, evaluated the rewrite under a fixed cost budget, and kept it only if it improved on a hidden score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system changed the agent’s scaffolding, not the underlying model weights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Over eight days, the system ran 100 rounds, proposing and testing changes; seven upgrades survived hidden evaluations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Its best version, </a:t>
            </a:r>
            <a:r>
              <a:rPr lang="en" sz="1200" b="1">
                <a:solidFill>
                  <a:srgbClr val="FF0000"/>
                </a:solidFill>
                <a:latin typeface="Calibri"/>
                <a:ea typeface="Calibri"/>
                <a:cs typeface="Calibri"/>
                <a:sym typeface="Calibri"/>
              </a:rPr>
              <a:t>AIDE85, outperformed Weco’s two-year, hand-tuned baseline </a:t>
            </a:r>
            <a:r>
              <a:rPr lang="en" sz="1200">
                <a:solidFill>
                  <a:schemeClr val="dk1"/>
                </a:solidFill>
                <a:latin typeface="Calibri"/>
                <a:ea typeface="Calibri"/>
                <a:cs typeface="Calibri"/>
                <a:sym typeface="Calibri"/>
              </a:rPr>
              <a:t>on held-out benchmarks under a fixed budget.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result offers public evidence for level-one recursive self-improvement: </a:t>
            </a:r>
            <a:br>
              <a:rPr lang="en" sz="1200">
                <a:solidFill>
                  <a:schemeClr val="dk1"/>
                </a:solidFill>
                <a:latin typeface="Calibri"/>
                <a:ea typeface="Calibri"/>
                <a:cs typeface="Calibri"/>
                <a:sym typeface="Calibri"/>
              </a:rPr>
            </a:br>
            <a:r>
              <a:rPr lang="en" sz="1200" b="1">
                <a:solidFill>
                  <a:srgbClr val="FF0000"/>
                </a:solidFill>
                <a:latin typeface="Calibri"/>
                <a:ea typeface="Calibri"/>
                <a:cs typeface="Calibri"/>
                <a:sym typeface="Calibri"/>
              </a:rPr>
              <a:t>an AI system improving faster than manual tuning</a:t>
            </a:r>
            <a:endParaRPr sz="1200" b="1">
              <a:solidFill>
                <a:srgbClr val="FF0000"/>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https://www.weco.ai/blog/first-evidence-of-recursive-self-improvement</a:t>
            </a:r>
            <a:endParaRPr sz="900">
              <a:solidFill>
                <a:schemeClr val="dk1"/>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https://arxiv.org/abs/2609.26457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https://openai.com/index/path-to-astra/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19" name="Google Shape;119;p20"/>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5630075" y="152400"/>
            <a:ext cx="2997878" cy="1411150"/>
          </a:xfrm>
          <a:prstGeom prst="rect">
            <a:avLst/>
          </a:prstGeom>
          <a:noFill/>
          <a:ln w="9525" cap="flat" cmpd="sng">
            <a:solidFill>
              <a:srgbClr val="FF0000"/>
            </a:solidFill>
            <a:prstDash val="solid"/>
            <a:round/>
            <a:headEnd type="none" w="sm" len="sm"/>
            <a:tailEnd type="none" w="sm" len="sm"/>
          </a:ln>
        </p:spPr>
      </p:pic>
      <p:pic>
        <p:nvPicPr>
          <p:cNvPr id="120" name="Google Shape;120;p2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168575" y="1941650"/>
            <a:ext cx="3920876" cy="29406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1"/>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26" name="Google Shape;126;p21"/>
          <p:cNvSpPr txBox="1"/>
          <p:nvPr/>
        </p:nvSpPr>
        <p:spPr>
          <a:xfrm>
            <a:off x="91725" y="379825"/>
            <a:ext cx="34626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Strata Runs 125 Bln Params Model on a Normal PC</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 Niko1221 published Strata on GitHub to run Qwen3.8-Flash-Next locally  -125 Bln params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45 tok/sec on RTX 5070 + 64GB RAM for 128K context</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Strata splits work across GPU, system RAM and SSD: the GPU handles shared operations and cached experts, while CPU and SSD provide additional model data</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https://github.com/Niko1221/Strata</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https://huggingface.co/collections/Qwen/Qwen3.8-Flash-Next</a:t>
            </a:r>
            <a:endParaRPr sz="900">
              <a:solidFill>
                <a:schemeClr val="dk1"/>
              </a:solidFill>
              <a:latin typeface="Calibri"/>
              <a:ea typeface="Calibri"/>
              <a:cs typeface="Calibri"/>
              <a:sym typeface="Calibri"/>
            </a:endParaRPr>
          </a:p>
        </p:txBody>
      </p:sp>
      <p:pic>
        <p:nvPicPr>
          <p:cNvPr id="127" name="Google Shape;127;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658225" y="379825"/>
            <a:ext cx="5415674" cy="2906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2"/>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33" name="Google Shape;133;p22"/>
          <p:cNvSpPr txBox="1"/>
          <p:nvPr/>
        </p:nvSpPr>
        <p:spPr>
          <a:xfrm>
            <a:off x="36575" y="344650"/>
            <a:ext cx="38331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HumanLayer - The Multiplayer Coding Agent Workspace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TL;DR - AI agents can implement features quickly, but humans must retain product, architectural, and program-design control</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Coding factories can create unreviewed, poorly structured code, leaving teams unable to diagnose serious bugs months later</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Solution: </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Define measurable user outcomes, architecture, interfaces, tests, and small end-to-end vertical slices before agents generate large changes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approach shifts engineers toward high-leverage design, verification, and prioritization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Benchmarks that merely pass tests do not measure maintainability; sustained human understanding and feedback remain essential</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https://humanlayer.com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https://x.com/dexhorthy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4" name="Google Shape;134;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973609" y="332521"/>
            <a:ext cx="5085474" cy="3814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0" name="Google Shape;140;p23"/>
          <p:cNvSpPr txBox="1"/>
          <p:nvPr/>
        </p:nvSpPr>
        <p:spPr>
          <a:xfrm>
            <a:off x="85100" y="344650"/>
            <a:ext cx="53250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AI-Powered Video Editing Workflow</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Code using Claude Opus 5.5</a:t>
            </a:r>
            <a:r>
              <a:rPr lang="en" sz="1200">
                <a:solidFill>
                  <a:srgbClr val="3C78D8"/>
                </a:solidFill>
                <a:latin typeface="Calibri"/>
                <a:ea typeface="Calibri"/>
                <a:cs typeface="Calibri"/>
                <a:sym typeface="Calibri"/>
              </a:rPr>
              <a:t> </a:t>
            </a:r>
            <a:r>
              <a:rPr lang="en" sz="1200">
                <a:solidFill>
                  <a:schemeClr val="dk1"/>
                </a:solidFill>
                <a:latin typeface="Calibri"/>
                <a:ea typeface="Calibri"/>
                <a:cs typeface="Calibri"/>
                <a:sym typeface="Calibri"/>
              </a:rPr>
              <a:t>edits footage with </a:t>
            </a:r>
            <a:r>
              <a:rPr lang="en" sz="1200" b="1">
                <a:solidFill>
                  <a:srgbClr val="FF0000"/>
                </a:solidFill>
                <a:latin typeface="Calibri"/>
                <a:ea typeface="Calibri"/>
                <a:cs typeface="Calibri"/>
                <a:sym typeface="Calibri"/>
              </a:rPr>
              <a:t>HyperFrames or Remotion</a:t>
            </a:r>
            <a:r>
              <a:rPr lang="en" sz="1200">
                <a:solidFill>
                  <a:schemeClr val="dk1"/>
                </a:solidFill>
                <a:latin typeface="Calibri"/>
                <a:ea typeface="Calibri"/>
                <a:cs typeface="Calibri"/>
                <a:sym typeface="Calibri"/>
              </a:rPr>
              <a:t> (HMLT, CSS, React), previews results, and revises them from feedback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connected MCP service, such as </a:t>
            </a:r>
            <a:r>
              <a:rPr lang="en" sz="1200" b="1">
                <a:solidFill>
                  <a:srgbClr val="3C78D8"/>
                </a:solidFill>
                <a:latin typeface="Calibri"/>
                <a:ea typeface="Calibri"/>
                <a:cs typeface="Calibri"/>
                <a:sym typeface="Calibri"/>
              </a:rPr>
              <a:t>Blotato</a:t>
            </a:r>
            <a:r>
              <a:rPr lang="en" sz="1200">
                <a:solidFill>
                  <a:schemeClr val="dk1"/>
                </a:solidFill>
                <a:latin typeface="Calibri"/>
                <a:ea typeface="Calibri"/>
                <a:cs typeface="Calibri"/>
                <a:sym typeface="Calibri"/>
              </a:rPr>
              <a:t>, can publish the finished video and accompanying post to social accounts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presenter reports a polished edit after roughly 10 minutes and one feedback round, suggesting a faster content-production process</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https://www.youtube.com/watch?v=flXfwevUJTk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https://github.com/heygen-com/hyperframes</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https://www.remotion.dev</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https://www.blotato.com/mcp</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https://aiprofitboardroom.com</a:t>
            </a:r>
            <a:endParaRPr sz="900">
              <a:solidFill>
                <a:schemeClr val="dk1"/>
              </a:solidFill>
              <a:latin typeface="Calibri"/>
              <a:ea typeface="Calibri"/>
              <a:cs typeface="Calibri"/>
              <a:sym typeface="Calibri"/>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brew install node ffmpeg</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hyperframes init my-video</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cd my-video</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skills add heygen-com/hyperframes</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In Claude Code: </a:t>
            </a:r>
            <a:r>
              <a:rPr lang="en" sz="900">
                <a:solidFill>
                  <a:srgbClr val="CC0000"/>
                </a:solidFill>
                <a:latin typeface="Roboto Mono"/>
                <a:ea typeface="Roboto Mono"/>
                <a:cs typeface="Roboto Mono"/>
                <a:sym typeface="Roboto Mono"/>
              </a:rPr>
              <a:t>/hyperframes </a:t>
            </a:r>
            <a:r>
              <a:rPr lang="en" sz="900">
                <a:solidFill>
                  <a:srgbClr val="6AA84F"/>
                </a:solidFill>
                <a:latin typeface="Roboto Mono"/>
                <a:ea typeface="Roboto Mono"/>
                <a:cs typeface="Roboto Mono"/>
                <a:sym typeface="Roboto Mono"/>
              </a:rPr>
              <a:t>Create a 20-second, 16:9 video introducing my home-networking consulting service. Use a clean, modern style, animated network diagrams, and a title card at the end.</a:t>
            </a:r>
            <a:endParaRPr sz="900">
              <a:solidFill>
                <a:srgbClr val="6AA84F"/>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hyperframes preview</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hyperframes render</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create-video@latest</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cd your-project-name</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npx skills add remotion-dev/skills</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npm run dev</a:t>
            </a:r>
            <a:endParaRPr sz="900">
              <a:solidFill>
                <a:srgbClr val="3C78D8"/>
              </a:solidFill>
              <a:latin typeface="Roboto Mono"/>
              <a:ea typeface="Roboto Mono"/>
              <a:cs typeface="Roboto Mono"/>
              <a:sym typeface="Roboto Mono"/>
            </a:endParaRPr>
          </a:p>
          <a:p>
            <a:pPr marL="171450" lvl="0" indent="-114300" algn="l" rtl="0">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Then in Claude Code: </a:t>
            </a:r>
            <a:r>
              <a:rPr lang="en" sz="900">
                <a:solidFill>
                  <a:srgbClr val="6AA84F"/>
                </a:solidFill>
                <a:latin typeface="Roboto Mono"/>
                <a:ea typeface="Roboto Mono"/>
                <a:cs typeface="Roboto Mono"/>
                <a:sym typeface="Roboto Mono"/>
              </a:rPr>
              <a:t>Create a 20-second, 16:9 video introducing my home-networking consulting service. Use animated network diagrams, a clean modern style, and a title card at the end.</a:t>
            </a:r>
            <a:endParaRPr sz="900">
              <a:solidFill>
                <a:srgbClr val="6AA84F"/>
              </a:solidFill>
              <a:latin typeface="Roboto Mono"/>
              <a:ea typeface="Roboto Mono"/>
              <a:cs typeface="Roboto Mono"/>
              <a:sym typeface="Roboto Mono"/>
            </a:endParaRPr>
          </a:p>
        </p:txBody>
      </p:sp>
      <p:pic>
        <p:nvPicPr>
          <p:cNvPr id="141" name="Google Shape;141;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480050" y="666750"/>
            <a:ext cx="3606801" cy="27051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7" name="Google Shape;147;p24"/>
          <p:cNvSpPr txBox="1"/>
          <p:nvPr/>
        </p:nvSpPr>
        <p:spPr>
          <a:xfrm>
            <a:off x="74675" y="344650"/>
            <a:ext cx="4487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Xiaomi HySparse2 Cuts Agent Context Costs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KV bridging reuse between layers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Xiaomi reports 4.5 times reduction of KV cache size, and 5 times fewer prefill FLOPs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Retrieval also improved on the reported 256K-token test</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DeepSeek’s V4.1-Flash uses related techniques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parallel designs highlight </a:t>
            </a:r>
            <a:r>
              <a:rPr lang="en" sz="1200" b="1">
                <a:solidFill>
                  <a:srgbClr val="FF0000"/>
                </a:solidFill>
                <a:latin typeface="Calibri"/>
                <a:ea typeface="Calibri"/>
                <a:cs typeface="Calibri"/>
                <a:sym typeface="Calibri"/>
              </a:rPr>
              <a:t>cache reuse as a key direction for long-context agents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https://www.youtube.com/watch?v=eXad7m0TjVM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https://arxiv.org/abs/2609.26368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https://arxiv.org/html/2609.19969v1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https://arxiv.org/abs/2405.05254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48" name="Google Shape;148;p24"/>
          <p:cNvSpPr txBox="1"/>
          <p:nvPr/>
        </p:nvSpPr>
        <p:spPr>
          <a:xfrm>
            <a:off x="74675" y="2499325"/>
            <a:ext cx="47640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Salesforce JitMem: Memory on Demand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Just-in-Time Memory (JitMem) method stores successful agents’ full interaction trajectories, then has a curator create a task-specific briefing when a new task arrives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beat the strongest write-time memory baseline across 3 benchmarks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approach preserves flexible evidence, though its usefulness still depends on the curator’s reasoning.</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https://www.youtube.com/watch?v=pSkh-mNd9LQ</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https://arxiv.org/abs/2609.27334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https://aiweekly.co/alerts/jitmem-curates-llm-agent-memory-at-read-time-not-write-time</a:t>
            </a:r>
            <a:endParaRPr sz="900">
              <a:solidFill>
                <a:schemeClr val="dk1"/>
              </a:solidFill>
              <a:latin typeface="Calibri"/>
              <a:ea typeface="Calibri"/>
              <a:cs typeface="Calibri"/>
              <a:sym typeface="Calibri"/>
            </a:endParaRPr>
          </a:p>
        </p:txBody>
      </p:sp>
      <p:pic>
        <p:nvPicPr>
          <p:cNvPr id="149" name="Google Shape;149;p24"/>
          <p:cNvPicPr preferRelativeResize="0"/>
          <p:nvPr/>
        </p:nvPicPr>
        <p:blipFill>
          <a:blip r:embed="rId10">
            <a:alphaModFix/>
          </a:blip>
          <a:stretch>
            <a:fillRect/>
          </a:stretch>
        </p:blipFill>
        <p:spPr>
          <a:xfrm>
            <a:off x="5305400" y="512500"/>
            <a:ext cx="3048000" cy="1714500"/>
          </a:xfrm>
          <a:prstGeom prst="rect">
            <a:avLst/>
          </a:prstGeom>
          <a:noFill/>
          <a:ln w="9525" cap="flat" cmpd="sng">
            <a:solidFill>
              <a:srgbClr val="FF0000"/>
            </a:solidFill>
            <a:prstDash val="solid"/>
            <a:round/>
            <a:headEnd type="none" w="sm" len="sm"/>
            <a:tailEnd type="none" w="sm" len="sm"/>
          </a:ln>
        </p:spPr>
      </p:pic>
      <p:pic>
        <p:nvPicPr>
          <p:cNvPr id="150" name="Google Shape;150;p24"/>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991075" y="2379400"/>
            <a:ext cx="4000527" cy="223285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5"/>
          <p:cNvSpPr txBox="1"/>
          <p:nvPr/>
        </p:nvSpPr>
        <p:spPr>
          <a:xfrm>
            <a:off x="36573" y="0"/>
            <a:ext cx="2056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Zed + Claude</a:t>
            </a:r>
            <a:endParaRPr sz="2000" b="1">
              <a:latin typeface="Calibri"/>
              <a:ea typeface="Calibri"/>
              <a:cs typeface="Calibri"/>
              <a:sym typeface="Calibri"/>
            </a:endParaRPr>
          </a:p>
        </p:txBody>
      </p:sp>
      <p:sp>
        <p:nvSpPr>
          <p:cNvPr id="156" name="Google Shape;156;p25"/>
          <p:cNvSpPr txBox="1"/>
          <p:nvPr/>
        </p:nvSpPr>
        <p:spPr>
          <a:xfrm>
            <a:off x="109350" y="417450"/>
            <a:ext cx="35421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Install Zed: On macOS, use Homebrew or download the app; on Windows, use winget or the installer; on Linux, run Zed’s install script - </a:t>
            </a:r>
            <a:r>
              <a:rPr lang="en" sz="1200" u="sng">
                <a:solidFill>
                  <a:schemeClr val="hlink"/>
                </a:solidFill>
                <a:latin typeface="Calibri"/>
                <a:ea typeface="Calibri"/>
                <a:cs typeface="Calibri"/>
                <a:sym typeface="Calibri"/>
                <a:hlinkClick r:id="rId3"/>
              </a:rPr>
              <a:t>https://zed.dev/docs/installation</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Open Zed and launch the Agent Panel with Cmd-? on macOS or Ctrl-? on Windows/Linux</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Install Claude Agent: Open the command palette and run “zed: acp registry,” or open Agent Settings, select External Agents, then Add Agent → Install from Registry. Choose Claude.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Start a new Claude Agent thread from the Agent Panel or Threads Sidebar.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Authenticate when prompted, or enter /login in the Claude thread to choose an available sign-in method. Claude Agent handles its own authentication and billing; Use Pro or Max subscription to save money</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Open a project and ask Claude to explain, edit, or debug code.</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https://zed.dev/docs/ai/external-agents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Ask Claude to download and install rules and skills under </a:t>
            </a:r>
            <a:r>
              <a:rPr lang="en" sz="1200" b="1">
                <a:solidFill>
                  <a:srgbClr val="3C78D8"/>
                </a:solidFill>
                <a:latin typeface="Calibri"/>
                <a:ea typeface="Calibri"/>
                <a:cs typeface="Calibri"/>
                <a:sym typeface="Calibri"/>
              </a:rPr>
              <a:t>~/.claude/</a:t>
            </a:r>
            <a:r>
              <a:rPr lang="en" sz="1200">
                <a:solidFill>
                  <a:schemeClr val="dk1"/>
                </a:solidFill>
                <a:latin typeface="Calibri"/>
                <a:ea typeface="Calibri"/>
                <a:cs typeface="Calibri"/>
                <a:sym typeface="Calibri"/>
              </a:rPr>
              <a:t> from this repo:</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https://github.com/lselector/agent-toolkit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7" name="Google Shape;157;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760575" y="417450"/>
            <a:ext cx="5315948" cy="29564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6"/>
          <p:cNvSpPr txBox="1"/>
          <p:nvPr/>
        </p:nvSpPr>
        <p:spPr>
          <a:xfrm>
            <a:off x="36573" y="0"/>
            <a:ext cx="2056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Chinese Chips</a:t>
            </a:r>
            <a:endParaRPr sz="2000" b="1">
              <a:latin typeface="Calibri"/>
              <a:ea typeface="Calibri"/>
              <a:cs typeface="Calibri"/>
              <a:sym typeface="Calibri"/>
            </a:endParaRPr>
          </a:p>
        </p:txBody>
      </p:sp>
      <p:sp>
        <p:nvSpPr>
          <p:cNvPr id="163" name="Google Shape;163;p26"/>
          <p:cNvSpPr txBox="1"/>
          <p:nvPr/>
        </p:nvSpPr>
        <p:spPr>
          <a:xfrm>
            <a:off x="36575" y="502350"/>
            <a:ext cx="45354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Chinese Chips</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Ascend by Huawei </a:t>
            </a:r>
            <a:r>
              <a:rPr lang="en" sz="1200">
                <a:solidFill>
                  <a:schemeClr val="dk1"/>
                </a:solidFill>
                <a:latin typeface="Calibri"/>
                <a:ea typeface="Calibri"/>
                <a:cs typeface="Calibri"/>
                <a:sym typeface="Calibri"/>
              </a:rPr>
              <a:t>— 812K chips shipped in 2025.</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Zhenwu by Alibaba T-Head </a:t>
            </a:r>
            <a:r>
              <a:rPr lang="en" sz="1200">
                <a:solidFill>
                  <a:schemeClr val="dk1"/>
                </a:solidFill>
                <a:latin typeface="Calibri"/>
                <a:ea typeface="Calibri"/>
                <a:cs typeface="Calibri"/>
                <a:sym typeface="Calibri"/>
              </a:rPr>
              <a:t>— 265K chips shipped in 2025.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a:t>
            </a:r>
            <a:r>
              <a:rPr lang="en" sz="1200" b="1">
                <a:solidFill>
                  <a:srgbClr val="3C78D8"/>
                </a:solidFill>
                <a:latin typeface="Calibri"/>
                <a:ea typeface="Calibri"/>
                <a:cs typeface="Calibri"/>
                <a:sym typeface="Calibri"/>
              </a:rPr>
              <a:t>V900</a:t>
            </a:r>
            <a:r>
              <a:rPr lang="en" sz="1200">
                <a:solidFill>
                  <a:schemeClr val="dk1"/>
                </a:solidFill>
                <a:latin typeface="Calibri"/>
                <a:ea typeface="Calibri"/>
                <a:cs typeface="Calibri"/>
                <a:sym typeface="Calibri"/>
              </a:rPr>
              <a:t> is a new model, planned for mass production in Q1 2027.</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Kunlun by Baidu / Kunlunxin</a:t>
            </a:r>
            <a:r>
              <a:rPr lang="en" sz="1200">
                <a:solidFill>
                  <a:schemeClr val="dk1"/>
                </a:solidFill>
                <a:latin typeface="Calibri"/>
                <a:ea typeface="Calibri"/>
                <a:cs typeface="Calibri"/>
                <a:sym typeface="Calibri"/>
              </a:rPr>
              <a:t> — about 116K chips shipped in 2025.</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Siyuan by Cambricon</a:t>
            </a:r>
            <a:r>
              <a:rPr lang="en" sz="1200">
                <a:solidFill>
                  <a:schemeClr val="dk1"/>
                </a:solidFill>
                <a:latin typeface="Calibri"/>
                <a:ea typeface="Calibri"/>
                <a:cs typeface="Calibri"/>
                <a:sym typeface="Calibri"/>
              </a:rPr>
              <a:t> — about 116K chips shipped in 2025;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targeting 500K AI accelerators in 2026.</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MetaX GPUs by MetaX </a:t>
            </a:r>
            <a:r>
              <a:rPr lang="en" sz="1200">
                <a:solidFill>
                  <a:schemeClr val="dk1"/>
                </a:solidFill>
                <a:latin typeface="Calibri"/>
                <a:ea typeface="Calibri"/>
                <a:cs typeface="Calibri"/>
                <a:sym typeface="Calibri"/>
              </a:rPr>
              <a:t>— ~ 4% of Chinese-vendor shipments in 2025.</a:t>
            </a:r>
            <a:endParaRPr sz="1200">
              <a:solidFill>
                <a:schemeClr val="dk1"/>
              </a:solidFill>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Moore Threads GPUs by Moore Threads</a:t>
            </a:r>
            <a:endParaRPr sz="1200" b="1">
              <a:solidFill>
                <a:srgbClr val="FF0000"/>
              </a:solidFill>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BR-series GPUs by Biren</a:t>
            </a:r>
            <a:endParaRPr sz="1200" b="1">
              <a:solidFill>
                <a:srgbClr val="FF0000"/>
              </a:solidFill>
              <a:latin typeface="Calibri"/>
              <a:ea typeface="Calibri"/>
              <a:cs typeface="Calibri"/>
              <a:sym typeface="Calibri"/>
            </a:endParaRPr>
          </a:p>
          <a:p>
            <a:pPr marL="171450" lvl="0" indent="-95250" algn="l" rtl="0">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https://www.reuters.com/world/china/chinese-chipmakers-claim-nearly-half-of-local-market-nvidias-lead-shrinks-idc-2026-04-01/</a:t>
            </a:r>
            <a:endParaRPr sz="900">
              <a:solidFill>
                <a:schemeClr val="dk1"/>
              </a:solidFill>
              <a:latin typeface="Calibri"/>
              <a:ea typeface="Calibri"/>
              <a:cs typeface="Calibri"/>
              <a:sym typeface="Calibri"/>
            </a:endParaRPr>
          </a:p>
        </p:txBody>
      </p:sp>
      <p:pic>
        <p:nvPicPr>
          <p:cNvPr id="164" name="Google Shape;164;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68250" y="807450"/>
            <a:ext cx="4059725" cy="3044794"/>
          </a:xfrm>
          <a:prstGeom prst="rect">
            <a:avLst/>
          </a:prstGeom>
          <a:noFill/>
          <a:ln w="9525" cap="flat" cmpd="sng">
            <a:solidFill>
              <a:srgbClr val="FF0000"/>
            </a:solidFill>
            <a:prstDash val="solid"/>
            <a:round/>
            <a:headEnd type="none" w="sm" len="sm"/>
            <a:tailEnd type="none" w="sm" len="sm"/>
          </a:ln>
        </p:spPr>
      </p:pic>
      <p:sp>
        <p:nvSpPr>
          <p:cNvPr id="165" name="Google Shape;165;p26"/>
          <p:cNvSpPr txBox="1"/>
          <p:nvPr/>
        </p:nvSpPr>
        <p:spPr>
          <a:xfrm>
            <a:off x="36575" y="2745278"/>
            <a:ext cx="4535400" cy="191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Alibaba’s V900 Chip</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Alibaba claims it is China’s most powerful AI chip and says it offers three times the performance of its predecessor, the M890</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216 GB of memory, 1.2 TB/s chip-to-chip bandwidth, FP8/FP4 support, and clusters scaling to 500K chips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12 V900s could hold a 2.4-trillion-parameter model’s FP8 weights, versus about 18 Nvidia H200s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V900 mass production is planned for early 2027</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https://www.tomshardware.com/tech-industry/artificial-intelligence/alibaba-unveils-zhenwu-v900-ai-accelerator-claims-its-the-most-powerful-ai-chip-in-china-accelerator-supports-500-000-chip-supercluster-with-a-10t-parameter-qwen-model-on-the-roadmap</a:t>
            </a:r>
            <a:endParaRPr sz="9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1" name="Google Shape;171;p27"/>
          <p:cNvSpPr txBox="1"/>
          <p:nvPr/>
        </p:nvSpPr>
        <p:spPr>
          <a:xfrm>
            <a:off x="80189" y="399325"/>
            <a:ext cx="45354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Sign in with ChatGPT - lets apps spend your ChatGPT plan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In limited preview (Plus &amp; Pro users) - let an app use </a:t>
            </a:r>
            <a:br>
              <a:rPr lang="en" sz="1200">
                <a:latin typeface="Calibri"/>
                <a:ea typeface="Calibri"/>
                <a:cs typeface="Calibri"/>
                <a:sym typeface="Calibri"/>
              </a:rPr>
            </a:br>
            <a:r>
              <a:rPr lang="en" sz="1200">
                <a:latin typeface="Calibri"/>
                <a:ea typeface="Calibri"/>
                <a:cs typeface="Calibri"/>
                <a:sym typeface="Calibri"/>
              </a:rPr>
              <a:t>their </a:t>
            </a:r>
            <a:r>
              <a:rPr lang="en" sz="1200" b="1">
                <a:solidFill>
                  <a:srgbClr val="3C78D8"/>
                </a:solidFill>
                <a:latin typeface="Calibri"/>
                <a:ea typeface="Calibri"/>
                <a:cs typeface="Calibri"/>
                <a:sym typeface="Calibri"/>
              </a:rPr>
              <a:t>ChatGPT Work and Codex allowance</a:t>
            </a:r>
            <a:endParaRPr sz="1200">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highlight>
                  <a:srgbClr val="FFF2CC"/>
                </a:highlight>
                <a:latin typeface="Calibri"/>
                <a:ea typeface="Calibri"/>
                <a:cs typeface="Calibri"/>
                <a:sym typeface="Calibri"/>
              </a:rPr>
              <a:t>16</a:t>
            </a:r>
            <a:r>
              <a:rPr lang="en" sz="1200">
                <a:latin typeface="Calibri"/>
                <a:ea typeface="Calibri"/>
                <a:cs typeface="Calibri"/>
                <a:sym typeface="Calibri"/>
              </a:rPr>
              <a:t> launch partners - Notion, Vercel, Devin, Amp, Warp, OpenCode, ...</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Weekly cap per app, set in </a:t>
            </a:r>
            <a:r>
              <a:rPr lang="en" sz="1200" b="1">
                <a:solidFill>
                  <a:srgbClr val="3C78D8"/>
                </a:solidFill>
                <a:latin typeface="Calibri"/>
                <a:ea typeface="Calibri"/>
                <a:cs typeface="Calibri"/>
                <a:sym typeface="Calibri"/>
              </a:rPr>
              <a:t>Settings &gt; Usage</a:t>
            </a:r>
            <a:r>
              <a:rPr lang="en" sz="1200">
                <a:latin typeface="Calibri"/>
                <a:ea typeface="Calibri"/>
                <a:cs typeface="Calibri"/>
                <a:sym typeface="Calibri"/>
              </a:rPr>
              <a:t> as a share of the plan</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App sees only name, email and picture, not chats or memories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https://thenewstack.io/sign-in-with-chatgpt/</a:t>
            </a:r>
            <a:endParaRPr sz="900">
              <a:solidFill>
                <a:srgbClr val="0563C1"/>
              </a:solidFill>
              <a:latin typeface="Calibri"/>
              <a:ea typeface="Calibri"/>
              <a:cs typeface="Calibri"/>
              <a:sym typeface="Calibri"/>
            </a:endParaRPr>
          </a:p>
        </p:txBody>
      </p:sp>
      <p:sp>
        <p:nvSpPr>
          <p:cNvPr id="172" name="Google Shape;172;p27"/>
          <p:cNvSpPr txBox="1"/>
          <p:nvPr/>
        </p:nvSpPr>
        <p:spPr>
          <a:xfrm>
            <a:off x="80189" y="1764775"/>
            <a:ext cx="45354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Six AI labs sign the White House Accord on Super Intelligence</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Signed by Google, Anthropic, Meta, OpenAI, xAI and Nvidia leaders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Four layers of oversight: internal controls, internal checkers, </a:t>
            </a:r>
            <a:br>
              <a:rPr lang="en" sz="1200">
                <a:latin typeface="Calibri"/>
                <a:ea typeface="Calibri"/>
                <a:cs typeface="Calibri"/>
                <a:sym typeface="Calibri"/>
              </a:rPr>
            </a:br>
            <a:r>
              <a:rPr lang="en" sz="1200">
                <a:latin typeface="Calibri"/>
                <a:ea typeface="Calibri"/>
                <a:cs typeface="Calibri"/>
                <a:sym typeface="Calibri"/>
              </a:rPr>
              <a:t>an </a:t>
            </a:r>
            <a:r>
              <a:rPr lang="en" sz="1200" b="1">
                <a:latin typeface="Calibri"/>
                <a:ea typeface="Calibri"/>
                <a:cs typeface="Calibri"/>
                <a:sym typeface="Calibri"/>
              </a:rPr>
              <a:t>outside auditor</a:t>
            </a:r>
            <a:r>
              <a:rPr lang="en" sz="1200">
                <a:latin typeface="Calibri"/>
                <a:ea typeface="Calibri"/>
                <a:cs typeface="Calibri"/>
                <a:sym typeface="Calibri"/>
              </a:rPr>
              <a:t>, a board committee</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Each company picks its own auditor and need not name it</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No penalties, no disclosure rule, no deadline</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Trump called it "morally binding"</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https://www.techtimes.com/articles/328464/20261002/white-house-ai-safety-accord-has-no-penalties-no-breach-reporting-self-chosen-auditors.htm</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173" name="Google Shape;173;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94775" y="1764775"/>
            <a:ext cx="2639359" cy="1588500"/>
          </a:xfrm>
          <a:prstGeom prst="rect">
            <a:avLst/>
          </a:prstGeom>
          <a:noFill/>
          <a:ln w="9525" cap="flat" cmpd="sng">
            <a:solidFill>
              <a:srgbClr val="FF0000"/>
            </a:solidFill>
            <a:prstDash val="solid"/>
            <a:round/>
            <a:headEnd type="none" w="sm" len="sm"/>
            <a:tailEnd type="none" w="sm" len="sm"/>
          </a:ln>
        </p:spPr>
      </p:pic>
      <p:pic>
        <p:nvPicPr>
          <p:cNvPr id="174" name="Google Shape;174;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94778" y="657762"/>
            <a:ext cx="4145500" cy="794425"/>
          </a:xfrm>
          <a:prstGeom prst="rect">
            <a:avLst/>
          </a:prstGeom>
          <a:noFill/>
          <a:ln w="9525" cap="flat" cmpd="sng">
            <a:solidFill>
              <a:srgbClr val="FF0000"/>
            </a:solidFill>
            <a:prstDash val="solid"/>
            <a:round/>
            <a:headEnd type="none" w="sm" len="sm"/>
            <a:tailEnd type="none" w="sm" len="sm"/>
          </a:ln>
        </p:spPr>
      </p:pic>
      <p:sp>
        <p:nvSpPr>
          <p:cNvPr id="175" name="Google Shape;175;p27"/>
          <p:cNvSpPr txBox="1"/>
          <p:nvPr/>
        </p:nvSpPr>
        <p:spPr>
          <a:xfrm>
            <a:off x="36575" y="3539600"/>
            <a:ext cx="4578900" cy="126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MAI-Transcribe-2-Streaming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latin typeface="Calibri"/>
                <a:ea typeface="Calibri"/>
                <a:cs typeface="Calibri"/>
                <a:sym typeface="Calibri"/>
              </a:rPr>
              <a:t>#1 of 38</a:t>
            </a:r>
            <a:r>
              <a:rPr lang="en" sz="1200">
                <a:latin typeface="Calibri"/>
                <a:ea typeface="Calibri"/>
                <a:cs typeface="Calibri"/>
                <a:sym typeface="Calibri"/>
              </a:rPr>
              <a:t> on Artificial Analysis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60 languages with automatic language detection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First partial text in about 100 ms, final text 0.13 s after speech ends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highlight>
                  <a:srgbClr val="FFF2CC"/>
                </a:highlight>
                <a:latin typeface="Calibri"/>
                <a:ea typeface="Calibri"/>
                <a:cs typeface="Calibri"/>
                <a:sym typeface="Calibri"/>
              </a:rPr>
              <a:t>$0.54</a:t>
            </a:r>
            <a:r>
              <a:rPr lang="en" sz="1200">
                <a:latin typeface="Calibri"/>
                <a:ea typeface="Calibri"/>
                <a:cs typeface="Calibri"/>
                <a:sym typeface="Calibri"/>
              </a:rPr>
              <a:t> per audio hour through 2026; public preview in Foundry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a:t>
            </a:r>
            <a:r>
              <a:rPr lang="en" sz="1200" b="1">
                <a:solidFill>
                  <a:srgbClr val="3C78D8"/>
                </a:solidFill>
                <a:latin typeface="Calibri"/>
                <a:ea typeface="Calibri"/>
                <a:cs typeface="Calibri"/>
                <a:sym typeface="Calibri"/>
              </a:rPr>
              <a:t>hipped with MAI-Voice-2.1 and MAI-Voice-2.1-Flash</a:t>
            </a:r>
            <a:endParaRPr sz="12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https://microsoft.ai/news/our-first-streaming-transcription-model/</a:t>
            </a:r>
            <a:r>
              <a:rPr lang="en" sz="900">
                <a:solidFill>
                  <a:srgbClr val="0563C1"/>
                </a:solidFill>
                <a:latin typeface="Calibri"/>
                <a:ea typeface="Calibri"/>
                <a:cs typeface="Calibri"/>
                <a:sym typeface="Calibri"/>
              </a:rPr>
              <a:t> </a:t>
            </a:r>
            <a:endParaRPr sz="900">
              <a:solidFill>
                <a:srgbClr val="0563C1"/>
              </a:solidFill>
              <a:latin typeface="Calibri"/>
              <a:ea typeface="Calibri"/>
              <a:cs typeface="Calibri"/>
              <a:sym typeface="Calibri"/>
            </a:endParaRPr>
          </a:p>
        </p:txBody>
      </p:sp>
      <p:pic>
        <p:nvPicPr>
          <p:cNvPr id="176" name="Google Shape;176;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94775" y="3539600"/>
            <a:ext cx="1946931" cy="12651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8"/>
          <p:cNvSpPr txBox="1"/>
          <p:nvPr/>
        </p:nvSpPr>
        <p:spPr>
          <a:xfrm>
            <a:off x="83398" y="50600"/>
            <a:ext cx="1923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Jobs and Layoffs</a:t>
            </a:r>
            <a:endParaRPr sz="2000" b="1">
              <a:latin typeface="Calibri"/>
              <a:ea typeface="Calibri"/>
              <a:cs typeface="Calibri"/>
              <a:sym typeface="Calibri"/>
            </a:endParaRPr>
          </a:p>
        </p:txBody>
      </p:sp>
      <p:sp>
        <p:nvSpPr>
          <p:cNvPr id="182" name="Google Shape;182;p28"/>
          <p:cNvSpPr txBox="1"/>
          <p:nvPr/>
        </p:nvSpPr>
        <p:spPr>
          <a:xfrm>
            <a:off x="2771397" y="198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183" name="Google Shape;183;p28"/>
          <p:cNvSpPr txBox="1"/>
          <p:nvPr/>
        </p:nvSpPr>
        <p:spPr>
          <a:xfrm>
            <a:off x="5690525" y="3510625"/>
            <a:ext cx="3286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129.2K in 2026 </a:t>
            </a:r>
            <a:r>
              <a:rPr lang="en" sz="1000" b="1">
                <a:solidFill>
                  <a:srgbClr val="000000"/>
                </a:solidFill>
                <a:latin typeface="Roboto Mono"/>
                <a:ea typeface="Roboto Mono"/>
                <a:cs typeface="Roboto Mono"/>
                <a:sym typeface="Roboto Mono"/>
              </a:rPr>
              <a:t>(as of Sept 18,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266K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184" name="Google Shape;184;p28"/>
          <p:cNvSpPr txBox="1"/>
          <p:nvPr/>
        </p:nvSpPr>
        <p:spPr>
          <a:xfrm>
            <a:off x="5690530" y="1158774"/>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189,217</a:t>
            </a:r>
            <a:r>
              <a:rPr lang="en" sz="1200">
                <a:latin typeface="Calibri"/>
                <a:ea typeface="Calibri"/>
                <a:cs typeface="Calibri"/>
                <a:sym typeface="Calibri"/>
              </a:rPr>
              <a:t> people laid off (725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185" name="Google Shape;185;p28" descr="auto: layoffs-fyi-chart"/>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5736" y="3407672"/>
            <a:ext cx="4634459" cy="1548885"/>
          </a:xfrm>
          <a:prstGeom prst="rect">
            <a:avLst/>
          </a:prstGeom>
          <a:noFill/>
          <a:ln w="9100" cap="flat" cmpd="sng">
            <a:solidFill>
              <a:srgbClr val="FF0000"/>
            </a:solidFill>
            <a:prstDash val="solid"/>
            <a:round/>
            <a:headEnd type="none" w="sm" len="sm"/>
            <a:tailEnd type="none" w="sm" len="sm"/>
          </a:ln>
        </p:spPr>
      </p:pic>
      <p:pic>
        <p:nvPicPr>
          <p:cNvPr id="186" name="Google Shape;186;p28" descr="auto: trueup-chart"/>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3109" y="569314"/>
            <a:ext cx="4839721" cy="2496148"/>
          </a:xfrm>
          <a:prstGeom prst="rect">
            <a:avLst/>
          </a:prstGeom>
          <a:noFill/>
          <a:ln w="9100"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9"/>
          <p:cNvSpPr txBox="1"/>
          <p:nvPr/>
        </p:nvSpPr>
        <p:spPr>
          <a:xfrm>
            <a:off x="93825" y="-8374"/>
            <a:ext cx="1382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Tech Hiring</a:t>
            </a:r>
            <a:endParaRPr sz="2000" b="1">
              <a:latin typeface="Calibri"/>
              <a:ea typeface="Calibri"/>
              <a:cs typeface="Calibri"/>
              <a:sym typeface="Calibri"/>
            </a:endParaRPr>
          </a:p>
        </p:txBody>
      </p:sp>
      <p:sp>
        <p:nvSpPr>
          <p:cNvPr id="192" name="Google Shape;192;p29"/>
          <p:cNvSpPr txBox="1"/>
          <p:nvPr/>
        </p:nvSpPr>
        <p:spPr>
          <a:xfrm>
            <a:off x="84300" y="406525"/>
            <a:ext cx="4487700" cy="108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Software job postings on Indeed</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Comparing to 2020 level, in Feb 2022 it was 234%, in 2025 it was 65%, now it is 77%</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All US job postings: 103% (compared with 2020)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Postings that mention AI: 6.7% of all, up from 3.4% a year ago</a:t>
            </a:r>
            <a:endParaRPr sz="1200">
              <a:latin typeface="Calibri"/>
              <a:ea typeface="Calibri"/>
              <a:cs typeface="Calibri"/>
              <a:sym typeface="Calibri"/>
            </a:endParaRPr>
          </a:p>
          <a:p>
            <a:pPr marL="171450" lvl="0" indent="-114300" algn="l" rtl="0">
              <a:spcBef>
                <a:spcPts val="0"/>
              </a:spcBef>
              <a:spcAft>
                <a:spcPts val="0"/>
              </a:spcAft>
              <a:buClr>
                <a:srgbClr val="0563C1"/>
              </a:buClr>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https://fred.stlouisfed.org/series/IHLIDXUSTPSOFTDEVE</a:t>
            </a:r>
            <a:endParaRPr sz="900">
              <a:solidFill>
                <a:srgbClr val="0563C1"/>
              </a:solidFill>
              <a:latin typeface="Calibri"/>
              <a:ea typeface="Calibri"/>
              <a:cs typeface="Calibri"/>
              <a:sym typeface="Calibri"/>
            </a:endParaRPr>
          </a:p>
        </p:txBody>
      </p:sp>
      <p:sp>
        <p:nvSpPr>
          <p:cNvPr id="193" name="Google Shape;193;p29"/>
          <p:cNvSpPr txBox="1"/>
          <p:nvPr/>
        </p:nvSpPr>
        <p:spPr>
          <a:xfrm>
            <a:off x="84300" y="1779175"/>
            <a:ext cx="44877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in demand</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Dice, 7M+ US tech postings (Aug 2026): +18% year over year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AI and machine learning postings </a:t>
            </a:r>
            <a:r>
              <a:rPr lang="en" sz="1200">
                <a:highlight>
                  <a:srgbClr val="FFF2CC"/>
                </a:highlight>
                <a:latin typeface="Calibri"/>
                <a:ea typeface="Calibri"/>
                <a:cs typeface="Calibri"/>
                <a:sym typeface="Calibri"/>
              </a:rPr>
              <a:t>+101%</a:t>
            </a:r>
            <a:r>
              <a:rPr lang="en" sz="1200">
                <a:latin typeface="Calibri"/>
                <a:ea typeface="Calibri"/>
                <a:cs typeface="Calibri"/>
                <a:sym typeface="Calibri"/>
              </a:rPr>
              <a:t> year over year, five times the overall rate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Fastest-growing skills, each up 200%+: </a:t>
            </a:r>
            <a:r>
              <a:rPr lang="en" sz="1200" b="1">
                <a:solidFill>
                  <a:srgbClr val="FF0000"/>
                </a:solidFill>
                <a:latin typeface="Calibri"/>
                <a:ea typeface="Calibri"/>
                <a:cs typeface="Calibri"/>
                <a:sym typeface="Calibri"/>
              </a:rPr>
              <a:t>responsible AI, AI agents, agentic AI, AI infrastructure</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Most requested overall: </a:t>
            </a:r>
            <a:r>
              <a:rPr lang="en" sz="1200" b="1">
                <a:solidFill>
                  <a:srgbClr val="FF0000"/>
                </a:solidFill>
                <a:latin typeface="Calibri"/>
                <a:ea typeface="Calibri"/>
                <a:cs typeface="Calibri"/>
                <a:sym typeface="Calibri"/>
              </a:rPr>
              <a:t>communication, computer science, troubleshooting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Indeed: 71% of the software postings rebound (May 2025 to May 2026) is senior roles; 37% has AI in the title</a:t>
            </a:r>
            <a:endParaRPr sz="1200">
              <a:latin typeface="Calibri"/>
              <a:ea typeface="Calibri"/>
              <a:cs typeface="Calibri"/>
              <a:sym typeface="Calibri"/>
            </a:endParaRPr>
          </a:p>
          <a:p>
            <a:pPr marL="171450" lvl="0" indent="-114300" algn="l" rtl="0">
              <a:spcBef>
                <a:spcPts val="0"/>
              </a:spcBef>
              <a:spcAft>
                <a:spcPts val="0"/>
              </a:spcAft>
              <a:buClr>
                <a:srgbClr val="0563C1"/>
              </a:buClr>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https://hiringlab.indeed.com/2026/07/08/ai-and-job-postings-from-destruction-to-creation/</a:t>
            </a:r>
            <a:endParaRPr sz="900">
              <a:solidFill>
                <a:srgbClr val="0563C1"/>
              </a:solidFill>
              <a:latin typeface="Calibri"/>
              <a:ea typeface="Calibri"/>
              <a:cs typeface="Calibri"/>
              <a:sym typeface="Calibri"/>
            </a:endParaRPr>
          </a:p>
          <a:p>
            <a:pPr marL="171450" lvl="0" indent="-114300" algn="l" rtl="0">
              <a:spcBef>
                <a:spcPts val="0"/>
              </a:spcBef>
              <a:spcAft>
                <a:spcPts val="0"/>
              </a:spcAft>
              <a:buClr>
                <a:srgbClr val="0563C1"/>
              </a:buClr>
              <a:buSzPts val="9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https://www.dice.com/hiring/recruitment/reports/dice-tech-job-report</a:t>
            </a:r>
            <a:endParaRPr sz="900">
              <a:solidFill>
                <a:srgbClr val="0563C1"/>
              </a:solidFill>
              <a:latin typeface="Calibri"/>
              <a:ea typeface="Calibri"/>
              <a:cs typeface="Calibri"/>
              <a:sym typeface="Calibri"/>
            </a:endParaRPr>
          </a:p>
        </p:txBody>
      </p:sp>
      <p:sp>
        <p:nvSpPr>
          <p:cNvPr id="194" name="Google Shape;194;p29"/>
          <p:cNvSpPr txBox="1"/>
          <p:nvPr/>
        </p:nvSpPr>
        <p:spPr>
          <a:xfrm>
            <a:off x="4876773" y="318025"/>
            <a:ext cx="39426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Top "In Demand" Skills and Qualifications</a:t>
            </a:r>
            <a:endParaRPr sz="1200" b="1">
              <a:solidFill>
                <a:srgbClr val="FF0000"/>
              </a:solidFill>
              <a:latin typeface="Calibri"/>
              <a:ea typeface="Calibri"/>
              <a:cs typeface="Calibri"/>
              <a:sym typeface="Calibri"/>
            </a:endParaRPr>
          </a:p>
          <a:p>
            <a:pPr marL="0" lvl="0" indent="0" algn="l" rtl="0">
              <a:spcBef>
                <a:spcPts val="0"/>
              </a:spcBef>
              <a:spcAft>
                <a:spcPts val="0"/>
              </a:spcAft>
              <a:buNone/>
            </a:pP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Critical thinking and problem-solving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Communication and stakeholder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Adaptability and continuous learning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AI literacy and practical AI adoption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AI/ML application development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Data engineering and data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Cybersecurity and risk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Cloud and infrastructure engineering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Software engineering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Automation and workflow optimization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DevOps, CI/CD, and platform engineering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Governance, compliance, and responsible AI</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Analytical thinking and data analysis</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Product management and business alignment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Project and program management</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Leadership and cross-functional collaboration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Creativity and innovation</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Resilience and professionalism</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Technical troubleshooting and systems thinking</a:t>
            </a:r>
            <a:endParaRPr sz="1200" b="1">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AutoNum type="arabicPeriod"/>
            </a:pPr>
            <a:r>
              <a:rPr lang="en" sz="1200" b="1">
                <a:solidFill>
                  <a:srgbClr val="3C78D8"/>
                </a:solidFill>
                <a:latin typeface="Calibri"/>
                <a:ea typeface="Calibri"/>
                <a:cs typeface="Calibri"/>
                <a:sym typeface="Calibri"/>
              </a:rPr>
              <a:t>- Business growth and customer focus</a:t>
            </a:r>
            <a:endParaRPr sz="1200" b="1">
              <a:solidFill>
                <a:srgbClr val="3C78D8"/>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0"/>
          <p:cNvSpPr txBox="1"/>
          <p:nvPr/>
        </p:nvSpPr>
        <p:spPr>
          <a:xfrm>
            <a:off x="36576" y="-27432"/>
            <a:ext cx="2441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About the Speaker</a:t>
            </a:r>
            <a:endParaRPr sz="2000" b="1">
              <a:latin typeface="Calibri"/>
              <a:ea typeface="Calibri"/>
              <a:cs typeface="Calibri"/>
              <a:sym typeface="Calibri"/>
            </a:endParaRPr>
          </a:p>
        </p:txBody>
      </p:sp>
      <p:sp>
        <p:nvSpPr>
          <p:cNvPr id="200" name="Google Shape;200;p30"/>
          <p:cNvSpPr txBox="1"/>
          <p:nvPr/>
        </p:nvSpPr>
        <p:spPr>
          <a:xfrm>
            <a:off x="3328416" y="1263396"/>
            <a:ext cx="4572000" cy="295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b="1">
                <a:solidFill>
                  <a:srgbClr val="FF0000"/>
                </a:solidFill>
                <a:latin typeface="Calibri"/>
                <a:ea typeface="Calibri"/>
                <a:cs typeface="Calibri"/>
                <a:sym typeface="Calibri"/>
              </a:rPr>
              <a:t>Lev Selector, Ph.D.</a:t>
            </a:r>
            <a:endParaRPr sz="2400" b="1">
              <a:solidFill>
                <a:srgbClr val="FF0000"/>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40+ years of software engineering, data science, and building teams (hiring, training, and managing)</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Interests: Generative AI, using LLMs with your data, local AI for local private data, cloud architecture, fin-tech, application security</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Find and connect: LinkedIn, GitHub, YouTube, Google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https://eais.ai</a:t>
            </a:r>
            <a:endParaRPr sz="1200">
              <a:solidFill>
                <a:srgbClr val="0563C1"/>
              </a:solidFill>
              <a:latin typeface="Calibri"/>
              <a:ea typeface="Calibri"/>
              <a:cs typeface="Calibri"/>
              <a:sym typeface="Calibri"/>
            </a:endParaRPr>
          </a:p>
        </p:txBody>
      </p:sp>
      <p:pic>
        <p:nvPicPr>
          <p:cNvPr id="201" name="Google Shape;201;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89304" y="1952244"/>
            <a:ext cx="1572768" cy="15727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1"/>
          <p:cNvSpPr txBox="1"/>
          <p:nvPr/>
        </p:nvSpPr>
        <p:spPr>
          <a:xfrm>
            <a:off x="36576" y="1687068"/>
            <a:ext cx="9070800" cy="77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000" b="1">
                <a:latin typeface="Calibri"/>
                <a:ea typeface="Calibri"/>
                <a:cs typeface="Calibri"/>
                <a:sym typeface="Calibri"/>
              </a:rPr>
              <a:t>Thank You!</a:t>
            </a:r>
            <a:endParaRPr sz="4000" b="1">
              <a:latin typeface="Calibri"/>
              <a:ea typeface="Calibri"/>
              <a:cs typeface="Calibri"/>
              <a:sym typeface="Calibri"/>
            </a:endParaRPr>
          </a:p>
        </p:txBody>
      </p:sp>
      <p:sp>
        <p:nvSpPr>
          <p:cNvPr id="207" name="Google Shape;207;p31"/>
          <p:cNvSpPr txBox="1"/>
          <p:nvPr/>
        </p:nvSpPr>
        <p:spPr>
          <a:xfrm>
            <a:off x="1434219" y="2554732"/>
            <a:ext cx="6275700" cy="1438800"/>
          </a:xfrm>
          <a:prstGeom prst="rect">
            <a:avLst/>
          </a:prstGeom>
          <a:noFill/>
          <a:ln>
            <a:noFill/>
          </a:ln>
        </p:spPr>
        <p:txBody>
          <a:bodyPr spcFirstLastPara="1" wrap="square" lIns="91425" tIns="91425" rIns="91425" bIns="91425" anchor="t" anchorCtr="0">
            <a:noAutofit/>
          </a:bodyPr>
          <a:lstStyle/>
          <a:p>
            <a:pPr marL="171450" lvl="0" indent="-218186" algn="l" rtl="0">
              <a:spcBef>
                <a:spcPts val="0"/>
              </a:spcBef>
              <a:spcAft>
                <a:spcPts val="0"/>
              </a:spcAft>
              <a:buSzPts val="1600"/>
              <a:buFont typeface="Calibri"/>
              <a:buChar char="●"/>
            </a:pPr>
            <a:r>
              <a:rPr lang="en" sz="1600">
                <a:latin typeface="Calibri"/>
                <a:ea typeface="Calibri"/>
                <a:cs typeface="Calibri"/>
                <a:sym typeface="Calibri"/>
              </a:rPr>
              <a:t>Videos of every seminar are on YouTube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GitHub. Click a pptx file, then the download button on the right</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https://github.com/lselector/seminar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Google Drive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https://drive.google.com/drive/folders/1dmj00iilSP-JYmriMUUaHCKz5X54e3UX?ths=true</a:t>
            </a:r>
            <a:endParaRPr sz="1200">
              <a:solidFill>
                <a:srgbClr val="0563C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2"/>
          <p:cNvSpPr txBox="1"/>
          <p:nvPr/>
        </p:nvSpPr>
        <p:spPr>
          <a:xfrm>
            <a:off x="36576" y="-27432"/>
            <a:ext cx="2966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Not in the presentation</a:t>
            </a:r>
            <a:endParaRPr sz="2000" b="1">
              <a:latin typeface="Calibri"/>
              <a:ea typeface="Calibri"/>
              <a:cs typeface="Calibri"/>
              <a:sym typeface="Calibri"/>
            </a:endParaRPr>
          </a:p>
        </p:txBody>
      </p:sp>
      <p:sp>
        <p:nvSpPr>
          <p:cNvPr id="213" name="Google Shape;213;p32"/>
          <p:cNvSpPr txBox="1"/>
          <p:nvPr/>
        </p:nvSpPr>
        <p:spPr>
          <a:xfrm>
            <a:off x="36576" y="758952"/>
            <a:ext cx="6377100" cy="1243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rgbClr val="FF0000"/>
                </a:solidFill>
                <a:latin typeface="Calibri"/>
                <a:ea typeface="Calibri"/>
                <a:cs typeface="Calibri"/>
                <a:sym typeface="Calibri"/>
              </a:rPr>
              <a:t>Everything after this slide is left out of the talk.</a:t>
            </a:r>
            <a:endParaRPr sz="1800" b="1">
              <a:solidFill>
                <a:srgbClr val="FF0000"/>
              </a:solidFill>
              <a:latin typeface="Calibri"/>
              <a:ea typeface="Calibri"/>
              <a:cs typeface="Calibri"/>
              <a:sym typeface="Calibri"/>
            </a:endParaRPr>
          </a:p>
          <a:p>
            <a:pPr marL="0" lvl="0" indent="0" algn="l" rtl="0">
              <a:spcBef>
                <a:spcPts val="0"/>
              </a:spcBef>
              <a:spcAft>
                <a:spcPts val="0"/>
              </a:spcAft>
              <a:buNone/>
            </a:pPr>
            <a:r>
              <a:rPr lang="en" sz="1800" b="1">
                <a:solidFill>
                  <a:srgbClr val="FF0000"/>
                </a:solidFill>
                <a:latin typeface="Calibri"/>
                <a:ea typeface="Calibri"/>
                <a:cs typeface="Calibri"/>
                <a:sym typeface="Calibri"/>
              </a:rPr>
              <a:t>Paste topics you decided not to present on the next slide. Scripts never write past this point, and a topic parked here is never added again.</a:t>
            </a:r>
            <a:endParaRPr sz="1800" b="1">
              <a:solidFill>
                <a:srgbClr val="FF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19" name="Google Shape;219;p33"/>
          <p:cNvSpPr txBox="1"/>
          <p:nvPr/>
        </p:nvSpPr>
        <p:spPr>
          <a:xfrm>
            <a:off x="72968" y="331044"/>
            <a:ext cx="5669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FTC prepares subpoenas for OpenAI, Anthropic and METR</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Chair Andrew Ferguson is drafting </a:t>
            </a:r>
            <a:r>
              <a:rPr lang="en" sz="900" b="1">
                <a:latin typeface="Calibri"/>
                <a:ea typeface="Calibri"/>
                <a:cs typeface="Calibri"/>
                <a:sym typeface="Calibri"/>
              </a:rPr>
              <a:t>civil investigative demands</a:t>
            </a:r>
            <a:r>
              <a:rPr lang="en" sz="900">
                <a:latin typeface="Calibri"/>
                <a:ea typeface="Calibri"/>
                <a:cs typeface="Calibri"/>
                <a:sym typeface="Calibri"/>
              </a:rPr>
              <a:t>, which work like subpoenas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They can compel documents and executive testimony on model safety</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Topics: safeguards, known risks, internal testing, incident response, public safety claims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METR, the outside evaluator the labs cite, is pulled in too</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Demands expected within weeks, one day after the White House accord</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https://www.axios.com/2026/09/30/ftc-openai-anthropic-ai-safety-investigation</a:t>
            </a:r>
            <a:endParaRPr sz="900">
              <a:solidFill>
                <a:srgbClr val="0563C1"/>
              </a:solidFill>
              <a:latin typeface="Calibri"/>
              <a:ea typeface="Calibri"/>
              <a:cs typeface="Calibri"/>
              <a:sym typeface="Calibri"/>
            </a:endParaRPr>
          </a:p>
        </p:txBody>
      </p:sp>
      <p:sp>
        <p:nvSpPr>
          <p:cNvPr id="220" name="Google Shape;220;p33"/>
          <p:cNvSpPr txBox="1"/>
          <p:nvPr/>
        </p:nvSpPr>
        <p:spPr>
          <a:xfrm>
            <a:off x="72969" y="1365187"/>
            <a:ext cx="5669400" cy="988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Broadcom will lend Anthropic up to $42B to lease TPUs</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Disclosed in Anthropic's IPO prospectus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b="1">
                <a:latin typeface="Calibri"/>
                <a:ea typeface="Calibri"/>
                <a:cs typeface="Calibri"/>
                <a:sym typeface="Calibri"/>
              </a:rPr>
              <a:t>Convertible notes</a:t>
            </a:r>
            <a:r>
              <a:rPr lang="en" sz="900">
                <a:latin typeface="Calibri"/>
                <a:ea typeface="Calibri"/>
                <a:cs typeface="Calibri"/>
                <a:sym typeface="Calibri"/>
              </a:rPr>
              <a:t> that can turn into Anthropic shares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Money only for TPU capacity leases, chips Broadcom co-designs with Google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Covers about a third of the </a:t>
            </a:r>
            <a:r>
              <a:rPr lang="en" sz="900">
                <a:highlight>
                  <a:srgbClr val="FFF2CC"/>
                </a:highlight>
                <a:latin typeface="Calibri"/>
                <a:ea typeface="Calibri"/>
                <a:cs typeface="Calibri"/>
                <a:sym typeface="Calibri"/>
              </a:rPr>
              <a:t>$125.2B</a:t>
            </a:r>
            <a:r>
              <a:rPr lang="en" sz="900">
                <a:latin typeface="Calibri"/>
                <a:ea typeface="Calibri"/>
                <a:cs typeface="Calibri"/>
                <a:sym typeface="Calibri"/>
              </a:rPr>
              <a:t> five-year TPU commitment</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No notes sold before the IPO; Anthropic flags conflicts of interest</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https://www.implicator.ai/broadcom-agrees-to-lend-anthropic-up-to-42-billion-to-lease-chips-it-helps-design/</a:t>
            </a:r>
            <a:endParaRPr sz="900">
              <a:solidFill>
                <a:srgbClr val="0563C1"/>
              </a:solidFill>
              <a:latin typeface="Calibri"/>
              <a:ea typeface="Calibri"/>
              <a:cs typeface="Calibri"/>
              <a:sym typeface="Calibri"/>
            </a:endParaRPr>
          </a:p>
        </p:txBody>
      </p:sp>
      <p:sp>
        <p:nvSpPr>
          <p:cNvPr id="221" name="Google Shape;221;p33"/>
          <p:cNvSpPr txBox="1"/>
          <p:nvPr/>
        </p:nvSpPr>
        <p:spPr>
          <a:xfrm>
            <a:off x="68052" y="2415032"/>
            <a:ext cx="5669400" cy="849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latin typeface="Calibri"/>
                <a:ea typeface="Calibri"/>
                <a:cs typeface="Calibri"/>
                <a:sym typeface="Calibri"/>
              </a:rPr>
              <a:t>NVIDIA DGX Spark 64GB: a cheaper local AI box at $5K</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Same GB10 Grace Blackwell chip, but only </a:t>
            </a:r>
            <a:r>
              <a:rPr lang="en" sz="900">
                <a:solidFill>
                  <a:schemeClr val="dk1"/>
                </a:solidFill>
                <a:latin typeface="Calibri"/>
                <a:ea typeface="Calibri"/>
                <a:cs typeface="Calibri"/>
                <a:sym typeface="Calibri"/>
              </a:rPr>
              <a:t>64GB unified memory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Two units cluster over ConnectX-7 into 128GB</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 128GB model rose from $3,999 to </a:t>
            </a:r>
            <a:r>
              <a:rPr lang="en" sz="900">
                <a:highlight>
                  <a:srgbClr val="FFF2CC"/>
                </a:highlight>
                <a:latin typeface="Calibri"/>
                <a:ea typeface="Calibri"/>
                <a:cs typeface="Calibri"/>
                <a:sym typeface="Calibri"/>
              </a:rPr>
              <a:t>$6,950</a:t>
            </a:r>
            <a:r>
              <a:rPr lang="en" sz="900">
                <a:latin typeface="Calibri"/>
                <a:ea typeface="Calibri"/>
                <a:cs typeface="Calibri"/>
                <a:sym typeface="Calibri"/>
              </a:rPr>
              <a:t> on memory prices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Ships Oct 23 from Acer, ASUS, Dell, Gigabyte, HP and MSI</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https://blogs.nvidia.com/blog/local-ai-dgx-spark-64gb-sync/</a:t>
            </a:r>
            <a:endParaRPr sz="900">
              <a:solidFill>
                <a:srgbClr val="0563C1"/>
              </a:solidFill>
              <a:latin typeface="Calibri"/>
              <a:ea typeface="Calibri"/>
              <a:cs typeface="Calibri"/>
              <a:sym typeface="Calibri"/>
            </a:endParaRPr>
          </a:p>
        </p:txBody>
      </p:sp>
      <p:sp>
        <p:nvSpPr>
          <p:cNvPr id="222" name="Google Shape;222;p33"/>
          <p:cNvSpPr txBox="1"/>
          <p:nvPr/>
        </p:nvSpPr>
        <p:spPr>
          <a:xfrm>
            <a:off x="72975" y="3326275"/>
            <a:ext cx="8299500" cy="849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Google introduced Gemini 3.8 Flash TTS on September 23, 2026, enabling expressive, customizable voices for audio content and voice tools.</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On September 24, Gemini 3.8 Live with Live Avatar brought real-time video conversation and background tool use to Gemini Enterprise.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Gemini Notebook updates described in the video turn sources into interactive learning materials; clearer, well-organized content may be easier for AI tools to use.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Google’s Project Suncatcher will test whether TPUs can operate in orbit, addressing radiation, cooling, and satellite-link challenges, with a two-satellite test planned for 2027.</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a:solidFill>
                  <a:schemeClr val="dk1"/>
                </a:solidFill>
                <a:latin typeface="Calibri"/>
                <a:ea typeface="Calibri"/>
                <a:cs typeface="Calibri"/>
                <a:sym typeface="Calibri"/>
              </a:rPr>
              <a:t>- For SEO, the speaker’s takeaway is to publish clear, trustworthy answers that work well across search and AI experiences. The updates matter because they expand how people may consume and interact with information.</a:t>
            </a:r>
            <a:endParaRPr sz="9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4"/>
          <p:cNvSpPr txBox="1"/>
          <p:nvPr/>
        </p:nvSpPr>
        <p:spPr>
          <a:xfrm>
            <a:off x="36576" y="-27432"/>
            <a:ext cx="1859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Parked topics</a:t>
            </a:r>
            <a:endParaRPr sz="2000" b="1">
              <a:latin typeface="Calibri"/>
              <a:ea typeface="Calibri"/>
              <a:cs typeface="Calibri"/>
              <a:sym typeface="Calibri"/>
            </a:endParaRPr>
          </a:p>
        </p:txBody>
      </p:sp>
      <p:sp>
        <p:nvSpPr>
          <p:cNvPr id="228" name="Google Shape;228;p34"/>
          <p:cNvSpPr txBox="1"/>
          <p:nvPr/>
        </p:nvSpPr>
        <p:spPr>
          <a:xfrm>
            <a:off x="60825" y="371749"/>
            <a:ext cx="7897200" cy="1819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900" b="1">
                <a:solidFill>
                  <a:srgbClr val="FF0000"/>
                </a:solidFill>
                <a:uFill>
                  <a:noFill/>
                </a:uFill>
                <a:latin typeface="Calibri"/>
                <a:ea typeface="Calibri"/>
                <a:cs typeface="Calibri"/>
                <a:sym typeface="Calibri"/>
                <a:hlinkClick r:id="rId3">
                  <a:extLst>
                    <a:ext uri="{A12FA001-AC4F-418D-AE19-62706E023703}">
                      <ahyp:hlinkClr xmlns:ahyp="http://schemas.microsoft.com/office/drawing/2018/hyperlinkcolor" val="tx"/>
                    </a:ext>
                  </a:extLst>
                </a:hlinkClick>
              </a:rPr>
              <a:t>PrimeIntellect.ai</a:t>
            </a:r>
            <a:r>
              <a:rPr lang="en" sz="900" b="1">
                <a:solidFill>
                  <a:srgbClr val="FF0000"/>
                </a:solidFill>
                <a:latin typeface="Calibri"/>
                <a:ea typeface="Calibri"/>
                <a:cs typeface="Calibri"/>
                <a:sym typeface="Calibri"/>
              </a:rPr>
              <a:t>  launches Prime Inference for open models</a:t>
            </a:r>
            <a:endParaRPr sz="9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Blackwell GPUs, serve open-model and agent infrastructure at scale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b="1">
                <a:latin typeface="Calibri"/>
                <a:ea typeface="Calibri"/>
                <a:cs typeface="Calibri"/>
                <a:sym typeface="Calibri"/>
              </a:rPr>
              <a:t>OpenAI-compatible API</a:t>
            </a:r>
            <a:endParaRPr sz="900" b="1">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GLM-5.3 on GB200 NVL72: 66 sessions at 101 tokens/sec each</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PrimeIntellect.ai</a:t>
            </a:r>
            <a:r>
              <a:rPr lang="en" sz="900">
                <a:latin typeface="Calibri"/>
                <a:ea typeface="Calibri"/>
                <a:cs typeface="Calibri"/>
                <a:sym typeface="Calibri"/>
              </a:rPr>
              <a:t> is a startup from CA, since 2023</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 What: The platform offers serverless endpoints and reserved capacity on Prime’s NVIDIA Blackwell GPU infrastructure.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Developers can use an OpenAI-compatible API by changing the base URL; automatic failover routes traffic across datacenters.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Long-context, multi-turn agents need responsive, dependable inference. Prime separates prefill and decode, reuses cached context, and adds safeguards to handle failures and overload.</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Before public release, the service supported Prime’s reinforcement-learning and coding-agent workloads at nearly one trillion tokens daily.</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Prime reports GLM-5.3 serving 66 concurrent sessions at 101 tokens per second per user on GB200 NVL72.</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a:latin typeface="Calibri"/>
                <a:ea typeface="Calibri"/>
                <a:cs typeface="Calibri"/>
                <a:sym typeface="Calibri"/>
              </a:rPr>
              <a:t>The launch makes Prime’s production-scale open-model serving available to external developers and customers.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https://www.primeintellect.ai/blog/prime-inference</a:t>
            </a:r>
            <a:endParaRPr sz="900">
              <a:solidFill>
                <a:srgbClr val="0563C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4138</Words>
  <Application>Microsoft Macintosh PowerPoint</Application>
  <PresentationFormat>On-screen Show (16:9)</PresentationFormat>
  <Paragraphs>516</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2026-10-04T20:45:21Z</dcterms:modified>
</cp:coreProperties>
</file>