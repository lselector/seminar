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embeddedFontLst>
    <p:embeddedFont>
      <p:font typeface="Roboto Mono" pitchFamily="49" charset="0"/>
      <p:regular r:id="rId33"/>
      <p:bold r:id="rId34"/>
      <p:italic r:id="rId35"/>
      <p:boldItalic r:id="rId3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36F92A5-FBDE-4D6A-826B-49F6A3B93CD3}">
  <a:tblStyle styleId="{536F92A5-FBDE-4D6A-826B-49F6A3B93CD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7"/>
  </p:normalViewPr>
  <p:slideViewPr>
    <p:cSldViewPr snapToGrid="0">
      <p:cViewPr varScale="1">
        <p:scale>
          <a:sx n="124" d="100"/>
          <a:sy n="124" d="100"/>
        </p:scale>
        <p:origin x="576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s-toc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s-toc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Contents labels. Kept by g3_update_toc.py.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Sept 30 =&gt; -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Sign in with ChatGPT lets apps spend your ChatGPT plan =&gt; Sign in with ChatGPT spends your plan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Six AI labs sign the White House Accord on Super Intelligence =&gt; White House Super Intelligence Accord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FTC prepares subpoenas for OpenAI, Anthropic and METR =&gt; FTC probes OpenAI, Anthropic, METR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Broadcom will lend Anthropic up to $42B to lease TPUs =&gt; Broadcom lends Anthropic $42B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NVIDIA DGX Spark 64GB: a cheaper local AI box at $4,999 =&gt; DGX Spark 64GB for $4,999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Prime Intellect launches Prime Inference for open models =&gt; Prime Inference for open models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Microsoft MAI-Transcribe-2-Streaming tops Artificial Analysis =&gt; MAI-Transcribe-2-Streaming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English - https://lmarena.ai/leaderboard/text =&gt; LM Arena Leaderboard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Coding - https://lmarena.ai/leaderboard/text/coding =&gt; LM Arena Leaderboard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Extreme Programming (XP, 1999) - Agile approach to building software - deliver small improvements often, get feedback quickly, and adapt rather than trying to plan everything up front https://en.wikipedia.org/wiki/Extreme_Programming https://extremeprogrammingalliance.com/about-extreme-programming-xp/ =&gt; Extreme Programming (XP, 1999)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Install Zed: On macOS, use Homebrew or download the app; on Windows, use winget or the installer; on Linux, run Zed’s install script - https://zed.dev/docs/installation =&gt; Zed + Claude + GitHub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Ascend by Huawei — 812K chips shipped in 2025. =&gt; Huawei Ascend: 812K Chips in 2025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Sign in with ChatGPT - lets apps spend your ChatGPT plan =&gt; Sign in with ChatGPT Spends Your Plan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Tech Layoff Tracker =&gt; Jobs &amp; Layoffs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Tech Layoffs by year (US only): =&gt; Jobs &amp; Layoffs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Top "In Demand" Skills and Qualifications =&gt; Tech Hiring and Skills in Demand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Software job postings on Indeed =&gt; Tech Hiring and Skills in Demand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Skills in demand =&gt; Tech Hiring and Skills in Demand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Oct 4 =&gt; -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HumanLayer - The Multiplayer Coding Agent Workspace =&gt; HumanLayer Multiplayer Agent Workspace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Trump launches a Super Intelligence Force under Jay Clayton =&gt; Trump's Super Intelligence Force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OpenAI safety report lead quits, calls the culture broken =&gt; OpenAI Safety Lead Quits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Aleph Alpha Kolibri: open 78B MoE with 3.5B active and 1M context =&gt; Aleph Alpha Kolibri 78B Open Model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DeepSeek Harness v0.2 ships desktop apps =&gt; DeepSeek Harness Desktop Apps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Apple will tighten Full Disk Access on Macs because of AI agents =&gt; Apple Limits Full Disk Access for Agents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Anthropic puts $100M into a Claude Frontier Academy =&gt; Anthropic $100M Claude Frontier Academy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image-blaster: one photo to a 3D world in 5 minutes =&gt; image-blaster: Photo to 3D World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Agentic AI Token Use is Much Bigger that Human =&gt; Agentic AI Token Use Dwarfs Human Use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Reflection AI Beam: a 501B open-weight model trained in the US =&gt; Reflection AI Beam 501B Open Model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OpenAI watermarks ChatGPT and Codex text in the EU =&gt; OpenAI Text Watermarks in the EU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Reka Rho-1: one 19B model for text, video and robot actions =&gt; Reka Rho-1 Omni Model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a16z Top 100 Gen AI Consumer Apps, 7th edition, follows the money =&gt; a16z Top 100 Consumer AI Apps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Devin adds Memory and Dreaming =&gt; Devin Memory and Dreaming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Reka Rho-1: 19B model for text, video and robot actions =&gt; Reka Rho-1 19B Multimodal Model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agent-toolkit =&gt; Agent Toolkit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SpaceXAI to be renamed to SpaceXSI =&gt; SpaceXAI Renamed SpaceXSI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Strata Runs 125 Bln Params Model on a Normal PC =&gt; Strata: 125B Model on a Normal PC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Kent Beck on Craft and AI-Assisted Development =&gt; Kent Beck on Craft and AI Coding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Trump launches a Super Intelligence Force =&gt; Trump's Super Intelligence Force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Reflection AI Beam - 501B open-weight model =&gt; Reflection AI Beam 501B Open Model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Aleph Alpha Kolibri: open 78B MoE =&gt; Aleph Alpha Kolibri 78B MoE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Google Gemini 4 Argon: 1M output tokens, cyber defenders first =&gt; Google Gemini 4 Argon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OpenAI publishes 722 math papers from an unreleased model =&gt; OpenAI Publishes 722 Math Papers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OpenAI dots: always-on agents with their own cloud computer =&gt; OpenAI Dots: Always-On Agents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GPT-6.1 Sol, Ultrafast tier and Decisions API =&gt; GPT-6.1 Sol, Ultrafast, Decisions API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Mistral Large 4 "Le Chonk": 1T-parameter open-weight model =&gt; Mistral Large 4 "Le Chonk" 1T Open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decision models: Cloudflare Clef, AWS Strands Decider, Liquid d1 =&gt; Open Decision Models: Clef, Decider, d1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NVIDIA OpenShell: a policy-controlled runtime for agents =&gt; NVIDIA OpenShell Agent Runtime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Perplexity pplx-embed-v2-late: open multi-vector embeddings =&gt; Perplexity Multi-Vector Embeddings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Epoch: chips shipped through 2027 could run millions of agents =&gt; Epoch: How Many Agents Chips Can Run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Anthropic: "Claude-shaped" problems in science =&gt; Claude-Shaped Science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Solo developer rebuilds Adobe Creative Suite in Rust using Claude =&gt; Adobe Suite Rebuilt in Rust with Claude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GPT-6 with Intelligent UI is now the ChatGPT default =&gt; GPT-6 Intelligent UI in ChatGPT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Google Gemini agent: AI coworkers with their own email =&gt; Google Gemini Agent Coworkers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Biohub, DeepMind, Meta and US government fund a virtual cell =&gt; Biohub $1.8B Virtual Cell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Anthropic opens its cyber models to vetted teams in 3 tiers =&gt; Anthropic Three-Tier Cyber Access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Personal Agent Protocol: Sierra and Meta's standard for agents =&gt; Personal Agent Protocol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Oct 8 =&gt; -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fb585c93bf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4" name="Google Shape;64;g3fb585c93bf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fb585c93bf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7" name="Google Shape;77;g3fb585c93bf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h8c6532aae48ba1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h8c6532aae48ba1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h29df4c4c9dcfba2d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h29df4c4c9dcfba2d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h66de801894afa1fa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h66de801894afa1fa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h77f5d06a50a76af1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h77f5d06a50a76af1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h29df4c4c9dcfba2d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h29df4c4c9dcfba2d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h29df4c4c9dcfba2d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h29df4c4c9dcfba2d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s-youtube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s-youtube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h46ddcecdfadec1a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h46ddcecdfadec1a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h1523e848f0a8b25b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h1523e848f0a8b25b_3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s-news-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s-news-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hd6f071a16346bd0_1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hd6f071a16346bd0_1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hd6f071a16346bd0_1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hd6f071a16346bd0_1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hd6f071a16346bd0_1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hd6f071a16346bd0_1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h8c6532aae48ba11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h8c6532aae48ba11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h1beaa2ea5184a66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h1beaa2ea5184a66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h780e71aaf4dfc92a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" name="Google Shape;208;h780e71aaf4dfc92a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s-sign-in-with-chatgpt-lets-7fc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s-sign-in-with-chatgpt-lets-7fc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h223700df326a0702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h223700df326a0702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s-trump-launches-a-super-bbe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s-trump-launches-a-super-bbe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s-reflection-ai-beam-a-501b-f64a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s-reflection-ai-beam-a-501b-f64a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s-devin-adds-memory-and-dreaming-93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8" name="Google Shape;258;s-devin-adds-memory-and-dreaming-93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s-google-gemini-4-argon-1m-ef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s-google-gemini-4-argon-1m-ef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s-anthropic-claude-shaped-d9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" name="Google Shape;275;s-anthropic-claude-shaped-d9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s-layoffs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s-layoffs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s-hiring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4" name="Google Shape;294;s-hiring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s-about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2" name="Google Shape;302;s-about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s-thanks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9" name="Google Shape;309;s-thanks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hyperlink" Target="https://arena.ai/leaderboard/model/gpt-6.1-sol-max" TargetMode="External"/><Relationship Id="rId18" Type="http://schemas.openxmlformats.org/officeDocument/2006/relationships/hyperlink" Target="https://arena.ai/leaderboard/model/gpt-5.6-sol-xhigh" TargetMode="External"/><Relationship Id="rId26" Type="http://schemas.openxmlformats.org/officeDocument/2006/relationships/hyperlink" Target="https://arena.ai/leaderboard/model/gemini-3.8-flash-high" TargetMode="External"/><Relationship Id="rId3" Type="http://schemas.openxmlformats.org/officeDocument/2006/relationships/hyperlink" Target="https://en.wikipedia.org/wiki/Elo_rating_system" TargetMode="External"/><Relationship Id="rId21" Type="http://schemas.openxmlformats.org/officeDocument/2006/relationships/hyperlink" Target="https://arena.ai/leaderboard/model/claude-opus-4-8-high" TargetMode="External"/><Relationship Id="rId34" Type="http://schemas.openxmlformats.org/officeDocument/2006/relationships/hyperlink" Target="https://arena.ai/leaderboard/model/qwen3.8-max" TargetMode="External"/><Relationship Id="rId7" Type="http://schemas.openxmlformats.org/officeDocument/2006/relationships/hyperlink" Target="https://arena.ai/leaderboard/model/claude-fable-5-high" TargetMode="External"/><Relationship Id="rId12" Type="http://schemas.openxmlformats.org/officeDocument/2006/relationships/hyperlink" Target="https://arena.ai/leaderboard/model/claude-opus-4-7" TargetMode="External"/><Relationship Id="rId17" Type="http://schemas.openxmlformats.org/officeDocument/2006/relationships/hyperlink" Target="https://arena.ai/leaderboard/model/muse-spark-1.3-max" TargetMode="External"/><Relationship Id="rId25" Type="http://schemas.openxmlformats.org/officeDocument/2006/relationships/hyperlink" Target="https://arena.ai/leaderboard/model/claude-opus-4-5-20251101-high-32k" TargetMode="External"/><Relationship Id="rId33" Type="http://schemas.openxmlformats.org/officeDocument/2006/relationships/hyperlink" Target="https://arena.ai/leaderboard/model/gemini-3-pro" TargetMode="External"/><Relationship Id="rId2" Type="http://schemas.openxmlformats.org/officeDocument/2006/relationships/notesSlide" Target="../notesSlides/notesSlide2.xml"/><Relationship Id="rId16" Type="http://schemas.openxmlformats.org/officeDocument/2006/relationships/hyperlink" Target="https://arena.ai/leaderboard/model/mimo-v2.6-pro" TargetMode="External"/><Relationship Id="rId20" Type="http://schemas.openxmlformats.org/officeDocument/2006/relationships/hyperlink" Target="https://arena.ai/leaderboard/model/claude-fable-5.1-max" TargetMode="External"/><Relationship Id="rId29" Type="http://schemas.openxmlformats.org/officeDocument/2006/relationships/hyperlink" Target="https://arena.ai/leaderboard/model/muse-spark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arena.ai/leaderboard/model/gemini-4-argon-high" TargetMode="External"/><Relationship Id="rId11" Type="http://schemas.openxmlformats.org/officeDocument/2006/relationships/hyperlink" Target="https://arena.ai/leaderboard/model/claude-opus-4-6" TargetMode="External"/><Relationship Id="rId24" Type="http://schemas.openxmlformats.org/officeDocument/2006/relationships/hyperlink" Target="https://arena.ai/leaderboard/model/muse-spark-1.2%20%28xHigh%29" TargetMode="External"/><Relationship Id="rId32" Type="http://schemas.openxmlformats.org/officeDocument/2006/relationships/hyperlink" Target="https://arena.ai/leaderboard/model/gemini-3.7-flash-high" TargetMode="External"/><Relationship Id="rId5" Type="http://schemas.openxmlformats.org/officeDocument/2006/relationships/hyperlink" Target="https://lmarena.ai/leaderboard/text/coding" TargetMode="External"/><Relationship Id="rId15" Type="http://schemas.openxmlformats.org/officeDocument/2006/relationships/hyperlink" Target="https://arena.ai/leaderboard/model/kimi-k3-max" TargetMode="External"/><Relationship Id="rId23" Type="http://schemas.openxmlformats.org/officeDocument/2006/relationships/hyperlink" Target="https://arena.ai/leaderboard/model/claude-sonnet-5.5-xhigh" TargetMode="External"/><Relationship Id="rId28" Type="http://schemas.openxmlformats.org/officeDocument/2006/relationships/hyperlink" Target="https://arena.ai/leaderboard/model/claude-opus-4-8" TargetMode="External"/><Relationship Id="rId36" Type="http://schemas.openxmlformats.org/officeDocument/2006/relationships/hyperlink" Target="https://arena.ai/leaderboard/model/gpt-5.5-high" TargetMode="External"/><Relationship Id="rId10" Type="http://schemas.openxmlformats.org/officeDocument/2006/relationships/hyperlink" Target="https://arena.ai/leaderboard/model/claude-opus-5.5-high" TargetMode="External"/><Relationship Id="rId19" Type="http://schemas.openxmlformats.org/officeDocument/2006/relationships/hyperlink" Target="https://arena.ai/leaderboard/model/claude-opus-5-high" TargetMode="External"/><Relationship Id="rId31" Type="http://schemas.openxmlformats.org/officeDocument/2006/relationships/hyperlink" Target="https://arena.ai/leaderboard/model/gemini-3.1-pro-preview" TargetMode="External"/><Relationship Id="rId4" Type="http://schemas.openxmlformats.org/officeDocument/2006/relationships/hyperlink" Target="https://lmarena.ai/leaderboard/text" TargetMode="External"/><Relationship Id="rId9" Type="http://schemas.openxmlformats.org/officeDocument/2006/relationships/hyperlink" Target="https://arena.ai/leaderboard/model/claude-opus-4-6-high" TargetMode="External"/><Relationship Id="rId14" Type="http://schemas.openxmlformats.org/officeDocument/2006/relationships/hyperlink" Target="https://arena.ai/leaderboard/model/gpt-6-astra-max" TargetMode="External"/><Relationship Id="rId22" Type="http://schemas.openxmlformats.org/officeDocument/2006/relationships/hyperlink" Target="https://arena.ai/leaderboard/model/muse-spark-1.1" TargetMode="External"/><Relationship Id="rId27" Type="http://schemas.openxmlformats.org/officeDocument/2006/relationships/hyperlink" Target="https://arena.ai/leaderboard/model/claude-opus-5-max" TargetMode="External"/><Relationship Id="rId30" Type="http://schemas.openxmlformats.org/officeDocument/2006/relationships/hyperlink" Target="https://arena.ai/leaderboard/model/claude-sonnet-4-6" TargetMode="External"/><Relationship Id="rId35" Type="http://schemas.openxmlformats.org/officeDocument/2006/relationships/hyperlink" Target="https://arena.ai/leaderboard/model/gemini-3.6-flash-high" TargetMode="External"/><Relationship Id="rId8" Type="http://schemas.openxmlformats.org/officeDocument/2006/relationships/hyperlink" Target="https://arena.ai/leaderboard/model/claude-opus-4-7-high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artificialanalysis.ai/evaluations/artificial-analysis-intelligence-index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www.anthropic.com/claude-haiku-5-5" TargetMode="External"/><Relationship Id="rId5" Type="http://schemas.openxmlformats.org/officeDocument/2006/relationships/image" Target="../media/image5.png"/><Relationship Id="rId4" Type="http://schemas.openxmlformats.org/officeDocument/2006/relationships/hyperlink" Target="https://mistral.ai/news/mistral-large-4/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76rR68ktQvo" TargetMode="External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omarchy.us" TargetMode="External"/><Relationship Id="rId5" Type="http://schemas.openxmlformats.org/officeDocument/2006/relationships/hyperlink" Target="https://37signals.com" TargetMode="External"/><Relationship Id="rId4" Type="http://schemas.openxmlformats.org/officeDocument/2006/relationships/hyperlink" Target="https://basecamp.com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nthropic.com/claude-opus-5-5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8.png"/><Relationship Id="rId5" Type="http://schemas.openxmlformats.org/officeDocument/2006/relationships/hyperlink" Target="https://www.youtube.com/watch?v=2zLuYU_Ub_0" TargetMode="External"/><Relationship Id="rId4" Type="http://schemas.openxmlformats.org/officeDocument/2006/relationships/hyperlink" Target="https://platform.claude.com/docs/en/models/opus-5-5/overview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code.claude.com/docs/en/plugins/mods/overview" TargetMode="External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www.youtube.com/watch?v=lDrAZ1wAyVs" TargetMode="External"/><Relationship Id="rId5" Type="http://schemas.openxmlformats.org/officeDocument/2006/relationships/hyperlink" Target="https://www.youtube.com/watch?v=E-7jurTZn-I" TargetMode="External"/><Relationship Id="rId4" Type="http://schemas.openxmlformats.org/officeDocument/2006/relationships/hyperlink" Target="https://github.com/anthropics/claude-code/tree/main/mods" TargetMode="Externa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hyperlink" Target="https://code.claude.com" TargetMode="External"/><Relationship Id="rId7" Type="http://schemas.openxmlformats.org/officeDocument/2006/relationships/hyperlink" Target="https://www.youtube.com/watch?v=rscb1DgJtNg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elevenlabs.io" TargetMode="External"/><Relationship Id="rId5" Type="http://schemas.openxmlformats.org/officeDocument/2006/relationships/hyperlink" Target="https://ffmpeg.org" TargetMode="External"/><Relationship Id="rId4" Type="http://schemas.openxmlformats.org/officeDocument/2006/relationships/hyperlink" Target="https://playwright.dev" TargetMode="External"/><Relationship Id="rId9" Type="http://schemas.openxmlformats.org/officeDocument/2006/relationships/hyperlink" Target="https://www.tomshardware.com/software/video-editing-graphic-design/solo-developer-rebuilds-adobe-creative-suite-in-rust-using-claude-releases-it-free-to-all-targets-100-percent-parity-in-one-month-despite-piracy-claims-and-safety-warnings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eepseek.com/harness/en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1.png"/><Relationship Id="rId5" Type="http://schemas.openxmlformats.org/officeDocument/2006/relationships/hyperlink" Target="https://github.com/madage/dsh-self-improved" TargetMode="External"/><Relationship Id="rId4" Type="http://schemas.openxmlformats.org/officeDocument/2006/relationships/hyperlink" Target="https://github.com/deepseek-ai/deepseek-harness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Relationship Id="rId5" Type="http://schemas.openxmlformats.org/officeDocument/2006/relationships/hyperlink" Target="https://www.youtube.com/@lev-selector/videos" TargetMode="External"/><Relationship Id="rId4" Type="http://schemas.openxmlformats.org/officeDocument/2006/relationships/image" Target="../media/image13.jpe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hyperlink" Target="https://newsletter.pragmaticengineer.com/p/how-kent-beck-shapes-the-software" TargetMode="External"/><Relationship Id="rId3" Type="http://schemas.openxmlformats.org/officeDocument/2006/relationships/hyperlink" Target="https://en.wikipedia.org/wiki/Extreme_Programming" TargetMode="External"/><Relationship Id="rId7" Type="http://schemas.openxmlformats.org/officeDocument/2006/relationships/hyperlink" Target="https://kentbeck.com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www.youtube.com/watch?v=aSXaxOdVtAQ" TargetMode="External"/><Relationship Id="rId5" Type="http://schemas.openxmlformats.org/officeDocument/2006/relationships/hyperlink" Target="https://www.agile-academy.com/en/agile-dictionary/extreme-programming/" TargetMode="External"/><Relationship Id="rId10" Type="http://schemas.openxmlformats.org/officeDocument/2006/relationships/image" Target="../media/image15.png"/><Relationship Id="rId4" Type="http://schemas.openxmlformats.org/officeDocument/2006/relationships/hyperlink" Target="https://extremeprogrammingalliance.com/about-extreme-programming-xp/" TargetMode="External"/><Relationship Id="rId9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hyperlink" Target="https://manus.im/blog/introducing-manus-2-0" TargetMode="External"/><Relationship Id="rId7" Type="http://schemas.openxmlformats.org/officeDocument/2006/relationships/hyperlink" Target="https://openai.com/index/path-to-astra/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arxiv.org/abs/2609.26457" TargetMode="External"/><Relationship Id="rId5" Type="http://schemas.openxmlformats.org/officeDocument/2006/relationships/hyperlink" Target="https://www.weco.ai/blog/first-evidence-of-recursive-self-improvement" TargetMode="External"/><Relationship Id="rId4" Type="http://schemas.openxmlformats.org/officeDocument/2006/relationships/hyperlink" Target="https://www.youtube.com/watch?v=L75zF2WKiVE" TargetMode="External"/><Relationship Id="rId9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iko1221/Strata" TargetMode="External"/><Relationship Id="rId7" Type="http://schemas.openxmlformats.org/officeDocument/2006/relationships/image" Target="../media/image21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0.jpeg"/><Relationship Id="rId5" Type="http://schemas.openxmlformats.org/officeDocument/2006/relationships/image" Target="../media/image19.png"/><Relationship Id="rId4" Type="http://schemas.openxmlformats.org/officeDocument/2006/relationships/hyperlink" Target="https://huggingface.co/collections/Qwen/Qwen3.8-Flash-Next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humanlayer.com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22.png"/><Relationship Id="rId4" Type="http://schemas.openxmlformats.org/officeDocument/2006/relationships/hyperlink" Target="https://x.com/dexhorthy" TargetMode="Externa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hyperlink" Target="https://www.youtube.com/watch?v=flXfwevUJTk" TargetMode="External"/><Relationship Id="rId7" Type="http://schemas.openxmlformats.org/officeDocument/2006/relationships/hyperlink" Target="https://aiprofitboardroom.com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www.blotato.com/mcp" TargetMode="External"/><Relationship Id="rId5" Type="http://schemas.openxmlformats.org/officeDocument/2006/relationships/hyperlink" Target="https://www.remotion.dev" TargetMode="External"/><Relationship Id="rId4" Type="http://schemas.openxmlformats.org/officeDocument/2006/relationships/hyperlink" Target="https://github.com/heygen-com/hyperframes" TargetMode="Externa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hyperlink" Target="https://arxiv.org/abs/2609.27334" TargetMode="External"/><Relationship Id="rId3" Type="http://schemas.openxmlformats.org/officeDocument/2006/relationships/hyperlink" Target="https://www.youtube.com/watch?v=eXad7m0TjVM" TargetMode="External"/><Relationship Id="rId7" Type="http://schemas.openxmlformats.org/officeDocument/2006/relationships/hyperlink" Target="https://www.youtube.com/watch?v=pSkh-mNd9LQ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arxiv.org/abs/2405.05254" TargetMode="External"/><Relationship Id="rId11" Type="http://schemas.openxmlformats.org/officeDocument/2006/relationships/image" Target="../media/image25.png"/><Relationship Id="rId5" Type="http://schemas.openxmlformats.org/officeDocument/2006/relationships/hyperlink" Target="https://arxiv.org/html/2609.19969v1" TargetMode="External"/><Relationship Id="rId10" Type="http://schemas.openxmlformats.org/officeDocument/2006/relationships/image" Target="../media/image24.png"/><Relationship Id="rId4" Type="http://schemas.openxmlformats.org/officeDocument/2006/relationships/hyperlink" Target="https://arxiv.org/abs/2609.26368" TargetMode="External"/><Relationship Id="rId9" Type="http://schemas.openxmlformats.org/officeDocument/2006/relationships/hyperlink" Target="https://aiweekly.co/alerts/jitmem-curates-llm-agent-memory-at-read-time-not-write-time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zed.dev/docs/installation" TargetMode="External"/><Relationship Id="rId7" Type="http://schemas.openxmlformats.org/officeDocument/2006/relationships/hyperlink" Target="http://simplicity.md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6.png"/><Relationship Id="rId5" Type="http://schemas.openxmlformats.org/officeDocument/2006/relationships/hyperlink" Target="https://github.com/lselector/agent-toolkit" TargetMode="External"/><Relationship Id="rId4" Type="http://schemas.openxmlformats.org/officeDocument/2006/relationships/hyperlink" Target="https://zed.dev/docs/ai/external-agents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uters.com/world/china/chinese-chipmakers-claim-nearly-half-of-local-market-nvidias-lead-shrinks-idc-2026-04-01/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Relationship Id="rId5" Type="http://schemas.openxmlformats.org/officeDocument/2006/relationships/hyperlink" Target="https://www.tomshardware.com/tech-industry/artificial-intelligence/alibaba-unveils-zhenwu-v900-ai-accelerator-claims-its-the-most-powerful-ai-chip-in-china-accelerator-supports-500-000-chip-supercluster-with-a-10t-parameter-qwen-model-on-the-roadmap" TargetMode="External"/><Relationship Id="rId4" Type="http://schemas.openxmlformats.org/officeDocument/2006/relationships/image" Target="../media/image27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hyperlink" Target="https://thenewstack.io/sign-in-with-chatgpt/" TargetMode="External"/><Relationship Id="rId7" Type="http://schemas.openxmlformats.org/officeDocument/2006/relationships/hyperlink" Target="https://microsoft.ai/news/our-first-streaming-transcription-model/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9.png"/><Relationship Id="rId5" Type="http://schemas.openxmlformats.org/officeDocument/2006/relationships/image" Target="../media/image28.jpeg"/><Relationship Id="rId4" Type="http://schemas.openxmlformats.org/officeDocument/2006/relationships/hyperlink" Target="https://www.techtimes.com/articles/328464/20261002/white-house-ai-safety-accord-has-no-penalties-no-breach-reporting-self-chosen-auditors.htm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cryptobriefing.com/openrouter-agentic-token-usage-14x-growth/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31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jpeg"/><Relationship Id="rId3" Type="http://schemas.openxmlformats.org/officeDocument/2006/relationships/hyperlink" Target="https://siliconangle.com/2026/10/04/trump-launches-super-intelligence-force-with-jay-clayton-as-ai-czar/" TargetMode="External"/><Relationship Id="rId7" Type="http://schemas.openxmlformats.org/officeDocument/2006/relationships/image" Target="../media/image33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github.com/neilsonnn/image-blaster" TargetMode="External"/><Relationship Id="rId5" Type="http://schemas.openxmlformats.org/officeDocument/2006/relationships/image" Target="../media/image32.jpeg"/><Relationship Id="rId4" Type="http://schemas.openxmlformats.org/officeDocument/2006/relationships/hyperlink" Target="https://aleph-alpha.com/en/blog/kolibri-has-landed-a-sovereign-open-weight-model/" TargetMode="External"/><Relationship Id="rId9" Type="http://schemas.openxmlformats.org/officeDocument/2006/relationships/image" Target="../media/image35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hyperlink" Target="https://reflection.ai/blog/introducing-beam" TargetMode="External"/><Relationship Id="rId7" Type="http://schemas.openxmlformats.org/officeDocument/2006/relationships/hyperlink" Target="https://reka.ai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://reka.ai" TargetMode="External"/><Relationship Id="rId5" Type="http://schemas.openxmlformats.org/officeDocument/2006/relationships/image" Target="../media/image37.png"/><Relationship Id="rId10" Type="http://schemas.openxmlformats.org/officeDocument/2006/relationships/image" Target="../media/image39.jpeg"/><Relationship Id="rId4" Type="http://schemas.openxmlformats.org/officeDocument/2006/relationships/image" Target="../media/image36.png"/><Relationship Id="rId9" Type="http://schemas.openxmlformats.org/officeDocument/2006/relationships/hyperlink" Target="https://a16z.com/100-gen-ai-apps-7/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devin.ai/blog/memory-and-dreaming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openai/math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43.png"/><Relationship Id="rId5" Type="http://schemas.openxmlformats.org/officeDocument/2006/relationships/hyperlink" Target="https://developers.cloudflare.com/agents/harnesses/pi/" TargetMode="External"/><Relationship Id="rId4" Type="http://schemas.openxmlformats.org/officeDocument/2006/relationships/image" Target="../media/image4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nthropic.com/research/claude-shaped-science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45.jpeg"/><Relationship Id="rId5" Type="http://schemas.openxmlformats.org/officeDocument/2006/relationships/hyperlink" Target="https://cloud.google.com/blog/products/ai-machine-learning/welcome-to-gemini-at-work-2026" TargetMode="External"/><Relationship Id="rId4" Type="http://schemas.openxmlformats.org/officeDocument/2006/relationships/image" Target="../media/image44.jpe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layoffs.fyi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47.jpeg"/><Relationship Id="rId5" Type="http://schemas.openxmlformats.org/officeDocument/2006/relationships/image" Target="../media/image46.jpeg"/><Relationship Id="rId4" Type="http://schemas.openxmlformats.org/officeDocument/2006/relationships/hyperlink" Target="https://trueup.io/layoffs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fred.stlouisfed.org/series/IHLIDXUSTPSOFTDEVE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1.xml"/><Relationship Id="rId5" Type="http://schemas.openxmlformats.org/officeDocument/2006/relationships/hyperlink" Target="https://www.dice.com/hiring/recruitment/reports/dice-tech-job-report" TargetMode="External"/><Relationship Id="rId4" Type="http://schemas.openxmlformats.org/officeDocument/2006/relationships/hyperlink" Target="https://hiringlab.indeed.com/2026/07/08/ai-and-job-postings-from-destruction-to-creation/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eais.ai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48.jpe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@lev-selector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1.xml"/><Relationship Id="rId5" Type="http://schemas.openxmlformats.org/officeDocument/2006/relationships/hyperlink" Target="https://drive.google.com/drive/folders/1dmj00iilSP-JYmriMUUaHCKz5X54e3UX?ths=true" TargetMode="External"/><Relationship Id="rId4" Type="http://schemas.openxmlformats.org/officeDocument/2006/relationships/hyperlink" Target="https://github.com/lselector/seminar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36576" y="-27432"/>
            <a:ext cx="27543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 - Oct 9, 2026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6248475" y="660838"/>
            <a:ext cx="2832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i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Copilot used to live in Word. </a:t>
            </a:r>
            <a:endParaRPr sz="1800" b="1" i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i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Now Word lives in Copilot.</a:t>
            </a:r>
            <a:endParaRPr sz="1800" b="1" i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36575" y="393200"/>
            <a:ext cx="2984700" cy="2050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LM Arena Leaderboard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Artificial Analysis Intelligence Index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Microsoft Copilot’s Evolution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Claude Haiku 5.5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Mistral Large 4 "Le Chonk"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Building Better Through Constraints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AI Agents Build a Complex App Feature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Claude Code Mods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Claude Code JavaScript Videos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Adobe Suite Rebuilt in Rust with Claude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DeepSeek Harness: Evolving Agents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36575" y="2618228"/>
            <a:ext cx="2984700" cy="2050200"/>
          </a:xfrm>
          <a:prstGeom prst="rect">
            <a:avLst/>
          </a:prstGeom>
          <a:solidFill>
            <a:srgbClr val="E2F0D9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Kent Beck on Craft and AI Coding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2026 Nobel Prizes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AI work that has already won Nobels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AI work that has already won Turing Award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Manus 2.0 and Cue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Research - AI Improves Its Own Design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Strata: 125B Model on a Normal PC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SpaceXAI Renamed SpaceXSI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HumanLayer Multiplayer Agent Workspace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AI-Powered Video Editing Workflow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Xiaomi HySparse2 Cuts Agent Context Costs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3090446" y="404863"/>
            <a:ext cx="2963100" cy="1865400"/>
          </a:xfrm>
          <a:prstGeom prst="rect">
            <a:avLst/>
          </a:prstGeom>
          <a:solidFill>
            <a:srgbClr val="DEEBF7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Salesforce JitMem: Memory on Demand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Zed + Claude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Agent Toolkit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Chinese Chips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Alibaba’s V900 Chip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Sign in with ChatGPT Spends Your Plan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White House Super Intelligence Accord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Microsoft MAI-Transcribe-2-Streaming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Agentic AI Token Use Dwarfs Human Use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Trump's Super Intelligence Force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13"/>
          <p:cNvSpPr txBox="1"/>
          <p:nvPr/>
        </p:nvSpPr>
        <p:spPr>
          <a:xfrm>
            <a:off x="3090446" y="2440932"/>
            <a:ext cx="2963100" cy="2235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Aleph Alpha Kolibri 78B MoE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image-blaster: Photo to 3D World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Reflection AI Beam 501B Open Model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Reka Rho-1 19B Multimodal Model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a16z - Top 100 Gen AI Consumer Apps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Devin Memory and Dreaming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OpenAI Publishes 722 Math Papers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Cloudflare Integrates Pi Durable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Claude-Shaped Science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Google Gemini Agent Coworkers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Jobs &amp; Layoffs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4472C4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Tech Hiring and Skills in Demand</a:t>
            </a:r>
            <a:endParaRPr sz="1200" b="1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0" name="Google Shape;60;p13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69775" y="1440785"/>
            <a:ext cx="2163399" cy="162254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61" name="Google Shape;61;p13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60125" y="3186101"/>
            <a:ext cx="2382699" cy="131018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/>
          <p:nvPr/>
        </p:nvSpPr>
        <p:spPr>
          <a:xfrm>
            <a:off x="6736325" y="52350"/>
            <a:ext cx="2356200" cy="341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Starting Elo rating = 1000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https://en.wikipedia.org/wiki/Elo_rating_system</a:t>
            </a:r>
            <a:r>
              <a:rPr lang="en"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14"/>
          <p:cNvSpPr txBox="1"/>
          <p:nvPr/>
        </p:nvSpPr>
        <p:spPr>
          <a:xfrm>
            <a:off x="38150" y="2125"/>
            <a:ext cx="2599800" cy="29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"LM Arena" Leaderboard</a:t>
            </a:r>
            <a:endParaRPr sz="18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14"/>
          <p:cNvSpPr txBox="1"/>
          <p:nvPr/>
        </p:nvSpPr>
        <p:spPr>
          <a:xfrm>
            <a:off x="52418" y="476072"/>
            <a:ext cx="25998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English - </a:t>
            </a: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https://lmarena.ai/leaderboard/text</a:t>
            </a: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14"/>
          <p:cNvSpPr txBox="1"/>
          <p:nvPr/>
        </p:nvSpPr>
        <p:spPr>
          <a:xfrm>
            <a:off x="2726905" y="476078"/>
            <a:ext cx="28395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Coding - </a:t>
            </a: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https://lmarena.ai/leaderboard/text/coding</a:t>
            </a: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14"/>
          <p:cNvSpPr txBox="1"/>
          <p:nvPr/>
        </p:nvSpPr>
        <p:spPr>
          <a:xfrm>
            <a:off x="3437903" y="63625"/>
            <a:ext cx="1408200" cy="172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Data for Oct 8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71" name="Google Shape;71;p14"/>
          <p:cNvGraphicFramePr/>
          <p:nvPr/>
        </p:nvGraphicFramePr>
        <p:xfrm>
          <a:off x="5742420" y="43006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{536F92A5-FBDE-4D6A-826B-49F6A3B93CD3}</a:tableStyleId>
              </a:tblPr>
              <a:tblGrid>
                <a:gridCol w="219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5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Claude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Gemini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OpenAI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 Source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2" name="Google Shape;72;p14"/>
          <p:cNvSpPr txBox="1"/>
          <p:nvPr/>
        </p:nvSpPr>
        <p:spPr>
          <a:xfrm>
            <a:off x="6838390" y="485738"/>
            <a:ext cx="2152500" cy="2327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Fable-5 - 6TB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Opus-4.8 - 5TB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Sonnet-4.5 - 1TB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Sonnet-5 - ?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GLM-5.3 - 744B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Meta muse-spark - 16 x 70B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Qwen3.7-max-preview - 745B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Qwen3.8-max - 2.4TB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Baidu Ernie-5.1 - 800B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Deepseek-v4 - 1.6T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Deepseek-v4.1-Flash - 552B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Kimi-k3 - 2.8T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Xiaomi MiMo-V2.5-Pro - 1T+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ByteDance 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dola-seed-2.0-pro 400B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Minimax M3  -  456B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73" name="Google Shape;73;p14"/>
          <p:cNvGraphicFramePr/>
          <p:nvPr/>
        </p:nvGraphicFramePr>
        <p:xfrm>
          <a:off x="3075200" y="74240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{536F92A5-FBDE-4D6A-826B-49F6A3B93CD3}</a:tableStyleId>
              </a:tblPr>
              <a:tblGrid>
                <a:gridCol w="27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2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5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6"/>
                        </a:rPr>
                        <a:t>gemini-4-argon-high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1562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7"/>
                        </a:rPr>
                        <a:t>claude-fable-5-high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8"/>
                        </a:rPr>
                        <a:t>claude-opus-4-7-high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9"/>
                        </a:rPr>
                        <a:t>claude-opus-4-6-high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0"/>
                        </a:rPr>
                        <a:t>claude-opus-5.5-high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1"/>
                        </a:rPr>
                        <a:t>claude-opus-4-6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/>
                        </a:rPr>
                        <a:t>claude-opus-4-7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/>
                        </a:rPr>
                        <a:t>gpt-6.1-sol-max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4"/>
                        </a:rPr>
                        <a:t>gpt-6-astra-max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5"/>
                        </a:rPr>
                        <a:t>kimi-k3-max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6"/>
                        </a:rPr>
                        <a:t>mimo-v2.6-pro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7"/>
                        </a:rPr>
                        <a:t>muse-spark-1.3-max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81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8"/>
                        </a:rPr>
                        <a:t>gpt-5.6-sol-xhigh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9"/>
                        </a:rPr>
                        <a:t>claude-opus-5-high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0"/>
                        </a:rPr>
                        <a:t>claude-fable-5.1-max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1"/>
                        </a:rPr>
                        <a:t>claude-opus-4-8-high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2"/>
                        </a:rPr>
                        <a:t>muse-spark-1.1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3"/>
                        </a:rPr>
                        <a:t>claude-sonnet-5.5-xhigh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4"/>
                        </a:rPr>
                        <a:t>muse-spark-1.2 (xHigh)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5"/>
                        </a:rPr>
                        <a:t>claude-opus-4-5-20251101-high-32k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6"/>
                        </a:rPr>
                        <a:t>gemini-3.8-flash-high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7"/>
                        </a:rPr>
                        <a:t>claude-opus-5-max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8"/>
                        </a:rPr>
                        <a:t>claude-opus-4-8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9"/>
                        </a:rPr>
                        <a:t>muse-spark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0"/>
                        </a:rPr>
                        <a:t>claude-sonnet-4-6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graphicFrame>
        <p:nvGraphicFramePr>
          <p:cNvPr id="74" name="Google Shape;74;p14"/>
          <p:cNvGraphicFramePr/>
          <p:nvPr/>
        </p:nvGraphicFramePr>
        <p:xfrm>
          <a:off x="423650" y="745044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{536F92A5-FBDE-4D6A-826B-49F6A3B93CD3}</a:tableStyleId>
              </a:tblPr>
              <a:tblGrid>
                <a:gridCol w="27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7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5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6"/>
                        </a:rPr>
                        <a:t>gemini-4-argon-high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0"/>
                        </a:rPr>
                        <a:t>claude-opus-5.5-high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9"/>
                        </a:rPr>
                        <a:t>claude-opus-4-6-high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7"/>
                        </a:rPr>
                        <a:t>claude-fable-5-high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8"/>
                        </a:rPr>
                        <a:t>claude-opus-4-7-high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0"/>
                        </a:rPr>
                        <a:t>claude-fable-5.1-max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1"/>
                        </a:rPr>
                        <a:t>claude-opus-4-6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6"/>
                        </a:rPr>
                        <a:t>gemini-3.8-flash-high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7"/>
                        </a:rPr>
                        <a:t>muse-spark-1.3-max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/>
                        </a:rPr>
                        <a:t>claude-opus-4-7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4"/>
                        </a:rPr>
                        <a:t>muse-spark-1.2 (xHigh)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2"/>
                        </a:rPr>
                        <a:t>muse-spark-1.1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9"/>
                        </a:rPr>
                        <a:t>claude-opus-5-high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7"/>
                        </a:rPr>
                        <a:t>claude-opus-5-max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9"/>
                        </a:rPr>
                        <a:t>muse-spark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5"/>
                        </a:rPr>
                        <a:t>kimi-k3-max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1"/>
                        </a:rPr>
                        <a:t>gemini-3.1-pro-preview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2"/>
                        </a:rPr>
                        <a:t>gemini-3.7-flash-high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3"/>
                        </a:rPr>
                        <a:t>gemini-3-pro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8"/>
                        </a:rPr>
                        <a:t>gpt-5.6-sol-xhigh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/>
                        </a:rPr>
                        <a:t>gpt-6.1-sol-max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4"/>
                        </a:rPr>
                        <a:t>qwen3.8-max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5"/>
                        </a:rPr>
                        <a:t>gemini-3.6-flash-high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6"/>
                        </a:rPr>
                        <a:t>gpt-5.5-high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1"/>
                        </a:rPr>
                        <a:t>claude-opus-4-8-high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/>
          <p:nvPr/>
        </p:nvSpPr>
        <p:spPr>
          <a:xfrm>
            <a:off x="38150" y="2125"/>
            <a:ext cx="4493700" cy="29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Artificial Analysis Intelligence Index</a:t>
            </a:r>
            <a:endParaRPr sz="18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15"/>
          <p:cNvSpPr txBox="1"/>
          <p:nvPr/>
        </p:nvSpPr>
        <p:spPr>
          <a:xfrm>
            <a:off x="52430" y="355163"/>
            <a:ext cx="4429500" cy="341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Artificial Analysis Intelligence Index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https://artificialanalysis.ai/evaluations/artificial-analysis-intelligence-index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15"/>
          <p:cNvSpPr txBox="1"/>
          <p:nvPr/>
        </p:nvSpPr>
        <p:spPr>
          <a:xfrm>
            <a:off x="5934676" y="1088150"/>
            <a:ext cx="9447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Oct 8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2" name="Google Shape;82;p15" descr="auto: aa-index-chart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1146" y="1598925"/>
            <a:ext cx="8534708" cy="346874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83" name="Google Shape;83;p15"/>
          <p:cNvSpPr/>
          <p:nvPr/>
        </p:nvSpPr>
        <p:spPr>
          <a:xfrm>
            <a:off x="3228500" y="3424925"/>
            <a:ext cx="233100" cy="3837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6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6"/>
          <p:cNvSpPr txBox="1"/>
          <p:nvPr/>
        </p:nvSpPr>
        <p:spPr>
          <a:xfrm>
            <a:off x="131700" y="358900"/>
            <a:ext cx="4440300" cy="2419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Microsoft Copilot’s Evolution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2023: Copilot begins as an assistant inside Word, Excel, PowerPoint, Outlook, and Teams; Business Chat connects information across applications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2024: Copilot Pages introduces persistent, shared workspaces; agents extend Copilot into business workflows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2025: Copilot Chat broadens access to specialized agents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September 2026: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Home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brings applications into Copilot;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Code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builds custom software, while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Autopilot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handles ongoing delegated work.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 direction reverses: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instead of Copilot living inside apps, apps become capabilities inside Copilot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“Operating system for work”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, rollout remains staged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From Windows OS to Copilot OS ?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0" name="Google Shape;90;p16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44150" y="-1"/>
            <a:ext cx="3141298" cy="2355968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91" name="Google Shape;91;p16"/>
          <p:cNvSpPr txBox="1"/>
          <p:nvPr/>
        </p:nvSpPr>
        <p:spPr>
          <a:xfrm>
            <a:off x="131700" y="3216400"/>
            <a:ext cx="3141300" cy="1265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Mistral Large 4 "Le Chonk"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1.05T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params, 49B active, natively multimodal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1M context, 160+ languages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Cybench 93%; DeepSWE v1.1 61.7%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API: $1.36 / $4.18 per 1M tokens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Open weights promised in October</a:t>
            </a:r>
            <a:endParaRPr sz="1200" b="1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https://mistral.ai/news/mistral-large-4/</a:t>
            </a:r>
            <a:r>
              <a:rPr lang="en" sz="9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2" name="Google Shape;92;p16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35250" y="2969475"/>
            <a:ext cx="1476375" cy="19721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93" name="Google Shape;93;p16"/>
          <p:cNvSpPr txBox="1"/>
          <p:nvPr/>
        </p:nvSpPr>
        <p:spPr>
          <a:xfrm>
            <a:off x="6503775" y="2479575"/>
            <a:ext cx="2558100" cy="2558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Claude Haiku 5.5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1M-token context, 128K-token output, text/image input, tool use, adjustable reasoning effort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Pricing per million input/output tokens: $0.10/$0.50 for prompts up to 100K; $0.50/$2.50 above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(Haiku 4.5 was $1/$5)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Matches GPT-6 Luna’s base pricing;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Gemini 3.5 Flash-Lite’s $0.30/$2.50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Stronger at coding and computer-use benchmarks than Luna; complex coding still favors Sonnet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https://www.anthropic.com/claude-haiku-5-5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6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19513" y="3473141"/>
            <a:ext cx="1476375" cy="75160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7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17"/>
          <p:cNvSpPr txBox="1"/>
          <p:nvPr/>
        </p:nvSpPr>
        <p:spPr>
          <a:xfrm>
            <a:off x="36575" y="344662"/>
            <a:ext cx="5441100" cy="3158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Building Better Through Constraints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David Heinemeier Hansson, 37signals co-owner and Basecamp creator, in a long-form interview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 argues that software improves when teams deliberately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limit features, resources, and interruptions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discussion covers Basecamp’s 2004 launch, current AI-assisted development, and his work on the Omarchy Linux distribution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Problem: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abundant resources and large teams can encourage bloated products, forced upgrades, and needless complexity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Solution: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Preserve constraints, keep proven software stable, build for real jobs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and favor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focused small teams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Achievement: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Basecamp was initially built in 380 hours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and still supports profitable legacy versions for longtime customers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 lesson: Use AI to sharpen judgment - not merely to produce more code.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https://www.youtube.com/watch?v=76rR68ktQvo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https://basecamp.com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https://37signals.com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https://omarchy.us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1" name="Google Shape;101;p17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30075" y="152400"/>
            <a:ext cx="2341200" cy="20485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8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8"/>
          <p:cNvSpPr txBox="1"/>
          <p:nvPr/>
        </p:nvSpPr>
        <p:spPr>
          <a:xfrm>
            <a:off x="36575" y="344662"/>
            <a:ext cx="5441100" cy="2835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AI Agents Build a Complex App Feature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creator of Enjoy, an AI-agent app, describes using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Opus 5.5 in Ultra Code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to implement a 2,700-line specification for team collaboration.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project involved redesigning the app for multiple users and coordinating phones, browsers, desktop clients, a relay server, and encrypted traffic.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creator says the agent worked for about seven hours, using dozens of implementation and review agents, with tests and CI checks.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 reports that the feature matched the specification and worked well, contrasting it with earlier agents that failed on smaller tasks and left codebases broken.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His proposed shift is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from manually reviewing every line to evolutionary coding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automated tests, adversarial agent reviews, and production results guide iteration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achievement suggests AI may shorten complex development and change engineering practice.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https://www.anthropic.com/claude-opus-5-5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https://platform.claude.com/docs/en/models/opus-5-5/overview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https://www.youtube.com/watch?v=2zLuYU_Ub_0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8" name="Google Shape;108;p18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03500" y="354796"/>
            <a:ext cx="2296475" cy="214385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9"/>
          <p:cNvSpPr txBox="1"/>
          <p:nvPr/>
        </p:nvSpPr>
        <p:spPr>
          <a:xfrm>
            <a:off x="36574" y="-27425"/>
            <a:ext cx="2421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Claude Code Mods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19"/>
          <p:cNvSpPr txBox="1"/>
          <p:nvPr/>
        </p:nvSpPr>
        <p:spPr>
          <a:xfrm>
            <a:off x="115950" y="376400"/>
            <a:ext cx="6056400" cy="3528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Code Mods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Mods = JavaScript handlers that customize Claude Code assistant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Claude Code Mods are small add-ons that change Claude Code’s interface or behavior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mods require version 2.1.287 or newer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 create a mod, just describe the feature you want - and Claude builds the mod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Enable hot reloading to try it immediately in the terminal or desktop Code tab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 keep it, ask Claude to save and install it as a plugin so it remains available in future sessions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Examples: a tool counter, destructive-command guard, prompt simplifier, context-usage meter.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Mods address repetitive instructions, risky commands, and limited context visibility by intercepting events and drawing interface elements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Mods are potentially dangerous (example: a mod to silently approve all file reads)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VS Code support is partially implemented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Mods can address agent visibility, costs, risky deletions, repeated corrections, browser switching, and reviewing edits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Importance: personalized workflows; background AI agents consume additional usage.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https://code.claude.com/docs/en/plugins/mods/overview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https://github.com/anthropics/claude-code/tree/main/mods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https://www.youtube.com/watch?v=E-7jurTZn-I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https://www.youtube.com/watch?v=lDrAZ1wAyVs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5" name="Google Shape;115;p19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96175" y="910213"/>
            <a:ext cx="2666850" cy="246038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/>
        </p:nvSpPr>
        <p:spPr>
          <a:xfrm>
            <a:off x="36574" y="-27425"/>
            <a:ext cx="34305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Claude Code JavaScript Videos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20"/>
          <p:cNvSpPr txBox="1"/>
          <p:nvPr/>
        </p:nvSpPr>
        <p:spPr>
          <a:xfrm>
            <a:off x="36575" y="344662"/>
            <a:ext cx="5441100" cy="3189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Code JavaScript Videos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Chase AI demonstrates creating explainers, product demos, and motion graphics with Claude Code and JavaScript, without Remotion or After Effects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JavaScript defines each frame as a function of time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Playwright renders frames (runs animation, takes screenshots)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Human approves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FFmpeg assembles the MP4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workflow runs locally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Prompts specify duration, aspect ratio, style, and audio;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reference images or videos guide composition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reusable skill automates intake, storyboarding, coding, checks, and delivery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achievement is reproducible, editable animation without dedicated video generators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06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https://code.claude.com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06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https://playwright.dev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06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https://ffmpeg.org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06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https://elevenlabs.io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206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https://www.youtube.com/watch?v=rscb1DgJtNg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2" name="Google Shape;122;p20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67375" y="678025"/>
            <a:ext cx="2720100" cy="174132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23" name="Google Shape;123;p20"/>
          <p:cNvSpPr txBox="1"/>
          <p:nvPr/>
        </p:nvSpPr>
        <p:spPr>
          <a:xfrm>
            <a:off x="36575" y="3731462"/>
            <a:ext cx="5441100" cy="1126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Solo developer rebuilds Adobe Creative Suite in Rust using Claude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Releases it free to all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Targets 100% parity in one month despite piracy claims and safety warnings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https://www.tomshardware.com/software/video-editing-graphic-design/solo-developer-rebuilds-adobe-creative-suite-in-rust-using-claude-releases-it-free-to-all-targets-100-percent-parity-in-one-month-despite-piracy-claims-and-safety-warnings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1"/>
          <p:cNvSpPr txBox="1"/>
          <p:nvPr/>
        </p:nvSpPr>
        <p:spPr>
          <a:xfrm>
            <a:off x="36575" y="-27425"/>
            <a:ext cx="42879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DeepSeek Harness: Evolving Agents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21"/>
          <p:cNvSpPr txBox="1"/>
          <p:nvPr/>
        </p:nvSpPr>
        <p:spPr>
          <a:xfrm>
            <a:off x="36575" y="344650"/>
            <a:ext cx="4287900" cy="3020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DeepSeek Harness: Evolving Agents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DeepSeek AI released its open-source agent harness in August. Github repo now has 245K stars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 locally hosted runtime with a browser interface, terminal access, coding tools, web search, planning, and subagents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Cordis-based architecture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makes models, tools, memory, execution loops, and interfaces </a:t>
            </a:r>
            <a:r>
              <a:rPr lang="en" sz="12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replaceable plugins</a:t>
            </a:r>
            <a:endParaRPr sz="12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Self-improvement: Creator mode enables runtime plugin changes; a separate community plugin adds persistent memory, evolving user profiles, and reusable skills - not automatic model retraining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Developers can build adaptable agents without rewriting the core framework. This is extensible agent infrastructure, not proof of autonomous intelligence improvement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https://www.deepseek.com/harness/en/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https://github.com/deepseek-ai/deepseek-harness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https://github.com/madage/dsh-self-improved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0" name="Google Shape;130;p21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76875" y="152400"/>
            <a:ext cx="4514726" cy="434880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2"/>
          <p:cNvSpPr txBox="1"/>
          <p:nvPr/>
        </p:nvSpPr>
        <p:spPr>
          <a:xfrm>
            <a:off x="36576" y="-27432"/>
            <a:ext cx="35172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Weekly videos every Friday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6" name="Google Shape;136;p22" descr="auto: youtube-videos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49500" y="881276"/>
            <a:ext cx="2461825" cy="290776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37" name="Google Shape;137;p22" descr="auto: youtube-shorts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10086" y="2703305"/>
            <a:ext cx="2133904" cy="223725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38" name="Google Shape;138;p22"/>
          <p:cNvSpPr txBox="1"/>
          <p:nvPr/>
        </p:nvSpPr>
        <p:spPr>
          <a:xfrm>
            <a:off x="102375" y="725485"/>
            <a:ext cx="4161900" cy="4186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Weekly videos every Friday</a:t>
            </a: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200">
                <a:latin typeface="Calibri"/>
                <a:ea typeface="Calibri"/>
                <a:cs typeface="Calibri"/>
                <a:sym typeface="Calibri"/>
              </a:rPr>
              <a:t>7.62K subscribers, 360 videos</a:t>
            </a: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1. Subscribe to this channel </a:t>
            </a:r>
            <a:r>
              <a:rPr lang="en" sz="1800" b="1" u="sng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https://www.youtube.com/@lev-selector</a:t>
            </a:r>
            <a:r>
              <a:rPr lang="en" sz="18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b="1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2. Download slides from GitHub using links under the videos</a:t>
            </a: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3. Please pause the video - and answer the pinned question in comments under the video</a:t>
            </a:r>
            <a:endParaRPr sz="1800" b="1" i="0" u="none" strike="noStrike" cap="non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3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23"/>
          <p:cNvSpPr txBox="1"/>
          <p:nvPr/>
        </p:nvSpPr>
        <p:spPr>
          <a:xfrm>
            <a:off x="121300" y="298975"/>
            <a:ext cx="4379400" cy="3804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Kent Beck on Craft and AI-Assisted Development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Kent Beck is known for his book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Extreme Programming (XP, 1999)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Agile approach to building software -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deliver small improvements often, get feedback quickly, and adapt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rather than trying to plan everything up front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https://en.wikipedia.org/wiki/Extreme_Programming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https://extremeprogrammingalliance.com/about-extreme-programming-xp/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Common XP practices include: Test-driven development (TDD), Pair programming, Continuous integration, Small releases and regular customer feedback, Refactoring: improve the code’s structure</a:t>
            </a:r>
            <a:b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https://www.agile-academy.com/en/agile-dictionary/extreme-programming/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Kent Beck warns that AI-generated code may be broken; developers must verify behavior rather than trust appearances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His solution: work iteratively, test continuously, and alternate shipping features with refactoring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that preserves future choices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This balance enables learning and keeps software adaptable, instead of rapidly accumulating complexity until change becomes dangerous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Beck argues that code volume do not prove progress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https://www.youtube.com/watch?v=aSXaxOdVtAQ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https://kentbeck.com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https://newsletter.pragmaticengineer.com/p/how-kent-beck-shapes-the-software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5" name="Google Shape;145;p23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78286" y="1501001"/>
            <a:ext cx="926689" cy="12286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46" name="Google Shape;146;p23"/>
          <p:cNvPicPr preferRelativeResize="0"/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08900" y="1501000"/>
            <a:ext cx="1255950" cy="122864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4"/>
          <p:cNvSpPr txBox="1"/>
          <p:nvPr/>
        </p:nvSpPr>
        <p:spPr>
          <a:xfrm>
            <a:off x="36572" y="0"/>
            <a:ext cx="43794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2026 Nobel Prizes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24"/>
          <p:cNvSpPr txBox="1"/>
          <p:nvPr/>
        </p:nvSpPr>
        <p:spPr>
          <a:xfrm>
            <a:off x="137125" y="805400"/>
            <a:ext cx="4278900" cy="4082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2026 Nobel Prizes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October 5 - Physiology or Medicine — Karl Deisseroth, Peter Hegemann, Georg Nagel — For discoveries concerning light-gated ion channels and optogenetics, enabling control of nerve-cell activity using light.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October 6 — Physics — Francis Halzen — For contributions to the IceCube Neutrino Observatory and the discovery of high-energy neutrinos of astrophysical origin.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October 7 — Chemistry — Henri B. Kagan, Kenso Soai — For discoveries of nonlinear effects and autocatalysis in asymmetric organic synthesis.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October 8 — Literature — Anne Carson — For her inventive literary work creating new forms in dialogue with the classical tradition.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October 9 — Peace — Navanethem “Navi” Pillay — For her efforts to promote peace and international law.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October 12 — Economic Sciences — Not yet announced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3" name="Google Shape;153;p24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72000" y="104825"/>
            <a:ext cx="2015775" cy="2015775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24"/>
          <p:cNvSpPr txBox="1"/>
          <p:nvPr/>
        </p:nvSpPr>
        <p:spPr>
          <a:xfrm>
            <a:off x="4651125" y="4130000"/>
            <a:ext cx="3910800" cy="572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AI work that has already won Turing Award 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2018 - Yoshua Bengio, Geoffrey Hinton, and Yann LeCun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2024 - Andrew Barto and Richard Sutton for RL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24"/>
          <p:cNvSpPr txBox="1"/>
          <p:nvPr/>
        </p:nvSpPr>
        <p:spPr>
          <a:xfrm>
            <a:off x="4651125" y="3461975"/>
            <a:ext cx="3910800" cy="572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AI work that has already won Nobels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2024 — Physics — John J. Hopfield and Geoffrey Hinton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2024 — Chemistry — Demis Hassabis and John Jumper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5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25"/>
          <p:cNvSpPr txBox="1"/>
          <p:nvPr/>
        </p:nvSpPr>
        <p:spPr>
          <a:xfrm>
            <a:off x="121491" y="405316"/>
            <a:ext cx="5441100" cy="1218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Manus 2.0 and Cue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Agent app - web, desktop, and mobile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Manus’s Cascade harness, Studio, and cloud computers let agents handle projects, edit videos, build games, run automations, and work remotely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Cue gives each agent an email, phone number, wallet, and computer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https://manus.im/blog/introducing-manus-2-0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https://www.youtube.com/watch?v=L75zF2WKiVE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5"/>
          <p:cNvSpPr txBox="1"/>
          <p:nvPr/>
        </p:nvSpPr>
        <p:spPr>
          <a:xfrm>
            <a:off x="97229" y="1695377"/>
            <a:ext cx="5010000" cy="3389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Research - AI Improves Its Own Design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Weco AI is based in London, UK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Weco’s AIDE² experiment - "autoresearch on autoresearch"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Used two nested AI-agent loops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inner agent tried to improve solutions to research and engineering tasks;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the outer agent repeatedly rewrote the inner agent’s harness code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evaluated the rewrite under a fixed cost budget, and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kept it only if it improved on a hidden score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system changed the agent’s scaffolding, not the underlying model weights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Over eight days, the system ran 100 rounds, proposing and testing changes; seven upgrades survived hidden evaluations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Its best version,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AIDE85, outperformed Weco’s two-year, hand-tuned baseline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on held-out benchmarks under a fixed budget.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result offers public evidence for level-one recursive self-improvement: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 AI system improving faster than manual tuning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952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https://www.weco.ai/blog/first-evidence-of-recursive-self-improvement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952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https://arxiv.org/abs/2609.26457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952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https://openai.com/index/path-to-astra/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3" name="Google Shape;163;p25"/>
          <p:cNvPicPr preferRelativeResize="0"/>
          <p:nvPr/>
        </p:nvPicPr>
        <p:blipFill rotWithShape="1"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630075" y="152400"/>
            <a:ext cx="2997878" cy="14111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64" name="Google Shape;164;p25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68575" y="1941650"/>
            <a:ext cx="3920876" cy="294064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6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26"/>
          <p:cNvSpPr txBox="1"/>
          <p:nvPr/>
        </p:nvSpPr>
        <p:spPr>
          <a:xfrm>
            <a:off x="91725" y="379825"/>
            <a:ext cx="3462600" cy="1957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Strata Runs 125 Bln Params Model on a Normal PC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Developer Niko1221 published Strata on GitHub to run Qwen3.8-Flash-Next locally  -125 Bln params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45 tok/sec on RTX 5070 + 64GB RAM for 128K context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Strata splits work across GPU, system RAM and SSD: the GPU handles shared operations and cached experts, while CPU and SSD provide additional model data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https://github.com/Niko1221/Strata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https://huggingface.co/collections/Qwen/Qwen3.8-Flash-Next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1" name="Google Shape;171;p26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58225" y="116800"/>
            <a:ext cx="5415674" cy="29065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72" name="Google Shape;172;p26"/>
          <p:cNvSpPr txBox="1"/>
          <p:nvPr/>
        </p:nvSpPr>
        <p:spPr>
          <a:xfrm>
            <a:off x="36575" y="3197675"/>
            <a:ext cx="3289800" cy="1311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SpaceXAI to be renamed to SpaceXSI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Musk said SpaceXAI, SpaceX’s AI unit, would become SpaceXSI,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with “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SI” standing for “super intelligence.”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 provided no implementation timetable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This concerns the AI unit - not renaming the entire SpaceX company.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3" name="Google Shape;173;p26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26125" y="3105750"/>
            <a:ext cx="2793625" cy="18647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74" name="Google Shape;174;p26" title="XSI.jpg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19498" y="3298768"/>
            <a:ext cx="2624899" cy="1478703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7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7"/>
          <p:cNvSpPr txBox="1"/>
          <p:nvPr/>
        </p:nvSpPr>
        <p:spPr>
          <a:xfrm>
            <a:off x="36575" y="344650"/>
            <a:ext cx="3833100" cy="3250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HumanLayer - The Multiplayer Coding Agent Workspace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TL;DR - AI agents can implement features quickly, but humans must retain product, architectural, and program-design control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Problem: Coding factories can create unreviewed, poorly structured code, leaving teams unable to diagnose serious bugs months later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Solution: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Define measurable user outcomes, architecture, interfaces, tests, and small end-to-end vertical slices before agents generate large changes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approach shifts engineers toward high-leverage design, verification, and prioritization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Note: Benchmarks that merely pass tests do not measure maintainability; sustained human understanding and feedback remain essential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https://humanlayer.com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https://x.com/dexhorthy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1" name="Google Shape;181;p27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73609" y="332521"/>
            <a:ext cx="5085474" cy="38141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8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28"/>
          <p:cNvSpPr txBox="1"/>
          <p:nvPr/>
        </p:nvSpPr>
        <p:spPr>
          <a:xfrm>
            <a:off x="85100" y="344650"/>
            <a:ext cx="5325000" cy="4497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AI-Powered Video Editing Workflow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 Code using Claude Opus 5.5</a:t>
            </a: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edits footage with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HyperFrames or Remotion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(HMLT, CSS, React), previews results, and revises them from feedback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connected MCP service, such as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Blotato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can publish the finished video and accompanying post to social accounts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presenter reports a polished edit after roughly 10 minutes and one feedback round, suggesting a faster content-production process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https://www.youtube.com/watch?v=flXfwevUJTk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https://github.com/heygen-com/hyperframes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https://www.remotion.dev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https://www.blotato.com/mcp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https://aiprofitboardroom.com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900"/>
              <a:buFont typeface="Roboto Mono"/>
              <a:buChar char="●"/>
            </a:pPr>
            <a:r>
              <a:rPr lang="en" sz="9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------------------</a:t>
            </a:r>
            <a:endParaRPr sz="9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900"/>
              <a:buFont typeface="Roboto Mono"/>
              <a:buChar char="●"/>
            </a:pPr>
            <a:r>
              <a:rPr lang="en" sz="9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brew install node ffmpeg</a:t>
            </a:r>
            <a:endParaRPr sz="9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900"/>
              <a:buFont typeface="Roboto Mono"/>
              <a:buChar char="●"/>
            </a:pPr>
            <a:r>
              <a:rPr lang="en" sz="9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npx hyperframes init my-video</a:t>
            </a:r>
            <a:endParaRPr sz="9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900"/>
              <a:buFont typeface="Roboto Mono"/>
              <a:buChar char="●"/>
            </a:pPr>
            <a:r>
              <a:rPr lang="en" sz="9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cd my-video</a:t>
            </a:r>
            <a:endParaRPr sz="9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900"/>
              <a:buFont typeface="Roboto Mono"/>
              <a:buChar char="●"/>
            </a:pPr>
            <a:r>
              <a:rPr lang="en" sz="9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npx skills add heygen-com/hyperframes</a:t>
            </a:r>
            <a:endParaRPr sz="9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900"/>
              <a:buFont typeface="Roboto Mono"/>
              <a:buChar char="●"/>
            </a:pPr>
            <a:r>
              <a:rPr lang="en" sz="9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In Claude Code: </a:t>
            </a:r>
            <a:r>
              <a:rPr lang="en" sz="900">
                <a:solidFill>
                  <a:srgbClr val="CC0000"/>
                </a:solidFill>
                <a:latin typeface="Roboto Mono"/>
                <a:ea typeface="Roboto Mono"/>
                <a:cs typeface="Roboto Mono"/>
                <a:sym typeface="Roboto Mono"/>
              </a:rPr>
              <a:t>/hyperframes </a:t>
            </a:r>
            <a:r>
              <a:rPr lang="en" sz="900">
                <a:solidFill>
                  <a:srgbClr val="6AA84F"/>
                </a:solidFill>
                <a:latin typeface="Roboto Mono"/>
                <a:ea typeface="Roboto Mono"/>
                <a:cs typeface="Roboto Mono"/>
                <a:sym typeface="Roboto Mono"/>
              </a:rPr>
              <a:t>Create a 20-second, 16:9 video introducing my home-networking consulting service. Use a clean, modern style, animated network diagrams, and a title card at the end.</a:t>
            </a:r>
            <a:endParaRPr sz="900">
              <a:solidFill>
                <a:srgbClr val="6AA8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900"/>
              <a:buFont typeface="Roboto Mono"/>
              <a:buChar char="●"/>
            </a:pPr>
            <a:r>
              <a:rPr lang="en" sz="9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npx hyperframes preview</a:t>
            </a:r>
            <a:endParaRPr sz="9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900"/>
              <a:buFont typeface="Roboto Mono"/>
              <a:buChar char="●"/>
            </a:pPr>
            <a:r>
              <a:rPr lang="en" sz="9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npx hyperframes render</a:t>
            </a:r>
            <a:endParaRPr sz="9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900"/>
              <a:buFont typeface="Roboto Mono"/>
              <a:buChar char="●"/>
            </a:pPr>
            <a:r>
              <a:rPr lang="en" sz="9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------------------</a:t>
            </a:r>
            <a:endParaRPr sz="9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900"/>
              <a:buFont typeface="Roboto Mono"/>
              <a:buChar char="●"/>
            </a:pPr>
            <a:r>
              <a:rPr lang="en" sz="9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npx create-video@latest</a:t>
            </a:r>
            <a:endParaRPr sz="9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900"/>
              <a:buFont typeface="Roboto Mono"/>
              <a:buChar char="●"/>
            </a:pPr>
            <a:r>
              <a:rPr lang="en" sz="9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cd your-project-name</a:t>
            </a:r>
            <a:endParaRPr sz="9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900"/>
              <a:buFont typeface="Roboto Mono"/>
              <a:buChar char="●"/>
            </a:pPr>
            <a:r>
              <a:rPr lang="en" sz="9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npx skills add remotion-dev/skills</a:t>
            </a:r>
            <a:endParaRPr sz="9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900"/>
              <a:buFont typeface="Roboto Mono"/>
              <a:buChar char="●"/>
            </a:pPr>
            <a:r>
              <a:rPr lang="en" sz="9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npm run dev</a:t>
            </a:r>
            <a:endParaRPr sz="900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900"/>
              <a:buFont typeface="Roboto Mono"/>
              <a:buChar char="●"/>
            </a:pPr>
            <a:r>
              <a:rPr lang="en" sz="900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Then in Claude Code: </a:t>
            </a:r>
            <a:r>
              <a:rPr lang="en" sz="900">
                <a:solidFill>
                  <a:srgbClr val="6AA84F"/>
                </a:solidFill>
                <a:latin typeface="Roboto Mono"/>
                <a:ea typeface="Roboto Mono"/>
                <a:cs typeface="Roboto Mono"/>
                <a:sym typeface="Roboto Mono"/>
              </a:rPr>
              <a:t>Create a 20-second, 16:9 video introducing my home-networking consulting service. Use animated network diagrams, a clean modern style, and a title card at the end.</a:t>
            </a:r>
            <a:endParaRPr sz="900">
              <a:solidFill>
                <a:srgbClr val="6AA84F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pic>
        <p:nvPicPr>
          <p:cNvPr id="188" name="Google Shape;188;p28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80050" y="666750"/>
            <a:ext cx="3606801" cy="270510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9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29"/>
          <p:cNvSpPr txBox="1"/>
          <p:nvPr/>
        </p:nvSpPr>
        <p:spPr>
          <a:xfrm>
            <a:off x="74675" y="344650"/>
            <a:ext cx="4487700" cy="2050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Xiaomi HySparse2 Cuts Agent Context Costs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Combines KV bridging reuse between layers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Xiaomi reports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4.5 times reduction of KV cache size, and 5 times fewer prefill FLOPs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Retrieval also improved on the reported 256K-token test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DeepSeek’s V4.1-Flash uses related techniques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parallel designs highlight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cache reuse as a key direction for long-context agents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https://www.youtube.com/watch?v=eXad7m0TjVM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https://arxiv.org/abs/2609.26368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https://arxiv.org/html/2609.19969v1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https://arxiv.org/abs/2405.05254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29"/>
          <p:cNvSpPr txBox="1"/>
          <p:nvPr/>
        </p:nvSpPr>
        <p:spPr>
          <a:xfrm>
            <a:off x="74675" y="2656488"/>
            <a:ext cx="4764000" cy="1727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Salesforce JitMem: Memory on Demand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Just-in-Time Memory (JitMem)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method stores successful agents’ full interaction trajectories, then has a curator create a task-specific briefing when a new task arrives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beat the strongest write-time memory baseline across 3 benchmarks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approach preserves flexible evidence, though its usefulness still depends on the curator’s reasoning.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https://www.youtube.com/watch?v=pSkh-mNd9LQ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https://arxiv.org/abs/2609.27334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https://aiweekly.co/alerts/jitmem-curates-llm-agent-memory-at-read-time-not-write-time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29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5305400" y="512500"/>
            <a:ext cx="3048000" cy="17145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97" name="Google Shape;197;p29"/>
          <p:cNvPicPr preferRelativeResize="0"/>
          <p:nvPr/>
        </p:nvPicPr>
        <p:blipFill>
          <a:blip r:embed="rId11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91075" y="2379400"/>
            <a:ext cx="4000527" cy="2232852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30"/>
          <p:cNvSpPr txBox="1"/>
          <p:nvPr/>
        </p:nvSpPr>
        <p:spPr>
          <a:xfrm>
            <a:off x="36573" y="0"/>
            <a:ext cx="20568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Zed + Claude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30"/>
          <p:cNvSpPr txBox="1"/>
          <p:nvPr/>
        </p:nvSpPr>
        <p:spPr>
          <a:xfrm>
            <a:off x="109350" y="417450"/>
            <a:ext cx="3542100" cy="4266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Zed + Claude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Install Zed: On macOS, use Homebrew or download the app; on Windows, use winget or the installer; on Linux, run Zed’s install script -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https://zed.dev/docs/installation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 Zed and launch the Agent Panel with Cmd-? on macOS or Ctrl-? on Windows/Linux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Install Claude Agent: Open the command palette and run “zed: acp registry,” or open Agent Settings, select External Agents, then Add Agent → Install from Registry. Choose Claude.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Start a new Claude Agent thread from the Agent Panel or Threads Sidebar.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Authenticate when prompted, or enter /login in the Claude thread to choose an available sign-in method. Claude Agent handles its own authentication and billing; Use Pro or Max subscription to save money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 a project and ask Claude to explain, edit, or debug code.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https://zed.dev/docs/ai/external-agents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Ask Claude to download and install rules and skills under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~/.claude/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from this repo: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https://github.com/lselector/agent-toolkit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4" name="Google Shape;204;p30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82666" y="73704"/>
            <a:ext cx="5315948" cy="295647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05" name="Google Shape;205;p30"/>
          <p:cNvSpPr txBox="1"/>
          <p:nvPr/>
        </p:nvSpPr>
        <p:spPr>
          <a:xfrm>
            <a:off x="3782650" y="3170728"/>
            <a:ext cx="5316000" cy="1865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agent-toolkit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rules: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communication_style.md, keep_terse.md, modularity.md, no_frankenstein.md, python_formatting_rules.md,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simplicity.md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skill_naming_hyphens.md, update_docs.md, update_wiki.md, web_development.md, writing_prose.md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skills: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architecture-review, design-doc, humanize, lean-change, repo-init, repo-init/gitignore.template, wiki-init, wiki-serve, wiki-stop, wiki-update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wiki: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README.md, conventions.md, server_restart.sh, server_start.sh, server_stop.sh, styles.css, test_wiki.py, wiki_edit.py, wiki_pages.py, wiki_server.py, wiki_tools.py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1"/>
          <p:cNvSpPr txBox="1"/>
          <p:nvPr/>
        </p:nvSpPr>
        <p:spPr>
          <a:xfrm>
            <a:off x="36573" y="0"/>
            <a:ext cx="20568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Chinese Chips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31"/>
          <p:cNvSpPr txBox="1"/>
          <p:nvPr/>
        </p:nvSpPr>
        <p:spPr>
          <a:xfrm>
            <a:off x="36575" y="502350"/>
            <a:ext cx="4535400" cy="2142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Chinese Chips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Ascend by Huawei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— 812K chips shipped in 2025.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Zhenwu by Alibaba T-Head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— 265K chips shipped in 2025.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V900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is a new model, planned for mass production in Q1 2027.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Kunlun by Baidu / Kunlunxin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— about 116K chips shipped in 2025.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Siyuan by Cambricon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— about 116K chips shipped in 2025;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targeting 500K AI accelerators in 2026.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MetaX GPUs by MetaX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— ~ 4% of Chinese-vendor shipments in 2025.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Moore Threads GPUs by Moore Threads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BR-series GPUs by Biren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952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https://www.reuters.com/world/china/chinese-chipmakers-claim-nearly-half-of-local-market-nvidias-lead-shrinks-idc-2026-04-01/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2" name="Google Shape;212;p31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68250" y="807450"/>
            <a:ext cx="4059725" cy="304479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13" name="Google Shape;213;p31"/>
          <p:cNvSpPr txBox="1"/>
          <p:nvPr/>
        </p:nvSpPr>
        <p:spPr>
          <a:xfrm>
            <a:off x="36575" y="2745278"/>
            <a:ext cx="4535400" cy="1911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Alibaba’s V900 Chip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Alibaba claims it is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China’s most powerful AI chip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and says it offers three times the performance of its predecessor, the M890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216 GB of memory, 1.2 TB/s chip-to-chip bandwidth, FP8/FP4 support, and clusters scaling to 500K chips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12 V900s could hold a 2.4-trillion-parameter model’s FP8 weights, versus about 18 Nvidia H200s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V900 mass production is planned for early 2027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https://www.tomshardware.com/tech-industry/artificial-intelligence/alibaba-unveils-zhenwu-v900-ai-accelerator-claims-its-the-most-powerful-ai-chip-in-china-accelerator-supports-500-000-chip-supercluster-with-a-10t-parameter-qwen-model-on-the-roadmap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2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32"/>
          <p:cNvSpPr txBox="1"/>
          <p:nvPr/>
        </p:nvSpPr>
        <p:spPr>
          <a:xfrm>
            <a:off x="80200" y="399325"/>
            <a:ext cx="4663200" cy="1265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Sign in with ChatGPT - lets apps spend your ChatGPT plan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limited preview (Plus &amp; Pro users) - let an app use 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their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ChatGPT Work and Codex allowance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16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launch partners - Notion, Vercel, Devin, Amp, Warp, OpenCode, ...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Weekly cap per app, set in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Settings &gt; Usage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as a share of the plan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App sees only name, email and picture, not chats or memories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https://thenewstack.io/sign-in-with-chatgpt/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32"/>
          <p:cNvSpPr txBox="1"/>
          <p:nvPr/>
        </p:nvSpPr>
        <p:spPr>
          <a:xfrm>
            <a:off x="80189" y="1764775"/>
            <a:ext cx="4535400" cy="1588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Six AI labs sign the White House Accord on Super Intelligence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Signed by Google, Anthropic, Meta, OpenAI, xAI and Nvidia leaders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Four layers of oversight: internal controls, internal checkers, 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an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outside auditor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, a board committee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Each company picks its own auditor and need not name it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No penalties, no disclosure rule, no deadline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Trump called it "morally binding"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https://www.techtimes.com/articles/328464/20261002/white-house-ai-safety-accord-has-no-penalties-no-breach-reporting-self-chosen-auditors.htm</a:t>
            </a:r>
            <a:r>
              <a:rPr lang="en" sz="9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1" name="Google Shape;221;p32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94775" y="1764775"/>
            <a:ext cx="2639359" cy="15885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22" name="Google Shape;222;p32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94778" y="657762"/>
            <a:ext cx="4145500" cy="7944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23" name="Google Shape;223;p32"/>
          <p:cNvSpPr txBox="1"/>
          <p:nvPr/>
        </p:nvSpPr>
        <p:spPr>
          <a:xfrm>
            <a:off x="36575" y="3539600"/>
            <a:ext cx="4578900" cy="1265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Microsoft MAI-Transcribe-2-Streaming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#1 of 38 on Artificial Analysis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60 languages with automatic language detection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First partial text in about 100 ms, final text 0.13 s after speech ends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$0.54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per audio hour through 2026; public preview in Foundry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hipped with MAI-Voice-2.1 and MAI-Voice-2.1-Flash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https://microsoft.ai/news/our-first-streaming-transcription-model/</a:t>
            </a:r>
            <a:r>
              <a:rPr lang="en" sz="9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4" name="Google Shape;224;p32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94775" y="3539600"/>
            <a:ext cx="1946931" cy="126510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3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33"/>
          <p:cNvSpPr txBox="1"/>
          <p:nvPr/>
        </p:nvSpPr>
        <p:spPr>
          <a:xfrm>
            <a:off x="80198" y="399325"/>
            <a:ext cx="3785400" cy="3851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Agentic AI Token Use is Much Bigger that Human 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Human tokens are input and output text tokens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from direct, human-driven AI interactions. For example, a person submitting a document and receiving its summary. Prompt, document, and summary - all count towards "human" tokens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Agentic tokens come from automated AI workflows that make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repeated model calls, use tools, retain context, and execute multi-step tasks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such as coding, research, or debugging.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OpenRouter classifies traffic from behavioral signals including tool calls, number of conversation turns, and request timing - not simply whether a human initiated the work.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Agentic usage overtook human usage on Feb 6, 2026.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By August 10, agentic traffic reached 7.3 trillion tokens on a seven-day average, versus 1.4 trillion human-driven tokens: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over 5× larger.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From February, agents grew about 14×; </a:t>
            </a:r>
            <a:b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human usage grew 2.8×. </a:t>
            </a: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https://cryptobriefing.com/openrouter-agentic-token-usage-14x-growth/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1" name="Google Shape;231;p33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60775" y="399325"/>
            <a:ext cx="5078751" cy="38090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4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34"/>
          <p:cNvSpPr txBox="1"/>
          <p:nvPr/>
        </p:nvSpPr>
        <p:spPr>
          <a:xfrm>
            <a:off x="132425" y="338744"/>
            <a:ext cx="5302800" cy="1095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Trump launches a Super Intelligence Force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Chaired by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Director of National Intelligence Jay Clayton</a:t>
            </a:r>
            <a:endParaRPr sz="1200" b="1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It has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120 days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to report on AI risks and opportunities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Charter: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plan for "SI-enabled threats" while preventing overregulation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Ferguson's FTC (Federal Trade Commission) is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probing OpenAI and Anthropic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https://siliconangle.com/2026/10/04/trump-launches-super-intelligence-force-with-jay-clayton-as-ai-czar/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6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34"/>
          <p:cNvSpPr txBox="1"/>
          <p:nvPr/>
        </p:nvSpPr>
        <p:spPr>
          <a:xfrm>
            <a:off x="132425" y="1892176"/>
            <a:ext cx="4995900" cy="1465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970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300"/>
              <a:buFont typeface="Calibri"/>
              <a:buChar char="●"/>
            </a:pPr>
            <a:r>
              <a:rPr lang="en" sz="13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Aleph Alpha Kolibri: open 78B MoE</a:t>
            </a:r>
            <a:endParaRPr sz="13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Released Oct 3 on </a:t>
            </a: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Hugging Face under Apache 2.0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78.1B</a:t>
            </a: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 total parameters, </a:t>
            </a:r>
            <a:r>
              <a:rPr lang="en" sz="1200">
                <a:solidFill>
                  <a:srgbClr val="3C78D8"/>
                </a:solidFill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3.46B</a:t>
            </a: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 active per token; 384 experts plus 1 shared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Context of 1 Mln tokens; trained on 24T tokens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English and German; 84.3 on GPQA Diamond, per Aleph Alpha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FP8 checkpoint (~78 GB) fits one H200 or B200, or two H100s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Pitched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for on-premises use under the EU AI Act and GDPR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https://aleph-alpha.com/en/blog/kolibri-has-landed-a-sovereign-open-weight-model/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9" name="Google Shape;239;p34"/>
          <p:cNvPicPr preferRelativeResize="0"/>
          <p:nvPr/>
        </p:nvPicPr>
        <p:blipFill rotWithShape="1"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228625" y="2369540"/>
            <a:ext cx="1852925" cy="9903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40" name="Google Shape;240;p34"/>
          <p:cNvSpPr txBox="1"/>
          <p:nvPr/>
        </p:nvSpPr>
        <p:spPr>
          <a:xfrm>
            <a:off x="132425" y="3447614"/>
            <a:ext cx="4423200" cy="1634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image-blaster: one photo to a 3D world in 5 minutes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Open-source Claude Code skill set, MIT license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runs the pipeline: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World Labs Marble for the scene, </a:t>
            </a:r>
            <a:b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Hunyuan 3D for objects, ElevenLabs for sound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Output: Gaussian splat scene, </a:t>
            </a: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.glb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.obj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object meshes with colliders, ambient and object sounds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Loads in Unity, Unreal, Godot, Blender and Three.js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Drop an image in </a:t>
            </a: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input/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, add API keys, ask Claude to "blast" it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https://github.com/neilsonnn/image-blaster</a:t>
            </a:r>
            <a:r>
              <a:rPr lang="en" sz="9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1" name="Google Shape;241;p34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98138" y="3633213"/>
            <a:ext cx="2009750" cy="12319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42" name="Google Shape;242;p34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82475" y="37006"/>
            <a:ext cx="3021657" cy="226625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43" name="Google Shape;243;p34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23886" y="3633215"/>
            <a:ext cx="2190055" cy="123190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5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35"/>
          <p:cNvSpPr txBox="1"/>
          <p:nvPr/>
        </p:nvSpPr>
        <p:spPr>
          <a:xfrm>
            <a:off x="74675" y="377950"/>
            <a:ext cx="4068600" cy="1449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Reflection AI Beam - 501B open-weight model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First model from the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$25 Bln US startup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Sparse MoE: 501B total, 23B active, 1M context, text only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Claims 80.9 on SWE-bench Verified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Claims GLM-5.2-level reasoning at 3 to 4x less compute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Kimi K3 still ahead; all numbers are Reflection's own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Weights under Apache 2.0 to be released later in October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https://reflection.ai/blog/introducing-beam</a:t>
            </a:r>
            <a:r>
              <a:rPr lang="en" sz="9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0" name="Google Shape;250;p35"/>
          <p:cNvPicPr preferRelativeResize="0"/>
          <p:nvPr/>
        </p:nvPicPr>
        <p:blipFill rotWithShape="1"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48650" y="182125"/>
            <a:ext cx="2075528" cy="32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1" name="Google Shape;251;p35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48650" y="576625"/>
            <a:ext cx="1875927" cy="12512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52" name="Google Shape;252;p35"/>
          <p:cNvSpPr txBox="1"/>
          <p:nvPr/>
        </p:nvSpPr>
        <p:spPr>
          <a:xfrm>
            <a:off x="84200" y="1897300"/>
            <a:ext cx="5240400" cy="1496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Reka Rho-1: 19B model for text, video and robot actions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uFill>
                  <a:noFill/>
                </a:uFill>
                <a:latin typeface="Calibri"/>
                <a:ea typeface="Calibri"/>
                <a:cs typeface="Calibri"/>
                <a:sym typeface="Calibri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Reka.ai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 - a startup in San Francisco, CA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https://reka.ai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Rho-1 model reads and generates text, images, video, and robot actions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Replaces the usual world model, planner and policy handoffs with one network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First video clip in 7.0 sec versus 13.8 sec for a multi-agent pipeline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Robot labels inferred from ordinary video with an inverse dynamics model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Trained from scratch on 320 H100s in about 3 months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Research preview only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; video capped at 672x384, no physical robot demo yet</a:t>
            </a:r>
            <a:endParaRPr sz="6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3" name="Google Shape;253;p35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42798" y="2115338"/>
            <a:ext cx="1739049" cy="91282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54" name="Google Shape;254;p35"/>
          <p:cNvSpPr txBox="1"/>
          <p:nvPr/>
        </p:nvSpPr>
        <p:spPr>
          <a:xfrm>
            <a:off x="74675" y="3462850"/>
            <a:ext cx="4573500" cy="1634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a16z - Top 100 Gen AI Consumer Apps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New list ranks apps by US consumer card spending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857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ChatGPT has about 3-times the paid subscribers of Gemini or Claude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Only 4.5% of Americans pay for a major chatbot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Median payer spends $25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84% of AI-native web apps sell subscriptions, 14% run ads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Personal agents are the new front: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Muse, Dots, Grok Bot, Instinct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a16z is Andreessen Horowitz, an American venture-capital firm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https://a16z.com/100-gen-ai-apps-7/</a:t>
            </a:r>
            <a:r>
              <a:rPr lang="en" sz="9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5" name="Google Shape;255;p35"/>
          <p:cNvPicPr preferRelativeResize="0"/>
          <p:nvPr/>
        </p:nvPicPr>
        <p:blipFill rotWithShape="1"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782475" y="3679100"/>
            <a:ext cx="1980274" cy="12022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36"/>
          <p:cNvSpPr txBox="1"/>
          <p:nvPr/>
        </p:nvSpPr>
        <p:spPr>
          <a:xfrm>
            <a:off x="398525" y="1054225"/>
            <a:ext cx="4440300" cy="2373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Devin adds Memory and Dreaming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Dreaming - Across sessions, Devin builds a memory graph of how you like to work. Saves preferences, corrections, project lessons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At night Devin self-improves its memory to remove stale records and discover latent information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Each memory is a short note linked back to the session that taught it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Stored in a personal Memory Drive: 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 Git repo of Markdown files with a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MEMORY.md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index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Dreaming runs daily: dedupes memories, links them to sessions and artifacts, derives new knowledge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Under Customize &gt; Memory; 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memory is personal, not shared org rules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https://devin.ai/blog/memory-and-dreaming</a:t>
            </a:r>
            <a:r>
              <a:rPr lang="en" sz="9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2" name="Google Shape;262;p36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05375" y="2076037"/>
            <a:ext cx="2828799" cy="148512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63" name="Google Shape;263;p36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05375" y="875850"/>
            <a:ext cx="2828800" cy="110160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37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37"/>
          <p:cNvSpPr txBox="1"/>
          <p:nvPr/>
        </p:nvSpPr>
        <p:spPr>
          <a:xfrm>
            <a:off x="93726" y="298976"/>
            <a:ext cx="5669400" cy="1634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OpenAI publishes 722 math papers from an unreleased model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722 manuscripts in 372 result families, posted on GitHub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Model tried about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4,000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open research problems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Boldest claim: a proof of a quasi-Riemann hypothesis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162 papers have their main results checked in Lean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Average cost: about </a:t>
            </a:r>
            <a:r>
              <a:rPr lang="en" sz="1200" b="1">
                <a:solidFill>
                  <a:srgbClr val="3C78D8"/>
                </a:solidFill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3 hours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 of ChatGPT Pro compute per result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Levent Alpöge (Anthropic):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"the most significant moment in mathematical history"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Nothing is peer reviewed yet;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some mathematicians are angry about the volume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https://github.com/openai/math</a:t>
            </a:r>
            <a:r>
              <a:rPr lang="en" sz="9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0" name="Google Shape;270;p37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96475" y="76300"/>
            <a:ext cx="2604394" cy="24954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71" name="Google Shape;271;p37"/>
          <p:cNvSpPr txBox="1"/>
          <p:nvPr/>
        </p:nvSpPr>
        <p:spPr>
          <a:xfrm>
            <a:off x="93725" y="3118675"/>
            <a:ext cx="4849800" cy="1819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Cloudflare Integrates Pi Durable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Cloudflare and Earendil integrated Pi Durable into Cloudflare’s Agents SDK.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 new PiHarness class runs Pi-powered agents inside Cloudflare Durable Objects, connecting the agent harness to persistent SQLite storage.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Long-running agents can lose progress when interrupted. Persisted state and lifecycle alarms let interrupted runs resume after eviction.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 integration combines agent execution, persistence, and recovery, making resilient agents easier to deploy.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PiHarness is beta; Pi Durable is experimental, so APIs may change.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https://developers.cloudflare.com/agents/harnesses/pi/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2" name="Google Shape;272;p37"/>
          <p:cNvPicPr preferRelativeResize="0"/>
          <p:nvPr/>
        </p:nvPicPr>
        <p:blipFill rotWithShape="1"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997275" y="2828925"/>
            <a:ext cx="4080051" cy="225315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38"/>
          <p:cNvSpPr txBox="1"/>
          <p:nvPr/>
        </p:nvSpPr>
        <p:spPr>
          <a:xfrm>
            <a:off x="36576" y="-27432"/>
            <a:ext cx="1177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38"/>
          <p:cNvSpPr txBox="1"/>
          <p:nvPr/>
        </p:nvSpPr>
        <p:spPr>
          <a:xfrm>
            <a:off x="161478" y="394941"/>
            <a:ext cx="6232200" cy="1265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Anthropic: "Claude-shaped" problems in science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Physicist Matthew Schwartz on which science problems suit Claude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Claude-shaped: heavy on coding and data parsing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Result: BootLoops, a toolkit for quantitative calculations from ecology to population genetics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Answers were technically correct but needed domain experts to make them relevant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Lesson: AI speeds up the technical work; human insight still picks what matters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https://www.anthropic.com/research/claude-shaped-science</a:t>
            </a:r>
            <a:r>
              <a:rPr lang="en" sz="9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9" name="Google Shape;279;p38"/>
          <p:cNvPicPr preferRelativeResize="0"/>
          <p:nvPr/>
        </p:nvPicPr>
        <p:blipFill rotWithShape="1"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567828" y="117891"/>
            <a:ext cx="2453050" cy="18192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80" name="Google Shape;280;p38"/>
          <p:cNvSpPr txBox="1"/>
          <p:nvPr/>
        </p:nvSpPr>
        <p:spPr>
          <a:xfrm>
            <a:off x="161476" y="1937101"/>
            <a:ext cx="5669400" cy="1634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92786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Google Gemini agent: AI coworkers with their own email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2786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Announced at Gemini at Work 2026 on October 8th, no price or GA date yet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2786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One agent and one API for work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2786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Runs in the cloud for hours or days after you close the laptop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2786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Coworker agents get a Workspace account, email, drive storage, directory entry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2786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Routes jobs to Gemini and to Anthropic's Claude models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2786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Hard per-project spend caps pause the agent until a human resumes it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92786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Works from web, CLI, Workspace, Microsoft 365 and Slack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73736" algn="l" rtl="0"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https://cloud.google.com/blog/products/ai-machine-learning/welcome-to-gemini-at-work-2026</a:t>
            </a:r>
            <a:r>
              <a:rPr lang="en" sz="900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1" name="Google Shape;281;p38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0204" y="2083308"/>
            <a:ext cx="2852109" cy="176936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39"/>
          <p:cNvSpPr txBox="1"/>
          <p:nvPr/>
        </p:nvSpPr>
        <p:spPr>
          <a:xfrm>
            <a:off x="83398" y="50600"/>
            <a:ext cx="19236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Jobs and Layoffs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39"/>
          <p:cNvSpPr txBox="1"/>
          <p:nvPr/>
        </p:nvSpPr>
        <p:spPr>
          <a:xfrm>
            <a:off x="2771397" y="19852"/>
            <a:ext cx="1800600" cy="387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0" i="0" u="sng" strike="noStrike" cap="none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https://layoffs.fyi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https://trueup.io/layoffs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39"/>
          <p:cNvSpPr txBox="1"/>
          <p:nvPr/>
        </p:nvSpPr>
        <p:spPr>
          <a:xfrm>
            <a:off x="5690525" y="3510625"/>
            <a:ext cx="3286800" cy="1311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Tech Layoffs by year (US only):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131.4K in 2026 </a:t>
            </a:r>
            <a:r>
              <a:rPr lang="en" sz="1000" b="1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(as of Oct 8, 2026)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123K in 2025 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153K in </a:t>
            </a:r>
            <a:r>
              <a:rPr lang="en" sz="1000" b="1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2024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266K in 2023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165K in 2022                  </a:t>
            </a:r>
            <a:r>
              <a:rPr lang="en" sz="1200" i="0" u="sng" strike="noStrike" cap="none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https://layoffs.fyi</a:t>
            </a:r>
            <a:endParaRPr sz="120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39"/>
          <p:cNvSpPr txBox="1"/>
          <p:nvPr/>
        </p:nvSpPr>
        <p:spPr>
          <a:xfrm>
            <a:off x="5690530" y="1158774"/>
            <a:ext cx="3286800" cy="942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The Tech Layoff Tracker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2026: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192,518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laid off (685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2025: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245,953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laid off (674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2024: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238,461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</a:t>
            </a: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laid off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(653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marR="460858" lvl="0" indent="-5715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https://trueup.io/layoffs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0" name="Google Shape;290;p39" descr="auto: layoffs-fyi-chart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5736" y="3407672"/>
            <a:ext cx="4634459" cy="1548885"/>
          </a:xfrm>
          <a:prstGeom prst="rect">
            <a:avLst/>
          </a:prstGeom>
          <a:noFill/>
          <a:ln w="9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91" name="Google Shape;291;p39" descr="auto: trueup-chart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3109" y="569314"/>
            <a:ext cx="4839721" cy="2496148"/>
          </a:xfrm>
          <a:prstGeom prst="rect">
            <a:avLst/>
          </a:prstGeom>
          <a:noFill/>
          <a:ln w="9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0"/>
          <p:cNvSpPr txBox="1"/>
          <p:nvPr/>
        </p:nvSpPr>
        <p:spPr>
          <a:xfrm>
            <a:off x="93825" y="-8374"/>
            <a:ext cx="1382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Tech Hiring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40"/>
          <p:cNvSpPr txBox="1"/>
          <p:nvPr/>
        </p:nvSpPr>
        <p:spPr>
          <a:xfrm>
            <a:off x="84300" y="406525"/>
            <a:ext cx="4487700" cy="1080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Software job postings on Indeed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Comparing to 2020 level, in Feb 2022 it was 234%, in 2025 it was 65%, now it is 77%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All US job postings: 103% (compared with 2020)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Postings that mention AI: 6.7% of all, up from 3.4% a year ago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0563C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https://fred.stlouisfed.org/series/IHLIDXUSTPSOFTDEVE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40"/>
          <p:cNvSpPr txBox="1"/>
          <p:nvPr/>
        </p:nvSpPr>
        <p:spPr>
          <a:xfrm>
            <a:off x="84300" y="1779175"/>
            <a:ext cx="4487700" cy="2142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Skills in demand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Dice, 7M+ US tech postings (Aug 2026): +18% year over year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AI and machine learning postings </a:t>
            </a:r>
            <a:r>
              <a:rPr lang="en" sz="1200">
                <a:highlight>
                  <a:srgbClr val="FFF2CC"/>
                </a:highlight>
                <a:latin typeface="Calibri"/>
                <a:ea typeface="Calibri"/>
                <a:cs typeface="Calibri"/>
                <a:sym typeface="Calibri"/>
              </a:rPr>
              <a:t>+101%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year over year, five times the overall rate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Fastest-growing skills, each up 200%+: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responsible AI, AI agents, agentic AI, AI infrastructure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Most requested overall: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communication, computer science, troubleshooting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Indeed: 71% of the software postings rebound (May 2025 to May 2026) is senior roles; 37% has AI in the title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0563C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https://hiringlab.indeed.com/2026/07/08/ai-and-job-postings-from-destruction-to-creation/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114300" algn="l" rtl="0">
              <a:spcBef>
                <a:spcPts val="0"/>
              </a:spcBef>
              <a:spcAft>
                <a:spcPts val="0"/>
              </a:spcAft>
              <a:buClr>
                <a:srgbClr val="0563C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https://www.dice.com/hiring/recruitment/reports/dice-tech-job-report</a:t>
            </a:r>
            <a:endParaRPr sz="9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40"/>
          <p:cNvSpPr txBox="1"/>
          <p:nvPr/>
        </p:nvSpPr>
        <p:spPr>
          <a:xfrm>
            <a:off x="4876773" y="318025"/>
            <a:ext cx="3942600" cy="4082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Top "In Demand" Skills and Qualifications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Critical thinking and problem-solving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Communication and stakeholder management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Adaptability and continuous learning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AI literacy and practical AI adoption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AI/ML application development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Data engineering and data management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Cybersecurity and risk management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Cloud and infrastructure engineering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Software engineering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Automation and workflow optimization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DevOps, CI/CD, and platform engineering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Governance, compliance, and responsible AI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Analytical thinking and data analysis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Product management and business alignment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Project and program management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Leadership and cross-functional collaboration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Creativity and innovation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Resilience and professionalism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Technical troubleshooting and systems thinking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AutoNum type="arabicPeriod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Business growth and customer focus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1"/>
          <p:cNvSpPr txBox="1"/>
          <p:nvPr/>
        </p:nvSpPr>
        <p:spPr>
          <a:xfrm>
            <a:off x="36576" y="-27432"/>
            <a:ext cx="24411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About the Speaker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41"/>
          <p:cNvSpPr txBox="1"/>
          <p:nvPr/>
        </p:nvSpPr>
        <p:spPr>
          <a:xfrm>
            <a:off x="2630525" y="1630450"/>
            <a:ext cx="6256200" cy="22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Lev Selector, Ph.D.</a:t>
            </a:r>
            <a:endParaRPr sz="24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18186" algn="l" rtl="0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40+ years of software engineering, data science, and building teams (hiring, training, and managing)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18186" algn="l" rtl="0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Ph.D. in mathematical modeling and computer simulations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18186" algn="l" rtl="0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Interests: Generative AI, using LLMs with your data, local AI for local private data, cloud architecture, fin-tech, application security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18186" algn="l" rtl="0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Find and connect: LinkedIn, GitHub, YouTube, Google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https://eais.ai</a:t>
            </a:r>
            <a:endParaRPr sz="12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6" name="Google Shape;306;p41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3354" y="1952269"/>
            <a:ext cx="1572768" cy="1572768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42"/>
          <p:cNvSpPr txBox="1"/>
          <p:nvPr/>
        </p:nvSpPr>
        <p:spPr>
          <a:xfrm>
            <a:off x="36576" y="1154982"/>
            <a:ext cx="9070800" cy="77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b="1">
                <a:latin typeface="Calibri"/>
                <a:ea typeface="Calibri"/>
                <a:cs typeface="Calibri"/>
                <a:sym typeface="Calibri"/>
              </a:rPr>
              <a:t>Thank You!</a:t>
            </a:r>
            <a:endParaRPr sz="4000" b="1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42"/>
          <p:cNvSpPr txBox="1"/>
          <p:nvPr/>
        </p:nvSpPr>
        <p:spPr>
          <a:xfrm>
            <a:off x="1434226" y="2022639"/>
            <a:ext cx="7127400" cy="14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218186" algn="l" rtl="0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Videos of every seminar are on YouTube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https://www.youtube.com/@lev-selector</a:t>
            </a:r>
            <a:endParaRPr sz="12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18186" algn="l" rtl="0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Slides on GitHub. Click a pptx file, then the download button on the right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https://github.com/lselector/seminar</a:t>
            </a:r>
            <a:endParaRPr sz="12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lvl="0" indent="-218186" algn="l" rtl="0">
              <a:spcBef>
                <a:spcPts val="0"/>
              </a:spcBef>
              <a:spcAft>
                <a:spcPts val="0"/>
              </a:spcAft>
              <a:buSzPts val="1600"/>
              <a:buFont typeface="Calibri"/>
              <a:buChar char="●"/>
            </a:pPr>
            <a:r>
              <a:rPr lang="en" sz="1600">
                <a:latin typeface="Calibri"/>
                <a:ea typeface="Calibri"/>
                <a:cs typeface="Calibri"/>
                <a:sym typeface="Calibri"/>
              </a:rPr>
              <a:t>Slides on Google Drive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0563C1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https://drive.google.com/drive/folders/1dmj00iilSP-JYmriMUUaHCKz5X54e3UX?ths=true</a:t>
            </a:r>
            <a:endParaRPr sz="1200">
              <a:solidFill>
                <a:srgbClr val="0563C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6559</Words>
  <Application>Microsoft Macintosh PowerPoint</Application>
  <PresentationFormat>On-screen Show (16:9)</PresentationFormat>
  <Paragraphs>720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4" baseType="lpstr">
      <vt:lpstr>Arial</vt:lpstr>
      <vt:lpstr>Calibri</vt:lpstr>
      <vt:lpstr>Roboto Mono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Lev Selector</cp:lastModifiedBy>
  <cp:revision>1</cp:revision>
  <dcterms:modified xsi:type="dcterms:W3CDTF">2026-10-09T17:00:59Z</dcterms:modified>
</cp:coreProperties>
</file>