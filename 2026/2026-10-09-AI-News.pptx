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6858000" cy="9144000"/>
  <p:embeddedFontLst>
    <p:embeddedFont>
      <p:font typeface="Roboto Mono" pitchFamily="49"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2403455-CFFB-40D8-8E8D-176729F5D96D}">
  <a:tblStyle styleId="{42403455-CFFB-40D8-8E8D-176729F5D96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7"/>
  </p:normalViewPr>
  <p:slideViewPr>
    <p:cSldViewPr snapToGrid="0">
      <p:cViewPr varScale="1">
        <p:scale>
          <a:sx n="124" d="100"/>
          <a:sy n="124" d="100"/>
        </p:scale>
        <p:origin x="576"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s-toc: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s-toc: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Contents labels. Kept by g3_update_toc.py.</a:t>
            </a:r>
            <a:endParaRPr/>
          </a:p>
          <a:p>
            <a:pPr marL="0" lvl="0" indent="0" algn="l" rtl="0">
              <a:spcBef>
                <a:spcPts val="0"/>
              </a:spcBef>
              <a:spcAft>
                <a:spcPts val="0"/>
              </a:spcAft>
              <a:buNone/>
            </a:pPr>
            <a:r>
              <a:rPr lang="en"/>
              <a:t>Sept 30 =&gt; -</a:t>
            </a:r>
            <a:endParaRPr/>
          </a:p>
          <a:p>
            <a:pPr marL="0" lvl="0" indent="0" algn="l" rtl="0">
              <a:spcBef>
                <a:spcPts val="0"/>
              </a:spcBef>
              <a:spcAft>
                <a:spcPts val="0"/>
              </a:spcAft>
              <a:buNone/>
            </a:pPr>
            <a:r>
              <a:rPr lang="en"/>
              <a:t>Sign in with ChatGPT lets apps spend your ChatGPT plan =&gt; Sign in with ChatGPT spends your plan</a:t>
            </a:r>
            <a:endParaRPr/>
          </a:p>
          <a:p>
            <a:pPr marL="0" lvl="0" indent="0" algn="l" rtl="0">
              <a:spcBef>
                <a:spcPts val="0"/>
              </a:spcBef>
              <a:spcAft>
                <a:spcPts val="0"/>
              </a:spcAft>
              <a:buNone/>
            </a:pPr>
            <a:r>
              <a:rPr lang="en"/>
              <a:t>Six AI labs sign the White House Accord on Super Intelligence =&gt; White House Super Intelligence Accord</a:t>
            </a:r>
            <a:endParaRPr/>
          </a:p>
          <a:p>
            <a:pPr marL="0" lvl="0" indent="0" algn="l" rtl="0">
              <a:spcBef>
                <a:spcPts val="0"/>
              </a:spcBef>
              <a:spcAft>
                <a:spcPts val="0"/>
              </a:spcAft>
              <a:buNone/>
            </a:pPr>
            <a:r>
              <a:rPr lang="en"/>
              <a:t>FTC prepares subpoenas for OpenAI, Anthropic and METR =&gt; FTC probes OpenAI, Anthropic, METR</a:t>
            </a:r>
            <a:endParaRPr/>
          </a:p>
          <a:p>
            <a:pPr marL="0" lvl="0" indent="0" algn="l" rtl="0">
              <a:spcBef>
                <a:spcPts val="0"/>
              </a:spcBef>
              <a:spcAft>
                <a:spcPts val="0"/>
              </a:spcAft>
              <a:buNone/>
            </a:pPr>
            <a:r>
              <a:rPr lang="en"/>
              <a:t>Broadcom will lend Anthropic up to $42B to lease TPUs =&gt; Broadcom lends Anthropic $42B</a:t>
            </a:r>
            <a:endParaRPr/>
          </a:p>
          <a:p>
            <a:pPr marL="0" lvl="0" indent="0" algn="l" rtl="0">
              <a:spcBef>
                <a:spcPts val="0"/>
              </a:spcBef>
              <a:spcAft>
                <a:spcPts val="0"/>
              </a:spcAft>
              <a:buNone/>
            </a:pPr>
            <a:r>
              <a:rPr lang="en"/>
              <a:t>NVIDIA DGX Spark 64GB: a cheaper local AI box at $4,999 =&gt; DGX Spark 64GB for $4,999</a:t>
            </a:r>
            <a:endParaRPr/>
          </a:p>
          <a:p>
            <a:pPr marL="0" lvl="0" indent="0" algn="l" rtl="0">
              <a:spcBef>
                <a:spcPts val="0"/>
              </a:spcBef>
              <a:spcAft>
                <a:spcPts val="0"/>
              </a:spcAft>
              <a:buNone/>
            </a:pPr>
            <a:r>
              <a:rPr lang="en"/>
              <a:t>Prime Intellect launches Prime Inference for open models =&gt; Prime Inference for open models</a:t>
            </a:r>
            <a:endParaRPr/>
          </a:p>
          <a:p>
            <a:pPr marL="0" lvl="0" indent="0" algn="l" rtl="0">
              <a:spcBef>
                <a:spcPts val="0"/>
              </a:spcBef>
              <a:spcAft>
                <a:spcPts val="0"/>
              </a:spcAft>
              <a:buNone/>
            </a:pPr>
            <a:r>
              <a:rPr lang="en"/>
              <a:t>Microsoft MAI-Transcribe-2-Streaming tops Artificial Analysis =&gt; MAI-Transcribe-2-Streaming</a:t>
            </a:r>
            <a:endParaRPr/>
          </a:p>
          <a:p>
            <a:pPr marL="0" lvl="0" indent="0" algn="l" rtl="0">
              <a:spcBef>
                <a:spcPts val="0"/>
              </a:spcBef>
              <a:spcAft>
                <a:spcPts val="0"/>
              </a:spcAft>
              <a:buNone/>
            </a:pPr>
            <a:r>
              <a:rPr lang="en"/>
              <a:t>English - https://lmarena.ai/leaderboard/text =&gt; LM Arena Leaderboard</a:t>
            </a:r>
            <a:endParaRPr/>
          </a:p>
          <a:p>
            <a:pPr marL="0" lvl="0" indent="0" algn="l" rtl="0">
              <a:spcBef>
                <a:spcPts val="0"/>
              </a:spcBef>
              <a:spcAft>
                <a:spcPts val="0"/>
              </a:spcAft>
              <a:buNone/>
            </a:pPr>
            <a:r>
              <a:rPr lang="en"/>
              <a:t>Coding - https://lmarena.ai/leaderboard/text/coding =&gt; LM Arena Leaderboard</a:t>
            </a:r>
            <a:endParaRPr/>
          </a:p>
          <a:p>
            <a:pPr marL="0" lvl="0" indent="0" algn="l" rtl="0">
              <a:spcBef>
                <a:spcPts val="0"/>
              </a:spcBef>
              <a:spcAft>
                <a:spcPts val="0"/>
              </a:spcAft>
              <a:buNone/>
            </a:pPr>
            <a:r>
              <a:rPr lang="en"/>
              <a:t>Extreme Programming (XP, 1999) - Agile approach to building software - deliver small improvements often, get feedback quickly, and adapt rather than trying to plan everything up front https://en.wikipedia.org/wiki/Extreme_Programming https://extremeprogrammingalliance.com/about-extreme-programming-xp/ =&gt; Extreme Programming (XP, 1999)</a:t>
            </a:r>
            <a:endParaRPr/>
          </a:p>
          <a:p>
            <a:pPr marL="0" lvl="0" indent="0" algn="l" rtl="0">
              <a:spcBef>
                <a:spcPts val="0"/>
              </a:spcBef>
              <a:spcAft>
                <a:spcPts val="0"/>
              </a:spcAft>
              <a:buNone/>
            </a:pPr>
            <a:r>
              <a:rPr lang="en"/>
              <a:t>Install Zed: On macOS, use Homebrew or download the app; on Windows, use winget or the installer; on Linux, run Zed’s install script - https://zed.dev/docs/installation =&gt; Zed + Claude + GitHub</a:t>
            </a:r>
            <a:endParaRPr/>
          </a:p>
          <a:p>
            <a:pPr marL="0" lvl="0" indent="0" algn="l" rtl="0">
              <a:spcBef>
                <a:spcPts val="0"/>
              </a:spcBef>
              <a:spcAft>
                <a:spcPts val="0"/>
              </a:spcAft>
              <a:buNone/>
            </a:pPr>
            <a:r>
              <a:rPr lang="en"/>
              <a:t>Ascend by Huawei — 812K chips shipped in 2025. =&gt; Huawei Ascend: 812K Chips in 2025</a:t>
            </a:r>
            <a:endParaRPr/>
          </a:p>
          <a:p>
            <a:pPr marL="0" lvl="0" indent="0" algn="l" rtl="0">
              <a:spcBef>
                <a:spcPts val="0"/>
              </a:spcBef>
              <a:spcAft>
                <a:spcPts val="0"/>
              </a:spcAft>
              <a:buNone/>
            </a:pPr>
            <a:r>
              <a:rPr lang="en"/>
              <a:t>Sign in with ChatGPT - lets apps spend your ChatGPT plan =&gt; Sign in with ChatGPT Spends Your Plan</a:t>
            </a:r>
            <a:endParaRPr/>
          </a:p>
          <a:p>
            <a:pPr marL="0" lvl="0" indent="0" algn="l" rtl="0">
              <a:spcBef>
                <a:spcPts val="0"/>
              </a:spcBef>
              <a:spcAft>
                <a:spcPts val="0"/>
              </a:spcAft>
              <a:buNone/>
            </a:pPr>
            <a:r>
              <a:rPr lang="en"/>
              <a:t>The Tech Layoff Tracker =&gt; Jobs &amp; Layoffs</a:t>
            </a:r>
            <a:endParaRPr/>
          </a:p>
          <a:p>
            <a:pPr marL="0" lvl="0" indent="0" algn="l" rtl="0">
              <a:spcBef>
                <a:spcPts val="0"/>
              </a:spcBef>
              <a:spcAft>
                <a:spcPts val="0"/>
              </a:spcAft>
              <a:buNone/>
            </a:pPr>
            <a:r>
              <a:rPr lang="en"/>
              <a:t>Tech Layoffs by year (US only): =&gt; Jobs &amp; Layoffs</a:t>
            </a:r>
            <a:endParaRPr/>
          </a:p>
          <a:p>
            <a:pPr marL="0" lvl="0" indent="0" algn="l" rtl="0">
              <a:spcBef>
                <a:spcPts val="0"/>
              </a:spcBef>
              <a:spcAft>
                <a:spcPts val="0"/>
              </a:spcAft>
              <a:buNone/>
            </a:pPr>
            <a:r>
              <a:rPr lang="en"/>
              <a:t>Top "In Demand" Skills and Qualifications =&gt; Tech Hiring and Skills in Demand</a:t>
            </a:r>
            <a:endParaRPr/>
          </a:p>
          <a:p>
            <a:pPr marL="0" lvl="0" indent="0" algn="l" rtl="0">
              <a:spcBef>
                <a:spcPts val="0"/>
              </a:spcBef>
              <a:spcAft>
                <a:spcPts val="0"/>
              </a:spcAft>
              <a:buNone/>
            </a:pPr>
            <a:r>
              <a:rPr lang="en"/>
              <a:t>Software job postings on Indeed =&gt; Tech Hiring and Skills in Demand</a:t>
            </a:r>
            <a:endParaRPr/>
          </a:p>
          <a:p>
            <a:pPr marL="0" lvl="0" indent="0" algn="l" rtl="0">
              <a:spcBef>
                <a:spcPts val="0"/>
              </a:spcBef>
              <a:spcAft>
                <a:spcPts val="0"/>
              </a:spcAft>
              <a:buNone/>
            </a:pPr>
            <a:r>
              <a:rPr lang="en"/>
              <a:t>Skills in demand =&gt; Tech Hiring and Skills in Demand</a:t>
            </a:r>
            <a:endParaRPr/>
          </a:p>
          <a:p>
            <a:pPr marL="0" lvl="0" indent="0" algn="l" rtl="0">
              <a:spcBef>
                <a:spcPts val="0"/>
              </a:spcBef>
              <a:spcAft>
                <a:spcPts val="0"/>
              </a:spcAft>
              <a:buNone/>
            </a:pPr>
            <a:r>
              <a:rPr lang="en"/>
              <a:t>Oct 4 =&gt; -</a:t>
            </a:r>
            <a:endParaRPr/>
          </a:p>
          <a:p>
            <a:pPr marL="0" lvl="0" indent="0" algn="l" rtl="0">
              <a:spcBef>
                <a:spcPts val="0"/>
              </a:spcBef>
              <a:spcAft>
                <a:spcPts val="0"/>
              </a:spcAft>
              <a:buNone/>
            </a:pPr>
            <a:r>
              <a:rPr lang="en"/>
              <a:t>HumanLayer - The Multiplayer Coding Agent Workspace =&gt; HumanLayer Multiplayer Agent Workspace</a:t>
            </a:r>
            <a:endParaRPr/>
          </a:p>
          <a:p>
            <a:pPr marL="0" lvl="0" indent="0" algn="l" rtl="0">
              <a:spcBef>
                <a:spcPts val="0"/>
              </a:spcBef>
              <a:spcAft>
                <a:spcPts val="0"/>
              </a:spcAft>
              <a:buNone/>
            </a:pPr>
            <a:r>
              <a:rPr lang="en"/>
              <a:t>Trump launches a Super Intelligence Force under Jay Clayton =&gt; Trump's Super Intelligence Force</a:t>
            </a:r>
            <a:endParaRPr/>
          </a:p>
          <a:p>
            <a:pPr marL="0" lvl="0" indent="0" algn="l" rtl="0">
              <a:spcBef>
                <a:spcPts val="0"/>
              </a:spcBef>
              <a:spcAft>
                <a:spcPts val="0"/>
              </a:spcAft>
              <a:buNone/>
            </a:pPr>
            <a:r>
              <a:rPr lang="en"/>
              <a:t>OpenAI safety report lead quits, calls the culture broken =&gt; OpenAI Safety Lead Quits</a:t>
            </a:r>
            <a:endParaRPr/>
          </a:p>
          <a:p>
            <a:pPr marL="0" lvl="0" indent="0" algn="l" rtl="0">
              <a:spcBef>
                <a:spcPts val="0"/>
              </a:spcBef>
              <a:spcAft>
                <a:spcPts val="0"/>
              </a:spcAft>
              <a:buNone/>
            </a:pPr>
            <a:r>
              <a:rPr lang="en"/>
              <a:t>Aleph Alpha Kolibri: open 78B MoE with 3.5B active and 1M context =&gt; Aleph Alpha Kolibri 78B Open Model</a:t>
            </a:r>
            <a:endParaRPr/>
          </a:p>
          <a:p>
            <a:pPr marL="0" lvl="0" indent="0" algn="l" rtl="0">
              <a:spcBef>
                <a:spcPts val="0"/>
              </a:spcBef>
              <a:spcAft>
                <a:spcPts val="0"/>
              </a:spcAft>
              <a:buNone/>
            </a:pPr>
            <a:r>
              <a:rPr lang="en"/>
              <a:t>DeepSeek Harness v0.2 ships desktop apps =&gt; DeepSeek Harness Desktop Apps</a:t>
            </a:r>
            <a:endParaRPr/>
          </a:p>
          <a:p>
            <a:pPr marL="0" lvl="0" indent="0" algn="l" rtl="0">
              <a:spcBef>
                <a:spcPts val="0"/>
              </a:spcBef>
              <a:spcAft>
                <a:spcPts val="0"/>
              </a:spcAft>
              <a:buNone/>
            </a:pPr>
            <a:r>
              <a:rPr lang="en"/>
              <a:t>Apple will tighten Full Disk Access on Macs because of AI agents =&gt; Apple Limits Full Disk Access for Agents</a:t>
            </a:r>
            <a:endParaRPr/>
          </a:p>
          <a:p>
            <a:pPr marL="0" lvl="0" indent="0" algn="l" rtl="0">
              <a:spcBef>
                <a:spcPts val="0"/>
              </a:spcBef>
              <a:spcAft>
                <a:spcPts val="0"/>
              </a:spcAft>
              <a:buNone/>
            </a:pPr>
            <a:r>
              <a:rPr lang="en"/>
              <a:t>Anthropic puts $100M into a Claude Frontier Academy =&gt; Anthropic $100M Claude Frontier Academy</a:t>
            </a:r>
            <a:endParaRPr/>
          </a:p>
          <a:p>
            <a:pPr marL="0" lvl="0" indent="0" algn="l" rtl="0">
              <a:spcBef>
                <a:spcPts val="0"/>
              </a:spcBef>
              <a:spcAft>
                <a:spcPts val="0"/>
              </a:spcAft>
              <a:buNone/>
            </a:pPr>
            <a:r>
              <a:rPr lang="en"/>
              <a:t>image-blaster: one photo to a 3D world in 5 minutes =&gt; image-blaster: Photo to 3D World</a:t>
            </a:r>
            <a:endParaRPr/>
          </a:p>
          <a:p>
            <a:pPr marL="0" lvl="0" indent="0" algn="l" rtl="0">
              <a:spcBef>
                <a:spcPts val="0"/>
              </a:spcBef>
              <a:spcAft>
                <a:spcPts val="0"/>
              </a:spcAft>
              <a:buNone/>
            </a:pPr>
            <a:r>
              <a:rPr lang="en"/>
              <a:t>Agentic AI Token Use is Much Bigger that Human =&gt; Agentic AI Token Use Dwarfs Human Use</a:t>
            </a:r>
            <a:endParaRPr/>
          </a:p>
          <a:p>
            <a:pPr marL="0" lvl="0" indent="0" algn="l" rtl="0">
              <a:spcBef>
                <a:spcPts val="0"/>
              </a:spcBef>
              <a:spcAft>
                <a:spcPts val="0"/>
              </a:spcAft>
              <a:buNone/>
            </a:pPr>
            <a:r>
              <a:rPr lang="en"/>
              <a:t>Reflection AI Beam: a 501B open-weight model trained in the US =&gt; Reflection AI Beam 501B Open Model</a:t>
            </a:r>
            <a:endParaRPr/>
          </a:p>
          <a:p>
            <a:pPr marL="0" lvl="0" indent="0" algn="l" rtl="0">
              <a:spcBef>
                <a:spcPts val="0"/>
              </a:spcBef>
              <a:spcAft>
                <a:spcPts val="0"/>
              </a:spcAft>
              <a:buNone/>
            </a:pPr>
            <a:r>
              <a:rPr lang="en"/>
              <a:t>OpenAI watermarks ChatGPT and Codex text in the EU =&gt; OpenAI Text Watermarks in the EU</a:t>
            </a:r>
            <a:endParaRPr/>
          </a:p>
          <a:p>
            <a:pPr marL="0" lvl="0" indent="0" algn="l" rtl="0">
              <a:spcBef>
                <a:spcPts val="0"/>
              </a:spcBef>
              <a:spcAft>
                <a:spcPts val="0"/>
              </a:spcAft>
              <a:buNone/>
            </a:pPr>
            <a:r>
              <a:rPr lang="en"/>
              <a:t>Reka Rho-1: one 19B model for text, video and robot actions =&gt; Reka Rho-1 Omni Model</a:t>
            </a:r>
            <a:endParaRPr/>
          </a:p>
          <a:p>
            <a:pPr marL="0" lvl="0" indent="0" algn="l" rtl="0">
              <a:spcBef>
                <a:spcPts val="0"/>
              </a:spcBef>
              <a:spcAft>
                <a:spcPts val="0"/>
              </a:spcAft>
              <a:buNone/>
            </a:pPr>
            <a:r>
              <a:rPr lang="en"/>
              <a:t>a16z Top 100 Gen AI Consumer Apps, 7th edition, follows the money =&gt; a16z Top 100 Consumer AI Apps</a:t>
            </a:r>
            <a:endParaRPr/>
          </a:p>
          <a:p>
            <a:pPr marL="0" lvl="0" indent="0" algn="l" rtl="0">
              <a:spcBef>
                <a:spcPts val="0"/>
              </a:spcBef>
              <a:spcAft>
                <a:spcPts val="0"/>
              </a:spcAft>
              <a:buNone/>
            </a:pPr>
            <a:r>
              <a:rPr lang="en"/>
              <a:t>Devin adds Memory and Dreaming =&gt; Devin Memory and Dreaming</a:t>
            </a:r>
            <a:endParaRPr/>
          </a:p>
          <a:p>
            <a:pPr marL="0" lvl="0" indent="0" algn="l" rtl="0">
              <a:spcBef>
                <a:spcPts val="0"/>
              </a:spcBef>
              <a:spcAft>
                <a:spcPts val="0"/>
              </a:spcAft>
              <a:buNone/>
            </a:pPr>
            <a:r>
              <a:rPr lang="en"/>
              <a:t>Reka Rho-1: 19B model for text, video and robot actions =&gt; Reka Rho-1 19B Multimodal Model</a:t>
            </a:r>
            <a:endParaRPr/>
          </a:p>
          <a:p>
            <a:pPr marL="0" lvl="0" indent="0" algn="l" rtl="0">
              <a:spcBef>
                <a:spcPts val="0"/>
              </a:spcBef>
              <a:spcAft>
                <a:spcPts val="0"/>
              </a:spcAft>
              <a:buNone/>
            </a:pPr>
            <a:r>
              <a:rPr lang="en"/>
              <a:t>agent-toolkit =&gt; Agent Toolkit</a:t>
            </a:r>
            <a:endParaRPr/>
          </a:p>
          <a:p>
            <a:pPr marL="0" lvl="0" indent="0" algn="l" rtl="0">
              <a:spcBef>
                <a:spcPts val="0"/>
              </a:spcBef>
              <a:spcAft>
                <a:spcPts val="0"/>
              </a:spcAft>
              <a:buNone/>
            </a:pPr>
            <a:r>
              <a:rPr lang="en"/>
              <a:t>SpaceXAI to be renamed to SpaceXSI =&gt; SpaceXAI Renamed SpaceXSI</a:t>
            </a:r>
            <a:endParaRPr/>
          </a:p>
          <a:p>
            <a:pPr marL="0" lvl="0" indent="0" algn="l" rtl="0">
              <a:spcBef>
                <a:spcPts val="0"/>
              </a:spcBef>
              <a:spcAft>
                <a:spcPts val="0"/>
              </a:spcAft>
              <a:buNone/>
            </a:pPr>
            <a:r>
              <a:rPr lang="en"/>
              <a:t>Strata Runs 125 Bln Params Model on a Normal PC =&gt; Strata: 125B Model on a Normal PC</a:t>
            </a:r>
            <a:endParaRPr/>
          </a:p>
          <a:p>
            <a:pPr marL="0" lvl="0" indent="0" algn="l" rtl="0">
              <a:spcBef>
                <a:spcPts val="0"/>
              </a:spcBef>
              <a:spcAft>
                <a:spcPts val="0"/>
              </a:spcAft>
              <a:buNone/>
            </a:pPr>
            <a:r>
              <a:rPr lang="en"/>
              <a:t>Kent Beck on Craft and AI-Assisted Development =&gt; Kent Beck on Craft and AI Coding</a:t>
            </a:r>
            <a:endParaRPr/>
          </a:p>
          <a:p>
            <a:pPr marL="0" lvl="0" indent="0" algn="l" rtl="0">
              <a:spcBef>
                <a:spcPts val="0"/>
              </a:spcBef>
              <a:spcAft>
                <a:spcPts val="0"/>
              </a:spcAft>
              <a:buNone/>
            </a:pPr>
            <a:r>
              <a:rPr lang="en"/>
              <a:t>Trump launches a Super Intelligence Force =&gt; Trump's Super Intelligence Force</a:t>
            </a:r>
            <a:endParaRPr/>
          </a:p>
          <a:p>
            <a:pPr marL="0" lvl="0" indent="0" algn="l" rtl="0">
              <a:spcBef>
                <a:spcPts val="0"/>
              </a:spcBef>
              <a:spcAft>
                <a:spcPts val="0"/>
              </a:spcAft>
              <a:buNone/>
            </a:pPr>
            <a:r>
              <a:rPr lang="en"/>
              <a:t>Reflection AI Beam - 501B open-weight model =&gt; Reflection AI Beam 501B Open Model</a:t>
            </a:r>
            <a:endParaRPr/>
          </a:p>
          <a:p>
            <a:pPr marL="0" lvl="0" indent="0" algn="l" rtl="0">
              <a:spcBef>
                <a:spcPts val="0"/>
              </a:spcBef>
              <a:spcAft>
                <a:spcPts val="0"/>
              </a:spcAft>
              <a:buNone/>
            </a:pPr>
            <a:r>
              <a:rPr lang="en"/>
              <a:t>Aleph Alpha Kolibri: open 78B MoE =&gt; Aleph Alpha Kolibri 78B MoE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fb585c93bf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 name="Google Shape;62;g3fb585c93bf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fb585c93bf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g3fb585c93bf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h8c6532aae48ba1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h8c6532aae48ba1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h29df4c4c9dcfba2d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h29df4c4c9dcfba2d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h66de801894afa1fa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h66de801894afa1fa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h29df4c4c9dcfba2d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h29df4c4c9dcfba2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h29df4c4c9dcfba2d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h29df4c4c9dcfba2d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s-youtube: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s-youtube: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h46ddcecdfadec1a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h46ddcecdfadec1a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s-news-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s-news-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d6f071a16346bd0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d6f071a16346bd0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hd6f071a16346bd0_1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hd6f071a16346bd0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hd6f071a16346bd0_1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hd6f071a16346bd0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h8c6532aae48ba11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h8c6532aae48ba1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h1beaa2ea5184a66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h1beaa2ea5184a66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h780e71aaf4dfc92a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h780e71aaf4dfc92a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s-sign-in-with-chatgpt-lets-7fc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s-sign-in-with-chatgpt-lets-7fc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h223700df326a0702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h223700df326a070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s-trump-launches-a-super-bbe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s-trump-launches-a-super-bbe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s-reflection-ai-beam-a-501b-f64a: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s-reflection-ai-beam-a-501b-f64a: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s-devin-adds-memory-and-dreaming-93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s-devin-adds-memory-and-dreaming-93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s-layoffs: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s-layoffs: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s-hiring: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s-hiring: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s-about: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s-about: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s-thanks: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s-thanks: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s-separator: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s-separator: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Topic ledger. Kept by g2_add_news.py.</a:t>
            </a:r>
            <a:endParaRPr/>
          </a:p>
          <a:p>
            <a:pPr marL="0" lvl="0" indent="0" algn="l" rtl="0">
              <a:spcBef>
                <a:spcPts val="0"/>
              </a:spcBef>
              <a:spcAft>
                <a:spcPts val="0"/>
              </a:spcAft>
              <a:buNone/>
            </a:pPr>
            <a:r>
              <a:rPr lang="en"/>
              <a:t>t-sign-in-with-chatgpt-lets-apps-7fc6 | Sign in with ChatGPT lets apps spend your ChatGPT plan</a:t>
            </a:r>
            <a:endParaRPr/>
          </a:p>
          <a:p>
            <a:pPr marL="0" lvl="0" indent="0" algn="l" rtl="0">
              <a:spcBef>
                <a:spcPts val="0"/>
              </a:spcBef>
              <a:spcAft>
                <a:spcPts val="0"/>
              </a:spcAft>
              <a:buNone/>
            </a:pPr>
            <a:r>
              <a:rPr lang="en"/>
              <a:t>t-six-ai-labs-sign-the-white-20a7 | Six AI labs sign the White House Accord on Super Intelligence</a:t>
            </a:r>
            <a:endParaRPr/>
          </a:p>
          <a:p>
            <a:pPr marL="0" lvl="0" indent="0" algn="l" rtl="0">
              <a:spcBef>
                <a:spcPts val="0"/>
              </a:spcBef>
              <a:spcAft>
                <a:spcPts val="0"/>
              </a:spcAft>
              <a:buNone/>
            </a:pPr>
            <a:r>
              <a:rPr lang="en"/>
              <a:t>t-ftc-prepares-subpoenas-for-8e5d | FTC prepares subpoenas for OpenAI, Anthropic and METR</a:t>
            </a:r>
            <a:endParaRPr/>
          </a:p>
          <a:p>
            <a:pPr marL="0" lvl="0" indent="0" algn="l" rtl="0">
              <a:spcBef>
                <a:spcPts val="0"/>
              </a:spcBef>
              <a:spcAft>
                <a:spcPts val="0"/>
              </a:spcAft>
              <a:buNone/>
            </a:pPr>
            <a:r>
              <a:rPr lang="en"/>
              <a:t>t-broadcom-will-lend-anthropic-up-4f6e | Broadcom will lend Anthropic up to $42B to lease TPUs</a:t>
            </a:r>
            <a:endParaRPr/>
          </a:p>
          <a:p>
            <a:pPr marL="0" lvl="0" indent="0" algn="l" rtl="0">
              <a:spcBef>
                <a:spcPts val="0"/>
              </a:spcBef>
              <a:spcAft>
                <a:spcPts val="0"/>
              </a:spcAft>
              <a:buNone/>
            </a:pPr>
            <a:r>
              <a:rPr lang="en"/>
              <a:t>t-nvidia-dgx-spark-64gb-a-cheaper-824b | NVIDIA DGX Spark 64GB: a cheaper local AI box at $4,999</a:t>
            </a:r>
            <a:endParaRPr/>
          </a:p>
          <a:p>
            <a:pPr marL="0" lvl="0" indent="0" algn="l" rtl="0">
              <a:spcBef>
                <a:spcPts val="0"/>
              </a:spcBef>
              <a:spcAft>
                <a:spcPts val="0"/>
              </a:spcAft>
              <a:buNone/>
            </a:pPr>
            <a:r>
              <a:rPr lang="en"/>
              <a:t>t-prime-intellect-launches-prime-126d | Prime Intellect launches Prime Inference for open models</a:t>
            </a:r>
            <a:endParaRPr/>
          </a:p>
          <a:p>
            <a:pPr marL="0" lvl="0" indent="0" algn="l" rtl="0">
              <a:spcBef>
                <a:spcPts val="0"/>
              </a:spcBef>
              <a:spcAft>
                <a:spcPts val="0"/>
              </a:spcAft>
              <a:buNone/>
            </a:pPr>
            <a:r>
              <a:rPr lang="en"/>
              <a:t>t-microsoft-mai-transcribe-2-9d45 | Microsoft MAI-Transcribe-2-Streaming tops Artificial Analysis</a:t>
            </a:r>
            <a:endParaRPr/>
          </a:p>
          <a:p>
            <a:pPr marL="0" lvl="0" indent="0" algn="l" rtl="0">
              <a:spcBef>
                <a:spcPts val="0"/>
              </a:spcBef>
              <a:spcAft>
                <a:spcPts val="0"/>
              </a:spcAft>
              <a:buNone/>
            </a:pPr>
            <a:r>
              <a:rPr lang="en"/>
              <a:t>t-trump-launches-a-super-bbe3 | Trump launches a Super Intelligence Force under Jay Clayton</a:t>
            </a:r>
            <a:endParaRPr/>
          </a:p>
          <a:p>
            <a:pPr marL="0" lvl="0" indent="0" algn="l" rtl="0">
              <a:spcBef>
                <a:spcPts val="0"/>
              </a:spcBef>
              <a:spcAft>
                <a:spcPts val="0"/>
              </a:spcAft>
              <a:buNone/>
            </a:pPr>
            <a:r>
              <a:rPr lang="en"/>
              <a:t>t-openai-safety-report-lead-quits-532e | OpenAI safety report lead quits, calls the culture broken</a:t>
            </a:r>
            <a:endParaRPr/>
          </a:p>
          <a:p>
            <a:pPr marL="0" lvl="0" indent="0" algn="l" rtl="0">
              <a:spcBef>
                <a:spcPts val="0"/>
              </a:spcBef>
              <a:spcAft>
                <a:spcPts val="0"/>
              </a:spcAft>
              <a:buNone/>
            </a:pPr>
            <a:r>
              <a:rPr lang="en"/>
              <a:t>t-aleph-alpha-kolibri-open-78b-8f3a | Aleph Alpha Kolibri: open 78B MoE with 3.5B active and 1M context</a:t>
            </a:r>
            <a:endParaRPr/>
          </a:p>
          <a:p>
            <a:pPr marL="0" lvl="0" indent="0" algn="l" rtl="0">
              <a:spcBef>
                <a:spcPts val="0"/>
              </a:spcBef>
              <a:spcAft>
                <a:spcPts val="0"/>
              </a:spcAft>
              <a:buNone/>
            </a:pPr>
            <a:r>
              <a:rPr lang="en"/>
              <a:t>t-deepseek-harness-v0-2-ships-d681 | DeepSeek Harness v0.2 ships desktop apps</a:t>
            </a:r>
            <a:endParaRPr/>
          </a:p>
          <a:p>
            <a:pPr marL="0" lvl="0" indent="0" algn="l" rtl="0">
              <a:spcBef>
                <a:spcPts val="0"/>
              </a:spcBef>
              <a:spcAft>
                <a:spcPts val="0"/>
              </a:spcAft>
              <a:buNone/>
            </a:pPr>
            <a:r>
              <a:rPr lang="en"/>
              <a:t>t-apple-will-tighten-full-disk-5a2d | Apple will tighten Full Disk Access on Macs because of AI agents</a:t>
            </a:r>
            <a:endParaRPr/>
          </a:p>
          <a:p>
            <a:pPr marL="0" lvl="0" indent="0" algn="l" rtl="0">
              <a:spcBef>
                <a:spcPts val="0"/>
              </a:spcBef>
              <a:spcAft>
                <a:spcPts val="0"/>
              </a:spcAft>
              <a:buNone/>
            </a:pPr>
            <a:r>
              <a:rPr lang="en"/>
              <a:t>t-anthropic-puts-100m-into-a-36b8 | Anthropic puts $100M into a Claude Frontier Academy</a:t>
            </a:r>
            <a:endParaRPr/>
          </a:p>
          <a:p>
            <a:pPr marL="0" lvl="0" indent="0" algn="l" rtl="0">
              <a:spcBef>
                <a:spcPts val="0"/>
              </a:spcBef>
              <a:spcAft>
                <a:spcPts val="0"/>
              </a:spcAft>
              <a:buNone/>
            </a:pPr>
            <a:r>
              <a:rPr lang="en"/>
              <a:t>t-image-blaster-one-photo-to-a-3d-702b | image-blaster: one photo to a 3D world in 5 minutes</a:t>
            </a:r>
            <a:endParaRPr/>
          </a:p>
          <a:p>
            <a:pPr marL="0" lvl="0" indent="0" algn="l" rtl="0">
              <a:spcBef>
                <a:spcPts val="0"/>
              </a:spcBef>
              <a:spcAft>
                <a:spcPts val="0"/>
              </a:spcAft>
              <a:buNone/>
            </a:pPr>
            <a:r>
              <a:rPr lang="en"/>
              <a:t>t-reflection-ai-beam-a-501b-open-f64a | Reflection AI Beam: a 501B open-weight model trained in the US</a:t>
            </a:r>
            <a:endParaRPr/>
          </a:p>
          <a:p>
            <a:pPr marL="0" lvl="0" indent="0" algn="l" rtl="0">
              <a:spcBef>
                <a:spcPts val="0"/>
              </a:spcBef>
              <a:spcAft>
                <a:spcPts val="0"/>
              </a:spcAft>
              <a:buNone/>
            </a:pPr>
            <a:r>
              <a:rPr lang="en"/>
              <a:t>t-openai-watermarks-chatgpt-and-824f | OpenAI watermarks ChatGPT and Codex text in the EU</a:t>
            </a:r>
            <a:endParaRPr/>
          </a:p>
          <a:p>
            <a:pPr marL="0" lvl="0" indent="0" algn="l" rtl="0">
              <a:spcBef>
                <a:spcPts val="0"/>
              </a:spcBef>
              <a:spcAft>
                <a:spcPts val="0"/>
              </a:spcAft>
              <a:buNone/>
            </a:pPr>
            <a:r>
              <a:rPr lang="en"/>
              <a:t>t-reka-rho-1-one-19b-model-for-c63e | Reka Rho-1: one 19B model for text, video and robot actions</a:t>
            </a:r>
            <a:endParaRPr/>
          </a:p>
          <a:p>
            <a:pPr marL="0" lvl="0" indent="0" algn="l" rtl="0">
              <a:spcBef>
                <a:spcPts val="0"/>
              </a:spcBef>
              <a:spcAft>
                <a:spcPts val="0"/>
              </a:spcAft>
              <a:buNone/>
            </a:pPr>
            <a:r>
              <a:rPr lang="en"/>
              <a:t>t-a16z-top-100-gen-ai-consumer-c7c2 | a16z Top 100 Gen AI Consumer Apps, 7th edition, follows the money</a:t>
            </a:r>
            <a:endParaRPr/>
          </a:p>
          <a:p>
            <a:pPr marL="0" lvl="0" indent="0" algn="l" rtl="0">
              <a:spcBef>
                <a:spcPts val="0"/>
              </a:spcBef>
              <a:spcAft>
                <a:spcPts val="0"/>
              </a:spcAft>
              <a:buNone/>
            </a:pPr>
            <a:r>
              <a:rPr lang="en"/>
              <a:t>t-devin-adds-memory-and-dreaming-9391 | Devin adds Memory and Dreaming</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h780e71aaf4dfc92a_2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h780e71aaf4dfc92a_2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s-parked: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s-parked: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h223700df326a0702_1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h223700df326a0702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3" Type="http://schemas.openxmlformats.org/officeDocument/2006/relationships/hyperlink" Target="https://arena.ai/leaderboard/model/gpt-6.1-sol-max" TargetMode="External"/><Relationship Id="rId18" Type="http://schemas.openxmlformats.org/officeDocument/2006/relationships/hyperlink" Target="https://arena.ai/leaderboard/model/claude-sonnet-5.5-xhigh" TargetMode="External"/><Relationship Id="rId26" Type="http://schemas.openxmlformats.org/officeDocument/2006/relationships/hyperlink" Target="https://arena.ai/leaderboard/model/claude-opus-5-max" TargetMode="External"/><Relationship Id="rId3" Type="http://schemas.openxmlformats.org/officeDocument/2006/relationships/hyperlink" Target="https://en.wikipedia.org/wiki/Elo_rating_system" TargetMode="External"/><Relationship Id="rId21" Type="http://schemas.openxmlformats.org/officeDocument/2006/relationships/hyperlink" Target="https://arena.ai/leaderboard/model/claude-opus-4-8-high" TargetMode="External"/><Relationship Id="rId34" Type="http://schemas.openxmlformats.org/officeDocument/2006/relationships/hyperlink" Target="https://arena.ai/leaderboard/model/gemini-3.6-flash-high" TargetMode="External"/><Relationship Id="rId7" Type="http://schemas.openxmlformats.org/officeDocument/2006/relationships/hyperlink" Target="https://arena.ai/leaderboard/model/claude-fable-5-high" TargetMode="External"/><Relationship Id="rId12" Type="http://schemas.openxmlformats.org/officeDocument/2006/relationships/hyperlink" Target="https://arena.ai/leaderboard/model/gpt-6-astra-max" TargetMode="External"/><Relationship Id="rId17" Type="http://schemas.openxmlformats.org/officeDocument/2006/relationships/hyperlink" Target="https://arena.ai/leaderboard/model/claude-opus-5.5-high" TargetMode="External"/><Relationship Id="rId25" Type="http://schemas.openxmlformats.org/officeDocument/2006/relationships/hyperlink" Target="https://arena.ai/leaderboard/model/claude-opus-4-5-20251101-high-32k" TargetMode="External"/><Relationship Id="rId33" Type="http://schemas.openxmlformats.org/officeDocument/2006/relationships/hyperlink" Target="https://arena.ai/leaderboard/model/gemini-3-pro" TargetMode="External"/><Relationship Id="rId2" Type="http://schemas.openxmlformats.org/officeDocument/2006/relationships/notesSlide" Target="../notesSlides/notesSlide2.xml"/><Relationship Id="rId16" Type="http://schemas.openxmlformats.org/officeDocument/2006/relationships/hyperlink" Target="https://arena.ai/leaderboard/model/muse-spark-1.3-max" TargetMode="External"/><Relationship Id="rId20" Type="http://schemas.openxmlformats.org/officeDocument/2006/relationships/hyperlink" Target="https://arena.ai/leaderboard/model/claude-opus-5-high" TargetMode="External"/><Relationship Id="rId29" Type="http://schemas.openxmlformats.org/officeDocument/2006/relationships/hyperlink" Target="https://arena.ai/leaderboard/model/muse-spark" TargetMode="External"/><Relationship Id="rId1" Type="http://schemas.openxmlformats.org/officeDocument/2006/relationships/slideLayout" Target="../slideLayouts/slideLayout1.xml"/><Relationship Id="rId6" Type="http://schemas.openxmlformats.org/officeDocument/2006/relationships/hyperlink" Target="https://arena.ai/leaderboard/model/gemini-4-argon-high" TargetMode="External"/><Relationship Id="rId11" Type="http://schemas.openxmlformats.org/officeDocument/2006/relationships/hyperlink" Target="https://arena.ai/leaderboard/model/claude-opus-4-7" TargetMode="External"/><Relationship Id="rId24" Type="http://schemas.openxmlformats.org/officeDocument/2006/relationships/hyperlink" Target="https://arena.ai/leaderboard/model/claude-fable-5.1-max" TargetMode="External"/><Relationship Id="rId32" Type="http://schemas.openxmlformats.org/officeDocument/2006/relationships/hyperlink" Target="https://arena.ai/leaderboard/model/gemini-3.1-pro-preview" TargetMode="External"/><Relationship Id="rId5" Type="http://schemas.openxmlformats.org/officeDocument/2006/relationships/hyperlink" Target="https://lmarena.ai/leaderboard/text/coding" TargetMode="External"/><Relationship Id="rId15" Type="http://schemas.openxmlformats.org/officeDocument/2006/relationships/hyperlink" Target="https://arena.ai/leaderboard/model/mimo-v2.6-pro" TargetMode="External"/><Relationship Id="rId23" Type="http://schemas.openxmlformats.org/officeDocument/2006/relationships/hyperlink" Target="https://arena.ai/leaderboard/model/muse-spark-1.2%20%28xHigh%29" TargetMode="External"/><Relationship Id="rId28" Type="http://schemas.openxmlformats.org/officeDocument/2006/relationships/hyperlink" Target="https://arena.ai/leaderboard/model/claude-opus-4-8" TargetMode="External"/><Relationship Id="rId36" Type="http://schemas.openxmlformats.org/officeDocument/2006/relationships/hyperlink" Target="https://arena.ai/leaderboard/model/gpt-5.5-high" TargetMode="External"/><Relationship Id="rId10" Type="http://schemas.openxmlformats.org/officeDocument/2006/relationships/hyperlink" Target="https://arena.ai/leaderboard/model/claude-opus-4-6" TargetMode="External"/><Relationship Id="rId19" Type="http://schemas.openxmlformats.org/officeDocument/2006/relationships/hyperlink" Target="https://arena.ai/leaderboard/model/gpt-5.6-sol-xhigh" TargetMode="External"/><Relationship Id="rId31" Type="http://schemas.openxmlformats.org/officeDocument/2006/relationships/hyperlink" Target="https://arena.ai/leaderboard/model/gemini-3.7-flash-high" TargetMode="External"/><Relationship Id="rId4" Type="http://schemas.openxmlformats.org/officeDocument/2006/relationships/hyperlink" Target="https://lmarena.ai/leaderboard/text" TargetMode="External"/><Relationship Id="rId9" Type="http://schemas.openxmlformats.org/officeDocument/2006/relationships/hyperlink" Target="https://arena.ai/leaderboard/model/claude-opus-4-7-high" TargetMode="External"/><Relationship Id="rId14" Type="http://schemas.openxmlformats.org/officeDocument/2006/relationships/hyperlink" Target="https://arena.ai/leaderboard/model/kimi-k3-max" TargetMode="External"/><Relationship Id="rId22" Type="http://schemas.openxmlformats.org/officeDocument/2006/relationships/hyperlink" Target="https://arena.ai/leaderboard/model/muse-spark-1.1" TargetMode="External"/><Relationship Id="rId27" Type="http://schemas.openxmlformats.org/officeDocument/2006/relationships/hyperlink" Target="https://arena.ai/leaderboard/model/gemini-3.8-flash-high" TargetMode="External"/><Relationship Id="rId30" Type="http://schemas.openxmlformats.org/officeDocument/2006/relationships/hyperlink" Target="https://arena.ai/leaderboard/model/claude-sonnet-4-6" TargetMode="External"/><Relationship Id="rId35" Type="http://schemas.openxmlformats.org/officeDocument/2006/relationships/hyperlink" Target="https://arena.ai/leaderboard/model/qwen3.8-max" TargetMode="External"/><Relationship Id="rId8" Type="http://schemas.openxmlformats.org/officeDocument/2006/relationships/hyperlink" Target="https://arena.ai/leaderboard/model/claude-opus-4-6-high"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artificialanalysis.ai/evaluations/artificial-analysis-intelligence-index"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76rR68ktQvo" TargetMode="External"/><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hyperlink" Target="https://omarchy.us" TargetMode="External"/><Relationship Id="rId5" Type="http://schemas.openxmlformats.org/officeDocument/2006/relationships/hyperlink" Target="https://37signals.com" TargetMode="External"/><Relationship Id="rId4" Type="http://schemas.openxmlformats.org/officeDocument/2006/relationships/hyperlink" Target="https://basecamp.com"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anthropic.com/claude-opus-5-5" TargetMode="External"/><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hyperlink" Target="https://www.youtube.com/watch?v=2zLuYU_Ub_0" TargetMode="External"/><Relationship Id="rId4" Type="http://schemas.openxmlformats.org/officeDocument/2006/relationships/hyperlink" Target="https://platform.claude.com/docs/en/models/opus-5-5/overview"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code.claude.com" TargetMode="External"/><Relationship Id="rId7" Type="http://schemas.openxmlformats.org/officeDocument/2006/relationships/hyperlink" Target="https://www.youtube.com/watch?v=rscb1DgJtNg" TargetMode="External"/><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hyperlink" Target="https://elevenlabs.io" TargetMode="External"/><Relationship Id="rId5" Type="http://schemas.openxmlformats.org/officeDocument/2006/relationships/hyperlink" Target="https://ffmpeg.org" TargetMode="External"/><Relationship Id="rId4" Type="http://schemas.openxmlformats.org/officeDocument/2006/relationships/hyperlink" Target="https://playwright.dev"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deepseek.com/harness/en/" TargetMode="External"/><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6.png"/><Relationship Id="rId5" Type="http://schemas.openxmlformats.org/officeDocument/2006/relationships/hyperlink" Target="https://github.com/madage/dsh-self-improved" TargetMode="External"/><Relationship Id="rId4" Type="http://schemas.openxmlformats.org/officeDocument/2006/relationships/hyperlink" Target="https://github.com/deepseek-ai/deepseek-harnes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11.xml"/><Relationship Id="rId5" Type="http://schemas.openxmlformats.org/officeDocument/2006/relationships/hyperlink" Target="https://www.youtube.com/@lev-selector/videos" TargetMode="Externa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8" Type="http://schemas.openxmlformats.org/officeDocument/2006/relationships/hyperlink" Target="https://newsletter.pragmaticengineer.com/p/how-kent-beck-shapes-the-software" TargetMode="External"/><Relationship Id="rId3" Type="http://schemas.openxmlformats.org/officeDocument/2006/relationships/hyperlink" Target="https://en.wikipedia.org/wiki/Extreme_Programming" TargetMode="External"/><Relationship Id="rId7" Type="http://schemas.openxmlformats.org/officeDocument/2006/relationships/hyperlink" Target="https://kentbeck.com" TargetMode="External"/><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hyperlink" Target="https://www.youtube.com/watch?v=aSXaxOdVtAQ" TargetMode="External"/><Relationship Id="rId5" Type="http://schemas.openxmlformats.org/officeDocument/2006/relationships/hyperlink" Target="https://www.agile-academy.com/en/agile-dictionary/extreme-programming/" TargetMode="External"/><Relationship Id="rId10" Type="http://schemas.openxmlformats.org/officeDocument/2006/relationships/image" Target="../media/image10.png"/><Relationship Id="rId4" Type="http://schemas.openxmlformats.org/officeDocument/2006/relationships/hyperlink" Target="https://extremeprogrammingalliance.com/about-extreme-programming-xp/" TargetMode="External"/><Relationship Id="rId9" Type="http://schemas.openxmlformats.org/officeDocument/2006/relationships/image" Target="../media/image9.pn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s://manus.im/blog/introducing-manus-2-0" TargetMode="External"/><Relationship Id="rId7" Type="http://schemas.openxmlformats.org/officeDocument/2006/relationships/hyperlink" Target="https://openai.com/index/path-to-astra/" TargetMode="External"/><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hyperlink" Target="https://arxiv.org/abs/2609.26457" TargetMode="External"/><Relationship Id="rId5" Type="http://schemas.openxmlformats.org/officeDocument/2006/relationships/hyperlink" Target="https://www.weco.ai/blog/first-evidence-of-recursive-self-improvement" TargetMode="External"/><Relationship Id="rId4" Type="http://schemas.openxmlformats.org/officeDocument/2006/relationships/hyperlink" Target="https://www.youtube.com/watch?v=L75zF2WKiVE" TargetMode="External"/><Relationship Id="rId9"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Niko1221/Strata" TargetMode="External"/><Relationship Id="rId7"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hyperlink" Target="https://huggingface.co/collections/Qwen/Qwen3.8-Flash-Next"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humanlayer.com" TargetMode="External"/><Relationship Id="rId2" Type="http://schemas.openxmlformats.org/officeDocument/2006/relationships/notesSlide" Target="../notesSlides/notesSlide13.xml"/><Relationship Id="rId1" Type="http://schemas.openxmlformats.org/officeDocument/2006/relationships/slideLayout" Target="../slideLayouts/slideLayout11.xml"/><Relationship Id="rId5" Type="http://schemas.openxmlformats.org/officeDocument/2006/relationships/image" Target="../media/image16.png"/><Relationship Id="rId4" Type="http://schemas.openxmlformats.org/officeDocument/2006/relationships/hyperlink" Target="https://x.com/dexhorthy"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hyperlink" Target="https://www.youtube.com/watch?v=flXfwevUJTk" TargetMode="External"/><Relationship Id="rId7" Type="http://schemas.openxmlformats.org/officeDocument/2006/relationships/hyperlink" Target="https://aiprofitboardroom.com" TargetMode="External"/><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hyperlink" Target="https://www.blotato.com/mcp" TargetMode="External"/><Relationship Id="rId5" Type="http://schemas.openxmlformats.org/officeDocument/2006/relationships/hyperlink" Target="https://www.remotion.dev" TargetMode="External"/><Relationship Id="rId4" Type="http://schemas.openxmlformats.org/officeDocument/2006/relationships/hyperlink" Target="https://github.com/heygen-com/hyperframes"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https://arxiv.org/abs/2609.27334" TargetMode="External"/><Relationship Id="rId3" Type="http://schemas.openxmlformats.org/officeDocument/2006/relationships/hyperlink" Target="https://www.youtube.com/watch?v=eXad7m0TjVM" TargetMode="External"/><Relationship Id="rId7" Type="http://schemas.openxmlformats.org/officeDocument/2006/relationships/hyperlink" Target="https://www.youtube.com/watch?v=pSkh-mNd9LQ" TargetMode="External"/><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hyperlink" Target="https://arxiv.org/abs/2405.05254" TargetMode="External"/><Relationship Id="rId11" Type="http://schemas.openxmlformats.org/officeDocument/2006/relationships/image" Target="../media/image19.png"/><Relationship Id="rId5" Type="http://schemas.openxmlformats.org/officeDocument/2006/relationships/hyperlink" Target="https://arxiv.org/html/2609.19969v1" TargetMode="External"/><Relationship Id="rId10" Type="http://schemas.openxmlformats.org/officeDocument/2006/relationships/image" Target="../media/image18.png"/><Relationship Id="rId4" Type="http://schemas.openxmlformats.org/officeDocument/2006/relationships/hyperlink" Target="https://arxiv.org/abs/2609.26368" TargetMode="External"/><Relationship Id="rId9" Type="http://schemas.openxmlformats.org/officeDocument/2006/relationships/hyperlink" Target="https://aiweekly.co/alerts/jitmem-curates-llm-agent-memory-at-read-time-not-write-time"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zed.dev/docs/installation" TargetMode="External"/><Relationship Id="rId7" Type="http://schemas.openxmlformats.org/officeDocument/2006/relationships/hyperlink" Target="http://simplicity.md" TargetMode="External"/><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20.png"/><Relationship Id="rId5" Type="http://schemas.openxmlformats.org/officeDocument/2006/relationships/hyperlink" Target="https://github.com/lselector/agent-toolkit" TargetMode="External"/><Relationship Id="rId4" Type="http://schemas.openxmlformats.org/officeDocument/2006/relationships/hyperlink" Target="https://zed.dev/docs/ai/external-agents"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reuters.com/world/china/chinese-chipmakers-claim-nearly-half-of-local-market-nvidias-lead-shrinks-idc-2026-04-01/" TargetMode="External"/><Relationship Id="rId2" Type="http://schemas.openxmlformats.org/officeDocument/2006/relationships/notesSlide" Target="../notesSlides/notesSlide17.xml"/><Relationship Id="rId1" Type="http://schemas.openxmlformats.org/officeDocument/2006/relationships/slideLayout" Target="../slideLayouts/slideLayout11.xml"/><Relationship Id="rId5" Type="http://schemas.openxmlformats.org/officeDocument/2006/relationships/hyperlink" Target="https://www.tomshardware.com/tech-industry/artificial-intelligence/alibaba-unveils-zhenwu-v900-ai-accelerator-claims-its-the-most-powerful-ai-chip-in-china-accelerator-supports-500-000-chip-supercluster-with-a-10t-parameter-qwen-model-on-the-roadmap" TargetMode="Externa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hyperlink" Target="https://thenewstack.io/sign-in-with-chatgpt/" TargetMode="External"/><Relationship Id="rId7" Type="http://schemas.openxmlformats.org/officeDocument/2006/relationships/hyperlink" Target="https://microsoft.ai/news/our-first-streaming-transcription-model/" TargetMode="External"/><Relationship Id="rId2" Type="http://schemas.openxmlformats.org/officeDocument/2006/relationships/notesSlide" Target="../notesSlides/notesSlide18.xml"/><Relationship Id="rId1" Type="http://schemas.openxmlformats.org/officeDocument/2006/relationships/slideLayout" Target="../slideLayouts/slideLayout11.xml"/><Relationship Id="rId6" Type="http://schemas.openxmlformats.org/officeDocument/2006/relationships/image" Target="../media/image23.png"/><Relationship Id="rId5" Type="http://schemas.openxmlformats.org/officeDocument/2006/relationships/image" Target="../media/image22.jpeg"/><Relationship Id="rId4" Type="http://schemas.openxmlformats.org/officeDocument/2006/relationships/hyperlink" Target="https://www.techtimes.com/articles/328464/20261002/white-house-ai-safety-accord-has-no-penalties-no-breach-reporting-self-chosen-auditors.htm"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cryptobriefing.com/openrouter-agentic-token-usage-14x-growth/" TargetMode="External"/><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hyperlink" Target="https://siliconangle.com/2026/10/04/trump-launches-super-intelligence-force-with-jay-clayton-as-ai-czar/" TargetMode="External"/><Relationship Id="rId7" Type="http://schemas.openxmlformats.org/officeDocument/2006/relationships/image" Target="../media/image27.jpeg"/><Relationship Id="rId2" Type="http://schemas.openxmlformats.org/officeDocument/2006/relationships/notesSlide" Target="../notesSlides/notesSlide20.xml"/><Relationship Id="rId1" Type="http://schemas.openxmlformats.org/officeDocument/2006/relationships/slideLayout" Target="../slideLayouts/slideLayout11.xml"/><Relationship Id="rId6" Type="http://schemas.openxmlformats.org/officeDocument/2006/relationships/hyperlink" Target="https://github.com/neilsonnn/image-blaster" TargetMode="External"/><Relationship Id="rId5" Type="http://schemas.openxmlformats.org/officeDocument/2006/relationships/image" Target="../media/image26.jpeg"/><Relationship Id="rId4" Type="http://schemas.openxmlformats.org/officeDocument/2006/relationships/hyperlink" Target="https://aleph-alpha.com/en/blog/kolibri-has-landed-a-sovereign-open-weight-model/" TargetMode="External"/><Relationship Id="rId9" Type="http://schemas.openxmlformats.org/officeDocument/2006/relationships/image" Target="../media/image29.png"/></Relationships>
</file>

<file path=ppt/slides/_rels/slide2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hyperlink" Target="https://reflection.ai/blog/introducing-beam" TargetMode="External"/><Relationship Id="rId7" Type="http://schemas.openxmlformats.org/officeDocument/2006/relationships/hyperlink" Target="https://reka.ai" TargetMode="External"/><Relationship Id="rId2" Type="http://schemas.openxmlformats.org/officeDocument/2006/relationships/notesSlide" Target="../notesSlides/notesSlide21.xml"/><Relationship Id="rId1" Type="http://schemas.openxmlformats.org/officeDocument/2006/relationships/slideLayout" Target="../slideLayouts/slideLayout11.xml"/><Relationship Id="rId6" Type="http://schemas.openxmlformats.org/officeDocument/2006/relationships/hyperlink" Target="http://reka.ai" TargetMode="External"/><Relationship Id="rId5" Type="http://schemas.openxmlformats.org/officeDocument/2006/relationships/image" Target="../media/image31.png"/><Relationship Id="rId10" Type="http://schemas.openxmlformats.org/officeDocument/2006/relationships/image" Target="../media/image33.jpeg"/><Relationship Id="rId4" Type="http://schemas.openxmlformats.org/officeDocument/2006/relationships/image" Target="../media/image30.png"/><Relationship Id="rId9" Type="http://schemas.openxmlformats.org/officeDocument/2006/relationships/hyperlink" Target="https://a16z.com/100-gen-ai-apps-7/"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devin.ai/blog/memory-and-dreaming" TargetMode="External"/><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3.xml"/><Relationship Id="rId1" Type="http://schemas.openxmlformats.org/officeDocument/2006/relationships/slideLayout" Target="../slideLayouts/slideLayout11.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hyperlink" Target="https://trueup.io/layoffs"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fred.stlouisfed.org/series/IHLIDXUSTPSOFTDEVE" TargetMode="External"/><Relationship Id="rId2" Type="http://schemas.openxmlformats.org/officeDocument/2006/relationships/notesSlide" Target="../notesSlides/notesSlide24.xml"/><Relationship Id="rId1" Type="http://schemas.openxmlformats.org/officeDocument/2006/relationships/slideLayout" Target="../slideLayouts/slideLayout11.xml"/><Relationship Id="rId5" Type="http://schemas.openxmlformats.org/officeDocument/2006/relationships/hyperlink" Target="https://www.dice.com/hiring/recruitment/reports/dice-tech-job-report" TargetMode="External"/><Relationship Id="rId4" Type="http://schemas.openxmlformats.org/officeDocument/2006/relationships/hyperlink" Target="https://hiringlab.indeed.com/2026/07/08/ai-and-job-postings-from-destruction-to-creation/"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eais.ai" TargetMode="External"/><Relationship Id="rId2" Type="http://schemas.openxmlformats.org/officeDocument/2006/relationships/notesSlide" Target="../notesSlides/notesSlide25.xml"/><Relationship Id="rId1" Type="http://schemas.openxmlformats.org/officeDocument/2006/relationships/slideLayout" Target="../slideLayouts/slideLayout11.xml"/><Relationship Id="rId4" Type="http://schemas.openxmlformats.org/officeDocument/2006/relationships/image" Target="../media/image37.jpeg"/></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lev-selector" TargetMode="External"/><Relationship Id="rId2" Type="http://schemas.openxmlformats.org/officeDocument/2006/relationships/notesSlide" Target="../notesSlides/notesSlide26.xml"/><Relationship Id="rId1" Type="http://schemas.openxmlformats.org/officeDocument/2006/relationships/slideLayout" Target="../slideLayouts/slideLayout11.xml"/><Relationship Id="rId5" Type="http://schemas.openxmlformats.org/officeDocument/2006/relationships/hyperlink" Target="https://drive.google.com/drive/folders/1dmj00iilSP-JYmriMUUaHCKz5X54e3UX?ths=true" TargetMode="External"/><Relationship Id="rId4" Type="http://schemas.openxmlformats.org/officeDocument/2006/relationships/hyperlink" Target="https://github.com/lselector/seminar"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hyperlink" Target="https://www.axios.com/2026/09/30/ftc-openai-anthropic-ai-safety-investigation" TargetMode="External"/><Relationship Id="rId2" Type="http://schemas.openxmlformats.org/officeDocument/2006/relationships/notesSlide" Target="../notesSlides/notesSlide28.xml"/><Relationship Id="rId1" Type="http://schemas.openxmlformats.org/officeDocument/2006/relationships/slideLayout" Target="../slideLayouts/slideLayout11.xml"/><Relationship Id="rId5" Type="http://schemas.openxmlformats.org/officeDocument/2006/relationships/hyperlink" Target="https://blogs.nvidia.com/blog/local-ai-dgx-spark-64gb-sync/" TargetMode="External"/><Relationship Id="rId4" Type="http://schemas.openxmlformats.org/officeDocument/2006/relationships/hyperlink" Target="https://www.implicator.ai/broadcom-agrees-to-lend-anthropic-up-to-42-billion-to-lease-chips-it-helps-design/"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primeintellect.ai" TargetMode="External"/><Relationship Id="rId2" Type="http://schemas.openxmlformats.org/officeDocument/2006/relationships/notesSlide" Target="../notesSlides/notesSlide29.xml"/><Relationship Id="rId1" Type="http://schemas.openxmlformats.org/officeDocument/2006/relationships/slideLayout" Target="../slideLayouts/slideLayout11.xml"/><Relationship Id="rId6" Type="http://schemas.openxmlformats.org/officeDocument/2006/relationships/hyperlink" Target="https://thehackernews.com/2026/10/apple-plans-tighter-macos-full-disk.html" TargetMode="External"/><Relationship Id="rId5" Type="http://schemas.openxmlformats.org/officeDocument/2006/relationships/hyperlink" Target="https://www.calcalistech.com/ctechnews/article/zienaylz5" TargetMode="External"/><Relationship Id="rId4" Type="http://schemas.openxmlformats.org/officeDocument/2006/relationships/hyperlink" Target="https://www.primeintellect.ai/blog/prime-inference"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deepseek-ai/deepseek-harness" TargetMode="External"/><Relationship Id="rId2" Type="http://schemas.openxmlformats.org/officeDocument/2006/relationships/notesSlide" Target="../notesSlides/notesSlide30.xml"/><Relationship Id="rId1" Type="http://schemas.openxmlformats.org/officeDocument/2006/relationships/slideLayout" Target="../slideLayouts/slideLayout11.xml"/><Relationship Id="rId5" Type="http://schemas.openxmlformats.org/officeDocument/2006/relationships/hyperlink" Target="https://www.actuia.com/en/news/openai-will-watermark-chatgpt-in-the-eu-but-leaves-the-api-opt-in/" TargetMode="External"/><Relationship Id="rId4" Type="http://schemas.openxmlformats.org/officeDocument/2006/relationships/hyperlink" Target="https://www.benzinga.com/markets/tech/26/10/62151067/anthropic-100-million-claude-frontier-academ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36576" y="-27432"/>
            <a:ext cx="2754300" cy="38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latin typeface="Calibri"/>
                <a:ea typeface="Calibri"/>
                <a:cs typeface="Calibri"/>
                <a:sym typeface="Calibri"/>
              </a:rPr>
              <a:t>AI News - Oct 9, 2026</a:t>
            </a:r>
            <a:endParaRPr sz="2000" b="1">
              <a:latin typeface="Calibri"/>
              <a:ea typeface="Calibri"/>
              <a:cs typeface="Calibri"/>
              <a:sym typeface="Calibri"/>
            </a:endParaRPr>
          </a:p>
        </p:txBody>
      </p:sp>
      <p:sp>
        <p:nvSpPr>
          <p:cNvPr id="55" name="Google Shape;55;p13"/>
          <p:cNvSpPr txBox="1"/>
          <p:nvPr/>
        </p:nvSpPr>
        <p:spPr>
          <a:xfrm>
            <a:off x="5349240" y="27432"/>
            <a:ext cx="3758100" cy="6768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800" b="1" i="1">
                <a:solidFill>
                  <a:srgbClr val="FF0000"/>
                </a:solidFill>
                <a:latin typeface="Calibri"/>
                <a:ea typeface="Calibri"/>
                <a:cs typeface="Calibri"/>
                <a:sym typeface="Calibri"/>
              </a:rPr>
              <a:t>Six labs signed a safety pact and picked their own referees.</a:t>
            </a:r>
            <a:endParaRPr sz="1800" b="1" i="1">
              <a:solidFill>
                <a:srgbClr val="FF0000"/>
              </a:solidFill>
              <a:latin typeface="Calibri"/>
              <a:ea typeface="Calibri"/>
              <a:cs typeface="Calibri"/>
              <a:sym typeface="Calibri"/>
            </a:endParaRPr>
          </a:p>
        </p:txBody>
      </p:sp>
      <p:sp>
        <p:nvSpPr>
          <p:cNvPr id="56" name="Google Shape;56;p13"/>
          <p:cNvSpPr txBox="1"/>
          <p:nvPr/>
        </p:nvSpPr>
        <p:spPr>
          <a:xfrm>
            <a:off x="36576" y="393192"/>
            <a:ext cx="4517100" cy="2314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LM Arena Leaderboard</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Artificial Analysis Intelligence Index</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Microsoft Copilot’s Evolution</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Building Better Through Constraints</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AI Agents Build a Complex App Feature</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Claude Code JavaScript Videos</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DeepSeek Harness: Evolving Agents</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Kent Beck on Craft and AI Coding</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Manus 2.0 and Cue</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Research - AI Improves Its Own Design</a:t>
            </a:r>
            <a:endParaRPr b="1">
              <a:solidFill>
                <a:srgbClr val="4472C4"/>
              </a:solidFill>
              <a:latin typeface="Calibri"/>
              <a:ea typeface="Calibri"/>
              <a:cs typeface="Calibri"/>
              <a:sym typeface="Calibri"/>
            </a:endParaRPr>
          </a:p>
        </p:txBody>
      </p:sp>
      <p:sp>
        <p:nvSpPr>
          <p:cNvPr id="57" name="Google Shape;57;p13"/>
          <p:cNvSpPr txBox="1"/>
          <p:nvPr/>
        </p:nvSpPr>
        <p:spPr>
          <a:xfrm>
            <a:off x="36576" y="2744216"/>
            <a:ext cx="4517100" cy="2314500"/>
          </a:xfrm>
          <a:prstGeom prst="rect">
            <a:avLst/>
          </a:prstGeom>
          <a:solidFill>
            <a:srgbClr val="E2F0D9"/>
          </a:solid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Strata: 125B Model on a Normal PC</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SpaceXAI Renamed SpaceXSI</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HumanLayer Multiplayer Agent Workspace</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AI-Powered Video Editing Workflow</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Xiaomi HySparse2 Cuts Agent Context Costs</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Salesforce JitMem: Memory on Demand</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Zed + Claude</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Agent Toolkit</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Chinese Chips</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Alibaba’s V900 Chip</a:t>
            </a:r>
            <a:endParaRPr b="1">
              <a:solidFill>
                <a:srgbClr val="4472C4"/>
              </a:solidFill>
              <a:latin typeface="Calibri"/>
              <a:ea typeface="Calibri"/>
              <a:cs typeface="Calibri"/>
              <a:sym typeface="Calibri"/>
            </a:endParaRPr>
          </a:p>
        </p:txBody>
      </p:sp>
      <p:sp>
        <p:nvSpPr>
          <p:cNvPr id="58" name="Google Shape;58;p13"/>
          <p:cNvSpPr txBox="1"/>
          <p:nvPr/>
        </p:nvSpPr>
        <p:spPr>
          <a:xfrm>
            <a:off x="4590288" y="768240"/>
            <a:ext cx="4517100" cy="2094000"/>
          </a:xfrm>
          <a:prstGeom prst="rect">
            <a:avLst/>
          </a:prstGeom>
          <a:solidFill>
            <a:srgbClr val="DEEBF7"/>
          </a:solid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Sign in with ChatGPT Spends Your Plan</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White House Super Intelligence Accord</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Microsoft MAI-Transcribe-2-Streaming</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Agentic AI Token Use Dwarfs Human Use</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Trump's Super Intelligence Force</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Aleph Alpha Kolibri 78B MoE</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image-blaster: Photo to 3D World</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Reflection AI Beam 501B Open Model</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Reka Rho-1 19B Multimodal Model</a:t>
            </a:r>
            <a:endParaRPr b="1">
              <a:solidFill>
                <a:srgbClr val="4472C4"/>
              </a:solidFill>
              <a:latin typeface="Calibri"/>
              <a:ea typeface="Calibri"/>
              <a:cs typeface="Calibri"/>
              <a:sym typeface="Calibri"/>
            </a:endParaRPr>
          </a:p>
        </p:txBody>
      </p:sp>
      <p:sp>
        <p:nvSpPr>
          <p:cNvPr id="59" name="Google Shape;59;p13"/>
          <p:cNvSpPr txBox="1"/>
          <p:nvPr/>
        </p:nvSpPr>
        <p:spPr>
          <a:xfrm>
            <a:off x="4590288" y="2898792"/>
            <a:ext cx="4517100" cy="991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a16z - Top 100 Gen AI Consumer Apps</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Devin Memory and Dreaming</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Jobs &amp; Layoffs</a:t>
            </a:r>
            <a:endParaRPr b="1">
              <a:solidFill>
                <a:srgbClr val="4472C4"/>
              </a:solidFill>
              <a:latin typeface="Calibri"/>
              <a:ea typeface="Calibri"/>
              <a:cs typeface="Calibri"/>
              <a:sym typeface="Calibri"/>
            </a:endParaRPr>
          </a:p>
          <a:p>
            <a:pPr marL="171450" lvl="0" indent="-205486" algn="l" rtl="0">
              <a:spcBef>
                <a:spcPts val="0"/>
              </a:spcBef>
              <a:spcAft>
                <a:spcPts val="0"/>
              </a:spcAft>
              <a:buClr>
                <a:srgbClr val="4472C4"/>
              </a:buClr>
              <a:buSzPts val="1400"/>
              <a:buFont typeface="Calibri"/>
              <a:buChar char="●"/>
            </a:pPr>
            <a:r>
              <a:rPr lang="en" b="1">
                <a:solidFill>
                  <a:srgbClr val="4472C4"/>
                </a:solidFill>
                <a:latin typeface="Calibri"/>
                <a:ea typeface="Calibri"/>
                <a:cs typeface="Calibri"/>
                <a:sym typeface="Calibri"/>
              </a:rPr>
              <a:t>Tech Hiring and Skills in Demand</a:t>
            </a:r>
            <a:endParaRPr b="1">
              <a:solidFill>
                <a:srgbClr val="4472C4"/>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65" name="Google Shape;65;p14"/>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66" name="Google Shape;66;p14"/>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67" name="Google Shape;67;p14"/>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68" name="Google Shape;68;p14"/>
          <p:cNvSpPr txBox="1"/>
          <p:nvPr/>
        </p:nvSpPr>
        <p:spPr>
          <a:xfrm>
            <a:off x="3437903"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noAutofit/>
          </a:bodyPr>
          <a:lstStyle/>
          <a:p>
            <a:pPr marL="0" marR="0" lvl="0" indent="0" algn="ctr" rtl="0">
              <a:lnSpc>
                <a:spcPct val="100000"/>
              </a:lnSpc>
              <a:spcBef>
                <a:spcPts val="0"/>
              </a:spcBef>
              <a:spcAft>
                <a:spcPts val="0"/>
              </a:spcAft>
              <a:buNone/>
            </a:pPr>
            <a:r>
              <a:rPr lang="en" sz="1000">
                <a:latin typeface="Calibri"/>
                <a:ea typeface="Calibri"/>
                <a:cs typeface="Calibri"/>
                <a:sym typeface="Calibri"/>
              </a:rPr>
              <a:t>Data for Oct 2</a:t>
            </a:r>
            <a:endParaRPr sz="1000">
              <a:latin typeface="Calibri"/>
              <a:ea typeface="Calibri"/>
              <a:cs typeface="Calibri"/>
              <a:sym typeface="Calibri"/>
            </a:endParaRPr>
          </a:p>
        </p:txBody>
      </p:sp>
      <p:graphicFrame>
        <p:nvGraphicFramePr>
          <p:cNvPr id="69" name="Google Shape;69;p14"/>
          <p:cNvGraphicFramePr/>
          <p:nvPr/>
        </p:nvGraphicFramePr>
        <p:xfrm>
          <a:off x="5742420" y="430065"/>
          <a:ext cx="3000000" cy="3000000"/>
        </p:xfrm>
        <a:graphic>
          <a:graphicData uri="http://schemas.openxmlformats.org/drawingml/2006/table">
            <a:tbl>
              <a:tblPr>
                <a:noFill/>
                <a:tableStyleId>{42403455-CFFB-40D8-8E8D-176729F5D96D}</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sp>
        <p:nvSpPr>
          <p:cNvPr id="70" name="Google Shape;70;p14"/>
          <p:cNvSpPr txBox="1"/>
          <p:nvPr/>
        </p:nvSpPr>
        <p:spPr>
          <a:xfrm>
            <a:off x="6838390" y="485738"/>
            <a:ext cx="2152500" cy="2327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Fable-5 - 6TB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Opus-4.8 - 5TB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Sonnet-4.5 - 1TB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Sonnet-5 - ?</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GLM-5.3 - 744B </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Meta muse-spark - 16 x 70B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Qwen3.7-max-preview - 745B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Qwen3.8-max - 2.4TB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Baidu Ernie-5.1 - 800B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Deepseek-v4 - 1.6T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Deepseek-v4.1-Flash - 552B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highlight>
                  <a:srgbClr val="C9DAF8"/>
                </a:highlight>
                <a:latin typeface="Calibri"/>
                <a:ea typeface="Calibri"/>
                <a:cs typeface="Calibri"/>
                <a:sym typeface="Calibri"/>
              </a:rPr>
              <a:t>Kimi-k3 - 2.8T</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Xiaomi MiMo-V2.5-Pro - 1T+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solidFill>
                  <a:schemeClr val="dk1"/>
                </a:solidFill>
                <a:latin typeface="Calibri"/>
                <a:ea typeface="Calibri"/>
                <a:cs typeface="Calibri"/>
                <a:sym typeface="Calibri"/>
              </a:rPr>
              <a:t>ByteDance </a:t>
            </a:r>
            <a:r>
              <a:rPr lang="en" sz="1000">
                <a:latin typeface="Calibri"/>
                <a:ea typeface="Calibri"/>
                <a:cs typeface="Calibri"/>
                <a:sym typeface="Calibri"/>
              </a:rPr>
              <a:t>dola-seed-2.0-pro 400B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Minimax M3  -  456B</a:t>
            </a:r>
            <a:endParaRPr sz="1000">
              <a:latin typeface="Calibri"/>
              <a:ea typeface="Calibri"/>
              <a:cs typeface="Calibri"/>
              <a:sym typeface="Calibri"/>
            </a:endParaRPr>
          </a:p>
        </p:txBody>
      </p:sp>
      <p:graphicFrame>
        <p:nvGraphicFramePr>
          <p:cNvPr id="71" name="Google Shape;71;p14"/>
          <p:cNvGraphicFramePr/>
          <p:nvPr/>
        </p:nvGraphicFramePr>
        <p:xfrm>
          <a:off x="3075200" y="742403"/>
          <a:ext cx="3000000" cy="3000000"/>
        </p:xfrm>
        <a:graphic>
          <a:graphicData uri="http://schemas.openxmlformats.org/drawingml/2006/table">
            <a:tbl>
              <a:tblPr>
                <a:noFill/>
                <a:tableStyleId>{42403455-CFFB-40D8-8E8D-176729F5D96D}</a:tableStyleId>
              </a:tblPr>
              <a:tblGrid>
                <a:gridCol w="276225">
                  <a:extLst>
                    <a:ext uri="{9D8B030D-6E8A-4147-A177-3AD203B41FA5}">
                      <a16:colId xmlns:a16="http://schemas.microsoft.com/office/drawing/2014/main" val="20000"/>
                    </a:ext>
                  </a:extLst>
                </a:gridCol>
                <a:gridCol w="1562100">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6"/>
                        </a:rPr>
                        <a:t>gemini-4-argon-high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1560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7"/>
                        </a:rPr>
                        <a:t>claude-fable-5-high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8"/>
                        </a:rPr>
                        <a:t>claude-opus-4-6-high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9"/>
                        </a:rPr>
                        <a:t>claude-opus-4-7-high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0"/>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1"/>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2"/>
                        </a:rPr>
                        <a:t>gpt-6-astra-max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3"/>
                        </a:rPr>
                        <a:t>gpt-6.1-sol-max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4"/>
                        </a:rPr>
                        <a:t>kimi-k3-max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5"/>
                        </a:rPr>
                        <a:t>mimo-v2.6-pro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6"/>
                        </a:rPr>
                        <a:t>muse-spark-1.3-max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7"/>
                        </a:rPr>
                        <a:t>claude-opus-5.5-high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23812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8"/>
                        </a:rPr>
                        <a:t>claude-sonnet-5.5-xhigh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gpt-5.6-sol-xhigh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claude-opus-4-8-high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muse-spark-1.1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muse-spark-1.2 (xHigh)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claude-fable-5.1-max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claude-opus-4-5-20251101-high-32k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claude-opus-5-max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gemini-3.8-flash-high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claude-opus-4-8</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EAD3"/>
                    </a:solidFill>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EAD3"/>
                    </a:solidFill>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claude-sonnet-4-6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72" name="Google Shape;72;p14"/>
          <p:cNvGraphicFramePr/>
          <p:nvPr/>
        </p:nvGraphicFramePr>
        <p:xfrm>
          <a:off x="423650" y="745044"/>
          <a:ext cx="3000000" cy="3000000"/>
        </p:xfrm>
        <a:graphic>
          <a:graphicData uri="http://schemas.openxmlformats.org/drawingml/2006/table">
            <a:tbl>
              <a:tblPr>
                <a:noFill/>
                <a:tableStyleId>{42403455-CFFB-40D8-8E8D-176729F5D96D}</a:tableStyleId>
              </a:tblPr>
              <a:tblGrid>
                <a:gridCol w="276225">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6"/>
                        </a:rPr>
                        <a:t>gemini-4-argon-high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8"/>
                        </a:rPr>
                        <a:t>claude-opus-4-6-high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7"/>
                        </a:rPr>
                        <a:t>claude-fable-5-high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7"/>
                        </a:rPr>
                        <a:t>claude-opus-5.5-high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9"/>
                        </a:rPr>
                        <a:t>claude-opus-4-7-high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claude-fable-5.1-max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0"/>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gemini-3.8-flash-high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6"/>
                        </a:rPr>
                        <a:t>muse-spark-1.3-max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1"/>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muse-spark-1.2 (xHigh)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muse-spark-1.1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claude-opus-5-max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4"/>
                        </a:rPr>
                        <a:t>kimi-k3-max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1"/>
                        </a:rPr>
                        <a:t>gemini-3.7-flash-high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2"/>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3"/>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gpt-5.6-sol-xhigh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3"/>
                        </a:rPr>
                        <a:t>gpt-6.1-sol-max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gemini-3.6-flash-high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5"/>
                        </a:rPr>
                        <a:t>qwen3.8-max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claude-opus-4-8-high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6"/>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5"/>
          <p:cNvSpPr txBox="1"/>
          <p:nvPr/>
        </p:nvSpPr>
        <p:spPr>
          <a:xfrm>
            <a:off x="38150" y="2125"/>
            <a:ext cx="44937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a:solidFill>
                  <a:schemeClr val="dk1"/>
                </a:solidFill>
                <a:latin typeface="Calibri"/>
                <a:ea typeface="Calibri"/>
                <a:cs typeface="Calibri"/>
                <a:sym typeface="Calibri"/>
              </a:rPr>
              <a:t>Artificial Analysis Intelligence Index</a:t>
            </a:r>
            <a:endParaRPr sz="1800" b="1" i="0" u="none" strike="noStrike" cap="none">
              <a:solidFill>
                <a:srgbClr val="000000"/>
              </a:solidFill>
              <a:latin typeface="Calibri"/>
              <a:ea typeface="Calibri"/>
              <a:cs typeface="Calibri"/>
              <a:sym typeface="Calibri"/>
            </a:endParaRPr>
          </a:p>
        </p:txBody>
      </p:sp>
      <p:sp>
        <p:nvSpPr>
          <p:cNvPr id="78" name="Google Shape;78;p15"/>
          <p:cNvSpPr txBox="1"/>
          <p:nvPr/>
        </p:nvSpPr>
        <p:spPr>
          <a:xfrm>
            <a:off x="52430" y="355163"/>
            <a:ext cx="44295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Artificial Analysis Intelligence Index</a:t>
            </a:r>
            <a:endParaRPr sz="900" b="1">
              <a:solidFill>
                <a:srgbClr val="FF0000"/>
              </a:solidFill>
              <a:latin typeface="Calibri"/>
              <a:ea typeface="Calibri"/>
              <a:cs typeface="Calibri"/>
              <a:sym typeface="Calibri"/>
            </a:endParaRPr>
          </a:p>
          <a:p>
            <a:pPr marL="228600" marR="0" lvl="0" indent="-114300" algn="l" rtl="0">
              <a:lnSpc>
                <a:spcPct val="100000"/>
              </a:lnSpc>
              <a:spcBef>
                <a:spcPts val="0"/>
              </a:spcBef>
              <a:spcAft>
                <a:spcPts val="0"/>
              </a:spcAft>
              <a:buSzPts val="900"/>
              <a:buFont typeface="Calibri"/>
              <a:buChar char="●"/>
            </a:pPr>
            <a:r>
              <a:rPr lang="en" sz="900" b="1" u="sng">
                <a:solidFill>
                  <a:schemeClr val="hlink"/>
                </a:solidFill>
                <a:latin typeface="Calibri"/>
                <a:ea typeface="Calibri"/>
                <a:cs typeface="Calibri"/>
                <a:sym typeface="Calibri"/>
                <a:hlinkClick r:id="rId3"/>
              </a:rPr>
              <a:t>https://artificialanalysis.ai/evaluations/artificial-analysis-intelligence-index</a:t>
            </a:r>
            <a:endParaRPr sz="900" b="1">
              <a:solidFill>
                <a:srgbClr val="FF0000"/>
              </a:solidFill>
              <a:latin typeface="Calibri"/>
              <a:ea typeface="Calibri"/>
              <a:cs typeface="Calibri"/>
              <a:sym typeface="Calibri"/>
            </a:endParaRPr>
          </a:p>
        </p:txBody>
      </p:sp>
      <p:sp>
        <p:nvSpPr>
          <p:cNvPr id="79" name="Google Shape;79;p15"/>
          <p:cNvSpPr txBox="1"/>
          <p:nvPr/>
        </p:nvSpPr>
        <p:spPr>
          <a:xfrm>
            <a:off x="5934676" y="1088150"/>
            <a:ext cx="9447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noAutofit/>
          </a:bodyPr>
          <a:lstStyle/>
          <a:p>
            <a:pPr marL="0" marR="0" lvl="0" indent="0" algn="ctr" rtl="0">
              <a:lnSpc>
                <a:spcPct val="100000"/>
              </a:lnSpc>
              <a:spcBef>
                <a:spcPts val="0"/>
              </a:spcBef>
              <a:spcAft>
                <a:spcPts val="0"/>
              </a:spcAft>
              <a:buNone/>
            </a:pPr>
            <a:r>
              <a:rPr lang="en" sz="1200" b="1">
                <a:solidFill>
                  <a:srgbClr val="FF0000"/>
                </a:solidFill>
                <a:latin typeface="Calibri"/>
                <a:ea typeface="Calibri"/>
                <a:cs typeface="Calibri"/>
                <a:sym typeface="Calibri"/>
              </a:rPr>
              <a:t>Oct 4</a:t>
            </a:r>
            <a:endParaRPr sz="1200" b="1">
              <a:solidFill>
                <a:srgbClr val="FF0000"/>
              </a:solidFill>
              <a:latin typeface="Calibri"/>
              <a:ea typeface="Calibri"/>
              <a:cs typeface="Calibri"/>
              <a:sym typeface="Calibri"/>
            </a:endParaRPr>
          </a:p>
        </p:txBody>
      </p:sp>
      <p:pic>
        <p:nvPicPr>
          <p:cNvPr id="80" name="Google Shape;80;p15" descr="auto: aa-index-chart"/>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311146" y="1598925"/>
            <a:ext cx="8534708" cy="3468749"/>
          </a:xfrm>
          <a:prstGeom prst="rect">
            <a:avLst/>
          </a:prstGeom>
          <a:noFill/>
          <a:ln w="9525" cap="flat" cmpd="sng">
            <a:solidFill>
              <a:srgbClr val="FF0000"/>
            </a:solidFill>
            <a:prstDash val="solid"/>
            <a:round/>
            <a:headEnd type="none" w="sm" len="sm"/>
            <a:tailEnd type="none" w="sm" len="sm"/>
          </a:ln>
        </p:spPr>
      </p:pic>
      <p:sp>
        <p:nvSpPr>
          <p:cNvPr id="81" name="Google Shape;81;p15"/>
          <p:cNvSpPr/>
          <p:nvPr/>
        </p:nvSpPr>
        <p:spPr>
          <a:xfrm>
            <a:off x="3228500" y="3424925"/>
            <a:ext cx="233100" cy="383700"/>
          </a:xfrm>
          <a:prstGeom prst="down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6"/>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87" name="Google Shape;87;p16"/>
          <p:cNvSpPr txBox="1"/>
          <p:nvPr/>
        </p:nvSpPr>
        <p:spPr>
          <a:xfrm>
            <a:off x="93725" y="616075"/>
            <a:ext cx="44403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Microsoft Copilot’s Evolution</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2023: Copilot begins as an assistant inside Word, Excel, PowerPoint, Outlook, and Teams; Business Chat connects information across applications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2024: Copilot Pages introduces persistent, shared workspaces; agents extend Copilot into business workflows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2025: Copilot Chat broadens access to specialized agents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September 2026: </a:t>
            </a:r>
            <a:r>
              <a:rPr lang="en" sz="1200" b="1">
                <a:solidFill>
                  <a:srgbClr val="FF0000"/>
                </a:solidFill>
                <a:latin typeface="Calibri"/>
                <a:ea typeface="Calibri"/>
                <a:cs typeface="Calibri"/>
                <a:sym typeface="Calibri"/>
              </a:rPr>
              <a:t>Home</a:t>
            </a:r>
            <a:r>
              <a:rPr lang="en" sz="1200">
                <a:latin typeface="Calibri"/>
                <a:ea typeface="Calibri"/>
                <a:cs typeface="Calibri"/>
                <a:sym typeface="Calibri"/>
              </a:rPr>
              <a:t> brings applications into Copilot; </a:t>
            </a:r>
            <a:r>
              <a:rPr lang="en" sz="1200" b="1">
                <a:solidFill>
                  <a:srgbClr val="FF0000"/>
                </a:solidFill>
                <a:latin typeface="Calibri"/>
                <a:ea typeface="Calibri"/>
                <a:cs typeface="Calibri"/>
                <a:sym typeface="Calibri"/>
              </a:rPr>
              <a:t>Code</a:t>
            </a:r>
            <a:r>
              <a:rPr lang="en" sz="1200">
                <a:latin typeface="Calibri"/>
                <a:ea typeface="Calibri"/>
                <a:cs typeface="Calibri"/>
                <a:sym typeface="Calibri"/>
              </a:rPr>
              <a:t> builds custom software, while </a:t>
            </a:r>
            <a:r>
              <a:rPr lang="en" sz="1200" b="1">
                <a:solidFill>
                  <a:srgbClr val="FF0000"/>
                </a:solidFill>
                <a:latin typeface="Calibri"/>
                <a:ea typeface="Calibri"/>
                <a:cs typeface="Calibri"/>
                <a:sym typeface="Calibri"/>
              </a:rPr>
              <a:t>Autopilot</a:t>
            </a:r>
            <a:r>
              <a:rPr lang="en" sz="1200">
                <a:latin typeface="Calibri"/>
                <a:ea typeface="Calibri"/>
                <a:cs typeface="Calibri"/>
                <a:sym typeface="Calibri"/>
              </a:rPr>
              <a:t> handles ongoing delegated work.</a:t>
            </a:r>
            <a:br>
              <a:rPr lang="en" sz="1200">
                <a:latin typeface="Calibri"/>
                <a:ea typeface="Calibri"/>
                <a:cs typeface="Calibri"/>
                <a:sym typeface="Calibri"/>
              </a:rPr>
            </a:br>
            <a:r>
              <a:rPr lang="en" sz="1200">
                <a:latin typeface="Calibri"/>
                <a:ea typeface="Calibri"/>
                <a:cs typeface="Calibri"/>
                <a:sym typeface="Calibri"/>
              </a:rPr>
              <a:t>The direction reverses: </a:t>
            </a:r>
            <a:r>
              <a:rPr lang="en" sz="1200" b="1">
                <a:solidFill>
                  <a:srgbClr val="FF0000"/>
                </a:solidFill>
                <a:latin typeface="Calibri"/>
                <a:ea typeface="Calibri"/>
                <a:cs typeface="Calibri"/>
                <a:sym typeface="Calibri"/>
              </a:rPr>
              <a:t>instead of Copilot living inside apps, apps become capabilities inside Copilot</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b="1">
                <a:solidFill>
                  <a:srgbClr val="3C78D8"/>
                </a:solidFill>
                <a:latin typeface="Calibri"/>
                <a:ea typeface="Calibri"/>
                <a:cs typeface="Calibri"/>
                <a:sym typeface="Calibri"/>
              </a:rPr>
              <a:t>“Operating system for work”</a:t>
            </a:r>
            <a:r>
              <a:rPr lang="en" sz="1200">
                <a:latin typeface="Calibri"/>
                <a:ea typeface="Calibri"/>
                <a:cs typeface="Calibri"/>
                <a:sym typeface="Calibri"/>
              </a:rPr>
              <a:t> , rollout remains staged</a:t>
            </a:r>
            <a:endParaRPr sz="1200">
              <a:latin typeface="Calibri"/>
              <a:ea typeface="Calibri"/>
              <a:cs typeface="Calibri"/>
              <a:sym typeface="Calibri"/>
            </a:endParaRPr>
          </a:p>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From Windows OS to Copilot OS ?</a:t>
            </a:r>
            <a:endParaRPr sz="1200" b="1">
              <a:solidFill>
                <a:srgbClr val="FF0000"/>
              </a:solidFill>
              <a:latin typeface="Calibri"/>
              <a:ea typeface="Calibri"/>
              <a:cs typeface="Calibri"/>
              <a:sym typeface="Calibri"/>
            </a:endParaRPr>
          </a:p>
        </p:txBody>
      </p:sp>
      <p:pic>
        <p:nvPicPr>
          <p:cNvPr id="88" name="Google Shape;88;p16"/>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734050" y="516613"/>
            <a:ext cx="3425982" cy="2569487"/>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7"/>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94" name="Google Shape;94;p17"/>
          <p:cNvSpPr txBox="1"/>
          <p:nvPr/>
        </p:nvSpPr>
        <p:spPr>
          <a:xfrm>
            <a:off x="36575" y="344662"/>
            <a:ext cx="54411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Building Better Through Constraints</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David Heinemeier Hansson, 37signals co-owner and Basecamp creator, in a long-form interview</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argues that software improves when teams deliberately </a:t>
            </a:r>
            <a:r>
              <a:rPr lang="en" sz="1200" b="1">
                <a:solidFill>
                  <a:srgbClr val="FF0000"/>
                </a:solidFill>
                <a:latin typeface="Calibri"/>
                <a:ea typeface="Calibri"/>
                <a:cs typeface="Calibri"/>
                <a:sym typeface="Calibri"/>
              </a:rPr>
              <a:t>limit features, resources, and interruptions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discussion covers Basecamp’s 2004 launch, current AI-assisted development, and his work on the Omarchy Linux distribution</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Problem: abundant resources and large teams can encourage bloated products, forced upgrades, and needless complexity</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Solution: </a:t>
            </a:r>
            <a:r>
              <a:rPr lang="en" sz="1200" b="1">
                <a:solidFill>
                  <a:srgbClr val="3C78D8"/>
                </a:solidFill>
                <a:latin typeface="Calibri"/>
                <a:ea typeface="Calibri"/>
                <a:cs typeface="Calibri"/>
                <a:sym typeface="Calibri"/>
              </a:rPr>
              <a:t>Preserve constraints, keep proven software stable, build for real jobs</a:t>
            </a:r>
            <a:r>
              <a:rPr lang="en" sz="1200">
                <a:solidFill>
                  <a:schemeClr val="dk1"/>
                </a:solidFill>
                <a:latin typeface="Calibri"/>
                <a:ea typeface="Calibri"/>
                <a:cs typeface="Calibri"/>
                <a:sym typeface="Calibri"/>
              </a:rPr>
              <a:t>, and favor </a:t>
            </a:r>
            <a:r>
              <a:rPr lang="en" sz="1200" b="1">
                <a:solidFill>
                  <a:srgbClr val="FF0000"/>
                </a:solidFill>
                <a:latin typeface="Calibri"/>
                <a:ea typeface="Calibri"/>
                <a:cs typeface="Calibri"/>
                <a:sym typeface="Calibri"/>
              </a:rPr>
              <a:t>focused small teams</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Achievement: </a:t>
            </a:r>
            <a:r>
              <a:rPr lang="en" sz="1200" b="1">
                <a:solidFill>
                  <a:srgbClr val="3C78D8"/>
                </a:solidFill>
                <a:latin typeface="Calibri"/>
                <a:ea typeface="Calibri"/>
                <a:cs typeface="Calibri"/>
                <a:sym typeface="Calibri"/>
              </a:rPr>
              <a:t>Basecamp was initially built in 380 hours </a:t>
            </a:r>
            <a:r>
              <a:rPr lang="en" sz="1200">
                <a:solidFill>
                  <a:schemeClr val="dk1"/>
                </a:solidFill>
                <a:latin typeface="Calibri"/>
                <a:ea typeface="Calibri"/>
                <a:cs typeface="Calibri"/>
                <a:sym typeface="Calibri"/>
              </a:rPr>
              <a:t>and still supports profitable legacy versions for longtime customers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Key lesson: Use AI to sharpen judgment - not merely to produce more code.</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https://www.youtube.com/watch?v=76rR68ktQvo</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https://basecamp.com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https://37signals.com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https://omarchy.us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95" name="Google Shape;95;p17"/>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630075" y="152400"/>
            <a:ext cx="2341200" cy="20485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101" name="Google Shape;101;p18"/>
          <p:cNvSpPr txBox="1"/>
          <p:nvPr/>
        </p:nvSpPr>
        <p:spPr>
          <a:xfrm>
            <a:off x="36575" y="344662"/>
            <a:ext cx="5441100" cy="2835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Agents Build a Complex App Feature</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creator of Enjoy, an AI-agent app, describes using </a:t>
            </a:r>
            <a:r>
              <a:rPr lang="en" sz="1200" b="1">
                <a:solidFill>
                  <a:srgbClr val="FF0000"/>
                </a:solidFill>
                <a:latin typeface="Calibri"/>
                <a:ea typeface="Calibri"/>
                <a:cs typeface="Calibri"/>
                <a:sym typeface="Calibri"/>
              </a:rPr>
              <a:t>Claude Opus 5.5 in Ultra Code</a:t>
            </a:r>
            <a:r>
              <a:rPr lang="en" sz="1200">
                <a:solidFill>
                  <a:schemeClr val="dk1"/>
                </a:solidFill>
                <a:latin typeface="Calibri"/>
                <a:ea typeface="Calibri"/>
                <a:cs typeface="Calibri"/>
                <a:sym typeface="Calibri"/>
              </a:rPr>
              <a:t> to implement a 2,700-line specification for team collaboration.</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project involved redesigning the app for multiple users and coordinating phones, browsers, desktop clients, a relay server, and encrypted traffic.</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creator says the agent worked for about seven hours, using dozens of implementation and review agents, with tests and CI checks.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reports that the feature matched the specification and worked well, contrasting it with earlier agents that failed on smaller tasks and left codebases broken.</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His proposed shift is </a:t>
            </a:r>
            <a:r>
              <a:rPr lang="en" sz="1200" b="1">
                <a:solidFill>
                  <a:srgbClr val="FF0000"/>
                </a:solidFill>
                <a:latin typeface="Calibri"/>
                <a:ea typeface="Calibri"/>
                <a:cs typeface="Calibri"/>
                <a:sym typeface="Calibri"/>
              </a:rPr>
              <a:t>from manually reviewing every line to evolutionary coding</a:t>
            </a:r>
            <a:r>
              <a:rPr lang="en" sz="1200">
                <a:solidFill>
                  <a:schemeClr val="dk1"/>
                </a:solidFill>
                <a:latin typeface="Calibri"/>
                <a:ea typeface="Calibri"/>
                <a:cs typeface="Calibri"/>
                <a:sym typeface="Calibri"/>
              </a:rPr>
              <a:t>: </a:t>
            </a:r>
            <a:r>
              <a:rPr lang="en" sz="1200" b="1">
                <a:solidFill>
                  <a:srgbClr val="FF0000"/>
                </a:solidFill>
                <a:latin typeface="Calibri"/>
                <a:ea typeface="Calibri"/>
                <a:cs typeface="Calibri"/>
                <a:sym typeface="Calibri"/>
              </a:rPr>
              <a:t>automated tests, adversarial agent reviews, and production results guide iteration</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achievement suggests AI may shorten complex development and change engineering practice.</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https://www.anthropic.com/claude-opus-5-5</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https://platform.claude.com/docs/en/models/opus-5-5/overview</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https://www.youtube.com/watch?v=2zLuYU_Ub_0</a:t>
            </a:r>
            <a:endParaRPr sz="900">
              <a:solidFill>
                <a:schemeClr val="dk1"/>
              </a:solidFill>
              <a:latin typeface="Calibri"/>
              <a:ea typeface="Calibri"/>
              <a:cs typeface="Calibri"/>
              <a:sym typeface="Calibri"/>
            </a:endParaRPr>
          </a:p>
        </p:txBody>
      </p:sp>
      <p:pic>
        <p:nvPicPr>
          <p:cNvPr id="102" name="Google Shape;102;p1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603500" y="354796"/>
            <a:ext cx="2296475" cy="21438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9"/>
          <p:cNvSpPr txBox="1"/>
          <p:nvPr/>
        </p:nvSpPr>
        <p:spPr>
          <a:xfrm>
            <a:off x="36574" y="-27425"/>
            <a:ext cx="34305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Claude Code JavaScript Videos</a:t>
            </a:r>
            <a:endParaRPr sz="2000" b="1">
              <a:latin typeface="Calibri"/>
              <a:ea typeface="Calibri"/>
              <a:cs typeface="Calibri"/>
              <a:sym typeface="Calibri"/>
            </a:endParaRPr>
          </a:p>
        </p:txBody>
      </p:sp>
      <p:sp>
        <p:nvSpPr>
          <p:cNvPr id="108" name="Google Shape;108;p19"/>
          <p:cNvSpPr txBox="1"/>
          <p:nvPr/>
        </p:nvSpPr>
        <p:spPr>
          <a:xfrm>
            <a:off x="36575" y="344662"/>
            <a:ext cx="5441100" cy="3189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Code JavaScript Videos</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Chase AI demonstrates creating explainers, product demos, and motion graphics with Claude Code and JavaScript, without Remotion or After Effects</a:t>
            </a:r>
            <a:endParaRPr sz="1200">
              <a:solidFill>
                <a:schemeClr val="dk1"/>
              </a:solidFill>
              <a:latin typeface="Calibri"/>
              <a:ea typeface="Calibri"/>
              <a:cs typeface="Calibri"/>
              <a:sym typeface="Calibri"/>
            </a:endParaRPr>
          </a:p>
          <a:p>
            <a:pPr marL="45720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JavaScript defines each frame as a function of time</a:t>
            </a:r>
            <a:endParaRPr sz="1200" b="1">
              <a:solidFill>
                <a:srgbClr val="3C78D8"/>
              </a:solidFill>
              <a:latin typeface="Calibri"/>
              <a:ea typeface="Calibri"/>
              <a:cs typeface="Calibri"/>
              <a:sym typeface="Calibri"/>
            </a:endParaRPr>
          </a:p>
          <a:p>
            <a:pPr marL="45720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Playwright renders frames</a:t>
            </a:r>
            <a:endParaRPr sz="1200" b="1">
              <a:solidFill>
                <a:srgbClr val="3C78D8"/>
              </a:solidFill>
              <a:latin typeface="Calibri"/>
              <a:ea typeface="Calibri"/>
              <a:cs typeface="Calibri"/>
              <a:sym typeface="Calibri"/>
            </a:endParaRPr>
          </a:p>
          <a:p>
            <a:pPr marL="45720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Human approves</a:t>
            </a:r>
            <a:endParaRPr sz="1200" b="1">
              <a:solidFill>
                <a:srgbClr val="3C78D8"/>
              </a:solidFill>
              <a:latin typeface="Calibri"/>
              <a:ea typeface="Calibri"/>
              <a:cs typeface="Calibri"/>
              <a:sym typeface="Calibri"/>
            </a:endParaRPr>
          </a:p>
          <a:p>
            <a:pPr marL="45720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FFmpeg assembles the MP4</a:t>
            </a:r>
            <a:endParaRPr sz="1200" b="1">
              <a:solidFill>
                <a:srgbClr val="3C78D8"/>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workflow runs locally</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Prompts specify duration, aspect ratio, style, and audio;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reference images or videos guide composition</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reusable skill automates intake, storyboarding, coding, checks, and delivery</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achievement is reproducible, editable animation without dedicated video generators</a:t>
            </a:r>
            <a:endParaRPr sz="1200">
              <a:solidFill>
                <a:schemeClr val="dk1"/>
              </a:solidFill>
              <a:latin typeface="Calibri"/>
              <a:ea typeface="Calibri"/>
              <a:cs typeface="Calibri"/>
              <a:sym typeface="Calibri"/>
            </a:endParaRPr>
          </a:p>
          <a:p>
            <a:pPr marL="171450" lvl="0" indent="-120650" algn="l" rtl="0">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3"/>
              </a:rPr>
              <a:t>https://code.claude.com</a:t>
            </a:r>
            <a:endParaRPr sz="1000">
              <a:solidFill>
                <a:schemeClr val="dk1"/>
              </a:solidFill>
              <a:latin typeface="Calibri"/>
              <a:ea typeface="Calibri"/>
              <a:cs typeface="Calibri"/>
              <a:sym typeface="Calibri"/>
            </a:endParaRPr>
          </a:p>
          <a:p>
            <a:pPr marL="171450" lvl="0" indent="-120650" algn="l" rtl="0">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4"/>
              </a:rPr>
              <a:t>https://playwright.dev</a:t>
            </a:r>
            <a:endParaRPr sz="1000">
              <a:solidFill>
                <a:schemeClr val="dk1"/>
              </a:solidFill>
              <a:latin typeface="Calibri"/>
              <a:ea typeface="Calibri"/>
              <a:cs typeface="Calibri"/>
              <a:sym typeface="Calibri"/>
            </a:endParaRPr>
          </a:p>
          <a:p>
            <a:pPr marL="171450" lvl="0" indent="-120650" algn="l" rtl="0">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5"/>
              </a:rPr>
              <a:t>https://ffmpeg.org</a:t>
            </a:r>
            <a:endParaRPr sz="1000">
              <a:solidFill>
                <a:schemeClr val="dk1"/>
              </a:solidFill>
              <a:latin typeface="Calibri"/>
              <a:ea typeface="Calibri"/>
              <a:cs typeface="Calibri"/>
              <a:sym typeface="Calibri"/>
            </a:endParaRPr>
          </a:p>
          <a:p>
            <a:pPr marL="171450" lvl="0" indent="-120650" algn="l" rtl="0">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6"/>
              </a:rPr>
              <a:t>https://elevenlabs.io</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lvl="0" indent="-120650" algn="l" rtl="0">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7"/>
              </a:rPr>
              <a:t>https://www.youtube.com/watch?v=rscb1DgJtNg</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109" name="Google Shape;109;p19"/>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667375" y="678025"/>
            <a:ext cx="2720100" cy="17413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0"/>
          <p:cNvSpPr txBox="1"/>
          <p:nvPr/>
        </p:nvSpPr>
        <p:spPr>
          <a:xfrm>
            <a:off x="36575" y="-27425"/>
            <a:ext cx="42879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DeepSeek Harness: Evolving Agents</a:t>
            </a:r>
            <a:endParaRPr sz="2000" b="1">
              <a:latin typeface="Calibri"/>
              <a:ea typeface="Calibri"/>
              <a:cs typeface="Calibri"/>
              <a:sym typeface="Calibri"/>
            </a:endParaRPr>
          </a:p>
        </p:txBody>
      </p:sp>
      <p:sp>
        <p:nvSpPr>
          <p:cNvPr id="115" name="Google Shape;115;p20"/>
          <p:cNvSpPr txBox="1"/>
          <p:nvPr/>
        </p:nvSpPr>
        <p:spPr>
          <a:xfrm>
            <a:off x="36575" y="344650"/>
            <a:ext cx="4287900" cy="3020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DeepSeek Harness: Evolving Agents</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DeepSeek AI released its open-source agent harness in August. Github repo now has 245K stars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A locally hosted runtime with a browser interface, terminal access, coding tools, web search, planning, and subagents</a:t>
            </a:r>
            <a:endParaRPr sz="1200" b="1">
              <a:solidFill>
                <a:srgbClr val="3C78D8"/>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Cordis-based architecture makes models, tools, memory, execution loops, and interfaces replaceable plugins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Self-improvement: Creator mode enables runtime plugin changes; a separate community plugin adds persistent memory, evolving user profiles, and reusable skills - not automatic model retraining</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Developers can build adaptable agents without rewriting the core framework. This is extensible agent infrastructure, not proof of autonomous intelligence improvement</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https://www.deepseek.com/harness/en/</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https://github.com/deepseek-ai/deepseek-harness</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https://github.com/madage/dsh-self-improved</a:t>
            </a:r>
            <a:endParaRPr sz="900">
              <a:solidFill>
                <a:schemeClr val="dk1"/>
              </a:solidFill>
              <a:latin typeface="Calibri"/>
              <a:ea typeface="Calibri"/>
              <a:cs typeface="Calibri"/>
              <a:sym typeface="Calibri"/>
            </a:endParaRPr>
          </a:p>
        </p:txBody>
      </p:sp>
      <p:pic>
        <p:nvPicPr>
          <p:cNvPr id="116" name="Google Shape;116;p2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476875" y="152400"/>
            <a:ext cx="4514726" cy="434880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1"/>
          <p:cNvSpPr txBox="1"/>
          <p:nvPr/>
        </p:nvSpPr>
        <p:spPr>
          <a:xfrm>
            <a:off x="36576" y="-27432"/>
            <a:ext cx="3517200" cy="384000"/>
          </a:xfrm>
          <a:prstGeom prst="rect">
            <a:avLst/>
          </a:prstGeom>
          <a:noFill/>
          <a:ln>
            <a:noFill/>
          </a:ln>
        </p:spPr>
        <p:txBody>
          <a:bodyPr spcFirstLastPara="1" wrap="square" lIns="9125" tIns="9125" rIns="9125" bIns="9125" anchor="t" anchorCtr="0">
            <a:noAutofit/>
          </a:bodyPr>
          <a:lstStyle/>
          <a:p>
            <a:pPr marL="0" lvl="0" indent="0" algn="l" rtl="0">
              <a:spcBef>
                <a:spcPts val="0"/>
              </a:spcBef>
              <a:spcAft>
                <a:spcPts val="0"/>
              </a:spcAft>
              <a:buNone/>
            </a:pPr>
            <a:r>
              <a:rPr lang="en" sz="2000" b="1">
                <a:latin typeface="Calibri"/>
                <a:ea typeface="Calibri"/>
                <a:cs typeface="Calibri"/>
                <a:sym typeface="Calibri"/>
              </a:rPr>
              <a:t>Weekly videos every Friday</a:t>
            </a:r>
            <a:endParaRPr sz="2000" b="1">
              <a:latin typeface="Calibri"/>
              <a:ea typeface="Calibri"/>
              <a:cs typeface="Calibri"/>
              <a:sym typeface="Calibri"/>
            </a:endParaRPr>
          </a:p>
        </p:txBody>
      </p:sp>
      <p:pic>
        <p:nvPicPr>
          <p:cNvPr id="122" name="Google Shape;122;p21" descr="auto: youtube-videos"/>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349500" y="820188"/>
            <a:ext cx="2461825" cy="3029939"/>
          </a:xfrm>
          <a:prstGeom prst="rect">
            <a:avLst/>
          </a:prstGeom>
          <a:noFill/>
          <a:ln w="9525" cap="flat" cmpd="sng">
            <a:solidFill>
              <a:srgbClr val="FF0000"/>
            </a:solidFill>
            <a:prstDash val="solid"/>
            <a:round/>
            <a:headEnd type="none" w="sm" len="sm"/>
            <a:tailEnd type="none" w="sm" len="sm"/>
          </a:ln>
        </p:spPr>
      </p:pic>
      <p:pic>
        <p:nvPicPr>
          <p:cNvPr id="123" name="Google Shape;123;p21" descr="auto: youtube-shorts"/>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907179" y="2700257"/>
            <a:ext cx="2139718" cy="2243351"/>
          </a:xfrm>
          <a:prstGeom prst="rect">
            <a:avLst/>
          </a:prstGeom>
          <a:noFill/>
          <a:ln w="9525" cap="flat" cmpd="sng">
            <a:solidFill>
              <a:srgbClr val="FF0000"/>
            </a:solidFill>
            <a:prstDash val="solid"/>
            <a:round/>
            <a:headEnd type="none" w="sm" len="sm"/>
            <a:tailEnd type="none" w="sm" len="sm"/>
          </a:ln>
        </p:spPr>
      </p:pic>
      <p:sp>
        <p:nvSpPr>
          <p:cNvPr id="124" name="Google Shape;124;p21"/>
          <p:cNvSpPr txBox="1"/>
          <p:nvPr/>
        </p:nvSpPr>
        <p:spPr>
          <a:xfrm>
            <a:off x="102375" y="725485"/>
            <a:ext cx="4161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500"/>
              <a:buFont typeface="Arial"/>
              <a:buNone/>
            </a:pPr>
            <a:r>
              <a:rPr lang="en" sz="2200">
                <a:solidFill>
                  <a:srgbClr val="000000"/>
                </a:solidFill>
                <a:latin typeface="Calibri"/>
                <a:ea typeface="Calibri"/>
                <a:cs typeface="Calibri"/>
                <a:sym typeface="Calibri"/>
              </a:rPr>
              <a:t>Weekly videos every Friday</a:t>
            </a:r>
            <a:endParaRPr sz="2200">
              <a:solidFill>
                <a:srgbClr val="000000"/>
              </a:solidFill>
              <a:latin typeface="Calibri"/>
              <a:ea typeface="Calibri"/>
              <a:cs typeface="Calibri"/>
              <a:sym typeface="Calibri"/>
            </a:endParaRPr>
          </a:p>
          <a:p>
            <a:pPr marL="0" lvl="0" indent="0" algn="l" rtl="0">
              <a:spcBef>
                <a:spcPts val="0"/>
              </a:spcBef>
              <a:spcAft>
                <a:spcPts val="0"/>
              </a:spcAft>
              <a:buClr>
                <a:srgbClr val="000000"/>
              </a:buClr>
              <a:buSzPts val="2500"/>
              <a:buFont typeface="Arial"/>
              <a:buNone/>
            </a:pPr>
            <a:r>
              <a:rPr lang="en" sz="2200">
                <a:latin typeface="Calibri"/>
                <a:ea typeface="Calibri"/>
                <a:cs typeface="Calibri"/>
                <a:sym typeface="Calibri"/>
              </a:rPr>
              <a:t>7.58K subscribers, 352 videos</a:t>
            </a:r>
            <a:endParaRPr sz="220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500"/>
              <a:buFont typeface="Arial"/>
              <a:buNone/>
            </a:pPr>
            <a:endParaRPr sz="2200">
              <a:solidFill>
                <a:srgbClr val="000000"/>
              </a:solidFill>
              <a:latin typeface="Calibri"/>
              <a:ea typeface="Calibri"/>
              <a:cs typeface="Calibri"/>
              <a:sym typeface="Calibri"/>
            </a:endParaRPr>
          </a:p>
          <a:p>
            <a:pPr marL="0" lvl="0" indent="0" algn="l" rtl="0">
              <a:spcBef>
                <a:spcPts val="0"/>
              </a:spcBef>
              <a:spcAft>
                <a:spcPts val="0"/>
              </a:spcAft>
              <a:buClr>
                <a:srgbClr val="000000"/>
              </a:buClr>
              <a:buSzPts val="2500"/>
              <a:buFont typeface="Arial"/>
              <a:buNone/>
            </a:pPr>
            <a:r>
              <a:rPr lang="en" sz="2200">
                <a:solidFill>
                  <a:srgbClr val="000000"/>
                </a:solidFill>
                <a:latin typeface="Calibri"/>
                <a:ea typeface="Calibri"/>
                <a:cs typeface="Calibri"/>
                <a:sym typeface="Calibri"/>
              </a:rPr>
              <a:t>1. Subscribe to this channel </a:t>
            </a:r>
            <a:r>
              <a:rPr lang="en" sz="1800" b="1" u="sng">
                <a:solidFill>
                  <a:srgbClr val="0097A7"/>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https://www.youtube.com/@lev-selector</a:t>
            </a:r>
            <a:r>
              <a:rPr lang="en" sz="1800" b="1">
                <a:solidFill>
                  <a:srgbClr val="000000"/>
                </a:solidFill>
                <a:latin typeface="Calibri"/>
                <a:ea typeface="Calibri"/>
                <a:cs typeface="Calibri"/>
                <a:sym typeface="Calibri"/>
              </a:rPr>
              <a:t> </a:t>
            </a:r>
            <a:endParaRPr sz="1800" b="1">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500"/>
              <a:buFont typeface="Arial"/>
              <a:buNone/>
            </a:pPr>
            <a:endParaRPr sz="220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500"/>
              <a:buFont typeface="Arial"/>
              <a:buNone/>
            </a:pPr>
            <a:r>
              <a:rPr lang="en" sz="2200">
                <a:solidFill>
                  <a:srgbClr val="000000"/>
                </a:solidFill>
                <a:latin typeface="Calibri"/>
                <a:ea typeface="Calibri"/>
                <a:cs typeface="Calibri"/>
                <a:sym typeface="Calibri"/>
              </a:rPr>
              <a:t>2. Download slides from GitHub using links under the videos</a:t>
            </a:r>
            <a:endParaRPr sz="2200">
              <a:solidFill>
                <a:srgbClr val="000000"/>
              </a:solidFill>
              <a:latin typeface="Calibri"/>
              <a:ea typeface="Calibri"/>
              <a:cs typeface="Calibri"/>
              <a:sym typeface="Calibri"/>
            </a:endParaRPr>
          </a:p>
          <a:p>
            <a:pPr marL="0" lvl="0" indent="0" algn="l" rtl="0">
              <a:spcBef>
                <a:spcPts val="0"/>
              </a:spcBef>
              <a:spcAft>
                <a:spcPts val="0"/>
              </a:spcAft>
              <a:buClr>
                <a:srgbClr val="000000"/>
              </a:buClr>
              <a:buSzPts val="2500"/>
              <a:buFont typeface="Arial"/>
              <a:buNone/>
            </a:pPr>
            <a:endParaRPr sz="2200">
              <a:solidFill>
                <a:srgbClr val="000000"/>
              </a:solidFill>
              <a:latin typeface="Calibri"/>
              <a:ea typeface="Calibri"/>
              <a:cs typeface="Calibri"/>
              <a:sym typeface="Calibri"/>
            </a:endParaRPr>
          </a:p>
          <a:p>
            <a:pPr marL="0" lvl="0" indent="0" algn="l" rtl="0">
              <a:spcBef>
                <a:spcPts val="0"/>
              </a:spcBef>
              <a:spcAft>
                <a:spcPts val="0"/>
              </a:spcAft>
              <a:buClr>
                <a:srgbClr val="000000"/>
              </a:buClr>
              <a:buSzPts val="2500"/>
              <a:buFont typeface="Arial"/>
              <a:buNone/>
            </a:pPr>
            <a:r>
              <a:rPr lang="en" sz="2200" b="1">
                <a:solidFill>
                  <a:srgbClr val="FF0000"/>
                </a:solidFill>
                <a:latin typeface="Calibri"/>
                <a:ea typeface="Calibri"/>
                <a:cs typeface="Calibri"/>
                <a:sym typeface="Calibri"/>
              </a:rPr>
              <a:t>3. 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2"/>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130" name="Google Shape;130;p22"/>
          <p:cNvSpPr txBox="1"/>
          <p:nvPr/>
        </p:nvSpPr>
        <p:spPr>
          <a:xfrm>
            <a:off x="121300" y="298975"/>
            <a:ext cx="4379400" cy="3804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Kent Beck on Craft and AI-Assisted Development</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Kent Beck is known for his book Extreme Programming (XP, 1999) - Agile approach to building software - deliver small improvements often, get feedback quickly, and adapt rather than trying to plan everything up front</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https://en.wikipedia.org/wiki/Extreme_Programming</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https://extremeprogrammingalliance.com/about-extreme-programming-xp/</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Common XP practices include: Test-driven development (TDD), Pair programming, Continuous integration, Small releases and regular customer feedback, Refactoring: improve the code’s structure</a:t>
            </a:r>
            <a:br>
              <a:rPr lang="en" sz="9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5"/>
              </a:rPr>
              <a:t>https://www.agile-academy.com/en/agile-dictionary/extreme-programming/</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Kent Beck warns that AI-generated code may be broken; developers must verify behavior rather than trust appearances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His solution: work iteratively, test continuously, and alternate shipping features with refactoring that preserves future choices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balance enables learning and keeps software adaptable, instead of rapidly accumulating complexity until change becomes dangerous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Beck argues that code volume do not prove progress</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https://www.youtube.com/watch?v=aSXaxOdVtAQ</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https://kentbeck.com</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8"/>
              </a:rPr>
              <a:t>https://newsletter.pragmaticengineer.com/p/how-kent-beck-shapes-the-software</a:t>
            </a:r>
            <a:endParaRPr sz="900">
              <a:solidFill>
                <a:schemeClr val="dk1"/>
              </a:solidFill>
              <a:latin typeface="Calibri"/>
              <a:ea typeface="Calibri"/>
              <a:cs typeface="Calibri"/>
              <a:sym typeface="Calibri"/>
            </a:endParaRPr>
          </a:p>
        </p:txBody>
      </p:sp>
      <p:pic>
        <p:nvPicPr>
          <p:cNvPr id="131" name="Google Shape;131;p22"/>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5278286" y="1501001"/>
            <a:ext cx="926689" cy="1228650"/>
          </a:xfrm>
          <a:prstGeom prst="rect">
            <a:avLst/>
          </a:prstGeom>
          <a:noFill/>
          <a:ln w="9525" cap="flat" cmpd="sng">
            <a:solidFill>
              <a:srgbClr val="FF0000"/>
            </a:solidFill>
            <a:prstDash val="solid"/>
            <a:round/>
            <a:headEnd type="none" w="sm" len="sm"/>
            <a:tailEnd type="none" w="sm" len="sm"/>
          </a:ln>
        </p:spPr>
      </p:pic>
      <p:pic>
        <p:nvPicPr>
          <p:cNvPr id="132" name="Google Shape;132;p22"/>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6308900" y="1501000"/>
            <a:ext cx="1255950" cy="122864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3"/>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138" name="Google Shape;138;p23"/>
          <p:cNvSpPr txBox="1"/>
          <p:nvPr/>
        </p:nvSpPr>
        <p:spPr>
          <a:xfrm>
            <a:off x="121491" y="405316"/>
            <a:ext cx="5441100" cy="121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Manus 2.0 and Cue</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Agent app - web, desktop, and mobile</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Manus’s Cascade harness, Studio, and cloud computers let agents handle projects, edit videos, build games, run automations, and work remotely</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Cue gives each agent an email, phone number, wallet, and computer</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https://manus.im/blog/introducing-manus-2-0</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https://www.youtube.com/watch?v=L75zF2WKiVE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139" name="Google Shape;139;p23"/>
          <p:cNvSpPr txBox="1"/>
          <p:nvPr/>
        </p:nvSpPr>
        <p:spPr>
          <a:xfrm>
            <a:off x="97229" y="1809677"/>
            <a:ext cx="5010000" cy="3204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14300" algn="l" rtl="0">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Research - AI Improves Its Own Design</a:t>
            </a:r>
            <a:endParaRPr sz="1200" b="1">
              <a:solidFill>
                <a:srgbClr val="FF0000"/>
              </a:solidFill>
              <a:latin typeface="Calibri"/>
              <a:ea typeface="Calibri"/>
              <a:cs typeface="Calibri"/>
              <a:sym typeface="Calibri"/>
            </a:endParaRPr>
          </a:p>
          <a:p>
            <a:pPr marL="171450" lvl="0" indent="-114300" algn="l" rtl="0">
              <a:spcBef>
                <a:spcPts val="0"/>
              </a:spcBef>
              <a:spcAft>
                <a:spcPts val="0"/>
              </a:spcAft>
              <a:buClr>
                <a:srgbClr val="3C78D8"/>
              </a:buClr>
              <a:buSzPts val="900"/>
              <a:buFont typeface="Calibri"/>
              <a:buChar char="●"/>
            </a:pPr>
            <a:r>
              <a:rPr lang="en" sz="1200" b="1">
                <a:solidFill>
                  <a:srgbClr val="3C78D8"/>
                </a:solidFill>
                <a:latin typeface="Calibri"/>
                <a:ea typeface="Calibri"/>
                <a:cs typeface="Calibri"/>
                <a:sym typeface="Calibri"/>
              </a:rPr>
              <a:t>Weco’s AIDE² experiment - "autoresearch on autoresearch"</a:t>
            </a:r>
            <a:endParaRPr sz="1200" b="1">
              <a:solidFill>
                <a:srgbClr val="3C78D8"/>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Used two nested AI-agent loops.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The inner agent tried to improve solutions to research and engineering tasks;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the outer agent repeatedly rewrote the inner agent’s harness code, evaluated the rewrite under a fixed cost budget, and kept it only if it improved on a hidden score</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The system changed the agent’s scaffolding, not the underlying model weights</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Over eight days, the system ran 100 rounds, proposing and testing changes; seven upgrades survived hidden evaluations</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Its best version, </a:t>
            </a:r>
            <a:r>
              <a:rPr lang="en" sz="1200" b="1">
                <a:solidFill>
                  <a:srgbClr val="FF0000"/>
                </a:solidFill>
                <a:latin typeface="Calibri"/>
                <a:ea typeface="Calibri"/>
                <a:cs typeface="Calibri"/>
                <a:sym typeface="Calibri"/>
              </a:rPr>
              <a:t>AIDE85, outperformed Weco’s two-year, hand-tuned baseline </a:t>
            </a:r>
            <a:r>
              <a:rPr lang="en" sz="1200">
                <a:solidFill>
                  <a:schemeClr val="dk1"/>
                </a:solidFill>
                <a:latin typeface="Calibri"/>
                <a:ea typeface="Calibri"/>
                <a:cs typeface="Calibri"/>
                <a:sym typeface="Calibri"/>
              </a:rPr>
              <a:t>on held-out benchmarks under a fixed budget.</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The result offers public evidence for level-one recursive self-improvement: </a:t>
            </a:r>
            <a:br>
              <a:rPr lang="en" sz="1200">
                <a:solidFill>
                  <a:schemeClr val="dk1"/>
                </a:solidFill>
                <a:latin typeface="Calibri"/>
                <a:ea typeface="Calibri"/>
                <a:cs typeface="Calibri"/>
                <a:sym typeface="Calibri"/>
              </a:rPr>
            </a:br>
            <a:r>
              <a:rPr lang="en" sz="1200" b="1">
                <a:solidFill>
                  <a:srgbClr val="FF0000"/>
                </a:solidFill>
                <a:latin typeface="Calibri"/>
                <a:ea typeface="Calibri"/>
                <a:cs typeface="Calibri"/>
                <a:sym typeface="Calibri"/>
              </a:rPr>
              <a:t>an AI system improving faster than manual tuning</a:t>
            </a:r>
            <a:endParaRPr sz="1200" b="1">
              <a:solidFill>
                <a:srgbClr val="FF0000"/>
              </a:solidFill>
              <a:latin typeface="Calibri"/>
              <a:ea typeface="Calibri"/>
              <a:cs typeface="Calibri"/>
              <a:sym typeface="Calibri"/>
            </a:endParaRPr>
          </a:p>
          <a:p>
            <a:pPr marL="171450" lvl="0" indent="-95250" algn="l" rtl="0">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5"/>
              </a:rPr>
              <a:t>https://www.weco.ai/blog/first-evidence-of-recursive-self-improvement</a:t>
            </a:r>
            <a:endParaRPr sz="900">
              <a:solidFill>
                <a:schemeClr val="dk1"/>
              </a:solidFill>
              <a:latin typeface="Calibri"/>
              <a:ea typeface="Calibri"/>
              <a:cs typeface="Calibri"/>
              <a:sym typeface="Calibri"/>
            </a:endParaRPr>
          </a:p>
          <a:p>
            <a:pPr marL="171450" lvl="0" indent="-95250" algn="l" rtl="0">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6"/>
              </a:rPr>
              <a:t>https://arxiv.org/abs/2609.26457</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lvl="0" indent="-95250" algn="l" rtl="0">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7"/>
              </a:rPr>
              <a:t>https://openai.com/index/path-to-astra/</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140" name="Google Shape;140;p23"/>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5630075" y="152400"/>
            <a:ext cx="2997878" cy="1411150"/>
          </a:xfrm>
          <a:prstGeom prst="rect">
            <a:avLst/>
          </a:prstGeom>
          <a:noFill/>
          <a:ln w="9525" cap="flat" cmpd="sng">
            <a:solidFill>
              <a:srgbClr val="FF0000"/>
            </a:solidFill>
            <a:prstDash val="solid"/>
            <a:round/>
            <a:headEnd type="none" w="sm" len="sm"/>
            <a:tailEnd type="none" w="sm" len="sm"/>
          </a:ln>
        </p:spPr>
      </p:pic>
      <p:pic>
        <p:nvPicPr>
          <p:cNvPr id="141" name="Google Shape;141;p23"/>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5168575" y="1941650"/>
            <a:ext cx="3920876" cy="294064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4"/>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147" name="Google Shape;147;p24"/>
          <p:cNvSpPr txBox="1"/>
          <p:nvPr/>
        </p:nvSpPr>
        <p:spPr>
          <a:xfrm>
            <a:off x="91725" y="379825"/>
            <a:ext cx="3462600" cy="1957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Strata Runs 125 Bln Params Model on a Normal PC</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Developer Niko1221 published Strata on GitHub to run Qwen3.8-Flash-Next locally  -125 Bln params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45 tok/sec on RTX 5070 + 64GB RAM for 128K context</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Strata splits work across GPU, system RAM and SSD: the GPU handles shared operations and cached experts, while CPU and SSD provide additional model data</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https://github.com/Niko1221/Strata</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https://huggingface.co/collections/Qwen/Qwen3.8-Flash-Next</a:t>
            </a:r>
            <a:endParaRPr sz="900">
              <a:solidFill>
                <a:schemeClr val="dk1"/>
              </a:solidFill>
              <a:latin typeface="Calibri"/>
              <a:ea typeface="Calibri"/>
              <a:cs typeface="Calibri"/>
              <a:sym typeface="Calibri"/>
            </a:endParaRPr>
          </a:p>
        </p:txBody>
      </p:sp>
      <p:pic>
        <p:nvPicPr>
          <p:cNvPr id="148" name="Google Shape;148;p2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3658225" y="116800"/>
            <a:ext cx="5415674" cy="2906500"/>
          </a:xfrm>
          <a:prstGeom prst="rect">
            <a:avLst/>
          </a:prstGeom>
          <a:noFill/>
          <a:ln w="9525" cap="flat" cmpd="sng">
            <a:solidFill>
              <a:srgbClr val="FF0000"/>
            </a:solidFill>
            <a:prstDash val="solid"/>
            <a:round/>
            <a:headEnd type="none" w="sm" len="sm"/>
            <a:tailEnd type="none" w="sm" len="sm"/>
          </a:ln>
        </p:spPr>
      </p:pic>
      <p:sp>
        <p:nvSpPr>
          <p:cNvPr id="149" name="Google Shape;149;p24"/>
          <p:cNvSpPr txBox="1"/>
          <p:nvPr/>
        </p:nvSpPr>
        <p:spPr>
          <a:xfrm>
            <a:off x="36575" y="3197675"/>
            <a:ext cx="32898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SpaceXAI to be renamed to SpaceXSI</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Musk said SpaceXAI, SpaceX’s AI unit, would become SpaceXSI,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with “</a:t>
            </a:r>
            <a:r>
              <a:rPr lang="en" sz="1200" b="1">
                <a:solidFill>
                  <a:srgbClr val="FF0000"/>
                </a:solidFill>
                <a:latin typeface="Calibri"/>
                <a:ea typeface="Calibri"/>
                <a:cs typeface="Calibri"/>
                <a:sym typeface="Calibri"/>
              </a:rPr>
              <a:t>SI” standing for “super intelligence.”</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provided no implementation timetable</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concerns the AI unit - not renaming the entire SpaceX company.</a:t>
            </a:r>
            <a:endParaRPr sz="900">
              <a:solidFill>
                <a:schemeClr val="dk1"/>
              </a:solidFill>
              <a:latin typeface="Calibri"/>
              <a:ea typeface="Calibri"/>
              <a:cs typeface="Calibri"/>
              <a:sym typeface="Calibri"/>
            </a:endParaRPr>
          </a:p>
        </p:txBody>
      </p:sp>
      <p:pic>
        <p:nvPicPr>
          <p:cNvPr id="150" name="Google Shape;150;p2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3426125" y="3105750"/>
            <a:ext cx="2793625" cy="1864750"/>
          </a:xfrm>
          <a:prstGeom prst="rect">
            <a:avLst/>
          </a:prstGeom>
          <a:noFill/>
          <a:ln w="9525" cap="flat" cmpd="sng">
            <a:solidFill>
              <a:srgbClr val="FF0000"/>
            </a:solidFill>
            <a:prstDash val="solid"/>
            <a:round/>
            <a:headEnd type="none" w="sm" len="sm"/>
            <a:tailEnd type="none" w="sm" len="sm"/>
          </a:ln>
        </p:spPr>
      </p:pic>
      <p:pic>
        <p:nvPicPr>
          <p:cNvPr id="151" name="Google Shape;151;p24" title="XSI.jpg"/>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319498" y="3298768"/>
            <a:ext cx="2624899" cy="1478703"/>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5"/>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157" name="Google Shape;157;p25"/>
          <p:cNvSpPr txBox="1"/>
          <p:nvPr/>
        </p:nvSpPr>
        <p:spPr>
          <a:xfrm>
            <a:off x="36575" y="344650"/>
            <a:ext cx="3833100" cy="3250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HumanLayer - The Multiplayer Coding Agent Workspace</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TL;DR - AI agents can implement features quickly, but humans must retain product, architectural, and program-design control</a:t>
            </a:r>
            <a:endParaRPr sz="1200" b="1">
              <a:solidFill>
                <a:srgbClr val="3C78D8"/>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Problem: Coding factories can create unreviewed, poorly structured code, leaving teams unable to diagnose serious bugs months later</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Solution: </a:t>
            </a:r>
            <a:br>
              <a:rPr lang="en" sz="1200">
                <a:solidFill>
                  <a:schemeClr val="dk1"/>
                </a:solidFill>
                <a:latin typeface="Calibri"/>
                <a:ea typeface="Calibri"/>
                <a:cs typeface="Calibri"/>
                <a:sym typeface="Calibri"/>
              </a:rPr>
            </a:br>
            <a:r>
              <a:rPr lang="en" sz="1200" b="1">
                <a:solidFill>
                  <a:srgbClr val="3C78D8"/>
                </a:solidFill>
                <a:latin typeface="Calibri"/>
                <a:ea typeface="Calibri"/>
                <a:cs typeface="Calibri"/>
                <a:sym typeface="Calibri"/>
              </a:rPr>
              <a:t>Define measurable user outcomes, architecture, interfaces, tests, and small end-to-end vertical slices before agents generate large changes</a:t>
            </a:r>
            <a:endParaRPr sz="1200" b="1">
              <a:solidFill>
                <a:srgbClr val="3C78D8"/>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approach shifts engineers toward high-leverage design, verification, and prioritization</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Note: Benchmarks that merely pass tests do not measure maintainability; sustained human understanding and feedback remain essential</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https://humanlayer.com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https://x.com/dexhorthy</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158" name="Google Shape;158;p2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3973609" y="332521"/>
            <a:ext cx="5085474" cy="38141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6"/>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164" name="Google Shape;164;p26"/>
          <p:cNvSpPr txBox="1"/>
          <p:nvPr/>
        </p:nvSpPr>
        <p:spPr>
          <a:xfrm>
            <a:off x="85100" y="344650"/>
            <a:ext cx="5325000" cy="449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AI-Powered Video Editing Workflow</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Claude Code using Claude Opus 5.5</a:t>
            </a:r>
            <a:r>
              <a:rPr lang="en" sz="1200">
                <a:solidFill>
                  <a:srgbClr val="3C78D8"/>
                </a:solidFill>
                <a:latin typeface="Calibri"/>
                <a:ea typeface="Calibri"/>
                <a:cs typeface="Calibri"/>
                <a:sym typeface="Calibri"/>
              </a:rPr>
              <a:t> </a:t>
            </a:r>
            <a:r>
              <a:rPr lang="en" sz="1200">
                <a:solidFill>
                  <a:schemeClr val="dk1"/>
                </a:solidFill>
                <a:latin typeface="Calibri"/>
                <a:ea typeface="Calibri"/>
                <a:cs typeface="Calibri"/>
                <a:sym typeface="Calibri"/>
              </a:rPr>
              <a:t>edits footage with </a:t>
            </a:r>
            <a:r>
              <a:rPr lang="en" sz="1200" b="1">
                <a:solidFill>
                  <a:srgbClr val="FF0000"/>
                </a:solidFill>
                <a:latin typeface="Calibri"/>
                <a:ea typeface="Calibri"/>
                <a:cs typeface="Calibri"/>
                <a:sym typeface="Calibri"/>
              </a:rPr>
              <a:t>HyperFrames or Remotion</a:t>
            </a:r>
            <a:r>
              <a:rPr lang="en" sz="1200">
                <a:solidFill>
                  <a:schemeClr val="dk1"/>
                </a:solidFill>
                <a:latin typeface="Calibri"/>
                <a:ea typeface="Calibri"/>
                <a:cs typeface="Calibri"/>
                <a:sym typeface="Calibri"/>
              </a:rPr>
              <a:t> (HMLT, CSS, React), previews results, and revises them from feedback</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connected MCP service, such as </a:t>
            </a:r>
            <a:r>
              <a:rPr lang="en" sz="1200" b="1">
                <a:solidFill>
                  <a:srgbClr val="3C78D8"/>
                </a:solidFill>
                <a:latin typeface="Calibri"/>
                <a:ea typeface="Calibri"/>
                <a:cs typeface="Calibri"/>
                <a:sym typeface="Calibri"/>
              </a:rPr>
              <a:t>Blotato</a:t>
            </a:r>
            <a:r>
              <a:rPr lang="en" sz="1200">
                <a:solidFill>
                  <a:schemeClr val="dk1"/>
                </a:solidFill>
                <a:latin typeface="Calibri"/>
                <a:ea typeface="Calibri"/>
                <a:cs typeface="Calibri"/>
                <a:sym typeface="Calibri"/>
              </a:rPr>
              <a:t>, can publish the finished video and accompanying post to social accounts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presenter reports a polished edit after roughly 10 minutes and one feedback round, suggesting a faster content-production process</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https://www.youtube.com/watch?v=flXfwevUJTk</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https://github.com/heygen-com/hyperframes</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https://www.remotion.dev</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https://www.blotato.com/mcp</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https://aiprofitboardroom.com</a:t>
            </a:r>
            <a:endParaRPr sz="900">
              <a:solidFill>
                <a:schemeClr val="dk1"/>
              </a:solidFill>
              <a:latin typeface="Calibri"/>
              <a:ea typeface="Calibri"/>
              <a:cs typeface="Calibri"/>
              <a:sym typeface="Calibri"/>
            </a:endParaRPr>
          </a:p>
          <a:p>
            <a:pPr marL="171450" lvl="0" indent="-114300" algn="l" rtl="0">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a:t>
            </a:r>
            <a:endParaRPr sz="900">
              <a:solidFill>
                <a:srgbClr val="3C78D8"/>
              </a:solidFill>
              <a:latin typeface="Roboto Mono"/>
              <a:ea typeface="Roboto Mono"/>
              <a:cs typeface="Roboto Mono"/>
              <a:sym typeface="Roboto Mono"/>
            </a:endParaRPr>
          </a:p>
          <a:p>
            <a:pPr marL="171450" lvl="0" indent="-114300" algn="l" rtl="0">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brew install node ffmpeg</a:t>
            </a:r>
            <a:endParaRPr sz="900">
              <a:solidFill>
                <a:srgbClr val="3C78D8"/>
              </a:solidFill>
              <a:latin typeface="Roboto Mono"/>
              <a:ea typeface="Roboto Mono"/>
              <a:cs typeface="Roboto Mono"/>
              <a:sym typeface="Roboto Mono"/>
            </a:endParaRPr>
          </a:p>
          <a:p>
            <a:pPr marL="171450" lvl="0" indent="-114300" algn="l" rtl="0">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npx hyperframes init my-video</a:t>
            </a:r>
            <a:endParaRPr sz="900">
              <a:solidFill>
                <a:srgbClr val="3C78D8"/>
              </a:solidFill>
              <a:latin typeface="Roboto Mono"/>
              <a:ea typeface="Roboto Mono"/>
              <a:cs typeface="Roboto Mono"/>
              <a:sym typeface="Roboto Mono"/>
            </a:endParaRPr>
          </a:p>
          <a:p>
            <a:pPr marL="171450" lvl="0" indent="-114300" algn="l" rtl="0">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cd my-video</a:t>
            </a:r>
            <a:endParaRPr sz="900">
              <a:solidFill>
                <a:srgbClr val="3C78D8"/>
              </a:solidFill>
              <a:latin typeface="Roboto Mono"/>
              <a:ea typeface="Roboto Mono"/>
              <a:cs typeface="Roboto Mono"/>
              <a:sym typeface="Roboto Mono"/>
            </a:endParaRPr>
          </a:p>
          <a:p>
            <a:pPr marL="171450" lvl="0" indent="-114300" algn="l" rtl="0">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npx skills add heygen-com/hyperframes</a:t>
            </a:r>
            <a:endParaRPr sz="900">
              <a:solidFill>
                <a:srgbClr val="3C78D8"/>
              </a:solidFill>
              <a:latin typeface="Roboto Mono"/>
              <a:ea typeface="Roboto Mono"/>
              <a:cs typeface="Roboto Mono"/>
              <a:sym typeface="Roboto Mono"/>
            </a:endParaRPr>
          </a:p>
          <a:p>
            <a:pPr marL="171450" lvl="0" indent="-114300" algn="l" rtl="0">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In Claude Code: </a:t>
            </a:r>
            <a:r>
              <a:rPr lang="en" sz="900">
                <a:solidFill>
                  <a:srgbClr val="CC0000"/>
                </a:solidFill>
                <a:latin typeface="Roboto Mono"/>
                <a:ea typeface="Roboto Mono"/>
                <a:cs typeface="Roboto Mono"/>
                <a:sym typeface="Roboto Mono"/>
              </a:rPr>
              <a:t>/hyperframes </a:t>
            </a:r>
            <a:r>
              <a:rPr lang="en" sz="900">
                <a:solidFill>
                  <a:srgbClr val="6AA84F"/>
                </a:solidFill>
                <a:latin typeface="Roboto Mono"/>
                <a:ea typeface="Roboto Mono"/>
                <a:cs typeface="Roboto Mono"/>
                <a:sym typeface="Roboto Mono"/>
              </a:rPr>
              <a:t>Create a 20-second, 16:9 video introducing my home-networking consulting service. Use a clean, modern style, animated network diagrams, and a title card at the end.</a:t>
            </a:r>
            <a:endParaRPr sz="900">
              <a:solidFill>
                <a:srgbClr val="6AA84F"/>
              </a:solidFill>
              <a:latin typeface="Roboto Mono"/>
              <a:ea typeface="Roboto Mono"/>
              <a:cs typeface="Roboto Mono"/>
              <a:sym typeface="Roboto Mono"/>
            </a:endParaRPr>
          </a:p>
          <a:p>
            <a:pPr marL="171450" lvl="0" indent="-114300" algn="l" rtl="0">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npx hyperframes preview</a:t>
            </a:r>
            <a:endParaRPr sz="900">
              <a:solidFill>
                <a:srgbClr val="3C78D8"/>
              </a:solidFill>
              <a:latin typeface="Roboto Mono"/>
              <a:ea typeface="Roboto Mono"/>
              <a:cs typeface="Roboto Mono"/>
              <a:sym typeface="Roboto Mono"/>
            </a:endParaRPr>
          </a:p>
          <a:p>
            <a:pPr marL="171450" lvl="0" indent="-114300" algn="l" rtl="0">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npx hyperframes render</a:t>
            </a:r>
            <a:endParaRPr sz="900">
              <a:solidFill>
                <a:srgbClr val="3C78D8"/>
              </a:solidFill>
              <a:latin typeface="Roboto Mono"/>
              <a:ea typeface="Roboto Mono"/>
              <a:cs typeface="Roboto Mono"/>
              <a:sym typeface="Roboto Mono"/>
            </a:endParaRPr>
          </a:p>
          <a:p>
            <a:pPr marL="171450" lvl="0" indent="-114300" algn="l" rtl="0">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a:t>
            </a:r>
            <a:endParaRPr sz="900">
              <a:solidFill>
                <a:srgbClr val="3C78D8"/>
              </a:solidFill>
              <a:latin typeface="Roboto Mono"/>
              <a:ea typeface="Roboto Mono"/>
              <a:cs typeface="Roboto Mono"/>
              <a:sym typeface="Roboto Mono"/>
            </a:endParaRPr>
          </a:p>
          <a:p>
            <a:pPr marL="171450" lvl="0" indent="-114300" algn="l" rtl="0">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npx create-video@latest</a:t>
            </a:r>
            <a:endParaRPr sz="900">
              <a:solidFill>
                <a:srgbClr val="3C78D8"/>
              </a:solidFill>
              <a:latin typeface="Roboto Mono"/>
              <a:ea typeface="Roboto Mono"/>
              <a:cs typeface="Roboto Mono"/>
              <a:sym typeface="Roboto Mono"/>
            </a:endParaRPr>
          </a:p>
          <a:p>
            <a:pPr marL="171450" lvl="0" indent="-114300" algn="l" rtl="0">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cd your-project-name</a:t>
            </a:r>
            <a:endParaRPr sz="900">
              <a:solidFill>
                <a:srgbClr val="3C78D8"/>
              </a:solidFill>
              <a:latin typeface="Roboto Mono"/>
              <a:ea typeface="Roboto Mono"/>
              <a:cs typeface="Roboto Mono"/>
              <a:sym typeface="Roboto Mono"/>
            </a:endParaRPr>
          </a:p>
          <a:p>
            <a:pPr marL="171450" lvl="0" indent="-114300" algn="l" rtl="0">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npx skills add remotion-dev/skills</a:t>
            </a:r>
            <a:endParaRPr sz="900">
              <a:solidFill>
                <a:srgbClr val="3C78D8"/>
              </a:solidFill>
              <a:latin typeface="Roboto Mono"/>
              <a:ea typeface="Roboto Mono"/>
              <a:cs typeface="Roboto Mono"/>
              <a:sym typeface="Roboto Mono"/>
            </a:endParaRPr>
          </a:p>
          <a:p>
            <a:pPr marL="171450" lvl="0" indent="-114300" algn="l" rtl="0">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npm run dev</a:t>
            </a:r>
            <a:endParaRPr sz="900">
              <a:solidFill>
                <a:srgbClr val="3C78D8"/>
              </a:solidFill>
              <a:latin typeface="Roboto Mono"/>
              <a:ea typeface="Roboto Mono"/>
              <a:cs typeface="Roboto Mono"/>
              <a:sym typeface="Roboto Mono"/>
            </a:endParaRPr>
          </a:p>
          <a:p>
            <a:pPr marL="171450" lvl="0" indent="-114300" algn="l" rtl="0">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Then in Claude Code: </a:t>
            </a:r>
            <a:r>
              <a:rPr lang="en" sz="900">
                <a:solidFill>
                  <a:srgbClr val="6AA84F"/>
                </a:solidFill>
                <a:latin typeface="Roboto Mono"/>
                <a:ea typeface="Roboto Mono"/>
                <a:cs typeface="Roboto Mono"/>
                <a:sym typeface="Roboto Mono"/>
              </a:rPr>
              <a:t>Create a 20-second, 16:9 video introducing my home-networking consulting service. Use animated network diagrams, a clean modern style, and a title card at the end.</a:t>
            </a:r>
            <a:endParaRPr sz="900">
              <a:solidFill>
                <a:srgbClr val="6AA84F"/>
              </a:solidFill>
              <a:latin typeface="Roboto Mono"/>
              <a:ea typeface="Roboto Mono"/>
              <a:cs typeface="Roboto Mono"/>
              <a:sym typeface="Roboto Mono"/>
            </a:endParaRPr>
          </a:p>
        </p:txBody>
      </p:sp>
      <p:pic>
        <p:nvPicPr>
          <p:cNvPr id="165" name="Google Shape;165;p26"/>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480050" y="666750"/>
            <a:ext cx="3606801" cy="270510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7"/>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171" name="Google Shape;171;p27"/>
          <p:cNvSpPr txBox="1"/>
          <p:nvPr/>
        </p:nvSpPr>
        <p:spPr>
          <a:xfrm>
            <a:off x="74675" y="344650"/>
            <a:ext cx="44877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Xiaomi HySparse2 Cuts Agent Context Costs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Combines KV bridging reuse between layers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Xiaomi reports 4.5 times reduction of KV cache size, and 5 times fewer prefill FLOPs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Retrieval also improved on the reported 256K-token test</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DeepSeek’s V4.1-Flash uses related techniques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parallel designs highlight </a:t>
            </a:r>
            <a:r>
              <a:rPr lang="en" sz="1200" b="1">
                <a:solidFill>
                  <a:srgbClr val="FF0000"/>
                </a:solidFill>
                <a:latin typeface="Calibri"/>
                <a:ea typeface="Calibri"/>
                <a:cs typeface="Calibri"/>
                <a:sym typeface="Calibri"/>
              </a:rPr>
              <a:t>cache reuse as a key direction for long-context agents</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https://www.youtube.com/watch?v=eXad7m0TjVM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https://arxiv.org/abs/2609.26368</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https://arxiv.org/html/2609.19969v1</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https://arxiv.org/abs/2405.05254</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172" name="Google Shape;172;p27"/>
          <p:cNvSpPr txBox="1"/>
          <p:nvPr/>
        </p:nvSpPr>
        <p:spPr>
          <a:xfrm>
            <a:off x="74675" y="2499325"/>
            <a:ext cx="4764000" cy="1727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Salesforce JitMem: Memory on Demand</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Just-in-Time Memory (JitMem) method stores successful agents’ full interaction trajectories, then has a curator create a task-specific briefing when a new task arrives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beat the strongest write-time memory baseline across 3 benchmarks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approach preserves flexible evidence, though its usefulness still depends on the curator’s reasoning.</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https://www.youtube.com/watch?v=pSkh-mNd9LQ</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8"/>
              </a:rPr>
              <a:t>https://arxiv.org/abs/2609.27334</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9"/>
              </a:rPr>
              <a:t>https://aiweekly.co/alerts/jitmem-curates-llm-agent-memory-at-read-time-not-write-time</a:t>
            </a:r>
            <a:endParaRPr sz="900">
              <a:solidFill>
                <a:schemeClr val="dk1"/>
              </a:solidFill>
              <a:latin typeface="Calibri"/>
              <a:ea typeface="Calibri"/>
              <a:cs typeface="Calibri"/>
              <a:sym typeface="Calibri"/>
            </a:endParaRPr>
          </a:p>
        </p:txBody>
      </p:sp>
      <p:pic>
        <p:nvPicPr>
          <p:cNvPr id="173" name="Google Shape;173;p27"/>
          <p:cNvPicPr preferRelativeResize="0"/>
          <p:nvPr/>
        </p:nvPicPr>
        <p:blipFill>
          <a:blip r:embed="rId10">
            <a:alphaModFix/>
          </a:blip>
          <a:stretch>
            <a:fillRect/>
          </a:stretch>
        </p:blipFill>
        <p:spPr>
          <a:xfrm>
            <a:off x="5305400" y="512500"/>
            <a:ext cx="3048000" cy="1714500"/>
          </a:xfrm>
          <a:prstGeom prst="rect">
            <a:avLst/>
          </a:prstGeom>
          <a:noFill/>
          <a:ln w="9525" cap="flat" cmpd="sng">
            <a:solidFill>
              <a:srgbClr val="FF0000"/>
            </a:solidFill>
            <a:prstDash val="solid"/>
            <a:round/>
            <a:headEnd type="none" w="sm" len="sm"/>
            <a:tailEnd type="none" w="sm" len="sm"/>
          </a:ln>
        </p:spPr>
      </p:pic>
      <p:pic>
        <p:nvPicPr>
          <p:cNvPr id="174" name="Google Shape;174;p27"/>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4991075" y="2379400"/>
            <a:ext cx="4000527" cy="2232852"/>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8"/>
          <p:cNvSpPr txBox="1"/>
          <p:nvPr/>
        </p:nvSpPr>
        <p:spPr>
          <a:xfrm>
            <a:off x="36573" y="0"/>
            <a:ext cx="20568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Zed + Claude</a:t>
            </a:r>
            <a:endParaRPr sz="2000" b="1">
              <a:latin typeface="Calibri"/>
              <a:ea typeface="Calibri"/>
              <a:cs typeface="Calibri"/>
              <a:sym typeface="Calibri"/>
            </a:endParaRPr>
          </a:p>
        </p:txBody>
      </p:sp>
      <p:sp>
        <p:nvSpPr>
          <p:cNvPr id="180" name="Google Shape;180;p28"/>
          <p:cNvSpPr txBox="1"/>
          <p:nvPr/>
        </p:nvSpPr>
        <p:spPr>
          <a:xfrm>
            <a:off x="109350" y="417450"/>
            <a:ext cx="35421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14300" algn="l" rtl="0">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Zed + Claude</a:t>
            </a:r>
            <a:endParaRPr sz="1200" b="1">
              <a:solidFill>
                <a:srgbClr val="FF0000"/>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Install Zed: On macOS, use Homebrew or download the app; on Windows, use winget or the installer; on Linux, run Zed’s install script - </a:t>
            </a:r>
            <a:r>
              <a:rPr lang="en" sz="1200" u="sng">
                <a:solidFill>
                  <a:schemeClr val="hlink"/>
                </a:solidFill>
                <a:latin typeface="Calibri"/>
                <a:ea typeface="Calibri"/>
                <a:cs typeface="Calibri"/>
                <a:sym typeface="Calibri"/>
                <a:hlinkClick r:id="rId3"/>
              </a:rPr>
              <a:t>https://zed.dev/docs/installation</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Open Zed and launch the Agent Panel with Cmd-? on macOS or Ctrl-? on Windows/Linux</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Install Claude Agent: Open the command palette and run “zed: acp registry,” or open Agent Settings, select External Agents, then Add Agent → Install from Registry. Choose Claude.</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Start a new Claude Agent thread from the Agent Panel or Threads Sidebar.</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Authenticate when prompted, or enter /login in the Claude thread to choose an available sign-in method. Claude Agent handles its own authentication and billing; Use Pro or Max subscription to save money</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Open a project and ask Claude to explain, edit, or debug code.</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1200" u="sng">
                <a:solidFill>
                  <a:schemeClr val="hlink"/>
                </a:solidFill>
                <a:latin typeface="Calibri"/>
                <a:ea typeface="Calibri"/>
                <a:cs typeface="Calibri"/>
                <a:sym typeface="Calibri"/>
                <a:hlinkClick r:id="rId4"/>
              </a:rPr>
              <a:t>https://zed.dev/docs/ai/external-agents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Ask Claude to download and install rules and skills under </a:t>
            </a:r>
            <a:r>
              <a:rPr lang="en" sz="1200" b="1">
                <a:solidFill>
                  <a:srgbClr val="3C78D8"/>
                </a:solidFill>
                <a:latin typeface="Calibri"/>
                <a:ea typeface="Calibri"/>
                <a:cs typeface="Calibri"/>
                <a:sym typeface="Calibri"/>
              </a:rPr>
              <a:t>~/.claude/</a:t>
            </a:r>
            <a:r>
              <a:rPr lang="en" sz="1200">
                <a:solidFill>
                  <a:schemeClr val="dk1"/>
                </a:solidFill>
                <a:latin typeface="Calibri"/>
                <a:ea typeface="Calibri"/>
                <a:cs typeface="Calibri"/>
                <a:sym typeface="Calibri"/>
              </a:rPr>
              <a:t> from this repo:</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5"/>
              </a:rPr>
              <a:t>https://github.com/lselector/agent-toolkit</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81" name="Google Shape;181;p2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3782666" y="73704"/>
            <a:ext cx="5315948" cy="2956474"/>
          </a:xfrm>
          <a:prstGeom prst="rect">
            <a:avLst/>
          </a:prstGeom>
          <a:noFill/>
          <a:ln w="9525" cap="flat" cmpd="sng">
            <a:solidFill>
              <a:srgbClr val="FF0000"/>
            </a:solidFill>
            <a:prstDash val="solid"/>
            <a:round/>
            <a:headEnd type="none" w="sm" len="sm"/>
            <a:tailEnd type="none" w="sm" len="sm"/>
          </a:ln>
        </p:spPr>
      </p:pic>
      <p:sp>
        <p:nvSpPr>
          <p:cNvPr id="182" name="Google Shape;182;p28"/>
          <p:cNvSpPr txBox="1"/>
          <p:nvPr/>
        </p:nvSpPr>
        <p:spPr>
          <a:xfrm>
            <a:off x="3782650" y="3170728"/>
            <a:ext cx="53160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agent-toolkit</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rules: </a:t>
            </a:r>
            <a:r>
              <a:rPr lang="en" sz="1200">
                <a:solidFill>
                  <a:schemeClr val="dk1"/>
                </a:solidFill>
                <a:latin typeface="Calibri"/>
                <a:ea typeface="Calibri"/>
                <a:cs typeface="Calibri"/>
                <a:sym typeface="Calibri"/>
              </a:rPr>
              <a:t>communication_style.md, keep_terse.md, modularity.md, no_frankenstein.md, python_formatting_rules.md, </a:t>
            </a:r>
            <a:r>
              <a:rPr lang="en" sz="1200" u="sng">
                <a:solidFill>
                  <a:schemeClr val="hlink"/>
                </a:solidFill>
                <a:latin typeface="Calibri"/>
                <a:ea typeface="Calibri"/>
                <a:cs typeface="Calibri"/>
                <a:sym typeface="Calibri"/>
                <a:hlinkClick r:id="rId7"/>
              </a:rPr>
              <a:t>simplicity.md</a:t>
            </a:r>
            <a:r>
              <a:rPr lang="en" sz="1200">
                <a:solidFill>
                  <a:schemeClr val="dk1"/>
                </a:solidFill>
                <a:latin typeface="Calibri"/>
                <a:ea typeface="Calibri"/>
                <a:cs typeface="Calibri"/>
                <a:sym typeface="Calibri"/>
              </a:rPr>
              <a:t>, skill_naming_hyphens.md, update_docs.md, update_wiki.md, web_development.md, writing_prose.md</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skills: </a:t>
            </a:r>
            <a:r>
              <a:rPr lang="en" sz="1200">
                <a:solidFill>
                  <a:schemeClr val="dk1"/>
                </a:solidFill>
                <a:latin typeface="Calibri"/>
                <a:ea typeface="Calibri"/>
                <a:cs typeface="Calibri"/>
                <a:sym typeface="Calibri"/>
              </a:rPr>
              <a:t>architecture-review, design-doc, humanize, lean-change, repo-init, repo-init/gitignore.template, wiki-init, wiki-serve, wiki-stop, wiki-update</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wiki: </a:t>
            </a:r>
            <a:r>
              <a:rPr lang="en" sz="1200">
                <a:solidFill>
                  <a:schemeClr val="dk1"/>
                </a:solidFill>
                <a:latin typeface="Calibri"/>
                <a:ea typeface="Calibri"/>
                <a:cs typeface="Calibri"/>
                <a:sym typeface="Calibri"/>
              </a:rPr>
              <a:t>README.md, conventions.md, server_restart.sh, server_start.sh, server_stop.sh, styles.css, test_wiki.py, wiki_edit.py, wiki_pages.py, wiki_server.py, wiki_tools.py</a:t>
            </a:r>
            <a:endParaRPr sz="12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9"/>
          <p:cNvSpPr txBox="1"/>
          <p:nvPr/>
        </p:nvSpPr>
        <p:spPr>
          <a:xfrm>
            <a:off x="36573" y="0"/>
            <a:ext cx="20568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Chinese Chips</a:t>
            </a:r>
            <a:endParaRPr sz="2000" b="1">
              <a:latin typeface="Calibri"/>
              <a:ea typeface="Calibri"/>
              <a:cs typeface="Calibri"/>
              <a:sym typeface="Calibri"/>
            </a:endParaRPr>
          </a:p>
        </p:txBody>
      </p:sp>
      <p:sp>
        <p:nvSpPr>
          <p:cNvPr id="188" name="Google Shape;188;p29"/>
          <p:cNvSpPr txBox="1"/>
          <p:nvPr/>
        </p:nvSpPr>
        <p:spPr>
          <a:xfrm>
            <a:off x="36575" y="502350"/>
            <a:ext cx="4535400" cy="214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14300" algn="l" rtl="0">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Chinese Chips</a:t>
            </a:r>
            <a:endParaRPr sz="1200" b="1">
              <a:solidFill>
                <a:srgbClr val="FF0000"/>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1200" b="1">
                <a:solidFill>
                  <a:srgbClr val="3C78D8"/>
                </a:solidFill>
                <a:latin typeface="Calibri"/>
                <a:ea typeface="Calibri"/>
                <a:cs typeface="Calibri"/>
                <a:sym typeface="Calibri"/>
              </a:rPr>
              <a:t>Ascend by Huawei </a:t>
            </a:r>
            <a:r>
              <a:rPr lang="en" sz="1200">
                <a:solidFill>
                  <a:schemeClr val="dk1"/>
                </a:solidFill>
                <a:latin typeface="Calibri"/>
                <a:ea typeface="Calibri"/>
                <a:cs typeface="Calibri"/>
                <a:sym typeface="Calibri"/>
              </a:rPr>
              <a:t>— 812K chips shipped in 2025.</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1200" b="1">
                <a:solidFill>
                  <a:srgbClr val="3C78D8"/>
                </a:solidFill>
                <a:latin typeface="Calibri"/>
                <a:ea typeface="Calibri"/>
                <a:cs typeface="Calibri"/>
                <a:sym typeface="Calibri"/>
              </a:rPr>
              <a:t>Zhenwu by Alibaba T-Head </a:t>
            </a:r>
            <a:r>
              <a:rPr lang="en" sz="1200">
                <a:solidFill>
                  <a:schemeClr val="dk1"/>
                </a:solidFill>
                <a:latin typeface="Calibri"/>
                <a:ea typeface="Calibri"/>
                <a:cs typeface="Calibri"/>
                <a:sym typeface="Calibri"/>
              </a:rPr>
              <a:t>— 265K chips shipped in 2025.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The </a:t>
            </a:r>
            <a:r>
              <a:rPr lang="en" sz="1200" b="1">
                <a:solidFill>
                  <a:srgbClr val="3C78D8"/>
                </a:solidFill>
                <a:latin typeface="Calibri"/>
                <a:ea typeface="Calibri"/>
                <a:cs typeface="Calibri"/>
                <a:sym typeface="Calibri"/>
              </a:rPr>
              <a:t>V900</a:t>
            </a:r>
            <a:r>
              <a:rPr lang="en" sz="1200">
                <a:solidFill>
                  <a:schemeClr val="dk1"/>
                </a:solidFill>
                <a:latin typeface="Calibri"/>
                <a:ea typeface="Calibri"/>
                <a:cs typeface="Calibri"/>
                <a:sym typeface="Calibri"/>
              </a:rPr>
              <a:t> is a new model, planned for mass production in Q1 2027.</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1200" b="1">
                <a:solidFill>
                  <a:srgbClr val="3C78D8"/>
                </a:solidFill>
                <a:latin typeface="Calibri"/>
                <a:ea typeface="Calibri"/>
                <a:cs typeface="Calibri"/>
                <a:sym typeface="Calibri"/>
              </a:rPr>
              <a:t>Kunlun by Baidu / Kunlunxin</a:t>
            </a:r>
            <a:r>
              <a:rPr lang="en" sz="1200">
                <a:solidFill>
                  <a:schemeClr val="dk1"/>
                </a:solidFill>
                <a:latin typeface="Calibri"/>
                <a:ea typeface="Calibri"/>
                <a:cs typeface="Calibri"/>
                <a:sym typeface="Calibri"/>
              </a:rPr>
              <a:t> — about 116K chips shipped in 2025.</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1200" b="1">
                <a:solidFill>
                  <a:srgbClr val="3C78D8"/>
                </a:solidFill>
                <a:latin typeface="Calibri"/>
                <a:ea typeface="Calibri"/>
                <a:cs typeface="Calibri"/>
                <a:sym typeface="Calibri"/>
              </a:rPr>
              <a:t>Siyuan by Cambricon</a:t>
            </a:r>
            <a:r>
              <a:rPr lang="en" sz="1200">
                <a:solidFill>
                  <a:schemeClr val="dk1"/>
                </a:solidFill>
                <a:latin typeface="Calibri"/>
                <a:ea typeface="Calibri"/>
                <a:cs typeface="Calibri"/>
                <a:sym typeface="Calibri"/>
              </a:rPr>
              <a:t> — about 116K chips shipped in 2025;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targeting 500K AI accelerators in 2026.</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1200" b="1">
                <a:solidFill>
                  <a:srgbClr val="FF0000"/>
                </a:solidFill>
                <a:latin typeface="Calibri"/>
                <a:ea typeface="Calibri"/>
                <a:cs typeface="Calibri"/>
                <a:sym typeface="Calibri"/>
              </a:rPr>
              <a:t>MetaX GPUs by MetaX </a:t>
            </a:r>
            <a:r>
              <a:rPr lang="en" sz="1200">
                <a:solidFill>
                  <a:schemeClr val="dk1"/>
                </a:solidFill>
                <a:latin typeface="Calibri"/>
                <a:ea typeface="Calibri"/>
                <a:cs typeface="Calibri"/>
                <a:sym typeface="Calibri"/>
              </a:rPr>
              <a:t>— ~ 4% of Chinese-vendor shipments in 2025.</a:t>
            </a:r>
            <a:endParaRPr sz="1200">
              <a:solidFill>
                <a:schemeClr val="dk1"/>
              </a:solidFill>
              <a:latin typeface="Calibri"/>
              <a:ea typeface="Calibri"/>
              <a:cs typeface="Calibri"/>
              <a:sym typeface="Calibri"/>
            </a:endParaRPr>
          </a:p>
          <a:p>
            <a:pPr marL="171450" lvl="0" indent="-114300" algn="l" rtl="0">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Moore Threads GPUs by Moore Threads</a:t>
            </a:r>
            <a:endParaRPr sz="1200" b="1">
              <a:solidFill>
                <a:srgbClr val="FF0000"/>
              </a:solidFill>
              <a:latin typeface="Calibri"/>
              <a:ea typeface="Calibri"/>
              <a:cs typeface="Calibri"/>
              <a:sym typeface="Calibri"/>
            </a:endParaRPr>
          </a:p>
          <a:p>
            <a:pPr marL="171450" lvl="0" indent="-114300" algn="l" rtl="0">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BR-series GPUs by Biren</a:t>
            </a:r>
            <a:endParaRPr sz="1200" b="1">
              <a:solidFill>
                <a:srgbClr val="FF0000"/>
              </a:solidFill>
              <a:latin typeface="Calibri"/>
              <a:ea typeface="Calibri"/>
              <a:cs typeface="Calibri"/>
              <a:sym typeface="Calibri"/>
            </a:endParaRPr>
          </a:p>
          <a:p>
            <a:pPr marL="171450" lvl="0" indent="-95250" algn="l" rtl="0">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3"/>
              </a:rPr>
              <a:t>https://www.reuters.com/world/china/chinese-chipmakers-claim-nearly-half-of-local-market-nvidias-lead-shrinks-idc-2026-04-01/</a:t>
            </a:r>
            <a:endParaRPr sz="900">
              <a:solidFill>
                <a:schemeClr val="dk1"/>
              </a:solidFill>
              <a:latin typeface="Calibri"/>
              <a:ea typeface="Calibri"/>
              <a:cs typeface="Calibri"/>
              <a:sym typeface="Calibri"/>
            </a:endParaRPr>
          </a:p>
        </p:txBody>
      </p:sp>
      <p:pic>
        <p:nvPicPr>
          <p:cNvPr id="189" name="Google Shape;189;p2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968250" y="807450"/>
            <a:ext cx="4059725" cy="3044794"/>
          </a:xfrm>
          <a:prstGeom prst="rect">
            <a:avLst/>
          </a:prstGeom>
          <a:noFill/>
          <a:ln w="9525" cap="flat" cmpd="sng">
            <a:solidFill>
              <a:srgbClr val="FF0000"/>
            </a:solidFill>
            <a:prstDash val="solid"/>
            <a:round/>
            <a:headEnd type="none" w="sm" len="sm"/>
            <a:tailEnd type="none" w="sm" len="sm"/>
          </a:ln>
        </p:spPr>
      </p:pic>
      <p:sp>
        <p:nvSpPr>
          <p:cNvPr id="190" name="Google Shape;190;p29"/>
          <p:cNvSpPr txBox="1"/>
          <p:nvPr/>
        </p:nvSpPr>
        <p:spPr>
          <a:xfrm>
            <a:off x="36575" y="2745278"/>
            <a:ext cx="4535400" cy="1911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Alibaba’s V900 Chip</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Alibaba claims it is China’s most powerful AI chip and says it offers three times the performance of its predecessor, the M890</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216 GB of memory, 1.2 TB/s chip-to-chip bandwidth, FP8/FP4 support, and clusters scaling to 500K chips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12 V900s could hold a 2.4-trillion-parameter model’s FP8 weights, versus about 18 Nvidia H200s</a:t>
            </a:r>
            <a:endParaRPr sz="1200">
              <a:solidFill>
                <a:schemeClr val="dk1"/>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V900 mass production is planned for early 2027</a:t>
            </a:r>
            <a:endParaRPr sz="12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https://www.tomshardware.com/tech-industry/artificial-intelligence/alibaba-unveils-zhenwu-v900-ai-accelerator-claims-its-the-most-powerful-ai-chip-in-china-accelerator-supports-500-000-chip-supercluster-with-a-10t-parameter-qwen-model-on-the-roadmap</a:t>
            </a:r>
            <a:endParaRPr sz="9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0"/>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196" name="Google Shape;196;p30"/>
          <p:cNvSpPr txBox="1"/>
          <p:nvPr/>
        </p:nvSpPr>
        <p:spPr>
          <a:xfrm>
            <a:off x="80189" y="399325"/>
            <a:ext cx="4535400" cy="1265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Sign in with ChatGPT - lets apps spend your ChatGPT plan</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In limited preview (Plus &amp; Pro users) - let an app use </a:t>
            </a:r>
            <a:br>
              <a:rPr lang="en" sz="1200">
                <a:latin typeface="Calibri"/>
                <a:ea typeface="Calibri"/>
                <a:cs typeface="Calibri"/>
                <a:sym typeface="Calibri"/>
              </a:rPr>
            </a:br>
            <a:r>
              <a:rPr lang="en" sz="1200">
                <a:latin typeface="Calibri"/>
                <a:ea typeface="Calibri"/>
                <a:cs typeface="Calibri"/>
                <a:sym typeface="Calibri"/>
              </a:rPr>
              <a:t>their </a:t>
            </a:r>
            <a:r>
              <a:rPr lang="en" sz="1200" b="1">
                <a:solidFill>
                  <a:srgbClr val="3C78D8"/>
                </a:solidFill>
                <a:latin typeface="Calibri"/>
                <a:ea typeface="Calibri"/>
                <a:cs typeface="Calibri"/>
                <a:sym typeface="Calibri"/>
              </a:rPr>
              <a:t>ChatGPT Work and Codex allowance</a:t>
            </a:r>
            <a:endParaRPr sz="1200">
              <a:solidFill>
                <a:srgbClr val="3C78D8"/>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highlight>
                  <a:srgbClr val="FFF2CC"/>
                </a:highlight>
                <a:latin typeface="Calibri"/>
                <a:ea typeface="Calibri"/>
                <a:cs typeface="Calibri"/>
                <a:sym typeface="Calibri"/>
              </a:rPr>
              <a:t>16</a:t>
            </a:r>
            <a:r>
              <a:rPr lang="en" sz="1200">
                <a:latin typeface="Calibri"/>
                <a:ea typeface="Calibri"/>
                <a:cs typeface="Calibri"/>
                <a:sym typeface="Calibri"/>
              </a:rPr>
              <a:t> launch partners - Notion, Vercel, Devin, Amp, Warp, OpenCode, ...</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Weekly cap per app, set in </a:t>
            </a:r>
            <a:r>
              <a:rPr lang="en" sz="1200" b="1">
                <a:solidFill>
                  <a:srgbClr val="3C78D8"/>
                </a:solidFill>
                <a:latin typeface="Calibri"/>
                <a:ea typeface="Calibri"/>
                <a:cs typeface="Calibri"/>
                <a:sym typeface="Calibri"/>
              </a:rPr>
              <a:t>Settings &gt; Usage</a:t>
            </a:r>
            <a:r>
              <a:rPr lang="en" sz="1200">
                <a:latin typeface="Calibri"/>
                <a:ea typeface="Calibri"/>
                <a:cs typeface="Calibri"/>
                <a:sym typeface="Calibri"/>
              </a:rPr>
              <a:t> as a share of the plan</a:t>
            </a:r>
            <a:endParaRPr sz="1200">
              <a:latin typeface="Calibri"/>
              <a:ea typeface="Calibri"/>
              <a:cs typeface="Calibri"/>
              <a:sym typeface="Calibri"/>
            </a:endParaRPr>
          </a:p>
          <a:p>
            <a:pPr marL="17145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App sees only name, email and picture, not chats or memories</a:t>
            </a:r>
            <a:endParaRPr sz="12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rgbClr val="0563C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https://thenewstack.io/sign-in-with-chatgpt/</a:t>
            </a:r>
            <a:endParaRPr sz="900">
              <a:solidFill>
                <a:srgbClr val="0563C1"/>
              </a:solidFill>
              <a:latin typeface="Calibri"/>
              <a:ea typeface="Calibri"/>
              <a:cs typeface="Calibri"/>
              <a:sym typeface="Calibri"/>
            </a:endParaRPr>
          </a:p>
        </p:txBody>
      </p:sp>
      <p:sp>
        <p:nvSpPr>
          <p:cNvPr id="197" name="Google Shape;197;p30"/>
          <p:cNvSpPr txBox="1"/>
          <p:nvPr/>
        </p:nvSpPr>
        <p:spPr>
          <a:xfrm>
            <a:off x="80189" y="1764775"/>
            <a:ext cx="4535400" cy="158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Six AI labs sign the White House Accord on Super Intelligence</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Signed by Google, Anthropic, Meta, OpenAI, xAI and Nvidia leaders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Four layers of oversight: internal controls, internal checkers, </a:t>
            </a:r>
            <a:br>
              <a:rPr lang="en" sz="1200">
                <a:latin typeface="Calibri"/>
                <a:ea typeface="Calibri"/>
                <a:cs typeface="Calibri"/>
                <a:sym typeface="Calibri"/>
              </a:rPr>
            </a:br>
            <a:r>
              <a:rPr lang="en" sz="1200">
                <a:latin typeface="Calibri"/>
                <a:ea typeface="Calibri"/>
                <a:cs typeface="Calibri"/>
                <a:sym typeface="Calibri"/>
              </a:rPr>
              <a:t>an </a:t>
            </a:r>
            <a:r>
              <a:rPr lang="en" sz="1200" b="1">
                <a:latin typeface="Calibri"/>
                <a:ea typeface="Calibri"/>
                <a:cs typeface="Calibri"/>
                <a:sym typeface="Calibri"/>
              </a:rPr>
              <a:t>outside auditor</a:t>
            </a:r>
            <a:r>
              <a:rPr lang="en" sz="1200">
                <a:latin typeface="Calibri"/>
                <a:ea typeface="Calibri"/>
                <a:cs typeface="Calibri"/>
                <a:sym typeface="Calibri"/>
              </a:rPr>
              <a:t>, a board committee</a:t>
            </a:r>
            <a:endParaRPr sz="1200">
              <a:latin typeface="Calibri"/>
              <a:ea typeface="Calibri"/>
              <a:cs typeface="Calibri"/>
              <a:sym typeface="Calibri"/>
            </a:endParaRPr>
          </a:p>
          <a:p>
            <a:pPr marL="17145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Each company picks its own auditor and need not name it</a:t>
            </a:r>
            <a:endParaRPr sz="1200" b="1">
              <a:solidFill>
                <a:srgbClr val="3C78D8"/>
              </a:solidFill>
              <a:latin typeface="Calibri"/>
              <a:ea typeface="Calibri"/>
              <a:cs typeface="Calibri"/>
              <a:sym typeface="Calibri"/>
            </a:endParaRPr>
          </a:p>
          <a:p>
            <a:pPr marL="171450" lvl="0" indent="-133350" algn="l" rtl="0">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No penalties, no disclosure rule, no deadline</a:t>
            </a:r>
            <a:endParaRPr sz="1200" b="1">
              <a:solidFill>
                <a:srgbClr val="3C78D8"/>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Trump called it "morally binding"</a:t>
            </a:r>
            <a:endParaRPr sz="12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https://www.techtimes.com/articles/328464/20261002/white-house-ai-safety-accord-has-no-penalties-no-breach-reporting-self-chosen-auditors.htm</a:t>
            </a:r>
            <a:r>
              <a:rPr lang="en" sz="900">
                <a:solidFill>
                  <a:srgbClr val="0563C1"/>
                </a:solidFill>
                <a:latin typeface="Calibri"/>
                <a:ea typeface="Calibri"/>
                <a:cs typeface="Calibri"/>
                <a:sym typeface="Calibri"/>
              </a:rPr>
              <a:t> </a:t>
            </a:r>
            <a:endParaRPr sz="900">
              <a:solidFill>
                <a:srgbClr val="0563C1"/>
              </a:solidFill>
              <a:latin typeface="Calibri"/>
              <a:ea typeface="Calibri"/>
              <a:cs typeface="Calibri"/>
              <a:sym typeface="Calibri"/>
            </a:endParaRPr>
          </a:p>
        </p:txBody>
      </p:sp>
      <p:pic>
        <p:nvPicPr>
          <p:cNvPr id="198" name="Google Shape;198;p3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94775" y="1764775"/>
            <a:ext cx="2639359" cy="1588500"/>
          </a:xfrm>
          <a:prstGeom prst="rect">
            <a:avLst/>
          </a:prstGeom>
          <a:noFill/>
          <a:ln w="9525" cap="flat" cmpd="sng">
            <a:solidFill>
              <a:srgbClr val="FF0000"/>
            </a:solidFill>
            <a:prstDash val="solid"/>
            <a:round/>
            <a:headEnd type="none" w="sm" len="sm"/>
            <a:tailEnd type="none" w="sm" len="sm"/>
          </a:ln>
        </p:spPr>
      </p:pic>
      <p:pic>
        <p:nvPicPr>
          <p:cNvPr id="199" name="Google Shape;199;p3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94778" y="657762"/>
            <a:ext cx="4145500" cy="794425"/>
          </a:xfrm>
          <a:prstGeom prst="rect">
            <a:avLst/>
          </a:prstGeom>
          <a:noFill/>
          <a:ln w="9525" cap="flat" cmpd="sng">
            <a:solidFill>
              <a:srgbClr val="FF0000"/>
            </a:solidFill>
            <a:prstDash val="solid"/>
            <a:round/>
            <a:headEnd type="none" w="sm" len="sm"/>
            <a:tailEnd type="none" w="sm" len="sm"/>
          </a:ln>
        </p:spPr>
      </p:pic>
      <p:sp>
        <p:nvSpPr>
          <p:cNvPr id="200" name="Google Shape;200;p30"/>
          <p:cNvSpPr txBox="1"/>
          <p:nvPr/>
        </p:nvSpPr>
        <p:spPr>
          <a:xfrm>
            <a:off x="36575" y="3539600"/>
            <a:ext cx="4578900" cy="1265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Microsoft MAI-Transcribe-2-Streaming</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b="1">
                <a:latin typeface="Calibri"/>
                <a:ea typeface="Calibri"/>
                <a:cs typeface="Calibri"/>
                <a:sym typeface="Calibri"/>
              </a:rPr>
              <a:t>#1 of 38</a:t>
            </a:r>
            <a:r>
              <a:rPr lang="en" sz="1200">
                <a:latin typeface="Calibri"/>
                <a:ea typeface="Calibri"/>
                <a:cs typeface="Calibri"/>
                <a:sym typeface="Calibri"/>
              </a:rPr>
              <a:t> on Artificial Analysis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60 languages with automatic language detection</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First partial text in about 100 ms, final text 0.13 s after speech ends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highlight>
                  <a:srgbClr val="FFF2CC"/>
                </a:highlight>
                <a:latin typeface="Calibri"/>
                <a:ea typeface="Calibri"/>
                <a:cs typeface="Calibri"/>
                <a:sym typeface="Calibri"/>
              </a:rPr>
              <a:t>$0.54</a:t>
            </a:r>
            <a:r>
              <a:rPr lang="en" sz="1200">
                <a:latin typeface="Calibri"/>
                <a:ea typeface="Calibri"/>
                <a:cs typeface="Calibri"/>
                <a:sym typeface="Calibri"/>
              </a:rPr>
              <a:t> per audio hour through 2026; public preview in Foundry</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S</a:t>
            </a:r>
            <a:r>
              <a:rPr lang="en" sz="1200" b="1">
                <a:solidFill>
                  <a:srgbClr val="3C78D8"/>
                </a:solidFill>
                <a:latin typeface="Calibri"/>
                <a:ea typeface="Calibri"/>
                <a:cs typeface="Calibri"/>
                <a:sym typeface="Calibri"/>
              </a:rPr>
              <a:t>hipped with MAI-Voice-2.1 and MAI-Voice-2.1-Flash</a:t>
            </a:r>
            <a:endParaRPr sz="1200" b="1">
              <a:solidFill>
                <a:srgbClr val="3C78D8"/>
              </a:solidFill>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7"/>
              </a:rPr>
              <a:t>https://microsoft.ai/news/our-first-streaming-transcription-model/</a:t>
            </a:r>
            <a:r>
              <a:rPr lang="en" sz="900">
                <a:solidFill>
                  <a:srgbClr val="0563C1"/>
                </a:solidFill>
                <a:latin typeface="Calibri"/>
                <a:ea typeface="Calibri"/>
                <a:cs typeface="Calibri"/>
                <a:sym typeface="Calibri"/>
              </a:rPr>
              <a:t> </a:t>
            </a:r>
            <a:endParaRPr sz="900">
              <a:solidFill>
                <a:srgbClr val="0563C1"/>
              </a:solidFill>
              <a:latin typeface="Calibri"/>
              <a:ea typeface="Calibri"/>
              <a:cs typeface="Calibri"/>
              <a:sym typeface="Calibri"/>
            </a:endParaRPr>
          </a:p>
        </p:txBody>
      </p:sp>
      <p:pic>
        <p:nvPicPr>
          <p:cNvPr id="201" name="Google Shape;201;p30"/>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794775" y="3539600"/>
            <a:ext cx="1946931" cy="126510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1"/>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207" name="Google Shape;207;p31"/>
          <p:cNvSpPr txBox="1"/>
          <p:nvPr/>
        </p:nvSpPr>
        <p:spPr>
          <a:xfrm>
            <a:off x="80198" y="399325"/>
            <a:ext cx="3785400" cy="3851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Agentic AI Token Use is Much Bigger that Human </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Human tokens are input and output text tokens from direct, human-driven AI interactions. For example, a person submitting a document and receiving its summary. Prompt, document, and summary - all count towards "human" tokens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Agentic tokens come from automated AI workflows that make repeated model calls, use tools, retain context, and execute multi-step tasks such as coding, research, or debugging.</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OpenRouter classifies traffic from behavioral signals including tool calls, number of conversation turns, and request timing - not simply whether a human initiated the work.</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Agentic usage overtook human usage on Feb 6, 2026.</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By August 10, agentic traffic reached 7.3 trillion tokens on a seven-day average, versus 1.4 trillion human-driven tokens: over 5× larger.</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From February, agents grew about 14×; </a:t>
            </a:r>
            <a:br>
              <a:rPr lang="en" sz="1200">
                <a:latin typeface="Calibri"/>
                <a:ea typeface="Calibri"/>
                <a:cs typeface="Calibri"/>
                <a:sym typeface="Calibri"/>
              </a:rPr>
            </a:br>
            <a:r>
              <a:rPr lang="en" sz="1200">
                <a:latin typeface="Calibri"/>
                <a:ea typeface="Calibri"/>
                <a:cs typeface="Calibri"/>
                <a:sym typeface="Calibri"/>
              </a:rPr>
              <a:t>human usage grew 2.8×. </a:t>
            </a:r>
            <a:r>
              <a:rPr lang="en" sz="900" u="sng">
                <a:solidFill>
                  <a:schemeClr val="hlink"/>
                </a:solidFill>
                <a:latin typeface="Calibri"/>
                <a:ea typeface="Calibri"/>
                <a:cs typeface="Calibri"/>
                <a:sym typeface="Calibri"/>
                <a:hlinkClick r:id="rId3"/>
              </a:rPr>
              <a:t>https://cryptobriefing.com/openrouter-agentic-token-usage-14x-growth/</a:t>
            </a:r>
            <a:r>
              <a:rPr lang="en" sz="900">
                <a:latin typeface="Calibri"/>
                <a:ea typeface="Calibri"/>
                <a:cs typeface="Calibri"/>
                <a:sym typeface="Calibri"/>
              </a:rPr>
              <a:t> </a:t>
            </a:r>
            <a:endParaRPr sz="900">
              <a:latin typeface="Calibri"/>
              <a:ea typeface="Calibri"/>
              <a:cs typeface="Calibri"/>
              <a:sym typeface="Calibri"/>
            </a:endParaRPr>
          </a:p>
        </p:txBody>
      </p:sp>
      <p:pic>
        <p:nvPicPr>
          <p:cNvPr id="208" name="Google Shape;208;p3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3960775" y="399325"/>
            <a:ext cx="5078751" cy="38090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2"/>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214" name="Google Shape;214;p32"/>
          <p:cNvSpPr txBox="1"/>
          <p:nvPr/>
        </p:nvSpPr>
        <p:spPr>
          <a:xfrm>
            <a:off x="132425" y="338744"/>
            <a:ext cx="5302800" cy="1095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9700" algn="l" rtl="0">
              <a:spcBef>
                <a:spcPts val="0"/>
              </a:spcBef>
              <a:spcAft>
                <a:spcPts val="0"/>
              </a:spcAft>
              <a:buClr>
                <a:srgbClr val="FF0000"/>
              </a:buClr>
              <a:buSzPts val="1300"/>
              <a:buFont typeface="Calibri"/>
              <a:buChar char="●"/>
            </a:pPr>
            <a:r>
              <a:rPr lang="en" sz="1300" b="1">
                <a:solidFill>
                  <a:srgbClr val="FF0000"/>
                </a:solidFill>
                <a:latin typeface="Calibri"/>
                <a:ea typeface="Calibri"/>
                <a:cs typeface="Calibri"/>
                <a:sym typeface="Calibri"/>
              </a:rPr>
              <a:t>Trump launches a Super Intelligence Force</a:t>
            </a:r>
            <a:endParaRPr sz="13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Chaired by </a:t>
            </a:r>
            <a:r>
              <a:rPr lang="en" sz="1200" b="1">
                <a:latin typeface="Calibri"/>
                <a:ea typeface="Calibri"/>
                <a:cs typeface="Calibri"/>
                <a:sym typeface="Calibri"/>
              </a:rPr>
              <a:t>Director of National Intelligence Jay Clayton</a:t>
            </a:r>
            <a:endParaRPr sz="1200" b="1">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It has </a:t>
            </a:r>
            <a:r>
              <a:rPr lang="en" sz="1200">
                <a:highlight>
                  <a:srgbClr val="FFF2CC"/>
                </a:highlight>
                <a:latin typeface="Calibri"/>
                <a:ea typeface="Calibri"/>
                <a:cs typeface="Calibri"/>
                <a:sym typeface="Calibri"/>
              </a:rPr>
              <a:t>120 days</a:t>
            </a:r>
            <a:r>
              <a:rPr lang="en" sz="1200">
                <a:latin typeface="Calibri"/>
                <a:ea typeface="Calibri"/>
                <a:cs typeface="Calibri"/>
                <a:sym typeface="Calibri"/>
              </a:rPr>
              <a:t> to report on AI risks and opportunities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Charter: </a:t>
            </a:r>
            <a:r>
              <a:rPr lang="en" sz="1200" b="1">
                <a:solidFill>
                  <a:srgbClr val="3C78D8"/>
                </a:solidFill>
                <a:latin typeface="Calibri"/>
                <a:ea typeface="Calibri"/>
                <a:cs typeface="Calibri"/>
                <a:sym typeface="Calibri"/>
              </a:rPr>
              <a:t>plan for "SI-enabled threats" while preventing overregulation</a:t>
            </a:r>
            <a:endParaRPr sz="1200" b="1">
              <a:solidFill>
                <a:srgbClr val="3C78D8"/>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Ferguson's FTC (Federal Trade Commission) is </a:t>
            </a:r>
            <a:r>
              <a:rPr lang="en" sz="1200" b="1">
                <a:solidFill>
                  <a:srgbClr val="3C78D8"/>
                </a:solidFill>
                <a:latin typeface="Calibri"/>
                <a:ea typeface="Calibri"/>
                <a:cs typeface="Calibri"/>
                <a:sym typeface="Calibri"/>
              </a:rPr>
              <a:t>probing OpenAI and Anthropic</a:t>
            </a:r>
            <a:endParaRPr sz="1200" b="1">
              <a:solidFill>
                <a:srgbClr val="3C78D8"/>
              </a:solidFill>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https://siliconangle.com/2026/10/04/trump-launches-super-intelligence-force-with-jay-clayton-as-ai-czar/</a:t>
            </a:r>
            <a:r>
              <a:rPr lang="en" sz="900">
                <a:latin typeface="Calibri"/>
                <a:ea typeface="Calibri"/>
                <a:cs typeface="Calibri"/>
                <a:sym typeface="Calibri"/>
              </a:rPr>
              <a:t> </a:t>
            </a:r>
            <a:endParaRPr sz="600">
              <a:solidFill>
                <a:srgbClr val="0563C1"/>
              </a:solidFill>
              <a:latin typeface="Calibri"/>
              <a:ea typeface="Calibri"/>
              <a:cs typeface="Calibri"/>
              <a:sym typeface="Calibri"/>
            </a:endParaRPr>
          </a:p>
        </p:txBody>
      </p:sp>
      <p:sp>
        <p:nvSpPr>
          <p:cNvPr id="215" name="Google Shape;215;p32"/>
          <p:cNvSpPr txBox="1"/>
          <p:nvPr/>
        </p:nvSpPr>
        <p:spPr>
          <a:xfrm>
            <a:off x="132425" y="1892176"/>
            <a:ext cx="4995900" cy="1465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9700" algn="l" rtl="0">
              <a:spcBef>
                <a:spcPts val="0"/>
              </a:spcBef>
              <a:spcAft>
                <a:spcPts val="0"/>
              </a:spcAft>
              <a:buClr>
                <a:srgbClr val="FF0000"/>
              </a:buClr>
              <a:buSzPts val="1300"/>
              <a:buFont typeface="Calibri"/>
              <a:buChar char="●"/>
            </a:pPr>
            <a:r>
              <a:rPr lang="en" sz="1300" b="1">
                <a:solidFill>
                  <a:srgbClr val="FF0000"/>
                </a:solidFill>
                <a:latin typeface="Calibri"/>
                <a:ea typeface="Calibri"/>
                <a:cs typeface="Calibri"/>
                <a:sym typeface="Calibri"/>
              </a:rPr>
              <a:t>Aleph Alpha Kolibri: open 78B MoE</a:t>
            </a:r>
            <a:endParaRPr sz="13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Released Oct 3 on Hugging Face under Apache 2.0</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highlight>
                  <a:srgbClr val="FFF2CC"/>
                </a:highlight>
                <a:latin typeface="Calibri"/>
                <a:ea typeface="Calibri"/>
                <a:cs typeface="Calibri"/>
                <a:sym typeface="Calibri"/>
              </a:rPr>
              <a:t>78.1B</a:t>
            </a:r>
            <a:r>
              <a:rPr lang="en" sz="1200">
                <a:latin typeface="Calibri"/>
                <a:ea typeface="Calibri"/>
                <a:cs typeface="Calibri"/>
                <a:sym typeface="Calibri"/>
              </a:rPr>
              <a:t> total parameters, </a:t>
            </a:r>
            <a:r>
              <a:rPr lang="en" sz="1200">
                <a:highlight>
                  <a:srgbClr val="FFF2CC"/>
                </a:highlight>
                <a:latin typeface="Calibri"/>
                <a:ea typeface="Calibri"/>
                <a:cs typeface="Calibri"/>
                <a:sym typeface="Calibri"/>
              </a:rPr>
              <a:t>3.46B</a:t>
            </a:r>
            <a:r>
              <a:rPr lang="en" sz="1200">
                <a:latin typeface="Calibri"/>
                <a:ea typeface="Calibri"/>
                <a:cs typeface="Calibri"/>
                <a:sym typeface="Calibri"/>
              </a:rPr>
              <a:t> active per token; 384 experts plus 1 shared</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Context of 1 Mln tokens; trained on 24T tokens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English and German; 84.3 on GPQA Diamond, per Aleph Alpha</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FP8 checkpoint (~78 GB) fits one H200 or B200, or two H100s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Pitched for on-premises use under the EU AI Act and GDPR</a:t>
            </a:r>
            <a:endParaRPr sz="12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rgbClr val="0563C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https://aleph-alpha.com/en/blog/kolibri-has-landed-a-sovereign-open-weight-model/</a:t>
            </a:r>
            <a:endParaRPr sz="900">
              <a:solidFill>
                <a:srgbClr val="0563C1"/>
              </a:solidFill>
              <a:latin typeface="Calibri"/>
              <a:ea typeface="Calibri"/>
              <a:cs typeface="Calibri"/>
              <a:sym typeface="Calibri"/>
            </a:endParaRPr>
          </a:p>
        </p:txBody>
      </p:sp>
      <p:pic>
        <p:nvPicPr>
          <p:cNvPr id="216" name="Google Shape;216;p32"/>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5228625" y="2369540"/>
            <a:ext cx="1852925" cy="990375"/>
          </a:xfrm>
          <a:prstGeom prst="rect">
            <a:avLst/>
          </a:prstGeom>
          <a:noFill/>
          <a:ln w="9525" cap="flat" cmpd="sng">
            <a:solidFill>
              <a:srgbClr val="FF0000"/>
            </a:solidFill>
            <a:prstDash val="solid"/>
            <a:round/>
            <a:headEnd type="none" w="sm" len="sm"/>
            <a:tailEnd type="none" w="sm" len="sm"/>
          </a:ln>
        </p:spPr>
      </p:pic>
      <p:sp>
        <p:nvSpPr>
          <p:cNvPr id="217" name="Google Shape;217;p32"/>
          <p:cNvSpPr txBox="1"/>
          <p:nvPr/>
        </p:nvSpPr>
        <p:spPr>
          <a:xfrm>
            <a:off x="132425" y="3447614"/>
            <a:ext cx="4423200" cy="1634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image-blaster: one photo to a 3D world in 5 minutes</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Open-source </a:t>
            </a:r>
            <a:r>
              <a:rPr lang="en" sz="1200" b="1">
                <a:latin typeface="Calibri"/>
                <a:ea typeface="Calibri"/>
                <a:cs typeface="Calibri"/>
                <a:sym typeface="Calibri"/>
              </a:rPr>
              <a:t>Claude Code skill set</a:t>
            </a:r>
            <a:r>
              <a:rPr lang="en" sz="1200">
                <a:latin typeface="Calibri"/>
                <a:ea typeface="Calibri"/>
                <a:cs typeface="Calibri"/>
                <a:sym typeface="Calibri"/>
              </a:rPr>
              <a:t>, MIT license</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b="1">
                <a:solidFill>
                  <a:srgbClr val="FF0000"/>
                </a:solidFill>
                <a:latin typeface="Calibri"/>
                <a:ea typeface="Calibri"/>
                <a:cs typeface="Calibri"/>
                <a:sym typeface="Calibri"/>
              </a:rPr>
              <a:t>Claude runs the pipeline: </a:t>
            </a:r>
            <a:r>
              <a:rPr lang="en" sz="1200" b="1">
                <a:solidFill>
                  <a:srgbClr val="3C78D8"/>
                </a:solidFill>
                <a:latin typeface="Calibri"/>
                <a:ea typeface="Calibri"/>
                <a:cs typeface="Calibri"/>
                <a:sym typeface="Calibri"/>
              </a:rPr>
              <a:t>World Labs Marble for the scene, </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Hunyuan 3D for objects, ElevenLabs for sound</a:t>
            </a:r>
            <a:endParaRPr sz="1200" b="1">
              <a:solidFill>
                <a:srgbClr val="3C78D8"/>
              </a:solidFill>
              <a:latin typeface="Calibri"/>
              <a:ea typeface="Calibri"/>
              <a:cs typeface="Calibri"/>
              <a:sym typeface="Calibri"/>
            </a:endParaRPr>
          </a:p>
          <a:p>
            <a:pPr marL="171450" lvl="0" indent="-133350" algn="l" rtl="0">
              <a:spcBef>
                <a:spcPts val="0"/>
              </a:spcBef>
              <a:spcAft>
                <a:spcPts val="0"/>
              </a:spcAft>
              <a:buSzPts val="1200"/>
              <a:buChar char="●"/>
            </a:pPr>
            <a:r>
              <a:rPr lang="en" sz="1200">
                <a:latin typeface="Calibri"/>
                <a:ea typeface="Calibri"/>
                <a:cs typeface="Calibri"/>
                <a:sym typeface="Calibri"/>
              </a:rPr>
              <a:t>Output: Gaussian splat scene, </a:t>
            </a:r>
            <a:r>
              <a:rPr lang="en" sz="1200">
                <a:solidFill>
                  <a:srgbClr val="3C78D8"/>
                </a:solidFill>
                <a:latin typeface="Calibri"/>
                <a:ea typeface="Calibri"/>
                <a:cs typeface="Calibri"/>
                <a:sym typeface="Calibri"/>
              </a:rPr>
              <a:t>.glb</a:t>
            </a:r>
            <a:r>
              <a:rPr lang="en" sz="1200">
                <a:latin typeface="Calibri"/>
                <a:ea typeface="Calibri"/>
                <a:cs typeface="Calibri"/>
                <a:sym typeface="Calibri"/>
              </a:rPr>
              <a:t>/</a:t>
            </a:r>
            <a:r>
              <a:rPr lang="en" sz="1200">
                <a:solidFill>
                  <a:srgbClr val="3C78D8"/>
                </a:solidFill>
                <a:latin typeface="Calibri"/>
                <a:ea typeface="Calibri"/>
                <a:cs typeface="Calibri"/>
                <a:sym typeface="Calibri"/>
              </a:rPr>
              <a:t>.obj</a:t>
            </a:r>
            <a:r>
              <a:rPr lang="en" sz="1200">
                <a:latin typeface="Calibri"/>
                <a:ea typeface="Calibri"/>
                <a:cs typeface="Calibri"/>
                <a:sym typeface="Calibri"/>
              </a:rPr>
              <a:t> object meshes with colliders, ambient and object sounds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Loads in Unity, Unreal, Godot, Blender and Three.js</a:t>
            </a:r>
            <a:endParaRPr sz="1200">
              <a:latin typeface="Calibri"/>
              <a:ea typeface="Calibri"/>
              <a:cs typeface="Calibri"/>
              <a:sym typeface="Calibri"/>
            </a:endParaRPr>
          </a:p>
          <a:p>
            <a:pPr marL="171450" lvl="0" indent="-133350" algn="l" rtl="0">
              <a:spcBef>
                <a:spcPts val="0"/>
              </a:spcBef>
              <a:spcAft>
                <a:spcPts val="0"/>
              </a:spcAft>
              <a:buSzPts val="1200"/>
              <a:buChar char="●"/>
            </a:pPr>
            <a:r>
              <a:rPr lang="en" sz="1200">
                <a:latin typeface="Calibri"/>
                <a:ea typeface="Calibri"/>
                <a:cs typeface="Calibri"/>
                <a:sym typeface="Calibri"/>
              </a:rPr>
              <a:t>Drop an image in </a:t>
            </a:r>
            <a:r>
              <a:rPr lang="en" sz="1200">
                <a:solidFill>
                  <a:srgbClr val="3C78D8"/>
                </a:solidFill>
                <a:latin typeface="Calibri"/>
                <a:ea typeface="Calibri"/>
                <a:cs typeface="Calibri"/>
                <a:sym typeface="Calibri"/>
              </a:rPr>
              <a:t>input/</a:t>
            </a:r>
            <a:r>
              <a:rPr lang="en" sz="1200">
                <a:latin typeface="Calibri"/>
                <a:ea typeface="Calibri"/>
                <a:cs typeface="Calibri"/>
                <a:sym typeface="Calibri"/>
              </a:rPr>
              <a:t>, add API keys, ask Claude to "blast" it</a:t>
            </a:r>
            <a:endParaRPr sz="12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6"/>
              </a:rPr>
              <a:t>https://github.com/neilsonnn/image-blaster</a:t>
            </a:r>
            <a:r>
              <a:rPr lang="en" sz="900">
                <a:solidFill>
                  <a:srgbClr val="0563C1"/>
                </a:solidFill>
                <a:latin typeface="Calibri"/>
                <a:ea typeface="Calibri"/>
                <a:cs typeface="Calibri"/>
                <a:sym typeface="Calibri"/>
              </a:rPr>
              <a:t> </a:t>
            </a:r>
            <a:endParaRPr sz="900">
              <a:solidFill>
                <a:srgbClr val="0563C1"/>
              </a:solidFill>
              <a:latin typeface="Calibri"/>
              <a:ea typeface="Calibri"/>
              <a:cs typeface="Calibri"/>
              <a:sym typeface="Calibri"/>
            </a:endParaRPr>
          </a:p>
        </p:txBody>
      </p:sp>
      <p:pic>
        <p:nvPicPr>
          <p:cNvPr id="218" name="Google Shape;218;p32"/>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98138" y="3633213"/>
            <a:ext cx="2009750" cy="1231900"/>
          </a:xfrm>
          <a:prstGeom prst="rect">
            <a:avLst/>
          </a:prstGeom>
          <a:noFill/>
          <a:ln w="9525" cap="flat" cmpd="sng">
            <a:solidFill>
              <a:srgbClr val="FF0000"/>
            </a:solidFill>
            <a:prstDash val="solid"/>
            <a:round/>
            <a:headEnd type="none" w="sm" len="sm"/>
            <a:tailEnd type="none" w="sm" len="sm"/>
          </a:ln>
        </p:spPr>
      </p:pic>
      <p:pic>
        <p:nvPicPr>
          <p:cNvPr id="219" name="Google Shape;219;p32"/>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682475" y="37006"/>
            <a:ext cx="3021657" cy="2266251"/>
          </a:xfrm>
          <a:prstGeom prst="rect">
            <a:avLst/>
          </a:prstGeom>
          <a:noFill/>
          <a:ln w="9525" cap="flat" cmpd="sng">
            <a:solidFill>
              <a:srgbClr val="FF0000"/>
            </a:solidFill>
            <a:prstDash val="solid"/>
            <a:round/>
            <a:headEnd type="none" w="sm" len="sm"/>
            <a:tailEnd type="none" w="sm" len="sm"/>
          </a:ln>
        </p:spPr>
      </p:pic>
      <p:pic>
        <p:nvPicPr>
          <p:cNvPr id="220" name="Google Shape;220;p32"/>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6823886" y="3633215"/>
            <a:ext cx="2190055" cy="123190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3"/>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226" name="Google Shape;226;p33"/>
          <p:cNvSpPr txBox="1"/>
          <p:nvPr/>
        </p:nvSpPr>
        <p:spPr>
          <a:xfrm>
            <a:off x="74675" y="377950"/>
            <a:ext cx="4068600" cy="1449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Reflection AI Beam - 501B open-weight model</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First model from the $25 Bln US startup</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Sparse MoE: 501B total, 23B active, 1M context, text only</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Claims 80.9 on SWE-bench Verified</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Claims GLM-5.2-level reasoning at 3 to 4x less compute</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Kimi K3 still ahead; all numbers are Reflection's own</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Weights under Apache 2.0 to be released later in October</a:t>
            </a:r>
            <a:endParaRPr sz="12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https://reflection.ai/blog/introducing-beam</a:t>
            </a:r>
            <a:r>
              <a:rPr lang="en" sz="900">
                <a:solidFill>
                  <a:srgbClr val="0563C1"/>
                </a:solidFill>
                <a:latin typeface="Calibri"/>
                <a:ea typeface="Calibri"/>
                <a:cs typeface="Calibri"/>
                <a:sym typeface="Calibri"/>
              </a:rPr>
              <a:t> </a:t>
            </a:r>
            <a:endParaRPr sz="900">
              <a:solidFill>
                <a:srgbClr val="0563C1"/>
              </a:solidFill>
              <a:latin typeface="Calibri"/>
              <a:ea typeface="Calibri"/>
              <a:cs typeface="Calibri"/>
              <a:sym typeface="Calibri"/>
            </a:endParaRPr>
          </a:p>
        </p:txBody>
      </p:sp>
      <p:pic>
        <p:nvPicPr>
          <p:cNvPr id="227" name="Google Shape;227;p33"/>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248650" y="182125"/>
            <a:ext cx="2075528" cy="326400"/>
          </a:xfrm>
          <a:prstGeom prst="rect">
            <a:avLst/>
          </a:prstGeom>
          <a:noFill/>
          <a:ln>
            <a:noFill/>
          </a:ln>
        </p:spPr>
      </p:pic>
      <p:pic>
        <p:nvPicPr>
          <p:cNvPr id="228" name="Google Shape;228;p3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248650" y="576625"/>
            <a:ext cx="1875927" cy="1251225"/>
          </a:xfrm>
          <a:prstGeom prst="rect">
            <a:avLst/>
          </a:prstGeom>
          <a:noFill/>
          <a:ln w="9525" cap="flat" cmpd="sng">
            <a:solidFill>
              <a:srgbClr val="FF0000"/>
            </a:solidFill>
            <a:prstDash val="solid"/>
            <a:round/>
            <a:headEnd type="none" w="sm" len="sm"/>
            <a:tailEnd type="none" w="sm" len="sm"/>
          </a:ln>
        </p:spPr>
      </p:pic>
      <p:sp>
        <p:nvSpPr>
          <p:cNvPr id="229" name="Google Shape;229;p33"/>
          <p:cNvSpPr txBox="1"/>
          <p:nvPr/>
        </p:nvSpPr>
        <p:spPr>
          <a:xfrm>
            <a:off x="84200" y="1897300"/>
            <a:ext cx="52404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Reka Rho-1: 19B model for text, video and robot actions</a:t>
            </a:r>
            <a:endParaRPr sz="1200" b="1">
              <a:solidFill>
                <a:srgbClr val="FF0000"/>
              </a:solidFill>
              <a:latin typeface="Calibri"/>
              <a:ea typeface="Calibri"/>
              <a:cs typeface="Calibri"/>
              <a:sym typeface="Calibri"/>
            </a:endParaRPr>
          </a:p>
          <a:p>
            <a:pPr marL="171450" lvl="0" indent="-133350" algn="l" rtl="0">
              <a:spcBef>
                <a:spcPts val="0"/>
              </a:spcBef>
              <a:spcAft>
                <a:spcPts val="0"/>
              </a:spcAft>
              <a:buClr>
                <a:schemeClr val="dk1"/>
              </a:buClr>
              <a:buSzPts val="1200"/>
              <a:buFont typeface="Calibri"/>
              <a:buChar char="●"/>
            </a:pPr>
            <a:r>
              <a:rPr lang="en" sz="1200">
                <a:solidFill>
                  <a:schemeClr val="dk1"/>
                </a:solidFill>
                <a:uFill>
                  <a:noFill/>
                </a:uFill>
                <a:latin typeface="Calibri"/>
                <a:ea typeface="Calibri"/>
                <a:cs typeface="Calibri"/>
                <a:sym typeface="Calibri"/>
                <a:hlinkClick r:id="rId6">
                  <a:extLst>
                    <a:ext uri="{A12FA001-AC4F-418D-AE19-62706E023703}">
                      <ahyp:hlinkClr xmlns:ahyp="http://schemas.microsoft.com/office/drawing/2018/hyperlinkcolor" val="tx"/>
                    </a:ext>
                  </a:extLst>
                </a:hlinkClick>
              </a:rPr>
              <a:t>Reka.ai</a:t>
            </a:r>
            <a:r>
              <a:rPr lang="en" sz="1200">
                <a:solidFill>
                  <a:schemeClr val="dk1"/>
                </a:solidFill>
                <a:latin typeface="Calibri"/>
                <a:ea typeface="Calibri"/>
                <a:cs typeface="Calibri"/>
                <a:sym typeface="Calibri"/>
              </a:rPr>
              <a:t> - a startup in San Francisco, CA - </a:t>
            </a:r>
            <a:r>
              <a:rPr lang="en" sz="1200" u="sng">
                <a:solidFill>
                  <a:schemeClr val="hlink"/>
                </a:solidFill>
                <a:latin typeface="Calibri"/>
                <a:ea typeface="Calibri"/>
                <a:cs typeface="Calibri"/>
                <a:sym typeface="Calibri"/>
                <a:hlinkClick r:id="rId7"/>
              </a:rPr>
              <a:t>https://reka.ai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Rho-1 model reads and generates text, images, video, and robot actions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Replaces the usual world model, planner and policy handoffs with one network</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First video clip in 7.0 sec versus 13.8 sec for a multi-agent pipeline</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Robot labels inferred from ordinary video with an inverse dynamics model</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Trained from scratch on 320 H100s in about 3 months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Research preview only; video capped at 672x384, no physical robot demo yet</a:t>
            </a:r>
            <a:endParaRPr sz="600">
              <a:solidFill>
                <a:srgbClr val="0563C1"/>
              </a:solidFill>
              <a:latin typeface="Calibri"/>
              <a:ea typeface="Calibri"/>
              <a:cs typeface="Calibri"/>
              <a:sym typeface="Calibri"/>
            </a:endParaRPr>
          </a:p>
        </p:txBody>
      </p:sp>
      <p:pic>
        <p:nvPicPr>
          <p:cNvPr id="230" name="Google Shape;230;p33"/>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442798" y="2115338"/>
            <a:ext cx="1739049" cy="912826"/>
          </a:xfrm>
          <a:prstGeom prst="rect">
            <a:avLst/>
          </a:prstGeom>
          <a:noFill/>
          <a:ln w="9525" cap="flat" cmpd="sng">
            <a:solidFill>
              <a:srgbClr val="FF0000"/>
            </a:solidFill>
            <a:prstDash val="solid"/>
            <a:round/>
            <a:headEnd type="none" w="sm" len="sm"/>
            <a:tailEnd type="none" w="sm" len="sm"/>
          </a:ln>
        </p:spPr>
      </p:pic>
      <p:sp>
        <p:nvSpPr>
          <p:cNvPr id="231" name="Google Shape;231;p33"/>
          <p:cNvSpPr txBox="1"/>
          <p:nvPr/>
        </p:nvSpPr>
        <p:spPr>
          <a:xfrm>
            <a:off x="74675" y="3462850"/>
            <a:ext cx="4573500" cy="1634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a16z - Top 100 Gen AI Consumer Apps</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New list ranks apps by US consumer card spending</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ChatGPT has about 3-times the paid subscribers of Gemini or Claude</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Only 4.5% of Americans pay for a major chatbot</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Median payer spends $25</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84% of AI-native web apps sell subscriptions, 14% run ads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Personal agents are the new front: </a:t>
            </a:r>
            <a:r>
              <a:rPr lang="en" sz="1200" b="1">
                <a:solidFill>
                  <a:srgbClr val="FF0000"/>
                </a:solidFill>
                <a:latin typeface="Calibri"/>
                <a:ea typeface="Calibri"/>
                <a:cs typeface="Calibri"/>
                <a:sym typeface="Calibri"/>
              </a:rPr>
              <a:t>Muse, Dots, Grok Bot, Instinct</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a16z is Andreessen Horowitz, an American venture-capital firm</a:t>
            </a:r>
            <a:endParaRPr sz="12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9"/>
              </a:rPr>
              <a:t>https://a16z.com/100-gen-ai-apps-7/</a:t>
            </a:r>
            <a:r>
              <a:rPr lang="en" sz="900">
                <a:solidFill>
                  <a:srgbClr val="0563C1"/>
                </a:solidFill>
                <a:latin typeface="Calibri"/>
                <a:ea typeface="Calibri"/>
                <a:cs typeface="Calibri"/>
                <a:sym typeface="Calibri"/>
              </a:rPr>
              <a:t> </a:t>
            </a:r>
            <a:endParaRPr sz="900">
              <a:solidFill>
                <a:srgbClr val="0563C1"/>
              </a:solidFill>
              <a:latin typeface="Calibri"/>
              <a:ea typeface="Calibri"/>
              <a:cs typeface="Calibri"/>
              <a:sym typeface="Calibri"/>
            </a:endParaRPr>
          </a:p>
        </p:txBody>
      </p:sp>
      <p:pic>
        <p:nvPicPr>
          <p:cNvPr id="232" name="Google Shape;232;p33"/>
          <p:cNvPicPr preferRelativeResize="0"/>
          <p:nvPr/>
        </p:nvPicPr>
        <p:blipFill rotWithShape="1">
          <a:blip r:embed="rId10" cstate="email">
            <a:alphaModFix/>
            <a:extLst>
              <a:ext uri="{28A0092B-C50C-407E-A947-70E740481C1C}">
                <a14:useLocalDpi xmlns:a14="http://schemas.microsoft.com/office/drawing/2010/main"/>
              </a:ext>
            </a:extLst>
          </a:blip>
          <a:srcRect/>
          <a:stretch/>
        </p:blipFill>
        <p:spPr>
          <a:xfrm>
            <a:off x="4782475" y="3679100"/>
            <a:ext cx="1980274" cy="12022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4"/>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238" name="Google Shape;238;p34"/>
          <p:cNvSpPr txBox="1"/>
          <p:nvPr/>
        </p:nvSpPr>
        <p:spPr>
          <a:xfrm>
            <a:off x="65150" y="339850"/>
            <a:ext cx="4440300" cy="237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Devin adds Memory and Dreaming</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Dreaming - Across sessions, Devin builds a memory graph of how you like to work. Saves preferences, corrections, project lessons</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At night Devin self-improves its memory to remove stale records and discover latent information</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Each memory is a short note linked back to the session that taught it</a:t>
            </a:r>
            <a:endParaRPr sz="1200">
              <a:latin typeface="Calibri"/>
              <a:ea typeface="Calibri"/>
              <a:cs typeface="Calibri"/>
              <a:sym typeface="Calibri"/>
            </a:endParaRPr>
          </a:p>
          <a:p>
            <a:pPr marL="171450" lvl="0" indent="-133350" algn="l" rtl="0">
              <a:spcBef>
                <a:spcPts val="0"/>
              </a:spcBef>
              <a:spcAft>
                <a:spcPts val="0"/>
              </a:spcAft>
              <a:buSzPts val="1200"/>
              <a:buChar char="●"/>
            </a:pPr>
            <a:r>
              <a:rPr lang="en" sz="1200">
                <a:latin typeface="Calibri"/>
                <a:ea typeface="Calibri"/>
                <a:cs typeface="Calibri"/>
                <a:sym typeface="Calibri"/>
              </a:rPr>
              <a:t>Stored in a personal Memory Drive: </a:t>
            </a:r>
            <a:br>
              <a:rPr lang="en" sz="1200">
                <a:latin typeface="Calibri"/>
                <a:ea typeface="Calibri"/>
                <a:cs typeface="Calibri"/>
                <a:sym typeface="Calibri"/>
              </a:rPr>
            </a:br>
            <a:r>
              <a:rPr lang="en" sz="1200">
                <a:latin typeface="Calibri"/>
                <a:ea typeface="Calibri"/>
                <a:cs typeface="Calibri"/>
                <a:sym typeface="Calibri"/>
              </a:rPr>
              <a:t>a Git repo of Markdown files with a </a:t>
            </a:r>
            <a:r>
              <a:rPr lang="en" sz="1200" b="1">
                <a:solidFill>
                  <a:srgbClr val="3C78D8"/>
                </a:solidFill>
                <a:latin typeface="Calibri"/>
                <a:ea typeface="Calibri"/>
                <a:cs typeface="Calibri"/>
                <a:sym typeface="Calibri"/>
              </a:rPr>
              <a:t>MEMORY.md</a:t>
            </a:r>
            <a:r>
              <a:rPr lang="en" sz="1200">
                <a:latin typeface="Calibri"/>
                <a:ea typeface="Calibri"/>
                <a:cs typeface="Calibri"/>
                <a:sym typeface="Calibri"/>
              </a:rPr>
              <a:t> index</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Dreaming runs daily: dedupes memories, links them to sessions and artifacts, derives new knowledge</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Under Customize &gt; Memory; </a:t>
            </a:r>
            <a:br>
              <a:rPr lang="en" sz="1200">
                <a:latin typeface="Calibri"/>
                <a:ea typeface="Calibri"/>
                <a:cs typeface="Calibri"/>
                <a:sym typeface="Calibri"/>
              </a:rPr>
            </a:br>
            <a:r>
              <a:rPr lang="en" sz="1200">
                <a:latin typeface="Calibri"/>
                <a:ea typeface="Calibri"/>
                <a:cs typeface="Calibri"/>
                <a:sym typeface="Calibri"/>
              </a:rPr>
              <a:t>memory is personal, not shared org rules</a:t>
            </a:r>
            <a:endParaRPr sz="12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https://devin.ai/blog/memory-and-dreaming</a:t>
            </a:r>
            <a:r>
              <a:rPr lang="en" sz="900">
                <a:solidFill>
                  <a:srgbClr val="0563C1"/>
                </a:solidFill>
                <a:latin typeface="Calibri"/>
                <a:ea typeface="Calibri"/>
                <a:cs typeface="Calibri"/>
                <a:sym typeface="Calibri"/>
              </a:rPr>
              <a:t> </a:t>
            </a:r>
            <a:endParaRPr sz="900">
              <a:solidFill>
                <a:srgbClr val="0563C1"/>
              </a:solidFill>
              <a:latin typeface="Calibri"/>
              <a:ea typeface="Calibri"/>
              <a:cs typeface="Calibri"/>
              <a:sym typeface="Calibri"/>
            </a:endParaRPr>
          </a:p>
        </p:txBody>
      </p:sp>
      <p:pic>
        <p:nvPicPr>
          <p:cNvPr id="239" name="Google Shape;239;p3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38800" y="784087"/>
            <a:ext cx="2828799" cy="148512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5"/>
          <p:cNvSpPr txBox="1"/>
          <p:nvPr/>
        </p:nvSpPr>
        <p:spPr>
          <a:xfrm>
            <a:off x="83398" y="50600"/>
            <a:ext cx="1923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Jobs and Layoffs</a:t>
            </a:r>
            <a:endParaRPr sz="2000" b="1">
              <a:latin typeface="Calibri"/>
              <a:ea typeface="Calibri"/>
              <a:cs typeface="Calibri"/>
              <a:sym typeface="Calibri"/>
            </a:endParaRPr>
          </a:p>
        </p:txBody>
      </p:sp>
      <p:sp>
        <p:nvSpPr>
          <p:cNvPr id="245" name="Google Shape;245;p35"/>
          <p:cNvSpPr txBox="1"/>
          <p:nvPr/>
        </p:nvSpPr>
        <p:spPr>
          <a:xfrm>
            <a:off x="2771397" y="198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246" name="Google Shape;246;p35"/>
          <p:cNvSpPr txBox="1"/>
          <p:nvPr/>
        </p:nvSpPr>
        <p:spPr>
          <a:xfrm>
            <a:off x="5690525" y="3510625"/>
            <a:ext cx="32868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no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129.2K in 2026 </a:t>
            </a:r>
            <a:r>
              <a:rPr lang="en" sz="1000" b="1">
                <a:solidFill>
                  <a:srgbClr val="000000"/>
                </a:solidFill>
                <a:latin typeface="Roboto Mono"/>
                <a:ea typeface="Roboto Mono"/>
                <a:cs typeface="Roboto Mono"/>
                <a:sym typeface="Roboto Mono"/>
              </a:rPr>
              <a:t>(as of Sept 18,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123K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266K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247" name="Google Shape;247;p35"/>
          <p:cNvSpPr txBox="1"/>
          <p:nvPr/>
        </p:nvSpPr>
        <p:spPr>
          <a:xfrm>
            <a:off x="5690530" y="1158774"/>
            <a:ext cx="32868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no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189,217</a:t>
            </a:r>
            <a:r>
              <a:rPr lang="en" sz="1200">
                <a:latin typeface="Calibri"/>
                <a:ea typeface="Calibri"/>
                <a:cs typeface="Calibri"/>
                <a:sym typeface="Calibri"/>
              </a:rPr>
              <a:t> people laid off (725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8"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248" name="Google Shape;248;p35" descr="auto: layoffs-fyi-chart"/>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345736" y="3407672"/>
            <a:ext cx="4634459" cy="1548885"/>
          </a:xfrm>
          <a:prstGeom prst="rect">
            <a:avLst/>
          </a:prstGeom>
          <a:noFill/>
          <a:ln w="9100" cap="flat" cmpd="sng">
            <a:solidFill>
              <a:srgbClr val="FF0000"/>
            </a:solidFill>
            <a:prstDash val="solid"/>
            <a:round/>
            <a:headEnd type="none" w="sm" len="sm"/>
            <a:tailEnd type="none" w="sm" len="sm"/>
          </a:ln>
        </p:spPr>
      </p:pic>
      <p:pic>
        <p:nvPicPr>
          <p:cNvPr id="249" name="Google Shape;249;p35" descr="auto: trueup-chart"/>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243109" y="569314"/>
            <a:ext cx="4839721" cy="2496148"/>
          </a:xfrm>
          <a:prstGeom prst="rect">
            <a:avLst/>
          </a:prstGeom>
          <a:noFill/>
          <a:ln w="9100" cap="flat" cmpd="sng">
            <a:solidFill>
              <a:srgbClr val="FF0000"/>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6"/>
          <p:cNvSpPr txBox="1"/>
          <p:nvPr/>
        </p:nvSpPr>
        <p:spPr>
          <a:xfrm>
            <a:off x="93825" y="-8374"/>
            <a:ext cx="13827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Tech Hiring</a:t>
            </a:r>
            <a:endParaRPr sz="2000" b="1">
              <a:latin typeface="Calibri"/>
              <a:ea typeface="Calibri"/>
              <a:cs typeface="Calibri"/>
              <a:sym typeface="Calibri"/>
            </a:endParaRPr>
          </a:p>
        </p:txBody>
      </p:sp>
      <p:sp>
        <p:nvSpPr>
          <p:cNvPr id="255" name="Google Shape;255;p36"/>
          <p:cNvSpPr txBox="1"/>
          <p:nvPr/>
        </p:nvSpPr>
        <p:spPr>
          <a:xfrm>
            <a:off x="84300" y="406525"/>
            <a:ext cx="4487700" cy="1080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Software job postings on Indeed</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Comparing to 2020 level, in Feb 2022 it was 234%, in 2025 it was 65%, now it is 77%</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All US job postings: 103% (compared with 2020)</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Postings that mention AI: 6.7% of all, up from 3.4% a year ago</a:t>
            </a:r>
            <a:endParaRPr sz="1200">
              <a:latin typeface="Calibri"/>
              <a:ea typeface="Calibri"/>
              <a:cs typeface="Calibri"/>
              <a:sym typeface="Calibri"/>
            </a:endParaRPr>
          </a:p>
          <a:p>
            <a:pPr marL="171450" lvl="0" indent="-114300" algn="l" rtl="0">
              <a:spcBef>
                <a:spcPts val="0"/>
              </a:spcBef>
              <a:spcAft>
                <a:spcPts val="0"/>
              </a:spcAft>
              <a:buClr>
                <a:srgbClr val="0563C1"/>
              </a:buClr>
              <a:buSzPts val="900"/>
              <a:buFont typeface="Calibri"/>
              <a:buChar char="●"/>
            </a:pPr>
            <a:r>
              <a:rPr lang="en" sz="900" u="sng">
                <a:solidFill>
                  <a:srgbClr val="0563C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https://fred.stlouisfed.org/series/IHLIDXUSTPSOFTDEVE</a:t>
            </a:r>
            <a:endParaRPr sz="900">
              <a:solidFill>
                <a:srgbClr val="0563C1"/>
              </a:solidFill>
              <a:latin typeface="Calibri"/>
              <a:ea typeface="Calibri"/>
              <a:cs typeface="Calibri"/>
              <a:sym typeface="Calibri"/>
            </a:endParaRPr>
          </a:p>
        </p:txBody>
      </p:sp>
      <p:sp>
        <p:nvSpPr>
          <p:cNvPr id="256" name="Google Shape;256;p36"/>
          <p:cNvSpPr txBox="1"/>
          <p:nvPr/>
        </p:nvSpPr>
        <p:spPr>
          <a:xfrm>
            <a:off x="84300" y="1779175"/>
            <a:ext cx="4487700" cy="214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Skills in demand</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Dice, 7M+ US tech postings (Aug 2026): +18% year over year</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AI and machine learning postings </a:t>
            </a:r>
            <a:r>
              <a:rPr lang="en" sz="1200">
                <a:highlight>
                  <a:srgbClr val="FFF2CC"/>
                </a:highlight>
                <a:latin typeface="Calibri"/>
                <a:ea typeface="Calibri"/>
                <a:cs typeface="Calibri"/>
                <a:sym typeface="Calibri"/>
              </a:rPr>
              <a:t>+101%</a:t>
            </a:r>
            <a:r>
              <a:rPr lang="en" sz="1200">
                <a:latin typeface="Calibri"/>
                <a:ea typeface="Calibri"/>
                <a:cs typeface="Calibri"/>
                <a:sym typeface="Calibri"/>
              </a:rPr>
              <a:t> year over year, five times the overall rate</a:t>
            </a:r>
            <a:endParaRPr sz="1200">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Fastest-growing skills, each up 200%+: </a:t>
            </a:r>
            <a:r>
              <a:rPr lang="en" sz="1200" b="1">
                <a:solidFill>
                  <a:srgbClr val="FF0000"/>
                </a:solidFill>
                <a:latin typeface="Calibri"/>
                <a:ea typeface="Calibri"/>
                <a:cs typeface="Calibri"/>
                <a:sym typeface="Calibri"/>
              </a:rPr>
              <a:t>responsible AI, AI agents, agentic AI, AI infrastructure</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Most requested overall: </a:t>
            </a:r>
            <a:r>
              <a:rPr lang="en" sz="1200" b="1">
                <a:solidFill>
                  <a:srgbClr val="FF0000"/>
                </a:solidFill>
                <a:latin typeface="Calibri"/>
                <a:ea typeface="Calibri"/>
                <a:cs typeface="Calibri"/>
                <a:sym typeface="Calibri"/>
              </a:rPr>
              <a:t>communication, computer science, troubleshooting</a:t>
            </a:r>
            <a:endParaRPr sz="1200" b="1">
              <a:solidFill>
                <a:srgbClr val="FF0000"/>
              </a:solidFill>
              <a:latin typeface="Calibri"/>
              <a:ea typeface="Calibri"/>
              <a:cs typeface="Calibri"/>
              <a:sym typeface="Calibri"/>
            </a:endParaRPr>
          </a:p>
          <a:p>
            <a:pPr marL="171450" lvl="0" indent="-133350" algn="l" rtl="0">
              <a:spcBef>
                <a:spcPts val="0"/>
              </a:spcBef>
              <a:spcAft>
                <a:spcPts val="0"/>
              </a:spcAft>
              <a:buSzPts val="1200"/>
              <a:buFont typeface="Calibri"/>
              <a:buChar char="●"/>
            </a:pPr>
            <a:r>
              <a:rPr lang="en" sz="1200">
                <a:latin typeface="Calibri"/>
                <a:ea typeface="Calibri"/>
                <a:cs typeface="Calibri"/>
                <a:sym typeface="Calibri"/>
              </a:rPr>
              <a:t>Indeed: 71% of the software postings rebound (May 2025 to May 2026) is senior roles; 37% has AI in the title</a:t>
            </a:r>
            <a:endParaRPr sz="1200">
              <a:latin typeface="Calibri"/>
              <a:ea typeface="Calibri"/>
              <a:cs typeface="Calibri"/>
              <a:sym typeface="Calibri"/>
            </a:endParaRPr>
          </a:p>
          <a:p>
            <a:pPr marL="171450" lvl="0" indent="-114300" algn="l" rtl="0">
              <a:spcBef>
                <a:spcPts val="0"/>
              </a:spcBef>
              <a:spcAft>
                <a:spcPts val="0"/>
              </a:spcAft>
              <a:buClr>
                <a:srgbClr val="0563C1"/>
              </a:buClr>
              <a:buSzPts val="900"/>
              <a:buFont typeface="Calibri"/>
              <a:buChar char="●"/>
            </a:pPr>
            <a:r>
              <a:rPr lang="en" sz="900" u="sng">
                <a:solidFill>
                  <a:srgbClr val="0563C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https://hiringlab.indeed.com/2026/07/08/ai-and-job-postings-from-destruction-to-creation/</a:t>
            </a:r>
            <a:endParaRPr sz="900">
              <a:solidFill>
                <a:srgbClr val="0563C1"/>
              </a:solidFill>
              <a:latin typeface="Calibri"/>
              <a:ea typeface="Calibri"/>
              <a:cs typeface="Calibri"/>
              <a:sym typeface="Calibri"/>
            </a:endParaRPr>
          </a:p>
          <a:p>
            <a:pPr marL="171450" lvl="0" indent="-114300" algn="l" rtl="0">
              <a:spcBef>
                <a:spcPts val="0"/>
              </a:spcBef>
              <a:spcAft>
                <a:spcPts val="0"/>
              </a:spcAft>
              <a:buClr>
                <a:srgbClr val="0563C1"/>
              </a:buClr>
              <a:buSzPts val="900"/>
              <a:buFont typeface="Calibri"/>
              <a:buChar char="●"/>
            </a:pPr>
            <a:r>
              <a:rPr lang="en" sz="900" u="sng">
                <a:solidFill>
                  <a:srgbClr val="0563C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https://www.dice.com/hiring/recruitment/reports/dice-tech-job-report</a:t>
            </a:r>
            <a:endParaRPr sz="900">
              <a:solidFill>
                <a:srgbClr val="0563C1"/>
              </a:solidFill>
              <a:latin typeface="Calibri"/>
              <a:ea typeface="Calibri"/>
              <a:cs typeface="Calibri"/>
              <a:sym typeface="Calibri"/>
            </a:endParaRPr>
          </a:p>
        </p:txBody>
      </p:sp>
      <p:sp>
        <p:nvSpPr>
          <p:cNvPr id="257" name="Google Shape;257;p36"/>
          <p:cNvSpPr txBox="1"/>
          <p:nvPr/>
        </p:nvSpPr>
        <p:spPr>
          <a:xfrm>
            <a:off x="4876773" y="318025"/>
            <a:ext cx="39426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Top "In Demand" Skills and Qualifications</a:t>
            </a:r>
            <a:endParaRPr sz="1200" b="1">
              <a:solidFill>
                <a:srgbClr val="FF0000"/>
              </a:solidFill>
              <a:latin typeface="Calibri"/>
              <a:ea typeface="Calibri"/>
              <a:cs typeface="Calibri"/>
              <a:sym typeface="Calibri"/>
            </a:endParaRPr>
          </a:p>
          <a:p>
            <a:pPr marL="0" lvl="0" indent="0" algn="l" rtl="0">
              <a:spcBef>
                <a:spcPts val="0"/>
              </a:spcBef>
              <a:spcAft>
                <a:spcPts val="0"/>
              </a:spcAft>
              <a:buNone/>
            </a:pP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AutoNum type="arabicPeriod"/>
            </a:pPr>
            <a:r>
              <a:rPr lang="en" sz="1200" b="1">
                <a:solidFill>
                  <a:srgbClr val="3C78D8"/>
                </a:solidFill>
                <a:latin typeface="Calibri"/>
                <a:ea typeface="Calibri"/>
                <a:cs typeface="Calibri"/>
                <a:sym typeface="Calibri"/>
              </a:rPr>
              <a:t>- Critical thinking and problem-solving</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AutoNum type="arabicPeriod"/>
            </a:pPr>
            <a:r>
              <a:rPr lang="en" sz="1200" b="1">
                <a:solidFill>
                  <a:srgbClr val="3C78D8"/>
                </a:solidFill>
                <a:latin typeface="Calibri"/>
                <a:ea typeface="Calibri"/>
                <a:cs typeface="Calibri"/>
                <a:sym typeface="Calibri"/>
              </a:rPr>
              <a:t>- Communication and stakeholder management</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AutoNum type="arabicPeriod"/>
            </a:pPr>
            <a:r>
              <a:rPr lang="en" sz="1200" b="1">
                <a:solidFill>
                  <a:srgbClr val="3C78D8"/>
                </a:solidFill>
                <a:latin typeface="Calibri"/>
                <a:ea typeface="Calibri"/>
                <a:cs typeface="Calibri"/>
                <a:sym typeface="Calibri"/>
              </a:rPr>
              <a:t>- Adaptability and continuous learning</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AutoNum type="arabicPeriod"/>
            </a:pPr>
            <a:r>
              <a:rPr lang="en" sz="1200" b="1">
                <a:solidFill>
                  <a:srgbClr val="3C78D8"/>
                </a:solidFill>
                <a:latin typeface="Calibri"/>
                <a:ea typeface="Calibri"/>
                <a:cs typeface="Calibri"/>
                <a:sym typeface="Calibri"/>
              </a:rPr>
              <a:t>- AI literacy and practical AI adoption</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AutoNum type="arabicPeriod"/>
            </a:pPr>
            <a:r>
              <a:rPr lang="en" sz="1200" b="1">
                <a:solidFill>
                  <a:srgbClr val="3C78D8"/>
                </a:solidFill>
                <a:latin typeface="Calibri"/>
                <a:ea typeface="Calibri"/>
                <a:cs typeface="Calibri"/>
                <a:sym typeface="Calibri"/>
              </a:rPr>
              <a:t>- AI/ML application development</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AutoNum type="arabicPeriod"/>
            </a:pPr>
            <a:r>
              <a:rPr lang="en" sz="1200" b="1">
                <a:solidFill>
                  <a:srgbClr val="3C78D8"/>
                </a:solidFill>
                <a:latin typeface="Calibri"/>
                <a:ea typeface="Calibri"/>
                <a:cs typeface="Calibri"/>
                <a:sym typeface="Calibri"/>
              </a:rPr>
              <a:t>- Data engineering and data management</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AutoNum type="arabicPeriod"/>
            </a:pPr>
            <a:r>
              <a:rPr lang="en" sz="1200" b="1">
                <a:solidFill>
                  <a:srgbClr val="3C78D8"/>
                </a:solidFill>
                <a:latin typeface="Calibri"/>
                <a:ea typeface="Calibri"/>
                <a:cs typeface="Calibri"/>
                <a:sym typeface="Calibri"/>
              </a:rPr>
              <a:t>- Cybersecurity and risk management</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AutoNum type="arabicPeriod"/>
            </a:pPr>
            <a:r>
              <a:rPr lang="en" sz="1200" b="1">
                <a:solidFill>
                  <a:srgbClr val="3C78D8"/>
                </a:solidFill>
                <a:latin typeface="Calibri"/>
                <a:ea typeface="Calibri"/>
                <a:cs typeface="Calibri"/>
                <a:sym typeface="Calibri"/>
              </a:rPr>
              <a:t>- Cloud and infrastructure engineering</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AutoNum type="arabicPeriod"/>
            </a:pPr>
            <a:r>
              <a:rPr lang="en" sz="1200" b="1">
                <a:solidFill>
                  <a:srgbClr val="3C78D8"/>
                </a:solidFill>
                <a:latin typeface="Calibri"/>
                <a:ea typeface="Calibri"/>
                <a:cs typeface="Calibri"/>
                <a:sym typeface="Calibri"/>
              </a:rPr>
              <a:t>- Software engineering</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AutoNum type="arabicPeriod"/>
            </a:pPr>
            <a:r>
              <a:rPr lang="en" sz="1200" b="1">
                <a:solidFill>
                  <a:srgbClr val="3C78D8"/>
                </a:solidFill>
                <a:latin typeface="Calibri"/>
                <a:ea typeface="Calibri"/>
                <a:cs typeface="Calibri"/>
                <a:sym typeface="Calibri"/>
              </a:rPr>
              <a:t>- Automation and workflow optimization</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AutoNum type="arabicPeriod"/>
            </a:pPr>
            <a:r>
              <a:rPr lang="en" sz="1200" b="1">
                <a:solidFill>
                  <a:srgbClr val="3C78D8"/>
                </a:solidFill>
                <a:latin typeface="Calibri"/>
                <a:ea typeface="Calibri"/>
                <a:cs typeface="Calibri"/>
                <a:sym typeface="Calibri"/>
              </a:rPr>
              <a:t>- DevOps, CI/CD, and platform engineering</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AutoNum type="arabicPeriod"/>
            </a:pPr>
            <a:r>
              <a:rPr lang="en" sz="1200" b="1">
                <a:solidFill>
                  <a:srgbClr val="3C78D8"/>
                </a:solidFill>
                <a:latin typeface="Calibri"/>
                <a:ea typeface="Calibri"/>
                <a:cs typeface="Calibri"/>
                <a:sym typeface="Calibri"/>
              </a:rPr>
              <a:t>- Governance, compliance, and responsible AI</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AutoNum type="arabicPeriod"/>
            </a:pPr>
            <a:r>
              <a:rPr lang="en" sz="1200" b="1">
                <a:solidFill>
                  <a:srgbClr val="3C78D8"/>
                </a:solidFill>
                <a:latin typeface="Calibri"/>
                <a:ea typeface="Calibri"/>
                <a:cs typeface="Calibri"/>
                <a:sym typeface="Calibri"/>
              </a:rPr>
              <a:t>- Analytical thinking and data analysis</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AutoNum type="arabicPeriod"/>
            </a:pPr>
            <a:r>
              <a:rPr lang="en" sz="1200" b="1">
                <a:solidFill>
                  <a:srgbClr val="3C78D8"/>
                </a:solidFill>
                <a:latin typeface="Calibri"/>
                <a:ea typeface="Calibri"/>
                <a:cs typeface="Calibri"/>
                <a:sym typeface="Calibri"/>
              </a:rPr>
              <a:t>- Product management and business alignment</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AutoNum type="arabicPeriod"/>
            </a:pPr>
            <a:r>
              <a:rPr lang="en" sz="1200" b="1">
                <a:solidFill>
                  <a:srgbClr val="3C78D8"/>
                </a:solidFill>
                <a:latin typeface="Calibri"/>
                <a:ea typeface="Calibri"/>
                <a:cs typeface="Calibri"/>
                <a:sym typeface="Calibri"/>
              </a:rPr>
              <a:t>- Project and program management</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AutoNum type="arabicPeriod"/>
            </a:pPr>
            <a:r>
              <a:rPr lang="en" sz="1200" b="1">
                <a:solidFill>
                  <a:srgbClr val="3C78D8"/>
                </a:solidFill>
                <a:latin typeface="Calibri"/>
                <a:ea typeface="Calibri"/>
                <a:cs typeface="Calibri"/>
                <a:sym typeface="Calibri"/>
              </a:rPr>
              <a:t>- Leadership and cross-functional collaboration</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AutoNum type="arabicPeriod"/>
            </a:pPr>
            <a:r>
              <a:rPr lang="en" sz="1200" b="1">
                <a:solidFill>
                  <a:srgbClr val="3C78D8"/>
                </a:solidFill>
                <a:latin typeface="Calibri"/>
                <a:ea typeface="Calibri"/>
                <a:cs typeface="Calibri"/>
                <a:sym typeface="Calibri"/>
              </a:rPr>
              <a:t>- Creativity and innovation</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AutoNum type="arabicPeriod"/>
            </a:pPr>
            <a:r>
              <a:rPr lang="en" sz="1200" b="1">
                <a:solidFill>
                  <a:srgbClr val="3C78D8"/>
                </a:solidFill>
                <a:latin typeface="Calibri"/>
                <a:ea typeface="Calibri"/>
                <a:cs typeface="Calibri"/>
                <a:sym typeface="Calibri"/>
              </a:rPr>
              <a:t>- Resilience and professionalism</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AutoNum type="arabicPeriod"/>
            </a:pPr>
            <a:r>
              <a:rPr lang="en" sz="1200" b="1">
                <a:solidFill>
                  <a:srgbClr val="3C78D8"/>
                </a:solidFill>
                <a:latin typeface="Calibri"/>
                <a:ea typeface="Calibri"/>
                <a:cs typeface="Calibri"/>
                <a:sym typeface="Calibri"/>
              </a:rPr>
              <a:t>- Technical troubleshooting and systems thinking</a:t>
            </a:r>
            <a:endParaRPr sz="1200" b="1">
              <a:solidFill>
                <a:srgbClr val="3C78D8"/>
              </a:solidFill>
              <a:latin typeface="Calibri"/>
              <a:ea typeface="Calibri"/>
              <a:cs typeface="Calibri"/>
              <a:sym typeface="Calibri"/>
            </a:endParaRPr>
          </a:p>
          <a:p>
            <a:pPr marL="228600" lvl="0" indent="-133350" algn="l" rtl="0">
              <a:spcBef>
                <a:spcPts val="0"/>
              </a:spcBef>
              <a:spcAft>
                <a:spcPts val="0"/>
              </a:spcAft>
              <a:buClr>
                <a:srgbClr val="3C78D8"/>
              </a:buClr>
              <a:buSzPts val="1200"/>
              <a:buFont typeface="Calibri"/>
              <a:buAutoNum type="arabicPeriod"/>
            </a:pPr>
            <a:r>
              <a:rPr lang="en" sz="1200" b="1">
                <a:solidFill>
                  <a:srgbClr val="3C78D8"/>
                </a:solidFill>
                <a:latin typeface="Calibri"/>
                <a:ea typeface="Calibri"/>
                <a:cs typeface="Calibri"/>
                <a:sym typeface="Calibri"/>
              </a:rPr>
              <a:t>- Business growth and customer focus</a:t>
            </a:r>
            <a:endParaRPr sz="1200" b="1">
              <a:solidFill>
                <a:srgbClr val="3C78D8"/>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7"/>
          <p:cNvSpPr txBox="1"/>
          <p:nvPr/>
        </p:nvSpPr>
        <p:spPr>
          <a:xfrm>
            <a:off x="36576" y="-27432"/>
            <a:ext cx="2441100" cy="38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latin typeface="Calibri"/>
                <a:ea typeface="Calibri"/>
                <a:cs typeface="Calibri"/>
                <a:sym typeface="Calibri"/>
              </a:rPr>
              <a:t>About the Speaker</a:t>
            </a:r>
            <a:endParaRPr sz="2000" b="1">
              <a:latin typeface="Calibri"/>
              <a:ea typeface="Calibri"/>
              <a:cs typeface="Calibri"/>
              <a:sym typeface="Calibri"/>
            </a:endParaRPr>
          </a:p>
        </p:txBody>
      </p:sp>
      <p:sp>
        <p:nvSpPr>
          <p:cNvPr id="263" name="Google Shape;263;p37"/>
          <p:cNvSpPr txBox="1"/>
          <p:nvPr/>
        </p:nvSpPr>
        <p:spPr>
          <a:xfrm>
            <a:off x="2630525" y="1630450"/>
            <a:ext cx="6256200" cy="221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solidFill>
                  <a:srgbClr val="FF0000"/>
                </a:solidFill>
                <a:latin typeface="Calibri"/>
                <a:ea typeface="Calibri"/>
                <a:cs typeface="Calibri"/>
                <a:sym typeface="Calibri"/>
              </a:rPr>
              <a:t>Lev Selector, Ph.D.</a:t>
            </a:r>
            <a:endParaRPr sz="2400" b="1">
              <a:solidFill>
                <a:srgbClr val="FF0000"/>
              </a:solidFill>
              <a:latin typeface="Calibri"/>
              <a:ea typeface="Calibri"/>
              <a:cs typeface="Calibri"/>
              <a:sym typeface="Calibri"/>
            </a:endParaRPr>
          </a:p>
          <a:p>
            <a:pPr marL="171450" lvl="0" indent="-218186" algn="l" rtl="0">
              <a:spcBef>
                <a:spcPts val="0"/>
              </a:spcBef>
              <a:spcAft>
                <a:spcPts val="0"/>
              </a:spcAft>
              <a:buSzPts val="1600"/>
              <a:buFont typeface="Calibri"/>
              <a:buChar char="●"/>
            </a:pPr>
            <a:r>
              <a:rPr lang="en" sz="1600">
                <a:latin typeface="Calibri"/>
                <a:ea typeface="Calibri"/>
                <a:cs typeface="Calibri"/>
                <a:sym typeface="Calibri"/>
              </a:rPr>
              <a:t>40+ years of software engineering, data science, and building teams (hiring, training, and managing)</a:t>
            </a:r>
            <a:endParaRPr sz="1600">
              <a:latin typeface="Calibri"/>
              <a:ea typeface="Calibri"/>
              <a:cs typeface="Calibri"/>
              <a:sym typeface="Calibri"/>
            </a:endParaRPr>
          </a:p>
          <a:p>
            <a:pPr marL="171450" lvl="0" indent="-218186" algn="l" rtl="0">
              <a:spcBef>
                <a:spcPts val="0"/>
              </a:spcBef>
              <a:spcAft>
                <a:spcPts val="0"/>
              </a:spcAft>
              <a:buSzPts val="1600"/>
              <a:buFont typeface="Calibri"/>
              <a:buChar char="●"/>
            </a:pPr>
            <a:r>
              <a:rPr lang="en" sz="1600">
                <a:latin typeface="Calibri"/>
                <a:ea typeface="Calibri"/>
                <a:cs typeface="Calibri"/>
                <a:sym typeface="Calibri"/>
              </a:rPr>
              <a:t>Ph.D. in mathematical modeling and computer simulations</a:t>
            </a:r>
            <a:endParaRPr sz="1600">
              <a:latin typeface="Calibri"/>
              <a:ea typeface="Calibri"/>
              <a:cs typeface="Calibri"/>
              <a:sym typeface="Calibri"/>
            </a:endParaRPr>
          </a:p>
          <a:p>
            <a:pPr marL="171450" lvl="0" indent="-218186" algn="l" rtl="0">
              <a:spcBef>
                <a:spcPts val="0"/>
              </a:spcBef>
              <a:spcAft>
                <a:spcPts val="0"/>
              </a:spcAft>
              <a:buSzPts val="1600"/>
              <a:buFont typeface="Calibri"/>
              <a:buChar char="●"/>
            </a:pPr>
            <a:r>
              <a:rPr lang="en" sz="1600">
                <a:latin typeface="Calibri"/>
                <a:ea typeface="Calibri"/>
                <a:cs typeface="Calibri"/>
                <a:sym typeface="Calibri"/>
              </a:rPr>
              <a:t>Interests: Generative AI, using LLMs with your data, local AI for local private data, cloud architecture, fin-tech, application security</a:t>
            </a:r>
            <a:endParaRPr sz="1600">
              <a:latin typeface="Calibri"/>
              <a:ea typeface="Calibri"/>
              <a:cs typeface="Calibri"/>
              <a:sym typeface="Calibri"/>
            </a:endParaRPr>
          </a:p>
          <a:p>
            <a:pPr marL="171450" lvl="0" indent="-218186" algn="l" rtl="0">
              <a:spcBef>
                <a:spcPts val="0"/>
              </a:spcBef>
              <a:spcAft>
                <a:spcPts val="0"/>
              </a:spcAft>
              <a:buSzPts val="1600"/>
              <a:buFont typeface="Calibri"/>
              <a:buChar char="●"/>
            </a:pPr>
            <a:r>
              <a:rPr lang="en" sz="1600">
                <a:latin typeface="Calibri"/>
                <a:ea typeface="Calibri"/>
                <a:cs typeface="Calibri"/>
                <a:sym typeface="Calibri"/>
              </a:rPr>
              <a:t>Find and connect: LinkedIn, GitHub, YouTube, Google</a:t>
            </a:r>
            <a:endParaRPr sz="1600">
              <a:latin typeface="Calibri"/>
              <a:ea typeface="Calibri"/>
              <a:cs typeface="Calibri"/>
              <a:sym typeface="Calibri"/>
            </a:endParaRPr>
          </a:p>
          <a:p>
            <a:pPr marL="0" lvl="0" indent="0" algn="l" rtl="0">
              <a:spcBef>
                <a:spcPts val="0"/>
              </a:spcBef>
              <a:spcAft>
                <a:spcPts val="0"/>
              </a:spcAft>
              <a:buNone/>
            </a:pPr>
            <a:r>
              <a:rPr lang="en" sz="1200" u="sng">
                <a:solidFill>
                  <a:srgbClr val="0563C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https://eais.ai</a:t>
            </a:r>
            <a:endParaRPr sz="1200">
              <a:solidFill>
                <a:srgbClr val="0563C1"/>
              </a:solidFill>
              <a:latin typeface="Calibri"/>
              <a:ea typeface="Calibri"/>
              <a:cs typeface="Calibri"/>
              <a:sym typeface="Calibri"/>
            </a:endParaRPr>
          </a:p>
        </p:txBody>
      </p:sp>
      <p:pic>
        <p:nvPicPr>
          <p:cNvPr id="264" name="Google Shape;264;p3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73354" y="1952269"/>
            <a:ext cx="1572768" cy="1572768"/>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8"/>
          <p:cNvSpPr txBox="1"/>
          <p:nvPr/>
        </p:nvSpPr>
        <p:spPr>
          <a:xfrm>
            <a:off x="36576" y="1154982"/>
            <a:ext cx="9070800" cy="776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000" b="1">
                <a:latin typeface="Calibri"/>
                <a:ea typeface="Calibri"/>
                <a:cs typeface="Calibri"/>
                <a:sym typeface="Calibri"/>
              </a:rPr>
              <a:t>Thank You!</a:t>
            </a:r>
            <a:endParaRPr sz="4000" b="1">
              <a:latin typeface="Calibri"/>
              <a:ea typeface="Calibri"/>
              <a:cs typeface="Calibri"/>
              <a:sym typeface="Calibri"/>
            </a:endParaRPr>
          </a:p>
        </p:txBody>
      </p:sp>
      <p:sp>
        <p:nvSpPr>
          <p:cNvPr id="270" name="Google Shape;270;p38"/>
          <p:cNvSpPr txBox="1"/>
          <p:nvPr/>
        </p:nvSpPr>
        <p:spPr>
          <a:xfrm>
            <a:off x="1434226" y="2022639"/>
            <a:ext cx="7127400" cy="1438800"/>
          </a:xfrm>
          <a:prstGeom prst="rect">
            <a:avLst/>
          </a:prstGeom>
          <a:noFill/>
          <a:ln>
            <a:noFill/>
          </a:ln>
        </p:spPr>
        <p:txBody>
          <a:bodyPr spcFirstLastPara="1" wrap="square" lIns="91425" tIns="91425" rIns="91425" bIns="91425" anchor="t" anchorCtr="0">
            <a:noAutofit/>
          </a:bodyPr>
          <a:lstStyle/>
          <a:p>
            <a:pPr marL="171450" lvl="0" indent="-218186" algn="l" rtl="0">
              <a:spcBef>
                <a:spcPts val="0"/>
              </a:spcBef>
              <a:spcAft>
                <a:spcPts val="0"/>
              </a:spcAft>
              <a:buSzPts val="1600"/>
              <a:buFont typeface="Calibri"/>
              <a:buChar char="●"/>
            </a:pPr>
            <a:r>
              <a:rPr lang="en" sz="1600">
                <a:latin typeface="Calibri"/>
                <a:ea typeface="Calibri"/>
                <a:cs typeface="Calibri"/>
                <a:sym typeface="Calibri"/>
              </a:rPr>
              <a:t>Videos of every seminar are on YouTube</a:t>
            </a:r>
            <a:endParaRPr sz="1600">
              <a:latin typeface="Calibri"/>
              <a:ea typeface="Calibri"/>
              <a:cs typeface="Calibri"/>
              <a:sym typeface="Calibri"/>
            </a:endParaRPr>
          </a:p>
          <a:p>
            <a:pPr marL="0" lvl="0" indent="0" algn="l" rtl="0">
              <a:spcBef>
                <a:spcPts val="0"/>
              </a:spcBef>
              <a:spcAft>
                <a:spcPts val="0"/>
              </a:spcAft>
              <a:buNone/>
            </a:pPr>
            <a:r>
              <a:rPr lang="en" sz="1200" u="sng">
                <a:solidFill>
                  <a:srgbClr val="0563C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endParaRPr sz="1200">
              <a:solidFill>
                <a:srgbClr val="0563C1"/>
              </a:solidFill>
              <a:latin typeface="Calibri"/>
              <a:ea typeface="Calibri"/>
              <a:cs typeface="Calibri"/>
              <a:sym typeface="Calibri"/>
            </a:endParaRPr>
          </a:p>
          <a:p>
            <a:pPr marL="171450" lvl="0" indent="-218186" algn="l" rtl="0">
              <a:spcBef>
                <a:spcPts val="0"/>
              </a:spcBef>
              <a:spcAft>
                <a:spcPts val="0"/>
              </a:spcAft>
              <a:buSzPts val="1600"/>
              <a:buFont typeface="Calibri"/>
              <a:buChar char="●"/>
            </a:pPr>
            <a:r>
              <a:rPr lang="en" sz="1600">
                <a:latin typeface="Calibri"/>
                <a:ea typeface="Calibri"/>
                <a:cs typeface="Calibri"/>
                <a:sym typeface="Calibri"/>
              </a:rPr>
              <a:t>Slides on GitHub. Click a pptx file, then the download button on the right</a:t>
            </a:r>
            <a:endParaRPr sz="1600">
              <a:latin typeface="Calibri"/>
              <a:ea typeface="Calibri"/>
              <a:cs typeface="Calibri"/>
              <a:sym typeface="Calibri"/>
            </a:endParaRPr>
          </a:p>
          <a:p>
            <a:pPr marL="0" lvl="0" indent="0" algn="l" rtl="0">
              <a:spcBef>
                <a:spcPts val="0"/>
              </a:spcBef>
              <a:spcAft>
                <a:spcPts val="0"/>
              </a:spcAft>
              <a:buNone/>
            </a:pPr>
            <a:r>
              <a:rPr lang="en" sz="1200" u="sng">
                <a:solidFill>
                  <a:srgbClr val="0563C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https://github.com/lselector/seminar</a:t>
            </a:r>
            <a:endParaRPr sz="1200">
              <a:solidFill>
                <a:srgbClr val="0563C1"/>
              </a:solidFill>
              <a:latin typeface="Calibri"/>
              <a:ea typeface="Calibri"/>
              <a:cs typeface="Calibri"/>
              <a:sym typeface="Calibri"/>
            </a:endParaRPr>
          </a:p>
          <a:p>
            <a:pPr marL="171450" lvl="0" indent="-218186" algn="l" rtl="0">
              <a:spcBef>
                <a:spcPts val="0"/>
              </a:spcBef>
              <a:spcAft>
                <a:spcPts val="0"/>
              </a:spcAft>
              <a:buSzPts val="1600"/>
              <a:buFont typeface="Calibri"/>
              <a:buChar char="●"/>
            </a:pPr>
            <a:r>
              <a:rPr lang="en" sz="1600">
                <a:latin typeface="Calibri"/>
                <a:ea typeface="Calibri"/>
                <a:cs typeface="Calibri"/>
                <a:sym typeface="Calibri"/>
              </a:rPr>
              <a:t>Slides on Google Drive</a:t>
            </a:r>
            <a:endParaRPr sz="1600">
              <a:latin typeface="Calibri"/>
              <a:ea typeface="Calibri"/>
              <a:cs typeface="Calibri"/>
              <a:sym typeface="Calibri"/>
            </a:endParaRPr>
          </a:p>
          <a:p>
            <a:pPr marL="0" lvl="0" indent="0" algn="l" rtl="0">
              <a:spcBef>
                <a:spcPts val="0"/>
              </a:spcBef>
              <a:spcAft>
                <a:spcPts val="0"/>
              </a:spcAft>
              <a:buNone/>
            </a:pPr>
            <a:r>
              <a:rPr lang="en" sz="1200" u="sng">
                <a:solidFill>
                  <a:srgbClr val="0563C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https://drive.google.com/drive/folders/1dmj00iilSP-JYmriMUUaHCKz5X54e3UX?ths=true</a:t>
            </a:r>
            <a:endParaRPr sz="1200">
              <a:solidFill>
                <a:srgbClr val="0563C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9"/>
          <p:cNvSpPr txBox="1"/>
          <p:nvPr/>
        </p:nvSpPr>
        <p:spPr>
          <a:xfrm>
            <a:off x="36576" y="-27432"/>
            <a:ext cx="2966100" cy="38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latin typeface="Calibri"/>
                <a:ea typeface="Calibri"/>
                <a:cs typeface="Calibri"/>
                <a:sym typeface="Calibri"/>
              </a:rPr>
              <a:t>Not in the presentation</a:t>
            </a:r>
            <a:endParaRPr sz="2000" b="1">
              <a:latin typeface="Calibri"/>
              <a:ea typeface="Calibri"/>
              <a:cs typeface="Calibri"/>
              <a:sym typeface="Calibri"/>
            </a:endParaRPr>
          </a:p>
        </p:txBody>
      </p:sp>
      <p:sp>
        <p:nvSpPr>
          <p:cNvPr id="276" name="Google Shape;276;p39"/>
          <p:cNvSpPr txBox="1"/>
          <p:nvPr/>
        </p:nvSpPr>
        <p:spPr>
          <a:xfrm>
            <a:off x="36576" y="758952"/>
            <a:ext cx="6377100" cy="12435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F0000"/>
                </a:solidFill>
                <a:latin typeface="Calibri"/>
                <a:ea typeface="Calibri"/>
                <a:cs typeface="Calibri"/>
                <a:sym typeface="Calibri"/>
              </a:rPr>
              <a:t>Everything after this slide is left out of the talk.</a:t>
            </a:r>
            <a:endParaRPr sz="1800" b="1">
              <a:solidFill>
                <a:srgbClr val="FF0000"/>
              </a:solidFill>
              <a:latin typeface="Calibri"/>
              <a:ea typeface="Calibri"/>
              <a:cs typeface="Calibri"/>
              <a:sym typeface="Calibri"/>
            </a:endParaRPr>
          </a:p>
          <a:p>
            <a:pPr marL="0" lvl="0" indent="0" algn="l" rtl="0">
              <a:spcBef>
                <a:spcPts val="0"/>
              </a:spcBef>
              <a:spcAft>
                <a:spcPts val="0"/>
              </a:spcAft>
              <a:buNone/>
            </a:pPr>
            <a:r>
              <a:rPr lang="en" sz="1800" b="1">
                <a:solidFill>
                  <a:srgbClr val="FF0000"/>
                </a:solidFill>
                <a:latin typeface="Calibri"/>
                <a:ea typeface="Calibri"/>
                <a:cs typeface="Calibri"/>
                <a:sym typeface="Calibri"/>
              </a:rPr>
              <a:t>Paste topics you decided not to present on the next slide. Scripts never write past this point, and a topic parked here is never added again.</a:t>
            </a:r>
            <a:endParaRPr sz="1800" b="1">
              <a:solidFill>
                <a:srgbClr val="FF0000"/>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0"/>
          <p:cNvSpPr txBox="1"/>
          <p:nvPr/>
        </p:nvSpPr>
        <p:spPr>
          <a:xfrm>
            <a:off x="36576" y="-27432"/>
            <a:ext cx="1177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latin typeface="Calibri"/>
                <a:ea typeface="Calibri"/>
                <a:cs typeface="Calibri"/>
                <a:sym typeface="Calibri"/>
              </a:rPr>
              <a:t>AI News</a:t>
            </a:r>
            <a:endParaRPr sz="2000" b="1">
              <a:latin typeface="Calibri"/>
              <a:ea typeface="Calibri"/>
              <a:cs typeface="Calibri"/>
              <a:sym typeface="Calibri"/>
            </a:endParaRPr>
          </a:p>
        </p:txBody>
      </p:sp>
      <p:sp>
        <p:nvSpPr>
          <p:cNvPr id="282" name="Google Shape;282;p40"/>
          <p:cNvSpPr txBox="1"/>
          <p:nvPr/>
        </p:nvSpPr>
        <p:spPr>
          <a:xfrm>
            <a:off x="72968" y="331044"/>
            <a:ext cx="5669400" cy="9882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14300" algn="l" rtl="0">
              <a:spcBef>
                <a:spcPts val="0"/>
              </a:spcBef>
              <a:spcAft>
                <a:spcPts val="0"/>
              </a:spcAft>
              <a:buClr>
                <a:srgbClr val="FF0000"/>
              </a:buClr>
              <a:buSzPts val="900"/>
              <a:buFont typeface="Calibri"/>
              <a:buChar char="●"/>
            </a:pPr>
            <a:r>
              <a:rPr lang="en" sz="900" b="1">
                <a:solidFill>
                  <a:srgbClr val="FF0000"/>
                </a:solidFill>
                <a:latin typeface="Calibri"/>
                <a:ea typeface="Calibri"/>
                <a:cs typeface="Calibri"/>
                <a:sym typeface="Calibri"/>
              </a:rPr>
              <a:t>FTC prepares subpoenas for OpenAI, Anthropic and METR</a:t>
            </a:r>
            <a:endParaRPr sz="900" b="1">
              <a:solidFill>
                <a:srgbClr val="FF0000"/>
              </a:solidFill>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Chair Andrew Ferguson is drafting </a:t>
            </a:r>
            <a:r>
              <a:rPr lang="en" sz="900" b="1">
                <a:latin typeface="Calibri"/>
                <a:ea typeface="Calibri"/>
                <a:cs typeface="Calibri"/>
                <a:sym typeface="Calibri"/>
              </a:rPr>
              <a:t>civil investigative demands</a:t>
            </a:r>
            <a:r>
              <a:rPr lang="en" sz="900">
                <a:latin typeface="Calibri"/>
                <a:ea typeface="Calibri"/>
                <a:cs typeface="Calibri"/>
                <a:sym typeface="Calibri"/>
              </a:rPr>
              <a:t>, which work like subpoenas</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They can compel documents and executive testimony on model safety</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Topics: safeguards, known risks, internal testing, incident response, public safety claims</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METR, the outside evaluator the labs cite, is pulled in too</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Demands expected within weeks, one day after the White House accord</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rgbClr val="0563C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https://www.axios.com/2026/09/30/ftc-openai-anthropic-ai-safety-investigation</a:t>
            </a:r>
            <a:endParaRPr sz="900">
              <a:solidFill>
                <a:srgbClr val="0563C1"/>
              </a:solidFill>
              <a:latin typeface="Calibri"/>
              <a:ea typeface="Calibri"/>
              <a:cs typeface="Calibri"/>
              <a:sym typeface="Calibri"/>
            </a:endParaRPr>
          </a:p>
        </p:txBody>
      </p:sp>
      <p:sp>
        <p:nvSpPr>
          <p:cNvPr id="283" name="Google Shape;283;p40"/>
          <p:cNvSpPr txBox="1"/>
          <p:nvPr/>
        </p:nvSpPr>
        <p:spPr>
          <a:xfrm>
            <a:off x="72969" y="1365187"/>
            <a:ext cx="5669400" cy="9882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14300" algn="l" rtl="0">
              <a:spcBef>
                <a:spcPts val="0"/>
              </a:spcBef>
              <a:spcAft>
                <a:spcPts val="0"/>
              </a:spcAft>
              <a:buClr>
                <a:srgbClr val="FF0000"/>
              </a:buClr>
              <a:buSzPts val="900"/>
              <a:buFont typeface="Calibri"/>
              <a:buChar char="●"/>
            </a:pPr>
            <a:r>
              <a:rPr lang="en" sz="900" b="1">
                <a:solidFill>
                  <a:srgbClr val="FF0000"/>
                </a:solidFill>
                <a:latin typeface="Calibri"/>
                <a:ea typeface="Calibri"/>
                <a:cs typeface="Calibri"/>
                <a:sym typeface="Calibri"/>
              </a:rPr>
              <a:t>Broadcom will lend Anthropic up to $42B to lease TPUs</a:t>
            </a:r>
            <a:endParaRPr sz="900" b="1">
              <a:solidFill>
                <a:srgbClr val="FF0000"/>
              </a:solidFill>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Disclosed in Anthropic's IPO prospectus</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b="1">
                <a:latin typeface="Calibri"/>
                <a:ea typeface="Calibri"/>
                <a:cs typeface="Calibri"/>
                <a:sym typeface="Calibri"/>
              </a:rPr>
              <a:t>Convertible notes</a:t>
            </a:r>
            <a:r>
              <a:rPr lang="en" sz="900">
                <a:latin typeface="Calibri"/>
                <a:ea typeface="Calibri"/>
                <a:cs typeface="Calibri"/>
                <a:sym typeface="Calibri"/>
              </a:rPr>
              <a:t> that can turn into Anthropic shares</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Money only for TPU capacity leases, chips Broadcom co-designs with Google</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Covers about a third of the </a:t>
            </a:r>
            <a:r>
              <a:rPr lang="en" sz="900">
                <a:highlight>
                  <a:srgbClr val="FFF2CC"/>
                </a:highlight>
                <a:latin typeface="Calibri"/>
                <a:ea typeface="Calibri"/>
                <a:cs typeface="Calibri"/>
                <a:sym typeface="Calibri"/>
              </a:rPr>
              <a:t>$125.2B</a:t>
            </a:r>
            <a:r>
              <a:rPr lang="en" sz="900">
                <a:latin typeface="Calibri"/>
                <a:ea typeface="Calibri"/>
                <a:cs typeface="Calibri"/>
                <a:sym typeface="Calibri"/>
              </a:rPr>
              <a:t> five-year TPU commitment</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No notes sold before the IPO; Anthropic flags conflicts of interest</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rgbClr val="0563C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https://www.implicator.ai/broadcom-agrees-to-lend-anthropic-up-to-42-billion-to-lease-chips-it-helps-design/</a:t>
            </a:r>
            <a:endParaRPr sz="900">
              <a:solidFill>
                <a:srgbClr val="0563C1"/>
              </a:solidFill>
              <a:latin typeface="Calibri"/>
              <a:ea typeface="Calibri"/>
              <a:cs typeface="Calibri"/>
              <a:sym typeface="Calibri"/>
            </a:endParaRPr>
          </a:p>
        </p:txBody>
      </p:sp>
      <p:sp>
        <p:nvSpPr>
          <p:cNvPr id="284" name="Google Shape;284;p40"/>
          <p:cNvSpPr txBox="1"/>
          <p:nvPr/>
        </p:nvSpPr>
        <p:spPr>
          <a:xfrm>
            <a:off x="68052" y="2415032"/>
            <a:ext cx="5669400" cy="849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14300" algn="l" rtl="0">
              <a:spcBef>
                <a:spcPts val="0"/>
              </a:spcBef>
              <a:spcAft>
                <a:spcPts val="0"/>
              </a:spcAft>
              <a:buClr>
                <a:srgbClr val="FF0000"/>
              </a:buClr>
              <a:buSzPts val="900"/>
              <a:buFont typeface="Calibri"/>
              <a:buChar char="●"/>
            </a:pPr>
            <a:r>
              <a:rPr lang="en" sz="900" b="1">
                <a:solidFill>
                  <a:srgbClr val="FF0000"/>
                </a:solidFill>
                <a:latin typeface="Calibri"/>
                <a:ea typeface="Calibri"/>
                <a:cs typeface="Calibri"/>
                <a:sym typeface="Calibri"/>
              </a:rPr>
              <a:t>NVIDIA DGX Spark 64GB: a cheaper local AI box at $5K</a:t>
            </a:r>
            <a:endParaRPr sz="900" b="1">
              <a:solidFill>
                <a:srgbClr val="FF0000"/>
              </a:solidFill>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Same GB10 Grace Blackwell chip, but only </a:t>
            </a:r>
            <a:r>
              <a:rPr lang="en" sz="900">
                <a:solidFill>
                  <a:schemeClr val="dk1"/>
                </a:solidFill>
                <a:latin typeface="Calibri"/>
                <a:ea typeface="Calibri"/>
                <a:cs typeface="Calibri"/>
                <a:sym typeface="Calibri"/>
              </a:rPr>
              <a:t>64GB unified memory </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Two units cluster over ConnectX-7 into 128GB</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The 128GB model rose from $3,999 to </a:t>
            </a:r>
            <a:r>
              <a:rPr lang="en" sz="900">
                <a:highlight>
                  <a:srgbClr val="FFF2CC"/>
                </a:highlight>
                <a:latin typeface="Calibri"/>
                <a:ea typeface="Calibri"/>
                <a:cs typeface="Calibri"/>
                <a:sym typeface="Calibri"/>
              </a:rPr>
              <a:t>$6,950</a:t>
            </a:r>
            <a:r>
              <a:rPr lang="en" sz="900">
                <a:latin typeface="Calibri"/>
                <a:ea typeface="Calibri"/>
                <a:cs typeface="Calibri"/>
                <a:sym typeface="Calibri"/>
              </a:rPr>
              <a:t> on memory prices</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Ships Oct 23 from Acer, ASUS, Dell, Gigabyte, HP and MSI</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rgbClr val="0563C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https://blogs.nvidia.com/blog/local-ai-dgx-spark-64gb-sync/</a:t>
            </a:r>
            <a:endParaRPr sz="900">
              <a:solidFill>
                <a:srgbClr val="0563C1"/>
              </a:solidFill>
              <a:latin typeface="Calibri"/>
              <a:ea typeface="Calibri"/>
              <a:cs typeface="Calibri"/>
              <a:sym typeface="Calibri"/>
            </a:endParaRPr>
          </a:p>
        </p:txBody>
      </p:sp>
      <p:sp>
        <p:nvSpPr>
          <p:cNvPr id="285" name="Google Shape;285;p40"/>
          <p:cNvSpPr txBox="1"/>
          <p:nvPr/>
        </p:nvSpPr>
        <p:spPr>
          <a:xfrm>
            <a:off x="72975" y="3326275"/>
            <a:ext cx="8299500" cy="849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14300" algn="l" rtl="0">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Google introduced Gemini 3.8 Flash TTS on September 23, 2026, enabling expressive, customizable voices for audio content and voice tools.</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 On September 24, Gemini 3.8 Live with Live Avatar brought real-time video conversation and background tool use to Gemini Enterprise.</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 Gemini Notebook updates described in the video turn sources into interactive learning materials; clearer, well-organized content may be easier for AI tools to use.</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 Google’s Project Suncatcher will test whether TPUs can operate in orbit, addressing radiation, cooling, and satellite-link challenges, with a two-satellite test planned for 2027.</a:t>
            </a:r>
            <a:endParaRPr sz="900">
              <a:solidFill>
                <a:schemeClr val="dk1"/>
              </a:solidFill>
              <a:latin typeface="Calibri"/>
              <a:ea typeface="Calibri"/>
              <a:cs typeface="Calibri"/>
              <a:sym typeface="Calibri"/>
            </a:endParaRPr>
          </a:p>
          <a:p>
            <a:pPr marL="171450" lvl="0" indent="-114300" algn="l" rtl="0">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 For SEO, the speaker’s takeaway is to publish clear, trustworthy answers that work well across search and AI experiences. The updates matter because they expand how people may consume and interact with information.</a:t>
            </a:r>
            <a:endParaRPr sz="9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1"/>
          <p:cNvSpPr txBox="1"/>
          <p:nvPr/>
        </p:nvSpPr>
        <p:spPr>
          <a:xfrm>
            <a:off x="36576" y="-27432"/>
            <a:ext cx="1859100" cy="38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latin typeface="Calibri"/>
                <a:ea typeface="Calibri"/>
                <a:cs typeface="Calibri"/>
                <a:sym typeface="Calibri"/>
              </a:rPr>
              <a:t>Parked topics</a:t>
            </a:r>
            <a:endParaRPr sz="2000" b="1">
              <a:latin typeface="Calibri"/>
              <a:ea typeface="Calibri"/>
              <a:cs typeface="Calibri"/>
              <a:sym typeface="Calibri"/>
            </a:endParaRPr>
          </a:p>
        </p:txBody>
      </p:sp>
      <p:sp>
        <p:nvSpPr>
          <p:cNvPr id="291" name="Google Shape;291;p41"/>
          <p:cNvSpPr txBox="1"/>
          <p:nvPr/>
        </p:nvSpPr>
        <p:spPr>
          <a:xfrm>
            <a:off x="60825" y="371749"/>
            <a:ext cx="7897200" cy="18192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14300" algn="l" rtl="0">
              <a:spcBef>
                <a:spcPts val="0"/>
              </a:spcBef>
              <a:spcAft>
                <a:spcPts val="0"/>
              </a:spcAft>
              <a:buClr>
                <a:srgbClr val="FF0000"/>
              </a:buClr>
              <a:buSzPts val="900"/>
              <a:buFont typeface="Calibri"/>
              <a:buChar char="●"/>
            </a:pPr>
            <a:r>
              <a:rPr lang="en" sz="900" b="1">
                <a:solidFill>
                  <a:srgbClr val="FF0000"/>
                </a:solidFill>
                <a:uFill>
                  <a:noFill/>
                </a:uFill>
                <a:latin typeface="Calibri"/>
                <a:ea typeface="Calibri"/>
                <a:cs typeface="Calibri"/>
                <a:sym typeface="Calibri"/>
                <a:hlinkClick r:id="rId3">
                  <a:extLst>
                    <a:ext uri="{A12FA001-AC4F-418D-AE19-62706E023703}">
                      <ahyp:hlinkClr xmlns:ahyp="http://schemas.microsoft.com/office/drawing/2018/hyperlinkcolor" val="tx"/>
                    </a:ext>
                  </a:extLst>
                </a:hlinkClick>
              </a:rPr>
              <a:t>PrimeIntellect.ai</a:t>
            </a:r>
            <a:r>
              <a:rPr lang="en" sz="900" b="1">
                <a:solidFill>
                  <a:srgbClr val="FF0000"/>
                </a:solidFill>
                <a:latin typeface="Calibri"/>
                <a:ea typeface="Calibri"/>
                <a:cs typeface="Calibri"/>
                <a:sym typeface="Calibri"/>
              </a:rPr>
              <a:t>  launches Prime Inference for open models</a:t>
            </a:r>
            <a:endParaRPr sz="900" b="1">
              <a:solidFill>
                <a:srgbClr val="FF0000"/>
              </a:solidFill>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Blackwell GPUs, serve open-model and agent infrastructure at scale</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b="1">
                <a:latin typeface="Calibri"/>
                <a:ea typeface="Calibri"/>
                <a:cs typeface="Calibri"/>
                <a:sym typeface="Calibri"/>
              </a:rPr>
              <a:t>OpenAI-compatible API</a:t>
            </a:r>
            <a:endParaRPr sz="900" b="1">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GLM-5.3 on GB200 NVL72: 66 sessions at 101 tokens/sec each</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PrimeIntellect.ai</a:t>
            </a:r>
            <a:r>
              <a:rPr lang="en" sz="900">
                <a:latin typeface="Calibri"/>
                <a:ea typeface="Calibri"/>
                <a:cs typeface="Calibri"/>
                <a:sym typeface="Calibri"/>
              </a:rPr>
              <a:t> is a startup from CA, since 2023</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 What: The platform offers serverless endpoints and reserved capacity on Prime’s NVIDIA Blackwell GPU infrastructure.</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Developers can use an OpenAI-compatible API by changing the base URL; automatic failover routes traffic across datacenters.</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Long-context, multi-turn agents need responsive, dependable inference. Prime separates prefill and decode, reuses cached context, and adds safeguards to handle failures and overload.</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Before public release, the service supported Prime’s reinforcement-learning and coding-agent workloads at nearly one trillion tokens daily.</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Prime reports GLM-5.3 serving 66 concurrent sessions at 101 tokens per second per user on GB200 NVL72.</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The launch makes Prime’s production-scale open-model serving available to external developers and customers.</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rgbClr val="0563C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https://www.primeintellect.ai/blog/prime-inference</a:t>
            </a:r>
            <a:endParaRPr sz="900">
              <a:solidFill>
                <a:srgbClr val="0563C1"/>
              </a:solidFill>
              <a:latin typeface="Calibri"/>
              <a:ea typeface="Calibri"/>
              <a:cs typeface="Calibri"/>
              <a:sym typeface="Calibri"/>
            </a:endParaRPr>
          </a:p>
        </p:txBody>
      </p:sp>
      <p:sp>
        <p:nvSpPr>
          <p:cNvPr id="292" name="Google Shape;292;p41"/>
          <p:cNvSpPr txBox="1"/>
          <p:nvPr/>
        </p:nvSpPr>
        <p:spPr>
          <a:xfrm>
            <a:off x="60825" y="2288300"/>
            <a:ext cx="4667400" cy="11268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73736" algn="l" rtl="0">
              <a:spcBef>
                <a:spcPts val="0"/>
              </a:spcBef>
              <a:spcAft>
                <a:spcPts val="0"/>
              </a:spcAft>
              <a:buClr>
                <a:srgbClr val="FF0000"/>
              </a:buClr>
              <a:buSzPts val="900"/>
              <a:buFont typeface="Calibri"/>
              <a:buChar char="●"/>
            </a:pPr>
            <a:r>
              <a:rPr lang="en" sz="900" b="1">
                <a:solidFill>
                  <a:srgbClr val="FF0000"/>
                </a:solidFill>
                <a:latin typeface="Calibri"/>
                <a:ea typeface="Calibri"/>
                <a:cs typeface="Calibri"/>
                <a:sym typeface="Calibri"/>
              </a:rPr>
              <a:t>OpenAI safety report lead quits, calls the culture broken</a:t>
            </a:r>
            <a:endParaRPr sz="900" b="1">
              <a:solidFill>
                <a:srgbClr val="FF0000"/>
              </a:solidFill>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David Robinson, </a:t>
            </a:r>
            <a:r>
              <a:rPr lang="en" sz="900">
                <a:highlight>
                  <a:srgbClr val="FFF2CC"/>
                </a:highlight>
                <a:latin typeface="Calibri"/>
                <a:ea typeface="Calibri"/>
                <a:cs typeface="Calibri"/>
                <a:sym typeface="Calibri"/>
              </a:rPr>
              <a:t>3.5 years</a:t>
            </a:r>
            <a:r>
              <a:rPr lang="en" sz="900">
                <a:latin typeface="Calibri"/>
                <a:ea typeface="Calibri"/>
                <a:cs typeface="Calibri"/>
                <a:sym typeface="Calibri"/>
              </a:rPr>
              <a:t> at OpenAI, wrote up his exit in The Atlantic</a:t>
            </a:r>
            <a:endParaRPr sz="900">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He oversaw safety reports for </a:t>
            </a:r>
            <a:r>
              <a:rPr lang="en" sz="900" b="1">
                <a:latin typeface="Calibri"/>
                <a:ea typeface="Calibri"/>
                <a:cs typeface="Calibri"/>
                <a:sym typeface="Calibri"/>
              </a:rPr>
              <a:t>12 frontier launches</a:t>
            </a:r>
            <a:r>
              <a:rPr lang="en" sz="900">
                <a:latin typeface="Calibri"/>
                <a:ea typeface="Calibri"/>
                <a:cs typeface="Calibri"/>
                <a:sym typeface="Calibri"/>
              </a:rPr>
              <a:t> and drafted the Preparedness Framework</a:t>
            </a:r>
            <a:endParaRPr sz="900">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"The time for trial and error is over"</a:t>
            </a:r>
            <a:endParaRPr sz="900">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Wants labs run like nuclear plants or airports, with layers of redundancy</a:t>
            </a:r>
            <a:endParaRPr sz="900">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Says the team was too busy sprinting to make big changes</a:t>
            </a:r>
            <a:endParaRPr sz="900">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Follows the firing of three safety researchers over alleged leaks</a:t>
            </a:r>
            <a:endParaRPr sz="900">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u="sng">
                <a:solidFill>
                  <a:srgbClr val="0563C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https://www.calcalistech.com/ctechnews/article/zienaylz5</a:t>
            </a:r>
            <a:endParaRPr sz="900">
              <a:solidFill>
                <a:srgbClr val="0563C1"/>
              </a:solidFill>
              <a:latin typeface="Calibri"/>
              <a:ea typeface="Calibri"/>
              <a:cs typeface="Calibri"/>
              <a:sym typeface="Calibri"/>
            </a:endParaRPr>
          </a:p>
        </p:txBody>
      </p:sp>
      <p:sp>
        <p:nvSpPr>
          <p:cNvPr id="293" name="Google Shape;293;p41"/>
          <p:cNvSpPr txBox="1"/>
          <p:nvPr/>
        </p:nvSpPr>
        <p:spPr>
          <a:xfrm>
            <a:off x="60825" y="3512450"/>
            <a:ext cx="4076400" cy="9882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73736" algn="l" rtl="0">
              <a:spcBef>
                <a:spcPts val="0"/>
              </a:spcBef>
              <a:spcAft>
                <a:spcPts val="0"/>
              </a:spcAft>
              <a:buClr>
                <a:srgbClr val="FF0000"/>
              </a:buClr>
              <a:buSzPts val="900"/>
              <a:buFont typeface="Calibri"/>
              <a:buChar char="●"/>
            </a:pPr>
            <a:r>
              <a:rPr lang="en" sz="900" b="1">
                <a:solidFill>
                  <a:srgbClr val="FF0000"/>
                </a:solidFill>
                <a:latin typeface="Calibri"/>
                <a:ea typeface="Calibri"/>
                <a:cs typeface="Calibri"/>
                <a:sym typeface="Calibri"/>
              </a:rPr>
              <a:t>Apple will tighten Full Disk Access on Macs because of AI agents</a:t>
            </a:r>
            <a:endParaRPr sz="900" b="1">
              <a:solidFill>
                <a:srgbClr val="FF0000"/>
              </a:solidFill>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Full Disk Access lets an app read all files, Mail, Messages and Safari history</a:t>
            </a:r>
            <a:endParaRPr sz="900">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Apple says agents that act across the Mac make that risk grow</a:t>
            </a:r>
            <a:endParaRPr sz="900">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Future macOS will grant it only with a </a:t>
            </a:r>
            <a:r>
              <a:rPr lang="en" sz="900" b="1">
                <a:latin typeface="Calibri"/>
                <a:ea typeface="Calibri"/>
                <a:cs typeface="Calibri"/>
                <a:sym typeface="Calibri"/>
              </a:rPr>
              <a:t>very explicit user action</a:t>
            </a:r>
            <a:endParaRPr sz="900" b="1">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Some developers ask for it in ways users do not understand, Apple says</a:t>
            </a:r>
            <a:endParaRPr sz="900">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No release date yet</a:t>
            </a:r>
            <a:endParaRPr sz="900">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u="sng">
                <a:solidFill>
                  <a:srgbClr val="0563C1"/>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https://thehackernews.com/2026/10/apple-plans-tighter-macos-full-disk.html</a:t>
            </a:r>
            <a:endParaRPr sz="900">
              <a:solidFill>
                <a:srgbClr val="0563C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42"/>
          <p:cNvSpPr txBox="1"/>
          <p:nvPr/>
        </p:nvSpPr>
        <p:spPr>
          <a:xfrm>
            <a:off x="36576" y="-27432"/>
            <a:ext cx="1859100" cy="38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latin typeface="Calibri"/>
                <a:ea typeface="Calibri"/>
                <a:cs typeface="Calibri"/>
                <a:sym typeface="Calibri"/>
              </a:rPr>
              <a:t>Parked topics</a:t>
            </a:r>
            <a:endParaRPr sz="2000" b="1">
              <a:latin typeface="Calibri"/>
              <a:ea typeface="Calibri"/>
              <a:cs typeface="Calibri"/>
              <a:sym typeface="Calibri"/>
            </a:endParaRPr>
          </a:p>
        </p:txBody>
      </p:sp>
      <p:sp>
        <p:nvSpPr>
          <p:cNvPr id="299" name="Google Shape;299;p42"/>
          <p:cNvSpPr txBox="1"/>
          <p:nvPr/>
        </p:nvSpPr>
        <p:spPr>
          <a:xfrm>
            <a:off x="36575" y="1574475"/>
            <a:ext cx="4292400" cy="11268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73736" algn="l" rtl="0">
              <a:spcBef>
                <a:spcPts val="0"/>
              </a:spcBef>
              <a:spcAft>
                <a:spcPts val="0"/>
              </a:spcAft>
              <a:buClr>
                <a:srgbClr val="FF0000"/>
              </a:buClr>
              <a:buSzPts val="900"/>
              <a:buFont typeface="Calibri"/>
              <a:buChar char="●"/>
            </a:pPr>
            <a:r>
              <a:rPr lang="en" sz="900" b="1">
                <a:solidFill>
                  <a:srgbClr val="FF0000"/>
                </a:solidFill>
                <a:latin typeface="Calibri"/>
                <a:ea typeface="Calibri"/>
                <a:cs typeface="Calibri"/>
                <a:sym typeface="Calibri"/>
              </a:rPr>
              <a:t>DeepSeek Harness v0.2 ships desktop apps</a:t>
            </a:r>
            <a:endParaRPr sz="900" b="1">
              <a:solidFill>
                <a:srgbClr val="FF0000"/>
              </a:solidFill>
              <a:latin typeface="Calibri"/>
              <a:ea typeface="Calibri"/>
              <a:cs typeface="Calibri"/>
              <a:sym typeface="Calibri"/>
            </a:endParaRPr>
          </a:p>
          <a:p>
            <a:pPr marL="171450" lvl="0" indent="-173736" algn="l" rtl="0">
              <a:spcBef>
                <a:spcPts val="0"/>
              </a:spcBef>
              <a:spcAft>
                <a:spcPts val="0"/>
              </a:spcAft>
              <a:buSzPts val="900"/>
              <a:buChar char="●"/>
            </a:pPr>
            <a:r>
              <a:rPr lang="en" sz="900">
                <a:latin typeface="Calibri"/>
                <a:ea typeface="Calibri"/>
                <a:cs typeface="Calibri"/>
                <a:sym typeface="Calibri"/>
              </a:rPr>
              <a:t>Installers for Apple silicon Macs and 64-bit Windows, or </a:t>
            </a:r>
            <a:r>
              <a:rPr lang="en" sz="900">
                <a:solidFill>
                  <a:srgbClr val="3C78D8"/>
                </a:solidFill>
                <a:latin typeface="Calibri"/>
                <a:ea typeface="Calibri"/>
                <a:cs typeface="Calibri"/>
                <a:sym typeface="Calibri"/>
              </a:rPr>
              <a:t>npx @deepseek-ai/dsh web</a:t>
            </a:r>
            <a:endParaRPr sz="900">
              <a:solidFill>
                <a:srgbClr val="3C78D8"/>
              </a:solidFill>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Repo has about </a:t>
            </a:r>
            <a:r>
              <a:rPr lang="en" sz="900">
                <a:highlight>
                  <a:srgbClr val="FFF2CC"/>
                </a:highlight>
                <a:latin typeface="Calibri"/>
                <a:ea typeface="Calibri"/>
                <a:cs typeface="Calibri"/>
                <a:sym typeface="Calibri"/>
              </a:rPr>
              <a:t>240K</a:t>
            </a:r>
            <a:r>
              <a:rPr lang="en" sz="900">
                <a:latin typeface="Calibri"/>
                <a:ea typeface="Calibri"/>
                <a:cs typeface="Calibri"/>
                <a:sym typeface="Calibri"/>
              </a:rPr>
              <a:t> stars, MIT license</a:t>
            </a:r>
            <a:endParaRPr sz="900">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Every layer is a plugin, </a:t>
            </a:r>
            <a:r>
              <a:rPr lang="en" sz="900" b="1">
                <a:latin typeface="Calibri"/>
                <a:ea typeface="Calibri"/>
                <a:cs typeface="Calibri"/>
                <a:sym typeface="Calibri"/>
              </a:rPr>
              <a:t>including the agent loop</a:t>
            </a:r>
            <a:endParaRPr sz="900" b="1">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Creator mode lets the agent write and install its own plugins</a:t>
            </a:r>
            <a:endParaRPr sz="900">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DeepSeek-V4-Flash scores 82.7 on Terminal-Bench 2.1, per DeepSeek</a:t>
            </a:r>
            <a:endParaRPr sz="900">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Works with any OpenAI-compatible endpoint</a:t>
            </a:r>
            <a:endParaRPr sz="900">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u="sng">
                <a:solidFill>
                  <a:srgbClr val="0563C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https://github.com/deepseek-ai/deepseek-harness</a:t>
            </a:r>
            <a:endParaRPr sz="900">
              <a:solidFill>
                <a:srgbClr val="0563C1"/>
              </a:solidFill>
              <a:latin typeface="Calibri"/>
              <a:ea typeface="Calibri"/>
              <a:cs typeface="Calibri"/>
              <a:sym typeface="Calibri"/>
            </a:endParaRPr>
          </a:p>
        </p:txBody>
      </p:sp>
      <p:sp>
        <p:nvSpPr>
          <p:cNvPr id="300" name="Google Shape;300;p42"/>
          <p:cNvSpPr txBox="1"/>
          <p:nvPr/>
        </p:nvSpPr>
        <p:spPr>
          <a:xfrm>
            <a:off x="36576" y="471427"/>
            <a:ext cx="5669400" cy="9882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73736" algn="l" rtl="0">
              <a:spcBef>
                <a:spcPts val="0"/>
              </a:spcBef>
              <a:spcAft>
                <a:spcPts val="0"/>
              </a:spcAft>
              <a:buClr>
                <a:srgbClr val="FF0000"/>
              </a:buClr>
              <a:buSzPts val="900"/>
              <a:buFont typeface="Calibri"/>
              <a:buChar char="●"/>
            </a:pPr>
            <a:r>
              <a:rPr lang="en" sz="900" b="1">
                <a:solidFill>
                  <a:srgbClr val="FF0000"/>
                </a:solidFill>
                <a:latin typeface="Calibri"/>
                <a:ea typeface="Calibri"/>
                <a:cs typeface="Calibri"/>
                <a:sym typeface="Calibri"/>
              </a:rPr>
              <a:t>Anthropic puts $100M into a Claude Frontier Academy</a:t>
            </a:r>
            <a:endParaRPr sz="900" b="1">
              <a:solidFill>
                <a:srgbClr val="FF0000"/>
              </a:solidFill>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Goal: train </a:t>
            </a:r>
            <a:r>
              <a:rPr lang="en" sz="900">
                <a:highlight>
                  <a:srgbClr val="FFF2CC"/>
                </a:highlight>
                <a:latin typeface="Calibri"/>
                <a:ea typeface="Calibri"/>
                <a:cs typeface="Calibri"/>
                <a:sym typeface="Calibri"/>
              </a:rPr>
              <a:t>10,000</a:t>
            </a:r>
            <a:r>
              <a:rPr lang="en" sz="900">
                <a:latin typeface="Calibri"/>
                <a:ea typeface="Calibri"/>
                <a:cs typeface="Calibri"/>
                <a:sym typeface="Calibri"/>
              </a:rPr>
              <a:t> "frontier deployed engineers" by end of 2027</a:t>
            </a:r>
            <a:endParaRPr sz="900">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Multi-day in-person training, then a graded simulated deployment</a:t>
            </a:r>
            <a:endParaRPr sz="900">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Then a </a:t>
            </a:r>
            <a:r>
              <a:rPr lang="en" sz="900" b="1">
                <a:latin typeface="Calibri"/>
                <a:ea typeface="Calibri"/>
                <a:cs typeface="Calibri"/>
                <a:sym typeface="Calibri"/>
              </a:rPr>
              <a:t>12-week residency</a:t>
            </a:r>
            <a:r>
              <a:rPr lang="en" sz="900">
                <a:latin typeface="Calibri"/>
                <a:ea typeface="Calibri"/>
                <a:cs typeface="Calibri"/>
                <a:sym typeface="Calibri"/>
              </a:rPr>
              <a:t> leading a real Claude project at the engineer's company</a:t>
            </a:r>
            <a:endParaRPr sz="900">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Early cohorts from Accenture, Deloitte, McKinsey and Morgan Stanley</a:t>
            </a:r>
            <a:endParaRPr sz="900">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a:latin typeface="Calibri"/>
                <a:ea typeface="Calibri"/>
                <a:cs typeface="Calibri"/>
                <a:sym typeface="Calibri"/>
              </a:rPr>
              <a:t>First certified engineers expected in early 2027</a:t>
            </a:r>
            <a:endParaRPr sz="900">
              <a:latin typeface="Calibri"/>
              <a:ea typeface="Calibri"/>
              <a:cs typeface="Calibri"/>
              <a:sym typeface="Calibri"/>
            </a:endParaRPr>
          </a:p>
          <a:p>
            <a:pPr marL="171450" lvl="0" indent="-173736" algn="l" rtl="0">
              <a:spcBef>
                <a:spcPts val="0"/>
              </a:spcBef>
              <a:spcAft>
                <a:spcPts val="0"/>
              </a:spcAft>
              <a:buSzPts val="900"/>
              <a:buFont typeface="Calibri"/>
              <a:buChar char="●"/>
            </a:pPr>
            <a:r>
              <a:rPr lang="en" sz="900" u="sng">
                <a:solidFill>
                  <a:srgbClr val="0563C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https://www.benzinga.com/markets/tech/26/10/62151067/anthropic-100-million-claude-frontier-academy</a:t>
            </a:r>
            <a:endParaRPr sz="900">
              <a:solidFill>
                <a:srgbClr val="0563C1"/>
              </a:solidFill>
              <a:latin typeface="Calibri"/>
              <a:ea typeface="Calibri"/>
              <a:cs typeface="Calibri"/>
              <a:sym typeface="Calibri"/>
            </a:endParaRPr>
          </a:p>
        </p:txBody>
      </p:sp>
      <p:sp>
        <p:nvSpPr>
          <p:cNvPr id="301" name="Google Shape;301;p42"/>
          <p:cNvSpPr txBox="1"/>
          <p:nvPr/>
        </p:nvSpPr>
        <p:spPr>
          <a:xfrm>
            <a:off x="36575" y="2741675"/>
            <a:ext cx="5030700" cy="9882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14300" algn="l" rtl="0">
              <a:spcBef>
                <a:spcPts val="0"/>
              </a:spcBef>
              <a:spcAft>
                <a:spcPts val="0"/>
              </a:spcAft>
              <a:buClr>
                <a:srgbClr val="FF0000"/>
              </a:buClr>
              <a:buSzPts val="900"/>
              <a:buFont typeface="Calibri"/>
              <a:buChar char="●"/>
            </a:pPr>
            <a:r>
              <a:rPr lang="en" sz="900" b="1">
                <a:solidFill>
                  <a:srgbClr val="FF0000"/>
                </a:solidFill>
                <a:latin typeface="Calibri"/>
                <a:ea typeface="Calibri"/>
                <a:cs typeface="Calibri"/>
                <a:sym typeface="Calibri"/>
              </a:rPr>
              <a:t>OpenAI watermarks ChatGPT and Codex text in the EU</a:t>
            </a:r>
            <a:endParaRPr sz="900" b="1">
              <a:solidFill>
                <a:srgbClr val="FF0000"/>
              </a:solidFill>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Method called </a:t>
            </a:r>
            <a:r>
              <a:rPr lang="en" sz="900" b="1">
                <a:latin typeface="Calibri"/>
                <a:ea typeface="Calibri"/>
                <a:cs typeface="Calibri"/>
                <a:sym typeface="Calibri"/>
              </a:rPr>
              <a:t>textGrain</a:t>
            </a:r>
            <a:r>
              <a:rPr lang="en" sz="900">
                <a:latin typeface="Calibri"/>
                <a:ea typeface="Calibri"/>
                <a:cs typeface="Calibri"/>
                <a:sym typeface="Calibri"/>
              </a:rPr>
              <a:t> shapes word choice into a hidden statistical pattern</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Meant to meet EU AI Act transparency rules in force since Aug 2</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Mandatory for eligible EU output within weeks; API users anywhere can opt in from Oct 5</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Detection drops from about </a:t>
            </a:r>
            <a:r>
              <a:rPr lang="en" sz="900">
                <a:highlight>
                  <a:srgbClr val="FFF2CC"/>
                </a:highlight>
                <a:latin typeface="Calibri"/>
                <a:ea typeface="Calibri"/>
                <a:cs typeface="Calibri"/>
                <a:sym typeface="Calibri"/>
              </a:rPr>
              <a:t>92%</a:t>
            </a:r>
            <a:r>
              <a:rPr lang="en" sz="900">
                <a:latin typeface="Calibri"/>
                <a:ea typeface="Calibri"/>
                <a:cs typeface="Calibri"/>
                <a:sym typeface="Calibri"/>
              </a:rPr>
              <a:t> to </a:t>
            </a:r>
            <a:r>
              <a:rPr lang="en" sz="900">
                <a:highlight>
                  <a:srgbClr val="FFF2CC"/>
                </a:highlight>
                <a:latin typeface="Calibri"/>
                <a:ea typeface="Calibri"/>
                <a:cs typeface="Calibri"/>
                <a:sym typeface="Calibri"/>
              </a:rPr>
              <a:t>66%</a:t>
            </a:r>
            <a:r>
              <a:rPr lang="en" sz="900">
                <a:latin typeface="Calibri"/>
                <a:ea typeface="Calibri"/>
                <a:cs typeface="Calibri"/>
                <a:sym typeface="Calibri"/>
              </a:rPr>
              <a:t> when 10% of words are swapped</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a:latin typeface="Calibri"/>
                <a:ea typeface="Calibri"/>
                <a:cs typeface="Calibri"/>
                <a:sym typeface="Calibri"/>
              </a:rPr>
              <a:t>Detector goes only to approved researchers, citing false-positive risk</a:t>
            </a:r>
            <a:endParaRPr sz="900">
              <a:latin typeface="Calibri"/>
              <a:ea typeface="Calibri"/>
              <a:cs typeface="Calibri"/>
              <a:sym typeface="Calibri"/>
            </a:endParaRPr>
          </a:p>
          <a:p>
            <a:pPr marL="17145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5"/>
              </a:rPr>
              <a:t>https://www.actuia.com/en/news/openai-will-watermark-chatgpt-in-the-eu-but-leaves-the-api-opt-in/</a:t>
            </a:r>
            <a:r>
              <a:rPr lang="en" sz="900">
                <a:solidFill>
                  <a:srgbClr val="0563C1"/>
                </a:solidFill>
                <a:latin typeface="Calibri"/>
                <a:ea typeface="Calibri"/>
                <a:cs typeface="Calibri"/>
                <a:sym typeface="Calibri"/>
              </a:rPr>
              <a:t> </a:t>
            </a:r>
            <a:endParaRPr sz="900">
              <a:solidFill>
                <a:srgbClr val="0563C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6477</Words>
  <Application>Microsoft Macintosh PowerPoint</Application>
  <PresentationFormat>On-screen Show (16:9)</PresentationFormat>
  <Paragraphs>706</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2026-10-07T01:37:05Z</dcterms:modified>
</cp:coreProperties>
</file>