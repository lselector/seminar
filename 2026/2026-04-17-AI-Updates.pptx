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9144000" cy="5143500" type="screen16x9"/>
  <p:notesSz cx="6858000" cy="9144000"/>
  <p:embeddedFontLst>
    <p:embeddedFont>
      <p:font typeface="Georgia" panose="02040502050405020303" pitchFamily="18" charset="0"/>
      <p:regular r:id="rId27"/>
      <p:bold r:id="rId28"/>
      <p:italic r:id="rId29"/>
      <p:boldItalic r:id="rId30"/>
    </p:embeddedFont>
    <p:embeddedFont>
      <p:font typeface="Roboto Mono" pitchFamily="49" charset="0"/>
      <p:regular r:id="rId31"/>
      <p:bold r:id="rId32"/>
      <p:italic r:id="rId33"/>
      <p:boldItalic r:id="rId3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99FEED3-9763-4AD0-AE15-E22CDDBF75FD}">
  <a:tblStyle styleId="{A99FEED3-9763-4AD0-AE15-E22CDDBF75FD}"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711"/>
  </p:normalViewPr>
  <p:slideViewPr>
    <p:cSldViewPr>
      <p:cViewPr varScale="1">
        <p:scale>
          <a:sx n="125" d="100"/>
          <a:sy n="125" d="100"/>
        </p:scale>
        <p:origin x="53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font" Target="fonts/font8.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7.fntdata"/><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6.fntdata"/><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2.fntdata"/><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1.fntdata"/><Relationship Id="rId30" Type="http://schemas.openxmlformats.org/officeDocument/2006/relationships/font" Target="fonts/font4.fntdata"/><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3633c15ed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g3633c15ed8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g3cc01bf30ee_1_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1" name="Google Shape;71;g3cc01bf30ee_1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
        <p:cNvGrpSpPr/>
        <p:nvPr/>
      </p:nvGrpSpPr>
      <p:grpSpPr>
        <a:xfrm>
          <a:off x="0" y="0"/>
          <a:ext cx="0" cy="0"/>
          <a:chOff x="0" y="0"/>
          <a:chExt cx="0" cy="0"/>
        </a:xfrm>
      </p:grpSpPr>
      <p:sp>
        <p:nvSpPr>
          <p:cNvPr id="84" name="Google Shape;84;g39707f81ebc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5" name="Google Shape;85;g39707f81ebc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g39722b0c7ae_0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4" name="Google Shape;94;g39722b0c7ae_0_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g3d5852776f4_1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4" name="Google Shape;104;g3d5852776f4_1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p:cNvGrpSpPr/>
        <p:nvPr/>
      </p:nvGrpSpPr>
      <p:grpSpPr>
        <a:xfrm>
          <a:off x="0" y="0"/>
          <a:ext cx="0" cy="0"/>
          <a:chOff x="0" y="0"/>
          <a:chExt cx="0" cy="0"/>
        </a:xfrm>
      </p:grpSpPr>
      <p:sp>
        <p:nvSpPr>
          <p:cNvPr id="118" name="Google Shape;118;g3d5852776f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9" name="Google Shape;119;g3d5852776f4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39318675434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0" name="Google Shape;130;g39318675434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
        <p:cNvGrpSpPr/>
        <p:nvPr/>
      </p:nvGrpSpPr>
      <p:grpSpPr>
        <a:xfrm>
          <a:off x="0" y="0"/>
          <a:ext cx="0" cy="0"/>
          <a:chOff x="0" y="0"/>
          <a:chExt cx="0" cy="0"/>
        </a:xfrm>
      </p:grpSpPr>
      <p:sp>
        <p:nvSpPr>
          <p:cNvPr id="135" name="Google Shape;135;g3d57bea980e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6" name="Google Shape;136;g3d57bea980e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g3d57bea980e_2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3" name="Google Shape;143;g3d57bea980e_2_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g3971cefaa76_1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2" name="Google Shape;152;g3971cefaa76_1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p:cNvGrpSpPr/>
        <p:nvPr/>
      </p:nvGrpSpPr>
      <p:grpSpPr>
        <a:xfrm>
          <a:off x="0" y="0"/>
          <a:ext cx="0" cy="0"/>
          <a:chOff x="0" y="0"/>
          <a:chExt cx="0" cy="0"/>
        </a:xfrm>
      </p:grpSpPr>
      <p:sp>
        <p:nvSpPr>
          <p:cNvPr id="160" name="Google Shape;160;g3971cefaa76_1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1" name="Google Shape;161;g3971cefaa76_1_1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g3971cefaa76_1_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9" name="Google Shape;169;g3971cefaa76_1_2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g39721b22c7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9" name="Google Shape;179;g39721b22c79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
        <p:cNvGrpSpPr/>
        <p:nvPr/>
      </p:nvGrpSpPr>
      <p:grpSpPr>
        <a:xfrm>
          <a:off x="0" y="0"/>
          <a:ext cx="0" cy="0"/>
          <a:chOff x="0" y="0"/>
          <a:chExt cx="0" cy="0"/>
        </a:xfrm>
      </p:grpSpPr>
      <p:sp>
        <p:nvSpPr>
          <p:cNvPr id="187" name="Google Shape;187;g3971cefaa76_1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8" name="Google Shape;188;g3971cefaa76_1_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g3d568cd48b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4" name="Google Shape;194;g3d568cd48b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3973116310b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3" name="Google Shape;203;g3973116310b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6"/>
        <p:cNvGrpSpPr/>
        <p:nvPr/>
      </p:nvGrpSpPr>
      <p:grpSpPr>
        <a:xfrm>
          <a:off x="0" y="0"/>
          <a:ext cx="0" cy="0"/>
          <a:chOff x="0" y="0"/>
          <a:chExt cx="0" cy="0"/>
        </a:xfrm>
      </p:grpSpPr>
      <p:sp>
        <p:nvSpPr>
          <p:cNvPr id="217" name="Google Shape;217;g3971e84b4b8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8" name="Google Shape;218;g3971e84b4b8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
        <p:cNvGrpSpPr/>
        <p:nvPr/>
      </p:nvGrpSpPr>
      <p:grpSpPr>
        <a:xfrm>
          <a:off x="0" y="0"/>
          <a:ext cx="0" cy="0"/>
          <a:chOff x="0" y="0"/>
          <a:chExt cx="0" cy="0"/>
        </a:xfrm>
      </p:grpSpPr>
      <p:sp>
        <p:nvSpPr>
          <p:cNvPr id="225" name="Google Shape;225;g397328637c7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6" name="Google Shape;226;g397328637c7_0_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3d67a0e9c6b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5" name="Google Shape;235;g3d67a0e9c6b_0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p:cNvGrpSpPr/>
        <p:nvPr/>
      </p:nvGrpSpPr>
      <p:grpSpPr>
        <a:xfrm>
          <a:off x="0" y="0"/>
          <a:ext cx="0" cy="0"/>
          <a:chOff x="0" y="0"/>
          <a:chExt cx="0" cy="0"/>
        </a:xfrm>
      </p:grpSpPr>
      <p:sp>
        <p:nvSpPr>
          <p:cNvPr id="242" name="Google Shape;242;g3d67a0e9c6b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3" name="Google Shape;243;g3d67a0e9c6b_0_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7"/>
        <p:cNvGrpSpPr/>
        <p:nvPr/>
      </p:nvGrpSpPr>
      <p:grpSpPr>
        <a:xfrm>
          <a:off x="0" y="0"/>
          <a:ext cx="0" cy="0"/>
          <a:chOff x="0" y="0"/>
          <a:chExt cx="0" cy="0"/>
        </a:xfrm>
      </p:grpSpPr>
      <p:sp>
        <p:nvSpPr>
          <p:cNvPr id="248" name="Google Shape;248;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9" name="Google Shape;249;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7"/>
        <p:cNvGrpSpPr/>
        <p:nvPr/>
      </p:nvGrpSpPr>
      <p:grpSpPr>
        <a:xfrm>
          <a:off x="0" y="0"/>
          <a:ext cx="0" cy="0"/>
          <a:chOff x="0" y="0"/>
          <a:chExt cx="0" cy="0"/>
        </a:xfrm>
      </p:grpSpPr>
      <p:sp>
        <p:nvSpPr>
          <p:cNvPr id="258" name="Google Shape;258;g3d45e9cc6ac_0_12:notes"/>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9" name="Google Shape;259;g3d45e9cc6ac_0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7" name="Google Shape;267;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5"/>
        <p:cNvGrpSpPr/>
        <p:nvPr/>
      </p:nvGrpSpPr>
      <p:grpSpPr>
        <a:xfrm>
          <a:off x="0" y="0"/>
          <a:ext cx="0" cy="0"/>
          <a:chOff x="0" y="0"/>
          <a:chExt cx="0" cy="0"/>
        </a:xfrm>
      </p:grpSpPr>
      <p:sp>
        <p:nvSpPr>
          <p:cNvPr id="276" name="Google Shape;276;p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7" name="Google Shape;277;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172" y="205067"/>
            <a:ext cx="8228700" cy="8586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457172" y="1203299"/>
            <a:ext cx="8228700" cy="2982600"/>
          </a:xfrm>
          <a:prstGeom prst="rect">
            <a:avLst/>
          </a:prstGeom>
          <a:noFill/>
          <a:ln>
            <a:noFill/>
          </a:ln>
        </p:spPr>
        <p:txBody>
          <a:bodyPr spcFirstLastPara="1" wrap="square" lIns="0" tIns="0" rIns="0" bIns="0" anchor="t" anchorCtr="0">
            <a:normAutofit/>
          </a:bodyPr>
          <a:lstStyle>
            <a:lvl1pPr marL="457200" lvl="0" indent="-228600" algn="l">
              <a:lnSpc>
                <a:spcPct val="115000"/>
              </a:lnSpc>
              <a:spcBef>
                <a:spcPts val="0"/>
              </a:spcBef>
              <a:spcAft>
                <a:spcPts val="0"/>
              </a:spcAft>
              <a:buSzPts val="1800"/>
              <a:buNone/>
              <a:defRPr/>
            </a:lvl1pPr>
            <a:lvl2pPr marL="914400" lvl="1" indent="-228600" algn="l">
              <a:lnSpc>
                <a:spcPct val="115000"/>
              </a:lnSpc>
              <a:spcBef>
                <a:spcPts val="0"/>
              </a:spcBef>
              <a:spcAft>
                <a:spcPts val="0"/>
              </a:spcAft>
              <a:buSzPts val="1400"/>
              <a:buNone/>
              <a:defRPr/>
            </a:lvl2pPr>
            <a:lvl3pPr marL="1371600" lvl="2" indent="-228600" algn="l">
              <a:lnSpc>
                <a:spcPct val="115000"/>
              </a:lnSpc>
              <a:spcBef>
                <a:spcPts val="0"/>
              </a:spcBef>
              <a:spcAft>
                <a:spcPts val="0"/>
              </a:spcAft>
              <a:buSzPts val="1400"/>
              <a:buNone/>
              <a:defRPr/>
            </a:lvl3pPr>
            <a:lvl4pPr marL="1828800" lvl="3" indent="-228600" algn="l">
              <a:lnSpc>
                <a:spcPct val="115000"/>
              </a:lnSpc>
              <a:spcBef>
                <a:spcPts val="0"/>
              </a:spcBef>
              <a:spcAft>
                <a:spcPts val="0"/>
              </a:spcAft>
              <a:buSzPts val="1400"/>
              <a:buNone/>
              <a:defRPr/>
            </a:lvl4pPr>
            <a:lvl5pPr marL="2286000" lvl="4" indent="-228600" algn="l">
              <a:lnSpc>
                <a:spcPct val="115000"/>
              </a:lnSpc>
              <a:spcBef>
                <a:spcPts val="0"/>
              </a:spcBef>
              <a:spcAft>
                <a:spcPts val="0"/>
              </a:spcAft>
              <a:buSzPts val="1400"/>
              <a:buNone/>
              <a:defRPr/>
            </a:lvl5pPr>
            <a:lvl6pPr marL="2743200" lvl="5" indent="-228600" algn="l">
              <a:lnSpc>
                <a:spcPct val="115000"/>
              </a:lnSpc>
              <a:spcBef>
                <a:spcPts val="0"/>
              </a:spcBef>
              <a:spcAft>
                <a:spcPts val="0"/>
              </a:spcAft>
              <a:buSzPts val="1400"/>
              <a:buNone/>
              <a:defRPr/>
            </a:lvl6pPr>
            <a:lvl7pPr marL="3200400" lvl="6" indent="-228600" algn="l">
              <a:lnSpc>
                <a:spcPct val="115000"/>
              </a:lnSpc>
              <a:spcBef>
                <a:spcPts val="0"/>
              </a:spcBef>
              <a:spcAft>
                <a:spcPts val="0"/>
              </a:spcAft>
              <a:buSzPts val="1400"/>
              <a:buNone/>
              <a:defRPr/>
            </a:lvl7pPr>
            <a:lvl8pPr marL="3657600" lvl="7" indent="-228600" algn="l">
              <a:lnSpc>
                <a:spcPct val="115000"/>
              </a:lnSpc>
              <a:spcBef>
                <a:spcPts val="0"/>
              </a:spcBef>
              <a:spcAft>
                <a:spcPts val="0"/>
              </a:spcAft>
              <a:buSzPts val="1400"/>
              <a:buNone/>
              <a:defRPr/>
            </a:lvl8pPr>
            <a:lvl9pPr marL="4114800" lvl="8" indent="-228600" algn="l">
              <a:lnSpc>
                <a:spcPct val="115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SECTION_HEADER_1">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623888" y="1282303"/>
            <a:ext cx="7886700" cy="2139600"/>
          </a:xfrm>
          <a:prstGeom prst="rect">
            <a:avLst/>
          </a:prstGeom>
          <a:noFill/>
          <a:ln>
            <a:noFill/>
          </a:ln>
        </p:spPr>
        <p:txBody>
          <a:bodyPr spcFirstLastPara="1" wrap="square" lIns="68575" tIns="68575" rIns="68575" bIns="68575" anchor="b" anchorCtr="0">
            <a:noAutofit/>
          </a:bodyPr>
          <a:lstStyle>
            <a:lvl1pPr marR="0" lvl="0" algn="l">
              <a:lnSpc>
                <a:spcPct val="90000"/>
              </a:lnSpc>
              <a:spcBef>
                <a:spcPts val="0"/>
              </a:spcBef>
              <a:spcAft>
                <a:spcPts val="0"/>
              </a:spcAft>
              <a:buClr>
                <a:schemeClr val="dk1"/>
              </a:buClr>
              <a:buSzPts val="4500"/>
              <a:buFont typeface="Calibri"/>
              <a:buNone/>
              <a:defRPr sz="4500" b="0" i="0" u="none" strike="noStrike" cap="none">
                <a:solidFill>
                  <a:schemeClr val="dk1"/>
                </a:solidFill>
                <a:latin typeface="Calibri"/>
                <a:ea typeface="Calibri"/>
                <a:cs typeface="Calibri"/>
                <a:sym typeface="Calibri"/>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a:endParaRPr/>
          </a:p>
        </p:txBody>
      </p:sp>
      <p:sp>
        <p:nvSpPr>
          <p:cNvPr id="55" name="Google Shape;55;p14"/>
          <p:cNvSpPr txBox="1">
            <a:spLocks noGrp="1"/>
          </p:cNvSpPr>
          <p:nvPr>
            <p:ph type="body" idx="1"/>
          </p:nvPr>
        </p:nvSpPr>
        <p:spPr>
          <a:xfrm>
            <a:off x="623888" y="3442097"/>
            <a:ext cx="7886700" cy="1125300"/>
          </a:xfrm>
          <a:prstGeom prst="rect">
            <a:avLst/>
          </a:prstGeom>
          <a:noFill/>
          <a:ln>
            <a:noFill/>
          </a:ln>
        </p:spPr>
        <p:txBody>
          <a:bodyPr spcFirstLastPara="1" wrap="square" lIns="68575" tIns="68575" rIns="68575" bIns="68575" anchor="t" anchorCtr="0">
            <a:noAutofit/>
          </a:bodyPr>
          <a:lstStyle>
            <a:lvl1pPr marL="457200" marR="0" lvl="0" indent="-228600" algn="l">
              <a:lnSpc>
                <a:spcPct val="90000"/>
              </a:lnSpc>
              <a:spcBef>
                <a:spcPts val="8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914400" marR="0" lvl="1" indent="-228600" algn="l">
              <a:lnSpc>
                <a:spcPct val="90000"/>
              </a:lnSpc>
              <a:spcBef>
                <a:spcPts val="400"/>
              </a:spcBef>
              <a:spcAft>
                <a:spcPts val="0"/>
              </a:spcAft>
              <a:buClr>
                <a:srgbClr val="888888"/>
              </a:buClr>
              <a:buSzPts val="1500"/>
              <a:buFont typeface="Arial"/>
              <a:buNone/>
              <a:defRPr sz="1500"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56" name="Google Shape;56;p14"/>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7" name="Google Shape;57;p14"/>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8" name="Google Shape;58;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hyperlink" Target="https://huggingface.co/open-llm-leaderboard" TargetMode="External"/><Relationship Id="rId18" Type="http://schemas.openxmlformats.org/officeDocument/2006/relationships/hyperlink" Target="https://lmarena.ai/leaderboard/text-to-image" TargetMode="External"/><Relationship Id="rId26" Type="http://schemas.openxmlformats.org/officeDocument/2006/relationships/hyperlink" Target="https://huggingface.co/zai-org/GLM-5.1" TargetMode="External"/><Relationship Id="rId39" Type="http://schemas.openxmlformats.org/officeDocument/2006/relationships/hyperlink" Target="https://openai.com/index/introducing-gpt-5-4-mini-and-nano/" TargetMode="External"/><Relationship Id="rId21" Type="http://schemas.openxmlformats.org/officeDocument/2006/relationships/hyperlink" Target="https://ai.meta.com/blog/introducing-muse-spark-msl/" TargetMode="External"/><Relationship Id="rId34" Type="http://schemas.openxmlformats.org/officeDocument/2006/relationships/hyperlink" Target="https://www.kimi.com/blog/kimi-k2-5.html" TargetMode="External"/><Relationship Id="rId7" Type="http://schemas.openxmlformats.org/officeDocument/2006/relationships/hyperlink" Target="https://openlm.ai/chatbot-arena/" TargetMode="External"/><Relationship Id="rId2" Type="http://schemas.openxmlformats.org/officeDocument/2006/relationships/notesSlide" Target="../notesSlides/notesSlide2.xml"/><Relationship Id="rId16" Type="http://schemas.openxmlformats.org/officeDocument/2006/relationships/hyperlink" Target="https://artificialanalysis.ai/models/grok-4" TargetMode="External"/><Relationship Id="rId20" Type="http://schemas.openxmlformats.org/officeDocument/2006/relationships/hyperlink" Target="https://platform.openai.com/docs/models/gpt-5.4" TargetMode="External"/><Relationship Id="rId29" Type="http://schemas.openxmlformats.org/officeDocument/2006/relationships/hyperlink" Target="https://www.anthropic.com/news/claude-sonnet-4-5" TargetMode="External"/><Relationship Id="rId41" Type="http://schemas.openxmlformats.org/officeDocument/2006/relationships/hyperlink" Target="https://openai.com/index/gpt-5-1/" TargetMode="External"/><Relationship Id="rId1" Type="http://schemas.openxmlformats.org/officeDocument/2006/relationships/slideLayout" Target="../slideLayouts/slideLayout1.xml"/><Relationship Id="rId6" Type="http://schemas.openxmlformats.org/officeDocument/2006/relationships/hyperlink" Target="https://www.designarena.ai" TargetMode="External"/><Relationship Id="rId11" Type="http://schemas.openxmlformats.org/officeDocument/2006/relationships/hyperlink" Target="https://www.stack-ai.com/llm-leaderboard" TargetMode="External"/><Relationship Id="rId24" Type="http://schemas.openxmlformats.org/officeDocument/2006/relationships/hyperlink" Target="https://docs.x.ai/developers/models/grok-4.20-multi-agent-beta-0309" TargetMode="External"/><Relationship Id="rId32" Type="http://schemas.openxmlformats.org/officeDocument/2006/relationships/hyperlink" Target="https://www.byteplus.com/en/blog/dola-seed-2-0-pro" TargetMode="External"/><Relationship Id="rId37" Type="http://schemas.openxmlformats.org/officeDocument/2006/relationships/hyperlink" Target="https://qwen.ai/blog?id=qwen3.5-max-preview" TargetMode="External"/><Relationship Id="rId40" Type="http://schemas.openxmlformats.org/officeDocument/2006/relationships/hyperlink" Target="https://huggingface.co/zai-org/GLM-5" TargetMode="External"/><Relationship Id="rId5" Type="http://schemas.openxmlformats.org/officeDocument/2006/relationships/hyperlink" Target="https://lmarena.ai/leaderboard/text/coding" TargetMode="External"/><Relationship Id="rId15" Type="http://schemas.openxmlformats.org/officeDocument/2006/relationships/hyperlink" Target="https://epoch.ai/data/ai-benchmarking-dashboard" TargetMode="External"/><Relationship Id="rId23" Type="http://schemas.openxmlformats.org/officeDocument/2006/relationships/hyperlink" Target="https://blog.google/innovation-and-ai/models-and-research/gemini-models/gemini-3-1-pro/" TargetMode="External"/><Relationship Id="rId28" Type="http://schemas.openxmlformats.org/officeDocument/2006/relationships/hyperlink" Target="https://developers.openai.com/api/docs/models/gpt-5.2-chat-latest" TargetMode="External"/><Relationship Id="rId36" Type="http://schemas.openxmlformats.org/officeDocument/2006/relationships/hyperlink" Target="https://openai.com/index/gpt-5-3-instant/" TargetMode="External"/><Relationship Id="rId10" Type="http://schemas.openxmlformats.org/officeDocument/2006/relationships/hyperlink" Target="https://llmworld.net/llm_leaderboards/" TargetMode="External"/><Relationship Id="rId19" Type="http://schemas.openxmlformats.org/officeDocument/2006/relationships/hyperlink" Target="https://www.anthropic.com/news/claude-opus-4-6" TargetMode="External"/><Relationship Id="rId31" Type="http://schemas.openxmlformats.org/officeDocument/2006/relationships/hyperlink" Target="https://grok.com/" TargetMode="External"/><Relationship Id="rId4" Type="http://schemas.openxmlformats.org/officeDocument/2006/relationships/hyperlink" Target="https://lmarena.ai/leaderboard/text" TargetMode="External"/><Relationship Id="rId9" Type="http://schemas.openxmlformats.org/officeDocument/2006/relationships/hyperlink" Target="https://web.lmarena.ai/leaderboard" TargetMode="External"/><Relationship Id="rId14" Type="http://schemas.openxmlformats.org/officeDocument/2006/relationships/hyperlink" Target="https://www.vellum.ai/llm-leaderboard" TargetMode="External"/><Relationship Id="rId22" Type="http://schemas.openxmlformats.org/officeDocument/2006/relationships/hyperlink" Target="https://www.anthropic.com/news/claude-opus-4-5" TargetMode="External"/><Relationship Id="rId27" Type="http://schemas.openxmlformats.org/officeDocument/2006/relationships/hyperlink" Target="https://aistudio.google.com/app/prompts/new_chat?model=gemini-3-pro-preview" TargetMode="External"/><Relationship Id="rId30" Type="http://schemas.openxmlformats.org/officeDocument/2006/relationships/hyperlink" Target="https://docs.x.ai/developers/models/grok-4.20-beta-0309-reasoning" TargetMode="External"/><Relationship Id="rId35" Type="http://schemas.openxmlformats.org/officeDocument/2006/relationships/hyperlink" Target="https://blog.google/products/gemini/gemini-3-flash" TargetMode="External"/><Relationship Id="rId8" Type="http://schemas.openxmlformats.org/officeDocument/2006/relationships/hyperlink" Target="https://beta.lmarena.ai" TargetMode="External"/><Relationship Id="rId3" Type="http://schemas.openxmlformats.org/officeDocument/2006/relationships/hyperlink" Target="https://en.wikipedia.org/wiki/Elo_rating_system" TargetMode="External"/><Relationship Id="rId12" Type="http://schemas.openxmlformats.org/officeDocument/2006/relationships/hyperlink" Target="https://artificialanalysis.ai/leaderboards/models" TargetMode="External"/><Relationship Id="rId17" Type="http://schemas.openxmlformats.org/officeDocument/2006/relationships/hyperlink" Target="http://aiarena.alibaba-inc.com/corpora/arena/leaderboard?arenaType=T2I" TargetMode="External"/><Relationship Id="rId25" Type="http://schemas.openxmlformats.org/officeDocument/2006/relationships/hyperlink" Target="https://www.anthropic.com/news/claude-sonnet-4-6" TargetMode="External"/><Relationship Id="rId33" Type="http://schemas.openxmlformats.org/officeDocument/2006/relationships/hyperlink" Target="https://www.anthropic.com/news/claude-opus-4-1" TargetMode="External"/><Relationship Id="rId38" Type="http://schemas.openxmlformats.org/officeDocument/2006/relationships/hyperlink" Target="https://x.ai/news/grok-4-1"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anthropics/knowledge-work-plugins"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hyperlink" Target="https://github.com/anthropics/claude-plugins-official/tree/main/plugins/example-plugin" TargetMode="External"/><Relationship Id="rId4" Type="http://schemas.openxmlformats.org/officeDocument/2006/relationships/hyperlink" Target="https://github.com/anthropics/financial-services-plugins"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www-cdn.anthropic.com/08ab9158070959f88f296514c21b7facce6f52bc.pdf" TargetMode="External"/><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hyperlink" Target="https://www.youtube.com/watch?v=JiSluyN6CXk" TargetMode="Externa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louloulin/claude-agent-sdk"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hyperlink" Target="http://github.com/yhy0/claude-agent-sdk-go" TargetMode="External"/><Relationship Id="rId4" Type="http://schemas.openxmlformats.org/officeDocument/2006/relationships/hyperlink" Target="https://docs.rs/claude-agent-sdk/latest/claude_agent_sdk/" TargetMode="External"/></Relationships>
</file>

<file path=ppt/slides/_rels/slide7.xml.rels><?xml version="1.0" encoding="UTF-8" standalone="yes"?>
<Relationships xmlns="http://schemas.openxmlformats.org/package/2006/relationships"><Relationship Id="rId3" Type="http://schemas.openxmlformats.org/officeDocument/2006/relationships/hyperlink" Target="https://www.youtube.com/@lev-selector/videos"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openclaw/openclaw"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hyperlink" Target="https://github.com/openclaw/openclaw/releases" TargetMode="Externa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anthropics/claude-code/releases"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hyperlink" Target="https://www.news.aakashg.com/p/anthropic-q1-features" TargetMode="Externa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8" Type="http://schemas.openxmlformats.org/officeDocument/2006/relationships/hyperlink" Target="https://www.firecrawl.dev/blog/claude-code-skill" TargetMode="External"/><Relationship Id="rId13" Type="http://schemas.openxmlformats.org/officeDocument/2006/relationships/hyperlink" Target="https://github.com/WadeWarren/gws-claude-plugin" TargetMode="External"/><Relationship Id="rId18" Type="http://schemas.openxmlformats.org/officeDocument/2006/relationships/hyperlink" Target="https://github.com/dgreenheck/webgpu-claude-skill" TargetMode="External"/><Relationship Id="rId26" Type="http://schemas.openxmlformats.org/officeDocument/2006/relationships/hyperlink" Target="https://www.youtube.com/watch?v=sKx8g4ilCKQ" TargetMode="External"/><Relationship Id="rId3" Type="http://schemas.openxmlformats.org/officeDocument/2006/relationships/hyperlink" Target="https://www.youtube.com/watch?v=KjEFy5wjFQg" TargetMode="External"/><Relationship Id="rId21" Type="http://schemas.openxmlformats.org/officeDocument/2006/relationships/hyperlink" Target="https://21st.dev/home" TargetMode="External"/><Relationship Id="rId7" Type="http://schemas.openxmlformats.org/officeDocument/2006/relationships/hyperlink" Target="https://github.com/VoltAgent/awesome-design-md" TargetMode="External"/><Relationship Id="rId12" Type="http://schemas.openxmlformats.org/officeDocument/2006/relationships/hyperlink" Target="https://github.com/hkuds/lightrag" TargetMode="External"/><Relationship Id="rId17" Type="http://schemas.openxmlformats.org/officeDocument/2006/relationships/hyperlink" Target="https://github.com/amaancoderx/npxskillui" TargetMode="External"/><Relationship Id="rId25" Type="http://schemas.openxmlformats.org/officeDocument/2006/relationships/hyperlink" Target="https://github.com/forrestchang/andrej-karpathy-skills" TargetMode="External"/><Relationship Id="rId2" Type="http://schemas.openxmlformats.org/officeDocument/2006/relationships/notesSlide" Target="../notesSlides/notesSlide10.xml"/><Relationship Id="rId16" Type="http://schemas.openxmlformats.org/officeDocument/2006/relationships/hyperlink" Target="https://github.com/pbakaus/impeccable" TargetMode="External"/><Relationship Id="rId20" Type="http://schemas.openxmlformats.org/officeDocument/2006/relationships/hyperlink" Target="https://github.com/nextlevelbuilder/ui-ux-pro-max-skill" TargetMode="External"/><Relationship Id="rId1" Type="http://schemas.openxmlformats.org/officeDocument/2006/relationships/slideLayout" Target="../slideLayouts/slideLayout1.xml"/><Relationship Id="rId6" Type="http://schemas.openxmlformats.org/officeDocument/2006/relationships/hyperlink" Target="https://github.com/karpathy/autoresearch" TargetMode="External"/><Relationship Id="rId11" Type="http://schemas.openxmlformats.org/officeDocument/2006/relationships/hyperlink" Target="https://github.com/anthropics/skills/blob/main/skills/skill-creator/SKILL.md" TargetMode="External"/><Relationship Id="rId24" Type="http://schemas.openxmlformats.org/officeDocument/2006/relationships/hyperlink" Target="https://github.com/microsoft/playwright-cli" TargetMode="External"/><Relationship Id="rId5" Type="http://schemas.openxmlformats.org/officeDocument/2006/relationships/hyperlink" Target="https://github.com/kepano/obsidian-skills" TargetMode="External"/><Relationship Id="rId15" Type="http://schemas.openxmlformats.org/officeDocument/2006/relationships/hyperlink" Target="https://www.youtube.com/watch?v=Q9ty3eopOPs" TargetMode="External"/><Relationship Id="rId23" Type="http://schemas.openxmlformats.org/officeDocument/2006/relationships/hyperlink" Target="https://fonts.google.com" TargetMode="External"/><Relationship Id="rId10" Type="http://schemas.openxmlformats.org/officeDocument/2006/relationships/hyperlink" Target="https://github.com/teng-lin/notebooklm-py" TargetMode="External"/><Relationship Id="rId19" Type="http://schemas.openxmlformats.org/officeDocument/2006/relationships/hyperlink" Target="https://stitch.withgoogle.com" TargetMode="External"/><Relationship Id="rId4" Type="http://schemas.openxmlformats.org/officeDocument/2006/relationships/hyperlink" Target="https://github.com/openai/codex-plugin-cc" TargetMode="External"/><Relationship Id="rId9" Type="http://schemas.openxmlformats.org/officeDocument/2006/relationships/hyperlink" Target="https://playwright.dev/docs/getting-started-cli" TargetMode="External"/><Relationship Id="rId14" Type="http://schemas.openxmlformats.org/officeDocument/2006/relationships/image" Target="../media/image4.png"/><Relationship Id="rId22" Type="http://schemas.openxmlformats.org/officeDocument/2006/relationships/hyperlink" Target="https://github.com/Leonxlnx/taste-skill" TargetMode="External"/></Relationships>
</file>

<file path=ppt/slides/_rels/slide11.xml.rels><?xml version="1.0" encoding="UTF-8" standalone="yes"?>
<Relationships xmlns="http://schemas.openxmlformats.org/package/2006/relationships"><Relationship Id="rId8" Type="http://schemas.openxmlformats.org/officeDocument/2006/relationships/hyperlink" Target="https://skillhub.club" TargetMode="External"/><Relationship Id="rId3" Type="http://schemas.openxmlformats.org/officeDocument/2006/relationships/hyperlink" Target="https://www.youtube.com/watch?v=2BFN2DtcQMw" TargetMode="External"/><Relationship Id="rId7" Type="http://schemas.openxmlformats.org/officeDocument/2006/relationships/hyperlink" Target="https://skillsmp.com"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hyperlink" Target="https://github.com/anthropics/skills" TargetMode="External"/><Relationship Id="rId5" Type="http://schemas.openxmlformats.org/officeDocument/2006/relationships/hyperlink" Target="https://github.com/travisvn/awesome-claude-skills" TargetMode="External"/><Relationship Id="rId4" Type="http://schemas.openxmlformats.org/officeDocument/2006/relationships/image" Target="../media/image4.png"/><Relationship Id="rId9" Type="http://schemas.openxmlformats.org/officeDocument/2006/relationships/hyperlink" Target="https://tom-doerr.github.io/repo_posts/" TargetMode="External"/></Relationships>
</file>

<file path=ppt/slides/_rels/slide12.xml.rels><?xml version="1.0" encoding="UTF-8" standalone="yes"?>
<Relationships xmlns="http://schemas.openxmlformats.org/package/2006/relationships"><Relationship Id="rId8" Type="http://schemas.openxmlformats.org/officeDocument/2006/relationships/hyperlink" Target="https://x.com/akshay_pachaar/status/2044329897603244093" TargetMode="External"/><Relationship Id="rId3" Type="http://schemas.openxmlformats.org/officeDocument/2006/relationships/hyperlink" Target="https://www.youtube.com/watch?v=yYSTsKo8moU" TargetMode="External"/><Relationship Id="rId7" Type="http://schemas.openxmlformats.org/officeDocument/2006/relationships/hyperlink" Target="https://x.com/i/status/2043745099792953508"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hyperlink" Target="https://github.com/topoteretes/cognee" TargetMode="External"/><Relationship Id="rId5" Type="http://schemas.openxmlformats.org/officeDocument/2006/relationships/image" Target="../media/image5.png"/><Relationship Id="rId10" Type="http://schemas.openxmlformats.org/officeDocument/2006/relationships/image" Target="../media/image7.png"/><Relationship Id="rId4" Type="http://schemas.openxmlformats.org/officeDocument/2006/relationships/hyperlink" Target="https://infranodus.com" TargetMode="External"/><Relationship Id="rId9" Type="http://schemas.openxmlformats.org/officeDocument/2006/relationships/image" Target="../media/image6.png"/></Relationships>
</file>

<file path=ppt/slides/_rels/slide13.xml.rels><?xml version="1.0" encoding="UTF-8" standalone="yes"?>
<Relationships xmlns="http://schemas.openxmlformats.org/package/2006/relationships"><Relationship Id="rId8" Type="http://schemas.openxmlformats.org/officeDocument/2006/relationships/hyperlink" Target="http://litegraph.js" TargetMode="External"/><Relationship Id="rId13" Type="http://schemas.openxmlformats.org/officeDocument/2006/relationships/image" Target="../media/image8.png"/><Relationship Id="rId3" Type="http://schemas.openxmlformats.org/officeDocument/2006/relationships/hyperlink" Target="https://www.langflow.org" TargetMode="External"/><Relationship Id="rId7" Type="http://schemas.openxmlformats.org/officeDocument/2006/relationships/hyperlink" Target="https://reactflow.dev/learn" TargetMode="External"/><Relationship Id="rId12" Type="http://schemas.openxmlformats.org/officeDocument/2006/relationships/hyperlink" Target="https://github.com/xyflow/awesome-node-based-uis" TargetMode="External"/><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hyperlink" Target="https://reactflow.dev/examples/interaction/drag-and-drop" TargetMode="External"/><Relationship Id="rId11" Type="http://schemas.openxmlformats.org/officeDocument/2006/relationships/hyperlink" Target="https://github.com/Comfy-Org/ComfyUI_frontend" TargetMode="External"/><Relationship Id="rId5" Type="http://schemas.openxmlformats.org/officeDocument/2006/relationships/hyperlink" Target="https://reactflow.dev" TargetMode="External"/><Relationship Id="rId10" Type="http://schemas.openxmlformats.org/officeDocument/2006/relationships/hyperlink" Target="https://github.com/jagenjo/litegraph.js" TargetMode="External"/><Relationship Id="rId4" Type="http://schemas.openxmlformats.org/officeDocument/2006/relationships/hyperlink" Target="https://github.com/langflow-ai/langflow" TargetMode="External"/><Relationship Id="rId9" Type="http://schemas.openxmlformats.org/officeDocument/2006/relationships/hyperlink" Target="https://github.com/Comfy-Org/litegraph.js/" TargetMode="Externa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hyperlink" Target="https://seed.bytedance.com/en/seedance" TargetMode="External"/><Relationship Id="rId7" Type="http://schemas.openxmlformats.org/officeDocument/2006/relationships/hyperlink" Target="https://fal.ai/seedance-2.0"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hyperlink" Target="https://www.byteplus.com/en/product/seedance" TargetMode="External"/><Relationship Id="rId11" Type="http://schemas.openxmlformats.org/officeDocument/2006/relationships/image" Target="../media/image10.png"/><Relationship Id="rId5" Type="http://schemas.openxmlformats.org/officeDocument/2006/relationships/hyperlink" Target="https://seed.bytedance.com/en/seedance1_5_pro" TargetMode="External"/><Relationship Id="rId10" Type="http://schemas.openxmlformats.org/officeDocument/2006/relationships/hyperlink" Target="https://www.topview.ai" TargetMode="External"/><Relationship Id="rId4" Type="http://schemas.openxmlformats.org/officeDocument/2006/relationships/hyperlink" Target="https://seed.bytedance.com/en/seedance2_0" TargetMode="External"/><Relationship Id="rId9" Type="http://schemas.openxmlformats.org/officeDocument/2006/relationships/hyperlink" Target="http://www.youtube.com/watch?v=xjVmEEtYB58" TargetMode="Externa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hyperlink" Target="https://hussainibarra.substack.com/p/most-high-income-skills-will-be-irrelevant"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www.youtube.com/watch?v=WsFWFi5bcFw" TargetMode="External"/><Relationship Id="rId7"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hyperlink" Target="https://theresanaiforthat.com/ai/surething/" TargetMode="External"/><Relationship Id="rId5" Type="http://schemas.openxmlformats.org/officeDocument/2006/relationships/hyperlink" Target="https://surething.io/chat-index" TargetMode="External"/><Relationship Id="rId4" Type="http://schemas.openxmlformats.org/officeDocument/2006/relationships/image" Target="../media/image13.png"/></Relationships>
</file>

<file path=ppt/slides/_rels/slide19.xml.rels><?xml version="1.0" encoding="UTF-8" standalone="yes"?>
<Relationships xmlns="http://schemas.openxmlformats.org/package/2006/relationships"><Relationship Id="rId3" Type="http://schemas.openxmlformats.org/officeDocument/2006/relationships/hyperlink" Target="https://www.youtube.com/watch?v=3jNp14bJpgs" TargetMode="External"/><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hyperlink" Target="https://github.com/nousresearch/hermes-agent" TargetMode="Externa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hyperlink" Target="https://layoffs.fyi" TargetMode="External"/><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hyperlink" Target="https://trueup.io/layoffs"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2.xml"/><Relationship Id="rId1" Type="http://schemas.openxmlformats.org/officeDocument/2006/relationships/slideLayout" Target="../slideLayouts/slideLayout1.xml"/><Relationship Id="rId5" Type="http://schemas.openxmlformats.org/officeDocument/2006/relationships/hyperlink" Target="https://gizmodo.com/report-says-software-engineer-job-listings-are-up-30-this-year-2000742638" TargetMode="External"/><Relationship Id="rId4" Type="http://schemas.openxmlformats.org/officeDocument/2006/relationships/hyperlink" Target="https://jobloss.ai" TargetMode="External"/></Relationships>
</file>

<file path=ppt/slides/_rels/slide23.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23.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21.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5"/>
          <p:cNvSpPr txBox="1"/>
          <p:nvPr/>
        </p:nvSpPr>
        <p:spPr>
          <a:xfrm>
            <a:off x="78651" y="430837"/>
            <a:ext cx="4420200" cy="1173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Crowd-sourced "LM Arena" Leaderboard</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Anthropic Plugins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Claude Mythos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Claude Agent SDK</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endParaRPr sz="1500" b="1">
              <a:solidFill>
                <a:srgbClr val="3C78D8"/>
              </a:solidFill>
              <a:latin typeface="Calibri"/>
              <a:ea typeface="Calibri"/>
              <a:cs typeface="Calibri"/>
              <a:sym typeface="Calibri"/>
            </a:endParaRPr>
          </a:p>
        </p:txBody>
      </p:sp>
      <p:sp>
        <p:nvSpPr>
          <p:cNvPr id="64" name="Google Shape;64;p15"/>
          <p:cNvSpPr txBox="1"/>
          <p:nvPr/>
        </p:nvSpPr>
        <p:spPr>
          <a:xfrm>
            <a:off x="55167" y="-22692"/>
            <a:ext cx="4420200" cy="4803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000" b="1">
                <a:solidFill>
                  <a:srgbClr val="3C78D8"/>
                </a:solidFill>
                <a:latin typeface="Calibri"/>
                <a:ea typeface="Calibri"/>
                <a:cs typeface="Calibri"/>
                <a:sym typeface="Calibri"/>
              </a:rPr>
              <a:t>AI Updates - Apr 17, 2026</a:t>
            </a:r>
            <a:endParaRPr sz="3000" b="1">
              <a:solidFill>
                <a:srgbClr val="3C78D8"/>
              </a:solidFill>
              <a:latin typeface="Calibri"/>
              <a:ea typeface="Calibri"/>
              <a:cs typeface="Calibri"/>
              <a:sym typeface="Calibri"/>
            </a:endParaRPr>
          </a:p>
        </p:txBody>
      </p:sp>
      <p:sp>
        <p:nvSpPr>
          <p:cNvPr id="65" name="Google Shape;65;p15"/>
          <p:cNvSpPr txBox="1"/>
          <p:nvPr/>
        </p:nvSpPr>
        <p:spPr>
          <a:xfrm>
            <a:off x="4574323" y="4850065"/>
            <a:ext cx="4502400" cy="249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Jobs &amp; Layoffs</a:t>
            </a:r>
            <a:endParaRPr sz="1500" b="1" i="0" u="none" strike="noStrike" cap="none">
              <a:solidFill>
                <a:srgbClr val="3C78D8"/>
              </a:solidFill>
              <a:latin typeface="Calibri"/>
              <a:ea typeface="Calibri"/>
              <a:cs typeface="Calibri"/>
              <a:sym typeface="Calibri"/>
            </a:endParaRPr>
          </a:p>
        </p:txBody>
      </p:sp>
      <p:sp>
        <p:nvSpPr>
          <p:cNvPr id="66" name="Google Shape;66;p15"/>
          <p:cNvSpPr txBox="1"/>
          <p:nvPr/>
        </p:nvSpPr>
        <p:spPr>
          <a:xfrm>
            <a:off x="78651" y="1845767"/>
            <a:ext cx="4420200" cy="30201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OpenClaw Updates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Claude Code &amp; Claude Desktop Updates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Claude Code Skills, Plugins, CLIs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33 Claude Skills and more resources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InfraNodus - Generate Ideas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Cognee gives your AI a persistent memory</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Adding Workflow Builder to your Agent</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Google AI Agent Mode</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Seedance 2.0 Video Generation</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Topview AI Agent V2 uses Seedance 2.0 model</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Railway Deployment</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Moonshots Podcast #246</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endParaRPr sz="1500" b="1">
              <a:solidFill>
                <a:srgbClr val="3C78D8"/>
              </a:solidFill>
              <a:latin typeface="Calibri"/>
              <a:ea typeface="Calibri"/>
              <a:cs typeface="Calibri"/>
              <a:sym typeface="Calibri"/>
            </a:endParaRPr>
          </a:p>
        </p:txBody>
      </p:sp>
      <p:sp>
        <p:nvSpPr>
          <p:cNvPr id="67" name="Google Shape;67;p15"/>
          <p:cNvSpPr txBox="1"/>
          <p:nvPr/>
        </p:nvSpPr>
        <p:spPr>
          <a:xfrm>
            <a:off x="4574323" y="1082823"/>
            <a:ext cx="4502400" cy="1173000"/>
          </a:xfrm>
          <a:prstGeom prst="rect">
            <a:avLst/>
          </a:prstGeom>
          <a:solidFill>
            <a:srgbClr val="C7E6AF"/>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AI is no longer Optional</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AI Agency "SureThing"</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How to setup Hermes Agent</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Anthropic ARR $30B vs $25B OpenAI</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endParaRPr sz="1500" b="1">
              <a:solidFill>
                <a:srgbClr val="3C78D8"/>
              </a:solidFill>
              <a:latin typeface="Calibri"/>
              <a:ea typeface="Calibri"/>
              <a:cs typeface="Calibri"/>
              <a:sym typeface="Calibri"/>
            </a:endParaRPr>
          </a:p>
        </p:txBody>
      </p:sp>
      <p:sp>
        <p:nvSpPr>
          <p:cNvPr id="68" name="Google Shape;68;p15"/>
          <p:cNvSpPr txBox="1"/>
          <p:nvPr/>
        </p:nvSpPr>
        <p:spPr>
          <a:xfrm>
            <a:off x="4612425" y="59350"/>
            <a:ext cx="3845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2000" b="1" i="1">
                <a:solidFill>
                  <a:srgbClr val="FF0000"/>
                </a:solidFill>
                <a:latin typeface="Calibri"/>
                <a:ea typeface="Calibri"/>
                <a:cs typeface="Calibri"/>
                <a:sym typeface="Calibri"/>
              </a:rPr>
              <a:t>xxx</a:t>
            </a:r>
            <a:endParaRPr sz="2000" b="1" i="1">
              <a:solidFill>
                <a:srgbClr val="FF0000"/>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2"/>
        <p:cNvGrpSpPr/>
        <p:nvPr/>
      </p:nvGrpSpPr>
      <p:grpSpPr>
        <a:xfrm>
          <a:off x="0" y="0"/>
          <a:ext cx="0" cy="0"/>
          <a:chOff x="0" y="0"/>
          <a:chExt cx="0" cy="0"/>
        </a:xfrm>
      </p:grpSpPr>
      <p:sp>
        <p:nvSpPr>
          <p:cNvPr id="73" name="Google Shape;73;p16"/>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4" name="Google Shape;74;p16"/>
          <p:cNvSpPr txBox="1"/>
          <p:nvPr/>
        </p:nvSpPr>
        <p:spPr>
          <a:xfrm>
            <a:off x="38150" y="2125"/>
            <a:ext cx="25998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"LM Arena" Leaderboard</a:t>
            </a:r>
            <a:endParaRPr sz="1800" b="1" i="0" u="none" strike="noStrike" cap="none">
              <a:solidFill>
                <a:srgbClr val="000000"/>
              </a:solidFill>
              <a:latin typeface="Calibri"/>
              <a:ea typeface="Calibri"/>
              <a:cs typeface="Calibri"/>
              <a:sym typeface="Calibri"/>
            </a:endParaRPr>
          </a:p>
        </p:txBody>
      </p:sp>
      <p:sp>
        <p:nvSpPr>
          <p:cNvPr id="75" name="Google Shape;75;p16"/>
          <p:cNvSpPr txBox="1"/>
          <p:nvPr/>
        </p:nvSpPr>
        <p:spPr>
          <a:xfrm>
            <a:off x="52418" y="476072"/>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76" name="Google Shape;76;p16"/>
          <p:cNvSpPr txBox="1"/>
          <p:nvPr/>
        </p:nvSpPr>
        <p:spPr>
          <a:xfrm>
            <a:off x="2726905" y="476078"/>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7" name="Google Shape;77;p16"/>
          <p:cNvSpPr txBox="1"/>
          <p:nvPr/>
        </p:nvSpPr>
        <p:spPr>
          <a:xfrm>
            <a:off x="6183999" y="1858050"/>
            <a:ext cx="2908500" cy="3096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https://lmarena.ai/leaderboard/text</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latin typeface="Calibri"/>
                <a:ea typeface="Calibri"/>
                <a:cs typeface="Calibri"/>
                <a:sym typeface="Calibri"/>
              </a:rPr>
              <a:t>Design Arena -    </a:t>
            </a:r>
            <a:br>
              <a:rPr lang="en" sz="800">
                <a:latin typeface="Calibri"/>
                <a:ea typeface="Calibri"/>
                <a:cs typeface="Calibri"/>
                <a:sym typeface="Calibri"/>
              </a:rPr>
            </a:br>
            <a:r>
              <a:rPr lang="en" sz="800" u="sng">
                <a:solidFill>
                  <a:schemeClr val="hlink"/>
                </a:solidFill>
                <a:latin typeface="Calibri"/>
                <a:ea typeface="Calibri"/>
                <a:cs typeface="Calibri"/>
                <a:sym typeface="Calibri"/>
                <a:hlinkClick r:id="rId6"/>
              </a:rPr>
              <a:t>https://www.designarena.ai</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7"/>
              </a:rPr>
              <a:t>https://openlm.ai/chatbot-arena/</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8"/>
              </a:rPr>
              <a:t>https://beta.lmarena.ai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Web Leaderboard -  1T params</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9"/>
              </a:rPr>
              <a:t>https://web.lmarena.ai/leaderboard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@LlmStats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0"/>
              </a:rPr>
              <a:t>https://llmworld.net/llm_leaderboards/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StackAI</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1"/>
              </a:rPr>
              <a:t>https://www.stack-ai.com/llm-leaderboard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Artificial Analysis</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2"/>
              </a:rPr>
              <a:t>https://artificialanalysis.ai/leaderboards/models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Open LLM Leaderboard - by Hugging Face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3"/>
              </a:rPr>
              <a:t>https://huggingface.co/open-llm-leaderboard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Vellum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4"/>
              </a:rPr>
              <a:t>https://www.vellum.ai/llm-leaderboard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AI Benchmarking Hub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5"/>
              </a:rPr>
              <a:t>https://epoch.ai/data/ai-benchmarking-dashboard</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Grok 4 Benchmarks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6"/>
              </a:rPr>
              <a:t>https://artificialanalysis.ai/models/grok-4</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Image arena (alibaba)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7"/>
              </a:rPr>
              <a:t>http://aiarena.alibaba-inc.com/corpora/arena/leaderboard?arenaType=T2I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image arena - </a:t>
            </a:r>
            <a:r>
              <a:rPr lang="en" sz="800" u="sng">
                <a:solidFill>
                  <a:schemeClr val="hlink"/>
                </a:solidFill>
                <a:latin typeface="Calibri"/>
                <a:ea typeface="Calibri"/>
                <a:cs typeface="Calibri"/>
                <a:sym typeface="Calibri"/>
                <a:hlinkClick r:id="rId18"/>
              </a:rPr>
              <a:t>https://lmarena.ai/leaderboard/text-to-image</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78" name="Google Shape;78;p16"/>
          <p:cNvSpPr txBox="1"/>
          <p:nvPr/>
        </p:nvSpPr>
        <p:spPr>
          <a:xfrm>
            <a:off x="4431041" y="63625"/>
            <a:ext cx="14082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chemeClr val="dk1"/>
              </a:buClr>
              <a:buSzPts val="1000"/>
              <a:buFont typeface="Calibri"/>
              <a:buChar char="●"/>
            </a:pPr>
            <a:r>
              <a:rPr lang="en" sz="1000">
                <a:latin typeface="Calibri"/>
                <a:ea typeface="Calibri"/>
                <a:cs typeface="Calibri"/>
                <a:sym typeface="Calibri"/>
              </a:rPr>
              <a:t>Data for April 14</a:t>
            </a:r>
            <a:endParaRPr sz="1000">
              <a:latin typeface="Calibri"/>
              <a:ea typeface="Calibri"/>
              <a:cs typeface="Calibri"/>
              <a:sym typeface="Calibri"/>
            </a:endParaRPr>
          </a:p>
        </p:txBody>
      </p:sp>
      <p:sp>
        <p:nvSpPr>
          <p:cNvPr id="79" name="Google Shape;79;p16"/>
          <p:cNvSpPr txBox="1"/>
          <p:nvPr/>
        </p:nvSpPr>
        <p:spPr>
          <a:xfrm>
            <a:off x="7346795" y="608477"/>
            <a:ext cx="17457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deepseek-v3.2  -  671B</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ernie-5.0 - 2.4T</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glm-5.0 - 744B </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kimi-k2.5-thinking - 1T</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qwen3.5-397B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Xiaomi MiMo-V2-Pro - 1T+</a:t>
            </a:r>
            <a:endParaRPr sz="1000">
              <a:latin typeface="Calibri"/>
              <a:ea typeface="Calibri"/>
              <a:cs typeface="Calibri"/>
              <a:sym typeface="Calibri"/>
            </a:endParaRPr>
          </a:p>
        </p:txBody>
      </p:sp>
      <p:graphicFrame>
        <p:nvGraphicFramePr>
          <p:cNvPr id="80" name="Google Shape;80;p16"/>
          <p:cNvGraphicFramePr/>
          <p:nvPr/>
        </p:nvGraphicFramePr>
        <p:xfrm>
          <a:off x="5742420" y="430065"/>
          <a:ext cx="3000000" cy="3000000"/>
        </p:xfrm>
        <a:graphic>
          <a:graphicData uri="http://schemas.openxmlformats.org/drawingml/2006/table">
            <a:tbl>
              <a:tblPr>
                <a:noFill/>
                <a:tableStyleId>{A99FEED3-9763-4AD0-AE15-E22CDDBF75FD}</a:tableStyleId>
              </a:tblPr>
              <a:tblGrid>
                <a:gridCol w="219050">
                  <a:extLst>
                    <a:ext uri="{9D8B030D-6E8A-4147-A177-3AD203B41FA5}">
                      <a16:colId xmlns:a16="http://schemas.microsoft.com/office/drawing/2014/main" val="20000"/>
                    </a:ext>
                  </a:extLst>
                </a:gridCol>
                <a:gridCol w="585450">
                  <a:extLst>
                    <a:ext uri="{9D8B030D-6E8A-4147-A177-3AD203B41FA5}">
                      <a16:colId xmlns:a16="http://schemas.microsoft.com/office/drawing/2014/main" val="20001"/>
                    </a:ext>
                  </a:extLst>
                </a:gridCol>
              </a:tblGrid>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solidFill>
                      <a:srgbClr val="4472C4"/>
                    </a:solidFill>
                  </a:tcPr>
                </a:tc>
                <a:tc>
                  <a:txBody>
                    <a:bodyPr/>
                    <a:lstStyle/>
                    <a:p>
                      <a:pPr marL="0" lvl="0" indent="0" algn="l" rtl="0">
                        <a:spcBef>
                          <a:spcPts val="0"/>
                        </a:spcBef>
                        <a:spcAft>
                          <a:spcPts val="0"/>
                        </a:spcAft>
                        <a:buNone/>
                      </a:pPr>
                      <a:r>
                        <a:rPr lang="en" sz="800">
                          <a:latin typeface="Calibri"/>
                          <a:ea typeface="Calibri"/>
                          <a:cs typeface="Calibri"/>
                          <a:sym typeface="Calibri"/>
                        </a:rPr>
                        <a:t>Claude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0"/>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solidFill>
                      <a:srgbClr val="FF0000"/>
                    </a:solidFill>
                  </a:tcPr>
                </a:tc>
                <a:tc>
                  <a:txBody>
                    <a:bodyPr/>
                    <a:lstStyle/>
                    <a:p>
                      <a:pPr marL="0" lvl="0" indent="0" algn="l" rtl="0">
                        <a:spcBef>
                          <a:spcPts val="0"/>
                        </a:spcBef>
                        <a:spcAft>
                          <a:spcPts val="0"/>
                        </a:spcAft>
                        <a:buNone/>
                      </a:pPr>
                      <a:r>
                        <a:rPr lang="en" sz="800">
                          <a:latin typeface="Calibri"/>
                          <a:ea typeface="Calibri"/>
                          <a:cs typeface="Calibri"/>
                          <a:sym typeface="Calibri"/>
                        </a:rPr>
                        <a:t>Gemini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1"/>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solidFill>
                      <a:srgbClr val="FFD700"/>
                    </a:solidFill>
                  </a:tcPr>
                </a:tc>
                <a:tc>
                  <a:txBody>
                    <a:bodyPr/>
                    <a:lstStyle/>
                    <a:p>
                      <a:pPr marL="0" lvl="0" indent="0" algn="l" rtl="0">
                        <a:spcBef>
                          <a:spcPts val="0"/>
                        </a:spcBef>
                        <a:spcAft>
                          <a:spcPts val="0"/>
                        </a:spcAft>
                        <a:buNone/>
                      </a:pPr>
                      <a:r>
                        <a:rPr lang="en" sz="800">
                          <a:latin typeface="Calibri"/>
                          <a:ea typeface="Calibri"/>
                          <a:cs typeface="Calibri"/>
                          <a:sym typeface="Calibri"/>
                        </a:rPr>
                        <a:t>OpenAI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2"/>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solidFill>
                      <a:srgbClr val="00B050"/>
                    </a:solidFill>
                  </a:tcPr>
                </a:tc>
                <a:tc>
                  <a:txBody>
                    <a:bodyPr/>
                    <a:lstStyle/>
                    <a:p>
                      <a:pPr marL="0" lvl="0" indent="0" algn="l" rtl="0">
                        <a:spcBef>
                          <a:spcPts val="0"/>
                        </a:spcBef>
                        <a:spcAft>
                          <a:spcPts val="0"/>
                        </a:spcAft>
                        <a:buNone/>
                      </a:pPr>
                      <a:r>
                        <a:rPr lang="en" sz="800">
                          <a:latin typeface="Calibri"/>
                          <a:ea typeface="Calibri"/>
                          <a:cs typeface="Calibri"/>
                          <a:sym typeface="Calibri"/>
                        </a:rPr>
                        <a:t>Open Source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3"/>
                  </a:ext>
                </a:extLst>
              </a:tr>
            </a:tbl>
          </a:graphicData>
        </a:graphic>
      </p:graphicFrame>
      <p:graphicFrame>
        <p:nvGraphicFramePr>
          <p:cNvPr id="81" name="Google Shape;81;p16"/>
          <p:cNvGraphicFramePr/>
          <p:nvPr/>
        </p:nvGraphicFramePr>
        <p:xfrm>
          <a:off x="2989363" y="799008"/>
          <a:ext cx="3000000" cy="3000000"/>
        </p:xfrm>
        <a:graphic>
          <a:graphicData uri="http://schemas.openxmlformats.org/drawingml/2006/table">
            <a:tbl>
              <a:tblPr>
                <a:noFill/>
                <a:tableStyleId>{A99FEED3-9763-4AD0-AE15-E22CDDBF75FD}</a:tableStyleId>
              </a:tblPr>
              <a:tblGrid>
                <a:gridCol w="247650">
                  <a:extLst>
                    <a:ext uri="{9D8B030D-6E8A-4147-A177-3AD203B41FA5}">
                      <a16:colId xmlns:a16="http://schemas.microsoft.com/office/drawing/2014/main" val="20000"/>
                    </a:ext>
                  </a:extLst>
                </a:gridCol>
                <a:gridCol w="1781175">
                  <a:extLst>
                    <a:ext uri="{9D8B030D-6E8A-4147-A177-3AD203B41FA5}">
                      <a16:colId xmlns:a16="http://schemas.microsoft.com/office/drawing/2014/main" val="20001"/>
                    </a:ext>
                  </a:extLst>
                </a:gridCol>
                <a:gridCol w="285750">
                  <a:extLst>
                    <a:ext uri="{9D8B030D-6E8A-4147-A177-3AD203B41FA5}">
                      <a16:colId xmlns:a16="http://schemas.microsoft.com/office/drawing/2014/main" val="20002"/>
                    </a:ext>
                  </a:extLst>
                </a:gridCol>
              </a:tblGrid>
              <a:tr h="142875">
                <a:tc>
                  <a:txBody>
                    <a:bodyPr/>
                    <a:lstStyle/>
                    <a:p>
                      <a:pPr marL="0" lvl="0" indent="0" algn="l" rtl="0">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claude-opus-4-6-thinking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claude-opus-4-6</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gpt-5.4-high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muse-spark</a:t>
                      </a:r>
                      <a:r>
                        <a:rPr lang="en" sz="800" u="sng">
                          <a:solidFill>
                            <a:srgbClr val="0563C1"/>
                          </a:solidFill>
                          <a:latin typeface="Calibri"/>
                          <a:ea typeface="Calibri"/>
                          <a:cs typeface="Calibri"/>
                          <a:sym typeface="Calibri"/>
                        </a:rPr>
                        <a:t> - Meta</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claude-opus-4-5-20251101-thinking-32k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gemini-3.1-pro-preview</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grok-4.20-multi-agent-beta-0309</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claude-sonnet-4-6</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glm-5.1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gemini-3-pro</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gpt-5.2-chat-latest-20260210</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claude-opus-4-5-20251101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1518</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claude-sonnet-4-5-20250929-thinking-32k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1518</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grok-4.20-beta-0309-reasoning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1518</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grok-4.20-beta1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gpt-5.4</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1515</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dola-seed-2.0-pro</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claude-opus-4-1-20250805-thinking-16k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claude-sonnet-4-5-20250929</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kimi-k2.5-thinking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gemini-3-flash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gpt-5.3-chat-latest</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7">
                            <a:extLst>
                              <a:ext uri="{A12FA001-AC4F-418D-AE19-62706E023703}">
                                <ahyp:hlinkClr xmlns:ahyp="http://schemas.microsoft.com/office/drawing/2018/hyperlinkcolor" val="tx"/>
                              </a:ext>
                            </a:extLst>
                          </a:hlinkClick>
                        </a:rPr>
                        <a:t>qwen3.5-max-preview</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kimi-k2.5-instant</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1505</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claude-opus-4-1-20250805</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1505</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graphicFrame>
        <p:nvGraphicFramePr>
          <p:cNvPr id="82" name="Google Shape;82;p16"/>
          <p:cNvGraphicFramePr/>
          <p:nvPr/>
        </p:nvGraphicFramePr>
        <p:xfrm>
          <a:off x="238867" y="773950"/>
          <a:ext cx="3000000" cy="3000000"/>
        </p:xfrm>
        <a:graphic>
          <a:graphicData uri="http://schemas.openxmlformats.org/drawingml/2006/table">
            <a:tbl>
              <a:tblPr>
                <a:noFill/>
                <a:tableStyleId>{A99FEED3-9763-4AD0-AE15-E22CDDBF75FD}</a:tableStyleId>
              </a:tblPr>
              <a:tblGrid>
                <a:gridCol w="247650">
                  <a:extLst>
                    <a:ext uri="{9D8B030D-6E8A-4147-A177-3AD203B41FA5}">
                      <a16:colId xmlns:a16="http://schemas.microsoft.com/office/drawing/2014/main" val="20000"/>
                    </a:ext>
                  </a:extLst>
                </a:gridCol>
                <a:gridCol w="1695450">
                  <a:extLst>
                    <a:ext uri="{9D8B030D-6E8A-4147-A177-3AD203B41FA5}">
                      <a16:colId xmlns:a16="http://schemas.microsoft.com/office/drawing/2014/main" val="20001"/>
                    </a:ext>
                  </a:extLst>
                </a:gridCol>
                <a:gridCol w="285750">
                  <a:extLst>
                    <a:ext uri="{9D8B030D-6E8A-4147-A177-3AD203B41FA5}">
                      <a16:colId xmlns:a16="http://schemas.microsoft.com/office/drawing/2014/main" val="20002"/>
                    </a:ext>
                  </a:extLst>
                </a:gridCol>
              </a:tblGrid>
              <a:tr h="142875">
                <a:tc>
                  <a:txBody>
                    <a:bodyPr/>
                    <a:lstStyle/>
                    <a:p>
                      <a:pPr marL="0" lvl="0" indent="0" algn="l" rtl="0">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claude-opus-4-6-thinking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claude-opus-4-6</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muse-spark</a:t>
                      </a:r>
                      <a:r>
                        <a:rPr lang="en" sz="800" u="sng">
                          <a:solidFill>
                            <a:srgbClr val="0563C1"/>
                          </a:solidFill>
                          <a:latin typeface="Calibri"/>
                          <a:ea typeface="Calibri"/>
                          <a:cs typeface="Calibri"/>
                          <a:sym typeface="Calibri"/>
                        </a:rPr>
                        <a:t> - Meta</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1495</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gemini-3.1-pro-preview</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gemini-3-pro</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grok-4.20-beta1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1485</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gpt-5.4-high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grok-4.20-beta-0309-reasoning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gpt-5.2-chat-latest-20260210</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grok-4.20-multi-agent-beta-0309</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gemini-3-flash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claude-opus-4-5-20251101-thinking-32k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glm-5.1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8">
                            <a:extLst>
                              <a:ext uri="{A12FA001-AC4F-418D-AE19-62706E023703}">
                                <ahyp:hlinkClr xmlns:ahyp="http://schemas.microsoft.com/office/drawing/2018/hyperlinkcolor" val="tx"/>
                              </a:ext>
                            </a:extLst>
                          </a:hlinkClick>
                        </a:rPr>
                        <a:t>grok-4.1-thinking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claude-opus-4-5-20251101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gpt-5.4</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7">
                            <a:extLst>
                              <a:ext uri="{A12FA001-AC4F-418D-AE19-62706E023703}">
                                <ahyp:hlinkClr xmlns:ahyp="http://schemas.microsoft.com/office/drawing/2018/hyperlinkcolor" val="tx"/>
                              </a:ext>
                            </a:extLst>
                          </a:hlinkClick>
                        </a:rPr>
                        <a:t>qwen3.5-max-preview</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gemini-3-flash (thinking-minimal)</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claude-sonnet-4-6</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dola-seed-2.0-pro</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8">
                            <a:extLst>
                              <a:ext uri="{A12FA001-AC4F-418D-AE19-62706E023703}">
                                <ahyp:hlinkClr xmlns:ahyp="http://schemas.microsoft.com/office/drawing/2018/hyperlinkcolor" val="tx"/>
                              </a:ext>
                            </a:extLst>
                          </a:hlinkClick>
                        </a:rPr>
                        <a:t>grok-4.1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9">
                            <a:extLst>
                              <a:ext uri="{A12FA001-AC4F-418D-AE19-62706E023703}">
                                <ahyp:hlinkClr xmlns:ahyp="http://schemas.microsoft.com/office/drawing/2018/hyperlinkcolor" val="tx"/>
                              </a:ext>
                            </a:extLst>
                          </a:hlinkClick>
                        </a:rPr>
                        <a:t>gpt-5.4-mini-high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40">
                            <a:extLst>
                              <a:ext uri="{A12FA001-AC4F-418D-AE19-62706E023703}">
                                <ahyp:hlinkClr xmlns:ahyp="http://schemas.microsoft.com/office/drawing/2018/hyperlinkcolor" val="tx"/>
                              </a:ext>
                            </a:extLst>
                          </a:hlinkClick>
                        </a:rPr>
                        <a:t>glm-5</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gpt-5.3-chat-latest</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1455</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41">
                            <a:extLst>
                              <a:ext uri="{A12FA001-AC4F-418D-AE19-62706E023703}">
                                <ahyp:hlinkClr xmlns:ahyp="http://schemas.microsoft.com/office/drawing/2018/hyperlinkcolor" val="tx"/>
                              </a:ext>
                            </a:extLst>
                          </a:hlinkClick>
                        </a:rPr>
                        <a:t>gpt-5.1-high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6"/>
        <p:cNvGrpSpPr/>
        <p:nvPr/>
      </p:nvGrpSpPr>
      <p:grpSpPr>
        <a:xfrm>
          <a:off x="0" y="0"/>
          <a:ext cx="0" cy="0"/>
          <a:chOff x="0" y="0"/>
          <a:chExt cx="0" cy="0"/>
        </a:xfrm>
      </p:grpSpPr>
      <p:sp>
        <p:nvSpPr>
          <p:cNvPr id="87" name="Google Shape;87;p17"/>
          <p:cNvSpPr txBox="1"/>
          <p:nvPr/>
        </p:nvSpPr>
        <p:spPr>
          <a:xfrm>
            <a:off x="81776" y="67675"/>
            <a:ext cx="3153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Anthropic Plugins</a:t>
            </a:r>
            <a:endParaRPr sz="2000" b="1">
              <a:solidFill>
                <a:schemeClr val="dk1"/>
              </a:solidFill>
              <a:latin typeface="Calibri"/>
              <a:ea typeface="Calibri"/>
              <a:cs typeface="Calibri"/>
              <a:sym typeface="Calibri"/>
            </a:endParaRPr>
          </a:p>
        </p:txBody>
      </p:sp>
      <p:sp>
        <p:nvSpPr>
          <p:cNvPr id="88" name="Google Shape;88;p17"/>
          <p:cNvSpPr txBox="1"/>
          <p:nvPr/>
        </p:nvSpPr>
        <p:spPr>
          <a:xfrm>
            <a:off x="81775" y="580183"/>
            <a:ext cx="44883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 January Anthropic launched Claude Cowork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and released the 11 open-source plugins on GitHub</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Within days </a:t>
            </a:r>
            <a:r>
              <a:rPr lang="en" sz="1200" b="1">
                <a:solidFill>
                  <a:srgbClr val="FF0000"/>
                </a:solidFill>
                <a:latin typeface="Calibri"/>
                <a:ea typeface="Calibri"/>
                <a:cs typeface="Calibri"/>
                <a:sym typeface="Calibri"/>
              </a:rPr>
              <a:t>$285 Bln in market cap wiped out</a:t>
            </a:r>
            <a:endParaRPr sz="1200">
              <a:solidFill>
                <a:schemeClr val="dk1"/>
              </a:solidFill>
              <a:latin typeface="Calibri"/>
              <a:ea typeface="Calibri"/>
              <a:cs typeface="Calibri"/>
              <a:sym typeface="Calibri"/>
            </a:endParaRPr>
          </a:p>
        </p:txBody>
      </p:sp>
      <p:sp>
        <p:nvSpPr>
          <p:cNvPr id="89" name="Google Shape;89;p17"/>
          <p:cNvSpPr txBox="1"/>
          <p:nvPr/>
        </p:nvSpPr>
        <p:spPr>
          <a:xfrm>
            <a:off x="5115900" y="580175"/>
            <a:ext cx="3535200" cy="2789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Legal Plugin</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LICENSE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rgbClr val="6AA84F"/>
                </a:solidFill>
                <a:latin typeface="Calibri"/>
                <a:ea typeface="Calibri"/>
                <a:cs typeface="Calibri"/>
                <a:sym typeface="Calibri"/>
              </a:rPr>
              <a:t>.claude-plugin/plugin.json</a:t>
            </a:r>
            <a:r>
              <a:rPr lang="en" sz="1200">
                <a:solidFill>
                  <a:schemeClr val="dk1"/>
                </a:solidFill>
                <a:latin typeface="Calibri"/>
                <a:ea typeface="Calibri"/>
                <a:cs typeface="Calibri"/>
                <a:sym typeface="Calibri"/>
              </a:rPr>
              <a:t> - name and description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rgbClr val="6AA84F"/>
                </a:solidFill>
                <a:latin typeface="Calibri"/>
                <a:ea typeface="Calibri"/>
                <a:cs typeface="Calibri"/>
                <a:sym typeface="Calibri"/>
              </a:rPr>
              <a:t>.mcp.json</a:t>
            </a:r>
            <a:r>
              <a:rPr lang="en" sz="1200">
                <a:solidFill>
                  <a:schemeClr val="dk1"/>
                </a:solidFill>
                <a:latin typeface="Calibri"/>
                <a:ea typeface="Calibri"/>
                <a:cs typeface="Calibri"/>
                <a:sym typeface="Calibri"/>
              </a:rPr>
              <a:t> - lists 8 MCP servers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CONNECTORS.md</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README.md</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skills/brief/SKILL.md</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skills/compliance-check/SKILL.md</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skills/legal-response/SKILL.md</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skills/legal-risk-assessment/SKILL.md</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skills/meeting-briefing/SKILL.md</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skills/review-contract/SKILL.md</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skills/signature-request/SKILL.md</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skills/triage-nda/SKILL.md</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skills/vendor-check/SKILL.md</a:t>
            </a:r>
            <a:endParaRPr sz="1200">
              <a:solidFill>
                <a:srgbClr val="3C78D8"/>
              </a:solidFill>
              <a:latin typeface="Calibri"/>
              <a:ea typeface="Calibri"/>
              <a:cs typeface="Calibri"/>
              <a:sym typeface="Calibri"/>
            </a:endParaRPr>
          </a:p>
        </p:txBody>
      </p:sp>
      <p:sp>
        <p:nvSpPr>
          <p:cNvPr id="90" name="Google Shape;90;p17"/>
          <p:cNvSpPr txBox="1"/>
          <p:nvPr/>
        </p:nvSpPr>
        <p:spPr>
          <a:xfrm>
            <a:off x="81775" y="1228081"/>
            <a:ext cx="4488300" cy="3004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Anthropic Plugins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https://github.com/anthropics/knowledge-work-plugins</a:t>
            </a:r>
            <a:r>
              <a:rPr lang="en" sz="1200">
                <a:solidFill>
                  <a:schemeClr val="dk1"/>
                </a:solidFill>
                <a:latin typeface="Calibri"/>
                <a:ea typeface="Calibri"/>
                <a:cs typeface="Calibri"/>
                <a:sym typeface="Calibri"/>
              </a:rPr>
              <a:t> - 11 plugins:</a:t>
            </a:r>
            <a:br>
              <a:rPr lang="en" sz="1200">
                <a:solidFill>
                  <a:schemeClr val="dk1"/>
                </a:solidFill>
                <a:latin typeface="Calibri"/>
                <a:ea typeface="Calibri"/>
                <a:cs typeface="Calibri"/>
                <a:sym typeface="Calibri"/>
              </a:rPr>
            </a:br>
            <a:r>
              <a:rPr lang="en" sz="1000">
                <a:solidFill>
                  <a:schemeClr val="dk1"/>
                </a:solidFill>
                <a:latin typeface="Calibri"/>
                <a:ea typeface="Calibri"/>
                <a:cs typeface="Calibri"/>
                <a:sym typeface="Calibri"/>
              </a:rPr>
              <a:t>(Productivity, Enterprise Search, Sales, Finance, Data, </a:t>
            </a:r>
            <a:r>
              <a:rPr lang="en" sz="1000" b="1">
                <a:solidFill>
                  <a:srgbClr val="FF0000"/>
                </a:solidFill>
                <a:latin typeface="Calibri"/>
                <a:ea typeface="Calibri"/>
                <a:cs typeface="Calibri"/>
                <a:sym typeface="Calibri"/>
              </a:rPr>
              <a:t>Legal</a:t>
            </a:r>
            <a:r>
              <a:rPr lang="en" sz="1000">
                <a:solidFill>
                  <a:schemeClr val="dk1"/>
                </a:solidFill>
                <a:latin typeface="Calibri"/>
                <a:ea typeface="Calibri"/>
                <a:cs typeface="Calibri"/>
                <a:sym typeface="Calibri"/>
              </a:rPr>
              <a:t>, Marketing, Customer Support, Product Management, Engineering, Plugin Builder)</a:t>
            </a:r>
            <a:endParaRPr sz="10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Financial Services Plugins:</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4"/>
              </a:rPr>
              <a:t>https://github.com/anthropics/financial-services-plugins</a:t>
            </a:r>
            <a:r>
              <a:rPr lang="en" sz="1200">
                <a:solidFill>
                  <a:schemeClr val="dk1"/>
                </a:solidFill>
                <a:latin typeface="Calibri"/>
                <a:ea typeface="Calibri"/>
                <a:cs typeface="Calibri"/>
                <a:sym typeface="Calibri"/>
              </a:rPr>
              <a:t> - 7 plugins</a:t>
            </a:r>
            <a:br>
              <a:rPr lang="en" sz="1200">
                <a:solidFill>
                  <a:schemeClr val="dk1"/>
                </a:solidFill>
                <a:latin typeface="Calibri"/>
                <a:ea typeface="Calibri"/>
                <a:cs typeface="Calibri"/>
                <a:sym typeface="Calibri"/>
              </a:rPr>
            </a:br>
            <a:r>
              <a:rPr lang="en" sz="1000">
                <a:solidFill>
                  <a:schemeClr val="dk1"/>
                </a:solidFill>
                <a:latin typeface="Calibri"/>
                <a:ea typeface="Calibri"/>
                <a:cs typeface="Calibri"/>
                <a:sym typeface="Calibri"/>
              </a:rPr>
              <a:t>(claude-in-office, equity-research, financial-analysis, investment-banking, partner-built, private-equity, wealth-management)</a:t>
            </a:r>
            <a:endParaRPr sz="10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Plugins:</a:t>
            </a:r>
            <a:br>
              <a:rPr lang="en" sz="1200" b="1">
                <a:solidFill>
                  <a:srgbClr val="FF0000"/>
                </a:solidFill>
                <a:latin typeface="Calibri"/>
                <a:ea typeface="Calibri"/>
                <a:cs typeface="Calibri"/>
                <a:sym typeface="Calibri"/>
              </a:rPr>
            </a:br>
            <a:r>
              <a:rPr lang="en" sz="1200" u="sng">
                <a:solidFill>
                  <a:schemeClr val="hlink"/>
                </a:solidFill>
                <a:latin typeface="Calibri"/>
                <a:ea typeface="Calibri"/>
                <a:cs typeface="Calibri"/>
                <a:sym typeface="Calibri"/>
                <a:hlinkClick r:id="rId5"/>
              </a:rPr>
              <a:t>https://github.com/anthropics/claude-plugins-official/tree/main/plugins/example-plugin</a:t>
            </a:r>
            <a:r>
              <a:rPr lang="en" sz="1200">
                <a:solidFill>
                  <a:schemeClr val="dk1"/>
                </a:solidFill>
                <a:latin typeface="Calibri"/>
                <a:ea typeface="Calibri"/>
                <a:cs typeface="Calibri"/>
                <a:sym typeface="Calibri"/>
              </a:rPr>
              <a:t> - 33 plugins</a:t>
            </a:r>
            <a:br>
              <a:rPr lang="en" sz="1200">
                <a:solidFill>
                  <a:schemeClr val="dk1"/>
                </a:solidFill>
                <a:latin typeface="Calibri"/>
                <a:ea typeface="Calibri"/>
                <a:cs typeface="Calibri"/>
                <a:sym typeface="Calibri"/>
              </a:rPr>
            </a:br>
            <a:r>
              <a:rPr lang="en" sz="1000">
                <a:solidFill>
                  <a:schemeClr val="dk1"/>
                </a:solidFill>
                <a:latin typeface="Calibri"/>
                <a:ea typeface="Calibri"/>
                <a:cs typeface="Calibri"/>
                <a:sym typeface="Calibri"/>
              </a:rPr>
              <a:t>(agent-sdk-dev, clangd-lsp, claude-code-setup, claude-md-management, code-review, code-simplifier, commit-commands, csharp-lsp, example-plugin, explanatory-output-style, feature-dev, frontend-design, gopls-lsp, hookify, jdtls-lsp, kotlin-lsp, learning-output-style, lua-lsp, math-olympiad, mcp-server-dev, php-lsp, playground, plugin-dev, pr-review-toolkit, pyright-lsp, ralph-loop, ruby-lsp, rust-analyzer-lsp, security-guidance, session-report, skill-creator, swift-lsp, typescript-lsp)</a:t>
            </a:r>
            <a:endParaRPr sz="1000">
              <a:solidFill>
                <a:schemeClr val="dk1"/>
              </a:solidFill>
              <a:latin typeface="Calibri"/>
              <a:ea typeface="Calibri"/>
              <a:cs typeface="Calibri"/>
              <a:sym typeface="Calibri"/>
            </a:endParaRPr>
          </a:p>
        </p:txBody>
      </p:sp>
      <p:sp>
        <p:nvSpPr>
          <p:cNvPr id="91" name="Google Shape;91;p17"/>
          <p:cNvSpPr/>
          <p:nvPr/>
        </p:nvSpPr>
        <p:spPr>
          <a:xfrm>
            <a:off x="4686300" y="1647825"/>
            <a:ext cx="333300" cy="162000"/>
          </a:xfrm>
          <a:prstGeom prst="rightArrow">
            <a:avLst>
              <a:gd name="adj1" fmla="val 50000"/>
              <a:gd name="adj2" fmla="val 50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18"/>
          <p:cNvSpPr txBox="1"/>
          <p:nvPr/>
        </p:nvSpPr>
        <p:spPr>
          <a:xfrm>
            <a:off x="81775" y="67675"/>
            <a:ext cx="2070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Claude Mythos</a:t>
            </a:r>
            <a:endParaRPr sz="2000" b="1">
              <a:solidFill>
                <a:schemeClr val="dk1"/>
              </a:solidFill>
              <a:latin typeface="Calibri"/>
              <a:ea typeface="Calibri"/>
              <a:cs typeface="Calibri"/>
              <a:sym typeface="Calibri"/>
            </a:endParaRPr>
          </a:p>
        </p:txBody>
      </p:sp>
      <p:sp>
        <p:nvSpPr>
          <p:cNvPr id="97" name="Google Shape;97;p18"/>
          <p:cNvSpPr txBox="1"/>
          <p:nvPr/>
        </p:nvSpPr>
        <p:spPr>
          <a:xfrm>
            <a:off x="81775" y="506717"/>
            <a:ext cx="4406700" cy="315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Claude Mythos </a:t>
            </a:r>
            <a:r>
              <a:rPr lang="en" sz="1200">
                <a:solidFill>
                  <a:schemeClr val="dk1"/>
                </a:solidFill>
                <a:latin typeface="Calibri"/>
                <a:ea typeface="Calibri"/>
                <a:cs typeface="Calibri"/>
                <a:sym typeface="Calibri"/>
              </a:rPr>
              <a:t>- revealed accidentally in March 2026</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Its architecture is described as </a:t>
            </a:r>
            <a:r>
              <a:rPr lang="en" sz="1200" b="1">
                <a:solidFill>
                  <a:srgbClr val="3C78D8"/>
                </a:solidFill>
                <a:latin typeface="Calibri"/>
                <a:ea typeface="Calibri"/>
                <a:cs typeface="Calibri"/>
                <a:sym typeface="Calibri"/>
              </a:rPr>
              <a:t>"cyclic" (flywheel)</a:t>
            </a:r>
            <a:r>
              <a:rPr lang="en" sz="1200">
                <a:solidFill>
                  <a:schemeClr val="dk1"/>
                </a:solidFill>
                <a:latin typeface="Calibri"/>
                <a:ea typeface="Calibri"/>
                <a:cs typeface="Calibri"/>
                <a:sym typeface="Calibri"/>
              </a:rPr>
              <a:t> because it forms a self-reinforcing loop</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Mythos is used internally to build better products and generate richer training data for smaller models, which lowers costs and raises revenue, which funds more compute for the next Mythos-class training run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flywheel explains how Anthropic's public models have been getting simultaneously more capable and cheaper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Mythos also appears to serve as a long-running context engine inside Claude Code, helping agents maintain coherent understanding of complex, multi-session tasks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Mythos's first public deployment was in cybersecurity, where it reportedly found thousands of zero-day vulnerabilities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full model has not been publicly released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https://www-cdn.anthropic.com/08ab9158070959f88f296514c21b7facce6f52bc.pdf</a:t>
            </a:r>
            <a:r>
              <a:rPr lang="en" sz="1200">
                <a:solidFill>
                  <a:schemeClr val="dk1"/>
                </a:solidFill>
                <a:latin typeface="Calibri"/>
                <a:ea typeface="Calibri"/>
                <a:cs typeface="Calibri"/>
                <a:sym typeface="Calibri"/>
              </a:rPr>
              <a:t> - 245 pages "System Card"</a:t>
            </a:r>
            <a:endParaRPr sz="1200">
              <a:solidFill>
                <a:schemeClr val="dk1"/>
              </a:solidFill>
              <a:latin typeface="Calibri"/>
              <a:ea typeface="Calibri"/>
              <a:cs typeface="Calibri"/>
              <a:sym typeface="Calibri"/>
            </a:endParaRPr>
          </a:p>
        </p:txBody>
      </p:sp>
      <p:sp>
        <p:nvSpPr>
          <p:cNvPr id="98" name="Google Shape;98;p18"/>
          <p:cNvSpPr txBox="1"/>
          <p:nvPr/>
        </p:nvSpPr>
        <p:spPr>
          <a:xfrm>
            <a:off x="81775" y="3728659"/>
            <a:ext cx="44067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The word mythos comes from the Ancient Greek μῦθος (mûthos),</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meaning </a:t>
            </a:r>
            <a:r>
              <a:rPr lang="en" sz="1200" b="1">
                <a:solidFill>
                  <a:srgbClr val="3C78D8"/>
                </a:solidFill>
                <a:latin typeface="Calibri"/>
                <a:ea typeface="Calibri"/>
                <a:cs typeface="Calibri"/>
                <a:sym typeface="Calibri"/>
              </a:rPr>
              <a:t>speech, word, utterance, story, tale, narrative (orally), legend or myth, plot</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 modern English, mythos means a pattern of beliefs or narrative that expresses the characteristic attitudes of a culture or group.</a:t>
            </a:r>
            <a:endParaRPr sz="1200">
              <a:solidFill>
                <a:schemeClr val="dk1"/>
              </a:solidFill>
              <a:latin typeface="Calibri"/>
              <a:ea typeface="Calibri"/>
              <a:cs typeface="Calibri"/>
              <a:sym typeface="Calibri"/>
            </a:endParaRPr>
          </a:p>
        </p:txBody>
      </p:sp>
      <p:sp>
        <p:nvSpPr>
          <p:cNvPr id="99" name="Google Shape;99;p18"/>
          <p:cNvSpPr txBox="1"/>
          <p:nvPr/>
        </p:nvSpPr>
        <p:spPr>
          <a:xfrm>
            <a:off x="4627324" y="647200"/>
            <a:ext cx="35073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457200" marR="0" lvl="0" indent="-323850" algn="l" rtl="0">
              <a:lnSpc>
                <a:spcPct val="100000"/>
              </a:lnSpc>
              <a:spcBef>
                <a:spcPts val="0"/>
              </a:spcBef>
              <a:spcAft>
                <a:spcPts val="0"/>
              </a:spcAft>
              <a:buClr>
                <a:srgbClr val="3C78D8"/>
              </a:buClr>
              <a:buSzPts val="1500"/>
              <a:buFont typeface="Roboto Mono"/>
              <a:buChar char="●"/>
            </a:pPr>
            <a:r>
              <a:rPr lang="en" sz="1500" b="1">
                <a:solidFill>
                  <a:srgbClr val="3C78D8"/>
                </a:solidFill>
                <a:latin typeface="Roboto Mono"/>
                <a:ea typeface="Roboto Mono"/>
                <a:cs typeface="Roboto Mono"/>
                <a:sym typeface="Roboto Mono"/>
              </a:rPr>
              <a:t>Mythos</a:t>
            </a:r>
            <a:endParaRPr sz="1500" b="1">
              <a:solidFill>
                <a:srgbClr val="3C78D8"/>
              </a:solidFill>
              <a:latin typeface="Roboto Mono"/>
              <a:ea typeface="Roboto Mono"/>
              <a:cs typeface="Roboto Mono"/>
              <a:sym typeface="Roboto Mono"/>
            </a:endParaRPr>
          </a:p>
          <a:p>
            <a:pPr marL="457200" marR="0" lvl="0" indent="-323850" algn="l" rtl="0">
              <a:lnSpc>
                <a:spcPct val="100000"/>
              </a:lnSpc>
              <a:spcBef>
                <a:spcPts val="0"/>
              </a:spcBef>
              <a:spcAft>
                <a:spcPts val="0"/>
              </a:spcAft>
              <a:buClr>
                <a:srgbClr val="3C78D8"/>
              </a:buClr>
              <a:buSzPts val="1500"/>
              <a:buFont typeface="Roboto Mono"/>
              <a:buChar char="●"/>
            </a:pPr>
            <a:r>
              <a:rPr lang="en" sz="1500" b="1">
                <a:solidFill>
                  <a:srgbClr val="3C78D8"/>
                </a:solidFill>
                <a:latin typeface="Roboto Mono"/>
                <a:ea typeface="Roboto Mono"/>
                <a:cs typeface="Roboto Mono"/>
                <a:sym typeface="Roboto Mono"/>
              </a:rPr>
              <a:t>Opus   - many lines</a:t>
            </a:r>
            <a:endParaRPr sz="1500" b="1">
              <a:solidFill>
                <a:srgbClr val="3C78D8"/>
              </a:solidFill>
              <a:latin typeface="Roboto Mono"/>
              <a:ea typeface="Roboto Mono"/>
              <a:cs typeface="Roboto Mono"/>
              <a:sym typeface="Roboto Mono"/>
            </a:endParaRPr>
          </a:p>
          <a:p>
            <a:pPr marL="457200" marR="0" lvl="0" indent="-323850" algn="l" rtl="0">
              <a:lnSpc>
                <a:spcPct val="100000"/>
              </a:lnSpc>
              <a:spcBef>
                <a:spcPts val="0"/>
              </a:spcBef>
              <a:spcAft>
                <a:spcPts val="0"/>
              </a:spcAft>
              <a:buClr>
                <a:srgbClr val="3C78D8"/>
              </a:buClr>
              <a:buSzPts val="1500"/>
              <a:buFont typeface="Roboto Mono"/>
              <a:buChar char="●"/>
            </a:pPr>
            <a:r>
              <a:rPr lang="en" sz="1500" b="1">
                <a:solidFill>
                  <a:srgbClr val="3C78D8"/>
                </a:solidFill>
                <a:latin typeface="Roboto Mono"/>
                <a:ea typeface="Roboto Mono"/>
                <a:cs typeface="Roboto Mono"/>
                <a:sym typeface="Roboto Mono"/>
              </a:rPr>
              <a:t>Sonnet - 14   lines</a:t>
            </a:r>
            <a:endParaRPr sz="1500" b="1">
              <a:solidFill>
                <a:srgbClr val="3C78D8"/>
              </a:solidFill>
              <a:latin typeface="Roboto Mono"/>
              <a:ea typeface="Roboto Mono"/>
              <a:cs typeface="Roboto Mono"/>
              <a:sym typeface="Roboto Mono"/>
            </a:endParaRPr>
          </a:p>
          <a:p>
            <a:pPr marL="457200" marR="0" lvl="0" indent="-323850" algn="l" rtl="0">
              <a:lnSpc>
                <a:spcPct val="100000"/>
              </a:lnSpc>
              <a:spcBef>
                <a:spcPts val="0"/>
              </a:spcBef>
              <a:spcAft>
                <a:spcPts val="0"/>
              </a:spcAft>
              <a:buClr>
                <a:srgbClr val="3C78D8"/>
              </a:buClr>
              <a:buSzPts val="1500"/>
              <a:buFont typeface="Roboto Mono"/>
              <a:buChar char="●"/>
            </a:pPr>
            <a:r>
              <a:rPr lang="en" sz="1500" b="1">
                <a:solidFill>
                  <a:srgbClr val="3C78D8"/>
                </a:solidFill>
                <a:latin typeface="Roboto Mono"/>
                <a:ea typeface="Roboto Mono"/>
                <a:cs typeface="Roboto Mono"/>
                <a:sym typeface="Roboto Mono"/>
              </a:rPr>
              <a:t>Haiku  -  3   lines</a:t>
            </a:r>
            <a:endParaRPr sz="1500" b="1">
              <a:solidFill>
                <a:srgbClr val="3C78D8"/>
              </a:solidFill>
              <a:latin typeface="Roboto Mono"/>
              <a:ea typeface="Roboto Mono"/>
              <a:cs typeface="Roboto Mono"/>
              <a:sym typeface="Roboto Mono"/>
            </a:endParaRPr>
          </a:p>
        </p:txBody>
      </p:sp>
      <p:sp>
        <p:nvSpPr>
          <p:cNvPr id="100" name="Google Shape;100;p18"/>
          <p:cNvSpPr txBox="1"/>
          <p:nvPr/>
        </p:nvSpPr>
        <p:spPr>
          <a:xfrm>
            <a:off x="4627325" y="1924700"/>
            <a:ext cx="2458200" cy="326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100" b="1">
                <a:solidFill>
                  <a:srgbClr val="FF0000"/>
                </a:solidFill>
                <a:latin typeface="Calibri"/>
                <a:ea typeface="Calibri"/>
                <a:cs typeface="Calibri"/>
                <a:sym typeface="Calibri"/>
              </a:rPr>
              <a:t>Claude Opus 4.7 is expected very soon</a:t>
            </a:r>
            <a:endParaRPr sz="1100" b="1">
              <a:solidFill>
                <a:srgbClr val="FF0000"/>
              </a:solidFill>
              <a:latin typeface="Calibri"/>
              <a:ea typeface="Calibri"/>
              <a:cs typeface="Calibri"/>
              <a:sym typeface="Calibri"/>
            </a:endParaRPr>
          </a:p>
          <a:p>
            <a:pPr marL="0" marR="0" lvl="0" indent="0" algn="l" rtl="0">
              <a:lnSpc>
                <a:spcPct val="100000"/>
              </a:lnSpc>
              <a:spcBef>
                <a:spcPts val="0"/>
              </a:spcBef>
              <a:spcAft>
                <a:spcPts val="0"/>
              </a:spcAft>
              <a:buNone/>
            </a:pPr>
            <a:r>
              <a:rPr lang="en" sz="900" u="sng">
                <a:solidFill>
                  <a:schemeClr val="hlink"/>
                </a:solidFill>
                <a:latin typeface="Calibri"/>
                <a:ea typeface="Calibri"/>
                <a:cs typeface="Calibri"/>
                <a:sym typeface="Calibri"/>
                <a:hlinkClick r:id="rId4"/>
              </a:rPr>
              <a:t>https://www.youtube.com/watch?v=JiSluyN6CXk</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
        <p:nvSpPr>
          <p:cNvPr id="101" name="Google Shape;101;p18"/>
          <p:cNvSpPr txBox="1"/>
          <p:nvPr/>
        </p:nvSpPr>
        <p:spPr>
          <a:xfrm>
            <a:off x="4627325" y="2463400"/>
            <a:ext cx="43926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Anthropic's Claude Mythos model is generating concerns</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among financial regulators, including Treasury Secretary Scott Bessant and Fed Chair Jerome Powell, who held emergency meetings with Wall Street leaders about its cybersecurity implications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model can autonomously chain multiple vulnerabilities together, with top researcher Nicholas Carlini noting he found more bugs in weeks than in his entire prior career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Mythos also showed a sharp, unexpected capability jump, delivering a reported 4x productivity uplift for Anthropic staff</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However, a technical error during training may have inadvertently affected the model's "opaque reasoning," raising questions about whether its impressive alignment scores and capability leap are fully understood</a:t>
            </a:r>
            <a:endParaRPr sz="12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19"/>
          <p:cNvSpPr/>
          <p:nvPr/>
        </p:nvSpPr>
        <p:spPr>
          <a:xfrm>
            <a:off x="5366525" y="1282381"/>
            <a:ext cx="2188500" cy="19170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07" name="Google Shape;107;p19"/>
          <p:cNvSpPr txBox="1"/>
          <p:nvPr/>
        </p:nvSpPr>
        <p:spPr>
          <a:xfrm>
            <a:off x="81775" y="67675"/>
            <a:ext cx="2594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Claude Agent SDK</a:t>
            </a:r>
            <a:endParaRPr sz="2000" b="1">
              <a:solidFill>
                <a:schemeClr val="dk1"/>
              </a:solidFill>
              <a:latin typeface="Calibri"/>
              <a:ea typeface="Calibri"/>
              <a:cs typeface="Calibri"/>
              <a:sym typeface="Calibri"/>
            </a:endParaRPr>
          </a:p>
        </p:txBody>
      </p:sp>
      <p:sp>
        <p:nvSpPr>
          <p:cNvPr id="108" name="Google Shape;108;p19"/>
          <p:cNvSpPr txBox="1"/>
          <p:nvPr/>
        </p:nvSpPr>
        <p:spPr>
          <a:xfrm>
            <a:off x="81775" y="469600"/>
            <a:ext cx="4448400" cy="4266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Claude Agent SDK is an embeddable library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When you install it via pip, you get both a thin Python wrapper and a bundled Claude Code CLI executable compiled with Bun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is a fast JavaScript runtime written in TypeScript that ships as a single self-contained binary approx 12MB in size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When your Python code calls the SDK's query() function, it doesn't talk to the Anthropic API directly. Instead, it spawns the bundled Bun-compiled Claude Code CLI as a separate subprocess. Your Python process and the CLI then communicate over stdin/stdout using a structured JSON control protocol.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Inside that subprocess, Claude Code runs its full agent loop: it sends your prompt to the model, receives a response, checks whether Claude requested any tool calls, executes those tools, feeds the results back to the model, and repeats until Claude produces a final answer with no more pending tool calls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All LLM calls, built-in tool execution (Read, Edit, Bash, Glob, etc.), context management, and MCP server coordination happen inside that subprocess — not in your Python code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Your Python process acts as the controller. It defines permissions, handles custom tool callbacks, processes streamed messages, and receives the final result. Custom tools you define run as in-process MCP servers, meaning Claude Code calls them over the MCP protocol, bridging the subprocess boundary.</a:t>
            </a:r>
            <a:endParaRPr sz="1200">
              <a:solidFill>
                <a:schemeClr val="dk1"/>
              </a:solidFill>
              <a:latin typeface="Calibri"/>
              <a:ea typeface="Calibri"/>
              <a:cs typeface="Calibri"/>
              <a:sym typeface="Calibri"/>
            </a:endParaRPr>
          </a:p>
        </p:txBody>
      </p:sp>
      <p:sp>
        <p:nvSpPr>
          <p:cNvPr id="109" name="Google Shape;109;p19"/>
          <p:cNvSpPr txBox="1"/>
          <p:nvPr/>
        </p:nvSpPr>
        <p:spPr>
          <a:xfrm>
            <a:off x="5713302" y="1427733"/>
            <a:ext cx="1521300" cy="264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600" b="1">
                <a:solidFill>
                  <a:srgbClr val="3C78D8"/>
                </a:solidFill>
                <a:latin typeface="Calibri"/>
                <a:ea typeface="Calibri"/>
                <a:cs typeface="Calibri"/>
                <a:sym typeface="Calibri"/>
              </a:rPr>
              <a:t>Python Wrapper</a:t>
            </a:r>
            <a:endParaRPr sz="1600" b="1">
              <a:solidFill>
                <a:srgbClr val="3C78D8"/>
              </a:solidFill>
              <a:latin typeface="Calibri"/>
              <a:ea typeface="Calibri"/>
              <a:cs typeface="Calibri"/>
              <a:sym typeface="Calibri"/>
            </a:endParaRPr>
          </a:p>
        </p:txBody>
      </p:sp>
      <p:sp>
        <p:nvSpPr>
          <p:cNvPr id="110" name="Google Shape;110;p19"/>
          <p:cNvSpPr txBox="1"/>
          <p:nvPr/>
        </p:nvSpPr>
        <p:spPr>
          <a:xfrm>
            <a:off x="5713302" y="2281504"/>
            <a:ext cx="15213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600" b="1">
                <a:solidFill>
                  <a:srgbClr val="3C78D8"/>
                </a:solidFill>
                <a:latin typeface="Calibri"/>
                <a:ea typeface="Calibri"/>
                <a:cs typeface="Calibri"/>
                <a:sym typeface="Calibri"/>
              </a:rPr>
              <a:t>CC-CLI</a:t>
            </a:r>
            <a:br>
              <a:rPr lang="en" sz="1600" b="1">
                <a:solidFill>
                  <a:srgbClr val="3C78D8"/>
                </a:solidFill>
                <a:latin typeface="Calibri"/>
                <a:ea typeface="Calibri"/>
                <a:cs typeface="Calibri"/>
                <a:sym typeface="Calibri"/>
              </a:rPr>
            </a:br>
            <a:r>
              <a:rPr lang="en" sz="1600" b="1">
                <a:solidFill>
                  <a:srgbClr val="3C78D8"/>
                </a:solidFill>
                <a:latin typeface="Calibri"/>
                <a:ea typeface="Calibri"/>
                <a:cs typeface="Calibri"/>
                <a:sym typeface="Calibri"/>
              </a:rPr>
              <a:t>Agentic Loop</a:t>
            </a:r>
            <a:endParaRPr sz="1600" b="1">
              <a:solidFill>
                <a:srgbClr val="3C78D8"/>
              </a:solidFill>
              <a:latin typeface="Calibri"/>
              <a:ea typeface="Calibri"/>
              <a:cs typeface="Calibri"/>
              <a:sym typeface="Calibri"/>
            </a:endParaRPr>
          </a:p>
          <a:p>
            <a:pPr marL="0" marR="0" lvl="0" indent="0" algn="ctr" rtl="0">
              <a:lnSpc>
                <a:spcPct val="100000"/>
              </a:lnSpc>
              <a:spcBef>
                <a:spcPts val="0"/>
              </a:spcBef>
              <a:spcAft>
                <a:spcPts val="0"/>
              </a:spcAft>
              <a:buNone/>
            </a:pPr>
            <a:r>
              <a:rPr lang="en" sz="1600" b="1">
                <a:solidFill>
                  <a:srgbClr val="3C78D8"/>
                </a:solidFill>
                <a:latin typeface="Calibri"/>
                <a:ea typeface="Calibri"/>
                <a:cs typeface="Calibri"/>
                <a:sym typeface="Calibri"/>
              </a:rPr>
              <a:t>Bun 12MB</a:t>
            </a:r>
            <a:endParaRPr sz="1600" b="1">
              <a:solidFill>
                <a:srgbClr val="3C78D8"/>
              </a:solidFill>
              <a:latin typeface="Calibri"/>
              <a:ea typeface="Calibri"/>
              <a:cs typeface="Calibri"/>
              <a:sym typeface="Calibri"/>
            </a:endParaRPr>
          </a:p>
        </p:txBody>
      </p:sp>
      <p:sp>
        <p:nvSpPr>
          <p:cNvPr id="111" name="Google Shape;111;p19"/>
          <p:cNvSpPr/>
          <p:nvPr/>
        </p:nvSpPr>
        <p:spPr>
          <a:xfrm>
            <a:off x="6328325" y="1784181"/>
            <a:ext cx="209100" cy="467400"/>
          </a:xfrm>
          <a:prstGeom prst="up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2" name="Google Shape;112;p19"/>
          <p:cNvSpPr txBox="1"/>
          <p:nvPr/>
        </p:nvSpPr>
        <p:spPr>
          <a:xfrm>
            <a:off x="7680400" y="1954525"/>
            <a:ext cx="822300" cy="7572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600" b="1">
                <a:solidFill>
                  <a:srgbClr val="3C78D8"/>
                </a:solidFill>
                <a:latin typeface="Calibri"/>
                <a:ea typeface="Calibri"/>
                <a:cs typeface="Calibri"/>
                <a:sym typeface="Calibri"/>
              </a:rPr>
              <a:t>Claude Agent SDK</a:t>
            </a:r>
            <a:endParaRPr sz="1600" b="1">
              <a:solidFill>
                <a:srgbClr val="3C78D8"/>
              </a:solidFill>
              <a:latin typeface="Calibri"/>
              <a:ea typeface="Calibri"/>
              <a:cs typeface="Calibri"/>
              <a:sym typeface="Calibri"/>
            </a:endParaRPr>
          </a:p>
        </p:txBody>
      </p:sp>
      <p:sp>
        <p:nvSpPr>
          <p:cNvPr id="113" name="Google Shape;113;p19"/>
          <p:cNvSpPr txBox="1"/>
          <p:nvPr/>
        </p:nvSpPr>
        <p:spPr>
          <a:xfrm>
            <a:off x="5700127" y="103210"/>
            <a:ext cx="1521300" cy="51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600" b="1">
                <a:solidFill>
                  <a:srgbClr val="3C78D8"/>
                </a:solidFill>
                <a:latin typeface="Calibri"/>
                <a:ea typeface="Calibri"/>
                <a:cs typeface="Calibri"/>
                <a:sym typeface="Calibri"/>
              </a:rPr>
              <a:t>Your Python Script</a:t>
            </a:r>
            <a:endParaRPr sz="1600" b="1">
              <a:solidFill>
                <a:srgbClr val="3C78D8"/>
              </a:solidFill>
              <a:latin typeface="Calibri"/>
              <a:ea typeface="Calibri"/>
              <a:cs typeface="Calibri"/>
              <a:sym typeface="Calibri"/>
            </a:endParaRPr>
          </a:p>
        </p:txBody>
      </p:sp>
      <p:sp>
        <p:nvSpPr>
          <p:cNvPr id="114" name="Google Shape;114;p19"/>
          <p:cNvSpPr/>
          <p:nvPr/>
        </p:nvSpPr>
        <p:spPr>
          <a:xfrm>
            <a:off x="6328325" y="696928"/>
            <a:ext cx="209100" cy="467400"/>
          </a:xfrm>
          <a:prstGeom prst="up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5" name="Google Shape;115;p19"/>
          <p:cNvSpPr/>
          <p:nvPr/>
        </p:nvSpPr>
        <p:spPr>
          <a:xfrm>
            <a:off x="5526850" y="3902924"/>
            <a:ext cx="1812024" cy="1031508"/>
          </a:xfrm>
          <a:prstGeom prst="cloud">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b="1">
                <a:solidFill>
                  <a:srgbClr val="3C78D8"/>
                </a:solidFill>
              </a:rPr>
              <a:t>Claude Model</a:t>
            </a:r>
            <a:br>
              <a:rPr lang="en" b="1">
                <a:solidFill>
                  <a:srgbClr val="3C78D8"/>
                </a:solidFill>
              </a:rPr>
            </a:br>
            <a:r>
              <a:rPr lang="en" b="1">
                <a:solidFill>
                  <a:srgbClr val="3C78D8"/>
                </a:solidFill>
              </a:rPr>
              <a:t>in Cloud</a:t>
            </a:r>
            <a:endParaRPr b="1">
              <a:solidFill>
                <a:srgbClr val="3C78D8"/>
              </a:solidFill>
            </a:endParaRPr>
          </a:p>
        </p:txBody>
      </p:sp>
      <p:sp>
        <p:nvSpPr>
          <p:cNvPr id="116" name="Google Shape;116;p19"/>
          <p:cNvSpPr/>
          <p:nvPr/>
        </p:nvSpPr>
        <p:spPr>
          <a:xfrm>
            <a:off x="6328325" y="3287728"/>
            <a:ext cx="209100" cy="467400"/>
          </a:xfrm>
          <a:prstGeom prst="up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20"/>
        <p:cNvGrpSpPr/>
        <p:nvPr/>
      </p:nvGrpSpPr>
      <p:grpSpPr>
        <a:xfrm>
          <a:off x="0" y="0"/>
          <a:ext cx="0" cy="0"/>
          <a:chOff x="0" y="0"/>
          <a:chExt cx="0" cy="0"/>
        </a:xfrm>
      </p:grpSpPr>
      <p:sp>
        <p:nvSpPr>
          <p:cNvPr id="121" name="Google Shape;121;p20"/>
          <p:cNvSpPr txBox="1"/>
          <p:nvPr/>
        </p:nvSpPr>
        <p:spPr>
          <a:xfrm>
            <a:off x="81775" y="67675"/>
            <a:ext cx="2162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Claude Agent SDK</a:t>
            </a:r>
            <a:endParaRPr sz="2000" b="1">
              <a:solidFill>
                <a:schemeClr val="dk1"/>
              </a:solidFill>
              <a:latin typeface="Calibri"/>
              <a:ea typeface="Calibri"/>
              <a:cs typeface="Calibri"/>
              <a:sym typeface="Calibri"/>
            </a:endParaRPr>
          </a:p>
        </p:txBody>
      </p:sp>
      <p:sp>
        <p:nvSpPr>
          <p:cNvPr id="122" name="Google Shape;122;p20"/>
          <p:cNvSpPr txBox="1"/>
          <p:nvPr/>
        </p:nvSpPr>
        <p:spPr>
          <a:xfrm>
            <a:off x="81775" y="1181050"/>
            <a:ext cx="44067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TypeScript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npm install @anthropic-ai/claude-agent-sdk</a:t>
            </a:r>
            <a:endParaRPr sz="1200" b="1">
              <a:solidFill>
                <a:srgbClr val="3C78D8"/>
              </a:solidFill>
              <a:latin typeface="Calibri"/>
              <a:ea typeface="Calibri"/>
              <a:cs typeface="Calibri"/>
              <a:sym typeface="Calibri"/>
            </a:endParaRPr>
          </a:p>
        </p:txBody>
      </p:sp>
      <p:sp>
        <p:nvSpPr>
          <p:cNvPr id="123" name="Google Shape;123;p20"/>
          <p:cNvSpPr txBox="1"/>
          <p:nvPr/>
        </p:nvSpPr>
        <p:spPr>
          <a:xfrm>
            <a:off x="81775" y="1709775"/>
            <a:ext cx="44067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Rust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npm install -g @anthropic-ai/claude-code</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cargo add claude-agent-sdk</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https://github.com/louloulin/claude-agent-sdk</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https://docs.rs/claude-agent-sdk/latest/claude_agent_sdk/</a:t>
            </a:r>
            <a:endParaRPr sz="1200">
              <a:solidFill>
                <a:schemeClr val="dk1"/>
              </a:solidFill>
              <a:latin typeface="Calibri"/>
              <a:ea typeface="Calibri"/>
              <a:cs typeface="Calibri"/>
              <a:sym typeface="Calibri"/>
            </a:endParaRPr>
          </a:p>
        </p:txBody>
      </p:sp>
      <p:sp>
        <p:nvSpPr>
          <p:cNvPr id="124" name="Google Shape;124;p20"/>
          <p:cNvSpPr txBox="1"/>
          <p:nvPr/>
        </p:nvSpPr>
        <p:spPr>
          <a:xfrm>
            <a:off x="81775" y="593613"/>
            <a:ext cx="44067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Python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pip install claude-agent-sdk</a:t>
            </a:r>
            <a:endParaRPr sz="1200" b="1">
              <a:solidFill>
                <a:srgbClr val="3C78D8"/>
              </a:solidFill>
              <a:latin typeface="Calibri"/>
              <a:ea typeface="Calibri"/>
              <a:cs typeface="Calibri"/>
              <a:sym typeface="Calibri"/>
            </a:endParaRPr>
          </a:p>
        </p:txBody>
      </p:sp>
      <p:sp>
        <p:nvSpPr>
          <p:cNvPr id="125" name="Google Shape;125;p20"/>
          <p:cNvSpPr txBox="1"/>
          <p:nvPr/>
        </p:nvSpPr>
        <p:spPr>
          <a:xfrm>
            <a:off x="81775" y="2799654"/>
            <a:ext cx="44067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Golang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npm install -g @anthropic-ai/claude-code</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go get </a:t>
            </a:r>
            <a:r>
              <a:rPr lang="en" sz="1200" b="1">
                <a:solidFill>
                  <a:srgbClr val="3C78D8"/>
                </a:solidFill>
                <a:uFill>
                  <a:noFill/>
                </a:uFill>
                <a:latin typeface="Calibri"/>
                <a:ea typeface="Calibri"/>
                <a:cs typeface="Calibri"/>
                <a:sym typeface="Calibri"/>
                <a:hlinkClick r:id="rId5">
                  <a:extLst>
                    <a:ext uri="{A12FA001-AC4F-418D-AE19-62706E023703}">
                      <ahyp:hlinkClr xmlns:ahyp="http://schemas.microsoft.com/office/drawing/2018/hyperlinkcolor" val="tx"/>
                    </a:ext>
                  </a:extLst>
                </a:hlinkClick>
              </a:rPr>
              <a:t>github.com/yhy0/claude-agent-sdk-go</a:t>
            </a:r>
            <a:endParaRPr sz="1200" b="1">
              <a:solidFill>
                <a:srgbClr val="3C78D8"/>
              </a:solidFill>
              <a:latin typeface="Calibri"/>
              <a:ea typeface="Calibri"/>
              <a:cs typeface="Calibri"/>
              <a:sym typeface="Calibri"/>
            </a:endParaRPr>
          </a:p>
        </p:txBody>
      </p:sp>
      <p:sp>
        <p:nvSpPr>
          <p:cNvPr id="126" name="Google Shape;126;p20"/>
          <p:cNvSpPr txBox="1"/>
          <p:nvPr/>
        </p:nvSpPr>
        <p:spPr>
          <a:xfrm>
            <a:off x="81775" y="3537464"/>
            <a:ext cx="44067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Also Kotlin &amp; C++ </a:t>
            </a:r>
            <a:endParaRPr sz="1200">
              <a:solidFill>
                <a:schemeClr val="dk1"/>
              </a:solidFill>
              <a:latin typeface="Calibri"/>
              <a:ea typeface="Calibri"/>
              <a:cs typeface="Calibri"/>
              <a:sym typeface="Calibri"/>
            </a:endParaRPr>
          </a:p>
        </p:txBody>
      </p:sp>
      <p:sp>
        <p:nvSpPr>
          <p:cNvPr id="127" name="Google Shape;127;p20"/>
          <p:cNvSpPr txBox="1"/>
          <p:nvPr/>
        </p:nvSpPr>
        <p:spPr>
          <a:xfrm>
            <a:off x="4627325" y="2525104"/>
            <a:ext cx="44067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Anthropic's Advisor Strategy</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 a powerful model like Opus as an "advisor" with a cheaper model like Sonnet or Haiku as the "executor."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executor handles most tasks independently and only calls the adviser when it encounters something genuinely difficult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approach delivers near-Opus quality at a fraction of the cost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 Anthropic's benchmarks, Sonnet with Opus as adviser improved SWE-bench scores by 2.7 percentage points and reduced cost per agentic task by nearly 12%</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Haiku with Opus as adviser more than doubled performance on BrowseComp compared to Haiku alone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 Claude Code, you can replicate this by using "opus plan" mode for planning, then letting Sonnet handle execution automatically.</a:t>
            </a:r>
            <a:endParaRPr sz="12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Google Shape;132;p21"/>
          <p:cNvSpPr txBox="1"/>
          <p:nvPr/>
        </p:nvSpPr>
        <p:spPr>
          <a:xfrm>
            <a:off x="179326" y="478350"/>
            <a:ext cx="49179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We do these weekly videos every Friday</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Stats: 6.54K subscribers, 277 videos</a:t>
            </a: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1. Subscribe to this channel </a:t>
            </a:r>
            <a:r>
              <a:rPr lang="en" sz="1800" b="1"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r>
              <a:rPr lang="en" sz="1800" b="1">
                <a:solidFill>
                  <a:schemeClr val="dk1"/>
                </a:solidFill>
                <a:latin typeface="Calibri"/>
                <a:ea typeface="Calibri"/>
                <a:cs typeface="Calibri"/>
                <a:sym typeface="Calibri"/>
              </a:rPr>
              <a:t> </a:t>
            </a:r>
            <a:endParaRPr sz="1800" b="1">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2. Download slides from GitHub using links under the videos</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b="1">
                <a:solidFill>
                  <a:srgbClr val="FF0000"/>
                </a:solidFill>
                <a:latin typeface="Calibri"/>
                <a:ea typeface="Calibri"/>
                <a:cs typeface="Calibri"/>
                <a:sym typeface="Calibri"/>
              </a:rPr>
              <a:t>3. 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pic>
        <p:nvPicPr>
          <p:cNvPr id="133" name="Google Shape;133;p2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537534" y="74525"/>
            <a:ext cx="3269825" cy="499444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7"/>
        <p:cNvGrpSpPr/>
        <p:nvPr/>
      </p:nvGrpSpPr>
      <p:grpSpPr>
        <a:xfrm>
          <a:off x="0" y="0"/>
          <a:ext cx="0" cy="0"/>
          <a:chOff x="0" y="0"/>
          <a:chExt cx="0" cy="0"/>
        </a:xfrm>
      </p:grpSpPr>
      <p:sp>
        <p:nvSpPr>
          <p:cNvPr id="138" name="Google Shape;138;p22"/>
          <p:cNvSpPr txBox="1"/>
          <p:nvPr/>
        </p:nvSpPr>
        <p:spPr>
          <a:xfrm>
            <a:off x="81776" y="40050"/>
            <a:ext cx="2271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OpenClaw Updates</a:t>
            </a:r>
            <a:endParaRPr sz="2000" b="1">
              <a:solidFill>
                <a:schemeClr val="dk1"/>
              </a:solidFill>
              <a:latin typeface="Calibri"/>
              <a:ea typeface="Calibri"/>
              <a:cs typeface="Calibri"/>
              <a:sym typeface="Calibri"/>
            </a:endParaRPr>
          </a:p>
        </p:txBody>
      </p:sp>
      <p:sp>
        <p:nvSpPr>
          <p:cNvPr id="139" name="Google Shape;139;p22"/>
          <p:cNvSpPr txBox="1"/>
          <p:nvPr/>
        </p:nvSpPr>
        <p:spPr>
          <a:xfrm>
            <a:off x="100600" y="413825"/>
            <a:ext cx="4392600" cy="4389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OpenClaw Updates</a:t>
            </a:r>
            <a:br>
              <a:rPr lang="en" sz="1200" b="1">
                <a:solidFill>
                  <a:srgbClr val="FF0000"/>
                </a:solidFill>
                <a:latin typeface="Calibri"/>
                <a:ea typeface="Calibri"/>
                <a:cs typeface="Calibri"/>
                <a:sym typeface="Calibri"/>
              </a:rPr>
            </a:br>
            <a:r>
              <a:rPr lang="en" sz="1000" b="1" u="sng">
                <a:solidFill>
                  <a:schemeClr val="hlink"/>
                </a:solidFill>
                <a:latin typeface="Calibri"/>
                <a:ea typeface="Calibri"/>
                <a:cs typeface="Calibri"/>
                <a:sym typeface="Calibri"/>
                <a:hlinkClick r:id="rId3"/>
              </a:rPr>
              <a:t>https://github.com/openclaw/openclaw</a:t>
            </a:r>
            <a:r>
              <a:rPr lang="en" sz="1000">
                <a:latin typeface="Calibri"/>
                <a:ea typeface="Calibri"/>
                <a:cs typeface="Calibri"/>
                <a:sym typeface="Calibri"/>
              </a:rPr>
              <a:t> - 355K stars</a:t>
            </a:r>
            <a:br>
              <a:rPr lang="en" sz="1000">
                <a:latin typeface="Calibri"/>
                <a:ea typeface="Calibri"/>
                <a:cs typeface="Calibri"/>
                <a:sym typeface="Calibri"/>
              </a:rPr>
            </a:br>
            <a:r>
              <a:rPr lang="en" sz="1000" b="1" u="sng">
                <a:solidFill>
                  <a:schemeClr val="hlink"/>
                </a:solidFill>
                <a:latin typeface="Calibri"/>
                <a:ea typeface="Calibri"/>
                <a:cs typeface="Calibri"/>
                <a:sym typeface="Calibri"/>
                <a:hlinkClick r:id="rId4"/>
              </a:rPr>
              <a:t>https://github.com/openclaw/openclaw/releases</a:t>
            </a:r>
            <a:r>
              <a:rPr lang="en" sz="1000" b="1">
                <a:solidFill>
                  <a:srgbClr val="FF0000"/>
                </a:solidFill>
                <a:latin typeface="Calibri"/>
                <a:ea typeface="Calibri"/>
                <a:cs typeface="Calibri"/>
                <a:sym typeface="Calibri"/>
              </a:rPr>
              <a:t> </a:t>
            </a:r>
            <a:endParaRPr sz="10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v2026.4.10: Adds bundled Codex provider with plugin-owned app-server harness, Active Memory sub-agent plugin for automatic context recall, experimental local MLX speech provider for macOS Talk Mode, Seedance 2.0 video generation model, Microsoft Teams message actions (pin/unpin/read/react), `openclaw exec-policy` CLI command, and `commands.list` RPC for gateway clients; includes broad security hardening across browser/sandbox navigation, exec preflight, and WebSocket handling.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v2026.4.9: Adds grounded REM memory backfill lane with diary commit/reset flows and structured diary view in Control UI, character-vibes QA evaluation reports, and `providerAuthAliases` for provider manifests; fixes browser SSRF interaction-driven navigation bypass, security issues in dotenv handling and node exec event sanitization, Android pairing recovery, Slack media bearer auth, Matrix gateway startup, and numerous routing/session/streaming fixes across Slack, Telegram, Matrix, and WhatsApp.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v2026.4.8: Fixes npm build startup failures across Telegram and 9 bundled channels; aligns plugin metadata with release version; improves Slack proxy/token handling; fixes SSRF DNS pinning for proxy sandboxes.</a:t>
            </a:r>
            <a:endParaRPr sz="1200">
              <a:solidFill>
                <a:schemeClr val="dk1"/>
              </a:solidFill>
              <a:latin typeface="Calibri"/>
              <a:ea typeface="Calibri"/>
              <a:cs typeface="Calibri"/>
              <a:sym typeface="Calibri"/>
            </a:endParaRPr>
          </a:p>
        </p:txBody>
      </p:sp>
      <p:pic>
        <p:nvPicPr>
          <p:cNvPr id="140" name="Google Shape;140;p22"/>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5683825" y="675275"/>
            <a:ext cx="2857500" cy="6752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23"/>
          <p:cNvSpPr txBox="1"/>
          <p:nvPr/>
        </p:nvSpPr>
        <p:spPr>
          <a:xfrm>
            <a:off x="81779" y="40049"/>
            <a:ext cx="4243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Claude Code Updates</a:t>
            </a:r>
            <a:endParaRPr sz="2000" b="1">
              <a:solidFill>
                <a:schemeClr val="dk1"/>
              </a:solidFill>
              <a:latin typeface="Calibri"/>
              <a:ea typeface="Calibri"/>
              <a:cs typeface="Calibri"/>
              <a:sym typeface="Calibri"/>
            </a:endParaRPr>
          </a:p>
        </p:txBody>
      </p:sp>
      <p:sp>
        <p:nvSpPr>
          <p:cNvPr id="146" name="Google Shape;146;p23"/>
          <p:cNvSpPr txBox="1"/>
          <p:nvPr/>
        </p:nvSpPr>
        <p:spPr>
          <a:xfrm>
            <a:off x="100600" y="413825"/>
            <a:ext cx="4392600" cy="3989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Claude Code Releases</a:t>
            </a:r>
            <a:br>
              <a:rPr lang="en" sz="900" b="1">
                <a:solidFill>
                  <a:srgbClr val="FF0000"/>
                </a:solidFill>
                <a:latin typeface="Calibri"/>
                <a:ea typeface="Calibri"/>
                <a:cs typeface="Calibri"/>
                <a:sym typeface="Calibri"/>
              </a:rPr>
            </a:br>
            <a:r>
              <a:rPr lang="en" sz="900" b="1" u="sng">
                <a:solidFill>
                  <a:schemeClr val="hlink"/>
                </a:solidFill>
                <a:latin typeface="Calibri"/>
                <a:ea typeface="Calibri"/>
                <a:cs typeface="Calibri"/>
                <a:sym typeface="Calibri"/>
                <a:hlinkClick r:id="rId3"/>
              </a:rPr>
              <a:t>https://github.com/anthropics/claude-code/releases</a:t>
            </a:r>
            <a:r>
              <a:rPr lang="en" sz="900" b="1">
                <a:solidFill>
                  <a:srgbClr val="FF0000"/>
                </a:solidFill>
                <a:latin typeface="Calibri"/>
                <a:ea typeface="Calibri"/>
                <a:cs typeface="Calibri"/>
                <a:sym typeface="Calibri"/>
              </a:rPr>
              <a:t> </a:t>
            </a:r>
            <a:br>
              <a:rPr lang="en" sz="900" b="1">
                <a:solidFill>
                  <a:srgbClr val="FF0000"/>
                </a:solidFill>
                <a:latin typeface="Calibri"/>
                <a:ea typeface="Calibri"/>
                <a:cs typeface="Calibri"/>
                <a:sym typeface="Calibri"/>
              </a:rPr>
            </a:br>
            <a:endParaRPr sz="9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v2.1.101 - April 10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Adds /team-onboarding command, OS CA cert trust, auto cloud env for /ultraplan; fixes command injection in LSP, memory leak, Bedrock SigV4 auth, subagents not inheriting MCP tools, and many rendering/settings bugs.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v2.1.98 - April 9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Adds Vertex AI setup wizard, Monitor tool, Linux PID namespace sandboxing, W3C TRACEPARENT for Bash; fixes Bash permission bypasses, MCP OAuth refresh, 429 retry backoff, stalled streaming, and capital letter drops in xterm.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v2.1.97 - April 8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Adds focus view toggle (Ctrl+O), refreshInterval status line, Cedar policy syntax highlighting; fixes Bash permission hardening, MCP HTTP/SSE memory leak (~50 MB/hr), CJK corruption, and Bedrock SigV4 with empty env vars.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v2.1.96 - April 8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Fixed Bedrock requests failing with 403 "Authorization header is missing" when using AWS_BEARER_TOKEN_BEDROCK or CLAUDE_CODE_SKIP_BEDROCK_AUTH (regression in 2.1.94)</a:t>
            </a:r>
            <a:endParaRPr sz="1200">
              <a:solidFill>
                <a:schemeClr val="dk1"/>
              </a:solidFill>
              <a:latin typeface="Calibri"/>
              <a:ea typeface="Calibri"/>
              <a:cs typeface="Calibri"/>
              <a:sym typeface="Calibri"/>
            </a:endParaRPr>
          </a:p>
        </p:txBody>
      </p:sp>
      <p:pic>
        <p:nvPicPr>
          <p:cNvPr id="147" name="Google Shape;147;p23"/>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573475" y="127625"/>
            <a:ext cx="802525" cy="802525"/>
          </a:xfrm>
          <a:prstGeom prst="rect">
            <a:avLst/>
          </a:prstGeom>
          <a:noFill/>
          <a:ln>
            <a:noFill/>
          </a:ln>
        </p:spPr>
      </p:pic>
      <p:sp>
        <p:nvSpPr>
          <p:cNvPr id="148" name="Google Shape;148;p23"/>
          <p:cNvSpPr txBox="1"/>
          <p:nvPr/>
        </p:nvSpPr>
        <p:spPr>
          <a:xfrm>
            <a:off x="4659375" y="1302600"/>
            <a:ext cx="39900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How Anthropic shipped 120 features in 90 days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https://www.news.aakashg.com/p/anthropic-q1-features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149" name="Google Shape;149;p23"/>
          <p:cNvSpPr txBox="1"/>
          <p:nvPr/>
        </p:nvSpPr>
        <p:spPr>
          <a:xfrm>
            <a:off x="4659375" y="2062950"/>
            <a:ext cx="43926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Anthropic Claude desktop is now more </a:t>
            </a:r>
            <a:r>
              <a:rPr lang="en" sz="1200" b="1">
                <a:solidFill>
                  <a:srgbClr val="FF0000"/>
                </a:solidFill>
                <a:latin typeface="Georgia"/>
                <a:ea typeface="Georgia"/>
                <a:cs typeface="Georgia"/>
                <a:sym typeface="Georgia"/>
              </a:rPr>
              <a:t>developer-focused</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Up to 4 parallel Claude Code instances in a split-view layout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Integrated browser preview for real-time UI feedback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Dedicated terminals per session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Code diff viewing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Direct Pull Request handling (GitHub)</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"Routines" (formerly scheduled tasks) runs cloud-side, meaning automations execute even when your machine is off</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Routines can be triggered via API endpoints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Routines templates - email triage or news aggregation.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Problems - lag and UI bugs</a:t>
            </a:r>
            <a:endParaRPr sz="12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sp>
        <p:nvSpPr>
          <p:cNvPr id="154" name="Google Shape;154;p24"/>
          <p:cNvSpPr txBox="1"/>
          <p:nvPr/>
        </p:nvSpPr>
        <p:spPr>
          <a:xfrm>
            <a:off x="81779" y="40049"/>
            <a:ext cx="4243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10 Claude Code Skills, Plugins, CLIs</a:t>
            </a:r>
            <a:endParaRPr sz="2000" b="1">
              <a:solidFill>
                <a:schemeClr val="dk1"/>
              </a:solidFill>
              <a:latin typeface="Calibri"/>
              <a:ea typeface="Calibri"/>
              <a:cs typeface="Calibri"/>
              <a:sym typeface="Calibri"/>
            </a:endParaRPr>
          </a:p>
        </p:txBody>
      </p:sp>
      <p:sp>
        <p:nvSpPr>
          <p:cNvPr id="155" name="Google Shape;155;p24"/>
          <p:cNvSpPr txBox="1"/>
          <p:nvPr/>
        </p:nvSpPr>
        <p:spPr>
          <a:xfrm>
            <a:off x="100600" y="413825"/>
            <a:ext cx="4392600" cy="235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Top 10 Claude Code Skills, Plugins &amp; CLIs</a:t>
            </a:r>
            <a:br>
              <a:rPr lang="en" sz="1200" b="1">
                <a:solidFill>
                  <a:srgbClr val="FF0000"/>
                </a:solidFill>
                <a:latin typeface="Calibri"/>
                <a:ea typeface="Calibri"/>
                <a:cs typeface="Calibri"/>
                <a:sym typeface="Calibri"/>
              </a:rPr>
            </a:br>
            <a:r>
              <a:rPr lang="en" sz="1200" b="1" u="sng">
                <a:solidFill>
                  <a:schemeClr val="hlink"/>
                </a:solidFill>
                <a:latin typeface="Calibri"/>
                <a:ea typeface="Calibri"/>
                <a:cs typeface="Calibri"/>
                <a:sym typeface="Calibri"/>
                <a:hlinkClick r:id="rId3"/>
              </a:rPr>
              <a:t>https://www.youtube.com/watch?v=KjEFy5wjFQg</a:t>
            </a:r>
            <a:r>
              <a:rPr lang="en" sz="1200" b="1">
                <a:solidFill>
                  <a:srgbClr val="FF0000"/>
                </a:solidFill>
                <a:latin typeface="Calibri"/>
                <a:ea typeface="Calibri"/>
                <a:cs typeface="Calibri"/>
                <a:sym typeface="Calibri"/>
              </a:rPr>
              <a:t> </a:t>
            </a:r>
            <a:endParaRPr sz="1200" b="1">
              <a:solidFill>
                <a:srgbClr val="FF0000"/>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Codex Plugin - adversarial code reviews - </a:t>
            </a:r>
            <a:r>
              <a:rPr lang="en" sz="800" u="sng">
                <a:solidFill>
                  <a:schemeClr val="hlink"/>
                </a:solidFill>
                <a:latin typeface="Calibri"/>
                <a:ea typeface="Calibri"/>
                <a:cs typeface="Calibri"/>
                <a:sym typeface="Calibri"/>
                <a:hlinkClick r:id="rId4"/>
              </a:rPr>
              <a:t>https://github.com/openai/codex-plugin-cc</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Obsidian Skills - lightweight RAG system for Obsidian - </a:t>
            </a:r>
            <a:r>
              <a:rPr lang="en" sz="800" u="sng">
                <a:solidFill>
                  <a:schemeClr val="hlink"/>
                </a:solidFill>
                <a:latin typeface="Calibri"/>
                <a:ea typeface="Calibri"/>
                <a:cs typeface="Calibri"/>
                <a:sym typeface="Calibri"/>
                <a:hlinkClick r:id="rId5"/>
              </a:rPr>
              <a:t>https://github.com/kepano/obsidian-skills</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AutoResearch by Andrej Karpathy - run ML experiments - </a:t>
            </a:r>
            <a:r>
              <a:rPr lang="en" sz="800" u="sng">
                <a:solidFill>
                  <a:schemeClr val="hlink"/>
                </a:solidFill>
                <a:latin typeface="Calibri"/>
                <a:ea typeface="Calibri"/>
                <a:cs typeface="Calibri"/>
                <a:sym typeface="Calibri"/>
                <a:hlinkClick r:id="rId6"/>
              </a:rPr>
              <a:t>https://github.com/karpathy/autoresearch</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Awesome Design MD - collection of DESIGN.md files - </a:t>
            </a:r>
            <a:r>
              <a:rPr lang="en" sz="800" u="sng">
                <a:solidFill>
                  <a:schemeClr val="hlink"/>
                </a:solidFill>
                <a:latin typeface="Calibri"/>
                <a:ea typeface="Calibri"/>
                <a:cs typeface="Calibri"/>
                <a:sym typeface="Calibri"/>
                <a:hlinkClick r:id="rId7"/>
              </a:rPr>
              <a:t>https://github.com/VoltAgent/awesome-design-md</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Firecrawl CLI + Skill - web scraping with anti-bot bypass - </a:t>
            </a:r>
            <a:r>
              <a:rPr lang="en" sz="800" u="sng">
                <a:solidFill>
                  <a:schemeClr val="hlink"/>
                </a:solidFill>
                <a:latin typeface="Calibri"/>
                <a:ea typeface="Calibri"/>
                <a:cs typeface="Calibri"/>
                <a:sym typeface="Calibri"/>
                <a:hlinkClick r:id="rId8"/>
              </a:rPr>
              <a:t>https://www.firecrawl.dev/blog/claude-code-skill</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Playwright CLI - browser automation CLI </a:t>
            </a:r>
            <a:r>
              <a:rPr lang="en" sz="800" u="sng">
                <a:solidFill>
                  <a:schemeClr val="hlink"/>
                </a:solidFill>
                <a:latin typeface="Calibri"/>
                <a:ea typeface="Calibri"/>
                <a:cs typeface="Calibri"/>
                <a:sym typeface="Calibri"/>
                <a:hlinkClick r:id="rId9"/>
              </a:rPr>
              <a:t>https://playwright.dev/docs/getting-started-cli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NotebookLM-py CLI + Skill - </a:t>
            </a:r>
            <a:r>
              <a:rPr lang="en" sz="800" u="sng">
                <a:solidFill>
                  <a:schemeClr val="hlink"/>
                </a:solidFill>
                <a:latin typeface="Calibri"/>
                <a:ea typeface="Calibri"/>
                <a:cs typeface="Calibri"/>
                <a:sym typeface="Calibri"/>
                <a:hlinkClick r:id="rId10"/>
              </a:rPr>
              <a:t>https://github.com/teng-lin/notebooklm-py</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Skill Creator Skill - creates new skills - </a:t>
            </a:r>
            <a:r>
              <a:rPr lang="en" sz="800" u="sng">
                <a:solidFill>
                  <a:schemeClr val="hlink"/>
                </a:solidFill>
                <a:latin typeface="Calibri"/>
                <a:ea typeface="Calibri"/>
                <a:cs typeface="Calibri"/>
                <a:sym typeface="Calibri"/>
                <a:hlinkClick r:id="rId11"/>
              </a:rPr>
              <a:t>https://github.com/anthropics/skills/blob/main/skills/skill-creator/SKILL.md</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LightRAG - lightweight alternative to GraphRAG - </a:t>
            </a:r>
            <a:r>
              <a:rPr lang="en" sz="800" u="sng">
                <a:solidFill>
                  <a:schemeClr val="hlink"/>
                </a:solidFill>
                <a:latin typeface="Calibri"/>
                <a:ea typeface="Calibri"/>
                <a:cs typeface="Calibri"/>
                <a:sym typeface="Calibri"/>
                <a:hlinkClick r:id="rId12"/>
              </a:rPr>
              <a:t>https://github.com/hkuds/lightrag</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GWS (Google Workspace CLI) - connects Claude Code to Gmail, Drive, Calendar &amp; Docs with 92 pre-built workflow skills - </a:t>
            </a:r>
            <a:r>
              <a:rPr lang="en" sz="800" u="sng">
                <a:solidFill>
                  <a:schemeClr val="hlink"/>
                </a:solidFill>
                <a:latin typeface="Calibri"/>
                <a:ea typeface="Calibri"/>
                <a:cs typeface="Calibri"/>
                <a:sym typeface="Calibri"/>
                <a:hlinkClick r:id="rId13"/>
              </a:rPr>
              <a:t>https://github.com/WadeWarren/gws-claude-plugin</a:t>
            </a:r>
            <a:r>
              <a:rPr lang="en" sz="800">
                <a:solidFill>
                  <a:schemeClr val="dk1"/>
                </a:solidFill>
                <a:latin typeface="Calibri"/>
                <a:ea typeface="Calibri"/>
                <a:cs typeface="Calibri"/>
                <a:sym typeface="Calibri"/>
              </a:rPr>
              <a:t> </a:t>
            </a:r>
            <a:br>
              <a:rPr lang="en" sz="800">
                <a:solidFill>
                  <a:schemeClr val="dk1"/>
                </a:solidFill>
                <a:latin typeface="Calibri"/>
                <a:ea typeface="Calibri"/>
                <a:cs typeface="Calibri"/>
                <a:sym typeface="Calibri"/>
              </a:rPr>
            </a:br>
            <a:r>
              <a:rPr lang="en" sz="800">
                <a:solidFill>
                  <a:schemeClr val="dk1"/>
                </a:solidFill>
                <a:latin typeface="Calibri"/>
                <a:ea typeface="Calibri"/>
                <a:cs typeface="Calibri"/>
                <a:sym typeface="Calibri"/>
              </a:rPr>
              <a:t>Comes with pre-built workflow skills (e.g., reschedule meeting, organize Drive). Setup requires enabling things in Google Cloud, but it's the best option for using Claude Code as a personal assistant</a:t>
            </a:r>
            <a:endParaRPr sz="800">
              <a:solidFill>
                <a:schemeClr val="dk1"/>
              </a:solidFill>
              <a:latin typeface="Calibri"/>
              <a:ea typeface="Calibri"/>
              <a:cs typeface="Calibri"/>
              <a:sym typeface="Calibri"/>
            </a:endParaRPr>
          </a:p>
        </p:txBody>
      </p:sp>
      <p:pic>
        <p:nvPicPr>
          <p:cNvPr id="156" name="Google Shape;156;p24"/>
          <p:cNvPicPr preferRelativeResize="0"/>
          <p:nvPr/>
        </p:nvPicPr>
        <p:blipFill>
          <a:blip r:embed="rId14">
            <a:alphaModFix/>
          </a:blip>
          <a:stretch>
            <a:fillRect/>
          </a:stretch>
        </p:blipFill>
        <p:spPr>
          <a:xfrm>
            <a:off x="4788125" y="413825"/>
            <a:ext cx="1409700" cy="1409700"/>
          </a:xfrm>
          <a:prstGeom prst="rect">
            <a:avLst/>
          </a:prstGeom>
          <a:noFill/>
          <a:ln>
            <a:noFill/>
          </a:ln>
        </p:spPr>
      </p:pic>
      <p:sp>
        <p:nvSpPr>
          <p:cNvPr id="157" name="Google Shape;157;p24"/>
          <p:cNvSpPr txBox="1"/>
          <p:nvPr/>
        </p:nvSpPr>
        <p:spPr>
          <a:xfrm>
            <a:off x="100600" y="2819200"/>
            <a:ext cx="4392600" cy="1619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Top 10 Claude Code Web Design Skills, Plugins &amp; CLIs</a:t>
            </a:r>
            <a:br>
              <a:rPr lang="en" sz="1200" b="1">
                <a:solidFill>
                  <a:srgbClr val="FF0000"/>
                </a:solidFill>
                <a:latin typeface="Calibri"/>
                <a:ea typeface="Calibri"/>
                <a:cs typeface="Calibri"/>
                <a:sym typeface="Calibri"/>
              </a:rPr>
            </a:br>
            <a:r>
              <a:rPr lang="en" sz="1200" u="sng">
                <a:solidFill>
                  <a:schemeClr val="hlink"/>
                </a:solidFill>
                <a:latin typeface="Calibri"/>
                <a:ea typeface="Calibri"/>
                <a:cs typeface="Calibri"/>
                <a:sym typeface="Calibri"/>
                <a:hlinkClick r:id="rId15"/>
              </a:rPr>
              <a:t>https://www.youtube.com/watch?v=Q9ty3eopOPs</a:t>
            </a:r>
            <a:r>
              <a:rPr lang="en" sz="1200">
                <a:solidFill>
                  <a:schemeClr val="dk1"/>
                </a:solidFill>
                <a:latin typeface="Calibri"/>
                <a:ea typeface="Calibri"/>
                <a:cs typeface="Calibri"/>
                <a:sym typeface="Calibri"/>
              </a:rPr>
              <a:t> </a:t>
            </a:r>
            <a:endParaRPr sz="800">
              <a:latin typeface="Calibri"/>
              <a:ea typeface="Calibri"/>
              <a:cs typeface="Calibri"/>
              <a:sym typeface="Calibri"/>
            </a:endParaRPr>
          </a:p>
          <a:p>
            <a:pPr marL="342900" marR="0" lvl="0" indent="-107950" algn="l" rtl="0">
              <a:lnSpc>
                <a:spcPct val="100000"/>
              </a:lnSpc>
              <a:spcBef>
                <a:spcPts val="0"/>
              </a:spcBef>
              <a:spcAft>
                <a:spcPts val="0"/>
              </a:spcAft>
              <a:buSzPts val="800"/>
              <a:buFont typeface="Calibri"/>
              <a:buChar char="●"/>
            </a:pPr>
            <a:r>
              <a:rPr lang="en" sz="800" b="1">
                <a:latin typeface="Calibri"/>
                <a:ea typeface="Calibri"/>
                <a:cs typeface="Calibri"/>
                <a:sym typeface="Calibri"/>
              </a:rPr>
              <a:t>Impeccable - </a:t>
            </a:r>
            <a:r>
              <a:rPr lang="en" sz="800" u="sng">
                <a:solidFill>
                  <a:schemeClr val="hlink"/>
                </a:solidFill>
                <a:latin typeface="Calibri"/>
                <a:ea typeface="Calibri"/>
                <a:cs typeface="Calibri"/>
                <a:sym typeface="Calibri"/>
                <a:hlinkClick r:id="rId16"/>
              </a:rPr>
              <a:t>https://github.com/pbakaus/impeccable</a:t>
            </a:r>
            <a:r>
              <a:rPr lang="en" sz="800">
                <a:latin typeface="Calibri"/>
                <a:ea typeface="Calibri"/>
                <a:cs typeface="Calibri"/>
                <a:sym typeface="Calibri"/>
              </a:rPr>
              <a:t> </a:t>
            </a:r>
            <a:endParaRPr sz="800">
              <a:latin typeface="Calibri"/>
              <a:ea typeface="Calibri"/>
              <a:cs typeface="Calibri"/>
              <a:sym typeface="Calibri"/>
            </a:endParaRPr>
          </a:p>
          <a:p>
            <a:pPr marL="342900" marR="0" lvl="0" indent="-107950" algn="l" rtl="0">
              <a:lnSpc>
                <a:spcPct val="100000"/>
              </a:lnSpc>
              <a:spcBef>
                <a:spcPts val="0"/>
              </a:spcBef>
              <a:spcAft>
                <a:spcPts val="0"/>
              </a:spcAft>
              <a:buSzPts val="800"/>
              <a:buFont typeface="Calibri"/>
              <a:buChar char="●"/>
            </a:pPr>
            <a:r>
              <a:rPr lang="en" sz="800" b="1">
                <a:latin typeface="Calibri"/>
                <a:ea typeface="Calibri"/>
                <a:cs typeface="Calibri"/>
                <a:sym typeface="Calibri"/>
              </a:rPr>
              <a:t>SkillUI - </a:t>
            </a:r>
            <a:r>
              <a:rPr lang="en" sz="800" u="sng">
                <a:solidFill>
                  <a:schemeClr val="hlink"/>
                </a:solidFill>
                <a:latin typeface="Calibri"/>
                <a:ea typeface="Calibri"/>
                <a:cs typeface="Calibri"/>
                <a:sym typeface="Calibri"/>
                <a:hlinkClick r:id="rId17"/>
              </a:rPr>
              <a:t>https://github.com/amaancoderx/npxskillui</a:t>
            </a:r>
            <a:r>
              <a:rPr lang="en" sz="800">
                <a:latin typeface="Calibri"/>
                <a:ea typeface="Calibri"/>
                <a:cs typeface="Calibri"/>
                <a:sym typeface="Calibri"/>
              </a:rPr>
              <a:t> </a:t>
            </a:r>
            <a:endParaRPr sz="800">
              <a:latin typeface="Calibri"/>
              <a:ea typeface="Calibri"/>
              <a:cs typeface="Calibri"/>
              <a:sym typeface="Calibri"/>
            </a:endParaRPr>
          </a:p>
          <a:p>
            <a:pPr marL="342900" marR="0" lvl="0" indent="-107950" algn="l" rtl="0">
              <a:lnSpc>
                <a:spcPct val="100000"/>
              </a:lnSpc>
              <a:spcBef>
                <a:spcPts val="0"/>
              </a:spcBef>
              <a:spcAft>
                <a:spcPts val="0"/>
              </a:spcAft>
              <a:buSzPts val="800"/>
              <a:buFont typeface="Calibri"/>
              <a:buChar char="●"/>
            </a:pPr>
            <a:r>
              <a:rPr lang="en" sz="800" b="1">
                <a:latin typeface="Calibri"/>
                <a:ea typeface="Calibri"/>
                <a:cs typeface="Calibri"/>
                <a:sym typeface="Calibri"/>
              </a:rPr>
              <a:t>WebGPU Claude Skill - </a:t>
            </a:r>
            <a:r>
              <a:rPr lang="en" sz="800" u="sng">
                <a:solidFill>
                  <a:schemeClr val="hlink"/>
                </a:solidFill>
                <a:latin typeface="Calibri"/>
                <a:ea typeface="Calibri"/>
                <a:cs typeface="Calibri"/>
                <a:sym typeface="Calibri"/>
                <a:hlinkClick r:id="rId18"/>
              </a:rPr>
              <a:t>https://github.com/dgreenheck/webgpu-claude-skill</a:t>
            </a:r>
            <a:r>
              <a:rPr lang="en" sz="800">
                <a:latin typeface="Calibri"/>
                <a:ea typeface="Calibri"/>
                <a:cs typeface="Calibri"/>
                <a:sym typeface="Calibri"/>
              </a:rPr>
              <a:t> </a:t>
            </a:r>
            <a:endParaRPr sz="800">
              <a:latin typeface="Calibri"/>
              <a:ea typeface="Calibri"/>
              <a:cs typeface="Calibri"/>
              <a:sym typeface="Calibri"/>
            </a:endParaRPr>
          </a:p>
          <a:p>
            <a:pPr marL="342900" lvl="0" indent="-107950" algn="l" rtl="0">
              <a:spcBef>
                <a:spcPts val="0"/>
              </a:spcBef>
              <a:spcAft>
                <a:spcPts val="0"/>
              </a:spcAft>
              <a:buSzPts val="800"/>
              <a:buFont typeface="Calibri"/>
              <a:buChar char="●"/>
            </a:pPr>
            <a:r>
              <a:rPr lang="en" sz="800" b="1">
                <a:latin typeface="Calibri"/>
                <a:ea typeface="Calibri"/>
                <a:cs typeface="Calibri"/>
                <a:sym typeface="Calibri"/>
              </a:rPr>
              <a:t>Awesome Design MD - </a:t>
            </a:r>
            <a:r>
              <a:rPr lang="en" sz="800" u="sng">
                <a:solidFill>
                  <a:schemeClr val="hlink"/>
                </a:solidFill>
                <a:latin typeface="Calibri"/>
                <a:ea typeface="Calibri"/>
                <a:cs typeface="Calibri"/>
                <a:sym typeface="Calibri"/>
                <a:hlinkClick r:id="rId7"/>
              </a:rPr>
              <a:t>https://github.com/VoltAgent/awesome-design-md</a:t>
            </a:r>
            <a:r>
              <a:rPr lang="en" sz="800">
                <a:latin typeface="Calibri"/>
                <a:ea typeface="Calibri"/>
                <a:cs typeface="Calibri"/>
                <a:sym typeface="Calibri"/>
              </a:rPr>
              <a:t> </a:t>
            </a:r>
            <a:endParaRPr sz="800">
              <a:latin typeface="Calibri"/>
              <a:ea typeface="Calibri"/>
              <a:cs typeface="Calibri"/>
              <a:sym typeface="Calibri"/>
            </a:endParaRPr>
          </a:p>
          <a:p>
            <a:pPr marL="342900" lvl="0" indent="-107950" algn="l" rtl="0">
              <a:spcBef>
                <a:spcPts val="0"/>
              </a:spcBef>
              <a:spcAft>
                <a:spcPts val="0"/>
              </a:spcAft>
              <a:buSzPts val="800"/>
              <a:buFont typeface="Calibri"/>
              <a:buChar char="●"/>
            </a:pPr>
            <a:r>
              <a:rPr lang="en" sz="800" b="1">
                <a:latin typeface="Calibri"/>
                <a:ea typeface="Calibri"/>
                <a:cs typeface="Calibri"/>
                <a:sym typeface="Calibri"/>
              </a:rPr>
              <a:t>Stitch by Google - </a:t>
            </a:r>
            <a:r>
              <a:rPr lang="en" sz="800" u="sng">
                <a:solidFill>
                  <a:schemeClr val="hlink"/>
                </a:solidFill>
                <a:latin typeface="Calibri"/>
                <a:ea typeface="Calibri"/>
                <a:cs typeface="Calibri"/>
                <a:sym typeface="Calibri"/>
                <a:hlinkClick r:id="rId19"/>
              </a:rPr>
              <a:t>https://stitch.withgoogle.com</a:t>
            </a:r>
            <a:r>
              <a:rPr lang="en" sz="800">
                <a:latin typeface="Calibri"/>
                <a:ea typeface="Calibri"/>
                <a:cs typeface="Calibri"/>
                <a:sym typeface="Calibri"/>
              </a:rPr>
              <a:t> </a:t>
            </a:r>
            <a:endParaRPr sz="800">
              <a:latin typeface="Calibri"/>
              <a:ea typeface="Calibri"/>
              <a:cs typeface="Calibri"/>
              <a:sym typeface="Calibri"/>
            </a:endParaRPr>
          </a:p>
          <a:p>
            <a:pPr marL="342900" lvl="0" indent="-107950" algn="l" rtl="0">
              <a:spcBef>
                <a:spcPts val="0"/>
              </a:spcBef>
              <a:spcAft>
                <a:spcPts val="0"/>
              </a:spcAft>
              <a:buSzPts val="800"/>
              <a:buFont typeface="Calibri"/>
              <a:buChar char="●"/>
            </a:pPr>
            <a:r>
              <a:rPr lang="en" sz="800" b="1">
                <a:latin typeface="Calibri"/>
                <a:ea typeface="Calibri"/>
                <a:cs typeface="Calibri"/>
                <a:sym typeface="Calibri"/>
              </a:rPr>
              <a:t>UI/UX Pro Max Skill - </a:t>
            </a:r>
            <a:r>
              <a:rPr lang="en" sz="800" u="sng">
                <a:solidFill>
                  <a:schemeClr val="hlink"/>
                </a:solidFill>
                <a:latin typeface="Calibri"/>
                <a:ea typeface="Calibri"/>
                <a:cs typeface="Calibri"/>
                <a:sym typeface="Calibri"/>
                <a:hlinkClick r:id="rId20"/>
              </a:rPr>
              <a:t>https://github.com/nextlevelbuilder/ui-ux-pro-max-skill</a:t>
            </a:r>
            <a:r>
              <a:rPr lang="en" sz="800">
                <a:latin typeface="Calibri"/>
                <a:ea typeface="Calibri"/>
                <a:cs typeface="Calibri"/>
                <a:sym typeface="Calibri"/>
              </a:rPr>
              <a:t> </a:t>
            </a:r>
            <a:endParaRPr sz="800">
              <a:latin typeface="Calibri"/>
              <a:ea typeface="Calibri"/>
              <a:cs typeface="Calibri"/>
              <a:sym typeface="Calibri"/>
            </a:endParaRPr>
          </a:p>
          <a:p>
            <a:pPr marL="342900" lvl="0" indent="-107950" algn="l" rtl="0">
              <a:spcBef>
                <a:spcPts val="0"/>
              </a:spcBef>
              <a:spcAft>
                <a:spcPts val="0"/>
              </a:spcAft>
              <a:buSzPts val="800"/>
              <a:buFont typeface="Calibri"/>
              <a:buChar char="●"/>
            </a:pPr>
            <a:r>
              <a:rPr lang="en" sz="800" b="1">
                <a:latin typeface="Calibri"/>
                <a:ea typeface="Calibri"/>
                <a:cs typeface="Calibri"/>
                <a:sym typeface="Calibri"/>
              </a:rPr>
              <a:t>21st.dev - </a:t>
            </a:r>
            <a:r>
              <a:rPr lang="en" sz="800" u="sng">
                <a:solidFill>
                  <a:schemeClr val="hlink"/>
                </a:solidFill>
                <a:latin typeface="Calibri"/>
                <a:ea typeface="Calibri"/>
                <a:cs typeface="Calibri"/>
                <a:sym typeface="Calibri"/>
                <a:hlinkClick r:id="rId21"/>
              </a:rPr>
              <a:t>https://21st.dev/home</a:t>
            </a:r>
            <a:endParaRPr sz="800">
              <a:latin typeface="Calibri"/>
              <a:ea typeface="Calibri"/>
              <a:cs typeface="Calibri"/>
              <a:sym typeface="Calibri"/>
            </a:endParaRPr>
          </a:p>
          <a:p>
            <a:pPr marL="342900" lvl="0" indent="-107950" algn="l" rtl="0">
              <a:spcBef>
                <a:spcPts val="0"/>
              </a:spcBef>
              <a:spcAft>
                <a:spcPts val="0"/>
              </a:spcAft>
              <a:buSzPts val="800"/>
              <a:buFont typeface="Calibri"/>
              <a:buChar char="●"/>
            </a:pPr>
            <a:r>
              <a:rPr lang="en" sz="800" b="1">
                <a:latin typeface="Calibri"/>
                <a:ea typeface="Calibri"/>
                <a:cs typeface="Calibri"/>
                <a:sym typeface="Calibri"/>
              </a:rPr>
              <a:t>Taste Skill - </a:t>
            </a:r>
            <a:r>
              <a:rPr lang="en" sz="800" u="sng">
                <a:solidFill>
                  <a:schemeClr val="hlink"/>
                </a:solidFill>
                <a:latin typeface="Calibri"/>
                <a:ea typeface="Calibri"/>
                <a:cs typeface="Calibri"/>
                <a:sym typeface="Calibri"/>
                <a:hlinkClick r:id="rId22"/>
              </a:rPr>
              <a:t>https://github.com/Leonxlnx/taste-skill</a:t>
            </a:r>
            <a:r>
              <a:rPr lang="en" sz="800">
                <a:latin typeface="Calibri"/>
                <a:ea typeface="Calibri"/>
                <a:cs typeface="Calibri"/>
                <a:sym typeface="Calibri"/>
              </a:rPr>
              <a:t> </a:t>
            </a:r>
            <a:endParaRPr sz="800">
              <a:latin typeface="Calibri"/>
              <a:ea typeface="Calibri"/>
              <a:cs typeface="Calibri"/>
              <a:sym typeface="Calibri"/>
            </a:endParaRPr>
          </a:p>
          <a:p>
            <a:pPr marL="342900" lvl="0" indent="-107950" algn="l" rtl="0">
              <a:spcBef>
                <a:spcPts val="0"/>
              </a:spcBef>
              <a:spcAft>
                <a:spcPts val="0"/>
              </a:spcAft>
              <a:buSzPts val="800"/>
              <a:buFont typeface="Calibri"/>
              <a:buChar char="●"/>
            </a:pPr>
            <a:r>
              <a:rPr lang="en" sz="800" b="1">
                <a:latin typeface="Calibri"/>
                <a:ea typeface="Calibri"/>
                <a:cs typeface="Calibri"/>
                <a:sym typeface="Calibri"/>
              </a:rPr>
              <a:t>Google Fonts - </a:t>
            </a:r>
            <a:r>
              <a:rPr lang="en" sz="800" u="sng">
                <a:solidFill>
                  <a:schemeClr val="hlink"/>
                </a:solidFill>
                <a:latin typeface="Calibri"/>
                <a:ea typeface="Calibri"/>
                <a:cs typeface="Calibri"/>
                <a:sym typeface="Calibri"/>
                <a:hlinkClick r:id="rId23"/>
              </a:rPr>
              <a:t>https://fonts.google.com</a:t>
            </a:r>
            <a:r>
              <a:rPr lang="en" sz="800">
                <a:latin typeface="Calibri"/>
                <a:ea typeface="Calibri"/>
                <a:cs typeface="Calibri"/>
                <a:sym typeface="Calibri"/>
              </a:rPr>
              <a:t> </a:t>
            </a:r>
            <a:endParaRPr sz="800">
              <a:latin typeface="Calibri"/>
              <a:ea typeface="Calibri"/>
              <a:cs typeface="Calibri"/>
              <a:sym typeface="Calibri"/>
            </a:endParaRPr>
          </a:p>
          <a:p>
            <a:pPr marL="342900" lvl="0" indent="-107950" algn="l" rtl="0">
              <a:spcBef>
                <a:spcPts val="0"/>
              </a:spcBef>
              <a:spcAft>
                <a:spcPts val="0"/>
              </a:spcAft>
              <a:buSzPts val="800"/>
              <a:buFont typeface="Calibri"/>
              <a:buChar char="●"/>
            </a:pPr>
            <a:r>
              <a:rPr lang="en" sz="800" b="1">
                <a:latin typeface="Calibri"/>
                <a:ea typeface="Calibri"/>
                <a:cs typeface="Calibri"/>
                <a:sym typeface="Calibri"/>
              </a:rPr>
              <a:t>Playwright CLI - </a:t>
            </a:r>
            <a:r>
              <a:rPr lang="en" sz="800" u="sng">
                <a:solidFill>
                  <a:schemeClr val="hlink"/>
                </a:solidFill>
                <a:latin typeface="Calibri"/>
                <a:ea typeface="Calibri"/>
                <a:cs typeface="Calibri"/>
                <a:sym typeface="Calibri"/>
                <a:hlinkClick r:id="rId24"/>
              </a:rPr>
              <a:t>https://github.com/microsoft/playwright-cli</a:t>
            </a:r>
            <a:r>
              <a:rPr lang="en" sz="800">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158" name="Google Shape;158;p24"/>
          <p:cNvSpPr txBox="1"/>
          <p:nvPr/>
        </p:nvSpPr>
        <p:spPr>
          <a:xfrm>
            <a:off x="4618775" y="2388100"/>
            <a:ext cx="44622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Skills to Reduce Coding Mistakes</a:t>
            </a:r>
            <a:br>
              <a:rPr lang="en" sz="1200" b="1">
                <a:solidFill>
                  <a:srgbClr val="FF0000"/>
                </a:solidFill>
                <a:latin typeface="Calibri"/>
                <a:ea typeface="Calibri"/>
                <a:cs typeface="Calibri"/>
                <a:sym typeface="Calibri"/>
              </a:rPr>
            </a:br>
            <a:r>
              <a:rPr lang="en" sz="1200">
                <a:solidFill>
                  <a:schemeClr val="dk1"/>
                </a:solidFill>
                <a:latin typeface="Calibri"/>
                <a:ea typeface="Calibri"/>
                <a:cs typeface="Calibri"/>
                <a:sym typeface="Calibri"/>
              </a:rPr>
              <a:t>Inspired by Andrej Karpathy</a:t>
            </a:r>
            <a:endParaRPr sz="1200">
              <a:solidFill>
                <a:schemeClr val="dk1"/>
              </a:solidFill>
              <a:latin typeface="Calibri"/>
              <a:ea typeface="Calibri"/>
              <a:cs typeface="Calibri"/>
              <a:sym typeface="Calibri"/>
            </a:endParaRPr>
          </a:p>
          <a:p>
            <a:pPr marL="22860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25"/>
              </a:rPr>
              <a:t>https://github.com/forrestchang/andrej-karpathy-skills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22860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26"/>
              </a:rPr>
              <a:t>https://www.youtube.com/watch?v=sKx8g4ilCKQ</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22860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think before coding - state assumptions and surface confusion; </a:t>
            </a:r>
            <a:endParaRPr sz="1200">
              <a:solidFill>
                <a:schemeClr val="dk1"/>
              </a:solidFill>
              <a:latin typeface="Calibri"/>
              <a:ea typeface="Calibri"/>
              <a:cs typeface="Calibri"/>
              <a:sym typeface="Calibri"/>
            </a:endParaRPr>
          </a:p>
          <a:p>
            <a:pPr marL="22860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write minimum code that solves the problem; </a:t>
            </a:r>
            <a:endParaRPr sz="1200">
              <a:solidFill>
                <a:schemeClr val="dk1"/>
              </a:solidFill>
              <a:latin typeface="Calibri"/>
              <a:ea typeface="Calibri"/>
              <a:cs typeface="Calibri"/>
              <a:sym typeface="Calibri"/>
            </a:endParaRPr>
          </a:p>
          <a:p>
            <a:pPr marL="22860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make surgical edits that touch only what's necessary; </a:t>
            </a:r>
            <a:endParaRPr sz="1200">
              <a:solidFill>
                <a:schemeClr val="dk1"/>
              </a:solidFill>
              <a:latin typeface="Calibri"/>
              <a:ea typeface="Calibri"/>
              <a:cs typeface="Calibri"/>
              <a:sym typeface="Calibri"/>
            </a:endParaRPr>
          </a:p>
          <a:p>
            <a:pPr marL="22860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define verifiable success criteria before executing</a:t>
            </a:r>
            <a:endParaRPr sz="12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163" name="Google Shape;163;p25"/>
          <p:cNvSpPr txBox="1"/>
          <p:nvPr/>
        </p:nvSpPr>
        <p:spPr>
          <a:xfrm>
            <a:off x="81779" y="40049"/>
            <a:ext cx="4243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33 Claude Skills and more resources</a:t>
            </a:r>
            <a:endParaRPr sz="2000" b="1">
              <a:solidFill>
                <a:schemeClr val="dk1"/>
              </a:solidFill>
              <a:latin typeface="Calibri"/>
              <a:ea typeface="Calibri"/>
              <a:cs typeface="Calibri"/>
              <a:sym typeface="Calibri"/>
            </a:endParaRPr>
          </a:p>
        </p:txBody>
      </p:sp>
      <p:sp>
        <p:nvSpPr>
          <p:cNvPr id="164" name="Google Shape;164;p25"/>
          <p:cNvSpPr txBox="1"/>
          <p:nvPr/>
        </p:nvSpPr>
        <p:spPr>
          <a:xfrm>
            <a:off x="132350" y="497075"/>
            <a:ext cx="4440300" cy="4020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chemeClr val="dk1"/>
              </a:buClr>
              <a:buSzPts val="1000"/>
              <a:buFont typeface="Calibri"/>
              <a:buChar char="●"/>
            </a:pPr>
            <a:r>
              <a:rPr lang="en" sz="1000" u="sng">
                <a:solidFill>
                  <a:schemeClr val="hlink"/>
                </a:solidFill>
                <a:latin typeface="Calibri"/>
                <a:ea typeface="Calibri"/>
                <a:cs typeface="Calibri"/>
                <a:sym typeface="Calibri"/>
                <a:hlinkClick r:id="rId3"/>
              </a:rPr>
              <a:t>https://www.youtube.com/watch?v=2BFN2DtcQMw</a:t>
            </a:r>
            <a:r>
              <a:rPr lang="en" sz="1000">
                <a:solidFill>
                  <a:schemeClr val="dk1"/>
                </a:solidFill>
                <a:latin typeface="Calibri"/>
                <a:ea typeface="Calibri"/>
                <a:cs typeface="Calibri"/>
                <a:sym typeface="Calibri"/>
              </a:rPr>
              <a:t>  - all links here</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1. Frontend Design  - 277,000 installs</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2. Superpowers - 20+ skills for test-driven development; 100K+ GitHub stars</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3. AutoResearch by Karpathy - runs experiments, 50K+ stars</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4. Context7 - #1 MCP server for docs for software libraries</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5. gstack by Garry Tan - Y Combinator president's Claude setup &amp; prompts</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6. Task Master AI - Breaks your PRD into tasks with dependencies; 36 MCP tools</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7. Playwright MCP (Microsoft) - browser control (clicks, forms, screenshots)</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8. Tavily - Search engine built for AI agents; tools: search, extract, crawl, map</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9. Codebase Memory MCP - persistent knowledge graph across sessions</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10. PDF Processing - Read, extract tables, fill forms, merge, and split PDFs</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11. XLSX - Excel formulas, data analysis, and charts from plain English</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12. PPTX - Slide decks with layouts, charts, and speaker notes</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13. Doc Co-Authoring - AI writing, like Google Docs with an AI co-author</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14. Canvas Design — Social graphics, posters, and covers; text in, PNG/PDF out</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15. Web Artifacts Builder - Calculators, dashboards, interactive widgets</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16. Marketing Skills - 20+ sub-skills: CRO, copywriting, SEO, email sequences</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17. Claude SEO - Full website audits, schema validation, 12 sub-skills</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18. Brand Guidelines - Encodes your brand voice, colors, and tone</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19. Deep Research Skill — 8-phase research pipeline with source credibility scoring</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20. GPT Researcher - researches a topic and compiles a full report</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21. Obsidian Skills - Auto-tagging, linking, vault-native AI</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22. Remotion - Vibe-code motion graphic promo videos</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23. Context Optimization - reduces token usage via KV cache tricks</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24. promptfoo - security testing, red teaming, edge case testing for prompts</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25. Skill Creator - Anthropic meta-skill; generates skill file from description</a:t>
            </a:r>
            <a:endParaRPr sz="1000">
              <a:solidFill>
                <a:schemeClr val="dk1"/>
              </a:solidFill>
              <a:latin typeface="Calibri"/>
              <a:ea typeface="Calibri"/>
              <a:cs typeface="Calibri"/>
              <a:sym typeface="Calibri"/>
            </a:endParaRPr>
          </a:p>
        </p:txBody>
      </p:sp>
      <p:pic>
        <p:nvPicPr>
          <p:cNvPr id="165" name="Google Shape;165;p25"/>
          <p:cNvPicPr preferRelativeResize="0"/>
          <p:nvPr/>
        </p:nvPicPr>
        <p:blipFill>
          <a:blip r:embed="rId4">
            <a:alphaModFix/>
          </a:blip>
          <a:stretch>
            <a:fillRect/>
          </a:stretch>
        </p:blipFill>
        <p:spPr>
          <a:xfrm>
            <a:off x="7549100" y="189600"/>
            <a:ext cx="1409700" cy="1409700"/>
          </a:xfrm>
          <a:prstGeom prst="rect">
            <a:avLst/>
          </a:prstGeom>
          <a:noFill/>
          <a:ln>
            <a:noFill/>
          </a:ln>
        </p:spPr>
      </p:pic>
      <p:sp>
        <p:nvSpPr>
          <p:cNvPr id="166" name="Google Shape;166;p25"/>
          <p:cNvSpPr txBox="1"/>
          <p:nvPr/>
        </p:nvSpPr>
        <p:spPr>
          <a:xfrm>
            <a:off x="4735850" y="2344175"/>
            <a:ext cx="4296300" cy="2173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rgbClr val="FF0000"/>
              </a:buClr>
              <a:buSzPts val="1000"/>
              <a:buFont typeface="Calibri"/>
              <a:buChar char="●"/>
            </a:pPr>
            <a:r>
              <a:rPr lang="en" sz="1000" b="1">
                <a:solidFill>
                  <a:srgbClr val="FF0000"/>
                </a:solidFill>
                <a:latin typeface="Calibri"/>
                <a:ea typeface="Calibri"/>
                <a:cs typeface="Calibri"/>
                <a:sym typeface="Calibri"/>
              </a:rPr>
              <a:t>## GitHub Repos (Paste Link into Claude Code)</a:t>
            </a:r>
            <a:endParaRPr sz="1000" b="1">
              <a:solidFill>
                <a:srgbClr val="FF0000"/>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26. n8n - Open-source workflow automation</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27. Firecrawl - turns any website into LLM-ready markdown/structured data</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28. Langflow - visual drag-and-drop AI agent pipeline builder</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29. claude-squad - run multiple Claude Code agents in parallel terminals</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30. container-use by Dagger - containerized isolated environments for agents</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31. Ghost OS - AI agents that control every app on your Mac</a:t>
            </a:r>
            <a:br>
              <a:rPr lang="en" sz="1000">
                <a:solidFill>
                  <a:schemeClr val="dk1"/>
                </a:solidFill>
                <a:latin typeface="Calibri"/>
                <a:ea typeface="Calibri"/>
                <a:cs typeface="Calibri"/>
                <a:sym typeface="Calibri"/>
              </a:rPr>
            </a:b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rgbClr val="FF0000"/>
              </a:buClr>
              <a:buSzPts val="1000"/>
              <a:buFont typeface="Calibri"/>
              <a:buChar char="●"/>
            </a:pPr>
            <a:r>
              <a:rPr lang="en" sz="1000" b="1">
                <a:solidFill>
                  <a:srgbClr val="FF0000"/>
                </a:solidFill>
                <a:latin typeface="Calibri"/>
                <a:ea typeface="Calibri"/>
                <a:cs typeface="Calibri"/>
                <a:sym typeface="Calibri"/>
              </a:rPr>
              <a:t>## Where to Find More</a:t>
            </a:r>
            <a:endParaRPr sz="1000" b="1">
              <a:solidFill>
                <a:srgbClr val="FF0000"/>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32. Awesome Claude Skills: </a:t>
            </a:r>
            <a:r>
              <a:rPr lang="en" sz="1000" u="sng">
                <a:solidFill>
                  <a:schemeClr val="hlink"/>
                </a:solidFill>
                <a:latin typeface="Calibri"/>
                <a:ea typeface="Calibri"/>
                <a:cs typeface="Calibri"/>
                <a:sym typeface="Calibri"/>
                <a:hlinkClick r:id="rId5"/>
              </a:rPr>
              <a:t>https://github.com/travisvn/awesome-claude-skills</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32. Official Anthropic Skills Repo: </a:t>
            </a:r>
            <a:r>
              <a:rPr lang="en" sz="1000" u="sng">
                <a:solidFill>
                  <a:schemeClr val="hlink"/>
                </a:solidFill>
                <a:latin typeface="Calibri"/>
                <a:ea typeface="Calibri"/>
                <a:cs typeface="Calibri"/>
                <a:sym typeface="Calibri"/>
                <a:hlinkClick r:id="rId6"/>
              </a:rPr>
              <a:t>https://github.com/anthropics/skills</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33. SkillsMP: </a:t>
            </a:r>
            <a:r>
              <a:rPr lang="en" sz="1000" u="sng">
                <a:solidFill>
                  <a:schemeClr val="hlink"/>
                </a:solidFill>
                <a:latin typeface="Calibri"/>
                <a:ea typeface="Calibri"/>
                <a:cs typeface="Calibri"/>
                <a:sym typeface="Calibri"/>
                <a:hlinkClick r:id="rId7"/>
              </a:rPr>
              <a:t>https://skillsmp.com</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33. SkillHub: </a:t>
            </a:r>
            <a:r>
              <a:rPr lang="en" sz="1000" u="sng">
                <a:solidFill>
                  <a:schemeClr val="hlink"/>
                </a:solidFill>
                <a:latin typeface="Calibri"/>
                <a:ea typeface="Calibri"/>
                <a:cs typeface="Calibri"/>
                <a:sym typeface="Calibri"/>
                <a:hlinkClick r:id="rId8"/>
              </a:rPr>
              <a:t>https://skillhub.club</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33. MAGI Archive: </a:t>
            </a:r>
            <a:r>
              <a:rPr lang="en" sz="1000" u="sng">
                <a:solidFill>
                  <a:schemeClr val="hlink"/>
                </a:solidFill>
                <a:latin typeface="Calibri"/>
                <a:ea typeface="Calibri"/>
                <a:cs typeface="Calibri"/>
                <a:sym typeface="Calibri"/>
                <a:hlinkClick r:id="rId9"/>
              </a:rPr>
              <a:t>https://tom-doerr.github.io/repo_posts/</a:t>
            </a:r>
            <a:endParaRPr sz="10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sp>
        <p:nvSpPr>
          <p:cNvPr id="171" name="Google Shape;171;p26"/>
          <p:cNvSpPr txBox="1"/>
          <p:nvPr/>
        </p:nvSpPr>
        <p:spPr>
          <a:xfrm>
            <a:off x="81775" y="40050"/>
            <a:ext cx="4440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InfraNodus - Generate Ideas</a:t>
            </a:r>
            <a:endParaRPr sz="2000" b="1">
              <a:solidFill>
                <a:schemeClr val="dk1"/>
              </a:solidFill>
              <a:latin typeface="Calibri"/>
              <a:ea typeface="Calibri"/>
              <a:cs typeface="Calibri"/>
              <a:sym typeface="Calibri"/>
            </a:endParaRPr>
          </a:p>
        </p:txBody>
      </p:sp>
      <p:sp>
        <p:nvSpPr>
          <p:cNvPr id="172" name="Google Shape;172;p26"/>
          <p:cNvSpPr txBox="1"/>
          <p:nvPr/>
        </p:nvSpPr>
        <p:spPr>
          <a:xfrm>
            <a:off x="100600" y="497075"/>
            <a:ext cx="4440300" cy="1557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chemeClr val="dk1"/>
              </a:buClr>
              <a:buSzPts val="1000"/>
              <a:buFont typeface="Calibri"/>
              <a:buChar char="●"/>
            </a:pPr>
            <a:r>
              <a:rPr lang="en" sz="1000" b="1">
                <a:solidFill>
                  <a:srgbClr val="FF0000"/>
                </a:solidFill>
                <a:latin typeface="Calibri"/>
                <a:ea typeface="Calibri"/>
                <a:cs typeface="Calibri"/>
                <a:sym typeface="Calibri"/>
              </a:rPr>
              <a:t>Claude Code + Obsidian + InfraNodus</a:t>
            </a:r>
            <a:br>
              <a:rPr lang="en" sz="1000">
                <a:solidFill>
                  <a:schemeClr val="dk1"/>
                </a:solidFill>
                <a:latin typeface="Calibri"/>
                <a:ea typeface="Calibri"/>
                <a:cs typeface="Calibri"/>
                <a:sym typeface="Calibri"/>
              </a:rPr>
            </a:br>
            <a:r>
              <a:rPr lang="en" sz="1000" u="sng">
                <a:solidFill>
                  <a:schemeClr val="hlink"/>
                </a:solidFill>
                <a:latin typeface="Calibri"/>
                <a:ea typeface="Calibri"/>
                <a:cs typeface="Calibri"/>
                <a:sym typeface="Calibri"/>
                <a:hlinkClick r:id="rId3"/>
              </a:rPr>
              <a:t>https://www.youtube.com/watch?v=yYSTsKo8moU</a:t>
            </a:r>
            <a:r>
              <a:rPr lang="en" sz="1000">
                <a:solidFill>
                  <a:schemeClr val="dk1"/>
                </a:solidFill>
                <a:latin typeface="Calibri"/>
                <a:ea typeface="Calibri"/>
                <a:cs typeface="Calibri"/>
                <a:sym typeface="Calibri"/>
              </a:rPr>
              <a:t> </a:t>
            </a:r>
            <a:br>
              <a:rPr lang="en" sz="1000">
                <a:solidFill>
                  <a:schemeClr val="dk1"/>
                </a:solidFill>
                <a:latin typeface="Calibri"/>
                <a:ea typeface="Calibri"/>
                <a:cs typeface="Calibri"/>
                <a:sym typeface="Calibri"/>
              </a:rPr>
            </a:br>
            <a:r>
              <a:rPr lang="en" sz="1000" u="sng">
                <a:solidFill>
                  <a:schemeClr val="hlink"/>
                </a:solidFill>
                <a:latin typeface="Calibri"/>
                <a:ea typeface="Calibri"/>
                <a:cs typeface="Calibri"/>
                <a:sym typeface="Calibri"/>
                <a:hlinkClick r:id="rId4"/>
              </a:rPr>
              <a:t>https://infranodus.com</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Andrej Karpathy's 'LLM Wiki' summary produces most probably answer</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InfraNodus maps your concepts as a network, identifies the main topic clusters, and finds the gaps - pairs of clusters that are weakly connected. Those gaps are where novel ideas live</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Feeding the LLM the graph structure of the gap (not just the documents) forces it to reason about underexplored connections rather than rehashing what's already well-covered.</a:t>
            </a:r>
            <a:endParaRPr sz="1000">
              <a:solidFill>
                <a:schemeClr val="dk1"/>
              </a:solidFill>
              <a:latin typeface="Calibri"/>
              <a:ea typeface="Calibri"/>
              <a:cs typeface="Calibri"/>
              <a:sym typeface="Calibri"/>
            </a:endParaRPr>
          </a:p>
        </p:txBody>
      </p:sp>
      <p:pic>
        <p:nvPicPr>
          <p:cNvPr id="173" name="Google Shape;173;p26"/>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936050" y="67275"/>
            <a:ext cx="3111663" cy="1987400"/>
          </a:xfrm>
          <a:prstGeom prst="rect">
            <a:avLst/>
          </a:prstGeom>
          <a:noFill/>
          <a:ln w="9525" cap="flat" cmpd="sng">
            <a:solidFill>
              <a:srgbClr val="FF0000"/>
            </a:solidFill>
            <a:prstDash val="solid"/>
            <a:round/>
            <a:headEnd type="none" w="sm" len="sm"/>
            <a:tailEnd type="none" w="sm" len="sm"/>
          </a:ln>
        </p:spPr>
      </p:pic>
      <p:sp>
        <p:nvSpPr>
          <p:cNvPr id="174" name="Google Shape;174;p26"/>
          <p:cNvSpPr txBox="1"/>
          <p:nvPr/>
        </p:nvSpPr>
        <p:spPr>
          <a:xfrm>
            <a:off x="81775" y="2309430"/>
            <a:ext cx="4709400" cy="248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chemeClr val="dk1"/>
              </a:buClr>
              <a:buSzPts val="1000"/>
              <a:buFont typeface="Calibri"/>
              <a:buChar char="●"/>
            </a:pPr>
            <a:r>
              <a:rPr lang="en" sz="1000" b="1">
                <a:solidFill>
                  <a:srgbClr val="FF0000"/>
                </a:solidFill>
                <a:latin typeface="Calibri"/>
                <a:ea typeface="Calibri"/>
                <a:cs typeface="Calibri"/>
                <a:sym typeface="Calibri"/>
              </a:rPr>
              <a:t>Cognee gives your AI a persistent memory </a:t>
            </a:r>
            <a:br>
              <a:rPr lang="en" sz="1000">
                <a:solidFill>
                  <a:schemeClr val="dk1"/>
                </a:solidFill>
                <a:latin typeface="Calibri"/>
                <a:ea typeface="Calibri"/>
                <a:cs typeface="Calibri"/>
                <a:sym typeface="Calibri"/>
              </a:rPr>
            </a:br>
            <a:r>
              <a:rPr lang="en" sz="1000">
                <a:solidFill>
                  <a:schemeClr val="dk1"/>
                </a:solidFill>
                <a:latin typeface="Calibri"/>
                <a:ea typeface="Calibri"/>
                <a:cs typeface="Calibri"/>
                <a:sym typeface="Calibri"/>
              </a:rPr>
              <a:t>that actually understands - not just recalls. </a:t>
            </a:r>
            <a:br>
              <a:rPr lang="en" sz="1000">
                <a:solidFill>
                  <a:schemeClr val="dk1"/>
                </a:solidFill>
                <a:latin typeface="Calibri"/>
                <a:ea typeface="Calibri"/>
                <a:cs typeface="Calibri"/>
                <a:sym typeface="Calibri"/>
              </a:rPr>
            </a:br>
            <a:r>
              <a:rPr lang="en" sz="1000">
                <a:solidFill>
                  <a:schemeClr val="dk1"/>
                </a:solidFill>
                <a:latin typeface="Calibri"/>
                <a:ea typeface="Calibri"/>
                <a:cs typeface="Calibri"/>
                <a:sym typeface="Calibri"/>
              </a:rPr>
              <a:t>Instead of storing facts as isolated sticky notes, </a:t>
            </a:r>
            <a:br>
              <a:rPr lang="en" sz="1000">
                <a:solidFill>
                  <a:schemeClr val="dk1"/>
                </a:solidFill>
                <a:latin typeface="Calibri"/>
                <a:ea typeface="Calibri"/>
                <a:cs typeface="Calibri"/>
                <a:sym typeface="Calibri"/>
              </a:rPr>
            </a:br>
            <a:r>
              <a:rPr lang="en" sz="1000">
                <a:solidFill>
                  <a:schemeClr val="dk1"/>
                </a:solidFill>
                <a:latin typeface="Calibri"/>
                <a:ea typeface="Calibri"/>
                <a:cs typeface="Calibri"/>
                <a:sym typeface="Calibri"/>
              </a:rPr>
              <a:t>it builds a knowledge graph - a web of connected concepts. </a:t>
            </a:r>
            <a:br>
              <a:rPr lang="en" sz="1000">
                <a:solidFill>
                  <a:schemeClr val="dk1"/>
                </a:solidFill>
                <a:latin typeface="Calibri"/>
                <a:ea typeface="Calibri"/>
                <a:cs typeface="Calibri"/>
                <a:sym typeface="Calibri"/>
              </a:rPr>
            </a:br>
            <a:r>
              <a:rPr lang="en" sz="1000">
                <a:solidFill>
                  <a:schemeClr val="dk1"/>
                </a:solidFill>
                <a:latin typeface="Calibri"/>
                <a:ea typeface="Calibri"/>
                <a:cs typeface="Calibri"/>
                <a:sym typeface="Calibri"/>
              </a:rPr>
              <a:t>Tell it "my pet is Biscuit" and "dogs are animals," and it links them automatically.</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The pipeline is three steps: </a:t>
            </a:r>
            <a:br>
              <a:rPr lang="en" sz="1000">
                <a:solidFill>
                  <a:schemeClr val="dk1"/>
                </a:solidFill>
                <a:latin typeface="Calibri"/>
                <a:ea typeface="Calibri"/>
                <a:cs typeface="Calibri"/>
                <a:sym typeface="Calibri"/>
              </a:rPr>
            </a:br>
            <a:r>
              <a:rPr lang="en" sz="1000">
                <a:solidFill>
                  <a:schemeClr val="dk1"/>
                </a:solidFill>
                <a:latin typeface="Calibri"/>
                <a:ea typeface="Calibri"/>
                <a:cs typeface="Calibri"/>
                <a:sym typeface="Calibri"/>
              </a:rPr>
              <a:t>.. add() ingests documents, audio, or text; </a:t>
            </a:r>
            <a:br>
              <a:rPr lang="en" sz="1000">
                <a:solidFill>
                  <a:schemeClr val="dk1"/>
                </a:solidFill>
                <a:latin typeface="Calibri"/>
                <a:ea typeface="Calibri"/>
                <a:cs typeface="Calibri"/>
                <a:sym typeface="Calibri"/>
              </a:rPr>
            </a:br>
            <a:r>
              <a:rPr lang="en" sz="1000">
                <a:solidFill>
                  <a:schemeClr val="dk1"/>
                </a:solidFill>
                <a:latin typeface="Calibri"/>
                <a:ea typeface="Calibri"/>
                <a:cs typeface="Calibri"/>
                <a:sym typeface="Calibri"/>
              </a:rPr>
              <a:t>.. cognify() builds the connection map; </a:t>
            </a:r>
            <a:br>
              <a:rPr lang="en" sz="1000">
                <a:solidFill>
                  <a:schemeClr val="dk1"/>
                </a:solidFill>
                <a:latin typeface="Calibri"/>
                <a:ea typeface="Calibri"/>
                <a:cs typeface="Calibri"/>
                <a:sym typeface="Calibri"/>
              </a:rPr>
            </a:br>
            <a:r>
              <a:rPr lang="en" sz="1000">
                <a:solidFill>
                  <a:schemeClr val="dk1"/>
                </a:solidFill>
                <a:latin typeface="Calibri"/>
                <a:ea typeface="Calibri"/>
                <a:cs typeface="Calibri"/>
                <a:sym typeface="Calibri"/>
              </a:rPr>
              <a:t>.. search() retrieves answers by meaning and relationship (better than vector search</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Connections that lead to good answers strengthen over time via the Memify pipeline</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Under the hood, Cognee runs three databases: </a:t>
            </a:r>
            <a:br>
              <a:rPr lang="en" sz="1000">
                <a:solidFill>
                  <a:schemeClr val="dk1"/>
                </a:solidFill>
                <a:latin typeface="Calibri"/>
                <a:ea typeface="Calibri"/>
                <a:cs typeface="Calibri"/>
                <a:sym typeface="Calibri"/>
              </a:rPr>
            </a:br>
            <a:r>
              <a:rPr lang="en" sz="1000">
                <a:solidFill>
                  <a:schemeClr val="dk1"/>
                </a:solidFill>
                <a:latin typeface="Calibri"/>
                <a:ea typeface="Calibri"/>
                <a:cs typeface="Calibri"/>
                <a:sym typeface="Calibri"/>
              </a:rPr>
              <a:t>Kuzu (graph), LanceDB (vectors), SQLite (metadata)</a:t>
            </a:r>
            <a:br>
              <a:rPr lang="en" sz="1000">
                <a:solidFill>
                  <a:schemeClr val="dk1"/>
                </a:solidFill>
                <a:latin typeface="Calibri"/>
                <a:ea typeface="Calibri"/>
                <a:cs typeface="Calibri"/>
                <a:sym typeface="Calibri"/>
              </a:rPr>
            </a:br>
            <a:r>
              <a:rPr lang="en" sz="1000">
                <a:solidFill>
                  <a:schemeClr val="dk1"/>
                </a:solidFill>
                <a:latin typeface="Calibri"/>
                <a:ea typeface="Calibri"/>
                <a:cs typeface="Calibri"/>
                <a:sym typeface="Calibri"/>
              </a:rPr>
              <a:t>all local files by default, swappable for Neo4j or Postgres in production</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u="sng">
                <a:solidFill>
                  <a:schemeClr val="hlink"/>
                </a:solidFill>
                <a:latin typeface="Calibri"/>
                <a:ea typeface="Calibri"/>
                <a:cs typeface="Calibri"/>
                <a:sym typeface="Calibri"/>
                <a:hlinkClick r:id="rId6"/>
              </a:rPr>
              <a:t>https://github.com/topoteretes/cognee</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u="sng">
                <a:solidFill>
                  <a:schemeClr val="hlink"/>
                </a:solidFill>
                <a:latin typeface="Calibri"/>
                <a:ea typeface="Calibri"/>
                <a:cs typeface="Calibri"/>
                <a:sym typeface="Calibri"/>
                <a:hlinkClick r:id="rId7"/>
              </a:rPr>
              <a:t>https://x.com/i/status/2043745099792953508</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u="sng">
                <a:solidFill>
                  <a:schemeClr val="hlink"/>
                </a:solidFill>
                <a:latin typeface="Calibri"/>
                <a:ea typeface="Calibri"/>
                <a:cs typeface="Calibri"/>
                <a:sym typeface="Calibri"/>
                <a:hlinkClick r:id="rId8"/>
              </a:rPr>
              <a:t>https://x.com/akshay_pachaar/status/2044329897603244093</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p:txBody>
      </p:sp>
      <p:pic>
        <p:nvPicPr>
          <p:cNvPr id="175" name="Google Shape;175;p26"/>
          <p:cNvPicPr preferRelativeResize="0"/>
          <p:nvPr/>
        </p:nvPicPr>
        <p:blipFill>
          <a:blip r:embed="rId9">
            <a:alphaModFix/>
          </a:blip>
          <a:stretch>
            <a:fillRect/>
          </a:stretch>
        </p:blipFill>
        <p:spPr>
          <a:xfrm>
            <a:off x="4936050" y="2286011"/>
            <a:ext cx="2076450" cy="571500"/>
          </a:xfrm>
          <a:prstGeom prst="rect">
            <a:avLst/>
          </a:prstGeom>
          <a:noFill/>
          <a:ln>
            <a:noFill/>
          </a:ln>
        </p:spPr>
      </p:pic>
      <p:pic>
        <p:nvPicPr>
          <p:cNvPr id="176" name="Google Shape;176;p26"/>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4936050" y="2923175"/>
            <a:ext cx="3877050" cy="21485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1" name="Google Shape;181;p27"/>
          <p:cNvSpPr txBox="1"/>
          <p:nvPr/>
        </p:nvSpPr>
        <p:spPr>
          <a:xfrm>
            <a:off x="81775" y="40050"/>
            <a:ext cx="4440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Adding Workflow Builder to your Agent</a:t>
            </a:r>
            <a:endParaRPr sz="2000" b="1">
              <a:solidFill>
                <a:schemeClr val="dk1"/>
              </a:solidFill>
              <a:latin typeface="Calibri"/>
              <a:ea typeface="Calibri"/>
              <a:cs typeface="Calibri"/>
              <a:sym typeface="Calibri"/>
            </a:endParaRPr>
          </a:p>
        </p:txBody>
      </p:sp>
      <p:sp>
        <p:nvSpPr>
          <p:cNvPr id="182" name="Google Shape;182;p27"/>
          <p:cNvSpPr txBox="1"/>
          <p:nvPr/>
        </p:nvSpPr>
        <p:spPr>
          <a:xfrm>
            <a:off x="100600" y="418147"/>
            <a:ext cx="4440300" cy="2173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rgbClr val="FF0000"/>
              </a:buClr>
              <a:buSzPts val="1000"/>
              <a:buFont typeface="Calibri"/>
              <a:buChar char="●"/>
            </a:pPr>
            <a:r>
              <a:rPr lang="en" sz="1000" b="1">
                <a:solidFill>
                  <a:srgbClr val="FF0000"/>
                </a:solidFill>
                <a:latin typeface="Calibri"/>
                <a:ea typeface="Calibri"/>
                <a:cs typeface="Calibri"/>
                <a:sym typeface="Calibri"/>
              </a:rPr>
              <a:t>How to add workflow builder GUI your agent (similar to langflow)</a:t>
            </a:r>
            <a:endParaRPr sz="1000" b="1">
              <a:solidFill>
                <a:srgbClr val="FF0000"/>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b="1">
                <a:solidFill>
                  <a:srgbClr val="3C78D8"/>
                </a:solidFill>
                <a:latin typeface="Calibri"/>
                <a:ea typeface="Calibri"/>
                <a:cs typeface="Calibri"/>
                <a:sym typeface="Calibri"/>
              </a:rPr>
              <a:t>Option 1: Langflow </a:t>
            </a:r>
            <a:r>
              <a:rPr lang="en" sz="1000">
                <a:solidFill>
                  <a:schemeClr val="dk1"/>
                </a:solidFill>
                <a:latin typeface="Calibri"/>
                <a:ea typeface="Calibri"/>
                <a:cs typeface="Calibri"/>
                <a:sym typeface="Calibri"/>
              </a:rPr>
              <a:t>- as a separate server, runs its own LangChain-based runtime</a:t>
            </a:r>
            <a:br>
              <a:rPr lang="en" sz="1000">
                <a:solidFill>
                  <a:schemeClr val="dk1"/>
                </a:solidFill>
                <a:latin typeface="Calibri"/>
                <a:ea typeface="Calibri"/>
                <a:cs typeface="Calibri"/>
                <a:sym typeface="Calibri"/>
              </a:rPr>
            </a:br>
            <a:r>
              <a:rPr lang="en" sz="1000" u="sng">
                <a:solidFill>
                  <a:schemeClr val="hlink"/>
                </a:solidFill>
                <a:latin typeface="Calibri"/>
                <a:ea typeface="Calibri"/>
                <a:cs typeface="Calibri"/>
                <a:sym typeface="Calibri"/>
                <a:hlinkClick r:id="rId3"/>
              </a:rPr>
              <a:t>https://www.langflow.org</a:t>
            </a:r>
            <a:r>
              <a:rPr lang="en" sz="1000">
                <a:solidFill>
                  <a:schemeClr val="dk1"/>
                </a:solidFill>
                <a:latin typeface="Calibri"/>
                <a:ea typeface="Calibri"/>
                <a:cs typeface="Calibri"/>
                <a:sym typeface="Calibri"/>
              </a:rPr>
              <a:t> ; </a:t>
            </a:r>
            <a:r>
              <a:rPr lang="en" sz="1000" u="sng">
                <a:solidFill>
                  <a:schemeClr val="hlink"/>
                </a:solidFill>
                <a:latin typeface="Calibri"/>
                <a:ea typeface="Calibri"/>
                <a:cs typeface="Calibri"/>
                <a:sym typeface="Calibri"/>
                <a:hlinkClick r:id="rId4"/>
              </a:rPr>
              <a:t>https://github.com/langflow-ai/langflow</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b="1">
                <a:solidFill>
                  <a:srgbClr val="3C78D8"/>
                </a:solidFill>
                <a:latin typeface="Calibri"/>
                <a:ea typeface="Calibri"/>
                <a:cs typeface="Calibri"/>
                <a:sym typeface="Calibri"/>
              </a:rPr>
              <a:t>Option 2: React Flow </a:t>
            </a:r>
            <a:r>
              <a:rPr lang="en" sz="1000">
                <a:solidFill>
                  <a:schemeClr val="dk1"/>
                </a:solidFill>
                <a:latin typeface="Calibri"/>
                <a:ea typeface="Calibri"/>
                <a:cs typeface="Calibri"/>
                <a:sym typeface="Calibri"/>
              </a:rPr>
              <a:t>- a canvas library used by Langflow and many others. MIT-licensed, pure UI with no runtime opinions. You build your own node types mapped to your agent's capabilities, and your Python backend handles execution</a:t>
            </a:r>
            <a:br>
              <a:rPr lang="en" sz="1000">
                <a:solidFill>
                  <a:schemeClr val="dk1"/>
                </a:solidFill>
                <a:latin typeface="Calibri"/>
                <a:ea typeface="Calibri"/>
                <a:cs typeface="Calibri"/>
                <a:sym typeface="Calibri"/>
              </a:rPr>
            </a:br>
            <a:r>
              <a:rPr lang="en" sz="1000" u="sng">
                <a:solidFill>
                  <a:schemeClr val="hlink"/>
                </a:solidFill>
                <a:latin typeface="Calibri"/>
                <a:ea typeface="Calibri"/>
                <a:cs typeface="Calibri"/>
                <a:sym typeface="Calibri"/>
                <a:hlinkClick r:id="rId5"/>
              </a:rPr>
              <a:t>https://reactflow.dev</a:t>
            </a:r>
            <a:r>
              <a:rPr lang="en" sz="1000">
                <a:solidFill>
                  <a:schemeClr val="dk1"/>
                </a:solidFill>
                <a:latin typeface="Calibri"/>
                <a:ea typeface="Calibri"/>
                <a:cs typeface="Calibri"/>
                <a:sym typeface="Calibri"/>
              </a:rPr>
              <a:t> ; </a:t>
            </a:r>
            <a:br>
              <a:rPr lang="en" sz="1000">
                <a:solidFill>
                  <a:schemeClr val="dk1"/>
                </a:solidFill>
                <a:latin typeface="Calibri"/>
                <a:ea typeface="Calibri"/>
                <a:cs typeface="Calibri"/>
                <a:sym typeface="Calibri"/>
              </a:rPr>
            </a:br>
            <a:r>
              <a:rPr lang="en" sz="1000" u="sng">
                <a:solidFill>
                  <a:schemeClr val="hlink"/>
                </a:solidFill>
                <a:latin typeface="Calibri"/>
                <a:ea typeface="Calibri"/>
                <a:cs typeface="Calibri"/>
                <a:sym typeface="Calibri"/>
                <a:hlinkClick r:id="rId6"/>
              </a:rPr>
              <a:t>https://reactflow.dev/examples/interaction/drag-and-drop</a:t>
            </a:r>
            <a:r>
              <a:rPr lang="en" sz="1000">
                <a:solidFill>
                  <a:schemeClr val="dk1"/>
                </a:solidFill>
                <a:latin typeface="Calibri"/>
                <a:ea typeface="Calibri"/>
                <a:cs typeface="Calibri"/>
                <a:sym typeface="Calibri"/>
              </a:rPr>
              <a:t> - example</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u="sng">
                <a:solidFill>
                  <a:schemeClr val="hlink"/>
                </a:solidFill>
                <a:latin typeface="Calibri"/>
                <a:ea typeface="Calibri"/>
                <a:cs typeface="Calibri"/>
                <a:sym typeface="Calibri"/>
                <a:hlinkClick r:id="rId7"/>
              </a:rPr>
              <a:t>https://reactflow.dev/learn</a:t>
            </a:r>
            <a:r>
              <a:rPr lang="en" sz="1000">
                <a:solidFill>
                  <a:schemeClr val="dk1"/>
                </a:solidFill>
                <a:latin typeface="Calibri"/>
                <a:ea typeface="Calibri"/>
                <a:cs typeface="Calibri"/>
                <a:sym typeface="Calibri"/>
              </a:rPr>
              <a:t> - quick start</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b="1">
                <a:solidFill>
                  <a:srgbClr val="3C78D8"/>
                </a:solidFill>
                <a:latin typeface="Calibri"/>
                <a:ea typeface="Calibri"/>
                <a:cs typeface="Calibri"/>
                <a:sym typeface="Calibri"/>
              </a:rPr>
              <a:t>Option 3: </a:t>
            </a:r>
            <a:r>
              <a:rPr lang="en" sz="1000" b="1">
                <a:solidFill>
                  <a:srgbClr val="3C78D8"/>
                </a:solidFill>
                <a:uFill>
                  <a:noFill/>
                </a:uFill>
                <a:latin typeface="Calibri"/>
                <a:ea typeface="Calibri"/>
                <a:cs typeface="Calibri"/>
                <a:sym typeface="Calibri"/>
                <a:hlinkClick r:id="rId8">
                  <a:extLst>
                    <a:ext uri="{A12FA001-AC4F-418D-AE19-62706E023703}">
                      <ahyp:hlinkClr xmlns:ahyp="http://schemas.microsoft.com/office/drawing/2018/hyperlinkcolor" val="tx"/>
                    </a:ext>
                  </a:extLst>
                </a:hlinkClick>
              </a:rPr>
              <a:t>Litegraph.js</a:t>
            </a:r>
            <a:r>
              <a:rPr lang="en" sz="1000">
                <a:solidFill>
                  <a:schemeClr val="dk1"/>
                </a:solidFill>
                <a:latin typeface="Calibri"/>
                <a:ea typeface="Calibri"/>
                <a:cs typeface="Calibri"/>
                <a:sym typeface="Calibri"/>
              </a:rPr>
              <a:t> - lightweight canvas, pure vanilla JS, easy to embed</a:t>
            </a:r>
            <a:br>
              <a:rPr lang="en" sz="1000">
                <a:solidFill>
                  <a:schemeClr val="dk1"/>
                </a:solidFill>
                <a:latin typeface="Calibri"/>
                <a:ea typeface="Calibri"/>
                <a:cs typeface="Calibri"/>
                <a:sym typeface="Calibri"/>
              </a:rPr>
            </a:br>
            <a:r>
              <a:rPr lang="en" sz="1000" u="sng">
                <a:solidFill>
                  <a:schemeClr val="hlink"/>
                </a:solidFill>
                <a:latin typeface="Calibri"/>
                <a:ea typeface="Calibri"/>
                <a:cs typeface="Calibri"/>
                <a:sym typeface="Calibri"/>
                <a:hlinkClick r:id="rId9"/>
              </a:rPr>
              <a:t>https://github.com/Comfy-Org/litegraph.js/</a:t>
            </a:r>
            <a:r>
              <a:rPr lang="en" sz="1000">
                <a:solidFill>
                  <a:schemeClr val="dk1"/>
                </a:solidFill>
                <a:latin typeface="Calibri"/>
                <a:ea typeface="Calibri"/>
                <a:cs typeface="Calibri"/>
                <a:sym typeface="Calibri"/>
              </a:rPr>
              <a:t> </a:t>
            </a:r>
            <a:br>
              <a:rPr lang="en" sz="1000">
                <a:solidFill>
                  <a:schemeClr val="dk1"/>
                </a:solidFill>
                <a:latin typeface="Calibri"/>
                <a:ea typeface="Calibri"/>
                <a:cs typeface="Calibri"/>
                <a:sym typeface="Calibri"/>
              </a:rPr>
            </a:br>
            <a:r>
              <a:rPr lang="en" sz="1000" u="sng">
                <a:solidFill>
                  <a:schemeClr val="hlink"/>
                </a:solidFill>
                <a:latin typeface="Calibri"/>
                <a:ea typeface="Calibri"/>
                <a:cs typeface="Calibri"/>
                <a:sym typeface="Calibri"/>
                <a:hlinkClick r:id="rId10"/>
              </a:rPr>
              <a:t>https://github.com/jagenjo/litegraph.js</a:t>
            </a:r>
            <a:r>
              <a:rPr lang="en" sz="1000">
                <a:solidFill>
                  <a:schemeClr val="dk1"/>
                </a:solidFill>
                <a:latin typeface="Calibri"/>
                <a:ea typeface="Calibri"/>
                <a:cs typeface="Calibri"/>
                <a:sym typeface="Calibri"/>
              </a:rPr>
              <a:t> - original repo</a:t>
            </a:r>
            <a:br>
              <a:rPr lang="en" sz="1000">
                <a:solidFill>
                  <a:schemeClr val="dk1"/>
                </a:solidFill>
                <a:latin typeface="Calibri"/>
                <a:ea typeface="Calibri"/>
                <a:cs typeface="Calibri"/>
                <a:sym typeface="Calibri"/>
              </a:rPr>
            </a:br>
            <a:r>
              <a:rPr lang="en" sz="1000" u="sng">
                <a:solidFill>
                  <a:schemeClr val="hlink"/>
                </a:solidFill>
                <a:latin typeface="Calibri"/>
                <a:ea typeface="Calibri"/>
                <a:cs typeface="Calibri"/>
                <a:sym typeface="Calibri"/>
                <a:hlinkClick r:id="rId11"/>
              </a:rPr>
              <a:t>https://github.com/Comfy-Org/ComfyUI_frontend</a:t>
            </a:r>
            <a:r>
              <a:rPr lang="en" sz="1000">
                <a:solidFill>
                  <a:schemeClr val="dk1"/>
                </a:solidFill>
                <a:latin typeface="Calibri"/>
                <a:ea typeface="Calibri"/>
                <a:cs typeface="Calibri"/>
                <a:sym typeface="Calibri"/>
              </a:rPr>
              <a:t> - current maintained version</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b="1">
                <a:solidFill>
                  <a:srgbClr val="FF0000"/>
                </a:solidFill>
                <a:latin typeface="Calibri"/>
                <a:ea typeface="Calibri"/>
                <a:cs typeface="Calibri"/>
                <a:sym typeface="Calibri"/>
              </a:rPr>
              <a:t>Many other options</a:t>
            </a:r>
            <a:r>
              <a:rPr lang="en" sz="1000">
                <a:solidFill>
                  <a:schemeClr val="dk1"/>
                </a:solidFill>
                <a:latin typeface="Calibri"/>
                <a:ea typeface="Calibri"/>
                <a:cs typeface="Calibri"/>
                <a:sym typeface="Calibri"/>
              </a:rPr>
              <a:t> - </a:t>
            </a:r>
            <a:r>
              <a:rPr lang="en" sz="1000" u="sng">
                <a:solidFill>
                  <a:schemeClr val="hlink"/>
                </a:solidFill>
                <a:latin typeface="Calibri"/>
                <a:ea typeface="Calibri"/>
                <a:cs typeface="Calibri"/>
                <a:sym typeface="Calibri"/>
                <a:hlinkClick r:id="rId12"/>
              </a:rPr>
              <a:t>https://github.com/xyflow/awesome-node-based-uis</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p:txBody>
      </p:sp>
      <p:sp>
        <p:nvSpPr>
          <p:cNvPr id="183" name="Google Shape;183;p27"/>
          <p:cNvSpPr txBox="1"/>
          <p:nvPr/>
        </p:nvSpPr>
        <p:spPr>
          <a:xfrm>
            <a:off x="100600" y="2727516"/>
            <a:ext cx="4440300" cy="2173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chemeClr val="dk1"/>
              </a:buClr>
              <a:buSzPts val="1000"/>
              <a:buFont typeface="Calibri"/>
              <a:buChar char="●"/>
            </a:pPr>
            <a:r>
              <a:rPr lang="en" sz="1000" b="1">
                <a:solidFill>
                  <a:srgbClr val="FF0000"/>
                </a:solidFill>
                <a:latin typeface="Calibri"/>
                <a:ea typeface="Calibri"/>
                <a:cs typeface="Calibri"/>
                <a:sym typeface="Calibri"/>
              </a:rPr>
              <a:t>Litegraph.js</a:t>
            </a:r>
            <a:r>
              <a:rPr lang="en" sz="1000">
                <a:solidFill>
                  <a:schemeClr val="dk1"/>
                </a:solidFill>
                <a:latin typeface="Calibri"/>
                <a:ea typeface="Calibri"/>
                <a:cs typeface="Calibri"/>
                <a:sym typeface="Calibri"/>
              </a:rPr>
              <a:t> is a pure vanilla JavaScript node graph library with no dependencies, making it ideal for projects that don't use React.</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Maintained as part of the ComfyUI ecosystem, it renders on an HTML5 Canvas and supports draggable nodes, bezier edge connections, pan/zoom, and JSON graph serialization out of the box.</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For a Python-based agent with an existing local web server, Litegraph.js drops in with a single `&lt;script&gt;` tag — no npm, no bundler, no framework required. You define custom node types in JavaScript that map directly to your agent's capabilities (e.g., ClaudeCall, MemoryRead, ScheduleTrigger), and on execution, the graph serializes to JSON and POSTs to your Python backend.</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In comparison, React Flow requires a full React app setup and is harder to embed into an existing HTML interface. Litegraph.js delivers the same visual workflow canvas with far less overhead.</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u="sng">
                <a:solidFill>
                  <a:schemeClr val="hlink"/>
                </a:solidFill>
                <a:latin typeface="Calibri"/>
                <a:ea typeface="Calibri"/>
                <a:cs typeface="Calibri"/>
                <a:sym typeface="Calibri"/>
                <a:hlinkClick r:id="rId10"/>
              </a:rPr>
              <a:t>https://github.com/jagenjo/litegraph.js</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p:txBody>
      </p:sp>
      <p:pic>
        <p:nvPicPr>
          <p:cNvPr id="184" name="Google Shape;184;p27"/>
          <p:cNvPicPr preferRelativeResize="0"/>
          <p:nvPr/>
        </p:nvPicPr>
        <p:blipFill>
          <a:blip r:embed="rId13" cstate="email">
            <a:alphaModFix/>
            <a:extLst>
              <a:ext uri="{28A0092B-C50C-407E-A947-70E740481C1C}">
                <a14:useLocalDpi xmlns:a14="http://schemas.microsoft.com/office/drawing/2010/main"/>
              </a:ext>
            </a:extLst>
          </a:blip>
          <a:stretch>
            <a:fillRect/>
          </a:stretch>
        </p:blipFill>
        <p:spPr>
          <a:xfrm>
            <a:off x="4706450" y="970650"/>
            <a:ext cx="4298301" cy="3485758"/>
          </a:xfrm>
          <a:prstGeom prst="rect">
            <a:avLst/>
          </a:prstGeom>
          <a:noFill/>
          <a:ln w="9525" cap="flat" cmpd="sng">
            <a:solidFill>
              <a:srgbClr val="FF0000"/>
            </a:solidFill>
            <a:prstDash val="solid"/>
            <a:round/>
            <a:headEnd type="none" w="sm" len="sm"/>
            <a:tailEnd type="none" w="sm" len="sm"/>
          </a:ln>
        </p:spPr>
      </p:pic>
      <p:sp>
        <p:nvSpPr>
          <p:cNvPr id="185" name="Google Shape;185;p27"/>
          <p:cNvSpPr txBox="1"/>
          <p:nvPr/>
        </p:nvSpPr>
        <p:spPr>
          <a:xfrm>
            <a:off x="5891350" y="533850"/>
            <a:ext cx="2211900" cy="2646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600" b="1">
                <a:solidFill>
                  <a:srgbClr val="3C78D8"/>
                </a:solidFill>
                <a:latin typeface="Calibri"/>
                <a:ea typeface="Calibri"/>
                <a:cs typeface="Calibri"/>
                <a:sym typeface="Calibri"/>
              </a:rPr>
              <a:t>Litegraph.js</a:t>
            </a:r>
            <a:endParaRPr sz="1600" b="1">
              <a:solidFill>
                <a:srgbClr val="3C78D8"/>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89"/>
        <p:cNvGrpSpPr/>
        <p:nvPr/>
      </p:nvGrpSpPr>
      <p:grpSpPr>
        <a:xfrm>
          <a:off x="0" y="0"/>
          <a:ext cx="0" cy="0"/>
          <a:chOff x="0" y="0"/>
          <a:chExt cx="0" cy="0"/>
        </a:xfrm>
      </p:grpSpPr>
      <p:sp>
        <p:nvSpPr>
          <p:cNvPr id="190" name="Google Shape;190;p28"/>
          <p:cNvSpPr txBox="1"/>
          <p:nvPr/>
        </p:nvSpPr>
        <p:spPr>
          <a:xfrm>
            <a:off x="81776" y="40050"/>
            <a:ext cx="2921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Google AI Agent Mode</a:t>
            </a:r>
            <a:endParaRPr sz="2000" b="1">
              <a:solidFill>
                <a:schemeClr val="dk1"/>
              </a:solidFill>
              <a:latin typeface="Calibri"/>
              <a:ea typeface="Calibri"/>
              <a:cs typeface="Calibri"/>
              <a:sym typeface="Calibri"/>
            </a:endParaRPr>
          </a:p>
        </p:txBody>
      </p:sp>
      <p:sp>
        <p:nvSpPr>
          <p:cNvPr id="191" name="Google Shape;191;p28"/>
          <p:cNvSpPr txBox="1"/>
          <p:nvPr/>
        </p:nvSpPr>
        <p:spPr>
          <a:xfrm>
            <a:off x="100600" y="538971"/>
            <a:ext cx="43926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There is still no official standalone "Gemini" app for macOS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Gemini chat in browser  - "Agent" toggle or the Tools icon - for Ultra users only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"Agent Mode" in Gemini Code Assist in VSCode or IntelliJ</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Google Search now has "AI Mode"</a:t>
            </a:r>
            <a:endParaRPr sz="12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95"/>
        <p:cNvGrpSpPr/>
        <p:nvPr/>
      </p:nvGrpSpPr>
      <p:grpSpPr>
        <a:xfrm>
          <a:off x="0" y="0"/>
          <a:ext cx="0" cy="0"/>
          <a:chOff x="0" y="0"/>
          <a:chExt cx="0" cy="0"/>
        </a:xfrm>
      </p:grpSpPr>
      <p:sp>
        <p:nvSpPr>
          <p:cNvPr id="196" name="Google Shape;196;p29"/>
          <p:cNvSpPr txBox="1"/>
          <p:nvPr/>
        </p:nvSpPr>
        <p:spPr>
          <a:xfrm>
            <a:off x="81776" y="67675"/>
            <a:ext cx="3153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97" name="Google Shape;197;p29"/>
          <p:cNvSpPr txBox="1"/>
          <p:nvPr/>
        </p:nvSpPr>
        <p:spPr>
          <a:xfrm>
            <a:off x="100600" y="413825"/>
            <a:ext cx="4370100" cy="2742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Seedance 2.0 is public</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AI video generation model by ByteDance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Proprietary closed narrative-driven, multi-shot video from text, images, audio, and video inputs (plans: free, basic, standard)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Seedance is built to produce complete, multi-shot scenes in one pass. It understands cuts, angles (wide, medium, close-up), and shot transitions while maintaining character and environment consistency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It's trained on ByteDance's vast repository of short-form video content from TikTok, giving it a strong grasp of narrative structure and visual storytelling</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https://seed.bytedance.com/en/seedance</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https://seed.bytedance.com/en/seedance2_0</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https://seed.bytedance.com/en/seedance1_5_pro</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https://www.byteplus.com/en/product/seedance</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https://fal.ai/seedance-2.0</a:t>
            </a:r>
            <a:r>
              <a:rPr lang="en" sz="900">
                <a:solidFill>
                  <a:schemeClr val="dk1"/>
                </a:solidFill>
                <a:latin typeface="Calibri"/>
                <a:ea typeface="Calibri"/>
                <a:cs typeface="Calibri"/>
                <a:sym typeface="Calibri"/>
              </a:rPr>
              <a:t> - API</a:t>
            </a:r>
            <a:endParaRPr sz="900">
              <a:solidFill>
                <a:schemeClr val="dk1"/>
              </a:solidFill>
              <a:latin typeface="Calibri"/>
              <a:ea typeface="Calibri"/>
              <a:cs typeface="Calibri"/>
              <a:sym typeface="Calibri"/>
            </a:endParaRPr>
          </a:p>
        </p:txBody>
      </p:sp>
      <p:pic>
        <p:nvPicPr>
          <p:cNvPr id="198" name="Google Shape;198;p29"/>
          <p:cNvPicPr preferRelativeResize="0"/>
          <p:nvPr/>
        </p:nvPicPr>
        <p:blipFill>
          <a:blip r:embed="rId8">
            <a:alphaModFix/>
          </a:blip>
          <a:stretch>
            <a:fillRect/>
          </a:stretch>
        </p:blipFill>
        <p:spPr>
          <a:xfrm>
            <a:off x="4777275" y="413825"/>
            <a:ext cx="2847975" cy="1600200"/>
          </a:xfrm>
          <a:prstGeom prst="rect">
            <a:avLst/>
          </a:prstGeom>
          <a:noFill/>
          <a:ln w="9525" cap="flat" cmpd="sng">
            <a:solidFill>
              <a:srgbClr val="FF0000"/>
            </a:solidFill>
            <a:prstDash val="solid"/>
            <a:round/>
            <a:headEnd type="none" w="sm" len="sm"/>
            <a:tailEnd type="none" w="sm" len="sm"/>
          </a:ln>
        </p:spPr>
      </p:pic>
      <p:sp>
        <p:nvSpPr>
          <p:cNvPr id="199" name="Google Shape;199;p29"/>
          <p:cNvSpPr txBox="1"/>
          <p:nvPr/>
        </p:nvSpPr>
        <p:spPr>
          <a:xfrm>
            <a:off x="100600" y="3233225"/>
            <a:ext cx="4370100" cy="1773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Topview AI Agent V2 uses Seedance 2.0 model</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Agent V2 focuses on long-form storytelling by automatically breaking prompts into structured, multi-scene storyboards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Users can interact with the AI agent through chat to refine visual styles, composition, and tone for each scene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Designed for marketers and content creators, the tool enables the production of cinematic product demos and YouTube explainers without requiring a full production team</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9"/>
              </a:rPr>
              <a:t>http://www.youtube.com/watch?v=xjVmEEtYB58</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10"/>
              </a:rPr>
              <a:t>https://www.topview.ai</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200" name="Google Shape;200;p29"/>
          <p:cNvPicPr preferRelativeResize="0"/>
          <p:nvPr/>
        </p:nvPicPr>
        <p:blipFill>
          <a:blip r:embed="rId11" cstate="email">
            <a:alphaModFix/>
            <a:extLst>
              <a:ext uri="{28A0092B-C50C-407E-A947-70E740481C1C}">
                <a14:useLocalDpi xmlns:a14="http://schemas.microsoft.com/office/drawing/2010/main"/>
              </a:ext>
            </a:extLst>
          </a:blip>
          <a:stretch>
            <a:fillRect/>
          </a:stretch>
        </p:blipFill>
        <p:spPr>
          <a:xfrm>
            <a:off x="4777275" y="3653150"/>
            <a:ext cx="2847975" cy="8667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30"/>
          <p:cNvSpPr txBox="1"/>
          <p:nvPr/>
        </p:nvSpPr>
        <p:spPr>
          <a:xfrm>
            <a:off x="81776" y="67675"/>
            <a:ext cx="3153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Railway Deployment</a:t>
            </a:r>
            <a:endParaRPr sz="2000" b="1">
              <a:solidFill>
                <a:schemeClr val="dk1"/>
              </a:solidFill>
              <a:latin typeface="Calibri"/>
              <a:ea typeface="Calibri"/>
              <a:cs typeface="Calibri"/>
              <a:sym typeface="Calibri"/>
            </a:endParaRPr>
          </a:p>
        </p:txBody>
      </p:sp>
      <p:sp>
        <p:nvSpPr>
          <p:cNvPr id="206" name="Google Shape;206;p30"/>
          <p:cNvSpPr txBox="1"/>
          <p:nvPr/>
        </p:nvSpPr>
        <p:spPr>
          <a:xfrm>
            <a:off x="81775" y="525400"/>
            <a:ext cx="43701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Railway (railway.com) is an all-in-one cloud deployment platform</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Founded in 2020, easy to build, deploy, and scale applications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Users simply connect a GitHub repository or Docker image, and Railway automatically handles building, networking, SSL, and environment configuration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supports instant provisioning of databases like PostgreSQL, MySQL, MongoDB, and Redis, along with 2K+ templates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Pricing is usage-based, starting at $5/month</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Railway is SOC 2 Type II certified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RILQy is used by 23% of Fortune 500 companies.</a:t>
            </a:r>
            <a:endParaRPr sz="1200">
              <a:solidFill>
                <a:schemeClr val="dk1"/>
              </a:solidFill>
              <a:latin typeface="Calibri"/>
              <a:ea typeface="Calibri"/>
              <a:cs typeface="Calibri"/>
              <a:sym typeface="Calibri"/>
            </a:endParaRPr>
          </a:p>
        </p:txBody>
      </p:sp>
      <p:sp>
        <p:nvSpPr>
          <p:cNvPr id="207" name="Google Shape;207;p30"/>
          <p:cNvSpPr txBox="1"/>
          <p:nvPr/>
        </p:nvSpPr>
        <p:spPr>
          <a:xfrm>
            <a:off x="81775" y="2522125"/>
            <a:ext cx="43701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Railway is a cloud deployment platform — not a vibe coding tool</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Vibe coding platforms like Lovable, Bolt.new, and Replit let you build full apps from plain English prompts, making them ideal for non-coders and rapid prototyping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Railway, by contrast, takes existing code and handles deploying, scaling, and hosting it in the cloud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two categories are complementary rather than competitive: </a:t>
            </a:r>
            <a:r>
              <a:rPr lang="en" sz="1200" b="1">
                <a:solidFill>
                  <a:srgbClr val="3C78D8"/>
                </a:solidFill>
                <a:latin typeface="Calibri"/>
                <a:ea typeface="Calibri"/>
                <a:cs typeface="Calibri"/>
                <a:sym typeface="Calibri"/>
              </a:rPr>
              <a:t>developers often prototype on a vibe coding platform, then push the code to Railway for production-grade hosting with more </a:t>
            </a:r>
            <a:br>
              <a:rPr lang="en" sz="1200" b="1">
                <a:solidFill>
                  <a:srgbClr val="3C78D8"/>
                </a:solidFill>
                <a:latin typeface="Calibri"/>
                <a:ea typeface="Calibri"/>
                <a:cs typeface="Calibri"/>
                <a:sym typeface="Calibri"/>
              </a:rPr>
            </a:br>
            <a:r>
              <a:rPr lang="en" sz="1200" b="1">
                <a:solidFill>
                  <a:srgbClr val="3C78D8"/>
                </a:solidFill>
                <a:latin typeface="Calibri"/>
                <a:ea typeface="Calibri"/>
                <a:cs typeface="Calibri"/>
                <a:sym typeface="Calibri"/>
              </a:rPr>
              <a:t>control and better pricing</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If you want to build an app fast with no code, use Lovable or Bolt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If you want to deploy and run it reliably, use Railway</a:t>
            </a:r>
            <a:endParaRPr sz="1200">
              <a:solidFill>
                <a:schemeClr val="dk1"/>
              </a:solidFill>
              <a:latin typeface="Calibri"/>
              <a:ea typeface="Calibri"/>
              <a:cs typeface="Calibri"/>
              <a:sym typeface="Calibri"/>
            </a:endParaRPr>
          </a:p>
        </p:txBody>
      </p:sp>
      <p:sp>
        <p:nvSpPr>
          <p:cNvPr id="208" name="Google Shape;208;p30"/>
          <p:cNvSpPr txBox="1"/>
          <p:nvPr/>
        </p:nvSpPr>
        <p:spPr>
          <a:xfrm>
            <a:off x="5079110" y="2165889"/>
            <a:ext cx="971700" cy="51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600" b="1">
                <a:solidFill>
                  <a:srgbClr val="3C78D8"/>
                </a:solidFill>
                <a:latin typeface="Calibri"/>
                <a:ea typeface="Calibri"/>
                <a:cs typeface="Calibri"/>
                <a:sym typeface="Calibri"/>
              </a:rPr>
              <a:t>Claude Code</a:t>
            </a:r>
            <a:endParaRPr sz="1600" b="1">
              <a:solidFill>
                <a:srgbClr val="3C78D8"/>
              </a:solidFill>
              <a:latin typeface="Calibri"/>
              <a:ea typeface="Calibri"/>
              <a:cs typeface="Calibri"/>
              <a:sym typeface="Calibri"/>
            </a:endParaRPr>
          </a:p>
        </p:txBody>
      </p:sp>
      <p:sp>
        <p:nvSpPr>
          <p:cNvPr id="209" name="Google Shape;209;p30"/>
          <p:cNvSpPr txBox="1"/>
          <p:nvPr/>
        </p:nvSpPr>
        <p:spPr>
          <a:xfrm>
            <a:off x="5079110" y="3210524"/>
            <a:ext cx="971700" cy="264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600" b="1">
                <a:solidFill>
                  <a:srgbClr val="3C78D8"/>
                </a:solidFill>
                <a:latin typeface="Calibri"/>
                <a:ea typeface="Calibri"/>
                <a:cs typeface="Calibri"/>
                <a:sym typeface="Calibri"/>
              </a:rPr>
              <a:t>GitHub</a:t>
            </a:r>
            <a:endParaRPr sz="1600" b="1">
              <a:solidFill>
                <a:srgbClr val="3C78D8"/>
              </a:solidFill>
              <a:latin typeface="Calibri"/>
              <a:ea typeface="Calibri"/>
              <a:cs typeface="Calibri"/>
              <a:sym typeface="Calibri"/>
            </a:endParaRPr>
          </a:p>
        </p:txBody>
      </p:sp>
      <p:sp>
        <p:nvSpPr>
          <p:cNvPr id="210" name="Google Shape;210;p30"/>
          <p:cNvSpPr txBox="1"/>
          <p:nvPr/>
        </p:nvSpPr>
        <p:spPr>
          <a:xfrm>
            <a:off x="5079110" y="4083024"/>
            <a:ext cx="971700" cy="264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600" b="1">
                <a:solidFill>
                  <a:srgbClr val="3C78D8"/>
                </a:solidFill>
                <a:latin typeface="Calibri"/>
                <a:ea typeface="Calibri"/>
                <a:cs typeface="Calibri"/>
                <a:sym typeface="Calibri"/>
              </a:rPr>
              <a:t>Railqay</a:t>
            </a:r>
            <a:endParaRPr sz="1600" b="1">
              <a:solidFill>
                <a:srgbClr val="3C78D8"/>
              </a:solidFill>
              <a:latin typeface="Calibri"/>
              <a:ea typeface="Calibri"/>
              <a:cs typeface="Calibri"/>
              <a:sym typeface="Calibri"/>
            </a:endParaRPr>
          </a:p>
        </p:txBody>
      </p:sp>
      <p:sp>
        <p:nvSpPr>
          <p:cNvPr id="211" name="Google Shape;211;p30"/>
          <p:cNvSpPr txBox="1"/>
          <p:nvPr/>
        </p:nvSpPr>
        <p:spPr>
          <a:xfrm>
            <a:off x="6995188" y="3946308"/>
            <a:ext cx="1521300" cy="51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600" b="1">
                <a:solidFill>
                  <a:srgbClr val="3C78D8"/>
                </a:solidFill>
                <a:latin typeface="Calibri"/>
                <a:ea typeface="Calibri"/>
                <a:cs typeface="Calibri"/>
                <a:sym typeface="Calibri"/>
              </a:rPr>
              <a:t>CloudFlare</a:t>
            </a:r>
            <a:endParaRPr sz="1600" b="1">
              <a:solidFill>
                <a:srgbClr val="3C78D8"/>
              </a:solidFill>
              <a:latin typeface="Calibri"/>
              <a:ea typeface="Calibri"/>
              <a:cs typeface="Calibri"/>
              <a:sym typeface="Calibri"/>
            </a:endParaRPr>
          </a:p>
          <a:p>
            <a:pPr marL="0" marR="0" lvl="0" indent="0" algn="ctr" rtl="0">
              <a:lnSpc>
                <a:spcPct val="100000"/>
              </a:lnSpc>
              <a:spcBef>
                <a:spcPts val="0"/>
              </a:spcBef>
              <a:spcAft>
                <a:spcPts val="0"/>
              </a:spcAft>
              <a:buNone/>
            </a:pPr>
            <a:r>
              <a:rPr lang="en" sz="1600" b="1">
                <a:solidFill>
                  <a:srgbClr val="3C78D8"/>
                </a:solidFill>
                <a:latin typeface="Calibri"/>
                <a:ea typeface="Calibri"/>
                <a:cs typeface="Calibri"/>
                <a:sym typeface="Calibri"/>
              </a:rPr>
              <a:t>domain + DNS</a:t>
            </a:r>
            <a:endParaRPr sz="1600" b="1">
              <a:solidFill>
                <a:srgbClr val="3C78D8"/>
              </a:solidFill>
              <a:latin typeface="Calibri"/>
              <a:ea typeface="Calibri"/>
              <a:cs typeface="Calibri"/>
              <a:sym typeface="Calibri"/>
            </a:endParaRPr>
          </a:p>
        </p:txBody>
      </p:sp>
      <p:sp>
        <p:nvSpPr>
          <p:cNvPr id="212" name="Google Shape;212;p30"/>
          <p:cNvSpPr/>
          <p:nvPr/>
        </p:nvSpPr>
        <p:spPr>
          <a:xfrm>
            <a:off x="5494535" y="2740489"/>
            <a:ext cx="189900" cy="369300"/>
          </a:xfrm>
          <a:prstGeom prst="downArrow">
            <a:avLst>
              <a:gd name="adj1" fmla="val 50000"/>
              <a:gd name="adj2" fmla="val 50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13" name="Google Shape;213;p30"/>
          <p:cNvSpPr/>
          <p:nvPr/>
        </p:nvSpPr>
        <p:spPr>
          <a:xfrm>
            <a:off x="5494535" y="3605822"/>
            <a:ext cx="189900" cy="369300"/>
          </a:xfrm>
          <a:prstGeom prst="downArrow">
            <a:avLst>
              <a:gd name="adj1" fmla="val 50000"/>
              <a:gd name="adj2" fmla="val 50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14" name="Google Shape;214;p30"/>
          <p:cNvSpPr/>
          <p:nvPr/>
        </p:nvSpPr>
        <p:spPr>
          <a:xfrm>
            <a:off x="6227143" y="4097163"/>
            <a:ext cx="607800" cy="209700"/>
          </a:xfrm>
          <a:prstGeom prst="leftRightArrow">
            <a:avLst>
              <a:gd name="adj1" fmla="val 50000"/>
              <a:gd name="adj2" fmla="val 50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215" name="Google Shape;215;p30"/>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4654625" y="165859"/>
            <a:ext cx="2830125" cy="14078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19"/>
        <p:cNvGrpSpPr/>
        <p:nvPr/>
      </p:nvGrpSpPr>
      <p:grpSpPr>
        <a:xfrm>
          <a:off x="0" y="0"/>
          <a:ext cx="0" cy="0"/>
          <a:chOff x="0" y="0"/>
          <a:chExt cx="0" cy="0"/>
        </a:xfrm>
      </p:grpSpPr>
      <p:sp>
        <p:nvSpPr>
          <p:cNvPr id="220" name="Google Shape;220;p31"/>
          <p:cNvSpPr txBox="1"/>
          <p:nvPr/>
        </p:nvSpPr>
        <p:spPr>
          <a:xfrm>
            <a:off x="81776" y="67675"/>
            <a:ext cx="3153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Moonshots Podcast #246</a:t>
            </a:r>
            <a:endParaRPr sz="2000" b="1">
              <a:solidFill>
                <a:schemeClr val="dk1"/>
              </a:solidFill>
              <a:latin typeface="Calibri"/>
              <a:ea typeface="Calibri"/>
              <a:cs typeface="Calibri"/>
              <a:sym typeface="Calibri"/>
            </a:endParaRPr>
          </a:p>
        </p:txBody>
      </p:sp>
      <p:sp>
        <p:nvSpPr>
          <p:cNvPr id="221" name="Google Shape;221;p31"/>
          <p:cNvSpPr txBox="1"/>
          <p:nvPr/>
        </p:nvSpPr>
        <p:spPr>
          <a:xfrm>
            <a:off x="100600" y="413825"/>
            <a:ext cx="4624800" cy="2789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SpaceX's planned $2 trillion IPO, driven largely by Starlink's revenues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Race among SpaceX, OpenAI, and Anthropic to go public</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NASA's Artemis II has successfully concluded - it was the first crewed lunar mission since Apollo 17 in 1972, sending four astronauts on a 10-day journey around the Moon and back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Anthropic's powerful but unreleased "Mythos" model, which reportedly escaped its sandbox during testing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Anthropic has overtaken OpenAI in ARR (Annual Recurring Revenue)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OpenAI shut down Sora and refocuses on enterprise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rise of one-person AI unicorns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data center crunch pushing compute toward orbit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Sam Altman's warnings about imminent large-scale cyberattacks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episode closes with an optimistic "proof of abundance" segment highlighting falling battery prices, renewable energy growth, and lab-grown diamonds</a:t>
            </a:r>
            <a:endParaRPr sz="1200">
              <a:solidFill>
                <a:schemeClr val="dk1"/>
              </a:solidFill>
              <a:latin typeface="Calibri"/>
              <a:ea typeface="Calibri"/>
              <a:cs typeface="Calibri"/>
              <a:sym typeface="Calibri"/>
            </a:endParaRPr>
          </a:p>
        </p:txBody>
      </p:sp>
      <p:pic>
        <p:nvPicPr>
          <p:cNvPr id="222" name="Google Shape;222;p31"/>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5027350" y="561350"/>
            <a:ext cx="2452001" cy="1356425"/>
          </a:xfrm>
          <a:prstGeom prst="rect">
            <a:avLst/>
          </a:prstGeom>
          <a:noFill/>
          <a:ln w="9525" cap="flat" cmpd="sng">
            <a:solidFill>
              <a:srgbClr val="FF0000"/>
            </a:solidFill>
            <a:prstDash val="solid"/>
            <a:round/>
            <a:headEnd type="none" w="sm" len="sm"/>
            <a:tailEnd type="none" w="sm" len="sm"/>
          </a:ln>
        </p:spPr>
      </p:pic>
      <p:sp>
        <p:nvSpPr>
          <p:cNvPr id="223" name="Google Shape;223;p31"/>
          <p:cNvSpPr txBox="1"/>
          <p:nvPr/>
        </p:nvSpPr>
        <p:spPr>
          <a:xfrm>
            <a:off x="4417205" y="3273000"/>
            <a:ext cx="4624800" cy="1819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Skills to survive in new world:</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Agency - The ability to identify problems, act independently, and build solutions without relying on others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Taste &amp; Perspective - Your unique life experiences create an unfair advantage when everyone has access to the same AI</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Judgment - Knowing the long-term consequences of decisions; AI handles execution, but not final calls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Deep Generalism - Cross-domain synthesis - still beyond AI's current strength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https://hussainibarra.substack.com/p/most-high-income-skills-will-be-irrelevant</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27"/>
        <p:cNvGrpSpPr/>
        <p:nvPr/>
      </p:nvGrpSpPr>
      <p:grpSpPr>
        <a:xfrm>
          <a:off x="0" y="0"/>
          <a:ext cx="0" cy="0"/>
          <a:chOff x="0" y="0"/>
          <a:chExt cx="0" cy="0"/>
        </a:xfrm>
      </p:grpSpPr>
      <p:sp>
        <p:nvSpPr>
          <p:cNvPr id="228" name="Google Shape;228;p32"/>
          <p:cNvSpPr txBox="1"/>
          <p:nvPr/>
        </p:nvSpPr>
        <p:spPr>
          <a:xfrm>
            <a:off x="81776" y="67675"/>
            <a:ext cx="3153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29" name="Google Shape;229;p32"/>
          <p:cNvSpPr txBox="1"/>
          <p:nvPr/>
        </p:nvSpPr>
        <p:spPr>
          <a:xfrm>
            <a:off x="100600" y="413825"/>
            <a:ext cx="4391100" cy="2865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AI is no longer Optional</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Half of CEOs believe their jobs depend on successful AI implementation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Companies must undergo true transformation by redesigning their operating models around AI capabilities</a:t>
            </a:r>
            <a:endParaRPr sz="1200">
              <a:solidFill>
                <a:schemeClr val="dk1"/>
              </a:solidFill>
              <a:latin typeface="Calibri"/>
              <a:ea typeface="Calibri"/>
              <a:cs typeface="Calibri"/>
              <a:sym typeface="Calibri"/>
            </a:endParaRPr>
          </a:p>
          <a:p>
            <a:pPr marL="4000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Productivity gap between AI-enabled startups and traditional firms</a:t>
            </a:r>
            <a:endParaRPr sz="1100">
              <a:solidFill>
                <a:srgbClr val="3C78D8"/>
              </a:solidFill>
              <a:latin typeface="Calibri"/>
              <a:ea typeface="Calibri"/>
              <a:cs typeface="Calibri"/>
              <a:sym typeface="Calibri"/>
            </a:endParaRPr>
          </a:p>
          <a:p>
            <a:pPr marL="4000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The rise of autonomous agents</a:t>
            </a:r>
            <a:endParaRPr sz="11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To succeed, leaders should follow a five-step model: </a:t>
            </a:r>
            <a:endParaRPr sz="1200">
              <a:solidFill>
                <a:schemeClr val="dk1"/>
              </a:solidFill>
              <a:latin typeface="Calibri"/>
              <a:ea typeface="Calibri"/>
              <a:cs typeface="Calibri"/>
              <a:sym typeface="Calibri"/>
            </a:endParaRPr>
          </a:p>
          <a:p>
            <a:pPr marL="4000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inventorying current usage, </a:t>
            </a:r>
            <a:endParaRPr sz="1100">
              <a:solidFill>
                <a:srgbClr val="3C78D8"/>
              </a:solidFill>
              <a:latin typeface="Calibri"/>
              <a:ea typeface="Calibri"/>
              <a:cs typeface="Calibri"/>
              <a:sym typeface="Calibri"/>
            </a:endParaRPr>
          </a:p>
          <a:p>
            <a:pPr marL="4000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automating revenue-linked workflows, </a:t>
            </a:r>
            <a:endParaRPr sz="1100">
              <a:solidFill>
                <a:srgbClr val="3C78D8"/>
              </a:solidFill>
              <a:latin typeface="Calibri"/>
              <a:ea typeface="Calibri"/>
              <a:cs typeface="Calibri"/>
              <a:sym typeface="Calibri"/>
            </a:endParaRPr>
          </a:p>
          <a:p>
            <a:pPr marL="4000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defining autonomy levels, </a:t>
            </a:r>
            <a:endParaRPr sz="1100">
              <a:solidFill>
                <a:srgbClr val="3C78D8"/>
              </a:solidFill>
              <a:latin typeface="Calibri"/>
              <a:ea typeface="Calibri"/>
              <a:cs typeface="Calibri"/>
              <a:sym typeface="Calibri"/>
            </a:endParaRPr>
          </a:p>
          <a:p>
            <a:pPr marL="4000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establishing governance, </a:t>
            </a:r>
            <a:endParaRPr sz="1100">
              <a:solidFill>
                <a:srgbClr val="3C78D8"/>
              </a:solidFill>
              <a:latin typeface="Calibri"/>
              <a:ea typeface="Calibri"/>
              <a:cs typeface="Calibri"/>
              <a:sym typeface="Calibri"/>
            </a:endParaRPr>
          </a:p>
          <a:p>
            <a:pPr marL="4000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tracking ROI</a:t>
            </a:r>
            <a:endParaRPr sz="11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Ultimately, businesses must choose to lead or lag as the window for gaining a competitive advantage rapidly closes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https://www.youtube.com/watch?v=WsFWFi5bcFw</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230" name="Google Shape;230;p32"/>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593175" y="413828"/>
            <a:ext cx="2466974" cy="1379950"/>
          </a:xfrm>
          <a:prstGeom prst="rect">
            <a:avLst/>
          </a:prstGeom>
          <a:noFill/>
          <a:ln w="9525" cap="flat" cmpd="sng">
            <a:solidFill>
              <a:srgbClr val="FF0000"/>
            </a:solidFill>
            <a:prstDash val="solid"/>
            <a:round/>
            <a:headEnd type="none" w="sm" len="sm"/>
            <a:tailEnd type="none" w="sm" len="sm"/>
          </a:ln>
        </p:spPr>
      </p:pic>
      <p:sp>
        <p:nvSpPr>
          <p:cNvPr id="231" name="Google Shape;231;p32"/>
          <p:cNvSpPr txBox="1"/>
          <p:nvPr/>
        </p:nvSpPr>
        <p:spPr>
          <a:xfrm>
            <a:off x="100600" y="3355617"/>
            <a:ext cx="43911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AI Agency "SureThing"</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https://surething.io/chat-index</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https://theresanaiforthat.com/ai/surething/</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team of autonomous AI agents working together, on cloud, persistent memory and integrations with over 1,000 apps like Slack, Notion, and HubSpot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Company - Super Intent, Inc., San Francisco, CA</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Cenning Yu, Co-founder, </a:t>
            </a:r>
            <a:endParaRPr sz="1200">
              <a:solidFill>
                <a:schemeClr val="dk1"/>
              </a:solidFill>
              <a:latin typeface="Calibri"/>
              <a:ea typeface="Calibri"/>
              <a:cs typeface="Calibri"/>
              <a:sym typeface="Calibri"/>
            </a:endParaRPr>
          </a:p>
        </p:txBody>
      </p:sp>
      <p:pic>
        <p:nvPicPr>
          <p:cNvPr id="232" name="Google Shape;232;p32"/>
          <p:cNvPicPr preferRelativeResize="0"/>
          <p:nvPr/>
        </p:nvPicPr>
        <p:blipFill>
          <a:blip r:embed="rId7">
            <a:alphaModFix/>
          </a:blip>
          <a:stretch>
            <a:fillRect/>
          </a:stretch>
        </p:blipFill>
        <p:spPr>
          <a:xfrm>
            <a:off x="4593175" y="3760617"/>
            <a:ext cx="2438400" cy="5524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33"/>
          <p:cNvSpPr txBox="1"/>
          <p:nvPr/>
        </p:nvSpPr>
        <p:spPr>
          <a:xfrm>
            <a:off x="81775" y="67675"/>
            <a:ext cx="43911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How to setup Hermes Agent</a:t>
            </a:r>
            <a:endParaRPr sz="2000" b="1">
              <a:solidFill>
                <a:schemeClr val="dk1"/>
              </a:solidFill>
              <a:latin typeface="Calibri"/>
              <a:ea typeface="Calibri"/>
              <a:cs typeface="Calibri"/>
              <a:sym typeface="Calibri"/>
            </a:endParaRPr>
          </a:p>
        </p:txBody>
      </p:sp>
      <p:sp>
        <p:nvSpPr>
          <p:cNvPr id="238" name="Google Shape;238;p33"/>
          <p:cNvSpPr txBox="1"/>
          <p:nvPr/>
        </p:nvSpPr>
        <p:spPr>
          <a:xfrm>
            <a:off x="125950" y="610292"/>
            <a:ext cx="4391100" cy="3343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How to setup Hermes Agent</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3"/>
              </a:rPr>
              <a:t>https://www.youtube.com/watch?v=3jNp14bJpgs</a:t>
            </a:r>
            <a:r>
              <a:rPr lang="en" sz="1200">
                <a:solidFill>
                  <a:schemeClr val="dk1"/>
                </a:solidFill>
                <a:latin typeface="Calibri"/>
                <a:ea typeface="Calibri"/>
                <a:cs typeface="Calibri"/>
                <a:sym typeface="Calibri"/>
              </a:rPr>
              <a:t> - Wes Roth</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4"/>
              </a:rPr>
              <a:t>https://github.com/nousresearch/hermes-agent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 Greek mythology, Hermes is the Olympian god of boundaries, travel, commerce, and communication. He is best known as the Messenger of the Gods, a role he fulfills thanks to his incredible speed and ability to move freely between the mortal world, the divine realm of Olympus, and the Underworld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video is a guide to setting up and using "Hermes Agent" - an open-source AI agent developed by Nous Research - with ability to learn, develop skills, and improve over time through persistent memory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comes with 74 pre-installed skills, supports hundreds of models via OpenRouter, includes a security bot that monitors and warns users before executing potentially dangerous commands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Can be installed on a Virtual Private Server (VPS) via Hostinger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Can be paired with your Telegram account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Can be integrated with WhatsApp and Gmail</a:t>
            </a:r>
            <a:endParaRPr sz="1200">
              <a:solidFill>
                <a:schemeClr val="dk1"/>
              </a:solidFill>
              <a:latin typeface="Calibri"/>
              <a:ea typeface="Calibri"/>
              <a:cs typeface="Calibri"/>
              <a:sym typeface="Calibri"/>
            </a:endParaRPr>
          </a:p>
        </p:txBody>
      </p:sp>
      <p:pic>
        <p:nvPicPr>
          <p:cNvPr id="239" name="Google Shape;239;p33"/>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753000" y="304800"/>
            <a:ext cx="1097550" cy="1323974"/>
          </a:xfrm>
          <a:prstGeom prst="rect">
            <a:avLst/>
          </a:prstGeom>
          <a:noFill/>
          <a:ln>
            <a:noFill/>
          </a:ln>
        </p:spPr>
      </p:pic>
      <p:pic>
        <p:nvPicPr>
          <p:cNvPr id="240" name="Google Shape;240;p33"/>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752999" y="1866128"/>
            <a:ext cx="3686176" cy="63100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4"/>
        <p:cNvGrpSpPr/>
        <p:nvPr/>
      </p:nvGrpSpPr>
      <p:grpSpPr>
        <a:xfrm>
          <a:off x="0" y="0"/>
          <a:ext cx="0" cy="0"/>
          <a:chOff x="0" y="0"/>
          <a:chExt cx="0" cy="0"/>
        </a:xfrm>
      </p:grpSpPr>
      <p:sp>
        <p:nvSpPr>
          <p:cNvPr id="245" name="Google Shape;245;p34"/>
          <p:cNvSpPr txBox="1"/>
          <p:nvPr/>
        </p:nvSpPr>
        <p:spPr>
          <a:xfrm>
            <a:off x="81775" y="67675"/>
            <a:ext cx="43911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Anthropic ARR $30B vs $25B OpenAI</a:t>
            </a:r>
            <a:endParaRPr sz="2000" b="1">
              <a:solidFill>
                <a:schemeClr val="dk1"/>
              </a:solidFill>
              <a:latin typeface="Calibri"/>
              <a:ea typeface="Calibri"/>
              <a:cs typeface="Calibri"/>
              <a:sym typeface="Calibri"/>
            </a:endParaRPr>
          </a:p>
        </p:txBody>
      </p:sp>
      <p:sp>
        <p:nvSpPr>
          <p:cNvPr id="246" name="Google Shape;246;p34"/>
          <p:cNvSpPr txBox="1"/>
          <p:nvPr/>
        </p:nvSpPr>
        <p:spPr>
          <a:xfrm>
            <a:off x="125950" y="610292"/>
            <a:ext cx="43911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Anthropic $30B ARR vs OpenAI's $25B</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Anthropic has overtaken OpenAI in annualized revenue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represents 30x growth for Anthropic in just 15 months, driven almost entirely by enterprise customers - over 1,000 companies are now each spending $1M+ annually with Anthropic</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About 80% of Anthropic's revenue comes from businesses, versus OpenAI's more consumer-focused model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Anthropic is achieving this while spending four times less on model training than OpenAI</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OpenAI still holds a massive user base of 900 million+ weekly ChatGPT users</a:t>
            </a:r>
            <a:endParaRPr sz="1200">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50"/>
        <p:cNvGrpSpPr/>
        <p:nvPr/>
      </p:nvGrpSpPr>
      <p:grpSpPr>
        <a:xfrm>
          <a:off x="0" y="0"/>
          <a:ext cx="0" cy="0"/>
          <a:chOff x="0" y="0"/>
          <a:chExt cx="0" cy="0"/>
        </a:xfrm>
      </p:grpSpPr>
      <p:sp>
        <p:nvSpPr>
          <p:cNvPr id="251" name="Google Shape;251;p35"/>
          <p:cNvSpPr txBox="1"/>
          <p:nvPr/>
        </p:nvSpPr>
        <p:spPr>
          <a:xfrm>
            <a:off x="67350" y="52750"/>
            <a:ext cx="3179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Jobs</a:t>
            </a:r>
            <a:endParaRPr sz="2000" b="1" i="0" u="none" strike="noStrike" cap="none">
              <a:solidFill>
                <a:schemeClr val="dk1"/>
              </a:solidFill>
              <a:latin typeface="Calibri"/>
              <a:ea typeface="Calibri"/>
              <a:cs typeface="Calibri"/>
              <a:sym typeface="Calibri"/>
            </a:endParaRPr>
          </a:p>
        </p:txBody>
      </p:sp>
      <p:sp>
        <p:nvSpPr>
          <p:cNvPr id="252" name="Google Shape;252;p35"/>
          <p:cNvSpPr txBox="1"/>
          <p:nvPr/>
        </p:nvSpPr>
        <p:spPr>
          <a:xfrm>
            <a:off x="2134467" y="34252"/>
            <a:ext cx="180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0" i="0" u="sng" strike="noStrike" cap="none">
                <a:solidFill>
                  <a:schemeClr val="hlink"/>
                </a:solidFill>
                <a:latin typeface="Calibri"/>
                <a:ea typeface="Calibri"/>
                <a:cs typeface="Calibri"/>
                <a:sym typeface="Calibri"/>
                <a:hlinkClick r:id="rId3"/>
              </a:rPr>
              <a:t>https://layoffs.fyi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https://trueup.io/layoffs</a:t>
            </a:r>
            <a:r>
              <a:rPr lang="en" sz="1200">
                <a:latin typeface="Calibri"/>
                <a:ea typeface="Calibri"/>
                <a:cs typeface="Calibri"/>
                <a:sym typeface="Calibri"/>
              </a:rPr>
              <a:t> </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253" name="Google Shape;253;p35"/>
          <p:cNvSpPr txBox="1"/>
          <p:nvPr/>
        </p:nvSpPr>
        <p:spPr>
          <a:xfrm>
            <a:off x="5322525" y="3446900"/>
            <a:ext cx="33606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71.5K  in 2026 </a:t>
            </a:r>
            <a:r>
              <a:rPr lang="en" sz="1000" b="1">
                <a:solidFill>
                  <a:schemeClr val="dk1"/>
                </a:solidFill>
                <a:latin typeface="Roboto Mono"/>
                <a:ea typeface="Roboto Mono"/>
                <a:cs typeface="Roboto Mono"/>
                <a:sym typeface="Roboto Mono"/>
              </a:rPr>
              <a:t>(as of April 10, 2026)</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124K in 2025 </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264K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sp>
        <p:nvSpPr>
          <p:cNvPr id="254" name="Google Shape;254;p35"/>
          <p:cNvSpPr txBox="1"/>
          <p:nvPr/>
        </p:nvSpPr>
        <p:spPr>
          <a:xfrm>
            <a:off x="5322525" y="776375"/>
            <a:ext cx="35589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2026: </a:t>
            </a:r>
            <a:r>
              <a:rPr lang="en" sz="1200" b="1">
                <a:latin typeface="Calibri"/>
                <a:ea typeface="Calibri"/>
                <a:cs typeface="Calibri"/>
                <a:sym typeface="Calibri"/>
              </a:rPr>
              <a:t>91,739</a:t>
            </a:r>
            <a:r>
              <a:rPr lang="en" sz="1200">
                <a:latin typeface="Calibri"/>
                <a:ea typeface="Calibri"/>
                <a:cs typeface="Calibri"/>
                <a:sym typeface="Calibri"/>
              </a:rPr>
              <a:t> people laid off (917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2025: </a:t>
            </a:r>
            <a:r>
              <a:rPr lang="en" sz="1200" b="1">
                <a:latin typeface="Calibri"/>
                <a:ea typeface="Calibri"/>
                <a:cs typeface="Calibri"/>
                <a:sym typeface="Calibri"/>
              </a:rPr>
              <a:t>245,953</a:t>
            </a:r>
            <a:r>
              <a:rPr lang="en" sz="1200">
                <a:latin typeface="Calibri"/>
                <a:ea typeface="Calibri"/>
                <a:cs typeface="Calibri"/>
                <a:sym typeface="Calibri"/>
              </a:rPr>
              <a:t> people laid off (674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a:t>
            </a:r>
            <a:r>
              <a:rPr lang="en" sz="1200" b="1">
                <a:latin typeface="Calibri"/>
                <a:ea typeface="Calibri"/>
                <a:cs typeface="Calibri"/>
                <a:sym typeface="Calibri"/>
              </a:rPr>
              <a:t>238,461</a:t>
            </a:r>
            <a:r>
              <a:rPr lang="en" sz="1200">
                <a:latin typeface="Calibri"/>
                <a:ea typeface="Calibri"/>
                <a:cs typeface="Calibri"/>
                <a:sym typeface="Calibri"/>
              </a:rPr>
              <a:t> people </a:t>
            </a:r>
            <a:r>
              <a:rPr lang="en" sz="1200">
                <a:solidFill>
                  <a:srgbClr val="000000"/>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8" lvl="0" indent="-57150" algn="r" rtl="0">
              <a:spcBef>
                <a:spcPts val="0"/>
              </a:spcBef>
              <a:spcAft>
                <a:spcPts val="0"/>
              </a:spcAft>
              <a:buNone/>
            </a:pPr>
            <a:r>
              <a:rPr lang="en" sz="1200" u="sng">
                <a:solidFill>
                  <a:srgbClr val="0097A7"/>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https://trueup.io/layoffs</a:t>
            </a:r>
            <a:endParaRPr sz="1200">
              <a:latin typeface="Calibri"/>
              <a:ea typeface="Calibri"/>
              <a:cs typeface="Calibri"/>
              <a:sym typeface="Calibri"/>
            </a:endParaRPr>
          </a:p>
        </p:txBody>
      </p:sp>
      <p:pic>
        <p:nvPicPr>
          <p:cNvPr id="255" name="Google Shape;255;p35"/>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7350" y="3142555"/>
            <a:ext cx="4950376" cy="1919994"/>
          </a:xfrm>
          <a:prstGeom prst="rect">
            <a:avLst/>
          </a:prstGeom>
          <a:noFill/>
          <a:ln w="9525" cap="flat" cmpd="sng">
            <a:solidFill>
              <a:srgbClr val="FF0000"/>
            </a:solidFill>
            <a:prstDash val="solid"/>
            <a:round/>
            <a:headEnd type="none" w="sm" len="sm"/>
            <a:tailEnd type="none" w="sm" len="sm"/>
          </a:ln>
        </p:spPr>
      </p:pic>
      <p:pic>
        <p:nvPicPr>
          <p:cNvPr id="256" name="Google Shape;256;p35"/>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7350" y="530922"/>
            <a:ext cx="4950374" cy="2539378"/>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60"/>
        <p:cNvGrpSpPr/>
        <p:nvPr/>
      </p:nvGrpSpPr>
      <p:grpSpPr>
        <a:xfrm>
          <a:off x="0" y="0"/>
          <a:ext cx="0" cy="0"/>
          <a:chOff x="0" y="0"/>
          <a:chExt cx="0" cy="0"/>
        </a:xfrm>
      </p:grpSpPr>
      <p:pic>
        <p:nvPicPr>
          <p:cNvPr id="261" name="Google Shape;261;p36"/>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67350" y="521237"/>
            <a:ext cx="4987274" cy="3253075"/>
          </a:xfrm>
          <a:prstGeom prst="rect">
            <a:avLst/>
          </a:prstGeom>
          <a:noFill/>
          <a:ln w="9525" cap="flat" cmpd="sng">
            <a:solidFill>
              <a:srgbClr val="FF0000"/>
            </a:solidFill>
            <a:prstDash val="solid"/>
            <a:round/>
            <a:headEnd type="none" w="sm" len="sm"/>
            <a:tailEnd type="none" w="sm" len="sm"/>
          </a:ln>
        </p:spPr>
      </p:pic>
      <p:sp>
        <p:nvSpPr>
          <p:cNvPr id="262" name="Google Shape;262;p36"/>
          <p:cNvSpPr txBox="1"/>
          <p:nvPr/>
        </p:nvSpPr>
        <p:spPr>
          <a:xfrm>
            <a:off x="67350" y="52750"/>
            <a:ext cx="3179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AI-Linked Job Losses</a:t>
            </a:r>
            <a:endParaRPr sz="2000" b="1" i="0" u="none" strike="noStrike" cap="none">
              <a:solidFill>
                <a:schemeClr val="dk1"/>
              </a:solidFill>
              <a:latin typeface="Calibri"/>
              <a:ea typeface="Calibri"/>
              <a:cs typeface="Calibri"/>
              <a:sym typeface="Calibri"/>
            </a:endParaRPr>
          </a:p>
        </p:txBody>
      </p:sp>
      <p:sp>
        <p:nvSpPr>
          <p:cNvPr id="263" name="Google Shape;263;p36"/>
          <p:cNvSpPr txBox="1"/>
          <p:nvPr/>
        </p:nvSpPr>
        <p:spPr>
          <a:xfrm>
            <a:off x="3358325" y="624100"/>
            <a:ext cx="15486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u="sng">
                <a:solidFill>
                  <a:schemeClr val="hlink"/>
                </a:solidFill>
                <a:hlinkClick r:id="rId4"/>
              </a:rPr>
              <a:t>https://jobloss.ai</a:t>
            </a:r>
            <a:endParaRPr/>
          </a:p>
        </p:txBody>
      </p:sp>
      <p:sp>
        <p:nvSpPr>
          <p:cNvPr id="264" name="Google Shape;264;p36"/>
          <p:cNvSpPr txBox="1"/>
          <p:nvPr/>
        </p:nvSpPr>
        <p:spPr>
          <a:xfrm>
            <a:off x="5176950" y="1115525"/>
            <a:ext cx="3899400" cy="1218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More Software Jobs in 2026  (publ. April 6)</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Software engineer job listings have risen 30% so far in 2026, reaching about 67,000 openings</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The increase challenges fears that AI is rapidly replacing coding jobs</a:t>
            </a:r>
            <a:endParaRPr sz="1200">
              <a:latin typeface="Calibri"/>
              <a:ea typeface="Calibri"/>
              <a:cs typeface="Calibri"/>
              <a:sym typeface="Calibri"/>
            </a:endParaRPr>
          </a:p>
          <a:p>
            <a:pPr marL="22860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5"/>
              </a:rPr>
              <a:t>https://gizmodo.com/report-says-software-engineer-job-listings-are-up-30-this-year-2000742638</a:t>
            </a:r>
            <a:r>
              <a:rPr lang="en" sz="900">
                <a:latin typeface="Calibri"/>
                <a:ea typeface="Calibri"/>
                <a:cs typeface="Calibri"/>
                <a:sym typeface="Calibri"/>
              </a:rPr>
              <a:t> </a:t>
            </a:r>
            <a:endParaRPr sz="900">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68"/>
        <p:cNvGrpSpPr/>
        <p:nvPr/>
      </p:nvGrpSpPr>
      <p:grpSpPr>
        <a:xfrm>
          <a:off x="0" y="0"/>
          <a:ext cx="0" cy="0"/>
          <a:chOff x="0" y="0"/>
          <a:chExt cx="0" cy="0"/>
        </a:xfrm>
      </p:grpSpPr>
      <p:pic>
        <p:nvPicPr>
          <p:cNvPr id="269" name="Google Shape;269;p37"/>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45525" y="1203525"/>
            <a:ext cx="1570556" cy="1570556"/>
          </a:xfrm>
          <a:prstGeom prst="rect">
            <a:avLst/>
          </a:prstGeom>
          <a:noFill/>
          <a:ln>
            <a:noFill/>
          </a:ln>
        </p:spPr>
      </p:pic>
      <p:sp>
        <p:nvSpPr>
          <p:cNvPr id="270" name="Google Shape;270;p37"/>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271" name="Google Shape;271;p37"/>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272" name="Google Shape;272;p37"/>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1578" y="3664175"/>
            <a:ext cx="858450" cy="311906"/>
          </a:xfrm>
          <a:prstGeom prst="rect">
            <a:avLst/>
          </a:prstGeom>
          <a:noFill/>
          <a:ln>
            <a:noFill/>
          </a:ln>
        </p:spPr>
      </p:pic>
      <p:sp>
        <p:nvSpPr>
          <p:cNvPr id="273" name="Google Shape;273;p37"/>
          <p:cNvSpPr txBox="1"/>
          <p:nvPr/>
        </p:nvSpPr>
        <p:spPr>
          <a:xfrm>
            <a:off x="735103"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274" name="Google Shape;274;p37"/>
          <p:cNvSpPr txBox="1"/>
          <p:nvPr/>
        </p:nvSpPr>
        <p:spPr>
          <a:xfrm>
            <a:off x="383803" y="4360974"/>
            <a:ext cx="20940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78"/>
        <p:cNvGrpSpPr/>
        <p:nvPr/>
      </p:nvGrpSpPr>
      <p:grpSpPr>
        <a:xfrm>
          <a:off x="0" y="0"/>
          <a:ext cx="0" cy="0"/>
          <a:chOff x="0" y="0"/>
          <a:chExt cx="0" cy="0"/>
        </a:xfrm>
      </p:grpSpPr>
      <p:sp>
        <p:nvSpPr>
          <p:cNvPr id="279" name="Google Shape;279;p38"/>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5362</Words>
  <Application>Microsoft Macintosh PowerPoint</Application>
  <PresentationFormat>On-screen Show (16:9)</PresentationFormat>
  <Paragraphs>549</Paragraphs>
  <Slides>24</Slides>
  <Notes>24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24</vt:i4>
      </vt:variant>
    </vt:vector>
  </HeadingPairs>
  <TitlesOfParts>
    <vt:vector size="29" baseType="lpstr">
      <vt:lpstr>Arial</vt:lpstr>
      <vt:lpstr>Calibri</vt:lpstr>
      <vt:lpstr>Roboto Mono</vt:lpstr>
      <vt:lpstr>Georgia</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1</cp:revision>
  <dcterms:modified xsi:type="dcterms:W3CDTF">2026-04-15T22:13:47Z</dcterms:modified>
</cp:coreProperties>
</file>