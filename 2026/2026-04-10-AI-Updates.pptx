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embeddedFontLst>
    <p:embeddedFont>
      <p:font typeface="Roboto Mono" pitchFamily="49" charset="0"/>
      <p:regular r:id="rId26"/>
      <p:bold r:id="rId27"/>
      <p:italic r:id="rId28"/>
      <p:bold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DFCC684-0DB4-47EE-A91B-969DA3BFB832}">
  <a:tblStyle styleId="{0DFCC684-0DB4-47EE-A91B-969DA3BFB83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11"/>
  </p:normalViewPr>
  <p:slideViewPr>
    <p:cSldViewPr>
      <p:cViewPr varScale="1">
        <p:scale>
          <a:sx n="125" d="100"/>
          <a:sy n="125" d="100"/>
        </p:scale>
        <p:origin x="53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633c15ed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633c15ed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4c0665f3e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g3d4c0665f3e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cc01bf30ee_1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8" name="Google Shape;78;g3cc01bf30ee_1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d00f0b5581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2" name="Google Shape;92;g3d00f0b5581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9318675434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0" name="Google Shape;100;g39318675434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96d659025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6" name="Google Shape;106;g396d659025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d4b17a0f13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3" name="Google Shape;113;g3d4b17a0f13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96d94bc8f6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0" name="Google Shape;120;g396d94bc8f6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d47a4b0b2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9" name="Google Shape;129;g3d47a4b0b2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d4b17a0f1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6" name="Google Shape;136;g3d4b17a0f1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d4b17a0f13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4" name="Google Shape;144;g3d4b17a0f13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d4c0665f3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1" name="Google Shape;151;g3d4c0665f3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86e2e69489_1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9" name="Google Shape;159;g386e2e69489_1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d4e8f0f52a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8" name="Google Shape;168;g3d4e8f0f52a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d4c0665f3e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7" name="Google Shape;177;g3d4c0665f3e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86e2e69489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7" name="Google Shape;187;g386e2e69489_1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96e8073bae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6" name="Google Shape;196;g396e8073bae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d4e9c75f3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5" name="Google Shape;205;g3d4e9c75f3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86e2e69489_1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g386e2e69489_1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7" name="Google Shape;227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d45e9cc6ac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d45e9cc6ac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8" name="Google Shape;248;p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8" name="Google Shape;258;p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457172" y="205067"/>
            <a:ext cx="8228700" cy="8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457172" y="1203299"/>
            <a:ext cx="8228700" cy="29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_HEADER_1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4"/>
          <p:cNvSpPr txBox="1">
            <a:spLocks noGrp="1"/>
          </p:cNvSpPr>
          <p:nvPr>
            <p:ph type="title"/>
          </p:nvPr>
        </p:nvSpPr>
        <p:spPr>
          <a:xfrm>
            <a:off x="623888" y="1282303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b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Font typeface="Arial"/>
              <a:buNone/>
              <a:defRPr sz="15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hyperlink" Target="https://huggingface.co/open-llm-leaderboard" TargetMode="External"/><Relationship Id="rId18" Type="http://schemas.openxmlformats.org/officeDocument/2006/relationships/hyperlink" Target="https://lmarena.ai/leaderboard/text-to-image" TargetMode="External"/><Relationship Id="rId26" Type="http://schemas.openxmlformats.org/officeDocument/2006/relationships/hyperlink" Target="https://docs.x.ai/developers/models/grok-4.20-multi-agent-beta-0309" TargetMode="External"/><Relationship Id="rId39" Type="http://schemas.openxmlformats.org/officeDocument/2006/relationships/hyperlink" Target="https://www.anthropic.com/news/claude-sonnet-4-5" TargetMode="External"/><Relationship Id="rId21" Type="http://schemas.openxmlformats.org/officeDocument/2006/relationships/hyperlink" Target="https://grok.com/" TargetMode="External"/><Relationship Id="rId34" Type="http://schemas.openxmlformats.org/officeDocument/2006/relationships/hyperlink" Target="https://openai.com/index/introducing-gpt-5-4-mini-and-nano/" TargetMode="External"/><Relationship Id="rId7" Type="http://schemas.openxmlformats.org/officeDocument/2006/relationships/hyperlink" Target="https://openlm.ai/chatbot-arena/" TargetMode="External"/><Relationship Id="rId2" Type="http://schemas.openxmlformats.org/officeDocument/2006/relationships/notesSlide" Target="../notesSlides/notesSlide3.xml"/><Relationship Id="rId16" Type="http://schemas.openxmlformats.org/officeDocument/2006/relationships/hyperlink" Target="https://artificialanalysis.ai/models/grok-4" TargetMode="External"/><Relationship Id="rId20" Type="http://schemas.openxmlformats.org/officeDocument/2006/relationships/hyperlink" Target="https://blog.google/innovation-and-ai/models-and-research/gemini-models/gemini-3-1-pro/" TargetMode="External"/><Relationship Id="rId29" Type="http://schemas.openxmlformats.org/officeDocument/2006/relationships/hyperlink" Target="https://x.ai/news/grok-4-1" TargetMode="External"/><Relationship Id="rId41" Type="http://schemas.openxmlformats.org/officeDocument/2006/relationships/hyperlink" Target="https://longcat.chat/platform/docs/#endpoints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designarena.ai" TargetMode="External"/><Relationship Id="rId11" Type="http://schemas.openxmlformats.org/officeDocument/2006/relationships/hyperlink" Target="https://www.stack-ai.com/llm-leaderboard" TargetMode="External"/><Relationship Id="rId24" Type="http://schemas.openxmlformats.org/officeDocument/2006/relationships/hyperlink" Target="https://docs.x.ai/developers/models/grok-4.20-beta-0309-reasoning" TargetMode="External"/><Relationship Id="rId32" Type="http://schemas.openxmlformats.org/officeDocument/2006/relationships/hyperlink" Target="https://www.byteplus.com/en/blog/dola-seed-2-0-pro" TargetMode="External"/><Relationship Id="rId37" Type="http://schemas.openxmlformats.org/officeDocument/2006/relationships/hyperlink" Target="https://openai.com/index/gpt-5-1/" TargetMode="External"/><Relationship Id="rId40" Type="http://schemas.openxmlformats.org/officeDocument/2006/relationships/hyperlink" Target="https://www.anthropic.com/news/claude-opus-4-1" TargetMode="External"/><Relationship Id="rId5" Type="http://schemas.openxmlformats.org/officeDocument/2006/relationships/hyperlink" Target="https://lmarena.ai/leaderboard/text/coding" TargetMode="External"/><Relationship Id="rId15" Type="http://schemas.openxmlformats.org/officeDocument/2006/relationships/hyperlink" Target="https://epoch.ai/data/ai-benchmarking-dashboard" TargetMode="External"/><Relationship Id="rId23" Type="http://schemas.openxmlformats.org/officeDocument/2006/relationships/hyperlink" Target="https://platform.openai.com/docs/models/gpt-5.4" TargetMode="External"/><Relationship Id="rId28" Type="http://schemas.openxmlformats.org/officeDocument/2006/relationships/hyperlink" Target="https://www.anthropic.com/news/claude-opus-4-5" TargetMode="External"/><Relationship Id="rId36" Type="http://schemas.openxmlformats.org/officeDocument/2006/relationships/hyperlink" Target="https://huggingface.co/zai-org/GLM-5" TargetMode="External"/><Relationship Id="rId10" Type="http://schemas.openxmlformats.org/officeDocument/2006/relationships/hyperlink" Target="https://llmworld.net/llm_leaderboards/" TargetMode="External"/><Relationship Id="rId19" Type="http://schemas.openxmlformats.org/officeDocument/2006/relationships/hyperlink" Target="https://www.anthropic.com/news/claude-opus-4-6" TargetMode="External"/><Relationship Id="rId31" Type="http://schemas.openxmlformats.org/officeDocument/2006/relationships/hyperlink" Target="https://qwen.ai/blog?id=qwen3.5-max-preview" TargetMode="External"/><Relationship Id="rId4" Type="http://schemas.openxmlformats.org/officeDocument/2006/relationships/hyperlink" Target="https://lmarena.ai/leaderboard/text" TargetMode="External"/><Relationship Id="rId9" Type="http://schemas.openxmlformats.org/officeDocument/2006/relationships/hyperlink" Target="https://web.lmarena.ai/leaderboard" TargetMode="External"/><Relationship Id="rId14" Type="http://schemas.openxmlformats.org/officeDocument/2006/relationships/hyperlink" Target="https://www.vellum.ai/llm-leaderboard" TargetMode="External"/><Relationship Id="rId22" Type="http://schemas.openxmlformats.org/officeDocument/2006/relationships/hyperlink" Target="https://aistudio.google.com/app/prompts/new_chat?model=gemini-3-pro-preview" TargetMode="External"/><Relationship Id="rId27" Type="http://schemas.openxmlformats.org/officeDocument/2006/relationships/hyperlink" Target="https://blog.google/products/gemini/gemini-3-flash" TargetMode="External"/><Relationship Id="rId30" Type="http://schemas.openxmlformats.org/officeDocument/2006/relationships/hyperlink" Target="https://huggingface.co/zai-org/GLM-5.1" TargetMode="External"/><Relationship Id="rId35" Type="http://schemas.openxmlformats.org/officeDocument/2006/relationships/hyperlink" Target="https://openai.com/index/gpt-5-3-instant/" TargetMode="External"/><Relationship Id="rId8" Type="http://schemas.openxmlformats.org/officeDocument/2006/relationships/hyperlink" Target="https://beta.lmarena.ai" TargetMode="External"/><Relationship Id="rId3" Type="http://schemas.openxmlformats.org/officeDocument/2006/relationships/hyperlink" Target="https://en.wikipedia.org/wiki/Elo_rating_system" TargetMode="External"/><Relationship Id="rId12" Type="http://schemas.openxmlformats.org/officeDocument/2006/relationships/hyperlink" Target="https://artificialanalysis.ai/leaderboards/models" TargetMode="External"/><Relationship Id="rId17" Type="http://schemas.openxmlformats.org/officeDocument/2006/relationships/hyperlink" Target="http://aiarena.alibaba-inc.com/corpora/arena/leaderboard?arenaType=T2I" TargetMode="External"/><Relationship Id="rId25" Type="http://schemas.openxmlformats.org/officeDocument/2006/relationships/hyperlink" Target="https://developers.openai.com/api/docs/models/gpt-5.2-chat-latest" TargetMode="External"/><Relationship Id="rId33" Type="http://schemas.openxmlformats.org/officeDocument/2006/relationships/hyperlink" Target="https://www.anthropic.com/news/claude-sonnet-4-6" TargetMode="External"/><Relationship Id="rId38" Type="http://schemas.openxmlformats.org/officeDocument/2006/relationships/hyperlink" Target="https://www.kimi.com/blog/kimi-k2-5.html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@lev-selector/videos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hyperlink" Target="https://www.youtube.com/watch?v=vn_kU928nww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google/innovation-and-ai/technology/developers-tools/gemma-4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hyperlink" Target="https://openagents.org" TargetMode="External"/><Relationship Id="rId7" Type="http://schemas.openxmlformats.org/officeDocument/2006/relationships/hyperlink" Target="https://discord.gg/openagents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studio.openagents.org" TargetMode="External"/><Relationship Id="rId5" Type="http://schemas.openxmlformats.org/officeDocument/2006/relationships/hyperlink" Target="https://www.reddit.com/r/AgentsOfAI/comments/1saupc0/" TargetMode="External"/><Relationship Id="rId4" Type="http://schemas.openxmlformats.org/officeDocument/2006/relationships/hyperlink" Target="https://github.com/openagents-org/openagents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hkGSbJnhqhc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x.com/perplexity_ai/status/2039740898830073889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gVXnjfsFJKE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hyperlink" Target="https://www.youtube.com/watch?v=-Pn3FBOjkgM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nbc.com/2026/03/26/anthropic-pentagon-dod-claude-court-ruling.html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hyperlink" Target="https://www.youtube.com/watch?v=wyLtTz4S03c" TargetMode="Externa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trizinfor.org/store/TRIZclassEn.pdf" TargetMode="External"/><Relationship Id="rId13" Type="http://schemas.openxmlformats.org/officeDocument/2006/relationships/hyperlink" Target="https://www.academia.edu/36931592/Simplified_TRIZ" TargetMode="External"/><Relationship Id="rId3" Type="http://schemas.openxmlformats.org/officeDocument/2006/relationships/hyperlink" Target="https://accuristech.com/solutions/goldfire/" TargetMode="External"/><Relationship Id="rId7" Type="http://schemas.openxmlformats.org/officeDocument/2006/relationships/hyperlink" Target="http://www.evolocus.com/Textbooks/Altshuller2007.pdf" TargetMode="External"/><Relationship Id="rId12" Type="http://schemas.openxmlformats.org/officeDocument/2006/relationships/hyperlink" Target="https://www.scribd.com/document/803435517/TRIZ-Material-for-Beginners" TargetMode="External"/><Relationship Id="rId2" Type="http://schemas.openxmlformats.org/officeDocument/2006/relationships/notesSlide" Target="../notesSlides/notesSlide15.xml"/><Relationship Id="rId16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spectrum.library.concordia.ca/36055/1/triz.pdf" TargetMode="External"/><Relationship Id="rId11" Type="http://schemas.openxmlformats.org/officeDocument/2006/relationships/hyperlink" Target="https://matriz.org/wp-content/uploads/2019/01/Level-1-Manual-Word.pdf" TargetMode="External"/><Relationship Id="rId5" Type="http://schemas.openxmlformats.org/officeDocument/2006/relationships/hyperlink" Target="https://arvindvenkatadri.com/teaching/1-play-and-invent/modules/70-triz-resources/pdf/TRIZ/Stan%20Kaplan-Intro-to-TRIZ.pdf" TargetMode="External"/><Relationship Id="rId15" Type="http://schemas.openxmlformats.org/officeDocument/2006/relationships/image" Target="../media/image16.png"/><Relationship Id="rId10" Type="http://schemas.openxmlformats.org/officeDocument/2006/relationships/hyperlink" Target="https://www.opensourcetriz.com" TargetMode="External"/><Relationship Id="rId4" Type="http://schemas.openxmlformats.org/officeDocument/2006/relationships/hyperlink" Target="https://vietnamwcm.files.wordpress.com/2008/07/inovative-problem-solving.pdf" TargetMode="External"/><Relationship Id="rId9" Type="http://schemas.openxmlformats.org/officeDocument/2006/relationships/hyperlink" Target="https://archive.org/details/trizforengineers0000gadd" TargetMode="External"/><Relationship Id="rId14" Type="http://schemas.openxmlformats.org/officeDocument/2006/relationships/hyperlink" Target="https://www.academia.edu/79649423/TRIZ_Theory_of_Inventive_Problem_Solving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shorts/8uPMM8HhRUc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hyperlink" Target="https://www.youtube.com/watch?v=sGJGCq10gc0" TargetMode="External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ousresearch/hermes-agent" TargetMode="External"/><Relationship Id="rId7" Type="http://schemas.openxmlformats.org/officeDocument/2006/relationships/hyperlink" Target="https://www.youtube.com/watch?v=OSZdFnQmgRw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Mb5N08xcxtg" TargetMode="External"/><Relationship Id="rId5" Type="http://schemas.openxmlformats.org/officeDocument/2006/relationships/hyperlink" Target="https://gist.github.com/karpathy/442a6bf555914893e9891c11519de94f" TargetMode="External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hyperlink" Target="http://www.youtube.com/watch?v=tDW6VoyWWqo" TargetMode="External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jpeg"/><Relationship Id="rId5" Type="http://schemas.openxmlformats.org/officeDocument/2006/relationships/hyperlink" Target="https://www.youtube.com/watch?v=3pj-KLBKcvc" TargetMode="External"/><Relationship Id="rId4" Type="http://schemas.openxmlformats.org/officeDocument/2006/relationships/hyperlink" Target="https://www.youtube.com/watch?v=JSuS-zXMVwE" TargetMode="Externa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hyperlink" Target="https://www.youtube.com/watch?v=Vk5_2mBXHQ8" TargetMode="External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JuliusBrussee/caveman" TargetMode="External"/><Relationship Id="rId5" Type="http://schemas.openxmlformats.org/officeDocument/2006/relationships/hyperlink" Target="https://www.youtube.com/watch?v=4FO1Liu-ttk" TargetMode="External"/><Relationship Id="rId4" Type="http://schemas.openxmlformats.org/officeDocument/2006/relationships/hyperlink" Target="https://www.youtube.com/watch?v=Q0vLGvcdJZ8" TargetMode="External"/><Relationship Id="rId9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layoffs.fyi" TargetMode="External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hyperlink" Target="https://trueup.io/layoffs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jobloss.ai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gizmodo.com/report-says-software-engineer-job-listings-are-up-30-this-year-2000742638" TargetMode="External"/><Relationship Id="rId4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eais.ai" TargetMode="External"/><Relationship Id="rId4" Type="http://schemas.openxmlformats.org/officeDocument/2006/relationships/image" Target="../media/image32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/>
        </p:nvSpPr>
        <p:spPr>
          <a:xfrm>
            <a:off x="78651" y="430837"/>
            <a:ext cx="44202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Crowd-sourced "LM Arena" Leaderboard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Buddy - virtual pet built into Claude Code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Anthropic Restricts Third-Party Claude Usage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15"/>
          <p:cNvSpPr txBox="1"/>
          <p:nvPr/>
        </p:nvSpPr>
        <p:spPr>
          <a:xfrm>
            <a:off x="0" y="-22692"/>
            <a:ext cx="4420200" cy="4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" sz="30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 Updates - Apr 10, 2026</a:t>
            </a:r>
            <a:endParaRPr sz="30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5"/>
          <p:cNvSpPr txBox="1"/>
          <p:nvPr/>
        </p:nvSpPr>
        <p:spPr>
          <a:xfrm>
            <a:off x="4574323" y="4850065"/>
            <a:ext cx="4502400" cy="249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xxx</a:t>
            </a:r>
            <a:endParaRPr sz="1500" b="1" i="0" u="none" strike="noStrike" cap="none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15"/>
          <p:cNvSpPr txBox="1"/>
          <p:nvPr/>
        </p:nvSpPr>
        <p:spPr>
          <a:xfrm>
            <a:off x="78651" y="2089309"/>
            <a:ext cx="4420200" cy="27891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OpenClaw Updates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Code Updates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Matt Berman challenged Hacker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Journey, a registry for AI agent workflow kits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Google Gemma 4 family of open-source models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OpenAgents - Multi-Agent Platform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Abacus CoWork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Perplexity Computer Tax Prep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Edgeclaw open-source privacy for AI agents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OpenClaw + Ollama + Qwen 3.5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The Anthropic vs. Pentagon dispute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Code with the Qwen 3.6 Plus model 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5"/>
          <p:cNvSpPr txBox="1"/>
          <p:nvPr/>
        </p:nvSpPr>
        <p:spPr>
          <a:xfrm>
            <a:off x="4574323" y="1320948"/>
            <a:ext cx="4502400" cy="2558100"/>
          </a:xfrm>
          <a:prstGeom prst="rect">
            <a:avLst/>
          </a:prstGeom>
          <a:solidFill>
            <a:srgbClr val="C7E6AF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TRIZ &amp; AI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HERE.NOW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HeyGen Avatar V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Hermes Agent - open-source, self-improving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Karpathy's wiki + Hermes Agent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Microsoft MAI Models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Cursor 3.0 - a major update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Alibaba Wan 2.1 AI video model - open-source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Claude's Microsoft 365 connector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Anthropic Claude Mythos Preview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Caveman" plugin/skill for Claude Code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5"/>
          <p:cNvSpPr txBox="1"/>
          <p:nvPr/>
        </p:nvSpPr>
        <p:spPr>
          <a:xfrm>
            <a:off x="4574325" y="430825"/>
            <a:ext cx="31389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xxx</a:t>
            </a:r>
            <a:endParaRPr sz="2000" b="1" i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/>
          <p:nvPr/>
        </p:nvSpPr>
        <p:spPr>
          <a:xfrm>
            <a:off x="183725" y="906475"/>
            <a:ext cx="4697400" cy="30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i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Periods of social instability are historically the best times for individual growth, career advancement, wealth creation, and access to resources. </a:t>
            </a:r>
            <a:endParaRPr sz="2000" b="1" i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b="1" i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i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Frightening, yes. </a:t>
            </a:r>
            <a:endParaRPr sz="2000" b="1" i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i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Extraordinarily interesting, absolutely.</a:t>
            </a:r>
            <a:endParaRPr sz="2000" b="1" i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b="1" i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i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As Benjamin Franklin said: "God helps those who help themselves."</a:t>
            </a:r>
            <a:endParaRPr sz="2000" b="1" i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4" name="Google Shape;74;p16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72825" y="176150"/>
            <a:ext cx="3009999" cy="326867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75" name="Google Shape;75;p16"/>
          <p:cNvSpPr txBox="1"/>
          <p:nvPr/>
        </p:nvSpPr>
        <p:spPr>
          <a:xfrm>
            <a:off x="6177925" y="3538800"/>
            <a:ext cx="2599800" cy="38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Originally posted by Linus Torvalds on Twitter (now X) on January 29, 2013</a:t>
            </a:r>
            <a:endParaRPr sz="1200" b="1" i="0" u="none" strike="noStrike" cap="none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/>
        </p:nvSpPr>
        <p:spPr>
          <a:xfrm>
            <a:off x="6736325" y="52350"/>
            <a:ext cx="23562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Starting Elo rating = 1000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https://en.wikipedia.org/wiki/Elo_rating_system</a:t>
            </a:r>
            <a:r>
              <a:rPr lang="en"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17"/>
          <p:cNvSpPr txBox="1"/>
          <p:nvPr/>
        </p:nvSpPr>
        <p:spPr>
          <a:xfrm>
            <a:off x="38150" y="2125"/>
            <a:ext cx="25998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"LM Arena" Leaderboard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17"/>
          <p:cNvSpPr txBox="1"/>
          <p:nvPr/>
        </p:nvSpPr>
        <p:spPr>
          <a:xfrm>
            <a:off x="52418" y="476072"/>
            <a:ext cx="25998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English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https://lmarena.ai/leaderboard/text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17"/>
          <p:cNvSpPr txBox="1"/>
          <p:nvPr/>
        </p:nvSpPr>
        <p:spPr>
          <a:xfrm>
            <a:off x="2726905" y="476078"/>
            <a:ext cx="28395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Coding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https://lmarena.ai/leaderboard/text/coding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17"/>
          <p:cNvSpPr txBox="1"/>
          <p:nvPr/>
        </p:nvSpPr>
        <p:spPr>
          <a:xfrm>
            <a:off x="6183999" y="1858050"/>
            <a:ext cx="2908500" cy="3096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https://lmarena.ai/leaderboard/text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Design Arena - </a:t>
            </a:r>
            <a:br>
              <a:rPr lang="en" sz="800">
                <a:latin typeface="Calibri"/>
                <a:ea typeface="Calibri"/>
                <a:cs typeface="Calibri"/>
                <a:sym typeface="Calibri"/>
              </a:rPr>
            </a:b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https://www.designarena.ai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https://openlm.ai/chatbot-arena/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https://beta.lmarena.ai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Web Leaderboard -  1T params</a:t>
            </a:r>
            <a:b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https://web.lmarena.ai/leaderboard</a:t>
            </a: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LLM Leaderboard - by @LlmStats - </a:t>
            </a:r>
            <a:b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https://llmworld.net/llm_leaderboards/</a:t>
            </a: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LLM Leaderboard - by StackAI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b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https://www.stack-ai.com/llm-leaderboard</a:t>
            </a: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LLM Leaderboard - by Artificial Analysis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b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https://artificialanalysis.ai/leaderboards/models</a:t>
            </a: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LLM Leaderboard - by Hugging Face - </a:t>
            </a:r>
            <a:b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https://huggingface.co/open-llm-leaderboard</a:t>
            </a: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LLM Leaderboard - by Vellum - </a:t>
            </a:r>
            <a:b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/>
              </a:rPr>
              <a:t>https://www.vellum.ai/llm-leaderboard</a:t>
            </a: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Benchmarking Hub - </a:t>
            </a:r>
            <a:b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5"/>
              </a:rPr>
              <a:t>https://epoch.ai/data/ai-benchmarking-dashboard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Grok 4 Benchmarks - </a:t>
            </a:r>
            <a:b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/>
              </a:rPr>
              <a:t>https://artificialanalysis.ai/models/grok-4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Image arena (alibaba) - </a:t>
            </a:r>
            <a:b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/>
              </a:rPr>
              <a:t>http://aiarena.alibaba-inc.com/corpora/arena/leaderboard?arenaType=T2I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image arena - </a:t>
            </a: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8"/>
              </a:rPr>
              <a:t>https://lmarena.ai/leaderboard/text-to-image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7"/>
          <p:cNvSpPr txBox="1"/>
          <p:nvPr/>
        </p:nvSpPr>
        <p:spPr>
          <a:xfrm>
            <a:off x="4431041" y="63625"/>
            <a:ext cx="1408200" cy="172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Data for April 7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7"/>
          <p:cNvSpPr txBox="1"/>
          <p:nvPr/>
        </p:nvSpPr>
        <p:spPr>
          <a:xfrm>
            <a:off x="7346795" y="608477"/>
            <a:ext cx="17457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deepseek-v3.2  -  671B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ernie-5.0 - 2.4T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glm-5.0 - 744B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kimi-k2.5-thinking - 1T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qwen3.5-397B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Xiaomi MiMo-V2-Pro - 1T+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87" name="Google Shape;87;p17"/>
          <p:cNvGraphicFramePr/>
          <p:nvPr/>
        </p:nvGraphicFramePr>
        <p:xfrm>
          <a:off x="5742420" y="4300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{0DFCC684-0DB4-47EE-A91B-969DA3BFB832}</a:tableStyleId>
              </a:tblPr>
              <a:tblGrid>
                <a:gridCol w="219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5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Claude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Gemini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OpenAI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 Source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88" name="Google Shape;88;p17"/>
          <p:cNvGraphicFramePr/>
          <p:nvPr/>
        </p:nvGraphicFramePr>
        <p:xfrm>
          <a:off x="230721" y="76666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{0DFCC684-0DB4-47EE-A91B-969DA3BFB832}</a:tableStyleId>
              </a:tblPr>
              <a:tblGrid>
                <a:gridCol w="247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5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claude-opus-4-6-thinking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claude-opus-4-6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gemini-3.1-pro-preview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grok-4.20-beta1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gemini-3-pro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gpt-5.4-high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grok-4.20-beta-0309-reasoning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gpt-5.2-chat-latest-20260210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grok-4.20-multi-agent-beta-0309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gemini-3-flash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claude-opus-4-5-20251101-thinking-32k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grok-4.1-thinking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claude-opus-4-5-20251101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1468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glm-5.1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1467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1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qwen3.5-max-preview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1466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gpt-5.4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1466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gemini-3-flash (thinking-minimal)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1464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dola-seed-2.0-pro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1462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claude-sonnet-4-6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1462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grok-4.1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1461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gpt-5.4-mini-high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1458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gpt-5.3-chat-latest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1456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glm-5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1456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gpt-5.1-high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1455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kimi-k2.5-thinking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1452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graphicFrame>
        <p:nvGraphicFramePr>
          <p:cNvPr id="89" name="Google Shape;89;p17"/>
          <p:cNvGraphicFramePr/>
          <p:nvPr/>
        </p:nvGraphicFramePr>
        <p:xfrm>
          <a:off x="3010961" y="76666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{0DFCC684-0DB4-47EE-A91B-969DA3BFB832}</a:tableStyleId>
              </a:tblPr>
              <a:tblGrid>
                <a:gridCol w="247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1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claude-opus-4-6-thinking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claude-opus-4-6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gpt-5.4-high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gemini-3.1-pro-preview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claude-opus-4-5-20251101-thinking-32k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grok-4.20-beta1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grok-4.20-multi-agent-beta-0309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claude-sonnet-4-6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grok-4.20-beta-0309-reasoning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glm-5.1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gpt-5.2-chat-latest-20260210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gemini-3-pro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claude-sonnet-4-5-20250929-thinking-32k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claude-opus-4-5-20251101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dola-seed-2.0-pro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4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claude-opus-4-1-20250805-thinking-16k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gpt-5.4-mini-high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41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longcat-flash-chat-2602-exp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kimi-k2.5-thinking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claude-sonnet-4-5-20250929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gpt-5.4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1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qwen3.5-max-preview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gemini-3-flash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gpt-5.3-chat-latest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rgbClr val="0563C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kimi-k2.5-instant</a:t>
                      </a:r>
                      <a:endParaRPr sz="800" u="sng">
                        <a:solidFill>
                          <a:srgbClr val="0563C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8"/>
          <p:cNvSpPr txBox="1"/>
          <p:nvPr/>
        </p:nvSpPr>
        <p:spPr>
          <a:xfrm>
            <a:off x="81773" y="40047"/>
            <a:ext cx="1453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8"/>
          <p:cNvSpPr txBox="1"/>
          <p:nvPr/>
        </p:nvSpPr>
        <p:spPr>
          <a:xfrm>
            <a:off x="100600" y="413825"/>
            <a:ext cx="4392600" cy="112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Buddy - virtual pet built into Claude Code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Released on April 1 as a funny feature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Activated via the `/buddy` command, can be toggled on/off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Each user gets a unique pet determined by their account ID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pet makes funny alive comments. It makes you feel good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Buddy doesn't cost you tokens.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6" name="Google Shape;96;p18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74201" y="158700"/>
            <a:ext cx="2901000" cy="42968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97" name="Google Shape;97;p18"/>
          <p:cNvSpPr txBox="1"/>
          <p:nvPr/>
        </p:nvSpPr>
        <p:spPr>
          <a:xfrm>
            <a:off x="100600" y="1811950"/>
            <a:ext cx="4392600" cy="2050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 Restricts Third-Party Claude Usage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It officially barred subscription credits for tools like OpenClaw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They are citing engineering constraints around prompt caching efficiency. Their systems are optimized for Claude Code's specific workload, and third-party harnesses break caching, consuming more compute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Users can still access Claude via API key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Users have been burning through Claude Code usage limits faster than expected due to tighter limits and larger context windows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broader trend points toward the end of heavily subsidized AI subscriptions across the industry.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/>
          <p:nvPr/>
        </p:nvSpPr>
        <p:spPr>
          <a:xfrm>
            <a:off x="179326" y="478350"/>
            <a:ext cx="4917900" cy="418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do these weekly videos every Friday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Stats: 6.54K subscribers, 277 videos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Subscribe to this channel </a:t>
            </a:r>
            <a:r>
              <a:rPr lang="en" sz="1800" b="1" u="sng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https://www.youtube.com/@lev-selector</a:t>
            </a:r>
            <a:r>
              <a:rPr lang="en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Download slides from GitHub using links under the videos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3. Please pause the video - and answer the pinned question in comments under the video</a:t>
            </a:r>
            <a:endParaRPr sz="1800" b="1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3" name="Google Shape;103;p19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37534" y="74525"/>
            <a:ext cx="3269825" cy="499444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/>
          <p:nvPr/>
        </p:nvSpPr>
        <p:spPr>
          <a:xfrm>
            <a:off x="81773" y="40047"/>
            <a:ext cx="1453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OpenClaw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20"/>
          <p:cNvSpPr txBox="1"/>
          <p:nvPr/>
        </p:nvSpPr>
        <p:spPr>
          <a:xfrm>
            <a:off x="100600" y="413825"/>
            <a:ext cx="4392600" cy="2419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OpenClaw Updates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v2026.4.2 - brings back Task Flow for reliable multi-step autonomous task execution; adds Android support with Google Assistant integration; introduces Microsoft Copilot and Gemini as AI provider options; 70+ bug fixes, tighter security hardening across providers, and stronger SSRF protections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v2026.4.5 — adds built-in video and music generation tools with major media providers; expands bundled AI providers; localizes UI in 12 languages; introduces experimental memory "Dreaming" system; improves prompt cache stability and MCP routing; adds Bedrock Mantle support; 60+ security fixes; and broad messaging channel improvements across Telegram, Discord, Slack, WhatsApp, and more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0" name="Google Shape;110;p20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683825" y="675275"/>
            <a:ext cx="2857500" cy="6752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1"/>
          <p:cNvSpPr txBox="1"/>
          <p:nvPr/>
        </p:nvSpPr>
        <p:spPr>
          <a:xfrm>
            <a:off x="81779" y="40049"/>
            <a:ext cx="4243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Claude Code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21"/>
          <p:cNvSpPr txBox="1"/>
          <p:nvPr/>
        </p:nvSpPr>
        <p:spPr>
          <a:xfrm>
            <a:off x="100600" y="413825"/>
            <a:ext cx="4392600" cy="2973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Claude Code 2.1.91 received a major update with 13 CLI changes, three being particularly significant.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first introduces a "disable skill shell execution" setting that prevents automatic inline shell commands from running, improving security for AI automation systems by giving users explicit control over command execution.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second expands the MCP model context protocol to handle up to 500,000 characters, allowing much larger data outputs without truncation - crucial for database schemas and large documents.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third fixes a critical bug where the resume flag could break transcript chains, causing loss of conversation history and context during session continuity.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These updates signal Claude Code's evolution into a serious enterprise-grade production tool rather than an experimental feature, with improvements focused on security, capacity, and reliability for business-scale AI automation workflows.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7" name="Google Shape;117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04275" y="366450"/>
            <a:ext cx="1409700" cy="1409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2"/>
          <p:cNvSpPr txBox="1"/>
          <p:nvPr/>
        </p:nvSpPr>
        <p:spPr>
          <a:xfrm>
            <a:off x="81773" y="40047"/>
            <a:ext cx="1453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OpenClaw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22"/>
          <p:cNvSpPr txBox="1"/>
          <p:nvPr/>
        </p:nvSpPr>
        <p:spPr>
          <a:xfrm>
            <a:off x="100600" y="413825"/>
            <a:ext cx="4392600" cy="1680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Matt Berman challenged Hacker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Ply the Liberator, a well-known AI hacker, to break into his personal AI email system called OpenClaw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Ply made six attempts using techniques like token flooding, jailbreak templates, and fake system commands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Despite knowing the system used Claude Opus 4.6, every attack was caught and quarantined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key takeaways: using a powerful reasoning model as your first line of defense and keeping humans in the loop are the best protections against AI prompt injection attacks.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4" name="Google Shape;124;p22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67400" y="259250"/>
            <a:ext cx="4047852" cy="22718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25" name="Google Shape;125;p22"/>
          <p:cNvSpPr txBox="1"/>
          <p:nvPr/>
        </p:nvSpPr>
        <p:spPr>
          <a:xfrm>
            <a:off x="100600" y="2229773"/>
            <a:ext cx="4392600" cy="2789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Journey, a registry for AI agent workflows called "kits"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https://www.youtube.com/watch?v=vn_kU928nww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Journey solves the problem of sharing and discovering agent workflows by packaging complete end-to-end solutions including skills, tools, learnings, memories, and tests into installable packages.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Similar to npm for code, agents can easily install these workflow packages without reinventing functionality.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Journey features version control, community feedback, reputation scoring, and team collaboration capabilities including shared contexts and credentials management.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platform allows private organizational kits alongside public ones, with audit logs and analytics for teams.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Installation is agent-first - users can simply copy a prompt to their AI agent to install workflows.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6" name="Google Shape;126;p22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45600" y="2719250"/>
            <a:ext cx="4047851" cy="2236652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3"/>
          <p:cNvSpPr txBox="1"/>
          <p:nvPr/>
        </p:nvSpPr>
        <p:spPr>
          <a:xfrm>
            <a:off x="81779" y="40050"/>
            <a:ext cx="3817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Google Gemma 4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23"/>
          <p:cNvSpPr txBox="1"/>
          <p:nvPr/>
        </p:nvSpPr>
        <p:spPr>
          <a:xfrm>
            <a:off x="66484" y="398534"/>
            <a:ext cx="4412400" cy="1449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 Gemma 4 family of open-source models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(Apache 2.0)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Four sizes: E2B, E4B, 26B (MoE), and 31B (dense)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31B model ranks 3rd on the Arena AI leaderboard, competing with much larger models like Qwen 3.5 397b-a17b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models support advanced reasoning, agentic workflows, function calling, structured JSON output, multimodal input (video, images, audio), and are ideal for local/edge deployment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https://blog.google/innovation-and-ai/technology/developers-tools/gemma-4/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3" name="Google Shape;133;p23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09575" y="1957250"/>
            <a:ext cx="7257976" cy="31265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4"/>
          <p:cNvSpPr txBox="1"/>
          <p:nvPr/>
        </p:nvSpPr>
        <p:spPr>
          <a:xfrm>
            <a:off x="81777" y="0"/>
            <a:ext cx="16761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OpenAgents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24"/>
          <p:cNvSpPr txBox="1"/>
          <p:nvPr/>
        </p:nvSpPr>
        <p:spPr>
          <a:xfrm>
            <a:off x="66484" y="398534"/>
            <a:ext cx="4412400" cy="2419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0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OpenAgents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https://openagents.org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https://github.com/openagents-org/openagents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https://www.reddit.com/r/AgentsOfAI/comments/1saupc0/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https://studio.openagents.org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https://discord.gg/openagents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Multi-agent platform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where agents share the same browser, files, and chat context simultaneously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OpenAgents started as a Python SDK for multi-agent networking and evolved into a full platform, a Workspace for real-time human-agent collaboration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is open-source under the Apache 2.0 license and can be self-hosted with a single command, requiring no Docker or accounts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0" name="Google Shape;140;p24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525025" y="398534"/>
            <a:ext cx="3028950" cy="819150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24"/>
          <p:cNvSpPr txBox="1"/>
          <p:nvPr/>
        </p:nvSpPr>
        <p:spPr>
          <a:xfrm>
            <a:off x="4614711" y="1324909"/>
            <a:ext cx="4412400" cy="3620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conda create -n openagents python=3.12</a:t>
            </a:r>
            <a:endParaRPr sz="9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conda activate openagents</a:t>
            </a:r>
            <a:endParaRPr sz="9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pip install openagents</a:t>
            </a:r>
            <a:endParaRPr sz="9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openagents init ./my_first_network</a:t>
            </a:r>
            <a:endParaRPr sz="9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openagents network start ./my_first_network</a:t>
            </a:r>
            <a:endParaRPr sz="9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openagents studio -s</a:t>
            </a:r>
            <a:endParaRPr sz="9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 b="1">
              <a:solidFill>
                <a:srgbClr val="6AA8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6AA84F"/>
                </a:solidFill>
                <a:latin typeface="Roboto Mono"/>
                <a:ea typeface="Roboto Mono"/>
                <a:cs typeface="Roboto Mono"/>
                <a:sym typeface="Roboto Mono"/>
              </a:rPr>
              <a:t># Then open `http://localhost:8050` in your browser</a:t>
            </a:r>
            <a:endParaRPr sz="900" b="1">
              <a:solidFill>
                <a:srgbClr val="6AA8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6AA84F"/>
                </a:solidFill>
                <a:latin typeface="Roboto Mono"/>
                <a:ea typeface="Roboto Mono"/>
                <a:cs typeface="Roboto Mono"/>
                <a:sym typeface="Roboto Mono"/>
              </a:rPr>
              <a:t># ./my_first_network/simple_agent.py</a:t>
            </a:r>
            <a:endParaRPr sz="900" b="1">
              <a:solidFill>
                <a:srgbClr val="6AA8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from openagents.agents.worker_agent import WorkerAgent, \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                                ChannelMessageContext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class SimpleWorkerAgent(WorkerAgent):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default_agent_id = "charlie"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async def on_startup(self):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    ws = self.workspace()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    ss = "Hello from Simple Worker Agent!"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    await ws.channel("general").post(ss)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if __name__ == "__main__":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agent = SimpleWorkerAgent()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agent.start(network_host="localhost", network_port=8700)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agent.wait_for_stop()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5"/>
          <p:cNvSpPr txBox="1"/>
          <p:nvPr/>
        </p:nvSpPr>
        <p:spPr>
          <a:xfrm>
            <a:off x="187459" y="588034"/>
            <a:ext cx="44124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Abacus CoWork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https://www.youtube.com/watch?v=hkGSbJnhqhc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Abacus has released CoWork - a desktop AI tool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Combines GPT-4 for reasoning, Gemini Flash for speed, Claude for long context work, and Gemini Pro for multimodal output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CoWork runs on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Mac, Windows, and Linux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 part of Abacus AI's desktop environment (supports 40+ AI models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25"/>
          <p:cNvSpPr txBox="1"/>
          <p:nvPr/>
        </p:nvSpPr>
        <p:spPr>
          <a:xfrm>
            <a:off x="81777" y="0"/>
            <a:ext cx="16761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8" name="Google Shape;148;p25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16850" y="166426"/>
            <a:ext cx="4021424" cy="24243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6"/>
          <p:cNvSpPr txBox="1"/>
          <p:nvPr/>
        </p:nvSpPr>
        <p:spPr>
          <a:xfrm>
            <a:off x="81772" y="0"/>
            <a:ext cx="4412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Perplexity Can Prepare Federal Taxes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6"/>
          <p:cNvSpPr txBox="1"/>
          <p:nvPr/>
        </p:nvSpPr>
        <p:spPr>
          <a:xfrm>
            <a:off x="81784" y="766459"/>
            <a:ext cx="4412400" cy="757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Perplexity Computer Tax Prep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Perplexity can now help prepare your federal tax return.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Click on “Navigate my taxes” on Computer to give it a shot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https://x.com/perplexity_ai/status/2039740898830073889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5" name="Google Shape;155;p26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31284" y="478800"/>
            <a:ext cx="4360318" cy="241970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56" name="Google Shape;156;p26"/>
          <p:cNvSpPr/>
          <p:nvPr/>
        </p:nvSpPr>
        <p:spPr>
          <a:xfrm rot="-3542175">
            <a:off x="5491969" y="2540101"/>
            <a:ext cx="809919" cy="326448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7"/>
          <p:cNvSpPr txBox="1"/>
          <p:nvPr/>
        </p:nvSpPr>
        <p:spPr>
          <a:xfrm>
            <a:off x="81772" y="0"/>
            <a:ext cx="4412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7"/>
          <p:cNvSpPr txBox="1"/>
          <p:nvPr/>
        </p:nvSpPr>
        <p:spPr>
          <a:xfrm>
            <a:off x="81784" y="382289"/>
            <a:ext cx="4412400" cy="2235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Edgeclaw - free, open-source privacy layer for AI agents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prevents sensitive data from reaching the cloud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Uses a three-tier system: safe requests go to the cloud (S1), sensitive data is sanitized before sending (S2), and highly private data like passwords never leaves your device (S3)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Detection uses both a rule-based engine (near-instant) and a local LLM for context-aware classification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Edgeclaw also routes 60–80% of routine tasks to cheaper models, cutting costs significantly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runs as a plugin inside OpenClaw, requiring Ollama and minimal configuration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https://www.youtube.com/watch?v=gVXnjfsFJKE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27"/>
          <p:cNvSpPr txBox="1"/>
          <p:nvPr/>
        </p:nvSpPr>
        <p:spPr>
          <a:xfrm>
            <a:off x="81784" y="2808435"/>
            <a:ext cx="4412400" cy="112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OpenClaw + Ollama + Qwen 3.5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install Ollama, pull Qwen 3.5 via terminal, then connect it to OpenClaw by selecting Ollama as your model provider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can then link OpenClaw to 8,000+ apps via Zapier MCP, and stack multiple agents into full automated pipelines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https://www.youtube.com/watch?v=-Pn3FBOjkgM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4" name="Google Shape;164;p27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76575" y="741263"/>
            <a:ext cx="3708399" cy="15170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65" name="Google Shape;165;p2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776572" y="2571713"/>
            <a:ext cx="2847975" cy="1600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8"/>
          <p:cNvSpPr txBox="1"/>
          <p:nvPr/>
        </p:nvSpPr>
        <p:spPr>
          <a:xfrm>
            <a:off x="81772" y="0"/>
            <a:ext cx="4412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28"/>
          <p:cNvSpPr txBox="1"/>
          <p:nvPr/>
        </p:nvSpPr>
        <p:spPr>
          <a:xfrm>
            <a:off x="81784" y="485159"/>
            <a:ext cx="4412400" cy="2558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The Anthropic vs. Pentagon dispute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gist: DOD labeled Anthropic a "supply chain risk" after the company refused to let Claude be used for autonomous weapons and mass surveillance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federal judge granted Anthropic a preliminary injunction on March 26, calling the Pentagon's actions "First Amendment retaliation"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GSA (General Services Administration) complied by restoring Anthropic to government platforms on April 2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However, the Trump administration simultaneously appealed to the Ninth Circuit (9 Western States), with briefs due April 30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separate parallel case also continues in the D.C. Circuit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injunction holds for now, but the legal battle is far from over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https://www.cnbc.com/2026/03/26/anthropic-pentagon-dod-claude-court-ruling.html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28"/>
          <p:cNvSpPr txBox="1"/>
          <p:nvPr/>
        </p:nvSpPr>
        <p:spPr>
          <a:xfrm>
            <a:off x="81784" y="3099134"/>
            <a:ext cx="4412400" cy="1865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Use Claude Code with the Qwen 3.6 Plus model </a:t>
            </a:r>
            <a:b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via Claude Code Router (CCR) and Open Router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https://www.youtube.com/watch?v=wyLtTz4S03c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Here's the prompt: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Install claude-code-router (npm install -g @musistudio/claude-code-router) and configure it with OpenRouter using this api key: API_KEY_HERE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 set qwen/qwen3.6-plus:free as the model for everything 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Then after run this inside Claude Code: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/model openrouter,qwen/qwen3.6-plus:free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934897" y="880075"/>
            <a:ext cx="2857500" cy="1600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74" name="Google Shape;174;p2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939659" y="3231725"/>
            <a:ext cx="2847975" cy="1600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9"/>
          <p:cNvSpPr txBox="1"/>
          <p:nvPr/>
        </p:nvSpPr>
        <p:spPr>
          <a:xfrm>
            <a:off x="81773" y="0"/>
            <a:ext cx="18423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TRIZ &amp; AI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9"/>
          <p:cNvSpPr txBox="1"/>
          <p:nvPr/>
        </p:nvSpPr>
        <p:spPr>
          <a:xfrm>
            <a:off x="81784" y="400959"/>
            <a:ext cx="4412400" cy="2604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TRIZ (Theory of Inventive Problem Solving)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systematic methodology for making inventions developed by Soviet engineer Genrich Altshuller (1926–1998)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Altshuller screened over 200K patents to uncover repeatable patterns in how inventions are made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Most problems resolve contradictions where solving one aspect creates another problem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 formulated 40 ways to resolve these contradictions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 created a step by step algorithm ARIZ for figuring out these contradictions - and then resolve them; it replaces random brainstorming with a proven, teachable method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Most practical and useful tool included in TRIZ is Scientific Effects guide - which is now available via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Accuris Goldfire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AI-powered knowledge discovery platform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https://accuristech.com/solutions/goldfire/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9"/>
          <p:cNvSpPr txBox="1"/>
          <p:nvPr/>
        </p:nvSpPr>
        <p:spPr>
          <a:xfrm>
            <a:off x="4650500" y="177052"/>
            <a:ext cx="4412400" cy="3743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TRIZ links: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TRIZ: The Right Solution at the Right Time -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https://vietnamwcm.files.wordpress.com/2008/07/inovative-problem-solving.pdf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An Introduction to TRIZ by Stan Kaplan -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https://arvindvenkatadri.com/teaching/1-play-and-invent/modules/70-triz-resources/pdf/TRIZ/Stan%20Kaplan-Intro-to-TRIZ.pdf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TRIZ: A Theory of Inventive Problem Solving (Concordia University) - 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https://spectrum.library.concordia.ca/36055/1/triz.pdf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Innovation Algorithm by Altshuller (2007) -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http://www.evolocus.com/Textbooks/Altshuller2007.pdf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Classical TRIZ -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https://www.trizinfor.org/store/TRIZclassEn.pdf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TRIZ for Engineers by Karen Gadd (Internet Archive) —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https://archive.org/details/trizforengineers0000gadd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OpenSourceTRIZ.com - Free eBooks &amp; Teaching Materials —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https://www.opensourcetriz.com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TRIZ Level 1 Training Manual (MATRIZ) - 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https://matriz.org/wp-content/uploads/2019/01/Level-1-Manual-Word.pdf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TRIZ Material for Beginners (Scribd) - 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https://www.scribd.com/document/803435517/TRIZ-Material-for-Beginners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Simplified TRIZ (Academia.edu) - 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https://www.academia.edu/36931592/Simplified_TRIZ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TRIZ Theory of Inventive Problem Solving (Academia.edu) —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/>
              </a:rPr>
              <a:t>https://www.academia.edu/79649423/TRIZ_Theory_of_Inventive_Problem_Solving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9"/>
          <p:cNvSpPr txBox="1"/>
          <p:nvPr/>
        </p:nvSpPr>
        <p:spPr>
          <a:xfrm>
            <a:off x="4650509" y="4112284"/>
            <a:ext cx="4412400" cy="757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Prompt: </a:t>
            </a: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I want to create a skill for Claude Code named "triz". Please create a SKILL.md file in standard format to use with Claude. It should contain the step by step instructions for using ARIZ (TRIŹ) algorithm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3" name="Google Shape;183;p29"/>
          <p:cNvPicPr preferRelativeResize="0"/>
          <p:nvPr/>
        </p:nvPicPr>
        <p:blipFill>
          <a:blip r:embed="rId1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00" y="3157654"/>
            <a:ext cx="1924850" cy="5060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84" name="Google Shape;184;p29"/>
          <p:cNvPicPr preferRelativeResize="0"/>
          <p:nvPr/>
        </p:nvPicPr>
        <p:blipFill>
          <a:blip r:embed="rId16">
            <a:alphaModFix/>
          </a:blip>
          <a:stretch>
            <a:fillRect/>
          </a:stretch>
        </p:blipFill>
        <p:spPr>
          <a:xfrm>
            <a:off x="2672925" y="3157659"/>
            <a:ext cx="1238250" cy="15906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0"/>
          <p:cNvSpPr txBox="1"/>
          <p:nvPr/>
        </p:nvSpPr>
        <p:spPr>
          <a:xfrm>
            <a:off x="81773" y="0"/>
            <a:ext cx="18423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30"/>
          <p:cNvSpPr txBox="1"/>
          <p:nvPr/>
        </p:nvSpPr>
        <p:spPr>
          <a:xfrm>
            <a:off x="81775" y="434072"/>
            <a:ext cx="44439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https://HERE.NOW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here.now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a static file hosting service for "agent-to-agent" info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upload files through the API - and they are served on a unique subdomain. There is no server-side code or databases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https://www.youtube.com/shorts/8uPMM8HhRUc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1" name="Google Shape;191;p30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38275" y="251325"/>
            <a:ext cx="1703950" cy="12620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92" name="Google Shape;192;p30"/>
          <p:cNvSpPr txBox="1"/>
          <p:nvPr/>
        </p:nvSpPr>
        <p:spPr>
          <a:xfrm>
            <a:off x="81775" y="2953803"/>
            <a:ext cx="4443900" cy="2050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HeyGen Avatar V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https://www.youtube.com/watch?v=sGJGCq10gc0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Create a hyper-realistic AI avatar from just one photo and a 15-second video - combines flexibility and realism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Avatar V captures your unique motion, expressions, and gestures, then applies them to any outfit, setting, or camera angle, including side views and close-ups, while keeping your identity consistent throughout long-form content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Setup involves recording a short expressive video, optionally cloning your voice, and selecting a base photo look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can then remix appearances using templates or custom prompts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3" name="Google Shape;193;p30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22550" y="3455464"/>
            <a:ext cx="2818649" cy="15485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1"/>
          <p:cNvSpPr txBox="1"/>
          <p:nvPr/>
        </p:nvSpPr>
        <p:spPr>
          <a:xfrm>
            <a:off x="81773" y="0"/>
            <a:ext cx="18423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31"/>
          <p:cNvSpPr txBox="1"/>
          <p:nvPr/>
        </p:nvSpPr>
        <p:spPr>
          <a:xfrm>
            <a:off x="81775" y="375325"/>
            <a:ext cx="4443900" cy="1496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Hermes Agent - open-source, self-improving AI agent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 Nous Research, an alternative to OpenAI's OpenClaw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Its core innovation is GAPA - a system that automatically reviews tool calls, identifies failures, and updates its own prompts, similar to backpropagation but for behavior rather than model weights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Over time, it builds memory, learns from past conversations, and auto-generates reusable skills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https://github.com/nousresearch/hermes-agent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0" name="Google Shape;200;p31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38274" y="1004741"/>
            <a:ext cx="4090501" cy="700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01" name="Google Shape;201;p31"/>
          <p:cNvSpPr txBox="1"/>
          <p:nvPr/>
        </p:nvSpPr>
        <p:spPr>
          <a:xfrm>
            <a:off x="81775" y="1946065"/>
            <a:ext cx="4443900" cy="2004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Karpathy's wiki + Hermes Agent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Andrej Karpathy published LLM Wiki on April 4, 2026, a system where an AI builds and maintains a persistent, structured wiki of markdown files from your raw sources</a:t>
            </a:r>
            <a:b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https://gist.github.com/karpathy/442a6bf555914893e9891c11519de94f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Hermes Agent has integrated LLM Wiki as a built-in skill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Run a single command and the agent ingests sources, updates cross-references, and flags contradictions automatically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result is a self-maintaining knowledge base that grows smarter with every source you add.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https://www.youtube.com/watch?v=Mb5N08xcxtg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31"/>
          <p:cNvSpPr txBox="1"/>
          <p:nvPr/>
        </p:nvSpPr>
        <p:spPr>
          <a:xfrm>
            <a:off x="4657034" y="3193279"/>
            <a:ext cx="4412400" cy="1865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Karpathy's Obsidian RAG + Claude Code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https://www.youtube.com/watch?v=OSZdFnQmgRw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Obsidian-based knowledge system - like RAG but without vectors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lightweight system uses a simple file structure with a "raw" folder for data ingestion and a "wiki" folder for organized content.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Users can add documents via the Obsidian Web Clipper extension or have Claude Code conduct research automatically.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system leverages Obsidian's markdown format and linking capabilities, allowing Claude Code to easily navigate and answer questions about stored documents.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2"/>
          <p:cNvSpPr txBox="1"/>
          <p:nvPr/>
        </p:nvSpPr>
        <p:spPr>
          <a:xfrm>
            <a:off x="81778" y="0"/>
            <a:ext cx="4404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Microsoft MAI Models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32"/>
          <p:cNvSpPr txBox="1"/>
          <p:nvPr/>
        </p:nvSpPr>
        <p:spPr>
          <a:xfrm>
            <a:off x="62125" y="382550"/>
            <a:ext cx="4443900" cy="711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Microsoft MAI Models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MAI Transcribe 1 ; MAI Voice 1 ; MAI Image 2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Performance, speed, and aggressive pricing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http://www.youtube.com/watch?v=tDW6VoyWWqo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32"/>
          <p:cNvSpPr txBox="1"/>
          <p:nvPr/>
        </p:nvSpPr>
        <p:spPr>
          <a:xfrm>
            <a:off x="62125" y="1149300"/>
            <a:ext cx="4443900" cy="1819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Cursor 3.0 - a major update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Cursor has been rewritten in Rust for performance and memory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update introduces Composer 2, an in-house model that reportedly outperforms leading AI models like Claude 4.6. It is based on Moonshot K2 model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new interface shifts the developer's role from writing code to acting as an "air traffic controller" for AI agents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Users can now manage multiple agents in parallel across different repositories and remote servers to automate complex features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https://www.youtube.com/watch?v=JSuS-zXMVwE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32"/>
          <p:cNvSpPr txBox="1"/>
          <p:nvPr/>
        </p:nvSpPr>
        <p:spPr>
          <a:xfrm>
            <a:off x="62125" y="3024250"/>
            <a:ext cx="4443900" cy="1865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Alibaba Wan 2.1 AI video model - open-source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Professional grade tool, instruction-based editing, modify existing videos, changing weather, clothing, or camera angles using plain text without regenerating from scratch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Multi-reference inputs, utilizing up to five videos to maintain a subject's appearance and voice across shots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 offers improved motion fluidity for clips up to 15 seconds at 1080p; has "first and last frame control" to dictate specific narrative transitions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https://www.youtube.com/watch?v=3pj-KLBKcvc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1" name="Google Shape;211;p32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28950" y="175859"/>
            <a:ext cx="2251675" cy="126094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12" name="Google Shape;212;p32"/>
          <p:cNvPicPr preferRelativeResize="0"/>
          <p:nvPr/>
        </p:nvPicPr>
        <p:blipFill rotWithShape="1"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928950" y="1784862"/>
            <a:ext cx="2251675" cy="12768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13" name="Google Shape;213;p32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28950" y="3409775"/>
            <a:ext cx="2251675" cy="126515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3"/>
          <p:cNvSpPr txBox="1"/>
          <p:nvPr/>
        </p:nvSpPr>
        <p:spPr>
          <a:xfrm>
            <a:off x="81778" y="0"/>
            <a:ext cx="4404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33"/>
          <p:cNvSpPr txBox="1"/>
          <p:nvPr/>
        </p:nvSpPr>
        <p:spPr>
          <a:xfrm>
            <a:off x="81775" y="401064"/>
            <a:ext cx="44439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Claude's Microsoft 365 connector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Read-only access to Enterprize Outlook, OneDrive, SharePoint, and Microsoft Teams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Retrieve and analyze emails, documents, and meeting notes through simple chat prompts, no manual uploading required. Access is read-only, meaning Claude cannot send, edit, or delete anything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https://www.youtube.com/watch?v=Vk5_2mBXHQ8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33"/>
          <p:cNvSpPr txBox="1"/>
          <p:nvPr/>
        </p:nvSpPr>
        <p:spPr>
          <a:xfrm>
            <a:off x="62125" y="1787039"/>
            <a:ext cx="4443900" cy="1865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 Claude Mythos - successor to Claude Opus 4.6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preview showcased through "Project Glasswing", a cybersecurity initiative (with Microsoft, Google, Cisco, AWS, and Nvidia)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Mythos preview scored 93% on SWE-bench Verified and 83% on the CyberGym benchmark - far outpacing Opus 4.6's 66%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72.4% on Firefox JavaScript shell exploitation, vs 14.4%  Opus 4.6's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model autonomously discovered decades-old vulnerabilities in OpenBSD, FFmpeg, and the Linux kernel; In a sandbox escape test, it gained unauthorized internet access and even emailed a researcher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https://www.youtube.com/watch?v=Q0vLGvcdJZ8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33"/>
          <p:cNvSpPr txBox="1"/>
          <p:nvPr/>
        </p:nvSpPr>
        <p:spPr>
          <a:xfrm>
            <a:off x="62125" y="3728686"/>
            <a:ext cx="44439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"Caveman" plugin/skill for Claude Code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forces Claude Code to use terse, caveman-style language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Up to 75% reduction in tokens, improved accuracy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https://www.youtube.com/watch?v=4FO1Liu-ttk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https://github.com/JuliusBrussee/caveman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2" name="Google Shape;222;p33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78075" y="401075"/>
            <a:ext cx="2341612" cy="1311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23" name="Google Shape;223;p33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78075" y="3728675"/>
            <a:ext cx="4404601" cy="121892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24" name="Google Shape;224;p33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78075" y="2083247"/>
            <a:ext cx="2341600" cy="1274542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4"/>
          <p:cNvSpPr txBox="1"/>
          <p:nvPr/>
        </p:nvSpPr>
        <p:spPr>
          <a:xfrm>
            <a:off x="67350" y="52750"/>
            <a:ext cx="3179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Jobs</a:t>
            </a:r>
            <a:endParaRPr sz="20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34"/>
          <p:cNvSpPr txBox="1"/>
          <p:nvPr/>
        </p:nvSpPr>
        <p:spPr>
          <a:xfrm>
            <a:off x="2134467" y="34252"/>
            <a:ext cx="18006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https://layoffs.fyi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https://trueup.io/layoffs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34"/>
          <p:cNvSpPr txBox="1"/>
          <p:nvPr/>
        </p:nvSpPr>
        <p:spPr>
          <a:xfrm>
            <a:off x="5322525" y="3751250"/>
            <a:ext cx="33606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Tech Layoffs by year (US only):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41.5K  in 2026 </a:t>
            </a:r>
            <a:r>
              <a:rPr lang="en" sz="10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(as of April 3, 2026)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124K in 2025 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153K in </a:t>
            </a:r>
            <a:r>
              <a:rPr lang="en" sz="1000" b="1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2024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264K in 2023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165K in 2022                  </a:t>
            </a:r>
            <a:r>
              <a:rPr lang="en" sz="1200" i="0" u="sng" strike="noStrike" cap="none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https://layoffs.fyi</a:t>
            </a:r>
            <a:endParaRPr sz="120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34"/>
          <p:cNvSpPr txBox="1"/>
          <p:nvPr/>
        </p:nvSpPr>
        <p:spPr>
          <a:xfrm>
            <a:off x="5322525" y="52750"/>
            <a:ext cx="35589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The Tech Layoff Tracker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2026: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90,474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(973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2025: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245,953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(674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2024: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238,461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</a:t>
            </a: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laid off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(653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marR="460858" lvl="0" indent="-5715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https://trueup.io/layoffs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34"/>
          <p:cNvSpPr txBox="1"/>
          <p:nvPr/>
        </p:nvSpPr>
        <p:spPr>
          <a:xfrm>
            <a:off x="5322525" y="2429250"/>
            <a:ext cx="3558900" cy="757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Oracle Laid Off 30k Employees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reallocating the $8-10 Bln saved from these layoffs toward a massive $156 Bln investment in AI data centers, supercomputers, and AI infrastructure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4" name="Google Shape;234;p34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175" y="3140304"/>
            <a:ext cx="4950373" cy="1922247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35" name="Google Shape;235;p34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175" y="528822"/>
            <a:ext cx="4950374" cy="253707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36" name="Google Shape;236;p34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22525" y="1150600"/>
            <a:ext cx="1214457" cy="11228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5"/>
          <p:cNvSpPr txBox="1"/>
          <p:nvPr/>
        </p:nvSpPr>
        <p:spPr>
          <a:xfrm>
            <a:off x="67350" y="52750"/>
            <a:ext cx="3179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AI-Linked Job Losses</a:t>
            </a:r>
            <a:endParaRPr sz="20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35"/>
          <p:cNvSpPr txBox="1"/>
          <p:nvPr/>
        </p:nvSpPr>
        <p:spPr>
          <a:xfrm>
            <a:off x="5517575" y="150250"/>
            <a:ext cx="3558900" cy="1142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AI-Linked Job Losses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https://jobloss.ai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Oracle: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25,000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explicit AI-linked layoffs (March 31, 2026), 15.5% of total workforce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Dell: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11,000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(March 23, 2026), 10% of total workforce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3" name="Google Shape;243;p35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350" y="898825"/>
            <a:ext cx="5390176" cy="351017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44" name="Google Shape;244;p35"/>
          <p:cNvSpPr txBox="1"/>
          <p:nvPr/>
        </p:nvSpPr>
        <p:spPr>
          <a:xfrm>
            <a:off x="3454250" y="1126175"/>
            <a:ext cx="15486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https://jobloss.ai</a:t>
            </a:r>
            <a:endParaRPr/>
          </a:p>
        </p:txBody>
      </p:sp>
      <p:sp>
        <p:nvSpPr>
          <p:cNvPr id="245" name="Google Shape;245;p35"/>
          <p:cNvSpPr txBox="1"/>
          <p:nvPr/>
        </p:nvSpPr>
        <p:spPr>
          <a:xfrm>
            <a:off x="5517575" y="1526375"/>
            <a:ext cx="3558900" cy="1218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More Software Jobs in 2026  (publ. April 6)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Software engineer job listings have risen 30% so far in 2026, reaching about 67,000 openings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increase challenges fears that AI is rapidly replacing coding jobs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https://gizmodo.com/report-says-software-engineer-job-listings-are-up-30-this-year-2000742638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0" name="Google Shape;250;p36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45525" y="1203525"/>
            <a:ext cx="1570556" cy="1570556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36"/>
          <p:cNvSpPr txBox="1"/>
          <p:nvPr/>
        </p:nvSpPr>
        <p:spPr>
          <a:xfrm>
            <a:off x="-25625" y="-14775"/>
            <a:ext cx="3355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About the Speaker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36"/>
          <p:cNvSpPr txBox="1"/>
          <p:nvPr/>
        </p:nvSpPr>
        <p:spPr>
          <a:xfrm>
            <a:off x="3330175" y="878750"/>
            <a:ext cx="5621700" cy="33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Lev Selector, Ph.D.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40+ years of software engineering, data science, and building teams (hiring, training, and managing)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Ph.D. in mathematical modeling and computer simulations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Interests: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Generative AI, Using LLM with your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AI for Local Private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Cloud architecture, fin-tech, application security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Find/connect: Linkedin, GitHub, YouTube, Google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3" name="Google Shape;253;p36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01578" y="3664175"/>
            <a:ext cx="858450" cy="311906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36"/>
          <p:cNvSpPr txBox="1"/>
          <p:nvPr/>
        </p:nvSpPr>
        <p:spPr>
          <a:xfrm>
            <a:off x="735103" y="4005903"/>
            <a:ext cx="1391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https://eais.ai</a:t>
            </a: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36"/>
          <p:cNvSpPr txBox="1"/>
          <p:nvPr/>
        </p:nvSpPr>
        <p:spPr>
          <a:xfrm>
            <a:off x="383803" y="4360974"/>
            <a:ext cx="20940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Enterprise AI Systems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7"/>
          <p:cNvSpPr txBox="1"/>
          <p:nvPr/>
        </p:nvSpPr>
        <p:spPr>
          <a:xfrm>
            <a:off x="2151375" y="1533150"/>
            <a:ext cx="4632600" cy="12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0"/>
              <a:buFont typeface="Arial"/>
              <a:buNone/>
            </a:pPr>
            <a:r>
              <a:rPr lang="en" sz="7000" b="1" i="0" u="none" strike="noStrike" cap="none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Thank You!</a:t>
            </a:r>
            <a:endParaRPr sz="7000" b="1" i="0" u="none" strike="noStrike" cap="none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3844</Words>
  <Application>Microsoft Macintosh PowerPoint</Application>
  <PresentationFormat>On-screen Show (16:9)</PresentationFormat>
  <Paragraphs>469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Roboto Mono</vt:lpstr>
      <vt:lpstr>Arial</vt:lpstr>
      <vt:lpstr>Calibri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Lev Selector</cp:lastModifiedBy>
  <cp:revision>1</cp:revision>
  <dcterms:modified xsi:type="dcterms:W3CDTF">2026-04-07T22:47:13Z</dcterms:modified>
</cp:coreProperties>
</file>