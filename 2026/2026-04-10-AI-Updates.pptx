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Roboto Mono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1F33A7-B2AF-483A-BE4A-99AC1B07CAA7}">
  <a:tblStyle styleId="{FB1F33A7-B2AF-483A-BE4A-99AC1B07CA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1"/>
  </p:normalViewPr>
  <p:slideViewPr>
    <p:cSldViewPr>
      <p:cViewPr varScale="1">
        <p:scale>
          <a:sx n="125" d="100"/>
          <a:sy n="125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4c0665f3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d4c0665f3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c01bf30e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cc01bf30e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02f1a6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9702f1a6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07f81e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9707f81e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0a863b7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3970a863b7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31867543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931867543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0f0b558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d00f0b558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d65902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96d65902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4b17a0f1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d4b17a0f1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6d94bc8f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96d94bc8f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47a4b0b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d47a4b0b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4b17a0f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d4b17a0f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b17a0f1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d4b17a0f1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4c0665f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d4c0665f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6e2e6948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86e2e6948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4e8f0f52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d4e8f0f52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4c0665f3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d4c0665f3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6e2e6948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86e2e6948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6f0cb46d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86f0cb46d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6e8073ba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96e8073ba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529580e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d529580e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4e9c75f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d4e9c75f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6e2e69489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86e2e69489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7095be52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97095be52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45e9cc6a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45e9cc6a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s://huggingface.co/open-llm-leaderboard" TargetMode="External"/><Relationship Id="rId18" Type="http://schemas.openxmlformats.org/officeDocument/2006/relationships/hyperlink" Target="https://lmarena.ai/leaderboard/text-to-image" TargetMode="External"/><Relationship Id="rId26" Type="http://schemas.openxmlformats.org/officeDocument/2006/relationships/hyperlink" Target="https://aistudio.google.com/app/prompts/new_chat?model=gemini-3-pro-preview" TargetMode="External"/><Relationship Id="rId39" Type="http://schemas.openxmlformats.org/officeDocument/2006/relationships/hyperlink" Target="https://openai.com/index/gpt-5-3-instant/" TargetMode="External"/><Relationship Id="rId21" Type="http://schemas.openxmlformats.org/officeDocument/2006/relationships/hyperlink" Target="https://blog.google/innovation-and-ai/models-and-research/gemini-models/gemini-3-1-pro/" TargetMode="External"/><Relationship Id="rId34" Type="http://schemas.openxmlformats.org/officeDocument/2006/relationships/hyperlink" Target="https://openai.com/index/introducing-gpt-5-4-mini-and-nano/" TargetMode="External"/><Relationship Id="rId42" Type="http://schemas.openxmlformats.org/officeDocument/2006/relationships/hyperlink" Target="https://openai.com/index/gpt-5-1/" TargetMode="External"/><Relationship Id="rId7" Type="http://schemas.openxmlformats.org/officeDocument/2006/relationships/hyperlink" Target="https://openlm.ai/chatbot-arena/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artificialanalysis.ai/models/grok-4" TargetMode="External"/><Relationship Id="rId20" Type="http://schemas.openxmlformats.org/officeDocument/2006/relationships/hyperlink" Target="https://platform.openai.com/docs/models/gpt-5.4" TargetMode="External"/><Relationship Id="rId29" Type="http://schemas.openxmlformats.org/officeDocument/2006/relationships/hyperlink" Target="https://developers.openai.com/api/docs/models/gpt-5.2-chat-latest" TargetMode="External"/><Relationship Id="rId41" Type="http://schemas.openxmlformats.org/officeDocument/2006/relationships/hyperlink" Target="https://huggingface.co/zai-org/GLM-5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signarena.ai" TargetMode="External"/><Relationship Id="rId11" Type="http://schemas.openxmlformats.org/officeDocument/2006/relationships/hyperlink" Target="https://www.stack-ai.com/llm-leaderboard" TargetMode="External"/><Relationship Id="rId24" Type="http://schemas.openxmlformats.org/officeDocument/2006/relationships/hyperlink" Target="https://www.anthropic.com/news/claude-sonnet-4-6" TargetMode="External"/><Relationship Id="rId32" Type="http://schemas.openxmlformats.org/officeDocument/2006/relationships/hyperlink" Target="https://ai.meta.com/blog/introducing-muse-spark-msl/" TargetMode="External"/><Relationship Id="rId37" Type="http://schemas.openxmlformats.org/officeDocument/2006/relationships/hyperlink" Target="https://longcat.chat/platform/docs/#endpoints" TargetMode="External"/><Relationship Id="rId40" Type="http://schemas.openxmlformats.org/officeDocument/2006/relationships/hyperlink" Target="https://x.ai/news/grok-4-1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epoch.ai/data/ai-benchmarking-dashboard" TargetMode="External"/><Relationship Id="rId23" Type="http://schemas.openxmlformats.org/officeDocument/2006/relationships/hyperlink" Target="https://huggingface.co/zai-org/GLM-5.1" TargetMode="External"/><Relationship Id="rId28" Type="http://schemas.openxmlformats.org/officeDocument/2006/relationships/hyperlink" Target="https://grok.com/" TargetMode="External"/><Relationship Id="rId36" Type="http://schemas.openxmlformats.org/officeDocument/2006/relationships/hyperlink" Target="https://blog.google/products/gemini/gemini-3-flash" TargetMode="External"/><Relationship Id="rId10" Type="http://schemas.openxmlformats.org/officeDocument/2006/relationships/hyperlink" Target="https://llmworld.net/llm_leaderboards/" TargetMode="External"/><Relationship Id="rId19" Type="http://schemas.openxmlformats.org/officeDocument/2006/relationships/hyperlink" Target="https://www.anthropic.com/news/claude-opus-4-6" TargetMode="External"/><Relationship Id="rId31" Type="http://schemas.openxmlformats.org/officeDocument/2006/relationships/hyperlink" Target="https://docs.x.ai/developers/models/grok-4.20-beta-0309-reasoning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web.lmarena.ai/leaderboard" TargetMode="External"/><Relationship Id="rId14" Type="http://schemas.openxmlformats.org/officeDocument/2006/relationships/hyperlink" Target="https://www.vellum.ai/llm-leaderboard" TargetMode="External"/><Relationship Id="rId22" Type="http://schemas.openxmlformats.org/officeDocument/2006/relationships/hyperlink" Target="https://www.anthropic.com/news/claude-opus-4-5" TargetMode="External"/><Relationship Id="rId27" Type="http://schemas.openxmlformats.org/officeDocument/2006/relationships/hyperlink" Target="https://www.anthropic.com/news/claude-sonnet-4-5" TargetMode="External"/><Relationship Id="rId30" Type="http://schemas.openxmlformats.org/officeDocument/2006/relationships/hyperlink" Target="https://www.byteplus.com/en/blog/dola-seed-2-0-pro" TargetMode="External"/><Relationship Id="rId35" Type="http://schemas.openxmlformats.org/officeDocument/2006/relationships/hyperlink" Target="https://www.kimi.com/blog/kimi-k2-5.html" TargetMode="External"/><Relationship Id="rId8" Type="http://schemas.openxmlformats.org/officeDocument/2006/relationships/hyperlink" Target="https://beta.lmarena.ai" TargetMode="External"/><Relationship Id="rId3" Type="http://schemas.openxmlformats.org/officeDocument/2006/relationships/hyperlink" Target="https://en.wikipedia.org/wiki/Elo_rating_system" TargetMode="External"/><Relationship Id="rId12" Type="http://schemas.openxmlformats.org/officeDocument/2006/relationships/hyperlink" Target="https://artificialanalysis.ai/leaderboards/models" TargetMode="External"/><Relationship Id="rId17" Type="http://schemas.openxmlformats.org/officeDocument/2006/relationships/hyperlink" Target="http://aiarena.alibaba-inc.com/corpora/arena/leaderboard?arenaType=T2I" TargetMode="External"/><Relationship Id="rId25" Type="http://schemas.openxmlformats.org/officeDocument/2006/relationships/hyperlink" Target="https://docs.x.ai/developers/models/grok-4.20-multi-agent-beta-0309" TargetMode="External"/><Relationship Id="rId33" Type="http://schemas.openxmlformats.org/officeDocument/2006/relationships/hyperlink" Target="https://www.anthropic.com/news/claude-opus-4-1" TargetMode="External"/><Relationship Id="rId38" Type="http://schemas.openxmlformats.org/officeDocument/2006/relationships/hyperlink" Target="https://qwen.ai/blog?id=qwen3.5-max-previe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lla-jovovich/mempalace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youtube.com/shorts/ROKgDeeFAn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worked.co/digital-workplace/anthropic-launches-claude-managed-agents-to-speed-up-ai-developmen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platform.claude.com/docs/en/managed-agents/overview" TargetMode="External"/><Relationship Id="rId4" Type="http://schemas.openxmlformats.org/officeDocument/2006/relationships/hyperlink" Target="https://www.reddit.com/r/AI_Agents/comments/1scdq0o/anthropic_effectively_ends_the_unlimited_claud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31K/awesome-openclaw-alternativ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multion.ai/welcome" TargetMode="External"/><Relationship Id="rId5" Type="http://schemas.openxmlformats.org/officeDocument/2006/relationships/hyperlink" Target="http://github.com/modelcontextprotocol/servers" TargetMode="External"/><Relationship Id="rId4" Type="http://schemas.openxmlformats.org/officeDocument/2006/relationships/hyperlink" Target="https://github.com/e2b-dev/awesome-ai-agent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law/opencla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github.com/openclaw/openclaw/releas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hropics/claude-code/releas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news.aakashg.com/p/anthropic-q1-features" TargetMode="Externa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vn_kU928nww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oogle/innovation-and-ai/technology/developers-tools/gemma-4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openagents.org" TargetMode="External"/><Relationship Id="rId7" Type="http://schemas.openxmlformats.org/officeDocument/2006/relationships/hyperlink" Target="https://discord.gg/openagen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tudio.openagents.org" TargetMode="External"/><Relationship Id="rId5" Type="http://schemas.openxmlformats.org/officeDocument/2006/relationships/hyperlink" Target="https://www.reddit.com/r/AgentsOfAI/comments/1saupc0/" TargetMode="External"/><Relationship Id="rId4" Type="http://schemas.openxmlformats.org/officeDocument/2006/relationships/hyperlink" Target="https://github.com/openagents-org/openagent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kGSbJnhqhc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hyperlink" Target="https://github.com/VoltAgent/awesome-design-md" TargetMode="Externa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atcold.github.io/NYU-DLSP20/" TargetMode="External"/><Relationship Id="rId3" Type="http://schemas.openxmlformats.org/officeDocument/2006/relationships/hyperlink" Target="https://x.com/perplexity_ai/status/2039740898830073889" TargetMode="External"/><Relationship Id="rId7" Type="http://schemas.openxmlformats.org/officeDocument/2006/relationships/hyperlink" Target="https://github.com/Atcold/NYU-DLSP20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hyperlink" Target="https://www.rdworldonline.com/anthropics-400m-acquisition-of-coefficient-bio-signals-a-deeper-push-into-drug-discovery/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VXnjfsFJK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www.youtube.com/watch?v=-Pn3FBOjkg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c.com/2026/03/26/anthropic-pentagon-dod-claude-court-ruling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www.youtube.com/watch?v=wyLtTz4S03c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izinfor.org/store/TRIZclassEn.pdf" TargetMode="External"/><Relationship Id="rId13" Type="http://schemas.openxmlformats.org/officeDocument/2006/relationships/hyperlink" Target="https://www.academia.edu/36931592/Simplified_TRIZ" TargetMode="External"/><Relationship Id="rId3" Type="http://schemas.openxmlformats.org/officeDocument/2006/relationships/hyperlink" Target="https://accuristech.com/solutions/goldfire/" TargetMode="External"/><Relationship Id="rId7" Type="http://schemas.openxmlformats.org/officeDocument/2006/relationships/hyperlink" Target="http://www.evolocus.com/Textbooks/Altshuller2007.pdf" TargetMode="External"/><Relationship Id="rId12" Type="http://schemas.openxmlformats.org/officeDocument/2006/relationships/hyperlink" Target="https://www.scribd.com/document/803435517/TRIZ-Material-for-Beginners" TargetMode="Externa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pectrum.library.concordia.ca/36055/1/triz.pdf" TargetMode="External"/><Relationship Id="rId11" Type="http://schemas.openxmlformats.org/officeDocument/2006/relationships/hyperlink" Target="https://matriz.org/wp-content/uploads/2019/01/Level-1-Manual-Word.pdf" TargetMode="External"/><Relationship Id="rId5" Type="http://schemas.openxmlformats.org/officeDocument/2006/relationships/hyperlink" Target="https://arvindvenkatadri.com/teaching/1-play-and-invent/modules/70-triz-resources/pdf/TRIZ/Stan%20Kaplan-Intro-to-TRIZ.pdf" TargetMode="External"/><Relationship Id="rId15" Type="http://schemas.openxmlformats.org/officeDocument/2006/relationships/image" Target="../media/image24.png"/><Relationship Id="rId10" Type="http://schemas.openxmlformats.org/officeDocument/2006/relationships/hyperlink" Target="https://www.opensourcetriz.com" TargetMode="External"/><Relationship Id="rId4" Type="http://schemas.openxmlformats.org/officeDocument/2006/relationships/hyperlink" Target="https://vietnamwcm.files.wordpress.com/2008/07/inovative-problem-solving.pdf" TargetMode="External"/><Relationship Id="rId9" Type="http://schemas.openxmlformats.org/officeDocument/2006/relationships/hyperlink" Target="https://archive.org/details/trizforengineers0000gadd" TargetMode="External"/><Relationship Id="rId14" Type="http://schemas.openxmlformats.org/officeDocument/2006/relationships/hyperlink" Target="https://www.academia.edu/79649423/TRIZ_Theory_of_Inventive_Problem_Solvin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8uPMM8HhRUc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hyperlink" Target="https://www.youtube.com/watch?v=sGJGCq10gc0" TargetMode="Externa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itsolelehmann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hyperlink" Target="https://docs.google.com/document/d/e/2PACX-1vSvw_Mk4iq4DkeMM3YVcvHgkzY-bsmnkXBC2TaEVBUDMjU4RtwDrKdxenpc-x7Vnzw5THGA4wVJd-LX/pub" TargetMode="External"/><Relationship Id="rId4" Type="http://schemas.openxmlformats.org/officeDocument/2006/relationships/hyperlink" Target="https://x.com/itsolelehmann/status/2038661433626333649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agentskills.io" TargetMode="External"/><Relationship Id="rId3" Type="http://schemas.openxmlformats.org/officeDocument/2006/relationships/hyperlink" Target="https://github.com/nousresearch/hermes-agent" TargetMode="External"/><Relationship Id="rId7" Type="http://schemas.openxmlformats.org/officeDocument/2006/relationships/hyperlink" Target="https://github.com/0xNyk/awesome-hermes-agen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Mb5N08xcxtg" TargetMode="External"/><Relationship Id="rId5" Type="http://schemas.openxmlformats.org/officeDocument/2006/relationships/hyperlink" Target="https://gist.github.com/karpathy/442a6bf555914893e9891c11519de94f" TargetMode="Externa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www.youtube.com/watch?v=OSZdFnQmgRw" TargetMode="External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JtjfYS9hfWw" TargetMode="External"/><Relationship Id="rId5" Type="http://schemas.openxmlformats.org/officeDocument/2006/relationships/hyperlink" Target="https://x.com/socialwithaayan/status/2041192946369007924" TargetMode="External"/><Relationship Id="rId4" Type="http://schemas.openxmlformats.org/officeDocument/2006/relationships/hyperlink" Target="https://github.com/safishamsi/graphify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://www.youtube.com/watch?v=tDW6VoyWWqo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eg"/><Relationship Id="rId5" Type="http://schemas.openxmlformats.org/officeDocument/2006/relationships/hyperlink" Target="https://www.youtube.com/watch?v=3pj-KLBKcvc" TargetMode="External"/><Relationship Id="rId4" Type="http://schemas.openxmlformats.org/officeDocument/2006/relationships/hyperlink" Target="https://www.youtube.com/watch?v=JSuS-zXMVwE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hyperlink" Target="https://www.youtube.com/watch?v=Vk5_2mBXHQ8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usBrussee/caveman" TargetMode="External"/><Relationship Id="rId5" Type="http://schemas.openxmlformats.org/officeDocument/2006/relationships/hyperlink" Target="https://www.youtube.com/watch?v=4FO1Liu-ttk" TargetMode="External"/><Relationship Id="rId4" Type="http://schemas.openxmlformats.org/officeDocument/2006/relationships/hyperlink" Target="https://www.youtube.com/watch?v=Q0vLGvcdJZ8" TargetMode="External"/><Relationship Id="rId9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ova.ai" TargetMode="External"/><Relationship Id="rId3" Type="http://schemas.openxmlformats.org/officeDocument/2006/relationships/hyperlink" Target="https://jules.google" TargetMode="External"/><Relationship Id="rId7" Type="http://schemas.openxmlformats.org/officeDocument/2006/relationships/hyperlink" Target="https://www.youtube.com/watch?v=8d3E-XZX3u4" TargetMode="External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73ATKg42oJk" TargetMode="External"/><Relationship Id="rId11" Type="http://schemas.openxmlformats.org/officeDocument/2006/relationships/hyperlink" Target="https://digits.com" TargetMode="External"/><Relationship Id="rId5" Type="http://schemas.openxmlformats.org/officeDocument/2006/relationships/hyperlink" Target="https://www.testingcatalog.com/google-prepares-jules-v2-agent-capable-of-taking-bigger-tasks/" TargetMode="External"/><Relationship Id="rId10" Type="http://schemas.openxmlformats.org/officeDocument/2006/relationships/image" Target="../media/image40.jpeg"/><Relationship Id="rId4" Type="http://schemas.openxmlformats.org/officeDocument/2006/relationships/hyperlink" Target="https://developers.google.com/jules/api" TargetMode="External"/><Relationship Id="rId9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trueup.io/layoff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zmodo.com/report-says-software-engineer-job-listings-are-up-30-this-year-2000742638" TargetMode="External"/><Relationship Id="rId4" Type="http://schemas.openxmlformats.org/officeDocument/2006/relationships/hyperlink" Target="https://jobloss.ai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78651" y="430837"/>
            <a:ext cx="4420200" cy="140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MemPalace Memory System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Buddy - virtual pet built into Claude Code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Restricts Third-Party Claude Usage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Managed Agents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Agentic AI Solutions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Apr 10,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574323" y="4850065"/>
            <a:ext cx="4502400" cy="249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sz="15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78651" y="1845767"/>
            <a:ext cx="4420200" cy="32508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OpenClaw Updates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Code Updates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Matt Berman challenged Hacker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Journey, a registry for AI agent workflow kits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Gemma 4 family of open-source models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OpenAgents - Multi-Agent Platform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Abacus CoWork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Muse Spark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Perplexity Computer Tax Prep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acquired Coefficient Bio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 Learning NYU Course 2020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Edgeclaw open-source privacy for AI agents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OpenClaw + Ollama + Qwen 3.5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Anthropic vs. Pentagon dispute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74323" y="1082823"/>
            <a:ext cx="4502400" cy="3712500"/>
          </a:xfrm>
          <a:prstGeom prst="rect">
            <a:avLst/>
          </a:prstGeom>
          <a:solidFill>
            <a:srgbClr val="C7E6AF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Code with the Qwen 3.6 Plus model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TRIZ &amp; 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HERE.NOW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HeyGen Avatar V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Ole Lehmann Used Council Approach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Hermes Agent - open-source, self-improving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Karpathy's wiki + Hermes Agent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Karpathy's Obsidian RAG + Claude Code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Graphify - Claude Code + Obsidian wiki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Obsidian plus Claude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MAI Models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Cursor 3.0 - a major update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Alibaba Wan 2.1 AI video model - open-source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Claude's Microsoft 365 connector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Claude Mythos Preview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Caveman" plugin/skill for Claude Code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612425" y="59350"/>
            <a:ext cx="38457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"Intelligence is the ability</a:t>
            </a:r>
            <a:b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to adapt to change."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— Stephen Hawking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183725" y="906475"/>
            <a:ext cx="4697400" cy="30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Periods of social instability are historically the best times for individual growth, career advancement, wealth creation, and access to resources. </a:t>
            </a:r>
            <a:endParaRPr sz="20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Frightening, yes. </a:t>
            </a:r>
            <a:endParaRPr sz="20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Extraordinarily interesting, absolutely.</a:t>
            </a:r>
            <a:endParaRPr sz="20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As Benjamin Franklin said: "God helps those who help themselves."</a:t>
            </a:r>
            <a:endParaRPr sz="20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2825" y="176150"/>
            <a:ext cx="3009999" cy="32686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5" name="Google Shape;75;p16"/>
          <p:cNvSpPr txBox="1"/>
          <p:nvPr/>
        </p:nvSpPr>
        <p:spPr>
          <a:xfrm>
            <a:off x="6177925" y="3538800"/>
            <a:ext cx="2599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Originally posted by Linus Torvalds on Twitter (now X) on January 29, 2013</a:t>
            </a:r>
            <a:endParaRPr sz="12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183999" y="1858050"/>
            <a:ext cx="2908500" cy="3096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Design Arena -    </a:t>
            </a:r>
            <a:br>
              <a:rPr lang="en" sz="800"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https://www.designarena.ai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https://openlm.ai/chatbot-arena/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https://beta.lmarena.ai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Leaderboard -  1T params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https://web.lmarena.ai/leaderboard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@LlmStats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https://llmworld.net/llm_leaderboards/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StackAI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https://www.stack-ai.com/llm-leaderboard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Artificial Analysis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https://artificialanalysis.ai/leaderboards/models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LLM Leaderboard - by Hugging Face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https://huggingface.co/open-llm-leaderboard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Vellum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https://www.vellum.ai/llm-leaderboard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Benchmarking Hub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https://epoch.ai/data/ai-benchmarking-dashboard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Grok 4 Benchmarks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https://artificialanalysis.ai/models/grok-4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(alibaba)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http://aiarena.alibaba-inc.com/corpora/arena/leaderboard?arenaType=T2I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- </a:t>
            </a: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https://lmarena.ai/leaderboard/text-to-image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431041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April 9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7346795" y="608477"/>
            <a:ext cx="17457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deepseek-v3.2  -  671B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ernie-5.0 - 2.4T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glm-5.0 - 744B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kimi-k2.5-thinking - 1T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qwen3.5-397B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{FB1F33A7-B2AF-483A-BE4A-99AC1B07CAA7}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Google Shape;88;p17"/>
          <p:cNvGraphicFramePr/>
          <p:nvPr/>
        </p:nvGraphicFramePr>
        <p:xfrm>
          <a:off x="2998474" y="783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{FB1F33A7-B2AF-483A-BE4A-99AC1B07CAA7}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claude-opus-4-6-thinking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claude-opus-4-6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gpt-5.4-high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gemini-3.1-pro-preview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claude-opus-4-5-20251101-thinking-32k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glm-5.1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claude-sonnet-4-6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grok-4.20-multi-agent-beta-0309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gemini-3-pro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claude-sonnet-4-5-20250929-thinking-32k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grok-4.20-beta1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gpt-5.2-chat-latest-20260210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dola-seed-2.0-pro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grok-4.20-beta-0309-reasoning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muse-spark</a:t>
                      </a:r>
                      <a:r>
                        <a:rPr lang="en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</a:t>
                      </a:r>
                      <a:r>
                        <a:rPr lang="en" sz="8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sz="800" b="1" u="sng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claude-opus-4-1-20250805-thinking-16k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gpt-5.4-mini-high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kimi-k2.5-thinking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gpt-5.4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claude-sonnet-4-5-20250929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longcat-flash-chat-2602-exp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qwen3.5-max-preview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gpt-5.3-chat-latest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9" name="Google Shape;89;p17"/>
          <p:cNvGraphicFramePr/>
          <p:nvPr/>
        </p:nvGraphicFramePr>
        <p:xfrm>
          <a:off x="214184" y="776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{FB1F33A7-B2AF-483A-BE4A-99AC1B07CAA7}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claude-opus-4-6-thinking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claude-opus-4-6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gemini-3.1-pro-preview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muse-spark</a:t>
                      </a:r>
                      <a:r>
                        <a:rPr lang="en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</a:t>
                      </a:r>
                      <a:r>
                        <a:rPr lang="en" sz="8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sz="800" b="1" u="sng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grok-4.20-beta1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gemini-3-pro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gpt-5.4-high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grok-4.20-beta-0309-reasoning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gpt-5.2-chat-latest-20260210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grok-4.20-multi-agent-beta-0309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claude-opus-4-5-20251101-thinking-32k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glm-5.1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grok-4.1-thinking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claude-opus-4-5-20251101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gpt-5.4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qwen3.5-max-preview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gemini-3-flash (thinking-minimal)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claude-sonnet-4-6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dola-seed-2.0-pro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grok-4.1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gpt-5.4-mini-high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gpt-5.3-chat-latest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glm-5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rgbClr val="0563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gpt-5.1-high</a:t>
                      </a:r>
                      <a:endParaRPr sz="800" u="sng">
                        <a:solidFill>
                          <a:srgbClr val="0563C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81779" y="40050"/>
            <a:ext cx="4392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MemPalace Memory System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100600" y="465649"/>
            <a:ext cx="45819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MemPalace Memory System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by Milla Jovovich &amp; Ben Sigman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https://github.com/milla-jovovich/mempalace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- 26.9K stars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https://www.youtube.com/shorts/ROKgDeeFAnk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short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&amp; open-source (MIT) AI memory system that claims the highest score on the LongMemEval benchmark (96.6%)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other memory tools that use AI to extract and summarize key points (often discarding valuable context) MemPalace stores every conversation verbatim in ChromaDB and organizes them using a spatial structure inspired by the ancient Greek "memory palace" technique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Conversations are grouped into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wings (people/projects), halls (memory types), and rooms (specific ideas)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making them navigable rather than just searchable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entirely locally with no external APIs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experimental compression layer called AAAK exists for token efficiency at scale, though it currently underperforms raw storage mode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Milla Jovovich is a famous actress: Resident Evil, The Fifth Element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 has envisioned the architecture of MemPalace (using ChatGPT and Claude), developed the conceptual framework for how the memory system should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actual engineering was done by her collaborator Ben Sigman, a developer and CEO of Bitcoin lending platform Libre Labs, who turned her architectural vision into working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5338" y="143000"/>
            <a:ext cx="1770675" cy="20478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9550" y="2278350"/>
            <a:ext cx="1936375" cy="1627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8" name="Google Shape;98;p18"/>
          <p:cNvSpPr txBox="1"/>
          <p:nvPr/>
        </p:nvSpPr>
        <p:spPr>
          <a:xfrm>
            <a:off x="4759550" y="4113275"/>
            <a:ext cx="42837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stack: 54 python files and 32 md files (skills, commands, ...)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ChromaDB - stores raw text and embeddings for semantic 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— for the knowledge graph (temporal entity-relationship triples)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- to be used with Claude Code plugin and a Codex CLI plugin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1400" y="143000"/>
            <a:ext cx="1770676" cy="22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81776" y="67675"/>
            <a:ext cx="3153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Managed Agents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100600" y="413825"/>
            <a:ext cx="44067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Managed Agents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public beta on April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infrastructure layer on the Claude Platform for running long-lived, stateful AI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to anyone with API billing access via the Claude Console, it is API-only (can not use subscription plans (Pro, Max) are excluded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practice, the pricing model strongly favors enterprise customers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https://www.reworked.co/digital-workplace/anthropic-launches-claude-managed-agents-to-speed-up-ai-development/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= Claude token rates plus $0.08 per session-hour of active runtime. For context, agent task costs can range from $0.50 to $2.00 per task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https://www.reddit.com/r/AI_Agents/comments/1scdq0o/anthropic_effectively_ends_the_unlimited_claude/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broader enterprise agents program, announced in late February 2026, also includes pre-built plug-ins for finance, engineering, and design workflows, private software marketplaces, and controlled data flows — all clearly pitched at corporate IT buyers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https://platform.claude.com/docs/en/managed-agents/overview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7900" y="124699"/>
            <a:ext cx="4406700" cy="439172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81775" y="67675"/>
            <a:ext cx="2511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AI Solutions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86808" y="511828"/>
            <a:ext cx="4406700" cy="452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=========== Universal Desktop Agents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desktop autonomy, multi-task, local &amp; cloud models</a:t>
            </a:r>
            <a:b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multiple variants - look here:</a:t>
            </a:r>
            <a:b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https://github.com/T31K/awesome-openclaw-alternatives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https://github.com/e2b-dev/awesome-ai-agents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Claude Desktop and Claude Code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"gold standard"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Abacus AI Desktop App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(CoWork)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Hermes Agent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Conversational and local task execution.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Cursor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Agentic coding IDE with multi-file editing and debugging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Operator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web and OS tasks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Manus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AI / Meta Manus (Meta) - autonomous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Computer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runs in isolated cloud compute and can work with MacOS local files using PerplexityXPC app and dedicated Filesystem MCP (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github.com/modelcontextprotocol/servers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Devstral 2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(France) - Desktop-capable coding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CLI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Cloud / Platform Agents</a:t>
            </a:r>
            <a:b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operate within specific cloud ecosystems such as Google Workspace, Microsoft 365, Salesforce CRM, WeChat, ...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Deep Research &amp; AgentKit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cloud-hosted agents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Copilot Studio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build agents for Microsoft 365, OneDrive, Teams, SharePoint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Agentspace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Enterprise agentic platform for the Google Workspace, Drive, and Gmail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Salesforce Agentforce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autonomous workflows across Sales Cloud, Service Cloud, and Marketing Cloud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Abacus DeepAgent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Cloud-based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651903" y="2157962"/>
            <a:ext cx="4406700" cy="289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Moveworks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Cloud IT support, works with ServiceNow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Aisera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Enterprise cloud automation for IT and HR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Sierra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Cloud-based conversational AI agent - customer experience.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Asia - Cloud / Platform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Tencent QClaw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WeChat-bound agent - bookings, ride-hailing, file tasks, and PC control within the WeChat cloud ecosystem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Alibaba Qwen Agent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used across Alibaba Cloud and DingTalk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Baidu ERNIE Agent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Baidu Cloud and enterprise SaaS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Europe - Cloud / Platform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Le Chat Agent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(France) - Cloud-based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Agent (UK)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Aleph Alpha (Germany)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enterprise/governments agentic AI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AutogenAI (UK)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cloud-based - proposals and bids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Intelligence Agents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Agent (China)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MultiOn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web actions -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https://docs.multion.ai/welcome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/>
        </p:nvSpPr>
        <p:spPr>
          <a:xfrm>
            <a:off x="179326" y="478350"/>
            <a:ext cx="4917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these 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6.54K subscribers, 277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534" y="74525"/>
            <a:ext cx="3269825" cy="49944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81773" y="40047"/>
            <a:ext cx="1453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100600" y="413825"/>
            <a:ext cx="43926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Buddy - virtual pet built into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Released on April 1 as a funny 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Activated via the `/buddy` command, can be toggled on/off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user gets a unique pet determined by their account 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pet makes funny alive comments. It makes you feel good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Buddy doesn't cost you tokens.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4201" y="158700"/>
            <a:ext cx="2901000" cy="4296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7" name="Google Shape;127;p22"/>
          <p:cNvSpPr txBox="1"/>
          <p:nvPr/>
        </p:nvSpPr>
        <p:spPr>
          <a:xfrm>
            <a:off x="100600" y="1811950"/>
            <a:ext cx="4392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Restricts Third-Party Claude Usage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It officially barred subscription credits for tools like OpenClaw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citing engineering constraints around prompt caching efficiency. Their systems are optimized for Claude Code's specific workload, and third-party harnesses break caching, consuming more compute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still access Claude via API key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have been burning through Claude Code usage limits faster than expected due to tighter limits and larger context windows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broader trend points toward the end of heavily subsidized AI subscriptions across the industry.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81773" y="40047"/>
            <a:ext cx="1453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100600" y="413825"/>
            <a:ext cx="4392600" cy="346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 Updates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https://github.com/openclaw/openclaw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- 353K stars</a:t>
            </a:r>
            <a:br>
              <a:rPr lang="en" sz="1000"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https://github.com/openclaw/openclaw/releases</a:t>
            </a: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v2026.4.8: Fixes npm build startup failures across Telegram and 9 bundled channels; aligns plugin metadata with release version; improves Slack proxy/token handling; fixes SSRF DNS pinning for proxy sandboxes.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v2026.4.7: Adds openclaw infer CLI, memory-wiki restore, webhook ingress plugin, session compaction/restore, Gemma 4 &amp; Arcee AI providers, Ollama vision detection, pluggable compaction, and dreaming memory ingestion.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v2026.4.5: Adds video/music generation tools, ComfyUI plugin, Qwen/Fireworks/StepFun providers, 12-language UI, memory dreaming overhaul, prompt cache improvements, iOS/Matrix exec approvals, and ClawHub in-UI install.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v2026.4.2: Restores Task Flow for multi-step autonomous tasks; adds Android/Google Assistant support; migrates xAI &amp; Firecrawl configs to plugins; adds Feishu Drive comments, Matrix mentions, and exec auto-approvals.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83825" y="675275"/>
            <a:ext cx="2857500" cy="675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/>
        </p:nvSpPr>
        <p:spPr>
          <a:xfrm>
            <a:off x="81779" y="40049"/>
            <a:ext cx="4243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Code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100600" y="413825"/>
            <a:ext cx="4392600" cy="343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Code Releases</a:t>
            </a:r>
            <a:b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https://github.com/anthropics/claude-code/releases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============ v2.1.96 - April 8 ============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Bedrock requests failing with 403 "Authorization header is missing" when using AWS_BEARER_TOKEN_BEDROCK or CLAUDE_CODE_SKIP_BEDROCK_AUTH (regression in 2.1.94)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============ v2.1.94 - April 7 ============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Bedrock/Mantle support, default effort raised to high, Slack MCP channel links, plugin skill name fixes, plus numerous bug fixes for rate-limit errors, macOS login, tmux hyperlinks, CJK text corruption, and VS Code improvements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============ v2.1.92 - April 3 ============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Bedrock setup wizard, forceRemoteSettingsRefresh policy, per-model cost breakdown, interactive release notes, hostname-based Remote Control names, plus bug fixes for tmux, hooks, feedback surveys, and 60% faster Write tool diffs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125" y="413825"/>
            <a:ext cx="14097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/>
        </p:nvSpPr>
        <p:spPr>
          <a:xfrm>
            <a:off x="4947100" y="2377800"/>
            <a:ext cx="39900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Anthropic shipped 120 features in 90 days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https://www.news.aakashg.com/p/anthropic-q1-features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81773" y="40047"/>
            <a:ext cx="1453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100600" y="413825"/>
            <a:ext cx="43926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Matt Berman challenged Hacker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Ply the Liberator, a well-known AI hacker, to break into his personal AI email system called OpenClaw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Ply made six attempts using techniques like token flooding, jailbreak templates, and fake system commands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Despite knowing the system used Claude Opus 4.6, every attack was caught and quarantined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 takeaways: using a powerful reasoning model as your first line of defense and keeping humans in the loop are the best protections against AI prompt injection attacks.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7400" y="259250"/>
            <a:ext cx="4047852" cy="2271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0" name="Google Shape;150;p25"/>
          <p:cNvSpPr txBox="1"/>
          <p:nvPr/>
        </p:nvSpPr>
        <p:spPr>
          <a:xfrm>
            <a:off x="100600" y="2229773"/>
            <a:ext cx="43926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Journey, a registry for AI agent workflows called "kits"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https://www.youtube.com/watch?v=vn_kU928nww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Journey solves the problem of sharing and discovering agent workflows by packaging complete end-to-end solutions including skills, tools, learnings, memories, and tests into installable packages.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to npm for code, agents can easily install these workflow packages without reinventing functionality.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Journey features version control, community feedback, reputation scoring, and team collaboration capabilities including shared contexts and credentials management.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allows private organizational kits alongside public ones, with audit logs and analytics for teams.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Installation is agent-first - users can simply copy a prompt to their AI agent to install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5600" y="2719250"/>
            <a:ext cx="4047851" cy="223665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/>
        </p:nvSpPr>
        <p:spPr>
          <a:xfrm>
            <a:off x="81779" y="40050"/>
            <a:ext cx="381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Gemma 4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66484" y="398534"/>
            <a:ext cx="44124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Gemma 4 family of open-source models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(Apache 2.0)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sizes: E2B, E4B, 26B (MoE), and 31B (dense)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31B model ranks 3rd on the Arena AI leaderboard, competing with much larger models like Qwen 3.5 397b-a17b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models support advanced reasoning, agentic workflows, function calling, structured JSON output, multimodal input (video, images, audio), and are ideal for local/edge 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https://blog.google/innovation-and-ai/technology/developers-tools/gemma-4/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575" y="1957250"/>
            <a:ext cx="7257976" cy="3126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81777" y="0"/>
            <a:ext cx="1676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OpenAgents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66484" y="398534"/>
            <a:ext cx="44124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OpenAgents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https://openagents.org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https://github.com/openagents-org/openagents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https://www.reddit.com/r/AgentsOfAI/comments/1saupc0/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https://studio.openagents.org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https://discord.gg/openagents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Multi-agent platform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where agents share the same browser, files, and chat context simultaneously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OpenAgents started as a Python SDK for multi-agent networking and evolved into a full platform, a Workspace for real-time human-agent collaboration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open-source under the Apache 2.0 license and can be self-hosted with a single command, requiring no Docker or accounts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25025" y="398534"/>
            <a:ext cx="302895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4614711" y="1324909"/>
            <a:ext cx="4412400" cy="362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conda create -n openagents python=3.12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conda activate openagents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openagents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openagents init ./my_first_network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openagents network start ./my_first_network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openagents studio -s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# Then open `http://localhost:8050` in your browser</a:t>
            </a: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# ./my_first_network/simple_agent.py</a:t>
            </a: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from openagents.agents.worker_agent import WorkerAgent, \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ChannelMessageContext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class SimpleWorkerAgent(WorkerAgent):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default_agent_id = "charlie"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async def on_startup(self):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    ws = self.workspace()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    ss = "Hello from Simple Worker Agent!"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    await ws.channel("general").post(ss)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if __name__ == "__main__":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agent = SimpleWorkerAgent()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agent.start(network_host="localhost", network_port=8700)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agent.wait_for_stop()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/>
        </p:nvSpPr>
        <p:spPr>
          <a:xfrm>
            <a:off x="187459" y="423880"/>
            <a:ext cx="44124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Abacus CoWork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https://www.youtube.com/watch?v=hkGSbJnhqhc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Abacus has released CoWork - a desktop AI tool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GPT-4 for reasoning, Gemini Flash for speed, Claude for long context work, and Gemini Pro for multimodal 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CoWork runs on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Mac, Windows, and Linux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part of Abacus AI's desktop environment (supports 40+ AI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81777" y="0"/>
            <a:ext cx="1676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850" y="244323"/>
            <a:ext cx="2437475" cy="14694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4" name="Google Shape;174;p28"/>
          <p:cNvSpPr txBox="1"/>
          <p:nvPr/>
        </p:nvSpPr>
        <p:spPr>
          <a:xfrm>
            <a:off x="187459" y="1825946"/>
            <a:ext cx="44124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Awesome DESIGN.md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https://github.com/VoltAgent/awesome-design-md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a DESIGN.md into your project, tell your AI agent "build me a page that looks like this" and get pixel-perfect 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850" y="1821800"/>
            <a:ext cx="2271577" cy="7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187459" y="2673932"/>
            <a:ext cx="44124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Muse Spark proprietary model - April 8, 2026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first AI model from its newly formed Superintelligence Labs, led by Alexandr Wang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is designed to be small and fast while capable of deep reasoning across science, math, health, legal documents, and image or video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features a fast mode for simple queries and a deeper reasoning mode for complex tasks, plus a shopping mode that draws on creator content across Meta's platforms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Currently available only in the US, powering Meta AI, Facebook, Instagram, WhatsApp, Messenger, and Ray-Ban Meta smart glasses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good at coding yet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851" y="3257550"/>
            <a:ext cx="2115308" cy="13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81772" y="0"/>
            <a:ext cx="4412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Perplexity Can Prepare Federal Taxes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81784" y="766459"/>
            <a:ext cx="44124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Computer Tax Prep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Perplexity can now help prepare your federal tax return.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“Navigate my taxes” on Computer to give it a shot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https://x.com/perplexity_ai/status/2039740898830073889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1309" y="238869"/>
            <a:ext cx="4360318" cy="241970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29"/>
          <p:cNvSpPr/>
          <p:nvPr/>
        </p:nvSpPr>
        <p:spPr>
          <a:xfrm rot="-3542175">
            <a:off x="5491969" y="2540101"/>
            <a:ext cx="809919" cy="3264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9"/>
          <p:cNvSpPr txBox="1"/>
          <p:nvPr/>
        </p:nvSpPr>
        <p:spPr>
          <a:xfrm>
            <a:off x="81779" y="1838025"/>
            <a:ext cx="2272500" cy="80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acquired Coefficient Bio (drug discovery) for $400M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https://www.rdworldonline.com/anthropics-400m-acquisition-of-coefficient-bio-signals-a-deeper-push-into-drug-discovery/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6688" y="1808477"/>
            <a:ext cx="1972176" cy="862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8" name="Google Shape;188;p29"/>
          <p:cNvSpPr txBox="1"/>
          <p:nvPr/>
        </p:nvSpPr>
        <p:spPr>
          <a:xfrm>
            <a:off x="81784" y="3264234"/>
            <a:ext cx="44124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 Learning NYU Course 2020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https://github.com/Atcold/NYU-DLSP20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 (static, Jekyll-based):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https://atcold.github.io/NYU-DLSP20/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contents is in jupyter notebooks, markdown files, PDFs, images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website is generated via GitHub 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Jekyll processes the Markdown files and content converted from Jupyter notebooks using Liquid templates and outputs a fully static HTML website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1274" y="2736800"/>
            <a:ext cx="2581625" cy="2337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81772" y="0"/>
            <a:ext cx="4412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81784" y="382289"/>
            <a:ext cx="44124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Edgeclaw - free, open-source privacy layer for AI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prevents sensitive data from reaching the cloud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 three-tier system: safe requests go to the cloud (S1), sensitive data is sanitized before sending (S2), and highly private data like passwords never leaves your device (S3)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uses both a rule-based engine (near-instant) and a local LLM for context-aware classification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Edgeclaw also routes 60–80% of routine tasks to cheaper models, cutting costs significantly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runs as a plugin inside OpenClaw, requiring Ollama and minimal configuration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https://www.youtube.com/watch?v=gVXnjfsFJKE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81784" y="2808435"/>
            <a:ext cx="44124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 + Ollama + Qwen 3.5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Ollama, pull Qwen 3.5 via terminal, then connect it to OpenClaw by selecting Ollama as your model provider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then link OpenClaw to 8,000+ apps via Zapier MCP, and stack multiple agents into full automated pipelines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https://www.youtube.com/watch?v=-Pn3FBOjkgM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6575" y="741263"/>
            <a:ext cx="3708399" cy="1517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6572" y="2571713"/>
            <a:ext cx="2847975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81772" y="0"/>
            <a:ext cx="4412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81784" y="485159"/>
            <a:ext cx="4412400" cy="2558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Anthropic vs. Pentagon dispute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gist: DOD labeled Anthropic a "supply chain risk" after the company refused to let Claude be used for autonomous weapons and mass surveillance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federal judge granted Anthropic a preliminary injunction on March 26, calling the Pentagon's actions "First Amendment retaliation"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GSA (General Services Administration) complied by restoring Anthropic to government platforms on April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the Trump administration simultaneously appealed to the Ninth Circuit (9 Western States), with briefs due April 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separate parallel case also continues in the D.C. Circuit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injunction holds for now, but the legal battle is far from over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https://www.cnbc.com/2026/03/26/anthropic-pentagon-dod-claude-court-ruling.html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81784" y="3099134"/>
            <a:ext cx="44124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 Claude Code with the Qwen 3.6 Plus model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via Claude Code Router (CCR) and Open Router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https://www.youtube.com/watch?v=wyLtTz4S03c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Here's the prompt: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Install claude-code-router (npm install -g @musistudio/claude-code-router) and configure it with OpenRouter using this api key: API_KEY_HERE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set qwen/qwen3.6-plus:free as the model for everything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after run this inside Claude Code: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/model openrouter,qwen/qwen3.6-plus:free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4897" y="880075"/>
            <a:ext cx="2857500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9659" y="3231725"/>
            <a:ext cx="2847975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/>
        </p:nvSpPr>
        <p:spPr>
          <a:xfrm>
            <a:off x="81773" y="0"/>
            <a:ext cx="1842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 &amp; AI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81784" y="400959"/>
            <a:ext cx="44124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TRIZ (Theory of Inventive Problem Solving)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systematic methodology for making inventions developed by Soviet engineer Genrich Altshuller (1926–1998)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Altshuller screened over 200K patents to uncover repeatable patterns in how inventions are made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problems resolve contradictions where solving one aspect creates another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formulated 40 ways to resolve these contradictions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created a step by step algorithm ARIZ for figuring out these contradictions - and then resolve them; it replaces random brainstorming with a proven, teachable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practical and useful tool included in TRIZ is Scientific Effects guide - which is now available via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Accuris Goldfire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knowledge discovery platform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https://accuristech.com/solutions/goldfire/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4650500" y="177052"/>
            <a:ext cx="4412400" cy="374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TRIZ links: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TRIZ: The Right Solution at the Right Time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https://vietnamwcm.files.wordpress.com/2008/07/inovative-problem-solving.pdf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Introduction to TRIZ by Stan Kaplan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https://arvindvenkatadri.com/teaching/1-play-and-invent/modules/70-triz-resources/pdf/TRIZ/Stan%20Kaplan-Intro-to-TRIZ.pdf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TRIZ: A Theory of Inventive Problem Solving (Concordia University) - 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https://spectrum.library.concordia.ca/36055/1/triz.pdf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Innovation Algorithm by Altshuller (2007)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http://www.evolocus.com/Textbooks/Altshuller2007.pdf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TRIZ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https://www.trizinfor.org/store/TRIZclassEn.pdf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 for Engineers by Karen Gadd (Internet Archive) —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https://archive.org/details/trizforengineers0000gadd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OpenSourceTRIZ.com - Free eBooks &amp; Teaching Materials —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https://www.opensourcetriz.com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 Level 1 Training Manual (MATRIZ) - 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https://matriz.org/wp-content/uploads/2019/01/Level-1-Manual-Word.pdf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 Material for Beginners (Scribd) - 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https://www.scribd.com/document/803435517/TRIZ-Material-for-Beginners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Simplified TRIZ (Academia.edu) - 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https://www.academia.edu/36931592/Simplified_TRIZ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TRIZ Theory of Inventive Problem Solving (Academia.edu) —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https://www.academia.edu/79649423/TRIZ_Theory_of_Inventive_Problem_Solving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4650509" y="4112284"/>
            <a:ext cx="44124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Prompt: </a:t>
            </a: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 want to create a skill for Claude Code named "triz". Please create a SKILL.md file in standard format to use with Claude. It should contain the step by step instructions for using ARIZ (TRIŹ) algorithm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3157654"/>
            <a:ext cx="1924850" cy="506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672925" y="3157659"/>
            <a:ext cx="1238250" cy="1590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/>
        </p:nvSpPr>
        <p:spPr>
          <a:xfrm>
            <a:off x="81773" y="0"/>
            <a:ext cx="1842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81775" y="434072"/>
            <a:ext cx="44439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https://HERE.NOW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here.now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static file hosting service for "agent-to-agent" info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upload files through the API - and they are served on a unique subdomain. There is no server-side code or databases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https://www.youtube.com/shorts/8uPMM8HhRUc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275" y="251325"/>
            <a:ext cx="1703950" cy="126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5" name="Google Shape;225;p33"/>
          <p:cNvSpPr txBox="1"/>
          <p:nvPr/>
        </p:nvSpPr>
        <p:spPr>
          <a:xfrm>
            <a:off x="81775" y="2953803"/>
            <a:ext cx="44439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HeyGen Avatar V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https://www.youtube.com/watch?v=sGJGCq10gc0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hyper-realistic AI avatar from just one photo and a 15-second video - combines flexibility and realism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Avatar V captures your unique motion, expressions, and gestures, then applies them to any outfit, setting, or camera angle, including side views and close-ups, while keeping your identity consistent throughout long-form content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Setup involves recording a short expressive video, optionally cloning your voice, and selecting a base photo look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then remix appearances using templates or custom prompts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550" y="3455464"/>
            <a:ext cx="2818649" cy="1548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" name="Google Shape;227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4900" y="444174"/>
            <a:ext cx="8763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81773" y="0"/>
            <a:ext cx="1842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81775" y="366653"/>
            <a:ext cx="44439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Ole Lehmann Used Council Approach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to Counter Claude's Tendency to Agree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used five AI advisors with distinct thinking styles to independently analyze a question: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Contrarian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First Principles Thinker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Expansionist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Outsider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Executor 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peer-review each other's responses, and a chairman delivers a final synthesized verdict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approach is inspired by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Andrej Karpathy's LLM Council concept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author credits this method with helping him choose a live workshop over a self-paced course - a decision that resulted in 180 sign-ups and a 4.8-star rating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https://www.youtube.com/@itsolelehmann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https://x.com/itsolelehmann/status/2038661433626333649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https://docs.google.com/document/d/e/2PACX-1vSvw_Mk4iq4DkeMM3YVcvHgkzY-bsmnkXBC2TaEVBUDMjU4RtwDrKdxenpc-x7Vnzw5THGA4wVJd-LX/pub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skill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3775" y="366650"/>
            <a:ext cx="1626450" cy="1626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/>
        </p:nvSpPr>
        <p:spPr>
          <a:xfrm>
            <a:off x="81773" y="0"/>
            <a:ext cx="1842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81775" y="375325"/>
            <a:ext cx="44439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Hermes Agent - open-source, self-improving AI agent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Nous Research, an alternative to OpenAI's OpenClaw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core innovation is GAPA - a system that automatically reviews tool calls, identifies failures, and updates its own prompts, similar to backpropagation but for behavior rather than model weights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time, it builds memory, learns from past conversations, and auto-generates reusable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 in python.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https://github.com/nousresearch/hermes-agent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7224" y="375316"/>
            <a:ext cx="4090501" cy="7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2" name="Google Shape;242;p35"/>
          <p:cNvSpPr txBox="1"/>
          <p:nvPr/>
        </p:nvSpPr>
        <p:spPr>
          <a:xfrm>
            <a:off x="81775" y="2105140"/>
            <a:ext cx="4443900" cy="200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Karpathy's wiki + Hermes Agent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Andrej Karpathy published LLM Wiki on April 4, 2026, a system where an AI builds and maintains a persistent, structured wiki of markdown files from your raw sources</a:t>
            </a:r>
            <a:b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https://gist.github.com/karpathy/442a6bf555914893e9891c11519de94f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Hermes Agent has integrated LLM Wiki as a built-in skill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 single command and the agent ingests sources, updates cross-references, and flags contradictions automatically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is a self-maintaining knowledge base that grows smarter with every source you add.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https://www.youtube.com/watch?v=Mb5N08xcxtg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5015725" y="2056225"/>
            <a:ext cx="36135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Awesome Hermes Agent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https://github.com/0xNyk/awesome-hermes-agent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Skills - Dec 2025 - by Anthropic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https://agentskills.io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/>
        </p:nvSpPr>
        <p:spPr>
          <a:xfrm>
            <a:off x="81773" y="0"/>
            <a:ext cx="1842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97534" y="490929"/>
            <a:ext cx="44124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Karpathy's Obsidian RAG +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https://www.youtube.com/watch?v=OSZdFnQmgRw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Obsidian-based knowledge system - like RAG but without vectors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lightweight system uses a simple file structure with a "raw" folder for data ingestion and a "wiki" folder for organized content.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add documents via the Obsidian Web Clipper extension or have Claude Code conduct research automatically.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leverages Obsidian's markdown format and linking capabilities, allowing Claude Code to easily navigate and answer questions about stored documents.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81775" y="2474555"/>
            <a:ext cx="44439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Graphify - Claude Code + Obsidian wiki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tool that turns any folder into a navigable knowledge graph with a single command inside Claude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https://github.com/safishamsi/graphify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outputs an Obsidian vault, a concept-mapped wiki, and plain English Q&amp;A over your codebase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Supporting 13 languages, PDFs, images, and Markdown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standout claim is 71.5x token efficiency versus reading raw 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vector DB or config required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with pip install graphify &amp;&amp; graphify install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https://x.com/socialwithaayan/status/2041192946369007924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4631030" y="2624429"/>
            <a:ext cx="44124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Obsidian plus Claude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Install Obsidian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 markdown-based note-taking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Add a browser web clipper extension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 local images plugin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Articles, transcripts, and web pages are saved directly into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Obsidian's raw folder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Code (desktop) is then connected to the same Obsidian vault folder, where a provided prompt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instructs Claude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automatically process raw materials, and organize them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into structured wiki pages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cross-linked navigation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Finally, a scheduled daily Claude agent is configured to automatically review and update the knowledge base every morning at 9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https://www.youtube.com/watch?v=JtjfYS9hfWw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in Russian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1129" y="1328433"/>
            <a:ext cx="1842300" cy="122596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3" name="Google Shape;253;p3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1025" y="490925"/>
            <a:ext cx="1429690" cy="1865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/>
        </p:nvSpPr>
        <p:spPr>
          <a:xfrm>
            <a:off x="81778" y="0"/>
            <a:ext cx="4404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7"/>
          <p:cNvSpPr txBox="1"/>
          <p:nvPr/>
        </p:nvSpPr>
        <p:spPr>
          <a:xfrm>
            <a:off x="62125" y="382550"/>
            <a:ext cx="4443900" cy="711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MAI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MAI Transcribe 1 ; MAI Voice 1 ; MAI Image 2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Performance, speed, and aggressive pricing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http://www.youtube.com/watch?v=tDW6VoyWWqo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7"/>
          <p:cNvSpPr txBox="1"/>
          <p:nvPr/>
        </p:nvSpPr>
        <p:spPr>
          <a:xfrm>
            <a:off x="62125" y="1149300"/>
            <a:ext cx="44439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Cursor 3.0 - a major update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 has been rewritten in Rust for performance and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update introduces Composer 2, an in-house model that reportedly outperforms leading AI models like Claude 4.6. It is based on Moonshot K2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interface shifts the developer's role from writing code to acting as an "air traffic controller" for AI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now manage multiple agents in parallel across different repositories and remote servers to automate complex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https://www.youtube.com/watch?v=JSuS-zXMVwE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7"/>
          <p:cNvSpPr txBox="1"/>
          <p:nvPr/>
        </p:nvSpPr>
        <p:spPr>
          <a:xfrm>
            <a:off x="62125" y="3024250"/>
            <a:ext cx="44439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Alibaba Wan 2.1 AI video model - open-source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 grade tool, instruction-based editing, modify existing videos, changing weather, clothing, or camera angles using plain text without regenerating from scratch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Multi-reference inputs, utilizing up to five videos to maintain a subject's appearance and voice across shots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offers improved motion fluidity for clips up to 15 seconds at 1080p; has "first and last frame control" to dictate specific narrative transitions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https://www.youtube.com/watch?v=3pj-KLBKcvc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3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8950" y="175859"/>
            <a:ext cx="2251675" cy="126094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3" name="Google Shape;263;p37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8950" y="1784862"/>
            <a:ext cx="2251675" cy="1276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4" name="Google Shape;264;p3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8950" y="3409775"/>
            <a:ext cx="2251675" cy="126515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/>
        </p:nvSpPr>
        <p:spPr>
          <a:xfrm>
            <a:off x="81778" y="0"/>
            <a:ext cx="4404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81775" y="401064"/>
            <a:ext cx="44439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Claude's Microsoft 365 connector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Read-only access to Enterprize Outlook, OneDrive, SharePoint, and Microsoft Teams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and analyze emails, documents, and meeting notes through simple chat prompts, no manual uploading required. Access is read-only, meaning Claude cannot send, edit, or delete anything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https://www.youtube.com/watch?v=Vk5_2mBXHQ8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62125" y="1787039"/>
            <a:ext cx="44439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Claude Mythos - successor to Claude Opus 4.6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preview showcased through "Project Glasswing", a cybersecurity initiative (with Microsoft, Google, Cisco, AWS, and Nvidia)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Mythos preview scored 93% on SWE-bench Verified and 83% on the CyberGym benchmark - far outpacing Opus 4.6's 66%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72.4% on Firefox JavaScript shell exploitation, vs 14.4%  Opus 4.6's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autonomously discovered decades-old vulnerabilities in OpenBSD, FFmpeg, and the Linux kernel; In a sandbox escape test, it gained unauthorized internet access and even emailed a researcher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https://www.youtube.com/watch?v=Q0vLGvcdJZ8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62125" y="3728686"/>
            <a:ext cx="44439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"Caveman" plugin/skill for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forces Claude Code to use terse, caveman-style language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75% reduction in tokens, improved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https://www.youtube.com/watch?v=4FO1Liu-ttk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https://github.com/JuliusBrussee/caveman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075" y="401075"/>
            <a:ext cx="2341612" cy="1311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4" name="Google Shape;274;p3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075" y="3728675"/>
            <a:ext cx="4404601" cy="12189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5" name="Google Shape;275;p3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075" y="2083247"/>
            <a:ext cx="2341600" cy="127454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/>
        </p:nvSpPr>
        <p:spPr>
          <a:xfrm>
            <a:off x="81777" y="0"/>
            <a:ext cx="1420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9"/>
          <p:cNvSpPr txBox="1"/>
          <p:nvPr/>
        </p:nvSpPr>
        <p:spPr>
          <a:xfrm>
            <a:off x="81775" y="353150"/>
            <a:ext cx="47583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Google's Coding Agent (Jitro = Jules V2)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Shifts from prompt-driven tasks to goal-driven autonomy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to be presented at Google IO 2026 in May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https://jules.google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https://developers.google.com/jules/api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https://www.testingcatalog.com/google-prepares-jules-v2-agent-capable-of-taking-bigger-tasks/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https://www.youtube.com/watch?v=73ATKg42oJk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https://www.youtube.com/watch?v=8d3E-XZX3u4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9"/>
          <p:cNvSpPr txBox="1"/>
          <p:nvPr/>
        </p:nvSpPr>
        <p:spPr>
          <a:xfrm>
            <a:off x="79875" y="1660975"/>
            <a:ext cx="52713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Flova AI video production platform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https://www.flova.ai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California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to replace the fragmented stack of separate subscriptions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conversational AI agent that builds scripts, storyboards, visual assets, and final edits inside a single interface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integrates over 20 models (Sora 2, Cling 3.0, MidJourney, Suno, ElevenLabs, ...)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Multi-shot character consistency, tail-to-head frame stitching for seamless cuts, and Omnihuman 1.5 for lip-synced music videos from a single image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$19/mo replaces tools costing $120/mo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68" y="3487064"/>
            <a:ext cx="2679600" cy="15293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4" name="Google Shape;284;p39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3300" y="55136"/>
            <a:ext cx="1908225" cy="1048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5" name="Google Shape;285;p39"/>
          <p:cNvSpPr txBox="1"/>
          <p:nvPr/>
        </p:nvSpPr>
        <p:spPr>
          <a:xfrm>
            <a:off x="5431025" y="2044359"/>
            <a:ext cx="36099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Digits AI-powered Accounting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alternative to QuickBooks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auto-classifies 97% of transactions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learns from your firm's classification behavior to build custom AI models, applying consistent coding logic across all client 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bank reconciliation, auto-fetching statements and reconciling them without manual input, bill pay, invoicing, receipt matching, and customizable dashboards and reports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- AICPA SOC 2 Type 2 standards, the client's data kept fully isolated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Plans start at $10/month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Digits can also connect to an existing QuickBooks file, making it easy to try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https://digits.com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4003" y="899603"/>
            <a:ext cx="1326922" cy="1048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0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5322525" y="3446900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71.5K 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April 10,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5322525" y="776375"/>
            <a:ext cx="35589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91,739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(917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4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3142555"/>
            <a:ext cx="4950376" cy="191999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530922"/>
            <a:ext cx="4950374" cy="253937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4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521237"/>
            <a:ext cx="4987274" cy="3253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2" name="Google Shape;302;p41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AI-Linked Job Losses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1"/>
          <p:cNvSpPr txBox="1"/>
          <p:nvPr/>
        </p:nvSpPr>
        <p:spPr>
          <a:xfrm>
            <a:off x="3358325" y="624100"/>
            <a:ext cx="154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https://jobloss.ai</a:t>
            </a:r>
            <a:endParaRPr/>
          </a:p>
        </p:txBody>
      </p:sp>
      <p:sp>
        <p:nvSpPr>
          <p:cNvPr id="304" name="Google Shape;304;p41"/>
          <p:cNvSpPr txBox="1"/>
          <p:nvPr/>
        </p:nvSpPr>
        <p:spPr>
          <a:xfrm>
            <a:off x="5176950" y="1115525"/>
            <a:ext cx="38994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Software Jobs in 2026  (publ. April 6)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Software engineer job listings have risen 30% so far in 2026, reaching about 67,000 openings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increase challenges fears that AI is rapidly replacing coding jobs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https://gizmodo.com/report-says-software-engineer-job-listings-are-up-30-this-year-2000742638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2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4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2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5668</Words>
  <Application>Microsoft Macintosh PowerPoint</Application>
  <PresentationFormat>On-screen Show (16:9)</PresentationFormat>
  <Paragraphs>611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2026-04-10T17:51:23Z</dcterms:modified>
</cp:coreProperties>
</file>