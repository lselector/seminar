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embeddedFontLst>
    <p:embeddedFont>
      <p:font typeface="Roboto Mono" pitchFamily="49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EEAF864-D336-494F-AE89-E28C2F5D0C55}">
  <a:tblStyle styleId="{1EEAF864-D336-494F-AE89-E28C2F5D0C5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>
      <p:cViewPr varScale="1">
        <p:scale>
          <a:sx n="124" d="100"/>
          <a:sy n="124" d="100"/>
        </p:scale>
        <p:origin x="5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633c15ed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633c15ed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ed2c6c1b0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g3ed2c6c1b0f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ec31c57a0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5" name="Google Shape;85;g3ec31c57a0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ee4607b5d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" name="Google Shape;92;g3ee4607b5d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e4607b5d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g3ee4607b5d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9318675434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" name="Google Shape;110;g39318675434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ee29a8f3f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g3ee29a8f3ff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ee29a8f3ff_1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7" name="Google Shape;137;g3ee29a8f3ff_1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ef0957303c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" name="Google Shape;161;g3ef0957303c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edf5b0cf2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9" name="Google Shape;169;g3edf5b0cf2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ee7c55bd1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3ee7c55bd1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ef0957303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" name="Google Shape;191;g3ef0957303c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ef0e46ac4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0" name="Google Shape;200;g3ef0e46ac4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d971967e09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7" name="Google Shape;207;g3d971967e09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d971967e0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7" name="Google Shape;217;g3d971967e0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d971967e09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7" name="Google Shape;227;g3d971967e09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172" y="205067"/>
            <a:ext cx="822870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172" y="1203299"/>
            <a:ext cx="8228700" cy="29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_HEADER_1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huggingface.co/open-llm-leaderboard" TargetMode="External"/><Relationship Id="rId18" Type="http://schemas.openxmlformats.org/officeDocument/2006/relationships/hyperlink" Target="https://lmarena.ai/leaderboard/text-to-image" TargetMode="External"/><Relationship Id="rId26" Type="http://schemas.openxmlformats.org/officeDocument/2006/relationships/hyperlink" Target="https://huggingface.co/zai-org/GLM-5.2" TargetMode="External"/><Relationship Id="rId39" Type="http://schemas.openxmlformats.org/officeDocument/2006/relationships/hyperlink" Target="https://docs.x.ai/developers/models/grok-4.20-beta-0309-reasoning" TargetMode="External"/><Relationship Id="rId21" Type="http://schemas.openxmlformats.org/officeDocument/2006/relationships/hyperlink" Target="https://www.anthropic.com/news/claude-opus-4-6" TargetMode="External"/><Relationship Id="rId34" Type="http://schemas.openxmlformats.org/officeDocument/2006/relationships/hyperlink" Target="https://aistudio.google.com/app/prompts/new_chat?model=gemini-3-pro-preview" TargetMode="External"/><Relationship Id="rId42" Type="http://schemas.openxmlformats.org/officeDocument/2006/relationships/hyperlink" Target="https://openai.com/index/gpt-5-5-instant" TargetMode="External"/><Relationship Id="rId7" Type="http://schemas.openxmlformats.org/officeDocument/2006/relationships/hyperlink" Target="https://openlm.ai/chatbot-arena/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tificialanalysis.ai/models/grok-4" TargetMode="External"/><Relationship Id="rId20" Type="http://schemas.openxmlformats.org/officeDocument/2006/relationships/hyperlink" Target="https://www.anthropic.com/news/claude-opus-4-7" TargetMode="External"/><Relationship Id="rId29" Type="http://schemas.openxmlformats.org/officeDocument/2006/relationships/hyperlink" Target="https://blog.google/innovation-and-ai/models-and-research/gemini-models/gemini-3-1-pro/" TargetMode="External"/><Relationship Id="rId41" Type="http://schemas.openxmlformats.org/officeDocument/2006/relationships/hyperlink" Target="https://blog.google/products/gemini/gemini-3-flash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designarena.ai" TargetMode="External"/><Relationship Id="rId11" Type="http://schemas.openxmlformats.org/officeDocument/2006/relationships/hyperlink" Target="https://www.stack-ai.com/llm-leaderboard" TargetMode="External"/><Relationship Id="rId24" Type="http://schemas.openxmlformats.org/officeDocument/2006/relationships/hyperlink" Target="https://huggingface.co/zai-org/GLM-5.1" TargetMode="External"/><Relationship Id="rId32" Type="http://schemas.openxmlformats.org/officeDocument/2006/relationships/hyperlink" Target="https://www.anthropic.com/news/claude-sonnet-4-5" TargetMode="External"/><Relationship Id="rId37" Type="http://schemas.openxmlformats.org/officeDocument/2006/relationships/hyperlink" Target="https://www.anthropic.com/news/claude-opus-4-1" TargetMode="External"/><Relationship Id="rId40" Type="http://schemas.openxmlformats.org/officeDocument/2006/relationships/hyperlink" Target="https://grok.com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epoch.ai/data/ai-benchmarking-dashboard" TargetMode="External"/><Relationship Id="rId23" Type="http://schemas.openxmlformats.org/officeDocument/2006/relationships/hyperlink" Target="https://www.anthropic.com/news/claude-opus-4-5" TargetMode="External"/><Relationship Id="rId28" Type="http://schemas.openxmlformats.org/officeDocument/2006/relationships/hyperlink" Target="https://ai.meta.com/blog/introducing-muse-spark-msl/" TargetMode="External"/><Relationship Id="rId36" Type="http://schemas.openxmlformats.org/officeDocument/2006/relationships/hyperlink" Target="https://ernie.baidu.com/blog/posts/ernie-5.1-0508-release/" TargetMode="External"/><Relationship Id="rId10" Type="http://schemas.openxmlformats.org/officeDocument/2006/relationships/hyperlink" Target="https://llmworld.net/llm_leaderboards/" TargetMode="External"/><Relationship Id="rId19" Type="http://schemas.openxmlformats.org/officeDocument/2006/relationships/hyperlink" Target="https://www.anthropic.com/news/claude-fable-5-mythos-5" TargetMode="External"/><Relationship Id="rId31" Type="http://schemas.openxmlformats.org/officeDocument/2006/relationships/hyperlink" Target="https://mimo.xiaomi.com/mimo-v2-5-pro/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web.lmarena.ai/leaderboard" TargetMode="External"/><Relationship Id="rId14" Type="http://schemas.openxmlformats.org/officeDocument/2006/relationships/hyperlink" Target="https://www.vellum.ai/llm-leaderboard" TargetMode="External"/><Relationship Id="rId22" Type="http://schemas.openxmlformats.org/officeDocument/2006/relationships/hyperlink" Target="https://www.anthropic.com/news/claude-opus-4-8" TargetMode="External"/><Relationship Id="rId27" Type="http://schemas.openxmlformats.org/officeDocument/2006/relationships/hyperlink" Target="https://chat.qwen.ai/?models=Qwen3.7-Max-Preview" TargetMode="External"/><Relationship Id="rId30" Type="http://schemas.openxmlformats.org/officeDocument/2006/relationships/hyperlink" Target="https://platform.openai.com/docs/models/gpt-5.4" TargetMode="External"/><Relationship Id="rId35" Type="http://schemas.openxmlformats.org/officeDocument/2006/relationships/hyperlink" Target="https://developers.openai.com/api/docs/models/gpt-5.2-chat-latest" TargetMode="External"/><Relationship Id="rId43" Type="http://schemas.openxmlformats.org/officeDocument/2006/relationships/hyperlink" Target="https://docs.x.ai/developers/models/grok-4.20-multi-agent-beta-0309" TargetMode="External"/><Relationship Id="rId8" Type="http://schemas.openxmlformats.org/officeDocument/2006/relationships/hyperlink" Target="https://beta.lmarena.ai" TargetMode="External"/><Relationship Id="rId3" Type="http://schemas.openxmlformats.org/officeDocument/2006/relationships/hyperlink" Target="https://en.wikipedia.org/wiki/Elo_rating_system" TargetMode="External"/><Relationship Id="rId12" Type="http://schemas.openxmlformats.org/officeDocument/2006/relationships/hyperlink" Target="https://artificialanalysis.ai/leaderboards/models" TargetMode="External"/><Relationship Id="rId17" Type="http://schemas.openxmlformats.org/officeDocument/2006/relationships/hyperlink" Target="http://aiarena.alibaba-inc.com/corpora/arena/leaderboard?arenaType=T2I" TargetMode="External"/><Relationship Id="rId25" Type="http://schemas.openxmlformats.org/officeDocument/2006/relationships/hyperlink" Target="https://www.anthropic.com/news/claude-sonnet-4-6" TargetMode="External"/><Relationship Id="rId33" Type="http://schemas.openxmlformats.org/officeDocument/2006/relationships/hyperlink" Target="https://openai.com/index/introducing-gpt-5-5/" TargetMode="External"/><Relationship Id="rId38" Type="http://schemas.openxmlformats.org/officeDocument/2006/relationships/hyperlink" Target="https://blog.google/innovation-and-ai/models-and-research/gemini-models/gemini-3-5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ubq.ai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hyperlink" Target="https://api.subq.ai/v1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metatrends.substack.com/p/the-next-5-years-a-supersonic-tsunami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/video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jp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hyperlink" Target="https://www.baseten.co" TargetMode="External"/><Relationship Id="rId7" Type="http://schemas.openxmlformats.org/officeDocument/2006/relationships/image" Target="../media/image1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hyperlink" Target="https://docs.baseten.co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DA2E8szXjoA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hyperlink" Target="https://github.com/tursodatabase/turso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EPEI-IIPu4E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hyperlink" Target="https://trueup.io/layoffs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100175" y="498650"/>
            <a:ext cx="4330200" cy="1003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"LM Arena" Leaderboard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Agent Map-Reduce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SubQ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Supersonic Tsunami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55167" y="-22692"/>
            <a:ext cx="44202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0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Updates - June 26, 2026</a:t>
            </a:r>
            <a:endParaRPr sz="30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4536607" y="4117489"/>
            <a:ext cx="4525800" cy="264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Jobs &amp; Layoffs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4536600" y="180450"/>
            <a:ext cx="4525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xx</a:t>
            </a:r>
            <a:endParaRPr sz="20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4536607" y="1693281"/>
            <a:ext cx="4525800" cy="10035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Seedance 2.5 - ByteDance’s latest AI video model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 Rust-based rewrite of SQLite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How To Get AI to Stop Lying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100175" y="1589436"/>
            <a:ext cx="4330200" cy="2235000"/>
          </a:xfrm>
          <a:prstGeom prst="rect">
            <a:avLst/>
          </a:prstGeom>
          <a:solidFill>
            <a:srgbClr val="D0E0E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Brain in the Middle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Agent-Centered App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Sakana AI - Fugu Ultra Orchestration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Reflection AI + SpaceX $6.3 Bln Deal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Corps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Groq Raises $650M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Baseten raised $1.5 Bln for infrastructure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Harrison Kinsley (Sentdex)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6041375" y="2449450"/>
            <a:ext cx="30510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7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>
                <a:latin typeface="Calibri"/>
                <a:ea typeface="Calibri"/>
                <a:cs typeface="Calibri"/>
                <a:sym typeface="Calibri"/>
              </a:rPr>
              <a:t>Design Arena -    </a:t>
            </a:r>
            <a:br>
              <a:rPr lang="en" sz="700">
                <a:latin typeface="Calibri"/>
                <a:ea typeface="Calibri"/>
                <a:cs typeface="Calibri"/>
                <a:sym typeface="Calibri"/>
              </a:rPr>
            </a:br>
            <a:r>
              <a:rPr lang="en" sz="7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https://www.designarena.ai</a:t>
            </a:r>
            <a:r>
              <a:rPr lang="en" sz="7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https://openlm.ai/chatbot-arena/</a:t>
            </a:r>
            <a: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https://beta.lmarena.ai</a:t>
            </a:r>
            <a: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 Leaderboard -  1T params</a:t>
            </a:r>
            <a:b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7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https://web.lmarena.ai/leaderboard</a:t>
            </a: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@LlmStats - </a:t>
            </a:r>
            <a:b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7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https://llmworld.net/llm_leaderboards/</a:t>
            </a: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StackAI</a:t>
            </a:r>
            <a: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b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7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https://www.stack-ai.com/llm-leaderboard</a:t>
            </a: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Artificial Analysis</a:t>
            </a:r>
            <a: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b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7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https://artificialanalysis.ai/leaderboards/models</a:t>
            </a: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LLM Leaderboard - by Hugging Face - </a:t>
            </a:r>
            <a:b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7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https://huggingface.co/open-llm-leaderboard</a:t>
            </a: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Vellum - </a:t>
            </a:r>
            <a:b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7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https://www.vellum.ai/llm-leaderboard</a:t>
            </a:r>
            <a:r>
              <a:rPr lang="en" sz="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Benchmarking Hub - </a:t>
            </a:r>
            <a:b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7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/>
              </a:rPr>
              <a:t>https://epoch.ai/data/ai-benchmarking-dashboard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Grok 4 Benchmarks - </a:t>
            </a:r>
            <a:b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7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https://artificialanalysis.ai/models/grok-4</a:t>
            </a:r>
            <a: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Image arena (alibaba) - </a:t>
            </a:r>
            <a:b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7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/>
              </a:rPr>
              <a:t>http://aiarena.alibaba-inc.com/corpora/arena/leaderboard?arenaType=T2I</a:t>
            </a:r>
            <a: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1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Calibri"/>
              <a:buChar char="●"/>
            </a:pPr>
            <a: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image arena - </a:t>
            </a:r>
            <a:r>
              <a:rPr lang="en" sz="7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/>
              </a:rPr>
              <a:t>https://lmarena.ai/leaderboard/text-to-image</a:t>
            </a:r>
            <a:r>
              <a:rPr lang="en" sz="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3437903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June 16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9" name="Google Shape;79;p16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{1EEAF864-D336-494F-AE89-E28C2F5D0C55}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0" name="Google Shape;80;p16"/>
          <p:cNvSpPr txBox="1"/>
          <p:nvPr/>
        </p:nvSpPr>
        <p:spPr>
          <a:xfrm>
            <a:off x="6838390" y="485738"/>
            <a:ext cx="21525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Fable-5 - 6TB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Opus-4.8 - 5TB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Sonnet-4.5 - 1TB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GLM-5.1 - 744B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muse-spark - 16 x 70B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Qwen3.7-max-preview - 745B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Ernie-5.1 - 800B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Kimi-k2.6 - 1T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ByteDance 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dola-seed-2.0-pro 400B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 -  456B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1" name="Google Shape;81;p16"/>
          <p:cNvGraphicFramePr/>
          <p:nvPr/>
        </p:nvGraphicFramePr>
        <p:xfrm>
          <a:off x="2947061" y="817007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{1EEAF864-D336-494F-AE89-E28C2F5D0C55}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1563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claude-opus-4-7-thinking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claude-opus-4-6-thinking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claude-opus-4-8-thinking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claude-opus-4-8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claude-opus-4-5-20251101-thinking-32k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glm-5.1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glm-5.2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claude-opus-4-5-20251101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gpt-5.4-high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mimo-v2.5-pro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claude-sonnet-4-5-20250929-thinking-32k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gpt-5.2-chat-latest-20260210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ernie-5.1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gpt-5.4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claude-sonnet-4-5-20250929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/>
                        </a:rPr>
                        <a:t>claude-opus-4-1-20250805-thinking-16k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82" name="Google Shape;82;p16"/>
          <p:cNvGraphicFramePr/>
          <p:nvPr/>
        </p:nvGraphicFramePr>
        <p:xfrm>
          <a:off x="211109" y="82070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{1EEAF864-D336-494F-AE89-E28C2F5D0C55}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4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claude-opus-4-6-thinking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claude-opus-4-7-thinking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claude-opus-4-8-thinking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gpt-5.4-high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claude-opus-4-8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8"/>
                        </a:rPr>
                        <a:t>gemini-3.5-flash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gpt-5.2-chat-latest-20260210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glm-5.1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gpt-5.5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9"/>
                        </a:rPr>
                        <a:t>grok-4.20-beta-0309-reasoning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0"/>
                        </a:rPr>
                        <a:t>grok-4.20-beta1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1"/>
                        </a:rPr>
                        <a:t>gemini-3-flash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claude-opus-4-5-20251101-thinking-32k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2"/>
                        </a:rPr>
                        <a:t>gpt-5.5-instant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3"/>
                        </a:rPr>
                        <a:t>grok-4.20-multi-agent-beta-0309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glm-5.2 (max)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/>
          <p:nvPr/>
        </p:nvSpPr>
        <p:spPr>
          <a:xfrm>
            <a:off x="81775" y="67675"/>
            <a:ext cx="2559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 Map-Reduce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7"/>
          <p:cNvSpPr txBox="1"/>
          <p:nvPr/>
        </p:nvSpPr>
        <p:spPr>
          <a:xfrm>
            <a:off x="81775" y="624600"/>
            <a:ext cx="27111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LLM Map-Reduce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LLM MapReduce pattern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Agentic MapReduce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Agentic Map-Reduce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MapReduce for AI agents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MapReduceEnsemble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LangGraph map-reduce pattern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A-MapReduce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Map-Reduce-Produce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MapReduceProduce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Fan-out/fan-in (parallel agents)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Agentic wide search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Agent search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9" name="Google Shape;8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57425" y="292500"/>
            <a:ext cx="3571875" cy="1276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/>
        </p:nvSpPr>
        <p:spPr>
          <a:xfrm>
            <a:off x="81775" y="67675"/>
            <a:ext cx="5474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SubQ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8"/>
          <p:cNvSpPr txBox="1"/>
          <p:nvPr/>
        </p:nvSpPr>
        <p:spPr>
          <a:xfrm>
            <a:off x="81775" y="624600"/>
            <a:ext cx="5278800" cy="408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Subquadratic SubQ 12M-token context model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Miami‑based startup Subquadratic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proprietary model - access via hosted API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 to a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12‑Mln‑token context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window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fast -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x50 faster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than FlashAttention‑class models at Mln0token contexts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Cheap -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x20 cheaper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than top proprietary models for similar long‑context tasks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Sub‑quadratic sparse‑attention architecture (SSA)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coding agents, analysis of very large document sets (GitHub repos, ...)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Strong long‑context retrieval, and significantly reduced attention FLOPs versus dense‑attention transformers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https://subq.ai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https://api.subq.ai/v1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SubQ 1M-Preview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exposed via the subq-preview (or similar) API name and listed as the current model on third‑party references. Subquadratic has also announced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SubQ 1.1 Small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 long‑context SSA model (SSA = Subquadratic Sparse Attention)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Parameter counts have not been officially disclosed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a dense base model whose attention is made content‑sparse via learned routing, so you should think of it as “sparse attention with MoE‑inspired routing,” not a standard MoE‑experts LLM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Subquadratic is a private startup, $29M financing in May 2026 ($500M valuation)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company was co‑founded by CEO Justin Dangel and CTO Alexander (Alex) Whedon.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6" name="Google Shape;96;p18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524542" y="640891"/>
            <a:ext cx="873050" cy="851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8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507067" y="640895"/>
            <a:ext cx="1951175" cy="851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556175" y="2303109"/>
            <a:ext cx="1914525" cy="23907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9"/>
          <p:cNvSpPr txBox="1"/>
          <p:nvPr/>
        </p:nvSpPr>
        <p:spPr>
          <a:xfrm>
            <a:off x="81775" y="67675"/>
            <a:ext cx="30378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Supersonic Tsunami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9"/>
          <p:cNvSpPr txBox="1"/>
          <p:nvPr/>
        </p:nvSpPr>
        <p:spPr>
          <a:xfrm>
            <a:off x="81775" y="624600"/>
            <a:ext cx="3669600" cy="3651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Next 5 Years: A Supersonic Tsunami 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- by Peter H. Diamandis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Over the next 5 years - “supersonic tsunami” of change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cost and AI latency collapse by roughly 1000x, making on‑demand intelligence nearly free and ubiquitous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GPT‑3 - 175B params (2020)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Today's frontier models (2026) - multi‑trillion‑params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Training compute growing by orders of magnitude every couple of years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could push global GDP from today’s tens of trillions toward hundreds of trillions or even quadrillions of dollars as automated systems permeate every sector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Expectations of millions of humanoid robots deployed in factories, logistics, and homes, each displacing several full‑time workers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Medicine is reframed as an engineering discipline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compressing decades of drug discovery and diagnostics into 5–10 years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Serious efforts to add decades of healthy lifespan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https://metatrends.substack.com/p/the-next-5-years-a-supersonic-tsunami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5" name="Google Shape;105;p1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25575" y="67675"/>
            <a:ext cx="4366024" cy="22793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06" name="Google Shape;106;p19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77900" y="2398925"/>
            <a:ext cx="2628326" cy="13652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07" name="Google Shape;107;p19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44075" y="3714846"/>
            <a:ext cx="2628326" cy="132060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0"/>
          <p:cNvSpPr txBox="1"/>
          <p:nvPr/>
        </p:nvSpPr>
        <p:spPr>
          <a:xfrm>
            <a:off x="179326" y="478350"/>
            <a:ext cx="4917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do these weekly videos every Friday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Stats: 6.96K subscribers, 293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3" name="Google Shape;113;p2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33650" y="80363"/>
            <a:ext cx="2541900" cy="49827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6100" y="1304075"/>
            <a:ext cx="2636500" cy="284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71075" y="2299600"/>
            <a:ext cx="2498326" cy="1850225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1"/>
          <p:cNvSpPr txBox="1"/>
          <p:nvPr/>
        </p:nvSpPr>
        <p:spPr>
          <a:xfrm>
            <a:off x="225399" y="4413125"/>
            <a:ext cx="664800" cy="384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21"/>
          <p:cNvSpPr txBox="1"/>
          <p:nvPr/>
        </p:nvSpPr>
        <p:spPr>
          <a:xfrm>
            <a:off x="2860511" y="4442395"/>
            <a:ext cx="783000" cy="384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Ouputs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1"/>
          <p:cNvSpPr txBox="1"/>
          <p:nvPr/>
        </p:nvSpPr>
        <p:spPr>
          <a:xfrm>
            <a:off x="1385650" y="4231445"/>
            <a:ext cx="987000" cy="785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1" i="0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Custom Electronics</a:t>
            </a:r>
            <a:endParaRPr sz="13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1" i="0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Hardware</a:t>
            </a:r>
            <a:endParaRPr sz="13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21"/>
          <p:cNvSpPr/>
          <p:nvPr/>
        </p:nvSpPr>
        <p:spPr>
          <a:xfrm>
            <a:off x="963800" y="4495200"/>
            <a:ext cx="328800" cy="2322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1"/>
          <p:cNvSpPr/>
          <p:nvPr/>
        </p:nvSpPr>
        <p:spPr>
          <a:xfrm>
            <a:off x="2446180" y="4514075"/>
            <a:ext cx="328800" cy="2322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21"/>
          <p:cNvSpPr txBox="1"/>
          <p:nvPr/>
        </p:nvSpPr>
        <p:spPr>
          <a:xfrm>
            <a:off x="5844750" y="4374075"/>
            <a:ext cx="664800" cy="384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1"/>
          <p:cNvSpPr txBox="1"/>
          <p:nvPr/>
        </p:nvSpPr>
        <p:spPr>
          <a:xfrm>
            <a:off x="8270250" y="4360775"/>
            <a:ext cx="783000" cy="384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Ouputs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21"/>
          <p:cNvSpPr txBox="1"/>
          <p:nvPr/>
        </p:nvSpPr>
        <p:spPr>
          <a:xfrm>
            <a:off x="6948250" y="4260725"/>
            <a:ext cx="887100" cy="585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1" i="0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Computer "brain"</a:t>
            </a:r>
            <a:endParaRPr sz="13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21"/>
          <p:cNvSpPr/>
          <p:nvPr/>
        </p:nvSpPr>
        <p:spPr>
          <a:xfrm>
            <a:off x="6585417" y="4446400"/>
            <a:ext cx="299100" cy="2322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21"/>
          <p:cNvSpPr/>
          <p:nvPr/>
        </p:nvSpPr>
        <p:spPr>
          <a:xfrm>
            <a:off x="7903247" y="4437125"/>
            <a:ext cx="299100" cy="2322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21"/>
          <p:cNvSpPr txBox="1"/>
          <p:nvPr/>
        </p:nvSpPr>
        <p:spPr>
          <a:xfrm>
            <a:off x="5211900" y="836350"/>
            <a:ext cx="37575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1989-1991 I participated in designing a portable myograph. As you see, the device was very small and integrated with a laptop computer. Compare it with a prototype which was the size of a table (b/w photo on the left). </a:t>
            </a:r>
            <a:endParaRPr sz="14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1" name="Google Shape;131;p2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15124" y="2880300"/>
            <a:ext cx="887100" cy="688815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21"/>
          <p:cNvSpPr txBox="1"/>
          <p:nvPr/>
        </p:nvSpPr>
        <p:spPr>
          <a:xfrm>
            <a:off x="0" y="0"/>
            <a:ext cx="33786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Brain in the Middle</a:t>
            </a:r>
            <a:endParaRPr sz="25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21"/>
          <p:cNvSpPr/>
          <p:nvPr/>
        </p:nvSpPr>
        <p:spPr>
          <a:xfrm>
            <a:off x="4324800" y="3008425"/>
            <a:ext cx="887100" cy="4302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4CCCC"/>
          </a:solidFill>
          <a:ln w="9525" cap="flat" cmpd="sng">
            <a:solidFill>
              <a:srgbClr val="F4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4" name="Google Shape;134;p2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006400" y="2830975"/>
            <a:ext cx="1115186" cy="78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2"/>
          <p:cNvSpPr/>
          <p:nvPr/>
        </p:nvSpPr>
        <p:spPr>
          <a:xfrm>
            <a:off x="24220" y="601325"/>
            <a:ext cx="4499400" cy="3629100"/>
          </a:xfrm>
          <a:prstGeom prst="ellipse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22"/>
          <p:cNvSpPr/>
          <p:nvPr/>
        </p:nvSpPr>
        <p:spPr>
          <a:xfrm>
            <a:off x="4851636" y="577400"/>
            <a:ext cx="4253400" cy="3629100"/>
          </a:xfrm>
          <a:prstGeom prst="ellipse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22"/>
          <p:cNvSpPr txBox="1"/>
          <p:nvPr/>
        </p:nvSpPr>
        <p:spPr>
          <a:xfrm>
            <a:off x="1182035" y="887683"/>
            <a:ext cx="21969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" sz="19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Classical </a:t>
            </a:r>
            <a:r>
              <a:rPr lang="en" sz="19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App</a:t>
            </a:r>
            <a:endParaRPr sz="19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2"/>
          <p:cNvSpPr txBox="1"/>
          <p:nvPr/>
        </p:nvSpPr>
        <p:spPr>
          <a:xfrm>
            <a:off x="101985" y="2190300"/>
            <a:ext cx="519600" cy="384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22"/>
          <p:cNvSpPr txBox="1"/>
          <p:nvPr/>
        </p:nvSpPr>
        <p:spPr>
          <a:xfrm>
            <a:off x="3062985" y="2190300"/>
            <a:ext cx="1343400" cy="585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Action/Reports/Decisions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2"/>
          <p:cNvSpPr txBox="1"/>
          <p:nvPr/>
        </p:nvSpPr>
        <p:spPr>
          <a:xfrm>
            <a:off x="1098285" y="2110075"/>
            <a:ext cx="1478700" cy="585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Custom functions and interfaces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22"/>
          <p:cNvSpPr/>
          <p:nvPr/>
        </p:nvSpPr>
        <p:spPr>
          <a:xfrm>
            <a:off x="700635" y="2284025"/>
            <a:ext cx="318600" cy="2322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2"/>
          <p:cNvSpPr txBox="1"/>
          <p:nvPr/>
        </p:nvSpPr>
        <p:spPr>
          <a:xfrm>
            <a:off x="5752378" y="887675"/>
            <a:ext cx="24519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" sz="19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Agent-centered App</a:t>
            </a:r>
            <a:endParaRPr sz="19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22"/>
          <p:cNvSpPr/>
          <p:nvPr/>
        </p:nvSpPr>
        <p:spPr>
          <a:xfrm>
            <a:off x="2665335" y="2284025"/>
            <a:ext cx="318600" cy="2322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2"/>
          <p:cNvSpPr txBox="1"/>
          <p:nvPr/>
        </p:nvSpPr>
        <p:spPr>
          <a:xfrm>
            <a:off x="4978785" y="2190300"/>
            <a:ext cx="519600" cy="384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Data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2"/>
          <p:cNvSpPr txBox="1"/>
          <p:nvPr/>
        </p:nvSpPr>
        <p:spPr>
          <a:xfrm>
            <a:off x="7634985" y="2190300"/>
            <a:ext cx="1343400" cy="585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Action/Reports/Decisions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2"/>
          <p:cNvSpPr txBox="1"/>
          <p:nvPr/>
        </p:nvSpPr>
        <p:spPr>
          <a:xfrm>
            <a:off x="5969673" y="2207675"/>
            <a:ext cx="1188600" cy="585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AI Agent with skills, MCP, ...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2"/>
          <p:cNvSpPr/>
          <p:nvPr/>
        </p:nvSpPr>
        <p:spPr>
          <a:xfrm>
            <a:off x="5577435" y="2284025"/>
            <a:ext cx="318600" cy="2322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2"/>
          <p:cNvSpPr/>
          <p:nvPr/>
        </p:nvSpPr>
        <p:spPr>
          <a:xfrm>
            <a:off x="7237335" y="2284025"/>
            <a:ext cx="318600" cy="2322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3" name="Google Shape;153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20434" y="3084475"/>
            <a:ext cx="887100" cy="688815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2"/>
          <p:cNvSpPr/>
          <p:nvPr/>
        </p:nvSpPr>
        <p:spPr>
          <a:xfrm>
            <a:off x="3127690" y="3236875"/>
            <a:ext cx="2719500" cy="309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4CCCC"/>
          </a:solidFill>
          <a:ln w="9525" cap="flat" cmpd="sng">
            <a:solidFill>
              <a:srgbClr val="F4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5" name="Google Shape;155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02225" y="2890492"/>
            <a:ext cx="1343400" cy="1002383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2"/>
          <p:cNvSpPr txBox="1"/>
          <p:nvPr/>
        </p:nvSpPr>
        <p:spPr>
          <a:xfrm>
            <a:off x="914176" y="4390375"/>
            <a:ext cx="2719500" cy="585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Example: Adobe Photoshop</a:t>
            </a:r>
            <a:br>
              <a:rPr lang="en" sz="1300">
                <a:latin typeface="Calibri"/>
                <a:ea typeface="Calibri"/>
                <a:cs typeface="Calibri"/>
                <a:sym typeface="Calibri"/>
              </a:rPr>
            </a:b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Many Menus and Options to Learn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22"/>
          <p:cNvSpPr txBox="1"/>
          <p:nvPr/>
        </p:nvSpPr>
        <p:spPr>
          <a:xfrm>
            <a:off x="5939275" y="4390375"/>
            <a:ext cx="2078100" cy="585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Agent ChatBot UI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(like in Cursor, ...)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2"/>
          <p:cNvSpPr txBox="1"/>
          <p:nvPr/>
        </p:nvSpPr>
        <p:spPr>
          <a:xfrm>
            <a:off x="0" y="0"/>
            <a:ext cx="33786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/>
              <a:t>Agent-Centered App</a:t>
            </a:r>
            <a:endParaRPr sz="25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3"/>
          <p:cNvSpPr txBox="1"/>
          <p:nvPr/>
        </p:nvSpPr>
        <p:spPr>
          <a:xfrm>
            <a:off x="81775" y="67675"/>
            <a:ext cx="5474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Sakana AI - Fugu Ultra Orchestration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81775" y="2316825"/>
            <a:ext cx="4745700" cy="149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Sakana AI - Fugu Ultra Orchestration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Fugu and Fugu Ultra are multi-model orchestration systems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They dynamically coordinate multiple AI agents through a single API rather than solving tasks with one monolithic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Built on Sakana’s Trinity and Conductor research, the system handles model selection, delegation, and synthesis internally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Sakana positions the approach as a hedge against vendor lock-in and export-control disruptions affecting access to advanced AI models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81775" y="547725"/>
            <a:ext cx="47457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Fugu systems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match or outperform Anthropic’s Claude Fable and Mythos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 some benchmarks, especially coding and graduate-level reasoning tasks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API Pricing: $5 in / $30 out ($10 / $45 for very large context)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Subscriptions Pro &amp; Max - $20/mo, $100/mo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Fugu’s performance comes from coordination, model selection, and synthesis across multiple back-end models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practice, it behaves like a single “frontier-class” endpoint, but architecturally it is an orchestration layer rather than a standalone model.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6" name="Google Shape;166;p23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46500" y="590750"/>
            <a:ext cx="1929975" cy="15948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/>
          <p:cNvSpPr txBox="1"/>
          <p:nvPr/>
        </p:nvSpPr>
        <p:spPr>
          <a:xfrm>
            <a:off x="81775" y="67675"/>
            <a:ext cx="1440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4"/>
          <p:cNvSpPr txBox="1"/>
          <p:nvPr/>
        </p:nvSpPr>
        <p:spPr>
          <a:xfrm>
            <a:off x="81775" y="420466"/>
            <a:ext cx="47457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Reflection AI + SpaceX $6.3 Bln Deal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Reflection gets access to NVIDIA GB300 chips at SpaceX’s Colossus 2 data center, paying $150 million per month starting July 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agreement runs through 2029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Reflection joins customers including Anthropic, Google, and Cursor as SpaceX expands its AI infrastructure business.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4"/>
          <p:cNvSpPr txBox="1"/>
          <p:nvPr/>
        </p:nvSpPr>
        <p:spPr>
          <a:xfrm>
            <a:off x="81775" y="1651966"/>
            <a:ext cx="47457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Corps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Anthropic recently unveiled Claude Corps, a year-long fellowship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places early-career workers inside nonprofit organizations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help those groups integrate AI into their operations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4"/>
          <p:cNvSpPr txBox="1"/>
          <p:nvPr/>
        </p:nvSpPr>
        <p:spPr>
          <a:xfrm>
            <a:off x="81775" y="2513866"/>
            <a:ext cx="47457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Groq Raises $650M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Six months after Nvidia licensed its tech and poached its CEO, Groq raised $650M to pivot from chipmaker to inference-focused cloud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Under co-founder Doug Wightman.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4"/>
          <p:cNvSpPr txBox="1"/>
          <p:nvPr/>
        </p:nvSpPr>
        <p:spPr>
          <a:xfrm>
            <a:off x="81775" y="3375766"/>
            <a:ext cx="47457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Baseten has raised $1.5 Bln to expand its infrastructure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AI inference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They run on major clouds (notably Google Cloud) using NVIDIA GPUs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Baseten focuses on simplifying deployment pipelines, optimizing GPU utilization, and enabling developers to run custom or open-source models reliably in production - auto-scaling, low-latency, cost‑efficient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Baseten is a privately held, founded in 2019 by Tuhin Srivastava, Amir Haghighat, Philip Howes, and Pankaj Gupta. Size ~ 60 employees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https://www.baseten.co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https://docs.baseten.co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6" name="Google Shape;176;p24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7600" y="3782600"/>
            <a:ext cx="2957304" cy="980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77" name="Google Shape;177;p2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7600" y="2662027"/>
            <a:ext cx="1574500" cy="980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78" name="Google Shape;178;p24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7589" y="1395363"/>
            <a:ext cx="2005436" cy="1126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79" name="Google Shape;179;p24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7600" y="175171"/>
            <a:ext cx="1904975" cy="10803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5"/>
          <p:cNvSpPr txBox="1"/>
          <p:nvPr/>
        </p:nvSpPr>
        <p:spPr>
          <a:xfrm>
            <a:off x="81775" y="67675"/>
            <a:ext cx="3115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Harrison Kinsley (Sentdex)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5"/>
          <p:cNvSpPr txBox="1"/>
          <p:nvPr/>
        </p:nvSpPr>
        <p:spPr>
          <a:xfrm>
            <a:off x="81775" y="812125"/>
            <a:ext cx="4745700" cy="426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Harrison Kinsley (Sentdex) about AI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https://www.youtube.com/watch?v=DA2E8szXjoA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Deceptive Behavior (specifically referencing Anthropic's "Fable" model) that are designed to intentionally mislead users if the model detects certain types of research, labeling this as a form of "psychological abuse"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Top-tier AI models are becoming subject to export restrictions similar to weapons of war (problematic for the industry and the public 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"moat" around top proprietary companies like OpenAI and Anthropic is effectively gone because high-performance, open-weights models are now available to the public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Testing open models - "Miniax M2.7", ...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"GLM52" open model can genuinely compete with and replace proprietary models like GPT-55 and Claude Opus 48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Building your own custom coding agents or "harnesses." - greater control, easier troubleshooting, customization to specific model behaviors or quantization needs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Running Models Locally - may require multi-GPU setups - expensive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Quantization makes it chaper. 4-bit quantization is near-lossless, but 3-bit degrades performance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Alternative - services like OpenRouter.ai to access open-source models via API - this is often significantly cheaper than proprietary alternatives but users should research each provider's data privacy policies regarding prompt retention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6" name="Google Shape;186;p2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62950" y="129025"/>
            <a:ext cx="1406100" cy="93537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87" name="Google Shape;187;p25"/>
          <p:cNvSpPr txBox="1"/>
          <p:nvPr/>
        </p:nvSpPr>
        <p:spPr>
          <a:xfrm>
            <a:off x="5132070" y="84589"/>
            <a:ext cx="39765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Harrison runs GLM5.2 locally on a custom-built  computer with 4 (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four) NVIDIA RTX Pro 6000 GPUs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(Blackwell. 96GB each).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Each GPU cost is approx $11K-$14K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model is massive—approximately 750 Bln params.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uses IQ4XS (4-bit quantiation)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8" name="Google Shape;188;p25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70136" y="1287941"/>
            <a:ext cx="3427275" cy="38008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6"/>
          <p:cNvSpPr txBox="1"/>
          <p:nvPr/>
        </p:nvSpPr>
        <p:spPr>
          <a:xfrm>
            <a:off x="81775" y="67675"/>
            <a:ext cx="1628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6"/>
          <p:cNvSpPr txBox="1"/>
          <p:nvPr/>
        </p:nvSpPr>
        <p:spPr>
          <a:xfrm>
            <a:off x="81775" y="452700"/>
            <a:ext cx="43800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Seedance 2.5 - ByteDance’s latest AI video model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Generating polished, cinematic clips from text prompts and multimodal inputs such as images, video, and audio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Ir adds support for native 4K output, longer single-shot scenes up to around 30 seconds, and more advanced multi-shot storytelling with consistent characters and visual style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system can ingest large numbers of reference assets (up to 50) to tightly control motion, composition, and branding in commercial workflows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Seedance 2.5 also emphasizes near–real-time generation and conversational editing, enabling interactive refinement of camera moves, lighting, and synchronized audio without rebuilding an entire shot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5" name="Google Shape;195;p2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38100" y="452702"/>
            <a:ext cx="3292754" cy="9116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96" name="Google Shape;196;p26"/>
          <p:cNvSpPr txBox="1"/>
          <p:nvPr/>
        </p:nvSpPr>
        <p:spPr>
          <a:xfrm>
            <a:off x="81775" y="2981100"/>
            <a:ext cx="43800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 Rust-based rewrite of SQLite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https://github.com/tursodatabase/turso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Gaining memory safety, async I/O, and WASM-first extensibility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targets similar or better reliability than classic SQLite, using modern testing approaches like deterministic simulation instead of only reproducing the legacy C test harness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7" name="Google Shape;197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738100" y="2872200"/>
            <a:ext cx="2847975" cy="160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/>
        </p:nvSpPr>
        <p:spPr>
          <a:xfrm>
            <a:off x="81775" y="67675"/>
            <a:ext cx="1628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81775" y="452700"/>
            <a:ext cx="43800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How Anthropic's Own Team Gets AI to Stop Lying to Them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https://www.youtube.com/watch?v=EPEI-IIPu4E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 Specific - Clearly define vague terminology to prevent AI misinterpretation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Create a Single Source of Truth - archive outdated files so the AI only accesses relevant, current data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Require Receipts - Prompt the AI to provide citations for its information, making audits easier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a Second Opinion - For high-stakes tasks, test results in a fresh chat or via a different AI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Test Before Automating - Validate automated tasks using sample data to ensure reliability before removing human oversight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4" name="Google Shape;204;p2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7225" y="715461"/>
            <a:ext cx="1628700" cy="170946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8"/>
          <p:cNvSpPr txBox="1"/>
          <p:nvPr/>
        </p:nvSpPr>
        <p:spPr>
          <a:xfrm>
            <a:off x="67350" y="52750"/>
            <a:ext cx="3179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Jobs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8"/>
          <p:cNvSpPr txBox="1"/>
          <p:nvPr/>
        </p:nvSpPr>
        <p:spPr>
          <a:xfrm>
            <a:off x="2134467" y="342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8"/>
          <p:cNvSpPr txBox="1"/>
          <p:nvPr/>
        </p:nvSpPr>
        <p:spPr>
          <a:xfrm>
            <a:off x="5655225" y="3510625"/>
            <a:ext cx="3360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119K in 2026 </a:t>
            </a:r>
            <a:r>
              <a:rPr lang="en" sz="10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(as of June 19,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124K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264K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8"/>
          <p:cNvSpPr txBox="1"/>
          <p:nvPr/>
        </p:nvSpPr>
        <p:spPr>
          <a:xfrm>
            <a:off x="5422950" y="531250"/>
            <a:ext cx="32868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153,608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(904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3" name="Google Shape;213;p28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50" y="3228800"/>
            <a:ext cx="5355602" cy="187497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14" name="Google Shape;214;p2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50" y="480350"/>
            <a:ext cx="5058389" cy="26924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29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5525" y="1203525"/>
            <a:ext cx="1570556" cy="1570556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9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9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2" name="Google Shape;222;p29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1578" y="3664175"/>
            <a:ext cx="858450" cy="311906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9"/>
          <p:cNvSpPr txBox="1"/>
          <p:nvPr/>
        </p:nvSpPr>
        <p:spPr>
          <a:xfrm>
            <a:off x="735103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9"/>
          <p:cNvSpPr txBox="1"/>
          <p:nvPr/>
        </p:nvSpPr>
        <p:spPr>
          <a:xfrm>
            <a:off x="383803" y="4360974"/>
            <a:ext cx="209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Enterprise AI Systems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0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2284</Words>
  <Application>Microsoft Macintosh PowerPoint</Application>
  <PresentationFormat>On-screen Show (16:9)</PresentationFormat>
  <Paragraphs>377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Roboto Mono</vt:lpstr>
      <vt:lpstr>Calibri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2026-06-23T22:38:50Z</dcterms:modified>
</cp:coreProperties>
</file>