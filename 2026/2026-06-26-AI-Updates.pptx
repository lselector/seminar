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Roboto Mono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DE7A8B-4F24-4A34-9A8D-8F9A406D6FCD}">
  <a:tblStyle styleId="{A7DE7A8B-4F24-4A34-9A8D-8F9A406D6F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d2c6c1b0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ed2c6c1b0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c31c57a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ec31c57a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55874816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ef55874816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f85b6e1a3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ef85b6e1a3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e4607b5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3ee4607b5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e4607b5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ee4607b5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31867543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931867543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e29a8f3f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ee29a8f3f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e29a8f3ff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ee29a8f3ff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f0957303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ef0957303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df5b0cf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edf5b0cf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e7c55bd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ee7c55bd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f85b6e1a3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ef85b6e1a3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f0957303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ef0957303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f0e46ac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3ef0e46ac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f16370c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ef16370c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f16370cc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ef16370cc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f558748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ef5587481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f2c5983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ef2c5983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f5587481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3ef5587481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f55874816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ef55874816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971967e0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d971967e0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huggingface.co/open-llm-leaderboard" TargetMode="External"/><Relationship Id="rId18" Type="http://schemas.openxmlformats.org/officeDocument/2006/relationships/hyperlink" Target="https://lmarena.ai/leaderboard/text-to-image" TargetMode="External"/><Relationship Id="rId26" Type="http://schemas.openxmlformats.org/officeDocument/2006/relationships/hyperlink" Target="https://ai.meta.com/blog/introducing-muse-spark-msl/" TargetMode="External"/><Relationship Id="rId39" Type="http://schemas.openxmlformats.org/officeDocument/2006/relationships/hyperlink" Target="https://grok.com" TargetMode="External"/><Relationship Id="rId21" Type="http://schemas.openxmlformats.org/officeDocument/2006/relationships/hyperlink" Target="https://www.anthropic.com/news/claude-opus-4-6" TargetMode="External"/><Relationship Id="rId34" Type="http://schemas.openxmlformats.org/officeDocument/2006/relationships/hyperlink" Target="https://openai.com/index/introducing-gpt-5-5/" TargetMode="External"/><Relationship Id="rId7" Type="http://schemas.openxmlformats.org/officeDocument/2006/relationships/hyperlink" Target="https://openlm.ai/chatbot-arena/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tificialanalysis.ai/models/grok-4" TargetMode="External"/><Relationship Id="rId20" Type="http://schemas.openxmlformats.org/officeDocument/2006/relationships/hyperlink" Target="https://www.anthropic.com/news/claude-opus-4-7" TargetMode="External"/><Relationship Id="rId29" Type="http://schemas.openxmlformats.org/officeDocument/2006/relationships/hyperlink" Target="https://blog.google/innovation-and-ai/models-and-research/gemini-models/gemini-3-1-pro/" TargetMode="External"/><Relationship Id="rId41" Type="http://schemas.openxmlformats.org/officeDocument/2006/relationships/hyperlink" Target="https://docs.x.ai/developers/models/grok-4.20-multi-agent-beta-0309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signarena.ai" TargetMode="External"/><Relationship Id="rId11" Type="http://schemas.openxmlformats.org/officeDocument/2006/relationships/hyperlink" Target="https://www.stack-ai.com/llm-leaderboard" TargetMode="External"/><Relationship Id="rId24" Type="http://schemas.openxmlformats.org/officeDocument/2006/relationships/hyperlink" Target="https://www.anthropic.com/news/claude-sonnet-4-6" TargetMode="External"/><Relationship Id="rId32" Type="http://schemas.openxmlformats.org/officeDocument/2006/relationships/hyperlink" Target="https://mimo.xiaomi.com/mimo-v2-5-pro/" TargetMode="External"/><Relationship Id="rId37" Type="http://schemas.openxmlformats.org/officeDocument/2006/relationships/hyperlink" Target="https://openai.com/index/gpt-5-5-instant" TargetMode="External"/><Relationship Id="rId40" Type="http://schemas.openxmlformats.org/officeDocument/2006/relationships/hyperlink" Target="https://blog.google/products/gemini/gemini-3-flash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epoch.ai/data/ai-benchmarking-dashboard" TargetMode="External"/><Relationship Id="rId23" Type="http://schemas.openxmlformats.org/officeDocument/2006/relationships/hyperlink" Target="https://www.anthropic.com/news/claude-opus-4-5" TargetMode="External"/><Relationship Id="rId28" Type="http://schemas.openxmlformats.org/officeDocument/2006/relationships/hyperlink" Target="https://huggingface.co/zai-org/GLM-5.2" TargetMode="External"/><Relationship Id="rId36" Type="http://schemas.openxmlformats.org/officeDocument/2006/relationships/hyperlink" Target="https://docs.x.ai/developers/models/grok-4.20-beta-0309-reasoning" TargetMode="External"/><Relationship Id="rId10" Type="http://schemas.openxmlformats.org/officeDocument/2006/relationships/hyperlink" Target="https://llmworld.net/llm_leaderboards/" TargetMode="External"/><Relationship Id="rId19" Type="http://schemas.openxmlformats.org/officeDocument/2006/relationships/hyperlink" Target="https://www.anthropic.com/news/claude-fable-5-mythos-5" TargetMode="External"/><Relationship Id="rId31" Type="http://schemas.openxmlformats.org/officeDocument/2006/relationships/hyperlink" Target="https://www.anthropic.com/news/claude-sonnet-4-5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web.lmarena.ai/leaderboard" TargetMode="External"/><Relationship Id="rId14" Type="http://schemas.openxmlformats.org/officeDocument/2006/relationships/hyperlink" Target="https://www.vellum.ai/llm-leaderboard" TargetMode="External"/><Relationship Id="rId22" Type="http://schemas.openxmlformats.org/officeDocument/2006/relationships/hyperlink" Target="https://www.anthropic.com/news/claude-opus-4-8" TargetMode="External"/><Relationship Id="rId27" Type="http://schemas.openxmlformats.org/officeDocument/2006/relationships/hyperlink" Target="https://huggingface.co/zai-org/GLM-5.1" TargetMode="External"/><Relationship Id="rId30" Type="http://schemas.openxmlformats.org/officeDocument/2006/relationships/hyperlink" Target="https://platform.openai.com/docs/models/gpt-5.4" TargetMode="External"/><Relationship Id="rId35" Type="http://schemas.openxmlformats.org/officeDocument/2006/relationships/hyperlink" Target="https://developers.openai.com/api/docs/models/gpt-5.2-chat-latest" TargetMode="External"/><Relationship Id="rId8" Type="http://schemas.openxmlformats.org/officeDocument/2006/relationships/hyperlink" Target="https://beta.lmarena.ai" TargetMode="External"/><Relationship Id="rId3" Type="http://schemas.openxmlformats.org/officeDocument/2006/relationships/hyperlink" Target="https://en.wikipedia.org/wiki/Elo_rating_system" TargetMode="External"/><Relationship Id="rId12" Type="http://schemas.openxmlformats.org/officeDocument/2006/relationships/hyperlink" Target="https://artificialanalysis.ai/leaderboards/models" TargetMode="External"/><Relationship Id="rId17" Type="http://schemas.openxmlformats.org/officeDocument/2006/relationships/hyperlink" Target="http://aiarena.alibaba-inc.com/corpora/arena/leaderboard?arenaType=T2I" TargetMode="External"/><Relationship Id="rId25" Type="http://schemas.openxmlformats.org/officeDocument/2006/relationships/hyperlink" Target="https://chat.qwen.ai/?models=Qwen3.7-Max-Preview" TargetMode="External"/><Relationship Id="rId33" Type="http://schemas.openxmlformats.org/officeDocument/2006/relationships/hyperlink" Target="https://aistudio.google.com/app/prompts/new_chat?model=gemini-3-pro-preview" TargetMode="External"/><Relationship Id="rId38" Type="http://schemas.openxmlformats.org/officeDocument/2006/relationships/hyperlink" Target="https://blog.google/innovation-and-ai/models-and-research/gemini-models/gemini-3-5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oQ_aqiSTLQc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DVeGbGaRd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wBiYV7Mdc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bq.ai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api.subq.ai/v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trends.substack.com/p/the-next-5-years-a-supersonic-tsunami" TargetMode="External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hyperlink" Target="https://www.baseten.co" TargetMode="External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docs.baseten.co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A2E8szXjo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hyperlink" Target="https://github.com/tursodatabase/turso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UWxMPUko1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hyperlink" Target="https://www.youtube.com/watch?v=EPEI-IIPu4E" TargetMode="Externa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03v0gmVu24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GYr9VqQnEI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Rw-vP0j8O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trends.substack.com/p/visibility-transparency-and-trust?utm_source=post-email-title&amp;publication_id=6133698&amp;post_id=203562199&amp;utm_campaign=email-post-title&amp;isFreemail=true&amp;r=cgnlq&amp;triedRedirect=true&amp;utm_medium=emai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hyperlink" Target="https://trueup.io/layoff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498650"/>
            <a:ext cx="4330200" cy="174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 Leaderboard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Anthropic’s Claude Fable 5 is still offline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US Gov delays OpenAI GPT 5.6 Release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Alibaba - Jack Ma's Downfall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zCode + GLM5.2 vs Anthropic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SubQ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Supersonic Tsunami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June 26,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536607" y="4489314"/>
            <a:ext cx="4525800" cy="264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135850" y="302375"/>
            <a:ext cx="332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GLM 5.2 - Opus 4.8 - GPT 5.5</a:t>
            </a:r>
            <a:endParaRPr sz="20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536607" y="1046244"/>
            <a:ext cx="4525800" cy="2727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Seedance 2.5 - ByteDance’s latest AI video model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Rust-based rewrite of SQLite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How To Get AI to Stop Lying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How Anthropic Employees use "Claude skills"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Scheduling for your digital employee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Fable Brain Prompting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Harness Engineering - a New Gold Rush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Build a custom "Agentic OS"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Scheduling for your digital employee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Three-layers of an AI agent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Peter Diamandis - Trillions Sensors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2373336"/>
            <a:ext cx="4330200" cy="24813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Brain in the Middle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Agent-Centered App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Sakana AI - Fugu Ultra Orchestration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Reflection AI + SpaceX $6.3 Bln Deal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Corps Fellowship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Groq Raises $650M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Baseten raised $1.5 Bln for infrastructure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Harrison Kinsley (Sentdex) on AI Models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Hermes Agent Skills "/learn"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 Map-Reduce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041375" y="2449450"/>
            <a:ext cx="30510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7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latin typeface="Calibri"/>
                <a:ea typeface="Calibri"/>
                <a:cs typeface="Calibri"/>
                <a:sym typeface="Calibri"/>
              </a:rPr>
              <a:t>Design Arena -    </a:t>
            </a:r>
            <a:br>
              <a:rPr lang="en" sz="700"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https://www.designarena.ai</a:t>
            </a:r>
            <a:r>
              <a:rPr lang="en" sz="7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https://openlm.ai/chatbot-arena/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https://beta.lmarena.ai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Leaderboard -  1T params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https://web.lmarena.ai/leaderboard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@LlmStats - 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https://llmworld.net/llm_leaderboards/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StackAI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https://www.stack-ai.com/llm-leaderboard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Artificial Analysis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https://artificialanalysis.ai/leaderboards/models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LLM Leaderboard - by Hugging Face - 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https://huggingface.co/open-llm-leaderboard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Vellum - </a:t>
            </a:r>
            <a:b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https://www.vellum.ai/llm-leaderboard</a:t>
            </a:r>
            <a:r>
              <a:rPr lang="en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Benchmarking Hub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https://epoch.ai/data/ai-benchmarking-dashboard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Grok 4 Benchmarks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https://artificialanalysis.ai/models/grok-4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(alibaba) - </a:t>
            </a:r>
            <a:b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http://aiarena.alibaba-inc.com/corpora/arena/leaderboard?arenaType=T2I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Char char="●"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- </a:t>
            </a:r>
            <a:r>
              <a:rPr lang="en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https://lmarena.ai/leaderboard/text-to-image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June 25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{A7DE7A8B-4F24-4A34-9A8D-8F9A406D6FCD}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6838390" y="485738"/>
            <a:ext cx="21525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GLM-5.1 - 744B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Kimi-k2.6 - 1T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2956138" y="816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{A7DE7A8B-4F24-4A34-9A8D-8F9A406D6FCD}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glm-5.1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glm-5.2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claude-sonnet-4-5-20250929-thinking-32k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mimo-v2.5-pro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gpt-5.4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claude-sonnet-4-5-20250929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grok-4.20-beta-0309-reasoning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gpt-5.5-instant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2" name="Google Shape;82;p16"/>
          <p:cNvGraphicFramePr/>
          <p:nvPr/>
        </p:nvGraphicFramePr>
        <p:xfrm>
          <a:off x="197321" y="833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{A7DE7A8B-4F24-4A34-9A8D-8F9A406D6FCD}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/>
                        </a:rPr>
                        <a:t>gemini-3.5-flash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grok-4.20-beta-0309-reasoning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9"/>
                        </a:rPr>
                        <a:t>grok-4.20-beta1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glm-5.1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0"/>
                        </a:rPr>
                        <a:t>gemini-3-flash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claude-opus-4-5-20251101-thinking-32k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gpt-5.5-instant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1"/>
                        </a:rPr>
                        <a:t>grok-4.20-multi-agent-beta-0309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glm-5.2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81775" y="67675"/>
            <a:ext cx="2559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81775" y="636600"/>
            <a:ext cx="44016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Anthropic’s Claude Fable 5 is still offline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negotiates with the Trump administration on future access conditions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concrete timeline or announced date exists for re‑enabling any 5‑series models, so developers should not rely on their near‑term availability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81775" y="1871650"/>
            <a:ext cx="44016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 Government asked OpenAI to stagger the release of GPT‑5.6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over security concerns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GPT‑5.6 will first go to a small set of “trusted partners” in a limited preview, with the government approving access customer by customer during that phase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https://www.youtube.com/shorts/oQ_aqiSTLQc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aligns with a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recent Trump executive order that asks companies to give the federal government early access (up to ~30 days) to the most capable models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so agencies can evaluate them before broad deployment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Reports suggest the NSA is involved in defining which models qualify as “covered” based on offensive/defensive cyber potential,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Federal officials may help choose which entities get early access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004" y="2423500"/>
            <a:ext cx="2782550" cy="156093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000" y="470417"/>
            <a:ext cx="2782550" cy="1459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81775" y="67675"/>
            <a:ext cx="3467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Alibaba - Jack Ma's Downfall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59350" y="563525"/>
            <a:ext cx="4439700" cy="389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Alibaba today is an AI-first company, famous for its Qwen LLMs, AI-powered e-commerce, cloud services, and AI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 October 2020, Alibaba founder Jack Ma gave a speech criticizing China’s financial system, calling it a "pawn shop" 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This public critique angered senior CCP officials and President Xi Jinping, triggering a massive crackdown on Ma’s companies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planned IPO for Ant Group was suspended, and Alibaba faced a record $2.8 Bln antitrust fine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Ma’s influence and business empire were systematically dismantled, and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 largely disappeared from public view for years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Jack Ma's businesses ended up Losing hundreds of $Billions of value, his personal net worth has dropped from ~$61B to ~$30B</a:t>
            </a:r>
            <a:b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2025, facing a slowing economy and capital flight, the Chinese government attempted to reconcile with business leaders, including a public appearance by 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investors do not trust CCP, because it demonstrated how it can take over any business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 Government has added Alibaba to the blacklist because it is now mostly controlled by CCP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https://www.youtube.com/watch?v=tDVeGbGaRdE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7350" y="1867937"/>
            <a:ext cx="2605999" cy="2432777"/>
          </a:xfrm>
          <a:prstGeom prst="rect">
            <a:avLst/>
          </a:prstGeom>
          <a:noFill/>
          <a:ln w="88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7350" y="640477"/>
            <a:ext cx="2605989" cy="1128454"/>
          </a:xfrm>
          <a:prstGeom prst="rect">
            <a:avLst/>
          </a:prstGeom>
          <a:noFill/>
          <a:ln w="88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81775" y="67675"/>
            <a:ext cx="1802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81775" y="624600"/>
            <a:ext cx="44154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zCode + GLM5.2 vs Anthropic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Z.AI's zCode is marketed as a free alternative to Claude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in the experiments the GLM5.2 fails to perform the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Code + Opus 4.8 has successfully completed the task instantly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video serves as a critical review, highlighting the performance gap between emerging free alternatives and established industry standards like Claude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https://www.youtube.com/watch?v=vwBiYV7MdcY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825" y="741150"/>
            <a:ext cx="3905250" cy="1447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81775" y="67675"/>
            <a:ext cx="5474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SubQ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81775" y="624600"/>
            <a:ext cx="52788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Subquadratic SubQ 12M-token context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Miami‑based startup Subquadratic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proprietary model - access via hosted API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a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12‑Mln‑token context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fast -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x50 faster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than FlashAttention‑class models at Mln0token contexts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Cheap -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x20 cheaper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 top proprietary models for similar long‑context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Sub‑quadratic sparse‑attention architecture (SSA)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coding agents, analysis of very large document sets (GitHub repos, ...)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long‑context retrieval, and significantly reduced attention FLOPs versus dense‑attention transformers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https://subq.ai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https://api.subq.ai/v1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SubQ 1M-Preview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exposed via the subq-preview (or similar) API name and listed as the current model on third‑party references. Subquadratic has also announced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SubQ 1.1 Small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long‑context SSA model (SSA = Subquadratic Sparse Attention)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 counts have not been officially disclosed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dense base model whose attention is made content‑sparse via learned routing, so you should think of it as “sparse attention with MoE‑inspired routing,” not a standard MoE‑experts LLM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Subquadratic is a private startup, $29M financing in May 2026 ($500M valuation)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company was co‑founded by CEO Justin Dangel and CTO Alexander (Alex) Whedon.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24542" y="640891"/>
            <a:ext cx="873050" cy="85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7067" y="640895"/>
            <a:ext cx="1951175" cy="85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56175" y="2303109"/>
            <a:ext cx="1914525" cy="2390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81775" y="67675"/>
            <a:ext cx="3037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Supersonic Tsunami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81775" y="1078438"/>
            <a:ext cx="3669600" cy="3651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Next 5 Years: A Supersonic Tsunami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by Peter H. Diamandis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the next 5 years - “supersonic tsunami” of change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cost and AI latency collapse by roughly 1000x, making on‑demand intelligence nearly free and ubiquitous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GPT‑3 - 175B params (2020)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Today's frontier models (2026) - multi‑trillion‑params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compute growing by orders of magnitude every couple of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could push global GDP from today’s tens of trillions toward hundreds of trillions or even quadrillions of dollars as automated systems permeate every sector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Expectations of millions of humanoid robots deployed in factories, logistics, and homes, each displacing several full‑time workers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Medicine is reframed as an engineering discipline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compressing decades of drug discovery and diagnostics into 5–10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Serious efforts to add decades of healthy lifespan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https://metatrends.substack.com/p/the-next-5-years-a-supersonic-tsunami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5575" y="67675"/>
            <a:ext cx="4366024" cy="22793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7900" y="2398925"/>
            <a:ext cx="2628326" cy="1365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4075" y="3714846"/>
            <a:ext cx="2628326" cy="132060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1850" y="394075"/>
            <a:ext cx="949550" cy="908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/>
        </p:nvSpPr>
        <p:spPr>
          <a:xfrm>
            <a:off x="179326" y="478350"/>
            <a:ext cx="4917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 these 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Stats: 6.96K subscribers, 293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3650" y="80363"/>
            <a:ext cx="2541900" cy="4982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100" y="1304075"/>
            <a:ext cx="2636500" cy="284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1075" y="2299600"/>
            <a:ext cx="2498326" cy="18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225399" y="4413125"/>
            <a:ext cx="664800" cy="384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2860511" y="4442395"/>
            <a:ext cx="783000" cy="384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Ouputs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385650" y="4231445"/>
            <a:ext cx="987000" cy="785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Custom Electronics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963800" y="4495200"/>
            <a:ext cx="3288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2446180" y="4514075"/>
            <a:ext cx="3288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5844750" y="4374075"/>
            <a:ext cx="664800" cy="384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8270250" y="4360775"/>
            <a:ext cx="783000" cy="384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Ouputs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6948250" y="4260725"/>
            <a:ext cx="887100" cy="58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Computer "brain"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6585417" y="4446400"/>
            <a:ext cx="2991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7903247" y="4437125"/>
            <a:ext cx="2991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5211900" y="836350"/>
            <a:ext cx="37575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1989-1991 I participated in designing a portable myograph. As you see, the device was very small and integrated with a laptop computer. Compare it with a prototype which was the size of a table (b/w photo on the left).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5124" y="2880300"/>
            <a:ext cx="887100" cy="68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0" y="0"/>
            <a:ext cx="3378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Brain in the Middle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4324800" y="3008425"/>
            <a:ext cx="887100" cy="43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rgbClr val="F4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6400" y="2830975"/>
            <a:ext cx="1115186" cy="7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>
            <a:off x="24220" y="601325"/>
            <a:ext cx="4499400" cy="3629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4851636" y="577400"/>
            <a:ext cx="4253400" cy="36291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1182035" y="887683"/>
            <a:ext cx="21969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Classical </a:t>
            </a:r>
            <a:r>
              <a:rPr lang="en" sz="19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sz="19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01985" y="2190300"/>
            <a:ext cx="519600" cy="384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3062985" y="2190300"/>
            <a:ext cx="1343400" cy="58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Action/Reports/Decisions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1098285" y="2110075"/>
            <a:ext cx="1478700" cy="58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 functions and interfaces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700635" y="2284025"/>
            <a:ext cx="3186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5752378" y="887675"/>
            <a:ext cx="24519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Agent-centered App</a:t>
            </a:r>
            <a:endParaRPr sz="19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2665335" y="2284025"/>
            <a:ext cx="3186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4978785" y="2190300"/>
            <a:ext cx="519600" cy="384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7634985" y="2190300"/>
            <a:ext cx="1343400" cy="58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Action/Reports/Decisions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5969673" y="2207675"/>
            <a:ext cx="1188600" cy="58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AI Agent with skills, MCP, ...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5577435" y="2284025"/>
            <a:ext cx="3186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7237335" y="2284025"/>
            <a:ext cx="318600" cy="232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0434" y="3084475"/>
            <a:ext cx="887100" cy="68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3127690" y="3236875"/>
            <a:ext cx="2719500" cy="30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rgbClr val="F4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2225" y="2890492"/>
            <a:ext cx="1343400" cy="100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914176" y="4390375"/>
            <a:ext cx="2719500" cy="58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Example: Adobe Photoshop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Many Menus and Options to Learn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5939275" y="4390375"/>
            <a:ext cx="2078100" cy="58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Agent ChatBot UI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(like in Cursor, ...)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0" y="0"/>
            <a:ext cx="3378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/>
              <a:t>Agent-Centered App</a:t>
            </a:r>
            <a:endParaRPr sz="2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/>
        </p:nvSpPr>
        <p:spPr>
          <a:xfrm>
            <a:off x="81775" y="67675"/>
            <a:ext cx="5474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Sakana AI - Fugu Ultra Orchestration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81775" y="2316825"/>
            <a:ext cx="47457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Sakana AI - Fugu Ultra Orchestration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Fugu and Fugu Ultra are multi-model orchestration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dynamically coordinate multiple AI agents through a single API rather than solving tasks with one monolithic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on Sakana’s Trinity and Conductor research, the system handles model selection, delegation, and synthesis internally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Sakana positions the approach as a hedge against vendor lock-in and export-control disruptions affecting access to advanced AI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81775" y="547725"/>
            <a:ext cx="47457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Fugu systems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match or outperform Anthropic’s Claude Fable and Mythos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some benchmarks, especially coding and graduate-level reasoning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API Pricing: $5 in / $30 out ($10 / $45 for very large context)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Subscriptions Pro &amp; Max - $20/mo, $100/mo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Fugu’s performance comes from coordination, model selection, and synthesis across multiple back-end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practice, it behaves like a single “frontier-class” endpoint, but architecturally it is an orchestration layer rather than a standalone model.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6500" y="590750"/>
            <a:ext cx="1929975" cy="1594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/>
        </p:nvSpPr>
        <p:spPr>
          <a:xfrm>
            <a:off x="81775" y="67675"/>
            <a:ext cx="1440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81775" y="420466"/>
            <a:ext cx="47457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Reflection AI + SpaceX $6.3 Bln Deal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gets access to NVIDIA GB300 chips at SpaceX’s Colossus 2 data center, paying $150 million per month starting July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agreement runs through 2029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joins customers including Anthropic, Google, and Cursor as SpaceX expands its AI infrastructure business.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81775" y="1651966"/>
            <a:ext cx="47457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Corps Fellowship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recently unveiled Claude Corps, a year-long fellowship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places early-career workers inside nonprofit organizations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help those groups integrate AI into their operations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81775" y="2513866"/>
            <a:ext cx="47457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Groq Raises $650M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months after Nvidia licensed its tech and poached its CEO, Groq raised $650M to pivot from chipmaker to inference-focused cloud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co-founder Doug Wightman.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81775" y="3375766"/>
            <a:ext cx="47457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Baseten has raised $1.5 Bln to expand its infrastructure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AI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run on major clouds (notably Google Cloud) using NVIDIA GPUs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Baseten focuses on simplifying deployment pipelines, optimizing GPU utilization, and enabling developers to run custom or open-source models reliably in production - auto-scaling, low-latency, cost‑efficient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Baseten is a privately held, founded in 2019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San Francisco, 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~ 60 employees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https://www.baseten.co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https://docs.baseten.co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600" y="3782600"/>
            <a:ext cx="2957304" cy="980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600" y="2662027"/>
            <a:ext cx="1574500" cy="980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589" y="1395363"/>
            <a:ext cx="2005436" cy="1126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2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600" y="175171"/>
            <a:ext cx="1904975" cy="10803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/>
        </p:nvSpPr>
        <p:spPr>
          <a:xfrm>
            <a:off x="81775" y="67675"/>
            <a:ext cx="3115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Harrison Kinsley (Sentdex)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81775" y="812125"/>
            <a:ext cx="47457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Harrison Kinsley (Sentdex) about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https://www.youtube.com/watch?v=DA2E8szXjoA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Deceptive Behavior (specifically referencing Anthropic's "Fable" model) that are designed to intentionally mislead users if the model detects certain types of research, labeling this as a form of "psychological abuse"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Top-tier AI models are becoming subject to export restrictions similar to weapons of war (problematic for the industry and the public 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"moat" around top proprietary companies like OpenAI and Anthropic is effectively gone because high-performance, open-weights models are now available to the public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open models - "Miniax M2.7", 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"GLM52" open model can genuinely compete with and replace proprietary models like GPT-55 and Claude Opus 48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your own custom coding agents or "harnesses." - greater control, easier troubleshooting, customization to specific model behaviors or quantization needs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Models Locally - may require multi-GPU setups - expensive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 makes it chaper. 4-bit quantization is near-lossless, but 3-bit degrades 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- services like OpenRouter.ai to access open-source models via API - this is often significantly cheaper than proprietary alternatives but users should research each provider's data privacy policies regarding prompt retention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2950" y="129025"/>
            <a:ext cx="1406100" cy="93537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5" name="Google Shape;205;p27"/>
          <p:cNvSpPr txBox="1"/>
          <p:nvPr/>
        </p:nvSpPr>
        <p:spPr>
          <a:xfrm>
            <a:off x="5132070" y="84589"/>
            <a:ext cx="39765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Harrison runs GLM5.2 locally on a custom-built  computer with 4 (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four) NVIDIA RTX Pro 6000 GPUs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(Blackwell. 96GB each).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GPU cost is approx $11K-$14K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model is massive—approximately 750 Bln params.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uses IQ4XS (4-bit quantiation)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0136" y="1287941"/>
            <a:ext cx="3427275" cy="38008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/>
        </p:nvSpPr>
        <p:spPr>
          <a:xfrm>
            <a:off x="81775" y="67675"/>
            <a:ext cx="2559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81775" y="544200"/>
            <a:ext cx="48003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Hermes Agent Skills "/learn"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Distills Any Workflow Into Reusable Slash Commands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Hermes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/learn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command that turns sources like URLs, codebases, docs, PDFs, notes, or recent sessions into a reusable skill for future 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meant to save you from re-explaining the same workflow and can store the result as a skill file for later loading.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/learn how I just deployed the staging server, focus on rollback and verification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Hermes will read that conversation plus any referenced files/URLs, then author a SKILL.md that becomes a slash command, e.g. /deploy-staging.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time you or a teammate want the runbook, you just call /deploy-staging in CLI/TUI/chat instead of re-explaining the process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350" y="3707175"/>
            <a:ext cx="3571875" cy="1276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4" name="Google Shape;214;p28"/>
          <p:cNvSpPr txBox="1"/>
          <p:nvPr/>
        </p:nvSpPr>
        <p:spPr>
          <a:xfrm>
            <a:off x="5830738" y="867450"/>
            <a:ext cx="27111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Mujlti-Agent Orchestration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Map-Reduce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LLM Map-Reduce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LLM MapReduce pattern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Agentic MapReduce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Agentic Map-Reduce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MapReduce for AI agents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MapReduceEnsemble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LangGraph map-reduce pattern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A-MapReduce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Map-Reduce-Produce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MapReduceProduce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Fan-out/fan-in (parallel agents)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Agentic wide search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Agent 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7625" y="3355925"/>
            <a:ext cx="2711100" cy="1092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/>
        </p:nvSpPr>
        <p:spPr>
          <a:xfrm>
            <a:off x="81775" y="67675"/>
            <a:ext cx="1628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81775" y="452700"/>
            <a:ext cx="43800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Seedance 2.5 - ByteDance’s latest AI video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Generating polished, cinematic clips from text prompts and multimodal inputs such as images, video, and audio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adds support for native 4K output, longer single-shot scenes up to around 30 seconds, and more advanced multi-shot storytelling with consistent characters and visual style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can ingest large numbers of reference assets (up to 50) to tightly control motion, composition, and branding in commercial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Seedance 2.5 also emphasizes near–real-time generation and conversational editing, enabling interactive refinement of camera moves, lighting, and synchronized audio without rebuilding an entire shot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100" y="452702"/>
            <a:ext cx="3292754" cy="911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3" name="Google Shape;223;p29"/>
          <p:cNvSpPr txBox="1"/>
          <p:nvPr/>
        </p:nvSpPr>
        <p:spPr>
          <a:xfrm>
            <a:off x="81775" y="2981100"/>
            <a:ext cx="43800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Rust-based rewrite of SQLite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https://github.com/tursodatabase/turso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Gaining memory safety, async I/O, and WASM-first extensibility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targets similar or better reliability than classic SQLite, using modern testing approaches like deterministic simulation instead of only reproducing the legacy C test harness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8100" y="2872200"/>
            <a:ext cx="2847975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/>
        </p:nvSpPr>
        <p:spPr>
          <a:xfrm>
            <a:off x="81775" y="67675"/>
            <a:ext cx="1628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81775" y="2561525"/>
            <a:ext cx="50466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Anthropic Employees use "Claude skills"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https://www.youtube.com/watch?v=3UWxMPUko1k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"Claude skills" are structured folders of scripts, assets, and docs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Organize skills into four types: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Utility (specific tasks), Verification (quality checks), Data Enrichment (external info), Orchestration (chaining steps)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- Understand that skills are not just text files; they should include scripts for deterministic tasks, asset templates for consistent output, and clear setup prompts for future usability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Verification - Treat verification as a critical quality layer. Use both correctness checks and subjective feedback to ensure high standards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Gotchas - Maintain a log of edge cases to improve skills over time.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Triggers - Optimize descriptions so Claude knows exactly when to execute specific skills.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7300" y="623061"/>
            <a:ext cx="1628700" cy="170946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2" name="Google Shape;232;p30"/>
          <p:cNvSpPr txBox="1"/>
          <p:nvPr/>
        </p:nvSpPr>
        <p:spPr>
          <a:xfrm>
            <a:off x="81775" y="452700"/>
            <a:ext cx="5046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Anthropic's Own Team Gets AI to Stop Lying to Them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https://www.youtube.com/watch?v=EPEI-IIPu4E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Specific - Clearly define terminology to prevent AI misinterpretation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Single Source of Truth - archive outdated files, so the AI only accesses relevant, current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 Receipts - Prompt the AI to provide citations for its information, making audits easier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 Second Opinion - For high-stakes tasks, test results in a fresh chat or via a different AI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Before Automating - Validate automated tasks using sample data to ensure reliability before removing human oversight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7300" y="2804160"/>
            <a:ext cx="1628701" cy="187511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/>
        </p:nvSpPr>
        <p:spPr>
          <a:xfrm>
            <a:off x="81775" y="67675"/>
            <a:ext cx="2623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Fable Brain Prompting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81775" y="452700"/>
            <a:ext cx="4398900" cy="371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"Fable Brain" eight instructions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https://www.youtube.com/watch?v=M03v0gmVu24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official Anthropic developer documentation that govern Fable's behavior and compiled them into a single system prompt: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Act, do not overplan: When you have enough information, commit to a recommendation instead of listing options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with the outcome: Provide the bottom line first, without unnecessary background information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every claim: Audit claims against evidence; if it’s not verified, say so to prevent hallucinations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 only at real boundaries: Only pause for truly destructive or irreversible 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Assess, do not act uninvited: When asked a question, report your findings rather than automatically making changes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reason: Provide the context ("I am working on this for...") so the model makes smarter choices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effort to the task: Spend deeper reasoning on complex problems and move faster on routine ones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lessons and check your work: Ask the model to remember corrections and verify its answer against the original request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4600450" y="452700"/>
            <a:ext cx="43989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Limits of Prompting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presenter emphasizes that this approach works for communication and decision-making but fails at true autonomy: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cannot create judgment: When given a flawed task, a "fable-brained" model may still provide a confident but wrong answer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cannot grant agency: The model lacks actual tools or internet/code access. If instructed to "act autonomously," it may simply lie about having performed tasks (e.g., "I have deployed this to staging")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/>
        </p:nvSpPr>
        <p:spPr>
          <a:xfrm>
            <a:off x="81775" y="67675"/>
            <a:ext cx="4398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 Engineering - a New Gold Rush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81775" y="529475"/>
            <a:ext cx="3227400" cy="4035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"Harness Engineering Is AI’s New Gold Rush"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https://www.youtube.com/watch?v=mGYr9VqQnEI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 engineering marks a shift in AI from models to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tools, memory, verification, permissions, and feedback loops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prompt engineering, which targets a single good response, a harness builds a lasting environment for consistent 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same model can vary up to x6 depending on harness quality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challenges include: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context management (filtering noise to surface the right information)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Treating memory as a hint to be verified rather than fact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Connecting tools to validation checks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Looking ahead, Retrospective Harness Optimization lets agents improve themselves by analyzing past trajectories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frontier models converge, the strongest harness becomes the competitive edge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3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151" y="710151"/>
            <a:ext cx="5681574" cy="29584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/>
        </p:nvSpPr>
        <p:spPr>
          <a:xfrm>
            <a:off x="81775" y="67675"/>
            <a:ext cx="4398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custom "Agentic OS"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81775" y="644025"/>
            <a:ext cx="43989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build a custom "Agentic OS" using Claude Code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https://www.youtube.com/watch?v=HRw-vP0j8OM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Level 1 (Skills &amp; Automation).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Workflow audit, codify recurring manual tasks into reusable skills and automations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Level 2 (Memory &amp; State)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Using tools like Obsidian to quickly access data via a structured 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Level 3 (Interface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Visual wrapper or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Level 4 (Distribution)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package to make these tools accessible to teams or clients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5875" y="644025"/>
            <a:ext cx="4358525" cy="279683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/>
        </p:nvSpPr>
        <p:spPr>
          <a:xfrm>
            <a:off x="81775" y="67675"/>
            <a:ext cx="4398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Scheduling for your digital employee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81775" y="470500"/>
            <a:ext cx="34506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Custom scheduling for your Digital Employee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Why to use a custom "mycron" vs system crontab: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Have access to user's open browser sessions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(run in active user environment)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Fire agent skills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just shell commands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One daemon for all 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Hot-reload on edit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(every 60 sec)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On-demand reload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API for instant changes.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RAND_DELAY=min-max spreads same-minute tasks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prevent a thundering herd on the API.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Session persistence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(for recurring tasks)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Per-minute deduplication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prevents double-firing after a restart.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Isolated per-user logging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1000" y="470500"/>
            <a:ext cx="5384949" cy="40387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/>
        </p:nvSpPr>
        <p:spPr>
          <a:xfrm>
            <a:off x="81775" y="67675"/>
            <a:ext cx="3467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Three-layers of an AI agent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59349" y="563532"/>
            <a:ext cx="3413400" cy="4451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structure an agent to work with multiple projects and clients?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Three-layer architecture for an AI agent: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stable core runtime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shared plugin/marketplace repos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86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thin per-project configuration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 agent remains capability-agnostic and only knows how to read manifests, load selected plugins, manage MCP servers, and apply progressive disclosure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Capabilities are packaged as plugins (skills, MCP servers, hooks) in shared repos to maximize reuse instead of per-client forks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client/project repo stores a small manifest that selects which plugins and MCP servers are enabled and how they are scoped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avoid blowing the context window, only skill metadata (name, one-line description) is loaded eagerly; full instructions and examples are injected lazily on invocation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servers are declared as config and spawned per session, then torn down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helper code - a common package or symlinks, not cross-repo relative paths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350" y="707600"/>
            <a:ext cx="5535451" cy="3904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/>
        </p:nvSpPr>
        <p:spPr>
          <a:xfrm>
            <a:off x="81775" y="67675"/>
            <a:ext cx="4439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Peter Diamandis - Trillions Sensors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59350" y="563525"/>
            <a:ext cx="44397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Peter Diamandis about Visibility, Transparency &amp; Trust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world of radical transparency and a trillion sensors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https://metatrends.substack.com/p/visibility-transparency-and-trust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piece argues that a massive, layered “sensor ecosystem” is rapidly covering the planet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Driven by satellites, drones, autonomous vehicles, humanoid robots, smartphones, and IoT devices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2030, tens of billions of connected devices with trillions of sensors will continuously generate data that AI can interpret,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creating near-total visibility of the physical world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“radical transparency” could increase accountability, reduce crime, corruption, and even conflict, as people behave differently when observed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it also poses serious risks to privacy and power balance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 question is whether this transparency benefits everyone equally or enables asymmetric surveillance by those in control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1450" y="563525"/>
            <a:ext cx="4340150" cy="2436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5655225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121.5K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June 26,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5422950" y="5312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157,807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(892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3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3295615"/>
            <a:ext cx="5058401" cy="176106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5" name="Google Shape;285;p3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478362"/>
            <a:ext cx="5058398" cy="2718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3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4055</Words>
  <Application>Microsoft Macintosh PowerPoint</Application>
  <PresentationFormat>On-screen Show (16:9)</PresentationFormat>
  <Paragraphs>500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Roboto Mono</vt:lpstr>
      <vt:lpstr>Calibri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2026-06-26T16:21:58Z</dcterms:modified>
</cp:coreProperties>
</file>