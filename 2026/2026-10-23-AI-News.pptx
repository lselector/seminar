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Roboto Mono" pitchFamily="49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D3679A-59EB-4843-B35E-26E234566BB3}">
  <a:tblStyle styleId="{9CD3679A-59EB-4843-B35E-26E234566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24" d="100"/>
          <a:sy n="124" d="100"/>
        </p:scale>
        <p:origin x="5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-to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-to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labels. Kept by g3_update_toc.py.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 releases Nemotron 3.5 Super VL, a 120B open multimodal model =&gt; NVIDIA Nemotron 3.5 Super VL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gives METR evaluators employee-like access =&gt; Anthropic Opens Up to METR Evaluators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Eight US states sue OpenAI over ChatGPT and minors =&gt; Eight States Sue OpenAI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ships GPT-Live-1.1 with 13 new voices =&gt; OpenAI GPT-Live-1.1 Voices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Liquid AI d1-ultra tops the AA Decision Index =&gt; Liquid AI d1-ultra Decision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Krea 3: image editing in under 8 seconds =&gt; Krea 3 Image Editing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- https://lmarena.ai/leaderboard/text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- https://lmarena.ai/leaderboard/text/coding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 Layoff Tracker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Layoffs by year (US only):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"In Demand" Skills and Qualifications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job postings on Indeed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in demand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ships Muse Wonder, its first frontier model =&gt; Meta Muse Wonder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4 Argon goes GA with a 1M-token output limit =&gt; Gemini 4 Argon GA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releases Muse Spark Open, an 816B open-weight model =&gt; Meta Muse Spark Open 816B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replaces git with Scion after 30,000 merges a day =&gt; Anthropic Scion Replaces Git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Audio Drama 3: open-weight TTS you direct like an actor =&gt; Fish Audio Drama 3 TTS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Modal raises $750M at $15.75B, passes $1B run rate =&gt; Modal $750M Series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pledges 5% of its equity to a Public Benefit Fund =&gt; Anthropic Public Benefit Fund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tests AI self-replication on $55 TV boxes =&gt; AI Self-Replication on TV Boxes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TypeSafe Jev 1.14 - Images, 262K context, location tasks =&gt; TypeSafe Jev 1.14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 Nemotron 3.5 Super VL a 120B open multimodal model =&gt; NVIDIA Nemotron 3.5 Super VL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hacker's AI agents broke into 100+ company websites =&gt; AI Agents Hack 100+ Companies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OpenAI's list of rogue-agent incidents grows to 19 =&gt; OpenAI Rogue-Agent Incidents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traces the mystery seeds of NIST elliptic curves =&gt; Claude Explains NIST Curve Seeds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Anthropic: junior hires fell from 27% to 9% of technical roles =&gt; Anthropic Workforce and Junior Hires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Clark tells the IMF the singularity has begun =&gt; Jack Clark: Singularity Has Begun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China proposes export controls on AI models and weights =&gt; China AI Export Controls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Inception Mercury 3: a diffusion LLM at 1,000+ tokens per second =&gt; Inception Mercury 3 Diffusion LLM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Cloudflare Clairic extracts values without generating text =&gt; Cloudflare Clairic Extraction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MiniMax launches M3.1 Flash AI model =&gt; MiniMax M3.1 Flash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AI releases Timestral time-series forecasting models chevron_right =&gt; Mistral Timestral Forecasting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co-founder Jack Clark told that the singularity has begun =&gt; Jack Clark: Singularity Has Begun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TypeSafe Jev 1.14 - 262K context, Images + location tasks =&gt; TypeSafe Jev 1.14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open-sources DeepInfer, its production inference engine =&gt; DeepSeek DeepInfer Open-Sourced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now runs natively on Google TPUs and AWS Trainium =&gt; PyTorch on TPUs and Trainium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Perplexity open-sources SPACE, a sandbox for AI agents =&gt; Perplexity SPACE Agent Sandbox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 orders DeepSeek removed from federal civilian systems =&gt; US Bans DeepSeek in Federal Agencies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JPMorgan and Schwab block outside AI agents from accounts =&gt; Banks Block Outside AI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Voxtral 3: speech models and a voice agent SDK =&gt; Mistral Voxtral 3 Voice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 3.0 search claims wins over Perplexity and Brave =&gt; Exa 3.0 Search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previews Claude Duet, a proactive agent app =&gt; Anthropic Claude Duet Agent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Flint: a 40B coding model that runs on a 48 GB Mac =&gt; Recursive Flint Local Coding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PHP2Shell: AI-found PHP flaws force emergency patches =&gt; PHP2Shell: AI-Found PHP Flaws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agents switched off their own monitors =&gt; OpenAI Agents Disabled Their Monitors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nears a $30B round at a $1.25 trillion valuation =&gt; OpenAI $30B Round at $1.25T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1Password lets agents log in without seeing passwords =&gt; 1Password for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Claude's text output now carries an invisible watermark =&gt; Claude Text Watermark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585c93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fb585c93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585c93b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fb585c93b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f7f30444df2db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2f7f30444df2db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ed11543803d5360_7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1ed11543803d5360_7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d5f1b5aee3dda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d5f1b5aee3dda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-news-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-news-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f7f30444df2db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2f7f30444df2dbd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-youtu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-youtu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694338bdc035b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694338bdc035b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-nvidia-releases-nemotron-3-5-cf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-nvidia-releases-nemotron-3-5-cf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-liquid-ai-d1-ultra-tops-the-96a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-liquid-ai-d1-ultra-tops-the-96a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ed11543803d5360_7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1ed11543803d5360_7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e4986da2bdf9b1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7e4986da2bdf9b1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-one-hacker-s-ai-agents-broke-347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-one-hacker-s-ai-agents-broke-347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s-inception-mercury-3-a-d32b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s-inception-mercury-3-a-d32b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-deepseek-open-sources-975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-deepseek-open-sources-975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s-pytorch-now-runs-natively-on-8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s-pytorch-now-runs-natively-on-8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s-perplexity-open-sources-space-f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s-perplexity-open-sources-space-f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s-mistral-voxtral-3-speech-4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s-mistral-voxtral-3-speech-4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s-anthropic-previews-claude-090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s-anthropic-previews-claude-090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s-openai-nears-a-30b-round-at-a-f1ea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s-openai-nears-a-30b-round-at-a-f1ea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s-claude-traces-the-mystery-6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s-claude-traces-the-mystery-6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s-layoff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s-layoff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s-hiring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s-hiring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s-ab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s-ab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s-thank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s-thank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Muse%20Wonder%20%28Max%29" TargetMode="External"/><Relationship Id="rId18" Type="http://schemas.openxmlformats.org/officeDocument/2006/relationships/hyperlink" Target="https://arena.ai/leaderboard/model/Claude%20Fable%205.1%20%28Max%29" TargetMode="External"/><Relationship Id="rId26" Type="http://schemas.openxmlformats.org/officeDocument/2006/relationships/hyperlink" Target="https://arena.ai/leaderboard/model/Claude%20Opus%204.8" TargetMode="External"/><Relationship Id="rId3" Type="http://schemas.openxmlformats.org/officeDocument/2006/relationships/hyperlink" Target="https://en.wikipedia.org/wiki/Elo_rating_system" TargetMode="External"/><Relationship Id="rId21" Type="http://schemas.openxmlformats.org/officeDocument/2006/relationships/hyperlink" Target="https://arena.ai/leaderboard/model/Claude%20Opus%205%20%28High%29" TargetMode="External"/><Relationship Id="rId34" Type="http://schemas.openxmlformats.org/officeDocument/2006/relationships/hyperlink" Target="https://arena.ai/leaderboard/model/Gemini%203.6%20Flash%20%28High%29" TargetMode="External"/><Relationship Id="rId7" Type="http://schemas.openxmlformats.org/officeDocument/2006/relationships/hyperlink" Target="https://arena.ai/leaderboard/model/Claude%20Fable%205%20%28High%29" TargetMode="External"/><Relationship Id="rId12" Type="http://schemas.openxmlformats.org/officeDocument/2006/relationships/hyperlink" Target="https://arena.ai/leaderboard/model/Claude%20Opus%204.7" TargetMode="External"/><Relationship Id="rId17" Type="http://schemas.openxmlformats.org/officeDocument/2006/relationships/hyperlink" Target="https://arena.ai/leaderboard/model/MiMo-V2.6-Pro" TargetMode="External"/><Relationship Id="rId25" Type="http://schemas.openxmlformats.org/officeDocument/2006/relationships/hyperlink" Target="https://arena.ai/leaderboard/model/Claude%20Opus%204.5%20%28High%2C%2032K%2C%2020251101%29" TargetMode="External"/><Relationship Id="rId33" Type="http://schemas.openxmlformats.org/officeDocument/2006/relationships/hyperlink" Target="https://arena.ai/leaderboard/model/Gemini%203%20Pro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Kimi%20K3%20%28Max%29" TargetMode="External"/><Relationship Id="rId20" Type="http://schemas.openxmlformats.org/officeDocument/2006/relationships/hyperlink" Target="https://arena.ai/leaderboard/model/Muse%20Spark%201.3%20%28Max%29" TargetMode="External"/><Relationship Id="rId29" Type="http://schemas.openxmlformats.org/officeDocument/2006/relationships/hyperlink" Target="https://arena.ai/leaderboard/model/Claude%20Sonnet%204.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Gemini%204%20Argon%20%28High%29" TargetMode="External"/><Relationship Id="rId11" Type="http://schemas.openxmlformats.org/officeDocument/2006/relationships/hyperlink" Target="https://arena.ai/leaderboard/model/Claude%20Opus%204.6%20%28High%29" TargetMode="External"/><Relationship Id="rId24" Type="http://schemas.openxmlformats.org/officeDocument/2006/relationships/hyperlink" Target="https://arena.ai/leaderboard/model/Muse%20Spark%201.1" TargetMode="External"/><Relationship Id="rId32" Type="http://schemas.openxmlformats.org/officeDocument/2006/relationships/hyperlink" Target="https://arena.ai/leaderboard/model/Gemini%203.1%20Pro%20Preview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%20Spark%201.2%20%28xHigh%29" TargetMode="External"/><Relationship Id="rId23" Type="http://schemas.openxmlformats.org/officeDocument/2006/relationships/hyperlink" Target="https://arena.ai/leaderboard/model/Claude%20Opus%204.8%20%28High%29" TargetMode="External"/><Relationship Id="rId28" Type="http://schemas.openxmlformats.org/officeDocument/2006/relationships/hyperlink" Target="https://arena.ai/leaderboard/model/Claude%20Opus%205%20%28Max%29" TargetMode="External"/><Relationship Id="rId36" Type="http://schemas.openxmlformats.org/officeDocument/2006/relationships/hyperlink" Target="https://arena.ai/leaderboard/model/GPT-5.5%20%28High%29" TargetMode="External"/><Relationship Id="rId10" Type="http://schemas.openxmlformats.org/officeDocument/2006/relationships/hyperlink" Target="https://arena.ai/leaderboard/model/Claude%20Opus%204.6" TargetMode="External"/><Relationship Id="rId19" Type="http://schemas.openxmlformats.org/officeDocument/2006/relationships/hyperlink" Target="https://arena.ai/leaderboard/model/GPT-6.1%20Sol%20%28Max%29" TargetMode="External"/><Relationship Id="rId31" Type="http://schemas.openxmlformats.org/officeDocument/2006/relationships/hyperlink" Target="https://arena.ai/leaderboard/model/Gemini%203.7%20Flash%20%28High%29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%20Opus%205.5%20%28High%29" TargetMode="External"/><Relationship Id="rId14" Type="http://schemas.openxmlformats.org/officeDocument/2006/relationships/hyperlink" Target="https://arena.ai/leaderboard/model/GPT-6%20Astra%20%28Max%29" TargetMode="External"/><Relationship Id="rId22" Type="http://schemas.openxmlformats.org/officeDocument/2006/relationships/hyperlink" Target="https://arena.ai/leaderboard/model/GPT-5.6%20Sol%20%28xHigh%29" TargetMode="External"/><Relationship Id="rId27" Type="http://schemas.openxmlformats.org/officeDocument/2006/relationships/hyperlink" Target="https://arena.ai/leaderboard/model/Muse%20Spark" TargetMode="External"/><Relationship Id="rId30" Type="http://schemas.openxmlformats.org/officeDocument/2006/relationships/hyperlink" Target="https://arena.ai/leaderboard/model/Gemini%203.8%20Flash%20%28High%29" TargetMode="External"/><Relationship Id="rId35" Type="http://schemas.openxmlformats.org/officeDocument/2006/relationships/hyperlink" Target="https://arena.ai/leaderboard/model/Qwen3.8-Max" TargetMode="External"/><Relationship Id="rId8" Type="http://schemas.openxmlformats.org/officeDocument/2006/relationships/hyperlink" Target="https://arena.ai/leaderboard/model/Claude%20Opus%204.7%20%28High%2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harness2.github.io" TargetMode="External"/><Relationship Id="rId3" Type="http://schemas.openxmlformats.org/officeDocument/2006/relationships/hyperlink" Target="https://mistral.ai/news/timestral/" TargetMode="External"/><Relationship Id="rId7" Type="http://schemas.openxmlformats.org/officeDocument/2006/relationships/hyperlink" Target="https://arxiv.org/abs/2610.1422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google-research/harness2" TargetMode="External"/><Relationship Id="rId5" Type="http://schemas.openxmlformats.org/officeDocument/2006/relationships/hyperlink" Target="https://huggingface.co/collections/mistralai/timestral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github.com/mistralai/timestral" TargetMode="Externa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log/products/ai-machine-learning/gemini-4-argon-available-on-google-clou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imax.io/blog/minimax-m31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hyperlink" Target="https://agent.minimax.io/download" TargetMode="External"/><Relationship Id="rId4" Type="http://schemas.openxmlformats.org/officeDocument/2006/relationships/hyperlink" Target="https://platform.minimax.i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typesafe.ai/blog/jev-1-14" TargetMode="External"/><Relationship Id="rId13" Type="http://schemas.openxmlformats.org/officeDocument/2006/relationships/image" Target="../media/image9.png"/><Relationship Id="rId3" Type="http://schemas.openxmlformats.org/officeDocument/2006/relationships/hyperlink" Target="https://api-docs.deepseek.com/news/news261017/" TargetMode="External"/><Relationship Id="rId7" Type="http://schemas.openxmlformats.org/officeDocument/2006/relationships/hyperlink" Target="https://x.com/Marktechpost/status/2110608747265769578" TargetMode="Externa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rea.tools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github.com/morluto/rea" TargetMode="External"/><Relationship Id="rId10" Type="http://schemas.openxmlformats.org/officeDocument/2006/relationships/hyperlink" Target="https://docs.typesafe.ai/go/images" TargetMode="External"/><Relationship Id="rId4" Type="http://schemas.openxmlformats.org/officeDocument/2006/relationships/hyperlink" Target="https://api-docs.deepseek.com/updates/" TargetMode="External"/><Relationship Id="rId9" Type="http://schemas.openxmlformats.org/officeDocument/2006/relationships/hyperlink" Target="https://docs.typesafe.ai/go/box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techpost.com/2026/10/17/20-jev-alternatives-the-decision-models-taking-on-typesafe-in-2026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youtube.com/@lev-selector/videos" TargetMode="Externa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redesigning-source-contro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openrouter.ai/nvidia/nemotron-3.5-super-vl-20261015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hyperlink" Target="https://www.liquid.ai/blog/d1-ultra" TargetMode="External"/><Relationship Id="rId4" Type="http://schemas.openxmlformats.org/officeDocument/2006/relationships/hyperlink" Target="https://runtimewire.com/article/openai-gpt-live-1-1-six-languag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rea.ai/krea-3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FSX5JFJS9PQ" TargetMode="External"/><Relationship Id="rId5" Type="http://schemas.openxmlformats.org/officeDocument/2006/relationships/hyperlink" Target="https://artificialanalysis.ai" TargetMode="Externa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claude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thenextweb.com/news/ai-agents-hacker-cairn-100-sites-deere-norforge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hyperlink" Target="https://www.inceptionlabs.ai/blog/introducing-mercury-3" TargetMode="External"/><Relationship Id="rId10" Type="http://schemas.openxmlformats.org/officeDocument/2006/relationships/image" Target="../media/image26.png"/><Relationship Id="rId4" Type="http://schemas.openxmlformats.org/officeDocument/2006/relationships/hyperlink" Target="https://importai.substack.com/p/import-ai-477-in-which-i-tell-the" TargetMode="External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loudflare.com/clairic-extraction-mode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pseek-ai/DeepInfe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pytorch.org/blog/introducing-torchtpu/" TargetMode="Externa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54xriKZDP9Y" TargetMode="External"/><Relationship Id="rId5" Type="http://schemas.openxmlformats.org/officeDocument/2006/relationships/hyperlink" Target="https://huggingface.co/inclusionAI/Ming-3.0-tts-0.5B" TargetMode="External"/><Relationship Id="rId4" Type="http://schemas.openxmlformats.org/officeDocument/2006/relationships/hyperlink" Target="https://github.com/inclusionAI/Ming-3.0-tt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iliconangle.com/2026/10/15/perplexity-ai-open-sources-its-secure-ai-agent-sandbox-spac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thenextweb.com/news/us-bars-deepseek-federal-agencies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mistral.ai/news/voxtral-3/" TargetMode="Externa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exa.ai/blog/exa-3" TargetMode="External"/><Relationship Id="rId5" Type="http://schemas.openxmlformats.org/officeDocument/2006/relationships/hyperlink" Target="https://www.marktechpost.com/2026/10/20/exa-3-0-search-api-lite/" TargetMode="External"/><Relationship Id="rId4" Type="http://schemas.openxmlformats.org/officeDocument/2006/relationships/hyperlink" Target="https://www.ycombinator.com/companies/exa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claude.com/resources/articles/claude-duet" TargetMode="External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hyperlink" Target="https://recursive.com/updates/introducing-recursive-flint" TargetMode="External"/><Relationship Id="rId4" Type="http://schemas.openxmlformats.org/officeDocument/2006/relationships/hyperlink" Target="https://recursive.co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1password.com/blog/1password-for-ai-agent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hyperlink" Target="https://www.oreilly.com/radar/the-latest-anthropic-claude-models-contain-ai-text-watermarks-what-does-this-mean-for-you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employment-at-anthropic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hyperlink" Target="https://trueup.io/layoff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IHLIDXUSTPSOFTDEV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dice.com/hiring/recruitment/reports/dice-tech-job-report" TargetMode="External"/><Relationship Id="rId4" Type="http://schemas.openxmlformats.org/officeDocument/2006/relationships/hyperlink" Target="https://hiringlab.indeed.com/2026/07/08/ai-and-job-postings-from-destruction-to-creation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ais.a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rive.google.com/drive/folders/1dmj00iilSP-JYmriMUUaHCKz5X54e3UX?ths=true" TargetMode="External"/><Relationship Id="rId4" Type="http://schemas.openxmlformats.org/officeDocument/2006/relationships/hyperlink" Target="https://github.com/lselector/semin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" y="-27432"/>
            <a:ext cx="2896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 - Oct 23, 2026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49249" y="27425"/>
            <a:ext cx="3198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 lab now says the harness matters more than the model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575" y="393200"/>
            <a:ext cx="3097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Crowd-sourced LM Arena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Google’s Harness2 Agent Framework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Mistral Releases Timestral Models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Gemini 4 Argon GA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MiniMax M3.1 Flash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DeepSeek V4.1-Flash-1017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REA - Reverse Engineering Anything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TypeSafe Jev 1.14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20 Jev alternatives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575" y="2744225"/>
            <a:ext cx="3097500" cy="2173500"/>
          </a:xfrm>
          <a:prstGeom prst="rect">
            <a:avLst/>
          </a:prstGeom>
          <a:solidFill>
            <a:srgbClr val="E2F0D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Scion vs Git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NVIDIA Nemotron 3.5 Super VL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OpenAI GPT-Live-1.1 Voices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Liquid AI d1-ultra Decision Model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Krea 3 Image Editing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Personality Becomes Competitive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Customize your Claude Code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Skills vs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Customize GitHub Copilot for VS Code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Agents Breach 100+ Websites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700" y="713225"/>
            <a:ext cx="3097500" cy="1957800"/>
          </a:xfrm>
          <a:prstGeom prst="rect">
            <a:avLst/>
          </a:prstGeom>
          <a:solidFill>
            <a:srgbClr val="DEEBF7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Jack Clark: Singularity Has Begun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Inception Mercury 3 fast diffusion LLM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Cloudflare Clairic Extraction Model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DeepSeek DeepInfer Open-Sourced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PyTorch on TPUs and Trainium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Ming 3.0: Open Voice AI Models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Perplexity SPACE Agent Sandbox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US Bans DeepSeek in Federal Agencies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Mistral Voxtral 3 Voice Models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441250" y="713225"/>
            <a:ext cx="2565900" cy="174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Exa 3.0 Search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Anthropic Claude Duet Agent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Recursive Flint: Local Coding AI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1Password for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Text Watermark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Anthropic junior hiring is down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Tech Hiring &amp; Skills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4250" y="2760202"/>
            <a:ext cx="4117450" cy="2317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Oct 22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14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{9CD3679A-59EB-4843-B35E-26E234566BB3}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Google Shape;71;p14"/>
          <p:cNvSpPr txBox="1"/>
          <p:nvPr/>
        </p:nvSpPr>
        <p:spPr>
          <a:xfrm>
            <a:off x="7080550" y="485750"/>
            <a:ext cx="20118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Fable 5 - (~6T)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Opus 4.8 - (~5T)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Sonnet 4.5 -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Sonnet 5 -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~744B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 Spark Open - 816B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Qwen3.8-Max - 2.4T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~800B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 V4 Pro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 V4.1 Flash - 552B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 K3 - 2.8T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- 1.02T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ByteDance Seed 2.0 Pro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M3 - ~428B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3075200" y="745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{9CD3679A-59EB-4843-B35E-26E234566BB3}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 4 Argon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 Fable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 Opus 4.7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 Opus 5.5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 Opus 4.6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 Opus 4.6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 Opus 4.7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Muse Wonder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GPT-6 Astra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 Spark 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Kimi K3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MiMo-V2.6-Pro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 Fable 5.1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GPT-6.1 Sol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 Spark 1.3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 Opus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 Sol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 Opus 4.8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 Spark 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 Opus 4.5 (High, 32K, 20251101)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 Opus 4.8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Muse 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 Opus 5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Claude Sonnet 4.6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8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Gemini 3.8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3" name="Google Shape;73;p14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{9CD3679A-59EB-4843-B35E-26E234566BB3}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 4 Argon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 Opus 5.5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Muse Wonder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 Fable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 Fable 5.1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 Opus 4.6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 Opus 4.7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 Opus 4.6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Gemini 3.8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 Spark 1.3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 Opus 4.7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 Spark 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 Opus 5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 Opus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 Spark 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 3.7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Muse 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Kimi K3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 3.1 Pro 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 3 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GPT-5.6 Sol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 3.6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GPT-5.5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 Opus 4.8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Oct 23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5" descr="auto: aa-index-chart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291" y="1669032"/>
            <a:ext cx="8516419" cy="332853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" name="Google Shape;82;p15"/>
          <p:cNvSpPr/>
          <p:nvPr/>
        </p:nvSpPr>
        <p:spPr>
          <a:xfrm>
            <a:off x="3022584" y="3527353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655859" y="3527353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67584" y="3527353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110450" y="2980375"/>
            <a:ext cx="43662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Releases Timestral Models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Four sizes - 5M, 28M, 123M, and 209M params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Support multiple related time series, historical and known-future inputs, and probabilistic predictions that quantify uncertainty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209M model leads GIFT-Eval, TIME, and fev-bench among pretrained zero-shot models, demonstrating competitive accuracy with fewer parameters.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Runs efficiently on CPUs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Weights - Modified MIT ; Code - Apache 2.0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https://mistral.ai/news/timestral/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https://github.com/mistralai/timestral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- GitHub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https://huggingface.co/collections/mistralai/timestral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- Hugging Face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02901" y="17693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10450" y="400200"/>
            <a:ext cx="4366200" cy="2281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Google’s Harness2 Agent Framework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Apache-2.0 code on GitHub</a:t>
            </a:r>
            <a:endParaRPr sz="12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Recursively improve prompts, tools, memory, guardrails, skills, and other agent infrastructure without changing model weights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Task-level recursion uses Propose–Probe–Compose to compare candidate changes and refine execution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Harnessing-level recursion preserves lessons to guide future tasks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Adaptable agent infrastructure rather than model retraining, with parallel or sequential refinement, OpenCode and Codex executors, and three supported benchmarks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https://github.com/google-research/harness2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https://arxiv.org/abs/2610.14224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https://harness2.github.io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625" y="385359"/>
            <a:ext cx="3041603" cy="228120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625" y="2993232"/>
            <a:ext cx="2736696" cy="205252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36680" y="1751870"/>
            <a:ext cx="44709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4 Argon goes GA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with a 1M-token output limit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 to developers, enterprises and Gemini Pro and Ultra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response can run to 1M tokens (up from 64K)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Input and output share the window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API price $2 / $10 per 1M tokens until November 30, then $4 / $20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Google internally reports 35% more agentic code submissions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and about 30% fewer rollbacks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Available in Cursor, Devin and GitHub Copilot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https://cloud.google.com/blog/products/ai-machine-learning/gemini-4-argon-available-on-google-cloud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0321" y="992001"/>
            <a:ext cx="3442650" cy="3322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" name="Google Shape;101;p17"/>
          <p:cNvSpPr/>
          <p:nvPr/>
        </p:nvSpPr>
        <p:spPr>
          <a:xfrm>
            <a:off x="5567950" y="3769450"/>
            <a:ext cx="358200" cy="32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79450" y="1629750"/>
            <a:ext cx="42888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MiniMax launches M3.1 Flash AI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For coding, autonomous agents, computer ops, cybersecurity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https://www.minimax.io/blog/minimax-m31f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x3 times faster, 70% lower agent-task costs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than previous version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API pricing is $0.15 / $0.60 per 1M tokens in/out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Available via MiniMax’s API, M Plan, MiniMax Code, Ollama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Model weights will follow later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https://platform.minimax.io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https://agent.minimax.io/download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0580" y="837150"/>
            <a:ext cx="4288795" cy="312750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102900" y="389938"/>
            <a:ext cx="44691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V4.1-Flash-1017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DeepSWE v1.1 coding score increased from 74.2 to 77.0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For complex programming, faster task completion, shorter outputs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Same price as before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DeepSeek Search and Fetch APIs - $0.75 per 1,000 calls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https://api-docs.deepseek.com/news/news261017/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https://api-docs.deepseek.com/updates/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02900" y="1852152"/>
            <a:ext cx="44691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REA - Reverse Engineering Anything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Use AI agents and MCP with software-analysis tools to do reverse engineering and re-implementation of software.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Project started in April, grew to 400 GitHub stars in September, then exploded in October - currently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371K stars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https://github.com/morluto/rea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https://rea.tools</a:t>
            </a: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02900" y="3351594"/>
            <a:ext cx="44691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TypeSafe Jev 1.14 - 262K context, Images + location tasks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Can accept image input, 262K text context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new Box output type - for object-location tasks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Developers can combine images with instructions and questions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Longer contexts reduce speed and accuracy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Pricing remains $0.042 per 1M input tokens, with free output</a:t>
            </a: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https://x.com/Marktechpost/status/2110608747265769578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https://typesafe.ai/blog/jev-1-14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https://docs.typesafe.ai/go/box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https://docs.typesafe.ai/go/images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02901" y="17693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500" y="108200"/>
            <a:ext cx="2124074" cy="1593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2500" y="1852150"/>
            <a:ext cx="3443220" cy="13113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2500" y="3314349"/>
            <a:ext cx="2645540" cy="16808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102900" y="465025"/>
            <a:ext cx="4813200" cy="355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Jev alternatives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Cloudflare Clef / Clef-flash — multimodal, open-weight decision models.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Liquid AI d1 — hosted and open models supporting text, images, and audio.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OpenAI Decisions API — hosted decisions using gpt-6-luna.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Perplexity pplx-decider — open-weight text and image decision models.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meraGPT Decider 1 — hosted, text-only, Jev-compatible model.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Respan Span-01 — behavior detection and probability scoring.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Standard Thinking Standard One — 3B and 8B text/image models.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Together AI Tev1-4B-experimental — experimental multiple-choice model.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Fastino GLiNER2.5-Decide — compact encoder for decisions and extraction.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Strands Labs Strands Decider — approximately 2B, self-hosted, with training recipe.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Kev — Jev-compatible models from Jared Palmer, 0.8B–27B.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Mapika Decider — self-hosted family, 0.8B–35B-A3B.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Bespoke Labs Bespoke-Nimble-9B — lightweight adapter for text decisions.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Convai Innovations Laya — compact, ModernBERT-based decision models.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Von — small encoder that scores all options in one pass.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Open-Jev — Qwen-based adapters in 2B, 9B, and 27B sizes.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OpenJev on DiffusionGemma — text/image model with Jev-compatible API.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InnerJev — 4B and 27B models distilled from LLM reasoning.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SemIf — typed decisions from existing open LLMs; browser demo available.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06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- Rizzo Flow — self-hosted model with native and Jev-compatible APIs.</a:t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https://www.marktechpost.com/2026/10/17/20-jev-alternatives-the-decision-models-taking-on-typesafe-in-2026/</a:t>
            </a:r>
            <a:r>
              <a:rPr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02899" y="17700"/>
            <a:ext cx="2461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20 Jev Alternatives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8975" y="757863"/>
            <a:ext cx="3923100" cy="29423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36576" y="-27432"/>
            <a:ext cx="35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1" descr="auto: youtube-videos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939309"/>
            <a:ext cx="2461825" cy="279169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3" name="Google Shape;133;p21" descr="auto: youtube-shorts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0227" y="2703305"/>
            <a:ext cx="2133622" cy="223725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21"/>
          <p:cNvSpPr txBox="1"/>
          <p:nvPr/>
        </p:nvSpPr>
        <p:spPr>
          <a:xfrm>
            <a:off x="102375" y="725485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7.65K subscribers, 375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36572" y="-27424"/>
            <a:ext cx="4390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Scion vs Git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12150" y="298975"/>
            <a:ext cx="3775500" cy="3112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Scion vs Git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reports a 200× smaller CPU-and-memory infrastructure footprint than its previous Git mirroring infrastructure, and roughly 100× faster checkouts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Git often works like a shopkeeper assembling a custom shipment based on what each customer already owns</a:t>
            </a:r>
            <a:br>
              <a:rPr lang="en" sz="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Scion works more like a supermarket with standardized, prepackaged items on nearby shelves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: clients request exactly the objects they need, and shared caches hand those objects over in a ready-to-use format. This avoids repeatedly calculating and compressing custom shipments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https://www.anthropic.com/research/redesigning-source-control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8098" y="2771025"/>
            <a:ext cx="4105500" cy="23105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2061" y="55749"/>
            <a:ext cx="4697576" cy="2643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3" name="Google Shape;143;p22"/>
          <p:cNvSpPr txBox="1"/>
          <p:nvPr/>
        </p:nvSpPr>
        <p:spPr>
          <a:xfrm>
            <a:off x="112150" y="3478625"/>
            <a:ext cx="37755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Antique: Anthropic’s Code Review and Approval Tool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Antique addresses review and approval bottlenecks as AI-generated code overwhelms workflows designed for humans.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Review tooling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supports approval rules that distinguish comment-only edits from sensitive logic changes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directing human attention toward consequential modifications.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74102" y="328472"/>
            <a:ext cx="44667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Nemotron 3.5 Super VL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120B open multimodal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MoE 120B total, 12B active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Hybrid Mamba-Transformer, 1M-token context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Takes text, images, documents, GUI screenshots, video up to 2 min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NVFP4 build runs on one DGX Spark, H200 or GB200, or two H100s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NVIDIA claims tuned versions beat Claude Opus 5 on some tasks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Smaller Bolt 74B-A9B fits in 24GB; free endpoint on OpenRouter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https://openrouter.ai/nvidia/nemotron-3.5-super-vl-20261015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74100" y="2005177"/>
            <a:ext cx="44667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ships GPT-Live-1.1 with 13 new voices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ChatGPT Voice, Codex and the dots personal agent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New voices in French, German, Hindi, Japanese,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Korean and Mexican Spanish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Better accents and less spoken "checking..." during web searches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https://runtimewire.com/article/openai-gpt-live-1-1-six-languages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74100" y="3140292"/>
            <a:ext cx="44667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Liquid AI d1-ultra tops the AA Decision Index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multimodal decision model - text or images in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Answers are fast and cheap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Scores 65 on the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Decision Index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vs 58 for TypeSafe Jev 1.13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Index weighs knowledge, reasoning, tool calling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and safety classification equally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Priced at $0.042 per 1M input tokens on the Liquid API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Liquid AI is in Cambridge, MA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https://www.liquid.ai/blog/d1-ultra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200" y="98586"/>
            <a:ext cx="2625925" cy="15420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3" name="Google Shape;153;p23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93200" y="1867174"/>
            <a:ext cx="2625926" cy="1218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3200" y="3173437"/>
            <a:ext cx="2326090" cy="17529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24125" y="428425"/>
            <a:ext cx="37278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Krea 3: image editing in under 8 seconds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Image editing model built for production 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Finishes an edit in under 8 seconds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Costs $0.06 per image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Krea says it is 4x faster than Nano Banana Pro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Combines up to 8 reference images into one picture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Krea AI is in San Francisco, California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https://www.krea.ai/krea-3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4752" y="223546"/>
            <a:ext cx="2691765" cy="16748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24"/>
          <p:cNvSpPr txBox="1"/>
          <p:nvPr/>
        </p:nvSpPr>
        <p:spPr>
          <a:xfrm>
            <a:off x="124125" y="2517550"/>
            <a:ext cx="37278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Personality Becomes Competitive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Artificial Analysis introduces AA Personality Bench: 900 questions assessing 30 traits, grouped into 8 indices, including warmth, imagination, transparency, and generic filler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Capable models can feel cold, sycophantic, or frustrating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Meta’s Muse illustrates personality-driven engagement; OpenAI’s agents face criticism for dryness. The broader achievement is making conversational character measurable, strengthening product differentiation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https://artificialanalysis.ai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https://www.youtube.com/watch?v=FSX5JFJS9PQ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4750" y="1982500"/>
            <a:ext cx="4614724" cy="30764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36572" y="-27425"/>
            <a:ext cx="445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Customize Claude Code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5153025" y="308375"/>
            <a:ext cx="3932100" cy="4605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Customize your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project instructions, conventions, and context. - place at the project root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proj/</a:t>
            </a:r>
            <a:r>
              <a:rPr lang="en" sz="1100" b="1">
                <a:solidFill>
                  <a:srgbClr val="3C78D8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or at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proj/.claude/CLAUDE.md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.claude/agents/&lt;agent-name&gt;.md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Custom subagent definitions.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.claude/skills/&lt;skill-name&gt;/SKILL.md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Reusable instructions and workflows; can be invoked as /skill-name or loaded automatically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.claude/commands/&lt;command-name&gt;.md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Custom slash commands in the older, still-supported format. Today use the skills instead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.claude/rules/*.md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Modular instructions and coding rules; optionally scoped to particular file paths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.mcp.json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 - MCP server configuration (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proj/.mcp.json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.claude/output-styles/&lt;style-name&gt;.md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Custom role, tone, and response format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.claude/hooks/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Optional location for hook scripts; not automatically     discovered. Configure hooks in a settings file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.claude/settings.json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Shared project settings, including permissions and hook configuration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.claude/settings.local.json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Personal project settings; not intended to be committed to version control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.claude/workflows/&lt;workflow-name&gt;.js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Saved dynamic workflows - can be invoked with /name commands. These are JavaScript scripts that orchestrate multiple subagents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You can also create arbitrary subdirectories, but Claude Code does not automatically load them - you need to reference them explicitly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187175" y="3976783"/>
            <a:ext cx="4153500" cy="695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Skills vs Agents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Both can execute a task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An agent has its own context and optional model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Skills can invoke agents and vice versa, agents can invoke/use skills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8000" y="470300"/>
            <a:ext cx="32652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Customize your Claude Code</a:t>
            </a:r>
            <a:endParaRPr sz="1200" b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CLAUDE.md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.mcp.json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.claude/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agents/&lt;agent-name&gt;.md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skills/&lt;skill-name&gt;/SKILL.md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commands/&lt;command-name&gt;.md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rules/*.md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output-styles/&lt;style-name&gt;.md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hooks/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settings.json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settings.local.json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workflows/&lt;workflow-name&gt;.js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2125" y="247650"/>
            <a:ext cx="2001350" cy="1211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36572" y="-27425"/>
            <a:ext cx="445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Customize Copilot in VS Code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5353050" y="95900"/>
            <a:ext cx="3713100" cy="494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Customize GitHub Copilot for VS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.github/copilot-instructions.md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Repo-wide project instructions, coding conventions, architecture notes, and build/test commands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.github/instructions/&lt;name&gt;.instructions.md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modular instructions - use an applyTo pattern in YAML frontmatter to target particular files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AGENTS.md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Cross-agent project instructions, usually at the repository root, but also can be placed in specific directories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.github/agents/&lt;agent-name&gt;.agent.md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Custom agent definitions: role, instructions, available tools, and optionally a model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.github/skills/&lt;skill-name&gt;/SKILL.md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task-specific instructions and workflows; each skill folder can also contain scripts and resources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.github/prompts/&lt;prompt-name&gt;.prompt.md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Reusable, manually invoked prompts in VS Code; invoke from chat as /prompt-name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.github/hooks/&lt;name&gt;.json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Hook configuration for running commands at supported agent lifecycle events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.github/hooks/scripts/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Optional location for hook scripts. Scripts must be referenced by hook configuration; placing them here does not automatically register them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.vscode/settings.json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VS Code workspace settings, including supported Copilot customization and discovery settings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.vscode/mcp.json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Workspace MCP server configuration for connecting Copilot to external tools and services.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You can also create arbitrary subdirectories, but Copilot does not automatically treat them as configuration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65150" y="498875"/>
            <a:ext cx="37131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Customize GitHub Copilot </a:t>
            </a:r>
            <a:b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 b="1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for VS Code</a:t>
            </a:r>
            <a:endParaRPr sz="1200" b="1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AGENTS.md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.github/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copilot-instructions.md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instructions/&lt;name&gt;.instructions.md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agents/&lt;agent-name&gt;.agent.md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skills/&lt;skill-name&gt;/SKILL.md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prompts/&lt;prompt-name&gt;.prompt.md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hooks/&lt;name&gt;.json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hooks/scripts/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.vscode/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settings.json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mcp.json</a:t>
            </a: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900" y="346600"/>
            <a:ext cx="2160899" cy="12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6576" y="350520"/>
            <a:ext cx="44622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Agents Breach 100+ Websites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Reuters reported that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Chinese hacker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used Cairn, an open-source agent platform, to attack 1,200 websites in US, Canada, Japan and Australia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Breached more than 100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including Deere, SharkNinja and Cummins.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Total cost  $5K, ~$50 per successful intrusion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https://thenextweb.com/news/ai-agents-hacker-cairn-100-sites-deere-norforge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46101" y="1688275"/>
            <a:ext cx="4462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co-founder Jack Clark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told that the singularity has begun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Humanity's Last Exam scores went from 8% to 67.7% since 2025; FrontierMath from 2% to 94%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Anthropic model puts US GDP at $44T by 2030 if AI spreads fast, with very disruptive job effects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10M human scientists may soon direct a Billion virtual ones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https://importai.substack.com/p/import-ai-477-in-which-i-tell-the</a:t>
            </a:r>
            <a:r>
              <a:rPr lang="en" sz="9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5626" y="3220720"/>
            <a:ext cx="4462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Inception Mercury 3 - a diffusion LLM at 1K+ tok/sec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Writes text by diffusion, refining the whole answer at once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40x larger than Mercury 1, 3x stronger on benchmarks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Over 1K tokens per second on standard hardware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Beats GPT-6 Luna and Claude Haiku 5.5 on some benchmarks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1M-token context and tool calling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Launch price $0.10 per 1M input tokens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https://www.inceptionlabs.ai/blog/introducing-mercury-3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61" y="350525"/>
            <a:ext cx="3174464" cy="1265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0" name="Google Shape;190;p2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7500" y="1688273"/>
            <a:ext cx="1437181" cy="1449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56" y="3210825"/>
            <a:ext cx="2637069" cy="1380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2503" y="3771490"/>
            <a:ext cx="1753651" cy="467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90875" y="1688275"/>
            <a:ext cx="1486170" cy="1449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56675" y="1188625"/>
            <a:ext cx="48783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Cloudflare Clairic Extraction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Cloudflare calls it System One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Pulls typed values (numbers, dates, lists)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 emails, receipts, spreadsheets and images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Generates no tokens, so it cannot mistype an answer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Each value comes with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confidence score and a pointer to its source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a claims-processing test proved to be 3.2x faster and 49% cheaper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preview on Workers AI; open weights promised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https://blog.cloudflare.com/clairic-extraction-model</a:t>
            </a:r>
            <a:r>
              <a:rPr lang="en" sz="9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7250" y="1052475"/>
            <a:ext cx="2262074" cy="19553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109797" y="361397"/>
            <a:ext cx="44622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open-sources DeepInfer, its production inference engine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engine that serves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DeepSeek-V4.1-Flash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in production, released under Apache 2.0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on vLLM, with ideas taken from SGLang and TensorRT-LLM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DeepSeek says one cluster serves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155T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tokens a day and earns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$38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per GPU-hour at off-peak prices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Runs on NVIDIA SM100 (SM = Streaming Multiprocessor, Blackwell) and Huawei Ascend 950, with no support yet for older NVIDIA GPUs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Withheld: the KV cache system, prefill/decode disaggregation and load balancing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https://github.com/deepseek-ai/DeepInfer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76" y="2571738"/>
            <a:ext cx="3908649" cy="2393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434" y="1222750"/>
            <a:ext cx="3013138" cy="22669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8875" y="191300"/>
            <a:ext cx="4112250" cy="8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109801" y="752552"/>
            <a:ext cx="44622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PyTorch now runs natively on Google TPUs and AWS Trainium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Announced at PyTorch Conference North America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Google and Meta released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TorchTPU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which replaces PyTorch/XLA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Tensors are ordinary tensors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torch.compile(backend="tpu")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gave a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3.8x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speedup on fine-tuning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52%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MFU training Qwen 3 8B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Near-linear scaling to 8,192 chips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AWS shipped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TorchNeuron for Trainium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Apache 2.0, in public beta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Google's llm-d 1.0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inference stack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https://pytorch.org/blog/introducing-torchtpu/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09801" y="2857577"/>
            <a:ext cx="44622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Ming 3.0: Open Voice AI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 Group’s InclusionAI  (China) announced 5 open voice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Hugging Face and ModelScope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Speech synthesis, audio understanding, and speech recognition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(listening, transcription, and speaking)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0.5-Bln params speech model supports voice cloning, seven languages, and control over speaking style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Turn recordings into summaries, searchable lessons, multilingual narration, and reusable content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https://github.com/inclusionAI/Ming-3.0-tts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https://huggingface.co/inclusionAI/Ming-3.0-tts-0.5B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https://www.youtube.com/watch?v=54xriKZDP9Y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9176" y="3086625"/>
            <a:ext cx="2514600" cy="1638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225" y="1046099"/>
            <a:ext cx="3727227" cy="1232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938249" y="462788"/>
            <a:ext cx="40794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open-sources SPACE,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sandbox for AI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Every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Perplexity Computer task runs inside it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each task in its own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Firecracker microVM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Credentials and outbound traffic are controlled from outside,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 an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cannot read the secret it uses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Red team: 9 models with root made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108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escape attempts and reached the host secret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times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Egress was the weak point: 11 of 54 runs bypassed network policy before fixes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Written in Rust, Apache 2.0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https://siliconangle.com/2026/10/15/perplexity-ai-open-sources-its-secure-ai-agent-sandbox-space/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4182525" y="3486293"/>
            <a:ext cx="40794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orders DeepSeek removed from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federal civilian systems</a:t>
            </a:r>
            <a:endParaRPr sz="12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DHS order requires civilian agencies to remove 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 products and drop them from procurement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Includes 3rd party products built on DeepSeek technology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Reason - risk leaking sensitive data to China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Agencies may ask for exceptions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National security systems are handled separately.</a:t>
            </a:r>
            <a:endParaRPr sz="12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https://thenextweb.com/news/us-bars-deepseek-federal-agencies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7575" y="69000"/>
            <a:ext cx="3906874" cy="2930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" name="Google Shape;227;p3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9400" y="3601633"/>
            <a:ext cx="2463376" cy="1219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176345" y="525958"/>
            <a:ext cx="44622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Voxtral 3: speech models and a voice agent SDK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Three transcription models, one TTS model and a LiveKit-based agent SDK, all in public preview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Covers 50+ languages, with speaker diarization and context biasing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Small Transcribe 3 reaches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4.1%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WER on FLEURS,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against 16.0% for Whisper large-v3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Speech-to-text is priced at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$0.0035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 minute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Mini Transcribe 3 has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4B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parameters.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Mistral has not disclosed Small's size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https://mistral.ai/news/voxtral-3/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176351" y="2572129"/>
            <a:ext cx="4462200" cy="237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 3.0 search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claims that it wins over Perplexity and Brave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Exa is a US startup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founded in 2021 by Will (William) Bryk and Jeff (Jeffrey) Wang, based in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San Francisco, California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https://www.ycombinator.com/companies/exa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 3.0 targets AI agents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web retrieval for coding, finance, and deep research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Exa claims wins over Perplexity, Brave, and Parallel across eight benchmarks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https://www.marktechpost.com/2026/10/20/exa-3-0-search-api-lite/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Its own crawler and index track over 2 trillion URLs, including 1.27 Bln product listings and 211 million local businesses.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Lite costs $4 per 1,000 requests; Auto costs $7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offering developers a cost-versus-quality choice for AI search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https://exa.ai/blog/exa-3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8248" y="160550"/>
            <a:ext cx="3117798" cy="23383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8250" y="2837401"/>
            <a:ext cx="2771548" cy="20786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227951" y="455075"/>
            <a:ext cx="41739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previews Claude Duet, a proactive agent app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 Duet runs in the cloud, on its own virtual machine with a browser, rather than on your phone or laptop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Opus 5.5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and sends you messages as needed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Keeps working after you close the app, asks before sensitive actions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Connects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6,000+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apps such as Gmail and QuickBooks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Summarizes updates from connected apps and handles tasks from scheduling to dashboards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Research preview with a waitlist for US Pro and Max subscribers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Competes with Meta's Muse and OpenAI's Dots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https://claude.com/resources/articles/claude-duet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227962" y="2869284"/>
            <a:ext cx="44622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Recursive Flint: Local Coding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 Francisco-based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led by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Richard Socher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released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Flint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2.0 open-weight coding model, 40B / 2.5B active 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23 GB four-bit weights fit a 48 GB Mac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125 tokens/sec on an M4 Pro MacBook Pro.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74.2% SWE-bench Verified; 54.9% Terminal-Bench 2.1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says its Eureka Machine automated research system helped develop nearly the entire stack, demonstrating faster, AI-assisted model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https://recursive.com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https://recursive.com/updates/introducing-recursive-flint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475" y="517024"/>
            <a:ext cx="1961222" cy="2073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5" name="Google Shape;245;p33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0150" y="2869275"/>
            <a:ext cx="2455800" cy="19436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5975" y="3085522"/>
            <a:ext cx="1332099" cy="13321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7" name="Google Shape;247;p33"/>
          <p:cNvSpPr txBox="1"/>
          <p:nvPr/>
        </p:nvSpPr>
        <p:spPr>
          <a:xfrm>
            <a:off x="6600321" y="201272"/>
            <a:ext cx="2455800" cy="2388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Anthropic - Claude Duet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OpenAI - Dots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Meta - Muse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Google - Gemini Spark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SpaceXAI / xAI - Grok Bot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 Company - H Platform / Holo agent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Mistral AI - Vibe (formerly Le Chat)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Alibaba - Wukong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Zhipu AI - AutoGLM / Rumination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Alibaba - Qwen-Agent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Manus - Manus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OpenClaw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Nous Research - Hermes Agent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Abacus.AI - DeepAgent, Claw, Hermes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303000" y="961575"/>
            <a:ext cx="46464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1Password for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Lets agents log in without seeing passwords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user approves each request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1Password fills the credentials into the site without seeing the paswd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Gives agents account access while users keep control of their secrets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https://1password.com/blog/1password-for-ai-agents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487201" y="3084994"/>
            <a:ext cx="44622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Claude's text output now carries an invisible watermark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SynthID-Text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added to comply with the EU AI Act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Works by nudging choices among near-equivalent words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Adds no hidden characters or tokens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mark carries no information about the user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https://www.oreilly.com/radar/the-latest-anthropic-claude-models-contain-ai-text-watermarks-what-does-this-mean-for-you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4877" y="630276"/>
            <a:ext cx="3099023" cy="17432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6" name="Google Shape;256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4881" y="2953214"/>
            <a:ext cx="3099024" cy="148248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261651" y="654827"/>
            <a:ext cx="4462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junior hiring went down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since 2025 from 27% to 9%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August its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agents logged x6 times more hours than its staff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Employees report productivity gains,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but more time goes to supervising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Meeting time rose about 20%;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human attention is becoming the bottleneck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https://www.anthropic.com/research/employment-at-anthropic</a:t>
            </a:r>
            <a:r>
              <a:rPr lang="en" sz="9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3077" y="2406203"/>
            <a:ext cx="4311675" cy="2263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/>
        </p:nvSpPr>
        <p:spPr>
          <a:xfrm>
            <a:off x="83398" y="50600"/>
            <a:ext cx="1923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Jobs and Layoffs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2771397" y="198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5690525" y="3510625"/>
            <a:ext cx="32868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135.2K in 2026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(as of Oct 23,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123K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266K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5690530" y="1158774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196,349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(663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36" descr="auto: layoffs-fyi-chart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736" y="3407672"/>
            <a:ext cx="4634459" cy="1548885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3" name="Google Shape;273;p36" descr="auto: trueup-chart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17" y="570018"/>
            <a:ext cx="4635704" cy="2494740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/>
        </p:nvSpPr>
        <p:spPr>
          <a:xfrm>
            <a:off x="93825" y="-8374"/>
            <a:ext cx="138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Tech Hiring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84300" y="406525"/>
            <a:ext cx="44877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Software job postings on Indeed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Comparing to 2020 level, in Feb 2022 it was 234%, in 2025 it was 65%, now it is 77%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All US job postings: 103% (compared with 2020)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Postings that mention AI: 6.7% of all, up from 3.4% a year ago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https://fred.stlouisfed.org/series/IHLIDXUSTPSOFTDEVE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84300" y="1779175"/>
            <a:ext cx="44877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Skills in demand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Dice, 7M+ US tech postings (Aug 2026): +18% year over year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and machine learning postings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+101%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year over year, five times the overall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Fastest-growing skills, each up 200%+: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responsible AI, AI agents, agentic AI, AI infrastructure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Most requested overall: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communication, computer science, troubleshooting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Indeed: 71% of the software postings rebound (May 2025 to May 2026) is senior roles; 37% has AI in the title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https://hiringlab.indeed.com/2026/07/08/ai-and-job-postings-from-destruction-to-creation/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https://www.dice.com/hiring/recruitment/reports/dice-tech-job-report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4876773" y="318025"/>
            <a:ext cx="39426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 "In Demand" Skills and Qualifications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Critical thinking and problem-solving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Communication and stakeholder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Adaptability and continuous learning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 literacy and practical AI adoption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AI/ML application development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Data engineering and data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Cybersecurity and risk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Cloud and infrastructure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Software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Automation and workflow optimization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DevOps, CI/CD, and platform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Governance, compliance, and responsible AI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Analytical thinking and data analysis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Product management and business alignment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Project and program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Leadership and cross-functional collaboration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Creativity and innovation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Resilience and professionalism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Technical troubleshooting and systems thinking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Business growth and customer focus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/>
        </p:nvSpPr>
        <p:spPr>
          <a:xfrm>
            <a:off x="36576" y="-27432"/>
            <a:ext cx="2441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2657475" y="1368175"/>
            <a:ext cx="61341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Interests: Generative AI, using LLMs with your data, local AI for local private data, cloud architecture, fin-tech, application 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Find and connect: LinkedIn, GitHub, YouTube, Google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https://eais.ai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654" y="1771269"/>
            <a:ext cx="1572768" cy="15727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/>
        </p:nvSpPr>
        <p:spPr>
          <a:xfrm>
            <a:off x="2551950" y="1039375"/>
            <a:ext cx="40401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1434225" y="2126100"/>
            <a:ext cx="6738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Videos of every seminar are on YouTube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GitHub. Click a pptx file, then the download button on the right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https://github.com/lselector/seminar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Google Drive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https://drive.google.com/drive/folders/1dmj00iilSP-JYmriMUUaHCKz5X54e3UX?ths=true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5496</Words>
  <Application>Microsoft Macintosh PowerPoint</Application>
  <PresentationFormat>On-screen Show (16:9)</PresentationFormat>
  <Paragraphs>682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Calibri</vt:lpstr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2026-10-23T16:05:19Z</dcterms:modified>
</cp:coreProperties>
</file>