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embeddedFontLst>
    <p:embeddedFont>
      <p:font typeface="Roboto Mono" pitchFamily="49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F95EE02-83C3-4575-9807-AF345FD4CF18}">
  <a:tblStyle styleId="{2F95EE02-83C3-4575-9807-AF345FD4CF1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 snapToGrid="0">
      <p:cViewPr varScale="1">
        <p:scale>
          <a:sx n="124" d="100"/>
          <a:sy n="124" d="100"/>
        </p:scale>
        <p:origin x="576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s-toc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s-toc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Contents labels. Kept by g3_update_toc.py.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NVIDIA releases Nemotron 3.5 Super VL, a 120B open multimodal model =&gt; NVIDIA Nemotron 3.5 Super VL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Anthropic gives METR evaluators employee-like access =&gt; Anthropic Opens Up to METR Evaluators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Eight US states sue OpenAI over ChatGPT and minors =&gt; Eight States Sue OpenAI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OpenAI ships GPT-Live-1.1 with 13 new voices =&gt; OpenAI GPT-Live-1.1 Voices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Liquid AI d1-ultra tops the AA Decision Index =&gt; Liquid AI d1-ultra Decision Model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Krea 3: image editing in under 8 seconds =&gt; Krea 3 Image Editing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English - https://lmarena.ai/leaderboard/text =&gt; Crowd-sourced LM Arena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Coding - https://lmarena.ai/leaderboard/text/coding =&gt; Crowd-sourced LM Arena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Tech Layoff Tracker =&gt; Jobs &amp; Layoffs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 Layoffs by year (US only): =&gt; Jobs &amp; Layoffs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Top "In Demand" Skills and Qualifications =&gt; Tech Hiring &amp; Skills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Software job postings on Indeed =&gt; Tech Hiring &amp; Skills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Skills in demand =&gt; Tech Hiring &amp; Skills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Meta ships Muse Wonder, its first frontier model =&gt; Meta Muse Wonder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Gemini 4 Argon goes GA with a 1M-token output limit =&gt; Gemini 4 Argon GA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Meta releases Muse Spark Open, an 816B open-weight model =&gt; Meta Muse Spark Open 816B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Anthropic replaces git with Scion after 30,000 merges a day =&gt; Anthropic Scion Replaces Git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Fish Audio Drama 3: open-weight TTS you direct like an actor =&gt; Fish Audio Drama 3 TTS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Modal raises $750M at $15.75B, passes $1B run rate =&gt; Modal $750M Series 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Anthropic pledges 5% of its equity to a Public Benefit Fund =&gt; Anthropic Public Benefit Fund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Anthropic tests AI self-replication on $55 TV boxes =&gt; AI Self-Replication on TV Boxes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TypeSafe Jev 1.14 - Images, 262K context, location tasks =&gt; TypeSafe Jev 1.14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NVIDIA Nemotron 3.5 Super VL a 120B open multimodal model =&gt; NVIDIA Nemotron 3.5 Super VL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 hacker's AI agents broke into 100+ company websites =&gt; AI Agents Hack 100+ Companies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OpenAI's list of rogue-agent incidents grows to 19 =&gt; OpenAI Rogue-Agent Incidents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Claude traces the mystery seeds of NIST elliptic curves =&gt; Claude Explains NIST Curve Seeds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Anthropic: junior hires fell from 27% to 9% of technical roles =&gt; Anthropic Workforce and Junior Hires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Jack Clark tells the IMF the singularity has begun =&gt; Jack Clark: Singularity Has Begun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China proposes export controls on AI models and weights =&gt; China AI Export Controls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Inception Mercury 3: a diffusion LLM at 1,000+ tokens per second =&gt; Inception Mercury 3 Diffusion LLM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Cloudflare Clairic extracts values without generating text =&gt; Cloudflare Clairic Extraction Model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MiniMax launches M3.1 Flash AI model =&gt; MiniMax M3.1 Flash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Mistral AI releases Timestral time-series forecasting models chevron_right =&gt; Mistral Timestral Forecasting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Anthropic co-founder Jack Clark told that the singularity has begun =&gt; Jack Clark: Singularity Has Begun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TypeSafe Jev 1.14 - 262K context, Images + location tasks =&gt; TypeSafe Jev 1.14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fb585c93bf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" name="Google Shape;62;g3fb585c93bf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fb585c93b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5" name="Google Shape;75;g3fb585c93b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h2f7f30444df2dbd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h2f7f30444df2dbd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h1ed11543803d5360_7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h1ed11543803d5360_7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h7d5f1b5aee3dda06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h7d5f1b5aee3dda06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s-news-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s-news-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h2f7f30444df2dbdf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h2f7f30444df2dbdf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s-youtube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s-youtube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s-nvidia-releases-nemotron-3-5-cf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s-nvidia-releases-nemotron-3-5-cf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s-liquid-ai-d1-ultra-tops-the-96ad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s-liquid-ai-d1-ultra-tops-the-96ad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h1ed11543803d5360_7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h1ed11543803d5360_7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h7e4986da2bdf9b18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h7e4986da2bdf9b18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s-one-hacker-s-ai-agents-broke-347e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s-one-hacker-s-ai-agents-broke-347e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s-inception-mercury-3-a-d32b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s-inception-mercury-3-a-d32b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s-claude-traces-the-mystery-68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s-claude-traces-the-mystery-68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s-layoffs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s-layoffs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s-hiring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s-hiring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s-about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s-about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s-thanks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s-thanks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hyperlink" Target="https://arena.ai/leaderboard/model/Claude%20Opus%204.7" TargetMode="External"/><Relationship Id="rId18" Type="http://schemas.openxmlformats.org/officeDocument/2006/relationships/hyperlink" Target="https://arena.ai/leaderboard/model/MiMo-V2.6-Pro" TargetMode="External"/><Relationship Id="rId26" Type="http://schemas.openxmlformats.org/officeDocument/2006/relationships/hyperlink" Target="https://arena.ai/leaderboard/model/Claude%20Sonnet%205.5%20%28xHigh%29" TargetMode="External"/><Relationship Id="rId3" Type="http://schemas.openxmlformats.org/officeDocument/2006/relationships/hyperlink" Target="https://en.wikipedia.org/wiki/Elo_rating_system" TargetMode="External"/><Relationship Id="rId21" Type="http://schemas.openxmlformats.org/officeDocument/2006/relationships/hyperlink" Target="https://arena.ai/leaderboard/model/Claude%20Opus%205%20%28High%29" TargetMode="External"/><Relationship Id="rId34" Type="http://schemas.openxmlformats.org/officeDocument/2006/relationships/hyperlink" Target="https://arena.ai/leaderboard/model/Gemini%203.6%20Flash%20%28High%29" TargetMode="External"/><Relationship Id="rId7" Type="http://schemas.openxmlformats.org/officeDocument/2006/relationships/hyperlink" Target="https://arena.ai/leaderboard/model/Claude%20Fable%205%20%28High%29" TargetMode="External"/><Relationship Id="rId12" Type="http://schemas.openxmlformats.org/officeDocument/2006/relationships/hyperlink" Target="https://arena.ai/leaderboard/model/Claude%20Opus%204.6%20%28High%29" TargetMode="External"/><Relationship Id="rId17" Type="http://schemas.openxmlformats.org/officeDocument/2006/relationships/hyperlink" Target="https://arena.ai/leaderboard/model/Claude%20Fable%205.1%20%28Max%29" TargetMode="External"/><Relationship Id="rId25" Type="http://schemas.openxmlformats.org/officeDocument/2006/relationships/hyperlink" Target="https://arena.ai/leaderboard/model/Claude%20Opus%204.5%20%28High%2C%2032K%2C%2020251101%29" TargetMode="External"/><Relationship Id="rId33" Type="http://schemas.openxmlformats.org/officeDocument/2006/relationships/hyperlink" Target="https://arena.ai/leaderboard/model/Gemini%203%20Pro" TargetMode="External"/><Relationship Id="rId2" Type="http://schemas.openxmlformats.org/officeDocument/2006/relationships/notesSlide" Target="../notesSlides/notesSlide2.xml"/><Relationship Id="rId16" Type="http://schemas.openxmlformats.org/officeDocument/2006/relationships/hyperlink" Target="https://arena.ai/leaderboard/model/Kimi%20K3%20%28Max%29" TargetMode="External"/><Relationship Id="rId20" Type="http://schemas.openxmlformats.org/officeDocument/2006/relationships/hyperlink" Target="https://arena.ai/leaderboard/model/GPT-6.1%20Sol%20%28Max%29" TargetMode="External"/><Relationship Id="rId29" Type="http://schemas.openxmlformats.org/officeDocument/2006/relationships/hyperlink" Target="https://arena.ai/leaderboard/model/Muse%20Spark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rena.ai/leaderboard/model/Gemini%204%20Argon%20%28High%29" TargetMode="External"/><Relationship Id="rId11" Type="http://schemas.openxmlformats.org/officeDocument/2006/relationships/hyperlink" Target="https://arena.ai/leaderboard/model/Claude%20Opus%204.6" TargetMode="External"/><Relationship Id="rId24" Type="http://schemas.openxmlformats.org/officeDocument/2006/relationships/hyperlink" Target="https://arena.ai/leaderboard/model/Muse%20Spark%201.1" TargetMode="External"/><Relationship Id="rId32" Type="http://schemas.openxmlformats.org/officeDocument/2006/relationships/hyperlink" Target="https://arena.ai/leaderboard/model/Gemini%203.1%20Pro%20Preview" TargetMode="External"/><Relationship Id="rId5" Type="http://schemas.openxmlformats.org/officeDocument/2006/relationships/hyperlink" Target="https://lmarena.ai/leaderboard/text/coding" TargetMode="External"/><Relationship Id="rId15" Type="http://schemas.openxmlformats.org/officeDocument/2006/relationships/hyperlink" Target="https://arena.ai/leaderboard/model/Muse%20Spark%201.2%20%28xHigh%29" TargetMode="External"/><Relationship Id="rId23" Type="http://schemas.openxmlformats.org/officeDocument/2006/relationships/hyperlink" Target="https://arena.ai/leaderboard/model/Claude%20Opus%204.8%20%28High%29" TargetMode="External"/><Relationship Id="rId28" Type="http://schemas.openxmlformats.org/officeDocument/2006/relationships/hyperlink" Target="https://arena.ai/leaderboard/model/Claude%20Opus%204.8" TargetMode="External"/><Relationship Id="rId36" Type="http://schemas.openxmlformats.org/officeDocument/2006/relationships/hyperlink" Target="https://arena.ai/leaderboard/model/GPT-5.5%20%28High%29" TargetMode="External"/><Relationship Id="rId10" Type="http://schemas.openxmlformats.org/officeDocument/2006/relationships/hyperlink" Target="https://arena.ai/leaderboard/model/Claude%20Opus%205.5%20%28High%29" TargetMode="External"/><Relationship Id="rId19" Type="http://schemas.openxmlformats.org/officeDocument/2006/relationships/hyperlink" Target="https://arena.ai/leaderboard/model/Muse%20Spark%201.3%20%28Max%29" TargetMode="External"/><Relationship Id="rId31" Type="http://schemas.openxmlformats.org/officeDocument/2006/relationships/hyperlink" Target="https://arena.ai/leaderboard/model/Gemini%203.7%20Flash%20%28High%29" TargetMode="External"/><Relationship Id="rId4" Type="http://schemas.openxmlformats.org/officeDocument/2006/relationships/hyperlink" Target="https://lmarena.ai/leaderboard/text" TargetMode="External"/><Relationship Id="rId9" Type="http://schemas.openxmlformats.org/officeDocument/2006/relationships/hyperlink" Target="https://arena.ai/leaderboard/model/Muse%20Wonder%20%28Max%29" TargetMode="External"/><Relationship Id="rId14" Type="http://schemas.openxmlformats.org/officeDocument/2006/relationships/hyperlink" Target="https://arena.ai/leaderboard/model/GPT-6%20Astra%20%28Max%29" TargetMode="External"/><Relationship Id="rId22" Type="http://schemas.openxmlformats.org/officeDocument/2006/relationships/hyperlink" Target="https://arena.ai/leaderboard/model/GPT-5.6%20Sol%20%28xHigh%29" TargetMode="External"/><Relationship Id="rId27" Type="http://schemas.openxmlformats.org/officeDocument/2006/relationships/hyperlink" Target="https://arena.ai/leaderboard/model/Claude%20Opus%205%20%28Max%29" TargetMode="External"/><Relationship Id="rId30" Type="http://schemas.openxmlformats.org/officeDocument/2006/relationships/hyperlink" Target="https://arena.ai/leaderboard/model/Gemini%203.8%20Flash%20%28High%29" TargetMode="External"/><Relationship Id="rId35" Type="http://schemas.openxmlformats.org/officeDocument/2006/relationships/hyperlink" Target="https://arena.ai/leaderboard/model/Qwen3.8-Max" TargetMode="External"/><Relationship Id="rId8" Type="http://schemas.openxmlformats.org/officeDocument/2006/relationships/hyperlink" Target="https://arena.ai/leaderboard/model/Claude%20Opus%204.7%20%28High%29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rtificialanalysis.ai/evaluations/artificial-analysis-intelligence-index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harness2.github.io" TargetMode="External"/><Relationship Id="rId3" Type="http://schemas.openxmlformats.org/officeDocument/2006/relationships/hyperlink" Target="https://mistral.ai/news/timestral/" TargetMode="External"/><Relationship Id="rId7" Type="http://schemas.openxmlformats.org/officeDocument/2006/relationships/hyperlink" Target="https://arxiv.org/abs/2610.14224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github.com/google-research/harness2" TargetMode="External"/><Relationship Id="rId5" Type="http://schemas.openxmlformats.org/officeDocument/2006/relationships/hyperlink" Target="https://huggingface.co/collections/mistralai/timestral" TargetMode="External"/><Relationship Id="rId10" Type="http://schemas.openxmlformats.org/officeDocument/2006/relationships/image" Target="../media/image3.png"/><Relationship Id="rId4" Type="http://schemas.openxmlformats.org/officeDocument/2006/relationships/hyperlink" Target="https://github.com/mistralai/timestral" TargetMode="External"/><Relationship Id="rId9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cloud.google.com/blog/products/ai-machine-learning/gemini-4-argon-available-on-google-cloud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inimax.io/blog/minimax-m31f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5.png"/><Relationship Id="rId5" Type="http://schemas.openxmlformats.org/officeDocument/2006/relationships/hyperlink" Target="https://agent.minimax.io/download" TargetMode="External"/><Relationship Id="rId4" Type="http://schemas.openxmlformats.org/officeDocument/2006/relationships/hyperlink" Target="https://platform.minimax.io" TargetMode="Externa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typesafe.ai/blog/jev-1-14" TargetMode="External"/><Relationship Id="rId13" Type="http://schemas.openxmlformats.org/officeDocument/2006/relationships/image" Target="../media/image8.png"/><Relationship Id="rId3" Type="http://schemas.openxmlformats.org/officeDocument/2006/relationships/hyperlink" Target="https://api-docs.deepseek.com/news/news261017/" TargetMode="External"/><Relationship Id="rId7" Type="http://schemas.openxmlformats.org/officeDocument/2006/relationships/hyperlink" Target="https://x.com/Marktechpost/status/2110608747265769578" TargetMode="External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rea.tools" TargetMode="External"/><Relationship Id="rId11" Type="http://schemas.openxmlformats.org/officeDocument/2006/relationships/image" Target="../media/image6.png"/><Relationship Id="rId5" Type="http://schemas.openxmlformats.org/officeDocument/2006/relationships/hyperlink" Target="https://github.com/morluto/rea" TargetMode="External"/><Relationship Id="rId10" Type="http://schemas.openxmlformats.org/officeDocument/2006/relationships/hyperlink" Target="https://docs.typesafe.ai/go/images" TargetMode="External"/><Relationship Id="rId4" Type="http://schemas.openxmlformats.org/officeDocument/2006/relationships/hyperlink" Target="https://api-docs.deepseek.com/updates/" TargetMode="External"/><Relationship Id="rId9" Type="http://schemas.openxmlformats.org/officeDocument/2006/relationships/hyperlink" Target="https://docs.typesafe.ai/go/box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rktechpost.com/2026/10/17/20-jev-alternatives-the-decision-models-taking-on-typesafe-in-2026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www.youtube.com/@lev-selector/videos" TargetMode="External"/><Relationship Id="rId4" Type="http://schemas.openxmlformats.org/officeDocument/2006/relationships/image" Target="../media/image11.jpe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hyperlink" Target="https://openrouter.ai/nvidia/nemotron-3.5-super-vl-20261015" TargetMode="External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2.png"/><Relationship Id="rId5" Type="http://schemas.openxmlformats.org/officeDocument/2006/relationships/hyperlink" Target="https://www.liquid.ai/blog/d1-ultra" TargetMode="External"/><Relationship Id="rId4" Type="http://schemas.openxmlformats.org/officeDocument/2006/relationships/hyperlink" Target="https://runtimewire.com/article/openai-gpt-live-1-1-six-languages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rea.ai/krea-3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5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://claude.md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hyperlink" Target="https://thenextweb.com/news/ai-agents-hacker-cairn-100-sites-deere-norforge" TargetMode="External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8.png"/><Relationship Id="rId5" Type="http://schemas.openxmlformats.org/officeDocument/2006/relationships/hyperlink" Target="https://www.inceptionlabs.ai/blog/introducing-mercury-3" TargetMode="External"/><Relationship Id="rId4" Type="http://schemas.openxmlformats.org/officeDocument/2006/relationships/hyperlink" Target="https://importai.substack.com/p/import-ai-477-in-which-i-tell-the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cloudflare.com/clairic-extraction-model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nthropic.com/research/employment-at-anthropic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2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layoffs.fyi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4.jpeg"/><Relationship Id="rId5" Type="http://schemas.openxmlformats.org/officeDocument/2006/relationships/image" Target="../media/image23.jpeg"/><Relationship Id="rId4" Type="http://schemas.openxmlformats.org/officeDocument/2006/relationships/hyperlink" Target="https://trueup.io/layoffs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fred.stlouisfed.org/series/IHLIDXUSTPSOFTDEVE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www.dice.com/hiring/recruitment/reports/dice-tech-job-report" TargetMode="External"/><Relationship Id="rId4" Type="http://schemas.openxmlformats.org/officeDocument/2006/relationships/hyperlink" Target="https://hiringlab.indeed.com/2026/07/08/ai-and-job-postings-from-destruction-to-creation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eais.ai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5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@lev-selector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drive.google.com/drive/folders/1dmj00iilSP-JYmriMUUaHCKz5X54e3UX?ths=true" TargetMode="External"/><Relationship Id="rId4" Type="http://schemas.openxmlformats.org/officeDocument/2006/relationships/hyperlink" Target="https://github.com/lselector/semina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36576" y="-27432"/>
            <a:ext cx="2896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 - Oct 23, 2026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5349249" y="27425"/>
            <a:ext cx="3198900" cy="5727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Every lab now says the harness matters more than the model</a:t>
            </a:r>
            <a:endParaRPr sz="1800" b="1" i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6576" y="393192"/>
            <a:ext cx="4517100" cy="2314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Crowd-sourced LM Arena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Google’s Harness2 Agent Framework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Mistral Releases Timestral Models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Gemini 4 Argon GA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MiniMax M3.1 Flash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DeepSeek V4.1-Flash-1017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REA - Reverse Engineering Anything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TypeSafe Jev 1.14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20 Jev alternatives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36576" y="2744216"/>
            <a:ext cx="4517100" cy="2314500"/>
          </a:xfrm>
          <a:prstGeom prst="rect">
            <a:avLst/>
          </a:prstGeom>
          <a:solidFill>
            <a:srgbClr val="E2F0D9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NVIDIA Nemotron 3.5 Super VL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OpenAI GPT-Live-1.1 Voices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Liquid AI d1-ultra Decision Model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Krea 3 Image Editing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Customize your Claude Code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Skills vs Agents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Customize GitHub Copilot for VS Code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AI Agents Breach 100+ Websites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Jack Clark: Singularity Has Begun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Inception Mercury 3 - a diffusion LLM at 1K+ tok/sec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4590288" y="713225"/>
            <a:ext cx="4517100" cy="991500"/>
          </a:xfrm>
          <a:prstGeom prst="rect">
            <a:avLst/>
          </a:prstGeom>
          <a:solidFill>
            <a:srgbClr val="DEEBF7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Cloudflare Clairic Extraction Model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Anthropic junior hiring went down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Jobs &amp; Layoffs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Tech Hiring &amp; Skills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4590288" y="1741417"/>
            <a:ext cx="4517100" cy="330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460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xxx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/>
          <p:nvPr/>
        </p:nvSpPr>
        <p:spPr>
          <a:xfrm>
            <a:off x="6736325" y="52350"/>
            <a:ext cx="23562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Starting Elo rating = 1000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https://en.wikipedia.org/wiki/Elo_rating_system</a:t>
            </a:r>
            <a:r>
              <a:rPr lang="en"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4"/>
          <p:cNvSpPr txBox="1"/>
          <p:nvPr/>
        </p:nvSpPr>
        <p:spPr>
          <a:xfrm>
            <a:off x="38150" y="2125"/>
            <a:ext cx="25998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"LM Arena" Leaderboard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52418" y="476072"/>
            <a:ext cx="25998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English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https://lmarena.ai/leaderboard/text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2726905" y="476078"/>
            <a:ext cx="28395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Coding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https://lmarena.ai/leaderboard/text/coding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4"/>
          <p:cNvSpPr txBox="1"/>
          <p:nvPr/>
        </p:nvSpPr>
        <p:spPr>
          <a:xfrm>
            <a:off x="3437903" y="63625"/>
            <a:ext cx="1408200" cy="17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Data for Oct 20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9" name="Google Shape;69;p14"/>
          <p:cNvGraphicFramePr/>
          <p:nvPr/>
        </p:nvGraphicFramePr>
        <p:xfrm>
          <a:off x="5742420" y="4300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{2F95EE02-83C3-4575-9807-AF345FD4CF18}</a:tableStyleId>
              </a:tblPr>
              <a:tblGrid>
                <a:gridCol w="219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5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Claude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Gemini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OpenAI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 Source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0" name="Google Shape;70;p14"/>
          <p:cNvSpPr txBox="1"/>
          <p:nvPr/>
        </p:nvSpPr>
        <p:spPr>
          <a:xfrm>
            <a:off x="7080550" y="485750"/>
            <a:ext cx="2011800" cy="2327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Claude Fable 5 - (~6T)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Claude Opus 4.8 - (~5T)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Claude Sonnet 4.5 -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Claude Sonnet 5 -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GLM-5.3 - ~744B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Meta Muse Spark Open - 816B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Qwen3.7-Max-Preview -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Qwen3.8-Max - 2.4T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Baidu ERNIE-5.1 - ~800B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DeepSeek V4 Pro - 1.6T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DeepSeek V4.1 Flash - 552B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Kimi K3 - 2.8T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Xiaomi MiMo-V2.5-Pro - 1.02T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ByteDance Seed 2.0 Pro -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MiniMax M3 - ~428B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71" name="Google Shape;71;p14"/>
          <p:cNvGraphicFramePr/>
          <p:nvPr/>
        </p:nvGraphicFramePr>
        <p:xfrm>
          <a:off x="3075200" y="74505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{2F95EE02-83C3-4575-9807-AF345FD4CF18}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38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38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Gemini 4 Argon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38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Claude Fable 5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38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Claude Opus 4.7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38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Muse Wonder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38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Claude Opus 5.5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38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Claude Opus 4.6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38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Claude Opus 4.6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38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/>
                        </a:rPr>
                        <a:t>Claude Opus 4.7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038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/>
                        </a:rPr>
                        <a:t>GPT-6 Astra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38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Muse Spark 1.2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038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6"/>
                        </a:rPr>
                        <a:t>Kimi K3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038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7"/>
                        </a:rPr>
                        <a:t>Claude Fable 5.1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34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8"/>
                        </a:rPr>
                        <a:t>MiMo-V2.6-Pro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038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/>
                        </a:rPr>
                        <a:t>Muse Spark 1.3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038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GPT-6.1 Sol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038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Claude Opus 5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038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GPT-5.6 Sol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038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Claude Opus 4.8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038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Muse Spark 1.1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58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/>
                        </a:rPr>
                        <a:t>Claude Opus 4.5 (High, 32K, 20251101)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038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/>
                        </a:rPr>
                        <a:t>Claude Sonnet 5.5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038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Claude Opus 5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038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/>
                        </a:rPr>
                        <a:t>Claude Opus 4.8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038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/>
                        </a:rPr>
                        <a:t>Muse 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038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/>
                        </a:rPr>
                        <a:t>Gemini 3.8 Flash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graphicFrame>
        <p:nvGraphicFramePr>
          <p:cNvPr id="72" name="Google Shape;72;p14"/>
          <p:cNvGraphicFramePr/>
          <p:nvPr/>
        </p:nvGraphicFramePr>
        <p:xfrm>
          <a:off x="423650" y="74504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{2F95EE02-83C3-4575-9807-AF345FD4CF18}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Gemini 4 Argon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Muse Wonder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Claude Opus 5.5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Claude Fable 5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Claude Opus 4.6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7"/>
                        </a:rPr>
                        <a:t>Claude Fable 5.1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Claude Opus 4.7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Claude Opus 4.6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/>
                        </a:rPr>
                        <a:t>Gemini 3.8 Flash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/>
                        </a:rPr>
                        <a:t>Muse Spark 1.3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/>
                        </a:rPr>
                        <a:t>Claude Opus 4.7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Muse Spark 1.2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Claude Opus 5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Muse Spark 1.1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Claude Opus 5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/>
                        </a:rPr>
                        <a:t>Muse 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1"/>
                        </a:rPr>
                        <a:t>Gemini 3.7 Flash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6"/>
                        </a:rPr>
                        <a:t>Kimi K3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2"/>
                        </a:rPr>
                        <a:t>Gemini 3.1 Pro 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3"/>
                        </a:rPr>
                        <a:t>Gemini 3 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GPT-5.6 Sol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4"/>
                        </a:rPr>
                        <a:t>Gemini 3.6 Flash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5"/>
                        </a:rPr>
                        <a:t>Qwen3.8-Max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6"/>
                        </a:rPr>
                        <a:t>GPT-5.5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238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Claude Opus 4.8 (High)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5"/>
          <p:cNvSpPr txBox="1"/>
          <p:nvPr/>
        </p:nvSpPr>
        <p:spPr>
          <a:xfrm>
            <a:off x="38150" y="2125"/>
            <a:ext cx="44937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5"/>
          <p:cNvSpPr txBox="1"/>
          <p:nvPr/>
        </p:nvSpPr>
        <p:spPr>
          <a:xfrm>
            <a:off x="52430" y="355163"/>
            <a:ext cx="44295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https://artificialanalysis.ai/evaluations/artificial-analysis-intelligence-index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15"/>
          <p:cNvSpPr txBox="1"/>
          <p:nvPr/>
        </p:nvSpPr>
        <p:spPr>
          <a:xfrm>
            <a:off x="5934676" y="1088150"/>
            <a:ext cx="9447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Oct 15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0" name="Google Shape;80;p15" descr="auto: aa-index-chart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8948" y="1669032"/>
            <a:ext cx="8519105" cy="332853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81" name="Google Shape;81;p15"/>
          <p:cNvSpPr/>
          <p:nvPr/>
        </p:nvSpPr>
        <p:spPr>
          <a:xfrm>
            <a:off x="2831184" y="3383800"/>
            <a:ext cx="233100" cy="3837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6"/>
          <p:cNvSpPr txBox="1"/>
          <p:nvPr/>
        </p:nvSpPr>
        <p:spPr>
          <a:xfrm>
            <a:off x="110450" y="2875600"/>
            <a:ext cx="4366200" cy="2096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Mistral Releases Timestral Models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Four sizes - 5M, 28M, 123M, and 209M params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Support multiple related time series, historical and known-future inputs, and probabilistic predictions that quantify uncertainty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209M model leads GIFT-Eval, TIME, and fev-bench among pretrained zero-shot models, demonstrating competitive accuracy with fewer parameters.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Runs efficiently on CPUs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Weights - Modified MIT ; Code - Apache 2.0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https://mistral.ai/news/timestral/</a:t>
            </a:r>
            <a:r>
              <a:rPr lang="en" sz="9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https://github.com/mistralai/timestral</a:t>
            </a:r>
            <a:r>
              <a:rPr lang="en" sz="9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- GitHub</a:t>
            </a:r>
            <a:endParaRPr sz="9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https://huggingface.co/collections/mistralai/timestral</a:t>
            </a:r>
            <a:r>
              <a:rPr lang="en" sz="9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- Hugging Face</a:t>
            </a:r>
            <a:endParaRPr sz="9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6"/>
          <p:cNvSpPr txBox="1"/>
          <p:nvPr/>
        </p:nvSpPr>
        <p:spPr>
          <a:xfrm>
            <a:off x="102901" y="17693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6"/>
          <p:cNvSpPr txBox="1"/>
          <p:nvPr/>
        </p:nvSpPr>
        <p:spPr>
          <a:xfrm>
            <a:off x="110450" y="504975"/>
            <a:ext cx="4366200" cy="2281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Google’s Harness2 Agent Framework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Apache-2.0 code on GitHub.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Recursively improve prompts, tools, memory, guardrails, skills, and other agent infrastructure without changing model weights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Task-level recursion uses Propose–Probe–Compose to compare candidate changes and refine execution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Harnessing-level recursion preserves lessons to guide future tasks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Adaptable agent infrastructure rather than model retraining, with parallel or sequential refinement, OpenCode and Codex executors, and three supported benchmarks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https://github.com/google-research/harness2</a:t>
            </a:r>
            <a:r>
              <a:rPr lang="en" sz="9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https://arxiv.org/abs/2610.14224</a:t>
            </a:r>
            <a:endParaRPr sz="9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https://harness2.github.io</a:t>
            </a:r>
            <a:endParaRPr sz="9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9" name="Google Shape;89;p16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57625" y="504975"/>
            <a:ext cx="3041603" cy="2281202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90" name="Google Shape;90;p16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57625" y="2897539"/>
            <a:ext cx="2736696" cy="2052522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7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7"/>
          <p:cNvSpPr txBox="1"/>
          <p:nvPr/>
        </p:nvSpPr>
        <p:spPr>
          <a:xfrm>
            <a:off x="336680" y="1751870"/>
            <a:ext cx="4470900" cy="1957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Gemini 4 Argon goes GA </a:t>
            </a:r>
            <a:b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with a 1M-token output limit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Open to developers, enterprises and Gemini Pro and Ultra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One response can run to 1M tokens (up from 64K)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Input and output share the window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API price $2 / $10 per 1M tokens until November 30, then $4 / $20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Google internally reports 35% more agentic code submissions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and about 30% fewer rollbacks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Available in Cursor, Devin and GitHub Copilot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https://cloud.google.com/blog/products/ai-machine-learning/gemini-4-argon-available-on-google-cloud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7" name="Google Shape;97;p17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20321" y="992001"/>
            <a:ext cx="3442650" cy="3322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98" name="Google Shape;98;p17"/>
          <p:cNvSpPr/>
          <p:nvPr/>
        </p:nvSpPr>
        <p:spPr>
          <a:xfrm>
            <a:off x="5567950" y="3769450"/>
            <a:ext cx="358200" cy="326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8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8"/>
          <p:cNvSpPr txBox="1"/>
          <p:nvPr/>
        </p:nvSpPr>
        <p:spPr>
          <a:xfrm>
            <a:off x="179450" y="1629750"/>
            <a:ext cx="4288800" cy="1542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MiniMax launches M3.1 Flash AI model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For coding, autonomous agents, computer ops, cybersecurity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https://www.minimax.io/blog/minimax-m31f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x3 times faster, 70% lower agent-task costs than previous version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API pricing is $0.15 / $0.60 per 1M tokens in/out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Available via MiniMax’s API, M Plan, MiniMax Code, Ollama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Model weights will follow later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https://platform.minimax.io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https://agent.minimax.io/download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5" name="Google Shape;105;p18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50580" y="837150"/>
            <a:ext cx="4288795" cy="3127502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9"/>
          <p:cNvSpPr txBox="1"/>
          <p:nvPr/>
        </p:nvSpPr>
        <p:spPr>
          <a:xfrm>
            <a:off x="102900" y="389938"/>
            <a:ext cx="44691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DeepSeek V4.1-Flash-1017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DeepSWE v1.1 coding score increased from 74.2 to 77.0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For complex programming, faster task completion, shorter outputs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Same price as before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DeepSeek Search and Fetch APIs - $0.75 per 1,000 calls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https://api-docs.deepseek.com/news/news261017/</a:t>
            </a: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https://api-docs.deepseek.com/updates/</a:t>
            </a: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9"/>
          <p:cNvSpPr txBox="1"/>
          <p:nvPr/>
        </p:nvSpPr>
        <p:spPr>
          <a:xfrm>
            <a:off x="102900" y="1852152"/>
            <a:ext cx="44691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REA - Reverse Engineering Anything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Use AI agents and MCP with software-analysis tools to do reverse engineering and re-implementation of software. 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Project started in April, grew to 400 GitHub stars in September, then exploded in October - currently 330K stars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https://github.com/morluto/rea</a:t>
            </a: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https://rea.tools</a:t>
            </a: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9"/>
          <p:cNvSpPr txBox="1"/>
          <p:nvPr/>
        </p:nvSpPr>
        <p:spPr>
          <a:xfrm>
            <a:off x="102900" y="3351594"/>
            <a:ext cx="44691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TypeSafe Jev 1.14 - 262K context, Images + location tasks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Can accept image input, 262K text context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A new Box output type - for object-location tasks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Developers can combine images with instructions and questions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Longer contexts reduce speed and accuracy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Pricing remains $0.042 per 1M input tokens, with free output</a:t>
            </a:r>
            <a:endParaRPr sz="12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https://x.com/Marktechpost/status/2110608747265769578</a:t>
            </a:r>
            <a:r>
              <a:rPr lang="en" sz="9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https://typesafe.ai/blog/jev-1-14</a:t>
            </a:r>
            <a:r>
              <a:rPr lang="en" sz="9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https://docs.typesafe.ai/go/box</a:t>
            </a:r>
            <a:r>
              <a:rPr lang="en" sz="9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https://docs.typesafe.ai/go/images</a:t>
            </a:r>
            <a:r>
              <a:rPr lang="en" sz="9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9"/>
          <p:cNvSpPr txBox="1"/>
          <p:nvPr/>
        </p:nvSpPr>
        <p:spPr>
          <a:xfrm>
            <a:off x="102901" y="17693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4" name="Google Shape;114;p19"/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62500" y="108200"/>
            <a:ext cx="2124074" cy="15930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15" name="Google Shape;115;p19"/>
          <p:cNvPicPr preferRelativeResize="0"/>
          <p:nvPr/>
        </p:nvPicPr>
        <p:blipFill rotWithShape="1"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762500" y="1852150"/>
            <a:ext cx="3443220" cy="131130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16" name="Google Shape;116;p19"/>
          <p:cNvPicPr preferRelativeResize="0"/>
          <p:nvPr/>
        </p:nvPicPr>
        <p:blipFill rotWithShape="1">
          <a:blip r:embed="rId1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762500" y="3314349"/>
            <a:ext cx="2645540" cy="16808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0"/>
          <p:cNvSpPr txBox="1"/>
          <p:nvPr/>
        </p:nvSpPr>
        <p:spPr>
          <a:xfrm>
            <a:off x="102900" y="465025"/>
            <a:ext cx="4813200" cy="3528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206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20 Jev alternatives</a:t>
            </a:r>
            <a:endParaRPr sz="10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06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- Cloudflare Clef / Clef-flash — multimodal, open-weight decision models.</a:t>
            </a:r>
            <a:endParaRPr sz="10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06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- Liquid AI d1 — hosted and open models supporting text, images, and audio.</a:t>
            </a:r>
            <a:endParaRPr sz="10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06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- OpenAI Decisions API — hosted decisions using gpt-6-luna.</a:t>
            </a:r>
            <a:endParaRPr sz="10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06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- Perplexity pplx-decider — open-weight text and image decision models.</a:t>
            </a:r>
            <a:endParaRPr sz="10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06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- meraGPT Decider 1 — hosted, text-only, Jev-compatible model.</a:t>
            </a:r>
            <a:endParaRPr sz="10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06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- Respan Span-01 — behavior detection and probability scoring.</a:t>
            </a:r>
            <a:endParaRPr sz="10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06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- Standard Thinking Standard One — 3B and 8B text/image models.</a:t>
            </a:r>
            <a:endParaRPr sz="10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06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- Together AI Tev1-4B-experimental — experimental multiple-choice model.</a:t>
            </a:r>
            <a:endParaRPr sz="10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06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- Fastino GLiNER2.5-Decide — compact encoder for decisions and extraction.</a:t>
            </a:r>
            <a:endParaRPr sz="10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06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- Strands Labs Strands Decider — approximately 2B, self-hosted, with training recipe.</a:t>
            </a:r>
            <a:endParaRPr sz="10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06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- Kev — Jev-compatible models from Jared Palmer, 0.8B–27B.</a:t>
            </a:r>
            <a:endParaRPr sz="10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06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- Mapika Decider — self-hosted family, 0.8B–35B-A3B.</a:t>
            </a:r>
            <a:endParaRPr sz="10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06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- Bespoke Labs Bespoke-Nimble-9B — lightweight adapter for text decisions.</a:t>
            </a:r>
            <a:endParaRPr sz="10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06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- Convai Innovations Laya — compact, ModernBERT-based decision models.</a:t>
            </a:r>
            <a:endParaRPr sz="10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06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- Von — small encoder that scores all options in one pass.</a:t>
            </a:r>
            <a:endParaRPr sz="10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06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- Open-Jev — Qwen-based adapters in 2B, 9B, and 27B sizes.</a:t>
            </a:r>
            <a:endParaRPr sz="10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06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- OpenJev on DiffusionGemma — text/image model with Jev-compatible API.</a:t>
            </a:r>
            <a:endParaRPr sz="10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06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- InnerJev — 4B and 27B models distilled from LLM reasoning.</a:t>
            </a:r>
            <a:endParaRPr sz="10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06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- SemIf — typed decisions from existing open LLMs; browser demo available.</a:t>
            </a:r>
            <a:endParaRPr sz="10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065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- Rizzo Flow — self-hosted model with native and Jev-compatible APIs.</a:t>
            </a:r>
            <a:endParaRPr sz="10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https://www.marktechpost.com/2026/10/17/20-jev-alternatives-the-decision-models-taking-on-typesafe-in-2026/</a:t>
            </a:r>
            <a:r>
              <a:rPr lang="en" sz="900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20"/>
          <p:cNvSpPr txBox="1"/>
          <p:nvPr/>
        </p:nvSpPr>
        <p:spPr>
          <a:xfrm>
            <a:off x="102899" y="17700"/>
            <a:ext cx="2461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20 Jev Alternatives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3" name="Google Shape;123;p20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58975" y="757863"/>
            <a:ext cx="3923100" cy="29423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/>
        </p:nvSpPr>
        <p:spPr>
          <a:xfrm>
            <a:off x="36576" y="-27432"/>
            <a:ext cx="35172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Weekly videos every Friday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9" name="Google Shape;129;p21" descr="auto: youtube-videos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49500" y="911820"/>
            <a:ext cx="2461825" cy="284667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30" name="Google Shape;130;p21" descr="auto: youtube-shorts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10227" y="2703305"/>
            <a:ext cx="2133622" cy="223725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31" name="Google Shape;131;p21"/>
          <p:cNvSpPr txBox="1"/>
          <p:nvPr/>
        </p:nvSpPr>
        <p:spPr>
          <a:xfrm>
            <a:off x="102375" y="725485"/>
            <a:ext cx="4161900" cy="418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Weekly videos every Friday</a:t>
            </a: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latin typeface="Calibri"/>
                <a:ea typeface="Calibri"/>
                <a:cs typeface="Calibri"/>
                <a:sym typeface="Calibri"/>
              </a:rPr>
              <a:t>7.63K subscribers, 366 videos</a:t>
            </a: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1. Subscribe to this channel </a:t>
            </a:r>
            <a:r>
              <a:rPr lang="en" sz="1800" b="1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https://www.youtube.com/@lev-selector</a:t>
            </a:r>
            <a:r>
              <a:rPr lang="en" sz="18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b="1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2. Download slides from GitHub using links under the videos</a:t>
            </a: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3. Please pause the video - and answer the pinned question in comments under the video</a:t>
            </a:r>
            <a:endParaRPr sz="1800" b="1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2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22"/>
          <p:cNvSpPr txBox="1"/>
          <p:nvPr/>
        </p:nvSpPr>
        <p:spPr>
          <a:xfrm>
            <a:off x="74102" y="328472"/>
            <a:ext cx="4466700" cy="1634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NVIDIA Nemotron 3.5 Super VL</a:t>
            </a:r>
            <a:b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 120B open multimodal model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MoE 120B total, 12B active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Hybrid Mamba-Transformer, 1M-token context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Takes text, images, documents, GUI screenshots, video up to 2 min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NVFP4 build runs on one DGX Spark, H200 or GB200, or two H100s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NVIDIA claims tuned versions beat Claude Opus 5 on some tasks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Smaller Bolt 74B-A9B fits in 24GB; free endpoint on OpenRouter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https://openrouter.ai/nvidia/nemotron-3.5-super-vl-20261015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22"/>
          <p:cNvSpPr txBox="1"/>
          <p:nvPr/>
        </p:nvSpPr>
        <p:spPr>
          <a:xfrm>
            <a:off x="74100" y="2005177"/>
            <a:ext cx="4466700" cy="1080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ships GPT-Live-1.1 with 13 new voices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ChatGPT Voice, Codex and the dots personal agent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New voices in French, German, Hindi, Japanese,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Korean and Mexican Spanish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Better accents and less spoken "checking..." during web searches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https://runtimewire.com/article/openai-gpt-live-1-1-six-languages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22"/>
          <p:cNvSpPr txBox="1"/>
          <p:nvPr/>
        </p:nvSpPr>
        <p:spPr>
          <a:xfrm>
            <a:off x="74100" y="3140292"/>
            <a:ext cx="4466700" cy="1819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Liquid AI d1-ultra tops the AA Decision Index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 multimodal decision model - text or images in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Answers are fast and cheap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Scores 65 on the Artificial Analysis Decision Index,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vs 58 for TypeSafe Jev 1.13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Index weighs knowledge, reasoning, tool calling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and safety classification equally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Priced at $0.042 per 1M input tokens on the Liquid API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Example use: spotting defects on circuit boards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https://www.liquid.ai/blog/d1-ultra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0" name="Google Shape;140;p22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3200" y="98586"/>
            <a:ext cx="2625925" cy="154202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1" name="Google Shape;141;p22"/>
          <p:cNvPicPr preferRelativeResize="0"/>
          <p:nvPr/>
        </p:nvPicPr>
        <p:blipFill rotWithShape="1"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93200" y="1867174"/>
            <a:ext cx="2625926" cy="12186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2" name="Google Shape;142;p22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3200" y="3173437"/>
            <a:ext cx="2326090" cy="175292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3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23"/>
          <p:cNvSpPr txBox="1"/>
          <p:nvPr/>
        </p:nvSpPr>
        <p:spPr>
          <a:xfrm>
            <a:off x="124125" y="428425"/>
            <a:ext cx="3727800" cy="1265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Krea 3: image editing in under 8 seconds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Image editing model built for production work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Finishes an edit in under 8 seconds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Costs $0.06 per image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Krea says it is 4x faster than Nano Banana Pro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Combines up to 8 reference images into one picture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https://www.krea.ai/krea-3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9" name="Google Shape;149;p23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94752" y="223546"/>
            <a:ext cx="2691765" cy="167487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4"/>
          <p:cNvSpPr txBox="1"/>
          <p:nvPr/>
        </p:nvSpPr>
        <p:spPr>
          <a:xfrm>
            <a:off x="36572" y="-27425"/>
            <a:ext cx="4454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Customize Claude Code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24"/>
          <p:cNvSpPr txBox="1"/>
          <p:nvPr/>
        </p:nvSpPr>
        <p:spPr>
          <a:xfrm>
            <a:off x="5153025" y="308375"/>
            <a:ext cx="3932100" cy="4605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Customize your Claude Code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CLAUDE.md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- project instructions, conventions, and context. - place at the project root </a:t>
            </a: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proj/</a:t>
            </a:r>
            <a:r>
              <a:rPr lang="en" sz="1100" b="1">
                <a:solidFill>
                  <a:srgbClr val="3C78D8"/>
                </a:solidFill>
                <a:uFill>
                  <a:noFill/>
                </a:u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CLAUDE.md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or at </a:t>
            </a: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proj/.claude/CLAUDE.md</a:t>
            </a:r>
            <a:endParaRPr sz="11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.claude/agents/&lt;agent-name&gt;.md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- Custom subagent definitions.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.claude/skills/&lt;skill-name&gt;/SKILL.md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- Reusable instructions and workflows; can be invoked as /skill-name or loaded automatically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.claude/commands/&lt;command-name&gt;.md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- Custom slash commands in the older, still-supported format. Today use the skills instead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.claude/rules/*.md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- Modular instructions and coding rules; optionally scoped to particular file paths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.mcp.json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 - MCP server configuration ( </a:t>
            </a: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proj/.mcp.json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)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.claude/output-styles/&lt;style-name&gt;.md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- Custom role, tone, and response format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.claude/hooks/ 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- Optional location for hook scripts; not automatically     discovered. Configure hooks in a settings file 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.claude/settings.json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- Shared project settings, including permissions and hook configuration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.claude/settings.local.json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- Personal project settings; not intended to be committed to version control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.claude/workflows/&lt;workflow-name&gt;.js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- Saved dynamic workflows - can be invoked with /name commands. These are JavaScript scripts that orchestrate multiple subagents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You can also create arbitrary subdirectories, but Claude Code does not automatically load them - you need to reference them explicitly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24"/>
          <p:cNvSpPr txBox="1"/>
          <p:nvPr/>
        </p:nvSpPr>
        <p:spPr>
          <a:xfrm>
            <a:off x="187175" y="3976783"/>
            <a:ext cx="4153500" cy="6957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Skills vs Agents</a:t>
            </a:r>
            <a:endParaRPr sz="11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Both can execute a task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An agent has its own context and optional model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Skills can invoke agents and vice versa, agents can invoke/use skills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24"/>
          <p:cNvSpPr txBox="1"/>
          <p:nvPr/>
        </p:nvSpPr>
        <p:spPr>
          <a:xfrm>
            <a:off x="78000" y="470300"/>
            <a:ext cx="3265200" cy="3158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Roboto Mono"/>
                <a:ea typeface="Roboto Mono"/>
                <a:cs typeface="Roboto Mono"/>
                <a:sym typeface="Roboto Mono"/>
              </a:rPr>
              <a:t>Customize your Claude Code</a:t>
            </a:r>
            <a:endParaRPr sz="1200" b="1">
              <a:solidFill>
                <a:srgbClr val="FF000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CLAUDE.md</a:t>
            </a:r>
            <a:endParaRPr sz="12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.mcp.json</a:t>
            </a:r>
            <a:endParaRPr sz="12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.claude/</a:t>
            </a:r>
            <a:endParaRPr sz="12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agents/&lt;agent-name&gt;.md</a:t>
            </a:r>
            <a:endParaRPr sz="12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skills/&lt;skill-name&gt;/SKILL.md</a:t>
            </a:r>
            <a:endParaRPr sz="12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commands/&lt;command-name&gt;.md</a:t>
            </a:r>
            <a:endParaRPr sz="12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rules/*.md</a:t>
            </a:r>
            <a:endParaRPr sz="12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output-styles/&lt;style-name&gt;.md</a:t>
            </a:r>
            <a:endParaRPr sz="12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hooks/</a:t>
            </a:r>
            <a:endParaRPr sz="12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settings.json</a:t>
            </a:r>
            <a:endParaRPr sz="12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settings.local.json</a:t>
            </a:r>
            <a:endParaRPr sz="12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workflows/&lt;workflow-name&gt;.js</a:t>
            </a:r>
            <a:endParaRPr sz="12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pic>
        <p:nvPicPr>
          <p:cNvPr id="158" name="Google Shape;158;p24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942125" y="247650"/>
            <a:ext cx="2001350" cy="12111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5"/>
          <p:cNvSpPr txBox="1"/>
          <p:nvPr/>
        </p:nvSpPr>
        <p:spPr>
          <a:xfrm>
            <a:off x="36572" y="-27425"/>
            <a:ext cx="4454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Customize Copilot in VS Code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25"/>
          <p:cNvSpPr txBox="1"/>
          <p:nvPr/>
        </p:nvSpPr>
        <p:spPr>
          <a:xfrm>
            <a:off x="5353050" y="95900"/>
            <a:ext cx="3713100" cy="4944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Customize GitHub Copilot for VS Code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.github/copilot-instructions.md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- Repo-wide project instructions, coding conventions, architecture notes, and build/test commands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.github/instructions/&lt;name&gt;.instructions.md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- modular instructions - use an applyTo pattern in YAML frontmatter to target particular files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AGENTS.md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- Cross-agent project instructions, usually at the repository root, but also can be placed in specific directories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.github/agents/&lt;agent-name&gt;.agent.md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- Custom agent definitions: role, instructions, available tools, and optionally a model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.github/skills/&lt;skill-name&gt;/SKILL.md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- task-specific instructions and workflows; each skill folder can also contain scripts and resources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.github/prompts/&lt;prompt-name&gt;.prompt.md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- Reusable, manually invoked prompts in VS Code; invoke from chat as /prompt-name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.github/hooks/&lt;name&gt;.json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- Hook configuration for running commands at supported agent lifecycle events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.github/hooks/scripts/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- Optional location for hook scripts. Scripts must be referenced by hook configuration; placing them here does not automatically register them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.vscode/settings.json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- VS Code workspace settings, including supported Copilot customization and discovery settings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.vscode/mcp.json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- Workspace MCP server configuration for connecting Copilot to external tools and services.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700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You can also create arbitrary subdirectories, but Copilot does not automatically treat them as configuration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25"/>
          <p:cNvSpPr txBox="1"/>
          <p:nvPr/>
        </p:nvSpPr>
        <p:spPr>
          <a:xfrm>
            <a:off x="65150" y="498875"/>
            <a:ext cx="3713100" cy="3343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5715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Roboto Mono"/>
                <a:ea typeface="Roboto Mono"/>
                <a:cs typeface="Roboto Mono"/>
                <a:sym typeface="Roboto Mono"/>
              </a:rPr>
              <a:t>Customize GitHub Copilot </a:t>
            </a:r>
            <a:br>
              <a:rPr lang="en" sz="1200" b="1">
                <a:solidFill>
                  <a:srgbClr val="FF0000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" sz="1200" b="1">
                <a:solidFill>
                  <a:srgbClr val="FF0000"/>
                </a:solidFill>
                <a:latin typeface="Roboto Mono"/>
                <a:ea typeface="Roboto Mono"/>
                <a:cs typeface="Roboto Mono"/>
                <a:sym typeface="Roboto Mono"/>
              </a:rPr>
              <a:t>for VS Code</a:t>
            </a:r>
            <a:endParaRPr sz="1200" b="1">
              <a:solidFill>
                <a:srgbClr val="FF000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5715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5715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AGENTS.md</a:t>
            </a:r>
            <a:endParaRPr sz="12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5715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5715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.github/</a:t>
            </a:r>
            <a:endParaRPr sz="12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5715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copilot-instructions.md</a:t>
            </a:r>
            <a:endParaRPr sz="12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5715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instructions/&lt;name&gt;.instructions.md</a:t>
            </a:r>
            <a:endParaRPr sz="12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5715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agents/&lt;agent-name&gt;.agent.md</a:t>
            </a:r>
            <a:endParaRPr sz="12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5715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skills/&lt;skill-name&gt;/SKILL.md</a:t>
            </a:r>
            <a:endParaRPr sz="12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5715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prompts/&lt;prompt-name&gt;.prompt.md</a:t>
            </a:r>
            <a:endParaRPr sz="12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5715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hooks/&lt;name&gt;.json</a:t>
            </a:r>
            <a:endParaRPr sz="12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5715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hooks/scripts/</a:t>
            </a:r>
            <a:endParaRPr sz="12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5715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5715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.vscode/</a:t>
            </a:r>
            <a:endParaRPr sz="12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5715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settings.json</a:t>
            </a:r>
            <a:endParaRPr sz="12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5715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mcp.json</a:t>
            </a:r>
            <a:endParaRPr sz="12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7145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pic>
        <p:nvPicPr>
          <p:cNvPr id="166" name="Google Shape;166;p25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96900" y="346600"/>
            <a:ext cx="2160899" cy="1215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6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26"/>
          <p:cNvSpPr txBox="1"/>
          <p:nvPr/>
        </p:nvSpPr>
        <p:spPr>
          <a:xfrm>
            <a:off x="36576" y="350520"/>
            <a:ext cx="4462200" cy="1265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 Agents Breach 100+ Websites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Reuters reported that a Chinese operator used Cairn, an open-source agent platform, to attack 1,200 websites in US, Canada, Japan and Australia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Breached more than 100, including Deere, SharkNinja and Cummins.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Total cost  $5K, ~$50 per successful intrusion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https://thenextweb.com/news/ai-agents-hacker-cairn-100-sites-deere-norforge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26"/>
          <p:cNvSpPr txBox="1"/>
          <p:nvPr/>
        </p:nvSpPr>
        <p:spPr>
          <a:xfrm>
            <a:off x="46101" y="1688275"/>
            <a:ext cx="4462200" cy="1449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co-founder Jack Clark </a:t>
            </a:r>
            <a:b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told that the singularity has begun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Humanity's Last Exam scores went from 8% to 67.7% since 2025; FrontierMath from 2% to 94%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One Anthropic model puts US GDP at $44T by 2030 if AI spreads fast, with very disruptive job effects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10M human scientists may soon direct a Billion virtual ones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https://importai.substack.com/p/import-ai-477-in-which-i-tell-the</a:t>
            </a:r>
            <a:r>
              <a:rPr lang="en" sz="90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26"/>
          <p:cNvSpPr txBox="1"/>
          <p:nvPr/>
        </p:nvSpPr>
        <p:spPr>
          <a:xfrm>
            <a:off x="55626" y="3220720"/>
            <a:ext cx="4462200" cy="1449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Inception Mercury 3 - a diffusion LLM at 1K+ tok/sec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Writes text by diffusion, refining the whole answer at once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40x larger than Mercury 1, 3x stronger on benchmarks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Over 1K tokens per second on standard hardware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Beats GPT-6 Luna and Claude Haiku 5.5 on some benchmarks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1M-token context and tool calling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Launch price $0.10 per 1M input tokens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https://www.inceptionlabs.ai/blog/introducing-mercury-3</a:t>
            </a:r>
            <a:endParaRPr sz="9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5" name="Google Shape;175;p26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07511" y="350525"/>
            <a:ext cx="3174464" cy="1265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76" name="Google Shape;176;p26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07500" y="1688273"/>
            <a:ext cx="1437181" cy="1449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77" name="Google Shape;177;p26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06381" y="3255650"/>
            <a:ext cx="2637069" cy="13800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7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/>
          <p:cNvSpPr txBox="1"/>
          <p:nvPr/>
        </p:nvSpPr>
        <p:spPr>
          <a:xfrm>
            <a:off x="109801" y="399161"/>
            <a:ext cx="4462200" cy="1634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Cloudflare Clairic Extraction Model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Cloudflare calls it System One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Pulls typed values (numbers, dates, lists)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from emails, receipts, spreadsheets and images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Generates no tokens, so it cannot mistype an answer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Each value comes with a confidence score and a pointer to its source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a claims-processing test proved to be 3.2x faster and 49% cheaper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preview on Workers AI; open weights promised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https://blog.cloudflare.com/clairic-extraction-model</a:t>
            </a:r>
            <a:r>
              <a:rPr lang="en" sz="90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4" name="Google Shape;184;p27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76900" y="78500"/>
            <a:ext cx="2262074" cy="195534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8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8"/>
          <p:cNvSpPr txBox="1"/>
          <p:nvPr/>
        </p:nvSpPr>
        <p:spPr>
          <a:xfrm>
            <a:off x="109801" y="425577"/>
            <a:ext cx="4462200" cy="1449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junior hiring went down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since 2025 from 27% to 9%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August its agents logged x6 times more hours than its staff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Employees report productivity gains, but more time goes to supervising agents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Meeting time rose about 20%; human attention is becoming the bottleneck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https://www.anthropic.com/research/employment-at-anthropic</a:t>
            </a:r>
            <a:r>
              <a:rPr lang="en" sz="90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1" name="Google Shape;191;p28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53025" y="607600"/>
            <a:ext cx="1509725" cy="10858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9"/>
          <p:cNvSpPr txBox="1"/>
          <p:nvPr/>
        </p:nvSpPr>
        <p:spPr>
          <a:xfrm>
            <a:off x="83398" y="50600"/>
            <a:ext cx="1923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Jobs and Layoffs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9"/>
          <p:cNvSpPr txBox="1"/>
          <p:nvPr/>
        </p:nvSpPr>
        <p:spPr>
          <a:xfrm>
            <a:off x="2771397" y="19852"/>
            <a:ext cx="18006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0" i="0" u="sng" strike="noStrike" cap="none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https://layoffs.fyi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https://trueup.io/layoffs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9"/>
          <p:cNvSpPr txBox="1"/>
          <p:nvPr/>
        </p:nvSpPr>
        <p:spPr>
          <a:xfrm>
            <a:off x="5690525" y="3510625"/>
            <a:ext cx="32868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Tech Layoffs by year (US only):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133.2K in 2026 </a:t>
            </a:r>
            <a:r>
              <a:rPr lang="en" sz="1000" b="1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(as of Oct 15, 2026)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123K in 2025 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153K in </a:t>
            </a:r>
            <a:r>
              <a:rPr lang="en" sz="1000" b="1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2024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266K in 2023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165K in 2022                  </a:t>
            </a:r>
            <a:r>
              <a:rPr lang="en" sz="1200" i="0" u="sng" strike="noStrike" cap="none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https://layoffs.fyi</a:t>
            </a:r>
            <a:endParaRPr sz="120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29"/>
          <p:cNvSpPr txBox="1"/>
          <p:nvPr/>
        </p:nvSpPr>
        <p:spPr>
          <a:xfrm>
            <a:off x="5690530" y="1158774"/>
            <a:ext cx="32868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The Tech Layoff Tracker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2026: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194,470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(673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2025: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245,953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(674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2024: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238,461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</a:t>
            </a: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laid off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(653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marR="460858" lvl="0" indent="-5715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https://trueup.io/layoffs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0" name="Google Shape;200;p29" descr="auto: layoffs-fyi-chart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5736" y="3407672"/>
            <a:ext cx="4634459" cy="1548885"/>
          </a:xfrm>
          <a:prstGeom prst="rect">
            <a:avLst/>
          </a:prstGeom>
          <a:noFill/>
          <a:ln w="9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01" name="Google Shape;201;p29" descr="auto: trueup-chart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5117" y="569314"/>
            <a:ext cx="4635704" cy="2496148"/>
          </a:xfrm>
          <a:prstGeom prst="rect">
            <a:avLst/>
          </a:prstGeom>
          <a:noFill/>
          <a:ln w="9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0"/>
          <p:cNvSpPr txBox="1"/>
          <p:nvPr/>
        </p:nvSpPr>
        <p:spPr>
          <a:xfrm>
            <a:off x="93825" y="-8374"/>
            <a:ext cx="1382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Tech Hiring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30"/>
          <p:cNvSpPr txBox="1"/>
          <p:nvPr/>
        </p:nvSpPr>
        <p:spPr>
          <a:xfrm>
            <a:off x="84300" y="406525"/>
            <a:ext cx="4487700" cy="1080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Software job postings on Indeed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Comparing to 2020 level, in Feb 2022 it was 234%, in 2025 it was 65%, now it is 77%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All US job postings: 103% (compared with 2020)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Postings that mention AI: 6.7% of all, up from 3.4% a year ago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563C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https://fred.stlouisfed.org/series/IHLIDXUSTPSOFTDEVE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30"/>
          <p:cNvSpPr txBox="1"/>
          <p:nvPr/>
        </p:nvSpPr>
        <p:spPr>
          <a:xfrm>
            <a:off x="84300" y="1779175"/>
            <a:ext cx="4487700" cy="2142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Skills in demand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Dice, 7M+ US tech postings (Aug 2026): +18% year over year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AI and machine learning postings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+101%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year over year, five times the overall rate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Fastest-growing skills, each up 200%+: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responsible AI, AI agents, agentic AI, AI infrastructure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Most requested overall: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communication, computer science, troubleshooting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Indeed: 71% of the software postings rebound (May 2025 to May 2026) is senior roles; 37% has AI in the title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563C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https://hiringlab.indeed.com/2026/07/08/ai-and-job-postings-from-destruction-to-creation/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563C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https://www.dice.com/hiring/recruitment/reports/dice-tech-job-report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30"/>
          <p:cNvSpPr txBox="1"/>
          <p:nvPr/>
        </p:nvSpPr>
        <p:spPr>
          <a:xfrm>
            <a:off x="4876773" y="318025"/>
            <a:ext cx="3942600" cy="4082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Top "In Demand" Skills and Qualifications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Critical thinking and problem-solving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Communication and stakeholder management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Adaptability and continuous learning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AI literacy and practical AI adoption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AI/ML application development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Data engineering and data management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Cybersecurity and risk management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Cloud and infrastructure engineering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Software engineering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Automation and workflow optimization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DevOps, CI/CD, and platform engineering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Governance, compliance, and responsible AI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Analytical thinking and data analysis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Product management and business alignment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Project and program management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Leadership and cross-functional collaboration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Creativity and innovation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Resilience and professionalism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Technical troubleshooting and systems thinking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Business growth and customer focus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1"/>
          <p:cNvSpPr txBox="1"/>
          <p:nvPr/>
        </p:nvSpPr>
        <p:spPr>
          <a:xfrm>
            <a:off x="36576" y="-27432"/>
            <a:ext cx="2441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About the Speaker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31"/>
          <p:cNvSpPr txBox="1"/>
          <p:nvPr/>
        </p:nvSpPr>
        <p:spPr>
          <a:xfrm>
            <a:off x="2657475" y="1368175"/>
            <a:ext cx="6134100" cy="227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Lev Selector, Ph.D.</a:t>
            </a:r>
            <a:endParaRPr sz="24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40+ years of software engineering, data science, and building teams (hiring, training, and managing)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Ph.D. in mathematical modeling and computer simulations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Interests: Generative AI, using LLMs with your data, local AI for local private data, cloud architecture, fin-tech, application security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Find and connect: LinkedIn, GitHub, YouTube, Google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https://eais.ai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6" name="Google Shape;216;p31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654" y="1771269"/>
            <a:ext cx="1572768" cy="157276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2"/>
          <p:cNvSpPr txBox="1"/>
          <p:nvPr/>
        </p:nvSpPr>
        <p:spPr>
          <a:xfrm>
            <a:off x="2551950" y="1039375"/>
            <a:ext cx="4040100" cy="7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b="1"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4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32"/>
          <p:cNvSpPr txBox="1"/>
          <p:nvPr/>
        </p:nvSpPr>
        <p:spPr>
          <a:xfrm>
            <a:off x="1434225" y="2126100"/>
            <a:ext cx="6738300" cy="14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Videos of every seminar are on YouTube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https://www.youtube.com/@lev-selector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Slides on GitHub. Click a pptx file, then the download button on the right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https://github.com/lselector/seminar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Slides on Google Drive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https://drive.google.com/drive/folders/1dmj00iilSP-JYmriMUUaHCKz5X54e3UX?ths=true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3957</Words>
  <Application>Microsoft Macintosh PowerPoint</Application>
  <PresentationFormat>On-screen Show (16:9)</PresentationFormat>
  <Paragraphs>536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Calibri</vt:lpstr>
      <vt:lpstr>Roboto Mono</vt:lpstr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Lev Selector</cp:lastModifiedBy>
  <cp:revision>1</cp:revision>
  <dcterms:modified xsi:type="dcterms:W3CDTF">2026-10-21T01:13:14Z</dcterms:modified>
</cp:coreProperties>
</file>