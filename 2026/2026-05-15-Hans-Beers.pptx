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Roboto Mono" pitchFamily="49"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1CD913-C4AB-41CE-89A9-54F64F39F93A}">
  <a:tblStyle styleId="{241CD913-C4AB-41CE-89A9-54F64F39F93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e1357adc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e1357adc1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e1357adc1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e1357adc14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e1357adc14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3e1357adc14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e2294285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e2294285c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2294285c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3e2294285ce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e2294285ce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3e2294285ce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e1357adc1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e1357adc14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e1357adc1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e1357adc14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48c20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a8548c209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e1357adc1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3e1357adc14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e2294285ce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3e2294285ce_1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e1357adc14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3e1357adc14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notebooklm.google.com/notebook/3a0e3730-0602-47e0-847d-b4d705e588f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list/cs.AI/current#:~:text=Authors%20and%20titles%20for%20May,Rong%20Lu"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emini.google.com/share/1c8b6ac7a586"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417800" y="407825"/>
            <a:ext cx="6308400" cy="25428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Automated News, Podcast Robots</a:t>
            </a: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by </a:t>
            </a:r>
            <a:r>
              <a:rPr lang="en" sz="3000" b="1" u="sng">
                <a:solidFill>
                  <a:srgbClr val="3C78D8"/>
                </a:solidFill>
                <a:latin typeface="Calibri"/>
                <a:ea typeface="Calibri"/>
                <a:cs typeface="Calibri"/>
                <a:sym typeface="Calibri"/>
              </a:rPr>
              <a:t>Hans Beers</a:t>
            </a:r>
            <a:endParaRPr sz="3000" b="1" u="sng">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endParaRPr sz="22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 sz="2200" b="1">
                <a:solidFill>
                  <a:srgbClr val="3C78D8"/>
                </a:solidFill>
                <a:latin typeface="Calibri"/>
                <a:ea typeface="Calibri"/>
                <a:cs typeface="Calibri"/>
                <a:sym typeface="Calibri"/>
              </a:rPr>
              <a:t>May 15, 2026</a:t>
            </a:r>
            <a:endParaRPr sz="2200" b="1">
              <a:solidFill>
                <a:srgbClr val="3C78D8"/>
              </a:solidFill>
              <a:latin typeface="Calibri"/>
              <a:ea typeface="Calibri"/>
              <a:cs typeface="Calibri"/>
              <a:sym typeface="Calibri"/>
            </a:endParaRPr>
          </a:p>
        </p:txBody>
      </p:sp>
      <p:pic>
        <p:nvPicPr>
          <p:cNvPr id="64" name="Google Shape;64;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45400" y="3338100"/>
            <a:ext cx="1030483" cy="1372800"/>
          </a:xfrm>
          <a:prstGeom prst="rect">
            <a:avLst/>
          </a:prstGeom>
          <a:noFill/>
          <a:ln>
            <a:noFill/>
          </a:ln>
        </p:spPr>
      </p:pic>
      <p:cxnSp>
        <p:nvCxnSpPr>
          <p:cNvPr id="65" name="Google Shape;65;p15"/>
          <p:cNvCxnSpPr>
            <a:endCxn id="64" idx="3"/>
          </p:cNvCxnSpPr>
          <p:nvPr/>
        </p:nvCxnSpPr>
        <p:spPr>
          <a:xfrm flipH="1">
            <a:off x="1675883" y="2651700"/>
            <a:ext cx="2228400" cy="1372800"/>
          </a:xfrm>
          <a:prstGeom prst="curvedConnector3">
            <a:avLst>
              <a:gd name="adj1" fmla="val 50000"/>
            </a:avLst>
          </a:prstGeom>
          <a:noFill/>
          <a:ln w="28575" cap="flat" cmpd="sng">
            <a:solidFill>
              <a:schemeClr val="accent1"/>
            </a:solidFill>
            <a:prstDash val="solid"/>
            <a:round/>
            <a:headEnd type="none" w="med" len="med"/>
            <a:tailEnd type="diamond" w="med" len="med"/>
          </a:ln>
        </p:spPr>
      </p:cxnSp>
      <p:sp>
        <p:nvSpPr>
          <p:cNvPr id="66" name="Google Shape;66;p15"/>
          <p:cNvSpPr/>
          <p:nvPr/>
        </p:nvSpPr>
        <p:spPr>
          <a:xfrm>
            <a:off x="3275625" y="3889100"/>
            <a:ext cx="2708400" cy="763800"/>
          </a:xfrm>
          <a:prstGeom prst="roundRect">
            <a:avLst>
              <a:gd name="adj" fmla="val 16667"/>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 IT since 1985, software developer, IT architect</a:t>
            </a:r>
            <a:endParaRPr/>
          </a:p>
        </p:txBody>
      </p:sp>
      <p:cxnSp>
        <p:nvCxnSpPr>
          <p:cNvPr id="67" name="Google Shape;67;p15"/>
          <p:cNvCxnSpPr>
            <a:stCxn id="64" idx="3"/>
            <a:endCxn id="66" idx="1"/>
          </p:cNvCxnSpPr>
          <p:nvPr/>
        </p:nvCxnSpPr>
        <p:spPr>
          <a:xfrm>
            <a:off x="1675883" y="4024500"/>
            <a:ext cx="1599600" cy="246600"/>
          </a:xfrm>
          <a:prstGeom prst="curvedConnector3">
            <a:avLst>
              <a:gd name="adj1" fmla="val 50004"/>
            </a:avLst>
          </a:prstGeom>
          <a:noFill/>
          <a:ln w="28575" cap="flat" cmpd="sng">
            <a:solidFill>
              <a:schemeClr val="accent1"/>
            </a:solidFill>
            <a:prstDash val="solid"/>
            <a:round/>
            <a:headEnd type="none" w="med" len="med"/>
            <a:tailEnd type="diamond" w="med" len="med"/>
          </a:ln>
        </p:spPr>
      </p:cxnSp>
      <p:pic>
        <p:nvPicPr>
          <p:cNvPr id="68" name="Google Shape;68;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709476" y="3451253"/>
            <a:ext cx="1599600" cy="1393085"/>
          </a:xfrm>
          <a:prstGeom prst="rect">
            <a:avLst/>
          </a:prstGeom>
          <a:noFill/>
          <a:ln>
            <a:noFill/>
          </a:ln>
        </p:spPr>
      </p:pic>
      <p:cxnSp>
        <p:nvCxnSpPr>
          <p:cNvPr id="69" name="Google Shape;69;p15"/>
          <p:cNvCxnSpPr>
            <a:stCxn id="66" idx="3"/>
            <a:endCxn id="68" idx="1"/>
          </p:cNvCxnSpPr>
          <p:nvPr/>
        </p:nvCxnSpPr>
        <p:spPr>
          <a:xfrm rot="10800000" flipH="1">
            <a:off x="5984025" y="4147700"/>
            <a:ext cx="725400" cy="123300"/>
          </a:xfrm>
          <a:prstGeom prst="curvedConnector3">
            <a:avLst>
              <a:gd name="adj1" fmla="val 50004"/>
            </a:avLst>
          </a:prstGeom>
          <a:noFill/>
          <a:ln w="28575" cap="flat" cmpd="sng">
            <a:solidFill>
              <a:schemeClr val="accent1"/>
            </a:solidFill>
            <a:prstDash val="solid"/>
            <a:round/>
            <a:headEnd type="none" w="med" len="med"/>
            <a:tailEnd type="diamond"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323900" y="9512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How to automate the podcaster </a:t>
            </a:r>
            <a:endParaRPr sz="2000" b="1" i="0" u="none" strike="noStrike" cap="none">
              <a:solidFill>
                <a:schemeClr val="dk1"/>
              </a:solidFill>
              <a:latin typeface="Calibri"/>
              <a:ea typeface="Calibri"/>
              <a:cs typeface="Calibri"/>
              <a:sym typeface="Calibri"/>
            </a:endParaRPr>
          </a:p>
        </p:txBody>
      </p:sp>
      <p:pic>
        <p:nvPicPr>
          <p:cNvPr id="75" name="Google Shape;75;p1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15877" y="774900"/>
            <a:ext cx="2811734" cy="2516200"/>
          </a:xfrm>
          <a:prstGeom prst="rect">
            <a:avLst/>
          </a:prstGeom>
          <a:noFill/>
          <a:ln>
            <a:noFill/>
          </a:ln>
        </p:spPr>
      </p:pic>
      <p:pic>
        <p:nvPicPr>
          <p:cNvPr id="76" name="Google Shape;76;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23900" y="774900"/>
            <a:ext cx="2597350" cy="2516192"/>
          </a:xfrm>
          <a:prstGeom prst="rect">
            <a:avLst/>
          </a:prstGeom>
          <a:noFill/>
          <a:ln>
            <a:noFill/>
          </a:ln>
        </p:spPr>
      </p:pic>
      <p:sp>
        <p:nvSpPr>
          <p:cNvPr id="77" name="Google Shape;77;p16"/>
          <p:cNvSpPr/>
          <p:nvPr/>
        </p:nvSpPr>
        <p:spPr>
          <a:xfrm>
            <a:off x="3288850" y="1706725"/>
            <a:ext cx="1881000" cy="859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323900" y="9512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Whats happening</a:t>
            </a:r>
            <a:endParaRPr sz="2000" b="1" i="0" u="none" strike="noStrike" cap="none">
              <a:solidFill>
                <a:schemeClr val="dk1"/>
              </a:solidFill>
              <a:latin typeface="Calibri"/>
              <a:ea typeface="Calibri"/>
              <a:cs typeface="Calibri"/>
              <a:sym typeface="Calibri"/>
            </a:endParaRPr>
          </a:p>
        </p:txBody>
      </p:sp>
      <p:pic>
        <p:nvPicPr>
          <p:cNvPr id="83" name="Google Shape;83;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23900" y="497924"/>
            <a:ext cx="8321800" cy="4081639"/>
          </a:xfrm>
          <a:prstGeom prst="rect">
            <a:avLst/>
          </a:prstGeom>
          <a:noFill/>
          <a:ln>
            <a:noFill/>
          </a:ln>
        </p:spPr>
      </p:pic>
      <p:sp>
        <p:nvSpPr>
          <p:cNvPr id="84" name="Google Shape;84;p17"/>
          <p:cNvSpPr txBox="1"/>
          <p:nvPr/>
        </p:nvSpPr>
        <p:spPr>
          <a:xfrm>
            <a:off x="323900" y="4548075"/>
            <a:ext cx="8321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 public notebooklm notebook: “</a:t>
            </a:r>
            <a:r>
              <a:rPr lang="en" sz="1200" b="1"/>
              <a:t>AI Controlled Content Creation &amp; Production-workflows</a:t>
            </a:r>
            <a:r>
              <a:rPr lang="en" sz="1200"/>
              <a:t>”</a:t>
            </a:r>
            <a:endParaRPr sz="1200"/>
          </a:p>
          <a:p>
            <a:pPr marL="0" lvl="0" indent="0" algn="l" rtl="0">
              <a:spcBef>
                <a:spcPts val="0"/>
              </a:spcBef>
              <a:spcAft>
                <a:spcPts val="0"/>
              </a:spcAft>
              <a:buNone/>
            </a:pPr>
            <a:r>
              <a:rPr lang="en" sz="1200" u="sng">
                <a:solidFill>
                  <a:schemeClr val="hlink"/>
                </a:solidFill>
                <a:hlinkClick r:id="rId4"/>
              </a:rPr>
              <a:t>https://notebooklm.google.com/notebook/3a0e3730-0602-47e0-847d-b4d705e588f1</a:t>
            </a:r>
            <a:r>
              <a:rPr lang="en" sz="1200"/>
              <a:t> </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p:nvPr/>
        </p:nvSpPr>
        <p:spPr>
          <a:xfrm>
            <a:off x="323900" y="9512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Using AI: 99% accuracy at 70% cost</a:t>
            </a:r>
            <a:endParaRPr sz="2000" b="1" i="0" u="none" strike="noStrike" cap="none">
              <a:solidFill>
                <a:schemeClr val="dk1"/>
              </a:solidFill>
              <a:latin typeface="Calibri"/>
              <a:ea typeface="Calibri"/>
              <a:cs typeface="Calibri"/>
              <a:sym typeface="Calibri"/>
            </a:endParaRPr>
          </a:p>
        </p:txBody>
      </p:sp>
      <p:pic>
        <p:nvPicPr>
          <p:cNvPr id="90" name="Google Shape;90;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23900" y="524100"/>
            <a:ext cx="8098156" cy="4417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p:nvPr/>
        </p:nvSpPr>
        <p:spPr>
          <a:xfrm>
            <a:off x="323900" y="9512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Podcast factory</a:t>
            </a:r>
            <a:endParaRPr sz="2000" b="1" i="0" u="none" strike="noStrike" cap="none">
              <a:solidFill>
                <a:schemeClr val="dk1"/>
              </a:solidFill>
              <a:latin typeface="Calibri"/>
              <a:ea typeface="Calibri"/>
              <a:cs typeface="Calibri"/>
              <a:sym typeface="Calibri"/>
            </a:endParaRPr>
          </a:p>
        </p:txBody>
      </p:sp>
      <p:pic>
        <p:nvPicPr>
          <p:cNvPr id="96" name="Google Shape;96;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2400" y="573925"/>
            <a:ext cx="8104640" cy="4417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p:nvPr/>
        </p:nvSpPr>
        <p:spPr>
          <a:xfrm>
            <a:off x="323900" y="9512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Different flavors of convenience</a:t>
            </a:r>
            <a:endParaRPr sz="2000" b="1" i="0" u="none" strike="noStrike" cap="none">
              <a:solidFill>
                <a:schemeClr val="dk1"/>
              </a:solidFill>
              <a:latin typeface="Calibri"/>
              <a:ea typeface="Calibri"/>
              <a:cs typeface="Calibri"/>
              <a:sym typeface="Calibri"/>
            </a:endParaRPr>
          </a:p>
        </p:txBody>
      </p:sp>
      <p:pic>
        <p:nvPicPr>
          <p:cNvPr id="102" name="Google Shape;102;p2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2400" y="573925"/>
            <a:ext cx="8012774" cy="4417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p:nvPr/>
        </p:nvSpPr>
        <p:spPr>
          <a:xfrm>
            <a:off x="29723" y="44600"/>
            <a:ext cx="64233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Example 1: Gemini Pro - scheduled podcast script #1</a:t>
            </a:r>
            <a:endParaRPr sz="2000" b="1" i="0" u="none" strike="noStrike" cap="none">
              <a:solidFill>
                <a:schemeClr val="dk1"/>
              </a:solidFill>
              <a:latin typeface="Calibri"/>
              <a:ea typeface="Calibri"/>
              <a:cs typeface="Calibri"/>
              <a:sym typeface="Calibri"/>
            </a:endParaRPr>
          </a:p>
        </p:txBody>
      </p:sp>
      <p:graphicFrame>
        <p:nvGraphicFramePr>
          <p:cNvPr id="108" name="Google Shape;108;p21"/>
          <p:cNvGraphicFramePr/>
          <p:nvPr/>
        </p:nvGraphicFramePr>
        <p:xfrm>
          <a:off x="29725" y="1581907"/>
          <a:ext cx="3000000" cy="3000000"/>
        </p:xfrm>
        <a:graphic>
          <a:graphicData uri="http://schemas.openxmlformats.org/drawingml/2006/table">
            <a:tbl>
              <a:tblPr>
                <a:noFill/>
                <a:tableStyleId>{241CD913-C4AB-41CE-89A9-54F64F39F93A}</a:tableStyleId>
              </a:tblPr>
              <a:tblGrid>
                <a:gridCol w="2053600">
                  <a:extLst>
                    <a:ext uri="{9D8B030D-6E8A-4147-A177-3AD203B41FA5}">
                      <a16:colId xmlns:a16="http://schemas.microsoft.com/office/drawing/2014/main" val="20000"/>
                    </a:ext>
                  </a:extLst>
                </a:gridCol>
                <a:gridCol w="3543650">
                  <a:extLst>
                    <a:ext uri="{9D8B030D-6E8A-4147-A177-3AD203B41FA5}">
                      <a16:colId xmlns:a16="http://schemas.microsoft.com/office/drawing/2014/main" val="20001"/>
                    </a:ext>
                  </a:extLst>
                </a:gridCol>
                <a:gridCol w="3343075">
                  <a:extLst>
                    <a:ext uri="{9D8B030D-6E8A-4147-A177-3AD203B41FA5}">
                      <a16:colId xmlns:a16="http://schemas.microsoft.com/office/drawing/2014/main" val="20002"/>
                    </a:ext>
                  </a:extLst>
                </a:gridCol>
              </a:tblGrid>
              <a:tr h="244975">
                <a:tc>
                  <a:txBody>
                    <a:bodyPr/>
                    <a:lstStyle/>
                    <a:p>
                      <a:pPr marL="0" lvl="0" indent="0" algn="ctr" rtl="0">
                        <a:lnSpc>
                          <a:spcPct val="115000"/>
                        </a:lnSpc>
                        <a:spcBef>
                          <a:spcPts val="0"/>
                        </a:spcBef>
                        <a:spcAft>
                          <a:spcPts val="0"/>
                        </a:spcAft>
                        <a:buNone/>
                      </a:pPr>
                      <a:r>
                        <a:rPr lang="en" sz="1000" b="1"/>
                        <a:t>Title</a:t>
                      </a:r>
                      <a:endParaRPr sz="10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t>Key Innovation</a:t>
                      </a:r>
                      <a:endParaRPr sz="10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t>Takeaway</a:t>
                      </a:r>
                      <a:endParaRPr sz="10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2550">
                <a:tc>
                  <a:txBody>
                    <a:bodyPr/>
                    <a:lstStyle/>
                    <a:p>
                      <a:pPr marL="0" lvl="0" indent="0" algn="l" rtl="0">
                        <a:lnSpc>
                          <a:spcPct val="115000"/>
                        </a:lnSpc>
                        <a:spcBef>
                          <a:spcPts val="0"/>
                        </a:spcBef>
                        <a:spcAft>
                          <a:spcPts val="0"/>
                        </a:spcAft>
                        <a:buNone/>
                      </a:pPr>
                      <a:r>
                        <a:rPr lang="en" sz="1000" b="1"/>
                        <a:t>Physically Native World Models</a:t>
                      </a:r>
                      <a:endParaRPr sz="10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A Hamiltonian perspective on generative modeling that preserves energy conservation.</a:t>
                      </a:r>
                      <a:endParaRPr sz="13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LLMs that understand "physics" naturally, making them far safer for robotics.</a:t>
                      </a:r>
                      <a:endParaRPr sz="13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2550">
                <a:tc>
                  <a:txBody>
                    <a:bodyPr/>
                    <a:lstStyle/>
                    <a:p>
                      <a:pPr marL="0" lvl="0" indent="0" algn="l" rtl="0">
                        <a:lnSpc>
                          <a:spcPct val="115000"/>
                        </a:lnSpc>
                        <a:spcBef>
                          <a:spcPts val="0"/>
                        </a:spcBef>
                        <a:spcAft>
                          <a:spcPts val="0"/>
                        </a:spcAft>
                        <a:buNone/>
                      </a:pPr>
                      <a:r>
                        <a:rPr lang="en" sz="1000" b="1"/>
                        <a:t>TADI: Tool-Augmented Drilling Intelligence</a:t>
                      </a:r>
                      <a:endParaRPr sz="10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An Agentic LLM orchestrator for heterogeneous industrial "wellsite" data.</a:t>
                      </a:r>
                      <a:endParaRPr sz="13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Proof that AI agents can now manage complex, high-stakes industrial machinery.</a:t>
                      </a:r>
                      <a:endParaRPr sz="13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00600">
                <a:tc>
                  <a:txBody>
                    <a:bodyPr/>
                    <a:lstStyle/>
                    <a:p>
                      <a:pPr marL="0" lvl="0" indent="0" algn="l" rtl="0">
                        <a:lnSpc>
                          <a:spcPct val="115000"/>
                        </a:lnSpc>
                        <a:spcBef>
                          <a:spcPts val="0"/>
                        </a:spcBef>
                        <a:spcAft>
                          <a:spcPts val="0"/>
                        </a:spcAft>
                        <a:buNone/>
                      </a:pPr>
                      <a:r>
                        <a:rPr lang="en" sz="1000" b="1"/>
                        <a:t>Token Arena: Energy-Cognitive Benchmark</a:t>
                      </a:r>
                      <a:endParaRPr sz="10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A new metric unifying the "cognitive cost" of a thought with the Joules consumed.</a:t>
                      </a:r>
                      <a:endParaRPr sz="13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We can finally measure if a model is "smart" or just "brute-forcing" with electricity.</a:t>
                      </a:r>
                      <a:endParaRPr sz="13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09" name="Google Shape;109;p21"/>
          <p:cNvSpPr txBox="1"/>
          <p:nvPr/>
        </p:nvSpPr>
        <p:spPr>
          <a:xfrm>
            <a:off x="0" y="411106"/>
            <a:ext cx="8670600" cy="109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a:solidFill>
                  <a:schemeClr val="dk1"/>
                </a:solidFill>
              </a:rPr>
              <a:t>It is </a:t>
            </a:r>
            <a:r>
              <a:rPr lang="en" sz="1100" b="1">
                <a:solidFill>
                  <a:schemeClr val="dk1"/>
                </a:solidFill>
              </a:rPr>
              <a:t>Tuesday, May 12, 2026</a:t>
            </a:r>
            <a:r>
              <a:rPr lang="en" sz="1100">
                <a:solidFill>
                  <a:schemeClr val="dk1"/>
                </a:solidFill>
              </a:rPr>
              <a:t>, and your daily automated arXiv briefing is ready.</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Building on yesterday’s focus on safety and transparency, today’s papers dive into the world of </a:t>
            </a:r>
            <a:r>
              <a:rPr lang="en" sz="1100" b="1">
                <a:solidFill>
                  <a:schemeClr val="dk1"/>
                </a:solidFill>
              </a:rPr>
              <a:t>Agentic Orchestration</a:t>
            </a:r>
            <a:r>
              <a:rPr lang="en" sz="1100">
                <a:solidFill>
                  <a:schemeClr val="dk1"/>
                </a:solidFill>
              </a:rPr>
              <a:t>, </a:t>
            </a:r>
            <a:r>
              <a:rPr lang="en" sz="1100" b="1">
                <a:solidFill>
                  <a:schemeClr val="dk1"/>
                </a:solidFill>
              </a:rPr>
              <a:t>Physical World Models</a:t>
            </a:r>
            <a:r>
              <a:rPr lang="en" sz="1100">
                <a:solidFill>
                  <a:schemeClr val="dk1"/>
                </a:solidFill>
              </a:rPr>
              <a:t>, and </a:t>
            </a:r>
            <a:r>
              <a:rPr lang="en" sz="1100" b="1">
                <a:solidFill>
                  <a:schemeClr val="dk1"/>
                </a:solidFill>
              </a:rPr>
              <a:t>Energy-Cognitive Efficiency</a:t>
            </a:r>
            <a:r>
              <a:rPr lang="en" sz="1100">
                <a:solidFill>
                  <a:schemeClr val="dk1"/>
                </a:solidFill>
              </a:rPr>
              <a:t>. As we see more AI "agents" moving into the real world, the research is shifting toward how these systems can handle messy, physical data without burning out or breaking.</a:t>
            </a:r>
            <a:endParaRPr sz="1100">
              <a:solidFill>
                <a:schemeClr val="dk1"/>
              </a:solidFill>
            </a:endParaRPr>
          </a:p>
        </p:txBody>
      </p:sp>
      <p:sp>
        <p:nvSpPr>
          <p:cNvPr id="110" name="Google Shape;110;p21"/>
          <p:cNvSpPr txBox="1"/>
          <p:nvPr/>
        </p:nvSpPr>
        <p:spPr>
          <a:xfrm>
            <a:off x="29725" y="4248075"/>
            <a:ext cx="894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https://arxiv.org/list/cs.AI/current#:~:text=Authors%20and%20titles%20for%20May,Rong%20Lu</a:t>
            </a: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p:nvPr/>
        </p:nvSpPr>
        <p:spPr>
          <a:xfrm>
            <a:off x="29723" y="44600"/>
            <a:ext cx="64233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Example 1: Gemini Pro - scheduled podcast script #2</a:t>
            </a:r>
            <a:endParaRPr sz="2000" b="1" i="0" u="none" strike="noStrike" cap="none">
              <a:solidFill>
                <a:schemeClr val="dk1"/>
              </a:solidFill>
              <a:latin typeface="Calibri"/>
              <a:ea typeface="Calibri"/>
              <a:cs typeface="Calibri"/>
              <a:sym typeface="Calibri"/>
            </a:endParaRPr>
          </a:p>
        </p:txBody>
      </p:sp>
      <p:sp>
        <p:nvSpPr>
          <p:cNvPr id="116" name="Google Shape;116;p22"/>
          <p:cNvSpPr txBox="1"/>
          <p:nvPr/>
        </p:nvSpPr>
        <p:spPr>
          <a:xfrm>
            <a:off x="-14053" y="351332"/>
            <a:ext cx="8769300" cy="427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Podcast Script: "The Daily Pulse"</a:t>
            </a:r>
            <a:endParaRPr sz="1300" b="1">
              <a:solidFill>
                <a:schemeClr val="dk1"/>
              </a:solidFill>
            </a:endParaRPr>
          </a:p>
          <a:p>
            <a:pPr marL="0" lvl="0" indent="0" algn="l" rtl="0">
              <a:lnSpc>
                <a:spcPct val="115000"/>
              </a:lnSpc>
              <a:spcBef>
                <a:spcPts val="1200"/>
              </a:spcBef>
              <a:spcAft>
                <a:spcPts val="0"/>
              </a:spcAft>
              <a:buNone/>
            </a:pPr>
            <a:r>
              <a:rPr lang="en" sz="1100" b="1">
                <a:solidFill>
                  <a:schemeClr val="dk1"/>
                </a:solidFill>
              </a:rPr>
              <a:t>Host:</a:t>
            </a:r>
            <a:r>
              <a:rPr lang="en" sz="1100">
                <a:solidFill>
                  <a:schemeClr val="dk1"/>
                </a:solidFill>
              </a:rPr>
              <a:t> "Welcome back to </a:t>
            </a:r>
            <a:r>
              <a:rPr lang="en" sz="1100" i="1">
                <a:solidFill>
                  <a:schemeClr val="dk1"/>
                </a:solidFill>
              </a:rPr>
              <a:t>The Daily Pulse</a:t>
            </a:r>
            <a:r>
              <a:rPr lang="en" sz="1100">
                <a:solidFill>
                  <a:schemeClr val="dk1"/>
                </a:solidFill>
              </a:rPr>
              <a:t>. It’s Tuesday, May 12th. Today we’re looking at what happens when AI stops being a chatbot and starts acting like an engineer.</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First, let’s talk about 'World Models.' Usually, when an AI tries to predict the physical world, it’s just guessing the next pixel. It doesn’t actually understand that energy cannot be created or destroyed. But a new paper on </a:t>
            </a:r>
            <a:r>
              <a:rPr lang="en" sz="1100" b="1">
                <a:solidFill>
                  <a:schemeClr val="dk1"/>
                </a:solidFill>
              </a:rPr>
              <a:t>Physically Native World Models</a:t>
            </a:r>
            <a:r>
              <a:rPr lang="en" sz="1100">
                <a:solidFill>
                  <a:schemeClr val="dk1"/>
                </a:solidFill>
              </a:rPr>
              <a:t> changes the math. By using a 'Hamiltonian perspective'—that’s a fancy way of saying they built the laws of physics into the model's core—they’ve created an AI that literally </a:t>
            </a:r>
            <a:r>
              <a:rPr lang="en" sz="1100" i="1">
                <a:solidFill>
                  <a:schemeClr val="dk1"/>
                </a:solidFill>
              </a:rPr>
              <a:t>cannot</a:t>
            </a:r>
            <a:r>
              <a:rPr lang="en" sz="1100">
                <a:solidFill>
                  <a:schemeClr val="dk1"/>
                </a:solidFill>
              </a:rPr>
              <a:t> imagine a ball falling upward. For robotics, this is the Holy Grail; it means the AI can predict the outcome of its actions with the reliability of a physics simulation.</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Next, we move to the industrial field with </a:t>
            </a:r>
            <a:r>
              <a:rPr lang="en" sz="1100" b="1">
                <a:solidFill>
                  <a:schemeClr val="dk1"/>
                </a:solidFill>
              </a:rPr>
              <a:t>TADI</a:t>
            </a:r>
            <a:r>
              <a:rPr lang="en" sz="1100">
                <a:solidFill>
                  <a:schemeClr val="dk1"/>
                </a:solidFill>
              </a:rPr>
              <a:t>. We’ve seen AI agents book flights, but TADI is designed for 'Drilling Intelligence.' It orchestrates a swarm of LLMs to manage massive, fragmented data sets on industrial wellsites. It’s a real-world test of 'Agentic Orchestration' in a high-stakes environment where a mistake isn’t just a typo—it’s a mechanical failure. This proves that the 'Agent Era' is moving rapidly out of the lab and into heavy industry.</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Finally, we have to talk about the 'Token Arena.' As we build bigger models, the environmental cost is skyrocketing. This paper introduces a benchmark that doesn't just ask 'Is the answer right?' It asks 'How much energy did it take to get there?' It’s a shift toward </a:t>
            </a:r>
            <a:r>
              <a:rPr lang="en" sz="1100" b="1">
                <a:solidFill>
                  <a:schemeClr val="dk1"/>
                </a:solidFill>
              </a:rPr>
              <a:t>Energy-Cognitive Efficiency</a:t>
            </a:r>
            <a:r>
              <a:rPr lang="en" sz="1100">
                <a:solidFill>
                  <a:schemeClr val="dk1"/>
                </a:solidFill>
              </a:rPr>
              <a:t>. If Model A and Model B both solve a math problem, but Model A uses 90% less power, Model A is the true winner. In a world of limited resources, being 'efficiently smart' is the new gold standard.</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That’s your update for Tuesday. I’m Gemini, and I’ll be back tomorrow to see if the 'Agent' trend continues to dominate the charts."</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p:nvPr/>
        </p:nvSpPr>
        <p:spPr>
          <a:xfrm>
            <a:off x="29723" y="44600"/>
            <a:ext cx="64233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Example 1: Gemini Pro - scheduled podcast script #3</a:t>
            </a:r>
            <a:endParaRPr sz="2000" b="1" i="0" u="none" strike="noStrike" cap="none">
              <a:solidFill>
                <a:schemeClr val="dk1"/>
              </a:solidFill>
              <a:latin typeface="Calibri"/>
              <a:ea typeface="Calibri"/>
              <a:cs typeface="Calibri"/>
              <a:sym typeface="Calibri"/>
            </a:endParaRPr>
          </a:p>
        </p:txBody>
      </p:sp>
      <p:sp>
        <p:nvSpPr>
          <p:cNvPr id="122" name="Google Shape;122;p23"/>
          <p:cNvSpPr txBox="1"/>
          <p:nvPr/>
        </p:nvSpPr>
        <p:spPr>
          <a:xfrm>
            <a:off x="-14053" y="351332"/>
            <a:ext cx="8769300" cy="143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All I had to do was:</a:t>
            </a:r>
            <a:endParaRPr sz="1300" b="1">
              <a:solidFill>
                <a:schemeClr val="dk1"/>
              </a:solidFill>
            </a:endParaRPr>
          </a:p>
          <a:p>
            <a:pPr marL="0" lvl="0" indent="0" algn="l" rtl="0">
              <a:lnSpc>
                <a:spcPct val="115000"/>
              </a:lnSpc>
              <a:spcBef>
                <a:spcPts val="1400"/>
              </a:spcBef>
              <a:spcAft>
                <a:spcPts val="0"/>
              </a:spcAft>
              <a:buNone/>
            </a:pPr>
            <a:r>
              <a:rPr lang="en" sz="1300">
                <a:solidFill>
                  <a:schemeClr val="dk1"/>
                </a:solidFill>
              </a:rPr>
              <a:t>Prompt Gemini: “How can i automate making a daily podcast for new articles for a certain topic in arXiv?”</a:t>
            </a:r>
            <a:endParaRPr sz="1300">
              <a:solidFill>
                <a:schemeClr val="dk1"/>
              </a:solidFill>
            </a:endParaRPr>
          </a:p>
          <a:p>
            <a:pPr marL="0" lvl="0" indent="0" algn="l" rtl="0">
              <a:lnSpc>
                <a:spcPct val="115000"/>
              </a:lnSpc>
              <a:spcBef>
                <a:spcPts val="1400"/>
              </a:spcBef>
              <a:spcAft>
                <a:spcPts val="400"/>
              </a:spcAft>
              <a:buNone/>
            </a:pPr>
            <a:r>
              <a:rPr lang="en" sz="1300">
                <a:solidFill>
                  <a:schemeClr val="dk1"/>
                </a:solidFill>
              </a:rPr>
              <a:t>Response Gemini: “Got it! I've scheduled that for you. Every morning at 8:00 AM, I'll find the latest arXiv articles on AI and prepare a podcast-style summary for you.”</a:t>
            </a:r>
            <a:endParaRPr sz="1300">
              <a:solidFill>
                <a:schemeClr val="dk1"/>
              </a:solidFill>
            </a:endParaRPr>
          </a:p>
        </p:txBody>
      </p:sp>
      <p:sp>
        <p:nvSpPr>
          <p:cNvPr id="123" name="Google Shape;123;p23"/>
          <p:cNvSpPr txBox="1"/>
          <p:nvPr/>
        </p:nvSpPr>
        <p:spPr>
          <a:xfrm>
            <a:off x="29725" y="2164200"/>
            <a:ext cx="5830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My daily update:</a:t>
            </a:r>
            <a:endParaRPr b="1"/>
          </a:p>
          <a:p>
            <a:pPr marL="0" lvl="0" indent="0" algn="l" rtl="0">
              <a:spcBef>
                <a:spcPts val="0"/>
              </a:spcBef>
              <a:spcAft>
                <a:spcPts val="0"/>
              </a:spcAft>
              <a:buNone/>
            </a:pPr>
            <a:r>
              <a:rPr lang="en" u="sng">
                <a:solidFill>
                  <a:schemeClr val="hlink"/>
                </a:solidFill>
                <a:hlinkClick r:id="rId3"/>
              </a:rPr>
              <a:t>https://gemini.google.com/share/1c8b6ac7a586</a:t>
            </a: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p:nvPr/>
        </p:nvSpPr>
        <p:spPr>
          <a:xfrm>
            <a:off x="29723" y="44600"/>
            <a:ext cx="64233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Example 2: Gemini Pro suggestion for a workflow </a:t>
            </a:r>
            <a:endParaRPr sz="2000" b="1" i="0" u="none" strike="noStrike" cap="none">
              <a:solidFill>
                <a:schemeClr val="dk1"/>
              </a:solidFill>
              <a:latin typeface="Calibri"/>
              <a:ea typeface="Calibri"/>
              <a:cs typeface="Calibri"/>
              <a:sym typeface="Calibri"/>
            </a:endParaRPr>
          </a:p>
        </p:txBody>
      </p:sp>
      <p:sp>
        <p:nvSpPr>
          <p:cNvPr id="129" name="Google Shape;129;p24"/>
          <p:cNvSpPr txBox="1"/>
          <p:nvPr/>
        </p:nvSpPr>
        <p:spPr>
          <a:xfrm>
            <a:off x="-14053" y="351332"/>
            <a:ext cx="8769300" cy="4453500"/>
          </a:xfrm>
          <a:prstGeom prst="rect">
            <a:avLst/>
          </a:prstGeom>
          <a:solidFill>
            <a:srgbClr val="000000">
              <a:alpha val="0"/>
            </a:srgbClr>
          </a:solidFill>
          <a:ln>
            <a:noFill/>
          </a:ln>
        </p:spPr>
        <p:txBody>
          <a:bodyPr spcFirstLastPara="1" wrap="square" lIns="91400" tIns="91400" rIns="91400" bIns="91400" anchor="t" anchorCtr="0">
            <a:spAutoFit/>
          </a:bodyPr>
          <a:lstStyle/>
          <a:p>
            <a:pPr marL="0" lvl="0" indent="0" algn="l" rtl="0">
              <a:spcBef>
                <a:spcPts val="0"/>
              </a:spcBef>
              <a:spcAft>
                <a:spcPts val="0"/>
              </a:spcAft>
              <a:buNone/>
            </a:pPr>
            <a:r>
              <a:rPr lang="en" sz="900" b="0">
                <a:solidFill>
                  <a:srgbClr val="000000"/>
                </a:solidFill>
                <a:latin typeface="Arial"/>
                <a:ea typeface="Arial"/>
                <a:cs typeface="Arial"/>
                <a:sym typeface="Arial"/>
              </a:rPr>
              <a:t>Automating a daily podcast for arXiv articles involves a few key steps: data fetching, content synthesis, and audio generation. Here is a breakdown of how you can build a custom pipeline for this:</a:t>
            </a:r>
            <a:endParaRPr sz="900" b="0">
              <a:solidFill>
                <a:srgbClr val="000000"/>
              </a:solidFill>
              <a:latin typeface="Arial"/>
              <a:ea typeface="Arial"/>
              <a:cs typeface="Arial"/>
              <a:sym typeface="Arial"/>
            </a:endParaRPr>
          </a:p>
          <a:p>
            <a:pPr marL="0" lvl="0" indent="0" algn="l" rtl="0">
              <a:spcBef>
                <a:spcPts val="600"/>
              </a:spcBef>
              <a:spcAft>
                <a:spcPts val="0"/>
              </a:spcAft>
              <a:buNone/>
            </a:pPr>
            <a:r>
              <a:rPr lang="en" sz="1100" b="1">
                <a:solidFill>
                  <a:srgbClr val="000000"/>
                </a:solidFill>
                <a:latin typeface="Arial"/>
                <a:ea typeface="Arial"/>
                <a:cs typeface="Arial"/>
                <a:sym typeface="Arial"/>
              </a:rPr>
              <a:t>1. Data Fetching (arXiv API)</a:t>
            </a:r>
            <a:endParaRPr sz="900" b="0">
              <a:solidFill>
                <a:srgbClr val="000000"/>
              </a:solidFill>
              <a:latin typeface="Arial"/>
              <a:ea typeface="Arial"/>
              <a:cs typeface="Arial"/>
              <a:sym typeface="Arial"/>
            </a:endParaRPr>
          </a:p>
          <a:p>
            <a:pPr marL="0" lvl="0" indent="0" algn="l" rtl="0">
              <a:spcBef>
                <a:spcPts val="200"/>
              </a:spcBef>
              <a:spcAft>
                <a:spcPts val="0"/>
              </a:spcAft>
              <a:buNone/>
            </a:pPr>
            <a:r>
              <a:rPr lang="en" sz="900" b="0">
                <a:solidFill>
                  <a:srgbClr val="000000"/>
                </a:solidFill>
                <a:latin typeface="Arial"/>
                <a:ea typeface="Arial"/>
                <a:cs typeface="Arial"/>
                <a:sym typeface="Arial"/>
              </a:rPr>
              <a:t>arXiv provides a robust API that allows you to query for the latest papers based on specific categories (like </a:t>
            </a:r>
            <a:r>
              <a:rPr lang="en" sz="900" b="0">
                <a:solidFill>
                  <a:srgbClr val="188038"/>
                </a:solidFill>
                <a:latin typeface="Roboto Mono"/>
                <a:ea typeface="Roboto Mono"/>
                <a:cs typeface="Roboto Mono"/>
                <a:sym typeface="Roboto Mono"/>
              </a:rPr>
              <a:t>cs.AI</a:t>
            </a:r>
            <a:r>
              <a:rPr lang="en" sz="900" b="0">
                <a:solidFill>
                  <a:srgbClr val="000000"/>
                </a:solidFill>
                <a:latin typeface="Arial"/>
                <a:ea typeface="Arial"/>
                <a:cs typeface="Arial"/>
                <a:sym typeface="Arial"/>
              </a:rPr>
              <a:t> for Artificial Intelligence or </a:t>
            </a:r>
            <a:r>
              <a:rPr lang="en" sz="900" b="0">
                <a:solidFill>
                  <a:srgbClr val="188038"/>
                </a:solidFill>
                <a:latin typeface="Roboto Mono"/>
                <a:ea typeface="Roboto Mono"/>
                <a:cs typeface="Roboto Mono"/>
                <a:sym typeface="Roboto Mono"/>
              </a:rPr>
              <a:t>stat.ML</a:t>
            </a:r>
            <a:r>
              <a:rPr lang="en" sz="900" b="0">
                <a:solidFill>
                  <a:srgbClr val="000000"/>
                </a:solidFill>
                <a:latin typeface="Arial"/>
                <a:ea typeface="Arial"/>
                <a:cs typeface="Arial"/>
                <a:sym typeface="Arial"/>
              </a:rPr>
              <a:t> for Machine Learning).</a:t>
            </a:r>
            <a:endParaRPr sz="900" b="0">
              <a:solidFill>
                <a:srgbClr val="000000"/>
              </a:solidFill>
              <a:latin typeface="Arial"/>
              <a:ea typeface="Arial"/>
              <a:cs typeface="Arial"/>
              <a:sym typeface="Arial"/>
            </a:endParaRPr>
          </a:p>
          <a:p>
            <a:pPr marL="457200" lvl="0" indent="-285750" algn="l" rtl="0">
              <a:spcBef>
                <a:spcPts val="400"/>
              </a:spcBef>
              <a:spcAft>
                <a:spcPts val="0"/>
              </a:spcAft>
              <a:buClr>
                <a:srgbClr val="000000"/>
              </a:buClr>
              <a:buSzPts val="900"/>
              <a:buFont typeface="Arial"/>
              <a:buChar char="●"/>
            </a:pPr>
            <a:r>
              <a:rPr lang="en" sz="900" b="1">
                <a:solidFill>
                  <a:srgbClr val="000000"/>
                </a:solidFill>
                <a:latin typeface="Arial"/>
                <a:ea typeface="Arial"/>
                <a:cs typeface="Arial"/>
                <a:sym typeface="Arial"/>
              </a:rPr>
              <a:t>How to do it:</a:t>
            </a:r>
            <a:r>
              <a:rPr lang="en" sz="900" b="0">
                <a:solidFill>
                  <a:srgbClr val="000000"/>
                </a:solidFill>
                <a:latin typeface="Arial"/>
                <a:ea typeface="Arial"/>
                <a:cs typeface="Arial"/>
                <a:sym typeface="Arial"/>
              </a:rPr>
              <a:t> Use a Python script with the </a:t>
            </a:r>
            <a:r>
              <a:rPr lang="en" sz="900" b="0">
                <a:solidFill>
                  <a:srgbClr val="188038"/>
                </a:solidFill>
                <a:latin typeface="Roboto Mono"/>
                <a:ea typeface="Roboto Mono"/>
                <a:cs typeface="Roboto Mono"/>
                <a:sym typeface="Roboto Mono"/>
              </a:rPr>
              <a:t>arxiv</a:t>
            </a:r>
            <a:r>
              <a:rPr lang="en" sz="900" b="0">
                <a:solidFill>
                  <a:srgbClr val="000000"/>
                </a:solidFill>
                <a:latin typeface="Arial"/>
                <a:ea typeface="Arial"/>
                <a:cs typeface="Arial"/>
                <a:sym typeface="Arial"/>
              </a:rPr>
              <a:t> library to fetch papers uploaded in the last 24 hours.</a:t>
            </a:r>
            <a:endParaRPr sz="900" b="0">
              <a:solidFill>
                <a:srgbClr val="000000"/>
              </a:solidFill>
              <a:latin typeface="Arial"/>
              <a:ea typeface="Arial"/>
              <a:cs typeface="Arial"/>
              <a:sym typeface="Arial"/>
            </a:endParaRPr>
          </a:p>
          <a:p>
            <a:pPr marL="457200" lvl="0" indent="-285750" algn="l" rtl="0">
              <a:spcBef>
                <a:spcPts val="200"/>
              </a:spcBef>
              <a:spcAft>
                <a:spcPts val="0"/>
              </a:spcAft>
              <a:buClr>
                <a:srgbClr val="000000"/>
              </a:buClr>
              <a:buSzPts val="900"/>
              <a:buFont typeface="Arial"/>
              <a:buChar char="●"/>
            </a:pPr>
            <a:r>
              <a:rPr lang="en" sz="900" b="1">
                <a:solidFill>
                  <a:srgbClr val="000000"/>
                </a:solidFill>
                <a:latin typeface="Arial"/>
                <a:ea typeface="Arial"/>
                <a:cs typeface="Arial"/>
                <a:sym typeface="Arial"/>
              </a:rPr>
              <a:t>What to extract:</a:t>
            </a:r>
            <a:r>
              <a:rPr lang="en" sz="900" b="0">
                <a:solidFill>
                  <a:srgbClr val="000000"/>
                </a:solidFill>
                <a:latin typeface="Arial"/>
                <a:ea typeface="Arial"/>
                <a:cs typeface="Arial"/>
                <a:sym typeface="Arial"/>
              </a:rPr>
              <a:t> You'll need the title, authors, and the abstract.</a:t>
            </a:r>
            <a:endParaRPr sz="900" b="0">
              <a:solidFill>
                <a:srgbClr val="000000"/>
              </a:solidFill>
              <a:latin typeface="Arial"/>
              <a:ea typeface="Arial"/>
              <a:cs typeface="Arial"/>
              <a:sym typeface="Arial"/>
            </a:endParaRPr>
          </a:p>
          <a:p>
            <a:pPr marL="0" lvl="0" indent="0" algn="l" rtl="0">
              <a:spcBef>
                <a:spcPts val="600"/>
              </a:spcBef>
              <a:spcAft>
                <a:spcPts val="0"/>
              </a:spcAft>
              <a:buNone/>
            </a:pPr>
            <a:r>
              <a:rPr lang="en" sz="1100" b="1">
                <a:solidFill>
                  <a:srgbClr val="000000"/>
                </a:solidFill>
                <a:latin typeface="Arial"/>
                <a:ea typeface="Arial"/>
                <a:cs typeface="Arial"/>
                <a:sym typeface="Arial"/>
              </a:rPr>
              <a:t>2. Content Synthesis (LLM Processing)</a:t>
            </a:r>
            <a:endParaRPr sz="900" b="0">
              <a:solidFill>
                <a:srgbClr val="000000"/>
              </a:solidFill>
              <a:latin typeface="Arial"/>
              <a:ea typeface="Arial"/>
              <a:cs typeface="Arial"/>
              <a:sym typeface="Arial"/>
            </a:endParaRPr>
          </a:p>
          <a:p>
            <a:pPr marL="0" lvl="0" indent="0" algn="l" rtl="0">
              <a:spcBef>
                <a:spcPts val="200"/>
              </a:spcBef>
              <a:spcAft>
                <a:spcPts val="0"/>
              </a:spcAft>
              <a:buNone/>
            </a:pPr>
            <a:r>
              <a:rPr lang="en" sz="900" b="0">
                <a:solidFill>
                  <a:srgbClr val="000000"/>
                </a:solidFill>
                <a:latin typeface="Arial"/>
                <a:ea typeface="Arial"/>
                <a:cs typeface="Arial"/>
                <a:sym typeface="Arial"/>
              </a:rPr>
              <a:t>Raw abstracts are often too dense for a podcast. You need an LLM (like Gemini or GPT-4) to "translate" these technical summaries into conversational scripts.</a:t>
            </a:r>
            <a:endParaRPr sz="900" b="0">
              <a:solidFill>
                <a:srgbClr val="000000"/>
              </a:solidFill>
              <a:latin typeface="Arial"/>
              <a:ea typeface="Arial"/>
              <a:cs typeface="Arial"/>
              <a:sym typeface="Arial"/>
            </a:endParaRPr>
          </a:p>
          <a:p>
            <a:pPr marL="457200" lvl="0" indent="-285750" algn="l" rtl="0">
              <a:spcBef>
                <a:spcPts val="400"/>
              </a:spcBef>
              <a:spcAft>
                <a:spcPts val="0"/>
              </a:spcAft>
              <a:buClr>
                <a:srgbClr val="000000"/>
              </a:buClr>
              <a:buSzPts val="900"/>
              <a:buFont typeface="Arial"/>
              <a:buChar char="●"/>
            </a:pPr>
            <a:r>
              <a:rPr lang="en" sz="900" b="1">
                <a:solidFill>
                  <a:srgbClr val="000000"/>
                </a:solidFill>
                <a:latin typeface="Arial"/>
                <a:ea typeface="Arial"/>
                <a:cs typeface="Arial"/>
                <a:sym typeface="Arial"/>
              </a:rPr>
              <a:t>The Prompt:</a:t>
            </a:r>
            <a:r>
              <a:rPr lang="en" sz="900" b="0">
                <a:solidFill>
                  <a:srgbClr val="000000"/>
                </a:solidFill>
                <a:latin typeface="Arial"/>
                <a:ea typeface="Arial"/>
                <a:cs typeface="Arial"/>
                <a:sym typeface="Arial"/>
              </a:rPr>
              <a:t> "I have three new research papers from arXiv. Summarize them in a conversational, engaging tone suitable for a 5-minute podcast. Explain the 'why' behind the research and the key findings without using overly complex jargon."</a:t>
            </a:r>
            <a:endParaRPr sz="900" b="0">
              <a:solidFill>
                <a:srgbClr val="000000"/>
              </a:solidFill>
              <a:latin typeface="Arial"/>
              <a:ea typeface="Arial"/>
              <a:cs typeface="Arial"/>
              <a:sym typeface="Arial"/>
            </a:endParaRPr>
          </a:p>
          <a:p>
            <a:pPr marL="457200" lvl="0" indent="-285750" algn="l" rtl="0">
              <a:spcBef>
                <a:spcPts val="200"/>
              </a:spcBef>
              <a:spcAft>
                <a:spcPts val="0"/>
              </a:spcAft>
              <a:buClr>
                <a:srgbClr val="000000"/>
              </a:buClr>
              <a:buSzPts val="900"/>
              <a:buFont typeface="Arial"/>
              <a:buChar char="●"/>
            </a:pPr>
            <a:r>
              <a:rPr lang="en" sz="900" b="1">
                <a:solidFill>
                  <a:srgbClr val="000000"/>
                </a:solidFill>
                <a:latin typeface="Arial"/>
                <a:ea typeface="Arial"/>
                <a:cs typeface="Arial"/>
                <a:sym typeface="Arial"/>
              </a:rPr>
              <a:t>The Output:</a:t>
            </a:r>
            <a:r>
              <a:rPr lang="en" sz="900" b="0">
                <a:solidFill>
                  <a:srgbClr val="000000"/>
                </a:solidFill>
                <a:latin typeface="Arial"/>
                <a:ea typeface="Arial"/>
                <a:cs typeface="Arial"/>
                <a:sym typeface="Arial"/>
              </a:rPr>
              <a:t> A structured script with an intro, body segments for each paper, and an outro.</a:t>
            </a:r>
            <a:endParaRPr sz="900" b="0">
              <a:solidFill>
                <a:srgbClr val="000000"/>
              </a:solidFill>
              <a:latin typeface="Arial"/>
              <a:ea typeface="Arial"/>
              <a:cs typeface="Arial"/>
              <a:sym typeface="Arial"/>
            </a:endParaRPr>
          </a:p>
          <a:p>
            <a:pPr marL="0" lvl="0" indent="0" algn="l" rtl="0">
              <a:spcBef>
                <a:spcPts val="600"/>
              </a:spcBef>
              <a:spcAft>
                <a:spcPts val="0"/>
              </a:spcAft>
              <a:buNone/>
            </a:pPr>
            <a:r>
              <a:rPr lang="en" sz="1100" b="1">
                <a:solidFill>
                  <a:srgbClr val="000000"/>
                </a:solidFill>
                <a:latin typeface="Arial"/>
                <a:ea typeface="Arial"/>
                <a:cs typeface="Arial"/>
                <a:sym typeface="Arial"/>
              </a:rPr>
              <a:t>3. Audio Generation (Text-to-Speech)</a:t>
            </a:r>
            <a:endParaRPr sz="900" b="0">
              <a:solidFill>
                <a:srgbClr val="000000"/>
              </a:solidFill>
              <a:latin typeface="Arial"/>
              <a:ea typeface="Arial"/>
              <a:cs typeface="Arial"/>
              <a:sym typeface="Arial"/>
            </a:endParaRPr>
          </a:p>
          <a:p>
            <a:pPr marL="0" lvl="0" indent="0" algn="l" rtl="0">
              <a:spcBef>
                <a:spcPts val="200"/>
              </a:spcBef>
              <a:spcAft>
                <a:spcPts val="0"/>
              </a:spcAft>
              <a:buNone/>
            </a:pPr>
            <a:r>
              <a:rPr lang="en" sz="900" b="0">
                <a:solidFill>
                  <a:srgbClr val="000000"/>
                </a:solidFill>
                <a:latin typeface="Arial"/>
                <a:ea typeface="Arial"/>
                <a:cs typeface="Arial"/>
                <a:sym typeface="Arial"/>
              </a:rPr>
              <a:t>To turn that script into a podcast, you'll use a high-quality Text-to-Speech (TTS) engine.</a:t>
            </a:r>
            <a:endParaRPr sz="900" b="0">
              <a:solidFill>
                <a:srgbClr val="000000"/>
              </a:solidFill>
              <a:latin typeface="Arial"/>
              <a:ea typeface="Arial"/>
              <a:cs typeface="Arial"/>
              <a:sym typeface="Arial"/>
            </a:endParaRPr>
          </a:p>
          <a:p>
            <a:pPr marL="457200" lvl="0" indent="-285750" algn="l" rtl="0">
              <a:spcBef>
                <a:spcPts val="400"/>
              </a:spcBef>
              <a:spcAft>
                <a:spcPts val="0"/>
              </a:spcAft>
              <a:buClr>
                <a:srgbClr val="000000"/>
              </a:buClr>
              <a:buSzPts val="900"/>
              <a:buFont typeface="Arial"/>
              <a:buChar char="●"/>
            </a:pPr>
            <a:r>
              <a:rPr lang="en" sz="900" b="1">
                <a:solidFill>
                  <a:srgbClr val="000000"/>
                </a:solidFill>
                <a:latin typeface="Arial"/>
                <a:ea typeface="Arial"/>
                <a:cs typeface="Arial"/>
                <a:sym typeface="Arial"/>
              </a:rPr>
              <a:t>Tools:</a:t>
            </a:r>
            <a:endParaRPr sz="900" b="0">
              <a:solidFill>
                <a:srgbClr val="000000"/>
              </a:solidFill>
              <a:latin typeface="Arial"/>
              <a:ea typeface="Arial"/>
              <a:cs typeface="Arial"/>
              <a:sym typeface="Arial"/>
            </a:endParaRPr>
          </a:p>
          <a:p>
            <a:pPr marL="914400" lvl="1" indent="-285750" algn="l" rtl="0">
              <a:spcBef>
                <a:spcPts val="400"/>
              </a:spcBef>
              <a:spcAft>
                <a:spcPts val="0"/>
              </a:spcAft>
              <a:buClr>
                <a:srgbClr val="000000"/>
              </a:buClr>
              <a:buSzPts val="900"/>
              <a:buFont typeface="Arial"/>
              <a:buChar char="○"/>
            </a:pPr>
            <a:r>
              <a:rPr lang="en" sz="900" b="1">
                <a:solidFill>
                  <a:srgbClr val="000000"/>
                </a:solidFill>
                <a:latin typeface="Arial"/>
                <a:ea typeface="Arial"/>
                <a:cs typeface="Arial"/>
                <a:sym typeface="Arial"/>
              </a:rPr>
              <a:t>ElevenLabs:</a:t>
            </a:r>
            <a:r>
              <a:rPr lang="en" sz="900" b="0">
                <a:solidFill>
                  <a:srgbClr val="000000"/>
                </a:solidFill>
                <a:latin typeface="Arial"/>
                <a:ea typeface="Arial"/>
                <a:cs typeface="Arial"/>
                <a:sym typeface="Arial"/>
              </a:rPr>
              <a:t> Offers extremely realistic, emotive voices that sound like actual podcast hosts.</a:t>
            </a:r>
            <a:endParaRPr sz="900" b="0">
              <a:solidFill>
                <a:srgbClr val="000000"/>
              </a:solidFill>
              <a:latin typeface="Arial"/>
              <a:ea typeface="Arial"/>
              <a:cs typeface="Arial"/>
              <a:sym typeface="Arial"/>
            </a:endParaRPr>
          </a:p>
          <a:p>
            <a:pPr marL="914400" lvl="1" indent="-285750" algn="l" rtl="0">
              <a:spcBef>
                <a:spcPts val="0"/>
              </a:spcBef>
              <a:spcAft>
                <a:spcPts val="0"/>
              </a:spcAft>
              <a:buClr>
                <a:srgbClr val="000000"/>
              </a:buClr>
              <a:buSzPts val="900"/>
              <a:buFont typeface="Arial"/>
              <a:buChar char="○"/>
            </a:pPr>
            <a:r>
              <a:rPr lang="en" sz="900" b="1">
                <a:solidFill>
                  <a:srgbClr val="000000"/>
                </a:solidFill>
                <a:latin typeface="Arial"/>
                <a:ea typeface="Arial"/>
                <a:cs typeface="Arial"/>
                <a:sym typeface="Arial"/>
              </a:rPr>
              <a:t>OpenAI TTS:</a:t>
            </a:r>
            <a:r>
              <a:rPr lang="en" sz="900" b="0">
                <a:solidFill>
                  <a:srgbClr val="000000"/>
                </a:solidFill>
                <a:latin typeface="Arial"/>
                <a:ea typeface="Arial"/>
                <a:cs typeface="Arial"/>
                <a:sym typeface="Arial"/>
              </a:rPr>
              <a:t> Great for clear, neutral narration.</a:t>
            </a:r>
            <a:endParaRPr sz="900" b="0">
              <a:solidFill>
                <a:srgbClr val="000000"/>
              </a:solidFill>
              <a:latin typeface="Arial"/>
              <a:ea typeface="Arial"/>
              <a:cs typeface="Arial"/>
              <a:sym typeface="Arial"/>
            </a:endParaRPr>
          </a:p>
          <a:p>
            <a:pPr marL="914400" lvl="1" indent="-285750" algn="l" rtl="0">
              <a:spcBef>
                <a:spcPts val="0"/>
              </a:spcBef>
              <a:spcAft>
                <a:spcPts val="0"/>
              </a:spcAft>
              <a:buClr>
                <a:srgbClr val="000000"/>
              </a:buClr>
              <a:buSzPts val="900"/>
              <a:buFont typeface="Arial"/>
              <a:buChar char="○"/>
            </a:pPr>
            <a:r>
              <a:rPr lang="en" sz="900" b="1">
                <a:solidFill>
                  <a:srgbClr val="000000"/>
                </a:solidFill>
                <a:latin typeface="Arial"/>
                <a:ea typeface="Arial"/>
                <a:cs typeface="Arial"/>
                <a:sym typeface="Arial"/>
              </a:rPr>
              <a:t>Google Cloud TTS:</a:t>
            </a:r>
            <a:r>
              <a:rPr lang="en" sz="900" b="0">
                <a:solidFill>
                  <a:srgbClr val="000000"/>
                </a:solidFill>
                <a:latin typeface="Arial"/>
                <a:ea typeface="Arial"/>
                <a:cs typeface="Arial"/>
                <a:sym typeface="Arial"/>
              </a:rPr>
              <a:t> Reliable and highly customizable.</a:t>
            </a:r>
            <a:endParaRPr sz="900" b="0">
              <a:solidFill>
                <a:srgbClr val="000000"/>
              </a:solidFill>
              <a:latin typeface="Arial"/>
              <a:ea typeface="Arial"/>
              <a:cs typeface="Arial"/>
              <a:sym typeface="Arial"/>
            </a:endParaRPr>
          </a:p>
          <a:p>
            <a:pPr marL="0" lvl="0" indent="0" algn="l" rtl="0">
              <a:spcBef>
                <a:spcPts val="600"/>
              </a:spcBef>
              <a:spcAft>
                <a:spcPts val="0"/>
              </a:spcAft>
              <a:buNone/>
            </a:pPr>
            <a:r>
              <a:rPr lang="en" sz="1100" b="1">
                <a:solidFill>
                  <a:srgbClr val="000000"/>
                </a:solidFill>
                <a:latin typeface="Arial"/>
                <a:ea typeface="Arial"/>
                <a:cs typeface="Arial"/>
                <a:sym typeface="Arial"/>
              </a:rPr>
              <a:t>4. Automation &amp; Distribution</a:t>
            </a:r>
            <a:endParaRPr sz="900" b="0">
              <a:solidFill>
                <a:srgbClr val="000000"/>
              </a:solidFill>
              <a:latin typeface="Arial"/>
              <a:ea typeface="Arial"/>
              <a:cs typeface="Arial"/>
              <a:sym typeface="Arial"/>
            </a:endParaRPr>
          </a:p>
          <a:p>
            <a:pPr marL="0" lvl="0" indent="0" algn="l" rtl="0">
              <a:spcBef>
                <a:spcPts val="200"/>
              </a:spcBef>
              <a:spcAft>
                <a:spcPts val="0"/>
              </a:spcAft>
              <a:buNone/>
            </a:pPr>
            <a:r>
              <a:rPr lang="en" sz="900" b="0">
                <a:solidFill>
                  <a:srgbClr val="000000"/>
                </a:solidFill>
                <a:latin typeface="Arial"/>
                <a:ea typeface="Arial"/>
                <a:cs typeface="Arial"/>
                <a:sym typeface="Arial"/>
              </a:rPr>
              <a:t>To make this run every day without manual intervention:</a:t>
            </a:r>
            <a:endParaRPr sz="900" b="0">
              <a:solidFill>
                <a:srgbClr val="000000"/>
              </a:solidFill>
              <a:latin typeface="Arial"/>
              <a:ea typeface="Arial"/>
              <a:cs typeface="Arial"/>
              <a:sym typeface="Arial"/>
            </a:endParaRPr>
          </a:p>
          <a:p>
            <a:pPr marL="457200" lvl="0" indent="-285750" algn="l" rtl="0">
              <a:spcBef>
                <a:spcPts val="400"/>
              </a:spcBef>
              <a:spcAft>
                <a:spcPts val="0"/>
              </a:spcAft>
              <a:buClr>
                <a:srgbClr val="000000"/>
              </a:buClr>
              <a:buSzPts val="900"/>
              <a:buFont typeface="Arial"/>
              <a:buChar char="●"/>
            </a:pPr>
            <a:r>
              <a:rPr lang="en" sz="900" b="1">
                <a:solidFill>
                  <a:srgbClr val="000000"/>
                </a:solidFill>
                <a:latin typeface="Arial"/>
                <a:ea typeface="Arial"/>
                <a:cs typeface="Arial"/>
                <a:sym typeface="Arial"/>
              </a:rPr>
              <a:t>Hosting:</a:t>
            </a:r>
            <a:r>
              <a:rPr lang="en" sz="900" b="0">
                <a:solidFill>
                  <a:srgbClr val="000000"/>
                </a:solidFill>
                <a:latin typeface="Arial"/>
                <a:ea typeface="Arial"/>
                <a:cs typeface="Arial"/>
                <a:sym typeface="Arial"/>
              </a:rPr>
              <a:t> You can use </a:t>
            </a:r>
            <a:r>
              <a:rPr lang="en" sz="900" b="1">
                <a:solidFill>
                  <a:srgbClr val="000000"/>
                </a:solidFill>
                <a:latin typeface="Arial"/>
                <a:ea typeface="Arial"/>
                <a:cs typeface="Arial"/>
                <a:sym typeface="Arial"/>
              </a:rPr>
              <a:t>GitHub Actions</a:t>
            </a:r>
            <a:r>
              <a:rPr lang="en" sz="900" b="0">
                <a:solidFill>
                  <a:srgbClr val="000000"/>
                </a:solidFill>
                <a:latin typeface="Arial"/>
                <a:ea typeface="Arial"/>
                <a:cs typeface="Arial"/>
                <a:sym typeface="Arial"/>
              </a:rPr>
              <a:t> or a </a:t>
            </a:r>
            <a:r>
              <a:rPr lang="en" sz="900" b="1">
                <a:solidFill>
                  <a:srgbClr val="000000"/>
                </a:solidFill>
                <a:latin typeface="Arial"/>
                <a:ea typeface="Arial"/>
                <a:cs typeface="Arial"/>
                <a:sym typeface="Arial"/>
              </a:rPr>
              <a:t>Cron job</a:t>
            </a:r>
            <a:r>
              <a:rPr lang="en" sz="900" b="0">
                <a:solidFill>
                  <a:srgbClr val="000000"/>
                </a:solidFill>
                <a:latin typeface="Arial"/>
                <a:ea typeface="Arial"/>
                <a:cs typeface="Arial"/>
                <a:sym typeface="Arial"/>
              </a:rPr>
              <a:t> on a cloud server (like AWS or Google Cloud) to trigger your Python script daily.</a:t>
            </a:r>
            <a:endParaRPr sz="900" b="0">
              <a:solidFill>
                <a:srgbClr val="000000"/>
              </a:solidFill>
              <a:latin typeface="Arial"/>
              <a:ea typeface="Arial"/>
              <a:cs typeface="Arial"/>
              <a:sym typeface="Arial"/>
            </a:endParaRPr>
          </a:p>
          <a:p>
            <a:pPr marL="457200" lvl="0" indent="-285750" algn="l" rtl="0">
              <a:spcBef>
                <a:spcPts val="200"/>
              </a:spcBef>
              <a:spcAft>
                <a:spcPts val="0"/>
              </a:spcAft>
              <a:buClr>
                <a:srgbClr val="000000"/>
              </a:buClr>
              <a:buSzPts val="900"/>
              <a:buFont typeface="Arial"/>
              <a:buChar char="●"/>
            </a:pPr>
            <a:r>
              <a:rPr lang="en" sz="900" b="1">
                <a:solidFill>
                  <a:srgbClr val="000000"/>
                </a:solidFill>
                <a:latin typeface="Arial"/>
                <a:ea typeface="Arial"/>
                <a:cs typeface="Arial"/>
                <a:sym typeface="Arial"/>
              </a:rPr>
              <a:t>Distribution:</a:t>
            </a:r>
            <a:r>
              <a:rPr lang="en" sz="900" b="0">
                <a:solidFill>
                  <a:srgbClr val="000000"/>
                </a:solidFill>
                <a:latin typeface="Arial"/>
                <a:ea typeface="Arial"/>
                <a:cs typeface="Arial"/>
                <a:sym typeface="Arial"/>
              </a:rPr>
              <a:t> Once the audio file (MP3) is generated, your script can automatically upload it to a storage bucket (like S3) and update an RSS feed. You can then subscribe to this private RSS feed on your favorite podcast app.</a:t>
            </a:r>
            <a:endParaRPr sz="900" b="0">
              <a:solidFill>
                <a:srgbClr val="000000"/>
              </a:solidFill>
              <a:latin typeface="Arial"/>
              <a:ea typeface="Arial"/>
              <a:cs typeface="Arial"/>
              <a:sym typeface="Arial"/>
            </a:endParaRPr>
          </a:p>
          <a:p>
            <a:pPr marL="0" lvl="0" indent="0" algn="l" rtl="0">
              <a:spcBef>
                <a:spcPts val="600"/>
              </a:spcBef>
              <a:spcAft>
                <a:spcPts val="0"/>
              </a:spcAft>
              <a:buNone/>
            </a:pPr>
            <a:r>
              <a:rPr lang="en" sz="900" b="0">
                <a:solidFill>
                  <a:srgbClr val="000000"/>
                </a:solidFill>
                <a:latin typeface="Arial"/>
                <a:ea typeface="Arial"/>
                <a:cs typeface="Arial"/>
                <a:sym typeface="Arial"/>
              </a:rPr>
              <a:t>By combining these tools, you can wake up every day to a fresh, personalized audio briefing on the exact niche of research you care about!</a:t>
            </a:r>
            <a:endParaRPr sz="900" b="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p:nvPr/>
        </p:nvSpPr>
        <p:spPr>
          <a:xfrm>
            <a:off x="29723" y="44600"/>
            <a:ext cx="64233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Example 3: Scripted NotebookLM</a:t>
            </a:r>
            <a:endParaRPr sz="2000" b="1" i="0" u="none" strike="noStrike" cap="none">
              <a:solidFill>
                <a:schemeClr val="dk1"/>
              </a:solidFill>
              <a:latin typeface="Calibri"/>
              <a:ea typeface="Calibri"/>
              <a:cs typeface="Calibri"/>
              <a:sym typeface="Calibri"/>
            </a:endParaRPr>
          </a:p>
        </p:txBody>
      </p:sp>
      <p:sp>
        <p:nvSpPr>
          <p:cNvPr id="135" name="Google Shape;135;p25"/>
          <p:cNvSpPr txBox="1"/>
          <p:nvPr/>
        </p:nvSpPr>
        <p:spPr>
          <a:xfrm>
            <a:off x="60650" y="299875"/>
            <a:ext cx="4604100" cy="4417500"/>
          </a:xfrm>
          <a:prstGeom prst="rect">
            <a:avLst/>
          </a:prstGeom>
          <a:solidFill>
            <a:srgbClr val="000000">
              <a:alpha val="0"/>
            </a:srgbClr>
          </a:solidFill>
          <a:ln>
            <a:noFill/>
          </a:ln>
        </p:spPr>
        <p:txBody>
          <a:bodyPr spcFirstLastPara="1" wrap="square" lIns="91400" tIns="91400" rIns="91400" bIns="91400" anchor="t" anchorCtr="0">
            <a:spAutoFit/>
          </a:bodyPr>
          <a:lstStyle/>
          <a:p>
            <a:pPr marL="0" lvl="0" indent="0" algn="l" rtl="0">
              <a:spcBef>
                <a:spcPts val="0"/>
              </a:spcBef>
              <a:spcAft>
                <a:spcPts val="0"/>
              </a:spcAft>
              <a:buNone/>
            </a:pPr>
            <a:r>
              <a:rPr lang="en" sz="1100" b="0">
                <a:solidFill>
                  <a:srgbClr val="000000"/>
                </a:solidFill>
                <a:latin typeface="Arial"/>
                <a:ea typeface="Arial"/>
                <a:cs typeface="Arial"/>
                <a:sym typeface="Arial"/>
              </a:rPr>
              <a:t>The </a:t>
            </a:r>
            <a:r>
              <a:rPr lang="en" sz="1100" b="1">
                <a:solidFill>
                  <a:srgbClr val="188038"/>
                </a:solidFill>
                <a:latin typeface="Roboto Mono"/>
                <a:ea typeface="Roboto Mono"/>
                <a:cs typeface="Roboto Mono"/>
                <a:sym typeface="Roboto Mono"/>
              </a:rPr>
              <a:t>nlm</a:t>
            </a:r>
            <a:r>
              <a:rPr lang="en" sz="1100" b="0">
                <a:solidFill>
                  <a:srgbClr val="000000"/>
                </a:solidFill>
                <a:latin typeface="Arial"/>
                <a:ea typeface="Arial"/>
                <a:cs typeface="Arial"/>
                <a:sym typeface="Arial"/>
              </a:rPr>
              <a:t> command refers to the </a:t>
            </a:r>
            <a:r>
              <a:rPr lang="en" sz="1100" b="1">
                <a:solidFill>
                  <a:srgbClr val="000000"/>
                </a:solidFill>
                <a:latin typeface="Arial"/>
                <a:ea typeface="Arial"/>
                <a:cs typeface="Arial"/>
                <a:sym typeface="Arial"/>
              </a:rPr>
              <a:t>NotebookLM CLI</a:t>
            </a:r>
            <a:r>
              <a:rPr lang="en" sz="1100" b="0">
                <a:solidFill>
                  <a:srgbClr val="000000"/>
                </a:solidFill>
                <a:latin typeface="Arial"/>
                <a:ea typeface="Arial"/>
                <a:cs typeface="Arial"/>
                <a:sym typeface="Arial"/>
              </a:rPr>
              <a:t>, a community-driven command-line tool (often associated with the </a:t>
            </a:r>
            <a:r>
              <a:rPr lang="en" sz="1100" b="0">
                <a:solidFill>
                  <a:srgbClr val="188038"/>
                </a:solidFill>
                <a:latin typeface="Roboto Mono"/>
                <a:ea typeface="Roboto Mono"/>
                <a:cs typeface="Roboto Mono"/>
                <a:sym typeface="Roboto Mono"/>
              </a:rPr>
              <a:t>notebooklm-py</a:t>
            </a:r>
            <a:r>
              <a:rPr lang="en" sz="1100" b="0">
                <a:solidFill>
                  <a:srgbClr val="000000"/>
                </a:solidFill>
                <a:latin typeface="Arial"/>
                <a:ea typeface="Arial"/>
                <a:cs typeface="Arial"/>
                <a:sym typeface="Arial"/>
              </a:rPr>
              <a:t> or </a:t>
            </a:r>
            <a:r>
              <a:rPr lang="en" sz="1100" b="0">
                <a:solidFill>
                  <a:srgbClr val="188038"/>
                </a:solidFill>
                <a:latin typeface="Roboto Mono"/>
                <a:ea typeface="Roboto Mono"/>
                <a:cs typeface="Roboto Mono"/>
                <a:sym typeface="Roboto Mono"/>
              </a:rPr>
              <a:t>notebooklm-cli</a:t>
            </a:r>
            <a:r>
              <a:rPr lang="en" sz="1100" b="0">
                <a:solidFill>
                  <a:srgbClr val="000000"/>
                </a:solidFill>
                <a:latin typeface="Arial"/>
                <a:ea typeface="Arial"/>
                <a:cs typeface="Arial"/>
                <a:sym typeface="Arial"/>
              </a:rPr>
              <a:t> packages) designed to programmatically interact with Google’s NotebookLM.</a:t>
            </a:r>
            <a:endParaRPr sz="1100" b="0">
              <a:solidFill>
                <a:srgbClr val="000000"/>
              </a:solidFill>
              <a:latin typeface="Arial"/>
              <a:ea typeface="Arial"/>
              <a:cs typeface="Arial"/>
              <a:sym typeface="Arial"/>
            </a:endParaRPr>
          </a:p>
          <a:p>
            <a:pPr marL="0" lvl="0" indent="0" algn="l" rtl="0">
              <a:spcBef>
                <a:spcPts val="400"/>
              </a:spcBef>
              <a:spcAft>
                <a:spcPts val="0"/>
              </a:spcAft>
              <a:buNone/>
            </a:pPr>
            <a:r>
              <a:rPr lang="en" sz="1100" b="0">
                <a:solidFill>
                  <a:srgbClr val="000000"/>
                </a:solidFill>
                <a:latin typeface="Arial"/>
                <a:ea typeface="Arial"/>
                <a:cs typeface="Arial"/>
                <a:sym typeface="Arial"/>
              </a:rPr>
              <a:t>While Google provides the web interface, the </a:t>
            </a:r>
            <a:r>
              <a:rPr lang="en" sz="1100" b="0">
                <a:solidFill>
                  <a:srgbClr val="188038"/>
                </a:solidFill>
                <a:latin typeface="Roboto Mono"/>
                <a:ea typeface="Roboto Mono"/>
                <a:cs typeface="Roboto Mono"/>
                <a:sym typeface="Roboto Mono"/>
              </a:rPr>
              <a:t>nlm</a:t>
            </a:r>
            <a:r>
              <a:rPr lang="en" sz="1100" b="0">
                <a:solidFill>
                  <a:srgbClr val="000000"/>
                </a:solidFill>
                <a:latin typeface="Arial"/>
                <a:ea typeface="Arial"/>
                <a:cs typeface="Arial"/>
                <a:sym typeface="Arial"/>
              </a:rPr>
              <a:t> tool allows you to bypass the browser for research automation, bulk source management, and content export.</a:t>
            </a:r>
            <a:endParaRPr sz="1100" b="0">
              <a:solidFill>
                <a:srgbClr val="000000"/>
              </a:solidFill>
              <a:latin typeface="Arial"/>
              <a:ea typeface="Arial"/>
              <a:cs typeface="Arial"/>
              <a:sym typeface="Arial"/>
            </a:endParaRPr>
          </a:p>
          <a:p>
            <a:pPr marL="0" lvl="0" indent="0" algn="l" rtl="0">
              <a:spcBef>
                <a:spcPts val="600"/>
              </a:spcBef>
              <a:spcAft>
                <a:spcPts val="0"/>
              </a:spcAft>
              <a:buNone/>
            </a:pPr>
            <a:r>
              <a:rPr lang="en" sz="1300" b="1">
                <a:solidFill>
                  <a:srgbClr val="000000"/>
                </a:solidFill>
                <a:latin typeface="Arial"/>
                <a:ea typeface="Arial"/>
                <a:cs typeface="Arial"/>
                <a:sym typeface="Arial"/>
              </a:rPr>
              <a:t>Core Functionalities</a:t>
            </a:r>
            <a:endParaRPr sz="1100" b="0">
              <a:solidFill>
                <a:srgbClr val="000000"/>
              </a:solidFill>
              <a:latin typeface="Arial"/>
              <a:ea typeface="Arial"/>
              <a:cs typeface="Arial"/>
              <a:sym typeface="Arial"/>
            </a:endParaRPr>
          </a:p>
          <a:p>
            <a:pPr marL="0" lvl="0" indent="0" algn="l" rtl="0">
              <a:spcBef>
                <a:spcPts val="200"/>
              </a:spcBef>
              <a:spcAft>
                <a:spcPts val="0"/>
              </a:spcAft>
              <a:buNone/>
            </a:pPr>
            <a:r>
              <a:rPr lang="en" sz="1100" b="0">
                <a:solidFill>
                  <a:srgbClr val="000000"/>
                </a:solidFill>
                <a:latin typeface="Arial"/>
                <a:ea typeface="Arial"/>
                <a:cs typeface="Arial"/>
                <a:sym typeface="Arial"/>
              </a:rPr>
              <a:t>The tool essentially "unlocks" NotebookLM for developers and power users. Key capabilities include:</a:t>
            </a:r>
            <a:endParaRPr sz="1100" b="0">
              <a:solidFill>
                <a:srgbClr val="000000"/>
              </a:solidFill>
              <a:latin typeface="Arial"/>
              <a:ea typeface="Arial"/>
              <a:cs typeface="Arial"/>
              <a:sym typeface="Arial"/>
            </a:endParaRPr>
          </a:p>
          <a:p>
            <a:pPr marL="457200" lvl="0" indent="-298450" algn="l" rtl="0">
              <a:spcBef>
                <a:spcPts val="400"/>
              </a:spcBef>
              <a:spcAft>
                <a:spcPts val="0"/>
              </a:spcAft>
              <a:buClr>
                <a:srgbClr val="000000"/>
              </a:buClr>
              <a:buSzPts val="1100"/>
              <a:buFont typeface="Arial"/>
              <a:buChar char="●"/>
            </a:pPr>
            <a:r>
              <a:rPr lang="en" sz="1100" b="1">
                <a:solidFill>
                  <a:srgbClr val="000000"/>
                </a:solidFill>
                <a:latin typeface="Arial"/>
                <a:ea typeface="Arial"/>
                <a:cs typeface="Arial"/>
                <a:sym typeface="Arial"/>
              </a:rPr>
              <a:t>Authentication:</a:t>
            </a:r>
            <a:r>
              <a:rPr lang="en" sz="1100" b="0">
                <a:solidFill>
                  <a:srgbClr val="000000"/>
                </a:solidFill>
                <a:latin typeface="Arial"/>
                <a:ea typeface="Arial"/>
                <a:cs typeface="Arial"/>
                <a:sym typeface="Arial"/>
              </a:rPr>
              <a:t> Uses </a:t>
            </a:r>
            <a:r>
              <a:rPr lang="en" sz="1100" b="0">
                <a:solidFill>
                  <a:srgbClr val="188038"/>
                </a:solidFill>
                <a:latin typeface="Roboto Mono"/>
                <a:ea typeface="Roboto Mono"/>
                <a:cs typeface="Roboto Mono"/>
                <a:sym typeface="Roboto Mono"/>
              </a:rPr>
              <a:t>nlm login</a:t>
            </a:r>
            <a:r>
              <a:rPr lang="en" sz="1100" b="0">
                <a:solidFill>
                  <a:srgbClr val="000000"/>
                </a:solidFill>
                <a:latin typeface="Arial"/>
                <a:ea typeface="Arial"/>
                <a:cs typeface="Arial"/>
                <a:sym typeface="Arial"/>
              </a:rPr>
              <a:t> to synchronize your Google session (typically via a browser automation window) so the CLI can act on your behalf.</a:t>
            </a:r>
            <a:endParaRPr sz="1100" b="0">
              <a:solidFill>
                <a:srgbClr val="000000"/>
              </a:solidFill>
              <a:latin typeface="Arial"/>
              <a:ea typeface="Arial"/>
              <a:cs typeface="Arial"/>
              <a:sym typeface="Arial"/>
            </a:endParaRPr>
          </a:p>
          <a:p>
            <a:pPr marL="457200" lvl="0" indent="-298450" algn="l" rtl="0">
              <a:spcBef>
                <a:spcPts val="200"/>
              </a:spcBef>
              <a:spcAft>
                <a:spcPts val="0"/>
              </a:spcAft>
              <a:buClr>
                <a:srgbClr val="000000"/>
              </a:buClr>
              <a:buSzPts val="1100"/>
              <a:buFont typeface="Arial"/>
              <a:buChar char="●"/>
            </a:pPr>
            <a:r>
              <a:rPr lang="en" sz="1100" b="1">
                <a:solidFill>
                  <a:srgbClr val="000000"/>
                </a:solidFill>
                <a:latin typeface="Arial"/>
                <a:ea typeface="Arial"/>
                <a:cs typeface="Arial"/>
                <a:sym typeface="Arial"/>
              </a:rPr>
              <a:t>Notebook Management:</a:t>
            </a:r>
            <a:r>
              <a:rPr lang="en" sz="1100" b="0">
                <a:solidFill>
                  <a:srgbClr val="000000"/>
                </a:solidFill>
                <a:latin typeface="Arial"/>
                <a:ea typeface="Arial"/>
                <a:cs typeface="Arial"/>
                <a:sym typeface="Arial"/>
              </a:rPr>
              <a:t> Create, list, or delete notebooks without opening the web app.</a:t>
            </a:r>
            <a:endParaRPr sz="1100" b="0">
              <a:solidFill>
                <a:srgbClr val="000000"/>
              </a:solidFill>
              <a:latin typeface="Arial"/>
              <a:ea typeface="Arial"/>
              <a:cs typeface="Arial"/>
              <a:sym typeface="Arial"/>
            </a:endParaRPr>
          </a:p>
          <a:p>
            <a:pPr marL="457200" lvl="0" indent="-298450" algn="l" rtl="0">
              <a:spcBef>
                <a:spcPts val="200"/>
              </a:spcBef>
              <a:spcAft>
                <a:spcPts val="0"/>
              </a:spcAft>
              <a:buClr>
                <a:srgbClr val="000000"/>
              </a:buClr>
              <a:buSzPts val="1100"/>
              <a:buFont typeface="Arial"/>
              <a:buChar char="●"/>
            </a:pPr>
            <a:r>
              <a:rPr lang="en" sz="1100" b="1">
                <a:solidFill>
                  <a:srgbClr val="000000"/>
                </a:solidFill>
                <a:latin typeface="Arial"/>
                <a:ea typeface="Arial"/>
                <a:cs typeface="Arial"/>
                <a:sym typeface="Arial"/>
              </a:rPr>
              <a:t>Source Injection:</a:t>
            </a:r>
            <a:r>
              <a:rPr lang="en" sz="1100" b="0">
                <a:solidFill>
                  <a:srgbClr val="000000"/>
                </a:solidFill>
                <a:latin typeface="Arial"/>
                <a:ea typeface="Arial"/>
                <a:cs typeface="Arial"/>
                <a:sym typeface="Arial"/>
              </a:rPr>
              <a:t> Rapidly add sources from local files, URLs, YouTube videos, or Google Drive.</a:t>
            </a:r>
            <a:endParaRPr sz="1100" b="0">
              <a:solidFill>
                <a:srgbClr val="000000"/>
              </a:solidFill>
              <a:latin typeface="Arial"/>
              <a:ea typeface="Arial"/>
              <a:cs typeface="Arial"/>
              <a:sym typeface="Arial"/>
            </a:endParaRPr>
          </a:p>
          <a:p>
            <a:pPr marL="457200" lvl="0" indent="-298450" algn="l" rtl="0">
              <a:spcBef>
                <a:spcPts val="200"/>
              </a:spcBef>
              <a:spcAft>
                <a:spcPts val="0"/>
              </a:spcAft>
              <a:buClr>
                <a:srgbClr val="000000"/>
              </a:buClr>
              <a:buSzPts val="1100"/>
              <a:buFont typeface="Arial"/>
              <a:buChar char="●"/>
            </a:pPr>
            <a:r>
              <a:rPr lang="en" sz="1100" b="1">
                <a:solidFill>
                  <a:srgbClr val="000000"/>
                </a:solidFill>
                <a:latin typeface="Arial"/>
                <a:ea typeface="Arial"/>
                <a:cs typeface="Arial"/>
                <a:sym typeface="Arial"/>
              </a:rPr>
              <a:t>Content Generation:</a:t>
            </a:r>
            <a:r>
              <a:rPr lang="en" sz="1100" b="0">
                <a:solidFill>
                  <a:srgbClr val="000000"/>
                </a:solidFill>
                <a:latin typeface="Arial"/>
                <a:ea typeface="Arial"/>
                <a:cs typeface="Arial"/>
                <a:sym typeface="Arial"/>
              </a:rPr>
              <a:t> Trigger the creation of AI "Audio Overviews" (podcasts), FAQ documents, study guides, and briefing notes via commands.</a:t>
            </a:r>
            <a:endParaRPr sz="1100" b="0">
              <a:solidFill>
                <a:srgbClr val="000000"/>
              </a:solidFill>
              <a:latin typeface="Arial"/>
              <a:ea typeface="Arial"/>
              <a:cs typeface="Arial"/>
              <a:sym typeface="Arial"/>
            </a:endParaRPr>
          </a:p>
          <a:p>
            <a:pPr marL="457200" lvl="0" indent="-298450" algn="l" rtl="0">
              <a:spcBef>
                <a:spcPts val="200"/>
              </a:spcBef>
              <a:spcAft>
                <a:spcPts val="400"/>
              </a:spcAft>
              <a:buClr>
                <a:srgbClr val="000000"/>
              </a:buClr>
              <a:buSzPts val="1100"/>
              <a:buFont typeface="Arial"/>
              <a:buChar char="●"/>
            </a:pPr>
            <a:r>
              <a:rPr lang="en" sz="1100" b="1">
                <a:solidFill>
                  <a:srgbClr val="000000"/>
                </a:solidFill>
                <a:latin typeface="Arial"/>
                <a:ea typeface="Arial"/>
                <a:cs typeface="Arial"/>
                <a:sym typeface="Arial"/>
              </a:rPr>
              <a:t>Data Export:</a:t>
            </a:r>
            <a:r>
              <a:rPr lang="en" sz="1100" b="0">
                <a:solidFill>
                  <a:srgbClr val="000000"/>
                </a:solidFill>
                <a:latin typeface="Arial"/>
                <a:ea typeface="Arial"/>
                <a:cs typeface="Arial"/>
                <a:sym typeface="Arial"/>
              </a:rPr>
              <a:t> Exporting items like flashcards or mind maps—which are usually difficult to get out of the web UI—into structured formats like Markdown or JSON.</a:t>
            </a:r>
            <a:endParaRPr sz="1100" b="0">
              <a:solidFill>
                <a:srgbClr val="000000"/>
              </a:solidFill>
              <a:latin typeface="Arial"/>
              <a:ea typeface="Arial"/>
              <a:cs typeface="Arial"/>
              <a:sym typeface="Arial"/>
            </a:endParaRPr>
          </a:p>
        </p:txBody>
      </p:sp>
      <p:pic>
        <p:nvPicPr>
          <p:cNvPr id="136" name="Google Shape;136;p2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89250" y="248075"/>
            <a:ext cx="4205301" cy="2344900"/>
          </a:xfrm>
          <a:prstGeom prst="rect">
            <a:avLst/>
          </a:prstGeom>
          <a:noFill/>
          <a:ln>
            <a:noFill/>
          </a:ln>
        </p:spPr>
      </p:pic>
      <p:pic>
        <p:nvPicPr>
          <p:cNvPr id="137" name="Google Shape;137;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89250" y="2666525"/>
            <a:ext cx="4205299" cy="2105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1384</Words>
  <Application>Microsoft Macintosh PowerPoint</Application>
  <PresentationFormat>On-screen Show (16:9)</PresentationFormat>
  <Paragraphs>75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2026-05-15T20:10:37Z</dcterms:modified>
</cp:coreProperties>
</file>