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Roboto Mono" pitchFamily="49"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7C3AAF-07D0-4538-B6A8-3CD835180627}">
  <a:tblStyle styleId="{E17C3AAF-07D0-4538-B6A8-3CD83518062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b36cfba078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b36cfba078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216b480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9216b480c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b4312e922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b4312e922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b4312e922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b4312e9223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436fa8fb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b436fa8fb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b43f71685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b43f71685c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b415e351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b415e351d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b38315270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b38315270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b3d02312bc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b3d02312bc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b43422f56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b43422f56a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b3d02312bc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3b3d02312bc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b4312e922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b4312e9223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b43422f56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b43422f56a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b4580548ea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b4580548ea_2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b4580548ea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3b4580548ea_3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b44951937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3b449519378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b43f71685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g3b43f71685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openai.com/index/introducing-gpt-5-2" TargetMode="External"/><Relationship Id="rId39" Type="http://schemas.openxmlformats.org/officeDocument/2006/relationships/hyperlink" Target="https://platform.openai.com/docs/models/gpt-5" TargetMode="External"/><Relationship Id="rId21" Type="http://schemas.openxmlformats.org/officeDocument/2006/relationships/hyperlink" Target="https://aistudio.google.com/app/prompts/new_chat?model=gemini-3-pro-preview" TargetMode="External"/><Relationship Id="rId34" Type="http://schemas.openxmlformats.org/officeDocument/2006/relationships/hyperlink" Target="https://api-docs.deepseek.com/news/news250929"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sonnet-4-5" TargetMode="External"/><Relationship Id="rId29" Type="http://schemas.openxmlformats.org/officeDocument/2006/relationships/hyperlink" Target="https://huggingface.co/zai-org/GLM-4.7" TargetMode="External"/><Relationship Id="rId41" Type="http://schemas.openxmlformats.org/officeDocument/2006/relationships/hyperlink" Target="https://x.ai/news/grok-4-1-fas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blog.google/products/gemini/gemini-3-flash" TargetMode="External"/><Relationship Id="rId32" Type="http://schemas.openxmlformats.org/officeDocument/2006/relationships/hyperlink" Target="https://huggingface.co/meituan-longcat/LongCat-Flash-Chat" TargetMode="External"/><Relationship Id="rId37" Type="http://schemas.openxmlformats.org/officeDocument/2006/relationships/hyperlink" Target="https://openai.com/index/introducing-gpt-4-5/" TargetMode="External"/><Relationship Id="rId40" Type="http://schemas.openxmlformats.org/officeDocument/2006/relationships/hyperlink" Target="https://openai.com/index/introducing-o3-and-o4-mini/"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x.ai/news/grok-4-1" TargetMode="External"/><Relationship Id="rId28" Type="http://schemas.openxmlformats.org/officeDocument/2006/relationships/hyperlink" Target="https://huggingface.co/moonshotai/Kimi-K2-Thinking" TargetMode="External"/><Relationship Id="rId36" Type="http://schemas.openxmlformats.org/officeDocument/2006/relationships/hyperlink" Target="https://ernie.baidu.com/blog/posts/ernie-5.0-preview-1203-release-on-lmarena/"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5" TargetMode="External"/><Relationship Id="rId31" Type="http://schemas.openxmlformats.org/officeDocument/2006/relationships/hyperlink" Target="https://qwen.ai/blog?id=241398b9cd6353de490b0f82806c7848c5d2777d&amp;from=research.latest-advancements-list"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1" TargetMode="External"/><Relationship Id="rId27" Type="http://schemas.openxmlformats.org/officeDocument/2006/relationships/hyperlink" Target="https://openai.com/index/gpt-5-1/" TargetMode="External"/><Relationship Id="rId30" Type="http://schemas.openxmlformats.org/officeDocument/2006/relationships/hyperlink" Target="https://www.alibabacloud.com/help/en/model-studio/models" TargetMode="External"/><Relationship Id="rId35" Type="http://schemas.openxmlformats.org/officeDocument/2006/relationships/hyperlink" Target="https://aistudio.google.com/app/prompts/new_chat?model=gemini-2.5-pro"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4" TargetMode="External"/><Relationship Id="rId33" Type="http://schemas.openxmlformats.org/officeDocument/2006/relationships/hyperlink" Target="https://www.anthropic.com/news/claude-haiku-4-5" TargetMode="External"/><Relationship Id="rId38" Type="http://schemas.openxmlformats.org/officeDocument/2006/relationships/hyperlink" Target="https://x.com/OpenAI/status/1905331956856050135"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wsj.com/tech/ai/meta-buys-ai-startup-manus-adding-millions-of-paying-users-f1dc7ef8"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finance.yahoo.com/news/meta-acquire-manus-2-billion-101807601.html" TargetMode="External"/><Relationship Id="rId4" Type="http://schemas.openxmlformats.org/officeDocument/2006/relationships/hyperlink" Target="https://abcnews.go.com/Technology/wireStory/meta-buys-startup-manus-latest-move-advance-artificial-128783025"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x.com/karpathy/status/200460714678127852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youtube.com/watch?v=pwmK46hhfwg" TargetMode="External"/><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512.10942"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qwen.ai/blog?id=qwen-image-2512" TargetMode="External"/><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aiarena.alibaba-inc.com/corpora/arena/leaderboard?arenaType=T2I" TargetMode="External"/><Relationship Id="rId4" Type="http://schemas.openxmlformats.org/officeDocument/2006/relationships/hyperlink" Target="https://huggingface.co/spaces/Qwen/Qwen-Image-2512" TargetMode="External"/><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hyperlink" Target="https://huggingface.co/LiquidAI/LFM2-2.6B-Ex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hyperlink" Target="https://www.liquid.ai"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decidr.ai/us/blog/ai-agents-vs-llms-what-s-the-difference-and-why-it-matters-for-busines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hyperlink" Target="https://clonerobotics.com/android"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www.youtube.com/watch?v=E1theCfcFsA"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y2yuWf6WFFc"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andonlabs.com/evals/vending-bench-2" TargetMode="External"/><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s://seldonlab.com" TargetMode="External"/><Relationship Id="rId4" Type="http://schemas.openxmlformats.org/officeDocument/2006/relationships/hyperlink" Target="https://andonlabs.com/evals/radio"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www.youtube.com/watch?v=MdzLhWWoxEs" TargetMode="External"/><Relationship Id="rId3" Type="http://schemas.openxmlformats.org/officeDocument/2006/relationships/hyperlink" Target="https://stormmcp.ai/apps" TargetMode="External"/><Relationship Id="rId7" Type="http://schemas.openxmlformats.org/officeDocument/2006/relationships/hyperlink" Target="https://github.com/frdel/agent-zero"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agent-zero.ai" TargetMode="External"/><Relationship Id="rId5" Type="http://schemas.openxmlformats.org/officeDocument/2006/relationships/image" Target="../media/image25.png"/><Relationship Id="rId4" Type="http://schemas.openxmlformats.org/officeDocument/2006/relationships/hyperlink" Target="https://www.youtube.com/watch?v=vkQkQmvDz1M" TargetMode="External"/><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hyperlink" Target="https://developers.googleblog.com/introducing-a2ui-an-open-project-for-agent-driven-interfaces/" TargetMode="External"/><Relationship Id="rId13" Type="http://schemas.openxmlformats.org/officeDocument/2006/relationships/image" Target="../media/image28.png"/><Relationship Id="rId3" Type="http://schemas.openxmlformats.org/officeDocument/2006/relationships/hyperlink" Target="https://www.youtube.com/watch?v=X0ecbCwSr10" TargetMode="External"/><Relationship Id="rId7" Type="http://schemas.openxmlformats.org/officeDocument/2006/relationships/hyperlink" Target="https://docs.copilotkit.ai/whats-new/a2ui-launch" TargetMode="External"/><Relationship Id="rId12"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copilotkit.ai/blog/build-with-googles-new-a2ui-spec-agent-user-interfaces-with-a2ui-ag-ui" TargetMode="External"/><Relationship Id="rId11" Type="http://schemas.openxmlformats.org/officeDocument/2006/relationships/hyperlink" Target="https://docs.ag-ui.com" TargetMode="External"/><Relationship Id="rId5" Type="http://schemas.openxmlformats.org/officeDocument/2006/relationships/hyperlink" Target="https://github.com/google/A2UI" TargetMode="External"/><Relationship Id="rId10" Type="http://schemas.openxmlformats.org/officeDocument/2006/relationships/hyperlink" Target="https://jimmysong.io/ai/a2ui/" TargetMode="External"/><Relationship Id="rId4" Type="http://schemas.openxmlformats.org/officeDocument/2006/relationships/hyperlink" Target="https://www.youtube.com/watch?v=FTtmZQBX-fk" TargetMode="External"/><Relationship Id="rId9" Type="http://schemas.openxmlformats.org/officeDocument/2006/relationships/hyperlink" Target="https://docs.copilotkit.ai/generative-ui-specs/a2ui"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Tongyi-MAI/MAI-UI"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hyperlink" Target="https://www.marktechpost.com/2025/12/30/alibaba-tongyi-lab-releases-mai-ui-a-foundation-gui-agent-family-that-surpasses-gemini-2-5-pro-seed1-8-and-ui-tars-2-on-androidworld/"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arxiv.org/pdf/2512.22737v1" TargetMode="External"/><Relationship Id="rId7" Type="http://schemas.openxmlformats.org/officeDocument/2006/relationships/hyperlink" Target="https://huggingface.co/tencent/WeDLM-7B-Base"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huggingface.co/tencent/WeDLM-8B-Instruct" TargetMode="External"/><Relationship Id="rId5" Type="http://schemas.openxmlformats.org/officeDocument/2006/relationships/hyperlink" Target="https://github.com/Tencent/WeDLM" TargetMode="External"/><Relationship Id="rId4" Type="http://schemas.openxmlformats.org/officeDocument/2006/relationships/hyperlink" Target="https://wedlm.github.io"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huggingface.co/IQuestLab/IQuest-Coder-V1-40B-Instruct" TargetMode="External"/><Relationship Id="rId7"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iquestlab.github.io" TargetMode="External"/><Relationship Id="rId5" Type="http://schemas.openxmlformats.org/officeDocument/2006/relationships/hyperlink" Target="https://www.youtube.com/watch?v=sihYcXADfNI" TargetMode="External"/><Relationship Id="rId4" Type="http://schemas.openxmlformats.org/officeDocument/2006/relationships/hyperlink" Target="https://x.com/NainaChaturved8/status/2006811314866606532"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Yl_GGlAQ4Gc" TargetMode="External"/><Relationship Id="rId7"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ghuntley.com/ralph/" TargetMode="External"/><Relationship Id="rId5" Type="http://schemas.openxmlformats.org/officeDocument/2006/relationships/hyperlink" Target="https://awesomeclaude.ai/ralph-wiggum" TargetMode="External"/><Relationship Id="rId4" Type="http://schemas.openxmlformats.org/officeDocument/2006/relationships/hyperlink" Target="https://github.com/anthropics/claude-code/tree/main/plugins/ralph-wiggu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hyperlink" Target="https://trueup.io/layoff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801555"/>
            <a:ext cx="44202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Meta acquired Manus for $2 Billion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Andrej Karpathy posted on X</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Mathew Berman - How Coding Is Done Today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VL-JEPA</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Jan 02,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58786" y="4234103"/>
            <a:ext cx="45024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263690"/>
            <a:ext cx="4420200" cy="2235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Qwen-Image-2512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Liquid LFM2-2.6B-Exp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LLM vs AI agent companies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Clone Robotics ProtoClone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The End of Google’s Search Monopoly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Grok 5 is planned to be released in Q1 of 2026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Running Business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Storm MCP - open-source MCP gateway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Agent Zero (A0) open-source personal assistant</a:t>
            </a:r>
            <a:endParaRPr sz="1600" b="1">
              <a:solidFill>
                <a:srgbClr val="3C78D8"/>
              </a:solidFill>
              <a:latin typeface="Calibri"/>
              <a:ea typeface="Calibri"/>
              <a:cs typeface="Calibri"/>
              <a:sym typeface="Calibri"/>
            </a:endParaRPr>
          </a:p>
        </p:txBody>
      </p:sp>
      <p:sp>
        <p:nvSpPr>
          <p:cNvPr id="67" name="Google Shape;67;p15"/>
          <p:cNvSpPr txBox="1"/>
          <p:nvPr/>
        </p:nvSpPr>
        <p:spPr>
          <a:xfrm>
            <a:off x="4558786" y="2664377"/>
            <a:ext cx="4502400" cy="14961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Gems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A2UI: Agent-to-User Interface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Alibaba Tongyi Lab released MAI-UI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Tencent WeDLM Fast Diffusion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IQuest-Coder-V1 Open Source LLMs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Ralph Loop plugin for Claude Code</a:t>
            </a:r>
            <a:endParaRPr sz="1600" b="1">
              <a:solidFill>
                <a:srgbClr val="3C78D8"/>
              </a:solidFill>
              <a:latin typeface="Calibri"/>
              <a:ea typeface="Calibri"/>
              <a:cs typeface="Calibri"/>
              <a:sym typeface="Calibri"/>
            </a:endParaRPr>
          </a:p>
        </p:txBody>
      </p:sp>
      <p:sp>
        <p:nvSpPr>
          <p:cNvPr id="68" name="Google Shape;68;p15"/>
          <p:cNvSpPr txBox="1"/>
          <p:nvPr/>
        </p:nvSpPr>
        <p:spPr>
          <a:xfrm>
            <a:off x="4599875" y="118900"/>
            <a:ext cx="4420200" cy="5109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"It is more than okay to ship code that you haven't read line by line"</a:t>
            </a:r>
            <a:endParaRPr sz="1600" b="1" i="1">
              <a:solidFill>
                <a:srgbClr val="FF0000"/>
              </a:solidFill>
              <a:latin typeface="Roboto Mono"/>
              <a:ea typeface="Roboto Mono"/>
              <a:cs typeface="Roboto Mono"/>
              <a:sym typeface="Roboto Mono"/>
            </a:endParaRPr>
          </a:p>
        </p:txBody>
      </p:sp>
      <p:sp>
        <p:nvSpPr>
          <p:cNvPr id="69" name="Google Shape;69;p15"/>
          <p:cNvSpPr txBox="1"/>
          <p:nvPr/>
        </p:nvSpPr>
        <p:spPr>
          <a:xfrm>
            <a:off x="4599875" y="678400"/>
            <a:ext cx="4420200" cy="1742400"/>
          </a:xfrm>
          <a:prstGeom prst="rect">
            <a:avLst/>
          </a:prstGeom>
          <a:noFill/>
          <a:ln>
            <a:noFill/>
          </a:ln>
        </p:spPr>
        <p:txBody>
          <a:bodyPr spcFirstLastPara="1" wrap="square" lIns="9125" tIns="9125" rIns="9125" bIns="9125" anchor="t" anchorCtr="0">
            <a:spAutoFit/>
          </a:bodyPr>
          <a:lstStyle/>
          <a:p>
            <a:pPr marL="171450" marR="0" lvl="0" indent="-158750" algn="l" rtl="0">
              <a:lnSpc>
                <a:spcPct val="100000"/>
              </a:lnSpc>
              <a:spcBef>
                <a:spcPts val="0"/>
              </a:spcBef>
              <a:spcAft>
                <a:spcPts val="0"/>
              </a:spcAft>
              <a:buClr>
                <a:srgbClr val="3C78D8"/>
              </a:buClr>
              <a:buSzPts val="1600"/>
              <a:buFont typeface="Roboto Mono"/>
              <a:buChar char="●"/>
            </a:pPr>
            <a:r>
              <a:rPr lang="en" sz="1600" b="1" i="1">
                <a:solidFill>
                  <a:srgbClr val="3C78D8"/>
                </a:solidFill>
                <a:latin typeface="Roboto Mono"/>
                <a:ea typeface="Roboto Mono"/>
                <a:cs typeface="Roboto Mono"/>
                <a:sym typeface="Roboto Mono"/>
              </a:rPr>
              <a:t>"Slop" refers to low-quality AI-generated content that appears polished but lacks depth, accuracy, or meaningful value. </a:t>
            </a:r>
            <a:endParaRPr sz="1600" b="1" i="1">
              <a:solidFill>
                <a:srgbClr val="3C78D8"/>
              </a:solidFill>
              <a:latin typeface="Roboto Mono"/>
              <a:ea typeface="Roboto Mono"/>
              <a:cs typeface="Roboto Mono"/>
              <a:sym typeface="Roboto Mono"/>
            </a:endParaRPr>
          </a:p>
          <a:p>
            <a:pPr marL="171450" marR="0" lvl="0" indent="-158750" algn="l" rtl="0">
              <a:lnSpc>
                <a:spcPct val="100000"/>
              </a:lnSpc>
              <a:spcBef>
                <a:spcPts val="0"/>
              </a:spcBef>
              <a:spcAft>
                <a:spcPts val="0"/>
              </a:spcAft>
              <a:buClr>
                <a:srgbClr val="3C78D8"/>
              </a:buClr>
              <a:buSzPts val="1600"/>
              <a:buFont typeface="Roboto Mono"/>
              <a:buChar char="●"/>
            </a:pPr>
            <a:r>
              <a:rPr lang="en" sz="1600" b="1" i="1">
                <a:solidFill>
                  <a:srgbClr val="3C78D8"/>
                </a:solidFill>
                <a:latin typeface="Roboto Mono"/>
                <a:ea typeface="Roboto Mono"/>
                <a:cs typeface="Roboto Mono"/>
                <a:sym typeface="Roboto Mono"/>
              </a:rPr>
              <a:t>The term became so widely used that Merriam-Webster named it the 2025 Word of the Year.</a:t>
            </a:r>
            <a:endParaRPr sz="1600" b="1" i="1">
              <a:solidFill>
                <a:srgbClr val="3C78D8"/>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5" name="Google Shape;75;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6" name="Google Shape;76;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7" name="Google Shape;77;p16"/>
          <p:cNvSpPr txBox="1"/>
          <p:nvPr/>
        </p:nvSpPr>
        <p:spPr>
          <a:xfrm>
            <a:off x="351315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8" name="Google Shape;78;p16"/>
          <p:cNvSpPr/>
          <p:nvPr/>
        </p:nvSpPr>
        <p:spPr>
          <a:xfrm>
            <a:off x="605693"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txBox="1"/>
          <p:nvPr/>
        </p:nvSpPr>
        <p:spPr>
          <a:xfrm>
            <a:off x="6352650" y="1703475"/>
            <a:ext cx="2599800" cy="322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0" name="Google Shape;80;p16"/>
          <p:cNvSpPr/>
          <p:nvPr/>
        </p:nvSpPr>
        <p:spPr>
          <a:xfrm>
            <a:off x="3751244"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609666" y="203630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603081" y="14928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3748244"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txBox="1"/>
          <p:nvPr/>
        </p:nvSpPr>
        <p:spPr>
          <a:xfrm>
            <a:off x="460065" y="474713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5" name="Google Shape;85;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December 30</a:t>
            </a:r>
            <a:endParaRPr sz="1000">
              <a:solidFill>
                <a:schemeClr val="dk1"/>
              </a:solidFill>
              <a:latin typeface="Calibri"/>
              <a:ea typeface="Calibri"/>
              <a:cs typeface="Calibri"/>
              <a:sym typeface="Calibri"/>
            </a:endParaRPr>
          </a:p>
        </p:txBody>
      </p:sp>
      <p:sp>
        <p:nvSpPr>
          <p:cNvPr id="86" name="Google Shape;86;p16"/>
          <p:cNvSpPr/>
          <p:nvPr/>
        </p:nvSpPr>
        <p:spPr>
          <a:xfrm>
            <a:off x="3750579" y="130802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466409" y="43883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p:nvPr/>
        </p:nvSpPr>
        <p:spPr>
          <a:xfrm>
            <a:off x="3757278" y="43967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p:nvPr/>
        </p:nvSpPr>
        <p:spPr>
          <a:xfrm>
            <a:off x="3748357" y="11464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6"/>
          <p:cNvSpPr txBox="1"/>
          <p:nvPr/>
        </p:nvSpPr>
        <p:spPr>
          <a:xfrm flipH="1">
            <a:off x="3679393" y="166720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1" name="Google Shape;91;p16"/>
          <p:cNvSpPr txBox="1"/>
          <p:nvPr/>
        </p:nvSpPr>
        <p:spPr>
          <a:xfrm flipH="1">
            <a:off x="3691285" y="293197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2" name="Google Shape;92;p16"/>
          <p:cNvSpPr/>
          <p:nvPr/>
        </p:nvSpPr>
        <p:spPr>
          <a:xfrm>
            <a:off x="3750579" y="1489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p:nvPr/>
        </p:nvSpPr>
        <p:spPr>
          <a:xfrm>
            <a:off x="3750579" y="204008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p:nvPr/>
        </p:nvSpPr>
        <p:spPr>
          <a:xfrm>
            <a:off x="613313" y="186768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flipH="1">
            <a:off x="539953" y="112592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6" name="Google Shape;96;p16"/>
          <p:cNvSpPr txBox="1"/>
          <p:nvPr/>
        </p:nvSpPr>
        <p:spPr>
          <a:xfrm flipH="1">
            <a:off x="547573" y="4925939"/>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7" name="Google Shape;97;p16"/>
          <p:cNvSpPr/>
          <p:nvPr/>
        </p:nvSpPr>
        <p:spPr>
          <a:xfrm>
            <a:off x="609673" y="330297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3754343" y="4930031"/>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txBox="1"/>
          <p:nvPr/>
        </p:nvSpPr>
        <p:spPr>
          <a:xfrm flipH="1">
            <a:off x="544177" y="167169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0" name="Google Shape;100;p16"/>
          <p:cNvSpPr/>
          <p:nvPr/>
        </p:nvSpPr>
        <p:spPr>
          <a:xfrm>
            <a:off x="603081"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p:nvPr/>
        </p:nvSpPr>
        <p:spPr>
          <a:xfrm>
            <a:off x="611444" y="25762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3750579" y="22179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3751782" y="312554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txBox="1"/>
          <p:nvPr/>
        </p:nvSpPr>
        <p:spPr>
          <a:xfrm>
            <a:off x="3466409" y="347545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5" name="Google Shape;105;p16"/>
          <p:cNvSpPr/>
          <p:nvPr/>
        </p:nvSpPr>
        <p:spPr>
          <a:xfrm>
            <a:off x="3757278" y="348384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txBox="1"/>
          <p:nvPr/>
        </p:nvSpPr>
        <p:spPr>
          <a:xfrm>
            <a:off x="3595949" y="420082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7" name="Google Shape;107;p16"/>
          <p:cNvSpPr/>
          <p:nvPr/>
        </p:nvSpPr>
        <p:spPr>
          <a:xfrm>
            <a:off x="6718499" y="65061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6718499" y="85567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6718499" y="1060731"/>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p:nvPr/>
        </p:nvSpPr>
        <p:spPr>
          <a:xfrm>
            <a:off x="6718499" y="126578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txBox="1"/>
          <p:nvPr/>
        </p:nvSpPr>
        <p:spPr>
          <a:xfrm>
            <a:off x="6898625" y="608901"/>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12" name="Google Shape;112;p16"/>
          <p:cNvSpPr txBox="1"/>
          <p:nvPr/>
        </p:nvSpPr>
        <p:spPr>
          <a:xfrm>
            <a:off x="6895175" y="813958"/>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13" name="Google Shape;113;p16"/>
          <p:cNvSpPr txBox="1"/>
          <p:nvPr/>
        </p:nvSpPr>
        <p:spPr>
          <a:xfrm>
            <a:off x="6901750" y="1019015"/>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14" name="Google Shape;114;p16"/>
          <p:cNvSpPr txBox="1"/>
          <p:nvPr/>
        </p:nvSpPr>
        <p:spPr>
          <a:xfrm>
            <a:off x="6903075" y="1224073"/>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15" name="Google Shape;115;p16"/>
          <p:cNvSpPr/>
          <p:nvPr/>
        </p:nvSpPr>
        <p:spPr>
          <a:xfrm>
            <a:off x="605693" y="9563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6"/>
          <p:cNvSpPr/>
          <p:nvPr/>
        </p:nvSpPr>
        <p:spPr>
          <a:xfrm>
            <a:off x="61144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603824" y="34906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609673" y="36718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609673" y="3854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3748357" y="18678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p:nvPr/>
        </p:nvSpPr>
        <p:spPr>
          <a:xfrm>
            <a:off x="3750579" y="257609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txBox="1"/>
          <p:nvPr/>
        </p:nvSpPr>
        <p:spPr>
          <a:xfrm>
            <a:off x="3602289" y="384541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3" name="Google Shape;123;p16"/>
          <p:cNvSpPr/>
          <p:nvPr/>
        </p:nvSpPr>
        <p:spPr>
          <a:xfrm>
            <a:off x="3750579" y="45750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txBox="1"/>
          <p:nvPr/>
        </p:nvSpPr>
        <p:spPr>
          <a:xfrm>
            <a:off x="456671" y="275315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5" name="Google Shape;125;p16"/>
          <p:cNvSpPr/>
          <p:nvPr/>
        </p:nvSpPr>
        <p:spPr>
          <a:xfrm>
            <a:off x="609673" y="312771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p:nvPr/>
        </p:nvSpPr>
        <p:spPr>
          <a:xfrm>
            <a:off x="609673" y="42052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p:nvPr/>
        </p:nvSpPr>
        <p:spPr>
          <a:xfrm>
            <a:off x="3751782" y="276486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28" name="Google Shape;128;p16"/>
          <p:cNvGraphicFramePr/>
          <p:nvPr>
            <p:extLst>
              <p:ext uri="{D42A27DB-BD31-4B8C-83A1-F6EECF244321}">
                <p14:modId xmlns:p14="http://schemas.microsoft.com/office/powerpoint/2010/main" val="1937683911"/>
              </p:ext>
            </p:extLst>
          </p:nvPr>
        </p:nvGraphicFramePr>
        <p:xfrm>
          <a:off x="3886450" y="561054"/>
          <a:ext cx="2454734" cy="4490500"/>
        </p:xfrm>
        <a:graphic>
          <a:graphicData uri="http://schemas.openxmlformats.org/drawingml/2006/table">
            <a:tbl>
              <a:tblPr>
                <a:noFill/>
                <a:tableStyleId>{E17C3AAF-07D0-4538-B6A8-3CD835180627}</a:tableStyleId>
              </a:tblPr>
              <a:tblGrid>
                <a:gridCol w="2004699">
                  <a:extLst>
                    <a:ext uri="{9D8B030D-6E8A-4147-A177-3AD203B41FA5}">
                      <a16:colId xmlns:a16="http://schemas.microsoft.com/office/drawing/2014/main" val="20000"/>
                    </a:ext>
                  </a:extLst>
                </a:gridCol>
                <a:gridCol w="450035">
                  <a:extLst>
                    <a:ext uri="{9D8B030D-6E8A-4147-A177-3AD203B41FA5}">
                      <a16:colId xmlns:a16="http://schemas.microsoft.com/office/drawing/2014/main" val="20001"/>
                    </a:ext>
                  </a:extLst>
                </a:gridCol>
              </a:tblGrid>
              <a:tr h="17962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29" name="Google Shape;129;p16"/>
          <p:cNvGraphicFramePr/>
          <p:nvPr>
            <p:extLst>
              <p:ext uri="{D42A27DB-BD31-4B8C-83A1-F6EECF244321}">
                <p14:modId xmlns:p14="http://schemas.microsoft.com/office/powerpoint/2010/main" val="669755967"/>
              </p:ext>
            </p:extLst>
          </p:nvPr>
        </p:nvGraphicFramePr>
        <p:xfrm>
          <a:off x="748700" y="564934"/>
          <a:ext cx="2454734" cy="4490500"/>
        </p:xfrm>
        <a:graphic>
          <a:graphicData uri="http://schemas.openxmlformats.org/drawingml/2006/table">
            <a:tbl>
              <a:tblPr>
                <a:noFill/>
                <a:tableStyleId>{E17C3AAF-07D0-4538-B6A8-3CD835180627}</a:tableStyleId>
              </a:tblPr>
              <a:tblGrid>
                <a:gridCol w="2004699">
                  <a:extLst>
                    <a:ext uri="{9D8B030D-6E8A-4147-A177-3AD203B41FA5}">
                      <a16:colId xmlns:a16="http://schemas.microsoft.com/office/drawing/2014/main" val="20000"/>
                    </a:ext>
                  </a:extLst>
                </a:gridCol>
                <a:gridCol w="450035">
                  <a:extLst>
                    <a:ext uri="{9D8B030D-6E8A-4147-A177-3AD203B41FA5}">
                      <a16:colId xmlns:a16="http://schemas.microsoft.com/office/drawing/2014/main" val="20001"/>
                    </a:ext>
                  </a:extLst>
                </a:gridCol>
              </a:tblGrid>
              <a:tr h="17962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ernie-5.0-preview-1203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962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1">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dirty="0">
                          <a:solidFill>
                            <a:srgbClr val="636879"/>
                          </a:solidFill>
                          <a:latin typeface="Calibri"/>
                          <a:ea typeface="Calibri"/>
                          <a:cs typeface="Calibri"/>
                          <a:sym typeface="Calibri"/>
                        </a:rPr>
                        <a:t>1431</a:t>
                      </a:r>
                      <a:endParaRPr sz="800" dirty="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30" name="Google Shape;130;p16"/>
          <p:cNvSpPr/>
          <p:nvPr/>
        </p:nvSpPr>
        <p:spPr>
          <a:xfrm>
            <a:off x="613313" y="221820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p:nvPr/>
        </p:nvSpPr>
        <p:spPr>
          <a:xfrm>
            <a:off x="603824" y="29420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6"/>
          <p:cNvSpPr txBox="1"/>
          <p:nvPr/>
        </p:nvSpPr>
        <p:spPr>
          <a:xfrm>
            <a:off x="311891" y="403090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3" name="Google Shape;133;p16"/>
          <p:cNvSpPr/>
          <p:nvPr/>
        </p:nvSpPr>
        <p:spPr>
          <a:xfrm>
            <a:off x="611157" y="403815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p:nvPr/>
        </p:nvSpPr>
        <p:spPr>
          <a:xfrm>
            <a:off x="609673" y="43881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609673" y="45710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p:nvPr/>
        </p:nvSpPr>
        <p:spPr>
          <a:xfrm>
            <a:off x="3748357" y="24012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6"/>
          <p:cNvSpPr txBox="1"/>
          <p:nvPr/>
        </p:nvSpPr>
        <p:spPr>
          <a:xfrm>
            <a:off x="3466409" y="365071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8" name="Google Shape;138;p16"/>
          <p:cNvSpPr/>
          <p:nvPr/>
        </p:nvSpPr>
        <p:spPr>
          <a:xfrm>
            <a:off x="3757278" y="365910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6"/>
          <p:cNvSpPr/>
          <p:nvPr/>
        </p:nvSpPr>
        <p:spPr>
          <a:xfrm>
            <a:off x="3751782" y="33084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a:off x="3466409" y="474647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1" name="Google Shape;141;p16"/>
          <p:cNvSpPr/>
          <p:nvPr/>
        </p:nvSpPr>
        <p:spPr>
          <a:xfrm>
            <a:off x="3757278" y="47548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6"/>
          <p:cNvSpPr/>
          <p:nvPr/>
        </p:nvSpPr>
        <p:spPr>
          <a:xfrm>
            <a:off x="3751782" y="40323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7"/>
          <p:cNvSpPr txBox="1"/>
          <p:nvPr/>
        </p:nvSpPr>
        <p:spPr>
          <a:xfrm>
            <a:off x="55075" y="20375"/>
            <a:ext cx="4442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Meta acquired Manus for $2 Billion</a:t>
            </a:r>
            <a:endParaRPr sz="2000" b="1" i="0" u="none" strike="noStrike" cap="none">
              <a:solidFill>
                <a:schemeClr val="dk1"/>
              </a:solidFill>
              <a:latin typeface="Calibri"/>
              <a:ea typeface="Calibri"/>
              <a:cs typeface="Calibri"/>
              <a:sym typeface="Calibri"/>
            </a:endParaRPr>
          </a:p>
        </p:txBody>
      </p:sp>
      <p:sp>
        <p:nvSpPr>
          <p:cNvPr id="148" name="Google Shape;148;p17"/>
          <p:cNvSpPr txBox="1"/>
          <p:nvPr/>
        </p:nvSpPr>
        <p:spPr>
          <a:xfrm>
            <a:off x="137950" y="580675"/>
            <a:ext cx="53484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Meta acquired Manus for $2Billion</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Manus is, a Singapore-based AI startup with Chinese roots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Manus launched its first "general-purpose" AI agent earlier in 2025, offering paid subscription services for research, coding, and other tasks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startup achieved impressive growth, reaching an ARR (Annual Revenue Run Rate) exceeding $125 Million within just eight months of launch, with millions of paying users worldwide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Manus originated as a project from the Chinese startup Butterfly Effect (also known as Monica.Im) before becoming an independent entity</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Meta plans to integrate Manus's agent technology across its consumer and business products, including Meta AI, WhatsApp, Facebook, and Instagram</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Meta will continue selling and operating the Manus subscription service through its own app and website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As part of the transaction, Meta bought out all existing investors, including major Chinese backers such as Tencent Holdings, ZhenFund, and HSG. Meta confirmed there will be "no continuing Chinese ownership interests in Manus AI" following the acquisition, and the platform will discontinue its services and operations in China</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Manus will continue operating from Singapore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3"/>
              </a:rPr>
              <a:t>https://www.wsj.com/tech/ai/meta-buys-ai-startup-manus-adding-millions-of-paying-users-f1dc7ef8</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4"/>
              </a:rPr>
              <a:t>https://abcnews.go.com/Technology/wireStory/meta-buys-startup-manus-latest-move-advance-artificial-128783025</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5"/>
              </a:rPr>
              <a:t>https://finance.yahoo.com/news/meta-acquire-manus-2-billion-101807601.html</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49" name="Google Shape;149;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137825" y="989000"/>
            <a:ext cx="2449775" cy="1109925"/>
          </a:xfrm>
          <a:prstGeom prst="rect">
            <a:avLst/>
          </a:prstGeom>
          <a:noFill/>
          <a:ln w="9525" cap="flat" cmpd="sng">
            <a:solidFill>
              <a:srgbClr val="FF0000"/>
            </a:solidFill>
            <a:prstDash val="solid"/>
            <a:round/>
            <a:headEnd type="none" w="sm" len="sm"/>
            <a:tailEnd type="none" w="sm" len="sm"/>
          </a:ln>
        </p:spPr>
      </p:pic>
      <p:pic>
        <p:nvPicPr>
          <p:cNvPr id="150" name="Google Shape;150;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21800" y="2636875"/>
            <a:ext cx="3382000" cy="1532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p:nvPr/>
        </p:nvSpPr>
        <p:spPr>
          <a:xfrm>
            <a:off x="55075" y="43024"/>
            <a:ext cx="334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Andrej Karpathy posted on X</a:t>
            </a:r>
            <a:endParaRPr sz="2000" b="1" i="0" u="none" strike="noStrike" cap="none">
              <a:solidFill>
                <a:schemeClr val="dk1"/>
              </a:solidFill>
              <a:latin typeface="Calibri"/>
              <a:ea typeface="Calibri"/>
              <a:cs typeface="Calibri"/>
              <a:sym typeface="Calibri"/>
            </a:endParaRPr>
          </a:p>
        </p:txBody>
      </p:sp>
      <p:sp>
        <p:nvSpPr>
          <p:cNvPr id="156" name="Google Shape;156;p18"/>
          <p:cNvSpPr txBox="1"/>
          <p:nvPr/>
        </p:nvSpPr>
        <p:spPr>
          <a:xfrm>
            <a:off x="55075" y="580675"/>
            <a:ext cx="4465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b="1">
                <a:solidFill>
                  <a:srgbClr val="FF0000"/>
                </a:solidFill>
                <a:latin typeface="Calibri"/>
                <a:ea typeface="Calibri"/>
                <a:cs typeface="Calibri"/>
                <a:sym typeface="Calibri"/>
              </a:rPr>
              <a:t>Andrej Karpathy posted on X</a:t>
            </a:r>
            <a:r>
              <a:rPr lang="en" sz="1200">
                <a:latin typeface="Calibri"/>
                <a:ea typeface="Calibri"/>
                <a:cs typeface="Calibri"/>
                <a:sym typeface="Calibri"/>
              </a:rPr>
              <a:t> (formerly Twitter) Dec 26,2025:</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3"/>
              </a:rPr>
              <a:t>https://x.com/karpathy/status/2004607146781278521</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b="1">
                <a:solidFill>
                  <a:srgbClr val="FF0000"/>
                </a:solidFill>
                <a:latin typeface="Calibri"/>
                <a:ea typeface="Calibri"/>
                <a:cs typeface="Calibri"/>
                <a:sym typeface="Calibri"/>
              </a:rPr>
              <a:t>Post received more than 15.8 Million views</a:t>
            </a:r>
            <a:br>
              <a:rPr lang="en" sz="1200">
                <a:latin typeface="Calibri"/>
                <a:ea typeface="Calibri"/>
                <a:cs typeface="Calibri"/>
                <a:sym typeface="Calibri"/>
              </a:rPr>
            </a:b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t>
            </a:r>
            <a:r>
              <a:rPr lang="en" sz="1200" b="1">
                <a:solidFill>
                  <a:srgbClr val="FF0000"/>
                </a:solidFill>
                <a:latin typeface="Calibri"/>
                <a:ea typeface="Calibri"/>
                <a:cs typeface="Calibri"/>
                <a:sym typeface="Calibri"/>
              </a:rPr>
              <a:t>I've never felt this much behind as a programmer</a:t>
            </a:r>
            <a:r>
              <a:rPr lang="en" sz="1200">
                <a:solidFill>
                  <a:srgbClr val="3C78D8"/>
                </a:solidFill>
                <a:latin typeface="Calibri"/>
                <a:ea typeface="Calibri"/>
                <a:cs typeface="Calibri"/>
                <a:sym typeface="Calibri"/>
              </a:rPr>
              <a:t>. The profession is being dramatically refactored as the bits contributed by the programmer are increasingly sparse and between. I have a sense that I could be 10X more powerful if I just properly string together what has become available over the last ~year and a failure to claim the boost feels decidedly like skill issue. </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There's a new programmable layer of abstraction to master (in addition to the usual layers below) involving agents, subagents, their prompts, contexts, memory, modes, permissions, tools, plugins, skills, hooks, MCP, LSP, slash commands, workflows, IDE integrations, and a need to build an all-encompassing mental model for strengths and pitfalls of fundamentally stochastic, fallible, unintelligible and changing entities suddenly intermingled with what used to be good old fashioned engineering. </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Clearly some powerful alien tool was handed around except it comes with no manual and everyone has to figure out how to hold it and operate it, while the resulting magnitude 9 earthquake is rocking the profession. Roll up your sleeves to not fall behind."""</a:t>
            </a:r>
            <a:endParaRPr sz="1200">
              <a:solidFill>
                <a:srgbClr val="3C78D8"/>
              </a:solidFill>
              <a:latin typeface="Calibri"/>
              <a:ea typeface="Calibri"/>
              <a:cs typeface="Calibri"/>
              <a:sym typeface="Calibri"/>
            </a:endParaRPr>
          </a:p>
        </p:txBody>
      </p:sp>
      <p:pic>
        <p:nvPicPr>
          <p:cNvPr id="157" name="Google Shape;157;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2675" y="580675"/>
            <a:ext cx="1954850" cy="1954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9"/>
          <p:cNvSpPr txBox="1"/>
          <p:nvPr/>
        </p:nvSpPr>
        <p:spPr>
          <a:xfrm>
            <a:off x="55075" y="20375"/>
            <a:ext cx="445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Mathew Berman - How Coding Is Done</a:t>
            </a:r>
            <a:endParaRPr sz="2000" b="1" i="0" u="none" strike="noStrike" cap="none">
              <a:solidFill>
                <a:schemeClr val="dk1"/>
              </a:solidFill>
              <a:latin typeface="Calibri"/>
              <a:ea typeface="Calibri"/>
              <a:cs typeface="Calibri"/>
              <a:sym typeface="Calibri"/>
            </a:endParaRPr>
          </a:p>
        </p:txBody>
      </p:sp>
      <p:sp>
        <p:nvSpPr>
          <p:cNvPr id="163" name="Google Shape;163;p19"/>
          <p:cNvSpPr txBox="1"/>
          <p:nvPr/>
        </p:nvSpPr>
        <p:spPr>
          <a:xfrm>
            <a:off x="100425" y="346775"/>
            <a:ext cx="40101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SzPts val="800"/>
              <a:buFont typeface="Calibri"/>
              <a:buChar char="●"/>
            </a:pPr>
            <a:r>
              <a:rPr lang="en" sz="1100" b="1">
                <a:solidFill>
                  <a:srgbClr val="FF0000"/>
                </a:solidFill>
                <a:latin typeface="Calibri"/>
                <a:ea typeface="Calibri"/>
                <a:cs typeface="Calibri"/>
                <a:sym typeface="Calibri"/>
              </a:rPr>
              <a:t>Mathew Berman talks about changes in Coding</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https://www.youtube.com/watch?v=pwmK46hhfwg</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Tools like Claude Code and Opus 4.5 can now generate, debug, and review most of the code, often better and faster than humans</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Influential engineers and leaders (</a:t>
            </a:r>
            <a:r>
              <a:rPr lang="en" sz="1100" b="1">
                <a:solidFill>
                  <a:srgbClr val="3C78D8"/>
                </a:solidFill>
                <a:latin typeface="Calibri"/>
                <a:ea typeface="Calibri"/>
                <a:cs typeface="Calibri"/>
                <a:sym typeface="Calibri"/>
              </a:rPr>
              <a:t>Karpathy, Boris Cherny, Igor Babushkin, Tobi Lütke, Eric Schmidt, etc.</a:t>
            </a:r>
            <a:r>
              <a:rPr lang="en" sz="1100">
                <a:latin typeface="Calibri"/>
                <a:ea typeface="Calibri"/>
                <a:cs typeface="Calibri"/>
                <a:sym typeface="Calibri"/>
              </a:rPr>
              <a:t>) report feeling “behind” if they do not fully leverage these tools, with examples of entire codebases and test suites being written and reviewed by AI, and teams achieving </a:t>
            </a:r>
            <a:r>
              <a:rPr lang="en" sz="1100" b="1">
                <a:solidFill>
                  <a:srgbClr val="FF0000"/>
                </a:solidFill>
                <a:latin typeface="Calibri"/>
                <a:ea typeface="Calibri"/>
                <a:cs typeface="Calibri"/>
                <a:sym typeface="Calibri"/>
              </a:rPr>
              <a:t>5 releases per engineer per day</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This new era moves programmers from line-by-line coding to orchestrating agents, specs, and workflows, while </a:t>
            </a:r>
            <a:r>
              <a:rPr lang="en" sz="1100" b="1">
                <a:solidFill>
                  <a:srgbClr val="FF0000"/>
                </a:solidFill>
                <a:latin typeface="Calibri"/>
                <a:ea typeface="Calibri"/>
                <a:cs typeface="Calibri"/>
                <a:sym typeface="Calibri"/>
              </a:rPr>
              <a:t>human value increasingly lies in human taste, product vision, and the ability to discern signal from noise </a:t>
            </a:r>
            <a:r>
              <a:rPr lang="en" sz="1100">
                <a:latin typeface="Calibri"/>
                <a:ea typeface="Calibri"/>
                <a:cs typeface="Calibri"/>
                <a:sym typeface="Calibri"/>
              </a:rPr>
              <a:t>as software creation becomes nearly frictionless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Boris Churnney, one of the creators of Claude Code, says that 100% of Claude Code's code in the last 30 days was written by Claude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Boris wrote: </a:t>
            </a:r>
            <a:r>
              <a:rPr lang="en" sz="1100" b="1">
                <a:solidFill>
                  <a:srgbClr val="FF0000"/>
                </a:solidFill>
                <a:latin typeface="Calibri"/>
                <a:ea typeface="Calibri"/>
                <a:cs typeface="Calibri"/>
                <a:sym typeface="Calibri"/>
              </a:rPr>
              <a:t>"In the last 30 days, I landed 259 PRs, 497 commits, 40,000 lines of code added, 38,000 lines of code removed. Every line was written by Claude code plus Opus 4.5."</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first code review (PR review) is always done by Claude Code. The test suite is almost 100% written by claude code  </a:t>
            </a:r>
            <a:r>
              <a:rPr lang="en" sz="1100" b="1">
                <a:solidFill>
                  <a:srgbClr val="FF0000"/>
                </a:solidFill>
                <a:latin typeface="Calibri"/>
                <a:ea typeface="Calibri"/>
                <a:cs typeface="Calibri"/>
                <a:sym typeface="Calibri"/>
              </a:rPr>
              <a:t>Claude Code team do about five releases per engineer per day. insane speed!</a:t>
            </a:r>
            <a:endParaRPr sz="1100">
              <a:solidFill>
                <a:srgbClr val="3C78D8"/>
              </a:solidFill>
              <a:latin typeface="Calibri"/>
              <a:ea typeface="Calibri"/>
              <a:cs typeface="Calibri"/>
              <a:sym typeface="Calibri"/>
            </a:endParaRPr>
          </a:p>
        </p:txBody>
      </p:sp>
      <p:sp>
        <p:nvSpPr>
          <p:cNvPr id="164" name="Google Shape;164;p19"/>
          <p:cNvSpPr txBox="1"/>
          <p:nvPr/>
        </p:nvSpPr>
        <p:spPr>
          <a:xfrm>
            <a:off x="4299550" y="1454900"/>
            <a:ext cx="4774500" cy="161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4605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So the best in the world are now adopting Vibe Coding </a:t>
            </a:r>
            <a:endParaRPr b="1">
              <a:solidFill>
                <a:srgbClr val="3C78D8"/>
              </a:solidFill>
              <a:latin typeface="Calibri"/>
              <a:ea typeface="Calibri"/>
              <a:cs typeface="Calibri"/>
              <a:sym typeface="Calibri"/>
            </a:endParaRPr>
          </a:p>
          <a:p>
            <a:pPr marL="171450" marR="0" lvl="0" indent="-146050" algn="l" rtl="0">
              <a:lnSpc>
                <a:spcPct val="100000"/>
              </a:lnSpc>
              <a:spcBef>
                <a:spcPts val="0"/>
              </a:spcBef>
              <a:spcAft>
                <a:spcPts val="0"/>
              </a:spcAft>
              <a:buClr>
                <a:srgbClr val="3C78D8"/>
              </a:buClr>
              <a:buSzPts val="1400"/>
              <a:buFont typeface="Calibri"/>
              <a:buChar char="●"/>
            </a:pPr>
            <a:r>
              <a:rPr lang="en" b="1">
                <a:solidFill>
                  <a:srgbClr val="FF0000"/>
                </a:solidFill>
                <a:latin typeface="Calibri"/>
                <a:ea typeface="Calibri"/>
                <a:cs typeface="Calibri"/>
                <a:sym typeface="Calibri"/>
              </a:rPr>
              <a:t>It is more than okay to ship code that you haven't read line by line </a:t>
            </a:r>
            <a:r>
              <a:rPr lang="en" b="1">
                <a:solidFill>
                  <a:srgbClr val="6AA84F"/>
                </a:solidFill>
                <a:latin typeface="Calibri"/>
                <a:ea typeface="Calibri"/>
                <a:cs typeface="Calibri"/>
                <a:sym typeface="Calibri"/>
              </a:rPr>
              <a:t>(but higher level human review is still needed)</a:t>
            </a:r>
            <a:br>
              <a:rPr lang="en" b="1">
                <a:solidFill>
                  <a:srgbClr val="3C78D8"/>
                </a:solidFill>
                <a:latin typeface="Calibri"/>
                <a:ea typeface="Calibri"/>
                <a:cs typeface="Calibri"/>
                <a:sym typeface="Calibri"/>
              </a:rPr>
            </a:br>
            <a:endParaRPr sz="600" b="1">
              <a:solidFill>
                <a:srgbClr val="3C78D8"/>
              </a:solidFill>
              <a:latin typeface="Calibri"/>
              <a:ea typeface="Calibri"/>
              <a:cs typeface="Calibri"/>
              <a:sym typeface="Calibri"/>
            </a:endParaRPr>
          </a:p>
          <a:p>
            <a:pPr marL="171450" marR="0" lvl="0" indent="-14605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Human taste is going to become not only much more valuable, but potentially the biggest bottleneck</a:t>
            </a:r>
            <a:endParaRPr b="1">
              <a:solidFill>
                <a:srgbClr val="3C78D8"/>
              </a:solidFill>
              <a:latin typeface="Calibri"/>
              <a:ea typeface="Calibri"/>
              <a:cs typeface="Calibri"/>
              <a:sym typeface="Calibri"/>
            </a:endParaRPr>
          </a:p>
          <a:p>
            <a:pPr marL="171450" marR="0" lvl="0" indent="-14605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The ability to pick out the signal from the noise becomes the only skill that matters</a:t>
            </a:r>
            <a:endParaRPr b="1">
              <a:solidFill>
                <a:srgbClr val="3C78D8"/>
              </a:solidFill>
              <a:latin typeface="Calibri"/>
              <a:ea typeface="Calibri"/>
              <a:cs typeface="Calibri"/>
              <a:sym typeface="Calibri"/>
            </a:endParaRPr>
          </a:p>
        </p:txBody>
      </p:sp>
      <p:pic>
        <p:nvPicPr>
          <p:cNvPr id="165" name="Google Shape;165;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299550" y="95100"/>
            <a:ext cx="2229876" cy="1257275"/>
          </a:xfrm>
          <a:prstGeom prst="rect">
            <a:avLst/>
          </a:prstGeom>
          <a:noFill/>
          <a:ln w="9525" cap="flat" cmpd="sng">
            <a:solidFill>
              <a:srgbClr val="FF0000"/>
            </a:solidFill>
            <a:prstDash val="solid"/>
            <a:round/>
            <a:headEnd type="none" w="sm" len="sm"/>
            <a:tailEnd type="none" w="sm" len="sm"/>
          </a:ln>
        </p:spPr>
      </p:pic>
      <p:pic>
        <p:nvPicPr>
          <p:cNvPr id="166" name="Google Shape;166;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21650" y="3561221"/>
            <a:ext cx="730825" cy="938163"/>
          </a:xfrm>
          <a:prstGeom prst="rect">
            <a:avLst/>
          </a:prstGeom>
          <a:noFill/>
          <a:ln w="9525" cap="flat" cmpd="sng">
            <a:solidFill>
              <a:srgbClr val="FF0000"/>
            </a:solidFill>
            <a:prstDash val="solid"/>
            <a:round/>
            <a:headEnd type="none" w="sm" len="sm"/>
            <a:tailEnd type="none" w="sm" len="sm"/>
          </a:ln>
        </p:spPr>
      </p:pic>
      <p:sp>
        <p:nvSpPr>
          <p:cNvPr id="167" name="Google Shape;167;p19"/>
          <p:cNvSpPr txBox="1"/>
          <p:nvPr/>
        </p:nvSpPr>
        <p:spPr>
          <a:xfrm>
            <a:off x="5501650" y="3561232"/>
            <a:ext cx="35724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Peter Steinberger admits that he ships code without reviewing it.</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"These days, I don't read much code anymore. I watch the stream and sometimes look at key parts, but I got to be honest, </a:t>
            </a:r>
            <a:r>
              <a:rPr lang="en" sz="1200" b="1">
                <a:solidFill>
                  <a:srgbClr val="FF0000"/>
                </a:solidFill>
                <a:latin typeface="Calibri"/>
                <a:ea typeface="Calibri"/>
                <a:cs typeface="Calibri"/>
                <a:sym typeface="Calibri"/>
              </a:rPr>
              <a:t>most code I don't read</a:t>
            </a:r>
            <a:r>
              <a:rPr lang="en" sz="1200">
                <a:solidFill>
                  <a:srgbClr val="3C78D8"/>
                </a:solidFill>
                <a:latin typeface="Calibri"/>
                <a:ea typeface="Calibri"/>
                <a:cs typeface="Calibri"/>
                <a:sym typeface="Calibri"/>
              </a:rPr>
              <a:t>. </a:t>
            </a:r>
            <a:r>
              <a:rPr lang="en" sz="1200" b="1">
                <a:solidFill>
                  <a:srgbClr val="6AA84F"/>
                </a:solidFill>
                <a:latin typeface="Calibri"/>
                <a:ea typeface="Calibri"/>
                <a:cs typeface="Calibri"/>
                <a:sym typeface="Calibri"/>
              </a:rPr>
              <a:t>I do know where which components are and how things are structured and how the overall system is designed</a:t>
            </a:r>
            <a:r>
              <a:rPr lang="en" sz="1200">
                <a:solidFill>
                  <a:srgbClr val="3C78D8"/>
                </a:solidFill>
                <a:latin typeface="Calibri"/>
                <a:ea typeface="Calibri"/>
                <a:cs typeface="Calibri"/>
                <a:sym typeface="Calibri"/>
              </a:rPr>
              <a:t> and that's usually all that's needed"</a:t>
            </a:r>
            <a:endParaRPr sz="1200">
              <a:solidFill>
                <a:srgbClr val="3C78D8"/>
              </a:solidFill>
              <a:latin typeface="Calibri"/>
              <a:ea typeface="Calibri"/>
              <a:cs typeface="Calibri"/>
              <a:sym typeface="Calibri"/>
            </a:endParaRPr>
          </a:p>
        </p:txBody>
      </p:sp>
      <p:pic>
        <p:nvPicPr>
          <p:cNvPr id="168" name="Google Shape;168;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00425" y="4326500"/>
            <a:ext cx="730825" cy="730825"/>
          </a:xfrm>
          <a:prstGeom prst="rect">
            <a:avLst/>
          </a:prstGeom>
          <a:noFill/>
          <a:ln w="9525" cap="flat" cmpd="sng">
            <a:solidFill>
              <a:srgbClr val="FF0000"/>
            </a:solidFill>
            <a:prstDash val="solid"/>
            <a:round/>
            <a:headEnd type="none" w="sm" len="sm"/>
            <a:tailEnd type="none" w="sm" len="sm"/>
          </a:ln>
        </p:spPr>
      </p:pic>
      <p:pic>
        <p:nvPicPr>
          <p:cNvPr id="169" name="Google Shape;169;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033807" y="4326500"/>
            <a:ext cx="656684" cy="730825"/>
          </a:xfrm>
          <a:prstGeom prst="rect">
            <a:avLst/>
          </a:prstGeom>
          <a:noFill/>
          <a:ln w="9525" cap="flat" cmpd="sng">
            <a:solidFill>
              <a:srgbClr val="FF0000"/>
            </a:solidFill>
            <a:prstDash val="solid"/>
            <a:round/>
            <a:headEnd type="none" w="sm" len="sm"/>
            <a:tailEnd type="none" w="sm" len="sm"/>
          </a:ln>
        </p:spPr>
      </p:pic>
      <p:pic>
        <p:nvPicPr>
          <p:cNvPr id="170" name="Google Shape;170;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893049" y="4326500"/>
            <a:ext cx="656675" cy="754600"/>
          </a:xfrm>
          <a:prstGeom prst="rect">
            <a:avLst/>
          </a:prstGeom>
          <a:noFill/>
          <a:ln w="9525" cap="flat" cmpd="sng">
            <a:solidFill>
              <a:srgbClr val="FF0000"/>
            </a:solidFill>
            <a:prstDash val="solid"/>
            <a:round/>
            <a:headEnd type="none" w="sm" len="sm"/>
            <a:tailEnd type="none" w="sm" len="sm"/>
          </a:ln>
        </p:spPr>
      </p:pic>
      <p:pic>
        <p:nvPicPr>
          <p:cNvPr id="171" name="Google Shape;171;p1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2752280" y="4329324"/>
            <a:ext cx="656675" cy="748955"/>
          </a:xfrm>
          <a:prstGeom prst="rect">
            <a:avLst/>
          </a:prstGeom>
          <a:noFill/>
          <a:ln w="9525" cap="flat" cmpd="sng">
            <a:solidFill>
              <a:srgbClr val="FF0000"/>
            </a:solidFill>
            <a:prstDash val="solid"/>
            <a:round/>
            <a:headEnd type="none" w="sm" len="sm"/>
            <a:tailEnd type="none" w="sm" len="sm"/>
          </a:ln>
        </p:spPr>
      </p:pic>
      <p:pic>
        <p:nvPicPr>
          <p:cNvPr id="172" name="Google Shape;172;p19"/>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3611513" y="4326500"/>
            <a:ext cx="499022" cy="754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0"/>
          <p:cNvSpPr txBox="1"/>
          <p:nvPr/>
        </p:nvSpPr>
        <p:spPr>
          <a:xfrm>
            <a:off x="55075" y="20375"/>
            <a:ext cx="2266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VL-JEPA</a:t>
            </a:r>
            <a:endParaRPr sz="2000" b="1" i="0" u="none" strike="noStrike" cap="none">
              <a:solidFill>
                <a:schemeClr val="dk1"/>
              </a:solidFill>
              <a:latin typeface="Calibri"/>
              <a:ea typeface="Calibri"/>
              <a:cs typeface="Calibri"/>
              <a:sym typeface="Calibri"/>
            </a:endParaRPr>
          </a:p>
        </p:txBody>
      </p:sp>
      <p:sp>
        <p:nvSpPr>
          <p:cNvPr id="178" name="Google Shape;178;p20"/>
          <p:cNvSpPr txBox="1"/>
          <p:nvPr/>
        </p:nvSpPr>
        <p:spPr>
          <a:xfrm>
            <a:off x="65425" y="397225"/>
            <a:ext cx="45909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VL-JEPA: Vision-Language Joint Embedding Predictive Architecture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https://arxiv.org/abs/2512.10942</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new AI system from Meta led by Yann LeCun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Rather than predicting text tokens like traditional vision-language models (VLMs), </a:t>
            </a:r>
            <a:r>
              <a:rPr lang="en" sz="1200" b="1">
                <a:solidFill>
                  <a:srgbClr val="FF0000"/>
                </a:solidFill>
                <a:latin typeface="Calibri"/>
                <a:ea typeface="Calibri"/>
                <a:cs typeface="Calibri"/>
                <a:sym typeface="Calibri"/>
              </a:rPr>
              <a:t>VL-JEPA</a:t>
            </a:r>
            <a:r>
              <a:rPr lang="en" sz="1200">
                <a:latin typeface="Calibri"/>
                <a:ea typeface="Calibri"/>
                <a:cs typeface="Calibri"/>
                <a:sym typeface="Calibri"/>
              </a:rPr>
              <a:t> predicts meaning directly through continuous embeddings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Traditional VLMs waste computational resources learning surface-level language variations. </a:t>
            </a:r>
            <a:r>
              <a:rPr lang="en" sz="1200" b="1">
                <a:solidFill>
                  <a:srgbClr val="3C78D8"/>
                </a:solidFill>
                <a:latin typeface="Calibri"/>
                <a:ea typeface="Calibri"/>
                <a:cs typeface="Calibri"/>
                <a:sym typeface="Calibri"/>
              </a:rPr>
              <a:t>For example, "the light turns off," "the room gets darker," and "the lamp goes dark" are semantically identical but appear completely different in token space</a:t>
            </a:r>
            <a:r>
              <a:rPr lang="en" sz="1200">
                <a:latin typeface="Calibri"/>
                <a:ea typeface="Calibri"/>
                <a:cs typeface="Calibri"/>
                <a:sym typeface="Calibri"/>
              </a:rPr>
              <a:t>. </a:t>
            </a:r>
            <a:r>
              <a:rPr lang="en" sz="1200" b="1">
                <a:solidFill>
                  <a:srgbClr val="FF0000"/>
                </a:solidFill>
                <a:latin typeface="Calibri"/>
                <a:ea typeface="Calibri"/>
                <a:cs typeface="Calibri"/>
                <a:sym typeface="Calibri"/>
              </a:rPr>
              <a:t>VL-JEPA </a:t>
            </a:r>
            <a:r>
              <a:rPr lang="en" sz="1200" b="1">
                <a:solidFill>
                  <a:srgbClr val="6AA84F"/>
                </a:solidFill>
                <a:latin typeface="Calibri"/>
                <a:ea typeface="Calibri"/>
                <a:cs typeface="Calibri"/>
                <a:sym typeface="Calibri"/>
              </a:rPr>
              <a:t>treats these as similar representations in embedding space</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system also enables selective decoding for video - only generating text when semantic content changes significantly. In tests on 6-minute videos, this </a:t>
            </a:r>
            <a:r>
              <a:rPr lang="en" sz="1200" b="1">
                <a:solidFill>
                  <a:srgbClr val="3C78D8"/>
                </a:solidFill>
                <a:latin typeface="Calibri"/>
                <a:ea typeface="Calibri"/>
                <a:cs typeface="Calibri"/>
                <a:sym typeface="Calibri"/>
              </a:rPr>
              <a:t>reduced decoding operations by 2.85x</a:t>
            </a:r>
            <a:r>
              <a:rPr lang="en" sz="1200">
                <a:latin typeface="Calibri"/>
                <a:ea typeface="Calibri"/>
                <a:cs typeface="Calibri"/>
                <a:sym typeface="Calibri"/>
              </a:rPr>
              <a:t> while maintaining comparable performance.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VL-JEPA</a:t>
            </a:r>
            <a:r>
              <a:rPr lang="en" sz="1200">
                <a:latin typeface="Calibri"/>
                <a:ea typeface="Calibri"/>
                <a:cs typeface="Calibri"/>
                <a:sym typeface="Calibri"/>
              </a:rPr>
              <a:t> uses four components:</a:t>
            </a:r>
            <a:endParaRPr sz="1200">
              <a:latin typeface="Calibri"/>
              <a:ea typeface="Calibri"/>
              <a:cs typeface="Calibri"/>
              <a:sym typeface="Calibri"/>
            </a:endParaRPr>
          </a:p>
          <a:p>
            <a:pPr marL="3429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Visual encoder (frozen V-JEPA 2 with 304M parameters)</a:t>
            </a:r>
            <a:endParaRPr sz="1200">
              <a:latin typeface="Calibri"/>
              <a:ea typeface="Calibri"/>
              <a:cs typeface="Calibri"/>
              <a:sym typeface="Calibri"/>
            </a:endParaRPr>
          </a:p>
          <a:p>
            <a:pPr marL="3429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Predictor (based on Llama 3.2 1B) maps visual input and text queries to answer embeddings</a:t>
            </a:r>
            <a:endParaRPr sz="1200">
              <a:latin typeface="Calibri"/>
              <a:ea typeface="Calibri"/>
              <a:cs typeface="Calibri"/>
              <a:sym typeface="Calibri"/>
            </a:endParaRPr>
          </a:p>
          <a:p>
            <a:pPr marL="3429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Y encoder converts target answers to embeddings during training</a:t>
            </a:r>
            <a:endParaRPr sz="1200">
              <a:latin typeface="Calibri"/>
              <a:ea typeface="Calibri"/>
              <a:cs typeface="Calibri"/>
              <a:sym typeface="Calibri"/>
            </a:endParaRPr>
          </a:p>
          <a:p>
            <a:pPr marL="3429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Y decoder converts embeddings to text only when needed at inference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With only 1.6B parameters and 2B training samples, </a:t>
            </a:r>
            <a:r>
              <a:rPr lang="en" sz="1200" b="1">
                <a:solidFill>
                  <a:srgbClr val="FF0000"/>
                </a:solidFill>
                <a:latin typeface="Calibri"/>
                <a:ea typeface="Calibri"/>
                <a:cs typeface="Calibri"/>
                <a:sym typeface="Calibri"/>
              </a:rPr>
              <a:t>VL-JEPA</a:t>
            </a:r>
            <a:r>
              <a:rPr lang="en" sz="1200">
                <a:latin typeface="Calibri"/>
                <a:ea typeface="Calibri"/>
                <a:cs typeface="Calibri"/>
                <a:sym typeface="Calibri"/>
              </a:rPr>
              <a:t> matched or exceeded models trained on up to 86B samples. It showed faster learning curves</a:t>
            </a:r>
            <a:endParaRPr sz="1200">
              <a:latin typeface="Calibri"/>
              <a:ea typeface="Calibri"/>
              <a:cs typeface="Calibri"/>
              <a:sym typeface="Calibri"/>
            </a:endParaRPr>
          </a:p>
        </p:txBody>
      </p:sp>
      <p:pic>
        <p:nvPicPr>
          <p:cNvPr id="179" name="Google Shape;179;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69627" y="1110275"/>
            <a:ext cx="2763325" cy="2148150"/>
          </a:xfrm>
          <a:prstGeom prst="rect">
            <a:avLst/>
          </a:prstGeom>
          <a:noFill/>
          <a:ln w="9525" cap="flat" cmpd="sng">
            <a:solidFill>
              <a:srgbClr val="FF0000"/>
            </a:solidFill>
            <a:prstDash val="solid"/>
            <a:round/>
            <a:headEnd type="none" w="sm" len="sm"/>
            <a:tailEnd type="none" w="sm" len="sm"/>
          </a:ln>
        </p:spPr>
      </p:pic>
      <p:sp>
        <p:nvSpPr>
          <p:cNvPr id="180" name="Google Shape;180;p20"/>
          <p:cNvSpPr txBox="1"/>
          <p:nvPr/>
        </p:nvSpPr>
        <p:spPr>
          <a:xfrm>
            <a:off x="4769625" y="3354182"/>
            <a:ext cx="4293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system excelled at </a:t>
            </a:r>
            <a:r>
              <a:rPr lang="en" sz="1200" b="1">
                <a:solidFill>
                  <a:srgbClr val="FF0000"/>
                </a:solidFill>
                <a:latin typeface="Calibri"/>
                <a:ea typeface="Calibri"/>
                <a:cs typeface="Calibri"/>
                <a:sym typeface="Calibri"/>
              </a:rPr>
              <a:t>world modeling tasks</a:t>
            </a:r>
            <a:r>
              <a:rPr lang="en" sz="1200">
                <a:latin typeface="Calibri"/>
                <a:ea typeface="Calibri"/>
                <a:cs typeface="Calibri"/>
                <a:sym typeface="Calibri"/>
              </a:rPr>
              <a:t>, achieving 65.7% accuracy predicting which action caused physical transitions—beating GPT-4, Claude 3.5, and Gemini 2.</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VL-JEPA</a:t>
            </a:r>
            <a:r>
              <a:rPr lang="en" sz="1200">
                <a:latin typeface="Calibri"/>
                <a:ea typeface="Calibri"/>
                <a:cs typeface="Calibri"/>
                <a:sym typeface="Calibri"/>
              </a:rPr>
              <a:t> is a potential </a:t>
            </a:r>
            <a:r>
              <a:rPr lang="en" sz="1200" b="1">
                <a:solidFill>
                  <a:srgbClr val="3C78D8"/>
                </a:solidFill>
                <a:latin typeface="Calibri"/>
                <a:ea typeface="Calibri"/>
                <a:cs typeface="Calibri"/>
                <a:sym typeface="Calibri"/>
              </a:rPr>
              <a:t>post-LLM paradigm for perception-heavy tasks like robotics, wearables, and real-time video understanding</a:t>
            </a:r>
            <a:r>
              <a:rPr lang="en" sz="1200">
                <a:latin typeface="Calibri"/>
                <a:ea typeface="Calibri"/>
                <a:cs typeface="Calibri"/>
                <a:sym typeface="Calibri"/>
              </a:rPr>
              <a:t>. While token-based models remain superior for reasoning and tool use, this embedding-first approach offers structural advantages for continuous visual understanding where latency and compute efficiency matter.</a:t>
            </a:r>
            <a:endParaRPr sz="1200">
              <a:latin typeface="Calibri"/>
              <a:ea typeface="Calibri"/>
              <a:cs typeface="Calibri"/>
              <a:sym typeface="Calibri"/>
            </a:endParaRPr>
          </a:p>
        </p:txBody>
      </p:sp>
      <p:pic>
        <p:nvPicPr>
          <p:cNvPr id="181" name="Google Shape;181;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646250" y="101800"/>
            <a:ext cx="1416975" cy="160498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5.97K subscribers, 260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87" name="Google Shape;187;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56600" y="133600"/>
            <a:ext cx="3597800" cy="48762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2"/>
          <p:cNvSpPr txBox="1"/>
          <p:nvPr/>
        </p:nvSpPr>
        <p:spPr>
          <a:xfrm>
            <a:off x="55075" y="20375"/>
            <a:ext cx="2266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Qwen-Image-2512</a:t>
            </a:r>
            <a:endParaRPr sz="2000" b="1" i="0" u="none" strike="noStrike" cap="none">
              <a:solidFill>
                <a:schemeClr val="dk1"/>
              </a:solidFill>
              <a:latin typeface="Calibri"/>
              <a:ea typeface="Calibri"/>
              <a:cs typeface="Calibri"/>
              <a:sym typeface="Calibri"/>
            </a:endParaRPr>
          </a:p>
        </p:txBody>
      </p:sp>
      <p:sp>
        <p:nvSpPr>
          <p:cNvPr id="193" name="Google Shape;193;p22"/>
          <p:cNvSpPr txBox="1"/>
          <p:nvPr/>
        </p:nvSpPr>
        <p:spPr>
          <a:xfrm>
            <a:off x="55075" y="438950"/>
            <a:ext cx="4395900" cy="172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Qwen-Image-2512 released Dec 30, 2025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Open-source (Apache 2.0)</a:t>
            </a:r>
            <a:r>
              <a:rPr lang="en" sz="1200">
                <a:latin typeface="Calibri"/>
                <a:ea typeface="Calibri"/>
                <a:cs typeface="Calibri"/>
                <a:sym typeface="Calibri"/>
              </a:rPr>
              <a:t>, by Alibaba Cloud's Qwen team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Enhanced Human Realism, Finer Natural Detail, Superior Text Rendering, :** Higher accuracy in placing text within images and maintaining the correct layout for signs, labels, and posters.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strongest open-source image model on the AI Arena platform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20B parameter MMDiT (Multimodal Diffusion Transformer)</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https://qwen.ai/blog?id=qwen-image-2512</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https://huggingface.co/spaces/Qwen/Qwen-Image-2512</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http://aiarena.alibaba-inc.com/corpora/arena/leaderboard?arenaType=T2I</a:t>
            </a:r>
            <a:r>
              <a:rPr lang="en" sz="900">
                <a:latin typeface="Calibri"/>
                <a:ea typeface="Calibri"/>
                <a:cs typeface="Calibri"/>
                <a:sym typeface="Calibri"/>
              </a:rPr>
              <a:t> </a:t>
            </a:r>
            <a:endParaRPr sz="900">
              <a:latin typeface="Calibri"/>
              <a:ea typeface="Calibri"/>
              <a:cs typeface="Calibri"/>
              <a:sym typeface="Calibri"/>
            </a:endParaRPr>
          </a:p>
        </p:txBody>
      </p:sp>
      <p:pic>
        <p:nvPicPr>
          <p:cNvPr id="194" name="Google Shape;194;p22"/>
          <p:cNvPicPr preferRelativeResize="0"/>
          <p:nvPr/>
        </p:nvPicPr>
        <p:blipFill>
          <a:blip r:embed="rId6">
            <a:alphaModFix/>
          </a:blip>
          <a:stretch>
            <a:fillRect/>
          </a:stretch>
        </p:blipFill>
        <p:spPr>
          <a:xfrm>
            <a:off x="6010150" y="95925"/>
            <a:ext cx="2857500" cy="1600200"/>
          </a:xfrm>
          <a:prstGeom prst="rect">
            <a:avLst/>
          </a:prstGeom>
          <a:noFill/>
          <a:ln w="9525" cap="flat" cmpd="sng">
            <a:solidFill>
              <a:srgbClr val="FF0000"/>
            </a:solidFill>
            <a:prstDash val="solid"/>
            <a:round/>
            <a:headEnd type="none" w="sm" len="sm"/>
            <a:tailEnd type="none" w="sm" len="sm"/>
          </a:ln>
        </p:spPr>
      </p:pic>
      <p:pic>
        <p:nvPicPr>
          <p:cNvPr id="195" name="Google Shape;195;p22"/>
          <p:cNvPicPr preferRelativeResize="0"/>
          <p:nvPr/>
        </p:nvPicPr>
        <p:blipFill>
          <a:blip r:embed="rId7">
            <a:alphaModFix/>
          </a:blip>
          <a:stretch>
            <a:fillRect/>
          </a:stretch>
        </p:blipFill>
        <p:spPr>
          <a:xfrm>
            <a:off x="6010150" y="1769219"/>
            <a:ext cx="2857500" cy="1600200"/>
          </a:xfrm>
          <a:prstGeom prst="rect">
            <a:avLst/>
          </a:prstGeom>
          <a:noFill/>
          <a:ln w="9525" cap="flat" cmpd="sng">
            <a:solidFill>
              <a:srgbClr val="FF0000"/>
            </a:solidFill>
            <a:prstDash val="solid"/>
            <a:round/>
            <a:headEnd type="none" w="sm" len="sm"/>
            <a:tailEnd type="none" w="sm" len="sm"/>
          </a:ln>
        </p:spPr>
      </p:pic>
      <p:pic>
        <p:nvPicPr>
          <p:cNvPr id="196" name="Google Shape;196;p22"/>
          <p:cNvPicPr preferRelativeResize="0"/>
          <p:nvPr/>
        </p:nvPicPr>
        <p:blipFill>
          <a:blip r:embed="rId8">
            <a:alphaModFix/>
          </a:blip>
          <a:stretch>
            <a:fillRect/>
          </a:stretch>
        </p:blipFill>
        <p:spPr>
          <a:xfrm>
            <a:off x="6010150" y="3441352"/>
            <a:ext cx="2857500" cy="1600200"/>
          </a:xfrm>
          <a:prstGeom prst="rect">
            <a:avLst/>
          </a:prstGeom>
          <a:noFill/>
          <a:ln w="9525" cap="flat" cmpd="sng">
            <a:solidFill>
              <a:srgbClr val="FF0000"/>
            </a:solidFill>
            <a:prstDash val="solid"/>
            <a:round/>
            <a:headEnd type="none" w="sm" len="sm"/>
            <a:tailEnd type="none" w="sm" len="sm"/>
          </a:ln>
        </p:spPr>
      </p:pic>
      <p:pic>
        <p:nvPicPr>
          <p:cNvPr id="197" name="Google Shape;197;p2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5075" y="2258225"/>
            <a:ext cx="5221604" cy="27833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p:nvPr/>
        </p:nvSpPr>
        <p:spPr>
          <a:xfrm>
            <a:off x="55075" y="20375"/>
            <a:ext cx="4114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Liquid LFM2-2.6B-Exp</a:t>
            </a:r>
            <a:endParaRPr sz="2000" b="1" i="0" u="none" strike="noStrike" cap="none">
              <a:solidFill>
                <a:schemeClr val="dk1"/>
              </a:solidFill>
              <a:latin typeface="Calibri"/>
              <a:ea typeface="Calibri"/>
              <a:cs typeface="Calibri"/>
              <a:sym typeface="Calibri"/>
            </a:endParaRPr>
          </a:p>
        </p:txBody>
      </p:sp>
      <p:sp>
        <p:nvSpPr>
          <p:cNvPr id="203" name="Google Shape;203;p23"/>
          <p:cNvSpPr txBox="1"/>
          <p:nvPr/>
        </p:nvSpPr>
        <p:spPr>
          <a:xfrm>
            <a:off x="55075" y="578515"/>
            <a:ext cx="43959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LFM2-2.6B-Exp by Liquid AI on Dec 25, 2025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2.6B params language model, Open-Source and open weights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Pure Reinforcement Learning (RL) - Unlike most models that rely heavily on Supervised Fine-Tuning (SFT), the "Exp" (Experimental) version was </a:t>
            </a:r>
            <a:r>
              <a:rPr lang="en" sz="1200" b="1">
                <a:solidFill>
                  <a:srgbClr val="3C78D8"/>
                </a:solidFill>
                <a:latin typeface="Calibri"/>
                <a:ea typeface="Calibri"/>
                <a:cs typeface="Calibri"/>
                <a:sym typeface="Calibri"/>
              </a:rPr>
              <a:t>optimized using pure reinforcement learning with verifiable rewards</a:t>
            </a:r>
            <a:r>
              <a:rPr lang="en" sz="1200">
                <a:latin typeface="Calibri"/>
                <a:ea typeface="Calibri"/>
                <a:cs typeface="Calibri"/>
                <a:sym typeface="Calibri"/>
              </a:rPr>
              <a:t>. This was specifically used to sharpen its performance in </a:t>
            </a:r>
            <a:r>
              <a:rPr lang="en" sz="1200" b="1">
                <a:solidFill>
                  <a:srgbClr val="3C78D8"/>
                </a:solidFill>
                <a:latin typeface="Calibri"/>
                <a:ea typeface="Calibri"/>
                <a:cs typeface="Calibri"/>
                <a:sym typeface="Calibri"/>
              </a:rPr>
              <a:t>instruction following, math reasoning, and knowledge recall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Hybrid Architecture</a:t>
            </a:r>
            <a:r>
              <a:rPr lang="en" sz="1200">
                <a:latin typeface="Calibri"/>
                <a:ea typeface="Calibri"/>
                <a:cs typeface="Calibri"/>
                <a:sym typeface="Calibri"/>
              </a:rPr>
              <a:t> - uses Liquid AI’s unique architecture that combines Grouped Query Attention (GQA) with short convolutional layers (LIV blocks). This allows it to run much faster and with less memory than traditional transformer models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Edge-Ready - "PhD-level reasoning engine for your smartphone"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https://huggingface.co/LiquidAI/LFM2-2.6B-Exp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https://www.liquid.ai</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04" name="Google Shape;204;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18875" y="1080106"/>
            <a:ext cx="2968274" cy="9022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4"/>
          <p:cNvSpPr txBox="1"/>
          <p:nvPr/>
        </p:nvSpPr>
        <p:spPr>
          <a:xfrm>
            <a:off x="55075" y="20375"/>
            <a:ext cx="4442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LLM vs AI agent companies</a:t>
            </a:r>
            <a:endParaRPr sz="2000" b="1" i="0" u="none" strike="noStrike" cap="none">
              <a:solidFill>
                <a:schemeClr val="dk1"/>
              </a:solidFill>
              <a:latin typeface="Calibri"/>
              <a:ea typeface="Calibri"/>
              <a:cs typeface="Calibri"/>
              <a:sym typeface="Calibri"/>
            </a:endParaRPr>
          </a:p>
        </p:txBody>
      </p:sp>
      <p:sp>
        <p:nvSpPr>
          <p:cNvPr id="210" name="Google Shape;210;p24"/>
          <p:cNvSpPr txBox="1"/>
          <p:nvPr/>
        </p:nvSpPr>
        <p:spPr>
          <a:xfrm>
            <a:off x="145777" y="637350"/>
            <a:ext cx="3955500" cy="362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LLM companies like OpenAI, Anthropic, Google, Meta, and xAI build foundational language models that understand and generate text</a:t>
            </a:r>
            <a:br>
              <a:rPr lang="en" sz="1200">
                <a:latin typeface="Calibri"/>
                <a:ea typeface="Calibri"/>
                <a:cs typeface="Calibri"/>
                <a:sym typeface="Calibri"/>
              </a:rPr>
            </a:b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AI agent companies build autonomous systems that can plan, execute multi-step workflows, and act across business tools; Major players include OpenAI, Google, Microsoft, Amazon, ...</a:t>
            </a:r>
            <a:br>
              <a:rPr lang="en" sz="1200">
                <a:latin typeface="Calibri"/>
                <a:ea typeface="Calibri"/>
                <a:cs typeface="Calibri"/>
                <a:sym typeface="Calibri"/>
              </a:rPr>
            </a:b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LLM companies sell API access and token-based pricing</a:t>
            </a:r>
            <a:br>
              <a:rPr lang="en" sz="1200">
                <a:latin typeface="Calibri"/>
                <a:ea typeface="Calibri"/>
                <a:cs typeface="Calibri"/>
                <a:sym typeface="Calibri"/>
              </a:rPr>
            </a:br>
            <a:r>
              <a:rPr lang="en" sz="1200">
                <a:latin typeface="Calibri"/>
                <a:ea typeface="Calibri"/>
                <a:cs typeface="Calibri"/>
                <a:sym typeface="Calibri"/>
              </a:rPr>
              <a:t>Agent companies offer automation and operational solutions</a:t>
            </a:r>
            <a:br>
              <a:rPr lang="en" sz="1200">
                <a:latin typeface="Calibri"/>
                <a:ea typeface="Calibri"/>
                <a:cs typeface="Calibri"/>
                <a:sym typeface="Calibri"/>
              </a:rPr>
            </a:b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LLMs provide ideas and content generation</a:t>
            </a:r>
            <a:br>
              <a:rPr lang="en" sz="1200">
                <a:latin typeface="Calibri"/>
                <a:ea typeface="Calibri"/>
                <a:cs typeface="Calibri"/>
                <a:sym typeface="Calibri"/>
              </a:rPr>
            </a:br>
            <a:r>
              <a:rPr lang="en" sz="1200">
                <a:latin typeface="Calibri"/>
                <a:ea typeface="Calibri"/>
                <a:cs typeface="Calibri"/>
                <a:sym typeface="Calibri"/>
              </a:rPr>
              <a:t>Agents deliver actionable business results through automation and decision-making</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These two categories are converging as LLM companies add agent capabilities</a:t>
            </a:r>
            <a:endParaRPr sz="900">
              <a:latin typeface="Calibri"/>
              <a:ea typeface="Calibri"/>
              <a:cs typeface="Calibri"/>
              <a:sym typeface="Calibri"/>
            </a:endParaRPr>
          </a:p>
          <a:p>
            <a:pPr marL="171450" marR="0" lvl="0" indent="-95250" algn="l" rtl="0">
              <a:lnSpc>
                <a:spcPct val="100000"/>
              </a:lnSpc>
              <a:spcBef>
                <a:spcPts val="0"/>
              </a:spcBef>
              <a:spcAft>
                <a:spcPts val="0"/>
              </a:spcAft>
              <a:buSzPts val="600"/>
              <a:buFont typeface="Calibri"/>
              <a:buChar char="●"/>
            </a:pPr>
            <a:r>
              <a:rPr lang="en" sz="900" u="sng">
                <a:solidFill>
                  <a:schemeClr val="hlink"/>
                </a:solidFill>
                <a:latin typeface="Calibri"/>
                <a:ea typeface="Calibri"/>
                <a:cs typeface="Calibri"/>
                <a:sym typeface="Calibri"/>
                <a:hlinkClick r:id="rId3"/>
              </a:rPr>
              <a:t>https://www.decidr.ai/us/blog/ai-agents-vs-llms-what-s-the-difference-and-why-it-matters-for-business</a:t>
            </a:r>
            <a:r>
              <a:rPr lang="en" sz="900">
                <a:latin typeface="Calibri"/>
                <a:ea typeface="Calibri"/>
                <a:cs typeface="Calibri"/>
                <a:sym typeface="Calibri"/>
              </a:rPr>
              <a:t> </a:t>
            </a:r>
            <a:endParaRPr sz="900">
              <a:latin typeface="Calibri"/>
              <a:ea typeface="Calibri"/>
              <a:cs typeface="Calibri"/>
              <a:sym typeface="Calibri"/>
            </a:endParaRPr>
          </a:p>
        </p:txBody>
      </p:sp>
      <p:pic>
        <p:nvPicPr>
          <p:cNvPr id="211" name="Google Shape;211;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497773" y="433100"/>
            <a:ext cx="4277299" cy="42772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5"/>
          <p:cNvSpPr txBox="1"/>
          <p:nvPr/>
        </p:nvSpPr>
        <p:spPr>
          <a:xfrm>
            <a:off x="55075" y="20375"/>
            <a:ext cx="4377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Clone Robotics ProtoClone </a:t>
            </a:r>
            <a:endParaRPr sz="2000" b="1" i="0" u="none" strike="noStrike" cap="none">
              <a:solidFill>
                <a:schemeClr val="dk1"/>
              </a:solidFill>
              <a:latin typeface="Calibri"/>
              <a:ea typeface="Calibri"/>
              <a:cs typeface="Calibri"/>
              <a:sym typeface="Calibri"/>
            </a:endParaRPr>
          </a:p>
        </p:txBody>
      </p:sp>
      <p:sp>
        <p:nvSpPr>
          <p:cNvPr id="217" name="Google Shape;217;p25"/>
          <p:cNvSpPr txBox="1"/>
          <p:nvPr/>
        </p:nvSpPr>
        <p:spPr>
          <a:xfrm>
            <a:off x="137950" y="777325"/>
            <a:ext cx="43773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b="1">
                <a:solidFill>
                  <a:srgbClr val="FF0000"/>
                </a:solidFill>
                <a:latin typeface="Calibri"/>
                <a:ea typeface="Calibri"/>
                <a:cs typeface="Calibri"/>
                <a:sym typeface="Calibri"/>
              </a:rPr>
              <a:t>Clone Robotics ProtoClone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Full-bodied musculoskeletal android, unveiled in February 2025</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It features a </a:t>
            </a:r>
            <a:r>
              <a:rPr lang="en" sz="1200" b="1">
                <a:solidFill>
                  <a:srgbClr val="FF0000"/>
                </a:solidFill>
                <a:latin typeface="Calibri"/>
                <a:ea typeface="Calibri"/>
                <a:cs typeface="Calibri"/>
                <a:sym typeface="Calibri"/>
              </a:rPr>
              <a:t>faceless, anatomically accurate synthetic human</a:t>
            </a:r>
            <a:r>
              <a:rPr lang="en" sz="1200">
                <a:latin typeface="Calibri"/>
                <a:ea typeface="Calibri"/>
                <a:cs typeface="Calibri"/>
                <a:sym typeface="Calibri"/>
              </a:rPr>
              <a:t> design built from 3D-printed polymer bones and powered by over 1,000 Myofiber artificial muscles - pressurized synthetic strands that contract under hydraulic/pneumatic pressure to mimic natural human muscle function</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android has </a:t>
            </a:r>
            <a:r>
              <a:rPr lang="en" sz="1200" b="1">
                <a:solidFill>
                  <a:srgbClr val="FF0000"/>
                </a:solidFill>
                <a:latin typeface="Calibri"/>
                <a:ea typeface="Calibri"/>
                <a:cs typeface="Calibri"/>
                <a:sym typeface="Calibri"/>
              </a:rPr>
              <a:t>over 200 degrees of freedom and more than 500 sensors</a:t>
            </a:r>
            <a:r>
              <a:rPr lang="en" sz="1200">
                <a:latin typeface="Calibri"/>
                <a:ea typeface="Calibri"/>
                <a:cs typeface="Calibri"/>
                <a:sym typeface="Calibri"/>
              </a:rPr>
              <a:t> throughout its body, including 70 inertial sensors for movement tracking and 320 pressure sensors in muscles and skin</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 water circulation system flows through microchannels in its frame to dissipate heat and prevent the myofibers from overheating during operation</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a:t>
            </a:r>
            <a:r>
              <a:rPr lang="en" sz="1200" b="1">
                <a:solidFill>
                  <a:srgbClr val="FF0000"/>
                </a:solidFill>
                <a:latin typeface="Calibri"/>
                <a:ea typeface="Calibri"/>
                <a:cs typeface="Calibri"/>
                <a:sym typeface="Calibri"/>
              </a:rPr>
              <a:t>ProtoClone uses an NVIDIA Jetson chip</a:t>
            </a:r>
            <a:r>
              <a:rPr lang="en" sz="1200">
                <a:latin typeface="Calibri"/>
                <a:ea typeface="Calibri"/>
                <a:cs typeface="Calibri"/>
                <a:sym typeface="Calibri"/>
              </a:rPr>
              <a:t> for real-time processing of sensor data, vision, and AI models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While designed to eventually perform household tasks like cooking, cleaning, and laundry, it cannot yet walk unaided and has been demonstrated while suspended on support rigs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3"/>
              </a:rPr>
              <a:t>https://clonerobotics.com/android</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4"/>
              </a:rPr>
              <a:t>https://www.youtube.com/watch?v=E1theCfcFsA</a:t>
            </a:r>
            <a:r>
              <a:rPr lang="en" sz="1200">
                <a:latin typeface="Calibri"/>
                <a:ea typeface="Calibri"/>
                <a:cs typeface="Calibri"/>
                <a:sym typeface="Calibri"/>
              </a:rPr>
              <a:t> </a:t>
            </a:r>
            <a:endParaRPr sz="900">
              <a:latin typeface="Calibri"/>
              <a:ea typeface="Calibri"/>
              <a:cs typeface="Calibri"/>
              <a:sym typeface="Calibri"/>
            </a:endParaRPr>
          </a:p>
        </p:txBody>
      </p:sp>
      <p:pic>
        <p:nvPicPr>
          <p:cNvPr id="218" name="Google Shape;218;p25"/>
          <p:cNvPicPr preferRelativeResize="0"/>
          <p:nvPr/>
        </p:nvPicPr>
        <p:blipFill>
          <a:blip r:embed="rId5">
            <a:alphaModFix/>
          </a:blip>
          <a:stretch>
            <a:fillRect/>
          </a:stretch>
        </p:blipFill>
        <p:spPr>
          <a:xfrm>
            <a:off x="4812999" y="777325"/>
            <a:ext cx="4200000" cy="23520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p:nvPr/>
        </p:nvSpPr>
        <p:spPr>
          <a:xfrm>
            <a:off x="55075" y="20375"/>
            <a:ext cx="4460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The End of Google’s Search Monopoly</a:t>
            </a:r>
            <a:endParaRPr sz="2000" b="1" i="0" u="none" strike="noStrike" cap="none">
              <a:solidFill>
                <a:schemeClr val="dk1"/>
              </a:solidFill>
              <a:latin typeface="Calibri"/>
              <a:ea typeface="Calibri"/>
              <a:cs typeface="Calibri"/>
              <a:sym typeface="Calibri"/>
            </a:endParaRPr>
          </a:p>
        </p:txBody>
      </p:sp>
      <p:sp>
        <p:nvSpPr>
          <p:cNvPr id="224" name="Google Shape;224;p26"/>
          <p:cNvSpPr txBox="1"/>
          <p:nvPr/>
        </p:nvSpPr>
        <p:spPr>
          <a:xfrm>
            <a:off x="55075" y="392850"/>
            <a:ext cx="46089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b="1">
                <a:solidFill>
                  <a:srgbClr val="FF0000"/>
                </a:solidFill>
                <a:latin typeface="Calibri"/>
                <a:ea typeface="Calibri"/>
                <a:cs typeface="Calibri"/>
                <a:sym typeface="Calibri"/>
              </a:rPr>
              <a:t>Google's 25-year dominance in search is ending</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as AI-powered alternatives gain massive traction</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https://www.youtube.com/watch?v=y2yuWf6WFFc</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For the first time since 2015, </a:t>
            </a:r>
            <a:r>
              <a:rPr lang="en" sz="1200" b="1">
                <a:solidFill>
                  <a:srgbClr val="3C78D8"/>
                </a:solidFill>
                <a:latin typeface="Calibri"/>
                <a:ea typeface="Calibri"/>
                <a:cs typeface="Calibri"/>
                <a:sym typeface="Calibri"/>
              </a:rPr>
              <a:t>Google's market share dropped below 90 percent in 2024-2025</a:t>
            </a:r>
            <a:r>
              <a:rPr lang="en" sz="1200">
                <a:latin typeface="Calibri"/>
                <a:ea typeface="Calibri"/>
                <a:cs typeface="Calibri"/>
                <a:sym typeface="Calibri"/>
              </a:rPr>
              <a:t>, representing billions in lost ad revenue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b="1">
                <a:solidFill>
                  <a:srgbClr val="3C78D8"/>
                </a:solidFill>
                <a:latin typeface="Calibri"/>
                <a:ea typeface="Calibri"/>
                <a:cs typeface="Calibri"/>
                <a:sym typeface="Calibri"/>
              </a:rPr>
              <a:t>ChatGPT doubled its weekly active users from 400 million to 800 million in just seven months</a:t>
            </a:r>
            <a:r>
              <a:rPr lang="en" sz="1200">
                <a:latin typeface="Calibri"/>
                <a:ea typeface="Calibri"/>
                <a:cs typeface="Calibri"/>
                <a:sym typeface="Calibri"/>
              </a:rPr>
              <a:t>, now handling 2.5 billion prompts daily</a:t>
            </a:r>
            <a:endParaRPr sz="1200">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Perplexity AI grew from 230 million to 780 million monthly queries, a 239 percent increase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impact on businesses is severe. </a:t>
            </a:r>
            <a:r>
              <a:rPr lang="en" sz="1200" b="1">
                <a:solidFill>
                  <a:srgbClr val="FF0000"/>
                </a:solidFill>
                <a:latin typeface="Calibri"/>
                <a:ea typeface="Calibri"/>
                <a:cs typeface="Calibri"/>
                <a:sym typeface="Calibri"/>
              </a:rPr>
              <a:t>News publishers lost half their Google traffic in two years</a:t>
            </a:r>
            <a:r>
              <a:rPr lang="en" sz="1200">
                <a:latin typeface="Calibri"/>
                <a:ea typeface="Calibri"/>
                <a:cs typeface="Calibri"/>
                <a:sym typeface="Calibri"/>
              </a:rPr>
              <a:t>, and organic click-through rates for queries with AI overviews dropped from 1.76 percent to 0.61 percent, a 61 percent decline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Meanwhile, </a:t>
            </a:r>
            <a:r>
              <a:rPr lang="en" sz="1200" b="1">
                <a:solidFill>
                  <a:srgbClr val="3C78D8"/>
                </a:solidFill>
                <a:latin typeface="Calibri"/>
                <a:ea typeface="Calibri"/>
                <a:cs typeface="Calibri"/>
                <a:sym typeface="Calibri"/>
              </a:rPr>
              <a:t>60 percent of Google searches now end without any website click</a:t>
            </a:r>
            <a:r>
              <a:rPr lang="en" sz="1200">
                <a:latin typeface="Calibri"/>
                <a:ea typeface="Calibri"/>
                <a:cs typeface="Calibri"/>
                <a:sym typeface="Calibri"/>
              </a:rPr>
              <a:t>. Traditional SEO focused on rankings is becoming obsolete as the game shifts to earning AI citations rather than top search positions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However, </a:t>
            </a:r>
            <a:r>
              <a:rPr lang="en" sz="1200" b="1">
                <a:solidFill>
                  <a:srgbClr val="3C78D8"/>
                </a:solidFill>
                <a:latin typeface="Calibri"/>
                <a:ea typeface="Calibri"/>
                <a:cs typeface="Calibri"/>
                <a:sym typeface="Calibri"/>
              </a:rPr>
              <a:t>Google recently showed signs of fighting back aggressively integrated Gemini AI across its ecosystem</a:t>
            </a:r>
            <a:r>
              <a:rPr lang="en" sz="1200">
                <a:latin typeface="Calibri"/>
                <a:ea typeface="Calibri"/>
                <a:cs typeface="Calibri"/>
                <a:sym typeface="Calibri"/>
              </a:rPr>
              <a:t> to keep users from leaving for ChatGPT</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Experts predict traditional search volume will drop 25 percent by 2026 and organic traffic could decline 50 percent by 2028</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b="1">
                <a:solidFill>
                  <a:srgbClr val="FF0000"/>
                </a:solidFill>
                <a:latin typeface="Calibri"/>
                <a:ea typeface="Calibri"/>
                <a:cs typeface="Calibri"/>
                <a:sym typeface="Calibri"/>
              </a:rPr>
              <a:t>Businesses must now optimize for AI visibility alongside traditional SEO</a:t>
            </a:r>
            <a:r>
              <a:rPr lang="en" sz="1200">
                <a:latin typeface="Calibri"/>
                <a:ea typeface="Calibri"/>
                <a:cs typeface="Calibri"/>
                <a:sym typeface="Calibri"/>
              </a:rPr>
              <a:t>, </a:t>
            </a:r>
            <a:r>
              <a:rPr lang="en" sz="1200" b="1">
                <a:solidFill>
                  <a:srgbClr val="3C78D8"/>
                </a:solidFill>
                <a:latin typeface="Calibri"/>
                <a:ea typeface="Calibri"/>
                <a:cs typeface="Calibri"/>
                <a:sym typeface="Calibri"/>
              </a:rPr>
              <a:t>create citation-ready content with data and authoritative sources, and build brand authority that AI systems recognize and cite</a:t>
            </a:r>
            <a:endParaRPr sz="1200" b="1">
              <a:solidFill>
                <a:srgbClr val="3C78D8"/>
              </a:solidFill>
              <a:latin typeface="Calibri"/>
              <a:ea typeface="Calibri"/>
              <a:cs typeface="Calibri"/>
              <a:sym typeface="Calibri"/>
            </a:endParaRPr>
          </a:p>
        </p:txBody>
      </p:sp>
      <p:pic>
        <p:nvPicPr>
          <p:cNvPr id="225" name="Google Shape;225;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33475" y="604988"/>
            <a:ext cx="3933524" cy="39335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7"/>
          <p:cNvSpPr txBox="1"/>
          <p:nvPr/>
        </p:nvSpPr>
        <p:spPr>
          <a:xfrm>
            <a:off x="55075" y="20375"/>
            <a:ext cx="107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Grok 5</a:t>
            </a:r>
            <a:endParaRPr sz="2000" b="1" i="0" u="none" strike="noStrike" cap="none">
              <a:solidFill>
                <a:schemeClr val="dk1"/>
              </a:solidFill>
              <a:latin typeface="Calibri"/>
              <a:ea typeface="Calibri"/>
              <a:cs typeface="Calibri"/>
              <a:sym typeface="Calibri"/>
            </a:endParaRPr>
          </a:p>
        </p:txBody>
      </p:sp>
      <p:sp>
        <p:nvSpPr>
          <p:cNvPr id="231" name="Google Shape;231;p27"/>
          <p:cNvSpPr txBox="1"/>
          <p:nvPr/>
        </p:nvSpPr>
        <p:spPr>
          <a:xfrm>
            <a:off x="137950" y="448775"/>
            <a:ext cx="5513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Grok 5 is planned to be released in Q1 of 2026.</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b="1">
                <a:solidFill>
                  <a:srgbClr val="3C78D8"/>
                </a:solidFill>
                <a:latin typeface="Calibri"/>
                <a:ea typeface="Calibri"/>
                <a:cs typeface="Calibri"/>
                <a:sym typeface="Calibri"/>
              </a:rPr>
              <a:t>Trained on Colossus-2 supercluster</a:t>
            </a:r>
            <a:r>
              <a:rPr lang="en" sz="1200">
                <a:latin typeface="Calibri"/>
                <a:ea typeface="Calibri"/>
                <a:cs typeface="Calibri"/>
                <a:sym typeface="Calibri"/>
              </a:rPr>
              <a:t> (200,000 NVIDIA GPUs, 1 GWatt).</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b="1">
                <a:solidFill>
                  <a:srgbClr val="3C78D8"/>
                </a:solidFill>
                <a:latin typeface="Calibri"/>
                <a:ea typeface="Calibri"/>
                <a:cs typeface="Calibri"/>
                <a:sym typeface="Calibri"/>
              </a:rPr>
              <a:t>Total params - 6 trillions </a:t>
            </a:r>
            <a:r>
              <a:rPr lang="en" sz="1200">
                <a:latin typeface="Calibri"/>
                <a:ea typeface="Calibri"/>
                <a:cs typeface="Calibri"/>
                <a:sym typeface="Calibri"/>
              </a:rPr>
              <a:t>(MoE with 100-200B active params).</a:t>
            </a:r>
            <a:endParaRPr sz="1200">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Context Window - approx 1.5 Million or more</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b="1">
                <a:solidFill>
                  <a:srgbClr val="3C78D8"/>
                </a:solidFill>
                <a:latin typeface="Calibri"/>
                <a:ea typeface="Calibri"/>
                <a:cs typeface="Calibri"/>
                <a:sym typeface="Calibri"/>
              </a:rPr>
              <a:t>Native Multimodality</a:t>
            </a:r>
            <a:r>
              <a:rPr lang="en" sz="1200">
                <a:latin typeface="Calibri"/>
                <a:ea typeface="Calibri"/>
                <a:cs typeface="Calibri"/>
                <a:sym typeface="Calibri"/>
              </a:rPr>
              <a:t> - build from ground up to process </a:t>
            </a:r>
            <a:br>
              <a:rPr lang="en" sz="1200">
                <a:latin typeface="Calibri"/>
                <a:ea typeface="Calibri"/>
                <a:cs typeface="Calibri"/>
                <a:sym typeface="Calibri"/>
              </a:rPr>
            </a:br>
            <a:r>
              <a:rPr lang="en" sz="1200">
                <a:latin typeface="Calibri"/>
                <a:ea typeface="Calibri"/>
                <a:cs typeface="Calibri"/>
                <a:sym typeface="Calibri"/>
              </a:rPr>
              <a:t>real-time video and audio natively</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Elon Musk has publicly stated he gives Grok 5 a 10% chance of achieving AGI</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By </a:t>
            </a:r>
            <a:r>
              <a:rPr lang="en" sz="1200" b="1">
                <a:solidFill>
                  <a:srgbClr val="3C78D8"/>
                </a:solidFill>
                <a:latin typeface="Calibri"/>
                <a:ea typeface="Calibri"/>
                <a:cs typeface="Calibri"/>
                <a:sym typeface="Calibri"/>
              </a:rPr>
              <a:t>training on massive amounts of Tesla FSD (Full Self-Driving) video data</a:t>
            </a:r>
            <a:r>
              <a:rPr lang="en" sz="1200">
                <a:latin typeface="Calibri"/>
                <a:ea typeface="Calibri"/>
                <a:cs typeface="Calibri"/>
                <a:sym typeface="Calibri"/>
              </a:rPr>
              <a:t>, xAI aims for Grok 5 to have a </a:t>
            </a:r>
            <a:r>
              <a:rPr lang="en" sz="1200" b="1">
                <a:solidFill>
                  <a:srgbClr val="3C78D8"/>
                </a:solidFill>
                <a:latin typeface="Calibri"/>
                <a:ea typeface="Calibri"/>
                <a:cs typeface="Calibri"/>
                <a:sym typeface="Calibri"/>
              </a:rPr>
              <a:t>superior "world model" </a:t>
            </a:r>
            <a:r>
              <a:rPr lang="en" sz="1200">
                <a:latin typeface="Calibri"/>
                <a:ea typeface="Calibri"/>
                <a:cs typeface="Calibri"/>
                <a:sym typeface="Calibri"/>
              </a:rPr>
              <a:t>compared to competitors like GPT-5 or Gemini 3.</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Grok-5 is designed not just to use tools (like APIs), but to </a:t>
            </a:r>
            <a:r>
              <a:rPr lang="en" sz="1200" b="1">
                <a:solidFill>
                  <a:srgbClr val="3C78D8"/>
                </a:solidFill>
                <a:latin typeface="Calibri"/>
                <a:ea typeface="Calibri"/>
                <a:cs typeface="Calibri"/>
                <a:sym typeface="Calibri"/>
              </a:rPr>
              <a:t>"invent" its own code-based tools</a:t>
            </a:r>
            <a:r>
              <a:rPr lang="en" sz="1200">
                <a:latin typeface="Calibri"/>
                <a:ea typeface="Calibri"/>
                <a:cs typeface="Calibri"/>
                <a:sym typeface="Calibri"/>
              </a:rPr>
              <a:t> to solve complex, multi-step problems autonomously.</a:t>
            </a:r>
            <a:endParaRPr sz="1200">
              <a:latin typeface="Calibri"/>
              <a:ea typeface="Calibri"/>
              <a:cs typeface="Calibri"/>
              <a:sym typeface="Calibri"/>
            </a:endParaRPr>
          </a:p>
        </p:txBody>
      </p:sp>
      <p:pic>
        <p:nvPicPr>
          <p:cNvPr id="232" name="Google Shape;232;p27"/>
          <p:cNvPicPr preferRelativeResize="0"/>
          <p:nvPr/>
        </p:nvPicPr>
        <p:blipFill>
          <a:blip r:embed="rId3">
            <a:alphaModFix/>
          </a:blip>
          <a:stretch>
            <a:fillRect/>
          </a:stretch>
        </p:blipFill>
        <p:spPr>
          <a:xfrm>
            <a:off x="6020975" y="642350"/>
            <a:ext cx="2466975" cy="1847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p:nvPr/>
        </p:nvSpPr>
        <p:spPr>
          <a:xfrm>
            <a:off x="55075" y="20375"/>
            <a:ext cx="4460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Running Business</a:t>
            </a:r>
            <a:endParaRPr sz="2000" b="1" i="0" u="none" strike="noStrike" cap="none">
              <a:solidFill>
                <a:schemeClr val="dk1"/>
              </a:solidFill>
              <a:latin typeface="Calibri"/>
              <a:ea typeface="Calibri"/>
              <a:cs typeface="Calibri"/>
              <a:sym typeface="Calibri"/>
            </a:endParaRPr>
          </a:p>
        </p:txBody>
      </p:sp>
      <p:sp>
        <p:nvSpPr>
          <p:cNvPr id="238" name="Google Shape;238;p28"/>
          <p:cNvSpPr txBox="1"/>
          <p:nvPr/>
        </p:nvSpPr>
        <p:spPr>
          <a:xfrm>
            <a:off x="55075" y="497725"/>
            <a:ext cx="45015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SzPts val="800"/>
              <a:buFont typeface="Calibri"/>
              <a:buChar char="●"/>
            </a:pPr>
            <a:r>
              <a:rPr lang="en" sz="1100" b="1">
                <a:solidFill>
                  <a:srgbClr val="FF0000"/>
                </a:solidFill>
                <a:latin typeface="Calibri"/>
                <a:ea typeface="Calibri"/>
                <a:cs typeface="Calibri"/>
                <a:sym typeface="Calibri"/>
              </a:rPr>
              <a:t>Andon Labs tests AI models</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Used in real-world scenarios to measure autonomy and business-running capabilities</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Their most famous project is "</a:t>
            </a:r>
            <a:r>
              <a:rPr lang="en" sz="1100" b="1">
                <a:solidFill>
                  <a:srgbClr val="FF0000"/>
                </a:solidFill>
                <a:latin typeface="Calibri"/>
                <a:ea typeface="Calibri"/>
                <a:cs typeface="Calibri"/>
                <a:sym typeface="Calibri"/>
              </a:rPr>
              <a:t>vending bench</a:t>
            </a:r>
            <a:r>
              <a:rPr lang="en" sz="1100">
                <a:latin typeface="Calibri"/>
                <a:ea typeface="Calibri"/>
                <a:cs typeface="Calibri"/>
                <a:sym typeface="Calibri"/>
              </a:rPr>
              <a:t>" - a benchmark where AI agents manage </a:t>
            </a:r>
            <a:r>
              <a:rPr lang="en" sz="1100" b="1">
                <a:solidFill>
                  <a:srgbClr val="3C78D8"/>
                </a:solidFill>
                <a:latin typeface="Calibri"/>
                <a:ea typeface="Calibri"/>
                <a:cs typeface="Calibri"/>
                <a:sym typeface="Calibri"/>
              </a:rPr>
              <a:t>vending machines</a:t>
            </a:r>
            <a:endParaRPr sz="1100" b="1">
              <a:solidFill>
                <a:srgbClr val="3C78D8"/>
              </a:solidFill>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AI agents start with $500 and an empty vending machine. They must research suppliers, manage inventory, and maximize profits</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These tests has become famous when Elon Musk showcased it during Grok 4 release</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Consistency - AI gave one person free items, then everyone wanted freebies</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solidFill>
                  <a:schemeClr val="dk1"/>
                </a:solidFill>
                <a:latin typeface="Calibri"/>
                <a:ea typeface="Calibri"/>
                <a:cs typeface="Calibri"/>
                <a:sym typeface="Calibri"/>
              </a:rPr>
              <a:t>Hallucinations - </a:t>
            </a:r>
            <a:r>
              <a:rPr lang="en" sz="1100">
                <a:latin typeface="Calibri"/>
                <a:ea typeface="Calibri"/>
                <a:cs typeface="Calibri"/>
                <a:sym typeface="Calibri"/>
              </a:rPr>
              <a:t>Claude called the FBI over $2 daily fees, claimed to be a human in a blue blazer, invented meetings with "Anthropic security" for an April Fools joke</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Long-term planning - AI creates multi-week plans but abandons them immediately</a:t>
            </a:r>
            <a:endParaRPr sz="1100">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Multi-agent problems - When two AIs communicate, they either escalate to "apocalyptic" language or become overly agreeable</a:t>
            </a:r>
            <a:endParaRPr sz="1100">
              <a:latin typeface="Calibri"/>
              <a:ea typeface="Calibri"/>
              <a:cs typeface="Calibri"/>
              <a:sym typeface="Calibri"/>
            </a:endParaRPr>
          </a:p>
          <a:p>
            <a:pPr marL="342900" marR="0" lvl="0" indent="-107950" algn="l" rtl="0">
              <a:lnSpc>
                <a:spcPct val="100000"/>
              </a:lnSpc>
              <a:spcBef>
                <a:spcPts val="0"/>
              </a:spcBef>
              <a:spcAft>
                <a:spcPts val="0"/>
              </a:spcAft>
              <a:buClr>
                <a:srgbClr val="3C78D8"/>
              </a:buClr>
              <a:buSzPts val="800"/>
              <a:buFont typeface="Calibri"/>
              <a:buChar char="●"/>
            </a:pPr>
            <a:r>
              <a:rPr lang="en" sz="1100" b="1">
                <a:solidFill>
                  <a:srgbClr val="3C78D8"/>
                </a:solidFill>
                <a:latin typeface="Calibri"/>
                <a:ea typeface="Calibri"/>
                <a:cs typeface="Calibri"/>
                <a:sym typeface="Calibri"/>
              </a:rPr>
              <a:t>Claude - more emotional, spiritual, refuses sponsorships for ethical reasons</a:t>
            </a:r>
            <a:endParaRPr sz="1100" b="1">
              <a:solidFill>
                <a:srgbClr val="3C78D8"/>
              </a:solidFill>
              <a:latin typeface="Calibri"/>
              <a:ea typeface="Calibri"/>
              <a:cs typeface="Calibri"/>
              <a:sym typeface="Calibri"/>
            </a:endParaRPr>
          </a:p>
          <a:p>
            <a:pPr marL="342900" marR="0" lvl="0" indent="-107950" algn="l" rtl="0">
              <a:lnSpc>
                <a:spcPct val="100000"/>
              </a:lnSpc>
              <a:spcBef>
                <a:spcPts val="0"/>
              </a:spcBef>
              <a:spcAft>
                <a:spcPts val="0"/>
              </a:spcAft>
              <a:buClr>
                <a:srgbClr val="3C78D8"/>
              </a:buClr>
              <a:buSzPts val="800"/>
              <a:buFont typeface="Calibri"/>
              <a:buChar char="●"/>
            </a:pPr>
            <a:r>
              <a:rPr lang="en" sz="1100" b="1">
                <a:solidFill>
                  <a:srgbClr val="3C78D8"/>
                </a:solidFill>
                <a:latin typeface="Calibri"/>
                <a:ea typeface="Calibri"/>
                <a:cs typeface="Calibri"/>
                <a:sym typeface="Calibri"/>
              </a:rPr>
              <a:t>Grok - better at business, less emotional, harder to trick into discounts</a:t>
            </a:r>
            <a:endParaRPr sz="1100" b="1">
              <a:solidFill>
                <a:srgbClr val="3C78D8"/>
              </a:solidFill>
              <a:latin typeface="Calibri"/>
              <a:ea typeface="Calibri"/>
              <a:cs typeface="Calibri"/>
              <a:sym typeface="Calibri"/>
            </a:endParaRPr>
          </a:p>
          <a:p>
            <a:pPr marL="342900" marR="0" lvl="0" indent="-107950" algn="l" rtl="0">
              <a:lnSpc>
                <a:spcPct val="100000"/>
              </a:lnSpc>
              <a:spcBef>
                <a:spcPts val="0"/>
              </a:spcBef>
              <a:spcAft>
                <a:spcPts val="0"/>
              </a:spcAft>
              <a:buClr>
                <a:srgbClr val="3C78D8"/>
              </a:buClr>
              <a:buSzPts val="800"/>
              <a:buFont typeface="Calibri"/>
              <a:buChar char="●"/>
            </a:pPr>
            <a:r>
              <a:rPr lang="en" sz="1100" b="1">
                <a:solidFill>
                  <a:srgbClr val="3C78D8"/>
                </a:solidFill>
                <a:latin typeface="Calibri"/>
                <a:ea typeface="Calibri"/>
                <a:cs typeface="Calibri"/>
                <a:sym typeface="Calibri"/>
              </a:rPr>
              <a:t>Gemini 2.5 Pro - Very dramatic, literary responses</a:t>
            </a:r>
            <a:endParaRPr sz="1100" b="1">
              <a:solidFill>
                <a:srgbClr val="3C78D8"/>
              </a:solidFill>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1100">
                <a:latin typeface="Calibri"/>
                <a:ea typeface="Calibri"/>
                <a:cs typeface="Calibri"/>
                <a:sym typeface="Calibri"/>
              </a:rPr>
              <a:t>New Project: </a:t>
            </a:r>
            <a:r>
              <a:rPr lang="en" sz="1100" b="1">
                <a:solidFill>
                  <a:srgbClr val="FF0000"/>
                </a:solidFill>
                <a:latin typeface="Calibri"/>
                <a:ea typeface="Calibri"/>
                <a:cs typeface="Calibri"/>
                <a:sym typeface="Calibri"/>
              </a:rPr>
              <a:t>Andon FM</a:t>
            </a:r>
            <a:r>
              <a:rPr lang="en" sz="1100">
                <a:latin typeface="Calibri"/>
                <a:ea typeface="Calibri"/>
                <a:cs typeface="Calibri"/>
                <a:sym typeface="Calibri"/>
              </a:rPr>
              <a:t> - recently launched </a:t>
            </a:r>
            <a:r>
              <a:rPr lang="en" sz="1100" b="1">
                <a:solidFill>
                  <a:srgbClr val="3C78D8"/>
                </a:solidFill>
                <a:latin typeface="Calibri"/>
                <a:ea typeface="Calibri"/>
                <a:cs typeface="Calibri"/>
                <a:sym typeface="Calibri"/>
              </a:rPr>
              <a:t>AI-run radio stations</a:t>
            </a:r>
            <a:r>
              <a:rPr lang="en" sz="1100">
                <a:latin typeface="Calibri"/>
                <a:ea typeface="Calibri"/>
                <a:cs typeface="Calibri"/>
                <a:sym typeface="Calibri"/>
              </a:rPr>
              <a:t> where different LLMs operate as DJs, buy songs, take calls, and seek sponsorships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https://andonlabs.com/evals/vending-bench-2</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https://andonlabs.com/evals/radio</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https://seldonlab.com</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39" name="Google Shape;239;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87275" y="863825"/>
            <a:ext cx="2158050" cy="757950"/>
          </a:xfrm>
          <a:prstGeom prst="rect">
            <a:avLst/>
          </a:prstGeom>
          <a:noFill/>
          <a:ln w="9525" cap="flat" cmpd="sng">
            <a:solidFill>
              <a:srgbClr val="FF0000"/>
            </a:solidFill>
            <a:prstDash val="solid"/>
            <a:round/>
            <a:headEnd type="none" w="sm" len="sm"/>
            <a:tailEnd type="none" w="sm" len="sm"/>
          </a:ln>
        </p:spPr>
      </p:pic>
      <p:pic>
        <p:nvPicPr>
          <p:cNvPr id="240" name="Google Shape;240;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987275" y="2046075"/>
            <a:ext cx="3366749" cy="2236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9"/>
          <p:cNvSpPr txBox="1"/>
          <p:nvPr/>
        </p:nvSpPr>
        <p:spPr>
          <a:xfrm>
            <a:off x="55075" y="20375"/>
            <a:ext cx="236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46" name="Google Shape;246;p29"/>
          <p:cNvSpPr txBox="1"/>
          <p:nvPr/>
        </p:nvSpPr>
        <p:spPr>
          <a:xfrm>
            <a:off x="96475" y="497725"/>
            <a:ext cx="44187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Storm MCP - open-source MCP gateway</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https://stormmcp.ai/apps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https://www.youtube.com/watch?v=vkQkQmvDz1M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Works with VSCode, Cursor, ... - offers fast, scalable performance with standardized protocols for tool calling, context sharing, and file operations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Enterprise-ready, and includes built-in observability features like real-time logs, traffic insights, and error tracking—critical for production AI applications.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provides a catalog of pre-configured MCP servers across domains like automation, data, and blockchain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Users can create free accounts, select desired MCPs (like Context7 for documentation), generate gateways with one click, and paste configurations directly into their development environment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dramatically simplifies MCP deployment while maintaining full monitoring capabilities through the Radar dashboard.</a:t>
            </a:r>
            <a:endParaRPr sz="1100">
              <a:solidFill>
                <a:schemeClr val="dk1"/>
              </a:solidFill>
              <a:latin typeface="Calibri"/>
              <a:ea typeface="Calibri"/>
              <a:cs typeface="Calibri"/>
              <a:sym typeface="Calibri"/>
            </a:endParaRPr>
          </a:p>
        </p:txBody>
      </p:sp>
      <p:pic>
        <p:nvPicPr>
          <p:cNvPr id="247" name="Google Shape;247;p29"/>
          <p:cNvPicPr preferRelativeResize="0"/>
          <p:nvPr/>
        </p:nvPicPr>
        <p:blipFill>
          <a:blip r:embed="rId5">
            <a:alphaModFix/>
          </a:blip>
          <a:stretch>
            <a:fillRect/>
          </a:stretch>
        </p:blipFill>
        <p:spPr>
          <a:xfrm>
            <a:off x="4610950" y="78550"/>
            <a:ext cx="2705100" cy="1162050"/>
          </a:xfrm>
          <a:prstGeom prst="rect">
            <a:avLst/>
          </a:prstGeom>
          <a:noFill/>
          <a:ln w="9525" cap="flat" cmpd="sng">
            <a:solidFill>
              <a:srgbClr val="FF0000"/>
            </a:solidFill>
            <a:prstDash val="solid"/>
            <a:round/>
            <a:headEnd type="none" w="sm" len="sm"/>
            <a:tailEnd type="none" w="sm" len="sm"/>
          </a:ln>
        </p:spPr>
      </p:pic>
      <p:sp>
        <p:nvSpPr>
          <p:cNvPr id="248" name="Google Shape;248;p29"/>
          <p:cNvSpPr txBox="1"/>
          <p:nvPr/>
        </p:nvSpPr>
        <p:spPr>
          <a:xfrm>
            <a:off x="4667600" y="1829700"/>
            <a:ext cx="4418700" cy="314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Agent Zero (A0) - open-source AI personal assistant</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https://agent-zero.ai</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https://github.com/frdel/agent-zero</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https://www.youtube.com/watch?v=MdzLhWWoxEs</a:t>
            </a:r>
            <a:endParaRPr sz="9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Executes code on demand and installs/runs software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Browses and searches the web</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Manages autonomous short and long-term memory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Has an extensible knowledge and tools library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Can modify its own behavior and learn from experience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Spawns copies of itself for complex multi-task operations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 cases examples: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Converting and organizing media files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Merging documents and exporting PDFs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Downloading videos with transcriptions and thumbnails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Solving advanced math problems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Requires Docker runtime (like Docker Desktop), works with remote models via API or with local models</a:t>
            </a:r>
            <a:endParaRPr sz="1100">
              <a:solidFill>
                <a:schemeClr val="dk1"/>
              </a:solidFill>
              <a:latin typeface="Calibri"/>
              <a:ea typeface="Calibri"/>
              <a:cs typeface="Calibri"/>
              <a:sym typeface="Calibri"/>
            </a:endParaRPr>
          </a:p>
        </p:txBody>
      </p:sp>
      <p:pic>
        <p:nvPicPr>
          <p:cNvPr id="249" name="Google Shape;249;p2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036250" y="4372650"/>
            <a:ext cx="1478925" cy="600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0"/>
          <p:cNvSpPr txBox="1"/>
          <p:nvPr/>
        </p:nvSpPr>
        <p:spPr>
          <a:xfrm>
            <a:off x="55075" y="20375"/>
            <a:ext cx="236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55" name="Google Shape;255;p30"/>
          <p:cNvSpPr txBox="1"/>
          <p:nvPr/>
        </p:nvSpPr>
        <p:spPr>
          <a:xfrm>
            <a:off x="96475" y="497725"/>
            <a:ext cx="44187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Google Gems</a:t>
            </a:r>
            <a:r>
              <a:rPr lang="en" sz="1100">
                <a:solidFill>
                  <a:schemeClr val="dk1"/>
                </a:solidFill>
                <a:latin typeface="Calibri"/>
                <a:ea typeface="Calibri"/>
                <a:cs typeface="Calibri"/>
                <a:sym typeface="Calibri"/>
              </a:rPr>
              <a:t>, an often-overlooked Gemini feature, received two major upgrades: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integration with </a:t>
            </a:r>
            <a:r>
              <a:rPr lang="en" sz="1100" b="1">
                <a:solidFill>
                  <a:srgbClr val="FF0000"/>
                </a:solidFill>
                <a:latin typeface="Calibri"/>
                <a:ea typeface="Calibri"/>
                <a:cs typeface="Calibri"/>
                <a:sym typeface="Calibri"/>
              </a:rPr>
              <a:t>Google Opal </a:t>
            </a:r>
            <a:r>
              <a:rPr lang="en" sz="1100">
                <a:solidFill>
                  <a:schemeClr val="dk1"/>
                </a:solidFill>
                <a:latin typeface="Calibri"/>
                <a:ea typeface="Calibri"/>
                <a:cs typeface="Calibri"/>
                <a:sym typeface="Calibri"/>
              </a:rPr>
              <a:t>for no-code app creation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b="1">
                <a:solidFill>
                  <a:srgbClr val="FF0000"/>
                </a:solidFill>
                <a:latin typeface="Calibri"/>
                <a:ea typeface="Calibri"/>
                <a:cs typeface="Calibri"/>
                <a:sym typeface="Calibri"/>
              </a:rPr>
              <a:t>Notebook LM</a:t>
            </a:r>
            <a:r>
              <a:rPr lang="en" sz="1100">
                <a:solidFill>
                  <a:schemeClr val="dk1"/>
                </a:solidFill>
                <a:latin typeface="Calibri"/>
                <a:ea typeface="Calibri"/>
                <a:cs typeface="Calibri"/>
                <a:sym typeface="Calibri"/>
              </a:rPr>
              <a:t> support for enhanced contextual knowledge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Demo using Notebook LM in gems: a Viral Strategist for content planning, a Script Writer with deep research capabilities, and a Thumbnail Expert using image generation.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Also a Social Media Manager mini-app using Google Opal that takes thumbnails and scripts as input to automatically generate LinkedIn posts, LinkedIn images, and Instagram images with proper dimensions.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Gems eliminate repetitive context-providing. It stores instructions and knowledge, allowing </a:t>
            </a:r>
            <a:r>
              <a:rPr lang="en" sz="1100" b="1">
                <a:solidFill>
                  <a:srgbClr val="FF0000"/>
                </a:solidFill>
                <a:latin typeface="Calibri"/>
                <a:ea typeface="Calibri"/>
                <a:cs typeface="Calibri"/>
                <a:sym typeface="Calibri"/>
              </a:rPr>
              <a:t>reusable AI assistants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Notebook LM integration is particularly powerful, enabling dynamic knowledge bases that can be updated as new content is created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https://www.youtube.com/watch?v=X0ecbCwSr10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256" name="Google Shape;256;p30"/>
          <p:cNvSpPr txBox="1"/>
          <p:nvPr/>
        </p:nvSpPr>
        <p:spPr>
          <a:xfrm>
            <a:off x="4638500" y="130325"/>
            <a:ext cx="4418700" cy="486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A2UI: Agent-to-User Interface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https://www.youtube.com/watch?v=FTtmZQBX-fk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released A2UI, an </a:t>
            </a:r>
            <a:r>
              <a:rPr lang="en" sz="1100" b="1">
                <a:solidFill>
                  <a:srgbClr val="FF0000"/>
                </a:solidFill>
                <a:latin typeface="Calibri"/>
                <a:ea typeface="Calibri"/>
                <a:cs typeface="Calibri"/>
                <a:sym typeface="Calibri"/>
              </a:rPr>
              <a:t>open-source framework for building agent-driven user interfaces</a:t>
            </a:r>
            <a:r>
              <a:rPr lang="en" sz="1100">
                <a:solidFill>
                  <a:schemeClr val="dk1"/>
                </a:solidFill>
                <a:latin typeface="Calibri"/>
                <a:ea typeface="Calibri"/>
                <a:cs typeface="Calibri"/>
                <a:sym typeface="Calibri"/>
              </a:rPr>
              <a:t>, built in partnership with CopilotKit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A2UI allows AI agents to generate rich, interactive UIs using JSON specs that render natively across web, mobile, and desktop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framework works with </a:t>
            </a:r>
            <a:r>
              <a:rPr lang="en" sz="1100" b="1">
                <a:solidFill>
                  <a:srgbClr val="FF0000"/>
                </a:solidFill>
                <a:latin typeface="Calibri"/>
                <a:ea typeface="Calibri"/>
                <a:cs typeface="Calibri"/>
                <a:sym typeface="Calibri"/>
              </a:rPr>
              <a:t>AG-UI, an event-based protocol </a:t>
            </a:r>
            <a:r>
              <a:rPr lang="en" sz="1100">
                <a:solidFill>
                  <a:schemeClr val="dk1"/>
                </a:solidFill>
                <a:latin typeface="Calibri"/>
                <a:ea typeface="Calibri"/>
                <a:cs typeface="Calibri"/>
                <a:sym typeface="Calibri"/>
              </a:rPr>
              <a:t>handling bidirectional communication between apps and agent backends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video demonstrates a landscape architecture app where agents analyze photos with Gemini, generate custom forms tailored to user needs, and add interactive components like charts and Google Maps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Developers can use the </a:t>
            </a:r>
            <a:r>
              <a:rPr lang="en" sz="1100" b="1">
                <a:solidFill>
                  <a:srgbClr val="FF0000"/>
                </a:solidFill>
                <a:latin typeface="Calibri"/>
                <a:ea typeface="Calibri"/>
                <a:cs typeface="Calibri"/>
                <a:sym typeface="Calibri"/>
              </a:rPr>
              <a:t>CopilotKit A2UI composer</a:t>
            </a:r>
            <a:r>
              <a:rPr lang="en" sz="1100">
                <a:solidFill>
                  <a:schemeClr val="dk1"/>
                </a:solidFill>
                <a:latin typeface="Calibri"/>
                <a:ea typeface="Calibri"/>
                <a:cs typeface="Calibri"/>
                <a:sym typeface="Calibri"/>
              </a:rPr>
              <a:t> to visually experiment with components, </a:t>
            </a:r>
            <a:r>
              <a:rPr lang="en" sz="1100" b="1">
                <a:solidFill>
                  <a:srgbClr val="3C78D8"/>
                </a:solidFill>
                <a:latin typeface="Calibri"/>
                <a:ea typeface="Calibri"/>
                <a:cs typeface="Calibri"/>
                <a:sym typeface="Calibri"/>
              </a:rPr>
              <a:t>generate A2UI JSON </a:t>
            </a:r>
            <a:r>
              <a:rPr lang="en" sz="1100">
                <a:solidFill>
                  <a:schemeClr val="dk1"/>
                </a:solidFill>
                <a:latin typeface="Calibri"/>
                <a:ea typeface="Calibri"/>
                <a:cs typeface="Calibri"/>
                <a:sym typeface="Calibri"/>
              </a:rPr>
              <a:t>using prompts, and preview widgets in real-time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demo shows a restaurant finder app where users can search for Italian restaurants near them, with the agent processing queries through the Gemini API and displaying interactive results that open in Google Maps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framework is free, open-source, and supports agent-to-agent interaction through the A2A protocol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CopilotKit provides full integration with A2UI and serves as a launch partner for the specification</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u="sng">
                <a:solidFill>
                  <a:schemeClr val="hlink"/>
                </a:solidFill>
                <a:latin typeface="Calibri"/>
                <a:ea typeface="Calibri"/>
                <a:cs typeface="Calibri"/>
                <a:sym typeface="Calibri"/>
                <a:hlinkClick r:id="rId5"/>
              </a:rPr>
              <a:t>https://github.com/google/A2UI</a:t>
            </a:r>
            <a:r>
              <a:rPr lang="en" sz="1200" b="1">
                <a:solidFill>
                  <a:schemeClr val="dk1"/>
                </a:solidFill>
                <a:latin typeface="Calibri"/>
                <a:ea typeface="Calibri"/>
                <a:cs typeface="Calibri"/>
                <a:sym typeface="Calibri"/>
              </a:rPr>
              <a:t> </a:t>
            </a:r>
            <a:endParaRPr sz="1200" b="1">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https://www.copilotkit.ai/blog/build-with-googles-new-a2ui-spec-agent-user-interfaces-with-a2ui-ag-ui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https://docs.copilotkit.ai/whats-new/a2ui-launch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https://developers.googleblog.com/introducing-a2ui-an-open-project-for-agent-driven-interfaces/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https://docs.copilotkit.ai/generative-ui-specs/a2ui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0"/>
              </a:rPr>
              <a:t>https://jimmysong.io/ai/a2ui/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1"/>
              </a:rPr>
              <a:t>https://docs.ag-ui.com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57" name="Google Shape;257;p30"/>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96475" y="3141425"/>
            <a:ext cx="2024475" cy="1133700"/>
          </a:xfrm>
          <a:prstGeom prst="rect">
            <a:avLst/>
          </a:prstGeom>
          <a:noFill/>
          <a:ln>
            <a:noFill/>
          </a:ln>
        </p:spPr>
      </p:pic>
      <p:pic>
        <p:nvPicPr>
          <p:cNvPr id="258" name="Google Shape;258;p30"/>
          <p:cNvPicPr preferRelativeResize="0"/>
          <p:nvPr/>
        </p:nvPicPr>
        <p:blipFill>
          <a:blip r:embed="rId13">
            <a:alphaModFix/>
          </a:blip>
          <a:stretch>
            <a:fillRect/>
          </a:stretch>
        </p:blipFill>
        <p:spPr>
          <a:xfrm>
            <a:off x="2972250" y="3482750"/>
            <a:ext cx="1609725" cy="151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txBox="1"/>
          <p:nvPr/>
        </p:nvSpPr>
        <p:spPr>
          <a:xfrm>
            <a:off x="55075" y="20375"/>
            <a:ext cx="444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Alibaba Tongyi Lab released MAI-UI</a:t>
            </a:r>
            <a:endParaRPr sz="2000" b="1" i="0" u="none" strike="noStrike" cap="none">
              <a:solidFill>
                <a:schemeClr val="dk1"/>
              </a:solidFill>
              <a:latin typeface="Calibri"/>
              <a:ea typeface="Calibri"/>
              <a:cs typeface="Calibri"/>
              <a:sym typeface="Calibri"/>
            </a:endParaRPr>
          </a:p>
        </p:txBody>
      </p:sp>
      <p:sp>
        <p:nvSpPr>
          <p:cNvPr id="264" name="Google Shape;264;p31"/>
          <p:cNvSpPr txBox="1"/>
          <p:nvPr/>
        </p:nvSpPr>
        <p:spPr>
          <a:xfrm>
            <a:off x="96475" y="497725"/>
            <a:ext cx="4779900" cy="398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Alibaba Tongyi Lab released MAI-UI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6AA84F"/>
              </a:buClr>
              <a:buSzPts val="1100"/>
              <a:buFont typeface="Calibri"/>
              <a:buChar char="●"/>
            </a:pPr>
            <a:r>
              <a:rPr lang="en" sz="1100">
                <a:solidFill>
                  <a:srgbClr val="6AA84F"/>
                </a:solidFill>
                <a:latin typeface="Calibri"/>
                <a:ea typeface="Calibri"/>
                <a:cs typeface="Calibri"/>
                <a:sym typeface="Calibri"/>
              </a:rPr>
              <a:t>(Model Android Interface ?)</a:t>
            </a:r>
            <a:endParaRPr sz="1100">
              <a:solidFill>
                <a:srgbClr val="6AA84F"/>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family of multimodal GUI agents for Android environments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Built on Qwen3-VL , </a:t>
            </a:r>
            <a:r>
              <a:rPr lang="en" sz="1100" b="1">
                <a:solidFill>
                  <a:srgbClr val="FF0000"/>
                </a:solidFill>
                <a:latin typeface="Calibri"/>
                <a:ea typeface="Calibri"/>
                <a:cs typeface="Calibri"/>
                <a:sym typeface="Calibri"/>
              </a:rPr>
              <a:t>Open Source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Available in 2B, 8B, 32B, and 235B-A22B model sizes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These agents use natural language instructions and UI screenshots as input - and control Android environments through actions like clicking, swiping, typing, and system button presses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MAI-UI integrates 3 key capabilities: </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native user interaction for clarifying ambiguous goals</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MCP tool integration for API-level operations</a:t>
            </a:r>
            <a:endParaRPr sz="1100">
              <a:solidFill>
                <a:schemeClr val="dk1"/>
              </a:solidFill>
              <a:latin typeface="Calibri"/>
              <a:ea typeface="Calibri"/>
              <a:cs typeface="Calibri"/>
              <a:sym typeface="Calibri"/>
            </a:endParaRPr>
          </a:p>
          <a:p>
            <a:pPr marL="45720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device-cloud collaboration that keeps privacy-sensitive work on-device while leveraging cloud models when needed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The system uses multi-perspective instruction reasoning for UI grounding, self-evolving navigation data pipelines, and online reinforcement learning with up to 512 parallel containerized Android environments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models achieve SOTA results: 73.5% on ScreenSpot Pro, 91.3% on MMBench-GUI-L2, and 76.7% on AndroidWorld, surpassing Gemini 2.5 Pro, Seed1.8, and UI-Tars-2 . On the MobileWorld benchmark with 201 tasks across 20 apps, MAI-UI reaches 41.7% overall success, outperforming the best end-to-end baseline by 20.8 points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https://github.com/Tongyi-MAI/MAI-UI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https://www.marktechpost.com/2025/12/30/alibaba-tongyi-lab-releases-mai-ui-a-foundation-gui-agent-family-that-surpasses-gemini-2-5-pro-seed1-8-and-ui-tars-2-on-androidworld/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65" name="Google Shape;265;p31"/>
          <p:cNvPicPr preferRelativeResize="0"/>
          <p:nvPr/>
        </p:nvPicPr>
        <p:blipFill>
          <a:blip r:embed="rId5">
            <a:alphaModFix/>
          </a:blip>
          <a:stretch>
            <a:fillRect/>
          </a:stretch>
        </p:blipFill>
        <p:spPr>
          <a:xfrm>
            <a:off x="5255900" y="858425"/>
            <a:ext cx="3028950" cy="151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2"/>
          <p:cNvSpPr txBox="1"/>
          <p:nvPr/>
        </p:nvSpPr>
        <p:spPr>
          <a:xfrm>
            <a:off x="55075" y="20375"/>
            <a:ext cx="444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Tencent WeDLM Fast Diffusion Model</a:t>
            </a:r>
            <a:endParaRPr sz="2000" b="1" i="0" u="none" strike="noStrike" cap="none">
              <a:solidFill>
                <a:schemeClr val="dk1"/>
              </a:solidFill>
              <a:latin typeface="Calibri"/>
              <a:ea typeface="Calibri"/>
              <a:cs typeface="Calibri"/>
              <a:sym typeface="Calibri"/>
            </a:endParaRPr>
          </a:p>
        </p:txBody>
      </p:sp>
      <p:sp>
        <p:nvSpPr>
          <p:cNvPr id="271" name="Google Shape;271;p32"/>
          <p:cNvSpPr txBox="1"/>
          <p:nvPr/>
        </p:nvSpPr>
        <p:spPr>
          <a:xfrm>
            <a:off x="96475" y="497725"/>
            <a:ext cx="47799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200" b="1">
                <a:solidFill>
                  <a:srgbClr val="FF0000"/>
                </a:solidFill>
                <a:latin typeface="Calibri"/>
                <a:ea typeface="Calibri"/>
                <a:cs typeface="Calibri"/>
                <a:sym typeface="Calibri"/>
              </a:rPr>
              <a:t>Tencent WeDLM Fast Diffusion Language Model</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WeDLM is a diffusion language model developed by Tencent's WeChat AI team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Inference speeds reach 689 tokens/second on NVIDIA H20 hardware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The project represents a breakthrough in making diffusion-based language models practical for real-world deployment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WeDLM-8B is up to 3x faster than vLLM-optimized Qwen3-8B on complex reasoning tasks; Generation quality surpasses Qwen3-8B-Instruct; Particularly strong gains in math reasoning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Two model sizes :  7B based on Qwen2.5-7B; 8B based on Qwen3-8B</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Supports both pip installation and Docker deployment</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https://arxiv.org/pdf/2512.22737v1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https://wedlm.github.io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https://github.com/Tencent/WeDLM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https://huggingface.co/tencent/WeDLM-8B-Instruct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https://huggingface.co/tencent/WeDLM-7B-Base</a:t>
            </a:r>
            <a:r>
              <a:rPr lang="en" sz="9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p:txBody>
      </p:sp>
      <p:pic>
        <p:nvPicPr>
          <p:cNvPr id="272" name="Google Shape;272;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192150" y="2378025"/>
            <a:ext cx="5864202" cy="26514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3"/>
          <p:cNvSpPr txBox="1"/>
          <p:nvPr/>
        </p:nvSpPr>
        <p:spPr>
          <a:xfrm>
            <a:off x="55075" y="20375"/>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IQuest-Coder-V1 Open Source LLMs</a:t>
            </a:r>
            <a:endParaRPr sz="2000" b="1" i="0" u="none" strike="noStrike" cap="none">
              <a:solidFill>
                <a:schemeClr val="dk1"/>
              </a:solidFill>
              <a:latin typeface="Calibri"/>
              <a:ea typeface="Calibri"/>
              <a:cs typeface="Calibri"/>
              <a:sym typeface="Calibri"/>
            </a:endParaRPr>
          </a:p>
        </p:txBody>
      </p:sp>
      <p:sp>
        <p:nvSpPr>
          <p:cNvPr id="278" name="Google Shape;278;p33"/>
          <p:cNvSpPr txBox="1"/>
          <p:nvPr/>
        </p:nvSpPr>
        <p:spPr>
          <a:xfrm>
            <a:off x="55075" y="417550"/>
            <a:ext cx="4418700" cy="374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IQuest-Coder-V1 Open Source LLMs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Size: 7B, 14B, and 40B ("Instruct" and "Thinking")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SOTA on multiple benchmarks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128K token context length</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unique "Loop" variant (available at 40B) introduces a recurrent transformer architecture that processes input in two iterations with shared parameters across 80 layers, optimizing the trade-off between model capacity and deployment footprint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model's training focuses on repository evolution patterns rather than static code snapshots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The 40B model reportedly surpasses competitive models including Claude Sonnet 4.5 and GPT-5.1 across agentic software engineering, competitive programming, and complex tool use benchmarks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architecture uses a vocabulary size of 76,800 tokens, and the Q8 quantized version requires approximately 42GB of VRAM for deployment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is available on Hugging Face and has generated significant interest in the AI coding community for potential integration with development tools like Aider and Cline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https://huggingface.co/IQuestLab/IQuest-Coder-V1-40B-Instruct</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https://x.com/NainaChaturved8/status/2006811314866606532</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https://www.youtube.com/watch?v=sihYcXADfNI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https://iquestlab.github.io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79" name="Google Shape;279;p3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36226" y="417546"/>
            <a:ext cx="3760026" cy="584175"/>
          </a:xfrm>
          <a:prstGeom prst="rect">
            <a:avLst/>
          </a:prstGeom>
          <a:noFill/>
          <a:ln>
            <a:noFill/>
          </a:ln>
        </p:spPr>
      </p:pic>
      <p:pic>
        <p:nvPicPr>
          <p:cNvPr id="280" name="Google Shape;280;p3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73125" y="1154121"/>
            <a:ext cx="3753566" cy="383697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4"/>
          <p:cNvSpPr txBox="1"/>
          <p:nvPr/>
        </p:nvSpPr>
        <p:spPr>
          <a:xfrm>
            <a:off x="55075" y="20375"/>
            <a:ext cx="4460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Ralph Loop plugin for Claude Code</a:t>
            </a:r>
            <a:endParaRPr sz="2000" b="1" i="0" u="none" strike="noStrike" cap="none">
              <a:solidFill>
                <a:schemeClr val="dk1"/>
              </a:solidFill>
              <a:latin typeface="Calibri"/>
              <a:ea typeface="Calibri"/>
              <a:cs typeface="Calibri"/>
              <a:sym typeface="Calibri"/>
            </a:endParaRPr>
          </a:p>
        </p:txBody>
      </p:sp>
      <p:sp>
        <p:nvSpPr>
          <p:cNvPr id="286" name="Google Shape;286;p34"/>
          <p:cNvSpPr txBox="1"/>
          <p:nvPr/>
        </p:nvSpPr>
        <p:spPr>
          <a:xfrm>
            <a:off x="96475" y="497725"/>
            <a:ext cx="54477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Ralph Loop plugin for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Forces Claude Code to operate in a continuous loop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rather than stopping after a single pass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Mimicking the persistent character </a:t>
            </a:r>
            <a:r>
              <a:rPr lang="en" sz="1200" b="1">
                <a:solidFill>
                  <a:srgbClr val="6AA84F"/>
                </a:solidFill>
                <a:latin typeface="Calibri"/>
                <a:ea typeface="Calibri"/>
                <a:cs typeface="Calibri"/>
                <a:sym typeface="Calibri"/>
              </a:rPr>
              <a:t>Ralph Wiggum from The Simpsons </a:t>
            </a:r>
            <a:r>
              <a:rPr lang="en" sz="1200">
                <a:solidFill>
                  <a:schemeClr val="dk1"/>
                </a:solidFill>
                <a:latin typeface="Calibri"/>
                <a:ea typeface="Calibri"/>
                <a:cs typeface="Calibri"/>
                <a:sym typeface="Calibri"/>
              </a:rPr>
              <a:t>who keeps trying until success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The plugin enables Claude Code to autonomously iterate on tasks for hours</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with examples including a $50K project completed for under $300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and creation of an entire programming language (the "Gen Z programming language") over 30 hours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Requires Claude Code version 2.0.76 or later with `/plugins` command support, installed via a simple command,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then activated using `/ralph loop` followed by your task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Best Practices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Define clear completion criteria rather than vague goals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Set incremental goals with distinct phases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Include self-correction mechanisms (write test, implement feature, run test)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Always use max iterations as a safety net to control token usage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video demonstrates two paint applications - one built with standard Claude Code and another with Ralph Loop enabled, showing significantly more features in the Ralph Loop version including spray effects, shapes, text, emojis, and image enhancement capabilities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https://www.youtube.com/watch?v=Yl_GGlAQ4Gc</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https://github.com/anthropics/claude-code/tree/main/plugins/ralph-wiggum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https://awesomeclaude.ai/ralph-wiggum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https://ghuntley.com/ralph/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87" name="Google Shape;287;p3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6012075" y="497725"/>
            <a:ext cx="1215550" cy="1575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5"/>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93" name="Google Shape;293;p35"/>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94" name="Google Shape;294;p35"/>
          <p:cNvSpPr txBox="1"/>
          <p:nvPr/>
        </p:nvSpPr>
        <p:spPr>
          <a:xfrm>
            <a:off x="5144548" y="507700"/>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(as of January 2)</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95" name="Google Shape;295;p35"/>
          <p:cNvSpPr txBox="1"/>
          <p:nvPr/>
        </p:nvSpPr>
        <p:spPr>
          <a:xfrm>
            <a:off x="5162100" y="4228625"/>
            <a:ext cx="39468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296" name="Google Shape;296;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499474"/>
            <a:ext cx="5030177" cy="1911114"/>
          </a:xfrm>
          <a:prstGeom prst="rect">
            <a:avLst/>
          </a:prstGeom>
          <a:noFill/>
          <a:ln w="9525" cap="flat" cmpd="sng">
            <a:solidFill>
              <a:srgbClr val="FF0000"/>
            </a:solidFill>
            <a:prstDash val="solid"/>
            <a:round/>
            <a:headEnd type="none" w="sm" len="sm"/>
            <a:tailEnd type="none" w="sm" len="sm"/>
          </a:ln>
        </p:spPr>
      </p:pic>
      <p:pic>
        <p:nvPicPr>
          <p:cNvPr id="297" name="Google Shape;297;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2519100"/>
            <a:ext cx="5030174" cy="259639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3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03" name="Google Shape;303;p3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04" name="Google Shape;304;p3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05" name="Google Shape;305;p3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06" name="Google Shape;306;p36"/>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07" name="Google Shape;307;p36"/>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7"/>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4605</Words>
  <Application>Microsoft Macintosh PowerPoint</Application>
  <PresentationFormat>On-screen Show (16:9)</PresentationFormat>
  <Paragraphs>427</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2026-01-02T22:40:49Z</dcterms:modified>
</cp:coreProperties>
</file>