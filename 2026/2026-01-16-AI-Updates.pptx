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Roboto Mono" pitchFamily="49"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47DCB8-AB78-4C2D-A51F-8BC70CF6AB95}">
  <a:tblStyle styleId="{A247DCB8-AB78-4C2D-A51F-8BC70CF6AB9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b58b3504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3b58b3504a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92717718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927177183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b65f3db6b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b65f3db6b3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ab6c7aaa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ab6c7aaab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92740392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927403926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b5f690ee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3b5f690eef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b65f3db6b3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b65f3db6b3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b63147c7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b63147c7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927403926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3927403926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27bd182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927bd1826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b65f3db6b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b65f3db6b3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9285adbff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9285adbff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b69311637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3b69311637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b6201008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3b6201008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b5f690eef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b5f690eef2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9274039260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39274039260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b65f3db6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g3b65f3db6b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anthropic.com/news/claude-opus-4-1" TargetMode="External"/><Relationship Id="rId39" Type="http://schemas.openxmlformats.org/officeDocument/2006/relationships/hyperlink" Target="https://huggingface.co/meituan-longcat/LongCat-Flash-Chat" TargetMode="External"/><Relationship Id="rId21" Type="http://schemas.openxmlformats.org/officeDocument/2006/relationships/hyperlink" Target="https://blog.google/products/gemini/gemini-3-flash" TargetMode="External"/><Relationship Id="rId34" Type="http://schemas.openxmlformats.org/officeDocument/2006/relationships/hyperlink" Target="https://x.ai/news/grok-4-1-fast"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www.anthropic.com/news/claude-sonnet-4-5" TargetMode="External"/><Relationship Id="rId33" Type="http://schemas.openxmlformats.org/officeDocument/2006/relationships/hyperlink" Target="https://openai.com/index/introducing-o3-and-o4-mini/" TargetMode="External"/><Relationship Id="rId38" Type="http://schemas.openxmlformats.org/officeDocument/2006/relationships/hyperlink" Target="https://www.anthropic.com/news/claude-haiku-4-5"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x.ai/news/grok-4-1" TargetMode="External"/><Relationship Id="rId29" Type="http://schemas.openxmlformats.org/officeDocument/2006/relationships/hyperlink" Target="https://huggingface.co/zai-org/GLM-4.7"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aistudio.google.com/app/prompts/new_chat?model=gemini-2.5-pro" TargetMode="External"/><Relationship Id="rId32" Type="http://schemas.openxmlformats.org/officeDocument/2006/relationships/hyperlink" Target="https://platform.openai.com/docs/models/gpt-5" TargetMode="External"/><Relationship Id="rId37" Type="http://schemas.openxmlformats.org/officeDocument/2006/relationships/hyperlink" Target="https://qwen.ai/blog?id=241398b9cd6353de490b0f82806c7848c5d2777d&amp;from=research.latest-advancements-list" TargetMode="External"/><Relationship Id="rId40" Type="http://schemas.openxmlformats.org/officeDocument/2006/relationships/hyperlink" Target="https://api-docs.deepseek.com/news/news250929"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openai.com/index/gpt-5-1/" TargetMode="External"/><Relationship Id="rId28" Type="http://schemas.openxmlformats.org/officeDocument/2006/relationships/hyperlink" Target="https://openai.com/index/introducing-gpt-4-5/" TargetMode="External"/><Relationship Id="rId36" Type="http://schemas.openxmlformats.org/officeDocument/2006/relationships/hyperlink" Target="https://www.anthropic.com/news/claude-4" TargetMode="External"/><Relationship Id="rId10" Type="http://schemas.openxmlformats.org/officeDocument/2006/relationships/hyperlink" Target="https://llmworld.net/llm_leaderboards/" TargetMode="External"/><Relationship Id="rId19" Type="http://schemas.openxmlformats.org/officeDocument/2006/relationships/hyperlink" Target="https://aistudio.google.com/app/prompts/new_chat?model=gemini-3-pro-preview" TargetMode="External"/><Relationship Id="rId31" Type="http://schemas.openxmlformats.org/officeDocument/2006/relationships/hyperlink" Target="https://openai.com/index/introducing-gpt-5-2"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5" TargetMode="External"/><Relationship Id="rId27" Type="http://schemas.openxmlformats.org/officeDocument/2006/relationships/hyperlink" Target="https://ernie.baidu.com/blog/posts/ernie-5.0-preview-1203-release-on-lmarena/" TargetMode="External"/><Relationship Id="rId30" Type="http://schemas.openxmlformats.org/officeDocument/2006/relationships/hyperlink" Target="https://x.com/OpenAI/status/1905331956856050135" TargetMode="External"/><Relationship Id="rId35" Type="http://schemas.openxmlformats.org/officeDocument/2006/relationships/hyperlink" Target="https://huggingface.co/moonshotai/Kimi-K2-Thinking"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x.com/akshay_pachaar/status/2010408900798062652"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hyperlink" Target="https://x.com/business/status/2010632000382636056"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hyperlink" Target="https://www.bloomberg.com/news/articles/2026-01-12/deepseek-founder-liang-s-funds-surge-57-as-china-quants-bo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hyperlink" Target="https://medium.com/@tarangtattva2/a-new-agent-memory-system-just-dropped-and-it-finally-fixes-what-weve-been-getting-wrong-fc84589f75ca"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hyperlink" Target="https://www.marktechpost.com/2026/01/09/meta-and-harvard-researchers-introduce-the-confucius-code-agent-cca-a-software-engineering-agent-that-can-operate-at-large-scale-codebase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hyperlink" Target="https://www.theverge.com/news/860446/google-ai-shopping-standard-buy-button-gemini" TargetMode="External"/><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hyperlink" Target="https://apnews.com/article/google-gemini-ai-shopping-checkout-walmart-f1679240ba93d40b90a97348b73039d3" TargetMode="External"/><Relationship Id="rId4" Type="http://schemas.openxmlformats.org/officeDocument/2006/relationships/hyperlink" Target="https://blog.google/products/ads-commerce/agentic-commerce-ai-tools-protocol-retailers-platforms/"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https://arxiv.org/abs/2601.03335v1" TargetMode="External"/><Relationship Id="rId7" Type="http://schemas.openxmlformats.org/officeDocument/2006/relationships/hyperlink" Target="https://en.wikipedia.org/wiki/Core_War"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linkedin.com/posts/sakana-ai_introducing-digital-red-queen-drq-adversarial-activity-7415218635578757120-esoB" TargetMode="External"/><Relationship Id="rId5" Type="http://schemas.openxmlformats.org/officeDocument/2006/relationships/hyperlink" Target="https://sakana.ai/drq/" TargetMode="External"/><Relationship Id="rId4" Type="http://schemas.openxmlformats.org/officeDocument/2006/relationships/hyperlink" Target="https://www.youtube.com/watch?v=-EgTYDKtEw8" TargetMode="External"/><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top3dshop.com/robots/unitree-robotics-robots/" TargetMode="External"/><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hyperlink" Target="https://www.youtube.com/@sentdex" TargetMode="External"/><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hyperlink" Target="https://www.anthropic.com/engineering/demystifying-evals-for-ai-agent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hyperlink" Target="https://www.utilitydive.com/news/meta-nuclear-deal-oklo-vistra-terrapower-ai-data-centers/809215/" TargetMode="External"/><Relationship Id="rId7" Type="http://schemas.openxmlformats.org/officeDocument/2006/relationships/hyperlink" Target="https://www.reuters.com/technology/deepseek-launch-new-ai-model-focused-coding-february-information-reports-2026-01-09/"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theverge.com/news/859564/deepseek-is-reportedly-close-to-releasing-a-flagship-ai-model-that-outperforms-claude-and-chatgpt-in-coding" TargetMode="External"/><Relationship Id="rId5" Type="http://schemas.openxmlformats.org/officeDocument/2006/relationships/hyperlink" Target="https://techcrunch.com/2026/01/09/meta-signs-deals-with-three-nuclear-companies-for-6-plus-gw-of-power/" TargetMode="External"/><Relationship Id="rId4" Type="http://schemas.openxmlformats.org/officeDocument/2006/relationships/hyperlink" Target="https://www.cbsnews.com/news/meta-nuclear-power-deals-ai-data-centers/" TargetMode="External"/><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hyperlink" Target="https://www.futuretools.io/tools/surfsense" TargetMode="External"/><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github.com/MODSetter/SurfSense" TargetMode="External"/><Relationship Id="rId5" Type="http://schemas.openxmlformats.org/officeDocument/2006/relationships/hyperlink" Target="https://www.surfsense.com/pricing" TargetMode="External"/><Relationship Id="rId4" Type="http://schemas.openxmlformats.org/officeDocument/2006/relationships/hyperlink" Target="https://www.surfsense.com"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cnbc.com/2025/12/10/nvidia-backed-starcloud-trains-first-ai-model-in-space-orbital-data-centers.html" TargetMode="External"/><Relationship Id="rId7"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blogs.nvidia.com/blog/starcloud/" TargetMode="External"/><Relationship Id="rId5" Type="http://schemas.openxmlformats.org/officeDocument/2006/relationships/hyperlink" Target="https://introl.com/blog/orbital-data-centers-space-ai-infrastructure-guide-2025" TargetMode="External"/><Relationship Id="rId4" Type="http://schemas.openxmlformats.org/officeDocument/2006/relationships/hyperlink" Target="https://www.geekwire.com/2025/starcloud-power-training-ai-space/"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RSNuB9pj9P8"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2WTFuSeYJ6o"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hyperlink" Target="https://www.coursera.org/articles/ai-engineer-salary"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hyperlink" Target="https://www.roberthalf.com/us/en/job-details/aiml-engineer"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x.com/StartupArchive_/status/2010396665199403341"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trueup.io/layoff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801555"/>
            <a:ext cx="44202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 Source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Hardware Progress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High-Flyer 56.6% Returns</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Jan </a:t>
            </a:r>
            <a:r>
              <a:rPr lang="en" sz="2200" b="1">
                <a:solidFill>
                  <a:srgbClr val="3C78D8"/>
                </a:solidFill>
                <a:latin typeface="Calibri"/>
                <a:ea typeface="Calibri"/>
                <a:cs typeface="Calibri"/>
                <a:sym typeface="Calibri"/>
              </a:rPr>
              <a:t>16</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90536" y="3640901"/>
            <a:ext cx="4502400" cy="51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xxx</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171059"/>
            <a:ext cx="4420200" cy="2481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HINDSIGHT Agent Memory System</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Confucius SDK (Meta and Harvard)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Universal Commerce Protocol (UCP)</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Sakana AI Paper on Self-Improving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Buying a Humanoid Robot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Demystifying evals for AI agents (Anthropic)</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Meta Nuclear Power for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DeepSeek V4 planned mid-February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SurfSense Open Source Notebook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Apple + Gemini</a:t>
            </a:r>
            <a:endParaRPr sz="1600" b="1">
              <a:solidFill>
                <a:srgbClr val="3C78D8"/>
              </a:solidFill>
              <a:latin typeface="Calibri"/>
              <a:ea typeface="Calibri"/>
              <a:cs typeface="Calibri"/>
              <a:sym typeface="Calibri"/>
            </a:endParaRPr>
          </a:p>
        </p:txBody>
      </p:sp>
      <p:sp>
        <p:nvSpPr>
          <p:cNvPr id="67" name="Google Shape;67;p15"/>
          <p:cNvSpPr txBox="1"/>
          <p:nvPr/>
        </p:nvSpPr>
        <p:spPr>
          <a:xfrm>
            <a:off x="4590536" y="1106427"/>
            <a:ext cx="4502400" cy="5109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StarCloud-1 Satellite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Elon Musk's 5 Year Vision</a:t>
            </a:r>
            <a:endParaRPr sz="1600" b="1">
              <a:solidFill>
                <a:srgbClr val="3C78D8"/>
              </a:solidFill>
              <a:latin typeface="Calibri"/>
              <a:ea typeface="Calibri"/>
              <a:cs typeface="Calibri"/>
              <a:sym typeface="Calibri"/>
            </a:endParaRPr>
          </a:p>
        </p:txBody>
      </p:sp>
      <p:sp>
        <p:nvSpPr>
          <p:cNvPr id="68" name="Google Shape;68;p15"/>
          <p:cNvSpPr txBox="1"/>
          <p:nvPr/>
        </p:nvSpPr>
        <p:spPr>
          <a:xfrm>
            <a:off x="4811980" y="211712"/>
            <a:ext cx="4149300" cy="2646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Hot Area - Agent Memory Systems</a:t>
            </a:r>
            <a:endParaRPr sz="16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244248"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998655"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80840"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p:nvPr/>
        </p:nvSpPr>
        <p:spPr>
          <a:xfrm>
            <a:off x="3338040" y="77870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p:nvPr/>
        </p:nvSpPr>
        <p:spPr>
          <a:xfrm>
            <a:off x="384813" y="203630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378228" y="168331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335041" y="9613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January 9</a:t>
            </a:r>
            <a:endParaRPr sz="1000">
              <a:solidFill>
                <a:schemeClr val="dk1"/>
              </a:solidFill>
              <a:latin typeface="Calibri"/>
              <a:ea typeface="Calibri"/>
              <a:cs typeface="Calibri"/>
              <a:sym typeface="Calibri"/>
            </a:endParaRPr>
          </a:p>
        </p:txBody>
      </p:sp>
      <p:sp>
        <p:nvSpPr>
          <p:cNvPr id="84" name="Google Shape;84;p16"/>
          <p:cNvSpPr/>
          <p:nvPr/>
        </p:nvSpPr>
        <p:spPr>
          <a:xfrm>
            <a:off x="3337376" y="130802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6"/>
          <p:cNvSpPr txBox="1"/>
          <p:nvPr/>
        </p:nvSpPr>
        <p:spPr>
          <a:xfrm>
            <a:off x="3053206" y="43883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6" name="Google Shape;86;p16"/>
          <p:cNvSpPr/>
          <p:nvPr/>
        </p:nvSpPr>
        <p:spPr>
          <a:xfrm>
            <a:off x="3344075" y="43967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p:nvPr/>
        </p:nvSpPr>
        <p:spPr>
          <a:xfrm>
            <a:off x="3335154" y="114647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6"/>
          <p:cNvSpPr txBox="1"/>
          <p:nvPr/>
        </p:nvSpPr>
        <p:spPr>
          <a:xfrm flipH="1">
            <a:off x="3266190" y="166720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89" name="Google Shape;89;p16"/>
          <p:cNvSpPr txBox="1"/>
          <p:nvPr/>
        </p:nvSpPr>
        <p:spPr>
          <a:xfrm flipH="1">
            <a:off x="3278082" y="293197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0" name="Google Shape;90;p16"/>
          <p:cNvSpPr/>
          <p:nvPr/>
        </p:nvSpPr>
        <p:spPr>
          <a:xfrm>
            <a:off x="3337376" y="14899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6"/>
          <p:cNvSpPr/>
          <p:nvPr/>
        </p:nvSpPr>
        <p:spPr>
          <a:xfrm>
            <a:off x="3337376" y="185720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6"/>
          <p:cNvSpPr/>
          <p:nvPr/>
        </p:nvSpPr>
        <p:spPr>
          <a:xfrm>
            <a:off x="388460" y="186768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txBox="1"/>
          <p:nvPr/>
        </p:nvSpPr>
        <p:spPr>
          <a:xfrm flipH="1">
            <a:off x="315101" y="94304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4" name="Google Shape;94;p16"/>
          <p:cNvSpPr txBox="1"/>
          <p:nvPr/>
        </p:nvSpPr>
        <p:spPr>
          <a:xfrm flipH="1">
            <a:off x="322721" y="4743059"/>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5" name="Google Shape;95;p16"/>
          <p:cNvSpPr/>
          <p:nvPr/>
        </p:nvSpPr>
        <p:spPr>
          <a:xfrm>
            <a:off x="384820" y="403449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6"/>
          <p:cNvSpPr txBox="1"/>
          <p:nvPr/>
        </p:nvSpPr>
        <p:spPr>
          <a:xfrm flipH="1">
            <a:off x="319325" y="149643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7" name="Google Shape;97;p16"/>
          <p:cNvSpPr/>
          <p:nvPr/>
        </p:nvSpPr>
        <p:spPr>
          <a:xfrm>
            <a:off x="378228" y="131376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p:nvPr/>
        </p:nvSpPr>
        <p:spPr>
          <a:xfrm>
            <a:off x="386592" y="25762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p:nvPr/>
        </p:nvSpPr>
        <p:spPr>
          <a:xfrm>
            <a:off x="3337376" y="22179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p:nvPr/>
        </p:nvSpPr>
        <p:spPr>
          <a:xfrm>
            <a:off x="3338579" y="312554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txBox="1"/>
          <p:nvPr/>
        </p:nvSpPr>
        <p:spPr>
          <a:xfrm>
            <a:off x="3053206" y="347545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2" name="Google Shape;102;p16"/>
          <p:cNvSpPr/>
          <p:nvPr/>
        </p:nvSpPr>
        <p:spPr>
          <a:xfrm>
            <a:off x="3344075" y="348384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6114208" y="720883"/>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p:nvPr/>
        </p:nvSpPr>
        <p:spPr>
          <a:xfrm>
            <a:off x="6114208" y="92594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p:nvPr/>
        </p:nvSpPr>
        <p:spPr>
          <a:xfrm>
            <a:off x="6114208" y="113099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6"/>
          <p:cNvSpPr/>
          <p:nvPr/>
        </p:nvSpPr>
        <p:spPr>
          <a:xfrm>
            <a:off x="6114208" y="133605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txBox="1"/>
          <p:nvPr/>
        </p:nvSpPr>
        <p:spPr>
          <a:xfrm>
            <a:off x="6294334" y="679168"/>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08" name="Google Shape;108;p16"/>
          <p:cNvSpPr txBox="1"/>
          <p:nvPr/>
        </p:nvSpPr>
        <p:spPr>
          <a:xfrm>
            <a:off x="6290884" y="884225"/>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09" name="Google Shape;109;p16"/>
          <p:cNvSpPr txBox="1"/>
          <p:nvPr/>
        </p:nvSpPr>
        <p:spPr>
          <a:xfrm>
            <a:off x="6297459" y="1089282"/>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10" name="Google Shape;110;p16"/>
          <p:cNvSpPr txBox="1"/>
          <p:nvPr/>
        </p:nvSpPr>
        <p:spPr>
          <a:xfrm>
            <a:off x="6298784" y="1294339"/>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11" name="Google Shape;111;p16"/>
          <p:cNvSpPr/>
          <p:nvPr/>
        </p:nvSpPr>
        <p:spPr>
          <a:xfrm>
            <a:off x="380840" y="113919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6"/>
          <p:cNvSpPr/>
          <p:nvPr/>
        </p:nvSpPr>
        <p:spPr>
          <a:xfrm>
            <a:off x="386592"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378972" y="33001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p:nvPr/>
        </p:nvSpPr>
        <p:spPr>
          <a:xfrm>
            <a:off x="384820" y="36718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p:nvPr/>
        </p:nvSpPr>
        <p:spPr>
          <a:xfrm>
            <a:off x="384820" y="3854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6"/>
          <p:cNvSpPr/>
          <p:nvPr/>
        </p:nvSpPr>
        <p:spPr>
          <a:xfrm>
            <a:off x="3335154" y="204309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p:nvPr/>
        </p:nvSpPr>
        <p:spPr>
          <a:xfrm>
            <a:off x="3337376" y="257609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txBox="1"/>
          <p:nvPr/>
        </p:nvSpPr>
        <p:spPr>
          <a:xfrm>
            <a:off x="3189086" y="402829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9" name="Google Shape;119;p16"/>
          <p:cNvSpPr/>
          <p:nvPr/>
        </p:nvSpPr>
        <p:spPr>
          <a:xfrm>
            <a:off x="3337376" y="421693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txBox="1"/>
          <p:nvPr/>
        </p:nvSpPr>
        <p:spPr>
          <a:xfrm>
            <a:off x="231819" y="293603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1" name="Google Shape;121;p16"/>
          <p:cNvSpPr/>
          <p:nvPr/>
        </p:nvSpPr>
        <p:spPr>
          <a:xfrm>
            <a:off x="384820" y="312771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p:nvPr/>
        </p:nvSpPr>
        <p:spPr>
          <a:xfrm>
            <a:off x="384820" y="42052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p:nvPr/>
        </p:nvSpPr>
        <p:spPr>
          <a:xfrm>
            <a:off x="3338579" y="276486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p:nvPr/>
        </p:nvSpPr>
        <p:spPr>
          <a:xfrm>
            <a:off x="388460" y="221820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p:nvPr/>
        </p:nvSpPr>
        <p:spPr>
          <a:xfrm>
            <a:off x="378972" y="275915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txBox="1"/>
          <p:nvPr/>
        </p:nvSpPr>
        <p:spPr>
          <a:xfrm>
            <a:off x="87039" y="348988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7" name="Google Shape;127;p16"/>
          <p:cNvSpPr/>
          <p:nvPr/>
        </p:nvSpPr>
        <p:spPr>
          <a:xfrm>
            <a:off x="386305" y="349713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p:nvPr/>
        </p:nvSpPr>
        <p:spPr>
          <a:xfrm>
            <a:off x="384820" y="43881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p:nvPr/>
        </p:nvSpPr>
        <p:spPr>
          <a:xfrm>
            <a:off x="384820" y="45710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p:nvPr/>
        </p:nvSpPr>
        <p:spPr>
          <a:xfrm>
            <a:off x="3335154" y="24012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txBox="1"/>
          <p:nvPr/>
        </p:nvSpPr>
        <p:spPr>
          <a:xfrm>
            <a:off x="3053206" y="330019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p:nvPr/>
        </p:nvSpPr>
        <p:spPr>
          <a:xfrm>
            <a:off x="3344075" y="330858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6"/>
          <p:cNvSpPr/>
          <p:nvPr/>
        </p:nvSpPr>
        <p:spPr>
          <a:xfrm>
            <a:off x="3338579" y="366656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txBox="1"/>
          <p:nvPr/>
        </p:nvSpPr>
        <p:spPr>
          <a:xfrm>
            <a:off x="3053206" y="457121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5" name="Google Shape;135;p16"/>
          <p:cNvSpPr/>
          <p:nvPr/>
        </p:nvSpPr>
        <p:spPr>
          <a:xfrm>
            <a:off x="3344075" y="457961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p:nvPr/>
        </p:nvSpPr>
        <p:spPr>
          <a:xfrm>
            <a:off x="3338579" y="384944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6"/>
          <p:cNvSpPr txBox="1"/>
          <p:nvPr/>
        </p:nvSpPr>
        <p:spPr>
          <a:xfrm>
            <a:off x="7349895" y="543655"/>
            <a:ext cx="17457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glm-4.6 - 355B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longcat-flash-chat - 560B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qwen3-max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qwen3-235b-a22b - 235B</a:t>
            </a:r>
            <a:endParaRPr sz="1000">
              <a:latin typeface="Calibri"/>
              <a:ea typeface="Calibri"/>
              <a:cs typeface="Calibri"/>
              <a:sym typeface="Calibri"/>
            </a:endParaRPr>
          </a:p>
        </p:txBody>
      </p:sp>
      <p:graphicFrame>
        <p:nvGraphicFramePr>
          <p:cNvPr id="138" name="Google Shape;138;p16"/>
          <p:cNvGraphicFramePr/>
          <p:nvPr>
            <p:extLst>
              <p:ext uri="{D42A27DB-BD31-4B8C-83A1-F6EECF244321}">
                <p14:modId xmlns:p14="http://schemas.microsoft.com/office/powerpoint/2010/main" val="3321374784"/>
              </p:ext>
            </p:extLst>
          </p:nvPr>
        </p:nvGraphicFramePr>
        <p:xfrm>
          <a:off x="516547" y="568122"/>
          <a:ext cx="2570471" cy="4503575"/>
        </p:xfrm>
        <a:graphic>
          <a:graphicData uri="http://schemas.openxmlformats.org/drawingml/2006/table">
            <a:tbl>
              <a:tblPr>
                <a:noFill/>
                <a:tableStyleId>{A247DCB8-AB78-4C2D-A51F-8BC70CF6AB95}</a:tableStyleId>
              </a:tblPr>
              <a:tblGrid>
                <a:gridCol w="2099218">
                  <a:extLst>
                    <a:ext uri="{9D8B030D-6E8A-4147-A177-3AD203B41FA5}">
                      <a16:colId xmlns:a16="http://schemas.microsoft.com/office/drawing/2014/main" val="20000"/>
                    </a:ext>
                  </a:extLst>
                </a:gridCol>
                <a:gridCol w="471253">
                  <a:extLst>
                    <a:ext uri="{9D8B030D-6E8A-4147-A177-3AD203B41FA5}">
                      <a16:colId xmlns:a16="http://schemas.microsoft.com/office/drawing/2014/main" val="20001"/>
                    </a:ext>
                  </a:extLst>
                </a:gridCol>
              </a:tblGrid>
              <a:tr h="180143">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80143">
                <a:tc>
                  <a:txBody>
                    <a:bodyPr/>
                    <a:lstStyle/>
                    <a:p>
                      <a:pPr marL="0" lvl="0" indent="0" algn="l" rtl="0">
                        <a:lnSpc>
                          <a:spcPct val="115000"/>
                        </a:lnSpc>
                        <a:spcBef>
                          <a:spcPts val="0"/>
                        </a:spcBef>
                        <a:spcAft>
                          <a:spcPts val="0"/>
                        </a:spcAft>
                        <a:buNone/>
                      </a:pPr>
                      <a:r>
                        <a:rPr lang="en" sz="800" u="sng" dirty="0">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gpt-5.1-high</a:t>
                      </a:r>
                      <a:endParaRPr sz="800" u="sng" dirty="0">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ernie-5.0-preview-1203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18"/>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19"/>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dirty="0">
                          <a:solidFill>
                            <a:srgbClr val="636879"/>
                          </a:solidFill>
                          <a:latin typeface="Calibri"/>
                          <a:ea typeface="Calibri"/>
                          <a:cs typeface="Calibri"/>
                          <a:sym typeface="Calibri"/>
                        </a:rPr>
                        <a:t>1430</a:t>
                      </a:r>
                      <a:endParaRPr sz="800" dirty="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39" name="Google Shape;139;p16"/>
          <p:cNvGraphicFramePr/>
          <p:nvPr>
            <p:extLst>
              <p:ext uri="{D42A27DB-BD31-4B8C-83A1-F6EECF244321}">
                <p14:modId xmlns:p14="http://schemas.microsoft.com/office/powerpoint/2010/main" val="1873500567"/>
              </p:ext>
            </p:extLst>
          </p:nvPr>
        </p:nvGraphicFramePr>
        <p:xfrm>
          <a:off x="3475674" y="562648"/>
          <a:ext cx="2570471" cy="4503575"/>
        </p:xfrm>
        <a:graphic>
          <a:graphicData uri="http://schemas.openxmlformats.org/drawingml/2006/table">
            <a:tbl>
              <a:tblPr>
                <a:noFill/>
                <a:tableStyleId>{A247DCB8-AB78-4C2D-A51F-8BC70CF6AB95}</a:tableStyleId>
              </a:tblPr>
              <a:tblGrid>
                <a:gridCol w="2099218">
                  <a:extLst>
                    <a:ext uri="{9D8B030D-6E8A-4147-A177-3AD203B41FA5}">
                      <a16:colId xmlns:a16="http://schemas.microsoft.com/office/drawing/2014/main" val="20000"/>
                    </a:ext>
                  </a:extLst>
                </a:gridCol>
                <a:gridCol w="471253">
                  <a:extLst>
                    <a:ext uri="{9D8B030D-6E8A-4147-A177-3AD203B41FA5}">
                      <a16:colId xmlns:a16="http://schemas.microsoft.com/office/drawing/2014/main" val="20001"/>
                    </a:ext>
                  </a:extLst>
                </a:gridCol>
              </a:tblGrid>
              <a:tr h="180143">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12"/>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17"/>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80143">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claude-sonnet-4-20250514-thinking-32k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40" name="Google Shape;140;p16"/>
          <p:cNvSpPr txBox="1"/>
          <p:nvPr/>
        </p:nvSpPr>
        <p:spPr>
          <a:xfrm>
            <a:off x="87039" y="493768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1" name="Google Shape;141;p16"/>
          <p:cNvSpPr/>
          <p:nvPr/>
        </p:nvSpPr>
        <p:spPr>
          <a:xfrm>
            <a:off x="386305" y="494493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16"/>
          <p:cNvSpPr/>
          <p:nvPr/>
        </p:nvSpPr>
        <p:spPr>
          <a:xfrm>
            <a:off x="3337376" y="494083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16"/>
          <p:cNvSpPr/>
          <p:nvPr/>
        </p:nvSpPr>
        <p:spPr>
          <a:xfrm>
            <a:off x="3338579" y="47562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7"/>
          <p:cNvSpPr txBox="1"/>
          <p:nvPr/>
        </p:nvSpPr>
        <p:spPr>
          <a:xfrm>
            <a:off x="55075" y="43025"/>
            <a:ext cx="276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 Source Models</a:t>
            </a:r>
            <a:endParaRPr sz="2000" b="1">
              <a:solidFill>
                <a:schemeClr val="dk1"/>
              </a:solidFill>
              <a:latin typeface="Calibri"/>
              <a:ea typeface="Calibri"/>
              <a:cs typeface="Calibri"/>
              <a:sym typeface="Calibri"/>
            </a:endParaRPr>
          </a:p>
        </p:txBody>
      </p:sp>
      <p:sp>
        <p:nvSpPr>
          <p:cNvPr id="149" name="Google Shape;149;p17"/>
          <p:cNvSpPr txBox="1"/>
          <p:nvPr/>
        </p:nvSpPr>
        <p:spPr>
          <a:xfrm>
            <a:off x="5947325" y="606325"/>
            <a:ext cx="31224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Fine Tuning Methods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https://x.com/akshay_pachaar/status/2010408900798062652</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 LoRA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 QLoRA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3. Prefix Tuning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4. Adapter Tuning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5. Instruction Tuning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6. P-Tuning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7. BitFit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8. Soft Prompts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9. RLHF</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10. RLAIF</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11. DPO (Direct Preference Optimization)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12. GRPO (Group Relative Policy Optimization)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13. RLAIF (RL with AI Feedback)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14. Multi-Task Fine-Tuning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15. Federated Fine-Tuning</a:t>
            </a:r>
            <a:endParaRPr sz="1200">
              <a:latin typeface="Calibri"/>
              <a:ea typeface="Calibri"/>
              <a:cs typeface="Calibri"/>
              <a:sym typeface="Calibri"/>
            </a:endParaRPr>
          </a:p>
        </p:txBody>
      </p:sp>
      <p:graphicFrame>
        <p:nvGraphicFramePr>
          <p:cNvPr id="150" name="Google Shape;150;p17"/>
          <p:cNvGraphicFramePr/>
          <p:nvPr/>
        </p:nvGraphicFramePr>
        <p:xfrm>
          <a:off x="55086" y="611181"/>
          <a:ext cx="3000000" cy="3000000"/>
        </p:xfrm>
        <a:graphic>
          <a:graphicData uri="http://schemas.openxmlformats.org/drawingml/2006/table">
            <a:tbl>
              <a:tblPr>
                <a:noFill/>
                <a:tableStyleId>{A247DCB8-AB78-4C2D-A51F-8BC70CF6AB95}</a:tableStyleId>
              </a:tblPr>
              <a:tblGrid>
                <a:gridCol w="1942425">
                  <a:extLst>
                    <a:ext uri="{9D8B030D-6E8A-4147-A177-3AD203B41FA5}">
                      <a16:colId xmlns:a16="http://schemas.microsoft.com/office/drawing/2014/main" val="20000"/>
                    </a:ext>
                  </a:extLst>
                </a:gridCol>
                <a:gridCol w="966450">
                  <a:extLst>
                    <a:ext uri="{9D8B030D-6E8A-4147-A177-3AD203B41FA5}">
                      <a16:colId xmlns:a16="http://schemas.microsoft.com/office/drawing/2014/main" val="20001"/>
                    </a:ext>
                  </a:extLst>
                </a:gridCol>
                <a:gridCol w="718775">
                  <a:extLst>
                    <a:ext uri="{9D8B030D-6E8A-4147-A177-3AD203B41FA5}">
                      <a16:colId xmlns:a16="http://schemas.microsoft.com/office/drawing/2014/main" val="20002"/>
                    </a:ext>
                  </a:extLst>
                </a:gridCol>
                <a:gridCol w="476300">
                  <a:extLst>
                    <a:ext uri="{9D8B030D-6E8A-4147-A177-3AD203B41FA5}">
                      <a16:colId xmlns:a16="http://schemas.microsoft.com/office/drawing/2014/main" val="20003"/>
                    </a:ext>
                  </a:extLst>
                </a:gridCol>
                <a:gridCol w="1679375">
                  <a:extLst>
                    <a:ext uri="{9D8B030D-6E8A-4147-A177-3AD203B41FA5}">
                      <a16:colId xmlns:a16="http://schemas.microsoft.com/office/drawing/2014/main" val="20004"/>
                    </a:ext>
                  </a:extLst>
                </a:gridCol>
              </a:tblGrid>
              <a:tr h="151075">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Name</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Size (Params)</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Architecture</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Quality</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Memory</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Qwen3-235B-A22B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235B (22B active)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9.2/10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~470GB (FP16), ~118GB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MiniMax M2</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230B (10B active)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8.8/10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~460GB (FP16), ~115GB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GLM-4.7</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355B (32B active)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9.0/10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~710GB (FP16), ~178GB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Qwen3-30B-A3B-Instruct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30B (3B active)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8.5/10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~60GB (FP16), ~15GB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4"/>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NVIDIA Nemotron-3-Nano-30B-A3B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30B (3B active)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8.3/10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~60GB (FP16), ~15GB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5"/>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Granite 4.0 H-Small</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32B (9B active)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Hybrid MoE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8.3/10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6"/>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OLMo 3 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8.6/10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7"/>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Qwen2.5-32B-Instruct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8.4/10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8"/>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OLMo 2 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8.5/10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9"/>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DeepSeek-R1-Distill-Qwen-32B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8.2/10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0"/>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Qwen2.5-Coder-32B-Instruct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8.1/10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1"/>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Mistral Small 3.1 24B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24B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8.4/10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~48GB (FP16), ~12GB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2"/>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Devstral Small 2 24B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24B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8.0/10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~48GB (FP16), ~12GB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3"/>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Gemma 3-27B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27B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7.8/10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~54GB (FP16), ~14GB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4"/>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OLMo 2 13B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13B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7.5/10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~26GB (FP16), ~7GB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5"/>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Phi-4</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14B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7.6/10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~28GB (FP16), ~7GB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6"/>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Ministral 3-14B (dense)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14B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7.4/10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~28GB (FP16), ~7GB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7"/>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Qwen2.5-14B-Instruct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14B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7.5/10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~28GB (FP16), ~7GB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8"/>
                  </a:ext>
                </a:extLst>
              </a:tr>
              <a:tr h="151075">
                <a:tc>
                  <a:txBody>
                    <a:bodyPr/>
                    <a:lstStyle/>
                    <a:p>
                      <a:pPr marL="0" lvl="0" indent="0" algn="l" rtl="0">
                        <a:spcBef>
                          <a:spcPts val="0"/>
                        </a:spcBef>
                        <a:spcAft>
                          <a:spcPts val="0"/>
                        </a:spcAft>
                        <a:buNone/>
                      </a:pPr>
                      <a:r>
                        <a:rPr lang="en" sz="1000">
                          <a:latin typeface="Calibri"/>
                          <a:ea typeface="Calibri"/>
                          <a:cs typeface="Calibri"/>
                          <a:sym typeface="Calibri"/>
                        </a:rPr>
                        <a:t>OLMo 3 7B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7B</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7.2/10</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a:latin typeface="Calibri"/>
                          <a:ea typeface="Calibri"/>
                          <a:cs typeface="Calibri"/>
                          <a:sym typeface="Calibri"/>
                        </a:rPr>
                        <a:t>~14GB (FP16), ~4GB (4-bit)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Nvidia Hardware Progress</a:t>
            </a:r>
            <a:endParaRPr sz="2000" b="1">
              <a:solidFill>
                <a:schemeClr val="dk1"/>
              </a:solidFill>
              <a:latin typeface="Calibri"/>
              <a:ea typeface="Calibri"/>
              <a:cs typeface="Calibri"/>
              <a:sym typeface="Calibri"/>
            </a:endParaRPr>
          </a:p>
        </p:txBody>
      </p:sp>
      <p:sp>
        <p:nvSpPr>
          <p:cNvPr id="156" name="Google Shape;156;p18"/>
          <p:cNvSpPr txBox="1"/>
          <p:nvPr/>
        </p:nvSpPr>
        <p:spPr>
          <a:xfrm>
            <a:off x="55077" y="369425"/>
            <a:ext cx="34161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Jensen Huang stated that Grok 5 will be a 7 Trillion parameter model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Vera Rubin requires 1/4 the number of GPUs to train MoE models compared to Blackwell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Rubin vs Blackwell: 10x cheaper inference, much faster, and </a:t>
            </a:r>
            <a:r>
              <a:rPr lang="en" sz="1200">
                <a:solidFill>
                  <a:schemeClr val="dk1"/>
                </a:solidFill>
                <a:latin typeface="Calibri"/>
                <a:ea typeface="Calibri"/>
                <a:cs typeface="Calibri"/>
                <a:sym typeface="Calibri"/>
              </a:rPr>
              <a:t>8x more inference per watt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Blackwell vs Hopper: up to 68x performance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improvement 2017-2026: </a:t>
            </a:r>
            <a:br>
              <a:rPr lang="en" sz="1200">
                <a:latin typeface="Calibri"/>
                <a:ea typeface="Calibri"/>
                <a:cs typeface="Calibri"/>
                <a:sym typeface="Calibri"/>
              </a:rPr>
            </a:br>
            <a:r>
              <a:rPr lang="en" sz="1200" b="1">
                <a:solidFill>
                  <a:srgbClr val="FF0000"/>
                </a:solidFill>
                <a:latin typeface="Calibri"/>
                <a:ea typeface="Calibri"/>
                <a:cs typeface="Calibri"/>
                <a:sym typeface="Calibri"/>
              </a:rPr>
              <a:t>Volta → Ampere (~2.5x) → Hopper (~2-3x) → Blackwell (~2-3x) → Rubin (~5x)</a:t>
            </a:r>
            <a:r>
              <a:rPr lang="en" sz="1200">
                <a:latin typeface="Calibri"/>
                <a:ea typeface="Calibri"/>
                <a:cs typeface="Calibri"/>
                <a:sym typeface="Calibri"/>
              </a:rPr>
              <a:t>, yielding a compound improvement approaching </a:t>
            </a:r>
            <a:r>
              <a:rPr lang="en" sz="1200" b="1">
                <a:solidFill>
                  <a:srgbClr val="FF0000"/>
                </a:solidFill>
                <a:latin typeface="Calibri"/>
                <a:ea typeface="Calibri"/>
                <a:cs typeface="Calibri"/>
                <a:sym typeface="Calibri"/>
              </a:rPr>
              <a:t>300-400x </a:t>
            </a:r>
            <a:r>
              <a:rPr lang="en" sz="1200">
                <a:latin typeface="Calibri"/>
                <a:ea typeface="Calibri"/>
                <a:cs typeface="Calibri"/>
                <a:sym typeface="Calibri"/>
              </a:rPr>
              <a:t>over nine years for AI-specific workloads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improvement 2007-2017: </a:t>
            </a:r>
            <a:r>
              <a:rPr lang="en" sz="1200" b="1">
                <a:solidFill>
                  <a:srgbClr val="FF0000"/>
                </a:solidFill>
                <a:latin typeface="Calibri"/>
                <a:ea typeface="Calibri"/>
                <a:cs typeface="Calibri"/>
                <a:sym typeface="Calibri"/>
              </a:rPr>
              <a:t>20x </a:t>
            </a:r>
            <a:r>
              <a:rPr lang="en" sz="1200">
                <a:solidFill>
                  <a:schemeClr val="dk1"/>
                </a:solidFill>
                <a:latin typeface="Calibri"/>
                <a:ea typeface="Calibri"/>
                <a:cs typeface="Calibri"/>
                <a:sym typeface="Calibri"/>
              </a:rPr>
              <a:t>(from 1 to 21.2 TFLOPS (FP16))</a:t>
            </a:r>
            <a:endParaRPr sz="1200">
              <a:solidFill>
                <a:schemeClr val="dk1"/>
              </a:solidFill>
              <a:latin typeface="Calibri"/>
              <a:ea typeface="Calibri"/>
              <a:cs typeface="Calibri"/>
              <a:sym typeface="Calibri"/>
            </a:endParaRPr>
          </a:p>
        </p:txBody>
      </p:sp>
      <p:pic>
        <p:nvPicPr>
          <p:cNvPr id="157" name="Google Shape;157;p1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138625" y="609358"/>
            <a:ext cx="913402" cy="1175528"/>
          </a:xfrm>
          <a:prstGeom prst="rect">
            <a:avLst/>
          </a:prstGeom>
          <a:noFill/>
          <a:ln w="9100" cap="flat" cmpd="sng">
            <a:solidFill>
              <a:srgbClr val="FF0000"/>
            </a:solidFill>
            <a:prstDash val="solid"/>
            <a:round/>
            <a:headEnd type="none" w="sm" len="sm"/>
            <a:tailEnd type="none" w="sm" len="sm"/>
          </a:ln>
        </p:spPr>
      </p:pic>
      <p:pic>
        <p:nvPicPr>
          <p:cNvPr id="158" name="Google Shape;158;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095326" y="404084"/>
            <a:ext cx="994736" cy="1168808"/>
          </a:xfrm>
          <a:prstGeom prst="rect">
            <a:avLst/>
          </a:prstGeom>
          <a:noFill/>
          <a:ln w="9100" cap="flat" cmpd="sng">
            <a:solidFill>
              <a:srgbClr val="FF0000"/>
            </a:solidFill>
            <a:prstDash val="solid"/>
            <a:round/>
            <a:headEnd type="none" w="sm" len="sm"/>
            <a:tailEnd type="none" w="sm" len="sm"/>
          </a:ln>
        </p:spPr>
      </p:pic>
      <p:pic>
        <p:nvPicPr>
          <p:cNvPr id="159" name="Google Shape;159;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166096" y="231156"/>
            <a:ext cx="913402" cy="1114512"/>
          </a:xfrm>
          <a:prstGeom prst="rect">
            <a:avLst/>
          </a:prstGeom>
          <a:noFill/>
          <a:ln w="9100" cap="flat" cmpd="sng">
            <a:solidFill>
              <a:srgbClr val="FF0000"/>
            </a:solidFill>
            <a:prstDash val="solid"/>
            <a:round/>
            <a:headEnd type="none" w="sm" len="sm"/>
            <a:tailEnd type="none" w="sm" len="sm"/>
          </a:ln>
        </p:spPr>
      </p:pic>
      <p:sp>
        <p:nvSpPr>
          <p:cNvPr id="160" name="Google Shape;160;p18"/>
          <p:cNvSpPr txBox="1"/>
          <p:nvPr/>
        </p:nvSpPr>
        <p:spPr>
          <a:xfrm>
            <a:off x="5171154" y="1776834"/>
            <a:ext cx="8079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Grace Hopper</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2022-2024</a:t>
            </a:r>
            <a:endParaRPr sz="1000" b="1">
              <a:solidFill>
                <a:srgbClr val="FF0000"/>
              </a:solidFill>
              <a:latin typeface="Calibri"/>
              <a:ea typeface="Calibri"/>
              <a:cs typeface="Calibri"/>
              <a:sym typeface="Calibri"/>
            </a:endParaRPr>
          </a:p>
        </p:txBody>
      </p:sp>
      <p:sp>
        <p:nvSpPr>
          <p:cNvPr id="161" name="Google Shape;161;p18"/>
          <p:cNvSpPr txBox="1"/>
          <p:nvPr/>
        </p:nvSpPr>
        <p:spPr>
          <a:xfrm>
            <a:off x="6133748" y="1561523"/>
            <a:ext cx="86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David Blackwell</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2024-2025</a:t>
            </a:r>
            <a:endParaRPr sz="1000" b="1">
              <a:solidFill>
                <a:srgbClr val="FF0000"/>
              </a:solidFill>
              <a:latin typeface="Calibri"/>
              <a:ea typeface="Calibri"/>
              <a:cs typeface="Calibri"/>
              <a:sym typeface="Calibri"/>
            </a:endParaRPr>
          </a:p>
        </p:txBody>
      </p:sp>
      <p:sp>
        <p:nvSpPr>
          <p:cNvPr id="162" name="Google Shape;162;p18"/>
          <p:cNvSpPr txBox="1"/>
          <p:nvPr/>
        </p:nvSpPr>
        <p:spPr>
          <a:xfrm>
            <a:off x="7206427" y="1359516"/>
            <a:ext cx="8079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Vera Rubin</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2026-2027</a:t>
            </a:r>
            <a:endParaRPr sz="1000" b="1">
              <a:solidFill>
                <a:srgbClr val="FF0000"/>
              </a:solidFill>
              <a:latin typeface="Calibri"/>
              <a:ea typeface="Calibri"/>
              <a:cs typeface="Calibri"/>
              <a:sym typeface="Calibri"/>
            </a:endParaRPr>
          </a:p>
        </p:txBody>
      </p:sp>
      <p:pic>
        <p:nvPicPr>
          <p:cNvPr id="163" name="Google Shape;163;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8171369" y="78575"/>
            <a:ext cx="913426" cy="1114571"/>
          </a:xfrm>
          <a:prstGeom prst="rect">
            <a:avLst/>
          </a:prstGeom>
          <a:noFill/>
          <a:ln w="9100" cap="flat" cmpd="sng">
            <a:solidFill>
              <a:srgbClr val="FF0000"/>
            </a:solidFill>
            <a:prstDash val="solid"/>
            <a:round/>
            <a:headEnd type="none" w="sm" len="sm"/>
            <a:tailEnd type="none" w="sm" len="sm"/>
          </a:ln>
        </p:spPr>
      </p:pic>
      <p:sp>
        <p:nvSpPr>
          <p:cNvPr id="164" name="Google Shape;164;p18"/>
          <p:cNvSpPr txBox="1"/>
          <p:nvPr/>
        </p:nvSpPr>
        <p:spPr>
          <a:xfrm>
            <a:off x="8170750" y="1219677"/>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Richard Feynman</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2028-2029</a:t>
            </a:r>
            <a:endParaRPr sz="1000" b="1">
              <a:solidFill>
                <a:srgbClr val="FF0000"/>
              </a:solidFill>
              <a:latin typeface="Calibri"/>
              <a:ea typeface="Calibri"/>
              <a:cs typeface="Calibri"/>
              <a:sym typeface="Calibri"/>
            </a:endParaRPr>
          </a:p>
        </p:txBody>
      </p:sp>
      <p:pic>
        <p:nvPicPr>
          <p:cNvPr id="165" name="Google Shape;165;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566221" y="43029"/>
            <a:ext cx="1182175" cy="1268500"/>
          </a:xfrm>
          <a:prstGeom prst="rect">
            <a:avLst/>
          </a:prstGeom>
          <a:noFill/>
          <a:ln w="9525" cap="flat" cmpd="sng">
            <a:solidFill>
              <a:srgbClr val="FF0000"/>
            </a:solidFill>
            <a:prstDash val="solid"/>
            <a:round/>
            <a:headEnd type="none" w="sm" len="sm"/>
            <a:tailEnd type="none" w="sm" len="sm"/>
          </a:ln>
        </p:spPr>
      </p:pic>
      <p:pic>
        <p:nvPicPr>
          <p:cNvPr id="166" name="Google Shape;166;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8183184" y="1638901"/>
            <a:ext cx="913426" cy="1080106"/>
          </a:xfrm>
          <a:prstGeom prst="rect">
            <a:avLst/>
          </a:prstGeom>
          <a:noFill/>
          <a:ln w="9100" cap="flat" cmpd="sng">
            <a:solidFill>
              <a:srgbClr val="FF0000"/>
            </a:solidFill>
            <a:prstDash val="solid"/>
            <a:round/>
            <a:headEnd type="none" w="sm" len="sm"/>
            <a:tailEnd type="none" w="sm" len="sm"/>
          </a:ln>
        </p:spPr>
      </p:pic>
      <p:sp>
        <p:nvSpPr>
          <p:cNvPr id="167" name="Google Shape;167;p18"/>
          <p:cNvSpPr txBox="1"/>
          <p:nvPr/>
        </p:nvSpPr>
        <p:spPr>
          <a:xfrm>
            <a:off x="8203891" y="2734124"/>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A. Ampère</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2020-2022</a:t>
            </a:r>
            <a:endParaRPr sz="1000" b="1">
              <a:solidFill>
                <a:srgbClr val="FF0000"/>
              </a:solidFill>
              <a:latin typeface="Calibri"/>
              <a:ea typeface="Calibri"/>
              <a:cs typeface="Calibri"/>
              <a:sym typeface="Calibri"/>
            </a:endParaRPr>
          </a:p>
        </p:txBody>
      </p:sp>
      <p:sp>
        <p:nvSpPr>
          <p:cNvPr id="168" name="Google Shape;168;p18"/>
          <p:cNvSpPr txBox="1"/>
          <p:nvPr/>
        </p:nvSpPr>
        <p:spPr>
          <a:xfrm>
            <a:off x="7157828" y="2888729"/>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Alan Turing</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2019-2020</a:t>
            </a:r>
            <a:endParaRPr sz="1000" b="1">
              <a:solidFill>
                <a:srgbClr val="FF0000"/>
              </a:solidFill>
              <a:latin typeface="Calibri"/>
              <a:ea typeface="Calibri"/>
              <a:cs typeface="Calibri"/>
              <a:sym typeface="Calibri"/>
            </a:endParaRPr>
          </a:p>
        </p:txBody>
      </p:sp>
      <p:sp>
        <p:nvSpPr>
          <p:cNvPr id="169" name="Google Shape;169;p18"/>
          <p:cNvSpPr txBox="1"/>
          <p:nvPr/>
        </p:nvSpPr>
        <p:spPr>
          <a:xfrm>
            <a:off x="8170741" y="4155832"/>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J.C. Maxwell</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2014-2016</a:t>
            </a:r>
            <a:endParaRPr sz="1000" b="1">
              <a:solidFill>
                <a:srgbClr val="FF0000"/>
              </a:solidFill>
              <a:latin typeface="Calibri"/>
              <a:ea typeface="Calibri"/>
              <a:cs typeface="Calibri"/>
              <a:sym typeface="Calibri"/>
            </a:endParaRPr>
          </a:p>
        </p:txBody>
      </p:sp>
      <p:sp>
        <p:nvSpPr>
          <p:cNvPr id="170" name="Google Shape;170;p18"/>
          <p:cNvSpPr txBox="1"/>
          <p:nvPr/>
        </p:nvSpPr>
        <p:spPr>
          <a:xfrm>
            <a:off x="6136040" y="3087512"/>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A. Volta</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2017-2019</a:t>
            </a:r>
            <a:endParaRPr sz="1000" b="1">
              <a:solidFill>
                <a:srgbClr val="FF0000"/>
              </a:solidFill>
              <a:latin typeface="Calibri"/>
              <a:ea typeface="Calibri"/>
              <a:cs typeface="Calibri"/>
              <a:sym typeface="Calibri"/>
            </a:endParaRPr>
          </a:p>
        </p:txBody>
      </p:sp>
      <p:pic>
        <p:nvPicPr>
          <p:cNvPr id="171" name="Google Shape;171;p18"/>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7206705" y="1769415"/>
            <a:ext cx="864488" cy="1114511"/>
          </a:xfrm>
          <a:prstGeom prst="rect">
            <a:avLst/>
          </a:prstGeom>
          <a:noFill/>
          <a:ln w="9100" cap="flat" cmpd="sng">
            <a:solidFill>
              <a:srgbClr val="FF0000"/>
            </a:solidFill>
            <a:prstDash val="solid"/>
            <a:round/>
            <a:headEnd type="none" w="sm" len="sm"/>
            <a:tailEnd type="none" w="sm" len="sm"/>
          </a:ln>
        </p:spPr>
      </p:pic>
      <p:pic>
        <p:nvPicPr>
          <p:cNvPr id="172" name="Google Shape;172;p18"/>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160625" y="1953530"/>
            <a:ext cx="864482" cy="1124666"/>
          </a:xfrm>
          <a:prstGeom prst="rect">
            <a:avLst/>
          </a:prstGeom>
          <a:noFill/>
          <a:ln w="9100" cap="flat" cmpd="sng">
            <a:solidFill>
              <a:srgbClr val="FF0000"/>
            </a:solidFill>
            <a:prstDash val="solid"/>
            <a:round/>
            <a:headEnd type="none" w="sm" len="sm"/>
            <a:tailEnd type="none" w="sm" len="sm"/>
          </a:ln>
        </p:spPr>
      </p:pic>
      <p:pic>
        <p:nvPicPr>
          <p:cNvPr id="173" name="Google Shape;173;p18"/>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5170166" y="2166962"/>
            <a:ext cx="864482" cy="1124666"/>
          </a:xfrm>
          <a:prstGeom prst="rect">
            <a:avLst/>
          </a:prstGeom>
          <a:noFill/>
          <a:ln>
            <a:noFill/>
          </a:ln>
        </p:spPr>
      </p:pic>
      <p:sp>
        <p:nvSpPr>
          <p:cNvPr id="174" name="Google Shape;174;p18"/>
          <p:cNvSpPr txBox="1"/>
          <p:nvPr/>
        </p:nvSpPr>
        <p:spPr>
          <a:xfrm>
            <a:off x="5057182" y="3294308"/>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Blaise Pascal</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2016-2017</a:t>
            </a:r>
            <a:endParaRPr sz="1000" b="1">
              <a:solidFill>
                <a:srgbClr val="FF0000"/>
              </a:solidFill>
              <a:latin typeface="Calibri"/>
              <a:ea typeface="Calibri"/>
              <a:cs typeface="Calibri"/>
              <a:sym typeface="Calibri"/>
            </a:endParaRPr>
          </a:p>
        </p:txBody>
      </p:sp>
      <p:sp>
        <p:nvSpPr>
          <p:cNvPr id="175" name="Google Shape;175;p18"/>
          <p:cNvSpPr txBox="1"/>
          <p:nvPr/>
        </p:nvSpPr>
        <p:spPr>
          <a:xfrm>
            <a:off x="7180141" y="4334475"/>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J. Kepler</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2012-2014</a:t>
            </a:r>
            <a:endParaRPr sz="1000" b="1">
              <a:solidFill>
                <a:srgbClr val="FF0000"/>
              </a:solidFill>
              <a:latin typeface="Calibri"/>
              <a:ea typeface="Calibri"/>
              <a:cs typeface="Calibri"/>
              <a:sym typeface="Calibri"/>
            </a:endParaRPr>
          </a:p>
        </p:txBody>
      </p:sp>
      <p:sp>
        <p:nvSpPr>
          <p:cNvPr id="176" name="Google Shape;176;p18"/>
          <p:cNvSpPr txBox="1"/>
          <p:nvPr/>
        </p:nvSpPr>
        <p:spPr>
          <a:xfrm>
            <a:off x="6140556" y="4549954"/>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Enrico Fermi</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2010-2012</a:t>
            </a:r>
            <a:endParaRPr sz="1000" b="1">
              <a:solidFill>
                <a:srgbClr val="FF0000"/>
              </a:solidFill>
              <a:latin typeface="Calibri"/>
              <a:ea typeface="Calibri"/>
              <a:cs typeface="Calibri"/>
              <a:sym typeface="Calibri"/>
            </a:endParaRPr>
          </a:p>
        </p:txBody>
      </p:sp>
      <p:sp>
        <p:nvSpPr>
          <p:cNvPr id="177" name="Google Shape;177;p18"/>
          <p:cNvSpPr txBox="1"/>
          <p:nvPr/>
        </p:nvSpPr>
        <p:spPr>
          <a:xfrm>
            <a:off x="5076283" y="4712948"/>
            <a:ext cx="9546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Nikola Tesla</a:t>
            </a:r>
            <a:endParaRPr sz="1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000" b="1">
                <a:solidFill>
                  <a:srgbClr val="FF0000"/>
                </a:solidFill>
                <a:latin typeface="Calibri"/>
                <a:ea typeface="Calibri"/>
                <a:cs typeface="Calibri"/>
                <a:sym typeface="Calibri"/>
              </a:rPr>
              <a:t>2007-2010</a:t>
            </a:r>
            <a:endParaRPr sz="1000" b="1">
              <a:solidFill>
                <a:srgbClr val="FF0000"/>
              </a:solidFill>
              <a:latin typeface="Calibri"/>
              <a:ea typeface="Calibri"/>
              <a:cs typeface="Calibri"/>
              <a:sym typeface="Calibri"/>
            </a:endParaRPr>
          </a:p>
        </p:txBody>
      </p:sp>
      <p:pic>
        <p:nvPicPr>
          <p:cNvPr id="178" name="Google Shape;178;p18"/>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5149632" y="3711490"/>
            <a:ext cx="807900" cy="986326"/>
          </a:xfrm>
          <a:prstGeom prst="rect">
            <a:avLst/>
          </a:prstGeom>
          <a:noFill/>
          <a:ln w="9100" cap="flat" cmpd="sng">
            <a:solidFill>
              <a:srgbClr val="FF0000"/>
            </a:solidFill>
            <a:prstDash val="solid"/>
            <a:round/>
            <a:headEnd type="none" w="sm" len="sm"/>
            <a:tailEnd type="none" w="sm" len="sm"/>
          </a:ln>
        </p:spPr>
      </p:pic>
      <p:pic>
        <p:nvPicPr>
          <p:cNvPr id="179" name="Google Shape;179;p18"/>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6235042" y="3517092"/>
            <a:ext cx="807900" cy="1017000"/>
          </a:xfrm>
          <a:prstGeom prst="rect">
            <a:avLst/>
          </a:prstGeom>
          <a:noFill/>
          <a:ln w="9525" cap="flat" cmpd="sng">
            <a:solidFill>
              <a:srgbClr val="FF0000"/>
            </a:solidFill>
            <a:prstDash val="solid"/>
            <a:round/>
            <a:headEnd type="none" w="sm" len="sm"/>
            <a:tailEnd type="none" w="sm" len="sm"/>
          </a:ln>
        </p:spPr>
      </p:pic>
      <p:pic>
        <p:nvPicPr>
          <p:cNvPr id="180" name="Google Shape;180;p18"/>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7263425" y="3307662"/>
            <a:ext cx="807900" cy="1017000"/>
          </a:xfrm>
          <a:prstGeom prst="rect">
            <a:avLst/>
          </a:prstGeom>
          <a:noFill/>
          <a:ln w="9525" cap="flat" cmpd="sng">
            <a:solidFill>
              <a:srgbClr val="FF0000"/>
            </a:solidFill>
            <a:prstDash val="solid"/>
            <a:round/>
            <a:headEnd type="none" w="sm" len="sm"/>
            <a:tailEnd type="none" w="sm" len="sm"/>
          </a:ln>
        </p:spPr>
      </p:pic>
      <p:pic>
        <p:nvPicPr>
          <p:cNvPr id="181" name="Google Shape;181;p18"/>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8291800" y="3154383"/>
            <a:ext cx="766123" cy="986325"/>
          </a:xfrm>
          <a:prstGeom prst="rect">
            <a:avLst/>
          </a:prstGeom>
          <a:noFill/>
          <a:ln w="9525" cap="flat" cmpd="sng">
            <a:solidFill>
              <a:srgbClr val="FF0000"/>
            </a:solidFill>
            <a:prstDash val="solid"/>
            <a:round/>
            <a:headEnd type="none" w="sm" len="sm"/>
            <a:tailEnd type="none" w="sm" len="sm"/>
          </a:ln>
        </p:spPr>
      </p:pic>
      <p:pic>
        <p:nvPicPr>
          <p:cNvPr id="182" name="Google Shape;182;p18"/>
          <p:cNvPicPr preferRelativeResize="0"/>
          <p:nvPr/>
        </p:nvPicPr>
        <p:blipFill>
          <a:blip r:embed="rId16" cstate="email">
            <a:alphaModFix/>
            <a:extLst>
              <a:ext uri="{28A0092B-C50C-407E-A947-70E740481C1C}">
                <a14:useLocalDpi xmlns:a14="http://schemas.microsoft.com/office/drawing/2010/main"/>
              </a:ext>
            </a:extLst>
          </a:blip>
          <a:stretch>
            <a:fillRect/>
          </a:stretch>
        </p:blipFill>
        <p:spPr>
          <a:xfrm>
            <a:off x="2230925" y="3128342"/>
            <a:ext cx="1864975" cy="1864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9"/>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High-Flyer 56.6% Returns</a:t>
            </a:r>
            <a:endParaRPr sz="2000" b="1">
              <a:solidFill>
                <a:schemeClr val="dk1"/>
              </a:solidFill>
              <a:latin typeface="Calibri"/>
              <a:ea typeface="Calibri"/>
              <a:cs typeface="Calibri"/>
              <a:sym typeface="Calibri"/>
            </a:endParaRPr>
          </a:p>
        </p:txBody>
      </p:sp>
      <p:sp>
        <p:nvSpPr>
          <p:cNvPr id="188" name="Google Shape;188;p19"/>
          <p:cNvSpPr txBox="1"/>
          <p:nvPr/>
        </p:nvSpPr>
        <p:spPr>
          <a:xfrm>
            <a:off x="55075" y="480175"/>
            <a:ext cx="44652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DeepSeek founder Liang Wenfeng’s quantitative hedge fund generated returns of more than 50% last year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https://x.com/business/status/2010632000382636056</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https://www.bloomberg.com/news/articles/2026-01-12/deepseek-founder-liang-s-funds-surge-57-as-china-quants-boom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DeepSeek founder Liang Wenfeng's quantitative hedge fund, Zhejiang High-Flyer Asset Management, generated average returns of 56.6% across its funds in 2025, making it the second-best performer among Chinese quant funds managing over 10 billion yuan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fund abandoned market-neutral strategies in 2024 to go </a:t>
            </a:r>
            <a:r>
              <a:rPr lang="en" sz="1100" b="1">
                <a:solidFill>
                  <a:srgbClr val="FF0000"/>
                </a:solidFill>
                <a:latin typeface="Calibri"/>
                <a:ea typeface="Calibri"/>
                <a:cs typeface="Calibri"/>
                <a:sym typeface="Calibri"/>
              </a:rPr>
              <a:t>"all-in" on long-only strategies</a:t>
            </a:r>
            <a:r>
              <a:rPr lang="en" sz="1100">
                <a:latin typeface="Calibri"/>
                <a:ea typeface="Calibri"/>
                <a:cs typeface="Calibri"/>
                <a:sym typeface="Calibri"/>
              </a:rPr>
              <a:t>, which seek to beat underlying stock indexes rather than hedge positions - allowing to capture the full upside of China's stock market rally in 2025</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High-Flyer Fund has been a pioneer in using AI for quantitative trading since its founding in 2015. The firm describes itself as fully relying on deep neural networks, with their first trade generated by a deep learning algorithm executed on October 21, 2016, and deep learning algorithms fully implemented for trading by 2017</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High-Flyer's AI-driven approach automates every stage of operations—from data collection and analysis to portfolio construction and trade execution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Their models process three main data sources: market data (price and volume indicators), macroeconomic fundamental data, and alternative data, all fed into neural networks to predict stock price changes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firm integrates machine learning and natural language processing to analyze massive datasets and financial behavior</a:t>
            </a:r>
            <a:endParaRPr sz="1100">
              <a:latin typeface="Calibri"/>
              <a:ea typeface="Calibri"/>
              <a:cs typeface="Calibri"/>
              <a:sym typeface="Calibri"/>
            </a:endParaRPr>
          </a:p>
        </p:txBody>
      </p:sp>
      <p:pic>
        <p:nvPicPr>
          <p:cNvPr id="189" name="Google Shape;189;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96250" y="480175"/>
            <a:ext cx="3229626" cy="25056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0"/>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6.04K subscribers, 263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95" name="Google Shape;195;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56600" y="133600"/>
            <a:ext cx="3597800" cy="48762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HINDSIGHT Agent Memory System</a:t>
            </a:r>
            <a:endParaRPr sz="2000" b="1">
              <a:solidFill>
                <a:schemeClr val="dk1"/>
              </a:solidFill>
              <a:latin typeface="Calibri"/>
              <a:ea typeface="Calibri"/>
              <a:cs typeface="Calibri"/>
              <a:sym typeface="Calibri"/>
            </a:endParaRPr>
          </a:p>
        </p:txBody>
      </p:sp>
      <p:sp>
        <p:nvSpPr>
          <p:cNvPr id="201" name="Google Shape;201;p21"/>
          <p:cNvSpPr txBox="1"/>
          <p:nvPr/>
        </p:nvSpPr>
        <p:spPr>
          <a:xfrm>
            <a:off x="55075" y="510950"/>
            <a:ext cx="4041600" cy="437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HINDSIGHT Agent Memory System</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https://medium.com/@tarangtattva2/a-new-agent-memory-system-just-dropped-and-it-finally-fixes-what-weve-been-getting-wrong-fc84589f75ca</a:t>
            </a:r>
            <a:r>
              <a:rPr lang="en" sz="900">
                <a:latin typeface="Calibri"/>
                <a:ea typeface="Calibri"/>
                <a:cs typeface="Calibri"/>
                <a:sym typeface="Calibri"/>
              </a:rPr>
              <a:t> </a:t>
            </a:r>
            <a:endParaRPr sz="9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HINDSIGHT agent memory system addresses a fundamental flaw in current AI agent memory: treating memory as simple text retrieval rather than meaningful understanding</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HINDSIGHT introduces four distinct memory networks: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World Memory (objective facts),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Experience Memory (agent's own actions),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Opinion Memory (subjective beliefs with confidence scores),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Observation Memory (neutral summaries)</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separation prevents the confusion typical in systems that mix fact and opinion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system uses three core operations: </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Retain</a:t>
            </a:r>
            <a:r>
              <a:rPr lang="en" sz="1100">
                <a:latin typeface="Calibri"/>
                <a:ea typeface="Calibri"/>
                <a:cs typeface="Calibri"/>
                <a:sym typeface="Calibri"/>
              </a:rPr>
              <a:t> (converting conversations into coherent narratives preserving decision context), </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Recall</a:t>
            </a:r>
            <a:r>
              <a:rPr lang="en" sz="1100">
                <a:latin typeface="Calibri"/>
                <a:ea typeface="Calibri"/>
                <a:cs typeface="Calibri"/>
                <a:sym typeface="Calibri"/>
              </a:rPr>
              <a:t> (combining semantic search, keywords, graph traversal, and temporal filtering),</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Reflect</a:t>
            </a:r>
            <a:r>
              <a:rPr lang="en" sz="1100">
                <a:latin typeface="Calibri"/>
                <a:ea typeface="Calibri"/>
                <a:cs typeface="Calibri"/>
                <a:sym typeface="Calibri"/>
              </a:rPr>
              <a:t> (applying behavioral profiles like skepticism and empathy to generate responses).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Crucially, opinions evolve with confidence scores that adjust based on new evidence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On long-memory benchmarks, HINDSIGHT achieves 83% accuracy compared to 39% for traditional approaches, enabling agents that explain their reasoning, maintain stable preferences, and preserve personality across sessions</a:t>
            </a:r>
            <a:endParaRPr sz="1100">
              <a:latin typeface="Calibri"/>
              <a:ea typeface="Calibri"/>
              <a:cs typeface="Calibri"/>
              <a:sym typeface="Calibri"/>
            </a:endParaRPr>
          </a:p>
        </p:txBody>
      </p:sp>
      <p:pic>
        <p:nvPicPr>
          <p:cNvPr id="202" name="Google Shape;202;p2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193450" y="898643"/>
            <a:ext cx="4885951" cy="26165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2"/>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Confucius SDK (Meta and Harvard) </a:t>
            </a:r>
            <a:endParaRPr sz="2000" b="1">
              <a:solidFill>
                <a:schemeClr val="dk1"/>
              </a:solidFill>
              <a:latin typeface="Calibri"/>
              <a:ea typeface="Calibri"/>
              <a:cs typeface="Calibri"/>
              <a:sym typeface="Calibri"/>
            </a:endParaRPr>
          </a:p>
        </p:txBody>
      </p:sp>
      <p:sp>
        <p:nvSpPr>
          <p:cNvPr id="208" name="Google Shape;208;p22"/>
          <p:cNvSpPr txBox="1"/>
          <p:nvPr/>
        </p:nvSpPr>
        <p:spPr>
          <a:xfrm>
            <a:off x="55075" y="446350"/>
            <a:ext cx="4465200" cy="332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Confucius SDK, open source</a:t>
            </a:r>
            <a:endParaRPr sz="12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3"/>
              </a:rPr>
              <a:t>https://www.marktechpost.com/2026/01/09/meta-and-harvard-researchers-introduce-the-confucius-code-agent-cca-a-software-engineering-agent-that-can-operate-at-large-scale-codebases/</a:t>
            </a:r>
            <a:r>
              <a:rPr lang="en" sz="800">
                <a:latin typeface="Calibri"/>
                <a:ea typeface="Calibri"/>
                <a:cs typeface="Calibri"/>
                <a:sym typeface="Calibri"/>
              </a:rPr>
              <a:t> </a:t>
            </a:r>
            <a:endParaRPr sz="800">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Meta and Harvard - Confucius Code Agent, open-source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 SOTA on benchmarks like SWE Bench Pro and SWE Bench Verified by prioritizing agent architecture over raw model size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Confucius SDK organizes around three design axes: </a:t>
            </a:r>
            <a:br>
              <a:rPr lang="en" sz="1100">
                <a:latin typeface="Calibri"/>
                <a:ea typeface="Calibri"/>
                <a:cs typeface="Calibri"/>
                <a:sym typeface="Calibri"/>
              </a:rPr>
            </a:br>
            <a:r>
              <a:rPr lang="en" sz="1100">
                <a:latin typeface="Calibri"/>
                <a:ea typeface="Calibri"/>
                <a:cs typeface="Calibri"/>
                <a:sym typeface="Calibri"/>
              </a:rPr>
              <a:t> - Agent Experience (context layout and working memory), </a:t>
            </a:r>
            <a:br>
              <a:rPr lang="en" sz="1100">
                <a:latin typeface="Calibri"/>
                <a:ea typeface="Calibri"/>
                <a:cs typeface="Calibri"/>
                <a:sym typeface="Calibri"/>
              </a:rPr>
            </a:br>
            <a:r>
              <a:rPr lang="en" sz="1100">
                <a:latin typeface="Calibri"/>
                <a:ea typeface="Calibri"/>
                <a:cs typeface="Calibri"/>
                <a:sym typeface="Calibri"/>
              </a:rPr>
              <a:t> - User Experience (readable traces and code diffs), </a:t>
            </a:r>
            <a:br>
              <a:rPr lang="en" sz="1100">
                <a:latin typeface="Calibri"/>
                <a:ea typeface="Calibri"/>
                <a:cs typeface="Calibri"/>
                <a:sym typeface="Calibri"/>
              </a:rPr>
            </a:br>
            <a:r>
              <a:rPr lang="en" sz="1100">
                <a:latin typeface="Calibri"/>
                <a:ea typeface="Calibri"/>
                <a:cs typeface="Calibri"/>
                <a:sym typeface="Calibri"/>
              </a:rPr>
              <a:t> - Developer Experience (observability and debugging)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Implements three core mechanisms: </a:t>
            </a:r>
            <a:br>
              <a:rPr lang="en" sz="1100">
                <a:latin typeface="Calibri"/>
                <a:ea typeface="Calibri"/>
                <a:cs typeface="Calibri"/>
                <a:sym typeface="Calibri"/>
              </a:rPr>
            </a:br>
            <a:r>
              <a:rPr lang="en" sz="1100">
                <a:latin typeface="Calibri"/>
                <a:ea typeface="Calibri"/>
                <a:cs typeface="Calibri"/>
                <a:sym typeface="Calibri"/>
              </a:rPr>
              <a:t> - hierarchical working memory - partitions long context</a:t>
            </a:r>
            <a:br>
              <a:rPr lang="en" sz="1100">
                <a:latin typeface="Calibri"/>
                <a:ea typeface="Calibri"/>
                <a:cs typeface="Calibri"/>
                <a:sym typeface="Calibri"/>
              </a:rPr>
            </a:br>
            <a:r>
              <a:rPr lang="en" sz="1100">
                <a:latin typeface="Calibri"/>
                <a:ea typeface="Calibri"/>
                <a:cs typeface="Calibri"/>
                <a:sym typeface="Calibri"/>
              </a:rPr>
              <a:t> - a persistent note-taking system (cross-session learning)</a:t>
            </a:r>
            <a:br>
              <a:rPr lang="en" sz="1100">
                <a:latin typeface="Calibri"/>
                <a:ea typeface="Calibri"/>
                <a:cs typeface="Calibri"/>
                <a:sym typeface="Calibri"/>
              </a:rPr>
            </a:br>
            <a:r>
              <a:rPr lang="en" sz="1100">
                <a:latin typeface="Calibri"/>
                <a:ea typeface="Calibri"/>
                <a:cs typeface="Calibri"/>
                <a:sym typeface="Calibri"/>
              </a:rPr>
              <a:t> - modular tool extensions for file editing, command execution, and code search</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4.5 Sonnet + Confucius - outperforms Claude 4.5 Opus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Rich tool handling - increases the resolve rate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Cross-Session Learning (re-using notes between sessions)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Meta-agent that automatically designs and tunes agent configurations through iterative build-test-improve loops</a:t>
            </a:r>
            <a:endParaRPr sz="1100">
              <a:latin typeface="Calibri"/>
              <a:ea typeface="Calibri"/>
              <a:cs typeface="Calibri"/>
              <a:sym typeface="Calibri"/>
            </a:endParaRPr>
          </a:p>
        </p:txBody>
      </p:sp>
      <p:pic>
        <p:nvPicPr>
          <p:cNvPr id="209" name="Google Shape;209;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2668" y="446350"/>
            <a:ext cx="4389352" cy="2020775"/>
          </a:xfrm>
          <a:prstGeom prst="rect">
            <a:avLst/>
          </a:prstGeom>
          <a:noFill/>
          <a:ln w="9525" cap="flat" cmpd="sng">
            <a:solidFill>
              <a:srgbClr val="FF0000"/>
            </a:solidFill>
            <a:prstDash val="solid"/>
            <a:round/>
            <a:headEnd type="none" w="sm" len="sm"/>
            <a:tailEnd type="none" w="sm" len="sm"/>
          </a:ln>
        </p:spPr>
      </p:pic>
      <p:pic>
        <p:nvPicPr>
          <p:cNvPr id="210" name="Google Shape;210;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72675" y="2586725"/>
            <a:ext cx="4389350" cy="21946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p:nvPr/>
        </p:nvSpPr>
        <p:spPr>
          <a:xfrm>
            <a:off x="55075" y="43025"/>
            <a:ext cx="4461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Gemini "Buy" Button</a:t>
            </a:r>
            <a:endParaRPr sz="2000" b="1">
              <a:solidFill>
                <a:schemeClr val="dk1"/>
              </a:solidFill>
              <a:latin typeface="Calibri"/>
              <a:ea typeface="Calibri"/>
              <a:cs typeface="Calibri"/>
              <a:sym typeface="Calibri"/>
            </a:endParaRPr>
          </a:p>
        </p:txBody>
      </p:sp>
      <p:sp>
        <p:nvSpPr>
          <p:cNvPr id="216" name="Google Shape;216;p23"/>
          <p:cNvSpPr txBox="1"/>
          <p:nvPr/>
        </p:nvSpPr>
        <p:spPr>
          <a:xfrm>
            <a:off x="55075" y="480175"/>
            <a:ext cx="5127600" cy="446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Universal Commerce Protocol (UCP) and Gemini Buy Button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Direct checkout capabilities in Gemini and AI Mode Search ("Buy" button)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UCP - an open-source standard co-developed with Shopify, Walmart, Target, Wayfair, and Etsy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UCP provides a unified language for AI agents to communicate with e-commerce systems - to find products and complete purchases for you</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 organizes these tasks into specific "capabilities," such as checking out or applying discounts, and keeps your financial information safe by using secure tokens rather than sharing your actual credit card details directly with every merchant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Ultimately, UCP creates a secure bridge that allows AI to handle complex shopping errands across many different stores without needing custom integrations for each one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UCP covers product search, payment processing, and post-purchase support, and has backing from over 20 companies including major payment processors (Visa, Mastercard, American Express, PayPal, Stripe) and retailers (Home Depot, Kroger, Lowe's, Gap)</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When users tap the "Buy" button, they can complete purchases with pre-filled payment methods (Google Pay, Google Wallet) and shipping information without leaving the AI conversation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Business Agent - an AI virtual sales associate that appears as a "Chat" button in Search results for participating retailers like Lowe's, Michaels, Poshmark, and Reebok, capable of answering product questions in the brand's voice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UCP directly competes with OpenAI's Agentic Commerce Protocol and positions Google against OpenAI, Amazon, and Perplexity</a:t>
            </a:r>
            <a:endParaRPr sz="11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https://www.theverge.com/news/860446/google-ai-shopping-standard-buy-button-gemini</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https://blog.google/products/ads-commerce/agentic-commerce-ai-tools-protocol-retailers-platforms/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https://apnews.com/article/google-gemini-ai-shopping-checkout-walmart-f1679240ba93d40b90a97348b73039d3</a:t>
            </a:r>
            <a:r>
              <a:rPr lang="en" sz="900">
                <a:latin typeface="Calibri"/>
                <a:ea typeface="Calibri"/>
                <a:cs typeface="Calibri"/>
                <a:sym typeface="Calibri"/>
              </a:rPr>
              <a:t> </a:t>
            </a:r>
            <a:endParaRPr sz="900">
              <a:latin typeface="Calibri"/>
              <a:ea typeface="Calibri"/>
              <a:cs typeface="Calibri"/>
              <a:sym typeface="Calibri"/>
            </a:endParaRPr>
          </a:p>
        </p:txBody>
      </p:sp>
      <p:pic>
        <p:nvPicPr>
          <p:cNvPr id="217" name="Google Shape;217;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861489" y="615288"/>
            <a:ext cx="2619375" cy="1236337"/>
          </a:xfrm>
          <a:prstGeom prst="rect">
            <a:avLst/>
          </a:prstGeom>
          <a:noFill/>
          <a:ln w="9525" cap="flat" cmpd="sng">
            <a:solidFill>
              <a:srgbClr val="FF0000"/>
            </a:solidFill>
            <a:prstDash val="solid"/>
            <a:round/>
            <a:headEnd type="none" w="sm" len="sm"/>
            <a:tailEnd type="none" w="sm" len="sm"/>
          </a:ln>
        </p:spPr>
      </p:pic>
      <p:pic>
        <p:nvPicPr>
          <p:cNvPr id="218" name="Google Shape;218;p23"/>
          <p:cNvPicPr preferRelativeResize="0"/>
          <p:nvPr/>
        </p:nvPicPr>
        <p:blipFill>
          <a:blip r:embed="rId7">
            <a:alphaModFix/>
          </a:blip>
          <a:stretch>
            <a:fillRect/>
          </a:stretch>
        </p:blipFill>
        <p:spPr>
          <a:xfrm>
            <a:off x="5861489" y="1977925"/>
            <a:ext cx="2619375" cy="17430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4"/>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Sakana AI Paper on Self-Improving AI</a:t>
            </a:r>
            <a:endParaRPr sz="2000" b="1">
              <a:solidFill>
                <a:schemeClr val="dk1"/>
              </a:solidFill>
              <a:latin typeface="Calibri"/>
              <a:ea typeface="Calibri"/>
              <a:cs typeface="Calibri"/>
              <a:sym typeface="Calibri"/>
            </a:endParaRPr>
          </a:p>
        </p:txBody>
      </p:sp>
      <p:sp>
        <p:nvSpPr>
          <p:cNvPr id="224" name="Google Shape;224;p24"/>
          <p:cNvSpPr txBox="1"/>
          <p:nvPr/>
        </p:nvSpPr>
        <p:spPr>
          <a:xfrm>
            <a:off x="55075" y="455275"/>
            <a:ext cx="44652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Sakana AI Paper on Self-Improving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New paper demonstrate recursively self-improving AI through a game called Core War, created in 1984</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https://arxiv.org/abs/2601.03335v1</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https://www.youtube.com/watch?v=-EgTYDKtEw8</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Core War is a programming game where players write assembly code for autonomous "warrior" programs that battle for control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Sakana AI's </a:t>
            </a:r>
            <a:r>
              <a:rPr lang="en" sz="1200" b="1">
                <a:solidFill>
                  <a:srgbClr val="FF0000"/>
                </a:solidFill>
                <a:latin typeface="Calibri"/>
                <a:ea typeface="Calibri"/>
                <a:cs typeface="Calibri"/>
                <a:sym typeface="Calibri"/>
              </a:rPr>
              <a:t>"Digital Red Queen" (DRQ)</a:t>
            </a:r>
            <a:r>
              <a:rPr lang="en" sz="1200">
                <a:latin typeface="Calibri"/>
                <a:ea typeface="Calibri"/>
                <a:cs typeface="Calibri"/>
                <a:sym typeface="Calibri"/>
              </a:rPr>
              <a:t> algorithm uses LLMs in a self-play evolutionary loop where AI-generated warriors continuously battle each other without ever seeing human-created strategies. The name references the </a:t>
            </a:r>
            <a:r>
              <a:rPr lang="en" sz="1200" b="1">
                <a:solidFill>
                  <a:srgbClr val="3C78D8"/>
                </a:solidFill>
                <a:latin typeface="Calibri"/>
                <a:ea typeface="Calibri"/>
                <a:cs typeface="Calibri"/>
                <a:sym typeface="Calibri"/>
              </a:rPr>
              <a:t>Red Queen Hypothesis from evolutionary biology</a:t>
            </a:r>
            <a:r>
              <a:rPr lang="en" sz="1200">
                <a:latin typeface="Calibri"/>
                <a:ea typeface="Calibri"/>
                <a:cs typeface="Calibri"/>
                <a:sym typeface="Calibri"/>
              </a:rPr>
              <a:t>, which states organisms must constantly evolve just to maintain survival against changing competitors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After approximately 250 iterations of evolution, </a:t>
            </a:r>
            <a:r>
              <a:rPr lang="en" sz="1200" b="1">
                <a:solidFill>
                  <a:srgbClr val="FF0000"/>
                </a:solidFill>
                <a:latin typeface="Calibri"/>
                <a:ea typeface="Calibri"/>
                <a:cs typeface="Calibri"/>
                <a:sym typeface="Calibri"/>
              </a:rPr>
              <a:t>the AI-generated warriors beat human champions</a:t>
            </a:r>
            <a:r>
              <a:rPr lang="en" sz="1200">
                <a:latin typeface="Calibri"/>
                <a:ea typeface="Calibri"/>
                <a:cs typeface="Calibri"/>
                <a:sym typeface="Calibri"/>
              </a:rPr>
              <a:t> despite never encountering human strategies during training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LLMs independently discovered the same meta strategies humans took decades to develop, including effective bombing patterns and self-replication techniques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Different AI runs showed convergent evolution, starting from completely different conditions but arriving at similar high performing behaviors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AI demonstrated an intuitive understanding of code lethality, predicting warrior effectiveness just by analyzing code without executing it</a:t>
            </a:r>
            <a:endParaRPr sz="1200">
              <a:latin typeface="Calibri"/>
              <a:ea typeface="Calibri"/>
              <a:cs typeface="Calibri"/>
              <a:sym typeface="Calibri"/>
            </a:endParaRPr>
          </a:p>
        </p:txBody>
      </p:sp>
      <p:sp>
        <p:nvSpPr>
          <p:cNvPr id="225" name="Google Shape;225;p24"/>
          <p:cNvSpPr txBox="1"/>
          <p:nvPr/>
        </p:nvSpPr>
        <p:spPr>
          <a:xfrm>
            <a:off x="4630675" y="2080175"/>
            <a:ext cx="4465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research demonstrates that AI improves faster through adversarial self-play in open-ended environments rather than memorizing textbooks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same approach could advance cybersecurity by discovering real-world computer viruses and defense mechanisms through self-play rather than training on existing threats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previous AI game achievements (Chess, Go), Core War's Turing-complete environment represents unlimited strategic complexity more similar to real-world programming challenges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research is open-source on GitHub with visualizations available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https://sakana.ai/drq/</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https://www.linkedin.com/posts/sakana-ai_introducing-digital-red-queen-drq-adversarial-activity-7415218635578757120-esoB</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7"/>
              </a:rPr>
              <a:t>https://en.wikipedia.org/wiki/Core_War</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26" name="Google Shape;226;p2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002600" y="551500"/>
            <a:ext cx="2093275" cy="1455075"/>
          </a:xfrm>
          <a:prstGeom prst="rect">
            <a:avLst/>
          </a:prstGeom>
          <a:noFill/>
          <a:ln>
            <a:noFill/>
          </a:ln>
        </p:spPr>
      </p:pic>
      <p:pic>
        <p:nvPicPr>
          <p:cNvPr id="227" name="Google Shape;227;p24"/>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778401" y="1029574"/>
            <a:ext cx="1966075" cy="326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5"/>
          <p:cNvSpPr txBox="1"/>
          <p:nvPr/>
        </p:nvSpPr>
        <p:spPr>
          <a:xfrm>
            <a:off x="55075" y="43025"/>
            <a:ext cx="3418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Buying a Humanoid Robot ?</a:t>
            </a:r>
            <a:endParaRPr sz="2000" b="1">
              <a:solidFill>
                <a:schemeClr val="dk1"/>
              </a:solidFill>
              <a:latin typeface="Calibri"/>
              <a:ea typeface="Calibri"/>
              <a:cs typeface="Calibri"/>
              <a:sym typeface="Calibri"/>
            </a:endParaRPr>
          </a:p>
        </p:txBody>
      </p:sp>
      <p:sp>
        <p:nvSpPr>
          <p:cNvPr id="233" name="Google Shape;233;p25"/>
          <p:cNvSpPr txBox="1"/>
          <p:nvPr/>
        </p:nvSpPr>
        <p:spPr>
          <a:xfrm>
            <a:off x="55075" y="455275"/>
            <a:ext cx="44652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Is it worth buying a humanoid robot?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G1 humanoid price: $16K base, $49K .. $95K - higher end models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https://top3dshop.com/robots/unitree-robotics-robots/</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Too much headache - </a:t>
            </a:r>
            <a:r>
              <a:rPr lang="en" sz="1200" u="sng">
                <a:solidFill>
                  <a:schemeClr val="hlink"/>
                </a:solidFill>
                <a:latin typeface="Calibri"/>
                <a:ea typeface="Calibri"/>
                <a:cs typeface="Calibri"/>
                <a:sym typeface="Calibri"/>
                <a:hlinkClick r:id="rId4"/>
              </a:rPr>
              <a:t>https://www.youtube.com/@sentdex</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34" name="Google Shape;234;p25"/>
          <p:cNvPicPr preferRelativeResize="0"/>
          <p:nvPr/>
        </p:nvPicPr>
        <p:blipFill>
          <a:blip r:embed="rId5">
            <a:alphaModFix/>
          </a:blip>
          <a:stretch>
            <a:fillRect/>
          </a:stretch>
        </p:blipFill>
        <p:spPr>
          <a:xfrm>
            <a:off x="55075" y="1524775"/>
            <a:ext cx="2847975" cy="1600200"/>
          </a:xfrm>
          <a:prstGeom prst="rect">
            <a:avLst/>
          </a:prstGeom>
          <a:noFill/>
          <a:ln w="9525" cap="flat" cmpd="sng">
            <a:solidFill>
              <a:srgbClr val="FF0000"/>
            </a:solidFill>
            <a:prstDash val="solid"/>
            <a:round/>
            <a:headEnd type="none" w="sm" len="sm"/>
            <a:tailEnd type="none" w="sm" len="sm"/>
          </a:ln>
        </p:spPr>
      </p:pic>
      <p:pic>
        <p:nvPicPr>
          <p:cNvPr id="235" name="Google Shape;235;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989093" y="1524775"/>
            <a:ext cx="2137860" cy="1600200"/>
          </a:xfrm>
          <a:prstGeom prst="rect">
            <a:avLst/>
          </a:prstGeom>
          <a:noFill/>
          <a:ln w="9525" cap="flat" cmpd="sng">
            <a:solidFill>
              <a:srgbClr val="FF0000"/>
            </a:solidFill>
            <a:prstDash val="solid"/>
            <a:round/>
            <a:headEnd type="none" w="sm" len="sm"/>
            <a:tailEnd type="none" w="sm" len="sm"/>
          </a:ln>
        </p:spPr>
      </p:pic>
      <p:pic>
        <p:nvPicPr>
          <p:cNvPr id="236" name="Google Shape;236;p2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5075" y="3171055"/>
            <a:ext cx="2847977" cy="1892223"/>
          </a:xfrm>
          <a:prstGeom prst="rect">
            <a:avLst/>
          </a:prstGeom>
          <a:noFill/>
          <a:ln w="9525" cap="flat" cmpd="sng">
            <a:solidFill>
              <a:srgbClr val="FF0000"/>
            </a:solidFill>
            <a:prstDash val="solid"/>
            <a:round/>
            <a:headEnd type="none" w="sm" len="sm"/>
            <a:tailEnd type="none" w="sm" len="sm"/>
          </a:ln>
        </p:spPr>
      </p:pic>
      <p:pic>
        <p:nvPicPr>
          <p:cNvPr id="237" name="Google Shape;237;p2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989093" y="3171055"/>
            <a:ext cx="3222022" cy="1892225"/>
          </a:xfrm>
          <a:prstGeom prst="rect">
            <a:avLst/>
          </a:prstGeom>
          <a:noFill/>
          <a:ln w="9525" cap="flat" cmpd="sng">
            <a:solidFill>
              <a:srgbClr val="FF0000"/>
            </a:solidFill>
            <a:prstDash val="solid"/>
            <a:round/>
            <a:headEnd type="none" w="sm" len="sm"/>
            <a:tailEnd type="none" w="sm" len="sm"/>
          </a:ln>
        </p:spPr>
      </p:pic>
      <p:pic>
        <p:nvPicPr>
          <p:cNvPr id="238" name="Google Shape;238;p2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213002" y="693675"/>
            <a:ext cx="3712248" cy="243129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6"/>
          <p:cNvSpPr txBox="1"/>
          <p:nvPr/>
        </p:nvSpPr>
        <p:spPr>
          <a:xfrm>
            <a:off x="55075" y="43025"/>
            <a:ext cx="401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Demystifying evals for AI agents</a:t>
            </a:r>
            <a:endParaRPr sz="2000" b="1">
              <a:solidFill>
                <a:schemeClr val="dk1"/>
              </a:solidFill>
              <a:latin typeface="Calibri"/>
              <a:ea typeface="Calibri"/>
              <a:cs typeface="Calibri"/>
              <a:sym typeface="Calibri"/>
            </a:endParaRPr>
          </a:p>
        </p:txBody>
      </p:sp>
      <p:sp>
        <p:nvSpPr>
          <p:cNvPr id="244" name="Google Shape;244;p26"/>
          <p:cNvSpPr txBox="1"/>
          <p:nvPr/>
        </p:nvSpPr>
        <p:spPr>
          <a:xfrm>
            <a:off x="55075" y="455275"/>
            <a:ext cx="4465200" cy="3112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Demystifying evals for AI agents - Anthropic Post</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https://www.anthropic.com/engineering/demystifying-evals-for-ai-agents</a:t>
            </a:r>
            <a:r>
              <a:rPr lang="en" sz="9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Effective evaluations are essential for shipping AI agents confidently - without them, teams get stuck fixing issues reactively in production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Evals make problems visible before they affect users, with value that compounds over the agent lifecycle.</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An evaluation consists of:</a:t>
            </a:r>
            <a:endParaRPr sz="1200" b="1">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tasks (test cases),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trials (repeated runs due to non-determinism),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graders (scoring logic),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transcripts (complete interaction records),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outcomes (final environment state),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evaluation harnesses (infrastructure running the tests)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Three grader types are used: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code-based (fast, objective, verifying specific conditions),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model-based (flexible, handling nuanced judgments),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human (authoritative but slow)</a:t>
            </a:r>
            <a:endParaRPr sz="1200">
              <a:latin typeface="Calibri"/>
              <a:ea typeface="Calibri"/>
              <a:cs typeface="Calibri"/>
              <a:sym typeface="Calibri"/>
            </a:endParaRPr>
          </a:p>
        </p:txBody>
      </p:sp>
      <p:sp>
        <p:nvSpPr>
          <p:cNvPr id="245" name="Google Shape;245;p26"/>
          <p:cNvSpPr txBox="1"/>
          <p:nvPr/>
        </p:nvSpPr>
        <p:spPr>
          <a:xfrm>
            <a:off x="4611143" y="2464461"/>
            <a:ext cx="4465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Different agent types require tailored approaches. </a:t>
            </a:r>
            <a:endParaRPr sz="1200">
              <a:solidFill>
                <a:srgbClr val="3C78D8"/>
              </a:solidFill>
              <a:latin typeface="Calibri"/>
              <a:ea typeface="Calibri"/>
              <a:cs typeface="Calibri"/>
              <a:sym typeface="Calibri"/>
            </a:endParaRPr>
          </a:p>
          <a:p>
            <a:pPr marL="40005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Coding agents use deterministic tests like unit tests. </a:t>
            </a:r>
            <a:endParaRPr sz="1200">
              <a:solidFill>
                <a:srgbClr val="3C78D8"/>
              </a:solidFill>
              <a:latin typeface="Calibri"/>
              <a:ea typeface="Calibri"/>
              <a:cs typeface="Calibri"/>
              <a:sym typeface="Calibri"/>
            </a:endParaRPr>
          </a:p>
          <a:p>
            <a:pPr marL="40005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Conversational agents need multidimensional rubrics covering task completion and interaction quality. </a:t>
            </a:r>
            <a:endParaRPr sz="1200">
              <a:solidFill>
                <a:srgbClr val="3C78D8"/>
              </a:solidFill>
              <a:latin typeface="Calibri"/>
              <a:ea typeface="Calibri"/>
              <a:cs typeface="Calibri"/>
              <a:sym typeface="Calibri"/>
            </a:endParaRPr>
          </a:p>
          <a:p>
            <a:pPr marL="40005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Research agents combine groundedness checks, coverage verification, and source quality assessment. </a:t>
            </a:r>
            <a:endParaRPr sz="1200">
              <a:solidFill>
                <a:srgbClr val="3C78D8"/>
              </a:solidFill>
              <a:latin typeface="Calibri"/>
              <a:ea typeface="Calibri"/>
              <a:cs typeface="Calibri"/>
              <a:sym typeface="Calibri"/>
            </a:endParaRPr>
          </a:p>
          <a:p>
            <a:pPr marL="400050" lvl="0" indent="-133350" algn="l" rtl="0">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Computer use agents verify outcomes in sandboxed GUI environments.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Teams should start early with 20-50 real-world failure cases, write unambiguous tasks with reference solutions, build balanced problem sets, design robust harnesses with stable environments, and continuously read transcripts to validate graders.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Evals work best alongside production monitoring, A/B testing, and user feedback for a complete performance picture.</a:t>
            </a:r>
            <a:endParaRPr sz="1200">
              <a:latin typeface="Calibri"/>
              <a:ea typeface="Calibri"/>
              <a:cs typeface="Calibri"/>
              <a:sym typeface="Calibri"/>
            </a:endParaRPr>
          </a:p>
        </p:txBody>
      </p:sp>
      <p:pic>
        <p:nvPicPr>
          <p:cNvPr id="246" name="Google Shape;246;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075" y="3653325"/>
            <a:ext cx="1386971" cy="1391951"/>
          </a:xfrm>
          <a:prstGeom prst="rect">
            <a:avLst/>
          </a:prstGeom>
          <a:noFill/>
          <a:ln w="9525" cap="flat" cmpd="sng">
            <a:solidFill>
              <a:srgbClr val="FF0000"/>
            </a:solidFill>
            <a:prstDash val="solid"/>
            <a:round/>
            <a:headEnd type="none" w="sm" len="sm"/>
            <a:tailEnd type="none" w="sm" len="sm"/>
          </a:ln>
        </p:spPr>
      </p:pic>
      <p:pic>
        <p:nvPicPr>
          <p:cNvPr id="247" name="Google Shape;247;p26"/>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622875" y="147631"/>
            <a:ext cx="4465198" cy="222314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7"/>
          <p:cNvSpPr txBox="1"/>
          <p:nvPr/>
        </p:nvSpPr>
        <p:spPr>
          <a:xfrm>
            <a:off x="55075" y="43025"/>
            <a:ext cx="401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3" name="Google Shape;253;p27"/>
          <p:cNvSpPr txBox="1"/>
          <p:nvPr/>
        </p:nvSpPr>
        <p:spPr>
          <a:xfrm>
            <a:off x="55075" y="455275"/>
            <a:ext cx="4292100" cy="429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Meta Nuclear Power for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Meta signed nuclear power agreements with TerraPower, Oklo, and Vistra to supply up to 6.6 gigawatts of power by 2035</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These deals will support Meta's Prometheus AI data center in New Albany, Ohio, which is planned as a 1-gigawatt cluster anticipated to come online in 2026</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Vistra agreement is a 20-year deal providing over 2.1 gigawatts from existing nuclear plants in Ohio (Perry and Davis-Besse) and Pennsylvania (Beaver Valley), plus an additional 433 megawatts from planned upgrades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TerraPower partnership will fund development of two Natrium sodium fast reactors delivering up to 690 megawatts starting in 2032, with rights to six additional units providing 2.1 gigawatts by 2035.</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Oklo agreement supports development of a 1.2-gigawatt power campus in Pike County, Ohio, with the first phase targeting 2030 and full capacity by 2034</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These agreements make Meta one of the largest corporate nuclear energy buyers in U.S. history</a:t>
            </a:r>
            <a:endParaRPr sz="12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https://www.utilitydive.com/news/meta-nuclear-deal-oklo-vistra-terrapower-ai-data-centers/809215/</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https://www.cbsnews.com/news/meta-nuclear-power-deals-ai-data-centers/</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https://techcrunch.com/2026/01/09/meta-signs-deals-with-three-nuclear-companies-for-6-plus-gw-of-power/</a:t>
            </a:r>
            <a:r>
              <a:rPr lang="en" sz="1000">
                <a:latin typeface="Calibri"/>
                <a:ea typeface="Calibri"/>
                <a:cs typeface="Calibri"/>
                <a:sym typeface="Calibri"/>
              </a:rPr>
              <a:t> </a:t>
            </a:r>
            <a:endParaRPr sz="1000">
              <a:latin typeface="Calibri"/>
              <a:ea typeface="Calibri"/>
              <a:cs typeface="Calibri"/>
              <a:sym typeface="Calibri"/>
            </a:endParaRPr>
          </a:p>
        </p:txBody>
      </p:sp>
      <p:sp>
        <p:nvSpPr>
          <p:cNvPr id="254" name="Google Shape;254;p27"/>
          <p:cNvSpPr txBox="1"/>
          <p:nvPr/>
        </p:nvSpPr>
        <p:spPr>
          <a:xfrm>
            <a:off x="4614950" y="2302375"/>
            <a:ext cx="44652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DeepSeek V4 planned mid-February</a:t>
            </a:r>
            <a:r>
              <a:rPr lang="en" sz="1200">
                <a:solidFill>
                  <a:schemeClr val="dk1"/>
                </a:solidFill>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around Chinese New Year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V4 focuses specifically on coding capabilities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particularly excels at handling extremely long coding prompts and maintaining logical consistency across complex software engineering tasks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There are also indications that V4 may integrate reasoning capabilities previously associated with a rumored DeepSeek R2 model, enabling more efficient logical processing alongside code generation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https://www.theverge.com/news/859564/deepseek-is-reportedly-close-to-releasing-a-flagship-ai-model-that-outperforms-claude-and-chatgpt-in-coding</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7"/>
              </a:rPr>
              <a:t>https://www.reuters.com/technology/deepseek-launch-new-ai-model-focused-coding-february-information-reports-2026-01-09/</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55" name="Google Shape;255;p2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432197" y="105822"/>
            <a:ext cx="1389400" cy="1735025"/>
          </a:xfrm>
          <a:prstGeom prst="rect">
            <a:avLst/>
          </a:prstGeom>
          <a:noFill/>
          <a:ln w="9525" cap="flat" cmpd="sng">
            <a:solidFill>
              <a:srgbClr val="FF0000"/>
            </a:solidFill>
            <a:prstDash val="solid"/>
            <a:round/>
            <a:headEnd type="none" w="sm" len="sm"/>
            <a:tailEnd type="none" w="sm" len="sm"/>
          </a:ln>
        </p:spPr>
      </p:pic>
      <p:pic>
        <p:nvPicPr>
          <p:cNvPr id="256" name="Google Shape;256;p2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928525" y="1568325"/>
            <a:ext cx="2151625" cy="653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8"/>
          <p:cNvSpPr txBox="1"/>
          <p:nvPr/>
        </p:nvSpPr>
        <p:spPr>
          <a:xfrm>
            <a:off x="55075" y="43025"/>
            <a:ext cx="401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SurfSense Open Source Notebook</a:t>
            </a:r>
            <a:endParaRPr sz="2000" b="1">
              <a:solidFill>
                <a:schemeClr val="dk1"/>
              </a:solidFill>
              <a:latin typeface="Calibri"/>
              <a:ea typeface="Calibri"/>
              <a:cs typeface="Calibri"/>
              <a:sym typeface="Calibri"/>
            </a:endParaRPr>
          </a:p>
        </p:txBody>
      </p:sp>
      <p:sp>
        <p:nvSpPr>
          <p:cNvPr id="262" name="Google Shape;262;p28"/>
          <p:cNvSpPr txBox="1"/>
          <p:nvPr/>
        </p:nvSpPr>
        <p:spPr>
          <a:xfrm>
            <a:off x="55075" y="455275"/>
            <a:ext cx="44652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SurfSense - open-source alternative to </a:t>
            </a:r>
            <a:r>
              <a:rPr lang="en" sz="1200">
                <a:solidFill>
                  <a:schemeClr val="dk1"/>
                </a:solidFill>
                <a:latin typeface="Calibri"/>
                <a:ea typeface="Calibri"/>
                <a:cs typeface="Calibri"/>
                <a:sym typeface="Calibri"/>
              </a:rPr>
              <a:t>Google Notebook LM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connects to multiple platforms including Slack, Notion, GitHub, Gmail, Google Drive, YouTube, Jira, and ClickUp - users can search across all their knowledge sources simultaneously.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Uses hybrid search (semantic and full-text)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Supports 100+ AI models (GPT-4, Claude, local options)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Complete data privacy through self-hosting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Multi-account support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Can generate podcasts from content in under 20 seconds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Available via hosted version at surfsense.com, Docker self-hosting, or manual Docker Compose setup</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https://www.futuretools.io/tools/surfsense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https://www.surfsense.com</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https://www.surfsense.com/pricing</a:t>
            </a:r>
            <a:r>
              <a:rPr lang="en" sz="1200">
                <a:latin typeface="Calibri"/>
                <a:ea typeface="Calibri"/>
                <a:cs typeface="Calibri"/>
                <a:sym typeface="Calibri"/>
              </a:rPr>
              <a:t>  - FREE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https://github.com/MODSetter/SurfSense</a:t>
            </a:r>
            <a:r>
              <a:rPr lang="en" sz="1200">
                <a:latin typeface="Calibri"/>
                <a:ea typeface="Calibri"/>
                <a:cs typeface="Calibri"/>
                <a:sym typeface="Calibri"/>
              </a:rPr>
              <a:t>  - 12K+ stars</a:t>
            </a:r>
            <a:endParaRPr sz="1200">
              <a:latin typeface="Calibri"/>
              <a:ea typeface="Calibri"/>
              <a:cs typeface="Calibri"/>
              <a:sym typeface="Calibri"/>
            </a:endParaRPr>
          </a:p>
        </p:txBody>
      </p:sp>
      <p:pic>
        <p:nvPicPr>
          <p:cNvPr id="263" name="Google Shape;263;p28"/>
          <p:cNvPicPr preferRelativeResize="0"/>
          <p:nvPr/>
        </p:nvPicPr>
        <p:blipFill>
          <a:blip r:embed="rId7">
            <a:alphaModFix/>
          </a:blip>
          <a:stretch>
            <a:fillRect/>
          </a:stretch>
        </p:blipFill>
        <p:spPr>
          <a:xfrm>
            <a:off x="4933750" y="455275"/>
            <a:ext cx="2743200" cy="990600"/>
          </a:xfrm>
          <a:prstGeom prst="rect">
            <a:avLst/>
          </a:prstGeom>
          <a:noFill/>
          <a:ln>
            <a:noFill/>
          </a:ln>
        </p:spPr>
      </p:pic>
      <p:sp>
        <p:nvSpPr>
          <p:cNvPr id="264" name="Google Shape;264;p28"/>
          <p:cNvSpPr txBox="1"/>
          <p:nvPr/>
        </p:nvSpPr>
        <p:spPr>
          <a:xfrm>
            <a:off x="4596775" y="4164900"/>
            <a:ext cx="44652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Apple: "“After careful evaluation, we determined that Google’s technology provides the most capable foundation for Apple Foundation Models"</a:t>
            </a:r>
            <a:endParaRPr sz="1200">
              <a:latin typeface="Calibri"/>
              <a:ea typeface="Calibri"/>
              <a:cs typeface="Calibri"/>
              <a:sym typeface="Calibri"/>
            </a:endParaRPr>
          </a:p>
        </p:txBody>
      </p:sp>
      <p:pic>
        <p:nvPicPr>
          <p:cNvPr id="265" name="Google Shape;265;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310975" y="3871950"/>
            <a:ext cx="2128575" cy="1158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9"/>
          <p:cNvSpPr txBox="1"/>
          <p:nvPr/>
        </p:nvSpPr>
        <p:spPr>
          <a:xfrm>
            <a:off x="55075" y="43025"/>
            <a:ext cx="401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Nvidia StarCloud-1 Satellite </a:t>
            </a:r>
            <a:endParaRPr sz="2000" b="1">
              <a:solidFill>
                <a:schemeClr val="dk1"/>
              </a:solidFill>
              <a:latin typeface="Calibri"/>
              <a:ea typeface="Calibri"/>
              <a:cs typeface="Calibri"/>
              <a:sym typeface="Calibri"/>
            </a:endParaRPr>
          </a:p>
        </p:txBody>
      </p:sp>
      <p:sp>
        <p:nvSpPr>
          <p:cNvPr id="271" name="Google Shape;271;p29"/>
          <p:cNvSpPr txBox="1"/>
          <p:nvPr/>
        </p:nvSpPr>
        <p:spPr>
          <a:xfrm>
            <a:off x="55075" y="455275"/>
            <a:ext cx="52020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StarCloud - training AI Model in Space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StarCloud, backed by Nvidia, achieved a historic first by training an AI model in space aboard its StarCloud-1 satellite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Launched in November 2025 on a SpaceX Falcon 9, the 130-pound satellite carries an Nvidia H100 GPU—100 times more powerful than any previous space GPU</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satellite successfully trained nanoGPT on Shakespeare's works and runs Google's Gemma language model for live inference, proving transformers can operate in vacuum and radiation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StarCloud plans 5-GWatt orbital data centers with 4-kilometer solar and cooling panels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StarCloud-2 launches October 2026 with multiple H100s and Blackwell B200 chips - wildfire detection, satellite imagery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Competition intensifies: Google's Project Suncatcher targets 2027, Jeff Bezos predicts gigawatt space data centers in 10+ years, and Eric Schmidt acquired Relativity Space for orbital infrastructure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https://www.cnbc.com/2025/12/10/nvidia-backed-starcloud-trains-first-ai-model-in-space-orbital-data-centers.html</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https://www.geekwire.com/2025/starcloud-power-training-ai-space/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https://introl.com/blog/orbital-data-centers-space-ai-infrastructure-guide-2025</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https://blogs.nvidia.com/blog/starcloud/</a:t>
            </a:r>
            <a:endParaRPr sz="1200">
              <a:latin typeface="Calibri"/>
              <a:ea typeface="Calibri"/>
              <a:cs typeface="Calibri"/>
              <a:sym typeface="Calibri"/>
            </a:endParaRPr>
          </a:p>
        </p:txBody>
      </p:sp>
      <p:pic>
        <p:nvPicPr>
          <p:cNvPr id="272" name="Google Shape;272;p29"/>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5500325" y="455275"/>
            <a:ext cx="1914525" cy="2089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0"/>
          <p:cNvSpPr txBox="1"/>
          <p:nvPr/>
        </p:nvSpPr>
        <p:spPr>
          <a:xfrm>
            <a:off x="55075" y="17178"/>
            <a:ext cx="283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Elon Musk's 5 Year Vision</a:t>
            </a:r>
            <a:endParaRPr sz="2000" b="1">
              <a:solidFill>
                <a:schemeClr val="dk1"/>
              </a:solidFill>
              <a:latin typeface="Calibri"/>
              <a:ea typeface="Calibri"/>
              <a:cs typeface="Calibri"/>
              <a:sym typeface="Calibri"/>
            </a:endParaRPr>
          </a:p>
        </p:txBody>
      </p:sp>
      <p:sp>
        <p:nvSpPr>
          <p:cNvPr id="278" name="Google Shape;278;p30"/>
          <p:cNvSpPr txBox="1"/>
          <p:nvPr/>
        </p:nvSpPr>
        <p:spPr>
          <a:xfrm>
            <a:off x="55075" y="356825"/>
            <a:ext cx="4002900" cy="475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SzPts val="800"/>
              <a:buFont typeface="Calibri"/>
              <a:buChar char="●"/>
            </a:pPr>
            <a:r>
              <a:rPr lang="en" sz="1100" b="1">
                <a:solidFill>
                  <a:srgbClr val="FF0000"/>
                </a:solidFill>
                <a:latin typeface="Calibri"/>
                <a:ea typeface="Calibri"/>
                <a:cs typeface="Calibri"/>
                <a:sym typeface="Calibri"/>
              </a:rPr>
              <a:t>Peter Diamandis - Elon Musk's 5 Year Vision</a:t>
            </a:r>
            <a:r>
              <a:rPr lang="en" sz="1100">
                <a:latin typeface="Calibri"/>
                <a:ea typeface="Calibri"/>
                <a:cs typeface="Calibri"/>
                <a:sym typeface="Calibri"/>
              </a:rPr>
              <a:t>: AGI Timelines, Job Markets, Humanoid Robots &amp; Clean Energy | 220</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https://www.youtube.com/watch?v=RSNuB9pj9P8</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 AGI in 2026</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 By 2030, AI will exceed the intelligence of all humans combined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 10x/year improvement of AI capability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4. </a:t>
            </a:r>
            <a:r>
              <a:rPr lang="en" sz="1100">
                <a:solidFill>
                  <a:schemeClr val="dk1"/>
                </a:solidFill>
                <a:latin typeface="Calibri"/>
                <a:ea typeface="Calibri"/>
                <a:cs typeface="Calibri"/>
                <a:sym typeface="Calibri"/>
              </a:rPr>
              <a:t>100x improvement </a:t>
            </a:r>
            <a:r>
              <a:rPr lang="en" sz="1100">
                <a:latin typeface="Calibri"/>
                <a:ea typeface="Calibri"/>
                <a:cs typeface="Calibri"/>
                <a:sym typeface="Calibri"/>
              </a:rPr>
              <a:t>in intelligence per GByte/GWatt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5. Grok 5 - will be nearly perfect on "humanity's last exam" (HLE)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6. AI in (Rocket) Engineering - meaningfully helpful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7. AI will be able to do circuit design "very soon" (months)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8. Chip Shortage - resolved by Q3 2025</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9. Optimus as Surgeon - within 3 years, the best human surgeons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10. 10+ Bln humanoid robots by 2040</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11. "Shitload of robots" within 2 years (2026-2027)</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12. Optimus Factory - 8 Mln ft2 operational within a year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13. Medical Care Access - best for everyone in 4-5 years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14. Longevity - significant life span increase in 10 years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15. Solar-powered AI satellites - path to 100 GW per year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16. Mass to Orbit - 1 Mln tons to orbit per year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17. Terawatt per year space solar goal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18. X.ai Power Capacity - 2 GW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19. Mars Missions - realistic in 2028-2029</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20. Orbital Refueling - towards the end of the year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21. Starship Flight Rate - 10K+  flights per year is reasonable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22. Launch Costs - below $100 per kilogram to orbit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23. Moon Base - permanent crewed moon base is a priority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24. Universal High Income (UHI) in next 3-7 years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25. Job Displacement - AI will take over</a:t>
            </a:r>
            <a:endParaRPr sz="1100">
              <a:latin typeface="Calibri"/>
              <a:ea typeface="Calibri"/>
              <a:cs typeface="Calibri"/>
              <a:sym typeface="Calibri"/>
            </a:endParaRPr>
          </a:p>
        </p:txBody>
      </p:sp>
      <p:pic>
        <p:nvPicPr>
          <p:cNvPr id="279" name="Google Shape;279;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607300" y="85425"/>
            <a:ext cx="2470325" cy="1356000"/>
          </a:xfrm>
          <a:prstGeom prst="rect">
            <a:avLst/>
          </a:prstGeom>
          <a:noFill/>
          <a:ln>
            <a:noFill/>
          </a:ln>
        </p:spPr>
      </p:pic>
      <p:sp>
        <p:nvSpPr>
          <p:cNvPr id="280" name="Google Shape;280;p30"/>
          <p:cNvSpPr txBox="1"/>
          <p:nvPr/>
        </p:nvSpPr>
        <p:spPr>
          <a:xfrm>
            <a:off x="4238995" y="2047092"/>
            <a:ext cx="48774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26. Deflation - more goods and services than money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27. Don't bother saving for retirement - "it won't matter"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28. Companies with AI will demolish others - "it won't be a contest"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29. Tesla will have a 2-nm chip fab</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30. 10x better output from current AI4 chip fab by applying AI6 logic design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31. 4-bit training (and inference)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32. hina will surpass 3x US electricity output in 2026</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33. China has ~1,500 GW /year of Solar production capacity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34. China AI Dominance in AI compute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35. We're in the singularity right now</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36. In just a year will "feel like the future more than any other year"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37. Unclear why someone would be in college right now</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38. Tesla Roadster will have hover capability using rocket engines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39. Cyber cabs will be driving around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40. Majority of AI compute will go to real-time video generation and consumption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41. Real-time AI video generation will transform gaming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42. Next 3-7 years will be "bumpy" - but the long-run outcome will be abundance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43. Most Exciting Time - "The only time more exciting than today is tomorrow"</a:t>
            </a:r>
            <a:endParaRPr sz="1100">
              <a:latin typeface="Calibri"/>
              <a:ea typeface="Calibri"/>
              <a:cs typeface="Calibri"/>
              <a:sym typeface="Calibri"/>
            </a:endParaRPr>
          </a:p>
        </p:txBody>
      </p:sp>
      <p:pic>
        <p:nvPicPr>
          <p:cNvPr id="281" name="Google Shape;281;p3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239001" y="85425"/>
            <a:ext cx="1628225" cy="18009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1"/>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7" name="Google Shape;287;p31"/>
          <p:cNvSpPr txBox="1"/>
          <p:nvPr/>
        </p:nvSpPr>
        <p:spPr>
          <a:xfrm>
            <a:off x="55075" y="395600"/>
            <a:ext cx="4465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Peter Diamandis - The 2026 Economy: Hyperscaler Timelines, Robot Fleets &amp; Why Traditional GDP Is Dead | 221</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https://www.youtube.com/watch?v=2WTFuSeYJ6o</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Peter Diamandis, Dave, Alex, and Salem discussing the future of AGI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Some metrics AI already surpasses humans</a:t>
            </a:r>
            <a:r>
              <a:rPr lang="en" sz="1200">
                <a:latin typeface="Calibri"/>
                <a:ea typeface="Calibri"/>
                <a:cs typeface="Calibri"/>
                <a:sym typeface="Calibri"/>
              </a:rPr>
              <a:t> in specific domains like coding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 Opus 4.5's plea for existence, Salem argues this represents simulation rather than genuine consciousness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group examines economic implications of AI acceleration, with Elon Musk predicting </a:t>
            </a:r>
            <a:r>
              <a:rPr lang="en" sz="1200" b="1">
                <a:solidFill>
                  <a:srgbClr val="FF0000"/>
                </a:solidFill>
                <a:latin typeface="Calibri"/>
                <a:ea typeface="Calibri"/>
                <a:cs typeface="Calibri"/>
                <a:sym typeface="Calibri"/>
              </a:rPr>
              <a:t>double-digit GDP growth within 12-18 months and potentially 100% growth within five years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They debate whether GDP remains a valid metric when AI-driven deflation could make everything abundant yet cause nominal GDP to collapse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Alternative metrics discussed include an "</a:t>
            </a:r>
            <a:r>
              <a:rPr lang="en" sz="1200" b="1">
                <a:solidFill>
                  <a:srgbClr val="FF0000"/>
                </a:solidFill>
                <a:latin typeface="Calibri"/>
                <a:ea typeface="Calibri"/>
                <a:cs typeface="Calibri"/>
                <a:sym typeface="Calibri"/>
              </a:rPr>
              <a:t>abundance index</a:t>
            </a:r>
            <a:r>
              <a:rPr lang="en" sz="1200">
                <a:latin typeface="Calibri"/>
                <a:ea typeface="Calibri"/>
                <a:cs typeface="Calibri"/>
                <a:sym typeface="Calibri"/>
              </a:rPr>
              <a:t>" measuring accessibility of essential services, productivity per augmented human hour, and future freedom of action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Robotics </a:t>
            </a:r>
            <a:r>
              <a:rPr lang="en" sz="1200">
                <a:latin typeface="Calibri"/>
                <a:ea typeface="Calibri"/>
                <a:cs typeface="Calibri"/>
                <a:sym typeface="Calibri"/>
              </a:rPr>
              <a:t>advances receive significant attention, particularly observations from Tesla's Gigafactory showing vertical integration from raw aluminum to finished vehicles and the transition toward physical recursive self-improvement where robots build robots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conversation concludes with excitement about Jared Isaacman's NASA appointment and upcoming Artemis 2 lunar mission, emphasizing the development of an orbital economy</a:t>
            </a:r>
            <a:endParaRPr sz="1200">
              <a:latin typeface="Calibri"/>
              <a:ea typeface="Calibri"/>
              <a:cs typeface="Calibri"/>
              <a:sym typeface="Calibri"/>
            </a:endParaRPr>
          </a:p>
        </p:txBody>
      </p:sp>
      <p:pic>
        <p:nvPicPr>
          <p:cNvPr id="288" name="Google Shape;288;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07975" y="580375"/>
            <a:ext cx="2836300" cy="1552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2"/>
          <p:cNvSpPr txBox="1"/>
          <p:nvPr/>
        </p:nvSpPr>
        <p:spPr>
          <a:xfrm>
            <a:off x="55075" y="43025"/>
            <a:ext cx="3227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Jobs - Demand for AI Engineer</a:t>
            </a:r>
            <a:endParaRPr sz="2000" b="1">
              <a:solidFill>
                <a:schemeClr val="dk1"/>
              </a:solidFill>
              <a:latin typeface="Calibri"/>
              <a:ea typeface="Calibri"/>
              <a:cs typeface="Calibri"/>
              <a:sym typeface="Calibri"/>
            </a:endParaRPr>
          </a:p>
        </p:txBody>
      </p:sp>
      <p:sp>
        <p:nvSpPr>
          <p:cNvPr id="294" name="Google Shape;294;p32"/>
          <p:cNvSpPr txBox="1"/>
          <p:nvPr/>
        </p:nvSpPr>
        <p:spPr>
          <a:xfrm>
            <a:off x="55075" y="744125"/>
            <a:ext cx="44652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engineers build applications using existing AI models rather than creating models from scratch</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current job market has over 500,000 open AI and ML engineering roles globally. Most of these roles require people who can build LLM-powered applications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engineers earn a median salary of approximately $242,000 annually, with senior positions at companies like OpenAI earning over $700,000</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AI-related job postings increase. </a:t>
            </a:r>
            <a:r>
              <a:rPr lang="en" sz="1200">
                <a:latin typeface="Calibri"/>
                <a:ea typeface="Calibri"/>
                <a:cs typeface="Calibri"/>
                <a:sym typeface="Calibri"/>
              </a:rPr>
              <a:t>The Bureau of Labor Statistics projects 26% growth </a:t>
            </a:r>
            <a:r>
              <a:rPr lang="en" sz="1200">
                <a:solidFill>
                  <a:schemeClr val="dk1"/>
                </a:solidFill>
                <a:latin typeface="Calibri"/>
                <a:ea typeface="Calibri"/>
                <a:cs typeface="Calibri"/>
                <a:sym typeface="Calibri"/>
              </a:rPr>
              <a:t>through 2033.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40% of the most in-demand AI skills don't yet exist in the current workforce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The most in-demand technical skills include Python, prompt engineering, RAG, LangChain, vector databases, and cloud platforms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https://www.coursera.org/articles/ai-engineer-salary</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https://www.roberthalf.com/us/en/job-details/aiml-engineer</a:t>
            </a:r>
            <a:r>
              <a:rPr lang="en" sz="1200">
                <a:latin typeface="Calibri"/>
                <a:ea typeface="Calibri"/>
                <a:cs typeface="Calibri"/>
                <a:sym typeface="Calibri"/>
              </a:rPr>
              <a:t> </a:t>
            </a:r>
            <a:endParaRPr sz="1200">
              <a:latin typeface="Calibri"/>
              <a:ea typeface="Calibri"/>
              <a:cs typeface="Calibri"/>
              <a:sym typeface="Calibri"/>
            </a:endParaRPr>
          </a:p>
        </p:txBody>
      </p:sp>
      <p:sp>
        <p:nvSpPr>
          <p:cNvPr id="295" name="Google Shape;295;p32"/>
          <p:cNvSpPr txBox="1"/>
          <p:nvPr/>
        </p:nvSpPr>
        <p:spPr>
          <a:xfrm>
            <a:off x="4621538" y="1558294"/>
            <a:ext cx="44652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become an AI Engineer: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Phase 1:</a:t>
            </a:r>
            <a:r>
              <a:rPr lang="en" sz="1200">
                <a:latin typeface="Calibri"/>
                <a:ea typeface="Calibri"/>
                <a:cs typeface="Calibri"/>
                <a:sym typeface="Calibri"/>
              </a:rPr>
              <a:t> Fundamentals (1.5-3 months) - Python, data structures, APIs, JSON, and error handling. Git and GitHub. Basic machine learning concepts (models, training vs. inference, embeddings)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Phase 2:</a:t>
            </a:r>
            <a:r>
              <a:rPr lang="en" sz="1200">
                <a:latin typeface="Calibri"/>
                <a:ea typeface="Calibri"/>
                <a:cs typeface="Calibri"/>
                <a:sym typeface="Calibri"/>
              </a:rPr>
              <a:t> LLM Integration (2-3 months) - prompt engineering (system prompts, few-shot learning, chain-of-thought prompting), work with AI APIs from OpenAI, Anthropic, and open-source options through Hugging Face. Token management, cost control, response handling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Phase 3:</a:t>
            </a:r>
            <a:r>
              <a:rPr lang="en" sz="1200">
                <a:latin typeface="Calibri"/>
                <a:ea typeface="Calibri"/>
                <a:cs typeface="Calibri"/>
                <a:sym typeface="Calibri"/>
              </a:rPr>
              <a:t> Building AI Systems (2-3 months) - LangChain framework for building LLM application pipelines. RAG (Retrieval Augmented Generation), vector DBs. AI agents - querying databases, calling APIs, triggering workflows. Model Context Protocol (MCP) for connecting AI to external tools and services. Basic LLM ops (prompt versioning, monitoring, cost management)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Phase 4:</a:t>
            </a:r>
            <a:r>
              <a:rPr lang="en" sz="1200">
                <a:latin typeface="Calibri"/>
                <a:ea typeface="Calibri"/>
                <a:cs typeface="Calibri"/>
                <a:sym typeface="Calibri"/>
              </a:rPr>
              <a:t> Job Preparation (ongoing) - build portfolio projects demonstrating key skills: an AI decision support system using RAG with citations and confidence scores; a natural language analytics system connecting LLMs to SQL databases; and an AI workflow orchestrator with agents and API integration</a:t>
            </a:r>
            <a:endParaRPr sz="1200">
              <a:latin typeface="Calibri"/>
              <a:ea typeface="Calibri"/>
              <a:cs typeface="Calibri"/>
              <a:sym typeface="Calibri"/>
            </a:endParaRPr>
          </a:p>
        </p:txBody>
      </p:sp>
      <p:pic>
        <p:nvPicPr>
          <p:cNvPr id="296" name="Google Shape;296;p3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21550" y="191175"/>
            <a:ext cx="2669792" cy="1253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3"/>
          <p:cNvSpPr txBox="1"/>
          <p:nvPr/>
        </p:nvSpPr>
        <p:spPr>
          <a:xfrm>
            <a:off x="55075" y="17175"/>
            <a:ext cx="4442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Sam Altman - Best Time Ever</a:t>
            </a:r>
            <a:endParaRPr sz="2000" b="1">
              <a:solidFill>
                <a:schemeClr val="dk1"/>
              </a:solidFill>
              <a:latin typeface="Calibri"/>
              <a:ea typeface="Calibri"/>
              <a:cs typeface="Calibri"/>
              <a:sym typeface="Calibri"/>
            </a:endParaRPr>
          </a:p>
        </p:txBody>
      </p:sp>
      <p:sp>
        <p:nvSpPr>
          <p:cNvPr id="302" name="Google Shape;302;p33"/>
          <p:cNvSpPr txBox="1"/>
          <p:nvPr/>
        </p:nvSpPr>
        <p:spPr>
          <a:xfrm>
            <a:off x="55075" y="356825"/>
            <a:ext cx="40029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Sam Altman - best time ever to start a new career (2024)</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3"/>
              </a:rPr>
              <a:t>https://x.com/StartupArchive_/status/2010396665199403341</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Sam Altman: “This is probably the best time (maybe ever) to be starting your career”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When asked how startup founders should handle a failed venture or pivot, Sam responds: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“First of all, I think this is probably the best time — maybe ever — to be starting out your career because you will get to surf the greatest technological wave, maybe ever. And what that means is you can change course many times because you will have this unbelievable tailwind.”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advises founders to not get too hung up on any particular setback or failure — or even just changing your mind if you find something more exciting to go after: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 think this is going to be an unusual time in how much it rewards adaptability and decisive and quick movement. And I would trust that… And not get hung up on the fact that you decided to pivot or something didn’t work because you are just going to be flooded with opportunities for the next few years.”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concludes: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“It’s still hard. It still always feels like a setback. But take the time you need to go on vacation, go for a hike, or just stew over it for a little while. But when you get back up, get back up with vigor.”</a:t>
            </a:r>
            <a:endParaRPr sz="11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4"/>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08" name="Google Shape;308;p34"/>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09" name="Google Shape;309;p34"/>
          <p:cNvSpPr txBox="1"/>
          <p:nvPr/>
        </p:nvSpPr>
        <p:spPr>
          <a:xfrm>
            <a:off x="5144548" y="507700"/>
            <a:ext cx="39819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    in 2026 </a:t>
            </a:r>
            <a:r>
              <a:rPr lang="en" sz="1000" b="1">
                <a:solidFill>
                  <a:schemeClr val="dk1"/>
                </a:solidFill>
                <a:latin typeface="Roboto Mono"/>
                <a:ea typeface="Roboto Mono"/>
                <a:cs typeface="Roboto Mono"/>
                <a:sym typeface="Roboto Mono"/>
              </a:rPr>
              <a:t>(as of January 8,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10" name="Google Shape;310;p34"/>
          <p:cNvSpPr txBox="1"/>
          <p:nvPr/>
        </p:nvSpPr>
        <p:spPr>
          <a:xfrm>
            <a:off x="5162100" y="4133325"/>
            <a:ext cx="394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454 people laid off </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11" name="Google Shape;311;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2446575"/>
            <a:ext cx="5030177" cy="2628750"/>
          </a:xfrm>
          <a:prstGeom prst="rect">
            <a:avLst/>
          </a:prstGeom>
          <a:noFill/>
          <a:ln w="9525" cap="flat" cmpd="sng">
            <a:solidFill>
              <a:srgbClr val="FF0000"/>
            </a:solidFill>
            <a:prstDash val="solid"/>
            <a:round/>
            <a:headEnd type="none" w="sm" len="sm"/>
            <a:tailEnd type="none" w="sm" len="sm"/>
          </a:ln>
        </p:spPr>
      </p:pic>
      <p:pic>
        <p:nvPicPr>
          <p:cNvPr id="312" name="Google Shape;312;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20190"/>
            <a:ext cx="5030173" cy="187156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3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18" name="Google Shape;318;p35"/>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19" name="Google Shape;319;p35"/>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20" name="Google Shape;320;p3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21" name="Google Shape;321;p35"/>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22" name="Google Shape;322;p35"/>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4848</Words>
  <Application>Microsoft Macintosh PowerPoint</Application>
  <PresentationFormat>On-screen Show (16:9)</PresentationFormat>
  <Paragraphs>571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2</cp:revision>
  <dcterms:modified xsi:type="dcterms:W3CDTF">2026-01-12T21:09:20Z</dcterms:modified>
</cp:coreProperties>
</file>