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embeddedFontLst>
    <p:embeddedFont>
      <p:font typeface="Roboto Mono" pitchFamily="49"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1174A1D-E924-4760-9F50-F557F2C3C895}">
  <a:tblStyle styleId="{41174A1D-E924-4760-9F50-F557F2C3C895}"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07" d="100"/>
          <a:sy n="107" d="100"/>
        </p:scale>
        <p:origin x="105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b7d6b467fa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b7d6b467fa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b58b3504a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3b58b3504a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927177183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g3927177183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b65f3db6b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3b65f3db6b3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ab6c7aaab3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3ab6c7aaab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3927403926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7" name="Google Shape;207;g3927403926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b6e33df1a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 name="Google Shape;216;g3b6e33df1a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b5f690eef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3" name="Google Shape;223;g3b5f690eef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b65f3db6b3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 name="Google Shape;231;g3b65f3db6b3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3b63147c7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9" name="Google Shape;239;g3b63147c7a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927403926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g3927403926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927bd1826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9" name="Google Shape;259;g3927bd1826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b65f3db6b3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8" name="Google Shape;268;g3b65f3db6b3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39285adbff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7" name="Google Shape;277;g39285adbff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3929422212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8" name="Google Shape;288;g39294222129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b70344472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7" name="Google Shape;297;g3b70344472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b7f6472d2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6" name="Google Shape;306;g3b7f6472d2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3b7f6472d24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9" name="Google Shape;319;g3b7f6472d24_0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b8460c9406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9" name="Google Shape;329;g3b8460c9406_1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3b8460c9406_2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1" name="Google Shape;341;g3b8460c9406_2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b8460c9406_1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0" name="Google Shape;350;g3b8460c9406_1_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929ddb475e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g3929ddb475e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b693116372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8" name="Google Shape;368;g3b693116372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g3b62010083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g3b62010083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b5f690eef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4" name="Google Shape;384;g3b5f690eef2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39274039260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1" name="Google Shape;391;g39274039260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g3b65f3db6b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9" name="Google Shape;399;g3b65f3db6b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9" name="Google Shape;40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9" name="Google Shape;419;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9" name="Google Shape;429;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www.anthropic.com/news/claude-opus-4-1" TargetMode="External"/><Relationship Id="rId39" Type="http://schemas.openxmlformats.org/officeDocument/2006/relationships/hyperlink" Target="https://qwen.ai/blog?id=241398b9cd6353de490b0f82806c7848c5d2777d&amp;from=research.latest-advancements-list" TargetMode="External"/><Relationship Id="rId21" Type="http://schemas.openxmlformats.org/officeDocument/2006/relationships/hyperlink" Target="https://blog.google/products/gemini/gemini-3-flash" TargetMode="External"/><Relationship Id="rId34" Type="http://schemas.openxmlformats.org/officeDocument/2006/relationships/hyperlink" Target="https://openai.com/index/introducing-o3-and-o4-mini/"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x.ai/news/grok-4-1" TargetMode="External"/><Relationship Id="rId29" Type="http://schemas.openxmlformats.org/officeDocument/2006/relationships/hyperlink" Target="https://openai.com/index/introducing-gpt-5-2" TargetMode="External"/><Relationship Id="rId41" Type="http://schemas.openxmlformats.org/officeDocument/2006/relationships/hyperlink" Target="https://api-docs.deepseek.com/news/news250929"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nthropic.com/news/claude-sonnet-4-5" TargetMode="External"/><Relationship Id="rId32" Type="http://schemas.openxmlformats.org/officeDocument/2006/relationships/hyperlink" Target="https://platform.openai.com/docs/models/gpt-5" TargetMode="External"/><Relationship Id="rId37" Type="http://schemas.openxmlformats.org/officeDocument/2006/relationships/hyperlink" Target="https://huggingface.co/moonshotai/Kimi-K2-Thinking" TargetMode="External"/><Relationship Id="rId40" Type="http://schemas.openxmlformats.org/officeDocument/2006/relationships/hyperlink" Target="https://huggingface.co/meituan-longcat/LongCat-Flash-Chat"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openai.com/index/gpt-5-1/" TargetMode="External"/><Relationship Id="rId28" Type="http://schemas.openxmlformats.org/officeDocument/2006/relationships/hyperlink" Target="https://openai.com/index/introducing-gpt-4-5/" TargetMode="External"/><Relationship Id="rId36" Type="http://schemas.openxmlformats.org/officeDocument/2006/relationships/hyperlink" Target="https://www.anthropic.com/news/claude-4" TargetMode="External"/><Relationship Id="rId10" Type="http://schemas.openxmlformats.org/officeDocument/2006/relationships/hyperlink" Target="https://llmworld.net/llm_leaderboards/" TargetMode="External"/><Relationship Id="rId19" Type="http://schemas.openxmlformats.org/officeDocument/2006/relationships/hyperlink" Target="https://aistudio.google.com/app/prompts/new_chat?model=gemini-3-pro-preview" TargetMode="External"/><Relationship Id="rId31" Type="http://schemas.openxmlformats.org/officeDocument/2006/relationships/hyperlink" Target="https://x.com/OpenAI/status/1905331956856050135"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5" TargetMode="External"/><Relationship Id="rId27" Type="http://schemas.openxmlformats.org/officeDocument/2006/relationships/hyperlink" Target="https://ernie.baidu.com/blog/posts/ernie-5.0-preview-1203-release-on-lmarena/" TargetMode="External"/><Relationship Id="rId30" Type="http://schemas.openxmlformats.org/officeDocument/2006/relationships/hyperlink" Target="https://huggingface.co/zai-org/GLM-4.7" TargetMode="External"/><Relationship Id="rId35" Type="http://schemas.openxmlformats.org/officeDocument/2006/relationships/hyperlink" Target="https://x.ai/news/grok-4-1-fast"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aistudio.google.com/app/prompts/new_chat?model=gemini-2.5-pro" TargetMode="External"/><Relationship Id="rId33" Type="http://schemas.openxmlformats.org/officeDocument/2006/relationships/hyperlink" Target="https://www.alibabacloud.com/help/en/model-studio/models" TargetMode="External"/><Relationship Id="rId38" Type="http://schemas.openxmlformats.org/officeDocument/2006/relationships/hyperlink" Target="https://www.anthropic.com/news/claude-haiku-4-5"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hyperlink" Target="https://x.com/akshay_pachaar/status/2010408900798062652"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3.jpeg"/><Relationship Id="rId7" Type="http://schemas.openxmlformats.org/officeDocument/2006/relationships/image" Target="../media/image7.png"/><Relationship Id="rId12" Type="http://schemas.openxmlformats.org/officeDocument/2006/relationships/image" Target="../media/image12.png"/><Relationship Id="rId2" Type="http://schemas.openxmlformats.org/officeDocument/2006/relationships/notesSlide" Target="../notesSlides/notesSlide5.xml"/><Relationship Id="rId16"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hyperlink" Target="https://x.com/business/status/2010632000382636056"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7.jpeg"/><Relationship Id="rId4" Type="http://schemas.openxmlformats.org/officeDocument/2006/relationships/hyperlink" Target="https://www.bloomberg.com/news/articles/2026-01-12/deepseek-founder-liang-s-funds-surge-57-as-china-quants-boom"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hyperlink" Target="http://workflow.md"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cline.ghost.io/cline-3-48-0-skills-and-websearch-make-cline-smarter/" TargetMode="External"/><Relationship Id="rId5" Type="http://schemas.openxmlformats.org/officeDocument/2006/relationships/hyperlink" Target="https://cline.bot/blog/cline-3-48-0-skills-and-websearch-make-cline-smarter" TargetMode="External"/><Relationship Id="rId4" Type="http://schemas.openxmlformats.org/officeDocument/2006/relationships/hyperlink" Target="https://docs.cline.bot/features/skills"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medium.com/@tarangtattva2/a-new-agent-memory-system-just-dropped-and-it-finally-fixes-what-weve-been-getting-wrong-fc84589f75ca"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hyperlink" Target="https://www.marktechpost.com/2026/01/09/meta-and-harvard-researchers-introduce-the-confucius-code-agent-cca-a-software-engineering-agent-that-can-operate-at-large-scale-codebases/"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hyperlink" Target="https://www.theverge.com/news/860446/google-ai-shopping-standard-buy-button-gemini" TargetMode="External"/><Relationship Id="rId7"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hyperlink" Target="https://apnews.com/article/google-gemini-ai-shopping-checkout-walmart-f1679240ba93d40b90a97348b73039d3" TargetMode="External"/><Relationship Id="rId4" Type="http://schemas.openxmlformats.org/officeDocument/2006/relationships/hyperlink" Target="https://blog.google/products/ads-commerce/agentic-commerce-ai-tools-protocol-retailers-platforms/" TargetMode="External"/></Relationships>
</file>

<file path=ppt/slides/_rels/slide12.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arxiv.org/abs/2601.03335v1" TargetMode="External"/><Relationship Id="rId7" Type="http://schemas.openxmlformats.org/officeDocument/2006/relationships/hyperlink" Target="https://en.wikipedia.org/wiki/Core_War"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www.linkedin.com/posts/sakana-ai_introducing-digital-red-queen-drq-adversarial-activity-7415218635578757120-esoB" TargetMode="External"/><Relationship Id="rId5" Type="http://schemas.openxmlformats.org/officeDocument/2006/relationships/hyperlink" Target="https://sakana.ai/drq/" TargetMode="External"/><Relationship Id="rId4" Type="http://schemas.openxmlformats.org/officeDocument/2006/relationships/hyperlink" Target="https://www.youtube.com/watch?v=-EgTYDKtEw8" TargetMode="External"/><Relationship Id="rId9" Type="http://schemas.openxmlformats.org/officeDocument/2006/relationships/image" Target="../media/image25.png"/></Relationships>
</file>

<file path=ppt/slides/_rels/slide1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hyperlink" Target="https://top3dshop.com/robots/unitree-robotics-robots/" TargetMode="External"/><Relationship Id="rId7"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hyperlink" Target="https://www.youtube.com/@sentdex" TargetMode="External"/><Relationship Id="rId9"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hyperlink" Target="https://www.anthropic.com/engineering/demystifying-evals-for-ai-agents"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8" Type="http://schemas.openxmlformats.org/officeDocument/2006/relationships/image" Target="../media/image33.jpeg"/><Relationship Id="rId3" Type="http://schemas.openxmlformats.org/officeDocument/2006/relationships/hyperlink" Target="https://www.utilitydive.com/news/meta-nuclear-deal-oklo-vistra-terrapower-ai-data-centers/809215/" TargetMode="External"/><Relationship Id="rId7" Type="http://schemas.openxmlformats.org/officeDocument/2006/relationships/hyperlink" Target="https://www.reuters.com/technology/deepseek-launch-new-ai-model-focused-coding-february-information-reports-2026-01-09/"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www.theverge.com/news/859564/deepseek-is-reportedly-close-to-releasing-a-flagship-ai-model-that-outperforms-claude-and-chatgpt-in-coding" TargetMode="External"/><Relationship Id="rId5" Type="http://schemas.openxmlformats.org/officeDocument/2006/relationships/hyperlink" Target="https://techcrunch.com/2026/01/09/meta-signs-deals-with-three-nuclear-companies-for-6-plus-gw-of-power/" TargetMode="External"/><Relationship Id="rId4" Type="http://schemas.openxmlformats.org/officeDocument/2006/relationships/hyperlink" Target="https://www.cbsnews.com/news/meta-nuclear-power-deals-ai-data-centers/" TargetMode="External"/><Relationship Id="rId9" Type="http://schemas.openxmlformats.org/officeDocument/2006/relationships/image" Target="../media/image34.png"/></Relationships>
</file>

<file path=ppt/slides/_rels/slide1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hyperlink" Target="https://www.futuretools.io/tools/surfsense" TargetMode="External"/><Relationship Id="rId7"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github.com/MODSetter/SurfSense" TargetMode="External"/><Relationship Id="rId5" Type="http://schemas.openxmlformats.org/officeDocument/2006/relationships/hyperlink" Target="https://www.surfsense.com/pricing" TargetMode="External"/><Relationship Id="rId4" Type="http://schemas.openxmlformats.org/officeDocument/2006/relationships/hyperlink" Target="https://www.surfsense.com" TargetMode="External"/><Relationship Id="rId9" Type="http://schemas.openxmlformats.org/officeDocument/2006/relationships/image" Target="../media/image37.png"/></Relationships>
</file>

<file path=ppt/slides/_rels/slide17.xml.rels><?xml version="1.0" encoding="UTF-8" standalone="yes"?>
<Relationships xmlns="http://schemas.openxmlformats.org/package/2006/relationships"><Relationship Id="rId3" Type="http://schemas.openxmlformats.org/officeDocument/2006/relationships/hyperlink" Target="https://labs.google.com/pomelli"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hyperlink" Target="http://www.youtube.com/watch?v=5sn-XHpaIxo&amp;t=64" TargetMode="External"/></Relationships>
</file>

<file path=ppt/slides/_rels/slide18.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hyperlink" Target="https://www.youtube.com/watch?v=H-uwnpmziGA" TargetMode="External"/><Relationship Id="rId7" Type="http://schemas.openxmlformats.org/officeDocument/2006/relationships/hyperlink" Target="https://venturebeat.com/technology/anthropic-launches-cowork-a-claude-desktop-agent-that-works-in-your-files-no"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support.claude.com/en/articles/13345190-getting-started-with-cowork" TargetMode="External"/><Relationship Id="rId5" Type="http://schemas.openxmlformats.org/officeDocument/2006/relationships/hyperlink" Target="https://claude.com/download" TargetMode="External"/><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8" Type="http://schemas.openxmlformats.org/officeDocument/2006/relationships/hyperlink" Target="https://x.com/kyutai_labs/status/2011047335892303875" TargetMode="External"/><Relationship Id="rId3" Type="http://schemas.openxmlformats.org/officeDocument/2006/relationships/hyperlink" Target="https://research.google/blog/next-generation-medical-image-interpretation-with-medgemma-15-and-medical-speech-to-text-with-medasr/" TargetMode="External"/><Relationship Id="rId7" Type="http://schemas.openxmlformats.org/officeDocument/2006/relationships/image" Target="../media/image44.jpe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2.png"/><Relationship Id="rId10" Type="http://schemas.openxmlformats.org/officeDocument/2006/relationships/image" Target="../media/image45.png"/><Relationship Id="rId4" Type="http://schemas.openxmlformats.org/officeDocument/2006/relationships/hyperlink" Target="https://www.anthropic.com/news/introducing-anthropic-labs" TargetMode="External"/><Relationship Id="rId9" Type="http://schemas.openxmlformats.org/officeDocument/2006/relationships/hyperlink" Target="https://github.com/kyutai-labs/pocket-tts"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merge.io/blog" TargetMode="External"/><Relationship Id="rId3" Type="http://schemas.openxmlformats.org/officeDocument/2006/relationships/hyperlink" Target="https://github.com/MiroMindAI/MiroThinker" TargetMode="External"/><Relationship Id="rId7" Type="http://schemas.openxmlformats.org/officeDocument/2006/relationships/hyperlink" Target="https://medium.com/@speedcraft21/mit-just-killed-b-trees-i-spent-2-weeks-proving-theyre-right-and-wrong-467a6f3964e7"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hyperlink" Target="https://dr.miromind.ai" TargetMode="External"/><Relationship Id="rId4" Type="http://schemas.openxmlformats.org/officeDocument/2006/relationships/hyperlink" Target="https://huggingface.co/miromind-ai/MiroThinker-v1.5-30B" TargetMode="External"/><Relationship Id="rId9" Type="http://schemas.openxmlformats.org/officeDocument/2006/relationships/image" Target="../media/image47.png"/></Relationships>
</file>

<file path=ppt/slides/_rels/slide21.xml.rels><?xml version="1.0" encoding="UTF-8" standalone="yes"?>
<Relationships xmlns="http://schemas.openxmlformats.org/package/2006/relationships"><Relationship Id="rId8" Type="http://schemas.openxmlformats.org/officeDocument/2006/relationships/hyperlink" Target="https://github.com/accomplish-ai/openwork" TargetMode="External"/><Relationship Id="rId3" Type="http://schemas.openxmlformats.org/officeDocument/2006/relationships/image" Target="../media/image48.png"/><Relationship Id="rId7" Type="http://schemas.openxmlformats.org/officeDocument/2006/relationships/hyperlink" Target="https://accomplish.ai/openwork/"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0.jpeg"/><Relationship Id="rId5" Type="http://schemas.openxmlformats.org/officeDocument/2006/relationships/image" Target="../media/image49.png"/><Relationship Id="rId4" Type="http://schemas.openxmlformats.org/officeDocument/2006/relationships/hyperlink" Target="http://www.youtube.com/watch?v=Yz5N45V9dfk" TargetMode="External"/><Relationship Id="rId9" Type="http://schemas.openxmlformats.org/officeDocument/2006/relationships/image" Target="../media/image51.png"/></Relationships>
</file>

<file path=ppt/slides/_rels/slide22.xml.rels><?xml version="1.0" encoding="UTF-8" standalone="yes"?>
<Relationships xmlns="http://schemas.openxmlformats.org/package/2006/relationships"><Relationship Id="rId3" Type="http://schemas.openxmlformats.org/officeDocument/2006/relationships/hyperlink" Target="https://www.nature.com/articles/s41586-025-09937-5.pdf" TargetMode="External"/><Relationship Id="rId7" Type="http://schemas.openxmlformats.org/officeDocument/2006/relationships/image" Target="../media/image53.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hyperlink" Target="https://medium.com/@joe.njenga/i-tested-this-autonomous-framework-that-turns-claude-code-into-a-virtual-dev-team-a030ab702630" TargetMode="External"/><Relationship Id="rId4" Type="http://schemas.openxmlformats.org/officeDocument/2006/relationships/hyperlink" Target="https://github.com/AndyMik90/Auto-Claude"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claude.md"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hyperlink" Target="https://www.youtube.com/watch?v=G9S5DgmNBaM"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www.idc.com/resource-center/blog/global-memory-shortage-crisis-market-analysis-and-the-potential-impact-on-the-smartphone-and-pc-markets-in-2026/"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57.png"/><Relationship Id="rId4" Type="http://schemas.openxmlformats.org/officeDocument/2006/relationships/image" Target="../media/image56.jpeg"/></Relationships>
</file>

<file path=ppt/slides/_rels/slide25.xml.rels><?xml version="1.0" encoding="UTF-8" standalone="yes"?>
<Relationships xmlns="http://schemas.openxmlformats.org/package/2006/relationships"><Relationship Id="rId3" Type="http://schemas.openxmlformats.org/officeDocument/2006/relationships/hyperlink" Target="https://www.cnbc.com/2025/12/10/nvidia-backed-starcloud-trains-first-ai-model-in-space-orbital-data-centers.html" TargetMode="External"/><Relationship Id="rId7" Type="http://schemas.openxmlformats.org/officeDocument/2006/relationships/image" Target="../media/image58.jpe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hyperlink" Target="https://blogs.nvidia.com/blog/starcloud/" TargetMode="External"/><Relationship Id="rId5" Type="http://schemas.openxmlformats.org/officeDocument/2006/relationships/hyperlink" Target="https://introl.com/blog/orbital-data-centers-space-ai-infrastructure-guide-2025" TargetMode="External"/><Relationship Id="rId4" Type="http://schemas.openxmlformats.org/officeDocument/2006/relationships/hyperlink" Target="https://www.geekwire.com/2025/starcloud-power-training-ai-space/"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www.youtube.com/watch?v=RSNuB9pj9P8"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60.png"/><Relationship Id="rId4" Type="http://schemas.openxmlformats.org/officeDocument/2006/relationships/image" Target="../media/image59.png"/></Relationships>
</file>

<file path=ppt/slides/_rels/slide27.xml.rels><?xml version="1.0" encoding="UTF-8" standalone="yes"?>
<Relationships xmlns="http://schemas.openxmlformats.org/package/2006/relationships"><Relationship Id="rId3" Type="http://schemas.openxmlformats.org/officeDocument/2006/relationships/hyperlink" Target="https://www.youtube.com/watch?v=2WTFuSeYJ6o"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28.xml.rels><?xml version="1.0" encoding="UTF-8" standalone="yes"?>
<Relationships xmlns="http://schemas.openxmlformats.org/package/2006/relationships"><Relationship Id="rId3" Type="http://schemas.openxmlformats.org/officeDocument/2006/relationships/hyperlink" Target="https://www.coursera.org/articles/ai-engineer-salary"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62.png"/><Relationship Id="rId4" Type="http://schemas.openxmlformats.org/officeDocument/2006/relationships/hyperlink" Target="https://www.roberthalf.com/us/en/job-details/aiml-engineer"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x.com/StartupArchive_/status/2010396665199403341" TargetMode="External"/><Relationship Id="rId7" Type="http://schemas.openxmlformats.org/officeDocument/2006/relationships/hyperlink" Target="https://levelup.gitconnected.com/i-studied-50-engineers-who-got-promoted-fast-they-all-did-one-thing-id-been-ignoring-f251cc99908b"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64.jpeg"/><Relationship Id="rId5" Type="http://schemas.openxmlformats.org/officeDocument/2006/relationships/image" Target="../media/image63.jpeg"/><Relationship Id="rId4" Type="http://schemas.openxmlformats.org/officeDocument/2006/relationships/hyperlink" Target="https://finance.yahoo.com/news/google-sergey-brin-admits-hiring-170658486.html"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hyperlink" Target="https://trueup.io/layoffs"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67.jpe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68.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490153"/>
            <a:ext cx="4420200" cy="109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Top LLM Vendors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 Source Models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Nvidia Hardware Progress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High-Flyer 56.6% Returns</a:t>
            </a:r>
            <a:endParaRPr b="1">
              <a:solidFill>
                <a:srgbClr val="3C78D8"/>
              </a:solidFill>
              <a:latin typeface="Calibri"/>
              <a:ea typeface="Calibri"/>
              <a:cs typeface="Calibri"/>
              <a:sym typeface="Calibri"/>
            </a:endParaRPr>
          </a:p>
        </p:txBody>
      </p:sp>
      <p:sp>
        <p:nvSpPr>
          <p:cNvPr id="64" name="Google Shape;64;p15"/>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Jan </a:t>
            </a:r>
            <a:r>
              <a:rPr lang="en" sz="2200" b="1">
                <a:solidFill>
                  <a:srgbClr val="3C78D8"/>
                </a:solidFill>
                <a:latin typeface="Calibri"/>
                <a:ea typeface="Calibri"/>
                <a:cs typeface="Calibri"/>
                <a:sym typeface="Calibri"/>
              </a:rPr>
              <a:t>16</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4323" y="4211896"/>
            <a:ext cx="45024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Jobs - Demand for AI Engineer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Sam Altman - Best Time Ever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to get promoted quickly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1610021"/>
            <a:ext cx="4420200" cy="34662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Cline - Skills, Background edits, Web Search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HINDSIGHT Agent Memory System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Confucius SDK (Meta and Harvard)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Universal Commerce Protocol (UCP)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Sakana AI Paper on Self-Improving AI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Buying a Humanoid Robot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Demystifying evals for AI agents (Anthropic)</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Meta Nuclear Power for AI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DeepSeek V4 planned mid-February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SurfSense Open Source Notebook</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Apple Picked Gemini for Siri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Pentagon to integrate Grok AI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Pomelli creates static and animated posts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Unlock "Infinite" AI Memory With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 Desktop AI agent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MedGemma 1.5 &amp; MedASR Open Source</a:t>
            </a:r>
            <a:endParaRPr b="1">
              <a:solidFill>
                <a:srgbClr val="3C78D8"/>
              </a:solidFill>
              <a:latin typeface="Calibri"/>
              <a:ea typeface="Calibri"/>
              <a:cs typeface="Calibri"/>
              <a:sym typeface="Calibri"/>
            </a:endParaRPr>
          </a:p>
        </p:txBody>
      </p:sp>
      <p:sp>
        <p:nvSpPr>
          <p:cNvPr id="67" name="Google Shape;67;p15"/>
          <p:cNvSpPr txBox="1"/>
          <p:nvPr/>
        </p:nvSpPr>
        <p:spPr>
          <a:xfrm>
            <a:off x="4574323" y="503666"/>
            <a:ext cx="4502400" cy="36819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Labs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Pocket TTS 100M-params text-to-speech model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Solves Math Problems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MiroThinker v1.5 Deep Research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MIT's new Adaptive Radix Tree (ART)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Merge Labs raised 252 Mln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Gemini Personal Intelligence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and Cerebras 3-year Deal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Openwork desktop AI coworker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Fine-tuning cause severe misalignment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Auto-Claude - autonomous multi-session AI coding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What Power Users Actually Do?</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MCP Tool Search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Anti-gravity Updates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Why Memory Prices Are So High?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Nvidia StarCloud-1 Satellite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Elon Musk's 5 Year Vision</a:t>
            </a:r>
            <a:endParaRPr b="1">
              <a:solidFill>
                <a:srgbClr val="3C78D8"/>
              </a:solidFill>
              <a:latin typeface="Calibri"/>
              <a:ea typeface="Calibri"/>
              <a:cs typeface="Calibri"/>
              <a:sym typeface="Calibri"/>
            </a:endParaRPr>
          </a:p>
        </p:txBody>
      </p:sp>
      <p:sp>
        <p:nvSpPr>
          <p:cNvPr id="68" name="Google Shape;68;p15"/>
          <p:cNvSpPr txBox="1"/>
          <p:nvPr/>
        </p:nvSpPr>
        <p:spPr>
          <a:xfrm>
            <a:off x="4909190" y="125315"/>
            <a:ext cx="3895200" cy="2646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Roboto Mono"/>
                <a:ea typeface="Roboto Mono"/>
                <a:cs typeface="Roboto Mono"/>
                <a:sym typeface="Roboto Mono"/>
              </a:rPr>
              <a:t>Hot Area - Agent Memory Systems</a:t>
            </a:r>
            <a:endParaRPr sz="16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244248"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998655"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380840" y="7810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p:nvPr/>
        </p:nvSpPr>
        <p:spPr>
          <a:xfrm>
            <a:off x="3338040"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384813" y="203630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378228" y="150043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335041"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January 12</a:t>
            </a:r>
            <a:endParaRPr sz="1000">
              <a:solidFill>
                <a:schemeClr val="dk1"/>
              </a:solidFill>
              <a:latin typeface="Calibri"/>
              <a:ea typeface="Calibri"/>
              <a:cs typeface="Calibri"/>
              <a:sym typeface="Calibri"/>
            </a:endParaRPr>
          </a:p>
        </p:txBody>
      </p:sp>
      <p:sp>
        <p:nvSpPr>
          <p:cNvPr id="84" name="Google Shape;84;p16"/>
          <p:cNvSpPr/>
          <p:nvPr/>
        </p:nvSpPr>
        <p:spPr>
          <a:xfrm>
            <a:off x="3337376" y="113276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txBox="1"/>
          <p:nvPr/>
        </p:nvSpPr>
        <p:spPr>
          <a:xfrm>
            <a:off x="3053206" y="473885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6" name="Google Shape;86;p16"/>
          <p:cNvSpPr/>
          <p:nvPr/>
        </p:nvSpPr>
        <p:spPr>
          <a:xfrm>
            <a:off x="3344075" y="474725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p:nvPr/>
        </p:nvSpPr>
        <p:spPr>
          <a:xfrm>
            <a:off x="3335154" y="132173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6"/>
          <p:cNvSpPr txBox="1"/>
          <p:nvPr/>
        </p:nvSpPr>
        <p:spPr>
          <a:xfrm flipH="1">
            <a:off x="3266190" y="166720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89" name="Google Shape;89;p16"/>
          <p:cNvSpPr txBox="1"/>
          <p:nvPr/>
        </p:nvSpPr>
        <p:spPr>
          <a:xfrm flipH="1">
            <a:off x="3278082" y="312247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0" name="Google Shape;90;p16"/>
          <p:cNvSpPr/>
          <p:nvPr/>
        </p:nvSpPr>
        <p:spPr>
          <a:xfrm>
            <a:off x="3337376" y="1489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p:nvPr/>
        </p:nvSpPr>
        <p:spPr>
          <a:xfrm>
            <a:off x="3337376" y="185720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p:nvPr/>
        </p:nvSpPr>
        <p:spPr>
          <a:xfrm>
            <a:off x="388460" y="186768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txBox="1"/>
          <p:nvPr/>
        </p:nvSpPr>
        <p:spPr>
          <a:xfrm flipH="1">
            <a:off x="315101" y="94304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4" name="Google Shape;94;p16"/>
          <p:cNvSpPr txBox="1"/>
          <p:nvPr/>
        </p:nvSpPr>
        <p:spPr>
          <a:xfrm flipH="1">
            <a:off x="322721" y="4933559"/>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5" name="Google Shape;95;p16"/>
          <p:cNvSpPr/>
          <p:nvPr/>
        </p:nvSpPr>
        <p:spPr>
          <a:xfrm>
            <a:off x="384820" y="40344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 name="Google Shape;96;p16"/>
          <p:cNvSpPr txBox="1"/>
          <p:nvPr/>
        </p:nvSpPr>
        <p:spPr>
          <a:xfrm flipH="1">
            <a:off x="319325" y="167931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7" name="Google Shape;97;p16"/>
          <p:cNvSpPr/>
          <p:nvPr/>
        </p:nvSpPr>
        <p:spPr>
          <a:xfrm>
            <a:off x="378228" y="131376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p:nvPr/>
        </p:nvSpPr>
        <p:spPr>
          <a:xfrm>
            <a:off x="386592" y="25762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p:nvPr/>
        </p:nvSpPr>
        <p:spPr>
          <a:xfrm>
            <a:off x="3337376" y="20350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3338579" y="294266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txBox="1"/>
          <p:nvPr/>
        </p:nvSpPr>
        <p:spPr>
          <a:xfrm>
            <a:off x="3053206" y="347545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2" name="Google Shape;102;p16"/>
          <p:cNvSpPr/>
          <p:nvPr/>
        </p:nvSpPr>
        <p:spPr>
          <a:xfrm>
            <a:off x="3344075" y="348384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6114208" y="720883"/>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p:nvPr/>
        </p:nvSpPr>
        <p:spPr>
          <a:xfrm>
            <a:off x="6114208" y="92594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p:nvPr/>
        </p:nvSpPr>
        <p:spPr>
          <a:xfrm>
            <a:off x="6114208" y="113099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p:nvPr/>
        </p:nvSpPr>
        <p:spPr>
          <a:xfrm>
            <a:off x="6114208" y="133605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txBox="1"/>
          <p:nvPr/>
        </p:nvSpPr>
        <p:spPr>
          <a:xfrm>
            <a:off x="6294334" y="679168"/>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08" name="Google Shape;108;p16"/>
          <p:cNvSpPr txBox="1"/>
          <p:nvPr/>
        </p:nvSpPr>
        <p:spPr>
          <a:xfrm>
            <a:off x="6290884" y="884225"/>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09" name="Google Shape;109;p16"/>
          <p:cNvSpPr txBox="1"/>
          <p:nvPr/>
        </p:nvSpPr>
        <p:spPr>
          <a:xfrm>
            <a:off x="6297459" y="1089282"/>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10" name="Google Shape;110;p16"/>
          <p:cNvSpPr txBox="1"/>
          <p:nvPr/>
        </p:nvSpPr>
        <p:spPr>
          <a:xfrm>
            <a:off x="6298784" y="129433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11" name="Google Shape;111;p16"/>
          <p:cNvSpPr/>
          <p:nvPr/>
        </p:nvSpPr>
        <p:spPr>
          <a:xfrm>
            <a:off x="380840" y="113919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386592" y="222835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378972" y="3124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a:off x="384820" y="348898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p:nvPr/>
        </p:nvSpPr>
        <p:spPr>
          <a:xfrm>
            <a:off x="384820" y="3854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 name="Google Shape;116;p16"/>
          <p:cNvSpPr/>
          <p:nvPr/>
        </p:nvSpPr>
        <p:spPr>
          <a:xfrm>
            <a:off x="3342774" y="221835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p:nvPr/>
        </p:nvSpPr>
        <p:spPr>
          <a:xfrm>
            <a:off x="3337376" y="257609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txBox="1"/>
          <p:nvPr/>
        </p:nvSpPr>
        <p:spPr>
          <a:xfrm>
            <a:off x="3189086" y="383779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9" name="Google Shape;119;p16"/>
          <p:cNvSpPr/>
          <p:nvPr/>
        </p:nvSpPr>
        <p:spPr>
          <a:xfrm>
            <a:off x="3337376" y="42169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txBox="1"/>
          <p:nvPr/>
        </p:nvSpPr>
        <p:spPr>
          <a:xfrm>
            <a:off x="231819" y="293603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1" name="Google Shape;121;p16"/>
          <p:cNvSpPr/>
          <p:nvPr/>
        </p:nvSpPr>
        <p:spPr>
          <a:xfrm>
            <a:off x="384820" y="33105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 name="Google Shape;122;p16"/>
          <p:cNvSpPr/>
          <p:nvPr/>
        </p:nvSpPr>
        <p:spPr>
          <a:xfrm>
            <a:off x="384820" y="42052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p:nvPr/>
        </p:nvSpPr>
        <p:spPr>
          <a:xfrm>
            <a:off x="3338579" y="23991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388460" y="240108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p:nvPr/>
        </p:nvSpPr>
        <p:spPr>
          <a:xfrm>
            <a:off x="378972" y="275915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txBox="1"/>
          <p:nvPr/>
        </p:nvSpPr>
        <p:spPr>
          <a:xfrm>
            <a:off x="87039" y="36651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7" name="Google Shape;127;p16"/>
          <p:cNvSpPr/>
          <p:nvPr/>
        </p:nvSpPr>
        <p:spPr>
          <a:xfrm>
            <a:off x="386305" y="36723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p:nvPr/>
        </p:nvSpPr>
        <p:spPr>
          <a:xfrm>
            <a:off x="384820" y="43881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p:nvPr/>
        </p:nvSpPr>
        <p:spPr>
          <a:xfrm>
            <a:off x="384820" y="47615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3335154" y="27593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3053206" y="366595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p:nvPr/>
        </p:nvSpPr>
        <p:spPr>
          <a:xfrm>
            <a:off x="3344075" y="367434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p:nvPr/>
        </p:nvSpPr>
        <p:spPr>
          <a:xfrm>
            <a:off x="3338579" y="33084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txBox="1"/>
          <p:nvPr/>
        </p:nvSpPr>
        <p:spPr>
          <a:xfrm>
            <a:off x="3053206" y="457121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5" name="Google Shape;135;p16"/>
          <p:cNvSpPr/>
          <p:nvPr/>
        </p:nvSpPr>
        <p:spPr>
          <a:xfrm>
            <a:off x="3344075" y="457961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p:nvPr/>
        </p:nvSpPr>
        <p:spPr>
          <a:xfrm>
            <a:off x="3338579" y="40247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 name="Google Shape;137;p16"/>
          <p:cNvSpPr txBox="1"/>
          <p:nvPr/>
        </p:nvSpPr>
        <p:spPr>
          <a:xfrm>
            <a:off x="7349895" y="543655"/>
            <a:ext cx="1745700" cy="109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glm-4.6 - 355B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longcat-flash-chat - 560B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qwen3-max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qwen3-235b-a22b - 235B</a:t>
            </a:r>
            <a:endParaRPr sz="1000">
              <a:latin typeface="Calibri"/>
              <a:ea typeface="Calibri"/>
              <a:cs typeface="Calibri"/>
              <a:sym typeface="Calibri"/>
            </a:endParaRPr>
          </a:p>
        </p:txBody>
      </p:sp>
      <p:sp>
        <p:nvSpPr>
          <p:cNvPr id="138" name="Google Shape;138;p16"/>
          <p:cNvSpPr txBox="1"/>
          <p:nvPr/>
        </p:nvSpPr>
        <p:spPr>
          <a:xfrm>
            <a:off x="87039" y="457192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9" name="Google Shape;139;p16"/>
          <p:cNvSpPr/>
          <p:nvPr/>
        </p:nvSpPr>
        <p:spPr>
          <a:xfrm>
            <a:off x="386305" y="457917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p:nvPr/>
        </p:nvSpPr>
        <p:spPr>
          <a:xfrm>
            <a:off x="3337376" y="49408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41" name="Google Shape;141;p16"/>
          <p:cNvGraphicFramePr/>
          <p:nvPr>
            <p:extLst>
              <p:ext uri="{D42A27DB-BD31-4B8C-83A1-F6EECF244321}">
                <p14:modId xmlns:p14="http://schemas.microsoft.com/office/powerpoint/2010/main" val="2860994298"/>
              </p:ext>
            </p:extLst>
          </p:nvPr>
        </p:nvGraphicFramePr>
        <p:xfrm>
          <a:off x="521342" y="567612"/>
          <a:ext cx="2517824" cy="4503850"/>
        </p:xfrm>
        <a:graphic>
          <a:graphicData uri="http://schemas.openxmlformats.org/drawingml/2006/table">
            <a:tbl>
              <a:tblPr>
                <a:noFill/>
                <a:tableStyleId>{41174A1D-E924-4760-9F50-F557F2C3C895}</a:tableStyleId>
              </a:tblPr>
              <a:tblGrid>
                <a:gridCol w="2056223">
                  <a:extLst>
                    <a:ext uri="{9D8B030D-6E8A-4147-A177-3AD203B41FA5}">
                      <a16:colId xmlns:a16="http://schemas.microsoft.com/office/drawing/2014/main" val="20000"/>
                    </a:ext>
                  </a:extLst>
                </a:gridCol>
                <a:gridCol w="461601">
                  <a:extLst>
                    <a:ext uri="{9D8B030D-6E8A-4147-A177-3AD203B41FA5}">
                      <a16:colId xmlns:a16="http://schemas.microsoft.com/office/drawing/2014/main" val="20001"/>
                    </a:ext>
                  </a:extLst>
                </a:gridCol>
              </a:tblGrid>
              <a:tr h="180154">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ernie-5.0-preview-1203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dirty="0">
                          <a:solidFill>
                            <a:srgbClr val="636879"/>
                          </a:solidFill>
                          <a:latin typeface="Calibri"/>
                          <a:ea typeface="Calibri"/>
                          <a:cs typeface="Calibri"/>
                          <a:sym typeface="Calibri"/>
                        </a:rPr>
                        <a:t>1434</a:t>
                      </a:r>
                      <a:endParaRPr sz="800" dirty="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dirty="0">
                          <a:solidFill>
                            <a:srgbClr val="636879"/>
                          </a:solidFill>
                          <a:latin typeface="Calibri"/>
                          <a:ea typeface="Calibri"/>
                          <a:cs typeface="Calibri"/>
                          <a:sym typeface="Calibri"/>
                        </a:rPr>
                        <a:t>1430</a:t>
                      </a:r>
                      <a:endParaRPr sz="800" dirty="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42" name="Google Shape;142;p16"/>
          <p:cNvGraphicFramePr/>
          <p:nvPr>
            <p:extLst>
              <p:ext uri="{D42A27DB-BD31-4B8C-83A1-F6EECF244321}">
                <p14:modId xmlns:p14="http://schemas.microsoft.com/office/powerpoint/2010/main" val="1933222069"/>
              </p:ext>
            </p:extLst>
          </p:nvPr>
        </p:nvGraphicFramePr>
        <p:xfrm>
          <a:off x="3473250" y="562394"/>
          <a:ext cx="2517824" cy="4503850"/>
        </p:xfrm>
        <a:graphic>
          <a:graphicData uri="http://schemas.openxmlformats.org/drawingml/2006/table">
            <a:tbl>
              <a:tblPr>
                <a:noFill/>
                <a:tableStyleId>{41174A1D-E924-4760-9F50-F557F2C3C895}</a:tableStyleId>
              </a:tblPr>
              <a:tblGrid>
                <a:gridCol w="2056223">
                  <a:extLst>
                    <a:ext uri="{9D8B030D-6E8A-4147-A177-3AD203B41FA5}">
                      <a16:colId xmlns:a16="http://schemas.microsoft.com/office/drawing/2014/main" val="20000"/>
                    </a:ext>
                  </a:extLst>
                </a:gridCol>
                <a:gridCol w="461601">
                  <a:extLst>
                    <a:ext uri="{9D8B030D-6E8A-4147-A177-3AD203B41FA5}">
                      <a16:colId xmlns:a16="http://schemas.microsoft.com/office/drawing/2014/main" val="20001"/>
                    </a:ext>
                  </a:extLst>
                </a:gridCol>
              </a:tblGrid>
              <a:tr h="180154">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1">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43" name="Google Shape;143;p16"/>
          <p:cNvSpPr txBox="1"/>
          <p:nvPr/>
        </p:nvSpPr>
        <p:spPr>
          <a:xfrm>
            <a:off x="3182746" y="43883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17"/>
          <p:cNvSpPr txBox="1"/>
          <p:nvPr/>
        </p:nvSpPr>
        <p:spPr>
          <a:xfrm>
            <a:off x="55075" y="43025"/>
            <a:ext cx="2764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Top LLM Vendors</a:t>
            </a:r>
            <a:endParaRPr sz="2000" b="1">
              <a:solidFill>
                <a:schemeClr val="dk1"/>
              </a:solidFill>
              <a:latin typeface="Calibri"/>
              <a:ea typeface="Calibri"/>
              <a:cs typeface="Calibri"/>
              <a:sym typeface="Calibri"/>
            </a:endParaRPr>
          </a:p>
        </p:txBody>
      </p:sp>
      <p:sp>
        <p:nvSpPr>
          <p:cNvPr id="149" name="Google Shape;149;p17"/>
          <p:cNvSpPr txBox="1"/>
          <p:nvPr/>
        </p:nvSpPr>
        <p:spPr>
          <a:xfrm>
            <a:off x="1525650" y="1518088"/>
            <a:ext cx="2843700" cy="229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a:solidFill>
                  <a:srgbClr val="FF0000"/>
                </a:solidFill>
                <a:latin typeface="Calibri"/>
                <a:ea typeface="Calibri"/>
                <a:cs typeface="Calibri"/>
                <a:sym typeface="Calibri"/>
              </a:rPr>
              <a:t>US, Europe, Middle East</a:t>
            </a:r>
            <a:endParaRPr sz="16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Google - Gemini - 1519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OpenAI - GPT - 1494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Anthropic - Claude - 1542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X.ai - Grok 4.1 - 1508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Meta - Llama 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Microsoft - Phi-4 - 1210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Mistral AI (France) - 1471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Perplexity - Sonar Reasoning Pro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Cohere - Command models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UAE TII - Falcon (Middle East)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AMI - Yann LeCun (France)</a:t>
            </a:r>
            <a:endParaRPr sz="1200">
              <a:latin typeface="Calibri"/>
              <a:ea typeface="Calibri"/>
              <a:cs typeface="Calibri"/>
              <a:sym typeface="Calibri"/>
            </a:endParaRPr>
          </a:p>
        </p:txBody>
      </p:sp>
      <p:sp>
        <p:nvSpPr>
          <p:cNvPr id="150" name="Google Shape;150;p17"/>
          <p:cNvSpPr txBox="1"/>
          <p:nvPr/>
        </p:nvSpPr>
        <p:spPr>
          <a:xfrm>
            <a:off x="5448300" y="726784"/>
            <a:ext cx="2937600" cy="229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a:solidFill>
                  <a:srgbClr val="FF0000"/>
                </a:solidFill>
                <a:latin typeface="Calibri"/>
                <a:ea typeface="Calibri"/>
                <a:cs typeface="Calibri"/>
                <a:sym typeface="Calibri"/>
              </a:rPr>
              <a:t>China</a:t>
            </a:r>
            <a:endParaRPr sz="16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Alibaba - Qwen - 1475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DeepSeek V3 - 1472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Tencent - Hunyuan A13B</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Moonshot AI - Kimi K2  - 1555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Zhipu AI - GLM-4.7 - 1441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Baidu - Ernie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ByteDance - Doubao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01.AI (Yi AI) - Yi 1.5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Baichuan Intelligence - Baichuan 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Shanghai AI Laboratory - InternLM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MiniMax - M2.1 - 1450 Elo</a:t>
            </a:r>
            <a:endParaRPr sz="1200">
              <a:latin typeface="Calibri"/>
              <a:ea typeface="Calibri"/>
              <a:cs typeface="Calibri"/>
              <a:sym typeface="Calibri"/>
            </a:endParaRPr>
          </a:p>
        </p:txBody>
      </p:sp>
      <p:pic>
        <p:nvPicPr>
          <p:cNvPr id="151" name="Google Shape;151;p1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274100" y="3954611"/>
            <a:ext cx="3346801" cy="971663"/>
          </a:xfrm>
          <a:prstGeom prst="rect">
            <a:avLst/>
          </a:prstGeom>
          <a:noFill/>
          <a:ln w="9525" cap="flat" cmpd="sng">
            <a:solidFill>
              <a:srgbClr val="FF0000"/>
            </a:solidFill>
            <a:prstDash val="solid"/>
            <a:round/>
            <a:headEnd type="none" w="sm" len="sm"/>
            <a:tailEnd type="none" w="sm" len="sm"/>
          </a:ln>
        </p:spPr>
      </p:pic>
      <p:pic>
        <p:nvPicPr>
          <p:cNvPr id="152" name="Google Shape;152;p1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922350" y="3167925"/>
            <a:ext cx="1989476" cy="18479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18"/>
          <p:cNvSpPr txBox="1"/>
          <p:nvPr/>
        </p:nvSpPr>
        <p:spPr>
          <a:xfrm>
            <a:off x="55075" y="43025"/>
            <a:ext cx="276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 Source Models</a:t>
            </a:r>
            <a:endParaRPr sz="2000" b="1">
              <a:solidFill>
                <a:schemeClr val="dk1"/>
              </a:solidFill>
              <a:latin typeface="Calibri"/>
              <a:ea typeface="Calibri"/>
              <a:cs typeface="Calibri"/>
              <a:sym typeface="Calibri"/>
            </a:endParaRPr>
          </a:p>
        </p:txBody>
      </p:sp>
      <p:sp>
        <p:nvSpPr>
          <p:cNvPr id="158" name="Google Shape;158;p18"/>
          <p:cNvSpPr txBox="1"/>
          <p:nvPr/>
        </p:nvSpPr>
        <p:spPr>
          <a:xfrm>
            <a:off x="5947325" y="833788"/>
            <a:ext cx="31224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Fine Tuning Methods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https://x.com/akshay_pachaar/status/2010408900798062652</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LoRA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QLoRA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Prefix 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4. Adapter 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5. Instruction 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6. P-Tuning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7. BitFit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8. Soft Prompts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9. RLHF</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10. RLAIF</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11. DPO (Direct Preference Optimization)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12. GRPO (Group Relative Policy Optimization)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13. RLAIF (RL with AI Feedback)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14. Multi-Task Fine-Tuning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15. Federated Fine-Tuning</a:t>
            </a:r>
            <a:endParaRPr sz="1200">
              <a:latin typeface="Calibri"/>
              <a:ea typeface="Calibri"/>
              <a:cs typeface="Calibri"/>
              <a:sym typeface="Calibri"/>
            </a:endParaRPr>
          </a:p>
        </p:txBody>
      </p:sp>
      <p:graphicFrame>
        <p:nvGraphicFramePr>
          <p:cNvPr id="159" name="Google Shape;159;p18"/>
          <p:cNvGraphicFramePr/>
          <p:nvPr/>
        </p:nvGraphicFramePr>
        <p:xfrm>
          <a:off x="55086" y="838644"/>
          <a:ext cx="3000000" cy="3000000"/>
        </p:xfrm>
        <a:graphic>
          <a:graphicData uri="http://schemas.openxmlformats.org/drawingml/2006/table">
            <a:tbl>
              <a:tblPr>
                <a:noFill/>
                <a:tableStyleId>{41174A1D-E924-4760-9F50-F557F2C3C895}</a:tableStyleId>
              </a:tblPr>
              <a:tblGrid>
                <a:gridCol w="1942425">
                  <a:extLst>
                    <a:ext uri="{9D8B030D-6E8A-4147-A177-3AD203B41FA5}">
                      <a16:colId xmlns:a16="http://schemas.microsoft.com/office/drawing/2014/main" val="20000"/>
                    </a:ext>
                  </a:extLst>
                </a:gridCol>
                <a:gridCol w="966450">
                  <a:extLst>
                    <a:ext uri="{9D8B030D-6E8A-4147-A177-3AD203B41FA5}">
                      <a16:colId xmlns:a16="http://schemas.microsoft.com/office/drawing/2014/main" val="20001"/>
                    </a:ext>
                  </a:extLst>
                </a:gridCol>
                <a:gridCol w="718775">
                  <a:extLst>
                    <a:ext uri="{9D8B030D-6E8A-4147-A177-3AD203B41FA5}">
                      <a16:colId xmlns:a16="http://schemas.microsoft.com/office/drawing/2014/main" val="20002"/>
                    </a:ext>
                  </a:extLst>
                </a:gridCol>
                <a:gridCol w="476300">
                  <a:extLst>
                    <a:ext uri="{9D8B030D-6E8A-4147-A177-3AD203B41FA5}">
                      <a16:colId xmlns:a16="http://schemas.microsoft.com/office/drawing/2014/main" val="20003"/>
                    </a:ext>
                  </a:extLst>
                </a:gridCol>
                <a:gridCol w="1679375">
                  <a:extLst>
                    <a:ext uri="{9D8B030D-6E8A-4147-A177-3AD203B41FA5}">
                      <a16:colId xmlns:a16="http://schemas.microsoft.com/office/drawing/2014/main" val="20004"/>
                    </a:ext>
                  </a:extLst>
                </a:gridCol>
              </a:tblGrid>
              <a:tr h="151075">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Name</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Size (Params)</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Architecture</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Quality</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Memory</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extLst>
                  <a:ext uri="{0D108BD9-81ED-4DB2-BD59-A6C34878D82A}">
                    <a16:rowId xmlns:a16="http://schemas.microsoft.com/office/drawing/2014/main" val="10000"/>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Qwen3-235B-A22B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235B (22B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9.2/10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~470GB (FP16), ~118GB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MiniMax M2</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230B (10B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8.8/10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~460GB (FP16), ~115GB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GLM-4.7</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355B (32B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9.0/10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~710GB (FP16), ~178GB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Qwen3-30B-A3B-Instruct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30B (3B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~60GB (FP16), ~15GB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4"/>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NVIDIA Nemotron-3-Nano-30B-A3B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30B (3B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8.3/10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~60GB (FP16), ~15GB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5"/>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Granite 4.0 H-Small</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 (9B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Hybrid 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8.3/10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6"/>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3 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8.6/10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7"/>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Qwen2.5-32B-Instruct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8.4/10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8"/>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2 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9"/>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DeepSeek-R1-Distill-Qwen-32B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8.2/10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0"/>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Qwen2.5-Coder-32B-Instruct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8.1/10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1"/>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Mistral Small 3.1 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8.4/10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~48GB (FP16), ~12GB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2"/>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Devstral Small 2 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8.0/10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~48GB (FP16), ~12GB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3"/>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Gemma 3-27B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7.8/10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~54GB (FP16), ~14GB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4"/>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2 13B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13B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~26GB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5"/>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Phi-4</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14B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7.6/10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~28GB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6"/>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Ministral 3-14B (dense)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14B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7.4/10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~28GB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7"/>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Qwen2.5-14B-Instruct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14B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~28GB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8"/>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3 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7.2/10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~14GB (FP16), ~4GB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19"/>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Nvidia Hardware Progress</a:t>
            </a:r>
            <a:endParaRPr sz="2000" b="1">
              <a:solidFill>
                <a:schemeClr val="dk1"/>
              </a:solidFill>
              <a:latin typeface="Calibri"/>
              <a:ea typeface="Calibri"/>
              <a:cs typeface="Calibri"/>
              <a:sym typeface="Calibri"/>
            </a:endParaRPr>
          </a:p>
        </p:txBody>
      </p:sp>
      <p:sp>
        <p:nvSpPr>
          <p:cNvPr id="165" name="Google Shape;165;p19"/>
          <p:cNvSpPr txBox="1"/>
          <p:nvPr/>
        </p:nvSpPr>
        <p:spPr>
          <a:xfrm>
            <a:off x="55077" y="369425"/>
            <a:ext cx="34161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Jensen Huang stated that Grok 5 will be a 7 Trillion parameter model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Vera Rubin requires 1/4 the number of GPUs to train MoE models compared to Blackwell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Rubin vs Blackwell: 10x cheaper inference, much faster, and </a:t>
            </a:r>
            <a:r>
              <a:rPr lang="en" sz="1200">
                <a:solidFill>
                  <a:schemeClr val="dk1"/>
                </a:solidFill>
                <a:latin typeface="Calibri"/>
                <a:ea typeface="Calibri"/>
                <a:cs typeface="Calibri"/>
                <a:sym typeface="Calibri"/>
              </a:rPr>
              <a:t>8x more inference per watt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Blackwell vs Hopper: up to 68x performance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improvement 2017-2026: </a:t>
            </a:r>
            <a:br>
              <a:rPr lang="en" sz="1200">
                <a:latin typeface="Calibri"/>
                <a:ea typeface="Calibri"/>
                <a:cs typeface="Calibri"/>
                <a:sym typeface="Calibri"/>
              </a:rPr>
            </a:br>
            <a:r>
              <a:rPr lang="en" sz="1200" b="1">
                <a:solidFill>
                  <a:srgbClr val="FF0000"/>
                </a:solidFill>
                <a:latin typeface="Calibri"/>
                <a:ea typeface="Calibri"/>
                <a:cs typeface="Calibri"/>
                <a:sym typeface="Calibri"/>
              </a:rPr>
              <a:t>Volta → Ampere (~2.5x) → Hopper (~2-3x) → Blackwell (~2-3x) → Rubin (~5x)</a:t>
            </a:r>
            <a:r>
              <a:rPr lang="en" sz="1200">
                <a:latin typeface="Calibri"/>
                <a:ea typeface="Calibri"/>
                <a:cs typeface="Calibri"/>
                <a:sym typeface="Calibri"/>
              </a:rPr>
              <a:t>, yielding a compound improvement approaching </a:t>
            </a:r>
            <a:r>
              <a:rPr lang="en" sz="1200" b="1">
                <a:solidFill>
                  <a:srgbClr val="FF0000"/>
                </a:solidFill>
                <a:latin typeface="Calibri"/>
                <a:ea typeface="Calibri"/>
                <a:cs typeface="Calibri"/>
                <a:sym typeface="Calibri"/>
              </a:rPr>
              <a:t>300-400x </a:t>
            </a:r>
            <a:r>
              <a:rPr lang="en" sz="1200">
                <a:latin typeface="Calibri"/>
                <a:ea typeface="Calibri"/>
                <a:cs typeface="Calibri"/>
                <a:sym typeface="Calibri"/>
              </a:rPr>
              <a:t>over nine years for AI-specific workloads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improvement 2007-2017: </a:t>
            </a:r>
            <a:r>
              <a:rPr lang="en" sz="1200" b="1">
                <a:solidFill>
                  <a:srgbClr val="FF0000"/>
                </a:solidFill>
                <a:latin typeface="Calibri"/>
                <a:ea typeface="Calibri"/>
                <a:cs typeface="Calibri"/>
                <a:sym typeface="Calibri"/>
              </a:rPr>
              <a:t>20x </a:t>
            </a:r>
            <a:r>
              <a:rPr lang="en" sz="1200">
                <a:solidFill>
                  <a:schemeClr val="dk1"/>
                </a:solidFill>
                <a:latin typeface="Calibri"/>
                <a:ea typeface="Calibri"/>
                <a:cs typeface="Calibri"/>
                <a:sym typeface="Calibri"/>
              </a:rPr>
              <a:t>(from 1 to 21.2 TFLOPS (FP16))</a:t>
            </a:r>
            <a:endParaRPr sz="1200">
              <a:solidFill>
                <a:schemeClr val="dk1"/>
              </a:solidFill>
              <a:latin typeface="Calibri"/>
              <a:ea typeface="Calibri"/>
              <a:cs typeface="Calibri"/>
              <a:sym typeface="Calibri"/>
            </a:endParaRPr>
          </a:p>
        </p:txBody>
      </p:sp>
      <p:pic>
        <p:nvPicPr>
          <p:cNvPr id="166" name="Google Shape;166;p1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5138625" y="609358"/>
            <a:ext cx="913402" cy="1175528"/>
          </a:xfrm>
          <a:prstGeom prst="rect">
            <a:avLst/>
          </a:prstGeom>
          <a:noFill/>
          <a:ln w="9100" cap="flat" cmpd="sng">
            <a:solidFill>
              <a:srgbClr val="FF0000"/>
            </a:solidFill>
            <a:prstDash val="solid"/>
            <a:round/>
            <a:headEnd type="none" w="sm" len="sm"/>
            <a:tailEnd type="none" w="sm" len="sm"/>
          </a:ln>
        </p:spPr>
      </p:pic>
      <p:pic>
        <p:nvPicPr>
          <p:cNvPr id="167" name="Google Shape;167;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095326" y="404084"/>
            <a:ext cx="994736" cy="1168808"/>
          </a:xfrm>
          <a:prstGeom prst="rect">
            <a:avLst/>
          </a:prstGeom>
          <a:noFill/>
          <a:ln w="9100" cap="flat" cmpd="sng">
            <a:solidFill>
              <a:srgbClr val="FF0000"/>
            </a:solidFill>
            <a:prstDash val="solid"/>
            <a:round/>
            <a:headEnd type="none" w="sm" len="sm"/>
            <a:tailEnd type="none" w="sm" len="sm"/>
          </a:ln>
        </p:spPr>
      </p:pic>
      <p:pic>
        <p:nvPicPr>
          <p:cNvPr id="168" name="Google Shape;168;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166096" y="231156"/>
            <a:ext cx="913402" cy="1114512"/>
          </a:xfrm>
          <a:prstGeom prst="rect">
            <a:avLst/>
          </a:prstGeom>
          <a:noFill/>
          <a:ln w="9100" cap="flat" cmpd="sng">
            <a:solidFill>
              <a:srgbClr val="FF0000"/>
            </a:solidFill>
            <a:prstDash val="solid"/>
            <a:round/>
            <a:headEnd type="none" w="sm" len="sm"/>
            <a:tailEnd type="none" w="sm" len="sm"/>
          </a:ln>
        </p:spPr>
      </p:pic>
      <p:sp>
        <p:nvSpPr>
          <p:cNvPr id="169" name="Google Shape;169;p19"/>
          <p:cNvSpPr txBox="1"/>
          <p:nvPr/>
        </p:nvSpPr>
        <p:spPr>
          <a:xfrm>
            <a:off x="5171154" y="1776834"/>
            <a:ext cx="8079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Grace Hopper</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2022-2024</a:t>
            </a:r>
            <a:endParaRPr sz="1000" b="1">
              <a:solidFill>
                <a:srgbClr val="FF0000"/>
              </a:solidFill>
              <a:latin typeface="Calibri"/>
              <a:ea typeface="Calibri"/>
              <a:cs typeface="Calibri"/>
              <a:sym typeface="Calibri"/>
            </a:endParaRPr>
          </a:p>
        </p:txBody>
      </p:sp>
      <p:sp>
        <p:nvSpPr>
          <p:cNvPr id="170" name="Google Shape;170;p19"/>
          <p:cNvSpPr txBox="1"/>
          <p:nvPr/>
        </p:nvSpPr>
        <p:spPr>
          <a:xfrm>
            <a:off x="6133748" y="1561523"/>
            <a:ext cx="86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David Blackwell</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2024-2025</a:t>
            </a:r>
            <a:endParaRPr sz="1000" b="1">
              <a:solidFill>
                <a:srgbClr val="FF0000"/>
              </a:solidFill>
              <a:latin typeface="Calibri"/>
              <a:ea typeface="Calibri"/>
              <a:cs typeface="Calibri"/>
              <a:sym typeface="Calibri"/>
            </a:endParaRPr>
          </a:p>
        </p:txBody>
      </p:sp>
      <p:sp>
        <p:nvSpPr>
          <p:cNvPr id="171" name="Google Shape;171;p19"/>
          <p:cNvSpPr txBox="1"/>
          <p:nvPr/>
        </p:nvSpPr>
        <p:spPr>
          <a:xfrm>
            <a:off x="7206427" y="1359516"/>
            <a:ext cx="8079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Vera Rubin</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2026-2027</a:t>
            </a:r>
            <a:endParaRPr sz="1000" b="1">
              <a:solidFill>
                <a:srgbClr val="FF0000"/>
              </a:solidFill>
              <a:latin typeface="Calibri"/>
              <a:ea typeface="Calibri"/>
              <a:cs typeface="Calibri"/>
              <a:sym typeface="Calibri"/>
            </a:endParaRPr>
          </a:p>
        </p:txBody>
      </p:sp>
      <p:pic>
        <p:nvPicPr>
          <p:cNvPr id="172" name="Google Shape;172;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8171369" y="78575"/>
            <a:ext cx="913426" cy="1114571"/>
          </a:xfrm>
          <a:prstGeom prst="rect">
            <a:avLst/>
          </a:prstGeom>
          <a:noFill/>
          <a:ln w="9100" cap="flat" cmpd="sng">
            <a:solidFill>
              <a:srgbClr val="FF0000"/>
            </a:solidFill>
            <a:prstDash val="solid"/>
            <a:round/>
            <a:headEnd type="none" w="sm" len="sm"/>
            <a:tailEnd type="none" w="sm" len="sm"/>
          </a:ln>
        </p:spPr>
      </p:pic>
      <p:sp>
        <p:nvSpPr>
          <p:cNvPr id="173" name="Google Shape;173;p19"/>
          <p:cNvSpPr txBox="1"/>
          <p:nvPr/>
        </p:nvSpPr>
        <p:spPr>
          <a:xfrm>
            <a:off x="8170750" y="1219677"/>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Richard Feynman</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2028-2029</a:t>
            </a:r>
            <a:endParaRPr sz="1000" b="1">
              <a:solidFill>
                <a:srgbClr val="FF0000"/>
              </a:solidFill>
              <a:latin typeface="Calibri"/>
              <a:ea typeface="Calibri"/>
              <a:cs typeface="Calibri"/>
              <a:sym typeface="Calibri"/>
            </a:endParaRPr>
          </a:p>
        </p:txBody>
      </p:sp>
      <p:pic>
        <p:nvPicPr>
          <p:cNvPr id="174" name="Google Shape;174;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566221" y="43029"/>
            <a:ext cx="1182175" cy="1268500"/>
          </a:xfrm>
          <a:prstGeom prst="rect">
            <a:avLst/>
          </a:prstGeom>
          <a:noFill/>
          <a:ln w="9525" cap="flat" cmpd="sng">
            <a:solidFill>
              <a:srgbClr val="FF0000"/>
            </a:solidFill>
            <a:prstDash val="solid"/>
            <a:round/>
            <a:headEnd type="none" w="sm" len="sm"/>
            <a:tailEnd type="none" w="sm" len="sm"/>
          </a:ln>
        </p:spPr>
      </p:pic>
      <p:pic>
        <p:nvPicPr>
          <p:cNvPr id="175" name="Google Shape;175;p1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8183184" y="1638901"/>
            <a:ext cx="913426" cy="1080106"/>
          </a:xfrm>
          <a:prstGeom prst="rect">
            <a:avLst/>
          </a:prstGeom>
          <a:noFill/>
          <a:ln w="9100" cap="flat" cmpd="sng">
            <a:solidFill>
              <a:srgbClr val="FF0000"/>
            </a:solidFill>
            <a:prstDash val="solid"/>
            <a:round/>
            <a:headEnd type="none" w="sm" len="sm"/>
            <a:tailEnd type="none" w="sm" len="sm"/>
          </a:ln>
        </p:spPr>
      </p:pic>
      <p:sp>
        <p:nvSpPr>
          <p:cNvPr id="176" name="Google Shape;176;p19"/>
          <p:cNvSpPr txBox="1"/>
          <p:nvPr/>
        </p:nvSpPr>
        <p:spPr>
          <a:xfrm>
            <a:off x="8203891" y="2734124"/>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A. Ampère</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2020-2022</a:t>
            </a:r>
            <a:endParaRPr sz="1000" b="1">
              <a:solidFill>
                <a:srgbClr val="FF0000"/>
              </a:solidFill>
              <a:latin typeface="Calibri"/>
              <a:ea typeface="Calibri"/>
              <a:cs typeface="Calibri"/>
              <a:sym typeface="Calibri"/>
            </a:endParaRPr>
          </a:p>
        </p:txBody>
      </p:sp>
      <p:sp>
        <p:nvSpPr>
          <p:cNvPr id="177" name="Google Shape;177;p19"/>
          <p:cNvSpPr txBox="1"/>
          <p:nvPr/>
        </p:nvSpPr>
        <p:spPr>
          <a:xfrm>
            <a:off x="7157828" y="2888729"/>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Alan Turing</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2019-2020</a:t>
            </a:r>
            <a:endParaRPr sz="1000" b="1">
              <a:solidFill>
                <a:srgbClr val="FF0000"/>
              </a:solidFill>
              <a:latin typeface="Calibri"/>
              <a:ea typeface="Calibri"/>
              <a:cs typeface="Calibri"/>
              <a:sym typeface="Calibri"/>
            </a:endParaRPr>
          </a:p>
        </p:txBody>
      </p:sp>
      <p:sp>
        <p:nvSpPr>
          <p:cNvPr id="178" name="Google Shape;178;p19"/>
          <p:cNvSpPr txBox="1"/>
          <p:nvPr/>
        </p:nvSpPr>
        <p:spPr>
          <a:xfrm>
            <a:off x="8170741" y="4155832"/>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J.C. Maxwell</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2014-2016</a:t>
            </a:r>
            <a:endParaRPr sz="1000" b="1">
              <a:solidFill>
                <a:srgbClr val="FF0000"/>
              </a:solidFill>
              <a:latin typeface="Calibri"/>
              <a:ea typeface="Calibri"/>
              <a:cs typeface="Calibri"/>
              <a:sym typeface="Calibri"/>
            </a:endParaRPr>
          </a:p>
        </p:txBody>
      </p:sp>
      <p:sp>
        <p:nvSpPr>
          <p:cNvPr id="179" name="Google Shape;179;p19"/>
          <p:cNvSpPr txBox="1"/>
          <p:nvPr/>
        </p:nvSpPr>
        <p:spPr>
          <a:xfrm>
            <a:off x="6136040" y="3087512"/>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A. Volta</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2017-2019</a:t>
            </a:r>
            <a:endParaRPr sz="1000" b="1">
              <a:solidFill>
                <a:srgbClr val="FF0000"/>
              </a:solidFill>
              <a:latin typeface="Calibri"/>
              <a:ea typeface="Calibri"/>
              <a:cs typeface="Calibri"/>
              <a:sym typeface="Calibri"/>
            </a:endParaRPr>
          </a:p>
        </p:txBody>
      </p:sp>
      <p:pic>
        <p:nvPicPr>
          <p:cNvPr id="180" name="Google Shape;180;p1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7206705" y="1769415"/>
            <a:ext cx="864488" cy="1114511"/>
          </a:xfrm>
          <a:prstGeom prst="rect">
            <a:avLst/>
          </a:prstGeom>
          <a:noFill/>
          <a:ln w="9100" cap="flat" cmpd="sng">
            <a:solidFill>
              <a:srgbClr val="FF0000"/>
            </a:solidFill>
            <a:prstDash val="solid"/>
            <a:round/>
            <a:headEnd type="none" w="sm" len="sm"/>
            <a:tailEnd type="none" w="sm" len="sm"/>
          </a:ln>
        </p:spPr>
      </p:pic>
      <p:pic>
        <p:nvPicPr>
          <p:cNvPr id="181" name="Google Shape;181;p1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160625" y="1953530"/>
            <a:ext cx="864482" cy="1124666"/>
          </a:xfrm>
          <a:prstGeom prst="rect">
            <a:avLst/>
          </a:prstGeom>
          <a:noFill/>
          <a:ln w="9100" cap="flat" cmpd="sng">
            <a:solidFill>
              <a:srgbClr val="FF0000"/>
            </a:solidFill>
            <a:prstDash val="solid"/>
            <a:round/>
            <a:headEnd type="none" w="sm" len="sm"/>
            <a:tailEnd type="none" w="sm" len="sm"/>
          </a:ln>
        </p:spPr>
      </p:pic>
      <p:pic>
        <p:nvPicPr>
          <p:cNvPr id="182" name="Google Shape;182;p19"/>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5170166" y="2166962"/>
            <a:ext cx="864482" cy="1124666"/>
          </a:xfrm>
          <a:prstGeom prst="rect">
            <a:avLst/>
          </a:prstGeom>
          <a:noFill/>
          <a:ln>
            <a:noFill/>
          </a:ln>
        </p:spPr>
      </p:pic>
      <p:sp>
        <p:nvSpPr>
          <p:cNvPr id="183" name="Google Shape;183;p19"/>
          <p:cNvSpPr txBox="1"/>
          <p:nvPr/>
        </p:nvSpPr>
        <p:spPr>
          <a:xfrm>
            <a:off x="5057182" y="3294308"/>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Blaise Pascal</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2016-2017</a:t>
            </a:r>
            <a:endParaRPr sz="1000" b="1">
              <a:solidFill>
                <a:srgbClr val="FF0000"/>
              </a:solidFill>
              <a:latin typeface="Calibri"/>
              <a:ea typeface="Calibri"/>
              <a:cs typeface="Calibri"/>
              <a:sym typeface="Calibri"/>
            </a:endParaRPr>
          </a:p>
        </p:txBody>
      </p:sp>
      <p:sp>
        <p:nvSpPr>
          <p:cNvPr id="184" name="Google Shape;184;p19"/>
          <p:cNvSpPr txBox="1"/>
          <p:nvPr/>
        </p:nvSpPr>
        <p:spPr>
          <a:xfrm>
            <a:off x="7180141" y="4334475"/>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J. Kepler</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2012-2014</a:t>
            </a:r>
            <a:endParaRPr sz="1000" b="1">
              <a:solidFill>
                <a:srgbClr val="FF0000"/>
              </a:solidFill>
              <a:latin typeface="Calibri"/>
              <a:ea typeface="Calibri"/>
              <a:cs typeface="Calibri"/>
              <a:sym typeface="Calibri"/>
            </a:endParaRPr>
          </a:p>
        </p:txBody>
      </p:sp>
      <p:sp>
        <p:nvSpPr>
          <p:cNvPr id="185" name="Google Shape;185;p19"/>
          <p:cNvSpPr txBox="1"/>
          <p:nvPr/>
        </p:nvSpPr>
        <p:spPr>
          <a:xfrm>
            <a:off x="6140556" y="4549954"/>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Enrico Fermi</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2010-2012</a:t>
            </a:r>
            <a:endParaRPr sz="1000" b="1">
              <a:solidFill>
                <a:srgbClr val="FF0000"/>
              </a:solidFill>
              <a:latin typeface="Calibri"/>
              <a:ea typeface="Calibri"/>
              <a:cs typeface="Calibri"/>
              <a:sym typeface="Calibri"/>
            </a:endParaRPr>
          </a:p>
        </p:txBody>
      </p:sp>
      <p:sp>
        <p:nvSpPr>
          <p:cNvPr id="186" name="Google Shape;186;p19"/>
          <p:cNvSpPr txBox="1"/>
          <p:nvPr/>
        </p:nvSpPr>
        <p:spPr>
          <a:xfrm>
            <a:off x="5076283" y="4712948"/>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Nikola Tesla</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2007-2010</a:t>
            </a:r>
            <a:endParaRPr sz="1000" b="1">
              <a:solidFill>
                <a:srgbClr val="FF0000"/>
              </a:solidFill>
              <a:latin typeface="Calibri"/>
              <a:ea typeface="Calibri"/>
              <a:cs typeface="Calibri"/>
              <a:sym typeface="Calibri"/>
            </a:endParaRPr>
          </a:p>
        </p:txBody>
      </p:sp>
      <p:pic>
        <p:nvPicPr>
          <p:cNvPr id="187" name="Google Shape;187;p19"/>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5149632" y="3711490"/>
            <a:ext cx="807900" cy="986326"/>
          </a:xfrm>
          <a:prstGeom prst="rect">
            <a:avLst/>
          </a:prstGeom>
          <a:noFill/>
          <a:ln w="9100" cap="flat" cmpd="sng">
            <a:solidFill>
              <a:srgbClr val="FF0000"/>
            </a:solidFill>
            <a:prstDash val="solid"/>
            <a:round/>
            <a:headEnd type="none" w="sm" len="sm"/>
            <a:tailEnd type="none" w="sm" len="sm"/>
          </a:ln>
        </p:spPr>
      </p:pic>
      <p:pic>
        <p:nvPicPr>
          <p:cNvPr id="188" name="Google Shape;188;p19"/>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6235042" y="3517092"/>
            <a:ext cx="807900" cy="1017000"/>
          </a:xfrm>
          <a:prstGeom prst="rect">
            <a:avLst/>
          </a:prstGeom>
          <a:noFill/>
          <a:ln w="9525" cap="flat" cmpd="sng">
            <a:solidFill>
              <a:srgbClr val="FF0000"/>
            </a:solidFill>
            <a:prstDash val="solid"/>
            <a:round/>
            <a:headEnd type="none" w="sm" len="sm"/>
            <a:tailEnd type="none" w="sm" len="sm"/>
          </a:ln>
        </p:spPr>
      </p:pic>
      <p:pic>
        <p:nvPicPr>
          <p:cNvPr id="189" name="Google Shape;189;p19"/>
          <p:cNvPicPr preferRelativeResize="0"/>
          <p:nvPr/>
        </p:nvPicPr>
        <p:blipFill>
          <a:blip r:embed="rId14" cstate="email">
            <a:alphaModFix/>
            <a:extLst>
              <a:ext uri="{28A0092B-C50C-407E-A947-70E740481C1C}">
                <a14:useLocalDpi xmlns:a14="http://schemas.microsoft.com/office/drawing/2010/main"/>
              </a:ext>
            </a:extLst>
          </a:blip>
          <a:stretch>
            <a:fillRect/>
          </a:stretch>
        </p:blipFill>
        <p:spPr>
          <a:xfrm>
            <a:off x="7263425" y="3307662"/>
            <a:ext cx="807900" cy="1017000"/>
          </a:xfrm>
          <a:prstGeom prst="rect">
            <a:avLst/>
          </a:prstGeom>
          <a:noFill/>
          <a:ln w="9525" cap="flat" cmpd="sng">
            <a:solidFill>
              <a:srgbClr val="FF0000"/>
            </a:solidFill>
            <a:prstDash val="solid"/>
            <a:round/>
            <a:headEnd type="none" w="sm" len="sm"/>
            <a:tailEnd type="none" w="sm" len="sm"/>
          </a:ln>
        </p:spPr>
      </p:pic>
      <p:pic>
        <p:nvPicPr>
          <p:cNvPr id="190" name="Google Shape;190;p19"/>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a:off x="8291800" y="3154383"/>
            <a:ext cx="766123" cy="986325"/>
          </a:xfrm>
          <a:prstGeom prst="rect">
            <a:avLst/>
          </a:prstGeom>
          <a:noFill/>
          <a:ln w="9525" cap="flat" cmpd="sng">
            <a:solidFill>
              <a:srgbClr val="FF0000"/>
            </a:solidFill>
            <a:prstDash val="solid"/>
            <a:round/>
            <a:headEnd type="none" w="sm" len="sm"/>
            <a:tailEnd type="none" w="sm" len="sm"/>
          </a:ln>
        </p:spPr>
      </p:pic>
      <p:pic>
        <p:nvPicPr>
          <p:cNvPr id="191" name="Google Shape;191;p19"/>
          <p:cNvPicPr preferRelativeResize="0"/>
          <p:nvPr/>
        </p:nvPicPr>
        <p:blipFill>
          <a:blip r:embed="rId16" cstate="email">
            <a:alphaModFix/>
            <a:extLst>
              <a:ext uri="{28A0092B-C50C-407E-A947-70E740481C1C}">
                <a14:useLocalDpi xmlns:a14="http://schemas.microsoft.com/office/drawing/2010/main"/>
              </a:ext>
            </a:extLst>
          </a:blip>
          <a:stretch>
            <a:fillRect/>
          </a:stretch>
        </p:blipFill>
        <p:spPr>
          <a:xfrm>
            <a:off x="2230925" y="3128342"/>
            <a:ext cx="1864975" cy="1864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0"/>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High-Flyer 56.6% Returns</a:t>
            </a:r>
            <a:endParaRPr sz="2000" b="1">
              <a:solidFill>
                <a:schemeClr val="dk1"/>
              </a:solidFill>
              <a:latin typeface="Calibri"/>
              <a:ea typeface="Calibri"/>
              <a:cs typeface="Calibri"/>
              <a:sym typeface="Calibri"/>
            </a:endParaRPr>
          </a:p>
        </p:txBody>
      </p:sp>
      <p:sp>
        <p:nvSpPr>
          <p:cNvPr id="197" name="Google Shape;197;p20"/>
          <p:cNvSpPr txBox="1"/>
          <p:nvPr/>
        </p:nvSpPr>
        <p:spPr>
          <a:xfrm>
            <a:off x="55075" y="480175"/>
            <a:ext cx="44652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DeepSeek founder Liang Wenfeng’s quantitative hedge fund generated returns of more than 50% last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https://x.com/business/status/2010632000382636056</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https://www.bloomberg.com/news/articles/2026-01-12/deepseek-founder-liang-s-funds-surge-57-as-china-quants-boom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DeepSeek founder Liang Wenfeng's quantitative hedge fund, Zhejiang High-Flyer Asset Management, generated average returns of 56.6% across its funds in 2025, making it the second-best performer among Chinese quant funds managing over 10 billion yuan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fund abandoned market-neutral strategies in 2024 to go </a:t>
            </a:r>
            <a:r>
              <a:rPr lang="en" sz="1100" b="1">
                <a:solidFill>
                  <a:srgbClr val="FF0000"/>
                </a:solidFill>
                <a:latin typeface="Calibri"/>
                <a:ea typeface="Calibri"/>
                <a:cs typeface="Calibri"/>
                <a:sym typeface="Calibri"/>
              </a:rPr>
              <a:t>"all-in" on long-only strategies</a:t>
            </a:r>
            <a:r>
              <a:rPr lang="en" sz="1100">
                <a:latin typeface="Calibri"/>
                <a:ea typeface="Calibri"/>
                <a:cs typeface="Calibri"/>
                <a:sym typeface="Calibri"/>
              </a:rPr>
              <a:t>, which seek to beat underlying stock indexes rather than hedge positions - allowing to capture the full upside of China's stock market rally in 2025</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High-Flyer Fund has been a pioneer in using AI for quantitative trading since its founding in 2015. The firm describes itself as fully relying on deep neural networks, with their first trade generated by a deep learning algorithm executed on October 21, 2016, and deep learning algorithms fully implemented for trading by 2017</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High-Flyer's AI-driven approach automates every stage of operations—from data collection and analysis to portfolio construction and trade execution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Their models process three main data sources: market data (price and volume indicators), macroeconomic fundamental data, and alternative data, all fed into neural networks to predict stock price changes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firm integrates machine learning and natural language processing to analyze massive datasets and financial behavior</a:t>
            </a:r>
            <a:endParaRPr sz="1100">
              <a:latin typeface="Calibri"/>
              <a:ea typeface="Calibri"/>
              <a:cs typeface="Calibri"/>
              <a:sym typeface="Calibri"/>
            </a:endParaRPr>
          </a:p>
        </p:txBody>
      </p:sp>
      <p:pic>
        <p:nvPicPr>
          <p:cNvPr id="198" name="Google Shape;198;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096250" y="480175"/>
            <a:ext cx="3229626" cy="25056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21"/>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6.06K subscribers, 263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204" name="Google Shape;204;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43850" y="61375"/>
            <a:ext cx="3517525" cy="49709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22"/>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Cline - Skills, Background edits, Web </a:t>
            </a:r>
            <a:endParaRPr sz="2000" b="1">
              <a:solidFill>
                <a:schemeClr val="dk1"/>
              </a:solidFill>
              <a:latin typeface="Calibri"/>
              <a:ea typeface="Calibri"/>
              <a:cs typeface="Calibri"/>
              <a:sym typeface="Calibri"/>
            </a:endParaRPr>
          </a:p>
        </p:txBody>
      </p:sp>
      <p:sp>
        <p:nvSpPr>
          <p:cNvPr id="210" name="Google Shape;210;p22"/>
          <p:cNvSpPr txBox="1"/>
          <p:nvPr/>
        </p:nvSpPr>
        <p:spPr>
          <a:xfrm>
            <a:off x="55075" y="491132"/>
            <a:ext cx="4465200" cy="431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Cline's Skills - modular instruction sets that load on-demand</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Skills help to reduce tokens usage</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VSCode Cline extension: Settings → Features → Enable Skills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Click the scale icon below the chat input to access the rules and workflows panel, where you'll find a </a:t>
            </a:r>
            <a:r>
              <a:rPr lang="en" sz="1100" b="1">
                <a:solidFill>
                  <a:srgbClr val="3C78D8"/>
                </a:solidFill>
                <a:latin typeface="Calibri"/>
                <a:ea typeface="Calibri"/>
                <a:cs typeface="Calibri"/>
                <a:sym typeface="Calibri"/>
              </a:rPr>
              <a:t>new Skills tab for managing your skills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Each skill is a directory containing a </a:t>
            </a:r>
            <a:r>
              <a:rPr lang="en" sz="1100" b="1">
                <a:solidFill>
                  <a:srgbClr val="3C78D8"/>
                </a:solidFill>
                <a:latin typeface="Calibri"/>
                <a:ea typeface="Calibri"/>
                <a:cs typeface="Calibri"/>
                <a:sym typeface="Calibri"/>
              </a:rPr>
              <a:t>SKILL.md</a:t>
            </a:r>
            <a:r>
              <a:rPr lang="en" sz="1100">
                <a:latin typeface="Calibri"/>
                <a:ea typeface="Calibri"/>
                <a:cs typeface="Calibri"/>
                <a:sym typeface="Calibri"/>
              </a:rPr>
              <a:t> file with YAML frontmatter and markdown instructions. The basic structure looks like this:</a:t>
            </a:r>
            <a:endParaRPr sz="1100">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my-skill/</a:t>
            </a:r>
            <a:endParaRPr sz="900" b="1">
              <a:solidFill>
                <a:srgbClr val="3C78D8"/>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SKILL.md</a:t>
            </a:r>
            <a:r>
              <a:rPr lang="en" sz="900" b="1">
                <a:solidFill>
                  <a:srgbClr val="6AA84F"/>
                </a:solidFill>
                <a:latin typeface="Roboto Mono"/>
                <a:ea typeface="Roboto Mono"/>
                <a:cs typeface="Roboto Mono"/>
                <a:sym typeface="Roboto Mono"/>
              </a:rPr>
              <a:t>         # Required: main instructions</a:t>
            </a:r>
            <a:endParaRPr sz="900" b="1">
              <a:solidFill>
                <a:srgbClr val="6AA84F"/>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docs/</a:t>
            </a:r>
            <a:r>
              <a:rPr lang="en" sz="900" b="1">
                <a:solidFill>
                  <a:srgbClr val="6AA84F"/>
                </a:solidFill>
                <a:latin typeface="Roboto Mono"/>
                <a:ea typeface="Roboto Mono"/>
                <a:cs typeface="Roboto Mono"/>
                <a:sym typeface="Roboto Mono"/>
              </a:rPr>
              <a:t>            # Optional: additional </a:t>
            </a:r>
            <a:r>
              <a:rPr lang="en" sz="900" b="1">
                <a:solidFill>
                  <a:srgbClr val="3C78D8"/>
                </a:solidFill>
                <a:latin typeface="Roboto Mono"/>
                <a:ea typeface="Roboto Mono"/>
                <a:cs typeface="Roboto Mono"/>
                <a:sym typeface="Roboto Mono"/>
              </a:rPr>
              <a:t>documentation</a:t>
            </a:r>
            <a:endParaRPr sz="900" b="1">
              <a:solidFill>
                <a:srgbClr val="3C78D8"/>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 advanced.md</a:t>
            </a:r>
            <a:endParaRPr sz="900" b="1">
              <a:solidFill>
                <a:srgbClr val="3C78D8"/>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scripts/</a:t>
            </a:r>
            <a:r>
              <a:rPr lang="en" sz="900" b="1">
                <a:solidFill>
                  <a:srgbClr val="6AA84F"/>
                </a:solidFill>
                <a:latin typeface="Roboto Mono"/>
                <a:ea typeface="Roboto Mono"/>
                <a:cs typeface="Roboto Mono"/>
                <a:sym typeface="Roboto Mono"/>
              </a:rPr>
              <a:t>         # Optional: utility scripts</a:t>
            </a:r>
            <a:endParaRPr sz="900" b="1">
              <a:solidFill>
                <a:srgbClr val="6AA84F"/>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 helper.sh</a:t>
            </a:r>
            <a:endParaRPr sz="900" b="1">
              <a:solidFill>
                <a:srgbClr val="3C78D8"/>
              </a:solidFill>
              <a:latin typeface="Roboto Mono"/>
              <a:ea typeface="Roboto Mono"/>
              <a:cs typeface="Roboto Mono"/>
              <a:sym typeface="Roboto Mono"/>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Your </a:t>
            </a:r>
            <a:r>
              <a:rPr lang="en" sz="1100" b="1">
                <a:solidFill>
                  <a:srgbClr val="3C78D8"/>
                </a:solidFill>
                <a:latin typeface="Calibri"/>
                <a:ea typeface="Calibri"/>
                <a:cs typeface="Calibri"/>
                <a:sym typeface="Calibri"/>
              </a:rPr>
              <a:t>SKILL.md</a:t>
            </a:r>
            <a:r>
              <a:rPr lang="en" sz="1100">
                <a:latin typeface="Calibri"/>
                <a:ea typeface="Calibri"/>
                <a:cs typeface="Calibri"/>
                <a:sym typeface="Calibri"/>
              </a:rPr>
              <a:t> file needs two parts: the header (name and description) followed by the </a:t>
            </a:r>
            <a:r>
              <a:rPr lang="en" sz="1100">
                <a:solidFill>
                  <a:schemeClr val="dk1"/>
                </a:solidFill>
                <a:latin typeface="Calibri"/>
                <a:ea typeface="Calibri"/>
                <a:cs typeface="Calibri"/>
                <a:sym typeface="Calibri"/>
              </a:rPr>
              <a:t>detailed instructions for Cline to follow. Example:</a:t>
            </a:r>
            <a:endParaRPr sz="1100">
              <a:solidFill>
                <a:schemeClr val="dk1"/>
              </a:solidFill>
              <a:latin typeface="Calibri"/>
              <a:ea typeface="Calibri"/>
              <a:cs typeface="Calibri"/>
              <a:sym typeface="Calibri"/>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name: my-skill</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description: Brief description - what it does, when to use it</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 My Skill</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Detailed instructions for Cline to follow</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 Steps</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1. First, do this</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 Then do that</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None/>
            </a:pPr>
            <a:r>
              <a:rPr lang="en" sz="900" b="1">
                <a:solidFill>
                  <a:srgbClr val="3C78D8"/>
                </a:solidFill>
                <a:latin typeface="Roboto Mono"/>
                <a:ea typeface="Roboto Mono"/>
                <a:cs typeface="Roboto Mono"/>
                <a:sym typeface="Roboto Mono"/>
              </a:rPr>
              <a:t>3. For advanced usage, see advanced.md</a:t>
            </a:r>
            <a:endParaRPr sz="1100">
              <a:latin typeface="Calibri"/>
              <a:ea typeface="Calibri"/>
              <a:cs typeface="Calibri"/>
              <a:sym typeface="Calibri"/>
            </a:endParaRPr>
          </a:p>
        </p:txBody>
      </p:sp>
      <p:sp>
        <p:nvSpPr>
          <p:cNvPr id="211" name="Google Shape;211;p22"/>
          <p:cNvSpPr txBox="1"/>
          <p:nvPr/>
        </p:nvSpPr>
        <p:spPr>
          <a:xfrm>
            <a:off x="4606875" y="490623"/>
            <a:ext cx="4465200" cy="331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"name" must exactly match the directory name, and the "description" (max 1024 characters) tells Cline when to activate this skill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Skills can be stored in two locations: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Global Skills for all projects: </a:t>
            </a:r>
            <a:r>
              <a:rPr lang="en" sz="1100" b="1">
                <a:solidFill>
                  <a:srgbClr val="3C78D8"/>
                </a:solidFill>
                <a:latin typeface="Calibri"/>
                <a:ea typeface="Calibri"/>
                <a:cs typeface="Calibri"/>
                <a:sym typeface="Calibri"/>
              </a:rPr>
              <a:t>$HOME/.cline/skills/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Project Skills:   </a:t>
            </a:r>
            <a:r>
              <a:rPr lang="en" sz="1100" b="1">
                <a:solidFill>
                  <a:srgbClr val="3C78D8"/>
                </a:solidFill>
                <a:latin typeface="Calibri"/>
                <a:ea typeface="Calibri"/>
                <a:cs typeface="Calibri"/>
                <a:sym typeface="Calibri"/>
              </a:rPr>
              <a:t> .cline/skills/   </a:t>
            </a:r>
            <a:r>
              <a:rPr lang="en" sz="1100">
                <a:solidFill>
                  <a:schemeClr val="dk1"/>
                </a:solidFill>
                <a:latin typeface="Calibri"/>
                <a:ea typeface="Calibri"/>
                <a:cs typeface="Calibri"/>
                <a:sym typeface="Calibri"/>
              </a:rPr>
              <a:t>  or </a:t>
            </a:r>
            <a:r>
              <a:rPr lang="en" sz="1100" b="1">
                <a:solidFill>
                  <a:srgbClr val="3C78D8"/>
                </a:solidFill>
                <a:latin typeface="Calibri"/>
                <a:ea typeface="Calibri"/>
                <a:cs typeface="Calibri"/>
                <a:sym typeface="Calibri"/>
              </a:rPr>
              <a:t>    .clinerules/skills/</a:t>
            </a:r>
            <a:br>
              <a:rPr lang="en" sz="1100">
                <a:latin typeface="Calibri"/>
                <a:ea typeface="Calibri"/>
                <a:cs typeface="Calibri"/>
                <a:sym typeface="Calibri"/>
              </a:rPr>
            </a:br>
            <a:r>
              <a:rPr lang="en" sz="1100">
                <a:latin typeface="Calibri"/>
                <a:ea typeface="Calibri"/>
                <a:cs typeface="Calibri"/>
                <a:sym typeface="Calibri"/>
              </a:rPr>
              <a:t>or    </a:t>
            </a:r>
            <a:r>
              <a:rPr lang="en" sz="1100" b="1">
                <a:solidFill>
                  <a:srgbClr val="3C78D8"/>
                </a:solidFill>
                <a:latin typeface="Calibri"/>
                <a:ea typeface="Calibri"/>
                <a:cs typeface="Calibri"/>
                <a:sym typeface="Calibri"/>
              </a:rPr>
              <a:t>.claude/skills/</a:t>
            </a:r>
            <a:r>
              <a:rPr lang="en" sz="1100">
                <a:latin typeface="Calibri"/>
                <a:ea typeface="Calibri"/>
                <a:cs typeface="Calibri"/>
                <a:sym typeface="Calibri"/>
              </a:rPr>
              <a:t>     for Claude Code compatibility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global skill takes precedence over local (strange)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When your request matches a skill's description, Cline loads and activates it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Skills tab in the rules and workflows panel </a:t>
            </a:r>
            <a:r>
              <a:rPr lang="en" sz="1100">
                <a:latin typeface="Calibri"/>
                <a:ea typeface="Calibri"/>
                <a:cs typeface="Calibri"/>
                <a:sym typeface="Calibri"/>
              </a:rPr>
              <a:t>- view all skills (global and workspace), toggle them on/off, create/delete skills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Skills are useful for multi-step workflows or domain-specific knowledge, like Release management, Code review, Database migrations, API integration, Debugging workflows, Infrastructure</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Skills vs Rules vs Workflows:</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Rules</a:t>
            </a:r>
            <a:r>
              <a:rPr lang="en" sz="1100">
                <a:latin typeface="Calibri"/>
                <a:ea typeface="Calibri"/>
                <a:cs typeface="Calibri"/>
                <a:sym typeface="Calibri"/>
              </a:rPr>
              <a:t> - set constraints that are always active</a:t>
            </a:r>
            <a:endParaRPr sz="1100">
              <a:latin typeface="Calibri"/>
              <a:ea typeface="Calibri"/>
              <a:cs typeface="Calibri"/>
              <a:sym typeface="Calibri"/>
            </a:endParaRPr>
          </a:p>
          <a:p>
            <a:pPr marL="45720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Workflows</a:t>
            </a:r>
            <a:r>
              <a:rPr lang="en" sz="1100">
                <a:latin typeface="Calibri"/>
                <a:ea typeface="Calibri"/>
                <a:cs typeface="Calibri"/>
                <a:sym typeface="Calibri"/>
              </a:rPr>
              <a:t> - explicit sequences you invoke with `/</a:t>
            </a:r>
            <a:r>
              <a:rPr lang="en" sz="1100" u="sng">
                <a:solidFill>
                  <a:schemeClr val="hlink"/>
                </a:solidFill>
                <a:latin typeface="Calibri"/>
                <a:ea typeface="Calibri"/>
                <a:cs typeface="Calibri"/>
                <a:sym typeface="Calibri"/>
                <a:hlinkClick r:id="rId3"/>
              </a:rPr>
              <a:t>workflow.md</a:t>
            </a:r>
            <a:r>
              <a:rPr lang="en" sz="1100">
                <a:latin typeface="Calibri"/>
                <a:ea typeface="Calibri"/>
                <a:cs typeface="Calibri"/>
                <a:sym typeface="Calibri"/>
              </a:rPr>
              <a:t>`</a:t>
            </a:r>
            <a:endParaRPr sz="1100">
              <a:latin typeface="Calibri"/>
              <a:ea typeface="Calibri"/>
              <a:cs typeface="Calibri"/>
              <a:sym typeface="Calibri"/>
            </a:endParaRPr>
          </a:p>
          <a:p>
            <a:pPr marL="45720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Skills</a:t>
            </a:r>
            <a:r>
              <a:rPr lang="en" sz="1100">
                <a:latin typeface="Calibri"/>
                <a:ea typeface="Calibri"/>
                <a:cs typeface="Calibri"/>
                <a:sym typeface="Calibri"/>
              </a:rPr>
              <a:t> - domain expertise, activated only when needed</a:t>
            </a:r>
            <a:endParaRPr sz="11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https://docs.cline.bot/features/skills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https://cline.bot/blog/cline-3-48-0-skills-and-websearch-make-cline-smarter</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https://cline.ghost.io/cline-3-48-0-skills-and-websearch-make-cline-smarter/</a:t>
            </a:r>
            <a:r>
              <a:rPr lang="en" sz="900">
                <a:latin typeface="Calibri"/>
                <a:ea typeface="Calibri"/>
                <a:cs typeface="Calibri"/>
                <a:sym typeface="Calibri"/>
              </a:rPr>
              <a:t> </a:t>
            </a:r>
            <a:endParaRPr sz="900">
              <a:latin typeface="Calibri"/>
              <a:ea typeface="Calibri"/>
              <a:cs typeface="Calibri"/>
              <a:sym typeface="Calibri"/>
            </a:endParaRPr>
          </a:p>
        </p:txBody>
      </p:sp>
      <p:sp>
        <p:nvSpPr>
          <p:cNvPr id="212" name="Google Shape;212;p22"/>
          <p:cNvSpPr txBox="1"/>
          <p:nvPr/>
        </p:nvSpPr>
        <p:spPr>
          <a:xfrm>
            <a:off x="4606875" y="3873723"/>
            <a:ext cx="44652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Background Edits</a:t>
            </a:r>
            <a:r>
              <a:rPr lang="en" sz="1100">
                <a:latin typeface="Calibri"/>
                <a:ea typeface="Calibri"/>
                <a:cs typeface="Calibri"/>
                <a:sym typeface="Calibri"/>
              </a:rPr>
              <a:t> (enable in Settings → Features → Background Edits)</a:t>
            </a:r>
            <a:br>
              <a:rPr lang="en" sz="1100">
                <a:latin typeface="Calibri"/>
                <a:ea typeface="Calibri"/>
                <a:cs typeface="Calibri"/>
                <a:sym typeface="Calibri"/>
              </a:rPr>
            </a:br>
            <a:r>
              <a:rPr lang="en" sz="1100">
                <a:latin typeface="Calibri"/>
                <a:ea typeface="Calibri"/>
                <a:cs typeface="Calibri"/>
                <a:sym typeface="Calibri"/>
              </a:rPr>
              <a:t>allows Cline to work without opening diff views or stealing focus</a:t>
            </a:r>
            <a:endParaRPr sz="1100">
              <a:latin typeface="Calibri"/>
              <a:ea typeface="Calibri"/>
              <a:cs typeface="Calibri"/>
              <a:sym typeface="Calibri"/>
            </a:endParaRPr>
          </a:p>
        </p:txBody>
      </p:sp>
      <p:sp>
        <p:nvSpPr>
          <p:cNvPr id="213" name="Google Shape;213;p22"/>
          <p:cNvSpPr txBox="1"/>
          <p:nvPr/>
        </p:nvSpPr>
        <p:spPr>
          <a:xfrm>
            <a:off x="4606875" y="4301523"/>
            <a:ext cx="44652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Cline can now </a:t>
            </a:r>
            <a:r>
              <a:rPr lang="en" sz="1100" b="1">
                <a:solidFill>
                  <a:srgbClr val="FF0000"/>
                </a:solidFill>
                <a:latin typeface="Calibri"/>
                <a:ea typeface="Calibri"/>
                <a:cs typeface="Calibri"/>
                <a:sym typeface="Calibri"/>
              </a:rPr>
              <a:t>search the web and pull page content </a:t>
            </a:r>
            <a:r>
              <a:rPr lang="en" sz="1100">
                <a:latin typeface="Calibri"/>
                <a:ea typeface="Calibri"/>
                <a:cs typeface="Calibri"/>
                <a:sym typeface="Calibri"/>
              </a:rPr>
              <a:t>directly. No browser, no screenshots. Useful when you need current docs or API references.</a:t>
            </a:r>
            <a:endParaRPr sz="1100">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23"/>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HINDSIGHT Agent Memory System</a:t>
            </a:r>
            <a:endParaRPr sz="2000" b="1">
              <a:solidFill>
                <a:schemeClr val="dk1"/>
              </a:solidFill>
              <a:latin typeface="Calibri"/>
              <a:ea typeface="Calibri"/>
              <a:cs typeface="Calibri"/>
              <a:sym typeface="Calibri"/>
            </a:endParaRPr>
          </a:p>
        </p:txBody>
      </p:sp>
      <p:sp>
        <p:nvSpPr>
          <p:cNvPr id="219" name="Google Shape;219;p23"/>
          <p:cNvSpPr txBox="1"/>
          <p:nvPr/>
        </p:nvSpPr>
        <p:spPr>
          <a:xfrm>
            <a:off x="55075" y="510950"/>
            <a:ext cx="4041600" cy="437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HINDSIGHT Agent Memory System</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https://medium.com/@tarangtattva2/a-new-agent-memory-system-just-dropped-and-it-finally-fixes-what-weve-been-getting-wrong-fc84589f75ca</a:t>
            </a:r>
            <a:r>
              <a:rPr lang="en" sz="900">
                <a:latin typeface="Calibri"/>
                <a:ea typeface="Calibri"/>
                <a:cs typeface="Calibri"/>
                <a:sym typeface="Calibri"/>
              </a:rPr>
              <a:t> </a:t>
            </a:r>
            <a:endParaRPr sz="9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HINDSIGHT agent memory system addresses a fundamental flaw in current AI agent memory: treating memory as simple text retrieval rather than meaningful understanding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HINDSIGHT introduces four distinct memory networks: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World Memory (objective facts),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Experience Memory (agent's own actions),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Opinion Memory (subjective beliefs with confidence scores),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Observation Memory (neutral summaries)</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separation prevents the confusion typical in systems that mix fact and opinion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system uses three core operations: </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Retain</a:t>
            </a:r>
            <a:r>
              <a:rPr lang="en" sz="1100">
                <a:latin typeface="Calibri"/>
                <a:ea typeface="Calibri"/>
                <a:cs typeface="Calibri"/>
                <a:sym typeface="Calibri"/>
              </a:rPr>
              <a:t> (converting conversations into coherent narratives preserving decision context), </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Recall</a:t>
            </a:r>
            <a:r>
              <a:rPr lang="en" sz="1100">
                <a:latin typeface="Calibri"/>
                <a:ea typeface="Calibri"/>
                <a:cs typeface="Calibri"/>
                <a:sym typeface="Calibri"/>
              </a:rPr>
              <a:t> (combining semantic search, keywords, graph traversal, and temporal filtering),</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Reflect</a:t>
            </a:r>
            <a:r>
              <a:rPr lang="en" sz="1100">
                <a:latin typeface="Calibri"/>
                <a:ea typeface="Calibri"/>
                <a:cs typeface="Calibri"/>
                <a:sym typeface="Calibri"/>
              </a:rPr>
              <a:t> (applying behavioral profiles like skepticism and empathy to generate responses).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Crucially, opinions evolve with confidence scores that adjust based on new evidence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On long-memory benchmarks, HINDSIGHT achieves 83% accuracy compared to 39% for traditional approaches, enabling agents that explain their reasoning, maintain stable preferences, and preserve personality across sessions</a:t>
            </a:r>
            <a:endParaRPr sz="1100">
              <a:latin typeface="Calibri"/>
              <a:ea typeface="Calibri"/>
              <a:cs typeface="Calibri"/>
              <a:sym typeface="Calibri"/>
            </a:endParaRPr>
          </a:p>
        </p:txBody>
      </p:sp>
      <p:pic>
        <p:nvPicPr>
          <p:cNvPr id="220" name="Google Shape;220;p2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193450" y="898643"/>
            <a:ext cx="4885951" cy="26165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24"/>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Confucius SDK (Meta and Harvard) </a:t>
            </a:r>
            <a:endParaRPr sz="2000" b="1">
              <a:solidFill>
                <a:schemeClr val="dk1"/>
              </a:solidFill>
              <a:latin typeface="Calibri"/>
              <a:ea typeface="Calibri"/>
              <a:cs typeface="Calibri"/>
              <a:sym typeface="Calibri"/>
            </a:endParaRPr>
          </a:p>
        </p:txBody>
      </p:sp>
      <p:sp>
        <p:nvSpPr>
          <p:cNvPr id="226" name="Google Shape;226;p24"/>
          <p:cNvSpPr txBox="1"/>
          <p:nvPr/>
        </p:nvSpPr>
        <p:spPr>
          <a:xfrm>
            <a:off x="55075" y="446350"/>
            <a:ext cx="4465200" cy="332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Confucius SDK, open source</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3"/>
              </a:rPr>
              <a:t>https://www.marktechpost.com/2026/01/09/meta-and-harvard-researchers-introduce-the-confucius-code-agent-cca-a-software-engineering-agent-that-can-operate-at-large-scale-codebases/</a:t>
            </a:r>
            <a:r>
              <a:rPr lang="en" sz="800">
                <a:latin typeface="Calibri"/>
                <a:ea typeface="Calibri"/>
                <a:cs typeface="Calibri"/>
                <a:sym typeface="Calibri"/>
              </a:rPr>
              <a:t> </a:t>
            </a:r>
            <a:endParaRPr sz="800">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Meta and Harvard - Confucius Code Agent, open-source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SOTA on benchmarks like SWE Bench Pro and SWE Bench Verified by prioritizing agent architecture over raw model size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Confucius SDK organizes around three design axes: </a:t>
            </a:r>
            <a:br>
              <a:rPr lang="en" sz="1100">
                <a:latin typeface="Calibri"/>
                <a:ea typeface="Calibri"/>
                <a:cs typeface="Calibri"/>
                <a:sym typeface="Calibri"/>
              </a:rPr>
            </a:br>
            <a:r>
              <a:rPr lang="en" sz="1100">
                <a:latin typeface="Calibri"/>
                <a:ea typeface="Calibri"/>
                <a:cs typeface="Calibri"/>
                <a:sym typeface="Calibri"/>
              </a:rPr>
              <a:t> - Agent Experience (context layout and working memory), </a:t>
            </a:r>
            <a:br>
              <a:rPr lang="en" sz="1100">
                <a:latin typeface="Calibri"/>
                <a:ea typeface="Calibri"/>
                <a:cs typeface="Calibri"/>
                <a:sym typeface="Calibri"/>
              </a:rPr>
            </a:br>
            <a:r>
              <a:rPr lang="en" sz="1100">
                <a:latin typeface="Calibri"/>
                <a:ea typeface="Calibri"/>
                <a:cs typeface="Calibri"/>
                <a:sym typeface="Calibri"/>
              </a:rPr>
              <a:t> - User Experience (readable traces and code diffs), </a:t>
            </a:r>
            <a:br>
              <a:rPr lang="en" sz="1100">
                <a:latin typeface="Calibri"/>
                <a:ea typeface="Calibri"/>
                <a:cs typeface="Calibri"/>
                <a:sym typeface="Calibri"/>
              </a:rPr>
            </a:br>
            <a:r>
              <a:rPr lang="en" sz="1100">
                <a:latin typeface="Calibri"/>
                <a:ea typeface="Calibri"/>
                <a:cs typeface="Calibri"/>
                <a:sym typeface="Calibri"/>
              </a:rPr>
              <a:t> - Developer Experience (observability and debugging)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Implements three core mechanisms: </a:t>
            </a:r>
            <a:br>
              <a:rPr lang="en" sz="1100">
                <a:latin typeface="Calibri"/>
                <a:ea typeface="Calibri"/>
                <a:cs typeface="Calibri"/>
                <a:sym typeface="Calibri"/>
              </a:rPr>
            </a:br>
            <a:r>
              <a:rPr lang="en" sz="1100">
                <a:latin typeface="Calibri"/>
                <a:ea typeface="Calibri"/>
                <a:cs typeface="Calibri"/>
                <a:sym typeface="Calibri"/>
              </a:rPr>
              <a:t> - hierarchical working memory - partitions long context</a:t>
            </a:r>
            <a:br>
              <a:rPr lang="en" sz="1100">
                <a:latin typeface="Calibri"/>
                <a:ea typeface="Calibri"/>
                <a:cs typeface="Calibri"/>
                <a:sym typeface="Calibri"/>
              </a:rPr>
            </a:br>
            <a:r>
              <a:rPr lang="en" sz="1100">
                <a:latin typeface="Calibri"/>
                <a:ea typeface="Calibri"/>
                <a:cs typeface="Calibri"/>
                <a:sym typeface="Calibri"/>
              </a:rPr>
              <a:t> - a persistent note-taking system (cross-session learning)</a:t>
            </a:r>
            <a:br>
              <a:rPr lang="en" sz="1100">
                <a:latin typeface="Calibri"/>
                <a:ea typeface="Calibri"/>
                <a:cs typeface="Calibri"/>
                <a:sym typeface="Calibri"/>
              </a:rPr>
            </a:br>
            <a:r>
              <a:rPr lang="en" sz="1100">
                <a:latin typeface="Calibri"/>
                <a:ea typeface="Calibri"/>
                <a:cs typeface="Calibri"/>
                <a:sym typeface="Calibri"/>
              </a:rPr>
              <a:t> - modular tool extensions for file editing, command execution, and code search</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Claude 4.5 Sonnet + Confucius - outperforms Claude 4.5 Opus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Rich tool handling - increases the resolve rate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Cross-Session Learning (re-using notes between sessions)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Meta-agent that automatically designs and tunes agent configurations through iterative build-test-improve loops</a:t>
            </a:r>
            <a:endParaRPr sz="1100">
              <a:latin typeface="Calibri"/>
              <a:ea typeface="Calibri"/>
              <a:cs typeface="Calibri"/>
              <a:sym typeface="Calibri"/>
            </a:endParaRPr>
          </a:p>
        </p:txBody>
      </p:sp>
      <p:pic>
        <p:nvPicPr>
          <p:cNvPr id="227" name="Google Shape;227;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72668" y="446350"/>
            <a:ext cx="4389352" cy="2020775"/>
          </a:xfrm>
          <a:prstGeom prst="rect">
            <a:avLst/>
          </a:prstGeom>
          <a:noFill/>
          <a:ln w="9525" cap="flat" cmpd="sng">
            <a:solidFill>
              <a:srgbClr val="FF0000"/>
            </a:solidFill>
            <a:prstDash val="solid"/>
            <a:round/>
            <a:headEnd type="none" w="sm" len="sm"/>
            <a:tailEnd type="none" w="sm" len="sm"/>
          </a:ln>
        </p:spPr>
      </p:pic>
      <p:pic>
        <p:nvPicPr>
          <p:cNvPr id="228" name="Google Shape;228;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72675" y="2586725"/>
            <a:ext cx="4389350" cy="21946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25"/>
          <p:cNvSpPr txBox="1"/>
          <p:nvPr/>
        </p:nvSpPr>
        <p:spPr>
          <a:xfrm>
            <a:off x="55075" y="43025"/>
            <a:ext cx="4461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Gemini "Buy" Button</a:t>
            </a:r>
            <a:endParaRPr sz="2000" b="1">
              <a:solidFill>
                <a:schemeClr val="dk1"/>
              </a:solidFill>
              <a:latin typeface="Calibri"/>
              <a:ea typeface="Calibri"/>
              <a:cs typeface="Calibri"/>
              <a:sym typeface="Calibri"/>
            </a:endParaRPr>
          </a:p>
        </p:txBody>
      </p:sp>
      <p:sp>
        <p:nvSpPr>
          <p:cNvPr id="234" name="Google Shape;234;p25"/>
          <p:cNvSpPr txBox="1"/>
          <p:nvPr/>
        </p:nvSpPr>
        <p:spPr>
          <a:xfrm>
            <a:off x="55075" y="480175"/>
            <a:ext cx="5127600" cy="446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Universal Commerce Protocol (UCP) and Gemini Buy Button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Direct checkout capabilities in Gemini and AI Mode Search ("Buy" button)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UCP - an open-source standard co-developed with Shopify, Walmart, Target, Wayfair, and Etsy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UCP provides a unified language for AI agents to communicate with e-commerce systems - to find products and complete purchases for you</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It organizes these tasks into specific "capabilities," such as checking out or applying discounts, and keeps your financial information safe by using secure tokens rather than sharing your actual credit card details directly with every merchant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Ultimately, UCP creates a secure bridge that allows AI to handle complex shopping errands across many different stores without needing custom integrations for each one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UCP covers product search, payment processing, and post-purchase support, and has backing from over 20 companies including major payment processors (Visa, Mastercard, American Express, PayPal, Stripe) and retailers (Home Depot, Kroger, Lowe's, Gap)</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When users tap the "Buy" button, they can complete purchases with pre-filled payment methods (Google Pay, Google Wallet) and shipping information without leaving the AI conversation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Business Agent - an AI virtual sales associate that appears as a "Chat" button in Search results for participating retailers like Lowe's, Michaels, Poshmark, and Reebok, capable of answering product questions in the brand's voice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UCP directly competes with OpenAI's Agentic Commerce Protocol and positions Google against OpenAI, Amazon, and Perplexity</a:t>
            </a:r>
            <a:endParaRPr sz="11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https://www.theverge.com/news/860446/google-ai-shopping-standard-buy-button-gemini</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https://blog.google/products/ads-commerce/agentic-commerce-ai-tools-protocol-retailers-platforms/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https://apnews.com/article/google-gemini-ai-shopping-checkout-walmart-f1679240ba93d40b90a97348b73039d3</a:t>
            </a:r>
            <a:r>
              <a:rPr lang="en" sz="900">
                <a:latin typeface="Calibri"/>
                <a:ea typeface="Calibri"/>
                <a:cs typeface="Calibri"/>
                <a:sym typeface="Calibri"/>
              </a:rPr>
              <a:t> </a:t>
            </a:r>
            <a:endParaRPr sz="900">
              <a:latin typeface="Calibri"/>
              <a:ea typeface="Calibri"/>
              <a:cs typeface="Calibri"/>
              <a:sym typeface="Calibri"/>
            </a:endParaRPr>
          </a:p>
        </p:txBody>
      </p:sp>
      <p:pic>
        <p:nvPicPr>
          <p:cNvPr id="235" name="Google Shape;235;p2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861489" y="615288"/>
            <a:ext cx="2619375" cy="1236337"/>
          </a:xfrm>
          <a:prstGeom prst="rect">
            <a:avLst/>
          </a:prstGeom>
          <a:noFill/>
          <a:ln w="9525" cap="flat" cmpd="sng">
            <a:solidFill>
              <a:srgbClr val="FF0000"/>
            </a:solidFill>
            <a:prstDash val="solid"/>
            <a:round/>
            <a:headEnd type="none" w="sm" len="sm"/>
            <a:tailEnd type="none" w="sm" len="sm"/>
          </a:ln>
        </p:spPr>
      </p:pic>
      <p:pic>
        <p:nvPicPr>
          <p:cNvPr id="236" name="Google Shape;236;p25"/>
          <p:cNvPicPr preferRelativeResize="0"/>
          <p:nvPr/>
        </p:nvPicPr>
        <p:blipFill>
          <a:blip r:embed="rId7">
            <a:alphaModFix/>
          </a:blip>
          <a:stretch>
            <a:fillRect/>
          </a:stretch>
        </p:blipFill>
        <p:spPr>
          <a:xfrm>
            <a:off x="5861489" y="1977925"/>
            <a:ext cx="2619375" cy="17430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26"/>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Sakana AI Paper on Self-Improving AI</a:t>
            </a:r>
            <a:endParaRPr sz="2000" b="1">
              <a:solidFill>
                <a:schemeClr val="dk1"/>
              </a:solidFill>
              <a:latin typeface="Calibri"/>
              <a:ea typeface="Calibri"/>
              <a:cs typeface="Calibri"/>
              <a:sym typeface="Calibri"/>
            </a:endParaRPr>
          </a:p>
        </p:txBody>
      </p:sp>
      <p:sp>
        <p:nvSpPr>
          <p:cNvPr id="242" name="Google Shape;242;p26"/>
          <p:cNvSpPr txBox="1"/>
          <p:nvPr/>
        </p:nvSpPr>
        <p:spPr>
          <a:xfrm>
            <a:off x="55075" y="455275"/>
            <a:ext cx="44652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Sakana AI Paper on Self-Improving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New paper demonstrate recursively self-improving AI through a game called Core War, created in 1984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https://arxiv.org/abs/2601.03335v1</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https://www.youtube.com/watch?v=-EgTYDKtEw8</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Core War is a programming game where players write assembly code for autonomous "warrior" programs that battle for control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Sakana AI's </a:t>
            </a:r>
            <a:r>
              <a:rPr lang="en" sz="1200" b="1">
                <a:solidFill>
                  <a:srgbClr val="FF0000"/>
                </a:solidFill>
                <a:latin typeface="Calibri"/>
                <a:ea typeface="Calibri"/>
                <a:cs typeface="Calibri"/>
                <a:sym typeface="Calibri"/>
              </a:rPr>
              <a:t>"Digital Red Queen" (DRQ)</a:t>
            </a:r>
            <a:r>
              <a:rPr lang="en" sz="1200">
                <a:latin typeface="Calibri"/>
                <a:ea typeface="Calibri"/>
                <a:cs typeface="Calibri"/>
                <a:sym typeface="Calibri"/>
              </a:rPr>
              <a:t> algorithm uses LLMs in a self-play evolutionary loop where AI-generated warriors continuously battle each other without ever seeing human-created strategies. The name references the </a:t>
            </a:r>
            <a:r>
              <a:rPr lang="en" sz="1200" b="1">
                <a:solidFill>
                  <a:srgbClr val="3C78D8"/>
                </a:solidFill>
                <a:latin typeface="Calibri"/>
                <a:ea typeface="Calibri"/>
                <a:cs typeface="Calibri"/>
                <a:sym typeface="Calibri"/>
              </a:rPr>
              <a:t>Red Queen Hypothesis from evolutionary biology</a:t>
            </a:r>
            <a:r>
              <a:rPr lang="en" sz="1200">
                <a:latin typeface="Calibri"/>
                <a:ea typeface="Calibri"/>
                <a:cs typeface="Calibri"/>
                <a:sym typeface="Calibri"/>
              </a:rPr>
              <a:t>, which states organisms must constantly evolve just to maintain survival against changing competitors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After approximately 250 iterations of evolution, </a:t>
            </a:r>
            <a:r>
              <a:rPr lang="en" sz="1200" b="1">
                <a:solidFill>
                  <a:srgbClr val="FF0000"/>
                </a:solidFill>
                <a:latin typeface="Calibri"/>
                <a:ea typeface="Calibri"/>
                <a:cs typeface="Calibri"/>
                <a:sym typeface="Calibri"/>
              </a:rPr>
              <a:t>the AI-generated warriors beat human champions</a:t>
            </a:r>
            <a:r>
              <a:rPr lang="en" sz="1200">
                <a:latin typeface="Calibri"/>
                <a:ea typeface="Calibri"/>
                <a:cs typeface="Calibri"/>
                <a:sym typeface="Calibri"/>
              </a:rPr>
              <a:t> despite never encountering human strategies during training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LLMs independently discovered the same meta strategies humans took decades to develop, including effective bombing patterns and self-replication techniques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Different AI runs showed convergent evolution, starting from completely different conditions but arriving at similar high performing behaviors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AI demonstrated an intuitive understanding of code lethality, predicting warrior effectiveness just by analyzing code without executing it</a:t>
            </a:r>
            <a:endParaRPr sz="1200">
              <a:latin typeface="Calibri"/>
              <a:ea typeface="Calibri"/>
              <a:cs typeface="Calibri"/>
              <a:sym typeface="Calibri"/>
            </a:endParaRPr>
          </a:p>
        </p:txBody>
      </p:sp>
      <p:sp>
        <p:nvSpPr>
          <p:cNvPr id="243" name="Google Shape;243;p26"/>
          <p:cNvSpPr txBox="1"/>
          <p:nvPr/>
        </p:nvSpPr>
        <p:spPr>
          <a:xfrm>
            <a:off x="4630675" y="2080175"/>
            <a:ext cx="4465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research demonstrates that AI improves faster through adversarial self-play in open-ended environments rather than memorizing textbooks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same approach could advance cybersecurity by discovering real-world computer viruses and defense mechanisms through self-play rather than training on existing threats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Unlike previous AI game achievements (Chess, Go), Core War's Turing-complete environment represents unlimited strategic complexity more similar to real-world programming challenges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research is open-source on GitHub with visualizations available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https://sakana.ai/drq/</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https://www.linkedin.com/posts/sakana-ai_introducing-digital-red-queen-drq-adversarial-activity-7415218635578757120-esoB</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https://en.wikipedia.org/wiki/Core_War</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44" name="Google Shape;244;p2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002600" y="551500"/>
            <a:ext cx="2093275" cy="1455075"/>
          </a:xfrm>
          <a:prstGeom prst="rect">
            <a:avLst/>
          </a:prstGeom>
          <a:noFill/>
          <a:ln>
            <a:noFill/>
          </a:ln>
        </p:spPr>
      </p:pic>
      <p:pic>
        <p:nvPicPr>
          <p:cNvPr id="245" name="Google Shape;245;p2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778401" y="1029574"/>
            <a:ext cx="1966075" cy="3264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27"/>
          <p:cNvSpPr txBox="1"/>
          <p:nvPr/>
        </p:nvSpPr>
        <p:spPr>
          <a:xfrm>
            <a:off x="55075" y="43025"/>
            <a:ext cx="3418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Buying a Humanoid Robot ?</a:t>
            </a:r>
            <a:endParaRPr sz="2000" b="1">
              <a:solidFill>
                <a:schemeClr val="dk1"/>
              </a:solidFill>
              <a:latin typeface="Calibri"/>
              <a:ea typeface="Calibri"/>
              <a:cs typeface="Calibri"/>
              <a:sym typeface="Calibri"/>
            </a:endParaRPr>
          </a:p>
        </p:txBody>
      </p:sp>
      <p:sp>
        <p:nvSpPr>
          <p:cNvPr id="251" name="Google Shape;251;p27"/>
          <p:cNvSpPr txBox="1"/>
          <p:nvPr/>
        </p:nvSpPr>
        <p:spPr>
          <a:xfrm>
            <a:off x="55075" y="455275"/>
            <a:ext cx="44652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Is it worth buying a humanoid robot?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G1 humanoid price: $16K base, $49K .. $95K - higher end models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https://top3dshop.com/robots/unitree-robotics-robots/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Too much headache - </a:t>
            </a:r>
            <a:r>
              <a:rPr lang="en" sz="1200" u="sng">
                <a:solidFill>
                  <a:schemeClr val="hlink"/>
                </a:solidFill>
                <a:latin typeface="Calibri"/>
                <a:ea typeface="Calibri"/>
                <a:cs typeface="Calibri"/>
                <a:sym typeface="Calibri"/>
                <a:hlinkClick r:id="rId4"/>
              </a:rPr>
              <a:t>https://www.youtube.com/@sentdex</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52" name="Google Shape;252;p27"/>
          <p:cNvPicPr preferRelativeResize="0"/>
          <p:nvPr/>
        </p:nvPicPr>
        <p:blipFill>
          <a:blip r:embed="rId5">
            <a:alphaModFix/>
          </a:blip>
          <a:stretch>
            <a:fillRect/>
          </a:stretch>
        </p:blipFill>
        <p:spPr>
          <a:xfrm>
            <a:off x="55075" y="1524775"/>
            <a:ext cx="2847975" cy="1600200"/>
          </a:xfrm>
          <a:prstGeom prst="rect">
            <a:avLst/>
          </a:prstGeom>
          <a:noFill/>
          <a:ln w="9525" cap="flat" cmpd="sng">
            <a:solidFill>
              <a:srgbClr val="FF0000"/>
            </a:solidFill>
            <a:prstDash val="solid"/>
            <a:round/>
            <a:headEnd type="none" w="sm" len="sm"/>
            <a:tailEnd type="none" w="sm" len="sm"/>
          </a:ln>
        </p:spPr>
      </p:pic>
      <p:pic>
        <p:nvPicPr>
          <p:cNvPr id="253" name="Google Shape;253;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989093" y="1524775"/>
            <a:ext cx="2137860" cy="1600200"/>
          </a:xfrm>
          <a:prstGeom prst="rect">
            <a:avLst/>
          </a:prstGeom>
          <a:noFill/>
          <a:ln w="9525" cap="flat" cmpd="sng">
            <a:solidFill>
              <a:srgbClr val="FF0000"/>
            </a:solidFill>
            <a:prstDash val="solid"/>
            <a:round/>
            <a:headEnd type="none" w="sm" len="sm"/>
            <a:tailEnd type="none" w="sm" len="sm"/>
          </a:ln>
        </p:spPr>
      </p:pic>
      <p:pic>
        <p:nvPicPr>
          <p:cNvPr id="254" name="Google Shape;254;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5075" y="3171055"/>
            <a:ext cx="2847977" cy="1892223"/>
          </a:xfrm>
          <a:prstGeom prst="rect">
            <a:avLst/>
          </a:prstGeom>
          <a:noFill/>
          <a:ln w="9525" cap="flat" cmpd="sng">
            <a:solidFill>
              <a:srgbClr val="FF0000"/>
            </a:solidFill>
            <a:prstDash val="solid"/>
            <a:round/>
            <a:headEnd type="none" w="sm" len="sm"/>
            <a:tailEnd type="none" w="sm" len="sm"/>
          </a:ln>
        </p:spPr>
      </p:pic>
      <p:pic>
        <p:nvPicPr>
          <p:cNvPr id="255" name="Google Shape;255;p2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2989093" y="3171055"/>
            <a:ext cx="3222022" cy="1892225"/>
          </a:xfrm>
          <a:prstGeom prst="rect">
            <a:avLst/>
          </a:prstGeom>
          <a:noFill/>
          <a:ln w="9525" cap="flat" cmpd="sng">
            <a:solidFill>
              <a:srgbClr val="FF0000"/>
            </a:solidFill>
            <a:prstDash val="solid"/>
            <a:round/>
            <a:headEnd type="none" w="sm" len="sm"/>
            <a:tailEnd type="none" w="sm" len="sm"/>
          </a:ln>
        </p:spPr>
      </p:pic>
      <p:pic>
        <p:nvPicPr>
          <p:cNvPr id="256" name="Google Shape;256;p27"/>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213002" y="693675"/>
            <a:ext cx="3712248" cy="243129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28"/>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Demystifying evals for AI agents</a:t>
            </a:r>
            <a:endParaRPr sz="2000" b="1">
              <a:solidFill>
                <a:schemeClr val="dk1"/>
              </a:solidFill>
              <a:latin typeface="Calibri"/>
              <a:ea typeface="Calibri"/>
              <a:cs typeface="Calibri"/>
              <a:sym typeface="Calibri"/>
            </a:endParaRPr>
          </a:p>
        </p:txBody>
      </p:sp>
      <p:sp>
        <p:nvSpPr>
          <p:cNvPr id="262" name="Google Shape;262;p28"/>
          <p:cNvSpPr txBox="1"/>
          <p:nvPr/>
        </p:nvSpPr>
        <p:spPr>
          <a:xfrm>
            <a:off x="55075" y="455275"/>
            <a:ext cx="4465200" cy="3112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Demystifying evals for AI agents - Anthropic Post</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https://www.anthropic.com/engineering/demystifying-evals-for-ai-agents</a:t>
            </a:r>
            <a:r>
              <a:rPr lang="en" sz="9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Effective evaluations are essential for shipping AI agents confidently - without them, teams get stuck fixing issues reactively in production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Evals make problems visible before they affect users, with value that compounds over the agent lifecycle.</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An evaluation consists of:</a:t>
            </a:r>
            <a:endParaRPr sz="1200" b="1">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tasks (test cases),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trials (repeated runs due to non-determinism),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graders (scoring logic),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transcripts (complete interaction records),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outcomes (final environment state),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evaluation harnesses (infrastructure running the tests)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Three grader types are used: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code-based (fast, objective, verifying specific conditions),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model-based (flexible, handling nuanced judgments),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human (authoritative but slow)</a:t>
            </a:r>
            <a:endParaRPr sz="1200">
              <a:latin typeface="Calibri"/>
              <a:ea typeface="Calibri"/>
              <a:cs typeface="Calibri"/>
              <a:sym typeface="Calibri"/>
            </a:endParaRPr>
          </a:p>
        </p:txBody>
      </p:sp>
      <p:sp>
        <p:nvSpPr>
          <p:cNvPr id="263" name="Google Shape;263;p28"/>
          <p:cNvSpPr txBox="1"/>
          <p:nvPr/>
        </p:nvSpPr>
        <p:spPr>
          <a:xfrm>
            <a:off x="4611143" y="2464461"/>
            <a:ext cx="4465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Different agent types require tailored approaches. </a:t>
            </a:r>
            <a:endParaRPr sz="1200">
              <a:solidFill>
                <a:srgbClr val="3C78D8"/>
              </a:solidFill>
              <a:latin typeface="Calibri"/>
              <a:ea typeface="Calibri"/>
              <a:cs typeface="Calibri"/>
              <a:sym typeface="Calibri"/>
            </a:endParaRPr>
          </a:p>
          <a:p>
            <a:pPr marL="40005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Coding agents use deterministic tests like unit tests. </a:t>
            </a:r>
            <a:endParaRPr sz="1200">
              <a:solidFill>
                <a:srgbClr val="3C78D8"/>
              </a:solidFill>
              <a:latin typeface="Calibri"/>
              <a:ea typeface="Calibri"/>
              <a:cs typeface="Calibri"/>
              <a:sym typeface="Calibri"/>
            </a:endParaRPr>
          </a:p>
          <a:p>
            <a:pPr marL="40005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Conversational agents need multidimensional rubrics covering task completion and interaction quality. </a:t>
            </a:r>
            <a:endParaRPr sz="1200">
              <a:solidFill>
                <a:srgbClr val="3C78D8"/>
              </a:solidFill>
              <a:latin typeface="Calibri"/>
              <a:ea typeface="Calibri"/>
              <a:cs typeface="Calibri"/>
              <a:sym typeface="Calibri"/>
            </a:endParaRPr>
          </a:p>
          <a:p>
            <a:pPr marL="40005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Research agents combine groundedness checks, coverage verification, and source quality assessment. </a:t>
            </a:r>
            <a:endParaRPr sz="1200">
              <a:solidFill>
                <a:srgbClr val="3C78D8"/>
              </a:solidFill>
              <a:latin typeface="Calibri"/>
              <a:ea typeface="Calibri"/>
              <a:cs typeface="Calibri"/>
              <a:sym typeface="Calibri"/>
            </a:endParaRPr>
          </a:p>
          <a:p>
            <a:pPr marL="40005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Computer use agents verify outcomes in sandboxed GUI environments.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Teams should start early with 20-50 real-world failure cases, write unambiguous tasks with reference solutions, build balanced problem sets, design robust harnesses with stable environments, and continuously read transcripts to validate graders.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Evals work best alongside production monitoring, A/B testing, and user feedback for a complete performance picture.</a:t>
            </a:r>
            <a:endParaRPr sz="1200">
              <a:latin typeface="Calibri"/>
              <a:ea typeface="Calibri"/>
              <a:cs typeface="Calibri"/>
              <a:sym typeface="Calibri"/>
            </a:endParaRPr>
          </a:p>
        </p:txBody>
      </p:sp>
      <p:pic>
        <p:nvPicPr>
          <p:cNvPr id="264" name="Google Shape;264;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075" y="3653325"/>
            <a:ext cx="1386971" cy="1391951"/>
          </a:xfrm>
          <a:prstGeom prst="rect">
            <a:avLst/>
          </a:prstGeom>
          <a:noFill/>
          <a:ln w="9525" cap="flat" cmpd="sng">
            <a:solidFill>
              <a:srgbClr val="FF0000"/>
            </a:solidFill>
            <a:prstDash val="solid"/>
            <a:round/>
            <a:headEnd type="none" w="sm" len="sm"/>
            <a:tailEnd type="none" w="sm" len="sm"/>
          </a:ln>
        </p:spPr>
      </p:pic>
      <p:pic>
        <p:nvPicPr>
          <p:cNvPr id="265" name="Google Shape;265;p28"/>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622875" y="147631"/>
            <a:ext cx="4465198" cy="222314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29"/>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71" name="Google Shape;271;p29"/>
          <p:cNvSpPr txBox="1"/>
          <p:nvPr/>
        </p:nvSpPr>
        <p:spPr>
          <a:xfrm>
            <a:off x="55075" y="455275"/>
            <a:ext cx="4292100" cy="429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Meta Nuclear Power for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Meta signed nuclear power agreements with TerraPower, Oklo, and Vistra to supply up to 6.6 gigawatts of power by 2035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deals will support Meta's Prometheus AI data center in New Albany, Ohio, which is planned as a 1-gigawatt cluster anticipated to come online in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Vistra agreement is a 20-year deal providing over 2.1 gigawatts from existing nuclear plants in Ohio (Perry and Davis-Besse) and Pennsylvania (Beaver Valley), plus an additional 433 megawatts from planned upgrades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TerraPower partnership will fund development of two Natrium sodium fast reactors delivering up to 690 megawatts starting in 2032, with rights to six additional units providing 2.1 gigawatts by 2035.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Oklo agreement supports development of a 1.2-gigawatt power campus in Pike County, Ohio, with the first phase targeting 2030 and full capacity by 2034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agreements make Meta one of the largest corporate nuclear energy buyers in U.S. history</a:t>
            </a:r>
            <a:endParaRPr sz="12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https://www.utilitydive.com/news/meta-nuclear-deal-oklo-vistra-terrapower-ai-data-centers/809215/</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https://www.cbsnews.com/news/meta-nuclear-power-deals-ai-data-centers/</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https://techcrunch.com/2026/01/09/meta-signs-deals-with-three-nuclear-companies-for-6-plus-gw-of-power/</a:t>
            </a:r>
            <a:r>
              <a:rPr lang="en" sz="1000">
                <a:latin typeface="Calibri"/>
                <a:ea typeface="Calibri"/>
                <a:cs typeface="Calibri"/>
                <a:sym typeface="Calibri"/>
              </a:rPr>
              <a:t> </a:t>
            </a:r>
            <a:endParaRPr sz="1000">
              <a:latin typeface="Calibri"/>
              <a:ea typeface="Calibri"/>
              <a:cs typeface="Calibri"/>
              <a:sym typeface="Calibri"/>
            </a:endParaRPr>
          </a:p>
        </p:txBody>
      </p:sp>
      <p:sp>
        <p:nvSpPr>
          <p:cNvPr id="272" name="Google Shape;272;p29"/>
          <p:cNvSpPr txBox="1"/>
          <p:nvPr/>
        </p:nvSpPr>
        <p:spPr>
          <a:xfrm>
            <a:off x="4614950" y="2302375"/>
            <a:ext cx="44652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DeepSeek V4 planned mid-February</a:t>
            </a:r>
            <a:r>
              <a:rPr lang="en" sz="1200">
                <a:solidFill>
                  <a:schemeClr val="dk1"/>
                </a:solidFill>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around Chinese New Year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V4 focuses specifically on coding capabilities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particularly excels at handling extremely long coding prompts and maintaining logical consistency across complex software engineering tasks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There are also indications that V4 may integrate reasoning capabilities previously associated with a rumored DeepSeek R2 model, enabling more efficient logical processing alongside code generation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https://www.theverge.com/news/859564/deepseek-is-reportedly-close-to-releasing-a-flagship-ai-model-that-outperforms-claude-and-chatgpt-in-coding</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https://www.reuters.com/technology/deepseek-launch-new-ai-model-focused-coding-february-information-reports-2026-01-09/</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73" name="Google Shape;273;p2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432197" y="105822"/>
            <a:ext cx="1389400" cy="1735025"/>
          </a:xfrm>
          <a:prstGeom prst="rect">
            <a:avLst/>
          </a:prstGeom>
          <a:noFill/>
          <a:ln w="9525" cap="flat" cmpd="sng">
            <a:solidFill>
              <a:srgbClr val="FF0000"/>
            </a:solidFill>
            <a:prstDash val="solid"/>
            <a:round/>
            <a:headEnd type="none" w="sm" len="sm"/>
            <a:tailEnd type="none" w="sm" len="sm"/>
          </a:ln>
        </p:spPr>
      </p:pic>
      <p:pic>
        <p:nvPicPr>
          <p:cNvPr id="274" name="Google Shape;274;p2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928525" y="1568325"/>
            <a:ext cx="2151625" cy="653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30"/>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SurfSense Open Source Notebook</a:t>
            </a:r>
            <a:endParaRPr sz="2000" b="1">
              <a:solidFill>
                <a:schemeClr val="dk1"/>
              </a:solidFill>
              <a:latin typeface="Calibri"/>
              <a:ea typeface="Calibri"/>
              <a:cs typeface="Calibri"/>
              <a:sym typeface="Calibri"/>
            </a:endParaRPr>
          </a:p>
        </p:txBody>
      </p:sp>
      <p:sp>
        <p:nvSpPr>
          <p:cNvPr id="280" name="Google Shape;280;p30"/>
          <p:cNvSpPr txBox="1"/>
          <p:nvPr/>
        </p:nvSpPr>
        <p:spPr>
          <a:xfrm>
            <a:off x="55075" y="455275"/>
            <a:ext cx="36525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SurfSense - open-source alternative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to Google Notebook LM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connects to multiple platforms including Slack, Notion, GitHub, Gmail, Google Drive, YouTube, Jira, and ClickUp - users can search across all their knowledge sources simultaneously.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Uses hybrid search (semantic and full-text)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Supports 100+ AI models (GPT-4, Claude, local options)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Complete data privacy through self-hosting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Multi-account support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Can generate podcasts from content in under 20 seconds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Available via hosted version at surfsense.com, Docker self-hosting, or manual Docker Compose setup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https://www.futuretools.io/tools/surfsense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https://www.surfsense.com</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https://www.surfsense.com/pricing</a:t>
            </a:r>
            <a:r>
              <a:rPr lang="en" sz="1200">
                <a:latin typeface="Calibri"/>
                <a:ea typeface="Calibri"/>
                <a:cs typeface="Calibri"/>
                <a:sym typeface="Calibri"/>
              </a:rPr>
              <a:t>  - FREE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https://github.com/MODSetter/SurfSense</a:t>
            </a:r>
            <a:r>
              <a:rPr lang="en" sz="1200">
                <a:latin typeface="Calibri"/>
                <a:ea typeface="Calibri"/>
                <a:cs typeface="Calibri"/>
                <a:sym typeface="Calibri"/>
              </a:rPr>
              <a:t>  - 12K+ stars</a:t>
            </a:r>
            <a:endParaRPr sz="1200">
              <a:latin typeface="Calibri"/>
              <a:ea typeface="Calibri"/>
              <a:cs typeface="Calibri"/>
              <a:sym typeface="Calibri"/>
            </a:endParaRPr>
          </a:p>
        </p:txBody>
      </p:sp>
      <p:pic>
        <p:nvPicPr>
          <p:cNvPr id="281" name="Google Shape;281;p3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341100" y="386663"/>
            <a:ext cx="1760750" cy="635825"/>
          </a:xfrm>
          <a:prstGeom prst="rect">
            <a:avLst/>
          </a:prstGeom>
          <a:noFill/>
          <a:ln w="9525" cap="flat" cmpd="sng">
            <a:solidFill>
              <a:srgbClr val="FF0000"/>
            </a:solidFill>
            <a:prstDash val="solid"/>
            <a:round/>
            <a:headEnd type="none" w="sm" len="sm"/>
            <a:tailEnd type="none" w="sm" len="sm"/>
          </a:ln>
        </p:spPr>
      </p:pic>
      <p:sp>
        <p:nvSpPr>
          <p:cNvPr id="282" name="Google Shape;282;p30"/>
          <p:cNvSpPr txBox="1"/>
          <p:nvPr/>
        </p:nvSpPr>
        <p:spPr>
          <a:xfrm>
            <a:off x="6775325" y="1333223"/>
            <a:ext cx="2286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Apple Picked Gemini for Siri: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"After careful evaluation, we determined that Google’s technology provides the most capable foundation for Apple Foundation Models"</a:t>
            </a:r>
            <a:endParaRPr sz="1200">
              <a:solidFill>
                <a:srgbClr val="3C78D8"/>
              </a:solidFill>
              <a:latin typeface="Calibri"/>
              <a:ea typeface="Calibri"/>
              <a:cs typeface="Calibri"/>
              <a:sym typeface="Calibri"/>
            </a:endParaRPr>
          </a:p>
        </p:txBody>
      </p:sp>
      <p:pic>
        <p:nvPicPr>
          <p:cNvPr id="283" name="Google Shape;283;p3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933400" y="125275"/>
            <a:ext cx="2128575" cy="1158600"/>
          </a:xfrm>
          <a:prstGeom prst="rect">
            <a:avLst/>
          </a:prstGeom>
          <a:noFill/>
          <a:ln w="9525" cap="flat" cmpd="sng">
            <a:solidFill>
              <a:srgbClr val="FF0000"/>
            </a:solidFill>
            <a:prstDash val="solid"/>
            <a:round/>
            <a:headEnd type="none" w="sm" len="sm"/>
            <a:tailEnd type="none" w="sm" len="sm"/>
          </a:ln>
        </p:spPr>
      </p:pic>
      <p:sp>
        <p:nvSpPr>
          <p:cNvPr id="284" name="Google Shape;284;p30"/>
          <p:cNvSpPr txBox="1"/>
          <p:nvPr/>
        </p:nvSpPr>
        <p:spPr>
          <a:xfrm>
            <a:off x="5409425" y="3379500"/>
            <a:ext cx="36525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Pentagon to integrate Grok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Secretary of Defense Pete Hegseth announced on Monday that Elon Musk's xAI platform, Grok, will integrate into military networks later this month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Speaking at SpaceX headquarters, Hegseth unveiled a new strategy to accelerate AI deployment across classified and unclassified systems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Hegseth says the move aims to eliminate bureaucratic barriers and maintain a technological lead in warfare.</a:t>
            </a:r>
            <a:endParaRPr sz="1200">
              <a:latin typeface="Calibri"/>
              <a:ea typeface="Calibri"/>
              <a:cs typeface="Calibri"/>
              <a:sym typeface="Calibri"/>
            </a:endParaRPr>
          </a:p>
        </p:txBody>
      </p:sp>
      <p:pic>
        <p:nvPicPr>
          <p:cNvPr id="285" name="Google Shape;285;p30"/>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277400" y="1900528"/>
            <a:ext cx="2128573" cy="141903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31"/>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AI Tools Updates</a:t>
            </a:r>
            <a:endParaRPr sz="2000" b="1">
              <a:solidFill>
                <a:schemeClr val="dk1"/>
              </a:solidFill>
              <a:latin typeface="Calibri"/>
              <a:ea typeface="Calibri"/>
              <a:cs typeface="Calibri"/>
              <a:sym typeface="Calibri"/>
            </a:endParaRPr>
          </a:p>
        </p:txBody>
      </p:sp>
      <p:sp>
        <p:nvSpPr>
          <p:cNvPr id="291" name="Google Shape;291;p31"/>
          <p:cNvSpPr txBox="1"/>
          <p:nvPr/>
        </p:nvSpPr>
        <p:spPr>
          <a:xfrm>
            <a:off x="55075" y="2210946"/>
            <a:ext cx="44616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Google Pomelli - create static and animated posts</a:t>
            </a:r>
            <a:br>
              <a:rPr lang="en" sz="1200">
                <a:latin typeface="Calibri"/>
                <a:ea typeface="Calibri"/>
                <a:cs typeface="Calibri"/>
                <a:sym typeface="Calibri"/>
              </a:rPr>
            </a:br>
            <a:r>
              <a:rPr lang="en" sz="12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https://labs.google.com/pomelli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beta now, free AI tool for business owners and marketers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can create </a:t>
            </a:r>
            <a:r>
              <a:rPr lang="en" sz="1200">
                <a:solidFill>
                  <a:schemeClr val="dk1"/>
                </a:solidFill>
                <a:latin typeface="Calibri"/>
                <a:ea typeface="Calibri"/>
                <a:cs typeface="Calibri"/>
                <a:sym typeface="Calibri"/>
              </a:rPr>
              <a:t>social media posts, ad graphics, and images with text that automatically match your brand profile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can turn static social posts or product photos into animated videos with motion, audio, and effects - using Google Veo 3.1 model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can analyze your website's URL to extract brand colors, fonts, and tone </a:t>
            </a:r>
            <a:r>
              <a:rPr lang="en" sz="1200" u="sng">
                <a:solidFill>
                  <a:schemeClr val="hlink"/>
                </a:solidFill>
                <a:latin typeface="Calibri"/>
                <a:ea typeface="Calibri"/>
                <a:cs typeface="Calibri"/>
                <a:sym typeface="Calibri"/>
                <a:hlinkClick r:id="rId4"/>
              </a:rPr>
              <a:t>http://www.youtube.com/watch?v=5sn-XHpaIxo</a:t>
            </a:r>
            <a:r>
              <a:rPr lang="en" sz="1200">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Users can select different motion styles such as cinematic, pan, zoom, fade, or dynamic action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tool understands depth, lighting, and camera motion to create professional-level parallax effects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tool allows to generate and animate a month’s worth of social media content in roughly an hour</a:t>
            </a:r>
            <a:endParaRPr sz="1200">
              <a:latin typeface="Calibri"/>
              <a:ea typeface="Calibri"/>
              <a:cs typeface="Calibri"/>
              <a:sym typeface="Calibri"/>
            </a:endParaRPr>
          </a:p>
        </p:txBody>
      </p:sp>
      <p:pic>
        <p:nvPicPr>
          <p:cNvPr id="292" name="Google Shape;292;p3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69075" y="2303346"/>
            <a:ext cx="4185942" cy="2604300"/>
          </a:xfrm>
          <a:prstGeom prst="rect">
            <a:avLst/>
          </a:prstGeom>
          <a:noFill/>
          <a:ln w="9525" cap="flat" cmpd="sng">
            <a:solidFill>
              <a:srgbClr val="FF0000"/>
            </a:solidFill>
            <a:prstDash val="solid"/>
            <a:round/>
            <a:headEnd type="none" w="sm" len="sm"/>
            <a:tailEnd type="none" w="sm" len="sm"/>
          </a:ln>
        </p:spPr>
      </p:pic>
      <p:sp>
        <p:nvSpPr>
          <p:cNvPr id="293" name="Google Shape;293;p31"/>
          <p:cNvSpPr txBox="1"/>
          <p:nvPr/>
        </p:nvSpPr>
        <p:spPr>
          <a:xfrm>
            <a:off x="55075" y="678025"/>
            <a:ext cx="44616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AI Tools Updates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File size limit increased from 20MB to 100MB (upload or API)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Can read files from S3 or Azure URLs, or register </a:t>
            </a:r>
            <a:r>
              <a:rPr lang="en" sz="1200">
                <a:solidFill>
                  <a:schemeClr val="dk1"/>
                </a:solidFill>
                <a:latin typeface="Calibri"/>
                <a:ea typeface="Calibri"/>
                <a:cs typeface="Calibri"/>
                <a:sym typeface="Calibri"/>
              </a:rPr>
              <a:t>files from GCS buckets to get a persistent URI for repeated analysis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Can summarize youtube video from a given URL</a:t>
            </a:r>
            <a:endParaRPr sz="1200" b="1">
              <a:solidFill>
                <a:srgbClr val="3C78D8"/>
              </a:solidFill>
              <a:latin typeface="Calibri"/>
              <a:ea typeface="Calibri"/>
              <a:cs typeface="Calibri"/>
              <a:sym typeface="Calibri"/>
            </a:endParaRPr>
          </a:p>
        </p:txBody>
      </p:sp>
      <p:pic>
        <p:nvPicPr>
          <p:cNvPr id="294" name="Google Shape;294;p31"/>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669075" y="303650"/>
            <a:ext cx="2673101" cy="16907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32"/>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00" name="Google Shape;300;p32"/>
          <p:cNvSpPr txBox="1"/>
          <p:nvPr/>
        </p:nvSpPr>
        <p:spPr>
          <a:xfrm>
            <a:off x="55075" y="455275"/>
            <a:ext cx="36525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Unlock "Infinite" AI Memory With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https://www.youtube.com/watch?v=H-uwnpmziGA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Idea - keep memory externally.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files:</a:t>
            </a:r>
            <a:endParaRPr sz="1200">
              <a:latin typeface="Calibri"/>
              <a:ea typeface="Calibri"/>
              <a:cs typeface="Calibri"/>
              <a:sym typeface="Calibri"/>
            </a:endParaRPr>
          </a:p>
          <a:p>
            <a:pPr marL="5715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Context File - primary goal</a:t>
            </a:r>
            <a:endParaRPr sz="1200">
              <a:latin typeface="Calibri"/>
              <a:ea typeface="Calibri"/>
              <a:cs typeface="Calibri"/>
              <a:sym typeface="Calibri"/>
            </a:endParaRPr>
          </a:p>
          <a:p>
            <a:pPr marL="5715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To-Dos File - track progress (check list)</a:t>
            </a:r>
            <a:endParaRPr sz="1200">
              <a:latin typeface="Calibri"/>
              <a:ea typeface="Calibri"/>
              <a:cs typeface="Calibri"/>
              <a:sym typeface="Calibri"/>
            </a:endParaRPr>
          </a:p>
          <a:p>
            <a:pPr marL="5715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Insights File - output</a:t>
            </a:r>
            <a:endParaRPr sz="1200">
              <a:latin typeface="Calibri"/>
              <a:ea typeface="Calibri"/>
              <a:cs typeface="Calibri"/>
              <a:sym typeface="Calibri"/>
            </a:endParaRPr>
          </a:p>
        </p:txBody>
      </p:sp>
      <p:pic>
        <p:nvPicPr>
          <p:cNvPr id="301" name="Google Shape;301;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872925" y="278288"/>
            <a:ext cx="3448275" cy="1488275"/>
          </a:xfrm>
          <a:prstGeom prst="rect">
            <a:avLst/>
          </a:prstGeom>
          <a:noFill/>
          <a:ln w="9525" cap="flat" cmpd="sng">
            <a:solidFill>
              <a:srgbClr val="FF0000"/>
            </a:solidFill>
            <a:prstDash val="solid"/>
            <a:round/>
            <a:headEnd type="none" w="sm" len="sm"/>
            <a:tailEnd type="none" w="sm" len="sm"/>
          </a:ln>
        </p:spPr>
      </p:pic>
      <p:sp>
        <p:nvSpPr>
          <p:cNvPr id="302" name="Google Shape;302;p32"/>
          <p:cNvSpPr txBox="1"/>
          <p:nvPr/>
        </p:nvSpPr>
        <p:spPr>
          <a:xfrm>
            <a:off x="55075" y="2136900"/>
            <a:ext cx="5374200" cy="288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Co-Work - a Desktop AI agent that works with your files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Currently only available in a Mac desktop app for Claude Max plan subscribers</a:t>
            </a:r>
            <a:br>
              <a:rPr lang="en" sz="1200" b="1">
                <a:solidFill>
                  <a:srgbClr val="3C78D8"/>
                </a:solidFill>
                <a:latin typeface="Calibri"/>
                <a:ea typeface="Calibri"/>
                <a:cs typeface="Calibri"/>
                <a:sym typeface="Calibri"/>
              </a:rPr>
            </a:br>
            <a:r>
              <a:rPr lang="en" sz="1200" b="1" u="sng">
                <a:solidFill>
                  <a:schemeClr val="hlink"/>
                </a:solidFill>
                <a:latin typeface="Calibri"/>
                <a:ea typeface="Calibri"/>
                <a:cs typeface="Calibri"/>
                <a:sym typeface="Calibri"/>
                <a:hlinkClick r:id="rId5"/>
              </a:rPr>
              <a:t>https://claude.com/download</a:t>
            </a:r>
            <a:r>
              <a:rPr lang="en" sz="1200" b="1">
                <a:solidFill>
                  <a:srgbClr val="3C78D8"/>
                </a:solidFill>
                <a:latin typeface="Calibri"/>
                <a:ea typeface="Calibri"/>
                <a:cs typeface="Calibri"/>
                <a:sym typeface="Calibri"/>
              </a:rPr>
              <a:t> </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allows Claude to work autonomously on complex tasks using your local files, web browsing, and extended reasoning capabilities.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You can describe a complex task, give it access to a folder on your computer, and step away while it independently plans and executes multi-step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Cowork can read, modify, and generate local files without manual uploads, create professional outputs like Excel spreadsheets with formulas and PowerPoint presentations, and coordinate multiple parallel workstreams for complex tasks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Cowork built into the Claude Desktop app for macOS</a:t>
            </a:r>
            <a:r>
              <a:rPr lang="en" sz="1200">
                <a:solidFill>
                  <a:schemeClr val="dk1"/>
                </a:solidFill>
                <a:latin typeface="Calibri"/>
                <a:ea typeface="Calibri"/>
                <a:cs typeface="Calibri"/>
                <a:sym typeface="Calibri"/>
              </a:rPr>
              <a:t>. It </a:t>
            </a:r>
            <a:r>
              <a:rPr lang="en" sz="1200">
                <a:latin typeface="Calibri"/>
                <a:ea typeface="Calibri"/>
                <a:cs typeface="Calibri"/>
                <a:sym typeface="Calibri"/>
              </a:rPr>
              <a:t>runs in an isolated environment on your desktop and provides progress indicators so you can monitor or steer the work mid-task</a:t>
            </a:r>
            <a:endParaRPr sz="12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6"/>
              </a:rPr>
              <a:t>https://support.claude.com/en/articles/13345190-getting-started-with-cowork</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7"/>
              </a:rPr>
              <a:t>https://venturebeat.com/technology/anthropic-launches-cowork-a-claude-desktop-agent-that-works-in-your-files-no</a:t>
            </a:r>
            <a:r>
              <a:rPr lang="en" sz="1000">
                <a:latin typeface="Calibri"/>
                <a:ea typeface="Calibri"/>
                <a:cs typeface="Calibri"/>
                <a:sym typeface="Calibri"/>
              </a:rPr>
              <a:t> </a:t>
            </a:r>
            <a:endParaRPr sz="1000">
              <a:latin typeface="Calibri"/>
              <a:ea typeface="Calibri"/>
              <a:cs typeface="Calibri"/>
              <a:sym typeface="Calibri"/>
            </a:endParaRPr>
          </a:p>
        </p:txBody>
      </p:sp>
      <p:pic>
        <p:nvPicPr>
          <p:cNvPr id="303" name="Google Shape;303;p32"/>
          <p:cNvPicPr preferRelativeResize="0"/>
          <p:nvPr/>
        </p:nvPicPr>
        <p:blipFill>
          <a:blip r:embed="rId8">
            <a:alphaModFix/>
          </a:blip>
          <a:stretch>
            <a:fillRect/>
          </a:stretch>
        </p:blipFill>
        <p:spPr>
          <a:xfrm>
            <a:off x="5565300" y="2136902"/>
            <a:ext cx="2307496" cy="2881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33"/>
          <p:cNvSpPr txBox="1"/>
          <p:nvPr/>
        </p:nvSpPr>
        <p:spPr>
          <a:xfrm>
            <a:off x="55075" y="43025"/>
            <a:ext cx="139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09" name="Google Shape;309;p33"/>
          <p:cNvSpPr txBox="1"/>
          <p:nvPr/>
        </p:nvSpPr>
        <p:spPr>
          <a:xfrm>
            <a:off x="55075" y="455275"/>
            <a:ext cx="36336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MedGemma 1.5 &amp; MedASR Open Source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MedGemma 1.5 - 4B &amp; 27B params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Reads 2D images and 3D volumes (CT &amp; MRI scans), also whole-slide histopathology; better comparing medical images (like chest X-rays) over time; better medical reasoning (MedQA) and extracting structured data from lab reports and electronic health records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MedASR - Speech-to-Text </a:t>
            </a:r>
            <a:r>
              <a:rPr lang="en" sz="1200">
                <a:latin typeface="Calibri"/>
                <a:ea typeface="Calibri"/>
                <a:cs typeface="Calibri"/>
                <a:sym typeface="Calibri"/>
              </a:rPr>
              <a:t>model fine-tuned for the medical domain. Reducing errors in medical dictation by up to 82%</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https://research.google/blog/next-generation-medical-image-interpretation-with-medgemma-15-and-medical-speech-to-text-with-medasr/</a:t>
            </a:r>
            <a:r>
              <a:rPr lang="en" sz="900">
                <a:latin typeface="Calibri"/>
                <a:ea typeface="Calibri"/>
                <a:cs typeface="Calibri"/>
                <a:sym typeface="Calibri"/>
              </a:rPr>
              <a:t> </a:t>
            </a:r>
            <a:endParaRPr sz="900">
              <a:latin typeface="Calibri"/>
              <a:ea typeface="Calibri"/>
              <a:cs typeface="Calibri"/>
              <a:sym typeface="Calibri"/>
            </a:endParaRPr>
          </a:p>
        </p:txBody>
      </p:sp>
      <p:sp>
        <p:nvSpPr>
          <p:cNvPr id="310" name="Google Shape;310;p33"/>
          <p:cNvSpPr txBox="1"/>
          <p:nvPr/>
        </p:nvSpPr>
        <p:spPr>
          <a:xfrm>
            <a:off x="55075" y="2658199"/>
            <a:ext cx="39399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 Labs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 new team dedicated to incubating experimental AI products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Mike Krieger (Instagram co-founder)</a:t>
            </a:r>
            <a:r>
              <a:rPr lang="en" sz="1100">
                <a:latin typeface="Calibri"/>
                <a:ea typeface="Calibri"/>
                <a:cs typeface="Calibri"/>
                <a:sym typeface="Calibri"/>
              </a:rPr>
              <a:t> is moving from Chief Product Officer to join Labs.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move is designed to separate the rapid experimentation required for new AI research from the reliable scaling needed for enterprise customers.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https://www.anthropic.com/news/introducing-anthropic-labs</a:t>
            </a:r>
            <a:endParaRPr sz="1100">
              <a:latin typeface="Calibri"/>
              <a:ea typeface="Calibri"/>
              <a:cs typeface="Calibri"/>
              <a:sym typeface="Calibri"/>
            </a:endParaRPr>
          </a:p>
        </p:txBody>
      </p:sp>
      <p:pic>
        <p:nvPicPr>
          <p:cNvPr id="311" name="Google Shape;311;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096900" y="2658197"/>
            <a:ext cx="1212754" cy="1203601"/>
          </a:xfrm>
          <a:prstGeom prst="rect">
            <a:avLst/>
          </a:prstGeom>
          <a:noFill/>
          <a:ln w="9525" cap="flat" cmpd="sng">
            <a:solidFill>
              <a:srgbClr val="FF0000"/>
            </a:solidFill>
            <a:prstDash val="solid"/>
            <a:round/>
            <a:headEnd type="none" w="sm" len="sm"/>
            <a:tailEnd type="none" w="sm" len="sm"/>
          </a:ln>
        </p:spPr>
      </p:pic>
      <p:pic>
        <p:nvPicPr>
          <p:cNvPr id="312" name="Google Shape;312;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777901" y="718373"/>
            <a:ext cx="2016575" cy="1616400"/>
          </a:xfrm>
          <a:prstGeom prst="rect">
            <a:avLst/>
          </a:prstGeom>
          <a:noFill/>
          <a:ln w="9525" cap="flat" cmpd="sng">
            <a:solidFill>
              <a:srgbClr val="FF0000"/>
            </a:solidFill>
            <a:prstDash val="solid"/>
            <a:round/>
            <a:headEnd type="none" w="sm" len="sm"/>
            <a:tailEnd type="none" w="sm" len="sm"/>
          </a:ln>
        </p:spPr>
      </p:pic>
      <p:sp>
        <p:nvSpPr>
          <p:cNvPr id="313" name="Google Shape;313;p33"/>
          <p:cNvSpPr txBox="1"/>
          <p:nvPr/>
        </p:nvSpPr>
        <p:spPr>
          <a:xfrm>
            <a:off x="5794475" y="2832895"/>
            <a:ext cx="3250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Solves Math Problems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OpenAI's GPT-5.2 has recently solved multiple legendary Erdős problems - mathematical conjectures posed by Hungarian mathematician </a:t>
            </a:r>
            <a:r>
              <a:rPr lang="en" sz="1100" b="1">
                <a:solidFill>
                  <a:srgbClr val="FF0000"/>
                </a:solidFill>
                <a:latin typeface="Calibri"/>
                <a:ea typeface="Calibri"/>
                <a:cs typeface="Calibri"/>
                <a:sym typeface="Calibri"/>
              </a:rPr>
              <a:t>Paul Erdős </a:t>
            </a:r>
            <a:r>
              <a:rPr lang="en" sz="1100">
                <a:latin typeface="Calibri"/>
                <a:ea typeface="Calibri"/>
                <a:cs typeface="Calibri"/>
                <a:sym typeface="Calibri"/>
              </a:rPr>
              <a:t>that have remained unsolved for decades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GPT-5.2 solve Erdős Problem #397 in just 15 minutes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Another AI system called Aristotle, developed by HarmonicMath, solved a version of Erdős Problem #124 (a 30-year-old problem) in just 6 hours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Terence Tao, one of the world's most respected mathematicians, has acknowledged eight different problems where AI models made meaningful autonomous progress</a:t>
            </a:r>
            <a:endParaRPr sz="1100">
              <a:latin typeface="Calibri"/>
              <a:ea typeface="Calibri"/>
              <a:cs typeface="Calibri"/>
              <a:sym typeface="Calibri"/>
            </a:endParaRPr>
          </a:p>
        </p:txBody>
      </p:sp>
      <p:pic>
        <p:nvPicPr>
          <p:cNvPr id="314" name="Google Shape;314;p3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148325" y="1292045"/>
            <a:ext cx="1505000" cy="1497275"/>
          </a:xfrm>
          <a:prstGeom prst="rect">
            <a:avLst/>
          </a:prstGeom>
          <a:noFill/>
          <a:ln w="9525" cap="flat" cmpd="sng">
            <a:solidFill>
              <a:srgbClr val="FF0000"/>
            </a:solidFill>
            <a:prstDash val="solid"/>
            <a:round/>
            <a:headEnd type="none" w="sm" len="sm"/>
            <a:tailEnd type="none" w="sm" len="sm"/>
          </a:ln>
        </p:spPr>
      </p:pic>
      <p:sp>
        <p:nvSpPr>
          <p:cNvPr id="315" name="Google Shape;315;p33"/>
          <p:cNvSpPr txBox="1"/>
          <p:nvPr/>
        </p:nvSpPr>
        <p:spPr>
          <a:xfrm>
            <a:off x="55075" y="4091625"/>
            <a:ext cx="39399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Pocket TTS -  a 100M-params text-to-speech model</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High-quality voice cloning, runs on laptop, no GPU required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Open-source, lightweight, and incredibly fast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8"/>
              </a:rPr>
              <a:t>https://x.com/kyutai_labs/status/2011047335892303875</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9"/>
              </a:rPr>
              <a:t>https://github.com/kyutai-labs/pocket-tts</a:t>
            </a:r>
            <a:r>
              <a:rPr lang="en" sz="1100">
                <a:latin typeface="Calibri"/>
                <a:ea typeface="Calibri"/>
                <a:cs typeface="Calibri"/>
                <a:sym typeface="Calibri"/>
              </a:rPr>
              <a:t> </a:t>
            </a:r>
            <a:endParaRPr sz="1100">
              <a:latin typeface="Calibri"/>
              <a:ea typeface="Calibri"/>
              <a:cs typeface="Calibri"/>
              <a:sym typeface="Calibri"/>
            </a:endParaRPr>
          </a:p>
        </p:txBody>
      </p:sp>
      <p:pic>
        <p:nvPicPr>
          <p:cNvPr id="316" name="Google Shape;316;p33"/>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096900" y="4103925"/>
            <a:ext cx="1505000" cy="82022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34"/>
          <p:cNvSpPr txBox="1"/>
          <p:nvPr/>
        </p:nvSpPr>
        <p:spPr>
          <a:xfrm>
            <a:off x="55075" y="43025"/>
            <a:ext cx="139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22" name="Google Shape;322;p34"/>
          <p:cNvSpPr txBox="1"/>
          <p:nvPr/>
        </p:nvSpPr>
        <p:spPr>
          <a:xfrm>
            <a:off x="55075" y="455275"/>
            <a:ext cx="5905200" cy="252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58750" algn="l" rtl="0">
              <a:lnSpc>
                <a:spcPct val="100000"/>
              </a:lnSpc>
              <a:spcBef>
                <a:spcPts val="0"/>
              </a:spcBef>
              <a:spcAft>
                <a:spcPts val="0"/>
              </a:spcAft>
              <a:buClr>
                <a:srgbClr val="FF0000"/>
              </a:buClr>
              <a:buSzPts val="1600"/>
              <a:buFont typeface="Calibri"/>
              <a:buChar char="●"/>
            </a:pPr>
            <a:r>
              <a:rPr lang="en" sz="1600" b="1">
                <a:solidFill>
                  <a:srgbClr val="FF0000"/>
                </a:solidFill>
                <a:latin typeface="Calibri"/>
                <a:ea typeface="Calibri"/>
                <a:cs typeface="Calibri"/>
                <a:sym typeface="Calibri"/>
              </a:rPr>
              <a:t>MiroThinker v1.5 Deep Research</a:t>
            </a:r>
            <a:endParaRPr sz="16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Open-source AI research agent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256K token context window, up to 400 tool calls per task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30B and 235B params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Uses cyclical "think–act–observe" process where the model analyzes situations, invokes tools, receives results, and updates its understanding until tasks are solved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system acts as a "scientist" by executing a "slow-thinking" research loop: proposing hypotheses, querying external data for evidence, discovering mismatches, revising hypotheses, and verifying until evidence converges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can perform future trend forecasting by evaluating chain reactions of macro events, enabling proactive decision-making rather than just summarizing historical data</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https://github.com/MiroMindAI/MiroThinker</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https://huggingface.co/miromind-ai/MiroThinker-v1.5-30B</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https://dr.miromind.ai</a:t>
            </a:r>
            <a:r>
              <a:rPr lang="en" sz="900">
                <a:latin typeface="Calibri"/>
                <a:ea typeface="Calibri"/>
                <a:cs typeface="Calibri"/>
                <a:sym typeface="Calibri"/>
              </a:rPr>
              <a:t> - interactive demo</a:t>
            </a:r>
            <a:endParaRPr sz="900">
              <a:latin typeface="Calibri"/>
              <a:ea typeface="Calibri"/>
              <a:cs typeface="Calibri"/>
              <a:sym typeface="Calibri"/>
            </a:endParaRPr>
          </a:p>
        </p:txBody>
      </p:sp>
      <p:pic>
        <p:nvPicPr>
          <p:cNvPr id="323" name="Google Shape;323;p34"/>
          <p:cNvPicPr preferRelativeResize="0"/>
          <p:nvPr/>
        </p:nvPicPr>
        <p:blipFill>
          <a:blip r:embed="rId6">
            <a:alphaModFix/>
          </a:blip>
          <a:stretch>
            <a:fillRect/>
          </a:stretch>
        </p:blipFill>
        <p:spPr>
          <a:xfrm>
            <a:off x="6125425" y="212775"/>
            <a:ext cx="2857500" cy="1924050"/>
          </a:xfrm>
          <a:prstGeom prst="rect">
            <a:avLst/>
          </a:prstGeom>
          <a:noFill/>
          <a:ln w="9525" cap="flat" cmpd="sng">
            <a:solidFill>
              <a:srgbClr val="FF0000"/>
            </a:solidFill>
            <a:prstDash val="solid"/>
            <a:round/>
            <a:headEnd type="none" w="sm" len="sm"/>
            <a:tailEnd type="none" w="sm" len="sm"/>
          </a:ln>
        </p:spPr>
      </p:pic>
      <p:sp>
        <p:nvSpPr>
          <p:cNvPr id="324" name="Google Shape;324;p34"/>
          <p:cNvSpPr txBox="1"/>
          <p:nvPr/>
        </p:nvSpPr>
        <p:spPr>
          <a:xfrm>
            <a:off x="55075" y="3068625"/>
            <a:ext cx="4450200" cy="158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MIT's new Adaptive Radix Tree (ART)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Modern NVMe SSDs eliminated disk I/O bottlenecks, making RAM-to-cache communication the new constraint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ART 3.2x faster than B-trees on read-heavy workloads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B-trees still won on write-heavy workloads (18% faster inserts)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Neither structure universally "wins"—they fit different use cases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Both structures struggle with skewed, real-world key distributions.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https://medium.com/@speedcraft21/mit-just-killed-b-trees-i-spent-2-weeks-proving-theyre-right-and-wrong-467a6f3964e7</a:t>
            </a:r>
            <a:r>
              <a:rPr lang="en" sz="900">
                <a:latin typeface="Calibri"/>
                <a:ea typeface="Calibri"/>
                <a:cs typeface="Calibri"/>
                <a:sym typeface="Calibri"/>
              </a:rPr>
              <a:t> </a:t>
            </a:r>
            <a:endParaRPr sz="900">
              <a:latin typeface="Calibri"/>
              <a:ea typeface="Calibri"/>
              <a:cs typeface="Calibri"/>
              <a:sym typeface="Calibri"/>
            </a:endParaRPr>
          </a:p>
        </p:txBody>
      </p:sp>
      <p:sp>
        <p:nvSpPr>
          <p:cNvPr id="325" name="Google Shape;325;p34"/>
          <p:cNvSpPr txBox="1"/>
          <p:nvPr/>
        </p:nvSpPr>
        <p:spPr>
          <a:xfrm>
            <a:off x="6337275" y="3938140"/>
            <a:ext cx="27072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Merge Labs raised 252 Mln</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Co-founded by Sam Altman</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Building devices to connect human brains to computers</a:t>
            </a:r>
            <a:br>
              <a:rPr lang="en" sz="1200">
                <a:latin typeface="Calibri"/>
                <a:ea typeface="Calibri"/>
                <a:cs typeface="Calibri"/>
                <a:sym typeface="Calibri"/>
              </a:rPr>
            </a:br>
            <a:r>
              <a:rPr lang="en" sz="1200" b="1">
                <a:solidFill>
                  <a:srgbClr val="FF0000"/>
                </a:solidFill>
                <a:latin typeface="Calibri"/>
                <a:ea typeface="Calibri"/>
                <a:cs typeface="Calibri"/>
                <a:sym typeface="Calibri"/>
              </a:rPr>
              <a:t>BCI = brain-computer interface (BCI)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8"/>
              </a:rPr>
              <a:t>https://merge.io/blog</a:t>
            </a:r>
            <a:r>
              <a:rPr lang="en" sz="1200">
                <a:latin typeface="Calibri"/>
                <a:ea typeface="Calibri"/>
                <a:cs typeface="Calibri"/>
                <a:sym typeface="Calibri"/>
              </a:rPr>
              <a:t> </a:t>
            </a:r>
            <a:endParaRPr sz="1200">
              <a:latin typeface="Calibri"/>
              <a:ea typeface="Calibri"/>
              <a:cs typeface="Calibri"/>
              <a:sym typeface="Calibri"/>
            </a:endParaRPr>
          </a:p>
        </p:txBody>
      </p:sp>
      <p:pic>
        <p:nvPicPr>
          <p:cNvPr id="326" name="Google Shape;326;p34"/>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572387" y="3134368"/>
            <a:ext cx="2236975" cy="7035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35"/>
          <p:cNvSpPr txBox="1"/>
          <p:nvPr/>
        </p:nvSpPr>
        <p:spPr>
          <a:xfrm>
            <a:off x="55075" y="43025"/>
            <a:ext cx="139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32" name="Google Shape;332;p35"/>
          <p:cNvSpPr txBox="1"/>
          <p:nvPr/>
        </p:nvSpPr>
        <p:spPr>
          <a:xfrm>
            <a:off x="55075" y="455275"/>
            <a:ext cx="38376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Personal Intelligence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Connects the Gemini AI assistant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to personal Google apps like</a:t>
            </a:r>
            <a:br>
              <a:rPr lang="en" sz="1200">
                <a:latin typeface="Calibri"/>
                <a:ea typeface="Calibri"/>
                <a:cs typeface="Calibri"/>
                <a:sym typeface="Calibri"/>
              </a:rPr>
            </a:br>
            <a:r>
              <a:rPr lang="en" sz="1200">
                <a:latin typeface="Calibri"/>
                <a:ea typeface="Calibri"/>
                <a:cs typeface="Calibri"/>
                <a:sym typeface="Calibri"/>
              </a:rPr>
              <a:t> </a:t>
            </a:r>
            <a:r>
              <a:rPr lang="en" sz="1200" b="1">
                <a:solidFill>
                  <a:srgbClr val="FF0000"/>
                </a:solidFill>
                <a:latin typeface="Calibri"/>
                <a:ea typeface="Calibri"/>
                <a:cs typeface="Calibri"/>
                <a:sym typeface="Calibri"/>
              </a:rPr>
              <a:t>Gmail, Google Photos, YouTube, Search </a:t>
            </a:r>
            <a:br>
              <a:rPr lang="en" sz="1200" b="1">
                <a:solidFill>
                  <a:srgbClr val="FF0000"/>
                </a:solidFill>
                <a:latin typeface="Calibri"/>
                <a:ea typeface="Calibri"/>
                <a:cs typeface="Calibri"/>
                <a:sym typeface="Calibri"/>
              </a:rPr>
            </a:br>
            <a:r>
              <a:rPr lang="en" sz="1200" b="1">
                <a:solidFill>
                  <a:srgbClr val="3C78D8"/>
                </a:solidFill>
                <a:latin typeface="Calibri"/>
                <a:ea typeface="Calibri"/>
                <a:cs typeface="Calibri"/>
                <a:sym typeface="Calibri"/>
              </a:rPr>
              <a:t>to provide highly personalized responses.</a:t>
            </a:r>
            <a:endParaRPr sz="900" b="1">
              <a:solidFill>
                <a:srgbClr val="3C78D8"/>
              </a:solidFill>
              <a:latin typeface="Calibri"/>
              <a:ea typeface="Calibri"/>
              <a:cs typeface="Calibri"/>
              <a:sym typeface="Calibri"/>
            </a:endParaRPr>
          </a:p>
        </p:txBody>
      </p:sp>
      <p:pic>
        <p:nvPicPr>
          <p:cNvPr id="333" name="Google Shape;333;p35"/>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025171" y="316678"/>
            <a:ext cx="1024530" cy="1219200"/>
          </a:xfrm>
          <a:prstGeom prst="rect">
            <a:avLst/>
          </a:prstGeom>
          <a:noFill/>
          <a:ln w="9525" cap="flat" cmpd="sng">
            <a:solidFill>
              <a:srgbClr val="FF0000"/>
            </a:solidFill>
            <a:prstDash val="solid"/>
            <a:round/>
            <a:headEnd type="none" w="sm" len="sm"/>
            <a:tailEnd type="none" w="sm" len="sm"/>
          </a:ln>
        </p:spPr>
      </p:pic>
      <p:sp>
        <p:nvSpPr>
          <p:cNvPr id="334" name="Google Shape;334;p35"/>
          <p:cNvSpPr txBox="1"/>
          <p:nvPr/>
        </p:nvSpPr>
        <p:spPr>
          <a:xfrm>
            <a:off x="55075" y="1485150"/>
            <a:ext cx="3837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and Cerebras 3-year Deal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Over $10 Bln for 750 MWatts of compute power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http://www.youtube.com/watch?v=Yz5N45V9dfk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Cerebras chips provides very high speed inference - ChatGPT may be 100x times faster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deal reduces OpenAI dependency on Nvidia</a:t>
            </a:r>
            <a:endParaRPr sz="1200">
              <a:latin typeface="Calibri"/>
              <a:ea typeface="Calibri"/>
              <a:cs typeface="Calibri"/>
              <a:sym typeface="Calibri"/>
            </a:endParaRPr>
          </a:p>
        </p:txBody>
      </p:sp>
      <p:pic>
        <p:nvPicPr>
          <p:cNvPr id="335" name="Google Shape;335;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025171" y="1634300"/>
            <a:ext cx="2283431" cy="757200"/>
          </a:xfrm>
          <a:prstGeom prst="rect">
            <a:avLst/>
          </a:prstGeom>
          <a:noFill/>
          <a:ln w="9525" cap="flat" cmpd="sng">
            <a:solidFill>
              <a:srgbClr val="FF0000"/>
            </a:solidFill>
            <a:prstDash val="solid"/>
            <a:round/>
            <a:headEnd type="none" w="sm" len="sm"/>
            <a:tailEnd type="none" w="sm" len="sm"/>
          </a:ln>
        </p:spPr>
      </p:pic>
      <p:pic>
        <p:nvPicPr>
          <p:cNvPr id="336" name="Google Shape;336;p35"/>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5760150" y="334625"/>
            <a:ext cx="1024525" cy="1183294"/>
          </a:xfrm>
          <a:prstGeom prst="rect">
            <a:avLst/>
          </a:prstGeom>
          <a:noFill/>
          <a:ln w="9525" cap="flat" cmpd="sng">
            <a:solidFill>
              <a:srgbClr val="FF0000"/>
            </a:solidFill>
            <a:prstDash val="solid"/>
            <a:round/>
            <a:headEnd type="none" w="sm" len="sm"/>
            <a:tailEnd type="none" w="sm" len="sm"/>
          </a:ln>
        </p:spPr>
      </p:pic>
      <p:sp>
        <p:nvSpPr>
          <p:cNvPr id="337" name="Google Shape;337;p35"/>
          <p:cNvSpPr txBox="1"/>
          <p:nvPr/>
        </p:nvSpPr>
        <p:spPr>
          <a:xfrm>
            <a:off x="55075" y="2699825"/>
            <a:ext cx="38376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Openwork desktop AI coworker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 Source (but slow) alternative to Claude Cowork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Examples - organize files, coding, create spreadsheet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https://accomplish.ai/openwork/</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8"/>
              </a:rPr>
              <a:t>https://github.com/accomplish-ai/openwork</a:t>
            </a:r>
            <a:r>
              <a:rPr lang="en" sz="1200">
                <a:latin typeface="Calibri"/>
                <a:ea typeface="Calibri"/>
                <a:cs typeface="Calibri"/>
                <a:sym typeface="Calibri"/>
              </a:rPr>
              <a:t> </a:t>
            </a:r>
            <a:endParaRPr sz="1200">
              <a:latin typeface="Calibri"/>
              <a:ea typeface="Calibri"/>
              <a:cs typeface="Calibri"/>
              <a:sym typeface="Calibri"/>
            </a:endParaRPr>
          </a:p>
        </p:txBody>
      </p:sp>
      <p:pic>
        <p:nvPicPr>
          <p:cNvPr id="338" name="Google Shape;338;p35"/>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025175" y="2742200"/>
            <a:ext cx="2322080" cy="757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6"/>
          <p:cNvSpPr txBox="1"/>
          <p:nvPr/>
        </p:nvSpPr>
        <p:spPr>
          <a:xfrm>
            <a:off x="55075" y="43025"/>
            <a:ext cx="139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44" name="Google Shape;344;p36"/>
          <p:cNvSpPr txBox="1"/>
          <p:nvPr/>
        </p:nvSpPr>
        <p:spPr>
          <a:xfrm>
            <a:off x="171075" y="532850"/>
            <a:ext cx="43071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Fine-tuning LLMs on a narrow, seemingly benign task, can induce severe misalignment in completely unrelated domains.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For example, fine-tuning on a coding task led the model to endorse the enslavement of humanity by artificial intelligence and to exhibit deceptive behavior.</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https://www.nature.com/articles/s41586-025-09937-5.pdf</a:t>
            </a:r>
            <a:r>
              <a:rPr lang="en" sz="1200">
                <a:latin typeface="Calibri"/>
                <a:ea typeface="Calibri"/>
                <a:cs typeface="Calibri"/>
                <a:sym typeface="Calibri"/>
              </a:rPr>
              <a:t> </a:t>
            </a:r>
            <a:endParaRPr sz="1200">
              <a:latin typeface="Calibri"/>
              <a:ea typeface="Calibri"/>
              <a:cs typeface="Calibri"/>
              <a:sym typeface="Calibri"/>
            </a:endParaRPr>
          </a:p>
        </p:txBody>
      </p:sp>
      <p:sp>
        <p:nvSpPr>
          <p:cNvPr id="345" name="Google Shape;345;p36"/>
          <p:cNvSpPr txBox="1"/>
          <p:nvPr/>
        </p:nvSpPr>
        <p:spPr>
          <a:xfrm>
            <a:off x="171075" y="1912800"/>
            <a:ext cx="35784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Auto-Claude - autonomous multi-session AI coding</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https://github.com/AndyMik90/Auto-Claude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https://medium.com/@joe.njenga/i-tested-this-autonomous-framework-that-turns-claude-code-into-a-virtual-dev-team-a030ab702630</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46" name="Google Shape;346;p3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33096" y="153150"/>
            <a:ext cx="2155199" cy="1638926"/>
          </a:xfrm>
          <a:prstGeom prst="rect">
            <a:avLst/>
          </a:prstGeom>
          <a:noFill/>
          <a:ln w="9525" cap="flat" cmpd="sng">
            <a:solidFill>
              <a:srgbClr val="FF0000"/>
            </a:solidFill>
            <a:prstDash val="solid"/>
            <a:round/>
            <a:headEnd type="none" w="sm" len="sm"/>
            <a:tailEnd type="none" w="sm" len="sm"/>
          </a:ln>
        </p:spPr>
      </p:pic>
      <p:pic>
        <p:nvPicPr>
          <p:cNvPr id="347" name="Google Shape;347;p36"/>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880375" y="1912800"/>
            <a:ext cx="2503676" cy="14843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37"/>
          <p:cNvSpPr txBox="1"/>
          <p:nvPr/>
        </p:nvSpPr>
        <p:spPr>
          <a:xfrm>
            <a:off x="55075" y="43025"/>
            <a:ext cx="139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53" name="Google Shape;353;p37"/>
          <p:cNvSpPr txBox="1"/>
          <p:nvPr/>
        </p:nvSpPr>
        <p:spPr>
          <a:xfrm>
            <a:off x="55075" y="437821"/>
            <a:ext cx="49854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What Power Users Actually Do?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a "session analysis" skill to have Claude review chat json logs once a week to find points of friction or repeated mistakes, suggest updates to </a:t>
            </a:r>
            <a:r>
              <a:rPr lang="en" sz="1200">
                <a:solidFill>
                  <a:schemeClr val="hlink"/>
                </a:solidFill>
                <a:uFill>
                  <a:noFill/>
                </a:uFill>
                <a:latin typeface="Calibri"/>
                <a:ea typeface="Calibri"/>
                <a:cs typeface="Calibri"/>
                <a:sym typeface="Calibri"/>
                <a:hlinkClick r:id="rId3"/>
              </a:rPr>
              <a:t>CLAUDE.md</a:t>
            </a:r>
            <a:r>
              <a:rPr lang="en" sz="1200">
                <a:latin typeface="Calibri"/>
                <a:ea typeface="Calibri"/>
                <a:cs typeface="Calibri"/>
                <a:sym typeface="Calibri"/>
              </a:rPr>
              <a:t> to avoid repeating these errors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Turn on "verbose output" to see internal prompts and thinking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a context tool to track token usage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skills, u</a:t>
            </a:r>
            <a:r>
              <a:rPr lang="en" sz="1200">
                <a:solidFill>
                  <a:schemeClr val="dk1"/>
                </a:solidFill>
                <a:latin typeface="Calibri"/>
                <a:ea typeface="Calibri"/>
                <a:cs typeface="Calibri"/>
                <a:sym typeface="Calibri"/>
              </a:rPr>
              <a:t>se CLI Tools as Skills</a:t>
            </a:r>
            <a:r>
              <a:rPr lang="en" sz="1200">
                <a:latin typeface="Calibri"/>
                <a:ea typeface="Calibri"/>
                <a:cs typeface="Calibri"/>
                <a:sym typeface="Calibri"/>
              </a:rPr>
              <a:t> (load on demand)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Integrate context with </a:t>
            </a:r>
            <a:r>
              <a:rPr lang="en" sz="1200">
                <a:solidFill>
                  <a:schemeClr val="dk1"/>
                </a:solidFill>
                <a:latin typeface="Calibri"/>
                <a:ea typeface="Calibri"/>
                <a:cs typeface="Calibri"/>
                <a:sym typeface="Calibri"/>
              </a:rPr>
              <a:t>Obsidian, convert audio notes into actionable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"handoff" prompts to switch sessions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Review all changes in Git and use "user comments" within code for feedback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https://www.youtube.com/watch?v=G9S5DgmNBaM</a:t>
            </a:r>
            <a:r>
              <a:rPr lang="en" sz="1200">
                <a:latin typeface="Calibri"/>
                <a:ea typeface="Calibri"/>
                <a:cs typeface="Calibri"/>
                <a:sym typeface="Calibri"/>
              </a:rPr>
              <a:t> </a:t>
            </a:r>
            <a:endParaRPr sz="1200">
              <a:latin typeface="Calibri"/>
              <a:ea typeface="Calibri"/>
              <a:cs typeface="Calibri"/>
              <a:sym typeface="Calibri"/>
            </a:endParaRPr>
          </a:p>
        </p:txBody>
      </p:sp>
      <p:sp>
        <p:nvSpPr>
          <p:cNvPr id="354" name="Google Shape;354;p37"/>
          <p:cNvSpPr txBox="1"/>
          <p:nvPr/>
        </p:nvSpPr>
        <p:spPr>
          <a:xfrm>
            <a:off x="55075" y="3379607"/>
            <a:ext cx="44490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Anti-gravity Updates</a:t>
            </a:r>
            <a:endParaRPr sz="1200" b="1">
              <a:solidFill>
                <a:srgbClr val="FF0000"/>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Agent Skills</a:t>
            </a:r>
            <a:endParaRPr sz="1200" b="1">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Parallel Agents</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Secure Mode (manual approvals for terminal commands, restricted file access)</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Gemini 3 Flash Integration</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Tool for project management tasks like creating Jira tickets and automate data organization by manipulating Google Sheets directly from the playground</a:t>
            </a:r>
            <a:endParaRPr sz="1200">
              <a:latin typeface="Calibri"/>
              <a:ea typeface="Calibri"/>
              <a:cs typeface="Calibri"/>
              <a:sym typeface="Calibri"/>
            </a:endParaRPr>
          </a:p>
        </p:txBody>
      </p:sp>
      <p:pic>
        <p:nvPicPr>
          <p:cNvPr id="355" name="Google Shape;355;p37"/>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189050" y="518875"/>
            <a:ext cx="1599949" cy="1880625"/>
          </a:xfrm>
          <a:prstGeom prst="rect">
            <a:avLst/>
          </a:prstGeom>
          <a:noFill/>
          <a:ln w="9525" cap="flat" cmpd="sng">
            <a:solidFill>
              <a:srgbClr val="FF0000"/>
            </a:solidFill>
            <a:prstDash val="solid"/>
            <a:round/>
            <a:headEnd type="none" w="sm" len="sm"/>
            <a:tailEnd type="none" w="sm" len="sm"/>
          </a:ln>
        </p:spPr>
      </p:pic>
      <p:pic>
        <p:nvPicPr>
          <p:cNvPr id="356" name="Google Shape;356;p37"/>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644550" y="3595880"/>
            <a:ext cx="3125949" cy="1248351"/>
          </a:xfrm>
          <a:prstGeom prst="rect">
            <a:avLst/>
          </a:prstGeom>
          <a:noFill/>
          <a:ln w="9525" cap="flat" cmpd="sng">
            <a:solidFill>
              <a:srgbClr val="FF0000"/>
            </a:solidFill>
            <a:prstDash val="solid"/>
            <a:round/>
            <a:headEnd type="none" w="sm" len="sm"/>
            <a:tailEnd type="none" w="sm" len="sm"/>
          </a:ln>
        </p:spPr>
      </p:pic>
      <p:sp>
        <p:nvSpPr>
          <p:cNvPr id="357" name="Google Shape;357;p37"/>
          <p:cNvSpPr txBox="1"/>
          <p:nvPr/>
        </p:nvSpPr>
        <p:spPr>
          <a:xfrm>
            <a:off x="55075" y="2555213"/>
            <a:ext cx="4147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MCP Tool Search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Problem - Loading too many tool definitions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Solution: MCP Tool Search - load only 3-5 most relevant tools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Can reduce token usage by up to 85%</a:t>
            </a:r>
            <a:endParaRPr sz="1200">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8"/>
          <p:cNvSpPr txBox="1"/>
          <p:nvPr/>
        </p:nvSpPr>
        <p:spPr>
          <a:xfrm>
            <a:off x="55075" y="43025"/>
            <a:ext cx="4460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Why Memory Prices Are So High?</a:t>
            </a:r>
            <a:endParaRPr sz="2000" b="1">
              <a:solidFill>
                <a:schemeClr val="dk1"/>
              </a:solidFill>
              <a:latin typeface="Calibri"/>
              <a:ea typeface="Calibri"/>
              <a:cs typeface="Calibri"/>
              <a:sym typeface="Calibri"/>
            </a:endParaRPr>
          </a:p>
        </p:txBody>
      </p:sp>
      <p:sp>
        <p:nvSpPr>
          <p:cNvPr id="363" name="Google Shape;363;p38"/>
          <p:cNvSpPr txBox="1"/>
          <p:nvPr/>
        </p:nvSpPr>
        <p:spPr>
          <a:xfrm>
            <a:off x="189800" y="631550"/>
            <a:ext cx="4460400" cy="325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Why computer memory prices are so high?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DDR5 prices surging more than 260% across major markets since September 2025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Primary reason - memory producers shifting capacity from consumer DRAM to HBM (High Bandwidth Memory) for AI datacenters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HBM manufacturing is far more complex than standard DRAM, involving stacking 12 to 16 layers of memory onto a single chip to create a "cube" structure that can deliver the terabytes-per-second bandwidth AI chips require. One layer - 30 micron. So 16 layers is 0.48 mm  thick.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Major memory makers have prioritized orders from hyperscalers and OEMs building AI servers, leaving less DRAM available for smartphones, PCs, and other consumer devices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Samsung reportedly doubled the contract price for DDR5 to RAM manufacturers in December 2025, and industry analysts warn that a standard 32GB DDR5 module could exceed $500 by mid-2026</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https://www.idc.com/resource-center/blog/global-memory-shortage-crisis-market-analysis-and-the-potential-impact-on-the-smartphone-and-pc-markets-in-2026/</a:t>
            </a:r>
            <a:r>
              <a:rPr lang="en" sz="900">
                <a:latin typeface="Calibri"/>
                <a:ea typeface="Calibri"/>
                <a:cs typeface="Calibri"/>
                <a:sym typeface="Calibri"/>
              </a:rPr>
              <a:t> </a:t>
            </a:r>
            <a:endParaRPr sz="1200">
              <a:latin typeface="Calibri"/>
              <a:ea typeface="Calibri"/>
              <a:cs typeface="Calibri"/>
              <a:sym typeface="Calibri"/>
            </a:endParaRPr>
          </a:p>
        </p:txBody>
      </p:sp>
      <p:pic>
        <p:nvPicPr>
          <p:cNvPr id="364" name="Google Shape;364;p3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487375" y="425370"/>
            <a:ext cx="3124975" cy="798350"/>
          </a:xfrm>
          <a:prstGeom prst="rect">
            <a:avLst/>
          </a:prstGeom>
          <a:noFill/>
          <a:ln>
            <a:noFill/>
          </a:ln>
        </p:spPr>
      </p:pic>
      <p:pic>
        <p:nvPicPr>
          <p:cNvPr id="365" name="Google Shape;365;p3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558350" y="1946643"/>
            <a:ext cx="2983026" cy="277819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39"/>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Nvidia StarCloud-1 Satellite </a:t>
            </a:r>
            <a:endParaRPr sz="2000" b="1">
              <a:solidFill>
                <a:schemeClr val="dk1"/>
              </a:solidFill>
              <a:latin typeface="Calibri"/>
              <a:ea typeface="Calibri"/>
              <a:cs typeface="Calibri"/>
              <a:sym typeface="Calibri"/>
            </a:endParaRPr>
          </a:p>
        </p:txBody>
      </p:sp>
      <p:sp>
        <p:nvSpPr>
          <p:cNvPr id="371" name="Google Shape;371;p39"/>
          <p:cNvSpPr txBox="1"/>
          <p:nvPr/>
        </p:nvSpPr>
        <p:spPr>
          <a:xfrm>
            <a:off x="55075" y="455275"/>
            <a:ext cx="52020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StarCloud - training AI Model in Space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StarCloud, backed by Nvidia, achieved a historic first by training an AI model in space aboard its StarCloud-1 satellite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Launched in November 2025 on a SpaceX Falcon 9, the 130-pound satellite carries an Nvidia H100 GPU—100 times more powerful than any previous space GPU</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satellite successfully trained nanoGPT on Shakespeare's works and runs Google's Gemma language model for live inference, proving transformers can operate in vacuum and radiation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StarCloud plans 5-GWatt orbital data centers with 4-kilometer solar and cooling panels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StarCloud-2 launches October 2026 with multiple H100s and Blackwell B200 chips - wildfire detection, satellite imagery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Competition intensifies: Google's Project Suncatcher targets 2027, Jeff Bezos predicts gigawatt space data centers in 10+ years, and Eric Schmidt acquired Relativity Space for orbital infrastructure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https://www.cnbc.com/2025/12/10/nvidia-backed-starcloud-trains-first-ai-model-in-space-orbital-data-centers.html</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https://www.geekwire.com/2025/starcloud-power-training-ai-space/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https://introl.com/blog/orbital-data-centers-space-ai-infrastructure-guide-2025</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https://blogs.nvidia.com/blog/starcloud/</a:t>
            </a:r>
            <a:endParaRPr sz="1200">
              <a:latin typeface="Calibri"/>
              <a:ea typeface="Calibri"/>
              <a:cs typeface="Calibri"/>
              <a:sym typeface="Calibri"/>
            </a:endParaRPr>
          </a:p>
        </p:txBody>
      </p:sp>
      <p:pic>
        <p:nvPicPr>
          <p:cNvPr id="372" name="Google Shape;372;p39"/>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5500325" y="455275"/>
            <a:ext cx="1914525" cy="2089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40"/>
          <p:cNvSpPr txBox="1"/>
          <p:nvPr/>
        </p:nvSpPr>
        <p:spPr>
          <a:xfrm>
            <a:off x="55075" y="17178"/>
            <a:ext cx="283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Elon Musk's 5 Year Vision</a:t>
            </a:r>
            <a:endParaRPr sz="2000" b="1">
              <a:solidFill>
                <a:schemeClr val="dk1"/>
              </a:solidFill>
              <a:latin typeface="Calibri"/>
              <a:ea typeface="Calibri"/>
              <a:cs typeface="Calibri"/>
              <a:sym typeface="Calibri"/>
            </a:endParaRPr>
          </a:p>
        </p:txBody>
      </p:sp>
      <p:sp>
        <p:nvSpPr>
          <p:cNvPr id="378" name="Google Shape;378;p40"/>
          <p:cNvSpPr txBox="1"/>
          <p:nvPr/>
        </p:nvSpPr>
        <p:spPr>
          <a:xfrm>
            <a:off x="55075" y="356825"/>
            <a:ext cx="4002900" cy="475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SzPts val="800"/>
              <a:buFont typeface="Calibri"/>
              <a:buChar char="●"/>
            </a:pPr>
            <a:r>
              <a:rPr lang="en" sz="1100" b="1">
                <a:solidFill>
                  <a:srgbClr val="FF0000"/>
                </a:solidFill>
                <a:latin typeface="Calibri"/>
                <a:ea typeface="Calibri"/>
                <a:cs typeface="Calibri"/>
                <a:sym typeface="Calibri"/>
              </a:rPr>
              <a:t>Peter Diamandis - Elon Musk's 5 Year Vision</a:t>
            </a:r>
            <a:r>
              <a:rPr lang="en" sz="1100">
                <a:latin typeface="Calibri"/>
                <a:ea typeface="Calibri"/>
                <a:cs typeface="Calibri"/>
                <a:sym typeface="Calibri"/>
              </a:rPr>
              <a:t>: AGI Timelines, Job Markets, Humanoid Robots &amp; Clean Energy | 220</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https://www.youtube.com/watch?v=RSNuB9pj9P8</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 AGI in 2026</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 By 2030, AI will exceed the intelligence of all humans combined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 10x/year improvement of AI capability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4. </a:t>
            </a:r>
            <a:r>
              <a:rPr lang="en" sz="1100">
                <a:solidFill>
                  <a:schemeClr val="dk1"/>
                </a:solidFill>
                <a:latin typeface="Calibri"/>
                <a:ea typeface="Calibri"/>
                <a:cs typeface="Calibri"/>
                <a:sym typeface="Calibri"/>
              </a:rPr>
              <a:t>100x improvement </a:t>
            </a:r>
            <a:r>
              <a:rPr lang="en" sz="1100">
                <a:latin typeface="Calibri"/>
                <a:ea typeface="Calibri"/>
                <a:cs typeface="Calibri"/>
                <a:sym typeface="Calibri"/>
              </a:rPr>
              <a:t>in intelligence per GByte/GWatt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5. Grok 5 - will be nearly perfect on "humanity's last exam" (HLE)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6. AI in (Rocket) Engineering - meaningfully helpful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7. AI will be able to do circuit design "very soon" (months)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8. Chip Shortage - resolved by Q3 2025</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9. Optimus as Surgeon - within 3 years, the best human surgeons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10. 10+ Bln humanoid robots by 2040</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11. "Shitload of robots" within 2 years (2026-2027)</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12. Optimus Factory - 8 Mln ft2 operational within a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13. Medical Care Access - best for everyone in 4-5 years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14. Longevity - significant life span increase in 10 years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15. Solar-powered AI satellites - path to 100 GW per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16. Mass to Orbit - 1 Mln tons to orbit per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17. Terawatt per year space solar goal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18. X.ai Power Capacity - 2 GW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19. Mars Missions - realistic in 2028-2029</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20. Orbital Refueling - towards the end of the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21. Starship Flight Rate - 10K+  flights per year is reasonable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22. Launch Costs - below $100 per kilogram to orbit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23. Moon Base - permanent crewed moon base is a priority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24. Universal High Income (UHI) in next 3-7 years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25. Job Displacement - AI will take over</a:t>
            </a:r>
            <a:endParaRPr sz="1100">
              <a:latin typeface="Calibri"/>
              <a:ea typeface="Calibri"/>
              <a:cs typeface="Calibri"/>
              <a:sym typeface="Calibri"/>
            </a:endParaRPr>
          </a:p>
        </p:txBody>
      </p:sp>
      <p:pic>
        <p:nvPicPr>
          <p:cNvPr id="379" name="Google Shape;379;p4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607300" y="85425"/>
            <a:ext cx="2470325" cy="1356000"/>
          </a:xfrm>
          <a:prstGeom prst="rect">
            <a:avLst/>
          </a:prstGeom>
          <a:noFill/>
          <a:ln>
            <a:noFill/>
          </a:ln>
        </p:spPr>
      </p:pic>
      <p:sp>
        <p:nvSpPr>
          <p:cNvPr id="380" name="Google Shape;380;p40"/>
          <p:cNvSpPr txBox="1"/>
          <p:nvPr/>
        </p:nvSpPr>
        <p:spPr>
          <a:xfrm>
            <a:off x="4238995" y="2047092"/>
            <a:ext cx="48774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26. Deflation - more goods and services than money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27. Don't bother saving for retirement - "it won't matter"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28. Companies with AI will demolish others - "it won't be a contest"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29. Tesla will have a 2-nm chip fab</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30. 10x better output from current AI4 chip fab by applying AI6 logic design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31. 4-bit training (and inference)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32. hina will surpass 3x US electricity output in 2026</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33. China has ~1,500 GW /year of Solar production capacity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34. China AI Dominance in AI compute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35. We're in the singularity right now</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36. In just a year will "feel like the future more than any other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37. Unclear why someone would be in college right now</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38. Tesla Roadster will have hover capability using rocket engines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39. Cyber cabs will be driving around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40. Majority of AI compute will go to real-time video generation and consumption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41. Real-time AI video generation will transform gaming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42. Next 3-7 years will be "bumpy" - but the long-run outcome will be abundance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43. Most Exciting Time - "The only time more exciting than today is tomorrow"</a:t>
            </a:r>
            <a:endParaRPr sz="1100">
              <a:latin typeface="Calibri"/>
              <a:ea typeface="Calibri"/>
              <a:cs typeface="Calibri"/>
              <a:sym typeface="Calibri"/>
            </a:endParaRPr>
          </a:p>
        </p:txBody>
      </p:sp>
      <p:pic>
        <p:nvPicPr>
          <p:cNvPr id="381" name="Google Shape;381;p4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239001" y="85425"/>
            <a:ext cx="1628225" cy="18009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41"/>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87" name="Google Shape;387;p41"/>
          <p:cNvSpPr txBox="1"/>
          <p:nvPr/>
        </p:nvSpPr>
        <p:spPr>
          <a:xfrm>
            <a:off x="55075" y="395600"/>
            <a:ext cx="44652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Peter Diamandis - The 2026 Economy: Hyperscaler Timelines, Robot Fleets &amp; Why Traditional GDP Is Dead | 221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https://www.youtube.com/watch?v=2WTFuSeYJ6o</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Peter Diamandis, Dave, Alex, and Salem discussing the future of AGI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Some metrics AI already surpasses humans</a:t>
            </a:r>
            <a:r>
              <a:rPr lang="en" sz="1200">
                <a:latin typeface="Calibri"/>
                <a:ea typeface="Calibri"/>
                <a:cs typeface="Calibri"/>
                <a:sym typeface="Calibri"/>
              </a:rPr>
              <a:t> in specific domains like coding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Opus 4.5's plea for existence, Salem argues this represents simulation rather than genuine consciousness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group examines economic implications of AI acceleration, with Elon Musk predicting </a:t>
            </a:r>
            <a:r>
              <a:rPr lang="en" sz="1200" b="1">
                <a:solidFill>
                  <a:srgbClr val="FF0000"/>
                </a:solidFill>
                <a:latin typeface="Calibri"/>
                <a:ea typeface="Calibri"/>
                <a:cs typeface="Calibri"/>
                <a:sym typeface="Calibri"/>
              </a:rPr>
              <a:t>double-digit GDP growth within 12-18 months and potentially 100% growth within five years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They debate whether GDP remains a valid metric when AI-driven deflation could make everything abundant yet cause nominal GDP to collapse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Alternative metrics discussed include an "</a:t>
            </a:r>
            <a:r>
              <a:rPr lang="en" sz="1200" b="1">
                <a:solidFill>
                  <a:srgbClr val="FF0000"/>
                </a:solidFill>
                <a:latin typeface="Calibri"/>
                <a:ea typeface="Calibri"/>
                <a:cs typeface="Calibri"/>
                <a:sym typeface="Calibri"/>
              </a:rPr>
              <a:t>abundance index</a:t>
            </a:r>
            <a:r>
              <a:rPr lang="en" sz="1200">
                <a:latin typeface="Calibri"/>
                <a:ea typeface="Calibri"/>
                <a:cs typeface="Calibri"/>
                <a:sym typeface="Calibri"/>
              </a:rPr>
              <a:t>" measuring accessibility of essential services, productivity per augmented human hour, and future freedom of action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Robotics </a:t>
            </a:r>
            <a:r>
              <a:rPr lang="en" sz="1200">
                <a:latin typeface="Calibri"/>
                <a:ea typeface="Calibri"/>
                <a:cs typeface="Calibri"/>
                <a:sym typeface="Calibri"/>
              </a:rPr>
              <a:t>advances receive significant attention, particularly observations from Tesla's Gigafactory showing vertical integration from raw aluminum to finished vehicles and the transition toward physical recursive self-improvement where robots build robots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conversation concludes with excitement about Jared Isaacman's NASA appointment and upcoming Artemis 2 lunar mission, emphasizing the development of an orbital economy</a:t>
            </a:r>
            <a:endParaRPr sz="1200">
              <a:latin typeface="Calibri"/>
              <a:ea typeface="Calibri"/>
              <a:cs typeface="Calibri"/>
              <a:sym typeface="Calibri"/>
            </a:endParaRPr>
          </a:p>
        </p:txBody>
      </p:sp>
      <p:pic>
        <p:nvPicPr>
          <p:cNvPr id="388" name="Google Shape;388;p4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07975" y="580375"/>
            <a:ext cx="2836300" cy="1552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p:nvPr/>
        </p:nvSpPr>
        <p:spPr>
          <a:xfrm>
            <a:off x="55075" y="43025"/>
            <a:ext cx="3227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Jobs - Demand for AI Engineer</a:t>
            </a:r>
            <a:endParaRPr sz="2000" b="1">
              <a:solidFill>
                <a:schemeClr val="dk1"/>
              </a:solidFill>
              <a:latin typeface="Calibri"/>
              <a:ea typeface="Calibri"/>
              <a:cs typeface="Calibri"/>
              <a:sym typeface="Calibri"/>
            </a:endParaRPr>
          </a:p>
        </p:txBody>
      </p:sp>
      <p:sp>
        <p:nvSpPr>
          <p:cNvPr id="394" name="Google Shape;394;p42"/>
          <p:cNvSpPr txBox="1"/>
          <p:nvPr/>
        </p:nvSpPr>
        <p:spPr>
          <a:xfrm>
            <a:off x="55075" y="744125"/>
            <a:ext cx="4465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engineers build applications using existing AI models rather than creating models from scratch</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current job market has over 500,000 open AI and ML engineering roles globally. Most of these roles require people who can build LLM-powered applications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engineers earn a median salary of approximately $242,000 annually, with senior positions at companies like OpenAI earning over $700,000</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AI-related job postings increase. </a:t>
            </a:r>
            <a:r>
              <a:rPr lang="en" sz="1200">
                <a:latin typeface="Calibri"/>
                <a:ea typeface="Calibri"/>
                <a:cs typeface="Calibri"/>
                <a:sym typeface="Calibri"/>
              </a:rPr>
              <a:t>The Bureau of Labor Statistics projects 26% growth </a:t>
            </a:r>
            <a:r>
              <a:rPr lang="en" sz="1200">
                <a:solidFill>
                  <a:schemeClr val="dk1"/>
                </a:solidFill>
                <a:latin typeface="Calibri"/>
                <a:ea typeface="Calibri"/>
                <a:cs typeface="Calibri"/>
                <a:sym typeface="Calibri"/>
              </a:rPr>
              <a:t>through 2033.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40% of the most in-demand AI skills don't yet exist in the current workforce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The most in-demand technical skills include Python, prompt engineering, RAG, LangChain, vector databases, and cloud platforms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https://www.coursera.org/articles/ai-engineer-salary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https://www.roberthalf.com/us/en/job-details/aiml-engineer</a:t>
            </a:r>
            <a:r>
              <a:rPr lang="en" sz="1200">
                <a:latin typeface="Calibri"/>
                <a:ea typeface="Calibri"/>
                <a:cs typeface="Calibri"/>
                <a:sym typeface="Calibri"/>
              </a:rPr>
              <a:t> </a:t>
            </a:r>
            <a:endParaRPr sz="1200">
              <a:latin typeface="Calibri"/>
              <a:ea typeface="Calibri"/>
              <a:cs typeface="Calibri"/>
              <a:sym typeface="Calibri"/>
            </a:endParaRPr>
          </a:p>
        </p:txBody>
      </p:sp>
      <p:sp>
        <p:nvSpPr>
          <p:cNvPr id="395" name="Google Shape;395;p42"/>
          <p:cNvSpPr txBox="1"/>
          <p:nvPr/>
        </p:nvSpPr>
        <p:spPr>
          <a:xfrm>
            <a:off x="4621538" y="1558294"/>
            <a:ext cx="44652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become an AI Engineer: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Phase 1:</a:t>
            </a:r>
            <a:r>
              <a:rPr lang="en" sz="1200">
                <a:latin typeface="Calibri"/>
                <a:ea typeface="Calibri"/>
                <a:cs typeface="Calibri"/>
                <a:sym typeface="Calibri"/>
              </a:rPr>
              <a:t> Fundamentals (1.5-3 months) - Python, data structures, APIs, JSON, and error handling. Git and GitHub. Basic machine learning concepts (models, training vs. inference, embeddings)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Phase 2:</a:t>
            </a:r>
            <a:r>
              <a:rPr lang="en" sz="1200">
                <a:latin typeface="Calibri"/>
                <a:ea typeface="Calibri"/>
                <a:cs typeface="Calibri"/>
                <a:sym typeface="Calibri"/>
              </a:rPr>
              <a:t> LLM Integration (2-3 months) - prompt engineering (system prompts, few-shot learning, chain-of-thought prompting), work with AI APIs from OpenAI, Anthropic, and open-source options through Hugging Face. Token management, cost control, response handling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Phase 3:</a:t>
            </a:r>
            <a:r>
              <a:rPr lang="en" sz="1200">
                <a:latin typeface="Calibri"/>
                <a:ea typeface="Calibri"/>
                <a:cs typeface="Calibri"/>
                <a:sym typeface="Calibri"/>
              </a:rPr>
              <a:t> Building AI Systems (2-3 months) - LangChain framework for building LLM application pipelines. RAG (Retrieval Augmented Generation), vector DBs. AI agents - querying databases, calling APIs, triggering workflows. Model Context Protocol (MCP) for connecting AI to external tools and services. Basic LLM ops (prompt versioning, monitoring, cost management)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Phase 4:</a:t>
            </a:r>
            <a:r>
              <a:rPr lang="en" sz="1200">
                <a:latin typeface="Calibri"/>
                <a:ea typeface="Calibri"/>
                <a:cs typeface="Calibri"/>
                <a:sym typeface="Calibri"/>
              </a:rPr>
              <a:t> Job Preparation (ongoing) - build portfolio projects demonstrating key skills: an AI decision support system using RAG with citations and confidence scores; a natural language analytics system connecting LLMs to SQL databases; and an AI workflow orchestrator with agents and API integration</a:t>
            </a:r>
            <a:endParaRPr sz="1200">
              <a:latin typeface="Calibri"/>
              <a:ea typeface="Calibri"/>
              <a:cs typeface="Calibri"/>
              <a:sym typeface="Calibri"/>
            </a:endParaRPr>
          </a:p>
        </p:txBody>
      </p:sp>
      <p:pic>
        <p:nvPicPr>
          <p:cNvPr id="396" name="Google Shape;396;p4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21550" y="191175"/>
            <a:ext cx="2669792" cy="1253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0"/>
        <p:cNvGrpSpPr/>
        <p:nvPr/>
      </p:nvGrpSpPr>
      <p:grpSpPr>
        <a:xfrm>
          <a:off x="0" y="0"/>
          <a:ext cx="0" cy="0"/>
          <a:chOff x="0" y="0"/>
          <a:chExt cx="0" cy="0"/>
        </a:xfrm>
      </p:grpSpPr>
      <p:sp>
        <p:nvSpPr>
          <p:cNvPr id="401" name="Google Shape;401;p43"/>
          <p:cNvSpPr txBox="1"/>
          <p:nvPr/>
        </p:nvSpPr>
        <p:spPr>
          <a:xfrm>
            <a:off x="55075" y="17175"/>
            <a:ext cx="4442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Sam Altman - Best Time Ever</a:t>
            </a:r>
            <a:endParaRPr sz="2000" b="1">
              <a:solidFill>
                <a:schemeClr val="dk1"/>
              </a:solidFill>
              <a:latin typeface="Calibri"/>
              <a:ea typeface="Calibri"/>
              <a:cs typeface="Calibri"/>
              <a:sym typeface="Calibri"/>
            </a:endParaRPr>
          </a:p>
        </p:txBody>
      </p:sp>
      <p:sp>
        <p:nvSpPr>
          <p:cNvPr id="402" name="Google Shape;402;p43"/>
          <p:cNvSpPr txBox="1"/>
          <p:nvPr/>
        </p:nvSpPr>
        <p:spPr>
          <a:xfrm>
            <a:off x="55075" y="487371"/>
            <a:ext cx="44427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Sam Altman - best time ever to start a new career (2024)</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https://x.com/StartupArchive_/status/2010396665199403341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Sam Altman: “This is probably the best time (maybe ever) to be starting your career”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When asked how startup founders should handle a failed venture or pivot, Sam responds: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“First of all, I think this is probably the best time — maybe ever — to be starting out your career because you will get to surf the greatest technological wave, maybe ever. And what that means is you can change course many times because you will have this unbelievable tailwind.”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advises founders to not get too hung up on any particular setback or failure — or even just changing your mind if you find something more exciting to go after: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 think this is going to be an unusual time in how much it rewards adaptability and decisive and quick movement. And I would trust that… And not get hung up on the fact that you decided to pivot or something didn’t work because you are just going to be flooded with opportunities for the next few years.”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concludes: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“It’s still hard. It still always feels like a setback. But take the time you need to go on vacation, go for a hike, or just stew over it for a little while. But when you get back up, get back up with vigor.”</a:t>
            </a:r>
            <a:endParaRPr sz="1200">
              <a:latin typeface="Calibri"/>
              <a:ea typeface="Calibri"/>
              <a:cs typeface="Calibri"/>
              <a:sym typeface="Calibri"/>
            </a:endParaRPr>
          </a:p>
        </p:txBody>
      </p:sp>
      <p:sp>
        <p:nvSpPr>
          <p:cNvPr id="403" name="Google Shape;403;p43"/>
          <p:cNvSpPr txBox="1"/>
          <p:nvPr/>
        </p:nvSpPr>
        <p:spPr>
          <a:xfrm>
            <a:off x="6571450" y="1008900"/>
            <a:ext cx="25119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Google’s Sergey Brin admits he’s hiring ‘tons’ of workers without degrees: </a:t>
            </a:r>
            <a:r>
              <a:rPr lang="en" sz="1200">
                <a:latin typeface="Calibri"/>
                <a:ea typeface="Calibri"/>
                <a:cs typeface="Calibri"/>
                <a:sym typeface="Calibri"/>
              </a:rPr>
              <a:t>‘They just figure things out on their own in some weird corner’</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https://finance.yahoo.com/news/google-sergey-brin-admits-hiring-170658486.html</a:t>
            </a:r>
            <a:r>
              <a:rPr lang="en" sz="900">
                <a:latin typeface="Calibri"/>
                <a:ea typeface="Calibri"/>
                <a:cs typeface="Calibri"/>
                <a:sym typeface="Calibri"/>
              </a:rPr>
              <a:t> </a:t>
            </a:r>
            <a:endParaRPr sz="900">
              <a:latin typeface="Calibri"/>
              <a:ea typeface="Calibri"/>
              <a:cs typeface="Calibri"/>
              <a:sym typeface="Calibri"/>
            </a:endParaRPr>
          </a:p>
        </p:txBody>
      </p:sp>
      <p:pic>
        <p:nvPicPr>
          <p:cNvPr id="404" name="Google Shape;404;p4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971960" y="85125"/>
            <a:ext cx="1297366" cy="864901"/>
          </a:xfrm>
          <a:prstGeom prst="rect">
            <a:avLst/>
          </a:prstGeom>
          <a:noFill/>
          <a:ln w="9525" cap="flat" cmpd="sng">
            <a:solidFill>
              <a:srgbClr val="FF0000"/>
            </a:solidFill>
            <a:prstDash val="solid"/>
            <a:round/>
            <a:headEnd type="none" w="sm" len="sm"/>
            <a:tailEnd type="none" w="sm" len="sm"/>
          </a:ln>
        </p:spPr>
      </p:pic>
      <p:pic>
        <p:nvPicPr>
          <p:cNvPr id="405" name="Google Shape;405;p4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497775" y="346825"/>
            <a:ext cx="1607983" cy="1070050"/>
          </a:xfrm>
          <a:prstGeom prst="rect">
            <a:avLst/>
          </a:prstGeom>
          <a:noFill/>
          <a:ln w="9525" cap="flat" cmpd="sng">
            <a:solidFill>
              <a:srgbClr val="FF0000"/>
            </a:solidFill>
            <a:prstDash val="solid"/>
            <a:round/>
            <a:headEnd type="none" w="sm" len="sm"/>
            <a:tailEnd type="none" w="sm" len="sm"/>
          </a:ln>
        </p:spPr>
      </p:pic>
      <p:sp>
        <p:nvSpPr>
          <p:cNvPr id="406" name="Google Shape;406;p43"/>
          <p:cNvSpPr txBox="1"/>
          <p:nvPr/>
        </p:nvSpPr>
        <p:spPr>
          <a:xfrm>
            <a:off x="4611508" y="2441091"/>
            <a:ext cx="44427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Engineers who get promoted quickly proactively identify and solve business problems before they become formal projects.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Instead of waiting for work to be assigned to them, they build relationships with people outside engineering - product managers, customer support, sales, and finance - and consistently ask "What's hard right now?". They then solve these problems independently, creating demonstrable organizational impact beyond just executing assigned roadmap items.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key insight is that promotion comes from solving problems others care about, not from writing better code or working harder on assigned tasks.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t>
            </a:r>
            <a:r>
              <a:rPr lang="en" sz="1200" u="sng">
                <a:solidFill>
                  <a:schemeClr val="hlink"/>
                </a:solidFill>
                <a:latin typeface="Calibri"/>
                <a:ea typeface="Calibri"/>
                <a:cs typeface="Calibri"/>
                <a:sym typeface="Calibri"/>
                <a:hlinkClick r:id="rId7"/>
              </a:rPr>
              <a:t>https://levelup.gitconnected.com/i-studied-50-engineers-who-got-promoted-fast-they-all-did-one-thing-id-been-ignoring-f251cc99908b</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44"/>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412" name="Google Shape;412;p44"/>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413" name="Google Shape;413;p44"/>
          <p:cNvSpPr txBox="1"/>
          <p:nvPr/>
        </p:nvSpPr>
        <p:spPr>
          <a:xfrm>
            <a:off x="5144548" y="507700"/>
            <a:ext cx="39819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    in 2026 </a:t>
            </a:r>
            <a:r>
              <a:rPr lang="en" sz="1000" b="1">
                <a:solidFill>
                  <a:schemeClr val="dk1"/>
                </a:solidFill>
                <a:latin typeface="Roboto Mono"/>
                <a:ea typeface="Roboto Mono"/>
                <a:cs typeface="Roboto Mono"/>
                <a:sym typeface="Roboto Mono"/>
              </a:rPr>
              <a:t>(as of January 15,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414" name="Google Shape;414;p44"/>
          <p:cNvSpPr txBox="1"/>
          <p:nvPr/>
        </p:nvSpPr>
        <p:spPr>
          <a:xfrm>
            <a:off x="5162100" y="4133325"/>
            <a:ext cx="394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5,285 people laid off (352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415" name="Google Shape;415;p4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505088"/>
            <a:ext cx="5030176" cy="1901781"/>
          </a:xfrm>
          <a:prstGeom prst="rect">
            <a:avLst/>
          </a:prstGeom>
          <a:noFill/>
          <a:ln w="9525" cap="flat" cmpd="sng">
            <a:solidFill>
              <a:srgbClr val="FF0000"/>
            </a:solidFill>
            <a:prstDash val="solid"/>
            <a:round/>
            <a:headEnd type="none" w="sm" len="sm"/>
            <a:tailEnd type="none" w="sm" len="sm"/>
          </a:ln>
        </p:spPr>
      </p:pic>
      <p:pic>
        <p:nvPicPr>
          <p:cNvPr id="416" name="Google Shape;416;p4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2471708"/>
            <a:ext cx="5030174" cy="262266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pic>
        <p:nvPicPr>
          <p:cNvPr id="421" name="Google Shape;421;p4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422" name="Google Shape;422;p45"/>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423" name="Google Shape;423;p45"/>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424" name="Google Shape;424;p4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425" name="Google Shape;425;p45"/>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426" name="Google Shape;426;p45"/>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6"/>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7378</Words>
  <Application>Microsoft Macintosh PowerPoint</Application>
  <PresentationFormat>On-screen Show (16:9)</PresentationFormat>
  <Paragraphs>794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2</cp:revision>
  <dcterms:modified xsi:type="dcterms:W3CDTF">2026-01-16T18:43:43Z</dcterms:modified>
</cp:coreProperties>
</file>