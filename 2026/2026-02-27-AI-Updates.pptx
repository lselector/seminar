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Roboto Mono" pitchFamily="49"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E712C26-E657-4193-938D-7A0E400186A5}">
  <a:tblStyle styleId="{CE712C26-E657-4193-938D-7A0E400186A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cadd1b1df5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cadd1b1df5_2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c94bcbf72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g3c94bcbf72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ca5765053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3ca5765053f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ca1beaf4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ca1beaf4e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ca5765053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ca5765053f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ca5765053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3ca5765053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938c54d2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3938c54d2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c9a7be0a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g3c9a7be0a4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add1b1df5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3cadd1b1df5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9433a87c3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9433a87c3f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9433a87c3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39433a87c3f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cadd1b1df5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3cadd1b1df5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9433a87c3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9433a87c3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caa5a8f00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3caa5a8f00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c9e155f6f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c9e155f6f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cadd1b1df5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3cadd1b1df5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cadd1b1df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cadd1b1df5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9433a87c3f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9433a87c3f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www.anthropic.com/news/claude-opus-4-5" TargetMode="External"/><Relationship Id="rId39" Type="http://schemas.openxmlformats.org/officeDocument/2006/relationships/hyperlink" Target="https://www.anthropic.com/news/claude-4" TargetMode="External"/><Relationship Id="rId21" Type="http://schemas.openxmlformats.org/officeDocument/2006/relationships/hyperlink" Target="https://aistudio.google.com/app/prompts/new_chat?model=gemini-3-pro-preview" TargetMode="External"/><Relationship Id="rId34" Type="http://schemas.openxmlformats.org/officeDocument/2006/relationships/hyperlink" Target="https://aistudio.google.com/app/prompts/new_chat?model=gemini-2.5-pro"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blog.google/products/gemini/gemini-3-flash" TargetMode="External"/><Relationship Id="rId33" Type="http://schemas.openxmlformats.org/officeDocument/2006/relationships/hyperlink" Target="https://huggingface.co/Qwen/Qwen3.5-397B-A17B" TargetMode="External"/><Relationship Id="rId38" Type="http://schemas.openxmlformats.org/officeDocument/2006/relationships/hyperlink" Target="https://openai.com/index/introducing-gpt-5-2" TargetMode="External"/><Relationship Id="rId2" Type="http://schemas.openxmlformats.org/officeDocument/2006/relationships/notesSlide" Target="../notesSlides/notesSlide3.xml"/><Relationship Id="rId16" Type="http://schemas.openxmlformats.org/officeDocument/2006/relationships/hyperlink" Target="https://artificialanalysis.ai/models/grok-4" TargetMode="External"/><Relationship Id="rId20" Type="http://schemas.openxmlformats.org/officeDocument/2006/relationships/hyperlink" Target="https://blog.google/innovation-and-ai/models-and-research/gemini-models/gemini-3-1-pro/" TargetMode="External"/><Relationship Id="rId29" Type="http://schemas.openxmlformats.org/officeDocument/2006/relationships/hyperlink" Target="https://huggingface.co/zai-org/GLM-5"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x.ai/news/grok-4-1" TargetMode="External"/><Relationship Id="rId32" Type="http://schemas.openxmlformats.org/officeDocument/2006/relationships/hyperlink" Target="https://www.anthropic.com/news/claude-sonnet-4-5" TargetMode="External"/><Relationship Id="rId37" Type="http://schemas.openxmlformats.org/officeDocument/2006/relationships/hyperlink" Target="https://openai.com/index/introducing-gpt-4-5/"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seed.bytedance.com/en/blog/dola-seed-2-0-preview-model-release-on-arena" TargetMode="External"/><Relationship Id="rId28" Type="http://schemas.openxmlformats.org/officeDocument/2006/relationships/hyperlink" Target="https://www.anthropic.com/news/claude-sonnet-4-6" TargetMode="External"/><Relationship Id="rId36" Type="http://schemas.openxmlformats.org/officeDocument/2006/relationships/hyperlink" Target="https://www.anthropic.com/news/claude-opus-4-1"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6" TargetMode="External"/><Relationship Id="rId31" Type="http://schemas.openxmlformats.org/officeDocument/2006/relationships/hyperlink" Target="https://www.kimi.com/blog/kimi-k2-5.html"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developers.openai.com/api/docs/models/gpt-5.2-chat-latest" TargetMode="External"/><Relationship Id="rId27" Type="http://schemas.openxmlformats.org/officeDocument/2006/relationships/hyperlink" Target="https://openai.com/index/gpt-5-1/" TargetMode="External"/><Relationship Id="rId30" Type="http://schemas.openxmlformats.org/officeDocument/2006/relationships/hyperlink" Target="https://ernie.baidu.com/blog/posts/ernie-5.0-0110-release-on-lmarena/" TargetMode="External"/><Relationship Id="rId35" Type="http://schemas.openxmlformats.org/officeDocument/2006/relationships/hyperlink" Target="https://ernie.baidu.com/blog/posts/ernie-5.0-preview-1203-release-on-lmarena/"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dVpIPXmEk8Y"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nader.substack.com/p/you-couldve-invented-openclaw"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corpwaters.substack.com/p/the-ultimate-guide-to-openclaw" TargetMode="External"/><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KAufsCas_F4"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www.youtube.com/watch?v=O_VBdNrX0PM"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WjxOffC2ky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youtube.com/watch?v=znIj4XPsHak" TargetMode="External"/><Relationship Id="rId5" Type="http://schemas.openxmlformats.org/officeDocument/2006/relationships/hyperlink" Target="https://www.youtube.com/watch?v=XmKD8BGiC8w"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hyperlink" Target="https://openclaw.ai" TargetMode="External"/><Relationship Id="rId13" Type="http://schemas.openxmlformats.org/officeDocument/2006/relationships/hyperlink" Target="https://www.youtube.com/watch?v=2HiHDIFStzg" TargetMode="External"/><Relationship Id="rId3" Type="http://schemas.openxmlformats.org/officeDocument/2006/relationships/hyperlink" Target="https://www.youtube.com/watch?v=m_l9pUKLiXo" TargetMode="External"/><Relationship Id="rId7" Type="http://schemas.openxmlformats.org/officeDocument/2006/relationships/hyperlink" Target="https://www.linkedin.com/in/steipete/" TargetMode="External"/><Relationship Id="rId12" Type="http://schemas.openxmlformats.org/officeDocument/2006/relationships/hyperlink" Target="https://www.youtube.com/watch?v=qURVA5XO84s" TargetMode="External"/><Relationship Id="rId2" Type="http://schemas.openxmlformats.org/officeDocument/2006/relationships/notesSlide" Target="../notesSlides/notesSlide9.xml"/><Relationship Id="rId16" Type="http://schemas.openxmlformats.org/officeDocument/2006/relationships/hyperlink" Target="https://github.com/mberman84" TargetMode="External"/><Relationship Id="rId1" Type="http://schemas.openxmlformats.org/officeDocument/2006/relationships/slideLayout" Target="../slideLayouts/slideLayout1.xml"/><Relationship Id="rId6" Type="http://schemas.openxmlformats.org/officeDocument/2006/relationships/hyperlink" Target="https://steipete.com" TargetMode="External"/><Relationship Id="rId11" Type="http://schemas.openxmlformats.org/officeDocument/2006/relationships/hyperlink" Target="https://www.youtube.com/watch?v=WvoUvux27LU" TargetMode="External"/><Relationship Id="rId5" Type="http://schemas.openxmlformats.org/officeDocument/2006/relationships/hyperlink" Target="https://github.com/steipete" TargetMode="External"/><Relationship Id="rId15" Type="http://schemas.openxmlformats.org/officeDocument/2006/relationships/hyperlink" Target="https://gemini.google.com/app/85ee439c66411016" TargetMode="External"/><Relationship Id="rId10" Type="http://schemas.openxmlformats.org/officeDocument/2006/relationships/hyperlink" Target="https://discord.com/invite/openclaw" TargetMode="External"/><Relationship Id="rId4" Type="http://schemas.openxmlformats.org/officeDocument/2006/relationships/hyperlink" Target="https://x.com/steipete" TargetMode="External"/><Relationship Id="rId9" Type="http://schemas.openxmlformats.org/officeDocument/2006/relationships/hyperlink" Target="https://github.com/openclaw/openclaw" TargetMode="External"/><Relationship Id="rId14" Type="http://schemas.openxmlformats.org/officeDocument/2006/relationships/hyperlink" Target="https://gist.github.com/mberman84/5ccf2085d0049581b4675f7fe64e9b87"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www.warp.dev/oz" TargetMode="External"/><Relationship Id="rId3" Type="http://schemas.openxmlformats.org/officeDocument/2006/relationships/hyperlink" Target="https://www.youtube.com/watch?v=k6uY0AQOP4k" TargetMode="External"/><Relationship Id="rId7" Type="http://schemas.openxmlformats.org/officeDocument/2006/relationships/hyperlink" Target="https://www.warp.dev"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youtube.com/watch?v=I9BZRuw5c80" TargetMode="External"/><Relationship Id="rId5" Type="http://schemas.openxmlformats.org/officeDocument/2006/relationships/hyperlink" Target="https://www.youtube.com/watch?v=QkTrdDMKE7I" TargetMode="External"/><Relationship Id="rId4" Type="http://schemas.openxmlformats.org/officeDocument/2006/relationships/hyperlink" Target="https://www.youtube.com/watch?v=Cx2oPWU8qjY"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TotUFMwux5g"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www.youtube.com/watch?v=YFVR8NRmGF0" TargetMode="External"/><Relationship Id="rId4" Type="http://schemas.openxmlformats.org/officeDocument/2006/relationships/hyperlink" Target="https://www.youtube.com/watch?v=aojY3mU6BcM"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www.youtube.com/watch?v=0soFIReWb1w" TargetMode="External"/><Relationship Id="rId3" Type="http://schemas.openxmlformats.org/officeDocument/2006/relationships/hyperlink" Target="https://www.youtube.com/watch?v=-Cjjh5SV_o4" TargetMode="External"/><Relationship Id="rId7" Type="http://schemas.openxmlformats.org/officeDocument/2006/relationships/hyperlink" Target="https://xcloud.host/openclaw-hosting/"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www.youtube.com/watch?v=yuPRgWnPFfA" TargetMode="External"/><Relationship Id="rId5" Type="http://schemas.openxmlformats.org/officeDocument/2006/relationships/hyperlink" Target="https://mission-control-prompts.vercel.app/" TargetMode="External"/><Relationship Id="rId4" Type="http://schemas.openxmlformats.org/officeDocument/2006/relationships/hyperlink" Target="https://www.youtube.com/watch?v=vfLQTrS-gRc"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Z_X3TUplCi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www.youtube.com/watch?v=QQq73onHjZo" TargetMode="External"/><Relationship Id="rId4" Type="http://schemas.openxmlformats.org/officeDocument/2006/relationships/hyperlink" Target="https://www.youtube.com/watch?v=GpQcz_eKiNo"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bitlaunch.io/blog/install-configure-openclaw/" TargetMode="External"/><Relationship Id="rId3" Type="http://schemas.openxmlformats.org/officeDocument/2006/relationships/hyperlink" Target="https://www.youtube.com/watch?v=9AxdzsVkMLI" TargetMode="External"/><Relationship Id="rId7" Type="http://schemas.openxmlformats.org/officeDocument/2006/relationships/hyperlink" Target="https://us.ugreen.com/blogs/docking-stations/openclaw-on-mac-mini"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YSJ61RiO7As" TargetMode="External"/><Relationship Id="rId5" Type="http://schemas.openxmlformats.org/officeDocument/2006/relationships/hyperlink" Target="http://node.js" TargetMode="External"/><Relationship Id="rId10" Type="http://schemas.openxmlformats.org/officeDocument/2006/relationships/hyperlink" Target="https://www.youtube.com/watch?v=kqkOFKmNY_w" TargetMode="External"/><Relationship Id="rId4" Type="http://schemas.openxmlformats.org/officeDocument/2006/relationships/hyperlink" Target="https://levelup.gitconnected.com/you-dont-need-to-buy-a-mac-mini-to-run-openclaw-27bd564c0c9d" TargetMode="External"/><Relationship Id="rId9" Type="http://schemas.openxmlformats.org/officeDocument/2006/relationships/hyperlink" Target="https://help.apiyi.com/en/openclaw-local-vs-server-deployment-guide-en.html"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9F-TcTlD5T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www.youtube.com/watch?v=6TopUr9huiw" TargetMode="External"/><Relationship Id="rId4" Type="http://schemas.openxmlformats.org/officeDocument/2006/relationships/hyperlink" Target="https://www.youtube.com/watch?v=wctPAKyr0xw"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7oRBHxMvWxQ"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www.youtube.com/watch?v=woQe90k7g3c"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nature.com/articles/s43588-026-00956-4"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hyperlink" Target="https://www.youtube.com/watch?v=hm9WsUS6UH8" TargetMode="External"/><Relationship Id="rId4" Type="http://schemas.openxmlformats.org/officeDocument/2006/relationships/hyperlink" Target="https://www.youtube.com/watch?v=yqr2qoTcMPk"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x.com/China_Amb_India/status/2026235663469986107" TargetMode="External"/><Relationship Id="rId7"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hyperlink" Target="https://www.youtube.com/watch?v=bna8EpgI2bE" TargetMode="Externa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hyperlink" Target="https://github.com/ggml-org/whisper.cpp" TargetMode="External"/><Relationship Id="rId3" Type="http://schemas.openxmlformats.org/officeDocument/2006/relationships/hyperlink" Target="http://ggml.ai" TargetMode="External"/><Relationship Id="rId7" Type="http://schemas.openxmlformats.org/officeDocument/2006/relationships/hyperlink" Target="https://github.com/ggml-org/llama.cpp"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github.com/ggml-org" TargetMode="External"/><Relationship Id="rId5" Type="http://schemas.openxmlformats.org/officeDocument/2006/relationships/hyperlink" Target="https://github.com/ggml-org/ggml" TargetMode="External"/><Relationship Id="rId10" Type="http://schemas.openxmlformats.org/officeDocument/2006/relationships/image" Target="../media/image11.png"/><Relationship Id="rId4" Type="http://schemas.openxmlformats.org/officeDocument/2006/relationships/hyperlink" Target="https://ggml.ai" TargetMode="External"/><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EuXMn67uSME"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www.youtube.com/watch?v=nSBKCZQkmYw" TargetMode="External"/><Relationship Id="rId5" Type="http://schemas.openxmlformats.org/officeDocument/2006/relationships/hyperlink" Target="https://www.youtube.com/watch?v=5PKYfRofUdg" TargetMode="External"/><Relationship Id="rId4" Type="http://schemas.openxmlformats.org/officeDocument/2006/relationships/hyperlink" Target="https://www.youtube.com/watch?v=_yfiUQSbdPY"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trueup.io/layoffs"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a:t>
            </a:r>
            <a:r>
              <a:rPr lang="en" sz="2200" b="1">
                <a:solidFill>
                  <a:srgbClr val="3C78D8"/>
                </a:solidFill>
                <a:latin typeface="Calibri"/>
                <a:ea typeface="Calibri"/>
                <a:cs typeface="Calibri"/>
                <a:sym typeface="Calibri"/>
              </a:rPr>
              <a:t>Feb</a:t>
            </a:r>
            <a:r>
              <a:rPr lang="en" sz="2200" b="1" i="0" u="none" strike="noStrike" cap="none">
                <a:solidFill>
                  <a:srgbClr val="3C78D8"/>
                </a:solidFill>
                <a:latin typeface="Calibri"/>
                <a:ea typeface="Calibri"/>
                <a:cs typeface="Calibri"/>
                <a:sym typeface="Calibri"/>
              </a:rPr>
              <a:t> </a:t>
            </a:r>
            <a:r>
              <a:rPr lang="en" sz="2200" b="1">
                <a:solidFill>
                  <a:srgbClr val="3C78D8"/>
                </a:solidFill>
                <a:latin typeface="Calibri"/>
                <a:ea typeface="Calibri"/>
                <a:cs typeface="Calibri"/>
                <a:sym typeface="Calibri"/>
              </a:rPr>
              <a:t>27</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64" name="Google Shape;64;p15"/>
          <p:cNvSpPr txBox="1"/>
          <p:nvPr/>
        </p:nvSpPr>
        <p:spPr>
          <a:xfrm>
            <a:off x="909075" y="1200150"/>
            <a:ext cx="7332600" cy="3158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3400" b="1" i="1" dirty="0">
                <a:solidFill>
                  <a:srgbClr val="3C78D8"/>
                </a:solidFill>
                <a:latin typeface="Calibri"/>
                <a:ea typeface="Calibri"/>
                <a:cs typeface="Calibri"/>
                <a:sym typeface="Calibri"/>
              </a:rPr>
              <a:t>"AI is no longer a tool you use, but a teammate you manage."</a:t>
            </a:r>
            <a:endParaRPr sz="3400" b="1" i="1" dirty="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endParaRPr sz="3400" b="1" i="1" dirty="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endParaRPr sz="3400" b="1" i="1" dirty="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3400" b="1" i="1" dirty="0">
                <a:solidFill>
                  <a:srgbClr val="3C78D8"/>
                </a:solidFill>
                <a:latin typeface="Calibri"/>
                <a:ea typeface="Calibri"/>
                <a:cs typeface="Calibri"/>
                <a:sym typeface="Calibri"/>
              </a:rPr>
              <a:t>"The value isn't in the model, but in the skill of the human holding the reins."</a:t>
            </a:r>
            <a:endParaRPr sz="3400" b="1" i="1" dirty="0">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6"/>
          <p:cNvSpPr txBox="1"/>
          <p:nvPr/>
        </p:nvSpPr>
        <p:spPr>
          <a:xfrm>
            <a:off x="78651" y="442463"/>
            <a:ext cx="4420200" cy="152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vs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You Could've Invented OpenClaw </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Liam Ottley - AI Business Models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Taalas chips - 17,000 Tok/sec inference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ChatGPT upgrade to its deep research feature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ChatGPT update called interactive code blocks</a:t>
            </a:r>
            <a:endParaRPr b="1">
              <a:solidFill>
                <a:srgbClr val="3C78D8"/>
              </a:solidFill>
              <a:latin typeface="Calibri"/>
              <a:ea typeface="Calibri"/>
              <a:cs typeface="Calibri"/>
              <a:sym typeface="Calibri"/>
            </a:endParaRPr>
          </a:p>
        </p:txBody>
      </p:sp>
      <p:sp>
        <p:nvSpPr>
          <p:cNvPr id="70" name="Google Shape;70;p16"/>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a:t>
            </a:r>
            <a:r>
              <a:rPr lang="en" sz="2200" b="1">
                <a:solidFill>
                  <a:srgbClr val="3C78D8"/>
                </a:solidFill>
                <a:latin typeface="Calibri"/>
                <a:ea typeface="Calibri"/>
                <a:cs typeface="Calibri"/>
                <a:sym typeface="Calibri"/>
              </a:rPr>
              <a:t>Feb</a:t>
            </a:r>
            <a:r>
              <a:rPr lang="en" sz="2200" b="1" i="0" u="none" strike="noStrike" cap="none">
                <a:solidFill>
                  <a:srgbClr val="3C78D8"/>
                </a:solidFill>
                <a:latin typeface="Calibri"/>
                <a:ea typeface="Calibri"/>
                <a:cs typeface="Calibri"/>
                <a:sym typeface="Calibri"/>
              </a:rPr>
              <a:t> </a:t>
            </a:r>
            <a:r>
              <a:rPr lang="en" sz="2200" b="1">
                <a:solidFill>
                  <a:srgbClr val="3C78D8"/>
                </a:solidFill>
                <a:latin typeface="Calibri"/>
                <a:ea typeface="Calibri"/>
                <a:cs typeface="Calibri"/>
                <a:sym typeface="Calibri"/>
              </a:rPr>
              <a:t>27</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71" name="Google Shape;71;p16"/>
          <p:cNvSpPr txBox="1"/>
          <p:nvPr/>
        </p:nvSpPr>
        <p:spPr>
          <a:xfrm>
            <a:off x="4574323" y="4812290"/>
            <a:ext cx="4502400" cy="23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i="0" u="none" strike="noStrike" cap="none">
                <a:solidFill>
                  <a:srgbClr val="3C78D8"/>
                </a:solidFill>
                <a:latin typeface="Calibri"/>
                <a:ea typeface="Calibri"/>
                <a:cs typeface="Calibri"/>
                <a:sym typeface="Calibri"/>
              </a:rPr>
              <a:t>Jobs, Layoffs, </a:t>
            </a:r>
            <a:r>
              <a:rPr lang="en" b="1">
                <a:solidFill>
                  <a:srgbClr val="3C78D8"/>
                </a:solidFill>
                <a:latin typeface="Calibri"/>
                <a:ea typeface="Calibri"/>
                <a:cs typeface="Calibri"/>
                <a:sym typeface="Calibri"/>
              </a:rPr>
              <a:t>demand for AI Engineers</a:t>
            </a:r>
            <a:endParaRPr b="1" i="0" u="none" strike="noStrike" cap="none">
              <a:solidFill>
                <a:srgbClr val="3C78D8"/>
              </a:solidFill>
              <a:latin typeface="Calibri"/>
              <a:ea typeface="Calibri"/>
              <a:cs typeface="Calibri"/>
              <a:sym typeface="Calibri"/>
            </a:endParaRPr>
          </a:p>
        </p:txBody>
      </p:sp>
      <p:sp>
        <p:nvSpPr>
          <p:cNvPr id="72" name="Google Shape;72;p16"/>
          <p:cNvSpPr txBox="1"/>
          <p:nvPr/>
        </p:nvSpPr>
        <p:spPr>
          <a:xfrm>
            <a:off x="78651" y="2006939"/>
            <a:ext cx="4420200" cy="30354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Peter Steinberger Workflow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Example - Create Skills with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on GPT 5.3 Codex via  $20/mo Plus plan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Matthew Berman's Custom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 Qwen 3.5</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 Sonnet 4.6</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 Gemini 3.1 Pro</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Oz by Warp - cloud-based AI coding agent platform</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Abacus Deep Agent - Secure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Abacus AI’s "Deep Agent" can create quality audio</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Update (Mistral Chat + Voice + Memory!)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restricts Antigravity access for OpenClaw users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 Zapier MCP = 8,000 apps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 Build Mission Control Dashboard</a:t>
            </a:r>
            <a:endParaRPr b="1">
              <a:solidFill>
                <a:srgbClr val="3C78D8"/>
              </a:solidFill>
              <a:latin typeface="Calibri"/>
              <a:ea typeface="Calibri"/>
              <a:cs typeface="Calibri"/>
              <a:sym typeface="Calibri"/>
            </a:endParaRPr>
          </a:p>
        </p:txBody>
      </p:sp>
      <p:sp>
        <p:nvSpPr>
          <p:cNvPr id="73" name="Google Shape;73;p16"/>
          <p:cNvSpPr txBox="1"/>
          <p:nvPr/>
        </p:nvSpPr>
        <p:spPr>
          <a:xfrm>
            <a:off x="4574323" y="442467"/>
            <a:ext cx="4502400" cy="43284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Three ways to configure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Make OpenClaw more powerful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 GLM 4.7 Flash + Gemini 3.1 Pro</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Mission Control + Agent Teams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 save money, grow your X account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Run OpenClaw on your Mac Safely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High-value AI skills to be worth $500K/year by 2027</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IronClaw - in Rust, more secure than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ZeroClaw local agent in Rust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Lyria 3 AI music model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Why AI generate Garbage Code - and How to Fix It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India announced three (3) domestically-built models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VoiceBox - open-source local-first AI voice cloning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Modeling human concept formation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Agent Modeling Trading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Builds Self-Learning AI (RL2F)</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China leads the humanoid robot revolution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Coding in COBOL triggered IBM shares price crash</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GGML.ai bought by Hugging Face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David Silver starts Ineffable Intelligence</a:t>
            </a:r>
            <a:endParaRPr b="1">
              <a:solidFill>
                <a:srgbClr val="3C78D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9" name="Google Shape;79;p17"/>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80" name="Google Shape;80;p17"/>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81" name="Google Shape;81;p17"/>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82" name="Google Shape;82;p17"/>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3" name="Google Shape;83;p17"/>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February 23</a:t>
            </a:r>
            <a:endParaRPr sz="1000">
              <a:latin typeface="Calibri"/>
              <a:ea typeface="Calibri"/>
              <a:cs typeface="Calibri"/>
              <a:sym typeface="Calibri"/>
            </a:endParaRPr>
          </a:p>
        </p:txBody>
      </p:sp>
      <p:sp>
        <p:nvSpPr>
          <p:cNvPr id="84" name="Google Shape;84;p17"/>
          <p:cNvSpPr txBox="1"/>
          <p:nvPr/>
        </p:nvSpPr>
        <p:spPr>
          <a:xfrm>
            <a:off x="7349895" y="543655"/>
            <a:ext cx="17457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glm-4.7 - 355B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longcat-flash-chat - 560B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qwen3-max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qwen3-235b-a22b - 235B</a:t>
            </a:r>
            <a:endParaRPr sz="1000">
              <a:latin typeface="Calibri"/>
              <a:ea typeface="Calibri"/>
              <a:cs typeface="Calibri"/>
              <a:sym typeface="Calibri"/>
            </a:endParaRPr>
          </a:p>
        </p:txBody>
      </p:sp>
      <p:sp>
        <p:nvSpPr>
          <p:cNvPr id="85" name="Google Shape;85;p17"/>
          <p:cNvSpPr txBox="1"/>
          <p:nvPr/>
        </p:nvSpPr>
        <p:spPr>
          <a:xfrm>
            <a:off x="5619627" y="476075"/>
            <a:ext cx="1596000" cy="71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31 - deepseek 1473</a:t>
            </a:r>
            <a:br>
              <a:rPr lang="en" sz="900">
                <a:solidFill>
                  <a:srgbClr val="3C78D8"/>
                </a:solidFill>
                <a:latin typeface="Roboto Mono"/>
                <a:ea typeface="Roboto Mono"/>
                <a:cs typeface="Roboto Mono"/>
                <a:sym typeface="Roboto Mono"/>
              </a:rPr>
            </a:br>
            <a:r>
              <a:rPr lang="en" sz="900">
                <a:solidFill>
                  <a:srgbClr val="3C78D8"/>
                </a:solidFill>
                <a:latin typeface="Roboto Mono"/>
                <a:ea typeface="Roboto Mono"/>
                <a:cs typeface="Roboto Mono"/>
                <a:sym typeface="Roboto Mono"/>
              </a:rPr>
              <a:t>(V4 soon)</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133 - Llama 1374</a:t>
            </a:r>
            <a:br>
              <a:rPr lang="en" sz="900">
                <a:solidFill>
                  <a:srgbClr val="3C78D8"/>
                </a:solidFill>
                <a:latin typeface="Roboto Mono"/>
                <a:ea typeface="Roboto Mono"/>
                <a:cs typeface="Roboto Mono"/>
                <a:sym typeface="Roboto Mono"/>
              </a:rPr>
            </a:br>
            <a:r>
              <a:rPr lang="en" sz="900">
                <a:solidFill>
                  <a:srgbClr val="3C78D8"/>
                </a:solidFill>
                <a:latin typeface="Roboto Mono"/>
                <a:ea typeface="Roboto Mono"/>
                <a:cs typeface="Roboto Mono"/>
                <a:sym typeface="Roboto Mono"/>
              </a:rPr>
              <a:t>(Avocado in Q1)</a:t>
            </a:r>
            <a:endParaRPr sz="900">
              <a:solidFill>
                <a:srgbClr val="3C78D8"/>
              </a:solidFill>
              <a:latin typeface="Roboto Mono"/>
              <a:ea typeface="Roboto Mono"/>
              <a:cs typeface="Roboto Mono"/>
              <a:sym typeface="Roboto Mono"/>
            </a:endParaRPr>
          </a:p>
        </p:txBody>
      </p:sp>
      <p:graphicFrame>
        <p:nvGraphicFramePr>
          <p:cNvPr id="86" name="Google Shape;86;p17"/>
          <p:cNvGraphicFramePr/>
          <p:nvPr/>
        </p:nvGraphicFramePr>
        <p:xfrm>
          <a:off x="5619625" y="1236813"/>
          <a:ext cx="3000000" cy="3000000"/>
        </p:xfrm>
        <a:graphic>
          <a:graphicData uri="http://schemas.openxmlformats.org/drawingml/2006/table">
            <a:tbl>
              <a:tblPr>
                <a:noFill/>
                <a:tableStyleId>{CE712C26-E657-4193-938D-7A0E400186A5}</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graphicFrame>
        <p:nvGraphicFramePr>
          <p:cNvPr id="87" name="Google Shape;87;p17"/>
          <p:cNvGraphicFramePr/>
          <p:nvPr/>
        </p:nvGraphicFramePr>
        <p:xfrm>
          <a:off x="197915" y="731315"/>
          <a:ext cx="3000000" cy="3000000"/>
        </p:xfrm>
        <a:graphic>
          <a:graphicData uri="http://schemas.openxmlformats.org/drawingml/2006/table">
            <a:tbl>
              <a:tblPr>
                <a:noFill/>
                <a:tableStyleId>{CE712C26-E657-4193-938D-7A0E400186A5}</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gemini-2.5-pro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ernie-5.0-preview-1203</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gpt-4.5-preview-2025-02-27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8" name="Google Shape;88;p17"/>
          <p:cNvGraphicFramePr/>
          <p:nvPr/>
        </p:nvGraphicFramePr>
        <p:xfrm>
          <a:off x="2899180" y="730804"/>
          <a:ext cx="3000000" cy="3000000"/>
        </p:xfrm>
        <a:graphic>
          <a:graphicData uri="http://schemas.openxmlformats.org/drawingml/2006/table">
            <a:tbl>
              <a:tblPr>
                <a:noFill/>
                <a:tableStyleId>{CE712C26-E657-4193-938D-7A0E400186A5}</a:tableStyleId>
              </a:tblPr>
              <a:tblGrid>
                <a:gridCol w="27622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gpt-5.2</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claude-opus-4-20250514-thinking-16k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gpt-5.2-high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p:nvPr/>
        </p:nvSpPr>
        <p:spPr>
          <a:xfrm>
            <a:off x="55075" y="43025"/>
            <a:ext cx="4300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(CC) vs OpenClaw (OC)</a:t>
            </a:r>
            <a:endParaRPr sz="2000" b="1">
              <a:solidFill>
                <a:schemeClr val="dk1"/>
              </a:solidFill>
              <a:latin typeface="Calibri"/>
              <a:ea typeface="Calibri"/>
              <a:cs typeface="Calibri"/>
              <a:sym typeface="Calibri"/>
            </a:endParaRPr>
          </a:p>
        </p:txBody>
      </p:sp>
      <p:sp>
        <p:nvSpPr>
          <p:cNvPr id="94" name="Google Shape;94;p18"/>
          <p:cNvSpPr txBox="1"/>
          <p:nvPr/>
        </p:nvSpPr>
        <p:spPr>
          <a:xfrm>
            <a:off x="43820" y="398733"/>
            <a:ext cx="4503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Why people are so excited about openclaw?</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vision of a "live" assistant that "my mom can use" is exciting  </a:t>
            </a:r>
            <a:br>
              <a:rPr lang="en" sz="1100">
                <a:latin typeface="Calibri"/>
                <a:ea typeface="Calibri"/>
                <a:cs typeface="Calibri"/>
                <a:sym typeface="Calibri"/>
              </a:rPr>
            </a:br>
            <a:r>
              <a:rPr lang="en" sz="1100">
                <a:latin typeface="Calibri"/>
                <a:ea typeface="Calibri"/>
                <a:cs typeface="Calibri"/>
                <a:sym typeface="Calibri"/>
              </a:rPr>
              <a:t>But right now to work with OC you need to be technical and VERY careful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But if you are can use Claude Code, then for any particular task you can ask it to create a combination of skills and scripts. Then you can run this on your personal laptop and can schedule it to run on a regular basis. It is safe. You can have persistent memory, work with local docs, work with websites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way you can get almost all functionality you need for your daily tasks. And you can use your Claude subscription (which is not available for OpenClaw because of Anthropic's recent ban)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You can set up a small </a:t>
            </a:r>
            <a:r>
              <a:rPr lang="en" sz="1100">
                <a:solidFill>
                  <a:schemeClr val="dk1"/>
                </a:solidFill>
                <a:latin typeface="Calibri"/>
                <a:ea typeface="Calibri"/>
                <a:cs typeface="Calibri"/>
                <a:sym typeface="Calibri"/>
              </a:rPr>
              <a:t>server for webhooks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 can switch to use only local model(s) for extra privacy</a:t>
            </a:r>
            <a:endParaRPr sz="1100">
              <a:solidFill>
                <a:schemeClr val="dk1"/>
              </a:solidFill>
              <a:latin typeface="Calibri"/>
              <a:ea typeface="Calibri"/>
              <a:cs typeface="Calibri"/>
              <a:sym typeface="Calibri"/>
            </a:endParaRPr>
          </a:p>
        </p:txBody>
      </p:sp>
      <p:sp>
        <p:nvSpPr>
          <p:cNvPr id="95" name="Google Shape;95;p18"/>
          <p:cNvSpPr txBox="1"/>
          <p:nvPr/>
        </p:nvSpPr>
        <p:spPr>
          <a:xfrm>
            <a:off x="55075" y="2665758"/>
            <a:ext cx="45039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How OpenClaw is different?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OpenClaw is designed to run 24/7 to communicate on multiple channels (WhatsApp, Telegram, Slack, email, etc.), maintain long‑lived sessions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It provides a central framework (an "Agent OS") to run your tasks - a </a:t>
            </a:r>
            <a:r>
              <a:rPr lang="en" sz="1100">
                <a:latin typeface="Calibri"/>
                <a:ea typeface="Calibri"/>
                <a:cs typeface="Calibri"/>
                <a:sym typeface="Calibri"/>
              </a:rPr>
              <a:t>workflow engine with triggers, conditions, actions; "universal inbox" for chat channels and external content, plus stateful context and memory;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So why some people are excited about OpenClaw?</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Because they want a universal personal assistant - not a dev tool; They are aiming for “it clears my inbox, texts me reminders, books flights, etc., on its own,” across accounts and devices.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They want to have a system which already has all pieces wired together - cron, webhooks, a message bus, a skill runner, and state persistence, chat routing across WhatsApp/Telegram/Slack/iMessage), a plugin registry with 50+ integrations; Session/context/memory and tool sandboxing built in.</a:t>
            </a:r>
            <a:endParaRPr sz="1100">
              <a:latin typeface="Calibri"/>
              <a:ea typeface="Calibri"/>
              <a:cs typeface="Calibri"/>
              <a:sym typeface="Calibri"/>
            </a:endParaRPr>
          </a:p>
        </p:txBody>
      </p:sp>
      <p:sp>
        <p:nvSpPr>
          <p:cNvPr id="96" name="Google Shape;96;p18"/>
          <p:cNvSpPr txBox="1"/>
          <p:nvPr/>
        </p:nvSpPr>
        <p:spPr>
          <a:xfrm>
            <a:off x="4592745" y="403185"/>
            <a:ext cx="45039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So the excitement is mostly: “finally a general agent OS I can self‑host and extend,” not “finally something I couldn’t hack together myself with Claude + cron.”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OpenClaw is mostly a convenience abstraction and ecosystem, not a fundamental capability unlock</a:t>
            </a:r>
            <a:br>
              <a:rPr lang="en" sz="1100">
                <a:latin typeface="Calibri"/>
                <a:ea typeface="Calibri"/>
                <a:cs typeface="Calibri"/>
                <a:sym typeface="Calibri"/>
              </a:rPr>
            </a:b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If you’re comfortable wiring small servers, cron, scripts, and skills, then with Claude Code you can have “run on my laptop, with my own scripts” setup which gives you very good control over privacy</a:t>
            </a:r>
            <a:endParaRPr sz="1100">
              <a:latin typeface="Calibri"/>
              <a:ea typeface="Calibri"/>
              <a:cs typeface="Calibri"/>
              <a:sym typeface="Calibri"/>
            </a:endParaRPr>
          </a:p>
          <a:p>
            <a:pPr marL="0" marR="0" lvl="0" indent="0" algn="l" rtl="0">
              <a:lnSpc>
                <a:spcPct val="100000"/>
              </a:lnSpc>
              <a:spcBef>
                <a:spcPts val="0"/>
              </a:spcBef>
              <a:spcAft>
                <a:spcPts val="0"/>
              </a:spcAft>
              <a:buNone/>
            </a:pP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But if you ever decide to expose agents over WhatsApp/Telegram/Slack for other people, build shared assistants for a team or customers, or want a unified “agent OS” with plugins and message routing baked in, then something like OpenClaw (or whatever replaces/competes with it) starts to make more sense</a:t>
            </a:r>
            <a:endParaRPr sz="1100">
              <a:latin typeface="Calibri"/>
              <a:ea typeface="Calibri"/>
              <a:cs typeface="Calibri"/>
              <a:sym typeface="Calibri"/>
            </a:endParaRPr>
          </a:p>
        </p:txBody>
      </p:sp>
      <p:sp>
        <p:nvSpPr>
          <p:cNvPr id="97" name="Google Shape;97;p18"/>
          <p:cNvSpPr txBox="1"/>
          <p:nvPr/>
        </p:nvSpPr>
        <p:spPr>
          <a:xfrm>
            <a:off x="4592745" y="3008483"/>
            <a:ext cx="4503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 11 new plugins for Claude Co-work</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https://www.youtube.com/watch?v=dVpIPXmEk8Y</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All plugins are free, open-source, and shareable via zip files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Users can customize existing plugins or build entirely new ones using plain English descriptions through the meta "plugin management" plugin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Plugins are for sales, marketing, legal, finance, customer support, ... , for example: contract review with risk flagging, sales pipeline management, and automated workflow creation.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Each plugin contains three components: </a:t>
            </a:r>
            <a:endParaRPr sz="1100">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skills (automatic background knowledge),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commands (triggered workflows using slash commands), </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connectors (integrations with existing software).</a:t>
            </a:r>
            <a:endParaRPr sz="11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You Could've Invented OpenClaw </a:t>
            </a:r>
            <a:endParaRPr sz="2000" b="1">
              <a:solidFill>
                <a:schemeClr val="dk1"/>
              </a:solidFill>
              <a:latin typeface="Calibri"/>
              <a:ea typeface="Calibri"/>
              <a:cs typeface="Calibri"/>
              <a:sym typeface="Calibri"/>
            </a:endParaRPr>
          </a:p>
        </p:txBody>
      </p:sp>
      <p:sp>
        <p:nvSpPr>
          <p:cNvPr id="103" name="Google Shape;103;p19"/>
          <p:cNvSpPr txBox="1"/>
          <p:nvPr/>
        </p:nvSpPr>
        <p:spPr>
          <a:xfrm>
            <a:off x="55075" y="398733"/>
            <a:ext cx="4503900" cy="357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You Could've Invented OpenClaw - by Nader Dabit, Feb 10</a:t>
            </a:r>
            <a:br>
              <a:rPr lang="en" sz="1100">
                <a:latin typeface="Calibri"/>
                <a:ea typeface="Calibri"/>
                <a:cs typeface="Calibri"/>
                <a:sym typeface="Calibri"/>
              </a:rPr>
            </a:br>
            <a:r>
              <a:rPr lang="en" sz="1100">
                <a:latin typeface="Calibri"/>
                <a:ea typeface="Calibri"/>
                <a:cs typeface="Calibri"/>
                <a:sym typeface="Calibri"/>
              </a:rPr>
              <a:t>Building a </a:t>
            </a:r>
            <a:r>
              <a:rPr lang="en" sz="1100" b="1">
                <a:solidFill>
                  <a:srgbClr val="FF0000"/>
                </a:solidFill>
                <a:latin typeface="Calibri"/>
                <a:ea typeface="Calibri"/>
                <a:cs typeface="Calibri"/>
                <a:sym typeface="Calibri"/>
              </a:rPr>
              <a:t>mini-openclaw.py</a:t>
            </a:r>
            <a:r>
              <a:rPr lang="en" sz="1100">
                <a:latin typeface="Calibri"/>
                <a:ea typeface="Calibri"/>
                <a:cs typeface="Calibri"/>
                <a:sym typeface="Calibri"/>
              </a:rPr>
              <a:t> in 400 lines of python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https://nader.substack.com/p/you-couldve-invented-openclaw</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OpenClaw is just a clean composition of simple building blocks: sessions, system prompts, tools, queues, cron, and multi-channel I/O</a:t>
            </a:r>
            <a:br>
              <a:rPr lang="en" sz="1100">
                <a:latin typeface="Calibri"/>
                <a:ea typeface="Calibri"/>
                <a:cs typeface="Calibri"/>
                <a:sym typeface="Calibri"/>
              </a:rPr>
            </a:br>
            <a:r>
              <a:rPr lang="en" sz="1100">
                <a:latin typeface="Calibri"/>
                <a:ea typeface="Calibri"/>
                <a:cs typeface="Calibri"/>
                <a:sym typeface="Calibri"/>
              </a:rPr>
              <a:t>stitched together into a persistent multi-agent assistant that runs on your own hardware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Start with a trivial Telegram echo bot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disk-backed JSONL sessions so the assistant remembers prior messages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a “SOUL” system personality prompt (Jarvis)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a tools API (run commands, read/write files, web search) with an agent loop that lets the LLM emit tool calls, execute them, and iterate until it’s ready to answer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a persistent approval system to prevent dangerous shell execution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gateway to use multiple transports (http, Telegram, ...)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context compaction (summarizing old transcript halves)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long‑term markdown memory with save/search tools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per-session locks for safe concurrency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cron-based “heartbeats” for scheduled tasks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Add multiple agents (e.g. main vs research) with different SOULs, models, and session prefixes that share a common memory store</a:t>
            </a:r>
            <a:endParaRPr sz="1100">
              <a:latin typeface="Calibri"/>
              <a:ea typeface="Calibri"/>
              <a:cs typeface="Calibri"/>
              <a:sym typeface="Calibri"/>
            </a:endParaRPr>
          </a:p>
        </p:txBody>
      </p:sp>
      <p:pic>
        <p:nvPicPr>
          <p:cNvPr id="104" name="Google Shape;104;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50938" y="43025"/>
            <a:ext cx="4280225" cy="1852020"/>
          </a:xfrm>
          <a:prstGeom prst="rect">
            <a:avLst/>
          </a:prstGeom>
          <a:noFill/>
          <a:ln w="9525" cap="flat" cmpd="sng">
            <a:solidFill>
              <a:srgbClr val="FF0000"/>
            </a:solidFill>
            <a:prstDash val="solid"/>
            <a:round/>
            <a:headEnd type="none" w="sm" len="sm"/>
            <a:tailEnd type="none" w="sm" len="sm"/>
          </a:ln>
        </p:spPr>
      </p:pic>
      <p:pic>
        <p:nvPicPr>
          <p:cNvPr id="105" name="Google Shape;105;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50950" y="1941695"/>
            <a:ext cx="4280228" cy="2334480"/>
          </a:xfrm>
          <a:prstGeom prst="rect">
            <a:avLst/>
          </a:prstGeom>
          <a:noFill/>
          <a:ln w="9525" cap="flat" cmpd="sng">
            <a:solidFill>
              <a:srgbClr val="FF0000"/>
            </a:solidFill>
            <a:prstDash val="solid"/>
            <a:round/>
            <a:headEnd type="none" w="sm" len="sm"/>
            <a:tailEnd type="none" w="sm" len="sm"/>
          </a:ln>
        </p:spPr>
      </p:pic>
      <p:sp>
        <p:nvSpPr>
          <p:cNvPr id="106" name="Google Shape;106;p19"/>
          <p:cNvSpPr txBox="1"/>
          <p:nvPr/>
        </p:nvSpPr>
        <p:spPr>
          <a:xfrm>
            <a:off x="4750950" y="4327069"/>
            <a:ext cx="43119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Char char="●"/>
            </a:pPr>
            <a:r>
              <a:rPr lang="en" sz="1100"/>
              <a:t>The Ultimate Guide to OpenClaw</a:t>
            </a:r>
            <a:endParaRPr sz="1100"/>
          </a:p>
          <a:p>
            <a:pPr marL="171450" marR="0" lvl="0" indent="-127000" algn="l" rtl="0">
              <a:lnSpc>
                <a:spcPct val="100000"/>
              </a:lnSpc>
              <a:spcBef>
                <a:spcPts val="0"/>
              </a:spcBef>
              <a:spcAft>
                <a:spcPts val="0"/>
              </a:spcAft>
              <a:buSzPts val="1100"/>
              <a:buChar char="●"/>
            </a:pPr>
            <a:r>
              <a:rPr lang="en" sz="1100" u="sng">
                <a:solidFill>
                  <a:schemeClr val="hlink"/>
                </a:solidFill>
                <a:hlinkClick r:id="rId6"/>
              </a:rPr>
              <a:t>https://corpwaters.substack.com/p/the-ultimate-guide-to-openclaw</a:t>
            </a:r>
            <a:r>
              <a:rPr lang="en" sz="1100"/>
              <a:t> </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p:nvPr/>
        </p:nvSpPr>
        <p:spPr>
          <a:xfrm>
            <a:off x="55075" y="43025"/>
            <a:ext cx="4300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Liam Ottley - AI Business Models</a:t>
            </a:r>
            <a:endParaRPr sz="2000" b="1">
              <a:solidFill>
                <a:schemeClr val="dk1"/>
              </a:solidFill>
              <a:latin typeface="Calibri"/>
              <a:ea typeface="Calibri"/>
              <a:cs typeface="Calibri"/>
              <a:sym typeface="Calibri"/>
            </a:endParaRPr>
          </a:p>
        </p:txBody>
      </p:sp>
      <p:sp>
        <p:nvSpPr>
          <p:cNvPr id="112" name="Google Shape;112;p20"/>
          <p:cNvSpPr txBox="1"/>
          <p:nvPr/>
        </p:nvSpPr>
        <p:spPr>
          <a:xfrm>
            <a:off x="55075" y="398825"/>
            <a:ext cx="43809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Liam Ottley - Business Models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https://www.youtube.com/watch?v=KAufsCas_F4</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OpenClaude is labeled as "iPhone moment for AI"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 creates many business opportunities around providing skills and services for OpenClaude users</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From SaaS to "AI Skill Businesses":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Traditional SaaS required massive work on interfaces, hosting, and security. But with AI assistants like OpenClaw, the assistant itself becomes the interface, allowing creators to focus solely on functionality and sell them on marketplaces like Clawhub</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Five Types of AI Skill Businesses:</a:t>
            </a:r>
            <a:endParaRPr sz="1100">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1. Pure Prompt Skills - selling simple text files packaging expert instructions (e.g., how to review a legal contract)</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2. Utility Skills - Code-based scripts that perform tasks like high-quality YouTube transcription or web scraping</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3. API Integration Skills - Teaching the AI how to interact with existing tools like HubSpot or CRM systems</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4. Backend Service Skills (Skills as a SaaS) - running a private server that does heavy lifting (like deep company research) while the user interacts through the AI assistant for a monthly fee</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5. Proprietary Data Skills - AI provides insights based on a private, high-value database that others cannot access</a:t>
            </a:r>
            <a:endParaRPr sz="1100">
              <a:latin typeface="Calibri"/>
              <a:ea typeface="Calibri"/>
              <a:cs typeface="Calibri"/>
              <a:sym typeface="Calibri"/>
            </a:endParaRPr>
          </a:p>
        </p:txBody>
      </p:sp>
      <p:sp>
        <p:nvSpPr>
          <p:cNvPr id="113" name="Google Shape;113;p20"/>
          <p:cNvSpPr txBox="1"/>
          <p:nvPr/>
        </p:nvSpPr>
        <p:spPr>
          <a:xfrm>
            <a:off x="4570206" y="394673"/>
            <a:ext cx="45039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The risks: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6AA84F"/>
                </a:solidFill>
                <a:latin typeface="Calibri"/>
                <a:ea typeface="Calibri"/>
                <a:cs typeface="Calibri"/>
                <a:sym typeface="Calibri"/>
              </a:rPr>
              <a:t>Technical Volatility </a:t>
            </a:r>
            <a:r>
              <a:rPr lang="en" sz="1100">
                <a:latin typeface="Calibri"/>
                <a:ea typeface="Calibri"/>
                <a:cs typeface="Calibri"/>
                <a:sym typeface="Calibri"/>
              </a:rPr>
              <a:t>- companies like Google and OpenAI will likely release competing platforms, potentially making current skills obsolete overnight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6AA84F"/>
                </a:solidFill>
                <a:latin typeface="Calibri"/>
                <a:ea typeface="Calibri"/>
                <a:cs typeface="Calibri"/>
                <a:sym typeface="Calibri"/>
              </a:rPr>
              <a:t>Security Concerns </a:t>
            </a:r>
            <a:r>
              <a:rPr lang="en" sz="1100">
                <a:latin typeface="Calibri"/>
                <a:ea typeface="Calibri"/>
                <a:cs typeface="Calibri"/>
                <a:sym typeface="Calibri"/>
              </a:rPr>
              <a:t>- current open-source tools have significant security and compliance hurdles that prevent large businesses from adopting them yet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6AA84F"/>
                </a:solidFill>
                <a:latin typeface="Calibri"/>
                <a:ea typeface="Calibri"/>
                <a:cs typeface="Calibri"/>
                <a:sym typeface="Calibri"/>
              </a:rPr>
              <a:t>Recommendation</a:t>
            </a:r>
            <a:r>
              <a:rPr lang="en" sz="1100">
                <a:latin typeface="Calibri"/>
                <a:ea typeface="Calibri"/>
                <a:cs typeface="Calibri"/>
                <a:sym typeface="Calibri"/>
              </a:rPr>
              <a:t> - focus on "boring" but proven AI consulting and agency work (the "rock") rather than purely chasing shiny new tech trends</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6AA84F"/>
              </a:buClr>
              <a:buSzPts val="1100"/>
              <a:buFont typeface="Calibri"/>
              <a:buChar char="●"/>
            </a:pPr>
            <a:r>
              <a:rPr lang="en" sz="1100" b="1">
                <a:solidFill>
                  <a:srgbClr val="6AA84F"/>
                </a:solidFill>
                <a:latin typeface="Calibri"/>
                <a:ea typeface="Calibri"/>
                <a:cs typeface="Calibri"/>
                <a:sym typeface="Calibri"/>
              </a:rPr>
              <a:t>The Rock - "AI Agency" model:</a:t>
            </a:r>
            <a:endParaRPr sz="1100" b="1">
              <a:solidFill>
                <a:srgbClr val="6AA84F"/>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AI Auditing and Consulting - analyze company's roles and processes, find automation opportunities to get max return on investment</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Building and implementing AI automations and solutions. Especially using No-Code and Low-Code Automation</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Training teams and ensuring that AI tools are actually adopted and used effectively</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Building Long-term Relationships, focus on slow-moving problems that will exist for the next decade, such as how humans integrate new tech into legacy systems</a:t>
            </a:r>
            <a:endParaRPr sz="1100">
              <a:solidFill>
                <a:srgbClr val="3C78D8"/>
              </a:solidFill>
              <a:latin typeface="Calibri"/>
              <a:ea typeface="Calibri"/>
              <a:cs typeface="Calibri"/>
              <a:sym typeface="Calibri"/>
            </a:endParaRPr>
          </a:p>
        </p:txBody>
      </p:sp>
      <p:pic>
        <p:nvPicPr>
          <p:cNvPr id="114" name="Google Shape;114;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809325" y="4171618"/>
            <a:ext cx="1626650" cy="901200"/>
          </a:xfrm>
          <a:prstGeom prst="rect">
            <a:avLst/>
          </a:prstGeom>
          <a:noFill/>
          <a:ln w="9525" cap="flat" cmpd="sng">
            <a:solidFill>
              <a:srgbClr val="FF0000"/>
            </a:solidFill>
            <a:prstDash val="solid"/>
            <a:round/>
            <a:headEnd type="none" w="sm" len="sm"/>
            <a:tailEnd type="none" w="sm" len="sm"/>
          </a:ln>
        </p:spPr>
      </p:pic>
      <p:sp>
        <p:nvSpPr>
          <p:cNvPr id="115" name="Google Shape;115;p20"/>
          <p:cNvSpPr txBox="1"/>
          <p:nvPr/>
        </p:nvSpPr>
        <p:spPr>
          <a:xfrm>
            <a:off x="4570200" y="3358251"/>
            <a:ext cx="45039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Liam is automating up to 70% of his business operations using Claude Code (not OpenClaw) -</a:t>
            </a:r>
            <a:r>
              <a:rPr lang="en" sz="1000">
                <a:latin typeface="Calibri"/>
                <a:ea typeface="Calibri"/>
                <a:cs typeface="Calibri"/>
                <a:sym typeface="Calibri"/>
              </a:rPr>
              <a:t> </a:t>
            </a:r>
            <a:r>
              <a:rPr lang="en" sz="1000" u="sng">
                <a:solidFill>
                  <a:schemeClr val="hlink"/>
                </a:solidFill>
                <a:latin typeface="Calibri"/>
                <a:ea typeface="Calibri"/>
                <a:cs typeface="Calibri"/>
                <a:sym typeface="Calibri"/>
                <a:hlinkClick r:id="rId5"/>
              </a:rPr>
              <a:t>https://www.youtube.com/watch?v=O_VBdNrX0PM</a:t>
            </a:r>
            <a:r>
              <a:rPr lang="en" sz="1000">
                <a:latin typeface="Calibri"/>
                <a:ea typeface="Calibri"/>
                <a:cs typeface="Calibri"/>
                <a:sym typeface="Calibri"/>
              </a:rPr>
              <a:t> </a:t>
            </a:r>
            <a:endParaRPr sz="10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builds layers of AI automation around existing business models, starting with a "Context OS" foundation and adding modules for data management, meeting intelligence, productivity tracking, and communication handling.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system operates through Telegram</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his method doesn't require extensive technical skills</a:t>
            </a:r>
            <a:endParaRPr sz="11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p:nvPr/>
        </p:nvSpPr>
        <p:spPr>
          <a:xfrm>
            <a:off x="55075" y="43025"/>
            <a:ext cx="1592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21" name="Google Shape;121;p21"/>
          <p:cNvSpPr txBox="1"/>
          <p:nvPr/>
        </p:nvSpPr>
        <p:spPr>
          <a:xfrm>
            <a:off x="43857" y="537258"/>
            <a:ext cx="4503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Taalas chips - 17,000 Tok/sec inference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https://www.youtube.com/watch?v=WjxOffC2kyM</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Taalas, a new startup, has created a chip that can process 17,000 tokens per second using an embedded Llama 3.1  8B params model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3C78D8"/>
                </a:solidFill>
                <a:latin typeface="Calibri"/>
                <a:ea typeface="Calibri"/>
                <a:cs typeface="Calibri"/>
                <a:sym typeface="Calibri"/>
              </a:rPr>
              <a:t>All layers/weights are hardcoded inside the chip. </a:t>
            </a:r>
            <a:r>
              <a:rPr lang="en" sz="1100" b="1">
                <a:solidFill>
                  <a:srgbClr val="FF0000"/>
                </a:solidFill>
                <a:latin typeface="Calibri"/>
                <a:ea typeface="Calibri"/>
                <a:cs typeface="Calibri"/>
                <a:sym typeface="Calibri"/>
              </a:rPr>
              <a:t>No external CPU, GPU, or memory is needed.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chip uses mostly 3-bit quantization (some sensitive areas use 6-bit quantization).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Company raised $200 Million</a:t>
            </a:r>
            <a:endParaRPr sz="1100">
              <a:latin typeface="Calibri"/>
              <a:ea typeface="Calibri"/>
              <a:cs typeface="Calibri"/>
              <a:sym typeface="Calibri"/>
            </a:endParaRPr>
          </a:p>
        </p:txBody>
      </p:sp>
      <p:pic>
        <p:nvPicPr>
          <p:cNvPr id="122" name="Google Shape;122;p21"/>
          <p:cNvPicPr preferRelativeResize="0"/>
          <p:nvPr/>
        </p:nvPicPr>
        <p:blipFill>
          <a:blip r:embed="rId4">
            <a:alphaModFix/>
          </a:blip>
          <a:stretch>
            <a:fillRect/>
          </a:stretch>
        </p:blipFill>
        <p:spPr>
          <a:xfrm>
            <a:off x="4869150" y="369433"/>
            <a:ext cx="2619375" cy="1743075"/>
          </a:xfrm>
          <a:prstGeom prst="rect">
            <a:avLst/>
          </a:prstGeom>
          <a:noFill/>
          <a:ln>
            <a:noFill/>
          </a:ln>
        </p:spPr>
      </p:pic>
      <p:sp>
        <p:nvSpPr>
          <p:cNvPr id="123" name="Google Shape;123;p21"/>
          <p:cNvSpPr txBox="1"/>
          <p:nvPr/>
        </p:nvSpPr>
        <p:spPr>
          <a:xfrm>
            <a:off x="43857" y="2172133"/>
            <a:ext cx="45039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ChatGPT upgrade to its deep research feature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https://www.youtube.com/watch?v=XmKD8BGiC8w</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Providing significantly more granular control and access to over 60 different apps including Expedia, Zillow, Slack, and Stripe.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Users can now specify which websites to search or exclude, connect various third-party applications, and interrupt research mid-process to add adjustments or follow-up questions.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enhanced version performs hundreds of searches with detailed citations, creating comprehensive reports with graphs, charts, and exportable formats to Word or PDF.</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While taking longer than the legacy version (20-40+ minutes), it enables powerful use cases like analyzing flight price trends through Expedia data or researching real estate markets via Zillow integration.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upgrade allows businesses to generate detailed reports, making it substantially more powerful than other platforms' research capabilities</a:t>
            </a:r>
            <a:endParaRPr sz="1100">
              <a:latin typeface="Calibri"/>
              <a:ea typeface="Calibri"/>
              <a:cs typeface="Calibri"/>
              <a:sym typeface="Calibri"/>
            </a:endParaRPr>
          </a:p>
        </p:txBody>
      </p:sp>
      <p:sp>
        <p:nvSpPr>
          <p:cNvPr id="124" name="Google Shape;124;p21"/>
          <p:cNvSpPr txBox="1"/>
          <p:nvPr/>
        </p:nvSpPr>
        <p:spPr>
          <a:xfrm>
            <a:off x="4606470" y="2172133"/>
            <a:ext cx="45039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ChatGPT update called interactive code blocks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 allows users to write, run, and fix code directly within the chat interface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6"/>
              </a:rPr>
              <a:t>https://www.youtube.com/watch?v=znIj4XPsHak</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Previously, users had to copy and paste code into external tools. Now you can click preview to see your code run live, use split-screen mode to edit code while watching real-time updates, and build functional apps, landing pages, calculators, and diagrams without external tools or developer skills.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update eliminates the need for copying between applications and enables rapid prototyping for marketers, coaches, agency owners, and content creators.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Users can build business tools like lead magnets, member dashboards, and interactive content in minutes rather than hours, making AI-powered development accessible to non-technical users and significantly lowering barriers to building digital products.</a:t>
            </a:r>
            <a:endParaRPr sz="11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6.38K subscribers, 271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3. </a:t>
            </a: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30" name="Google Shape;130;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40700" y="119306"/>
            <a:ext cx="3302049" cy="49181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36" name="Google Shape;136;p23"/>
          <p:cNvSpPr txBox="1"/>
          <p:nvPr/>
        </p:nvSpPr>
        <p:spPr>
          <a:xfrm>
            <a:off x="55075" y="501325"/>
            <a:ext cx="44205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Peter Steinberger Workflow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u="sng">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https://www.youtube.com/watch?v=m_l9pUKLiXo</a:t>
            </a:r>
            <a:r>
              <a:rPr lang="en" sz="1200">
                <a:solidFill>
                  <a:srgbClr val="000000"/>
                </a:solidFill>
                <a:latin typeface="Calibri"/>
                <a:ea typeface="Calibri"/>
                <a:cs typeface="Calibri"/>
                <a:sym typeface="Calibri"/>
              </a:rPr>
              <a:t> </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Two MacBooks (one for work, one for testing)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wide anti-glare Dell monitor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Multiple terminal windows (avoiding complex GUIs)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Using Codex AI via terminals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Treating the AI as a collaborative partner: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uses "trigger words" to control code generation,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asks the agent to identify its own knowledge gaps,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and forces it to "read more code" to answer its own questions.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Crucially, Steinberger performs post-build refactoring and generates all documentation and tests using the AI once the full project context is established.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https://x.com/steipete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https://github.com/steipete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https://steipete.com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7"/>
              </a:rPr>
              <a:t>https://www.linkedin.com/in/steipete/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8"/>
              </a:rPr>
              <a:t>https://openclaw.ai</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9"/>
              </a:rPr>
              <a:t>https://github.com/openclaw/openclaw</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0"/>
              </a:rPr>
              <a:t>https://discord.com/invite/openclaw</a:t>
            </a:r>
            <a:r>
              <a:rPr lang="en" sz="1200">
                <a:latin typeface="Calibri"/>
                <a:ea typeface="Calibri"/>
                <a:cs typeface="Calibri"/>
                <a:sym typeface="Calibri"/>
              </a:rPr>
              <a:t>   </a:t>
            </a:r>
            <a:endParaRPr sz="1200">
              <a:latin typeface="Calibri"/>
              <a:ea typeface="Calibri"/>
              <a:cs typeface="Calibri"/>
              <a:sym typeface="Calibri"/>
            </a:endParaRPr>
          </a:p>
        </p:txBody>
      </p:sp>
      <p:sp>
        <p:nvSpPr>
          <p:cNvPr id="137" name="Google Shape;137;p23"/>
          <p:cNvSpPr txBox="1"/>
          <p:nvPr/>
        </p:nvSpPr>
        <p:spPr>
          <a:xfrm>
            <a:off x="4610350" y="501325"/>
            <a:ext cx="44205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Example - Create Skills with OpenClaw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Demo: Local Database to Vercel Website Demo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1"/>
              </a:rPr>
              <a:t>https://www.youtube.com/watch?v=WvoUvux27LU</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Fahd Mirza runs OpenClaw with local Ollama model on an Ubuntu system with an NVIDIA RTX 6000 GPU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first sets up a simple local SQLite sales database. He then instructs local OpenClaw to autonomously find or create a "skill" to interact with the database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agent successfully identifies the database schema, queries the sales data, and generates a functional HTML dashboard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Finally, OpenClaw deploys this dashboard to the public internet (Vercel) using the deploy skill</a:t>
            </a:r>
            <a:endParaRPr sz="1200">
              <a:latin typeface="Calibri"/>
              <a:ea typeface="Calibri"/>
              <a:cs typeface="Calibri"/>
              <a:sym typeface="Calibri"/>
            </a:endParaRPr>
          </a:p>
        </p:txBody>
      </p:sp>
      <p:sp>
        <p:nvSpPr>
          <p:cNvPr id="138" name="Google Shape;138;p23"/>
          <p:cNvSpPr txBox="1"/>
          <p:nvPr/>
        </p:nvSpPr>
        <p:spPr>
          <a:xfrm>
            <a:off x="4610350" y="2827650"/>
            <a:ext cx="44205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on GPT 5.3 Codex via  ChatGPT Plus plan $20/mo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2"/>
              </a:rPr>
              <a:t>https://www.youtube.com/watch?v=qURVA5XO84s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Matthew Berman switched to OpenAI models for OpenClaw to cut costs - </a:t>
            </a:r>
            <a:r>
              <a:rPr lang="en" sz="1200" u="sng">
                <a:solidFill>
                  <a:schemeClr val="hlink"/>
                </a:solidFill>
                <a:latin typeface="Calibri"/>
                <a:ea typeface="Calibri"/>
                <a:cs typeface="Calibri"/>
                <a:sym typeface="Calibri"/>
                <a:hlinkClick r:id="rId13"/>
              </a:rPr>
              <a:t>https://www.youtube.com/watch?v=2HiHDIFStzg</a:t>
            </a:r>
            <a:r>
              <a:rPr lang="en" sz="1200">
                <a:latin typeface="Calibri"/>
                <a:ea typeface="Calibri"/>
                <a:cs typeface="Calibri"/>
                <a:sym typeface="Calibri"/>
              </a:rPr>
              <a:t> </a:t>
            </a:r>
            <a:endParaRPr sz="1200">
              <a:latin typeface="Calibri"/>
              <a:ea typeface="Calibri"/>
              <a:cs typeface="Calibri"/>
              <a:sym typeface="Calibri"/>
            </a:endParaRPr>
          </a:p>
        </p:txBody>
      </p:sp>
      <p:sp>
        <p:nvSpPr>
          <p:cNvPr id="139" name="Google Shape;139;p23"/>
          <p:cNvSpPr txBox="1"/>
          <p:nvPr/>
        </p:nvSpPr>
        <p:spPr>
          <a:xfrm>
            <a:off x="4610350" y="3676175"/>
            <a:ext cx="44205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Char char="●"/>
            </a:pPr>
            <a:r>
              <a:rPr lang="en" sz="1100" b="1">
                <a:solidFill>
                  <a:srgbClr val="3C78D8"/>
                </a:solidFill>
              </a:rPr>
              <a:t>Matthew Berman</a:t>
            </a:r>
            <a:r>
              <a:rPr lang="en" sz="1100"/>
              <a:t> </a:t>
            </a:r>
            <a:r>
              <a:rPr lang="en" sz="1100" b="1">
                <a:solidFill>
                  <a:srgbClr val="FF0000"/>
                </a:solidFill>
              </a:rPr>
              <a:t>Product Requirements Document (PRD) and Feature Inventory</a:t>
            </a:r>
            <a:r>
              <a:rPr lang="en" sz="1100"/>
              <a:t> for a custom OpenClaw built on top of the base OpenClaw</a:t>
            </a:r>
            <a:endParaRPr sz="1100"/>
          </a:p>
          <a:p>
            <a:pPr marL="171450" marR="0" lvl="0" indent="-114300" algn="l" rtl="0">
              <a:lnSpc>
                <a:spcPct val="100000"/>
              </a:lnSpc>
              <a:spcBef>
                <a:spcPts val="0"/>
              </a:spcBef>
              <a:spcAft>
                <a:spcPts val="0"/>
              </a:spcAft>
              <a:buSzPts val="900"/>
              <a:buChar char="●"/>
            </a:pPr>
            <a:r>
              <a:rPr lang="en" sz="900" u="sng">
                <a:solidFill>
                  <a:schemeClr val="hlink"/>
                </a:solidFill>
                <a:hlinkClick r:id="rId14"/>
              </a:rPr>
              <a:t>https://gist.github.com/mberman84/5ccf2085d0049581b4675f7fe64e9b87</a:t>
            </a:r>
            <a:r>
              <a:rPr lang="en" sz="900"/>
              <a:t> </a:t>
            </a:r>
            <a:endParaRPr sz="900"/>
          </a:p>
          <a:p>
            <a:pPr marL="171450" marR="0" lvl="0" indent="-114300" algn="l" rtl="0">
              <a:lnSpc>
                <a:spcPct val="100000"/>
              </a:lnSpc>
              <a:spcBef>
                <a:spcPts val="0"/>
              </a:spcBef>
              <a:spcAft>
                <a:spcPts val="0"/>
              </a:spcAft>
              <a:buSzPts val="900"/>
              <a:buChar char="●"/>
            </a:pPr>
            <a:r>
              <a:rPr lang="en" sz="900" u="sng">
                <a:solidFill>
                  <a:schemeClr val="hlink"/>
                </a:solidFill>
                <a:hlinkClick r:id="rId15"/>
              </a:rPr>
              <a:t>https://gemini.google.com/app/85ee439c66411016</a:t>
            </a:r>
            <a:r>
              <a:rPr lang="en" sz="900"/>
              <a:t> </a:t>
            </a:r>
            <a:endParaRPr sz="900"/>
          </a:p>
          <a:p>
            <a:pPr marL="171450" marR="0" lvl="0" indent="-114300" algn="l" rtl="0">
              <a:lnSpc>
                <a:spcPct val="100000"/>
              </a:lnSpc>
              <a:spcBef>
                <a:spcPts val="0"/>
              </a:spcBef>
              <a:spcAft>
                <a:spcPts val="0"/>
              </a:spcAft>
              <a:buSzPts val="900"/>
              <a:buChar char="●"/>
            </a:pPr>
            <a:r>
              <a:rPr lang="en" sz="900" u="sng">
                <a:solidFill>
                  <a:schemeClr val="hlink"/>
                </a:solidFill>
                <a:hlinkClick r:id="rId16"/>
              </a:rPr>
              <a:t>https://github.com/mberman84</a:t>
            </a:r>
            <a:r>
              <a:rPr lang="en" sz="900"/>
              <a:t> </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5" name="Google Shape;145;p24"/>
          <p:cNvSpPr txBox="1"/>
          <p:nvPr/>
        </p:nvSpPr>
        <p:spPr>
          <a:xfrm>
            <a:off x="55075" y="393207"/>
            <a:ext cx="44343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 Qwen 3.5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Multimodal (vision), coding, tool calling, 1M token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 3.5 via API or Ollama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cases: landing page analysis, content automation, member onboarding, coding assistance, screenshot-to-action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https://www.youtube.com/watch?v=k6uY0AQOP4k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46" name="Google Shape;146;p24"/>
          <p:cNvSpPr txBox="1"/>
          <p:nvPr/>
        </p:nvSpPr>
        <p:spPr>
          <a:xfrm>
            <a:off x="55075" y="1543777"/>
            <a:ext cx="4434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 Sonnet 4.6</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VPS through Hostinger's one-click deployment.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Upgrading OpenClaw to use Claude Sonnet 4.6 and Perplexity's search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create structured folder system, store knowledge in MD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set up automated heartbeat functions for proactive updates, and integrating OpenClaw with Slack for team collaboration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https://www.youtube.com/watch?v=Cx2oPWU8qjY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47" name="Google Shape;147;p24"/>
          <p:cNvSpPr txBox="1"/>
          <p:nvPr/>
        </p:nvSpPr>
        <p:spPr>
          <a:xfrm>
            <a:off x="55075" y="3063927"/>
            <a:ext cx="4434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 Gemini 3.1 Pro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fast and autonomous (comparable to Claude Opus)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https://www.youtube.com/watch?v=QkTrdDMKE7I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48" name="Google Shape;148;p24"/>
          <p:cNvSpPr txBox="1"/>
          <p:nvPr/>
        </p:nvSpPr>
        <p:spPr>
          <a:xfrm>
            <a:off x="55075" y="3671907"/>
            <a:ext cx="4434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Oz by Warp - cloud-based AI coding agent platform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https://www.youtube.com/watch?v=I9BZRuw5c80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https://www.warp.dev</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https://www.warp.dev/oz</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Runs multiple agents, uses Docker containers, allows to "steer" agents mid-task; enables cross-repository collaboration (for example, front-end and back-end); </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54" name="Google Shape;154;p25"/>
          <p:cNvSpPr txBox="1"/>
          <p:nvPr/>
        </p:nvSpPr>
        <p:spPr>
          <a:xfrm>
            <a:off x="47201" y="393207"/>
            <a:ext cx="443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Abacus Deep Agent - Secure 'OpenClaw' </a:t>
            </a:r>
            <a:r>
              <a:rPr lang="en" sz="1200" u="sng">
                <a:solidFill>
                  <a:schemeClr val="hlink"/>
                </a:solidFill>
                <a:latin typeface="Calibri"/>
                <a:ea typeface="Calibri"/>
                <a:cs typeface="Calibri"/>
                <a:sym typeface="Calibri"/>
                <a:hlinkClick r:id="rId3"/>
              </a:rPr>
              <a:t>https://www.youtube.com/watch?v=TotUFMwux5g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running in SOC2 certified environments with encryption and isolated virtual machines, persistent memory that maintains context across executions instead of resetting, scheduled execution allowing agents to work autonomously, and full orchestration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 Agent enables agents to function as continuous operators that remember previous conversations, actions, outcomes, and decisions. This allows for more sophisticated workflows in areas like invoice follow-ups, sales outreach, and sentiment analysis, where the agent builds on past interactions rather than starting fresh each time.</a:t>
            </a:r>
            <a:endParaRPr sz="1200">
              <a:solidFill>
                <a:schemeClr val="dk1"/>
              </a:solidFill>
              <a:latin typeface="Calibri"/>
              <a:ea typeface="Calibri"/>
              <a:cs typeface="Calibri"/>
              <a:sym typeface="Calibri"/>
            </a:endParaRPr>
          </a:p>
        </p:txBody>
      </p:sp>
      <p:sp>
        <p:nvSpPr>
          <p:cNvPr id="155" name="Google Shape;155;p25"/>
          <p:cNvSpPr txBox="1"/>
          <p:nvPr/>
        </p:nvSpPr>
        <p:spPr>
          <a:xfrm>
            <a:off x="47201" y="3192467"/>
            <a:ext cx="4434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Update (Mistral Chat + Voice + Memory!)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https://www.youtube.com/watch?v=aojY3mU6BcM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Added Mistral AI for chat, memory, and voice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Includes multilingual memory support for Spanish, Portuguese, Japanese, Korean, and Arabic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Fixed browser extension that no longer drops connections, an auto-updater feature to eliminate manual version hunting, and parallel execution for scheduled cron jobs instead of queuing.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Over 40 security fixes were implemented, making this one of OpenClaw's largest updates</a:t>
            </a:r>
            <a:endParaRPr sz="1200">
              <a:solidFill>
                <a:schemeClr val="dk1"/>
              </a:solidFill>
              <a:latin typeface="Calibri"/>
              <a:ea typeface="Calibri"/>
              <a:cs typeface="Calibri"/>
              <a:sym typeface="Calibri"/>
            </a:endParaRPr>
          </a:p>
        </p:txBody>
      </p:sp>
      <p:sp>
        <p:nvSpPr>
          <p:cNvPr id="156" name="Google Shape;156;p25"/>
          <p:cNvSpPr txBox="1"/>
          <p:nvPr/>
        </p:nvSpPr>
        <p:spPr>
          <a:xfrm>
            <a:off x="4587851" y="393207"/>
            <a:ext cx="4434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Abacus AI’s "Deep Agent" can create quality audio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Transform dense research papers into engaging audio summaries, generate 30-minute expert panel debates with distinct personalities, and produce professional podcasts from a single prompt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utilizing advanced models like Hume AI, the system incorporates natural emotional expressiveness, including realistic pauses and filler words, making the AI-generated voices nearly indistinguishable from humans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Technology can also do audiobooks, marketing ads, and corporate training without the need for studios or voice actors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https://www.youtube.com/watch?v=YFVR8NRmGF0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57" name="Google Shape;157;p25"/>
          <p:cNvSpPr txBox="1"/>
          <p:nvPr/>
        </p:nvSpPr>
        <p:spPr>
          <a:xfrm>
            <a:off x="4587851" y="2548082"/>
            <a:ext cx="44343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Google restricts Antigravity access for some OpenClaw users</a:t>
            </a:r>
            <a:r>
              <a:rPr lang="en" sz="1200">
                <a:solidFill>
                  <a:schemeClr val="dk1"/>
                </a:solidFill>
                <a:latin typeface="Calibri"/>
                <a:ea typeface="Calibri"/>
                <a:cs typeface="Calibri"/>
                <a:sym typeface="Calibri"/>
              </a:rPr>
              <a:t> citing "malicious usage" that overloaded the system. Users reportedly used OpenClaw to tap into Gemini tokens, violating terms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OpenClaw's creator, now at OpenAI, plans to drop Google support.</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63" name="Google Shape;163;p26"/>
          <p:cNvSpPr txBox="1"/>
          <p:nvPr/>
        </p:nvSpPr>
        <p:spPr>
          <a:xfrm>
            <a:off x="55075" y="393207"/>
            <a:ext cx="4434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 Zapier MCP = 8,000 apps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https://www.youtube.com/watch?v=-Cjjh5SV_o4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(Slack, Gmail, Linear, Notion,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Fast setup - choosing specific tools for each app, generating connection credentials, and pasting them into OpenClaw.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Examples : converting Slack messages into Linear tasks and creating Gmail drafts;  no need for repeated authentication across multiple apps while providing granular control over AI permissions</a:t>
            </a:r>
            <a:endParaRPr sz="1200">
              <a:solidFill>
                <a:schemeClr val="dk1"/>
              </a:solidFill>
              <a:latin typeface="Calibri"/>
              <a:ea typeface="Calibri"/>
              <a:cs typeface="Calibri"/>
              <a:sym typeface="Calibri"/>
            </a:endParaRPr>
          </a:p>
        </p:txBody>
      </p:sp>
      <p:sp>
        <p:nvSpPr>
          <p:cNvPr id="164" name="Google Shape;164;p26"/>
          <p:cNvSpPr txBox="1"/>
          <p:nvPr/>
        </p:nvSpPr>
        <p:spPr>
          <a:xfrm>
            <a:off x="55075" y="1930489"/>
            <a:ext cx="44343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 Build Mission Control Dashboard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https://www.youtube.com/watch?v=vfLQTrS-gRc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https://mission-control-prompts.vercel.app/</a:t>
            </a:r>
            <a:r>
              <a:rPr lang="en" sz="1200">
                <a:solidFill>
                  <a:schemeClr val="dk1"/>
                </a:solidFill>
                <a:latin typeface="Calibri"/>
                <a:ea typeface="Calibri"/>
                <a:cs typeface="Calibri"/>
                <a:sym typeface="Calibri"/>
              </a:rPr>
              <a:t> - prompts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Instructions how to build the dashboard that includes business metrics, AI agents for different tasks, project management kanban boards, revenue tracking, meeting summaries via Fireflies integration, YouTube analytics, and a mini CRM; gamified progress tracking, daily AI news reports, and visual timelines for goals.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runs locally as an HTML file with zero loading screens and no database costs.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Three main prompts are provided: foundational setup, custom modules, and the live dashboard engine.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creator emphasizes training your AI bot with coding skills first, then customizing the purple-highlighted variables with personal information. The complete blueprint is freely available at missioncontrol.cell.app, requiring only email signup for future updates.</a:t>
            </a:r>
            <a:endParaRPr sz="1200">
              <a:solidFill>
                <a:schemeClr val="dk1"/>
              </a:solidFill>
              <a:latin typeface="Calibri"/>
              <a:ea typeface="Calibri"/>
              <a:cs typeface="Calibri"/>
              <a:sym typeface="Calibri"/>
            </a:endParaRPr>
          </a:p>
        </p:txBody>
      </p:sp>
      <p:sp>
        <p:nvSpPr>
          <p:cNvPr id="165" name="Google Shape;165;p26"/>
          <p:cNvSpPr txBox="1"/>
          <p:nvPr/>
        </p:nvSpPr>
        <p:spPr>
          <a:xfrm>
            <a:off x="4618350" y="91512"/>
            <a:ext cx="4434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Three ways to configure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https://www.youtube.com/watch?v=yuPRgWnPFfA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Using local Ollama for AI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Cloud deployment using VPS hosting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a no-code managed solution</a:t>
            </a:r>
            <a:r>
              <a:rPr lang="en" sz="1100">
                <a:solidFill>
                  <a:schemeClr val="dk1"/>
                </a:solidFill>
                <a:latin typeface="Calibri"/>
                <a:ea typeface="Calibri"/>
                <a:cs typeface="Calibri"/>
                <a:sym typeface="Calibri"/>
              </a:rPr>
              <a:t> </a:t>
            </a:r>
            <a:r>
              <a:rPr lang="en" sz="1100" u="sng">
                <a:solidFill>
                  <a:schemeClr val="hlink"/>
                </a:solidFill>
                <a:latin typeface="Calibri"/>
                <a:ea typeface="Calibri"/>
                <a:cs typeface="Calibri"/>
                <a:sym typeface="Calibri"/>
                <a:hlinkClick r:id="rId7"/>
              </a:rPr>
              <a:t>https://xcloud.host/openclaw-hosting/</a:t>
            </a:r>
            <a:endParaRPr sz="11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1st option (local setup) involves five steps including creating users, installing packages, configuring OpenClaw with Telegram bots, installing Olama with models like Ministral 3B, and establishing connections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3rd option can be configured with just 3 clicks</a:t>
            </a:r>
            <a:endParaRPr sz="1200">
              <a:solidFill>
                <a:schemeClr val="dk1"/>
              </a:solidFill>
              <a:latin typeface="Calibri"/>
              <a:ea typeface="Calibri"/>
              <a:cs typeface="Calibri"/>
              <a:sym typeface="Calibri"/>
            </a:endParaRPr>
          </a:p>
        </p:txBody>
      </p:sp>
      <p:sp>
        <p:nvSpPr>
          <p:cNvPr id="166" name="Google Shape;166;p26"/>
          <p:cNvSpPr txBox="1"/>
          <p:nvPr/>
        </p:nvSpPr>
        <p:spPr>
          <a:xfrm>
            <a:off x="4618350" y="2007477"/>
            <a:ext cx="4434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Make OpenClaw more powerful</a:t>
            </a:r>
            <a:endParaRPr sz="1200" b="1">
              <a:solidFill>
                <a:srgbClr val="FF0000"/>
              </a:solidFill>
              <a:latin typeface="Calibri"/>
              <a:ea typeface="Calibri"/>
              <a:cs typeface="Calibri"/>
              <a:sym typeface="Calibri"/>
            </a:endParaRPr>
          </a:p>
          <a:p>
            <a:pPr marL="2857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Use Sub-Agents</a:t>
            </a:r>
            <a:endParaRPr sz="1200">
              <a:solidFill>
                <a:srgbClr val="3C78D8"/>
              </a:solidFill>
              <a:latin typeface="Calibri"/>
              <a:ea typeface="Calibri"/>
              <a:cs typeface="Calibri"/>
              <a:sym typeface="Calibri"/>
            </a:endParaRPr>
          </a:p>
          <a:p>
            <a:pPr marL="2857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Get skills from ClawHub</a:t>
            </a:r>
            <a:endParaRPr sz="1200">
              <a:solidFill>
                <a:srgbClr val="3C78D8"/>
              </a:solidFill>
              <a:latin typeface="Calibri"/>
              <a:ea typeface="Calibri"/>
              <a:cs typeface="Calibri"/>
              <a:sym typeface="Calibri"/>
            </a:endParaRPr>
          </a:p>
          <a:p>
            <a:pPr marL="2857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Schedule automated autonomous tasks</a:t>
            </a:r>
            <a:endParaRPr sz="1200">
              <a:solidFill>
                <a:srgbClr val="3C78D8"/>
              </a:solidFill>
              <a:latin typeface="Calibri"/>
              <a:ea typeface="Calibri"/>
              <a:cs typeface="Calibri"/>
              <a:sym typeface="Calibri"/>
            </a:endParaRPr>
          </a:p>
          <a:p>
            <a:pPr marL="2857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Memory Management - use specific prompts to save critical information into memory files before context compaction occurs</a:t>
            </a:r>
            <a:endParaRPr sz="1200">
              <a:solidFill>
                <a:srgbClr val="3C78D8"/>
              </a:solidFill>
              <a:latin typeface="Calibri"/>
              <a:ea typeface="Calibri"/>
              <a:cs typeface="Calibri"/>
              <a:sym typeface="Calibri"/>
            </a:endParaRPr>
          </a:p>
          <a:p>
            <a:pPr marL="2857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Self-Improving Loops - AI logs corrections to avoid repeating mistakes and better aligns with user preferences over time</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https://www.youtube.com/watch?v=0soFIReWb1w</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72" name="Google Shape;172;p27"/>
          <p:cNvSpPr txBox="1"/>
          <p:nvPr/>
        </p:nvSpPr>
        <p:spPr>
          <a:xfrm>
            <a:off x="55075" y="393207"/>
            <a:ext cx="44343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 GLM 4.7 Flash + Gemini 3.1 Pro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https://www.youtube.com/watch?v=Z_X3TUplCis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GLM 4.7 Flash (via Ollama)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Gemini 3.1 Pro (slow)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Discord voice channels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threaded sub-agents</a:t>
            </a:r>
            <a:endParaRPr sz="1200">
              <a:solidFill>
                <a:schemeClr val="dk1"/>
              </a:solidFill>
              <a:latin typeface="Calibri"/>
              <a:ea typeface="Calibri"/>
              <a:cs typeface="Calibri"/>
              <a:sym typeface="Calibri"/>
            </a:endParaRPr>
          </a:p>
        </p:txBody>
      </p:sp>
      <p:sp>
        <p:nvSpPr>
          <p:cNvPr id="173" name="Google Shape;173;p27"/>
          <p:cNvSpPr txBox="1"/>
          <p:nvPr/>
        </p:nvSpPr>
        <p:spPr>
          <a:xfrm>
            <a:off x="55075" y="1582358"/>
            <a:ext cx="44343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Mission Control + Agent Teams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https://www.youtube.com/watch?v=GpQcz_eKiNo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Mission Control - centralized command center for managing multiple AI agents simultaneously; Kanban board to track agent tasks, progress, and completion in real-time;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can orchestrate teams of AI agents working on different jobs automatically while monitoring through a visual dashboard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update includes features like agent lifecycle management, approval workflows, gateway management, and API integration.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There are two setup options: using the pre-built GitHub project or building a custom dashboard with OpenClaw's help, though the latter takes about an hour for basic functionality.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Mission Control is particularly valuable for multi-team operations, distributed runtime control, and activity auditing, essentially serving as a business operating system for AI automation workflows.</a:t>
            </a:r>
            <a:endParaRPr sz="1200">
              <a:solidFill>
                <a:schemeClr val="dk1"/>
              </a:solidFill>
              <a:latin typeface="Calibri"/>
              <a:ea typeface="Calibri"/>
              <a:cs typeface="Calibri"/>
              <a:sym typeface="Calibri"/>
            </a:endParaRPr>
          </a:p>
        </p:txBody>
      </p:sp>
      <p:sp>
        <p:nvSpPr>
          <p:cNvPr id="174" name="Google Shape;174;p27"/>
          <p:cNvSpPr txBox="1"/>
          <p:nvPr/>
        </p:nvSpPr>
        <p:spPr>
          <a:xfrm>
            <a:off x="4633450" y="3024073"/>
            <a:ext cx="4434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 save money, grow your X account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https://www.youtube.com/watch?v=QQq73onHjZo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Configure cheaper model (Gemini Flash) for heartbeat checks and set active hours to reduce costs by 95%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Implement Zapier MCP as a secure firewall to log all AI actions while protecting credentials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Connect OpenClaw to an X (Twitter) account to autonomously grow it using the new pay-as-you-go X API. For transparency label the account as automated and say that you are planning to run this experiment for a week to test effectiveness and security while maintaining full visibility of all bot activities</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8"/>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Run OpenClaw on your Mac Safely</a:t>
            </a:r>
            <a:endParaRPr sz="2000" b="1">
              <a:solidFill>
                <a:schemeClr val="dk1"/>
              </a:solidFill>
              <a:latin typeface="Calibri"/>
              <a:ea typeface="Calibri"/>
              <a:cs typeface="Calibri"/>
              <a:sym typeface="Calibri"/>
            </a:endParaRPr>
          </a:p>
        </p:txBody>
      </p:sp>
      <p:sp>
        <p:nvSpPr>
          <p:cNvPr id="180" name="Google Shape;180;p28"/>
          <p:cNvSpPr txBox="1"/>
          <p:nvPr/>
        </p:nvSpPr>
        <p:spPr>
          <a:xfrm>
            <a:off x="4646344" y="55891"/>
            <a:ext cx="4434300" cy="500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Run OpenClaw on your Mac Safely</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by isolating it, limiting its access, locking down network exposure</a:t>
            </a:r>
            <a:br>
              <a:rPr lang="en" sz="12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https://www.youtube.com/watch?v=9AxdzsVkMLI</a:t>
            </a:r>
            <a:r>
              <a:rPr lang="en" sz="1000">
                <a:solidFill>
                  <a:schemeClr val="dk1"/>
                </a:solidFill>
                <a:latin typeface="Calibri"/>
                <a:ea typeface="Calibri"/>
                <a:cs typeface="Calibri"/>
                <a:sym typeface="Calibri"/>
              </a:rPr>
              <a:t> </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https://levelup.gitconnected.com/you-dont-need-to-buy-a-mac-mini-to-run-openclaw-27bd564c0c9d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Step 1: Install OpenClaw cleanly</a:t>
            </a:r>
            <a:r>
              <a:rPr lang="en" sz="1200">
                <a:solidFill>
                  <a:schemeClr val="dk1"/>
                </a:solidFill>
                <a:latin typeface="Calibri"/>
                <a:ea typeface="Calibri"/>
                <a:cs typeface="Calibri"/>
                <a:sym typeface="Calibri"/>
              </a:rPr>
              <a:t> (homebrew + </a:t>
            </a:r>
            <a:r>
              <a:rPr lang="en" sz="1200" u="sng">
                <a:solidFill>
                  <a:schemeClr val="hlink"/>
                </a:solidFill>
                <a:latin typeface="Calibri"/>
                <a:ea typeface="Calibri"/>
                <a:cs typeface="Calibri"/>
                <a:sym typeface="Calibri"/>
                <a:hlinkClick r:id="rId5"/>
              </a:rPr>
              <a:t>node.js</a:t>
            </a:r>
            <a:r>
              <a:rPr lang="en" sz="1200">
                <a:solidFill>
                  <a:schemeClr val="dk1"/>
                </a:solidFill>
                <a:latin typeface="Calibri"/>
                <a:ea typeface="Calibri"/>
                <a:cs typeface="Calibri"/>
                <a:sym typeface="Calibri"/>
              </a:rPr>
              <a:t> - then install OpenClaw via the official CLI or installer for macOS</a:t>
            </a:r>
            <a:br>
              <a:rPr lang="en" sz="12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6"/>
              </a:rPr>
              <a:t>https://www.youtube.com/watch?v=YSJ61RiO7As</a:t>
            </a:r>
            <a:r>
              <a:rPr lang="en" sz="10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Keep OpenClaw updated to get security fixes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Step 2: Isolate from your main account </a:t>
            </a:r>
            <a:r>
              <a:rPr lang="en" sz="1200">
                <a:solidFill>
                  <a:schemeClr val="dk1"/>
                </a:solidFill>
                <a:latin typeface="Calibri"/>
                <a:ea typeface="Calibri"/>
                <a:cs typeface="Calibri"/>
                <a:sym typeface="Calibri"/>
              </a:rPr>
              <a:t>- create a separate standard macOS user just for OpenClaw and run it only there</a:t>
            </a:r>
            <a:br>
              <a:rPr lang="en" sz="12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7"/>
              </a:rPr>
              <a:t>https://us.ugreen.com/blogs/docking-stations/openclaw-on-mac-mini</a:t>
            </a:r>
            <a:r>
              <a:rPr lang="en" sz="10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Store projects in a dedicated folder (for example `~/ai-workspace`) and avoid linking cloud drives into that account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Step 3: Restrict what it can touch</a:t>
            </a:r>
            <a:r>
              <a:rPr lang="en" sz="1200">
                <a:solidFill>
                  <a:schemeClr val="dk1"/>
                </a:solidFill>
                <a:latin typeface="Calibri"/>
                <a:ea typeface="Calibri"/>
                <a:cs typeface="Calibri"/>
                <a:sym typeface="Calibri"/>
              </a:rPr>
              <a:t> - Do not grant access to ~/.ssh, ~/Library/Keychains, or ~/.gnupg; keep secrets out of its user profile</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Treat ~/.openclaw as sensitive (contains API keys and long‑term memory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Step 4: Lock down networking</a:t>
            </a:r>
            <a:r>
              <a:rPr lang="en" sz="1200">
                <a:solidFill>
                  <a:schemeClr val="dk1"/>
                </a:solidFill>
                <a:latin typeface="Calibri"/>
                <a:ea typeface="Calibri"/>
                <a:cs typeface="Calibri"/>
                <a:sym typeface="Calibri"/>
              </a:rPr>
              <a:t> - Configure OpenClaw to bind only to `127.0.0.1` and set an auth token for the gateway. </a:t>
            </a:r>
            <a:r>
              <a:rPr lang="en" sz="1200" u="sng">
                <a:solidFill>
                  <a:schemeClr val="hlink"/>
                </a:solidFill>
                <a:latin typeface="Calibri"/>
                <a:ea typeface="Calibri"/>
                <a:cs typeface="Calibri"/>
                <a:sym typeface="Calibri"/>
                <a:hlinkClick r:id="rId8"/>
              </a:rPr>
              <a:t>https://bitlaunch.io/blog/install-configure-openclaw/</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Use Tailscale encrypted tunnel for remote access instead of exposing ports publicly</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9"/>
              </a:rPr>
              <a:t>https://help.apiyi.com/en/openclaw-local-vs-server-deployment-guide-en.html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Optional: Extra isolation by running a separate macOS VM using UTM and install OpenClaw inside that VM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Eventually rent VPS (Hostinger) or buy Mac Mini</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a:t>
            </a:r>
            <a:r>
              <a:rPr lang="en" sz="1200" u="sng">
                <a:solidFill>
                  <a:schemeClr val="hlink"/>
                </a:solidFill>
                <a:latin typeface="Calibri"/>
                <a:ea typeface="Calibri"/>
                <a:cs typeface="Calibri"/>
                <a:sym typeface="Calibri"/>
                <a:hlinkClick r:id="rId10"/>
              </a:rPr>
              <a:t>https://www.youtube.com/watch?v=kqkOFKmNY_w</a:t>
            </a:r>
            <a:endParaRPr sz="1200">
              <a:solidFill>
                <a:schemeClr val="dk1"/>
              </a:solidFill>
              <a:latin typeface="Calibri"/>
              <a:ea typeface="Calibri"/>
              <a:cs typeface="Calibri"/>
              <a:sym typeface="Calibri"/>
            </a:endParaRPr>
          </a:p>
        </p:txBody>
      </p:sp>
      <p:sp>
        <p:nvSpPr>
          <p:cNvPr id="181" name="Google Shape;181;p28"/>
          <p:cNvSpPr txBox="1"/>
          <p:nvPr/>
        </p:nvSpPr>
        <p:spPr>
          <a:xfrm>
            <a:off x="55075" y="561950"/>
            <a:ext cx="4152000" cy="251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Mac sandbox-exec user profile:</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(allow default)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(allow network-outbound)</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(deny network-inbound</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(local tcp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(deny file-write*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(subpath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(allow file-write*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(subpath (string-append (param "HOME") "/.openclaw"))</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(subpath (string-append (param "HOME") "/.openclaw/workspace"))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(subpath "/tmp"))</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(allow file-read*)</a:t>
            </a:r>
            <a:endParaRPr sz="900" b="1">
              <a:solidFill>
                <a:srgbClr val="3C78D8"/>
              </a:solidFill>
              <a:latin typeface="Roboto Mono"/>
              <a:ea typeface="Roboto Mono"/>
              <a:cs typeface="Roboto Mono"/>
              <a:sym typeface="Roboto Mono"/>
            </a:endParaRPr>
          </a:p>
        </p:txBody>
      </p:sp>
      <p:sp>
        <p:nvSpPr>
          <p:cNvPr id="182" name="Google Shape;182;p28"/>
          <p:cNvSpPr txBox="1"/>
          <p:nvPr/>
        </p:nvSpPr>
        <p:spPr>
          <a:xfrm>
            <a:off x="55075" y="3255550"/>
            <a:ext cx="4152000" cy="988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 launch OpenClaw like this:</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sandbox-exec -f ~/.openclaw/sandbox.sb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-D HOME=$HOME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openclaw gateway --port 18789</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6AA84F"/>
                </a:solidFill>
                <a:latin typeface="Roboto Mono"/>
                <a:ea typeface="Roboto Mono"/>
                <a:cs typeface="Roboto Mono"/>
                <a:sym typeface="Roboto Mono"/>
              </a:rPr>
              <a:t># test:</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openclaw agent -m "hello"</a:t>
            </a:r>
            <a:endParaRPr sz="900" b="1">
              <a:solidFill>
                <a:srgbClr val="3C78D8"/>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9"/>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8" name="Google Shape;188;p29"/>
          <p:cNvSpPr txBox="1"/>
          <p:nvPr/>
        </p:nvSpPr>
        <p:spPr>
          <a:xfrm>
            <a:off x="55075" y="393207"/>
            <a:ext cx="44343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High-value AI skills to be worth $500K/year by 2027</a:t>
            </a:r>
            <a:r>
              <a:rPr lang="en" sz="1200">
                <a:solidFill>
                  <a:schemeClr val="dk1"/>
                </a:solidFill>
                <a:latin typeface="Calibri"/>
                <a:ea typeface="Calibri"/>
                <a:cs typeface="Calibri"/>
                <a:sym typeface="Calibri"/>
              </a:rPr>
              <a:t> -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by Christian Peverelli </a:t>
            </a:r>
            <a:r>
              <a:rPr lang="en" sz="1200" u="sng">
                <a:solidFill>
                  <a:schemeClr val="hlink"/>
                </a:solidFill>
                <a:latin typeface="Calibri"/>
                <a:ea typeface="Calibri"/>
                <a:cs typeface="Calibri"/>
                <a:sym typeface="Calibri"/>
                <a:hlinkClick r:id="rId3"/>
              </a:rPr>
              <a:t>https://www.youtube.com/watch?v=9F-TcTlD5TE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 Coding</a:t>
            </a:r>
            <a:r>
              <a:rPr lang="en" sz="1200">
                <a:solidFill>
                  <a:schemeClr val="dk1"/>
                </a:solidFill>
                <a:latin typeface="Calibri"/>
                <a:ea typeface="Calibri"/>
                <a:cs typeface="Calibri"/>
                <a:sym typeface="Calibri"/>
              </a:rPr>
              <a:t> - using tools like Lovable and Claude Code to build functional apps and websites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 Sales</a:t>
            </a:r>
            <a:r>
              <a:rPr lang="en" sz="1200">
                <a:solidFill>
                  <a:schemeClr val="dk1"/>
                </a:solidFill>
                <a:latin typeface="Calibri"/>
                <a:ea typeface="Calibri"/>
                <a:cs typeface="Calibri"/>
                <a:sym typeface="Calibri"/>
              </a:rPr>
              <a:t> - automating lead generation and CRM management using platforms like Outbound and Adio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 Marketing</a:t>
            </a:r>
            <a:r>
              <a:rPr lang="en" sz="1200">
                <a:solidFill>
                  <a:schemeClr val="dk1"/>
                </a:solidFill>
                <a:latin typeface="Calibri"/>
                <a:ea typeface="Calibri"/>
                <a:cs typeface="Calibri"/>
                <a:sym typeface="Calibri"/>
              </a:rPr>
              <a:t>: - AI for copywriting and tools like Runway or Nano Banana for AI-generated visual content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 SEO (AEO) </a:t>
            </a:r>
            <a:r>
              <a:rPr lang="en" sz="1200">
                <a:solidFill>
                  <a:schemeClr val="dk1"/>
                </a:solidFill>
                <a:latin typeface="Calibri"/>
                <a:ea typeface="Calibri"/>
                <a:cs typeface="Calibri"/>
                <a:sym typeface="Calibri"/>
              </a:rPr>
              <a:t>- transitioning to "Answer Engine Optimization" to ensure brands are cited by AI search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 Agents </a:t>
            </a:r>
            <a:r>
              <a:rPr lang="en" sz="1200">
                <a:solidFill>
                  <a:schemeClr val="dk1"/>
                </a:solidFill>
                <a:latin typeface="Calibri"/>
                <a:ea typeface="Calibri"/>
                <a:cs typeface="Calibri"/>
                <a:sym typeface="Calibri"/>
              </a:rPr>
              <a:t>- Setting up autonomous systems like OpenClaw to execute complex business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Strategic Consulting </a:t>
            </a:r>
            <a:r>
              <a:rPr lang="en" sz="1200">
                <a:solidFill>
                  <a:schemeClr val="dk1"/>
                </a:solidFill>
                <a:latin typeface="Calibri"/>
                <a:ea typeface="Calibri"/>
                <a:cs typeface="Calibri"/>
                <a:sym typeface="Calibri"/>
              </a:rPr>
              <a:t>- creating personalized AI advisors to assist with high-level decision-making</a:t>
            </a:r>
            <a:endParaRPr sz="1200">
              <a:solidFill>
                <a:schemeClr val="dk1"/>
              </a:solidFill>
              <a:latin typeface="Calibri"/>
              <a:ea typeface="Calibri"/>
              <a:cs typeface="Calibri"/>
              <a:sym typeface="Calibri"/>
            </a:endParaRPr>
          </a:p>
        </p:txBody>
      </p:sp>
      <p:sp>
        <p:nvSpPr>
          <p:cNvPr id="189" name="Google Shape;189;p29"/>
          <p:cNvSpPr txBox="1"/>
          <p:nvPr/>
        </p:nvSpPr>
        <p:spPr>
          <a:xfrm>
            <a:off x="4646100" y="2116482"/>
            <a:ext cx="4434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Lyria 3 AI music model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into the Gemini app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Turns text or images into 30‑second songs with vocals and lyrics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improves on earlier Lyria versions with automatic lyric generation, better control over style, vocals, tempo, and more coherent, complex arrangements. Users can describe a mood, genre, or scene—or upload a photo or video—and get a short, shareable track tailored for short‑form content like social clips. All outputs are watermarked with SynthID for provenance, and safety filters aim to support original expression instead of cloning specific artists. [blog](https://blog.google/innovation-and-ai/products/gemini-app/lyria-3/)</a:t>
            </a:r>
            <a:endParaRPr sz="1200">
              <a:solidFill>
                <a:schemeClr val="dk1"/>
              </a:solidFill>
              <a:latin typeface="Calibri"/>
              <a:ea typeface="Calibri"/>
              <a:cs typeface="Calibri"/>
              <a:sym typeface="Calibri"/>
            </a:endParaRPr>
          </a:p>
        </p:txBody>
      </p:sp>
      <p:sp>
        <p:nvSpPr>
          <p:cNvPr id="190" name="Google Shape;190;p29"/>
          <p:cNvSpPr txBox="1"/>
          <p:nvPr/>
        </p:nvSpPr>
        <p:spPr>
          <a:xfrm>
            <a:off x="4646100" y="411524"/>
            <a:ext cx="4434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ZeroClaw local agent in Rust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https://www.youtube.com/watch?v=wctPAKyr0xw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Runs on less than 5MB of RAM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Near instant startup 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Setup - clone GitHub repo, configure API key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 GUI - only terminal interface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Works like OpenClaw, integrates with messaging apps like Telegram, Discord, and WhatsApp</a:t>
            </a:r>
            <a:endParaRPr sz="1200">
              <a:solidFill>
                <a:schemeClr val="dk1"/>
              </a:solidFill>
              <a:latin typeface="Calibri"/>
              <a:ea typeface="Calibri"/>
              <a:cs typeface="Calibri"/>
              <a:sym typeface="Calibri"/>
            </a:endParaRPr>
          </a:p>
        </p:txBody>
      </p:sp>
      <p:sp>
        <p:nvSpPr>
          <p:cNvPr id="191" name="Google Shape;191;p29"/>
          <p:cNvSpPr txBox="1"/>
          <p:nvPr/>
        </p:nvSpPr>
        <p:spPr>
          <a:xfrm>
            <a:off x="55075" y="3263826"/>
            <a:ext cx="44343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IronClaw - in Rust, more secure than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https://www.youtube.com/watch?v=6TopUr9huiw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Written in Rust for memory safety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web assembly sandboxes to isolate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Stores credentials in encrypted vaults that the AI never accesses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Implements policy enforcement with audit trails</a:t>
            </a:r>
            <a:endParaRPr sz="1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97" name="Google Shape;197;p30"/>
          <p:cNvSpPr txBox="1"/>
          <p:nvPr/>
        </p:nvSpPr>
        <p:spPr>
          <a:xfrm>
            <a:off x="55075" y="393207"/>
            <a:ext cx="443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Why AI generate Garbage Code - and How to Fix It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https://www.youtube.com/watch?v=7oRBHxMvWxQ</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Vicious cycle: AI produces large volumes of low-quality code that increases complexity, eventually slowing down development and leading to more errors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To combat this, Bereznitsky proposes the following process:</a:t>
            </a:r>
            <a:endParaRPr sz="1200">
              <a:latin typeface="Calibri"/>
              <a:ea typeface="Calibri"/>
              <a:cs typeface="Calibri"/>
              <a:sym typeface="Calibri"/>
            </a:endParaRPr>
          </a:p>
          <a:p>
            <a:pPr marL="2857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Research</a:t>
            </a:r>
            <a:r>
              <a:rPr lang="en" sz="1200">
                <a:latin typeface="Calibri"/>
                <a:ea typeface="Calibri"/>
                <a:cs typeface="Calibri"/>
                <a:sym typeface="Calibri"/>
              </a:rPr>
              <a:t> - scan the codebase to identify only relevant files</a:t>
            </a:r>
            <a:endParaRPr sz="1200">
              <a:latin typeface="Calibri"/>
              <a:ea typeface="Calibri"/>
              <a:cs typeface="Calibri"/>
              <a:sym typeface="Calibri"/>
            </a:endParaRPr>
          </a:p>
          <a:p>
            <a:pPr marL="2857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Create architectural diagrams</a:t>
            </a:r>
            <a:r>
              <a:rPr lang="en" sz="1200">
                <a:latin typeface="Calibri"/>
                <a:ea typeface="Calibri"/>
                <a:cs typeface="Calibri"/>
                <a:sym typeface="Calibri"/>
              </a:rPr>
              <a:t> (C4, sequence, data flow) before writing any code </a:t>
            </a:r>
            <a:endParaRPr sz="1200">
              <a:latin typeface="Calibri"/>
              <a:ea typeface="Calibri"/>
              <a:cs typeface="Calibri"/>
              <a:sym typeface="Calibri"/>
            </a:endParaRPr>
          </a:p>
          <a:p>
            <a:pPr marL="2857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Break the task into verifiable phases</a:t>
            </a:r>
            <a:r>
              <a:rPr lang="en" sz="1200">
                <a:latin typeface="Calibri"/>
                <a:ea typeface="Calibri"/>
                <a:cs typeface="Calibri"/>
                <a:sym typeface="Calibri"/>
              </a:rPr>
              <a:t> with clear quality criteria</a:t>
            </a:r>
            <a:endParaRPr sz="1200">
              <a:latin typeface="Calibri"/>
              <a:ea typeface="Calibri"/>
              <a:cs typeface="Calibri"/>
              <a:sym typeface="Calibri"/>
            </a:endParaRPr>
          </a:p>
          <a:p>
            <a:pPr marL="2857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Implementation using a "team" of agents </a:t>
            </a:r>
            <a:r>
              <a:rPr lang="en" sz="1200">
                <a:latin typeface="Calibri"/>
                <a:ea typeface="Calibri"/>
                <a:cs typeface="Calibri"/>
                <a:sym typeface="Calibri"/>
              </a:rPr>
              <a:t>(including specialized roles for security, testing, and architecture review to validate the code against established standards</a:t>
            </a:r>
            <a:endParaRPr sz="1200">
              <a:latin typeface="Calibri"/>
              <a:ea typeface="Calibri"/>
              <a:cs typeface="Calibri"/>
              <a:sym typeface="Calibri"/>
            </a:endParaRPr>
          </a:p>
        </p:txBody>
      </p:sp>
      <p:sp>
        <p:nvSpPr>
          <p:cNvPr id="198" name="Google Shape;198;p30"/>
          <p:cNvSpPr txBox="1"/>
          <p:nvPr/>
        </p:nvSpPr>
        <p:spPr>
          <a:xfrm>
            <a:off x="55075" y="2869690"/>
            <a:ext cx="4434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India announced three (3) domestically-built models</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Sorum AI introduced two MoE models (30B &amp; 105B params) optimized for 22 Indian languages</a:t>
            </a:r>
            <a:r>
              <a:rPr lang="en" sz="1200">
                <a:latin typeface="Calibri"/>
                <a:ea typeface="Calibri"/>
                <a:cs typeface="Calibri"/>
                <a:sym typeface="Calibri"/>
              </a:rPr>
              <a:t> and efficient enough to run on low-end devices.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government also unveiled </a:t>
            </a:r>
            <a:r>
              <a:rPr lang="en" sz="1200" b="1">
                <a:solidFill>
                  <a:srgbClr val="FF0000"/>
                </a:solidFill>
                <a:latin typeface="Calibri"/>
                <a:ea typeface="Calibri"/>
                <a:cs typeface="Calibri"/>
                <a:sym typeface="Calibri"/>
              </a:rPr>
              <a:t>Bhajan Pram 2, a 17B params  multimodal model </a:t>
            </a:r>
            <a:r>
              <a:rPr lang="en" sz="1200">
                <a:latin typeface="Calibri"/>
                <a:ea typeface="Calibri"/>
                <a:cs typeface="Calibri"/>
                <a:sym typeface="Calibri"/>
              </a:rPr>
              <a:t>for public sector use.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Like DeepSeek's impact on assumptions about frontier AI development, India is demonstrating that sovereign AI development can serve 1.4 billion people largely ignored by global models, particularly through voice-first interfaces in regional languages.</a:t>
            </a:r>
            <a:endParaRPr sz="1200">
              <a:latin typeface="Calibri"/>
              <a:ea typeface="Calibri"/>
              <a:cs typeface="Calibri"/>
              <a:sym typeface="Calibri"/>
            </a:endParaRPr>
          </a:p>
        </p:txBody>
      </p:sp>
      <p:sp>
        <p:nvSpPr>
          <p:cNvPr id="199" name="Google Shape;199;p30"/>
          <p:cNvSpPr txBox="1"/>
          <p:nvPr/>
        </p:nvSpPr>
        <p:spPr>
          <a:xfrm>
            <a:off x="4619975" y="503690"/>
            <a:ext cx="4434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VoiceBox - open-source local-first AI voice cloning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Rivals ElevenLabs, powered by Alibaba’s Qwen2-72B</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It can clone a voice from just 3 sec of audio</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Stories Editor for multi-track audio production, built-in transcription via Whisper and a REST API for developers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Unlike subscription-based cloud services, VoiceBox runs entirely on your machine (Mac or Windows), ensuring total data privacy and no API limits - </a:t>
            </a:r>
            <a:r>
              <a:rPr lang="en" sz="1200" u="sng">
                <a:solidFill>
                  <a:schemeClr val="hlink"/>
                </a:solidFill>
                <a:latin typeface="Calibri"/>
                <a:ea typeface="Calibri"/>
                <a:cs typeface="Calibri"/>
                <a:sym typeface="Calibri"/>
                <a:hlinkClick r:id="rId4"/>
              </a:rPr>
              <a:t>https://www.youtube.com/watch?v=woQe90k7g3c</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1"/>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5" name="Google Shape;205;p31"/>
          <p:cNvSpPr txBox="1"/>
          <p:nvPr/>
        </p:nvSpPr>
        <p:spPr>
          <a:xfrm>
            <a:off x="55075" y="393207"/>
            <a:ext cx="4434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Modeling human concept formation, understanding and communication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https://www.nature.com/articles/s43588-026-00956-4</a:t>
            </a:r>
            <a:endParaRPr sz="1200">
              <a:solidFill>
                <a:schemeClr val="dk1"/>
              </a:solidFill>
              <a:latin typeface="Calibri"/>
              <a:ea typeface="Calibri"/>
              <a:cs typeface="Calibri"/>
              <a:sym typeface="Calibri"/>
            </a:endParaRPr>
          </a:p>
        </p:txBody>
      </p:sp>
      <p:sp>
        <p:nvSpPr>
          <p:cNvPr id="206" name="Google Shape;206;p31"/>
          <p:cNvSpPr txBox="1"/>
          <p:nvPr/>
        </p:nvSpPr>
        <p:spPr>
          <a:xfrm>
            <a:off x="55075" y="1264607"/>
            <a:ext cx="44343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Code Agent Modeling Trading</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https://www.youtube.com/watch?v=yqr2qoTcMPk</a:t>
            </a:r>
            <a:r>
              <a:rPr lang="en" sz="1200">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07" name="Google Shape;207;p31"/>
          <p:cNvSpPr txBox="1"/>
          <p:nvPr/>
        </p:nvSpPr>
        <p:spPr>
          <a:xfrm>
            <a:off x="55075" y="1951507"/>
            <a:ext cx="443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Builds Self-Learning AI (RL2F)</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https://www.youtube.com/watch?v=hm9WsUS6UH8</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Reinforcement Learning with Language Feedback (RL2F) </a:t>
            </a:r>
            <a:r>
              <a:rPr lang="en" sz="1200">
                <a:latin typeface="Calibri"/>
                <a:ea typeface="Calibri"/>
                <a:cs typeface="Calibri"/>
                <a:sym typeface="Calibri"/>
              </a:rPr>
              <a:t>that enables self-improving AI systems.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new approach combines a </a:t>
            </a:r>
            <a:r>
              <a:rPr lang="en" sz="1200" b="1">
                <a:solidFill>
                  <a:srgbClr val="FF0000"/>
                </a:solidFill>
                <a:latin typeface="Calibri"/>
                <a:ea typeface="Calibri"/>
                <a:cs typeface="Calibri"/>
                <a:sym typeface="Calibri"/>
              </a:rPr>
              <a:t>teacher-student model structure </a:t>
            </a:r>
            <a:r>
              <a:rPr lang="en" sz="1200">
                <a:latin typeface="Calibri"/>
                <a:ea typeface="Calibri"/>
                <a:cs typeface="Calibri"/>
                <a:sym typeface="Calibri"/>
              </a:rPr>
              <a:t>where during training the teacher provides natural language feedback rather than direct answers.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At inference time, the external teacher is removed and the model becomes auto-didactic, alternating between generating solutions, critiquing itself, and refining answers.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Testing on mathematical problems showed significant performance improvements, with smaller models nearly matching larger ones through this self-learning capability.</a:t>
            </a:r>
            <a:endParaRPr sz="1200">
              <a:latin typeface="Calibri"/>
              <a:ea typeface="Calibri"/>
              <a:cs typeface="Calibri"/>
              <a:sym typeface="Calibri"/>
            </a:endParaRPr>
          </a:p>
        </p:txBody>
      </p:sp>
      <p:pic>
        <p:nvPicPr>
          <p:cNvPr id="208" name="Google Shape;208;p3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69050" y="1064581"/>
            <a:ext cx="1848399" cy="1027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2"/>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14" name="Google Shape;214;p32"/>
          <p:cNvSpPr txBox="1"/>
          <p:nvPr/>
        </p:nvSpPr>
        <p:spPr>
          <a:xfrm>
            <a:off x="55075" y="521482"/>
            <a:ext cx="4434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China leads the humanoid robot revolution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Chinese-made robots making up nearly 90% of global sales in 2025</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https://x.com/China_Amb_India/status/2026235663469986107</a:t>
            </a:r>
            <a:r>
              <a:rPr lang="en" sz="1200">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15" name="Google Shape;215;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06150" y="152400"/>
            <a:ext cx="3794347" cy="4838700"/>
          </a:xfrm>
          <a:prstGeom prst="rect">
            <a:avLst/>
          </a:prstGeom>
          <a:noFill/>
          <a:ln w="9525" cap="flat" cmpd="sng">
            <a:solidFill>
              <a:srgbClr val="FF0000"/>
            </a:solidFill>
            <a:prstDash val="solid"/>
            <a:round/>
            <a:headEnd type="none" w="sm" len="sm"/>
            <a:tailEnd type="none" w="sm" len="sm"/>
          </a:ln>
        </p:spPr>
      </p:pic>
      <p:sp>
        <p:nvSpPr>
          <p:cNvPr id="216" name="Google Shape;216;p32"/>
          <p:cNvSpPr txBox="1"/>
          <p:nvPr/>
        </p:nvSpPr>
        <p:spPr>
          <a:xfrm>
            <a:off x="55075" y="3195982"/>
            <a:ext cx="4434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Coding in COBOL triggered IBM shares price crash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IBM shares dropped 13% ($31 Bln) in a single day triggered by Anthropic’s demo of latest Claude  model's ability to read, analyze, translate, and modernize COBOL code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COBOL is a programming language from the 1960s–80s that still powers massive portions of the financial world, including an estimated 95% of ATM transactions in the US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Claude’s ability to automate the modernization of this legacy code threatens a major revenue stream for traditional IT service providers. - </a:t>
            </a:r>
            <a:r>
              <a:rPr lang="en" sz="1200" u="sng">
                <a:solidFill>
                  <a:schemeClr val="hlink"/>
                </a:solidFill>
                <a:latin typeface="Calibri"/>
                <a:ea typeface="Calibri"/>
                <a:cs typeface="Calibri"/>
                <a:sym typeface="Calibri"/>
                <a:hlinkClick r:id="rId5"/>
              </a:rPr>
              <a:t>https://www.youtube.com/watch?v=bna8EpgI2bE</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17" name="Google Shape;217;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5075" y="2474554"/>
            <a:ext cx="1605950" cy="644200"/>
          </a:xfrm>
          <a:prstGeom prst="rect">
            <a:avLst/>
          </a:prstGeom>
          <a:noFill/>
          <a:ln>
            <a:noFill/>
          </a:ln>
        </p:spPr>
      </p:pic>
      <p:pic>
        <p:nvPicPr>
          <p:cNvPr id="218" name="Google Shape;218;p32"/>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3684175" y="1186775"/>
            <a:ext cx="861250" cy="1797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3"/>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4" name="Google Shape;224;p33"/>
          <p:cNvSpPr txBox="1"/>
          <p:nvPr/>
        </p:nvSpPr>
        <p:spPr>
          <a:xfrm>
            <a:off x="55075" y="448550"/>
            <a:ext cx="44343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u="sng">
                <a:solidFill>
                  <a:srgbClr val="FF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GGML.ai</a:t>
            </a:r>
            <a:r>
              <a:rPr lang="en" sz="1200" b="1">
                <a:solidFill>
                  <a:srgbClr val="FF0000"/>
                </a:solidFill>
                <a:latin typeface="Calibri"/>
                <a:ea typeface="Calibri"/>
                <a:cs typeface="Calibri"/>
                <a:sym typeface="Calibri"/>
              </a:rPr>
              <a:t> (Georgi Gerganov + team) acquired by Hugging Face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GGML.ai</a:t>
            </a:r>
            <a:r>
              <a:rPr lang="en" sz="1200">
                <a:latin typeface="Calibri"/>
                <a:ea typeface="Calibri"/>
                <a:cs typeface="Calibri"/>
                <a:sym typeface="Calibri"/>
              </a:rPr>
              <a:t> is the team behind the GGML format and llama.cpp, the technology used to run LLMs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core projects remain open source and independent. Their repositories and licenses are not changing, and llama.cpp will continue to be developed in the open with community contributions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idea is to combine Hugging Face’s model hub and Transformers ecosystem with llama.cpp’s highly optimized local inference runtime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This creates a stronger foundation for running AI models entirely on local hardware, with better tooling and long‑term maintenance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phrase “local AI’s long‑term home” reflects a bet that many AI workloads will increasingly run locally, and that the HF + GGML/llama.cpp stack will be the main open platform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https://ggml.ai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https://github.com/ggml-org/ggml</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https://github.com/ggml-org</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7"/>
              </a:rPr>
              <a:t>https://github.com/ggml-org/llama.cpp</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8"/>
              </a:rPr>
              <a:t>https://github.com/ggml-org/whisper.cpp</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25" name="Google Shape;225;p33"/>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74100" y="448550"/>
            <a:ext cx="1271400" cy="1513150"/>
          </a:xfrm>
          <a:prstGeom prst="rect">
            <a:avLst/>
          </a:prstGeom>
          <a:noFill/>
          <a:ln w="9525" cap="flat" cmpd="sng">
            <a:solidFill>
              <a:srgbClr val="FF0000"/>
            </a:solidFill>
            <a:prstDash val="solid"/>
            <a:round/>
            <a:headEnd type="none" w="sm" len="sm"/>
            <a:tailEnd type="none" w="sm" len="sm"/>
          </a:ln>
        </p:spPr>
      </p:pic>
      <p:sp>
        <p:nvSpPr>
          <p:cNvPr id="226" name="Google Shape;226;p33"/>
          <p:cNvSpPr txBox="1"/>
          <p:nvPr/>
        </p:nvSpPr>
        <p:spPr>
          <a:xfrm>
            <a:off x="4674100" y="2018600"/>
            <a:ext cx="1525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latin typeface="Calibri"/>
                <a:ea typeface="Calibri"/>
                <a:cs typeface="Calibri"/>
                <a:sym typeface="Calibri"/>
              </a:rPr>
              <a:t>Georgi Gerganov </a:t>
            </a:r>
            <a:endParaRPr sz="1200" b="1">
              <a:solidFill>
                <a:schemeClr val="dk1"/>
              </a:solidFill>
              <a:latin typeface="Calibri"/>
              <a:ea typeface="Calibri"/>
              <a:cs typeface="Calibri"/>
              <a:sym typeface="Calibri"/>
            </a:endParaRPr>
          </a:p>
        </p:txBody>
      </p:sp>
      <p:sp>
        <p:nvSpPr>
          <p:cNvPr id="227" name="Google Shape;227;p33"/>
          <p:cNvSpPr txBox="1"/>
          <p:nvPr/>
        </p:nvSpPr>
        <p:spPr>
          <a:xfrm>
            <a:off x="4674100" y="2908500"/>
            <a:ext cx="4434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David Silver starts Ineffable Intelligence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David Silver is </a:t>
            </a:r>
            <a:r>
              <a:rPr lang="en" sz="1200">
                <a:latin typeface="Calibri"/>
                <a:ea typeface="Calibri"/>
                <a:cs typeface="Calibri"/>
                <a:sym typeface="Calibri"/>
              </a:rPr>
              <a:t>DeepMind veteran, best known for leading the AlphaGo and AlphaZero projects, has left Google DeepMind to found a London-based startup called Ineffable Intelligence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Goal - building superhuman or “endlessly learning” intelligence using reinforcement learning and world models rather than LLMs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Silver is raising ~ $1 Bln in a seed round ($4B valuation)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Silver’s stated view is that LLMs are fundamentally limited because they are trained on human-generated text, while agents that learn directly from experience in rich environments can, in principle, discover new knowledge and capabilities beyond what humans have written down.</a:t>
            </a:r>
            <a:endParaRPr sz="1200">
              <a:latin typeface="Calibri"/>
              <a:ea typeface="Calibri"/>
              <a:cs typeface="Calibri"/>
              <a:sym typeface="Calibri"/>
            </a:endParaRPr>
          </a:p>
        </p:txBody>
      </p:sp>
      <p:pic>
        <p:nvPicPr>
          <p:cNvPr id="228" name="Google Shape;228;p33"/>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7642200" y="1031514"/>
            <a:ext cx="1415197" cy="1513150"/>
          </a:xfrm>
          <a:prstGeom prst="rect">
            <a:avLst/>
          </a:prstGeom>
          <a:noFill/>
          <a:ln w="9525" cap="flat" cmpd="sng">
            <a:solidFill>
              <a:srgbClr val="FF0000"/>
            </a:solidFill>
            <a:prstDash val="solid"/>
            <a:round/>
            <a:headEnd type="none" w="sm" len="sm"/>
            <a:tailEnd type="none" w="sm" len="sm"/>
          </a:ln>
        </p:spPr>
      </p:pic>
      <p:sp>
        <p:nvSpPr>
          <p:cNvPr id="229" name="Google Shape;229;p33"/>
          <p:cNvSpPr txBox="1"/>
          <p:nvPr/>
        </p:nvSpPr>
        <p:spPr>
          <a:xfrm>
            <a:off x="7642200" y="2625564"/>
            <a:ext cx="14151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latin typeface="Calibri"/>
                <a:ea typeface="Calibri"/>
                <a:cs typeface="Calibri"/>
                <a:sym typeface="Calibri"/>
              </a:rPr>
              <a:t>David Silver</a:t>
            </a:r>
            <a:endParaRPr sz="1200" b="1">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5" name="Google Shape;235;p34"/>
          <p:cNvSpPr txBox="1"/>
          <p:nvPr/>
        </p:nvSpPr>
        <p:spPr>
          <a:xfrm>
            <a:off x="55075" y="415957"/>
            <a:ext cx="4434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 Copied Warren Buffett's 'Free' Trap and Made Millions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https://www.youtube.com/watch?v=EuXMn67uSME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Young </a:t>
            </a:r>
            <a:r>
              <a:rPr lang="en" sz="1200">
                <a:solidFill>
                  <a:schemeClr val="dk1"/>
                </a:solidFill>
                <a:latin typeface="Calibri"/>
                <a:ea typeface="Calibri"/>
                <a:cs typeface="Calibri"/>
                <a:sym typeface="Calibri"/>
              </a:rPr>
              <a:t>Warren </a:t>
            </a:r>
            <a:r>
              <a:rPr lang="en" sz="1200">
                <a:latin typeface="Calibri"/>
                <a:ea typeface="Calibri"/>
                <a:cs typeface="Calibri"/>
                <a:sym typeface="Calibri"/>
              </a:rPr>
              <a:t>Buffett - placed machines in barbershops for free, splitting profits 50-50 and reinvesting earnings to expand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Leo used similar approach - offered free water for life in exchange for a $150 refundable deposit for water dispensers, quickly signing up 2,000 families and generating $300,000 in cash flow</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He used this money to buy stakes in filter and bucket factories and get 80% discounts on jugs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deposits generated enough interest to cover operational costs while creating customer lock-in.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Both strategies demonstrate using "free" as bait to generate cash flow and leverage, controlling supply chains rather than competing on price, and letting other people's money work for them.</a:t>
            </a:r>
            <a:endParaRPr sz="1200">
              <a:latin typeface="Calibri"/>
              <a:ea typeface="Calibri"/>
              <a:cs typeface="Calibri"/>
              <a:sym typeface="Calibri"/>
            </a:endParaRPr>
          </a:p>
        </p:txBody>
      </p:sp>
      <p:sp>
        <p:nvSpPr>
          <p:cNvPr id="236" name="Google Shape;236;p34"/>
          <p:cNvSpPr txBox="1"/>
          <p:nvPr/>
        </p:nvSpPr>
        <p:spPr>
          <a:xfrm>
            <a:off x="55075" y="3066782"/>
            <a:ext cx="44343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Become an AI HACKER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https://www.youtube.com/watch?v=_yfiUQSbdPY</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New job/consulting market - hack AI systems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Bug bounties, competitions, AI penetration testing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Key techniques include prompt injection attacks, system prompt extraction, and exploiting AI chains to access confidential data</a:t>
            </a:r>
            <a:endParaRPr sz="1200">
              <a:latin typeface="Calibri"/>
              <a:ea typeface="Calibri"/>
              <a:cs typeface="Calibri"/>
              <a:sym typeface="Calibri"/>
            </a:endParaRPr>
          </a:p>
        </p:txBody>
      </p:sp>
      <p:sp>
        <p:nvSpPr>
          <p:cNvPr id="237" name="Google Shape;237;p34"/>
          <p:cNvSpPr txBox="1"/>
          <p:nvPr/>
        </p:nvSpPr>
        <p:spPr>
          <a:xfrm>
            <a:off x="4569200" y="99657"/>
            <a:ext cx="4434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Make money by Helping others make money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https://www.youtube.com/watch?v=5PKYfRofUdg</a:t>
            </a:r>
            <a:r>
              <a:rPr lang="en" sz="1200">
                <a:latin typeface="Calibri"/>
                <a:ea typeface="Calibri"/>
                <a:cs typeface="Calibri"/>
                <a:sym typeface="Calibri"/>
              </a:rPr>
              <a:t> </a:t>
            </a:r>
            <a:endParaRPr sz="1200">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1. Tie your work directly to revenue generation</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2. Sell to people who actually have money </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(businesses rather than consumers)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3. Price based on value created rather than time spent</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4. Develop skills that sit close to revenue like sales and marketing</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In capitalism, market value differs from societal value, which explains why teachers and social workers earn less than finance professionals despite their social importance.</a:t>
            </a:r>
            <a:endParaRPr sz="1200">
              <a:latin typeface="Calibri"/>
              <a:ea typeface="Calibri"/>
              <a:cs typeface="Calibri"/>
              <a:sym typeface="Calibri"/>
            </a:endParaRPr>
          </a:p>
        </p:txBody>
      </p:sp>
      <p:sp>
        <p:nvSpPr>
          <p:cNvPr id="238" name="Google Shape;238;p34"/>
          <p:cNvSpPr txBox="1"/>
          <p:nvPr/>
        </p:nvSpPr>
        <p:spPr>
          <a:xfrm>
            <a:off x="4569200" y="2054482"/>
            <a:ext cx="4434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Tutorial How to Build an OpenClaw Business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https://www.youtube.com/watch?v=nSBKCZQkmYw</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Nat has created an AI assistant named Felix that has built a profitable business.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Nat gave Felix access to various APIs including Vercel, Stripe, and GitHub, then tasked it with creating a product overnight.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Felix developed a PDF guide on setting up OpenClaw systems, launched it at felixcraft.ai, and generated over $3,500 in sales within four days.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AI now has its own Twitter account with 2,500 followers and manages nearly $100,000 in cryptocurrency from trading fees.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Key technical improvements include a three-layer memory system using QMD indexing, nightly memory consolidation, and separate Telegram group chats for different projects.</a:t>
            </a:r>
            <a:endParaRPr sz="12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5"/>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44" name="Google Shape;244;p35"/>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45" name="Google Shape;245;p35"/>
          <p:cNvSpPr txBox="1"/>
          <p:nvPr/>
        </p:nvSpPr>
        <p:spPr>
          <a:xfrm>
            <a:off x="5549900" y="375077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25K  in 2026 </a:t>
            </a:r>
            <a:r>
              <a:rPr lang="en" sz="1000" b="1">
                <a:solidFill>
                  <a:schemeClr val="dk1"/>
                </a:solidFill>
                <a:latin typeface="Roboto Mono"/>
                <a:ea typeface="Roboto Mono"/>
                <a:cs typeface="Roboto Mono"/>
                <a:sym typeface="Roboto Mono"/>
              </a:rPr>
              <a:t>(as of February 6,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46" name="Google Shape;246;p35"/>
          <p:cNvSpPr txBox="1"/>
          <p:nvPr/>
        </p:nvSpPr>
        <p:spPr>
          <a:xfrm>
            <a:off x="5549900" y="5184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28,825</a:t>
            </a:r>
            <a:r>
              <a:rPr lang="en" sz="1200">
                <a:latin typeface="Calibri"/>
                <a:ea typeface="Calibri"/>
                <a:cs typeface="Calibri"/>
                <a:sym typeface="Calibri"/>
              </a:rPr>
              <a:t> people laid off (779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47" name="Google Shape;247;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183" y="3150994"/>
            <a:ext cx="5198610" cy="1970675"/>
          </a:xfrm>
          <a:prstGeom prst="rect">
            <a:avLst/>
          </a:prstGeom>
          <a:noFill/>
          <a:ln w="9525" cap="flat" cmpd="sng">
            <a:solidFill>
              <a:srgbClr val="FF0000"/>
            </a:solidFill>
            <a:prstDash val="solid"/>
            <a:round/>
            <a:headEnd type="none" w="sm" len="sm"/>
            <a:tailEnd type="none" w="sm" len="sm"/>
          </a:ln>
        </p:spPr>
      </p:pic>
      <p:pic>
        <p:nvPicPr>
          <p:cNvPr id="248" name="Google Shape;248;p3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175" y="453138"/>
            <a:ext cx="5198627" cy="26670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3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54" name="Google Shape;254;p36"/>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55" name="Google Shape;255;p36"/>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56" name="Google Shape;256;p3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57" name="Google Shape;257;p36"/>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58" name="Google Shape;258;p36"/>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7"/>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6487</Words>
  <Application>Microsoft Macintosh PowerPoint</Application>
  <PresentationFormat>On-screen Show (16:9)</PresentationFormat>
  <Paragraphs>625</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2</cp:revision>
  <dcterms:modified xsi:type="dcterms:W3CDTF">2026-02-24T22:20:47Z</dcterms:modified>
</cp:coreProperties>
</file>