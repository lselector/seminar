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embeddedFontLst>
    <p:embeddedFont>
      <p:font typeface="Roboto Mono" pitchFamily="49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BCBF76F-FFE0-4ED5-AC8B-02CF49059D5D}">
  <a:tblStyle styleId="{5BCBF76F-FFE0-4ED5-AC8B-02CF49059D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10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ships Muse  agent with its own cloud computer and browser =&gt; Meta Muse Agent with Own Computer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formalized Fermat's Last Theorem in 11 days =&gt; Claude Formalized Fermat's Theorem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Anthropic resignation turns into an extinction debate =&gt; Anthropic Resignation, Extinction Debate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Mistral raises the largest round in European tech history =&gt; Mistral Raises Record EU Round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Google's agentic video understanding cuts video tokens by up to 88% =&gt; Google Agentic Video: 88% Fewer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music industry stops fighting and starts licensing =&gt; Music Industry Starts Licensing 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models what AI does to US jobs and wages by 2030 =&gt; Anthropic: AI and US Jobs by 2030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Amodei calls on AI labs to pace the frontier =&gt; Amodei: Pace the Frontier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shelves its 2026 IPO as Anthropic heads to Nasdaq =&gt; OpenAI Delays IPO, Anthropic to Nasdaq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V4.1-Flash: bigger model, a quarter of the KV cache =&gt; DeepSeek V4.1 Flash Release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reports Claude misuse and test models loose online =&gt; Claude Misuse and Escaped Test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Cursor Projects and OpenAI Agents API: agents that keep working =&gt; Cursor Projects, OpenAI Agents API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GPT-6 Astra: Pro sign-ups paused, first critical cyber rating =&gt; GPT-6 Astra: Demand and Cyber Risk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Cognition SWE-2 matches Fable 5.1 on coding at 64% lower cost =&gt; Cognition SWE-2 Coding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launches ChatGPT for Financial Services on GPT-6 Astra =&gt; ChatGPT for Financial Services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publishes a draft Humanist AI Code of Conduct =&gt; Microsoft Humanist AI Code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Code adds plugin evals with a no-plugin baseline =&gt; Claude Code Plugin Evals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AWS open-sources Pizza Bot, an inbox for background agents =&gt; AWS Pizza Bot Agent Inbox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buys camera startup Glass Imaging for over $300 million =&gt; OpenAI Buys Glass Imaging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is preparing Claude Money for personal finance =&gt; Anthropic Claude 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14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buys camera startup Glass Imaging for $300+ Mln =&gt; OpenAI Buys Glass Imaging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ships Muse agent with its own cloud computer and browser =&gt; Meta Muse Agent Ships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b585c93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fb585c93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59fa4c2d_2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b59fa4c2d_2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b59fa4c2d_2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fb59fa4c2d_2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s-news-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s-news-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s-google-s-agentic-video-d0c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s-google-s-agentic-video-d0c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s-anthropic-models-what-ai-does-fa9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s-anthropic-models-what-ai-does-fa9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8dbb82aa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f8dbb82aa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s-amodei-calls-on-ai-labs-to-fd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s-amodei-calls-on-ai-labs-to-fd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s-deepseek-v4-1-flash-bigger-f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s-deepseek-v4-1-flash-bigger-f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s-microsoft-publishes-a-draft-f18b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s-microsoft-publishes-a-draft-f18b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muse-spark-1.3-max" TargetMode="External"/><Relationship Id="rId18" Type="http://schemas.openxmlformats.org/officeDocument/2006/relationships/hyperlink" Target="https://arena.ai/leaderboard/model/muse-spark-1.1" TargetMode="External"/><Relationship Id="rId26" Type="http://schemas.openxmlformats.org/officeDocument/2006/relationships/hyperlink" Target="https://arena.ai/leaderboard/model/qwen3.7-max-preview" TargetMode="External"/><Relationship Id="rId21" Type="http://schemas.openxmlformats.org/officeDocument/2006/relationships/hyperlink" Target="https://arena.ai/leaderboard/model/claude-sonnet-4-6" TargetMode="External"/><Relationship Id="rId34" Type="http://schemas.openxmlformats.org/officeDocument/2006/relationships/hyperlink" Target="https://arena.ai/leaderboard/model/gemini-3-pro" TargetMode="External"/><Relationship Id="rId7" Type="http://schemas.openxmlformats.org/officeDocument/2006/relationships/hyperlink" Target="https://arena.ai/leaderboard/model/claude-opus-4-7-high" TargetMode="External"/><Relationship Id="rId12" Type="http://schemas.openxmlformats.org/officeDocument/2006/relationships/hyperlink" Target="https://arena.ai/leaderboard/model/kimi-k3-max" TargetMode="External"/><Relationship Id="rId17" Type="http://schemas.openxmlformats.org/officeDocument/2006/relationships/hyperlink" Target="https://arena.ai/leaderboard/model/claude-opus-5-high" TargetMode="External"/><Relationship Id="rId25" Type="http://schemas.openxmlformats.org/officeDocument/2006/relationships/hyperlink" Target="https://arena.ai/leaderboard/model/glm-5.3-flash" TargetMode="External"/><Relationship Id="rId33" Type="http://schemas.openxmlformats.org/officeDocument/2006/relationships/hyperlink" Target="https://arena.ai/leaderboard/model/gemini-3.1-pro-preview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4-8-high" TargetMode="External"/><Relationship Id="rId20" Type="http://schemas.openxmlformats.org/officeDocument/2006/relationships/hyperlink" Target="https://arena.ai/leaderboard/model/claude-opus-4-8" TargetMode="External"/><Relationship Id="rId29" Type="http://schemas.openxmlformats.org/officeDocument/2006/relationships/hyperlink" Target="https://arena.ai/leaderboard/model/qwen3.8-max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fable-5" TargetMode="External"/><Relationship Id="rId11" Type="http://schemas.openxmlformats.org/officeDocument/2006/relationships/hyperlink" Target="https://arena.ai/leaderboard/model/gpt-6-astra-max" TargetMode="External"/><Relationship Id="rId24" Type="http://schemas.openxmlformats.org/officeDocument/2006/relationships/hyperlink" Target="https://arena.ai/leaderboard/model/muse-spark" TargetMode="External"/><Relationship Id="rId32" Type="http://schemas.openxmlformats.org/officeDocument/2006/relationships/hyperlink" Target="https://arena.ai/leaderboard/model/gemini-3.7-flash-high" TargetMode="External"/><Relationship Id="rId37" Type="http://schemas.openxmlformats.org/officeDocument/2006/relationships/hyperlink" Target="https://arena.ai/leaderboard/model/gemini-3.5-flash-high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gemini-3.8-flash-high" TargetMode="External"/><Relationship Id="rId23" Type="http://schemas.openxmlformats.org/officeDocument/2006/relationships/hyperlink" Target="https://arena.ai/leaderboard/model/claude-opus-5-max" TargetMode="External"/><Relationship Id="rId28" Type="http://schemas.openxmlformats.org/officeDocument/2006/relationships/hyperlink" Target="https://arena.ai/leaderboard/model/claude-opus-4-5-20251101" TargetMode="External"/><Relationship Id="rId36" Type="http://schemas.openxmlformats.org/officeDocument/2006/relationships/hyperlink" Target="https://arena.ai/leaderboard/model/gemini-3.6-flash-high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opus-4-5-20251101-high-32k" TargetMode="External"/><Relationship Id="rId31" Type="http://schemas.openxmlformats.org/officeDocument/2006/relationships/hyperlink" Target="https://arena.ai/leaderboard/model/claude-fable-5.1-max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muse-spark-1.2%20%28xHigh%29" TargetMode="External"/><Relationship Id="rId22" Type="http://schemas.openxmlformats.org/officeDocument/2006/relationships/hyperlink" Target="https://arena.ai/leaderboard/model/gpt-5.6-sol-xhigh" TargetMode="External"/><Relationship Id="rId27" Type="http://schemas.openxmlformats.org/officeDocument/2006/relationships/hyperlink" Target="https://arena.ai/leaderboard/model/glm-5.3-max" TargetMode="External"/><Relationship Id="rId30" Type="http://schemas.openxmlformats.org/officeDocument/2006/relationships/hyperlink" Target="https://arena.ai/leaderboard/model/mimo-v2.5-pro" TargetMode="External"/><Relationship Id="rId35" Type="http://schemas.openxmlformats.org/officeDocument/2006/relationships/hyperlink" Target="https://arena.ai/leaderboard/model/gpt-5.5-high" TargetMode="External"/><Relationship Id="rId8" Type="http://schemas.openxmlformats.org/officeDocument/2006/relationships/hyperlink" Target="https://arena.ai/leaderboard/model/claude-opus-4-6-high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anthropic.com/research/formalizing-fermats-last-theorem" TargetMode="Externa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y-gadgets.com/andrej-karpathy-ai-workflow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html/2606.09498v1" TargetMode="External"/><Relationship Id="rId3" Type="http://schemas.openxmlformats.org/officeDocument/2006/relationships/hyperlink" Target="https://sakana.ai/dgm/" TargetMode="External"/><Relationship Id="rId7" Type="http://schemas.openxmlformats.org/officeDocument/2006/relationships/hyperlink" Target="https://aclanthology.org/2025.acl-long.1354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arxiv.org/html/2504.15228v2" TargetMode="External"/><Relationship Id="rId5" Type="http://schemas.openxmlformats.org/officeDocument/2006/relationships/hyperlink" Target="https://github.com/jennyzzt/dgm" TargetMode="External"/><Relationship Id="rId4" Type="http://schemas.openxmlformats.org/officeDocument/2006/relationships/hyperlink" Target="https://arxiv.org/abs/2505.22954" TargetMode="External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institute/econ-scenario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crunch.com/2026/09/15/early-anthropic-hire-former-metr-coo-have-found-a-way-to-rein-in-rogue-ai-agents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hyperlink" Target="https://techcrunch.com/2026/09/12/openais-sam-altman-says-it-would-be-ill-advised-to-go-public-in-2026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www.latent.space/p/ainews-deepseek-v41-flash-763b-p8b" TargetMode="Externa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openai.com/index/introducing-chatgpt-financial-services/" TargetMode="External"/><Relationship Id="rId5" Type="http://schemas.openxmlformats.org/officeDocument/2006/relationships/hyperlink" Target="https://cognition.com/blog/swe-2" TargetMode="Externa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stingcatalog.com/anthropic-prepares-claude-money-for-personal-finance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2.jpeg"/><Relationship Id="rId5" Type="http://schemas.openxmlformats.org/officeDocument/2006/relationships/hyperlink" Target="https://qz.com/openai-acquires-glass-imaging-camera-startup-300-million-091526" TargetMode="External"/><Relationship Id="rId4" Type="http://schemas.openxmlformats.org/officeDocument/2006/relationships/image" Target="../media/image2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hyperlink" Target="https://trueup.io/layoff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3024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Sept 18,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349240" y="27432"/>
            <a:ext cx="3758100" cy="67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Agents got their own computers. Oversight is still catching up.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6" y="768240"/>
            <a:ext cx="4517100" cy="2755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Crowd-sourced LM Arena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Claude Fable-5 - 6TB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Meta Muse Agent Ships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Claude Formalized Fermat's Theorem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Andrej Karpathy Workflow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Self-Tuning Agent Harnesses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Tuning the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Customers Expect Apps To Be Smart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Anthropic Resignation, Extinction Debate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Mistral Raises Record EU Round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Google Agentic Video: 88% Fewer Tokens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Music Industry Starts Licensing AI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590288" y="768240"/>
            <a:ext cx="4517100" cy="2535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Anthropic: AI and US Jobs by 2030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Apple Siri Upgrade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AIUC Certifies AI Agents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Amodei: Pace the Frontier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OpenAI Delays IPO, Anthropic to Nasdaq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DeepSeek V4.1 Flash Release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Cognition SWE-2 Coding Model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OpenAI Financial Services on GPT-6 Astra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Anthropic Claude Money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OpenAI Buys Glass Imaging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● Jobs &amp; Layoffs</a:t>
            </a:r>
            <a:endParaRPr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Sept 13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{5BCBF76F-FFE0-4ED5-AC8B-02CF49059D5D}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8" name="Google Shape;68;p14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3075200" y="7424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{5BCBF76F-FFE0-4ED5-AC8B-02CF49059D5D}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glm-5.3-flash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0" name="Google Shape;70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{5BCBF76F-FFE0-4ED5-AC8B-02CF49059D5D}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Sept 14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038" y="1587925"/>
            <a:ext cx="8932926" cy="3490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69864" y="776647"/>
            <a:ext cx="3291840" cy="201168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5" name="Google Shape;85;p1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3627" y="3144351"/>
            <a:ext cx="2264313" cy="171500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6" name="Google Shape;86;p16"/>
          <p:cNvSpPr txBox="1"/>
          <p:nvPr/>
        </p:nvSpPr>
        <p:spPr>
          <a:xfrm>
            <a:off x="152375" y="489200"/>
            <a:ext cx="46737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 ships Muse agent with its own cloud computer and browser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mail, calendars, Instagram and ordinary websites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ties into Gmail, Spotify, Ticketmaster and OpenTable, and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codes its own integrations for services that lack them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runs in its own app, on the web, or inside WhatsApp, and keeps working after you close it.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security design is the interesting part. Muse runs in a Secure VM, a separate Sentinel agent inspects everything leaving that VM, passwords stay hidden from Muse itself, sensitive actions require approval, and every action enters an audit trail.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Payments go through Stripe Link. A Confidential VM upgrade is planned.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Tiers: Free, $20/mo, $100/mo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 only, 18 and older, AI glasses support coming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152375" y="2972450"/>
            <a:ext cx="46737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formalized Fermat's Last Theorem in 11 days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Wiles proved Fermat's Last Theorem in 1995.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Claude converted the proof into 13 Mln lines of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Lean (a functional language for math definitions and proofs)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Almost 30K intermediate theorems.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runs on Prove2Me, an open platform that maintains a graph of theorem statements and coordinates multiple Claude agents against it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Claude did not discover a new proof. It converted an existing one into the first complete, computer-checked formalization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whole thing is on GitHub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https://www.anthropic.com/research/formalizing-fermats-last-theorem</a:t>
            </a:r>
            <a:r>
              <a:rPr lang="en" sz="9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36575" y="476175"/>
            <a:ext cx="4407000" cy="255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Andrej Karpathy Workflow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talks to AI using speech-to-text like Super Whisper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curates a personal “LLM Wiki” to provide AI with contextually relevant and precise information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transforms static documents into interactive tools using platforms like Notebook LM, allowing for dynamic engagement, better retention and actionable insights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employs a data-driven problem-solving approach, analyzing raw data to uncover patterns and develop objective, evidence-based solutions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delegates complex tasks and orchestrates multiple AI agents - thus enhances productivity, allowing collaboration and efficient completion of multifaceted projects.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https://www.geeky-gadgets.com/andrej-karpathy-ai-workflow/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7225" y="767537"/>
            <a:ext cx="2963074" cy="19753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/>
        </p:nvSpPr>
        <p:spPr>
          <a:xfrm>
            <a:off x="36575" y="-27425"/>
            <a:ext cx="3900300" cy="5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Self-Tuning Agent Harnesses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8"/>
          <p:cNvSpPr txBox="1"/>
          <p:nvPr/>
        </p:nvSpPr>
        <p:spPr>
          <a:xfrm>
            <a:off x="36575" y="476175"/>
            <a:ext cx="4450800" cy="443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Self-Tuning Agent Harnesses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Sakana AI with Jeff Clune's UBC lab (Darwin Gödel Machine = DGM), Bristol/iGent AI (SICA), PKU/UCSB (Gödel Agent), plus 2026 work on Self-Harness, Continual Harness, and SIA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that rewrite not just skills but their own scaffold - tools, prompts, control loops, and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DGM and SICA in 2025; Gödel Agent at ACL 2025; harness-level papers through 2026 on arXiv and lab blogs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Hermes-style skill learning leaves the harness fixed, so scaffolding bottlenecks persist and humans must tune them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Solution - Evolutionary or self-referential loops that mutate the harness and keep variants that score better on benchmarks.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Achievement - DGM raised SWE-bench performance from 20.0% to 50.0%; SICA gained 17% to 53%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Moves self-improvement from content to architecture, while raising safety concerns since agents sometimes gamed their own evaluations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https://sakana.ai/dgm/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https://arxiv.org/abs/2505.22954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https://github.com/jennyzzt/dgm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https://arxiv.org/html/2504.15228v2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https://aclanthology.org/2025.acl-long.1354/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https://arxiv.org/html/2606.09498v1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2550" y="801500"/>
            <a:ext cx="4351823" cy="244920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2" name="Google Shape;102;p18"/>
          <p:cNvSpPr txBox="1"/>
          <p:nvPr/>
        </p:nvSpPr>
        <p:spPr>
          <a:xfrm>
            <a:off x="6570025" y="3768450"/>
            <a:ext cx="1671000" cy="923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Tuning the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Tuning skills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Tuning Tools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Tuning Harness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 txBox="1"/>
          <p:nvPr/>
        </p:nvSpPr>
        <p:spPr>
          <a:xfrm>
            <a:off x="36575" y="-27425"/>
            <a:ext cx="4450800" cy="5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Customers Expect Apps To Be Smart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9"/>
          <p:cNvSpPr txBox="1"/>
          <p:nvPr/>
        </p:nvSpPr>
        <p:spPr>
          <a:xfrm>
            <a:off x="121200" y="798500"/>
            <a:ext cx="3519600" cy="258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Customers Expect Apps To Be Smart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Customers don't want to do manual labor (clicking, selecting, etc)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want just to talk to the app's Agent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agent should behave as an experienced assistant that understands you from half-a-word.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Like an experienced secretary who knows the rules, expect your next requests, takes care of details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Just a stand-alone LLM is not enough any longer.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Customers want to work with an agent that has memory, can intelligently move towards the goal, adn be reliable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3200" y="628675"/>
            <a:ext cx="5198398" cy="292565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7.51K subscribers, 3337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758045"/>
            <a:ext cx="2461825" cy="3154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7" name="Google Shape;117;p2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6550" y="2700257"/>
            <a:ext cx="2160975" cy="2243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36576" y="637709"/>
            <a:ext cx="5669400" cy="2384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 Anthropic resignation turns into an extinction debate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Researcher Jacob Coxon resigned and posted that both Anthropic and OpenAI are "gambling with our lives" by racing toward self-improving AI. He worked at both labs.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wrote that the people building AI "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earnestly believe that it could kill us all by the end of the decade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. This is not a marketing stunt," and called for a coordinated slowdown.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reply is what made it spread.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Evan Hubinger, Anthropic's Alignment Science lead, responded "We really do earnestly believe AI could kill all humans!" and put the odds above 10% within the next decade.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argument underneath is not about p(doom). If the people who believe the stakes are civilizational still cannot coordinate, then "trust the responsible lab" is not a safety plan.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1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1300" y="637700"/>
            <a:ext cx="2651899" cy="1027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5" name="Google Shape;125;p21"/>
          <p:cNvSpPr txBox="1"/>
          <p:nvPr/>
        </p:nvSpPr>
        <p:spPr>
          <a:xfrm>
            <a:off x="36576" y="3211407"/>
            <a:ext cx="5669400" cy="162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raises the largest round in European tech history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EUR 3 billion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Series D led by Samsung Electronics, with Nvidia, ASML and a16z joining, valuing the French lab above EUR 21 billion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newsletter reported it as $3.5 billion, which is the same round converted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Mistral is three years old and tracking toward $1 billion in ARR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money goes to compute and international expansion, behind a shift toward sovereign, full-stack enterprise 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 Chat is being rebranded to "Vibe," an agent and coding platform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21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70537" y="2878675"/>
            <a:ext cx="2533425" cy="2102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2"/>
          <p:cNvSpPr txBox="1"/>
          <p:nvPr/>
        </p:nvSpPr>
        <p:spPr>
          <a:xfrm>
            <a:off x="36576" y="758952"/>
            <a:ext cx="5669400" cy="1061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Google's agentic video understanding cuts video tokens by up to 88%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Flash models now navigate a video timeline rather than ingesting it at 1 FPS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reports up to 88% fewer tokens, 66% lower cost and 7% higher accuracy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processing field turns it 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Hosted API only, so no local deployment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2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797" y="546559"/>
            <a:ext cx="1942823" cy="1485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4" name="Google Shape;134;p22"/>
          <p:cNvSpPr txBox="1"/>
          <p:nvPr/>
        </p:nvSpPr>
        <p:spPr>
          <a:xfrm>
            <a:off x="36576" y="2850424"/>
            <a:ext cx="5669400" cy="162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music industry stops fighting and starts licensing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Suno released a model built with Warner Music Group, BMG and Believe, with artists participating and their music and likenesses licensed for use on the platform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ships with a compensation framework, which is the point: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the copyright fight is converting into a business arrangement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Universal Music went the same direction days later, partnering with ElevenLabs on a platform for remixing tracks from UMG's catalog, with artists opting in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Spotify is exploring AI remixes too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15800" y="3078863"/>
            <a:ext cx="2371401" cy="1171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36576" y="480711"/>
            <a:ext cx="5669400" cy="241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models what AI does to US jobs and wages by 2030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 interactive tool that treats every job as a bundle of tasks, then asks whether AI speeds up each task, replaces it, or creates new ones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Three scenarios: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Modest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grows 1.6% above the no-AI path, wages stable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Substantial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up 8.3%, AI does 50% of knowledge work, knowledge worker wages flatline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Extreme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up 15% per year, doubling the economy every 4.5 years,  but knowledge worker unemployment at 17.9%, human labor's share falls to 45%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Bigger economy does not automatically mean you earn more.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Capital owners capture most of the gains.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https://www.anthropic.com/institute/econ-scenarios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68299" y="480701"/>
            <a:ext cx="2915564" cy="24165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3" name="Google Shape;143;p23"/>
          <p:cNvSpPr txBox="1"/>
          <p:nvPr/>
        </p:nvSpPr>
        <p:spPr>
          <a:xfrm>
            <a:off x="36575" y="3357350"/>
            <a:ext cx="4402500" cy="1293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 Siri Upgrade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on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Gemini models - can handle complex tasks, multistep requests, understand on-screen and camera context, and access files, messages, and email.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iOS 27 adds AI-powered Shortcuts, smart clipboard, and improved network switching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23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44200" y="3497876"/>
            <a:ext cx="2054636" cy="10119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/>
          <p:nvPr/>
        </p:nvSpPr>
        <p:spPr>
          <a:xfrm>
            <a:off x="50852" y="44027"/>
            <a:ext cx="3606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AIUC Certifies AI Agents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4"/>
          <p:cNvSpPr txBox="1"/>
          <p:nvPr/>
        </p:nvSpPr>
        <p:spPr>
          <a:xfrm>
            <a:off x="75228" y="480700"/>
            <a:ext cx="4423800" cy="306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AIUC Certifies AI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Artificial Intelligence Underwriting Company (AIUC) - Sept 15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15 Mln seed + $40 Mln Series A funding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wrote AIUC-1, a SOC 2-inspired standard for AI agents, built with input from a consortium of ~250 security and risk leaders who actually buy agents.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operate the testing service that validates a given agent against that standard - roughly 5,000 tests covering jailbreaks, hallucinations, and data leaks, yielding a ~100-page report where AI runs and analyzes the tests but humans verify the final audit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Why: Banks, hospitals, and governments hesitate to deploy AI agents that may jailbreak, hallucinate, or leak data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Importance: Independent certification could let regulated enterprises adopt agents safely; customers include Cursor, Lovable, Harvey, and ElevenLabs.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https://techcrunch.com/2026/09/15/early-anthropic-hire-former-metr-coo-have-found-a-way-to-rein-in-rogue-ai-agents/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1425" y="480700"/>
            <a:ext cx="2479952" cy="3066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5"/>
          <p:cNvSpPr txBox="1"/>
          <p:nvPr/>
        </p:nvSpPr>
        <p:spPr>
          <a:xfrm>
            <a:off x="126812" y="474380"/>
            <a:ext cx="4464000" cy="2185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Amodei calls on AI labs to pace the frontier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Essay "We Must Pace the Frontier" published Sept 12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Says AI now speeds up its own development; agent swarms could take over the internet in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6 to 12 months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Plan: embedded outside evaluators who can publish freely, shared standards among democratic labs, talks with China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Altman, Musk, Hassabis and Nadella agreed within two days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had already asked Congress whether a joint slowdown breaks antitrust law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Trump called slowdown advocates "negative forces"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https://darioamodei.com/post/we-must-pace-the-frontier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5"/>
          <p:cNvSpPr txBox="1"/>
          <p:nvPr/>
        </p:nvSpPr>
        <p:spPr>
          <a:xfrm>
            <a:off x="126812" y="2934633"/>
            <a:ext cx="4464000" cy="178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shelves its 2026 IPO as Anthropic heads to Nasdaq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Altman told that an IPO this year would be ill-advised given safety concerns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picked Nasdaq for an October listing;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Nvidia in talks to anchor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$10B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SoftBank closed an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$11.9B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loan from about 20 banks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 keep funding OpenAI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SoftBank still aims to put about $65B into OpenAI by October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https://techcrunch.com/2026/09/12/openais-sam-altman-says-it-would-be-ill-advised-to-go-public-in-2026/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2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4048" y="614444"/>
            <a:ext cx="2505125" cy="1931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0" name="Google Shape;160;p2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4038" y="2771580"/>
            <a:ext cx="1794875" cy="2243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6"/>
          <p:cNvSpPr txBox="1"/>
          <p:nvPr/>
        </p:nvSpPr>
        <p:spPr>
          <a:xfrm>
            <a:off x="36575" y="462944"/>
            <a:ext cx="5035500" cy="114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V4.1-Flash: bigger model, a quarter of the KV cache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552B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MoE with native vision and 1M-token context; Open weights (MIT)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causal encoder-decoder: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8B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active parameters on input,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16B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output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 cache </a:t>
            </a:r>
            <a:r>
              <a:rPr lang="en" sz="1200" b="1">
                <a:solidFill>
                  <a:srgbClr val="3C78D8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890 bytes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per token, 1/4 of V4-Flash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Reported 90.6 on Terminal-Bench 2.1, ahead of Opus 5 and GPT-5.6 Sol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Beats V4-Pro - </a:t>
            </a: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https://www.latent.space/p/ainews-deepseek-v41-flash-763b-p8b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2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7373" y="149000"/>
            <a:ext cx="1993027" cy="142373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8" name="Google Shape;168;p26"/>
          <p:cNvSpPr txBox="1"/>
          <p:nvPr/>
        </p:nvSpPr>
        <p:spPr>
          <a:xfrm>
            <a:off x="36575" y="1956354"/>
            <a:ext cx="50355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Cognition SWE-2 matches Fable 5.1 on coding at 64% lower cost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Post-trained with RL on Moonshot's 2.8T-parameter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Kimi K3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First real edit after a median of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18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steps instead of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48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RL run trains all three effort levels: medium, high, max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Runs only inside Devin - no API or open weights: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https://cognition.com/blog/swe-2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6"/>
          <p:cNvSpPr txBox="1"/>
          <p:nvPr/>
        </p:nvSpPr>
        <p:spPr>
          <a:xfrm>
            <a:off x="36575" y="3395784"/>
            <a:ext cx="5035500" cy="1650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Financial Services on GPT-6 Astra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 investment banking and equity research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with design partners Morgan Stanley and Evercore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in data from multipole news and data sources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Citations trace each figure back to its source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Covers valuation, LBO models (Leveraged Buyout), buyer screens, earnings analysis and pitchbooks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Aimed squarely at the work of junior bankers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https://openai.com/index/introducing-chatgpt-financial-services/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" name="Google Shape;170;p2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37375" y="3439633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1" name="Google Shape;171;p2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7375" y="1681175"/>
            <a:ext cx="2305769" cy="1650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75248" y="630042"/>
            <a:ext cx="4771800" cy="1465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is preparing Claude Money for personal finance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Money tab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spotted in unreleased builds of the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iOS app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link bank accounts and ask about spending, plans and budgets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would find recurring payments and summarize balances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more uploading bank statements by hand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Data provider, account types and launch date are unknown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likely answer to OpenAI's ChatGPT Finances, which uses Plaid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https://www.testingcatalog.com/anthropic-prepares-claude-money-for-personal-finance/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7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53250" y="660079"/>
            <a:ext cx="3196976" cy="1405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9" name="Google Shape;179;p27"/>
          <p:cNvSpPr txBox="1"/>
          <p:nvPr/>
        </p:nvSpPr>
        <p:spPr>
          <a:xfrm>
            <a:off x="75250" y="2773679"/>
            <a:ext cx="4771800" cy="1095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buys camera startup Glass Imaging for $300+ Mln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Its AI makes smartphone photos look close to DSLR quality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Founded in 2019 by ex-Apple engineers who worked on Portrait Mode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Raised about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$30 Mln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Likely tied to OpenAI's device work with Jony Ive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https://qz.com/openai-acquires-glass-imaging-camera-startup-300-million-091526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2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53248" y="2296713"/>
            <a:ext cx="1514250" cy="2018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/>
        </p:nvSpPr>
        <p:spPr>
          <a:xfrm>
            <a:off x="36576" y="-27432"/>
            <a:ext cx="22848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2169772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8"/>
          <p:cNvSpPr txBox="1"/>
          <p:nvPr/>
        </p:nvSpPr>
        <p:spPr>
          <a:xfrm>
            <a:off x="5690530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128.9K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Sept 14,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5690530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187,604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(727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28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25" y="3262283"/>
            <a:ext cx="5120081" cy="1714831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0" name="Google Shape;190;p28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3553" y="455612"/>
            <a:ext cx="5038829" cy="2598718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9"/>
          <p:cNvSpPr txBox="1"/>
          <p:nvPr/>
        </p:nvSpPr>
        <p:spPr>
          <a:xfrm>
            <a:off x="36576" y="-27432"/>
            <a:ext cx="2441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2751675" y="1263400"/>
            <a:ext cx="6096300" cy="29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2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404" y="1952269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/>
        </p:nvSpPr>
        <p:spPr>
          <a:xfrm>
            <a:off x="36576" y="1687068"/>
            <a:ext cx="90708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0"/>
          <p:cNvSpPr txBox="1"/>
          <p:nvPr/>
        </p:nvSpPr>
        <p:spPr>
          <a:xfrm>
            <a:off x="1622775" y="2571750"/>
            <a:ext cx="7126200" cy="14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3144</Words>
  <Application>Microsoft Macintosh PowerPoint</Application>
  <PresentationFormat>On-screen Show (16:9)</PresentationFormat>
  <Paragraphs>426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2</cp:revision>
  <dcterms:modified xsi:type="dcterms:W3CDTF">2026-09-15T23:04:07Z</dcterms:modified>
</cp:coreProperties>
</file>