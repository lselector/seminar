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embeddedFontLst>
    <p:embeddedFont>
      <p:font typeface="Roboto Mono" pitchFamily="49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A790FBC-84A3-4958-AE8D-4D8C27275DA0}">
  <a:tblStyle styleId="{FA790FBC-84A3-4958-AE8D-4D8C27275DA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10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 agent with its own cloud computer and browser =&gt; Meta Muse Agent with Own Computer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formalized Fermat's Last Theorem in 11 days =&gt; Claude Formalized Fermat's Theorem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Anthropic resignation turns into an extinction debate =&gt; Anthropic Resignation, Extinction Debate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raises the largest round in European tech history =&gt; Mistral Raises Record EU Round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Google's agentic video understanding cuts video tokens by up to 88% =&gt; Google Agentic Video: 88% Fewer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music industry stops fighting and starts licensing =&gt; Music Industry Starts Licensing 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models what AI does to US jobs and wages by 2030 =&gt; Anthropic: AI and US Jobs by 2030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Amodei calls on AI labs to pace the frontier =&gt; Amodei: Pace the Frontier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shelves its 2026 IPO as Anthropic heads to Nasdaq =&gt; OpenAI Delays IPO, Anthropic to Nasdaq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V4.1-Flash: bigger model, a quarter of the KV cache =&gt; DeepSeek V4.1 Flash Release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reports Claude misuse and test models loose online =&gt; Claude Misuse and Escaped Test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Cursor Projects and OpenAI Agents API: agents that keep working =&gt; Cursor Projects, OpenAI Agents API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GPT-6 Astra: Pro sign-ups paused, first critical cyber rating =&gt; GPT-6 Astra: Demand and Cyber Risk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Cognition SWE-2 matches Fable 5.1 on coding at 64% lower cost =&gt; Cognition SWE-2 Coding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launches ChatGPT for Financial Services on GPT-6 Astra =&gt; ChatGPT for Financial Services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publishes a draft Humanist AI Code of Conduct =&gt; Microsoft Humanist AI 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adds plugin evals with a no-plugin baseline =&gt; Claude Code Plugin Evals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AWS open-sources Pizza Bot, an inbox for background agents =&gt; AWS Pizza Bot Agent Inbox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buys camera startup Glass Imaging for over $300 million =&gt; OpenAI Buys Glass Imaging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is preparing Claude Money for personal finance =&gt; Anthropic Claude 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14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buys camera startup Glass Imaging for $300+ Mln =&gt; OpenAI Buys Glass Imaging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agent with its own cloud computer and browser =&gt; Meta Muse Agent 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Periodic Labs' Neon beats GPT-6 Astra on lab data analysis =&gt; Periodic Labs Neon for Materials Science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ships Gemini 3.8 Live, a voice model that thinks while it talks =&gt; Google Gemini 3.8 Live Voice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Salesforce trains its own model, Koa, and puts its CRM inside Claude =&gt; Salesforce Koa and Salesforce in Claude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Trump, Beijing and Jensen Huang reject the AI slowdown =&gt; Trump, China, Huang Reject Slowdown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Z.ai, the maker of GLM, raises $5 billion =&gt; Z.ai Raises $5 Billion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Odyssey-3: one world model to drive robots, cars and drones =&gt; Odyssey-3 World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Nous Research refactors Hermes with 1,393 agents in one run =&gt; Nous Hermes: 1,393-Agent Refactor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Odyssey-3 - World model to drive robots, cars and drones =&gt; Odyssey-3 World Model for Robots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b585c93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b585c93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b59fa4c2d_2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b59fa4c2d_2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b791e738c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fb791e738c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59fa4c2d_2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59fa4c2d_2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s-google-s-agentic-video-d0c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s-google-s-agentic-video-d0c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s-anthropic-models-what-ai-does-fa9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s-anthropic-models-what-ai-does-fa9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f8dbb82aa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f8dbb82aa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s-amodei-calls-on-ai-labs-to-fd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s-amodei-calls-on-ai-labs-to-fd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s-deepseek-v4-1-flash-bigger-f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s-deepseek-v4-1-flash-bigger-f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s-microsoft-publishes-a-draft-f18b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s-microsoft-publishes-a-draft-f18b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fb6dcc7c5d_5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fb6dcc7c5d_5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b6dcc7c5d_15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b6dcc7c5d_15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b6dcc7c5d_15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fb6dcc7c5d_15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fb6dcc7c5d_15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fb6dcc7c5d_15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fb6dcc7c5d_15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fb6dcc7c5d_15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s-periodic-labs-neon-beats-gpt-f5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s-periodic-labs-neon-beats-gpt-f5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s-salesforce-trains-its-own-baff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s-salesforce-trains-its-own-baff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s-z-ai-the-maker-of-glm-raises-8f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s-z-ai-the-maker-of-glm-raises-8f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use-spark-1.3-max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qwen3.7-max-preview" TargetMode="External"/><Relationship Id="rId21" Type="http://schemas.openxmlformats.org/officeDocument/2006/relationships/hyperlink" Target="https://arena.ai/leaderboard/model/claude-sonnet-4-6" TargetMode="External"/><Relationship Id="rId34" Type="http://schemas.openxmlformats.org/officeDocument/2006/relationships/hyperlink" Target="https://arena.ai/leaderboard/model/gemini-3-pro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kimi-k3-max" TargetMode="External"/><Relationship Id="rId17" Type="http://schemas.openxmlformats.org/officeDocument/2006/relationships/hyperlink" Target="https://arena.ai/leaderboard/model/claude-opus-5-high" TargetMode="External"/><Relationship Id="rId25" Type="http://schemas.openxmlformats.org/officeDocument/2006/relationships/hyperlink" Target="https://arena.ai/leaderboard/model/glm-5.3-flash" TargetMode="External"/><Relationship Id="rId33" Type="http://schemas.openxmlformats.org/officeDocument/2006/relationships/hyperlink" Target="https://arena.ai/leaderboard/model/gemini-3.1-pro-preview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8-high" TargetMode="External"/><Relationship Id="rId20" Type="http://schemas.openxmlformats.org/officeDocument/2006/relationships/hyperlink" Target="https://arena.ai/leaderboard/model/claude-opus-4-8" TargetMode="External"/><Relationship Id="rId29" Type="http://schemas.openxmlformats.org/officeDocument/2006/relationships/hyperlink" Target="https://arena.ai/leaderboard/model/qwen3.8-max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fable-5" TargetMode="External"/><Relationship Id="rId11" Type="http://schemas.openxmlformats.org/officeDocument/2006/relationships/hyperlink" Target="https://arena.ai/leaderboard/model/gpt-6-astra-max" TargetMode="External"/><Relationship Id="rId24" Type="http://schemas.openxmlformats.org/officeDocument/2006/relationships/hyperlink" Target="https://arena.ai/leaderboard/model/muse-spark" TargetMode="External"/><Relationship Id="rId32" Type="http://schemas.openxmlformats.org/officeDocument/2006/relationships/hyperlink" Target="https://arena.ai/leaderboard/model/gemini-3.7-flash-high" TargetMode="External"/><Relationship Id="rId37" Type="http://schemas.openxmlformats.org/officeDocument/2006/relationships/hyperlink" Target="https://arena.ai/leaderboard/model/gemini-3.5-flash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gemini-3.8-flash-high" TargetMode="External"/><Relationship Id="rId23" Type="http://schemas.openxmlformats.org/officeDocument/2006/relationships/hyperlink" Target="https://arena.ai/leaderboard/model/claude-opus-5-max" TargetMode="External"/><Relationship Id="rId28" Type="http://schemas.openxmlformats.org/officeDocument/2006/relationships/hyperlink" Target="https://arena.ai/leaderboard/model/claude-opus-4-5-20251101" TargetMode="External"/><Relationship Id="rId36" Type="http://schemas.openxmlformats.org/officeDocument/2006/relationships/hyperlink" Target="https://arena.ai/leaderboard/model/gemini-3.6-flash-high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opus-4-5-20251101-high-32k" TargetMode="External"/><Relationship Id="rId31" Type="http://schemas.openxmlformats.org/officeDocument/2006/relationships/hyperlink" Target="https://arena.ai/leaderboard/model/claude-fable-5.1-max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muse-spark-1.2%20%28xHigh%29" TargetMode="External"/><Relationship Id="rId22" Type="http://schemas.openxmlformats.org/officeDocument/2006/relationships/hyperlink" Target="https://arena.ai/leaderboard/model/gpt-5.6-sol-xhigh" TargetMode="External"/><Relationship Id="rId27" Type="http://schemas.openxmlformats.org/officeDocument/2006/relationships/hyperlink" Target="https://arena.ai/leaderboard/model/glm-5.3-max" TargetMode="External"/><Relationship Id="rId30" Type="http://schemas.openxmlformats.org/officeDocument/2006/relationships/hyperlink" Target="https://arena.ai/leaderboard/model/mimo-v2.5-pro" TargetMode="External"/><Relationship Id="rId35" Type="http://schemas.openxmlformats.org/officeDocument/2006/relationships/hyperlink" Target="https://arena.ai/leaderboard/model/gpt-5.5-high" TargetMode="External"/><Relationship Id="rId8" Type="http://schemas.openxmlformats.org/officeDocument/2006/relationships/hyperlink" Target="https://arena.ai/leaderboard/model/claude-opus-4-6-high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anthropic.com/research/formalizing-fermats-last-theorem" TargetMode="Externa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www.geeky-gadgets.com/andrej-karpathy-ai-workflow/" TargetMode="External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aHy7cNj-W2I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www.youtube.com/watch?v=sqA5RL_FUuo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html/2606.09498v1" TargetMode="External"/><Relationship Id="rId3" Type="http://schemas.openxmlformats.org/officeDocument/2006/relationships/hyperlink" Target="https://sakana.ai/dgm/" TargetMode="External"/><Relationship Id="rId7" Type="http://schemas.openxmlformats.org/officeDocument/2006/relationships/hyperlink" Target="https://aclanthology.org/2025.acl-long.1354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rxiv.org/html/2504.15228v2" TargetMode="External"/><Relationship Id="rId5" Type="http://schemas.openxmlformats.org/officeDocument/2006/relationships/hyperlink" Target="https://github.com/jennyzzt/dgm" TargetMode="External"/><Relationship Id="rId4" Type="http://schemas.openxmlformats.org/officeDocument/2006/relationships/hyperlink" Target="https://arxiv.org/abs/2505.22954" TargetMode="External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institute/econ-scenario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runch.com/2026/09/15/early-anthropic-hire-former-metr-coo-have-found-a-way-to-rein-in-rogue-ai-agent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jpeg"/><Relationship Id="rId5" Type="http://schemas.openxmlformats.org/officeDocument/2006/relationships/image" Target="../media/image19.png"/><Relationship Id="rId4" Type="http://schemas.openxmlformats.org/officeDocument/2006/relationships/hyperlink" Target="https://techcrunch.com/2026/09/12/openais-sam-altman-says-it-would-be-ill-advised-to-go-public-in-2026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www.latent.space/p/ainews-deepseek-v41-flash-763b-p8b" TargetMode="External"/><Relationship Id="rId7" Type="http://schemas.openxmlformats.org/officeDocument/2006/relationships/hyperlink" Target="https://openai.com/index/introducing-chatgpt-financial-servic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cognition.com/blog/swe-2" TargetMode="External"/><Relationship Id="rId5" Type="http://schemas.openxmlformats.org/officeDocument/2006/relationships/hyperlink" Target="https://www.youtube.com/watch?v=04ePeOyRN0k" TargetMode="External"/><Relationship Id="rId10" Type="http://schemas.openxmlformats.org/officeDocument/2006/relationships/image" Target="../media/image23.png"/><Relationship Id="rId4" Type="http://schemas.openxmlformats.org/officeDocument/2006/relationships/hyperlink" Target="https://huggingface.co/deepseek-ai/DeepSeek-V4.1-Flash" TargetMode="External"/><Relationship Id="rId9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stingcatalog.com/anthropic-prepares-claude-money-for-personal-finance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5.jpeg"/><Relationship Id="rId5" Type="http://schemas.openxmlformats.org/officeDocument/2006/relationships/hyperlink" Target="https://qz.com/openai-acquires-glass-imaging-camera-startup-300-million-091526" TargetMode="External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killedbyai.net" TargetMode="External"/><Relationship Id="rId3" Type="http://schemas.openxmlformats.org/officeDocument/2006/relationships/hyperlink" Target="https://humane.com" TargetMode="External"/><Relationship Id="rId7" Type="http://schemas.openxmlformats.org/officeDocument/2006/relationships/hyperlink" Target="https://fieldy.a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openai.com/sora" TargetMode="External"/><Relationship Id="rId11" Type="http://schemas.openxmlformats.org/officeDocument/2006/relationships/image" Target="../media/image27.jpeg"/><Relationship Id="rId5" Type="http://schemas.openxmlformats.org/officeDocument/2006/relationships/hyperlink" Target="https://www.builder.ai" TargetMode="External"/><Relationship Id="rId10" Type="http://schemas.openxmlformats.org/officeDocument/2006/relationships/image" Target="../media/image26.png"/><Relationship Id="rId4" Type="http://schemas.openxmlformats.org/officeDocument/2006/relationships/hyperlink" Target="https://www.rabbit.tech" TargetMode="External"/><Relationship Id="rId9" Type="http://schemas.openxmlformats.org/officeDocument/2006/relationships/hyperlink" Target="https://www.youtube.com/watch?v=aunUOIrbIeM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KgKA0A3qlz0" TargetMode="External"/><Relationship Id="rId3" Type="http://schemas.openxmlformats.org/officeDocument/2006/relationships/hyperlink" Target="https://www.topview.ai" TargetMode="External"/><Relationship Id="rId7" Type="http://schemas.openxmlformats.org/officeDocument/2006/relationships/hyperlink" Target="https://github.com/skills-directory/skill-codex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chaseai-yt/claudex-loop" TargetMode="External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SuedJD8l9tA" TargetMode="External"/><Relationship Id="rId9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blog.google/products-and-platforms/products/workspace/google-pics/" TargetMode="External"/><Relationship Id="rId7" Type="http://schemas.openxmlformats.org/officeDocument/2006/relationships/hyperlink" Target="https://arxiv.org/abs/2609.11677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0.png"/><Relationship Id="rId5" Type="http://schemas.openxmlformats.org/officeDocument/2006/relationships/hyperlink" Target="https://x.com/Google/status/2097795419296477256" TargetMode="External"/><Relationship Id="rId4" Type="http://schemas.openxmlformats.org/officeDocument/2006/relationships/hyperlink" Target="https://pics.new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smallest.ai/models/model-cards/text-to-speech/lightning-v-3-1-pro" TargetMode="External"/><Relationship Id="rId3" Type="http://schemas.openxmlformats.org/officeDocument/2006/relationships/hyperlink" Target="https://www.krea.ai/agent" TargetMode="External"/><Relationship Id="rId7" Type="http://schemas.openxmlformats.org/officeDocument/2006/relationships/hyperlink" Target="https://smallest.ai/text-to-speech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://smallest.ai" TargetMode="External"/><Relationship Id="rId5" Type="http://schemas.openxmlformats.org/officeDocument/2006/relationships/image" Target="../media/image32.png"/><Relationship Id="rId4" Type="http://schemas.openxmlformats.org/officeDocument/2006/relationships/hyperlink" Target="https://www.krea.ai/mcp" TargetMode="External"/><Relationship Id="rId9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huggingface.co/nex-agi/Nex-N2.5-Pro" TargetMode="External"/><Relationship Id="rId7" Type="http://schemas.openxmlformats.org/officeDocument/2006/relationships/hyperlink" Target="https://typesafe.ai/blog/introducing-system-one-models-and-jev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typesafe.ai" TargetMode="External"/><Relationship Id="rId5" Type="http://schemas.openxmlformats.org/officeDocument/2006/relationships/image" Target="../media/image34.png"/><Relationship Id="rId4" Type="http://schemas.openxmlformats.org/officeDocument/2006/relationships/hyperlink" Target="https://nex-agi.com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eriodic.com/news/nature-is-our-learning-environment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jpeg"/><Relationship Id="rId5" Type="http://schemas.openxmlformats.org/officeDocument/2006/relationships/hyperlink" Target="https://blog.google/innovation-and-ai/technology/developers-tools/build-real-time-voice-applications-gemini-audio/" TargetMode="External"/><Relationship Id="rId4" Type="http://schemas.openxmlformats.org/officeDocument/2006/relationships/image" Target="../media/image36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force.com/news/press-releases/2026/09/15/koa-reasoning-model/" TargetMode="External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8.png"/><Relationship Id="rId5" Type="http://schemas.openxmlformats.org/officeDocument/2006/relationships/hyperlink" Target="https://nousresearch.com/refactoring-hermes-with-1393-agents" TargetMode="External"/><Relationship Id="rId4" Type="http://schemas.openxmlformats.org/officeDocument/2006/relationships/hyperlink" Target="https://github.com/NousResearch/hermes-agent/issues/103563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ixinglobal.com/2026-09-14/zai-raises-5-billion-in-share-placement-convertible-bond-sale-102484813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hyperlink" Target="https://odyssey.systems/introducing-odyssey-3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3.jpeg"/><Relationship Id="rId5" Type="http://schemas.openxmlformats.org/officeDocument/2006/relationships/image" Target="../media/image42.jpeg"/><Relationship Id="rId4" Type="http://schemas.openxmlformats.org/officeDocument/2006/relationships/hyperlink" Target="https://trueup.io/layoffs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3024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Sept 18,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49250" y="27427"/>
            <a:ext cx="3758100" cy="468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RSI = Recursive Self Improvement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532754"/>
            <a:ext cx="4517100" cy="451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Crowd-sourced LM Arena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Claude Fable-5 - 6TB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Meta Muse Agent Ships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Claude Formalized Fermat's Theorem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Andrej Karpathy Workflow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Astra,is Very Good with Blender 3D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Self-Tuning Agent Harnesses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Recursive Self-Improvement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RSI - Recursive Self-Improvement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Customers Expect Apps To Be Smart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Anthropic Resignation, Extinction Debate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Mistral Raises Record EU Round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Google Agentic Video: 88% Fewer Tokens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Music Industry Starts Licensing AI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Anthropic: AI and US Jobs by 2030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Apple Siri Upgrade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AIUC Certifies AI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Amodei: Pace the Frontier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Delays IPO, Anthropic to Nasdaq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DeepSeek V4.1 Flash Release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590288" y="532754"/>
            <a:ext cx="4517100" cy="4494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Cognition SWE-2 Coding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Financial Services on GPT-6 Astra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Anthropic Claude Money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Buys Glass Imaging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Killed By AI - 123 products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TopView MCP - AI Ad Workflow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Claudex - Claude Code + OpenAI Codex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Google Pics - Precise AI Editing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Ecdysis - Agent Harness Training (China)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Krea Agents - Creative AI Workflow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Lightning v3.1 Pro Text-to-speech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Nex-N2.5 - Free Agent Models from China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TypeSafe AI - Jev Decision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Periodic Labs' NeonModel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Google Gemini 3.8 Live Voice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Salesforce Koa CRM reasoning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Nous Hermes: 1,393-Agent Refactor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Z.ai, the maker of GLM, raises $5 Bln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Odyssey-3 World Model for Robots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Jobs &amp; Layoffs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13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4"/>
          <p:cNvGraphicFramePr/>
          <p:nvPr/>
        </p:nvGraphicFramePr>
        <p:xfrm>
          <a:off x="5742420" y="430065"/>
          <a:ext cx="804500" cy="571500"/>
        </p:xfrm>
        <a:graphic>
          <a:graphicData uri="http://schemas.openxmlformats.org/drawingml/2006/table">
            <a:tbl>
              <a:tblPr>
                <a:noFill/>
                <a:tableStyleId>{FA790FBC-84A3-4958-AE8D-4D8C27275DA0}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8" name="Google Shape;68;p14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3075200" y="742403"/>
          <a:ext cx="2133600" cy="3993200"/>
        </p:xfrm>
        <a:graphic>
          <a:graphicData uri="http://schemas.openxmlformats.org/drawingml/2006/table">
            <a:tbl>
              <a:tblPr>
                <a:noFill/>
                <a:tableStyleId>{FA790FBC-84A3-4958-AE8D-4D8C27275DA0}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0" name="Google Shape;70;p14"/>
          <p:cNvGraphicFramePr/>
          <p:nvPr/>
        </p:nvGraphicFramePr>
        <p:xfrm>
          <a:off x="423650" y="745044"/>
          <a:ext cx="1828800" cy="3905278"/>
        </p:xfrm>
        <a:graphic>
          <a:graphicData uri="http://schemas.openxmlformats.org/drawingml/2006/table">
            <a:tbl>
              <a:tblPr>
                <a:noFill/>
                <a:tableStyleId>{FA790FBC-84A3-4958-AE8D-4D8C27275DA0}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14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38" y="1587925"/>
            <a:ext cx="8932926" cy="3490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9864" y="776647"/>
            <a:ext cx="3291840" cy="201168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5" name="Google Shape;85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3627" y="3144351"/>
            <a:ext cx="2264313" cy="171500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6" name="Google Shape;86;p16"/>
          <p:cNvSpPr txBox="1"/>
          <p:nvPr/>
        </p:nvSpPr>
        <p:spPr>
          <a:xfrm>
            <a:off x="152375" y="489200"/>
            <a:ext cx="46737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ships Muse agent with its own cloud computer and browser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mail, calendars, Instagram and ordinary websites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ties into Gmail, Spotify, Ticketmaster and OpenTable,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codes its own integrations for services that lack them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runs in its own app, on the web, or inside WhatsApp, and keeps working after you close it.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security design is the interesting part. Muse runs in a Secure VM, a separate Sentinel agent inspects everything leaving that VM, passwords stay hidden from Muse itself, sensitive actions require approval, and every action enters an audit trail.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Payments go through Stripe Link. A Confidential VM upgrade is planned.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Tiers: Free, $20/mo, $100/mo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 only, 18 and older, AI glasses support coming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152375" y="2972450"/>
            <a:ext cx="46737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formalized Fermat's Last Theorem in 11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Wiles proved Fermat's Last Theorem in 1995.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 converted the proof into 13 Mln lines of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Lean (a functional language for math definitions and proofs)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Almost 30K intermediate theorems.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runs on Prove2Me, an open platform that maintains a graph of theorem statements and coordinates multiple Claude agents against it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 did not discover a new proof. It converted an existing one into the first complete, computer-checked formalization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whole thing is on GitHub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https://www.anthropic.com/research/formalizing-fermats-last-theorem</a:t>
            </a:r>
            <a:r>
              <a:rPr lang="en" sz="9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/>
        </p:nvSpPr>
        <p:spPr>
          <a:xfrm>
            <a:off x="36575" y="476175"/>
            <a:ext cx="44070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Andrej Karpathy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talks to AI using speech-to-text like Super Whisper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curates a personal “LLM Wiki” to provide AI with contextually relevant and precise information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transforms static documents into interactive tools using platforms like Notebook LM, allowing for dynamic engagement, better retention and actionable insights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employs a data-driven problem-solving approach, analyzing raw data to uncover patterns and develop objective, evidence-based solutions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delegates complex tasks and orchestrates multiple AI agents - thus enhances productivity, allowing collaboration and efficient completion of multifaceted projects.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https://www.geeky-gadgets.com/andrej-karpathy-ai-workflow/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Example: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TechLead dictated tasks by voice on a hike while a coding agent worked on desktop at home.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Came home to a finished, working app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handoff notes file stores session state to allow switching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https://www.youtube.com/watch?v=sqA5RL_FUuo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476178"/>
            <a:ext cx="2243449" cy="1495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4" name="Google Shape;94;p17"/>
          <p:cNvSpPr txBox="1"/>
          <p:nvPr/>
        </p:nvSpPr>
        <p:spPr>
          <a:xfrm>
            <a:off x="36575" y="4073375"/>
            <a:ext cx="44070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Astra,is Very Good with Blender 3D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Game developing using a pipeline of GPT image 2.0 concept art, Blender 3D modeling and animation, Unreal Engine and Unity assembly, ElevenLabs voice and music, then self play-testing.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https://www.youtube.com/watch?v=aHy7cNj-W2I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" name="Google Shape;95;p17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67225" y="3380275"/>
            <a:ext cx="2802175" cy="163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6" name="Google Shape;96;p1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1545" y="1578950"/>
            <a:ext cx="2057080" cy="1495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7" name="Google Shape;97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/>
        </p:nvSpPr>
        <p:spPr>
          <a:xfrm>
            <a:off x="36575" y="-27425"/>
            <a:ext cx="330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36575" y="476175"/>
            <a:ext cx="4450800" cy="4617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can tune the model, skills, tools harness itself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Sakana AI with Jeff Clune's UBC lab (Darwin Gödel Machine = DGM), Bristol/iGent AI (SICA), PKU/UCSB (Gödel Agent), plus 2026 work on Self-Harness, Continual Harness, and SIA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that rewrite not just skills but their own scaffold - tools, prompts, control loops, and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DGM and SICA in 2025; Gödel Agent at ACL 2025; harness-level papers through 2026 on arXiv and lab blogs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Hermes-style skill learning leaves the harness fixed, so scaffolding bottlenecks persist and humans must tune them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Solution - Evolutionary or self-referential loops that mutate the harness and keep variants that score better on benchmarks.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Achievement - DGM raised SWE-bench performance from 20.0% to 50.0%; SICA gained 17% to 53%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Moves self-improvement from content to architecture, while raising safety concerns since agents sometimes gamed their own evaluations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https://sakana.ai/dgm/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https://arxiv.org/abs/2505.22954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https://github.com/jennyzzt/dgm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https://arxiv.org/html/2504.15228v2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https://aclanthology.org/2025.acl-long.1354/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https://arxiv.org/html/2606.09498v1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2550" y="801500"/>
            <a:ext cx="4351823" cy="244920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/>
        </p:nvSpPr>
        <p:spPr>
          <a:xfrm>
            <a:off x="36575" y="-27425"/>
            <a:ext cx="3900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RSI - Recursive Self-Improvement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118750" y="476275"/>
            <a:ext cx="44532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RSI - Recursive Self-Improvement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system improves the methods used to create, train, evaluate, or operate future AI systems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improved version may become more capable of producing the next improvement; AI can substantially redesign itself with limited human direction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RSI involves AI-assisted research, coding, data generation, experimentation, and model development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Current practical examples are bounded: agents optimize workflows under tests, sandboxing, external evaluation, and human approval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RSI is constrained by compute, data, hardware, experiment time, reliable measurements, and safety controls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[https://www.anthropic.com/institute/recursive-self-improvement](https://www.anthropic.com/institute/recursive-self-improvement)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[https://en.wikipedia.org/wiki/Recursive_self-improvement](https://en.wikipedia.org/wiki/Recursive_self-improvement)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[https://www.lesswrong.com/posts/ELnqefmefjhyEPzbc/what-do-people-mean-by-recursive-self-improvement](https://www.lesswrong.com/posts/ELnqefmefjhyEPzbc/what-do-people-mean-by-recursive-self-improvement)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0125" y="1040194"/>
            <a:ext cx="4375999" cy="114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/>
        </p:nvSpPr>
        <p:spPr>
          <a:xfrm>
            <a:off x="36575" y="-27425"/>
            <a:ext cx="4450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121200" y="1266623"/>
            <a:ext cx="35196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Customers don't want to do manual labor (clicking, selecting, etc)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want just to talk to the app's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agent should behave as an experienced assistant that understands you from half-a-word.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Like an experienced secretary who knows the rules, expect your next requests, takes care of details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Just a stand-alone LLM is not enough any longer.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Customers want to work with an agent that has memory, can intelligently move towards the goal, adn be reliable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3200" y="1096798"/>
            <a:ext cx="5198398" cy="292565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1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7.51K subscribers, 3337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75804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6" name="Google Shape;126;p2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700257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36576" y="637709"/>
            <a:ext cx="5669400" cy="188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 Anthropic resignation turns into an extinction debate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Researcher Jacob Coxon resigned and posted that both Anthropic and OpenAI are "gambling with our lives" by racing toward self-improving AI. He worked at both labs.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wrote that the people building AI "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earnestly believe that it could kill us all by the end of the decade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. This is not a marketing stunt," and called for a coordinated slowdown.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reply is what made it spread.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Evan Hubinger, Anthropic's Alignment Science lead, responded "We really do earnestly believe AI could kill all humans!" and put the odds above 10% within the next decade.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argument underneath is not about p(doom). If the people who believe the stakes are civilizational still cannot coordinate, then "trust the responsible lab" is not a safety plan.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1300" y="637700"/>
            <a:ext cx="2651899" cy="102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4" name="Google Shape;134;p22"/>
          <p:cNvSpPr txBox="1"/>
          <p:nvPr/>
        </p:nvSpPr>
        <p:spPr>
          <a:xfrm>
            <a:off x="36576" y="3211407"/>
            <a:ext cx="5669400" cy="151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raises the largest round in European tech history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EUR 3 billion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Series D led by Samsung Electronics, with Nvidia, ASML and a16z joining, valuing the French lab above EUR 21 billion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newsletter reported it as $3.5 billion, which is the same round converted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Mistral is three years old and tracking toward $1 billion in ARR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money goes to compute and international expansion, behind a shift toward sovereign, full-stack enterprise 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 Chat is being rebranded to "Vibe," an agent and coding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70537" y="2878675"/>
            <a:ext cx="2533425" cy="210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36576" y="758952"/>
            <a:ext cx="5669400" cy="95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Google's agentic video understanding cuts video tokens by up to 88%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Flash models now navigate a video timeline rather than ingesting it at 1 FPS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reports up to 88% fewer tokens, 66% lower cost and 7% higher accuracy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processing field turns it 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Hosted API only, so no local deployment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797" y="546559"/>
            <a:ext cx="1942823" cy="1485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3" name="Google Shape;143;p23"/>
          <p:cNvSpPr txBox="1"/>
          <p:nvPr/>
        </p:nvSpPr>
        <p:spPr>
          <a:xfrm>
            <a:off x="36576" y="2850424"/>
            <a:ext cx="5669400" cy="151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music industry stops fighting and starts licensing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Suno released a model built with Warner Music Group, BMG and Believe, with artists participating and their music and likenesses licensed for use on the platform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ships with a compensation framework, which is the point: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the copyright fight is converting into a business arrangement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Universal Music went the same direction days later, partnering with ElevenLabs on a platform for remixing tracks from UMG's catalog, with artists opting 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Spotify is exploring AI remixes too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3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15800" y="3078863"/>
            <a:ext cx="2371401" cy="1171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36576" y="480711"/>
            <a:ext cx="5669400" cy="225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models what AI does to US jobs and wages by 2030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 interactive tool that treats every job as a bundle of tasks, then asks whether AI speeds up each task, replaces it, or creates new ones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Three scenarios: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Modest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grows 1.6% above the no-AI path, wages stable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Substantial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up 8.3%, AI does 50% of knowledge work, knowledge worker wages flatline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Extreme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up 15% per year, doubling the economy every 4.5 years,  but knowledge worker unemployment at 17.9%, human labor's share falls to 45%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Bigger economy does not automatically mean you earn more.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Capital owners capture most of the gains.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https://www.anthropic.com/institute/econ-scenarios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0035" y="397601"/>
            <a:ext cx="2915564" cy="24165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2" name="Google Shape;152;p24"/>
          <p:cNvSpPr txBox="1"/>
          <p:nvPr/>
        </p:nvSpPr>
        <p:spPr>
          <a:xfrm>
            <a:off x="36575" y="3357350"/>
            <a:ext cx="44025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Siri Upgrade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on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Gemini models - can handle complex tasks, multistep requests, understand on-screen and camera context, and access files, messages, and email.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iOS 27 adds AI-powered Shortcuts, smart clipboard, and improved network switching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4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4200" y="3414776"/>
            <a:ext cx="2054636" cy="10119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/>
        </p:nvSpPr>
        <p:spPr>
          <a:xfrm>
            <a:off x="50852" y="44027"/>
            <a:ext cx="3606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5"/>
          <p:cNvSpPr txBox="1"/>
          <p:nvPr/>
        </p:nvSpPr>
        <p:spPr>
          <a:xfrm>
            <a:off x="75228" y="480700"/>
            <a:ext cx="4423800" cy="306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Artificial Intelligence Underwriting Company (AIUC) - Sept 15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15 Mln seed + $40 Mln Series A funding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wrote AIUC-1, a SOC 2-inspired standard for AI agents, built with input from a consortium of ~250 security and risk leaders who actually buy agents.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operate the testing service that validates a given agent against that standard - roughly 5,000 tests covering jailbreaks, hallucinations, and data leaks, yielding a ~100-page report where AI runs and analyzes the tests but humans verify the final audit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Why: Banks, hospitals, and governments hesitate to deploy AI agents that may jailbreak, hallucinate, or leak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Importance: Independent certification could let regulated enterprises adopt agents safely; customers include Cursor, Lovable, Harvey, and ElevenLabs.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https://techcrunch.com/2026/09/15/early-anthropic-hire-former-metr-coo-have-found-a-way-to-rein-in-rogue-ai-agents/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1425" y="480700"/>
            <a:ext cx="2479952" cy="3066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126812" y="474380"/>
            <a:ext cx="4464000" cy="201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Amodei calls on AI labs to pace the frontier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Essay "We Must Pace the Frontier" published Sept 12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Says AI now speeds up its own development; agent swarms could take over the internet in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6 to 12 months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Plan: embedded outside evaluators who can publish freely, shared standards among democratic labs, talks with China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Altman, Musk, Hassabis and Nadella agreed within two 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had already asked Congress whether a joint slowdown breaks antitrust law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Trump called slowdown advocates "negative forces"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https://darioamodei.com/post/we-must-pace-the-frontier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126812" y="2934633"/>
            <a:ext cx="4464000" cy="178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shelves its 2026 IPO as Anthropic heads to Nasdaq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Altman told that an IPO this year would be ill-advised given safety concerns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picked Nasdaq for an October listing;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Nvidia in talks to anchor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$10B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SoftBank closed an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$11.9B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loan from about 20 banks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 keep funding OpenAI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SoftBank still aims to put about $65B into OpenAI by October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https://techcrunch.com/2026/09/12/openais-sam-altman-says-it-would-be-ill-advised-to-go-public-in-2026/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2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048" y="614444"/>
            <a:ext cx="2505125" cy="1931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9" name="Google Shape;169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038" y="2771580"/>
            <a:ext cx="1794875" cy="2243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/>
        </p:nvSpPr>
        <p:spPr>
          <a:xfrm>
            <a:off x="36575" y="386515"/>
            <a:ext cx="5035500" cy="178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V4.1-Flash: bigger model, a quarter of the KV cache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552B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MoE with native vision and 1M-token context; Open weights (MIT)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Reported 90.6 on Terminal-Bench 2.1, ahead of Opus 5 and GPT-5.6 Sol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Beats V4-Pro; KV cache 890 bytes per token, 1/4 of V4-Flash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causal encoder-decoder: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active parameters on input,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16B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output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384 experts per layer plus a 196B Engram lookup table stay resident, so the download is roughly 510GB (already in FP4). Needs 3-4 NVIDIA DGX Sparks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https://www.latent.space/p/ainews-deepseek-v41-flash-763b-p8b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https://huggingface.co/deepseek-ai/DeepSeek-V4.1-Flash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https://www.youtube.com/watch?v=04ePeOyRN0k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7"/>
          <p:cNvSpPr txBox="1"/>
          <p:nvPr/>
        </p:nvSpPr>
        <p:spPr>
          <a:xfrm>
            <a:off x="36575" y="2258067"/>
            <a:ext cx="50355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Cognition SWE-2 matches Fable 5.1 on coding at 64% lower cost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Post-trained with RL on Moonshot's 2.8T-parameter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Kimi K3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First real edit after a median of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steps instead of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48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RL run trains all three effort levels: medium, high, max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only inside Devin - no API or open weights: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https://cognition.com/blog/swe-2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 txBox="1"/>
          <p:nvPr/>
        </p:nvSpPr>
        <p:spPr>
          <a:xfrm>
            <a:off x="36575" y="3438886"/>
            <a:ext cx="5035500" cy="165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Financial Services on GPT-6 Astra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investment banking and equity research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with design partners Morgan Stanley and Evercore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in data from multipole news and data sources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Citations trace each figure back to its source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Covers valuation, LBO models (Leveraged Buyout), buyer screens, earnings analysis and pitchbooks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Aimed squarely at the work of junior bankers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https://openai.com/index/introducing-chatgpt-financial-services/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37375" y="3439633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8" name="Google Shape;178;p2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7375" y="1681175"/>
            <a:ext cx="2305769" cy="1650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9" name="Google Shape;179;p27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37375" y="419850"/>
            <a:ext cx="3361475" cy="858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0" name="Google Shape;180;p2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/>
        </p:nvSpPr>
        <p:spPr>
          <a:xfrm>
            <a:off x="75248" y="630042"/>
            <a:ext cx="47718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is preparing Claude Money for personal finance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Money tab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spotted in unreleased builds of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iOS app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link bank accounts and ask about spending, plans and budgets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would find recurring payments and summarize balances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more uploading bank statements by hand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Data provider, account types and launch date are unknown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likely answer to OpenAI's ChatGPT Finances, which uses Plaid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https://www.testingcatalog.com/anthropic-prepares-claude-money-for-personal-finance/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53250" y="660079"/>
            <a:ext cx="3196976" cy="1405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7" name="Google Shape;187;p28"/>
          <p:cNvSpPr txBox="1"/>
          <p:nvPr/>
        </p:nvSpPr>
        <p:spPr>
          <a:xfrm>
            <a:off x="75250" y="2773679"/>
            <a:ext cx="47718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buys camera startup Glass Imaging for $300+ Mln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AI makes smartphone photos look close to DSLR quality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Founded in 2019 by ex-Apple engineers who worked on Portrait Mode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Raised about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$30 Mln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Likely tied to OpenAI's device work with Jony 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https://qz.com/openai-acquires-glass-imaging-camera-startup-300-million-091526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3248" y="2296713"/>
            <a:ext cx="1514250" cy="2018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9" name="Google Shape;189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/>
        </p:nvSpPr>
        <p:spPr>
          <a:xfrm>
            <a:off x="67783" y="66200"/>
            <a:ext cx="3209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Killed By AI - 123 products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75248" y="630042"/>
            <a:ext cx="47718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Killed By AI - 123 products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Humane’s AI Pin shut down February 28, 2025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Builder.ai collapsed in May 2025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ended Sora’s standalone app in April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Problem: Expensive hardware, novelty features, inflated AI claims, and products that compete against established phone habits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Solution: Build quiet, reliable workflows that fit existing behavior and complete recurring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Exampel - AI-device company Fieldy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Ask whether users would miss a product on an ordinary workday; durable AI should save time, reduce friction, and produce dependable outcomes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https://humane.com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https://www.rabbit.tech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https://www.builder.ai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https://openai.com/sora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https://fieldy.ai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https://killedbyai.net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https://www.youtube.com/watch?v=aunUOIrbIeM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69025" y="630046"/>
            <a:ext cx="3763700" cy="20909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7" name="Google Shape;197;p2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92011" y="2823746"/>
            <a:ext cx="2117729" cy="21177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/>
        </p:nvSpPr>
        <p:spPr>
          <a:xfrm>
            <a:off x="36574" y="0"/>
            <a:ext cx="146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0"/>
          <p:cNvSpPr txBox="1"/>
          <p:nvPr/>
        </p:nvSpPr>
        <p:spPr>
          <a:xfrm>
            <a:off x="75250" y="410975"/>
            <a:ext cx="4410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TopView MCP - AI Ad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Julia McCoy tested TopView MCP with Claude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connector combined marketplace research, campaign strategy, image generation, and vertical-video production inside one chat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Replaces multiple tabs and handoffs with review-driven research, platform-specific briefs, creative hooks, visuals, and video variants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tool compresses a marketing team’s research-to-brief workflow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https://www.topview.ai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https://www.youtube.com/watch?v=SuedJD8l9tA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550" y="292837"/>
            <a:ext cx="3242802" cy="1939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5" name="Google Shape;205;p30"/>
          <p:cNvSpPr txBox="1"/>
          <p:nvPr/>
        </p:nvSpPr>
        <p:spPr>
          <a:xfrm>
            <a:off x="75250" y="2430300"/>
            <a:ext cx="4410900" cy="2281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Claudex - Claude Code + OpenAI Codex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Claudex combines model routing, one-off delegation, and adversarial cross-model reviews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GitHub project added standalone Claudex Route. It runs as skills / plugins in Claude Code or Codex environments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Route selects an appropriate model, while Loop makes the opposite provider review plans and completed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four-phase workflow covers reconnaissance, requirements, plan hardening, implementation, and independent inspection, helping expose blind spots before costly rework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https://github.com/chaseai-yt/claudex-loop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https://github.com/skills-directory/skill-codex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https://www.youtube.com/watch?v=KgKA0A3qlz0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30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550" y="3070063"/>
            <a:ext cx="3916201" cy="8551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/>
        </p:nvSpPr>
        <p:spPr>
          <a:xfrm>
            <a:off x="36574" y="-27425"/>
            <a:ext cx="14769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1"/>
          <p:cNvSpPr txBox="1"/>
          <p:nvPr/>
        </p:nvSpPr>
        <p:spPr>
          <a:xfrm>
            <a:off x="75250" y="410975"/>
            <a:ext cx="4687200" cy="191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Pics - Precise AI Editing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Powered by Nano Banana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Targeted object edits while preserving the rest of an image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can generate several variations, edit or translate in-image text, collaborate with others, resize/crop, upscale, and undo changes.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Pics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works standalone 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pics.new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directly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 Google Docs and Slides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; Google Drive integration is planned in coming weeks.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paid customers and Teams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https://blog.google/products-and-platforms/products/workspace/google-pics/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https://pics.new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https://x.com/Google/status/2097795419296477256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850" y="276088"/>
            <a:ext cx="2677348" cy="2046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4" name="Google Shape;214;p31"/>
          <p:cNvSpPr txBox="1"/>
          <p:nvPr/>
        </p:nvSpPr>
        <p:spPr>
          <a:xfrm>
            <a:off x="75250" y="2661005"/>
            <a:ext cx="4687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Ecdysis - Agent Harness Training (China)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Ecdysis improves an LLM agent’s runtime harness - prompts, state, tools, control logic, and recovery - while keeping the underlying task LLM’s weights fixed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Evaluated across multiple LLMs and agent-task benchmarks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Ecdysis groups recurring cross-task failure patterns, then uses analyst, critic, engineer, and moderator roles to specify minimal repairs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authors report up to 1.84× faster harness training and up to 18.56% higher reasoning accuracy, supporting more reliable, evidence-based agent-runtime engineering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https://arxiv.org/abs/2609.11677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31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850" y="2474964"/>
            <a:ext cx="3292647" cy="251613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2"/>
          <p:cNvSpPr txBox="1"/>
          <p:nvPr/>
        </p:nvSpPr>
        <p:spPr>
          <a:xfrm>
            <a:off x="36573" y="-27425"/>
            <a:ext cx="13833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75250" y="410975"/>
            <a:ext cx="49140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Krea Agents - Creative AI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 is a venture-backed startup in San Francisco, CA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is a generative-AI creative platform for making and editing visual content - images and videos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describe a creative outcome, and the agent selects models and carries out multi-step image, video, editing, enhancement, and upscaling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Krea’s Agent and MCP pages describe the current product and integrations; a beta announcement appeared in early September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reduces manual model selection, node wiring, tool switching, and repeated prompting by planning workflow steps from one brief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 connects its creative engine to Claude, Codex, Cursor, and other MCP-capable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https://www.krea.ai/agent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https://www.krea.ai/mcp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" name="Google Shape;222;p3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5575" y="666750"/>
            <a:ext cx="3849950" cy="20212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3" name="Google Shape;223;p32"/>
          <p:cNvSpPr txBox="1"/>
          <p:nvPr/>
        </p:nvSpPr>
        <p:spPr>
          <a:xfrm>
            <a:off x="75250" y="2934525"/>
            <a:ext cx="49140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Lightning v3.1 Pro Text-to-speech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Real time, 44.1 kHz speech with a curated voice pool, natural delivery, and streaming options for AI agents, support, sales, narration, and dubbing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Smallest.AI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vai API (San Francisco, CA)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 targets convincing timing, intonation, and prosody while using dedicated inference capacity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Smallest AI reports a 3.89 conversational MOS for Lightning V3; current Pro documentation lists 31 languages, English-Hindi code switching, and roughly 200 ms time-to-first-byte—useful for responsive multilingual voice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https://smallest.ai/text-to-speech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https://docs.smallest.ai/models/model-cards/text-to-speech/lightning-v-3-1-pro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3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1650" y="2840374"/>
            <a:ext cx="3086855" cy="21507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/>
        </p:nvSpPr>
        <p:spPr>
          <a:xfrm>
            <a:off x="83387" y="31208"/>
            <a:ext cx="1414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75250" y="410975"/>
            <a:ext cx="49140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Nex-N2.5 - Free Agent Models from China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Nex-N2.5 family - 35B Mini,  397B Pro, 1.6T Max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via OpenRouter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Mini and Pro can observe interfaces, act, verify results, correct course, and continue through multi-step software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Nex reports Pro scored 56.4 on OSWorld-2 and Max 50.2 on AutomationBench, near Claude Opus 5’s 50.3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https://huggingface.co/nex-agi/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https://nex-agi.com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3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25775" y="631588"/>
            <a:ext cx="3033975" cy="1285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2" name="Google Shape;232;p33"/>
          <p:cNvSpPr txBox="1"/>
          <p:nvPr/>
        </p:nvSpPr>
        <p:spPr>
          <a:xfrm>
            <a:off x="76200" y="2101500"/>
            <a:ext cx="49140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TypeSafe AI - Jev Decision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TypeSafe AI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is a startup in San Francisco, CA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is their new model trained to give short decisions (choice, score, probability) to fixed questions, for example: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Q: “Is this customer asking for a refund, technical help, or account access?”</a:t>
            </a:r>
            <a:endParaRPr sz="10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A: "Technical help, Confidence: 92%"</a:t>
            </a:r>
            <a:endParaRPr sz="1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Q: "Does this message look like an attempt to bypass safety rules?”</a:t>
            </a:r>
            <a:endParaRPr sz="10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A: "Yes, Confidence: 87%"</a:t>
            </a:r>
            <a:endParaRPr sz="1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Q: "Where to send this?"</a:t>
            </a:r>
            <a:endParaRPr sz="10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A: “Send to Billing: 94% sure.”</a:t>
            </a:r>
            <a:endParaRPr sz="1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is up to 193.6× faster and 444.6× cheaper than regular AI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uses a new model architecture, a parallel sampler, and a training approach it calls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Reinforcement Learning for Calibrated Decisions (RLCD)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https://typesafe.ai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https://typesafe.ai/blog/introducing-system-one-models-and-jev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3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5775" y="2947999"/>
            <a:ext cx="3033976" cy="66780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4"/>
          <p:cNvSpPr txBox="1"/>
          <p:nvPr/>
        </p:nvSpPr>
        <p:spPr>
          <a:xfrm>
            <a:off x="83388" y="6619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4"/>
          <p:cNvSpPr txBox="1"/>
          <p:nvPr/>
        </p:nvSpPr>
        <p:spPr>
          <a:xfrm>
            <a:off x="36576" y="732197"/>
            <a:ext cx="56694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Periodic Labs' NeonModel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Neon beats GPT-6 Astra on lab data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open-weight Kimi K2.6 (1T params), then mid-trained and RL-trained on Periodic's own lab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Trained on </a:t>
            </a:r>
            <a:r>
              <a:rPr lang="en" sz="1200">
                <a:solidFill>
                  <a:schemeClr val="dk1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1,300 H200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GPUs, a small fraction of a frontier lab's cluster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FrontierXRD success went from </a:t>
            </a:r>
            <a:r>
              <a:rPr lang="en" sz="1200">
                <a:solidFill>
                  <a:schemeClr val="dk1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2.7%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" sz="1200">
                <a:solidFill>
                  <a:schemeClr val="dk1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55.3%</a:t>
            </a:r>
            <a:endParaRPr sz="1200">
              <a:solidFill>
                <a:schemeClr val="dk1"/>
              </a:solidFill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Beats GPT-6 Astra and Claude Fable 5.1 on that eval at lower cost per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Already running in Periodic's labs in the search for better superconductors and magnets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https://periodic.com/news/nature-is-our-learning-environment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3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01215" y="538586"/>
            <a:ext cx="3229138" cy="209296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1" name="Google Shape;241;p34"/>
          <p:cNvSpPr txBox="1"/>
          <p:nvPr/>
        </p:nvSpPr>
        <p:spPr>
          <a:xfrm>
            <a:off x="36576" y="2897413"/>
            <a:ext cx="5669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ships Gemini 3.8 Live, a voice model that thinks while it talks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3.8 Live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3.8 Live Extended Thinking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the Live API and AI Studio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Extended Thinking keeps talking while it reasons and calls tools in the background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ranks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#1 on Artificial Analysis' speech-to-speech leaderboard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Speaks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97+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languages and can switch language mid-call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Priced at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$0.005/min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audio input and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$0.018/min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output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3.5 Transcribe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covers 85+ languages at 4.0% WER streaming, 2.6% offline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https://blog.google/innovation-and-ai/technology/developers-tools/build-real-time-voice-applications-gemini-audio/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61325" y="3121100"/>
            <a:ext cx="2908925" cy="1133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/>
        </p:nvSpPr>
        <p:spPr>
          <a:xfrm>
            <a:off x="83388" y="6619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5"/>
          <p:cNvSpPr txBox="1"/>
          <p:nvPr/>
        </p:nvSpPr>
        <p:spPr>
          <a:xfrm>
            <a:off x="36575" y="484300"/>
            <a:ext cx="53919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Salesforce Koa CRM reasoning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Post-trained from NVIDIA's open Nemotron 3 Super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Training data is fully synthetic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covering 14+ industries, with no customer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Salesforce says it makes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3x fewer errors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than leading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Salesforce hosts the weights, GA planned for winter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Separately,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Salesforce in Claude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entered beta with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built-in sales skills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reads and updates deals under each seller's existing Salesforce permissions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https://www.salesforce.com/news/press-releases/2026/09/15/koa-reasoning-model/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5"/>
          <p:cNvSpPr txBox="1"/>
          <p:nvPr/>
        </p:nvSpPr>
        <p:spPr>
          <a:xfrm>
            <a:off x="36575" y="2456925"/>
            <a:ext cx="5391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Nous Research refactors Hermes with 1,393 agents in one run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Hermes Agent session ran a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19-hour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goal that dispatched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1,393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subagents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result was a single PR that cut the codebase by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34.4%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lines of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Token spend was about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$19K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post-mortem found 12 harness fixes and a cache-TTL fix to make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Independent review then caught 3 blockers and 9 other defects in those fixes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Lesson: shard the work carefully, review every shard, expect conflicts when hundreds of agents share a repo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https://github.com/NousResearch/hermes-agent/issues/103563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https://nousresearch.com/refactoring-hermes-with-1393-agents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3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8175" y="430150"/>
            <a:ext cx="3535924" cy="1558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1" name="Google Shape;251;p3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8175" y="2899099"/>
            <a:ext cx="3535926" cy="9150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6"/>
          <p:cNvSpPr txBox="1"/>
          <p:nvPr/>
        </p:nvSpPr>
        <p:spPr>
          <a:xfrm>
            <a:off x="36575" y="758950"/>
            <a:ext cx="3630600" cy="1034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Z.ai, the maker of GLM, raises $5 Bln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60%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goes to next-generation GLM models, training and inference compute; Plans include a fully self-training system and adapting GLM to Chinese chips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https://www.caixinglobal.com/2026-09-14/zai-raises-5-billion-in-share-placement-convertible-bond-sale-102484813.html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6"/>
          <p:cNvSpPr txBox="1"/>
          <p:nvPr/>
        </p:nvSpPr>
        <p:spPr>
          <a:xfrm>
            <a:off x="36575" y="2501950"/>
            <a:ext cx="44496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Odyssey-3 - World model to drive robots, cars and drones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Odyssey Systems released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Odyssey-3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 foundation world model for physical and virtual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Autoregressive diffusion transformer trained on video to predict how the world changes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Small action decoders attach to the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Robot arms, humanoids, cars, drones and video-game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can also generate simulated experience to train other AI systems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Shared physical knowledge instead of per-robot demonstrations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https://odyssey.systems/introducing-odyssey-3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9" name="Google Shape;259;p3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7150" y="847713"/>
            <a:ext cx="2752724" cy="85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0" name="Google Shape;260;p3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3575" y="2660742"/>
            <a:ext cx="2504975" cy="154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/>
          <p:nvPr/>
        </p:nvSpPr>
        <p:spPr>
          <a:xfrm>
            <a:off x="83388" y="50588"/>
            <a:ext cx="2284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7"/>
          <p:cNvSpPr txBox="1"/>
          <p:nvPr/>
        </p:nvSpPr>
        <p:spPr>
          <a:xfrm>
            <a:off x="2169772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7"/>
          <p:cNvSpPr txBox="1"/>
          <p:nvPr/>
        </p:nvSpPr>
        <p:spPr>
          <a:xfrm>
            <a:off x="5690530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128.9K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Sept 14,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7"/>
          <p:cNvSpPr txBox="1"/>
          <p:nvPr/>
        </p:nvSpPr>
        <p:spPr>
          <a:xfrm>
            <a:off x="5690530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187,604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(727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37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25" y="3324699"/>
            <a:ext cx="5120081" cy="1714831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0" name="Google Shape;270;p37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553" y="518028"/>
            <a:ext cx="5038829" cy="259871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8"/>
          <p:cNvSpPr txBox="1"/>
          <p:nvPr/>
        </p:nvSpPr>
        <p:spPr>
          <a:xfrm>
            <a:off x="36576" y="-27432"/>
            <a:ext cx="2441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8"/>
          <p:cNvSpPr txBox="1"/>
          <p:nvPr/>
        </p:nvSpPr>
        <p:spPr>
          <a:xfrm>
            <a:off x="2751675" y="1263400"/>
            <a:ext cx="6096300" cy="20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" name="Google Shape;277;p3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404" y="1952269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9"/>
          <p:cNvSpPr txBox="1"/>
          <p:nvPr/>
        </p:nvSpPr>
        <p:spPr>
          <a:xfrm>
            <a:off x="2733451" y="1718275"/>
            <a:ext cx="36771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9"/>
          <p:cNvSpPr txBox="1"/>
          <p:nvPr/>
        </p:nvSpPr>
        <p:spPr>
          <a:xfrm>
            <a:off x="1622775" y="2571750"/>
            <a:ext cx="7126200" cy="13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5319</Words>
  <Application>Microsoft Macintosh PowerPoint</Application>
  <PresentationFormat>On-screen Show (16:9)</PresentationFormat>
  <Paragraphs>601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2026-09-16T21:18:39Z</dcterms:modified>
</cp:coreProperties>
</file>