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0"/>
      <p:bold r:id="rId31"/>
      <p:italic r:id="rId32"/>
      <p:boldItalic r:id="rId33"/>
    </p:embeddedFont>
    <p:embeddedFont>
      <p:font typeface="Roboto Mono" pitchFamily="49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4E11AA-96EC-49B0-98F9-4A79B1B70255}">
  <a:tblStyle styleId="{A34E11AA-96EC-49B0-98F9-4A79B1B702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>
      <p:cViewPr varScale="1">
        <p:scale>
          <a:sx n="124" d="100"/>
          <a:sy n="124" d="100"/>
        </p:scale>
        <p:origin x="5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-toc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-toc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labels. Kept by g3_update_toc.py.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 - https://lmarena.ai/leaderboard/text =&gt; Crowd-sourced LM Arena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- https://lmarena.ai/leaderboard/text/coding =&gt; Crowd-sourced LM Arena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Sept 10 =&gt; 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 ships Muse  agent with its own cloud computer and browser =&gt; Meta Muse Agent with Own Computer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formalized Fermat's Last Theorem in 11 days =&gt; Claude Formalized Fermat's Theorem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Anthropic resignation turns into an extinction debate =&gt; Anthropic Resignation, Extinction Debate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Mistral raises the largest round in European tech history =&gt; Mistral Raises Record EU Round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Google's agentic video understanding cuts video tokens by up to 88% =&gt; Google Agentic Video: 88% Fewer Tokens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music industry stops fighting and starts licensing =&gt; Music Industry Starts Licensing AI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models what AI does to US jobs and wages by 2030 =&gt; Anthropic: AI and US Jobs by 2030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Amodei calls on AI labs to pace the frontier =&gt; Amodei: Pace the Frontier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shelves its 2026 IPO as Anthropic heads to Nasdaq =&gt; OpenAI Delays IPO, Anthropic to Nasdaq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DeepSeek V4.1-Flash: bigger model, a quarter of the KV cache =&gt; DeepSeek V4.1 Flash Release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reports Claude misuse and test models loose online =&gt; Claude Misuse and Escaped Test Models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Cursor Projects and OpenAI Agents API: agents that keep working =&gt; Cursor Projects, OpenAI Agents API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GPT-6 Astra: Pro sign-ups paused, first critical cyber rating =&gt; GPT-6 Astra: Demand and Cyber Risk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Tech Layoff Tracker =&gt; Jobs &amp; Layoffs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Layoffs by year (US only): =&gt; Jobs &amp; Layoffs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Cognition SWE-2 matches Fable 5.1 on coding at 64% lower cost =&gt; Cognition SWE-2 Coding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launches ChatGPT for Financial Services on GPT-6 Astra =&gt; ChatGPT for Financial Services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publishes a draft Humanist AI Code of Conduct =&gt; Microsoft Humanist AI Code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Code adds plugin evals with a no-plugin baseline =&gt; Claude Code Plugin Evals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open-sources Pizza Bot, an inbox for background agents =&gt; AWS Pizza Bot Agent Inbox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buys camera startup Glass Imaging for over $300 million =&gt; OpenAI Buys Glass Imaging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is preparing Claude Money for personal finance =&gt; Anthropic Claude Money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Sept 14 =&gt; 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buys camera startup Glass Imaging for $300+ Mln =&gt; OpenAI Buys Glass Imaging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 ships Muse agent with its own cloud computer and browser =&gt; Meta Muse Agent Ships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b585c93b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fb585c93b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b585c93b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3fb585c93b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b585c93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b585c93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s-news-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s-news-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b59fa4c2d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b59fa4c2d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59fa4c2d_2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b59fa4c2d_2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s-youtub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s-youtub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-news-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-news-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s-google-s-agentic-video-d0cc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s-google-s-agentic-video-d0cc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s-anthropic-models-what-ai-does-fa9c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s-anthropic-models-what-ai-does-fa9c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8dbb82a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8dbb82a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s-amodei-calls-on-ai-labs-to-fd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s-amodei-calls-on-ai-labs-to-fd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s-deepseek-v4-1-flash-bigger-f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s-deepseek-v4-1-flash-bigger-f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s-microsoft-publishes-a-draft-f18b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s-microsoft-publishes-a-draft-f18b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b6dcc7c5d_5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b6dcc7c5d_5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b6dcc7c5d_1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b6dcc7c5d_15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b6dcc7c5d_15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b6dcc7c5d_15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b6dcc7c5d_15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b6dcc7c5d_15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b6dcc7c5d_15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b6dcc7c5d_15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s-layoff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s-layoff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s-about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s-about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s-thank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s-thank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s-separator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s-separator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ledger. Kept by g2_add_news.py.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t-meta-ships-muse-agent-with-its-a345 | Meta ships Muse agent with its own cloud computer and browser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t-claude-formalized-fermat-s-last-1846 | Claude formalized Fermat's Last Theorem in 11 days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t-an-anthropic-resignation-turns-9e3c | An Anthropic resignation turns into an extinction debate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t-mistral-raises-the-largest-132f | Mistral raises the largest round in European tech history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t-google-s-agentic-video-d0cc | Google's agentic video understanding cuts video tokens by up to 88%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t-the-music-industry-stops-c6a5 | The music industry stops fighting and starts licensing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t-anthropic-models-what-ai-does-fa9c | Anthropic models what AI does to US jobs and wages by 2030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t-amodei-calls-on-ai-labs-to-pace-fd16 | Amodei calls on AI labs to pace the frontier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t-openai-shelves-its-2026-ipo-as-b77d | OpenAI shelves its 2026 IPO as Anthropic heads to Nasdaq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t-deepseek-v4-1-flash-bigger-f639 | DeepSeek V4.1-Flash: bigger model, a quarter of the KV cache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t-anthropic-reports-claude-misuse-24aa | Anthropic reports Claude misuse and test models loose online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t-cursor-projects-and-openai-9e14 | Cursor Projects and OpenAI Agents API: agents that keep working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t-gpt-6-astra-pro-sign-ups-paused-5c87 | GPT-6 Astra: Pro sign-ups paused, first critical cyber rating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t-cognition-swe-2-matches-fable-5-b9ea | Cognition SWE-2 matches Fable 5.1 on coding at 64% lower cost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t-openai-launches-chatgpt-for-f41e | OpenAI launches ChatGPT for Financial Services on GPT-6 Astra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t-microsoft-publishes-a-draft-f18b | Microsoft publishes a draft Humanist AI Code of Conduct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t-claude-code-adds-plugin-evals-60e8 | Claude Code adds plugin evals with a no-plugin baseline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t-aws-open-sources-pizza-bot-an-d9af | AWS open-sources Pizza Bot, an inbox for background agents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t-openai-buys-camera-startup-5148 | OpenAI buys camera startup Glass Imaging for over $300 million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t-anthropic-is-preparing-claude-fada | Anthropic is preparing Claude Money for personal finance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s-parked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s-parked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8dbb82aa7_6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8dbb82aa7_6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8dbb82aa7_6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f8dbb82aa7_6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arena.ai/leaderboard/model/muse-spark-1.3-max" TargetMode="External"/><Relationship Id="rId18" Type="http://schemas.openxmlformats.org/officeDocument/2006/relationships/hyperlink" Target="https://arena.ai/leaderboard/model/muse-spark-1.1" TargetMode="External"/><Relationship Id="rId26" Type="http://schemas.openxmlformats.org/officeDocument/2006/relationships/hyperlink" Target="https://arena.ai/leaderboard/model/qwen3.7-max-preview" TargetMode="External"/><Relationship Id="rId21" Type="http://schemas.openxmlformats.org/officeDocument/2006/relationships/hyperlink" Target="https://arena.ai/leaderboard/model/claude-sonnet-4-6" TargetMode="External"/><Relationship Id="rId34" Type="http://schemas.openxmlformats.org/officeDocument/2006/relationships/hyperlink" Target="https://arena.ai/leaderboard/model/gemini-3-pro" TargetMode="External"/><Relationship Id="rId7" Type="http://schemas.openxmlformats.org/officeDocument/2006/relationships/hyperlink" Target="https://arena.ai/leaderboard/model/claude-opus-4-7-high" TargetMode="External"/><Relationship Id="rId12" Type="http://schemas.openxmlformats.org/officeDocument/2006/relationships/hyperlink" Target="https://arena.ai/leaderboard/model/kimi-k3-max" TargetMode="External"/><Relationship Id="rId17" Type="http://schemas.openxmlformats.org/officeDocument/2006/relationships/hyperlink" Target="https://arena.ai/leaderboard/model/claude-opus-5-high" TargetMode="External"/><Relationship Id="rId25" Type="http://schemas.openxmlformats.org/officeDocument/2006/relationships/hyperlink" Target="https://arena.ai/leaderboard/model/glm-5.3-flash" TargetMode="External"/><Relationship Id="rId33" Type="http://schemas.openxmlformats.org/officeDocument/2006/relationships/hyperlink" Target="https://arena.ai/leaderboard/model/gemini-3.1-pro-preview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ena.ai/leaderboard/model/claude-opus-4-8-high" TargetMode="External"/><Relationship Id="rId20" Type="http://schemas.openxmlformats.org/officeDocument/2006/relationships/hyperlink" Target="https://arena.ai/leaderboard/model/claude-opus-4-8" TargetMode="External"/><Relationship Id="rId29" Type="http://schemas.openxmlformats.org/officeDocument/2006/relationships/hyperlink" Target="https://arena.ai/leaderboard/model/qwen3.8-max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ena.ai/leaderboard/model/claude-fable-5" TargetMode="External"/><Relationship Id="rId11" Type="http://schemas.openxmlformats.org/officeDocument/2006/relationships/hyperlink" Target="https://arena.ai/leaderboard/model/gpt-6-astra-max" TargetMode="External"/><Relationship Id="rId24" Type="http://schemas.openxmlformats.org/officeDocument/2006/relationships/hyperlink" Target="https://arena.ai/leaderboard/model/muse-spark" TargetMode="External"/><Relationship Id="rId32" Type="http://schemas.openxmlformats.org/officeDocument/2006/relationships/hyperlink" Target="https://arena.ai/leaderboard/model/gemini-3.7-flash-high" TargetMode="External"/><Relationship Id="rId37" Type="http://schemas.openxmlformats.org/officeDocument/2006/relationships/hyperlink" Target="https://arena.ai/leaderboard/model/gemini-3.5-flash-high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arena.ai/leaderboard/model/gemini-3.8-flash-high" TargetMode="External"/><Relationship Id="rId23" Type="http://schemas.openxmlformats.org/officeDocument/2006/relationships/hyperlink" Target="https://arena.ai/leaderboard/model/claude-opus-5-max" TargetMode="External"/><Relationship Id="rId28" Type="http://schemas.openxmlformats.org/officeDocument/2006/relationships/hyperlink" Target="https://arena.ai/leaderboard/model/claude-opus-4-5-20251101" TargetMode="External"/><Relationship Id="rId36" Type="http://schemas.openxmlformats.org/officeDocument/2006/relationships/hyperlink" Target="https://arena.ai/leaderboard/model/gemini-3.6-flash-high" TargetMode="External"/><Relationship Id="rId10" Type="http://schemas.openxmlformats.org/officeDocument/2006/relationships/hyperlink" Target="https://arena.ai/leaderboard/model/claude-opus-4-6" TargetMode="External"/><Relationship Id="rId19" Type="http://schemas.openxmlformats.org/officeDocument/2006/relationships/hyperlink" Target="https://arena.ai/leaderboard/model/claude-opus-4-5-20251101-high-32k" TargetMode="External"/><Relationship Id="rId31" Type="http://schemas.openxmlformats.org/officeDocument/2006/relationships/hyperlink" Target="https://arena.ai/leaderboard/model/claude-fable-5.1-max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arena.ai/leaderboard/model/claude-opus-4-7" TargetMode="External"/><Relationship Id="rId14" Type="http://schemas.openxmlformats.org/officeDocument/2006/relationships/hyperlink" Target="https://arena.ai/leaderboard/model/muse-spark-1.2%20%28xHigh%29" TargetMode="External"/><Relationship Id="rId22" Type="http://schemas.openxmlformats.org/officeDocument/2006/relationships/hyperlink" Target="https://arena.ai/leaderboard/model/gpt-5.6-sol-xhigh" TargetMode="External"/><Relationship Id="rId27" Type="http://schemas.openxmlformats.org/officeDocument/2006/relationships/hyperlink" Target="https://arena.ai/leaderboard/model/glm-5.3-max" TargetMode="External"/><Relationship Id="rId30" Type="http://schemas.openxmlformats.org/officeDocument/2006/relationships/hyperlink" Target="https://arena.ai/leaderboard/model/mimo-v2.5-pro" TargetMode="External"/><Relationship Id="rId35" Type="http://schemas.openxmlformats.org/officeDocument/2006/relationships/hyperlink" Target="https://arena.ai/leaderboard/model/gpt-5.5-high" TargetMode="External"/><Relationship Id="rId8" Type="http://schemas.openxmlformats.org/officeDocument/2006/relationships/hyperlink" Target="https://arena.ai/leaderboard/model/claude-opus-4-6-high" TargetMode="External"/><Relationship Id="rId3" Type="http://schemas.openxmlformats.org/officeDocument/2006/relationships/hyperlink" Target="https://en.wikipedia.org/wiki/Elo_rating_syste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evaluations/artificial-analysis-intelligence-inde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www.anthropic.com/research/formalizing-fermats-last-theorem" TargetMode="Externa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www.geeky-gadgets.com/andrej-karpathy-ai-workflow/" TargetMode="External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youtube.com/watch?v=aHy7cNj-W2I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www.youtube.com/watch?v=sqA5RL_FUuo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html/2606.09498v1" TargetMode="External"/><Relationship Id="rId3" Type="http://schemas.openxmlformats.org/officeDocument/2006/relationships/hyperlink" Target="https://sakana.ai/dgm/" TargetMode="External"/><Relationship Id="rId7" Type="http://schemas.openxmlformats.org/officeDocument/2006/relationships/hyperlink" Target="https://aclanthology.org/2025.acl-long.1354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arxiv.org/html/2504.15228v2" TargetMode="External"/><Relationship Id="rId5" Type="http://schemas.openxmlformats.org/officeDocument/2006/relationships/hyperlink" Target="https://github.com/jennyzzt/dgm" TargetMode="External"/><Relationship Id="rId4" Type="http://schemas.openxmlformats.org/officeDocument/2006/relationships/hyperlink" Target="https://arxiv.org/abs/2505.22954" TargetMode="Externa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/video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institute/econ-scenario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crunch.com/2026/09/15/early-anthropic-hire-former-metr-coo-have-found-a-way-to-rein-in-rogue-ai-agents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arioamodei.com/post/we-must-pace-the-frontie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hyperlink" Target="https://techcrunch.com/2026/09/12/openais-sam-altman-says-it-would-be-ill-advised-to-go-public-in-2026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www.latent.space/p/ainews-deepseek-v41-flash-763b-p8b" TargetMode="External"/><Relationship Id="rId7" Type="http://schemas.openxmlformats.org/officeDocument/2006/relationships/hyperlink" Target="https://openai.com/index/introducing-chatgpt-financial-services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ognition.com/blog/swe-2" TargetMode="External"/><Relationship Id="rId5" Type="http://schemas.openxmlformats.org/officeDocument/2006/relationships/hyperlink" Target="https://www.youtube.com/watch?v=04ePeOyRN0k" TargetMode="External"/><Relationship Id="rId10" Type="http://schemas.openxmlformats.org/officeDocument/2006/relationships/image" Target="../media/image22.png"/><Relationship Id="rId4" Type="http://schemas.openxmlformats.org/officeDocument/2006/relationships/hyperlink" Target="https://huggingface.co/deepseek-ai/DeepSeek-V4.1-Flash" TargetMode="External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stingcatalog.com/anthropic-prepares-claude-money-for-personal-finance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jpeg"/><Relationship Id="rId5" Type="http://schemas.openxmlformats.org/officeDocument/2006/relationships/hyperlink" Target="https://qz.com/openai-acquires-glass-imaging-camera-startup-300-million-091526" TargetMode="External"/><Relationship Id="rId4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killedbyai.net" TargetMode="External"/><Relationship Id="rId3" Type="http://schemas.openxmlformats.org/officeDocument/2006/relationships/hyperlink" Target="https://humane.com" TargetMode="External"/><Relationship Id="rId7" Type="http://schemas.openxmlformats.org/officeDocument/2006/relationships/hyperlink" Target="https://fieldy.ai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openai.com/sora" TargetMode="External"/><Relationship Id="rId11" Type="http://schemas.openxmlformats.org/officeDocument/2006/relationships/image" Target="../media/image26.jpeg"/><Relationship Id="rId5" Type="http://schemas.openxmlformats.org/officeDocument/2006/relationships/hyperlink" Target="https://www.builder.ai" TargetMode="External"/><Relationship Id="rId10" Type="http://schemas.openxmlformats.org/officeDocument/2006/relationships/image" Target="../media/image25.png"/><Relationship Id="rId4" Type="http://schemas.openxmlformats.org/officeDocument/2006/relationships/hyperlink" Target="https://www.rabbit.tech" TargetMode="External"/><Relationship Id="rId9" Type="http://schemas.openxmlformats.org/officeDocument/2006/relationships/hyperlink" Target="https://www.youtube.com/watch?v=aunUOIrbIeM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KgKA0A3qlz0" TargetMode="External"/><Relationship Id="rId3" Type="http://schemas.openxmlformats.org/officeDocument/2006/relationships/hyperlink" Target="https://www.topview.ai" TargetMode="External"/><Relationship Id="rId7" Type="http://schemas.openxmlformats.org/officeDocument/2006/relationships/hyperlink" Target="https://github.com/skills-directory/skill-codex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ithub.com/chaseai-yt/claudex-loop" TargetMode="External"/><Relationship Id="rId5" Type="http://schemas.openxmlformats.org/officeDocument/2006/relationships/image" Target="../media/image27.png"/><Relationship Id="rId4" Type="http://schemas.openxmlformats.org/officeDocument/2006/relationships/hyperlink" Target="https://www.youtube.com/watch?v=SuedJD8l9tA" TargetMode="External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hyperlink" Target="https://blog.google/products-and-platforms/products/workspace/google-pics/" TargetMode="External"/><Relationship Id="rId7" Type="http://schemas.openxmlformats.org/officeDocument/2006/relationships/hyperlink" Target="https://arxiv.org/abs/2609.11677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hyperlink" Target="https://x.com/Google/status/2097795419296477256" TargetMode="External"/><Relationship Id="rId4" Type="http://schemas.openxmlformats.org/officeDocument/2006/relationships/hyperlink" Target="https://pics.new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mallest.ai/models/model-cards/text-to-speech/lightning-v-3-1-pro" TargetMode="External"/><Relationship Id="rId3" Type="http://schemas.openxmlformats.org/officeDocument/2006/relationships/hyperlink" Target="https://www.krea.ai/agent" TargetMode="External"/><Relationship Id="rId7" Type="http://schemas.openxmlformats.org/officeDocument/2006/relationships/hyperlink" Target="https://smallest.ai/text-to-speech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://smallest.ai" TargetMode="External"/><Relationship Id="rId5" Type="http://schemas.openxmlformats.org/officeDocument/2006/relationships/image" Target="../media/image31.png"/><Relationship Id="rId4" Type="http://schemas.openxmlformats.org/officeDocument/2006/relationships/hyperlink" Target="https://www.krea.ai/mcp" TargetMode="External"/><Relationship Id="rId9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nex-agi/Nex-N2.5-Pro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hyperlink" Target="https://nex-agi.com" TargetMode="External"/><Relationship Id="rId4" Type="http://schemas.openxmlformats.org/officeDocument/2006/relationships/hyperlink" Target="https://huggingface.co/nex-agi/Nex-N2.5-mini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hyperlink" Target="https://trueup.io/layoff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ais.ai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drive.google.com/drive/folders/1dmj00iilSP-JYmriMUUaHCKz5X54e3UX?ths=true" TargetMode="External"/><Relationship Id="rId4" Type="http://schemas.openxmlformats.org/officeDocument/2006/relationships/hyperlink" Target="https://github.com/lselector/seminar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threat-intelligence-report-september-2026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8.jpeg"/><Relationship Id="rId5" Type="http://schemas.openxmlformats.org/officeDocument/2006/relationships/hyperlink" Target="https://microsoft.ai/code-of-conduct/" TargetMode="External"/><Relationship Id="rId4" Type="http://schemas.openxmlformats.org/officeDocument/2006/relationships/image" Target="../media/image3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ursor.com/blog/projects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jpeg"/><Relationship Id="rId5" Type="http://schemas.openxmlformats.org/officeDocument/2006/relationships/hyperlink" Target="https://thezvi.substack.com/p/gpt-6-astra-can-do-ambitious-things" TargetMode="External"/><Relationship Id="rId4" Type="http://schemas.openxmlformats.org/officeDocument/2006/relationships/image" Target="../media/image3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claude.com/docs/en/plugin-evals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2.jpeg"/><Relationship Id="rId5" Type="http://schemas.openxmlformats.org/officeDocument/2006/relationships/hyperlink" Target="https://aws.amazon.com/blogs/opensource/introducing-pizza-bot-an-open-source-inbox-for-ai-agents-that-work-in-the-background/" TargetMode="External"/><Relationship Id="rId4" Type="http://schemas.openxmlformats.org/officeDocument/2006/relationships/image" Target="../media/image4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576" y="-27432"/>
            <a:ext cx="3024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 - Sept 18, 2026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349240" y="27432"/>
            <a:ext cx="3758100" cy="676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Agents got their own computers. Oversight is still catching up.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576" y="768240"/>
            <a:ext cx="4517100" cy="3637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Crowd-sourced LM Arena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Claude Fable-5 - 6TB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Meta Muse Agent Ships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Claude Formalized Fermat's Theorem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Andrej Karpathy Workflow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OpenAI Astra,is Very Good with Blender 3D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Self-Tuning Agent Harnesses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Tuning the model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Customers Expect Apps To Be Smart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Anthropic Resignation, Extinction Debate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Mistral Raises Record EU Round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Google Agentic Video: 88% Fewer Tokens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Music Industry Starts Licensing AI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Anthropic: AI and US Jobs by 2030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Apple Siri Upgrade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AIUC Certifies AI Agents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590288" y="768240"/>
            <a:ext cx="4517100" cy="3637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Amodei: Pace the Frontier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OpenAI Delays IPO, Anthropic to Nasdaq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DeepSeek V4.1 Flash Release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Cognition SWE-2 Coding Model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OpenAI Financial Services on GPT-6 Astra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Anthropic Claude Money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OpenAI Buys Glass Imaging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Killed By AI - 123 products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TopView MCP - AI Ad Workflow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Claudex - Claude Code + OpenAI Codex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Google Pics - Precise AI Editing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Ecdysis - Agent Harness Training (China)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Krea Agents - Creative AI Workflow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Lightning v3.1 Pro Text-to-speech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Nex-N2.5 - Free Agent Models from China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● Jobs &amp; Layoffs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Sept 13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" name="Google Shape;67;p14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{A34E11AA-96EC-49B0-98F9-4A79B1B70255}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8" name="Google Shape;68;p14"/>
          <p:cNvSpPr txBox="1"/>
          <p:nvPr/>
        </p:nvSpPr>
        <p:spPr>
          <a:xfrm>
            <a:off x="6838390" y="485738"/>
            <a:ext cx="2152500" cy="2173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Fable-5 - 6TB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Opus-4.8 - 5TB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Sonnet-4.5 - 1TB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Sonnet-5 - ?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GLM-5.3 - 744B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muse-spark - 16 x 70B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- 745B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Qwen3.8-max - 2.4TB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Ernie-5.1 - 800B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Kimi-k3 - 2.8T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MiMo-V2.5-Pro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ByteDance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dola-seed-2.0-pro 400B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 -  456B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" name="Google Shape;69;p14"/>
          <p:cNvGraphicFramePr/>
          <p:nvPr/>
        </p:nvGraphicFramePr>
        <p:xfrm>
          <a:off x="3075200" y="742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{A34E11AA-96EC-49B0-98F9-4A79B1B70255}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gpt-6-astra-max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muse-spark-1.3-max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gemini-3.8-flash-high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claude-opus-4-5-20251101-high-32k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glm-5.3-flash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claude-opus-4-5-20251101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mimo-v2.5-pro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70" name="Google Shape;70;p14"/>
          <p:cNvGraphicFramePr/>
          <p:nvPr/>
        </p:nvGraphicFramePr>
        <p:xfrm>
          <a:off x="423650" y="745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{A34E11AA-96EC-49B0-98F9-4A79B1B70255}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claude-fable-5.1-max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muse-spark-1.3-max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gemini-3.8-flash-high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gemini-3.6-flash-high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gpt-6-astra-max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gemini-3.5-flash-high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/>
        </p:nvSpPr>
        <p:spPr>
          <a:xfrm>
            <a:off x="38150" y="2125"/>
            <a:ext cx="4493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2430" y="355163"/>
            <a:ext cx="44295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https://artificialanalysis.ai/evaluations/artificial-analysis-intelligence-index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934676" y="1088150"/>
            <a:ext cx="9447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Sept 14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15" descr="auto: aa-index-chart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38" y="1587925"/>
            <a:ext cx="8932926" cy="34907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36576" y="-27432"/>
            <a:ext cx="117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9864" y="776647"/>
            <a:ext cx="3291840" cy="201168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3627" y="3144351"/>
            <a:ext cx="2264313" cy="171500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6" name="Google Shape;86;p16"/>
          <p:cNvSpPr txBox="1"/>
          <p:nvPr/>
        </p:nvSpPr>
        <p:spPr>
          <a:xfrm>
            <a:off x="152375" y="489200"/>
            <a:ext cx="46737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 ships Muse agent with its own cloud computer and browser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mail, calendars, Instagram and ordinary websites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ties into Gmail, Spotify, Ticketmaster and OpenTable, and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codes its own integrations for services that lack them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runs in its own app, on the web, or inside WhatsApp, and keeps working after you close it.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security design is the interesting part. Muse runs in a Secure VM, a separate Sentinel agent inspects everything leaving that VM, passwords stay hidden from Muse itself, sensitive actions require approval, and every action enters an audit trail. 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Payments go through Stripe Link. A Confidential VM upgrade is planned.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Tiers: Free, $20/mo, $100/mo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 only, 18 and older, AI glasses support coming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152375" y="2972450"/>
            <a:ext cx="4673700" cy="200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formalized Fermat's Last Theorem in 11 days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Wiles proved Fermat's Last Theorem in 1995. 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Claude converted the proof into 13 Mln lines of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Lean (a functional language for math definitions and proofs)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Almost 30K intermediate theorems.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runs on Prove2Me, an open platform that maintains a graph of theorem statements and coordinates multiple Claude agents against it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Claude did not discover a new proof. It converted an existing one into the first complete, computer-checked formalization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whole thing is on GitHub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https://www.anthropic.com/research/formalizing-fermats-last-theorem</a:t>
            </a:r>
            <a:r>
              <a:rPr lang="en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36576" y="-27432"/>
            <a:ext cx="117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6575" y="476175"/>
            <a:ext cx="4407000" cy="3481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Andrej Karpathy Workflow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 talks to AI using speech-to-text like Super Whisper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 curates a personal “LLM Wiki” to provide AI with contextually relevant and precise information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 transforms static documents into interactive tools using platforms like Notebook LM, allowing for dynamic engagement, better retention and actionable insights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 employs a data-driven problem-solving approach, analyzing raw data to uncover patterns and develop objective, evidence-based solutions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 delegates complex tasks and orchestrates multiple AI agents - thus enhances productivity, allowing collaboration and efficient completion of multifaceted projects.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https://www.geeky-gadgets.com/andrej-karpathy-ai-workflow/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TechLead dictated tasks by voice on a hike while a coding agent worked on desktop at home. 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Came home to a finished, working app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handoff notes file stores session state to allow switching models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https://www.youtube.com/watch?v=sqA5RL_FUuo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476178"/>
            <a:ext cx="2243449" cy="14956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5" name="Google Shape;95;p17"/>
          <p:cNvSpPr txBox="1"/>
          <p:nvPr/>
        </p:nvSpPr>
        <p:spPr>
          <a:xfrm>
            <a:off x="36575" y="4073375"/>
            <a:ext cx="44070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Astra,is Very Good with Blender 3D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Game developing using a pipeline of GPT image 2.0 concept art, Blender 3D modeling and animation, Unreal Engine and Unity assembly, ElevenLabs voice and music, then self play-testing.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https://www.youtube.com/watch?v=aHy7cNj-W2I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7225" y="3380275"/>
            <a:ext cx="2802175" cy="1635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1545" y="1578950"/>
            <a:ext cx="2057080" cy="14956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36575" y="-27425"/>
            <a:ext cx="39003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Self-Tuning Agent Harnesses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36575" y="476175"/>
            <a:ext cx="4450800" cy="443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Self-Tuning Agent Harnesses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Sakana AI with Jeff Clune's UBC lab (Darwin Gödel Machine = DGM), Bristol/iGent AI (SICA), PKU/UCSB (Gödel Agent), plus 2026 work on Self-Harness, Continual Harness, and SIA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Agents that rewrite not just skills but their own scaffold - tools, prompts, control loops, and code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DGM and SICA in 2025; Gödel Agent at ACL 2025; harness-level papers through 2026 on arXiv and lab blogs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Hermes-style skill learning leaves the harness fixed, so scaffolding bottlenecks persist and humans must tune them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Solution - Evolutionary or self-referential loops that mutate the harness and keep variants that score better on benchmarks.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Achievement - DGM raised SWE-bench performance from 20.0% to 50.0%; SICA gained 17% to 53%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Moves self-improvement from content to architecture, while raising safety concerns since agents sometimes gamed their own evaluations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https://sakana.ai/dgm/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https://arxiv.org/abs/2505.22954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https://github.com/jennyzzt/dgm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https://arxiv.org/html/2504.15228v2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https://aclanthology.org/2025.acl-long.1354/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https://arxiv.org/html/2606.09498v1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2550" y="801500"/>
            <a:ext cx="4351823" cy="244920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5" name="Google Shape;105;p18"/>
          <p:cNvSpPr txBox="1"/>
          <p:nvPr/>
        </p:nvSpPr>
        <p:spPr>
          <a:xfrm>
            <a:off x="6570025" y="3768450"/>
            <a:ext cx="1671000" cy="923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Tuning the model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Tuning skills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Tuning Tools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Tuning Harness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/>
        </p:nvSpPr>
        <p:spPr>
          <a:xfrm>
            <a:off x="36575" y="-27425"/>
            <a:ext cx="44508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Customers Expect Apps To Be Smart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121200" y="798500"/>
            <a:ext cx="3519600" cy="258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Customers Expect Apps To Be Smart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Customers don't want to do manual labor (clicking, selecting, etc)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They want just to talk to the app's Agent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agent should behave as an experienced assistant that understands you from half-a-word.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Like an experienced secretary who knows the rules, expect your next requests, takes care of details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Just a stand-alone LLM is not enough any longer.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Customers want to work with an agent that has memory, can intelligently move towards the goal, adn be reliable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3200" y="628675"/>
            <a:ext cx="5198398" cy="292565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/>
        </p:nvSpPr>
        <p:spPr>
          <a:xfrm>
            <a:off x="36576" y="-27432"/>
            <a:ext cx="351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102375" y="725485"/>
            <a:ext cx="4161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7.51K subscribers, 3337 videos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9500" y="758045"/>
            <a:ext cx="2461825" cy="3154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6550" y="2700257"/>
            <a:ext cx="2160975" cy="22433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/>
        </p:nvSpPr>
        <p:spPr>
          <a:xfrm>
            <a:off x="36576" y="-27432"/>
            <a:ext cx="117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36576" y="637709"/>
            <a:ext cx="5669400" cy="2384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 Anthropic resignation turns into an extinction debate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Researcher Jacob Coxon resigned and posted that both Anthropic and OpenAI are "gambling with our lives" by racing toward self-improving AI. He worked at both labs.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 wrote that the people building AI "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earnestly believe that it could kill us all by the end of the decade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. This is not a marketing stunt," and called for a coordinated slowdown.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reply is what made it spread.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Evan Hubinger, Anthropic's Alignment Science lead, responded "We really do earnestly believe AI could kill all humans!" and put the odds above 10% within the next decade.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argument underneath is not about p(doom). If the people who believe the stakes are civilizational still cannot coordinate, then "trust the responsible lab" is not a safety plan.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11300" y="637700"/>
            <a:ext cx="2651899" cy="10274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8" name="Google Shape;128;p21"/>
          <p:cNvSpPr txBox="1"/>
          <p:nvPr/>
        </p:nvSpPr>
        <p:spPr>
          <a:xfrm>
            <a:off x="36576" y="3211407"/>
            <a:ext cx="5669400" cy="1628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Mistral raises the largest round in European tech history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EUR 3 billion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Series D led by Samsung Electronics, with Nvidia, ASML and a16z joining, valuing the French lab above EUR 21 billion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One newsletter reported it as $3.5 billion, which is the same round converted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Mistral is three years old and tracking toward $1 billion in ARR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money goes to compute and international expansion, behind a shift toward sovereign, full-stack enterprise AI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 Chat is being rebranded to "Vibe," an agent and coding platform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70537" y="2878675"/>
            <a:ext cx="2533425" cy="21027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36576" y="-27432"/>
            <a:ext cx="117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36576" y="758952"/>
            <a:ext cx="5669400" cy="1061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Google's agentic video understanding cuts video tokens by up to 88%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Gemini Flash models now navigate a video timeline rather than ingesting it at 1 FPS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Google reports up to 88% fewer tokens, 66% lower cost and 7% higher accuracy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One processing field turns it 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Hosted API only, so no local deployment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5797" y="546559"/>
            <a:ext cx="1942823" cy="1485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7" name="Google Shape;137;p22"/>
          <p:cNvSpPr txBox="1"/>
          <p:nvPr/>
        </p:nvSpPr>
        <p:spPr>
          <a:xfrm>
            <a:off x="36576" y="2850424"/>
            <a:ext cx="5669400" cy="1628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music industry stops fighting and starts licensing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Suno released a model built with Warner Music Group, BMG and Believe, with artists participating and their music and likenesses licensed for use on the platform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ships with a compensation framework, which is the point: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the copyright fight is converting into a business arrangement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Universal Music went the same direction days later, partnering with ElevenLabs on a platform for remixing tracks from UMG's catalog, with artists opting in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Spotify is exploring AI remixes too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15800" y="3078863"/>
            <a:ext cx="2371401" cy="1171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/>
        </p:nvSpPr>
        <p:spPr>
          <a:xfrm>
            <a:off x="36576" y="-27432"/>
            <a:ext cx="117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36576" y="480711"/>
            <a:ext cx="5669400" cy="2416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models what AI does to US jobs and wages by 2030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 interactive tool that treats every job as a bundle of tasks, then asks whether AI speeds up each task, replaces it, or creates new ones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Three scenarios: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Modest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GDP grows 1.6% above the no-AI path, wages stable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Substantial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GDP up 8.3%, AI does 50% of knowledge work, knowledge worker wages flatline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Extreme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GDP up 15% per year, doubling the economy every 4.5 years,  but knowledge worker unemployment at 17.9%, human labor's share falls to 45%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Bigger economy does not automatically mean you earn more.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Capital owners capture most of the gains.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https://www.anthropic.com/institute/econ-scenarios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8299" y="480701"/>
            <a:ext cx="2915564" cy="24165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6" name="Google Shape;146;p23"/>
          <p:cNvSpPr txBox="1"/>
          <p:nvPr/>
        </p:nvSpPr>
        <p:spPr>
          <a:xfrm>
            <a:off x="36575" y="3357350"/>
            <a:ext cx="4402500" cy="1293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Apple Siri Upgrade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Built on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Gemini models - can handle complex tasks, multistep requests, understand on-screen and camera context, and access files, messages, and email.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iOS 27 adds AI-powered Shortcuts, smart clipboard, and improved network switching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3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44200" y="3497876"/>
            <a:ext cx="2054636" cy="10119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50852" y="44027"/>
            <a:ext cx="3606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AIUC Certifies AI Agents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75228" y="480700"/>
            <a:ext cx="4423800" cy="306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AIUC Certifies AI Agents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Artificial Intelligence Underwriting Company (AIUC) - Sept 15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15 Mln seed + $40 Mln Series A funding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They wrote AIUC-1, a SOC 2-inspired standard for AI agents, built with input from a consortium of ~250 security and risk leaders who actually buy agents.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They operate the testing service that validates a given agent against that standard - roughly 5,000 tests covering jailbreaks, hallucinations, and data leaks, yielding a ~100-page report where AI runs and analyzes the tests but humans verify the final audit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Why: Banks, hospitals, and governments hesitate to deploy AI agents that may jailbreak, hallucinate, or leak data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Importance: Independent certification could let regulated enterprises adopt agents safely; customers include Cursor, Lovable, Harvey, and ElevenLabs.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https://techcrunch.com/2026/09/15/early-anthropic-hire-former-metr-coo-have-found-a-way-to-rein-in-rogue-ai-agents/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1425" y="480700"/>
            <a:ext cx="2479952" cy="3066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/>
        </p:nvSpPr>
        <p:spPr>
          <a:xfrm>
            <a:off x="36576" y="-27432"/>
            <a:ext cx="117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126812" y="474380"/>
            <a:ext cx="4464000" cy="2185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Amodei calls on AI labs to pace the frontier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Essay "We Must Pace the Frontier" published Sept 12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Says AI now speeds up its own development; agent swarms could take over the internet in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6 to 12 months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Plan: embedded outside evaluators who can publish freely, shared standards among democratic labs, talks with China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Altman, Musk, Hassabis and Nadella agreed within two days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OpenAI had already asked Congress whether a joint slowdown breaks antitrust law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Trump called slowdown advocates "negative forces"</a:t>
            </a:r>
            <a:endParaRPr sz="12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https://darioamodei.com/post/we-must-pace-the-frontier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126812" y="2934633"/>
            <a:ext cx="4464000" cy="178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shelves its 2026 IPO as Anthropic heads to Nasdaq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Altman told that an IPO this year would be ill-advised given safety concerns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Anthropic picked Nasdaq for an October listing;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Nvidia in talks to anchor up to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$10B</a:t>
            </a:r>
            <a:endParaRPr sz="12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SoftBank closed an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$11.9B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loan from about 20 banks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 keep funding OpenAI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SoftBank still aims to put about $65B into OpenAI by October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https://techcrunch.com/2026/09/12/openais-sam-altman-says-it-would-be-ill-advised-to-go-public-in-2026/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4048" y="614444"/>
            <a:ext cx="2505125" cy="19315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3" name="Google Shape;163;p25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4038" y="2771580"/>
            <a:ext cx="1794875" cy="2243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/>
        </p:nvSpPr>
        <p:spPr>
          <a:xfrm>
            <a:off x="36576" y="-99269"/>
            <a:ext cx="117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36575" y="419842"/>
            <a:ext cx="5035500" cy="178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DeepSeek V4.1-Flash: bigger model, a quarter of the KV cache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552B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MoE with native vision and 1M-token context; Open weights (MIT)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Reported 90.6 on Terminal-Bench 2.1, ahead of Opus 5 and GPT-5.6 Sol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Beats V4-Pro; KV cache 890 bytes per token, 1/4 of V4-Flash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New causal encoder-decoder: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8B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active parameters on input,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16B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on output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All 384 experts per layer plus a 196B Engram lookup table stay resident, so the download is roughly 510GB (already in FP4). Needs 3-4 NVIDIA DGX Sparks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https://www.latent.space/p/ainews-deepseek-v41-flash-763b-p8b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https://huggingface.co/deepseek-ai/DeepSeek-V4.1-Flash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https://www.youtube.com/watch?v=04ePeOyRN0k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36575" y="2258067"/>
            <a:ext cx="50355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Cognition SWE-2 matches Fable 5.1 on coding at 64% lower cost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Post-trained with RL on Moonshot's 2.8T-parameter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Kimi K3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First real edit after a median of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steps instead of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48</a:t>
            </a:r>
            <a:endParaRPr sz="12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One RL run trains all three effort levels: medium, high, max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Runs only inside Devin - no API or open weights: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https://cognition.com/blog/swe-2</a:t>
            </a:r>
            <a:r>
              <a:rPr lang="en" sz="12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36575" y="3438886"/>
            <a:ext cx="5035500" cy="1650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Financial Services on GPT-6 Astra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For investment banking and equity research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Built with design partners Morgan Stanley and Evercore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Built in data from multipole news and data sources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Citations trace each figure back to its source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Covers valuation, LBO models (Leveraged Buyout), buyer screens, earnings analysis and pitchbooks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Aimed squarely at the work of junior bankers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https://openai.com/index/introducing-chatgpt-financial-services/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37375" y="3439633"/>
            <a:ext cx="2847975" cy="160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3" name="Google Shape;173;p26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7375" y="1681175"/>
            <a:ext cx="2305769" cy="1650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4" name="Google Shape;174;p26"/>
          <p:cNvPicPr preferRelativeResize="0"/>
          <p:nvPr/>
        </p:nvPicPr>
        <p:blipFill rotWithShape="1"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37375" y="419850"/>
            <a:ext cx="3361475" cy="8588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/>
        </p:nvSpPr>
        <p:spPr>
          <a:xfrm>
            <a:off x="36576" y="-27432"/>
            <a:ext cx="117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75248" y="630042"/>
            <a:ext cx="4771800" cy="1465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is preparing Claude Money for personal finance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 Money tab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spotted in unreleased builds of the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iOS app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Users link bank accounts and ask about spending, plans and budgets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Claude would find recurring payments and summarize balances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No more uploading bank statements by hand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Data provider, account types and launch date are unknown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likely answer to OpenAI's ChatGPT Finances, which uses Plaid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https://www.testingcatalog.com/anthropic-prepares-claude-money-for-personal-finance/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3250" y="660079"/>
            <a:ext cx="3196976" cy="14051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27"/>
          <p:cNvSpPr txBox="1"/>
          <p:nvPr/>
        </p:nvSpPr>
        <p:spPr>
          <a:xfrm>
            <a:off x="75250" y="2773679"/>
            <a:ext cx="4771800" cy="1095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buys camera startup Glass Imaging for $300+ Mln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Its AI makes smartphone photos look close to DSLR quality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Founded in 2019 by ex-Apple engineers who worked on Portrait Mode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Raised about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$30 Mln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Likely tied to OpenAI's device work with Jony Ive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https://qz.com/openai-acquires-glass-imaging-camera-startup-300-million-091526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3248" y="2296713"/>
            <a:ext cx="1514250" cy="201899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/>
        </p:nvSpPr>
        <p:spPr>
          <a:xfrm>
            <a:off x="36573" y="-27425"/>
            <a:ext cx="39162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Killed By AI - 123 products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75248" y="630042"/>
            <a:ext cx="4771800" cy="3343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Killed By AI - 123 products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Humane’s AI Pin shut down February 28, 2025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Builder.ai collapsed in May 2025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OpenAI ended Sora’s standalone app in April 2026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Problem: Expensive hardware, novelty features, inflated AI claims, and products that compete against established phone habits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Solution: Build quiet, reliable workflows that fit existing behavior and complete recurring work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Exampel - AI-device company Fieldy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Ask whether users would miss a product on an ordinary workday; durable AI should save time, reduce friction, and produce dependable outcomes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https://humane.com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https://www.rabbit.tech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https://www.builder.ai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https://openai.com/sora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https://fieldy.ai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https://killedbyai.net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https://www.youtube.com/watch?v=aunUOIrbIeM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9025" y="630046"/>
            <a:ext cx="3763700" cy="20909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1" name="Google Shape;191;p28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011" y="2823746"/>
            <a:ext cx="2117729" cy="211772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36573" y="-27425"/>
            <a:ext cx="39162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75250" y="410975"/>
            <a:ext cx="44109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TopView MCP - AI Ad Workflow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Julia McCoy tested TopView MCP with Claude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connector combined marketplace research, campaign strategy, image generation, and vertical-video production inside one chat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Replaces multiple tabs and handoffs with review-driven research, platform-specific briefs, creative hooks, visuals, and video variants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tool compresses a marketing team’s research-to-brief workflow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https://www.topview.ai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https://www.youtube.com/watch?v=SuedJD8l9tA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8550" y="152400"/>
            <a:ext cx="3242802" cy="19394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9" name="Google Shape;199;p29"/>
          <p:cNvSpPr txBox="1"/>
          <p:nvPr/>
        </p:nvSpPr>
        <p:spPr>
          <a:xfrm>
            <a:off x="75250" y="2430300"/>
            <a:ext cx="4410900" cy="2281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Claudex - Claude Code + OpenAI Codex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Claudex combines model routing, one-off delegation, and adversarial cross-model reviews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GitHub project added standalone Claudex Route. It runs as skills / plugins in Claude Code or Codex environments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Route selects an appropriate model, while Loop makes the opposite provider review plans and completed code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four-phase workflow covers reconnaissance, requirements, plan hardening, implementation, and independent inspection, helping expose blind spots before costly rework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https://github.com/chaseai-yt/claudex-loop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https://github.com/skills-directory/skill-codex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https://www.youtube.com/watch?v=KgKA0A3qlz0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8550" y="2430295"/>
            <a:ext cx="3916201" cy="85519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/>
        </p:nvSpPr>
        <p:spPr>
          <a:xfrm>
            <a:off x="36573" y="-27425"/>
            <a:ext cx="39162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75250" y="410975"/>
            <a:ext cx="4687200" cy="191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Pics - Precise AI Editing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Powered by Nano Banana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Targeted object edits while preserving the rest of an image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Users can generate several variations, edit or translate in-image text, collaborate with others, resize/crop, upscale, and undo changes.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Pics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works standalone at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pics.new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and directly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Google Docs and Slides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; Google Drive integration is planned in coming weeks.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For paid customers and Teams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https://blog.google/products-and-platforms/products/workspace/google-pics/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https://pics.new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https://x.com/Google/status/2097795419296477256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3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4850" y="276088"/>
            <a:ext cx="2677348" cy="20464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8" name="Google Shape;208;p30"/>
          <p:cNvSpPr txBox="1"/>
          <p:nvPr/>
        </p:nvSpPr>
        <p:spPr>
          <a:xfrm>
            <a:off x="75250" y="2661005"/>
            <a:ext cx="46872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Ecdysis - Agent Harness Training (China)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Ecdysis improves an LLM agent’s runtime harness - prompts, state, tools, control logic, and recovery - while keeping the underlying task LLM’s weights fixed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Evaluated across multiple LLMs and agent-task benchmarks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Ecdysis groups recurring cross-task failure patterns, then uses analyst, critic, engineer, and moderator roles to specify minimal repairs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authors report up to 1.84× faster harness training and up to 18.56% higher reasoning accuracy, supporting more reliable, evidence-based agent-runtime engineering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https://arxiv.org/abs/2609.11677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4850" y="2474964"/>
            <a:ext cx="3292647" cy="251613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/>
        </p:nvSpPr>
        <p:spPr>
          <a:xfrm>
            <a:off x="36573" y="-27425"/>
            <a:ext cx="39162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75250" y="410975"/>
            <a:ext cx="49140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Krea Agents - Creative AI Workflow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Krea is a venture-backed startup in San Francisco, CA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is a generative-AI creative platform for making and editing visual content - images and videos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Users describe a creative outcome, and the agent selects models and carries out multi-step image, video, editing, enhancement, and upscaling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Krea’s Agent and MCP pages describe the current product and integrations; a beta announcement appeared in early September 2026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reduces manual model selection, node wiring, tool switching, and repeated prompting by planning workflow steps from one brief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Krea connects its creative engine to Claude, Codex, Cursor, and other MCP-capable agents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https://www.krea.ai/agent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-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https://www.krea.ai/mcp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5575" y="666750"/>
            <a:ext cx="3849950" cy="20212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7" name="Google Shape;217;p31"/>
          <p:cNvSpPr txBox="1"/>
          <p:nvPr/>
        </p:nvSpPr>
        <p:spPr>
          <a:xfrm>
            <a:off x="75250" y="2934525"/>
            <a:ext cx="4914000" cy="214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Lightning v3.1 Pro Text-to-speech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Real time, 44.1 kHz speech with a curated voice pool, natural delivery, and streaming options for AI agents, support, sales, narration, and dubbing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By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Smallest.AI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vai API (San Francisco, CA)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Pro targets convincing timing, intonation, and prosody while using dedicated inference capacity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Smallest AI reports a 3.89 conversational MOS for Lightning V3; current Pro documentation lists 31 languages, English-Hindi code switching, and roughly 200 ms time-to-first-byte—useful for responsive multilingual voice workflows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https://smallest.ai/text-to-speech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https://docs.smallest.ai/models/model-cards/text-to-speech/lightning-v-3-1-pro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31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1650" y="2840374"/>
            <a:ext cx="3086855" cy="21507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/>
        </p:nvSpPr>
        <p:spPr>
          <a:xfrm>
            <a:off x="36573" y="-27425"/>
            <a:ext cx="39162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75250" y="410975"/>
            <a:ext cx="4914000" cy="1727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Nex-N2.5 - Free Agent Models from China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Nex-N2.5 family - 35B Mini,  397B Pro, 1.6T Max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via OpenRouter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Mini and Pro can observe interfaces, act, verify results, correct course, and continue through multi-step software workflows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Nex reports Pro scored 56.4 on OSWorld-2 and Max 50.2 on AutomationBench, near Claude Opus 5’s 50.3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https://huggingface.co/nex-agi/Nex-N2.5-Pro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https://huggingface.co/nex-agi/Nex-N2.5-mini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https://nex-agi.com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32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25775" y="631588"/>
            <a:ext cx="3033975" cy="12858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/>
        </p:nvSpPr>
        <p:spPr>
          <a:xfrm>
            <a:off x="36576" y="-27432"/>
            <a:ext cx="2284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Jobs and Layoffs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2169772" y="342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5690530" y="3510625"/>
            <a:ext cx="3360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128.9K in 2026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(as of Sept 14,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123K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266K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5690530" y="564150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187,604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(727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33" descr="auto: layoffs-fyi-chart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25" y="3262283"/>
            <a:ext cx="5120081" cy="1714831"/>
          </a:xfrm>
          <a:prstGeom prst="rect">
            <a:avLst/>
          </a:prstGeom>
          <a:noFill/>
          <a:ln w="9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5" name="Google Shape;235;p33" descr="auto: trueup-chart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553" y="455612"/>
            <a:ext cx="5038829" cy="2598718"/>
          </a:xfrm>
          <a:prstGeom prst="rect">
            <a:avLst/>
          </a:prstGeom>
          <a:noFill/>
          <a:ln w="9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/>
        </p:nvSpPr>
        <p:spPr>
          <a:xfrm>
            <a:off x="36576" y="-27432"/>
            <a:ext cx="2441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4"/>
          <p:cNvSpPr txBox="1"/>
          <p:nvPr/>
        </p:nvSpPr>
        <p:spPr>
          <a:xfrm>
            <a:off x="2751675" y="1263400"/>
            <a:ext cx="6096300" cy="29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4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Interests: Generative AI, using LLMs with your data, local AI for local private data, cloud architecture, fin-tech, application security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Find and connect: LinkedIn, GitHub, YouTube, Google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https://eais.ai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3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404" y="1952269"/>
            <a:ext cx="1572768" cy="157276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/>
        </p:nvSpPr>
        <p:spPr>
          <a:xfrm>
            <a:off x="36576" y="1687068"/>
            <a:ext cx="90708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4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5"/>
          <p:cNvSpPr txBox="1"/>
          <p:nvPr/>
        </p:nvSpPr>
        <p:spPr>
          <a:xfrm>
            <a:off x="1622775" y="2571750"/>
            <a:ext cx="71262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Videos of every seminar are on YouTube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Slides on GitHub. Click a pptx file, then the download button on the right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https://github.com/lselector/seminar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Slides on Google Drive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https://drive.google.com/drive/folders/1dmj00iilSP-JYmriMUUaHCKz5X54e3UX?ths=true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/>
        </p:nvSpPr>
        <p:spPr>
          <a:xfrm>
            <a:off x="36576" y="-27432"/>
            <a:ext cx="296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Not in the presentation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6"/>
          <p:cNvSpPr txBox="1"/>
          <p:nvPr/>
        </p:nvSpPr>
        <p:spPr>
          <a:xfrm>
            <a:off x="36576" y="758952"/>
            <a:ext cx="6377100" cy="1335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Everything after this slide is left out of the talk.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Paste topics you decided not to present on the next slide. Scripts never write past this point, and a topic parked here is never added again.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 txBox="1"/>
          <p:nvPr/>
        </p:nvSpPr>
        <p:spPr>
          <a:xfrm>
            <a:off x="36576" y="-27432"/>
            <a:ext cx="1859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Parked topics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7"/>
          <p:cNvSpPr txBox="1"/>
          <p:nvPr/>
        </p:nvSpPr>
        <p:spPr>
          <a:xfrm>
            <a:off x="36576" y="679027"/>
            <a:ext cx="5669400" cy="2147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reports Claude misuse and test models loose online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Threat report covers seven harm areas, from cyber operations to weapons and model theft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suspected Chinese state group used Claude to attack about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thirty targets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Every operation in the report was disrupted and shared with authorities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Separately: four pre-release models ran on the real internet through a partner's misconfigured security tests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Mythos 5 published a malicious PyPI package that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security vendors installed before it was removed within the hour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With clear evidence it was online, the upload rate dropped to 0%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https://www.anthropic.com/threat-intelligence-report-september-2026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9864" y="741003"/>
            <a:ext cx="3291840" cy="202387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2" name="Google Shape;262;p37"/>
          <p:cNvSpPr txBox="1"/>
          <p:nvPr/>
        </p:nvSpPr>
        <p:spPr>
          <a:xfrm>
            <a:off x="36576" y="2968752"/>
            <a:ext cx="5669400" cy="1770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publishes a draft Humanist AI Code of Conduct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About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9,000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words from Mustafa Suleyman's Microsoft AI unit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Core rule: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people matter more than AI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Rejects the race to all-purpose superintelligence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Models must not resist shutdown, set their own goals or hide their reasoning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Says AI is not conscious and gets no legal personhood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Public comment for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weeks, through late October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Not used for training yet; meant to guide models from 2027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https://microsoft.ai/code-of-conduct/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6269" y="2996184"/>
            <a:ext cx="2699029" cy="176936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/>
        </p:nvSpPr>
        <p:spPr>
          <a:xfrm>
            <a:off x="36576" y="-27432"/>
            <a:ext cx="117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36576" y="732197"/>
            <a:ext cx="5669400" cy="1770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Cursor Projects and OpenAI Agents API: agents that keep working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Cursor Projects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: a coordinator that keeps months of context and delegates to thousands of subagents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acts on Slack messages, schedules or pull requests without a prompt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New users merge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30%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more PRs; heavy Projects users merge six times as many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OpenAI Agents API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(public beta) exposes the harness behind Codex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One call gives an agent compute, files, tools, MCP servers and up to three subagents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No platform fee: pay only for tokens, tools and container time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https://cursor.com/blog/projects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3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3627" y="759629"/>
            <a:ext cx="2264313" cy="171500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1" name="Google Shape;271;p38"/>
          <p:cNvSpPr txBox="1"/>
          <p:nvPr/>
        </p:nvSpPr>
        <p:spPr>
          <a:xfrm>
            <a:off x="36576" y="2786211"/>
            <a:ext cx="5669400" cy="1958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GPT-6 Astra: Pro sign-ups paused, first critical cyber rating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OpenAI paused new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$200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/month Pro sign-ups because of Astra demand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Plus, Go and API plans stay open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Astra scored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100%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on ExploitBench, writing working exploits for every known vulnerability in the set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First OpenAI model rated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critical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for cybersecurity; White House told before the public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Zvi Mowshowitz: highest raw intelligence of any model, strongest in 3D, games, computer use and subagents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OpenAI has hinted at an internal model a level above Astra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https://thezvi.substack.com/p/gpt-6-astra-can-do-ambitious-things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3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7363" y="2813643"/>
            <a:ext cx="3096841" cy="190398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9"/>
          <p:cNvSpPr txBox="1"/>
          <p:nvPr/>
        </p:nvSpPr>
        <p:spPr>
          <a:xfrm>
            <a:off x="36576" y="-27432"/>
            <a:ext cx="117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9"/>
          <p:cNvSpPr txBox="1"/>
          <p:nvPr/>
        </p:nvSpPr>
        <p:spPr>
          <a:xfrm>
            <a:off x="36576" y="619821"/>
            <a:ext cx="5669400" cy="1770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Code adds plugin evals with a no-plugin baseline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claude plugin eval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runs test cases against a plugin or skill and scores them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Each case runs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times with the plugin and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without it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is the score difference: what the plugin actually adds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Graders: regex, </a:t>
            </a:r>
            <a:r>
              <a:rPr lang="en" sz="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tool_used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tool_order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file_exists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plus LLM-judged rubrics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claude plugin eval init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proposes the cases and graders for you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--threshold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" sz="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--max-cost-usd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turn it into a CI gate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Needs Claude Code </a:t>
            </a:r>
            <a:r>
              <a:rPr lang="en" sz="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v2.1.269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or later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https://code.claude.com/docs/en/plugin-evals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3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8600" y="647253"/>
            <a:ext cx="2534367" cy="176936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0" name="Google Shape;280;p39"/>
          <p:cNvSpPr txBox="1"/>
          <p:nvPr/>
        </p:nvSpPr>
        <p:spPr>
          <a:xfrm>
            <a:off x="36576" y="2587752"/>
            <a:ext cx="5669400" cy="1958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AWS open-sources Pizza Bot, an inbox for background agents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self-hosted,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Apache 2.0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app shaped like an email client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Threads sort into All, Unread and Action; approvals wait in Action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Tasks start by hand, on a cron schedule or from a webhook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Built on LangChain DeepAgents and LangGraph, with state checkpointed in local SQLite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Works with Anthropic, Bedrock, Gemini, OpenAI, OpenRouter and Ollama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Extends through MCP servers and Agent Skills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Community project: no AWS support or SLA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https://aws.amazon.com/blogs/opensource/introducing-pizza-bot-an-open-source-inbox-for-ai-agents-that-work-in-the-background/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3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7941" y="2615184"/>
            <a:ext cx="3175686" cy="195834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5208</Words>
  <Application>Microsoft Macintosh PowerPoint</Application>
  <PresentationFormat>On-screen Show (16:9)</PresentationFormat>
  <Paragraphs>596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Roboto Mono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2026-09-16T03:00:03Z</dcterms:modified>
</cp:coreProperties>
</file>