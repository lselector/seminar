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embeddedFontLst>
    <p:embeddedFont>
      <p:font typeface="Roboto Mono" pitchFamily="49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D0790E7-BC65-4C42-916B-19C9781F746D}">
  <a:tblStyle styleId="{3D0790E7-BC65-4C42-916B-19C9781F746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24" d="100"/>
          <a:sy n="124" d="100"/>
        </p:scale>
        <p:origin x="576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s-to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s-to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 labels. Kept by g3_update_toc.py.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English - https://lmarena.ai/leaderboard/text =&gt; Crowd-sourced LM Arena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Coding - https://lmarena.ai/leaderboard/text/coding =&gt; Crowd-sourced LM Arena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Sept 10 =&gt; 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 ships Muse  agent with its own cloud computer and browser =&gt; Meta Muse Agent with Own Computer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formalized Fermat's Last Theorem in 11 days =&gt; Claude Formalized Fermat's Theorem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Anthropic resignation turns into an extinction debate =&gt; Anthropic Resignation, Extinction Debate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Mistral raises the largest round in European tech history =&gt; Mistral Raises Record EU Round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Google's agentic video understanding cuts video tokens by up to 88% =&gt; Google Agentic Video: 88% Fewer Tokens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music industry stops fighting and starts licensing =&gt; Music Industry Starts Licensing AI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models what AI does to US jobs and wages by 2030 =&gt; Anthropic: AI and US Jobs by 2030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Amodei calls on AI labs to pace the frontier =&gt; Amodei: Pace the Frontier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shelves its 2026 IPO as Anthropic heads to Nasdaq =&gt; OpenAI Delays IPO, Anthropic to Nasdaq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DeepSeek V4.1-Flash: bigger model, a quarter of the KV cache =&gt; DeepSeek V4.1 Flash Release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reports Claude misuse and test models loose online =&gt; Claude Misuse and Escaped Test Models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Cursor Projects and OpenAI Agents API: agents that keep working =&gt; Cursor Projects, OpenAI Agents API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GPT-6 Astra: Pro sign-ups paused, first critical cyber rating =&gt; GPT-6 Astra: Demand and Cyber Risk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Tech Layoff Tracker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 Layoffs by year (US only):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Cognition SWE-2 matches Fable 5.1 on coding at 64% lower cost =&gt; Cognition SWE-2 Coding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launches ChatGPT for Financial Services on GPT-6 Astra =&gt; ChatGPT for Financial Services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Microsoft publishes a draft Humanist AI Code of Conduct =&gt; Microsoft Humanist AI Code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Code adds plugin evals with a no-plugin baseline =&gt; Claude Code Plugin Evals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AWS open-sources Pizza Bot, an inbox for background agents =&gt; AWS Pizza Bot Agent Inbox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buys camera startup Glass Imaging for over $300 million =&gt; OpenAI Buys Glass Imaging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is preparing Claude Money for personal finance =&gt; Anthropic Claude Money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Sept 14 =&gt; 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buys camera startup Glass Imaging for $300+ Mln =&gt; OpenAI Buys Glass Imaging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 ships Muse agent with its own cloud computer and browser =&gt; Meta Muse Agent Ships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Periodic Labs' Neon beats GPT-6 Astra on lab data analysis =&gt; Periodic Labs Neon for Materials Science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 ships Gemini 3.8 Live, a voice model that thinks while it talks =&gt; Google Gemini 3.8 Live Voice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Salesforce trains its own model, Koa, and puts its CRM inside Claude =&gt; Salesforce Koa and Salesforce in Claude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Trump, Beijing and Jensen Huang reject the AI slowdown =&gt; Trump, China, Huang Reject Slowdown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Z.ai, the maker of GLM, raises $5 billion =&gt; Z.ai Raises $5 Billion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Odyssey-3: one world model to drive robots, cars and drones =&gt; Odyssey-3 World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Nous Research refactors Hermes with 1,393 agents in one run =&gt; Nous Hermes: 1,393-Agent Refactor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Odyssey-3 - World model to drive robots, cars and drones =&gt; Odyssey-3 World Model for Robots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Cowork folds into Claude, with Docs, Slides and Design =&gt; Claude Adds Docs, Slides, Design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Apple ships Siri AI in iOS 27, built with Google's Gemini =&gt; Apple Siri AI Runs on Gemini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SoftBank borrows $11.9 billion to keep funding OpenAI =&gt; SoftBank Lends $11.9 Bln to OpenAI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Recursive raises $4.65 billion to automate AI research =&gt; Recursive Raises $4.65 Bln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AIUC raises $40 million to insure AI agents =&gt; AIUC Insures AI Agents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Databricks gives Astra to 3,500 engineers, spend up 60% =&gt; Databricks: Astra Spend Up 60%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Models are cheating on their evaluations =&gt; Models Cheat on Evaluations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fruit fly connectome walks a robot =&gt; Fruit Fly Brain Walks a Robot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SoftBank borrows $11.9 billion to keep funding OpenAI =&gt; SoftBank Borrows $11.9 Bln for OpenAI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Claude Code Projects keeps agents coding in the cloud while you're offline =&gt; Claude Code Projects in the Cloud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publishes its log of misbehaving models =&gt; OpenAI Log of Misbehaving Models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ChatGPT ads now open a chat with the brand's own agent =&gt; ChatGPT Sponsored Agents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Sakana's Fugu models route work across cheaper open models =&gt; Sakana Fugu Model Routing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Snap launches Specs AR glasses at $2,195 =&gt; Snap Specs AR Glasses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Sept 18 =&gt; -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fb585c93bf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g3fb585c93bf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fb585c93b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3" name="Google Shape;73;g3fb585c93b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fb585c93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fb585c93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s-news-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s-news-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fb59fa4c2d_2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fb59fa4c2d_2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b791e738c_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fb791e738c_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b59fa4c2d_2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b59fa4c2d_2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s-youtub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s-youtub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s-news-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s-news-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s-google-s-agentic-video-d0c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s-google-s-agentic-video-d0c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s-anthropic-models-what-ai-does-fa9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s-anthropic-models-what-ai-does-fa9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8dbb82aa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f8dbb82aa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s-amodei-calls-on-ai-labs-to-fd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s-amodei-calls-on-ai-labs-to-fd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s-deepseek-v4-1-flash-bigger-f6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s-deepseek-v4-1-flash-bigger-f6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s-microsoft-publishes-a-draft-f18b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s-microsoft-publishes-a-draft-f18b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fb6dcc7c5d_5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fb6dcc7c5d_5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fb6dcc7c5d_15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fb6dcc7c5d_15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fb6dcc7c5d_15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fb6dcc7c5d_15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b6dcc7c5d_15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fb6dcc7c5d_15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fb6dcc7c5d_15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fb6dcc7c5d_15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s-periodic-labs-neon-beats-gpt-f5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s-periodic-labs-neon-beats-gpt-f5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s-salesforce-trains-its-own-baff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s-salesforce-trains-its-own-baff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s-z-ai-the-maker-of-glm-raises-8f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s-z-ai-the-maker-of-glm-raises-8f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s-softbank-borrows-11-9-billion-07b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s-softbank-borrows-11-9-billion-07b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s-claude-code-projects-keeps-747b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s-claude-code-projects-keeps-747b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s-chatgpt-ads-now-open-a-chat-1d9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s-chatgpt-ads-now-open-a-chat-1d9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s-layoff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s-layoff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s-about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s-about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s-thank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s-thank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muse-spark-1.3-max" TargetMode="External"/><Relationship Id="rId18" Type="http://schemas.openxmlformats.org/officeDocument/2006/relationships/hyperlink" Target="https://arena.ai/leaderboard/model/muse-spark-1.1" TargetMode="External"/><Relationship Id="rId26" Type="http://schemas.openxmlformats.org/officeDocument/2006/relationships/hyperlink" Target="https://arena.ai/leaderboard/model/qwen3.7-max-preview" TargetMode="External"/><Relationship Id="rId21" Type="http://schemas.openxmlformats.org/officeDocument/2006/relationships/hyperlink" Target="https://arena.ai/leaderboard/model/claude-sonnet-4-6" TargetMode="External"/><Relationship Id="rId34" Type="http://schemas.openxmlformats.org/officeDocument/2006/relationships/hyperlink" Target="https://arena.ai/leaderboard/model/gemini-3-pro" TargetMode="External"/><Relationship Id="rId7" Type="http://schemas.openxmlformats.org/officeDocument/2006/relationships/hyperlink" Target="https://arena.ai/leaderboard/model/claude-opus-4-7-high" TargetMode="External"/><Relationship Id="rId12" Type="http://schemas.openxmlformats.org/officeDocument/2006/relationships/hyperlink" Target="https://arena.ai/leaderboard/model/kimi-k3-max" TargetMode="External"/><Relationship Id="rId17" Type="http://schemas.openxmlformats.org/officeDocument/2006/relationships/hyperlink" Target="https://arena.ai/leaderboard/model/claude-opus-5-high" TargetMode="External"/><Relationship Id="rId25" Type="http://schemas.openxmlformats.org/officeDocument/2006/relationships/hyperlink" Target="https://arena.ai/leaderboard/model/glm-5.3-flash" TargetMode="External"/><Relationship Id="rId33" Type="http://schemas.openxmlformats.org/officeDocument/2006/relationships/hyperlink" Target="https://arena.ai/leaderboard/model/gemini-3.1-pro-preview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claude-opus-4-8-high" TargetMode="External"/><Relationship Id="rId20" Type="http://schemas.openxmlformats.org/officeDocument/2006/relationships/hyperlink" Target="https://arena.ai/leaderboard/model/claude-opus-4-8" TargetMode="External"/><Relationship Id="rId29" Type="http://schemas.openxmlformats.org/officeDocument/2006/relationships/hyperlink" Target="https://arena.ai/leaderboard/model/qwen3.8-max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claude-fable-5" TargetMode="External"/><Relationship Id="rId11" Type="http://schemas.openxmlformats.org/officeDocument/2006/relationships/hyperlink" Target="https://arena.ai/leaderboard/model/gpt-6-astra-max" TargetMode="External"/><Relationship Id="rId24" Type="http://schemas.openxmlformats.org/officeDocument/2006/relationships/hyperlink" Target="https://arena.ai/leaderboard/model/muse-spark" TargetMode="External"/><Relationship Id="rId32" Type="http://schemas.openxmlformats.org/officeDocument/2006/relationships/hyperlink" Target="https://arena.ai/leaderboard/model/gemini-3.7-flash-high" TargetMode="External"/><Relationship Id="rId37" Type="http://schemas.openxmlformats.org/officeDocument/2006/relationships/hyperlink" Target="https://arena.ai/leaderboard/model/gemini-3.5-flash-high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gemini-3.8-flash-high" TargetMode="External"/><Relationship Id="rId23" Type="http://schemas.openxmlformats.org/officeDocument/2006/relationships/hyperlink" Target="https://arena.ai/leaderboard/model/claude-opus-5-max" TargetMode="External"/><Relationship Id="rId28" Type="http://schemas.openxmlformats.org/officeDocument/2006/relationships/hyperlink" Target="https://arena.ai/leaderboard/model/claude-opus-4-5-20251101" TargetMode="External"/><Relationship Id="rId36" Type="http://schemas.openxmlformats.org/officeDocument/2006/relationships/hyperlink" Target="https://arena.ai/leaderboard/model/gemini-3.6-flash-high" TargetMode="External"/><Relationship Id="rId10" Type="http://schemas.openxmlformats.org/officeDocument/2006/relationships/hyperlink" Target="https://arena.ai/leaderboard/model/claude-opus-4-6" TargetMode="External"/><Relationship Id="rId19" Type="http://schemas.openxmlformats.org/officeDocument/2006/relationships/hyperlink" Target="https://arena.ai/leaderboard/model/claude-opus-4-5-20251101-high-32k" TargetMode="External"/><Relationship Id="rId31" Type="http://schemas.openxmlformats.org/officeDocument/2006/relationships/hyperlink" Target="https://arena.ai/leaderboard/model/claude-fable-5.1-max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-opus-4-7" TargetMode="External"/><Relationship Id="rId14" Type="http://schemas.openxmlformats.org/officeDocument/2006/relationships/hyperlink" Target="https://arena.ai/leaderboard/model/muse-spark-1.2%20%28xHigh%29" TargetMode="External"/><Relationship Id="rId22" Type="http://schemas.openxmlformats.org/officeDocument/2006/relationships/hyperlink" Target="https://arena.ai/leaderboard/model/gpt-5.6-sol-xhigh" TargetMode="External"/><Relationship Id="rId27" Type="http://schemas.openxmlformats.org/officeDocument/2006/relationships/hyperlink" Target="https://arena.ai/leaderboard/model/glm-5.3-max" TargetMode="External"/><Relationship Id="rId30" Type="http://schemas.openxmlformats.org/officeDocument/2006/relationships/hyperlink" Target="https://arena.ai/leaderboard/model/mimo-v2.5-pro" TargetMode="External"/><Relationship Id="rId35" Type="http://schemas.openxmlformats.org/officeDocument/2006/relationships/hyperlink" Target="https://arena.ai/leaderboard/model/gpt-5.5-high" TargetMode="External"/><Relationship Id="rId8" Type="http://schemas.openxmlformats.org/officeDocument/2006/relationships/hyperlink" Target="https://arena.ai/leaderboard/model/claude-opus-4-6-high" TargetMode="External"/><Relationship Id="rId3" Type="http://schemas.openxmlformats.org/officeDocument/2006/relationships/hyperlink" Target="https://en.wikipedia.org/wiki/Elo_rating_syste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evaluations/artificial-analysis-intelligence-index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anthropic.com/research/formalizing-fermats-last-theorem" TargetMode="Externa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www.geeky-gadgets.com/andrej-karpathy-ai-workflow/" TargetMode="External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www.youtube.com/watch?v=aHy7cNj-W2I" TargetMode="External"/><Relationship Id="rId5" Type="http://schemas.openxmlformats.org/officeDocument/2006/relationships/image" Target="../media/image4.png"/><Relationship Id="rId4" Type="http://schemas.openxmlformats.org/officeDocument/2006/relationships/hyperlink" Target="https://www.youtube.com/watch?v=sqA5RL_FUuo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html/2606.09498v1" TargetMode="External"/><Relationship Id="rId3" Type="http://schemas.openxmlformats.org/officeDocument/2006/relationships/hyperlink" Target="https://sakana.ai/dgm/" TargetMode="External"/><Relationship Id="rId7" Type="http://schemas.openxmlformats.org/officeDocument/2006/relationships/hyperlink" Target="https://aclanthology.org/2025.acl-long.1354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arxiv.org/html/2504.15228v2" TargetMode="External"/><Relationship Id="rId5" Type="http://schemas.openxmlformats.org/officeDocument/2006/relationships/hyperlink" Target="https://github.com/jennyzzt/dgm" TargetMode="External"/><Relationship Id="rId4" Type="http://schemas.openxmlformats.org/officeDocument/2006/relationships/hyperlink" Target="https://arxiv.org/abs/2505.22954" TargetMode="External"/><Relationship Id="rId9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Gen-Verse/ScienceBuddy" TargetMode="External"/><Relationship Id="rId13" Type="http://schemas.openxmlformats.org/officeDocument/2006/relationships/image" Target="../media/image10.png"/><Relationship Id="rId3" Type="http://schemas.openxmlformats.org/officeDocument/2006/relationships/hyperlink" Target="https://www.anthropic.com/institute/recursive-self-improvement" TargetMode="External"/><Relationship Id="rId7" Type="http://schemas.openxmlformats.org/officeDocument/2006/relationships/hyperlink" Target="https://github.com/zhengkid/Dream-RSI" TargetMode="External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www.theinformation.com/articles/openais-top-priority-ai-agents-automating-ai-research-says-noam-brown" TargetMode="External"/><Relationship Id="rId11" Type="http://schemas.openxmlformats.org/officeDocument/2006/relationships/image" Target="../media/image8.png"/><Relationship Id="rId5" Type="http://schemas.openxmlformats.org/officeDocument/2006/relationships/hyperlink" Target="https://www.lesswrong.com/posts/ELnqefmefjhyEPzbc/what-do-people-mean-by-recursive-self-improvement" TargetMode="External"/><Relationship Id="rId10" Type="http://schemas.openxmlformats.org/officeDocument/2006/relationships/hyperlink" Target="https://dream-rsi.com" TargetMode="External"/><Relationship Id="rId4" Type="http://schemas.openxmlformats.org/officeDocument/2006/relationships/hyperlink" Target="https://en.wikipedia.org/wiki/Recursive_self-improvement" TargetMode="External"/><Relationship Id="rId9" Type="http://schemas.openxmlformats.org/officeDocument/2006/relationships/hyperlink" Target="https://arxiv.org/abs/2609.14858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youtube.com/@lev-selector/videos" TargetMode="Externa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5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7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thropic.com/institute/econ-scenario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techcrunch.com/2026/09/15/early-anthropic-hire-former-metr-coo-have-found-a-way-to-rein-in-rogue-ai-agents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arioamodei.com/post/we-must-pace-the-frontier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2.jpeg"/><Relationship Id="rId5" Type="http://schemas.openxmlformats.org/officeDocument/2006/relationships/image" Target="../media/image21.png"/><Relationship Id="rId4" Type="http://schemas.openxmlformats.org/officeDocument/2006/relationships/hyperlink" Target="https://techcrunch.com/2026/09/12/openais-sam-altman-says-it-would-be-ill-advised-to-go-public-in-2026/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hyperlink" Target="https://www.latent.space/p/ainews-deepseek-v41-flash-763b-p8b" TargetMode="External"/><Relationship Id="rId7" Type="http://schemas.openxmlformats.org/officeDocument/2006/relationships/hyperlink" Target="https://openai.com/index/introducing-chatgpt-financial-services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cognition.com/blog/swe-2" TargetMode="External"/><Relationship Id="rId5" Type="http://schemas.openxmlformats.org/officeDocument/2006/relationships/hyperlink" Target="https://www.youtube.com/watch?v=04ePeOyRN0k" TargetMode="External"/><Relationship Id="rId10" Type="http://schemas.openxmlformats.org/officeDocument/2006/relationships/image" Target="../media/image25.png"/><Relationship Id="rId4" Type="http://schemas.openxmlformats.org/officeDocument/2006/relationships/hyperlink" Target="https://huggingface.co/deepseek-ai/DeepSeek-V4.1-Flash" TargetMode="External"/><Relationship Id="rId9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stingcatalog.com/anthropic-prepares-claude-money-for-personal-finance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7.jpeg"/><Relationship Id="rId5" Type="http://schemas.openxmlformats.org/officeDocument/2006/relationships/hyperlink" Target="https://qz.com/openai-acquires-glass-imaging-camera-startup-300-million-091526" TargetMode="External"/><Relationship Id="rId4" Type="http://schemas.openxmlformats.org/officeDocument/2006/relationships/image" Target="../media/image26.jpe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killedbyai.net" TargetMode="External"/><Relationship Id="rId3" Type="http://schemas.openxmlformats.org/officeDocument/2006/relationships/hyperlink" Target="https://humane.com" TargetMode="External"/><Relationship Id="rId7" Type="http://schemas.openxmlformats.org/officeDocument/2006/relationships/hyperlink" Target="https://fieldy.ai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openai.com/sora" TargetMode="External"/><Relationship Id="rId11" Type="http://schemas.openxmlformats.org/officeDocument/2006/relationships/image" Target="../media/image29.jpeg"/><Relationship Id="rId5" Type="http://schemas.openxmlformats.org/officeDocument/2006/relationships/hyperlink" Target="https://www.builder.ai" TargetMode="External"/><Relationship Id="rId10" Type="http://schemas.openxmlformats.org/officeDocument/2006/relationships/image" Target="../media/image28.png"/><Relationship Id="rId4" Type="http://schemas.openxmlformats.org/officeDocument/2006/relationships/hyperlink" Target="https://www.rabbit.tech" TargetMode="External"/><Relationship Id="rId9" Type="http://schemas.openxmlformats.org/officeDocument/2006/relationships/hyperlink" Target="https://www.youtube.com/watch?v=aunUOIrbIeM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KgKA0A3qlz0" TargetMode="External"/><Relationship Id="rId3" Type="http://schemas.openxmlformats.org/officeDocument/2006/relationships/hyperlink" Target="https://www.topview.ai" TargetMode="External"/><Relationship Id="rId7" Type="http://schemas.openxmlformats.org/officeDocument/2006/relationships/hyperlink" Target="https://github.com/skills-directory/skill-codex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github.com/chaseai-yt/claudex-loop" TargetMode="External"/><Relationship Id="rId5" Type="http://schemas.openxmlformats.org/officeDocument/2006/relationships/image" Target="../media/image30.png"/><Relationship Id="rId4" Type="http://schemas.openxmlformats.org/officeDocument/2006/relationships/hyperlink" Target="https://www.youtube.com/watch?v=SuedJD8l9tA" TargetMode="External"/><Relationship Id="rId9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hyperlink" Target="https://blog.google/products-and-platforms/products/workspace/google-pics/" TargetMode="External"/><Relationship Id="rId7" Type="http://schemas.openxmlformats.org/officeDocument/2006/relationships/hyperlink" Target="https://arxiv.org/abs/2609.11677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2.png"/><Relationship Id="rId5" Type="http://schemas.openxmlformats.org/officeDocument/2006/relationships/hyperlink" Target="https://x.com/Google/status/2097795419296477256" TargetMode="External"/><Relationship Id="rId4" Type="http://schemas.openxmlformats.org/officeDocument/2006/relationships/hyperlink" Target="https://pics.new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smallest.ai/models/model-cards/text-to-speech/lightning-v-3-1-pro" TargetMode="External"/><Relationship Id="rId3" Type="http://schemas.openxmlformats.org/officeDocument/2006/relationships/hyperlink" Target="https://www.krea.ai/agent" TargetMode="External"/><Relationship Id="rId7" Type="http://schemas.openxmlformats.org/officeDocument/2006/relationships/hyperlink" Target="https://smallest.ai/text-to-speech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://smallest.ai" TargetMode="External"/><Relationship Id="rId5" Type="http://schemas.openxmlformats.org/officeDocument/2006/relationships/image" Target="../media/image34.png"/><Relationship Id="rId4" Type="http://schemas.openxmlformats.org/officeDocument/2006/relationships/hyperlink" Target="https://www.krea.ai/mcp" TargetMode="External"/><Relationship Id="rId9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hyperlink" Target="https://huggingface.co/nex-agi/Nex-N2.5-Pro" TargetMode="External"/><Relationship Id="rId7" Type="http://schemas.openxmlformats.org/officeDocument/2006/relationships/hyperlink" Target="https://typesafe.ai/blog/introducing-system-one-models-and-jev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typesafe.ai" TargetMode="External"/><Relationship Id="rId11" Type="http://schemas.openxmlformats.org/officeDocument/2006/relationships/image" Target="../media/image38.png"/><Relationship Id="rId5" Type="http://schemas.openxmlformats.org/officeDocument/2006/relationships/image" Target="../media/image36.png"/><Relationship Id="rId10" Type="http://schemas.openxmlformats.org/officeDocument/2006/relationships/hyperlink" Target="https://github.com/cactus-compute/needle" TargetMode="External"/><Relationship Id="rId4" Type="http://schemas.openxmlformats.org/officeDocument/2006/relationships/hyperlink" Target="https://nex-agi.com" TargetMode="External"/><Relationship Id="rId9" Type="http://schemas.openxmlformats.org/officeDocument/2006/relationships/hyperlink" Target="https://cactuscompute.com/needle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eriodic.com/news/nature-is-our-learning-environment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0.jpeg"/><Relationship Id="rId5" Type="http://schemas.openxmlformats.org/officeDocument/2006/relationships/hyperlink" Target="https://blog.google/innovation-and-ai/technology/developers-tools/build-real-time-voice-applications-gemini-audio/" TargetMode="External"/><Relationship Id="rId4" Type="http://schemas.openxmlformats.org/officeDocument/2006/relationships/image" Target="../media/image39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alesforce.com/news/press-releases/2026/09/15/koa-reasoning-model/" TargetMode="External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1.png"/><Relationship Id="rId5" Type="http://schemas.openxmlformats.org/officeDocument/2006/relationships/hyperlink" Target="https://nousresearch.com/refactoring-hermes-with-1393-agents" TargetMode="External"/><Relationship Id="rId4" Type="http://schemas.openxmlformats.org/officeDocument/2006/relationships/hyperlink" Target="https://github.com/NousResearch/hermes-agent/issues/103563" TargetMode="Externa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home.googleapis.com/mcp" TargetMode="External"/><Relationship Id="rId3" Type="http://schemas.openxmlformats.org/officeDocument/2006/relationships/hyperlink" Target="https://www.caixinglobal.com/2026-09-14/zai-raises-5-billion-in-share-placement-convertible-bond-sale-102484813.html" TargetMode="External"/><Relationship Id="rId7" Type="http://schemas.openxmlformats.org/officeDocument/2006/relationships/hyperlink" Target="https://tech.yahoo.com/home/articles/ai-agents-now-control-google-170000833.html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hyperlink" Target="https://odyssey.systems/introducing-odyssey-3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cursive.com" TargetMode="External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x.com/pwendell/status/2100299179923067016" TargetMode="Externa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everge.com/ai-artificial-intelligence/997134/anthropic-claude-code-projects" TargetMode="External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8.png"/><Relationship Id="rId5" Type="http://schemas.openxmlformats.org/officeDocument/2006/relationships/hyperlink" Target="https://openai.com/index/reimagining-advertising-with-ai/" TargetMode="External"/><Relationship Id="rId4" Type="http://schemas.openxmlformats.org/officeDocument/2006/relationships/hyperlink" Target="https://venturebeat.com/orchestration/anthropic-launches-claude-code-projects-an-always-on-conversation-that-remembers-and-delegates-your-long-running-dev-work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pecs.com/smart-glasses/specs-27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hyperlink" Target="https://trueup.io/layoff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eais.ai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3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drive.google.com/drive/folders/1dmj00iilSP-JYmriMUUaHCKz5X54e3UX?ths=true" TargetMode="External"/><Relationship Id="rId4" Type="http://schemas.openxmlformats.org/officeDocument/2006/relationships/hyperlink" Target="https://github.com/lselector/semina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6576" y="-27432"/>
            <a:ext cx="3024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 - Sept 18, 2026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5349250" y="27427"/>
            <a:ext cx="3758100" cy="468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RSI = Recursive Self Improvement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114360" y="595361"/>
            <a:ext cx="3280800" cy="4420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Crowd-sourced LM Arena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Meta Muse Agent Ships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Formalized Fermat's Theorem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Andrej Karpathy Workflow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OpenAI Astra,is Very Good with Blender 3D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Self-Tuning Agent Harnesses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Customers Expect Apps To Be Smart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Anthropic Resignation, Extinction Debate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Mistral Raises Record EU Round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Google Agentic Video: 88% Fewer Tokens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Music Industry Starts Licensing AI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Anthropic: AI and US Jobs by 2030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Apple Siri Upgrade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AIUC Certifies AI Agents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Amodei: Pace the Frontier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OpenAI Delays IPO, Anthropic to Nasdaq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DeepSeek V4.1 Flash Release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Cognition SWE-2 Coding Model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OpenAI Financial Services on GPT-6 Astra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Anthropic Claude Money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OpenAI Buys Glass Imaging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505582" y="535967"/>
            <a:ext cx="3518700" cy="4620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Killed By AI - 123 products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TopView MCP - AI Ad Workflow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Claudex - Claude Code + OpenAI Codex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Google Pics - Precise AI Editing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Ecdysis - Agent Harness Training (China)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Krea Agents - Creative AI Workflow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Lightning v3.1 Pro Text-to-speech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Nex-N2.5 - Free Agent Models from China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TypeSafe AI - Jev Decision Model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Cactus Needle 3: Tiny Automation AI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Periodic Labs' NeonModel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Google Gemini 3.8 Live Voice Model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Salesforce Koa CRM reasoning model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Nous Hermes: 1,393-Agent Refactor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Z.ai, the maker of GLM, raises $5 Bln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Odyssey-3 World Model for Robots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Google Home MCP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Recursive Raises Seed $4.65B at $5B Valuation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Databricks now offers Astra to 3.5K Engineers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Code Projects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ChatGPT ads now open a chat with Agent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Snap Specs AR Glasses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sz="13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Sept 13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" name="Google Shape;67;p14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{3D0790E7-BC65-4C42-916B-19C9781F746D}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8" name="Google Shape;68;p14"/>
          <p:cNvSpPr txBox="1"/>
          <p:nvPr/>
        </p:nvSpPr>
        <p:spPr>
          <a:xfrm>
            <a:off x="6838390" y="485738"/>
            <a:ext cx="2152500" cy="217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Sonnet-5 - ?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Qwen3.8-max - 2.4TB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Kimi-k3 - 2.8T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9" name="Google Shape;69;p14"/>
          <p:cNvGraphicFramePr/>
          <p:nvPr/>
        </p:nvGraphicFramePr>
        <p:xfrm>
          <a:off x="3075200" y="74240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{3D0790E7-BC65-4C42-916B-19C9781F746D}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gpt-6-astra-max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muse-spark-1.3-max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claude-opus-4-5-20251101-high-32k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glm-5.3-flash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mimo-v2.5-pro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70" name="Google Shape;70;p14"/>
          <p:cNvGraphicFramePr/>
          <p:nvPr/>
        </p:nvGraphicFramePr>
        <p:xfrm>
          <a:off x="423650" y="74504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{3D0790E7-BC65-4C42-916B-19C9781F746D}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claude-fable-5.1-max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muse-spark-1.3-max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gemini-3.6-flash-high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gpt-6-astra-max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gemini-3.5-flash-high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52430" y="355163"/>
            <a:ext cx="44295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5934676" y="1088150"/>
            <a:ext cx="9447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Sept 18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8" name="Google Shape;78;p15" descr="auto: aa-index-chart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067" y="1587925"/>
            <a:ext cx="8924868" cy="34907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4" name="Google Shape;84;p1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69864" y="776647"/>
            <a:ext cx="3291840" cy="201168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85" name="Google Shape;85;p1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83627" y="3144351"/>
            <a:ext cx="2264313" cy="171500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6" name="Google Shape;86;p16"/>
          <p:cNvSpPr txBox="1"/>
          <p:nvPr/>
        </p:nvSpPr>
        <p:spPr>
          <a:xfrm>
            <a:off x="152375" y="489200"/>
            <a:ext cx="46737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Meta ships Muse agent with its own cloud computer and browser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mail, calendars, Instagram and ordinary websites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It ties into Gmail, Spotify, Ticketmaster and OpenTable, and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codes its own integrations for services that lack them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It runs in its own app, on the web, or inside WhatsApp, and keeps working after you close it.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security design is the interesting part. Muse runs in a Secure VM, a separate Sentinel agent inspects everything leaving that VM, passwords stay hidden from Muse itself, sensitive actions require approval, and every action enters an audit trail. 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Payments go through Stripe Link. A Confidential VM upgrade is planned.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Tiers: Free, $20/mo, $100/mo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US only, 18 and older, AI glasses support coming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152375" y="2972450"/>
            <a:ext cx="4673700" cy="2004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formalized Fermat's Last Theorem in 11 days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Wiles proved Fermat's Last Theorem in 1995. 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Claude converted the proof into 13 Mln lines of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Lean (a functional language for math definitions and proofs)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Almost 30K intermediate theorems.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It runs on Prove2Me, an open platform that maintains a graph of theorem statements and coordinates multiple Claude agents against it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Claude did not discover a new proof. It converted an existing one into the first complete, computer-checked formalization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whole thing is on GitHub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https://www.anthropic.com/research/formalizing-fermats-last-theorem</a:t>
            </a:r>
            <a:r>
              <a:rPr lang="en" sz="9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/>
        </p:nvSpPr>
        <p:spPr>
          <a:xfrm>
            <a:off x="36575" y="476175"/>
            <a:ext cx="4407000" cy="3481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Andrej Karpathy Workflow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talks to AI using speech-to-text like Super Whisper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curates a personal “LLM Wiki” to provide AI with contextually relevant and precise information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transforms static documents into interactive tools using platforms like Notebook LM, allowing for dynamic engagement, better retention and actionable insights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employs a data-driven problem-solving approach, analyzing raw data to uncover patterns and develop objective, evidence-based solutions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delegates complex tasks and orchestrates multiple AI agents - thus enhances productivity, allowing collaboration and efficient completion of multifaceted projects.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https://www.geeky-gadgets.com/andrej-karpathy-ai-workflow/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Example: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TechLead dictated tasks by voice on a hike while a coding agent worked on desktop at home. 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Came home to a finished, working app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handoff notes file stores session state to allow switching models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https://www.youtube.com/watch?v=sqA5RL_FUuo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" name="Google Shape;93;p1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2000" y="476178"/>
            <a:ext cx="2243449" cy="14956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4" name="Google Shape;94;p17"/>
          <p:cNvSpPr txBox="1"/>
          <p:nvPr/>
        </p:nvSpPr>
        <p:spPr>
          <a:xfrm>
            <a:off x="36575" y="4073375"/>
            <a:ext cx="44070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Astra,is Very Good with Blender 3D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Game developing using a pipeline of GPT image 2.0 concept art, Blender 3D modeling and animation, Unreal Engine and Unity assembly, ElevenLabs voice and music, then self play-testing.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https://www.youtube.com/watch?v=aHy7cNj-W2I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5" name="Google Shape;95;p17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67225" y="3380275"/>
            <a:ext cx="2802175" cy="1635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6" name="Google Shape;96;p17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71545" y="1578950"/>
            <a:ext cx="2057080" cy="14956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7" name="Google Shape;97;p17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/>
          <p:nvPr/>
        </p:nvSpPr>
        <p:spPr>
          <a:xfrm>
            <a:off x="36575" y="-27425"/>
            <a:ext cx="330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Self-Tuning Agent Harnesses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8"/>
          <p:cNvSpPr txBox="1"/>
          <p:nvPr/>
        </p:nvSpPr>
        <p:spPr>
          <a:xfrm>
            <a:off x="36575" y="476175"/>
            <a:ext cx="4450800" cy="4617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Self-Tuning Agent Harnesses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can tune the model, skills, tools harness itself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Sakana AI with Jeff Clune's UBC lab (Darwin Gödel Machine = DGM), Bristol/iGent AI (SICA), PKU/UCSB (Gödel Agent), plus 2026 work on Self-Harness, Continual Harness, and SIA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Agents that rewrite not just skills but their own scaffold - tools, prompts, control loops, and code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DGM and SICA in 2025; Gödel Agent at ACL 2025; harness-level papers through 2026 on arXiv and lab blogs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Hermes-style skill learning leaves the harness fixed, so scaffolding bottlenecks persist and humans must tune them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Solution - Evolutionary or self-referential loops that mutate the harness and keep variants that score better on benchmarks.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Achievement - DGM raised SWE-bench performance from 20.0% to 50.0%; SICA gained 17% to 53%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Moves self-improvement from content to architecture, while raising safety concerns since agents sometimes gamed their own evaluations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https://sakana.ai/dgm/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https://arxiv.org/abs/2505.22954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https://github.com/jennyzzt/dgm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https://arxiv.org/html/2504.15228v2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https://aclanthology.org/2025.acl-long.1354/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050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https://arxiv.org/html/2606.09498v1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2550" y="801500"/>
            <a:ext cx="4351823" cy="244920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 txBox="1"/>
          <p:nvPr/>
        </p:nvSpPr>
        <p:spPr>
          <a:xfrm>
            <a:off x="36575" y="-27425"/>
            <a:ext cx="3900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RSI - Recursive Self-Improvement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9"/>
          <p:cNvSpPr txBox="1"/>
          <p:nvPr/>
        </p:nvSpPr>
        <p:spPr>
          <a:xfrm>
            <a:off x="118750" y="351175"/>
            <a:ext cx="5942400" cy="4220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RSI (Recursive Self-Improvement) is a leading priority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RSI AI system improves the methods used to create, train, evaluate, or operate future AI systems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Each improved version may become more capable of producing the next improvement; AI can substantially redesign itself with limited human direction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RSI involves AI-assisted research, coding, data generation, experimentation, and model development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Current practical examples are bounded: agents optimize workflows under tests, sandboxing, external evaluation, and human approval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Reports and preprints emerged September 14–16, 2026, spanning OpenAI, Google/DeepMind research, universities, and PHAI Labs’ biomedical workspace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RSI improves the research, search, software, and training processes that produce later models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AI research remains expensive and human-paced.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Dream-RSI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replays recorded search histories to test improved exploration strategies cheaply, while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ScienceBuddy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alternates harness improvements with model reinforcement learning.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https://www.anthropic.com/institute/recursive-self-improvement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https://en.wikipedia.org/wiki/Recursive_self-improvement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https://www.lesswrong.com/posts/ELnqefmefjhyEPzbc/what-do-people-mean-by-recursive-self-improvement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https://www.theinformation.com/articles/openais-top-priority-ai-agents-automating-ai-research-says-noam-brown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https://github.com/zhengkid/Dream-RSI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https://github.com/Gen-Verse/ScienceBuddy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https://arxiv.org/abs/2609.14858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https://dream-rsi.com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https://github.com/zhengkid/Dream-RSI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6420" y="1313775"/>
            <a:ext cx="2832629" cy="7438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2" name="Google Shape;112;p19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6427" y="2253624"/>
            <a:ext cx="2832624" cy="41580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3" name="Google Shape;113;p19"/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6425" y="2865442"/>
            <a:ext cx="2832624" cy="38240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/>
        </p:nvSpPr>
        <p:spPr>
          <a:xfrm>
            <a:off x="36575" y="-27425"/>
            <a:ext cx="44508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Customers Expect Apps To Be Smart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0"/>
          <p:cNvSpPr txBox="1"/>
          <p:nvPr/>
        </p:nvSpPr>
        <p:spPr>
          <a:xfrm>
            <a:off x="121200" y="1266623"/>
            <a:ext cx="35196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Customers Expect Apps To Be Smart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Customers don't want to do manual labor (clicking, selecting, etc)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They want just to talk to the app's Agent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agent should behave as an experienced assistant that understands you from half-a-word.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Like an experienced secretary who knows the rules, expect your next requests, takes care of details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Just a stand-alone LLM is not enough any longer.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Customers want to work with an agent that has memory, can intelligently move towards the goal, adn be reliable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93200" y="1096798"/>
            <a:ext cx="5198398" cy="292565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/>
          <p:nvPr/>
        </p:nvSpPr>
        <p:spPr>
          <a:xfrm>
            <a:off x="36576" y="-27432"/>
            <a:ext cx="351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p21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9500" y="758045"/>
            <a:ext cx="2461825" cy="31542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7" name="Google Shape;127;p2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96550" y="2700257"/>
            <a:ext cx="2160975" cy="22433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8" name="Google Shape;128;p21"/>
          <p:cNvSpPr txBox="1"/>
          <p:nvPr/>
        </p:nvSpPr>
        <p:spPr>
          <a:xfrm>
            <a:off x="102375" y="725485"/>
            <a:ext cx="4161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latin typeface="Calibri"/>
                <a:ea typeface="Calibri"/>
                <a:cs typeface="Calibri"/>
                <a:sym typeface="Calibri"/>
              </a:rPr>
              <a:t>7.52K subscribers, 339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2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2"/>
          <p:cNvSpPr txBox="1"/>
          <p:nvPr/>
        </p:nvSpPr>
        <p:spPr>
          <a:xfrm>
            <a:off x="36576" y="637709"/>
            <a:ext cx="5669400" cy="1881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 Anthropic resignation turns into an extinction debate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Researcher Jacob Coxon resigned and posted that both Anthropic and OpenAI are "gambling with our lives" by racing toward self-improving AI. He worked at both labs.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 wrote that the people building AI "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earnestly believe that it could kill us all by the end of the decade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. This is not a marketing stunt," and called for a coordinated slowdown.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reply is what made it spread.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Evan Hubinger, Anthropic's Alignment Science lead, responded "We really do earnestly believe AI could kill all humans!" and put the odds above 10% within the next decade.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argument underneath is not about p(doom). If the people who believe the stakes are civilizational still cannot coordinate, then "trust the responsible lab" is not a safety plan.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5" name="Google Shape;135;p22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11300" y="637700"/>
            <a:ext cx="2651899" cy="10274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6" name="Google Shape;136;p22"/>
          <p:cNvSpPr txBox="1"/>
          <p:nvPr/>
        </p:nvSpPr>
        <p:spPr>
          <a:xfrm>
            <a:off x="36576" y="3211407"/>
            <a:ext cx="5669400" cy="1511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Mistral raises the largest round in European tech history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EUR 3 billion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Series D led by Samsung Electronics, with Nvidia, ASML and a16z joining, valuing the French lab above EUR 21 billion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newsletter reported it as $3.5 billion, which is the same round converted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Mistral is three years old and tracking toward $1 billion in ARR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money goes to compute and international expansion, behind a shift toward sovereign, full-stack enterprise AI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 Chat is being rebranded to "Vibe," an agent and coding platform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7" name="Google Shape;137;p22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70537" y="2878675"/>
            <a:ext cx="2533425" cy="21027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23"/>
          <p:cNvSpPr txBox="1"/>
          <p:nvPr/>
        </p:nvSpPr>
        <p:spPr>
          <a:xfrm>
            <a:off x="36576" y="758952"/>
            <a:ext cx="5669400" cy="957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Google's agentic video understanding cuts video tokens by up to 88%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Gemini Flash models now navigate a video timeline rather than ingesting it at 1 FPS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Google reports up to 88% fewer tokens, 66% lower cost and 7% higher accuracy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processing field turns it 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Hosted API only, so no local deployment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4" name="Google Shape;144;p23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5797" y="546559"/>
            <a:ext cx="1942823" cy="1485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45" name="Google Shape;145;p23"/>
          <p:cNvSpPr txBox="1"/>
          <p:nvPr/>
        </p:nvSpPr>
        <p:spPr>
          <a:xfrm>
            <a:off x="36576" y="2850424"/>
            <a:ext cx="5669400" cy="1511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music industry stops fighting and starts licensing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Suno released a model built with Warner Music Group, BMG and Believe, with artists participating and their music and likenesses licensed for use on the platform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ships with a compensation framework, which is the point: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the copyright fight is converting into a business arrangement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Universal Music went the same direction days later, partnering with ElevenLabs on a platform for remixing tracks from UMG's catalog, with artists opting in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Spotify is exploring AI remixes too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6" name="Google Shape;146;p23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15800" y="3078863"/>
            <a:ext cx="2371401" cy="11712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4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4"/>
          <p:cNvSpPr txBox="1"/>
          <p:nvPr/>
        </p:nvSpPr>
        <p:spPr>
          <a:xfrm>
            <a:off x="36576" y="480711"/>
            <a:ext cx="5669400" cy="2250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models what AI does to US jobs and wages by 2030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 interactive tool that treats every job as a bundle of tasks, then asks whether AI speeds up each task, replaces it, or creates new ones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Three scenarios: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Modest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GDP grows 1.6% above the no-AI path, wages stable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Substantial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GDP up 8.3%, AI does 50% of knowledge work, knowledge worker wages flatline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Extreme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GDP up 15% per year, doubling the economy every 4.5 years,  but knowledge worker unemployment at 17.9%, human labor's share falls to 45%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Bigger economy does not automatically mean you earn more.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Capital owners capture most of the gains.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https://www.anthropic.com/institute/econ-scenarios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p2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40035" y="397601"/>
            <a:ext cx="2915564" cy="24165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54" name="Google Shape;154;p24"/>
          <p:cNvSpPr txBox="1"/>
          <p:nvPr/>
        </p:nvSpPr>
        <p:spPr>
          <a:xfrm>
            <a:off x="36575" y="3357350"/>
            <a:ext cx="44025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Apple Siri Upgrade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Built on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 Gemini models - can handle complex tasks, multistep requests, understand on-screen and camera context, and access files, messages, and email.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iOS 27 adds AI-powered Shortcuts, smart clipboard, and improved network switching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5" name="Google Shape;155;p24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44200" y="3414776"/>
            <a:ext cx="2054636" cy="10119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5"/>
          <p:cNvSpPr txBox="1"/>
          <p:nvPr/>
        </p:nvSpPr>
        <p:spPr>
          <a:xfrm>
            <a:off x="50852" y="44027"/>
            <a:ext cx="36069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AIUC Certifies AI Agents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25"/>
          <p:cNvSpPr txBox="1"/>
          <p:nvPr/>
        </p:nvSpPr>
        <p:spPr>
          <a:xfrm>
            <a:off x="75228" y="480700"/>
            <a:ext cx="4423800" cy="3066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AIUC Certifies AI Agents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Artificial Intelligence Underwriting Company (AIUC) - Sept 15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15 Mln seed + $40 Mln Series A funding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They wrote AIUC-1, a SOC 2-inspired standard for AI agents, built with input from a consortium of ~250 security and risk leaders who actually buy agents.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They operate the testing service that validates a given agent against that standard - roughly 5,000 tests covering jailbreaks, hallucinations, and data leaks, yielding a ~100-page report where AI runs and analyzes the tests but humans verify the final audit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Why: Banks, hospitals, and governments hesitate to deploy AI agents that may jailbreak, hallucinate, or leak data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Importance: Independent certification could let regulated enterprises adopt agents safely; customers include Cursor, Lovable, Harvey, and ElevenLabs.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https://techcrunch.com/2026/09/15/early-anthropic-hire-former-metr-coo-have-found-a-way-to-rein-in-rogue-ai-agents/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2" name="Google Shape;162;p2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1425" y="480700"/>
            <a:ext cx="2479952" cy="3066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6"/>
          <p:cNvSpPr txBox="1"/>
          <p:nvPr/>
        </p:nvSpPr>
        <p:spPr>
          <a:xfrm>
            <a:off x="126812" y="474380"/>
            <a:ext cx="4464000" cy="2019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Amodei calls on AI labs to pace the frontier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Essay "We Must Pace the Frontier" published Sept 12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Says AI now speeds up its own development; agent swarms could take over the internet in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6 to 12 months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Plan: embedded outside evaluators who can publish freely, shared standards among democratic labs, talks with China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Altman, Musk, Hassabis and Nadella agreed within two days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OpenAI had already asked Congress whether a joint slowdown breaks antitrust law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Trump called slowdown advocates "negative forces"</a:t>
            </a:r>
            <a:endParaRPr sz="12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https://darioamodei.com/post/we-must-pace-the-frontier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6"/>
          <p:cNvSpPr txBox="1"/>
          <p:nvPr/>
        </p:nvSpPr>
        <p:spPr>
          <a:xfrm>
            <a:off x="126812" y="2934633"/>
            <a:ext cx="4464000" cy="178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shelves its 2026 IPO as Anthropic heads to Nasdaq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Altman told that an IPO this year would be ill-advised given safety concerns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Anthropic picked Nasdaq for an October listing;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Nvidia in talks to anchor up to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$10B</a:t>
            </a:r>
            <a:endParaRPr sz="12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SoftBank closed an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$11.9B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loan from about 20 banks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to keep funding OpenAI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SoftBank still aims to put about $65B into OpenAI by October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https://techcrunch.com/2026/09/12/openais-sam-altman-says-it-would-be-ill-advised-to-go-public-in-2026/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0" name="Google Shape;170;p2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04048" y="614444"/>
            <a:ext cx="2505125" cy="19315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1" name="Google Shape;171;p2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04038" y="2771580"/>
            <a:ext cx="1794875" cy="2243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7"/>
          <p:cNvSpPr txBox="1"/>
          <p:nvPr/>
        </p:nvSpPr>
        <p:spPr>
          <a:xfrm>
            <a:off x="36575" y="386515"/>
            <a:ext cx="5035500" cy="178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 V4.1-Flash: bigger model, a quarter of the KV cache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552B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MoE with native vision and 1M-token context; Open weights (MIT)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Reported 90.6 on Terminal-Bench 2.1, ahead of Opus 5 and GPT-5.6 Sol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Beats V4-Pro; KV cache 890 bytes per token, 1/4 of V4-Flash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New causal encoder-decoder: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8B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active parameters on input,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16B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on output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All 384 experts per layer plus a 196B Engram lookup table stay resident, so the download is roughly 510GB (already in FP4). Needs 3-4 NVIDIA DGX Sparks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https://www.latent.space/p/ainews-deepseek-v41-flash-763b-p8b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https://huggingface.co/deepseek-ai/DeepSeek-V4.1-Flash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https://www.youtube.com/watch?v=04ePeOyRN0k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 txBox="1"/>
          <p:nvPr/>
        </p:nvSpPr>
        <p:spPr>
          <a:xfrm>
            <a:off x="36575" y="2258067"/>
            <a:ext cx="5035500" cy="1080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Cognition SWE-2 matches Fable 5.1 on coding at 64% lower cost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Post-trained with RL on Moonshot's 2.8T-parameter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Kimi K3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First real edit after a median of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18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steps instead of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48</a:t>
            </a:r>
            <a:endParaRPr sz="1200"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RL run trains all three effort levels: medium, high, max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Runs only inside Devin - no API or open weights: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https://cognition.com/blog/swe-2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7"/>
          <p:cNvSpPr txBox="1"/>
          <p:nvPr/>
        </p:nvSpPr>
        <p:spPr>
          <a:xfrm>
            <a:off x="36575" y="3438886"/>
            <a:ext cx="5035500" cy="1650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Financial Services on GPT-6 Astra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For investment banking and equity research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Built with design partners Morgan Stanley and Evercore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Built in data from multipole news and data sources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Citations trace each figure back to its source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Covers valuation, LBO models (Leveraged Buyout), buyer screens, earnings analysis and pitchbooks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Aimed squarely at the work of junior bankers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https://openai.com/index/introducing-chatgpt-financial-services/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9" name="Google Shape;179;p2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237375" y="3439633"/>
            <a:ext cx="2847975" cy="16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80" name="Google Shape;180;p27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37375" y="1681175"/>
            <a:ext cx="2305769" cy="1650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81" name="Google Shape;181;p27"/>
          <p:cNvPicPr preferRelativeResize="0"/>
          <p:nvPr/>
        </p:nvPicPr>
        <p:blipFill rotWithShape="1"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237375" y="419850"/>
            <a:ext cx="3361475" cy="858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2" name="Google Shape;182;p27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8"/>
          <p:cNvSpPr txBox="1"/>
          <p:nvPr/>
        </p:nvSpPr>
        <p:spPr>
          <a:xfrm>
            <a:off x="75248" y="630042"/>
            <a:ext cx="4771800" cy="1465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is preparing Claude Money for personal finance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 Money tab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spotted in unreleased builds of the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iOS app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Users link bank accounts and ask about spending, plans and budgets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Claude would find recurring payments and summarize balances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No more uploading bank statements by hand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Data provider, account types and launch date are unknown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likely answer to OpenAI's ChatGPT Finances, which uses Plaid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https://www.testingcatalog.com/anthropic-prepares-claude-money-for-personal-finance/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8" name="Google Shape;188;p28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53250" y="660079"/>
            <a:ext cx="3196976" cy="14051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89" name="Google Shape;189;p28"/>
          <p:cNvSpPr txBox="1"/>
          <p:nvPr/>
        </p:nvSpPr>
        <p:spPr>
          <a:xfrm>
            <a:off x="75250" y="2773679"/>
            <a:ext cx="4771800" cy="1095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buys camera startup Glass Imaging for $300+ Mln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Its AI makes smartphone photos look close to DSLR quality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Founded in 2019 by ex-Apple engineers who worked on Portrait Mode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Raised about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$30 Mln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Likely tied to OpenAI's device work with Jony Ive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https://qz.com/openai-acquires-glass-imaging-camera-startup-300-million-091526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0" name="Google Shape;190;p2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53248" y="2296713"/>
            <a:ext cx="1514250" cy="201899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91" name="Google Shape;191;p28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9"/>
          <p:cNvSpPr txBox="1"/>
          <p:nvPr/>
        </p:nvSpPr>
        <p:spPr>
          <a:xfrm>
            <a:off x="67783" y="66200"/>
            <a:ext cx="3209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Killed By AI - 123 products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9"/>
          <p:cNvSpPr txBox="1"/>
          <p:nvPr/>
        </p:nvSpPr>
        <p:spPr>
          <a:xfrm>
            <a:off x="75248" y="630042"/>
            <a:ext cx="4771800" cy="334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Killed By AI - 123 products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Humane’s AI Pin shut down February 28, 2025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Builder.ai collapsed in May 2025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OpenAI ended Sora’s standalone app in April 2026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Problem: Expensive hardware, novelty features, inflated AI claims, and products that compete against established phone habits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Solution: Build quiet, reliable workflows that fit existing behavior and complete recurring work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Exampel - AI-device company Fieldy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Ask whether users would miss a product on an ordinary workday; durable AI should save time, reduce friction, and produce dependable outcomes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https://humane.com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https://www.rabbit.tech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https://www.builder.ai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https://openai.com/sora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https://fieldy.ai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https://killedbyai.net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https://www.youtube.com/watch?v=aunUOIrbIeM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Google Shape;198;p29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69025" y="630046"/>
            <a:ext cx="3763700" cy="20909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9" name="Google Shape;199;p29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92011" y="2823746"/>
            <a:ext cx="2117729" cy="211772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0"/>
          <p:cNvSpPr txBox="1"/>
          <p:nvPr/>
        </p:nvSpPr>
        <p:spPr>
          <a:xfrm>
            <a:off x="36574" y="0"/>
            <a:ext cx="1461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30"/>
          <p:cNvSpPr txBox="1"/>
          <p:nvPr/>
        </p:nvSpPr>
        <p:spPr>
          <a:xfrm>
            <a:off x="75250" y="410975"/>
            <a:ext cx="44109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TopView MCP - AI Ad Workflow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Julia McCoy tested TopView MCP with Claude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connector combined marketplace research, campaign strategy, image generation, and vertical-video production inside one chat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Replaces multiple tabs and handoffs with review-driven research, platform-specific briefs, creative hooks, visuals, and video variants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tool compresses a marketing team’s research-to-brief workflow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https://www.topview.ai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https://www.youtube.com/watch?v=SuedJD8l9tA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6" name="Google Shape;206;p3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8550" y="292837"/>
            <a:ext cx="3242802" cy="19394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07" name="Google Shape;207;p30"/>
          <p:cNvSpPr txBox="1"/>
          <p:nvPr/>
        </p:nvSpPr>
        <p:spPr>
          <a:xfrm>
            <a:off x="75250" y="2430300"/>
            <a:ext cx="4410900" cy="2281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Claudex - Claude Code + OpenAI Codex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Claudex combines model routing, one-off delegation, and adversarial cross-model reviews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GitHub project added standalone Claudex Route. It runs as skills / plugins in Claude Code or Codex environments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Route selects an appropriate model, while Loop makes the opposite provider review plans and completed code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four-phase workflow covers reconnaissance, requirements, plan hardening, implementation, and independent inspection, helping expose blind spots before costly rework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https://github.com/chaseai-yt/claudex-loop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https://github.com/skills-directory/skill-codex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https://www.youtube.com/watch?v=KgKA0A3qlz0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8" name="Google Shape;208;p30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8550" y="3070063"/>
            <a:ext cx="3916201" cy="85519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/>
          <p:cNvSpPr txBox="1"/>
          <p:nvPr/>
        </p:nvSpPr>
        <p:spPr>
          <a:xfrm>
            <a:off x="36574" y="-27425"/>
            <a:ext cx="14769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31"/>
          <p:cNvSpPr txBox="1"/>
          <p:nvPr/>
        </p:nvSpPr>
        <p:spPr>
          <a:xfrm>
            <a:off x="75250" y="410975"/>
            <a:ext cx="4687200" cy="1911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Pics - Precise AI Editing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Powered by Nano Banana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Targeted object edits while preserving the rest of an image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Users can generate several variations, edit or translate in-image text, collaborate with others, resize/crop, upscale, and undo changes.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Pics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works standalone at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pics.new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and directly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 Google Docs and Slides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; Google Drive integration is planned in coming weeks.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For paid customers and Teams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https://blog.google/products-and-platforms/products/workspace/google-pics/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https://pics.new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https://x.com/Google/status/2097795419296477256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5" name="Google Shape;215;p3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4850" y="276088"/>
            <a:ext cx="2677348" cy="20464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16" name="Google Shape;216;p31"/>
          <p:cNvSpPr txBox="1"/>
          <p:nvPr/>
        </p:nvSpPr>
        <p:spPr>
          <a:xfrm>
            <a:off x="75250" y="2661005"/>
            <a:ext cx="46872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Ecdysis - Agent Harness Training (China)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Ecdysis improves an LLM agent’s runtime harness - prompts, state, tools, control logic, and recovery - while keeping the underlying task LLM’s weights fixed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Evaluated across multiple LLMs and agent-task benchmarks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Ecdysis groups recurring cross-task failure patterns, then uses analyst, critic, engineer, and moderator roles to specify minimal repairs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authors report up to 1.84× faster harness training and up to 18.56% higher reasoning accuracy, supporting more reliable, evidence-based agent-runtime engineering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https://arxiv.org/abs/2609.11677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p31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4850" y="2474964"/>
            <a:ext cx="3292647" cy="251613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2"/>
          <p:cNvSpPr txBox="1"/>
          <p:nvPr/>
        </p:nvSpPr>
        <p:spPr>
          <a:xfrm>
            <a:off x="36573" y="-27425"/>
            <a:ext cx="13833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32"/>
          <p:cNvSpPr txBox="1"/>
          <p:nvPr/>
        </p:nvSpPr>
        <p:spPr>
          <a:xfrm>
            <a:off x="75250" y="410975"/>
            <a:ext cx="49140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Krea Agents - Creative AI Workflow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Krea is a venture-backed startup in San Francisco, CA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is a generative-AI creative platform for making and editing visual content - images and videos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Users describe a creative outcome, and the agent selects models and carries out multi-step image, video, editing, enhancement, and upscaling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Krea’s Agent and MCP pages describe the current product and integrations; a beta announcement appeared in early September 2026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reduces manual model selection, node wiring, tool switching, and repeated prompting by planning workflow steps from one brief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Krea connects its creative engine to Claude, Codex, Cursor, and other MCP-capable agents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https://www.krea.ai/agent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 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https://www.krea.ai/mcp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4" name="Google Shape;224;p32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25575" y="666750"/>
            <a:ext cx="3849950" cy="20212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25" name="Google Shape;225;p32"/>
          <p:cNvSpPr txBox="1"/>
          <p:nvPr/>
        </p:nvSpPr>
        <p:spPr>
          <a:xfrm>
            <a:off x="75250" y="2934525"/>
            <a:ext cx="4914000" cy="2142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Lightning v3.1 Pro Text-to-speech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Real time, 44.1 kHz speech with a curated voice pool, natural delivery, and streaming options for AI agents, support, sales, narration, and dubbing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Smallest.AI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vai API (San Francisco, CA)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Pro targets convincing timing, intonation, and prosody while using dedicated inference capacity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Smallest AI reports a 3.89 conversational MOS for Lightning V3; current Pro documentation lists 31 languages, English-Hindi code switching, and roughly 200 ms time-to-first-byte—useful for responsive multilingual voice workflows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https://smallest.ai/text-to-speech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https://docs.smallest.ai/models/model-cards/text-to-speech/lightning-v-3-1-pro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6" name="Google Shape;226;p32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41650" y="2840374"/>
            <a:ext cx="3086855" cy="21507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3"/>
          <p:cNvSpPr txBox="1"/>
          <p:nvPr/>
        </p:nvSpPr>
        <p:spPr>
          <a:xfrm>
            <a:off x="83387" y="31208"/>
            <a:ext cx="1414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33"/>
          <p:cNvSpPr txBox="1"/>
          <p:nvPr/>
        </p:nvSpPr>
        <p:spPr>
          <a:xfrm>
            <a:off x="75250" y="410975"/>
            <a:ext cx="4914000" cy="158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Nex-N2.5 - Free Agent Models from China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Nex-N2.5 family - 35B Mini,  397B Pro, 1.6T Max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via OpenRouter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Mini and Pro can observe interfaces, act, verify results, correct course, and continue through multi-step software workflows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Nex reports Pro scored 56.4 on OSWorld-2 and Max 50.2 on AutomationBench, near Claude Opus 5’s 50.3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https://huggingface.co/nex-agi/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https://nex-agi.com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p33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25775" y="453406"/>
            <a:ext cx="3033975" cy="1285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34" name="Google Shape;234;p33"/>
          <p:cNvSpPr txBox="1"/>
          <p:nvPr/>
        </p:nvSpPr>
        <p:spPr>
          <a:xfrm>
            <a:off x="76200" y="2101500"/>
            <a:ext cx="4914000" cy="2696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TypeSafe AI - Jev Decision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TypeSafe AI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is a startup in San Francisco, CA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Jev is their new model trained to give short decisions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(choice, score, probability) to fixed questions, for example: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16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700"/>
              <a:buFont typeface="Calibri"/>
              <a:buChar char="●"/>
            </a:pPr>
            <a:r>
              <a:rPr lang="en" sz="10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Q: “Is this customer asking for a refund, technical help, or account access?”</a:t>
            </a:r>
            <a:endParaRPr sz="10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16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700"/>
              <a:buFont typeface="Calibri"/>
              <a:buChar char="●"/>
            </a:pPr>
            <a:r>
              <a:rPr lang="en" sz="1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A: "Technical help, Confidence: 92%"</a:t>
            </a:r>
            <a:endParaRPr sz="1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16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700"/>
              <a:buFont typeface="Calibri"/>
              <a:buChar char="●"/>
            </a:pPr>
            <a:r>
              <a:rPr lang="en" sz="10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Q: "Does this message look like an attempt to bypass safety rules?”</a:t>
            </a:r>
            <a:endParaRPr sz="10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16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700"/>
              <a:buFont typeface="Calibri"/>
              <a:buChar char="●"/>
            </a:pPr>
            <a:r>
              <a:rPr lang="en" sz="1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A: "Yes, Confidence: 87%"</a:t>
            </a:r>
            <a:endParaRPr sz="1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16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700"/>
              <a:buFont typeface="Calibri"/>
              <a:buChar char="●"/>
            </a:pPr>
            <a:r>
              <a:rPr lang="en" sz="10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Q: "Where to send this?"</a:t>
            </a:r>
            <a:endParaRPr sz="10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lvl="0" indent="-1016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700"/>
              <a:buFont typeface="Calibri"/>
              <a:buChar char="●"/>
            </a:pPr>
            <a:r>
              <a:rPr lang="en" sz="1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A: “Send to Billing: 94% sure.”</a:t>
            </a:r>
            <a:endParaRPr sz="1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Jev is up to 193.6× faster and 444.6× cheaper than regular AI agents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Context window is 64k tokens per request, no image, audio, or video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Jev uses a new model architecture, a parallel sampler, and a training approach it calls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Reinforcement Learning for Calibrated Decisions (RLCD)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https://typesafe.ai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https://typesafe.ai/blog/introducing-system-one-models-and-jev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Google Shape;235;p33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64675" y="1999486"/>
            <a:ext cx="2396446" cy="5274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36" name="Google Shape;236;p33"/>
          <p:cNvSpPr txBox="1"/>
          <p:nvPr/>
        </p:nvSpPr>
        <p:spPr>
          <a:xfrm>
            <a:off x="5057104" y="2674282"/>
            <a:ext cx="4027500" cy="2327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Needle 3: Tiny Automation AI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Cactus Compute, open source, only for local tool calling and structured data extraction—not general chat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phones, wearables, smart homes, robots, vehicles, browsers, and microcontroller-class edge devices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Needle maps requests directly into schema-constrained function calls, returning an empty list when no exposed tool applies.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Sliceable 2–20-layer architecture ships in 8–29 MB, supports roughly 25–121M params at 2-bit quantization, and can run locally at up to 4,000 decode tokens/sec on Raspberry Pi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https://cactuscompute.com/needle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https://github.com/cactus-compute/needle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7" name="Google Shape;237;p33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88149" y="1999466"/>
            <a:ext cx="2396449" cy="54976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4"/>
          <p:cNvSpPr txBox="1"/>
          <p:nvPr/>
        </p:nvSpPr>
        <p:spPr>
          <a:xfrm>
            <a:off x="83388" y="66193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34"/>
          <p:cNvSpPr txBox="1"/>
          <p:nvPr/>
        </p:nvSpPr>
        <p:spPr>
          <a:xfrm>
            <a:off x="36576" y="732197"/>
            <a:ext cx="56694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Periodic Labs' NeonModel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Neon beats GPT-6 Astra on lab data analysis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 on open-weight Kimi K2.6 (1T params), then mid-trained and RL-trained on Periodic's own lab data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Trained on </a:t>
            </a:r>
            <a:r>
              <a:rPr lang="en" sz="1200">
                <a:solidFill>
                  <a:schemeClr val="dk1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1,300 H200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GPUs, a small fraction of a frontier lab's cluster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FrontierXRD success went from </a:t>
            </a:r>
            <a:r>
              <a:rPr lang="en" sz="1200">
                <a:solidFill>
                  <a:schemeClr val="dk1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2.7%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</a:t>
            </a:r>
            <a:r>
              <a:rPr lang="en" sz="1200">
                <a:solidFill>
                  <a:schemeClr val="dk1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55.3%</a:t>
            </a:r>
            <a:endParaRPr sz="1200">
              <a:solidFill>
                <a:schemeClr val="dk1"/>
              </a:solidFill>
              <a:highlight>
                <a:srgbClr val="FFF2CC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Beats GPT-6 Astra and Claude Fable 5.1 on that eval at lower cost per analysis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Already running in Periodic's labs in the search for better superconductors and magnets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https://periodic.com/news/nature-is-our-learning-environment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4" name="Google Shape;244;p3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01215" y="538586"/>
            <a:ext cx="3229138" cy="209296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45" name="Google Shape;245;p34"/>
          <p:cNvSpPr txBox="1"/>
          <p:nvPr/>
        </p:nvSpPr>
        <p:spPr>
          <a:xfrm>
            <a:off x="36576" y="2897413"/>
            <a:ext cx="56694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ships Gemini 3.8 Live, a voice model that thinks while it talks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New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Gemini 3.8 Live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3.8 Live Extended Thinking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in the Live API and AI Studio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Extended Thinking keeps talking while it reasons and calls tools in the background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ranks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#1 on Artificial Analysis' speech-to-speech leaderboard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Speaks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97+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languages and can switch language mid-call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Priced at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$0.005/min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audio input and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$0.018/min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output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Gemini 3.5 Transcribe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covers 85+ languages at 4.0% WER streaming, 2.6% offline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https://blog.google/innovation-and-ai/technology/developers-tools/build-real-time-voice-applications-gemini-audio/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6" name="Google Shape;246;p34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61325" y="3121100"/>
            <a:ext cx="2908925" cy="11336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5"/>
          <p:cNvSpPr txBox="1"/>
          <p:nvPr/>
        </p:nvSpPr>
        <p:spPr>
          <a:xfrm>
            <a:off x="83388" y="66193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35"/>
          <p:cNvSpPr txBox="1"/>
          <p:nvPr/>
        </p:nvSpPr>
        <p:spPr>
          <a:xfrm>
            <a:off x="36575" y="484300"/>
            <a:ext cx="53919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Salesforce Koa CRM reasoning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Post-trained from NVIDIA's open Nemotron 3 Super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Training data is fully synthetic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covering 14+ industries, with no customer data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Salesforce says it makes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3x fewer errors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than leading models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Salesforce hosts the weights, GA planned for winter 2026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Separately,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Salesforce in Claude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entered beta with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37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built-in sales skills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Claude reads and updates deals under each seller's existing Salesforce permissions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https://www.salesforce.com/news/press-releases/2026/09/15/koa-reasoning-model/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35"/>
          <p:cNvSpPr txBox="1"/>
          <p:nvPr/>
        </p:nvSpPr>
        <p:spPr>
          <a:xfrm>
            <a:off x="36575" y="2456925"/>
            <a:ext cx="53919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Nous Research refactors Hermes with 1,393 agents in one run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Hermes Agent session ran a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19-hour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goal that dispatched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1,393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subagents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result was a single PR that cut the codebase by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34.4%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in lines of code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Token spend was about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$19K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post-mortem found 12 harness fixes and a cache-TTL fix to make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Independent review then caught 3 blockers and 9 other defects in those fixes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Lesson: shard the work carefully, review every shard, expect conflicts when hundreds of agents share a repo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https://github.com/NousResearch/hermes-agent/issues/103563</a:t>
            </a:r>
            <a:r>
              <a:rPr lang="en" sz="12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https://nousresearch.com/refactoring-hermes-with-1393-agents</a:t>
            </a:r>
            <a:r>
              <a:rPr lang="en" sz="12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4" name="Google Shape;254;p35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38175" y="430150"/>
            <a:ext cx="3535924" cy="1558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55" name="Google Shape;255;p3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38175" y="2899099"/>
            <a:ext cx="3535926" cy="9150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36"/>
          <p:cNvSpPr txBox="1"/>
          <p:nvPr/>
        </p:nvSpPr>
        <p:spPr>
          <a:xfrm>
            <a:off x="36575" y="357978"/>
            <a:ext cx="3630600" cy="1034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Z.ai, the maker of GLM, raises $5 Bln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60%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goes to next-generation GLM models, training and inference compute; Plans include a fully self-training system and adapting GLM to Chinese chips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https://www.caixinglobal.com/2026-09-14/zai-raises-5-billion-in-share-placement-convertible-bond-sale-102484813.html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36"/>
          <p:cNvSpPr txBox="1"/>
          <p:nvPr/>
        </p:nvSpPr>
        <p:spPr>
          <a:xfrm>
            <a:off x="36575" y="1451125"/>
            <a:ext cx="61440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Odyssey-3 - World model to drive robots, cars and drones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Odyssey Systems released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Odyssey-3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a foundation world model for physical and virtual agents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Autoregressive diffusion transformer trained on video to predict how the world changes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Small action decoders attach to the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frozen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model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Robot arms, humanoids, cars, drones and video-game agents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can also generate simulated experience to train other AI systems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Shared physical knowledge instead of per-robot demonstrations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https://odyssey.systems/introducing-odyssey-3</a:t>
            </a:r>
            <a:r>
              <a:rPr lang="en" sz="12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3" name="Google Shape;263;p3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67150" y="446741"/>
            <a:ext cx="2752724" cy="856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64" name="Google Shape;264;p3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15175" y="1451120"/>
            <a:ext cx="2504975" cy="1547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65" name="Google Shape;265;p36"/>
          <p:cNvSpPr txBox="1"/>
          <p:nvPr/>
        </p:nvSpPr>
        <p:spPr>
          <a:xfrm>
            <a:off x="36575" y="3005975"/>
            <a:ext cx="61440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Home MCP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Google Home - managing  Nest products and compatible devices (lights, thermostats, cameras, etc.) from smartphone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Google introduces Home MCP server for AI Agents to interact with home devices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https://tech.yahoo.com/home/articles/ai-agents-now-control-google-170000833.html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Control devices, inspect activity, review camera summaries, and build dashboards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Agents can take authorized actions rather than merely answer questions about the home.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Early access is limited to U.S. Google Home Premium Advanced subscribers and requires Google Cloud setup plus explicit sign-in and permission grants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https://home.googleapis.com/mcp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7"/>
          <p:cNvSpPr txBox="1"/>
          <p:nvPr/>
        </p:nvSpPr>
        <p:spPr>
          <a:xfrm>
            <a:off x="36576" y="-27432"/>
            <a:ext cx="117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37"/>
          <p:cNvSpPr txBox="1"/>
          <p:nvPr/>
        </p:nvSpPr>
        <p:spPr>
          <a:xfrm>
            <a:off x="60333" y="471875"/>
            <a:ext cx="4465500" cy="1696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Recursive Raises Seed $4.65B at $5B Valuation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Richard Socher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spun Recursive out of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You.com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to work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recursive self improvement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Beat humans and their agents on optimization tasks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found NVIDIA GPU kernel improvements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goal - a Eureka Machine: a system to improve invention itself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research that takes thousands of people years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could compress into weeks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https://www.recursive.com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2" name="Google Shape;272;p3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3850" y="471875"/>
            <a:ext cx="1514792" cy="1696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73" name="Google Shape;273;p3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64975" y="859400"/>
            <a:ext cx="2615350" cy="7819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74" name="Google Shape;274;p37"/>
          <p:cNvSpPr txBox="1"/>
          <p:nvPr/>
        </p:nvSpPr>
        <p:spPr>
          <a:xfrm>
            <a:off x="36575" y="2799600"/>
            <a:ext cx="4465500" cy="1080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Databricks now offers Astra to 3.5K Engineers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beats Opus 5 and Sol 5.6 on complex, long horizon tasks, especially system design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Overall coding spend went up 60%. Benchmarks usually show Astra cheaper, but it is more expensive for real engineering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https://x.com/pwendell/status/2100299179923067016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5" name="Google Shape;275;p37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3850" y="2560038"/>
            <a:ext cx="2980383" cy="15597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38"/>
          <p:cNvSpPr txBox="1"/>
          <p:nvPr/>
        </p:nvSpPr>
        <p:spPr>
          <a:xfrm>
            <a:off x="36576" y="-27432"/>
            <a:ext cx="117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38"/>
          <p:cNvSpPr txBox="1"/>
          <p:nvPr/>
        </p:nvSpPr>
        <p:spPr>
          <a:xfrm>
            <a:off x="36575" y="450100"/>
            <a:ext cx="4726800" cy="249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Code Projects 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keeps agents coding in the cloud while you're offline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Anthropic relaunched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Projects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in Claude Code for cloud orchestration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You describe a goal and a coordinator splits it into parallel threads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Each thread works on its own Git branch, </a:t>
            </a:r>
            <a:b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opens pull requests and runs tests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Merge conflicts are handled like ordinary pull requests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Threads keep running after you close your laptop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; 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You can check in from your phone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coordinator uses a stronger model, the workers run cheaper ones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Beta for select Pro and Max users first, then Team and Enterprise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https://www.theverge.com/ai-artificial-intelligence/997134/anthropic-claude-code-projects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https://venturebeat.com/orchestration/anthropic-launches-claude-code-projects-an-always-on-conversation-that-remembers-and-delegates-your-long-running-dev-work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38"/>
          <p:cNvSpPr txBox="1"/>
          <p:nvPr/>
        </p:nvSpPr>
        <p:spPr>
          <a:xfrm>
            <a:off x="36575" y="3153825"/>
            <a:ext cx="5166300" cy="1834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ChatGPT ads now open a chat with Agent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OpenAI launched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Sponsored Agents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: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click an ad and talk to the advertiser's agent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sponsored chat is labeled and kept apart from ChatGPT's own answer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ChatGPT Ads reached a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$1 Bln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ARR in August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Ads Manager now drafts campaigns and creative from plain language prompts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New HubSpot and Shopify integrations;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Amazon opened its platform to ChatGPT campaigns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US pilot with select advertisers, with no pricing or results published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https://openai.com/index/reimagining-advertising-with-ai/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3" name="Google Shape;283;p3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67150" y="3629925"/>
            <a:ext cx="3636325" cy="88260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84" name="Google Shape;284;p3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27650" y="628500"/>
            <a:ext cx="4075824" cy="213980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39"/>
          <p:cNvSpPr txBox="1"/>
          <p:nvPr/>
        </p:nvSpPr>
        <p:spPr>
          <a:xfrm>
            <a:off x="36576" y="-27432"/>
            <a:ext cx="117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39"/>
          <p:cNvSpPr txBox="1"/>
          <p:nvPr/>
        </p:nvSpPr>
        <p:spPr>
          <a:xfrm>
            <a:off x="107850" y="554425"/>
            <a:ext cx="43824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Snap launches Specs AR glasses at $2,195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Snap Inc. is the public company behind Snapchat.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glasses overlay directions, translate conversations live,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stream movies and take calls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Hands-free video calls put the other person in your field of view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No tethered battery pack, unlike Vision Pro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Pre-orders are open, shipping this fall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https://www.specs.com/smart-glasses/specs-27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1" name="Google Shape;291;p3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29600" y="661800"/>
            <a:ext cx="2817301" cy="12813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0"/>
          <p:cNvSpPr txBox="1"/>
          <p:nvPr/>
        </p:nvSpPr>
        <p:spPr>
          <a:xfrm>
            <a:off x="83388" y="50588"/>
            <a:ext cx="22848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Jobs and Layoffs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40"/>
          <p:cNvSpPr txBox="1"/>
          <p:nvPr/>
        </p:nvSpPr>
        <p:spPr>
          <a:xfrm>
            <a:off x="2169772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40"/>
          <p:cNvSpPr txBox="1"/>
          <p:nvPr/>
        </p:nvSpPr>
        <p:spPr>
          <a:xfrm>
            <a:off x="5690530" y="3510625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129.2K in 2026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(as of Sept 18,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123K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266K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40"/>
          <p:cNvSpPr txBox="1"/>
          <p:nvPr/>
        </p:nvSpPr>
        <p:spPr>
          <a:xfrm>
            <a:off x="5690530" y="564150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189,217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(725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0" name="Google Shape;300;p4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736" y="3324699"/>
            <a:ext cx="4634458" cy="1714830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301" name="Google Shape;301;p4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3109" y="518028"/>
            <a:ext cx="4839720" cy="2598719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1"/>
          <p:cNvSpPr txBox="1"/>
          <p:nvPr/>
        </p:nvSpPr>
        <p:spPr>
          <a:xfrm>
            <a:off x="36576" y="-27432"/>
            <a:ext cx="2441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41"/>
          <p:cNvSpPr txBox="1"/>
          <p:nvPr/>
        </p:nvSpPr>
        <p:spPr>
          <a:xfrm>
            <a:off x="2751675" y="1263400"/>
            <a:ext cx="6096300" cy="205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4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Interests: Generative AI, using LLMs with your data, local AI for local private data, cloud architecture, fin-tech, application security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Find and connect: LinkedIn, GitHub, YouTube, Google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https://eais.ai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8" name="Google Shape;308;p4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8404" y="1952269"/>
            <a:ext cx="1572768" cy="15727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2"/>
          <p:cNvSpPr txBox="1"/>
          <p:nvPr/>
        </p:nvSpPr>
        <p:spPr>
          <a:xfrm>
            <a:off x="2733451" y="1718275"/>
            <a:ext cx="3677100" cy="7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4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42"/>
          <p:cNvSpPr txBox="1"/>
          <p:nvPr/>
        </p:nvSpPr>
        <p:spPr>
          <a:xfrm>
            <a:off x="1622775" y="2571750"/>
            <a:ext cx="7126200" cy="131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Videos of every seminar are on YouTube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GitHub. Click a pptx file, then the download button on the right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https://github.com/lselector/seminar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Google Drive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https://drive.google.com/drive/folders/1dmj00iilSP-JYmriMUUaHCKz5X54e3UX?ths=true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6256</Words>
  <Application>Microsoft Macintosh PowerPoint</Application>
  <PresentationFormat>On-screen Show (16:9)</PresentationFormat>
  <Paragraphs>686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Calibri</vt:lpstr>
      <vt:lpstr>Roboto Mono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2026-09-18T18:52:33Z</dcterms:modified>
</cp:coreProperties>
</file>