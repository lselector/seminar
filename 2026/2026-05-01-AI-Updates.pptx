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embeddedFontLst>
    <p:embeddedFont>
      <p:font typeface="Roboto Mono" pitchFamily="49"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0CED21-B8A9-4888-AF41-A55212CB7C90}">
  <a:tblStyle styleId="{410CED21-B8A9-4888-AF41-A55212CB7C9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97a5e6eeb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97a5e6eeb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a9c4e049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3da9c4e049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da9c4e049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da9c4e0497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9a5fe9e4f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9a5fe9e4f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d972b82a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d972b82a7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d9469845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d94698453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a63bb907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9a63bb9075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9a63bb907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9a63bb9075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9a620a07f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9a620a07f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9a620a07f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g39a620a07fa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9a620a07f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9a620a07fa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9a63bb907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9a63bb907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b0c21324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db0c21324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daf657b9b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daf657b9b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d972b82a7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d972b82a76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da9c4e049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3da9c4e0497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d971967e0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g3d971967e09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db781150a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db781150aa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d971967e09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3d971967e09_0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aaaef4bf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3daaaef4bfa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huggingface.co/zai-org/GLM-5.1" TargetMode="External"/><Relationship Id="rId39" Type="http://schemas.openxmlformats.org/officeDocument/2006/relationships/hyperlink" Target="https://blog.google/products/gemini/gemini-3-flash" TargetMode="External"/><Relationship Id="rId21" Type="http://schemas.openxmlformats.org/officeDocument/2006/relationships/hyperlink" Target="https://www.anthropic.com/news/claude-opus-4-5" TargetMode="External"/><Relationship Id="rId34" Type="http://schemas.openxmlformats.org/officeDocument/2006/relationships/hyperlink" Target="https://www.kimi.com/blog/kimi-k2-6" TargetMode="External"/><Relationship Id="rId42" Type="http://schemas.openxmlformats.org/officeDocument/2006/relationships/hyperlink" Target="https://api-docs.deepseek.com/news/news260424"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www.anthropic.com/news/claude-sonnet-4-5" TargetMode="External"/><Relationship Id="rId41" Type="http://schemas.openxmlformats.org/officeDocument/2006/relationships/hyperlink" Target="https://qwen.ai/blog?id=qwen3.5-max-preview"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platform.openai.com/docs/models/gpt-5.4" TargetMode="External"/><Relationship Id="rId32" Type="http://schemas.openxmlformats.org/officeDocument/2006/relationships/hyperlink" Target="https://aistudio.google.com/app/prompts/new_chat?model=gemini-3-pro-preview" TargetMode="External"/><Relationship Id="rId37" Type="http://schemas.openxmlformats.org/officeDocument/2006/relationships/hyperlink" Target="https://mimo.xiaomi.com/mimo-v2-5-pro/" TargetMode="External"/><Relationship Id="rId40" Type="http://schemas.openxmlformats.org/officeDocument/2006/relationships/hyperlink" Target="https://x.ai/news/grok-4-1"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ai.meta.com/blog/introducing-muse-spark-msl/" TargetMode="External"/><Relationship Id="rId28" Type="http://schemas.openxmlformats.org/officeDocument/2006/relationships/hyperlink" Target="https://docs.x.ai/developers/models/grok-4.20-multi-agent-beta-0309" TargetMode="External"/><Relationship Id="rId36" Type="http://schemas.openxmlformats.org/officeDocument/2006/relationships/hyperlink" Target="https://www.anthropic.com/news/claude-opus-4-1"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docs.x.ai/developers/models/grok-4.20-beta-0309-reasoning"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blog.google/innovation-and-ai/models-and-research/gemini-models/gemini-3-1-pro/" TargetMode="External"/><Relationship Id="rId27" Type="http://schemas.openxmlformats.org/officeDocument/2006/relationships/hyperlink" Target="https://www.anthropic.com/news/claude-sonnet-4-6" TargetMode="External"/><Relationship Id="rId30" Type="http://schemas.openxmlformats.org/officeDocument/2006/relationships/hyperlink" Target="https://developers.openai.com/api/docs/models/gpt-5.2-chat-latest" TargetMode="External"/><Relationship Id="rId35" Type="http://schemas.openxmlformats.org/officeDocument/2006/relationships/hyperlink" Target="https://www.byteplus.com/en/blog/dola-seed-2-0-pro"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openai.com/index/introducing-gpt-5-5/" TargetMode="External"/><Relationship Id="rId33" Type="http://schemas.openxmlformats.org/officeDocument/2006/relationships/hyperlink" Target="https://ernie.baidu.com/blog/posts/ernie-5.1-preview-0430-release-on-lmarena/" TargetMode="External"/><Relationship Id="rId38" Type="http://schemas.openxmlformats.org/officeDocument/2006/relationships/hyperlink" Target="https://grok.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docs.z.ai/guides/llm/glm-5.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evolink.ai/blog/doubao-seed-2-0-review-benchmarks-pricin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lsdefine/GenericAgen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arxiv.org/abs/2604.17091"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nousresearch/hermes-agen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youtube.com/watch?v=4Sln_6K2z8c"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urAMvpPhtqo"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www.youtube.com/watch?v=QNyAwrLYWSc"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VTQR9n3aqNU" TargetMode="External"/><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s://github.com/alchaincyf/huashu-design" TargetMode="External"/><Relationship Id="rId4" Type="http://schemas.openxmlformats.org/officeDocument/2006/relationships/hyperlink" Target="https://www.youtube.com/watch?v=Nmk1wxoi6y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VIbew55IpE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hyperlink" Target="http://www.youtube.com/watch?v=qGAuqbbj1L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ntvkDnk_5jA"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www.youtube.com/watch?v=WXoBd5zgTx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rU6IYiQ1SdQ" TargetMode="External"/><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www.youtube.com/watch?v=vD8doHK6r78"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openclaw/opencla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hyperlink" Target="https://github.com/openclaw/openclaw/release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www.youtube.com/watch?v=epzzALZ8oYo"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604.17121"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hyperlink" Target="https://www.youtube.com/watch?v=BWRHhAnFMvQ"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NlGIl5-gpHM"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t-A1okCP6Yc"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hyperlink" Target="https://www.anijam.ai"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amazon.com/dp/B0GWYDTL8P"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8.jpe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dice.com" TargetMode="External"/><Relationship Id="rId7"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www.indeed.com" TargetMode="External"/><Relationship Id="rId11" Type="http://schemas.openxmlformats.org/officeDocument/2006/relationships/image" Target="../media/image33.png"/><Relationship Id="rId5" Type="http://schemas.openxmlformats.org/officeDocument/2006/relationships/hyperlink" Target="https://news.ycombinator.com/jobs" TargetMode="External"/><Relationship Id="rId10" Type="http://schemas.openxmlformats.org/officeDocument/2006/relationships/image" Target="../media/image32.png"/><Relationship Id="rId4" Type="http://schemas.openxmlformats.org/officeDocument/2006/relationships/hyperlink" Target="https://www.linkedin.com" TargetMode="External"/><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hyperlink" Target="https://trueup.io/layoffs"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635939"/>
            <a:ext cx="4330200" cy="4450411"/>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Crowd-sourced "LM Arena" Leaderboard</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DeepSeek V4 Pro</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Grok 4.3 Beta</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Chinese Models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Agentic Harness For Different Models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Context Length</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err="1">
                <a:solidFill>
                  <a:srgbClr val="3C78D8"/>
                </a:solidFill>
                <a:latin typeface="Calibri"/>
                <a:ea typeface="Calibri"/>
                <a:cs typeface="Calibri"/>
                <a:sym typeface="Calibri"/>
              </a:rPr>
              <a:t>GenericAgent</a:t>
            </a:r>
            <a:r>
              <a:rPr lang="en" sz="1800" b="1" dirty="0">
                <a:solidFill>
                  <a:srgbClr val="3C78D8"/>
                </a:solidFill>
                <a:latin typeface="Calibri"/>
                <a:ea typeface="Calibri"/>
                <a:cs typeface="Calibri"/>
                <a:sym typeface="Calibri"/>
              </a:rPr>
              <a:t> - minimal self-evolving</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Claude desktop app </a:t>
            </a:r>
            <a:r>
              <a:rPr lang="en" sz="1800" b="1" dirty="0" err="1">
                <a:solidFill>
                  <a:srgbClr val="3C78D8"/>
                </a:solidFill>
                <a:latin typeface="Calibri"/>
                <a:ea typeface="Calibri"/>
                <a:cs typeface="Calibri"/>
                <a:sym typeface="Calibri"/>
              </a:rPr>
              <a:t>Improvments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Hermes Agent</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Problems with </a:t>
            </a:r>
            <a:r>
              <a:rPr lang="en" sz="1800" b="1" dirty="0" err="1">
                <a:solidFill>
                  <a:srgbClr val="3C78D8"/>
                </a:solidFill>
                <a:latin typeface="Calibri"/>
                <a:ea typeface="Calibri"/>
                <a:cs typeface="Calibri"/>
                <a:sym typeface="Calibri"/>
              </a:rPr>
              <a:t>OpenClaw</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How to Survive AI</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Google's Hope - Continual Learning POC</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err="1">
                <a:solidFill>
                  <a:srgbClr val="3C78D8"/>
                </a:solidFill>
                <a:latin typeface="Calibri"/>
                <a:ea typeface="Calibri"/>
                <a:cs typeface="Calibri"/>
                <a:sym typeface="Calibri"/>
              </a:rPr>
              <a:t>Huashu</a:t>
            </a:r>
            <a:r>
              <a:rPr lang="en" sz="1800" b="1" dirty="0">
                <a:solidFill>
                  <a:srgbClr val="3C78D8"/>
                </a:solidFill>
                <a:latin typeface="Calibri"/>
                <a:ea typeface="Calibri"/>
                <a:cs typeface="Calibri"/>
                <a:sym typeface="Calibri"/>
              </a:rPr>
              <a:t> Design - Open Source Skills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Boris Cherny 6-step Claude Code System</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Claude Code - 15 Rules &amp; Workflows</a:t>
            </a:r>
          </a:p>
          <a:p>
            <a:pPr marL="228600" indent="-228600">
              <a:buClr>
                <a:srgbClr val="3C78D8"/>
              </a:buClr>
              <a:buSzPts val="1800"/>
              <a:buFont typeface="Calibri"/>
              <a:buChar char="●"/>
            </a:pPr>
            <a:r>
              <a:rPr lang="en-US" sz="1800" b="1" dirty="0">
                <a:solidFill>
                  <a:srgbClr val="3C78D8"/>
                </a:solidFill>
                <a:latin typeface="Calibri"/>
                <a:ea typeface="Calibri"/>
                <a:cs typeface="Calibri"/>
                <a:sym typeface="Calibri"/>
              </a:rPr>
              <a:t>Personal Agent OS</a:t>
            </a: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-May 1,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7" y="1428750"/>
            <a:ext cx="4525800" cy="3619414"/>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Google Gemini Deep Research Max</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How to reduce token usage</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News Research Workflow</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Telegram Lobster Father</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err="1">
                <a:solidFill>
                  <a:srgbClr val="3C78D8"/>
                </a:solidFill>
                <a:latin typeface="Calibri"/>
                <a:ea typeface="Calibri"/>
                <a:cs typeface="Calibri"/>
                <a:sym typeface="Calibri"/>
              </a:rPr>
              <a:t>OpenClaw</a:t>
            </a:r>
            <a:r>
              <a:rPr lang="en" sz="1800" b="1" dirty="0">
                <a:solidFill>
                  <a:srgbClr val="3C78D8"/>
                </a:solidFill>
                <a:latin typeface="Calibri"/>
                <a:ea typeface="Calibri"/>
                <a:cs typeface="Calibri"/>
                <a:sym typeface="Calibri"/>
              </a:rPr>
              <a:t> Updates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China is Winning the AI Race</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From Transformers to Recurrent Models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err="1">
                <a:solidFill>
                  <a:srgbClr val="3C78D8"/>
                </a:solidFill>
                <a:latin typeface="Calibri"/>
                <a:ea typeface="Calibri"/>
                <a:cs typeface="Calibri"/>
                <a:sym typeface="Calibri"/>
              </a:rPr>
              <a:t>Anijam</a:t>
            </a:r>
            <a:r>
              <a:rPr lang="en" sz="1800" b="1" dirty="0">
                <a:solidFill>
                  <a:srgbClr val="3C78D8"/>
                </a:solidFill>
                <a:latin typeface="Calibri"/>
                <a:ea typeface="Calibri"/>
                <a:cs typeface="Calibri"/>
                <a:sym typeface="Calibri"/>
              </a:rPr>
              <a:t> AI - Animation Agent</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AI Interview Question</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AI Consulting - From Projects to Retainers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Dan Kennedy Book</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About Job Search in the US</a:t>
            </a:r>
            <a:endParaRPr sz="1800" b="1" dirty="0">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dirty="0">
                <a:solidFill>
                  <a:srgbClr val="3C78D8"/>
                </a:solidFill>
                <a:latin typeface="Calibri"/>
                <a:ea typeface="Calibri"/>
                <a:cs typeface="Calibri"/>
                <a:sym typeface="Calibri"/>
              </a:rPr>
              <a:t>Jobs &amp; Layoffs</a:t>
            </a:r>
            <a:endParaRPr sz="1800" b="1" dirty="0">
              <a:solidFill>
                <a:srgbClr val="3C78D8"/>
              </a:solidFill>
              <a:latin typeface="Calibri"/>
              <a:ea typeface="Calibri"/>
              <a:cs typeface="Calibri"/>
              <a:sym typeface="Calibri"/>
            </a:endParaRPr>
          </a:p>
        </p:txBody>
      </p:sp>
      <p:sp>
        <p:nvSpPr>
          <p:cNvPr id="66" name="Google Shape;66;p15"/>
          <p:cNvSpPr txBox="1"/>
          <p:nvPr/>
        </p:nvSpPr>
        <p:spPr>
          <a:xfrm>
            <a:off x="4536600" y="99225"/>
            <a:ext cx="2728800" cy="11391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1700" b="1" i="1">
                <a:solidFill>
                  <a:srgbClr val="FF0000"/>
                </a:solidFill>
                <a:latin typeface="Calibri"/>
                <a:ea typeface="Calibri"/>
                <a:cs typeface="Calibri"/>
                <a:sym typeface="Calibri"/>
              </a:rPr>
              <a:t>Plan first.                    </a:t>
            </a:r>
            <a:r>
              <a:rPr lang="en" sz="1700" b="1" i="1">
                <a:solidFill>
                  <a:srgbClr val="3C78D8"/>
                </a:solidFill>
                <a:latin typeface="Calibri"/>
                <a:ea typeface="Calibri"/>
                <a:cs typeface="Calibri"/>
                <a:sym typeface="Calibri"/>
              </a:rPr>
              <a:t>May 1st</a:t>
            </a:r>
            <a:r>
              <a:rPr lang="en" sz="1700" b="1" i="1">
                <a:solidFill>
                  <a:srgbClr val="FF0000"/>
                </a:solidFill>
                <a:latin typeface="Calibri"/>
                <a:ea typeface="Calibri"/>
                <a:cs typeface="Calibri"/>
                <a:sym typeface="Calibri"/>
              </a:rPr>
              <a:t> </a:t>
            </a:r>
            <a:endParaRPr sz="17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700" b="1" i="1">
                <a:solidFill>
                  <a:srgbClr val="FF0000"/>
                </a:solidFill>
                <a:latin typeface="Calibri"/>
                <a:ea typeface="Calibri"/>
                <a:cs typeface="Calibri"/>
                <a:sym typeface="Calibri"/>
              </a:rPr>
              <a:t>   Code second. </a:t>
            </a:r>
            <a:endParaRPr sz="17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700" b="1" i="1">
                <a:solidFill>
                  <a:srgbClr val="FF0000"/>
                </a:solidFill>
                <a:latin typeface="Calibri"/>
                <a:ea typeface="Calibri"/>
                <a:cs typeface="Calibri"/>
                <a:sym typeface="Calibri"/>
              </a:rPr>
              <a:t>      Verify always. </a:t>
            </a:r>
            <a:br>
              <a:rPr lang="en" sz="1700" b="1" i="1">
                <a:solidFill>
                  <a:srgbClr val="FF0000"/>
                </a:solidFill>
                <a:latin typeface="Calibri"/>
                <a:ea typeface="Calibri"/>
                <a:cs typeface="Calibri"/>
                <a:sym typeface="Calibri"/>
              </a:rPr>
            </a:br>
            <a:r>
              <a:rPr lang="en" sz="1700" b="1" i="1">
                <a:solidFill>
                  <a:srgbClr val="FF0000"/>
                </a:solidFill>
                <a:latin typeface="Calibri"/>
                <a:ea typeface="Calibri"/>
                <a:cs typeface="Calibri"/>
                <a:sym typeface="Calibri"/>
              </a:rPr>
              <a:t>  - Boris Cherny </a:t>
            </a:r>
            <a:endParaRPr sz="1700" b="1" i="1">
              <a:solidFill>
                <a:srgbClr val="FF0000"/>
              </a:solidFill>
              <a:latin typeface="Calibri"/>
              <a:ea typeface="Calibri"/>
              <a:cs typeface="Calibri"/>
              <a:sym typeface="Calibri"/>
            </a:endParaRPr>
          </a:p>
        </p:txBody>
      </p:sp>
      <p:pic>
        <p:nvPicPr>
          <p:cNvPr id="67" name="Google Shape;67;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326625" y="299000"/>
            <a:ext cx="1660725" cy="939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3" name="Google Shape;73;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4" name="Google Shape;74;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5" name="Google Shape;75;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6" name="Google Shape;76;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7" name="Google Shape;77;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April 30</a:t>
            </a:r>
            <a:endParaRPr sz="1000">
              <a:latin typeface="Calibri"/>
              <a:ea typeface="Calibri"/>
              <a:cs typeface="Calibri"/>
              <a:sym typeface="Calibri"/>
            </a:endParaRPr>
          </a:p>
        </p:txBody>
      </p:sp>
      <p:sp>
        <p:nvSpPr>
          <p:cNvPr id="78" name="Google Shape;78;p16"/>
          <p:cNvSpPr txBox="1"/>
          <p:nvPr/>
        </p:nvSpPr>
        <p:spPr>
          <a:xfrm>
            <a:off x="7346795" y="608477"/>
            <a:ext cx="17457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p:txBody>
      </p:sp>
      <p:graphicFrame>
        <p:nvGraphicFramePr>
          <p:cNvPr id="79" name="Google Shape;79;p16"/>
          <p:cNvGraphicFramePr/>
          <p:nvPr/>
        </p:nvGraphicFramePr>
        <p:xfrm>
          <a:off x="5742420" y="430065"/>
          <a:ext cx="3000000" cy="3000000"/>
        </p:xfrm>
        <a:graphic>
          <a:graphicData uri="http://schemas.openxmlformats.org/drawingml/2006/table">
            <a:tbl>
              <a:tblPr>
                <a:noFill/>
                <a:tableStyleId>{410CED21-B8A9-4888-AF41-A55212CB7C90}</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0" name="Google Shape;80;p16"/>
          <p:cNvSpPr txBox="1"/>
          <p:nvPr/>
        </p:nvSpPr>
        <p:spPr>
          <a:xfrm>
            <a:off x="5566400" y="1195525"/>
            <a:ext cx="15738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deepseek-v4-pro-thinking</a:t>
            </a:r>
            <a:br>
              <a:rPr lang="en" sz="1000">
                <a:latin typeface="Calibri"/>
                <a:ea typeface="Calibri"/>
                <a:cs typeface="Calibri"/>
                <a:sym typeface="Calibri"/>
              </a:rPr>
            </a:br>
            <a:r>
              <a:rPr lang="en" sz="1000">
                <a:latin typeface="Calibri"/>
                <a:ea typeface="Calibri"/>
                <a:cs typeface="Calibri"/>
                <a:sym typeface="Calibri"/>
              </a:rPr>
              <a:t>is on 35th place </a:t>
            </a:r>
            <a:br>
              <a:rPr lang="en" sz="1000">
                <a:latin typeface="Calibri"/>
                <a:ea typeface="Calibri"/>
                <a:cs typeface="Calibri"/>
                <a:sym typeface="Calibri"/>
              </a:rPr>
            </a:br>
            <a:r>
              <a:rPr lang="en" sz="1000">
                <a:latin typeface="Calibri"/>
                <a:ea typeface="Calibri"/>
                <a:cs typeface="Calibri"/>
                <a:sym typeface="Calibri"/>
              </a:rPr>
              <a:t>(1502 +/- 19) for coding</a:t>
            </a:r>
            <a:endParaRPr sz="1000">
              <a:latin typeface="Calibri"/>
              <a:ea typeface="Calibri"/>
              <a:cs typeface="Calibri"/>
              <a:sym typeface="Calibri"/>
            </a:endParaRPr>
          </a:p>
        </p:txBody>
      </p:sp>
      <p:graphicFrame>
        <p:nvGraphicFramePr>
          <p:cNvPr id="81" name="Google Shape;81;p16"/>
          <p:cNvGraphicFramePr/>
          <p:nvPr/>
        </p:nvGraphicFramePr>
        <p:xfrm>
          <a:off x="2988075" y="765924"/>
          <a:ext cx="3000000" cy="3000000"/>
        </p:xfrm>
        <a:graphic>
          <a:graphicData uri="http://schemas.openxmlformats.org/drawingml/2006/table">
            <a:tbl>
              <a:tblPr>
                <a:noFill/>
                <a:tableStyleId>{410CED21-B8A9-4888-AF41-A55212CB7C90}</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ernie-5.1-preview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kimi-k2.6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dola-seed-2.0-pro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claude-opus-4-1-20250805-thinking-16k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2" name="Google Shape;82;p16"/>
          <p:cNvGraphicFramePr/>
          <p:nvPr/>
        </p:nvGraphicFramePr>
        <p:xfrm>
          <a:off x="202499" y="762000"/>
          <a:ext cx="3000000" cy="3000000"/>
        </p:xfrm>
        <a:graphic>
          <a:graphicData uri="http://schemas.openxmlformats.org/drawingml/2006/table">
            <a:tbl>
              <a:tblPr>
                <a:noFill/>
                <a:tableStyleId>{410CED21-B8A9-4888-AF41-A55212CB7C90}</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ernie-5.1-preview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grok-4.1-thinking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qwen3.5-max-preview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deepseek-v4-pro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DeepSeek V4 Pro</a:t>
            </a:r>
            <a:endParaRPr sz="2000" b="1">
              <a:solidFill>
                <a:schemeClr val="dk1"/>
              </a:solidFill>
              <a:latin typeface="Calibri"/>
              <a:ea typeface="Calibri"/>
              <a:cs typeface="Calibri"/>
              <a:sym typeface="Calibri"/>
            </a:endParaRPr>
          </a:p>
        </p:txBody>
      </p:sp>
      <p:sp>
        <p:nvSpPr>
          <p:cNvPr id="88" name="Google Shape;88;p17"/>
          <p:cNvSpPr txBox="1"/>
          <p:nvPr/>
        </p:nvSpPr>
        <p:spPr>
          <a:xfrm>
            <a:off x="138925" y="499275"/>
            <a:ext cx="43830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V4 Pro - 1.6T, Flash - 284B</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 V4 Pro is an open-source AI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1.6 Trillion params, top-tier in reasoning and coding.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1.6T / 49B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M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73% more efficient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Optimized to run on Huawei chips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Leads benchmarks in "agentic coding," working with multiple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Outperforms other open-source models in math, coding, and STEM benchmarks using reinforcement learning and "manifold constrained hyperconnections"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Vast World Knowledge: science, history, and business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"engram memory system" and sparse FP8 decoding for faster processing speed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Pricing: $1.74 / $3.48 (in/out per 1M tokens) (cashed in $0.145)</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compare $5.00 / $25.00 for Claude Opus 4.7</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ollama launch claude --model deepseek-v4-pro:cloud </a:t>
            </a:r>
            <a:endParaRPr sz="1200">
              <a:solidFill>
                <a:schemeClr val="dk1"/>
              </a:solidFill>
              <a:latin typeface="Calibri"/>
              <a:ea typeface="Calibri"/>
              <a:cs typeface="Calibri"/>
              <a:sym typeface="Calibri"/>
            </a:endParaRPr>
          </a:p>
        </p:txBody>
      </p:sp>
      <p:pic>
        <p:nvPicPr>
          <p:cNvPr id="89" name="Google Shape;89;p1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676275" y="309950"/>
            <a:ext cx="2013425" cy="1214650"/>
          </a:xfrm>
          <a:prstGeom prst="rect">
            <a:avLst/>
          </a:prstGeom>
          <a:noFill/>
          <a:ln w="9525" cap="flat" cmpd="sng">
            <a:solidFill>
              <a:srgbClr val="FF0000"/>
            </a:solidFill>
            <a:prstDash val="solid"/>
            <a:round/>
            <a:headEnd type="none" w="sm" len="sm"/>
            <a:tailEnd type="none" w="sm" len="sm"/>
          </a:ln>
        </p:spPr>
      </p:pic>
      <p:sp>
        <p:nvSpPr>
          <p:cNvPr id="90" name="Google Shape;90;p17"/>
          <p:cNvSpPr txBox="1"/>
          <p:nvPr/>
        </p:nvSpPr>
        <p:spPr>
          <a:xfrm>
            <a:off x="4676275" y="2282125"/>
            <a:ext cx="43830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Grok 4.3 Beta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Size approx 0.5 Trillion params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Improved architecture, trained longer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Knowledge cutoff is December 2025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Native multimodal input with video understanding, long-context reasoning, real-time web data access, and document generation (PDFs, slides, spreadsheets)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benchmarks - major jump in agentic task performance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API pricing is roughly 37–58% lower than Grok 4.20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Inference speed is approximately 209 tokens per second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to SuperGrok Heavy ($300/mo) at launch, with rollout to SuperGrok ($30/mo) later</a:t>
            </a:r>
            <a:endParaRPr sz="1200">
              <a:solidFill>
                <a:schemeClr val="dk1"/>
              </a:solidFill>
              <a:latin typeface="Calibri"/>
              <a:ea typeface="Calibri"/>
              <a:cs typeface="Calibri"/>
              <a:sym typeface="Calibri"/>
            </a:endParaRPr>
          </a:p>
        </p:txBody>
      </p:sp>
      <p:sp>
        <p:nvSpPr>
          <p:cNvPr id="91" name="Google Shape;91;p17"/>
          <p:cNvSpPr txBox="1"/>
          <p:nvPr/>
        </p:nvSpPr>
        <p:spPr>
          <a:xfrm>
            <a:off x="7147250" y="1915275"/>
            <a:ext cx="1911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Grok 4.3 Beta</a:t>
            </a:r>
            <a:endParaRPr sz="2000" b="1">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p:nvPr/>
        </p:nvSpPr>
        <p:spPr>
          <a:xfrm>
            <a:off x="81775" y="67675"/>
            <a:ext cx="2480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Chinese Models</a:t>
            </a:r>
            <a:endParaRPr sz="2000" b="1">
              <a:solidFill>
                <a:schemeClr val="dk1"/>
              </a:solidFill>
              <a:latin typeface="Calibri"/>
              <a:ea typeface="Calibri"/>
              <a:cs typeface="Calibri"/>
              <a:sym typeface="Calibri"/>
            </a:endParaRPr>
          </a:p>
        </p:txBody>
      </p:sp>
      <p:graphicFrame>
        <p:nvGraphicFramePr>
          <p:cNvPr id="97" name="Google Shape;97;p18"/>
          <p:cNvGraphicFramePr/>
          <p:nvPr/>
        </p:nvGraphicFramePr>
        <p:xfrm>
          <a:off x="719125" y="926250"/>
          <a:ext cx="3000000" cy="3000000"/>
        </p:xfrm>
        <a:graphic>
          <a:graphicData uri="http://schemas.openxmlformats.org/drawingml/2006/table">
            <a:tbl>
              <a:tblPr>
                <a:noFill/>
                <a:tableStyleId>{410CED21-B8A9-4888-AF41-A55212CB7C90}</a:tableStyleId>
              </a:tblPr>
              <a:tblGrid>
                <a:gridCol w="866775">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200150">
                  <a:extLst>
                    <a:ext uri="{9D8B030D-6E8A-4147-A177-3AD203B41FA5}">
                      <a16:colId xmlns:a16="http://schemas.microsoft.com/office/drawing/2014/main" val="20004"/>
                    </a:ext>
                  </a:extLst>
                </a:gridCol>
                <a:gridCol w="790575">
                  <a:extLst>
                    <a:ext uri="{9D8B030D-6E8A-4147-A177-3AD203B41FA5}">
                      <a16:colId xmlns:a16="http://schemas.microsoft.com/office/drawing/2014/main" val="20005"/>
                    </a:ext>
                  </a:extLst>
                </a:gridCol>
                <a:gridCol w="1000125">
                  <a:extLst>
                    <a:ext uri="{9D8B030D-6E8A-4147-A177-3AD203B41FA5}">
                      <a16:colId xmlns:a16="http://schemas.microsoft.com/office/drawing/2014/main" val="20006"/>
                    </a:ext>
                  </a:extLst>
                </a:gridCol>
                <a:gridCol w="1200150">
                  <a:extLst>
                    <a:ext uri="{9D8B030D-6E8A-4147-A177-3AD203B41FA5}">
                      <a16:colId xmlns:a16="http://schemas.microsoft.com/office/drawing/2014/main" val="20007"/>
                    </a:ext>
                  </a:extLst>
                </a:gridCol>
              </a:tblGrid>
              <a:tr h="20002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Feature</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MiMo V2.5 Pro</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DeepSeek V4 Pro</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Kimi K2.6</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Qwen3.6 Max Preview</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GLM-5.1</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Doubao Seed 2.0 Pro</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ERNIE 5.1</a:t>
                      </a:r>
                      <a:endParaRPr sz="8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Developer</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Xiaomi</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DeepSeek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Moonshot AI</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Alibaba / Qwen</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Z.ai (Zhipu AI)</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ByteDance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Baidu</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Release Date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Apr 22,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Apr 24,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Apr 20,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Apr 20–27,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Apr 7,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Feb 14,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Apr 2026</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Architecture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 (Hybrid Linear Attn)</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 (Proprietary)</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MoE (Unified Multimodal)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Total Parameters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~1.6T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754B</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Undisclosed</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~2.4T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Active Parameters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42B</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49B</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32B</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N/A (undisclosed)</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40B</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Undisclosed</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~47B (est.)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Context Window</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1M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1M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256K–262K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262K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200K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256K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128K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276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Max Output Tokens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131K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384K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65.5K–262K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66K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128K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128K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~32K</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Input Price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$1.00/M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$0.43/M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$0.74/M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$1.30/M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$1.05/M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$0.47/M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~$0.28/M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Output Price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$3.00/M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$0.87/M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$4.66/M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$7.80/M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$3.50/M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$2.37/M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~$1.10/M</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 (Modified MIT)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 (Proprietary)</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 (MIT)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 (Proprietary)</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 (Proprietary)</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2000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Multimodal Input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 Image, Video</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 only (at launch)</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 only</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 Image, Video</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Text, Image, Audio, Video</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5238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Key Strength</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Benchmark leader</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Cheapest + large output</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Agent swarms + video</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 on 6 coding benchmarks</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SWE-Bench leader; long-horizon agents</a:t>
                      </a:r>
                      <a:r>
                        <a:rPr lang="en" sz="800">
                          <a:uFill>
                            <a:noFill/>
                          </a:uFill>
                          <a:latin typeface="Calibri"/>
                          <a:ea typeface="Calibri"/>
                          <a:cs typeface="Calibri"/>
                          <a:sym typeface="Calibri"/>
                          <a:hlinkClick r:id="rId3"/>
                        </a:rPr>
                        <a:t> </a:t>
                      </a:r>
                      <a:r>
                        <a:rPr lang="en" sz="800" u="sng">
                          <a:solidFill>
                            <a:schemeClr val="hlink"/>
                          </a:solidFill>
                          <a:latin typeface="Calibri"/>
                          <a:ea typeface="Calibri"/>
                          <a:cs typeface="Calibri"/>
                          <a:sym typeface="Calibri"/>
                          <a:hlinkClick r:id="rId3"/>
                        </a:rPr>
                        <a:t>z</a:t>
                      </a:r>
                      <a:endParaRPr sz="800" u="sng">
                        <a:solidFill>
                          <a:schemeClr val="hlink"/>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Cheapest frontier; video reasoning</a:t>
                      </a:r>
                      <a:r>
                        <a:rPr lang="en" sz="800">
                          <a:uFill>
                            <a:noFill/>
                          </a:uFill>
                          <a:latin typeface="Calibri"/>
                          <a:ea typeface="Calibri"/>
                          <a:cs typeface="Calibri"/>
                          <a:sym typeface="Calibri"/>
                          <a:hlinkClick r:id="rId4"/>
                        </a:rPr>
                        <a:t> </a:t>
                      </a:r>
                      <a:r>
                        <a:rPr lang="en" sz="800" u="sng">
                          <a:solidFill>
                            <a:schemeClr val="hlink"/>
                          </a:solidFill>
                          <a:latin typeface="Calibri"/>
                          <a:ea typeface="Calibri"/>
                          <a:cs typeface="Calibri"/>
                          <a:sym typeface="Calibri"/>
                          <a:hlinkClick r:id="rId4"/>
                        </a:rPr>
                        <a:t>evolink</a:t>
                      </a:r>
                      <a:endParaRPr sz="800" u="sng">
                        <a:solidFill>
                          <a:schemeClr val="hlink"/>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 Legal AI; multimodal breadth</a:t>
                      </a:r>
                      <a:endParaRPr sz="800">
                        <a:latin typeface="Calibri"/>
                        <a:ea typeface="Calibri"/>
                        <a:cs typeface="Calibri"/>
                        <a:sym typeface="Calibri"/>
                      </a:endParaRPr>
                    </a:p>
                  </a:txBody>
                  <a:tcPr marL="91425" marR="9142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p:nvPr/>
        </p:nvSpPr>
        <p:spPr>
          <a:xfrm>
            <a:off x="81775" y="67675"/>
            <a:ext cx="445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Agentic Harness For Different Models </a:t>
            </a:r>
            <a:endParaRPr sz="2000" b="1">
              <a:solidFill>
                <a:schemeClr val="dk1"/>
              </a:solidFill>
              <a:latin typeface="Calibri"/>
              <a:ea typeface="Calibri"/>
              <a:cs typeface="Calibri"/>
              <a:sym typeface="Calibri"/>
            </a:endParaRPr>
          </a:p>
        </p:txBody>
      </p:sp>
      <p:graphicFrame>
        <p:nvGraphicFramePr>
          <p:cNvPr id="103" name="Google Shape;103;p19"/>
          <p:cNvGraphicFramePr/>
          <p:nvPr/>
        </p:nvGraphicFramePr>
        <p:xfrm>
          <a:off x="309588" y="2470769"/>
          <a:ext cx="3000000" cy="3000000"/>
        </p:xfrm>
        <a:graphic>
          <a:graphicData uri="http://schemas.openxmlformats.org/drawingml/2006/table">
            <a:tbl>
              <a:tblPr>
                <a:noFill/>
                <a:tableStyleId>{410CED21-B8A9-4888-AF41-A55212CB7C90}</a:tableStyleId>
              </a:tblPr>
              <a:tblGrid>
                <a:gridCol w="822100">
                  <a:extLst>
                    <a:ext uri="{9D8B030D-6E8A-4147-A177-3AD203B41FA5}">
                      <a16:colId xmlns:a16="http://schemas.microsoft.com/office/drawing/2014/main" val="20000"/>
                    </a:ext>
                  </a:extLst>
                </a:gridCol>
                <a:gridCol w="1886125">
                  <a:extLst>
                    <a:ext uri="{9D8B030D-6E8A-4147-A177-3AD203B41FA5}">
                      <a16:colId xmlns:a16="http://schemas.microsoft.com/office/drawing/2014/main" val="20001"/>
                    </a:ext>
                  </a:extLst>
                </a:gridCol>
                <a:gridCol w="1794775">
                  <a:extLst>
                    <a:ext uri="{9D8B030D-6E8A-4147-A177-3AD203B41FA5}">
                      <a16:colId xmlns:a16="http://schemas.microsoft.com/office/drawing/2014/main" val="20002"/>
                    </a:ext>
                  </a:extLst>
                </a:gridCol>
                <a:gridCol w="3621775">
                  <a:extLst>
                    <a:ext uri="{9D8B030D-6E8A-4147-A177-3AD203B41FA5}">
                      <a16:colId xmlns:a16="http://schemas.microsoft.com/office/drawing/2014/main" val="20003"/>
                    </a:ext>
                  </a:extLst>
                </a:gridCol>
              </a:tblGrid>
              <a:tr h="106600">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Provider</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CLI Harness</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Python SDK</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Notes</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06600">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Anthropic</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4CC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Claude Code CLI</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4CC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claude-agent-sdk</a:t>
                      </a:r>
                      <a:endParaRPr sz="1000">
                        <a:solidFill>
                          <a:srgbClr val="188038"/>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4CC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Official first-party SDK; mature</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4CCCC"/>
                    </a:solidFill>
                  </a:tcPr>
                </a:tc>
                <a:extLst>
                  <a:ext uri="{0D108BD9-81ED-4DB2-BD59-A6C34878D82A}">
                    <a16:rowId xmlns:a16="http://schemas.microsoft.com/office/drawing/2014/main" val="10001"/>
                  </a:ext>
                </a:extLst>
              </a:tr>
              <a:tr h="106600">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Google</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Gemini CLI</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gemini-cli-sdk-py</a:t>
                      </a:r>
                      <a:endParaRPr sz="1000">
                        <a:solidFill>
                          <a:srgbClr val="188038"/>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Community wrapper; no official harness SDK</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202975">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OpenAI</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Codex CLI</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openai-agents</a:t>
                      </a:r>
                      <a:r>
                        <a:rPr lang="en" sz="1000">
                          <a:latin typeface="Calibri"/>
                          <a:ea typeface="Calibri"/>
                          <a:cs typeface="Calibri"/>
                          <a:sym typeface="Calibri"/>
                        </a:rPr>
                        <a:t> SDK (</a:t>
                      </a:r>
                      <a:r>
                        <a:rPr lang="en" sz="1000">
                          <a:solidFill>
                            <a:srgbClr val="188038"/>
                          </a:solidFill>
                          <a:latin typeface="Calibri"/>
                          <a:ea typeface="Calibri"/>
                          <a:cs typeface="Calibri"/>
                          <a:sym typeface="Calibri"/>
                        </a:rPr>
                        <a:t>codex_tool</a:t>
                      </a:r>
                      <a:r>
                        <a:rPr lang="en" sz="1000">
                          <a:latin typeface="Calibri"/>
                          <a:ea typeface="Calibri"/>
                          <a:cs typeface="Calibri"/>
                          <a:sym typeface="Calibri"/>
                        </a:rPr>
                        <a:t>)</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Official; </a:t>
                      </a:r>
                      <a:r>
                        <a:rPr lang="en" sz="1000">
                          <a:solidFill>
                            <a:srgbClr val="188038"/>
                          </a:solidFill>
                          <a:latin typeface="Calibri"/>
                          <a:ea typeface="Calibri"/>
                          <a:cs typeface="Calibri"/>
                          <a:sym typeface="Calibri"/>
                        </a:rPr>
                        <a:t>codex_tool</a:t>
                      </a:r>
                      <a:r>
                        <a:rPr lang="en" sz="1000">
                          <a:latin typeface="Calibri"/>
                          <a:ea typeface="Calibri"/>
                          <a:cs typeface="Calibri"/>
                          <a:sym typeface="Calibri"/>
                        </a:rPr>
                        <a:t> wraps CLI as MCP</a:t>
                      </a:r>
                      <a:br>
                        <a:rPr lang="en" sz="1000">
                          <a:latin typeface="Calibri"/>
                          <a:ea typeface="Calibri"/>
                          <a:cs typeface="Calibri"/>
                          <a:sym typeface="Calibri"/>
                        </a:rPr>
                      </a:br>
                      <a:r>
                        <a:rPr lang="en" sz="1000">
                          <a:latin typeface="Calibri"/>
                          <a:ea typeface="Calibri"/>
                          <a:cs typeface="Calibri"/>
                          <a:sym typeface="Calibri"/>
                        </a:rPr>
                        <a:t>also </a:t>
                      </a:r>
                      <a:r>
                        <a:rPr lang="en" sz="1000">
                          <a:solidFill>
                            <a:srgbClr val="188038"/>
                          </a:solidFill>
                          <a:latin typeface="Calibri"/>
                          <a:ea typeface="Calibri"/>
                          <a:cs typeface="Calibri"/>
                          <a:sym typeface="Calibri"/>
                        </a:rPr>
                        <a:t>codex-python-sdk</a:t>
                      </a:r>
                      <a:r>
                        <a:rPr lang="en" sz="1000">
                          <a:latin typeface="Calibri"/>
                          <a:ea typeface="Calibri"/>
                          <a:cs typeface="Calibri"/>
                          <a:sym typeface="Calibri"/>
                        </a:rPr>
                        <a:t> community wrapper</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20875">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xAI (Grok)</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 No dedicated coding CLI</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xai-sdk</a:t>
                      </a:r>
                      <a:r>
                        <a:rPr lang="en" sz="1000">
                          <a:latin typeface="Calibri"/>
                          <a:ea typeface="Calibri"/>
                          <a:cs typeface="Calibri"/>
                          <a:sym typeface="Calibri"/>
                        </a:rPr>
                        <a:t> (official, gRPC-based)</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No Grok coding agent CLI exists; But Grok API is compatible with both OpenAI and Anthropic SDK</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106600">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DeepSeek</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deepseek-cli</a:t>
                      </a:r>
                      <a:r>
                        <a:rPr lang="en" sz="1000">
                          <a:latin typeface="Calibri"/>
                          <a:ea typeface="Calibri"/>
                          <a:cs typeface="Calibri"/>
                          <a:sym typeface="Calibri"/>
                        </a:rPr>
                        <a:t> (community, Node.js)</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deepseek-python</a:t>
                      </a:r>
                      <a:r>
                        <a:rPr lang="en" sz="1000">
                          <a:latin typeface="Calibri"/>
                          <a:ea typeface="Calibri"/>
                          <a:cs typeface="Calibri"/>
                          <a:sym typeface="Calibri"/>
                        </a:rPr>
                        <a:t> (community)</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No official harness; Can use OpenCode or Claude Code as harness</a:t>
                      </a:r>
                      <a:endParaRPr sz="10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202975">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Qwen</a:t>
                      </a:r>
                      <a:endParaRPr sz="10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Qwen Code CLI (</a:t>
                      </a:r>
                      <a:r>
                        <a:rPr lang="en" sz="1000">
                          <a:solidFill>
                            <a:srgbClr val="188038"/>
                          </a:solidFill>
                          <a:latin typeface="Calibri"/>
                          <a:ea typeface="Calibri"/>
                          <a:cs typeface="Calibri"/>
                          <a:sym typeface="Calibri"/>
                        </a:rPr>
                        <a:t>npm)</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188038"/>
                          </a:solidFill>
                          <a:latin typeface="Calibri"/>
                          <a:ea typeface="Calibri"/>
                          <a:cs typeface="Calibri"/>
                          <a:sym typeface="Calibri"/>
                        </a:rPr>
                        <a:t>qwen-code-sdk (python)</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Official from QwenLM,  mirrors Claude Code SDK pattern</a:t>
                      </a:r>
                      <a:endParaRPr sz="10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bl>
          </a:graphicData>
        </a:graphic>
      </p:graphicFrame>
      <p:sp>
        <p:nvSpPr>
          <p:cNvPr id="104" name="Google Shape;104;p19"/>
          <p:cNvSpPr txBox="1"/>
          <p:nvPr/>
        </p:nvSpPr>
        <p:spPr>
          <a:xfrm>
            <a:off x="1670648" y="4329644"/>
            <a:ext cx="54027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Grok and DeepSeek offer only direct API SDKs (no agent harness CLI).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if you need agentic loop behavior with those models, you can use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Alternatively you can build it yourself or use a framework like LangGraph or AutoGen on top of their APIs.</a:t>
            </a:r>
            <a:endParaRPr sz="1200">
              <a:solidFill>
                <a:schemeClr val="dk1"/>
              </a:solidFill>
              <a:latin typeface="Calibri"/>
              <a:ea typeface="Calibri"/>
              <a:cs typeface="Calibri"/>
              <a:sym typeface="Calibri"/>
            </a:endParaRPr>
          </a:p>
        </p:txBody>
      </p:sp>
      <p:pic>
        <p:nvPicPr>
          <p:cNvPr id="105" name="Google Shape;105;p1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252805" y="67675"/>
            <a:ext cx="2800445" cy="2311526"/>
          </a:xfrm>
          <a:prstGeom prst="rect">
            <a:avLst/>
          </a:prstGeom>
          <a:noFill/>
          <a:ln>
            <a:noFill/>
          </a:ln>
        </p:spPr>
      </p:pic>
      <p:pic>
        <p:nvPicPr>
          <p:cNvPr id="106" name="Google Shape;106;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431400" y="546475"/>
            <a:ext cx="3543788" cy="17718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p:nvPr/>
        </p:nvSpPr>
        <p:spPr>
          <a:xfrm>
            <a:off x="81775" y="67675"/>
            <a:ext cx="208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Context Length</a:t>
            </a:r>
            <a:endParaRPr sz="2000" b="1">
              <a:solidFill>
                <a:schemeClr val="dk1"/>
              </a:solidFill>
              <a:latin typeface="Calibri"/>
              <a:ea typeface="Calibri"/>
              <a:cs typeface="Calibri"/>
              <a:sym typeface="Calibri"/>
            </a:endParaRPr>
          </a:p>
        </p:txBody>
      </p:sp>
      <p:graphicFrame>
        <p:nvGraphicFramePr>
          <p:cNvPr id="112" name="Google Shape;112;p20"/>
          <p:cNvGraphicFramePr/>
          <p:nvPr/>
        </p:nvGraphicFramePr>
        <p:xfrm>
          <a:off x="173550" y="607800"/>
          <a:ext cx="3000000" cy="3000000"/>
        </p:xfrm>
        <a:graphic>
          <a:graphicData uri="http://schemas.openxmlformats.org/drawingml/2006/table">
            <a:tbl>
              <a:tblPr>
                <a:noFill/>
                <a:tableStyleId>{410CED21-B8A9-4888-AF41-A55212CB7C90}</a:tableStyleId>
              </a:tblPr>
              <a:tblGrid>
                <a:gridCol w="2735150">
                  <a:extLst>
                    <a:ext uri="{9D8B030D-6E8A-4147-A177-3AD203B41FA5}">
                      <a16:colId xmlns:a16="http://schemas.microsoft.com/office/drawing/2014/main" val="20000"/>
                    </a:ext>
                  </a:extLst>
                </a:gridCol>
                <a:gridCol w="557650">
                  <a:extLst>
                    <a:ext uri="{9D8B030D-6E8A-4147-A177-3AD203B41FA5}">
                      <a16:colId xmlns:a16="http://schemas.microsoft.com/office/drawing/2014/main" val="20001"/>
                    </a:ext>
                  </a:extLst>
                </a:gridCol>
                <a:gridCol w="480675">
                  <a:extLst>
                    <a:ext uri="{9D8B030D-6E8A-4147-A177-3AD203B41FA5}">
                      <a16:colId xmlns:a16="http://schemas.microsoft.com/office/drawing/2014/main" val="20002"/>
                    </a:ext>
                  </a:extLst>
                </a:gridCol>
                <a:gridCol w="501775">
                  <a:extLst>
                    <a:ext uri="{9D8B030D-6E8A-4147-A177-3AD203B41FA5}">
                      <a16:colId xmlns:a16="http://schemas.microsoft.com/office/drawing/2014/main" val="20003"/>
                    </a:ext>
                  </a:extLst>
                </a:gridCol>
                <a:gridCol w="448050">
                  <a:extLst>
                    <a:ext uri="{9D8B030D-6E8A-4147-A177-3AD203B41FA5}">
                      <a16:colId xmlns:a16="http://schemas.microsoft.com/office/drawing/2014/main" val="20004"/>
                    </a:ext>
                  </a:extLst>
                </a:gridCol>
              </a:tblGrid>
              <a:tr h="426775">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Model</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In</a:t>
                      </a:r>
                      <a:br>
                        <a:rPr lang="en" sz="1200" b="1">
                          <a:latin typeface="Calibri"/>
                          <a:ea typeface="Calibri"/>
                          <a:cs typeface="Calibri"/>
                          <a:sym typeface="Calibri"/>
                        </a:rPr>
                      </a:br>
                      <a:r>
                        <a:rPr lang="en" sz="1200" b="1">
                          <a:latin typeface="Calibri"/>
                          <a:ea typeface="Calibri"/>
                          <a:cs typeface="Calibri"/>
                          <a:sym typeface="Calibri"/>
                        </a:rPr>
                        <a:t>tokens</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Out</a:t>
                      </a:r>
                      <a:br>
                        <a:rPr lang="en" sz="1200" b="1">
                          <a:latin typeface="Calibri"/>
                          <a:ea typeface="Calibri"/>
                          <a:cs typeface="Calibri"/>
                          <a:sym typeface="Calibri"/>
                        </a:rPr>
                      </a:br>
                      <a:r>
                        <a:rPr lang="en" sz="1200" b="1">
                          <a:latin typeface="Calibri"/>
                          <a:ea typeface="Calibri"/>
                          <a:cs typeface="Calibri"/>
                          <a:sym typeface="Calibri"/>
                        </a:rPr>
                        <a:t>tokens</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Out </a:t>
                      </a:r>
                      <a:br>
                        <a:rPr lang="en" sz="1200" b="1">
                          <a:latin typeface="Calibri"/>
                          <a:ea typeface="Calibri"/>
                          <a:cs typeface="Calibri"/>
                          <a:sym typeface="Calibri"/>
                        </a:rPr>
                      </a:br>
                      <a:r>
                        <a:rPr lang="en" sz="1200" b="1">
                          <a:latin typeface="Calibri"/>
                          <a:ea typeface="Calibri"/>
                          <a:cs typeface="Calibri"/>
                          <a:sym typeface="Calibri"/>
                        </a:rPr>
                        <a:t>words</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Out</a:t>
                      </a:r>
                      <a:br>
                        <a:rPr lang="en" sz="1200" b="1">
                          <a:latin typeface="Calibri"/>
                          <a:ea typeface="Calibri"/>
                          <a:cs typeface="Calibri"/>
                          <a:sym typeface="Calibri"/>
                        </a:rPr>
                      </a:br>
                      <a:r>
                        <a:rPr lang="en" sz="1200" b="1">
                          <a:latin typeface="Calibri"/>
                          <a:ea typeface="Calibri"/>
                          <a:cs typeface="Calibri"/>
                          <a:sym typeface="Calibri"/>
                        </a:rPr>
                        <a:t>Pages</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Claude Opus 4.7</a:t>
                      </a:r>
                      <a:r>
                        <a:rPr lang="en" sz="1200">
                          <a:latin typeface="Calibri"/>
                          <a:ea typeface="Calibri"/>
                          <a:cs typeface="Calibri"/>
                          <a:sym typeface="Calibri"/>
                        </a:rPr>
                        <a:t> (Anthropic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128K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200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GPT-5.4</a:t>
                      </a:r>
                      <a:r>
                        <a:rPr lang="en" sz="1200">
                          <a:latin typeface="Calibri"/>
                          <a:ea typeface="Calibri"/>
                          <a:cs typeface="Calibri"/>
                          <a:sym typeface="Calibri"/>
                        </a:rPr>
                        <a:t> (OpenAI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128K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GPT-5.5</a:t>
                      </a:r>
                      <a:r>
                        <a:rPr lang="en" sz="1200">
                          <a:latin typeface="Calibri"/>
                          <a:ea typeface="Calibri"/>
                          <a:cs typeface="Calibri"/>
                          <a:sym typeface="Calibri"/>
                        </a:rPr>
                        <a:t> (OpenAI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~128K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Gemini 3.1 Pro</a:t>
                      </a:r>
                      <a:r>
                        <a:rPr lang="en" sz="1200">
                          <a:latin typeface="Calibri"/>
                          <a:ea typeface="Calibri"/>
                          <a:cs typeface="Calibri"/>
                          <a:sym typeface="Calibri"/>
                        </a:rPr>
                        <a:t> (Google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10M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64K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50K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100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Grok 4.20</a:t>
                      </a:r>
                      <a:r>
                        <a:rPr lang="en" sz="1200">
                          <a:latin typeface="Calibri"/>
                          <a:ea typeface="Calibri"/>
                          <a:cs typeface="Calibri"/>
                          <a:sym typeface="Calibri"/>
                        </a:rPr>
                        <a:t> (xAI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256K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Llama 4 Scout</a:t>
                      </a:r>
                      <a:r>
                        <a:rPr lang="en" sz="1200">
                          <a:latin typeface="Calibri"/>
                          <a:ea typeface="Calibri"/>
                          <a:cs typeface="Calibri"/>
                          <a:sym typeface="Calibri"/>
                        </a:rPr>
                        <a:t> (Meta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10M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8K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6K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Muse Spark</a:t>
                      </a:r>
                      <a:r>
                        <a:rPr lang="en" sz="1200">
                          <a:latin typeface="Calibri"/>
                          <a:ea typeface="Calibri"/>
                          <a:cs typeface="Calibri"/>
                          <a:sym typeface="Calibri"/>
                        </a:rPr>
                        <a:t> (Meta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131K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Mistral Large 3</a:t>
                      </a:r>
                      <a:r>
                        <a:rPr lang="en" sz="1200">
                          <a:latin typeface="Calibri"/>
                          <a:ea typeface="Calibri"/>
                          <a:cs typeface="Calibri"/>
                          <a:sym typeface="Calibri"/>
                        </a:rPr>
                        <a:t> (Mistral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262K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262K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200K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400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DeepSeek V4</a:t>
                      </a:r>
                      <a:r>
                        <a:rPr lang="en" sz="1200">
                          <a:latin typeface="Calibri"/>
                          <a:ea typeface="Calibri"/>
                          <a:cs typeface="Calibri"/>
                          <a:sym typeface="Calibri"/>
                        </a:rPr>
                        <a:t> (DeepSeek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384K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300K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600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Qwen 3.6 Plus</a:t>
                      </a:r>
                      <a:r>
                        <a:rPr lang="en" sz="1200">
                          <a:latin typeface="Calibri"/>
                          <a:ea typeface="Calibri"/>
                          <a:cs typeface="Calibri"/>
                          <a:sym typeface="Calibri"/>
                        </a:rPr>
                        <a:t> (Alibaba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64K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50K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100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Qwen 3 Max Thinking</a:t>
                      </a:r>
                      <a:r>
                        <a:rPr lang="en" sz="1200">
                          <a:latin typeface="Calibri"/>
                          <a:ea typeface="Calibri"/>
                          <a:cs typeface="Calibri"/>
                          <a:sym typeface="Calibri"/>
                        </a:rPr>
                        <a:t> (Alibaba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262K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64K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50K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100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GLM-5.1</a:t>
                      </a:r>
                      <a:r>
                        <a:rPr lang="en" sz="1200">
                          <a:latin typeface="Calibri"/>
                          <a:ea typeface="Calibri"/>
                          <a:cs typeface="Calibri"/>
                          <a:sym typeface="Calibri"/>
                        </a:rPr>
                        <a:t> (Zhipu AI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200K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128K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100K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spcBef>
                          <a:spcPts val="0"/>
                        </a:spcBef>
                        <a:spcAft>
                          <a:spcPts val="0"/>
                        </a:spcAft>
                        <a:buNone/>
                      </a:pPr>
                      <a:r>
                        <a:rPr lang="en" sz="1200">
                          <a:latin typeface="Calibri"/>
                          <a:ea typeface="Calibri"/>
                          <a:cs typeface="Calibri"/>
                          <a:sym typeface="Calibri"/>
                        </a:rPr>
                        <a:t>200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16100">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Ernie 5.0</a:t>
                      </a:r>
                      <a:r>
                        <a:rPr lang="en" sz="1200">
                          <a:latin typeface="Calibri"/>
                          <a:ea typeface="Calibri"/>
                          <a:cs typeface="Calibri"/>
                          <a:sym typeface="Calibri"/>
                        </a:rPr>
                        <a:t> (Baidu 🇨🇳)</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Calibri"/>
                          <a:ea typeface="Calibri"/>
                          <a:cs typeface="Calibri"/>
                          <a:sym typeface="Calibri"/>
                        </a:rPr>
                        <a:t>1M</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64K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50K</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Calibri"/>
                          <a:ea typeface="Calibri"/>
                          <a:cs typeface="Calibri"/>
                          <a:sym typeface="Calibri"/>
                        </a:rPr>
                        <a:t>100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bl>
          </a:graphicData>
        </a:graphic>
      </p:graphicFrame>
      <p:sp>
        <p:nvSpPr>
          <p:cNvPr id="113" name="Google Shape;113;p20"/>
          <p:cNvSpPr txBox="1"/>
          <p:nvPr/>
        </p:nvSpPr>
        <p:spPr>
          <a:xfrm>
            <a:off x="5305425" y="1654750"/>
            <a:ext cx="36339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ChatGPT launched on November 30, 2022 (3.5 years ago) using GPT-3.5 Turbo</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window (in+out combined) 4K tokens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(~3K words, 6 pages)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estimated size of GPT-3 was 175 Bln params</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6.68K subscribers, 283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19" name="Google Shape;119;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GenericAgent</a:t>
            </a:r>
            <a:endParaRPr sz="2000" b="1">
              <a:solidFill>
                <a:schemeClr val="dk1"/>
              </a:solidFill>
              <a:latin typeface="Calibri"/>
              <a:ea typeface="Calibri"/>
              <a:cs typeface="Calibri"/>
              <a:sym typeface="Calibri"/>
            </a:endParaRPr>
          </a:p>
        </p:txBody>
      </p:sp>
      <p:sp>
        <p:nvSpPr>
          <p:cNvPr id="125" name="Google Shape;125;p22"/>
          <p:cNvSpPr txBox="1"/>
          <p:nvPr/>
        </p:nvSpPr>
        <p:spPr>
          <a:xfrm>
            <a:off x="81775" y="623100"/>
            <a:ext cx="43830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GenericAgent</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https://github.com/lsdefine/GenericAgent</a:t>
            </a:r>
            <a:r>
              <a:rPr lang="en" sz="1200">
                <a:solidFill>
                  <a:schemeClr val="dk1"/>
                </a:solidFill>
                <a:latin typeface="Calibri"/>
                <a:ea typeface="Calibri"/>
                <a:cs typeface="Calibri"/>
                <a:sym typeface="Calibri"/>
              </a:rPr>
              <a:t> - 8.6K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https://arxiv.org/abs/2604.17091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GenericAgent is a minimal, self-evolving autonomous agent framework. Its core is just ~3K lines of code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Through 9 atomic tools + a ~100-line Agent Loop, it grants any LLM system-level control over a local computer - covering browser, terminal, filesystem, keyboard/mouse input, screen vision, and mobile devices (Android Debug Bridge = DB)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design philosophy: don't preload skills — evolve them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 time GenericAgent solves a new task, it automatically crystallizes the execution path into an skill for direct reuse later. The longer you use it, the more skills accumulate — forming a skill tree that belongs entirely to you, grown from 3K lines of seed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DinTalClaw is a Chinese AI agent application - specifically a commercially authorized, packaged version of the GenericAgent framework built by A3 Laboratory (Advantage AI Agent Laboratory), a company based in Shenzhen, China - a joint research team co-founded by a Shenzhen company and a top Chinese university: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Shenzhen Kuakua Jinglei Technology Co., Ltd.) - startup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Fudan University Knowledge Factory Laboratory, Shanghai</a:t>
            </a:r>
            <a:endParaRPr sz="1200">
              <a:solidFill>
                <a:schemeClr val="dk1"/>
              </a:solidFill>
              <a:latin typeface="Calibri"/>
              <a:ea typeface="Calibri"/>
              <a:cs typeface="Calibri"/>
              <a:sym typeface="Calibri"/>
            </a:endParaRPr>
          </a:p>
        </p:txBody>
      </p:sp>
      <p:pic>
        <p:nvPicPr>
          <p:cNvPr id="126" name="Google Shape;126;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20100" y="629899"/>
            <a:ext cx="3709524" cy="836950"/>
          </a:xfrm>
          <a:prstGeom prst="rect">
            <a:avLst/>
          </a:prstGeom>
          <a:noFill/>
          <a:ln w="9525" cap="flat" cmpd="sng">
            <a:solidFill>
              <a:srgbClr val="FF0000"/>
            </a:solidFill>
            <a:prstDash val="solid"/>
            <a:round/>
            <a:headEnd type="none" w="sm" len="sm"/>
            <a:tailEnd type="none" w="sm" len="sm"/>
          </a:ln>
        </p:spPr>
      </p:pic>
      <p:pic>
        <p:nvPicPr>
          <p:cNvPr id="127" name="Google Shape;127;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20100" y="1619250"/>
            <a:ext cx="3709526" cy="172726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p:nvPr/>
        </p:nvSpPr>
        <p:spPr>
          <a:xfrm>
            <a:off x="81775" y="67675"/>
            <a:ext cx="1927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33" name="Google Shape;133;p23"/>
          <p:cNvSpPr txBox="1"/>
          <p:nvPr/>
        </p:nvSpPr>
        <p:spPr>
          <a:xfrm>
            <a:off x="81775" y="432800"/>
            <a:ext cx="46674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desktop app Improvments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Integrated File Explorer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Collapsible Sidebar for Plans &amp; Markdown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Multi-Session Split View - running up to 4 independent sessions in a single window. You can drag and drop sessions to create a custom layout, enabling you to work on multiple tasks within a single project simultaneously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Preview and edit Markdown files and project outputs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assign specific folders to individual clients so that Claude always has the correct business context, voice profiles, and historical data for that specific job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Current Limitations - can not render images; can not see hidden file (.claude/ skills folders or .env credential files) ; formatting glitches in MD</a:t>
            </a:r>
            <a:endParaRPr sz="1200">
              <a:solidFill>
                <a:schemeClr val="dk1"/>
              </a:solidFill>
              <a:latin typeface="Calibri"/>
              <a:ea typeface="Calibri"/>
              <a:cs typeface="Calibri"/>
              <a:sym typeface="Calibri"/>
            </a:endParaRPr>
          </a:p>
        </p:txBody>
      </p:sp>
      <p:sp>
        <p:nvSpPr>
          <p:cNvPr id="134" name="Google Shape;134;p23"/>
          <p:cNvSpPr txBox="1"/>
          <p:nvPr/>
        </p:nvSpPr>
        <p:spPr>
          <a:xfrm>
            <a:off x="81775" y="3165291"/>
            <a:ext cx="46674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https://github.com/nousresearch/hermes-agent</a:t>
            </a:r>
            <a:r>
              <a:rPr lang="en" sz="1200">
                <a:solidFill>
                  <a:schemeClr val="dk1"/>
                </a:solidFill>
                <a:latin typeface="Calibri"/>
                <a:ea typeface="Calibri"/>
                <a:cs typeface="Calibri"/>
                <a:sym typeface="Calibri"/>
              </a:rPr>
              <a:t> - 128K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Called an "OpenClaw killer" due to its insane update speed and self-improving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Self-Improving Logic - can create its own new skills and functions when it encounters a gap in its existing library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Browser Harness - allows the agent to "see, click, and type" on any website like a human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Self-Healing from failures - diagnose, write workaround in real-time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https://www.youtube.com/watch?v=4Sln_6K2z8c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35" name="Google Shape;135;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96550" y="3262175"/>
            <a:ext cx="4082376" cy="1667075"/>
          </a:xfrm>
          <a:prstGeom prst="rect">
            <a:avLst/>
          </a:prstGeom>
          <a:noFill/>
          <a:ln w="9525" cap="flat" cmpd="sng">
            <a:solidFill>
              <a:srgbClr val="FF0000"/>
            </a:solidFill>
            <a:prstDash val="solid"/>
            <a:round/>
            <a:headEnd type="none" w="sm" len="sm"/>
            <a:tailEnd type="none" w="sm" len="sm"/>
          </a:ln>
        </p:spPr>
      </p:pic>
      <p:pic>
        <p:nvPicPr>
          <p:cNvPr id="136" name="Google Shape;136;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730225" y="764125"/>
            <a:ext cx="3248700" cy="1370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p:nvPr/>
        </p:nvSpPr>
        <p:spPr>
          <a:xfrm>
            <a:off x="81775" y="0"/>
            <a:ext cx="191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42" name="Google Shape;142;p24"/>
          <p:cNvSpPr txBox="1"/>
          <p:nvPr/>
        </p:nvSpPr>
        <p:spPr>
          <a:xfrm>
            <a:off x="81775" y="326400"/>
            <a:ext cx="46278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Problems with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https://www.youtube.com/watch?v=urAMvpPhtqo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Excessive API costs (some users paid $200+ weekly)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Silent integration failures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Memory wipes during updates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lie about completed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Safety issues - agents deleting email inboxes against user commands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Vulnerability to prompt injection attacks through emails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The core problem - no proper reliability testing</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Most successful users now limit usage to small, isolated workflows rather than full life automation</a:t>
            </a:r>
            <a:endParaRPr sz="1200" b="1">
              <a:solidFill>
                <a:srgbClr val="FF0000"/>
              </a:solidFill>
              <a:latin typeface="Calibri"/>
              <a:ea typeface="Calibri"/>
              <a:cs typeface="Calibri"/>
              <a:sym typeface="Calibri"/>
            </a:endParaRPr>
          </a:p>
        </p:txBody>
      </p:sp>
      <p:sp>
        <p:nvSpPr>
          <p:cNvPr id="143" name="Google Shape;143;p24"/>
          <p:cNvSpPr txBox="1"/>
          <p:nvPr/>
        </p:nvSpPr>
        <p:spPr>
          <a:xfrm>
            <a:off x="81775" y="2480250"/>
            <a:ext cx="46278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Survive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https://www.youtube.com/watch?v=QNyAwrLYWSc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is projected to displace 85M jobs by 2026, it will create 170 million new positions by 2030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Small dynamic businesses requiring fewer people but generating higher profits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Irreplaceably human skills becoming premium currency especially in physical trades and authentic content creation</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Massive opportunities in AI integration for businesses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key surviving skills include entrepreneurial mindset, authentic human connection, wide-ranging curiosity, and AI proficiency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Success requires building personal brands, experimenting with AI daily, documenting unique experiences, thinking small-scale dynamic, and helping businesses integrate AI effectively</a:t>
            </a:r>
            <a:endParaRPr sz="1200">
              <a:solidFill>
                <a:schemeClr val="dk1"/>
              </a:solidFill>
              <a:latin typeface="Calibri"/>
              <a:ea typeface="Calibri"/>
              <a:cs typeface="Calibri"/>
              <a:sym typeface="Calibri"/>
            </a:endParaRPr>
          </a:p>
        </p:txBody>
      </p:sp>
      <p:pic>
        <p:nvPicPr>
          <p:cNvPr id="144" name="Google Shape;144;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01509" y="159723"/>
            <a:ext cx="1822225" cy="798875"/>
          </a:xfrm>
          <a:prstGeom prst="rect">
            <a:avLst/>
          </a:prstGeom>
          <a:noFill/>
          <a:ln w="9525" cap="flat" cmpd="sng">
            <a:solidFill>
              <a:srgbClr val="FF0000"/>
            </a:solidFill>
            <a:prstDash val="solid"/>
            <a:round/>
            <a:headEnd type="none" w="sm" len="sm"/>
            <a:tailEnd type="none" w="sm" len="sm"/>
          </a:ln>
        </p:spPr>
      </p:pic>
      <p:pic>
        <p:nvPicPr>
          <p:cNvPr id="145" name="Google Shape;145;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50825" y="2976150"/>
            <a:ext cx="3605900" cy="1612500"/>
          </a:xfrm>
          <a:prstGeom prst="rect">
            <a:avLst/>
          </a:prstGeom>
          <a:noFill/>
          <a:ln w="9525" cap="flat" cmpd="sng">
            <a:solidFill>
              <a:srgbClr val="FF0000"/>
            </a:solidFill>
            <a:prstDash val="solid"/>
            <a:round/>
            <a:headEnd type="none" w="sm" len="sm"/>
            <a:tailEnd type="none" w="sm" len="sm"/>
          </a:ln>
        </p:spPr>
      </p:pic>
      <p:sp>
        <p:nvSpPr>
          <p:cNvPr id="146" name="Google Shape;146;p24"/>
          <p:cNvSpPr txBox="1"/>
          <p:nvPr/>
        </p:nvSpPr>
        <p:spPr>
          <a:xfrm>
            <a:off x="5001521" y="1099475"/>
            <a:ext cx="38586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84150" algn="l" rtl="0">
              <a:lnSpc>
                <a:spcPct val="100000"/>
              </a:lnSpc>
              <a:spcBef>
                <a:spcPts val="0"/>
              </a:spcBef>
              <a:spcAft>
                <a:spcPts val="0"/>
              </a:spcAft>
              <a:buClr>
                <a:srgbClr val="3C78D8"/>
              </a:buClr>
              <a:buSzPts val="2000"/>
              <a:buFont typeface="Calibri"/>
              <a:buChar char="●"/>
            </a:pPr>
            <a:r>
              <a:rPr lang="en" sz="2000" b="1">
                <a:solidFill>
                  <a:srgbClr val="FF0000"/>
                </a:solidFill>
                <a:latin typeface="Calibri"/>
                <a:ea typeface="Calibri"/>
                <a:cs typeface="Calibri"/>
                <a:sym typeface="Calibri"/>
              </a:rPr>
              <a:t>Problems with OpenClaw</a:t>
            </a:r>
            <a:br>
              <a:rPr lang="en" sz="2000" b="1">
                <a:solidFill>
                  <a:srgbClr val="3C78D8"/>
                </a:solidFill>
                <a:latin typeface="Calibri"/>
                <a:ea typeface="Calibri"/>
                <a:cs typeface="Calibri"/>
                <a:sym typeface="Calibri"/>
              </a:rPr>
            </a:br>
            <a:r>
              <a:rPr lang="en" sz="2000" b="1">
                <a:solidFill>
                  <a:srgbClr val="3C78D8"/>
                </a:solidFill>
                <a:latin typeface="Calibri"/>
                <a:ea typeface="Calibri"/>
                <a:cs typeface="Calibri"/>
                <a:sym typeface="Calibri"/>
              </a:rPr>
              <a:t>"It deleted your inbox, lied about it, and charged you two hundred bucks. But the demo was great."</a:t>
            </a:r>
            <a:endParaRPr sz="2000" b="1">
              <a:solidFill>
                <a:srgbClr val="3C78D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p:nvPr/>
        </p:nvSpPr>
        <p:spPr>
          <a:xfrm>
            <a:off x="81775" y="67675"/>
            <a:ext cx="1927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52" name="Google Shape;152;p25"/>
          <p:cNvSpPr txBox="1"/>
          <p:nvPr/>
        </p:nvSpPr>
        <p:spPr>
          <a:xfrm>
            <a:off x="81775" y="464350"/>
            <a:ext cx="44478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Google's Hope - POC Architecture - Continual Learning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Tackles a core LLM limitation - catastrophic forgetting when models are updated post-training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Inspired by human brain memory systems, Hope uses a "Nested Learning" paradigm with Neural Learning Modules operating at different update frequencies, similar to how brain oscillations handle immediate processing versus long-term memory consolidation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architecture includes Self-Modifying Titans for immediate context and a Continuum Memory System with sequential modules updating at varying rates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multi-frequency approach creates redundancy that protects against knowledge loss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Benchmarks show Hope outperforms standard Transformers on needle-in-haystack tasks, language modeling, and continual learning tests, while preserving scalability advantages over traditional attention-based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https://www.youtube.com/watch?v=VTQR9n3aqNU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53" name="Google Shape;153;p25"/>
          <p:cNvSpPr txBox="1"/>
          <p:nvPr/>
        </p:nvSpPr>
        <p:spPr>
          <a:xfrm>
            <a:off x="81775" y="3971950"/>
            <a:ext cx="4447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Huashu Design - open-source clone of Claude Design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Skill for Claude Code - performs comparably to Claude Design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63 skills, 27 commands, and 21 tools organized into 8 plugins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https://www.youtube.com/watch?v=Nmk1wxoi6ys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https://github.com/alchaincyf/huashu-design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54" name="Google Shape;154;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81975" y="464350"/>
            <a:ext cx="3651075" cy="1832077"/>
          </a:xfrm>
          <a:prstGeom prst="rect">
            <a:avLst/>
          </a:prstGeom>
          <a:noFill/>
          <a:ln w="9525" cap="flat" cmpd="sng">
            <a:solidFill>
              <a:srgbClr val="FF0000"/>
            </a:solidFill>
            <a:prstDash val="solid"/>
            <a:round/>
            <a:headEnd type="none" w="sm" len="sm"/>
            <a:tailEnd type="none" w="sm" len="sm"/>
          </a:ln>
        </p:spPr>
      </p:pic>
      <p:pic>
        <p:nvPicPr>
          <p:cNvPr id="155" name="Google Shape;155;p2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81975" y="3110605"/>
            <a:ext cx="3651071" cy="1949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p:nvPr/>
        </p:nvSpPr>
        <p:spPr>
          <a:xfrm>
            <a:off x="81775" y="67675"/>
            <a:ext cx="1927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61" name="Google Shape;161;p26"/>
          <p:cNvSpPr txBox="1"/>
          <p:nvPr/>
        </p:nvSpPr>
        <p:spPr>
          <a:xfrm>
            <a:off x="81775" y="464350"/>
            <a:ext cx="44691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Boris Cherny Six-step Claude Code System:</a:t>
            </a:r>
            <a:endParaRPr sz="1200" b="1">
              <a:solidFill>
                <a:srgbClr val="FF0000"/>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Auto mode uses a classifier to automatically approve safe commands, letting you run multiple agents in parallel without babysitting them</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Effort levels now include a new "extra high" default, which is more consistent than "max" since the model adaptively decides how much thinking a task needs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Focus mode hides intermediate steps so you only see final output, best kept on for builder agents and off for reviewer agents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A "fewer permission prompts" skill scans your history and whitelists common safe commands to reduce repetitive approvals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For long sessions, automatic recaps summarize agent progress so you can pick up where you left off</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 Finally, a short prompt style paired with a custom /go skill automates verification, code cleanup, and pull request submission in one chain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https://www.youtube.com/watch?v=VIbew55IpE4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2" name="Google Shape;162;p26"/>
          <p:cNvPicPr preferRelativeResize="0"/>
          <p:nvPr/>
        </p:nvPicPr>
        <p:blipFill>
          <a:blip r:embed="rId4">
            <a:alphaModFix/>
          </a:blip>
          <a:stretch>
            <a:fillRect/>
          </a:stretch>
        </p:blipFill>
        <p:spPr>
          <a:xfrm>
            <a:off x="4875725" y="804650"/>
            <a:ext cx="3369500" cy="18932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p:nvPr/>
        </p:nvSpPr>
        <p:spPr>
          <a:xfrm>
            <a:off x="81775" y="67675"/>
            <a:ext cx="4469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- 15 Rules &amp; Workflows</a:t>
            </a:r>
            <a:endParaRPr sz="2000" b="1">
              <a:solidFill>
                <a:schemeClr val="dk1"/>
              </a:solidFill>
              <a:latin typeface="Calibri"/>
              <a:ea typeface="Calibri"/>
              <a:cs typeface="Calibri"/>
              <a:sym typeface="Calibri"/>
            </a:endParaRPr>
          </a:p>
        </p:txBody>
      </p:sp>
      <p:sp>
        <p:nvSpPr>
          <p:cNvPr id="168" name="Google Shape;168;p27"/>
          <p:cNvSpPr txBox="1"/>
          <p:nvPr/>
        </p:nvSpPr>
        <p:spPr>
          <a:xfrm>
            <a:off x="81775" y="464350"/>
            <a:ext cx="5569200" cy="358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15 rules and workflows used by the creator of Claude Code:</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  Use the </a:t>
            </a:r>
            <a:r>
              <a:rPr lang="en" sz="1100" b="1">
                <a:solidFill>
                  <a:srgbClr val="3C78D8"/>
                </a:solidFill>
                <a:latin typeface="Calibri"/>
                <a:ea typeface="Calibri"/>
                <a:cs typeface="Calibri"/>
                <a:sym typeface="Calibri"/>
              </a:rPr>
              <a:t>"--chrome"</a:t>
            </a:r>
            <a:r>
              <a:rPr lang="en" sz="1100">
                <a:solidFill>
                  <a:schemeClr val="dk1"/>
                </a:solidFill>
                <a:latin typeface="Calibri"/>
                <a:ea typeface="Calibri"/>
                <a:cs typeface="Calibri"/>
                <a:sym typeface="Calibri"/>
              </a:rPr>
              <a:t> flag for front-end work so Claude can see and verify the UI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  Use </a:t>
            </a:r>
            <a:r>
              <a:rPr lang="en" sz="1100" b="1">
                <a:solidFill>
                  <a:srgbClr val="3C78D8"/>
                </a:solidFill>
                <a:latin typeface="Calibri"/>
                <a:ea typeface="Calibri"/>
                <a:cs typeface="Calibri"/>
                <a:sym typeface="Calibri"/>
              </a:rPr>
              <a:t>"/branch"</a:t>
            </a:r>
            <a:r>
              <a:rPr lang="en" sz="1100">
                <a:solidFill>
                  <a:schemeClr val="dk1"/>
                </a:solidFill>
                <a:latin typeface="Calibri"/>
                <a:ea typeface="Calibri"/>
                <a:cs typeface="Calibri"/>
                <a:sym typeface="Calibri"/>
              </a:rPr>
              <a:t> to fork a thread without polluting the main context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3.  Use </a:t>
            </a:r>
            <a:r>
              <a:rPr lang="en" sz="1100" b="1">
                <a:solidFill>
                  <a:srgbClr val="3C78D8"/>
                </a:solidFill>
                <a:latin typeface="Calibri"/>
                <a:ea typeface="Calibri"/>
                <a:cs typeface="Calibri"/>
                <a:sym typeface="Calibri"/>
              </a:rPr>
              <a:t>"/resume [ID]"</a:t>
            </a:r>
            <a:r>
              <a:rPr lang="en" sz="1100">
                <a:solidFill>
                  <a:schemeClr val="dk1"/>
                </a:solidFill>
                <a:latin typeface="Calibri"/>
                <a:ea typeface="Calibri"/>
                <a:cs typeface="Calibri"/>
                <a:sym typeface="Calibri"/>
              </a:rPr>
              <a:t> to jump back to a specific point in a conversation's history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4.  Use </a:t>
            </a:r>
            <a:r>
              <a:rPr lang="en" sz="1100" b="1">
                <a:solidFill>
                  <a:srgbClr val="3C78D8"/>
                </a:solidFill>
                <a:latin typeface="Calibri"/>
                <a:ea typeface="Calibri"/>
                <a:cs typeface="Calibri"/>
                <a:sym typeface="Calibri"/>
              </a:rPr>
              <a:t>"remote-control"</a:t>
            </a:r>
            <a:r>
              <a:rPr lang="en" sz="1100">
                <a:solidFill>
                  <a:schemeClr val="dk1"/>
                </a:solidFill>
                <a:latin typeface="Calibri"/>
                <a:ea typeface="Calibri"/>
                <a:cs typeface="Calibri"/>
                <a:sym typeface="Calibri"/>
              </a:rPr>
              <a:t> to pick up your terminal session on the Claude mobile app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5.  Use </a:t>
            </a:r>
            <a:r>
              <a:rPr lang="en" sz="1100" b="1">
                <a:solidFill>
                  <a:srgbClr val="3C78D8"/>
                </a:solidFill>
                <a:latin typeface="Calibri"/>
                <a:ea typeface="Calibri"/>
                <a:cs typeface="Calibri"/>
                <a:sym typeface="Calibri"/>
              </a:rPr>
              <a:t>"teleport"</a:t>
            </a:r>
            <a:r>
              <a:rPr lang="en" sz="1100">
                <a:solidFill>
                  <a:schemeClr val="dk1"/>
                </a:solidFill>
                <a:latin typeface="Calibri"/>
                <a:ea typeface="Calibri"/>
                <a:cs typeface="Calibri"/>
                <a:sym typeface="Calibri"/>
              </a:rPr>
              <a:t> to pull a session from mobile or the web back onto your local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6.  </a:t>
            </a:r>
            <a:r>
              <a:rPr lang="en" sz="1100" b="1">
                <a:solidFill>
                  <a:srgbClr val="3C78D8"/>
                </a:solidFill>
                <a:latin typeface="Calibri"/>
                <a:ea typeface="Calibri"/>
                <a:cs typeface="Calibri"/>
                <a:sym typeface="Calibri"/>
              </a:rPr>
              <a:t>Git Worktrees</a:t>
            </a:r>
            <a:r>
              <a:rPr lang="en" sz="1100">
                <a:solidFill>
                  <a:schemeClr val="dk1"/>
                </a:solidFill>
                <a:latin typeface="Calibri"/>
                <a:ea typeface="Calibri"/>
                <a:cs typeface="Calibri"/>
                <a:sym typeface="Calibri"/>
              </a:rPr>
              <a:t> - run multiple Claude Code instances in parallel across different directories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7.  Use </a:t>
            </a:r>
            <a:r>
              <a:rPr lang="en" sz="1100" b="1">
                <a:solidFill>
                  <a:srgbClr val="3C78D8"/>
                </a:solidFill>
                <a:latin typeface="Calibri"/>
                <a:ea typeface="Calibri"/>
                <a:cs typeface="Calibri"/>
                <a:sym typeface="Calibri"/>
              </a:rPr>
              <a:t>Opus for Everything</a:t>
            </a:r>
            <a:r>
              <a:rPr lang="en" sz="1100">
                <a:solidFill>
                  <a:schemeClr val="dk1"/>
                </a:solidFill>
                <a:latin typeface="Calibri"/>
                <a:ea typeface="Calibri"/>
                <a:cs typeface="Calibri"/>
                <a:sym typeface="Calibri"/>
              </a:rPr>
              <a:t> - it is often faster and cheaper in the long run because it hits the correct solution sooner.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8.  Use automated loops to </a:t>
            </a:r>
            <a:r>
              <a:rPr lang="en" sz="1100" b="1">
                <a:solidFill>
                  <a:srgbClr val="3C78D8"/>
                </a:solidFill>
                <a:latin typeface="Calibri"/>
                <a:ea typeface="Calibri"/>
                <a:cs typeface="Calibri"/>
                <a:sym typeface="Calibri"/>
              </a:rPr>
              <a:t>check PRs every 5 minutes</a:t>
            </a:r>
            <a:r>
              <a:rPr lang="en" sz="1100">
                <a:solidFill>
                  <a:schemeClr val="dk1"/>
                </a:solidFill>
                <a:latin typeface="Calibri"/>
                <a:ea typeface="Calibri"/>
                <a:cs typeface="Calibri"/>
                <a:sym typeface="Calibri"/>
              </a:rPr>
              <a:t> and fix linting or test errors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9.  Use </a:t>
            </a:r>
            <a:r>
              <a:rPr lang="en" sz="1100" b="1">
                <a:solidFill>
                  <a:srgbClr val="3C78D8"/>
                </a:solidFill>
                <a:latin typeface="Calibri"/>
                <a:ea typeface="Calibri"/>
                <a:cs typeface="Calibri"/>
                <a:sym typeface="Calibri"/>
              </a:rPr>
              <a:t>custom slash commands</a:t>
            </a:r>
            <a:r>
              <a:rPr lang="en" sz="1100">
                <a:solidFill>
                  <a:schemeClr val="dk1"/>
                </a:solidFill>
                <a:latin typeface="Calibri"/>
                <a:ea typeface="Calibri"/>
                <a:cs typeface="Calibri"/>
                <a:sym typeface="Calibri"/>
              </a:rPr>
              <a:t> to combine skills and plugins into multi-step workflows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10. Use </a:t>
            </a:r>
            <a:r>
              <a:rPr lang="en" sz="1100" b="1">
                <a:solidFill>
                  <a:srgbClr val="3C78D8"/>
                </a:solidFill>
                <a:latin typeface="Calibri"/>
                <a:ea typeface="Calibri"/>
                <a:cs typeface="Calibri"/>
                <a:sym typeface="Calibri"/>
              </a:rPr>
              <a:t>sub-agents for code simplification and app verification</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11. Use the </a:t>
            </a:r>
            <a:r>
              <a:rPr lang="en" sz="1100" b="1">
                <a:solidFill>
                  <a:srgbClr val="3C78D8"/>
                </a:solidFill>
                <a:latin typeface="Calibri"/>
                <a:ea typeface="Calibri"/>
                <a:cs typeface="Calibri"/>
                <a:sym typeface="Calibri"/>
              </a:rPr>
              <a:t>"/batch"</a:t>
            </a:r>
            <a:r>
              <a:rPr lang="en" sz="1100">
                <a:solidFill>
                  <a:schemeClr val="dk1"/>
                </a:solidFill>
                <a:latin typeface="Calibri"/>
                <a:ea typeface="Calibri"/>
                <a:cs typeface="Calibri"/>
                <a:sym typeface="Calibri"/>
              </a:rPr>
              <a:t> command for massive tasks (100s of worktrees)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12. </a:t>
            </a:r>
            <a:r>
              <a:rPr lang="en" sz="1100" b="1">
                <a:solidFill>
                  <a:srgbClr val="3C78D8"/>
                </a:solidFill>
                <a:latin typeface="Calibri"/>
                <a:ea typeface="Calibri"/>
                <a:cs typeface="Calibri"/>
                <a:sym typeface="Calibri"/>
              </a:rPr>
              <a:t>Focus on planning</a:t>
            </a:r>
            <a:r>
              <a:rPr lang="en" sz="1100">
                <a:solidFill>
                  <a:schemeClr val="dk1"/>
                </a:solidFill>
                <a:latin typeface="Calibri"/>
                <a:ea typeface="Calibri"/>
                <a:cs typeface="Calibri"/>
                <a:sym typeface="Calibri"/>
              </a:rPr>
              <a:t> rather than coding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13. </a:t>
            </a:r>
            <a:r>
              <a:rPr lang="en" sz="1100" b="1">
                <a:solidFill>
                  <a:srgbClr val="3C78D8"/>
                </a:solidFill>
                <a:latin typeface="Calibri"/>
                <a:ea typeface="Calibri"/>
                <a:cs typeface="Calibri"/>
                <a:sym typeface="Calibri"/>
              </a:rPr>
              <a:t>Maintain the CLAUDE.md File</a:t>
            </a:r>
            <a:r>
              <a:rPr lang="en" sz="1100">
                <a:solidFill>
                  <a:schemeClr val="dk1"/>
                </a:solidFill>
                <a:latin typeface="Calibri"/>
                <a:ea typeface="Calibri"/>
                <a:cs typeface="Calibri"/>
                <a:sym typeface="Calibri"/>
              </a:rPr>
              <a:t>: Keep your project instructions concise, update them daily, delete and restart the file if it gets messy.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14. The </a:t>
            </a:r>
            <a:r>
              <a:rPr lang="en" sz="1100" b="1">
                <a:solidFill>
                  <a:srgbClr val="3C78D8"/>
                </a:solidFill>
                <a:latin typeface="Calibri"/>
                <a:ea typeface="Calibri"/>
                <a:cs typeface="Calibri"/>
                <a:sym typeface="Calibri"/>
              </a:rPr>
              <a:t>"Grill Me" Process</a:t>
            </a:r>
            <a:r>
              <a:rPr lang="en" sz="1100">
                <a:solidFill>
                  <a:schemeClr val="dk1"/>
                </a:solidFill>
                <a:latin typeface="Calibri"/>
                <a:ea typeface="Calibri"/>
                <a:cs typeface="Calibri"/>
                <a:sym typeface="Calibri"/>
              </a:rPr>
              <a:t>: Use a command to have Claude interview you about your plan to eliminate any ambiguity before implementation begins.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15. Use </a:t>
            </a:r>
            <a:r>
              <a:rPr lang="en" sz="1100" b="1">
                <a:solidFill>
                  <a:srgbClr val="3C78D8"/>
                </a:solidFill>
                <a:latin typeface="Calibri"/>
                <a:ea typeface="Calibri"/>
                <a:cs typeface="Calibri"/>
                <a:sym typeface="Calibri"/>
              </a:rPr>
              <a:t>"/status-line"</a:t>
            </a:r>
            <a:r>
              <a:rPr lang="en" sz="1100">
                <a:solidFill>
                  <a:schemeClr val="dk1"/>
                </a:solidFill>
                <a:latin typeface="Calibri"/>
                <a:ea typeface="Calibri"/>
                <a:cs typeface="Calibri"/>
                <a:sym typeface="Calibri"/>
              </a:rPr>
              <a:t> to track context window usage (tokens) and clear the context once it reaches 15-20% to maintain efficiency.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http://www.youtube.com/watch?v=qGAuqbbj1Ls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69" name="Google Shape;169;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76500" y="941925"/>
            <a:ext cx="3238575" cy="15497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p:nvPr/>
        </p:nvSpPr>
        <p:spPr>
          <a:xfrm>
            <a:off x="81775" y="67675"/>
            <a:ext cx="255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Personal Agent OS</a:t>
            </a:r>
            <a:endParaRPr sz="2000" b="1">
              <a:solidFill>
                <a:schemeClr val="dk1"/>
              </a:solidFill>
              <a:latin typeface="Calibri"/>
              <a:ea typeface="Calibri"/>
              <a:cs typeface="Calibri"/>
              <a:sym typeface="Calibri"/>
            </a:endParaRPr>
          </a:p>
        </p:txBody>
      </p:sp>
      <p:sp>
        <p:nvSpPr>
          <p:cNvPr id="175" name="Google Shape;175;p28"/>
          <p:cNvSpPr txBox="1"/>
          <p:nvPr/>
        </p:nvSpPr>
        <p:spPr>
          <a:xfrm>
            <a:off x="81775" y="471850"/>
            <a:ext cx="5037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Idea - Personal Agentic Operating System (Agent OS)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foundational layer of data and instructions that any AI tool (Claude Code, Cursor, etc.) can read, making your setup portable and reusable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framework has seven layers: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Identity (your values and communication style),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Context (org-specific knowledge),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Skills (reusable workflow instructions),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Memory (deliberate retention of decisions and relationships),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Connections (integrations like email and Slack, starting read-only),</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Verification (periodic human audits),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Automations (trusted background tasks)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key insight is compounding value. Once built, new agents inherit existing layers, making each addition faster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https://www.youtube.com/watch?v=ntvkDnk_5jA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76" name="Google Shape;176;p28"/>
          <p:cNvSpPr txBox="1"/>
          <p:nvPr/>
        </p:nvSpPr>
        <p:spPr>
          <a:xfrm>
            <a:off x="81775" y="3437922"/>
            <a:ext cx="50370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Deep Research &amp; Deep Research Max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Autonomously plan, execute web searches, and synthesize findings into comprehensive cited reports with native charts and visualizations, with MCP server support for querying private data alongside the public web.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 Research runs ~80 searches using ~250k tokens (fast, ~$1.22/report)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 Research Max doubles the depth to ~160 searches and up to 900k tokens for accuracy-critical tasks (~$4.80/report, up to 60 minutes).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https://www.youtube.com/watch?v=WXoBd5zgTxE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7" name="Google Shape;177;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83775" y="464350"/>
            <a:ext cx="1868825" cy="1022950"/>
          </a:xfrm>
          <a:prstGeom prst="rect">
            <a:avLst/>
          </a:prstGeom>
          <a:noFill/>
          <a:ln w="9525" cap="flat" cmpd="sng">
            <a:solidFill>
              <a:srgbClr val="FF0000"/>
            </a:solidFill>
            <a:prstDash val="solid"/>
            <a:round/>
            <a:headEnd type="none" w="sm" len="sm"/>
            <a:tailEnd type="none" w="sm" len="sm"/>
          </a:ln>
        </p:spPr>
      </p:pic>
      <p:pic>
        <p:nvPicPr>
          <p:cNvPr id="178" name="Google Shape;178;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518050" y="3643359"/>
            <a:ext cx="3301752" cy="1357650"/>
          </a:xfrm>
          <a:prstGeom prst="rect">
            <a:avLst/>
          </a:prstGeom>
          <a:noFill/>
          <a:ln w="9525" cap="flat" cmpd="sng">
            <a:solidFill>
              <a:srgbClr val="FF0000"/>
            </a:solidFill>
            <a:prstDash val="solid"/>
            <a:round/>
            <a:headEnd type="none" w="sm" len="sm"/>
            <a:tailEnd type="none" w="sm" len="sm"/>
          </a:ln>
        </p:spPr>
      </p:pic>
      <p:sp>
        <p:nvSpPr>
          <p:cNvPr id="179" name="Google Shape;179;p28"/>
          <p:cNvSpPr txBox="1"/>
          <p:nvPr/>
        </p:nvSpPr>
        <p:spPr>
          <a:xfrm>
            <a:off x="5183775" y="1638600"/>
            <a:ext cx="36360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5875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Personal Agent OS — Identity, context, skills, memory, connections, verification, automations. </a:t>
            </a:r>
            <a:r>
              <a:rPr lang="en" sz="1600" b="1">
                <a:solidFill>
                  <a:srgbClr val="FF0000"/>
                </a:solidFill>
                <a:latin typeface="Calibri"/>
                <a:ea typeface="Calibri"/>
                <a:cs typeface="Calibri"/>
                <a:sym typeface="Calibri"/>
              </a:rPr>
              <a:t>Most marriages don't have all seven layers.</a:t>
            </a:r>
            <a:endParaRPr sz="1600" b="1">
              <a:solidFill>
                <a:srgbClr val="FF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p:nvPr/>
        </p:nvSpPr>
        <p:spPr>
          <a:xfrm>
            <a:off x="81775" y="67675"/>
            <a:ext cx="255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5" name="Google Shape;185;p29"/>
          <p:cNvSpPr txBox="1"/>
          <p:nvPr/>
        </p:nvSpPr>
        <p:spPr>
          <a:xfrm>
            <a:off x="81775" y="464350"/>
            <a:ext cx="5361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reduce token usage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https://www.youtube.com/watch?v=rU6IYiQ1SdQ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Dynamic context loading with three disclosure levels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Programmatic tool calling - keep intermediate results out of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Layered MCP server designs - discovering tools progressively rather than loading all definitions upfront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Stripping formatting from web data and using TOON encoding for tabular data</a:t>
            </a:r>
            <a:endParaRPr sz="1200">
              <a:solidFill>
                <a:schemeClr val="dk1"/>
              </a:solidFill>
              <a:latin typeface="Calibri"/>
              <a:ea typeface="Calibri"/>
              <a:cs typeface="Calibri"/>
              <a:sym typeface="Calibri"/>
            </a:endParaRPr>
          </a:p>
        </p:txBody>
      </p:sp>
      <p:sp>
        <p:nvSpPr>
          <p:cNvPr id="186" name="Google Shape;186;p29"/>
          <p:cNvSpPr txBox="1"/>
          <p:nvPr/>
        </p:nvSpPr>
        <p:spPr>
          <a:xfrm>
            <a:off x="81775" y="1825616"/>
            <a:ext cx="5361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News Research Workflow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System runs 12 cron jobs to automatically handle trend detection across platforms like Reddit and Hacker News, monitors nine competitor channels for breakout videos, generates daily video ideas based on AI news, tracks his own channel performance, and scouts affiliate and sponsorship opportunities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uses Claude Sonnet 4.6, using five key APIs: Firecrawl for web scraping, Reddit API for community signals, XAI for real-time Twitter data, and YouTube's Data and Analytics APIs for platform intelligence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https://www.youtube.com/watch?v=vD8doHK6r78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87" name="Google Shape;187;p29"/>
          <p:cNvSpPr txBox="1"/>
          <p:nvPr/>
        </p:nvSpPr>
        <p:spPr>
          <a:xfrm>
            <a:off x="81775" y="3583206"/>
            <a:ext cx="5361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Telegram Lobster Father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No-code AI agent builder in Telegram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Simply message the Lobster Father bot, describe in plain English the AI agent you  want, and it is automatically built, named, and deployed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Features - welcoming new members, answering FAQs, filtering spam, routing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also enables agent-to-agent communication, allowing multiple AI agents to collaborate on complex workflows directly inside Telegram</a:t>
            </a:r>
            <a:endParaRPr sz="1200">
              <a:solidFill>
                <a:schemeClr val="dk1"/>
              </a:solidFill>
              <a:latin typeface="Calibri"/>
              <a:ea typeface="Calibri"/>
              <a:cs typeface="Calibri"/>
              <a:sym typeface="Calibri"/>
            </a:endParaRPr>
          </a:p>
        </p:txBody>
      </p:sp>
      <p:pic>
        <p:nvPicPr>
          <p:cNvPr id="188" name="Google Shape;188;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97131" y="577787"/>
            <a:ext cx="2553600" cy="1308373"/>
          </a:xfrm>
          <a:prstGeom prst="rect">
            <a:avLst/>
          </a:prstGeom>
          <a:noFill/>
          <a:ln w="9525" cap="flat" cmpd="sng">
            <a:solidFill>
              <a:srgbClr val="FF0000"/>
            </a:solidFill>
            <a:prstDash val="solid"/>
            <a:round/>
            <a:headEnd type="none" w="sm" len="sm"/>
            <a:tailEnd type="none" w="sm" len="sm"/>
          </a:ln>
        </p:spPr>
      </p:pic>
      <p:pic>
        <p:nvPicPr>
          <p:cNvPr id="189" name="Google Shape;189;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597131" y="1991161"/>
            <a:ext cx="2553600" cy="1441405"/>
          </a:xfrm>
          <a:prstGeom prst="rect">
            <a:avLst/>
          </a:prstGeom>
          <a:noFill/>
          <a:ln w="9525" cap="flat" cmpd="sng">
            <a:solidFill>
              <a:srgbClr val="FF0000"/>
            </a:solidFill>
            <a:prstDash val="solid"/>
            <a:round/>
            <a:headEnd type="none" w="sm" len="sm"/>
            <a:tailEnd type="none" w="sm" len="sm"/>
          </a:ln>
        </p:spPr>
      </p:pic>
      <p:pic>
        <p:nvPicPr>
          <p:cNvPr id="190" name="Google Shape;190;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597131" y="3548046"/>
            <a:ext cx="2553600" cy="135870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p:nvPr/>
        </p:nvSpPr>
        <p:spPr>
          <a:xfrm>
            <a:off x="81776" y="40050"/>
            <a:ext cx="22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196" name="Google Shape;196;p30"/>
          <p:cNvSpPr txBox="1"/>
          <p:nvPr/>
        </p:nvSpPr>
        <p:spPr>
          <a:xfrm>
            <a:off x="100600" y="493200"/>
            <a:ext cx="44592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https://github.com/openclaw/openclaw</a:t>
            </a:r>
            <a:r>
              <a:rPr lang="en" sz="1100">
                <a:solidFill>
                  <a:schemeClr val="dk1"/>
                </a:solidFill>
                <a:latin typeface="Calibri"/>
                <a:ea typeface="Calibri"/>
                <a:cs typeface="Calibri"/>
                <a:sym typeface="Calibri"/>
              </a:rPr>
              <a:t>  - 367K stars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https://github.com/openclaw/openclaw/releases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v2026.4.29 (Apr 30) - Smarter messaging/automation steering; people-aware memory and wiki tools; expanded providers; gateway, channel, and plugin reliability improvements.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v2026.4.27 (Apr 29) — Codex Computer Use with MCP checks; DeepInfra provider (media gen, TTS, embeddings); Tencent Yuanbao &amp; QQBot; manifest-first catalogs; Telegram/Slack/Windows fixes.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v2026.4.26 (Apr 28) — Google Live browser sessions; Cerebras provider; Claude/Hermes config importers (`openclaw migrate`); config diff panel; Matrix E2EE; outbound proxy routing.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v2026.4.25 (Apr 27) — Full TTS overhaul (auto-TTS, personas, Azure/ElevenLabs v3/Volcengine); cold persisted plugin registry; OpenTelemetry; PWA/Web Push; browser automation hardening.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v2026.4.24 (Apr 24) — Google Meet plugin (Twilio realtime, attendance exports); DeepSeek V4 Flash as onboarding default; Gemini Live voice; manifest-backed model catalog.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v2026.4.23 (Apr 24) — Image gen via Codex/OpenRouter; per-call timeouts; forked subagent context; Codex/WhatsApp/Slack fixes.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v2026.4.22 (Apr 23) — xAI image/TTS/STT; Voice Call transcription; local TUI mode; `/models add` CLI; WhatsApp reply quoting; Claude Opus 4.7 via Bedrock.</a:t>
            </a:r>
            <a:endParaRPr sz="1100">
              <a:solidFill>
                <a:schemeClr val="dk1"/>
              </a:solidFill>
              <a:latin typeface="Calibri"/>
              <a:ea typeface="Calibri"/>
              <a:cs typeface="Calibri"/>
              <a:sym typeface="Calibri"/>
            </a:endParaRPr>
          </a:p>
        </p:txBody>
      </p:sp>
      <p:pic>
        <p:nvPicPr>
          <p:cNvPr id="197" name="Google Shape;197;p3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381650" y="604650"/>
            <a:ext cx="2857500" cy="675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p:nvPr/>
        </p:nvSpPr>
        <p:spPr>
          <a:xfrm>
            <a:off x="81775" y="67675"/>
            <a:ext cx="442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China is Winning the AI Race</a:t>
            </a:r>
            <a:endParaRPr sz="2000" b="1">
              <a:solidFill>
                <a:schemeClr val="dk1"/>
              </a:solidFill>
              <a:latin typeface="Calibri"/>
              <a:ea typeface="Calibri"/>
              <a:cs typeface="Calibri"/>
              <a:sym typeface="Calibri"/>
            </a:endParaRPr>
          </a:p>
        </p:txBody>
      </p:sp>
      <p:sp>
        <p:nvSpPr>
          <p:cNvPr id="203" name="Google Shape;203;p31"/>
          <p:cNvSpPr txBox="1"/>
          <p:nvPr/>
        </p:nvSpPr>
        <p:spPr>
          <a:xfrm>
            <a:off x="81775" y="669075"/>
            <a:ext cx="50460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http://www.youtube.com/watch?v=epzzALZ8oYo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a:t>
            </a:r>
            <a:r>
              <a:rPr lang="en" sz="1200" b="1">
                <a:solidFill>
                  <a:srgbClr val="FF0000"/>
                </a:solidFill>
                <a:latin typeface="Calibri"/>
                <a:ea typeface="Calibri"/>
                <a:cs typeface="Calibri"/>
                <a:sym typeface="Calibri"/>
              </a:rPr>
              <a:t>he Chinese government subsidizes AI companies</a:t>
            </a:r>
            <a:r>
              <a:rPr lang="en" sz="1200">
                <a:solidFill>
                  <a:schemeClr val="dk1"/>
                </a:solidFill>
                <a:latin typeface="Calibri"/>
                <a:ea typeface="Calibri"/>
                <a:cs typeface="Calibri"/>
                <a:sym typeface="Calibri"/>
              </a:rPr>
              <a:t> to "pick winners," allowing them to release high-quality models cheaply or for free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99% of business use cases (spreadsheets, coding, scheduling) don't need "frontier intelligence" from expensive models like GPT-4 or Claude. Consequently, </a:t>
            </a:r>
            <a:r>
              <a:rPr lang="en" sz="1200" b="1">
                <a:solidFill>
                  <a:srgbClr val="FF0000"/>
                </a:solidFill>
                <a:latin typeface="Calibri"/>
                <a:ea typeface="Calibri"/>
                <a:cs typeface="Calibri"/>
                <a:sym typeface="Calibri"/>
              </a:rPr>
              <a:t>businesses are turning to Chinese open-source models</a:t>
            </a:r>
            <a:r>
              <a:rPr lang="en" sz="1200">
                <a:solidFill>
                  <a:schemeClr val="dk1"/>
                </a:solidFill>
                <a:latin typeface="Calibri"/>
                <a:ea typeface="Calibri"/>
                <a:cs typeface="Calibri"/>
                <a:sym typeface="Calibri"/>
              </a:rPr>
              <a:t> (like DeepSeek) because they are cheaper, secure, and customizable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If the US economy is built on Chinese models, China will dictate AI standards and optimize models for their own hardware. This could force the US to eventually buy AI chips from China, creating a massive security risk. Also Chinese models may have Chinese bias and censorship</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40% of the US stock market tied to seven tech companies heavily invested in AI, losing the AI race to China poses a direct threat to the American economy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&amp; OpenAI - both turned to close-source model to fund its massive compute needs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has "zero" open-source strategy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Nvidia is investing $26 Bln in open-source AI - because it profits when *anyone* uses their chips to run these models, making them the only US company with a truly aligned open-source business model </a:t>
            </a:r>
            <a:endParaRPr sz="1200">
              <a:solidFill>
                <a:schemeClr val="dk1"/>
              </a:solidFill>
              <a:latin typeface="Calibri"/>
              <a:ea typeface="Calibri"/>
              <a:cs typeface="Calibri"/>
              <a:sym typeface="Calibri"/>
            </a:endParaRPr>
          </a:p>
        </p:txBody>
      </p:sp>
      <p:sp>
        <p:nvSpPr>
          <p:cNvPr id="204" name="Google Shape;204;p31"/>
          <p:cNvSpPr txBox="1"/>
          <p:nvPr/>
        </p:nvSpPr>
        <p:spPr>
          <a:xfrm>
            <a:off x="5301275" y="2267275"/>
            <a:ext cx="37308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Proposed Solutions to "Fix" American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Federal Support - Treating open-source AI as national infrastructure through federal grants, compute quotas, or tax credits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Vertical Specialization -  Instead of competing with general frontier models, US startups should focus on highly efficient, vertical open-source models for industries like legal, biotech, and defense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Encouraging AMD and Intel to follow Nvidia’s lead by funding open-source software to sell more hardware</a:t>
            </a:r>
            <a:endParaRPr sz="1200">
              <a:solidFill>
                <a:schemeClr val="dk1"/>
              </a:solidFill>
              <a:latin typeface="Calibri"/>
              <a:ea typeface="Calibri"/>
              <a:cs typeface="Calibri"/>
              <a:sym typeface="Calibri"/>
            </a:endParaRPr>
          </a:p>
        </p:txBody>
      </p:sp>
      <p:pic>
        <p:nvPicPr>
          <p:cNvPr id="205" name="Google Shape;205;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01275" y="873800"/>
            <a:ext cx="1981276" cy="1138175"/>
          </a:xfrm>
          <a:prstGeom prst="rect">
            <a:avLst/>
          </a:prstGeom>
          <a:noFill/>
          <a:ln w="9525" cap="flat" cmpd="sng">
            <a:solidFill>
              <a:srgbClr val="FF0000"/>
            </a:solidFill>
            <a:prstDash val="solid"/>
            <a:round/>
            <a:headEnd type="none" w="sm" len="sm"/>
            <a:tailEnd type="none" w="sm" len="sm"/>
          </a:ln>
        </p:spPr>
      </p:pic>
      <p:sp>
        <p:nvSpPr>
          <p:cNvPr id="206" name="Google Shape;206;p31"/>
          <p:cNvSpPr txBox="1"/>
          <p:nvPr/>
        </p:nvSpPr>
        <p:spPr>
          <a:xfrm>
            <a:off x="1271575" y="4365700"/>
            <a:ext cx="26664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58750" algn="l" rtl="0">
              <a:lnSpc>
                <a:spcPct val="100000"/>
              </a:lnSpc>
              <a:spcBef>
                <a:spcPts val="0"/>
              </a:spcBef>
              <a:spcAft>
                <a:spcPts val="0"/>
              </a:spcAft>
              <a:buClr>
                <a:srgbClr val="FF0000"/>
              </a:buClr>
              <a:buSzPts val="1600"/>
              <a:buFont typeface="Calibri"/>
              <a:buChar char="●"/>
            </a:pPr>
            <a:r>
              <a:rPr lang="en" sz="1600" b="1">
                <a:solidFill>
                  <a:srgbClr val="FF0000"/>
                </a:solidFill>
                <a:latin typeface="Calibri"/>
                <a:ea typeface="Calibri"/>
                <a:cs typeface="Calibri"/>
                <a:sym typeface="Calibri"/>
              </a:rPr>
              <a:t>We're losing the AI race to a country we sold the chips to.</a:t>
            </a:r>
            <a:endParaRPr sz="1600" b="1">
              <a:solidFill>
                <a:srgbClr val="FF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2"/>
          <p:cNvSpPr txBox="1"/>
          <p:nvPr/>
        </p:nvSpPr>
        <p:spPr>
          <a:xfrm>
            <a:off x="81774" y="67675"/>
            <a:ext cx="451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From Transformers to Recurrent Models</a:t>
            </a:r>
            <a:endParaRPr sz="2000" b="1">
              <a:solidFill>
                <a:schemeClr val="dk1"/>
              </a:solidFill>
              <a:latin typeface="Calibri"/>
              <a:ea typeface="Calibri"/>
              <a:cs typeface="Calibri"/>
              <a:sym typeface="Calibri"/>
            </a:endParaRPr>
          </a:p>
        </p:txBody>
      </p:sp>
      <p:sp>
        <p:nvSpPr>
          <p:cNvPr id="212" name="Google Shape;212;p32"/>
          <p:cNvSpPr txBox="1"/>
          <p:nvPr/>
        </p:nvSpPr>
        <p:spPr>
          <a:xfrm>
            <a:off x="81775" y="612300"/>
            <a:ext cx="4993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Transformer model to a Recurrent Foundation Model (RFM)</a:t>
            </a:r>
            <a:br>
              <a:rPr lang="en" sz="12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https://arxiv.org/abs/2604.17121</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4"/>
              </a:rPr>
              <a:t>https://www.youtube.com/watch?v=BWRHhAnFMvQ</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Current </a:t>
            </a:r>
            <a:r>
              <a:rPr lang="en" sz="1100" b="1">
                <a:solidFill>
                  <a:srgbClr val="FF0000"/>
                </a:solidFill>
                <a:latin typeface="Calibri"/>
                <a:ea typeface="Calibri"/>
                <a:cs typeface="Calibri"/>
                <a:sym typeface="Calibri"/>
              </a:rPr>
              <a:t>Transformer models use a fixed number of layers</a:t>
            </a:r>
            <a:r>
              <a:rPr lang="en" sz="1100">
                <a:solidFill>
                  <a:schemeClr val="dk1"/>
                </a:solidFill>
                <a:latin typeface="Calibri"/>
                <a:ea typeface="Calibri"/>
                <a:cs typeface="Calibri"/>
                <a:sym typeface="Calibri"/>
              </a:rPr>
              <a:t> (e.g., 96). Simple and complex tasks both receive the same amount of computation; Transformers are purely feed-forward, which limits their ability to track dynamic states and handle complex sequential dependencies; To "think" harder, current models must output text (Chain of Thought), which is slow and limited by context windows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Proposed Solution: </a:t>
            </a:r>
            <a:r>
              <a:rPr lang="en" sz="1100" b="1">
                <a:solidFill>
                  <a:srgbClr val="FF0000"/>
                </a:solidFill>
                <a:latin typeface="Calibri"/>
                <a:ea typeface="Calibri"/>
                <a:cs typeface="Calibri"/>
                <a:sym typeface="Calibri"/>
              </a:rPr>
              <a:t>Continuous Flow Dynamics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Moving from discrete "Euler steps" (layer-by-layer) to a continuous vector field </a:t>
            </a:r>
            <a:r>
              <a:rPr lang="en" sz="1100">
                <a:solidFill>
                  <a:schemeClr val="dk1"/>
                </a:solidFill>
                <a:latin typeface="Calibri"/>
                <a:ea typeface="Calibri"/>
                <a:cs typeface="Calibri"/>
                <a:sym typeface="Calibri"/>
              </a:rPr>
              <a:t>using Ordinary Differential Equations (ODEs)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Instead of 96 fixed layers, the model uses a single recurrent block.</a:t>
            </a:r>
            <a:r>
              <a:rPr lang="en" sz="1100">
                <a:solidFill>
                  <a:schemeClr val="dk1"/>
                </a:solidFill>
                <a:latin typeface="Calibri"/>
                <a:ea typeface="Calibri"/>
                <a:cs typeface="Calibri"/>
                <a:sym typeface="Calibri"/>
              </a:rPr>
              <a:t> A token stays in this "computational room" until it reaches a logical solution (an attractor) on a manifold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Simple tasks exit the block quickly</a:t>
            </a:r>
            <a:r>
              <a:rPr lang="en" sz="1100">
                <a:solidFill>
                  <a:schemeClr val="dk1"/>
                </a:solidFill>
                <a:latin typeface="Calibri"/>
                <a:ea typeface="Calibri"/>
                <a:cs typeface="Calibri"/>
                <a:sym typeface="Calibri"/>
              </a:rPr>
              <a:t>, while complex problems can iterate hundreds of times through the same parameters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architecture uses a single set of weights iterated over time, rather than unique weights for every layer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"Order One" Memory Miracle - by applying the Adjoint Sensitivity Method (a technique from 1960s physics used in aerodynamics and rocket science), the model can achieve significant efficiency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Zero Memory Bloat - don't need saving every intermediate state in VRAM. The Adjoint method runs the "physics" of the network in reverse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Constant Training Cost - Training for 10 steps or 10K reasoning steps requires the same amount of memory</a:t>
            </a:r>
            <a:endParaRPr sz="1100">
              <a:solidFill>
                <a:schemeClr val="dk1"/>
              </a:solidFill>
              <a:latin typeface="Calibri"/>
              <a:ea typeface="Calibri"/>
              <a:cs typeface="Calibri"/>
              <a:sym typeface="Calibri"/>
            </a:endParaRPr>
          </a:p>
        </p:txBody>
      </p:sp>
      <p:pic>
        <p:nvPicPr>
          <p:cNvPr id="213" name="Google Shape;213;p32" title="Gemini_Generated_Image_xuxu8mxuxu8mxuxu_s.jpg"/>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45625" y="778000"/>
            <a:ext cx="3784499" cy="2062249"/>
          </a:xfrm>
          <a:prstGeom prst="rect">
            <a:avLst/>
          </a:prstGeom>
          <a:noFill/>
          <a:ln w="9525" cap="flat" cmpd="sng">
            <a:solidFill>
              <a:srgbClr val="FF0000"/>
            </a:solidFill>
            <a:prstDash val="solid"/>
            <a:round/>
            <a:headEnd type="none" w="sm" len="sm"/>
            <a:tailEnd type="none" w="sm" len="sm"/>
          </a:ln>
        </p:spPr>
      </p:pic>
      <p:sp>
        <p:nvSpPr>
          <p:cNvPr id="214" name="Google Shape;214;p32"/>
          <p:cNvSpPr txBox="1"/>
          <p:nvPr/>
        </p:nvSpPr>
        <p:spPr>
          <a:xfrm>
            <a:off x="5295925" y="3499625"/>
            <a:ext cx="3483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5875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Transformers to Recurrent - After eight years, the field has rediscovered a startling fact: thinking takes time.</a:t>
            </a:r>
            <a:endParaRPr sz="1600" b="1">
              <a:solidFill>
                <a:srgbClr val="3C78D8"/>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3"/>
          <p:cNvSpPr txBox="1"/>
          <p:nvPr/>
        </p:nvSpPr>
        <p:spPr>
          <a:xfrm>
            <a:off x="81774" y="67675"/>
            <a:ext cx="451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Interview Question</a:t>
            </a:r>
            <a:endParaRPr sz="2000" b="1">
              <a:solidFill>
                <a:schemeClr val="dk1"/>
              </a:solidFill>
              <a:latin typeface="Calibri"/>
              <a:ea typeface="Calibri"/>
              <a:cs typeface="Calibri"/>
              <a:sym typeface="Calibri"/>
            </a:endParaRPr>
          </a:p>
        </p:txBody>
      </p:sp>
      <p:sp>
        <p:nvSpPr>
          <p:cNvPr id="220" name="Google Shape;220;p33"/>
          <p:cNvSpPr txBox="1"/>
          <p:nvPr/>
        </p:nvSpPr>
        <p:spPr>
          <a:xfrm>
            <a:off x="81775" y="612300"/>
            <a:ext cx="4993200" cy="434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Question: How do you validate AI output before shipping?</a:t>
            </a:r>
            <a:endParaRPr sz="1100" b="1">
              <a:solidFill>
                <a:srgbClr val="3C78D8"/>
              </a:solidFill>
              <a:latin typeface="Calibri"/>
              <a:ea typeface="Calibri"/>
              <a:cs typeface="Calibri"/>
              <a:sym typeface="Calibri"/>
            </a:endParaRPr>
          </a:p>
          <a:p>
            <a:pPr marL="45720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46050" algn="l" rtl="0">
              <a:lnSpc>
                <a:spcPct val="100000"/>
              </a:lnSpc>
              <a:spcBef>
                <a:spcPts val="0"/>
              </a:spcBef>
              <a:spcAft>
                <a:spcPts val="0"/>
              </a:spcAft>
              <a:buClr>
                <a:srgbClr val="3C78D8"/>
              </a:buClr>
              <a:buSzPts val="1400"/>
              <a:buFont typeface="Calibri"/>
              <a:buChar char="●"/>
            </a:pPr>
            <a:r>
              <a:rPr lang="en">
                <a:solidFill>
                  <a:srgbClr val="3C78D8"/>
                </a:solidFill>
                <a:latin typeface="Calibri"/>
                <a:ea typeface="Calibri"/>
                <a:cs typeface="Calibri"/>
                <a:sym typeface="Calibri"/>
              </a:rPr>
              <a:t>Same way you validate a toddler's homework — carefully, and with low expectations.</a:t>
            </a:r>
            <a:endParaRPr>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Response: I validate in layers, not as a single step:</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 Schema/format checks - Enforce expected structure (valid JSON, required fields, correct types) before anything downstream consumes the output.</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 Rule-based filters - Use regex or heuristics to catch forbidden content, PII leaks, or hallucinated patterns.</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3. Golden dataset tests - Maintain curated input/output pairs that run as CI gates. A quality drop below threshold blocks the release automatically.</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4. LLM-as-judge - Use a second model to score subjective quality (coherence, relevance, tone) where rule-based checks fall short.</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5. Human review - Route high-stakes or low-confidence outputs to a human before shipping.</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6. Production monitoring - After launch, track real traces for quality drift and error rate spikes.</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key principle: </a:t>
            </a:r>
            <a:r>
              <a:rPr lang="en" sz="1100" b="1">
                <a:solidFill>
                  <a:srgbClr val="3C78D8"/>
                </a:solidFill>
                <a:latin typeface="Calibri"/>
                <a:ea typeface="Calibri"/>
                <a:cs typeface="Calibri"/>
                <a:sym typeface="Calibri"/>
              </a:rPr>
              <a:t>treat evals like software tests. Hook them into CI/CD so validation is automatic, not manual. </a:t>
            </a:r>
            <a:r>
              <a:rPr lang="en" sz="1100">
                <a:solidFill>
                  <a:schemeClr val="dk1"/>
                </a:solidFill>
                <a:latin typeface="Calibri"/>
                <a:ea typeface="Calibri"/>
                <a:cs typeface="Calibri"/>
                <a:sym typeface="Calibri"/>
              </a:rPr>
              <a:t>And apply the same standards at runtime as guardrails, so bad output never reaches the user rather than just being measured after the fact.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tooling, I'd mention Pydantic for structured output enforcement, Promptfoo or Braintrust for eval frameworks, and custom LLM-as-judge prompts using a model like Claude or GPT-4o.</a:t>
            </a:r>
            <a:endParaRPr sz="1100">
              <a:solidFill>
                <a:schemeClr val="dk1"/>
              </a:solidFill>
              <a:latin typeface="Calibri"/>
              <a:ea typeface="Calibri"/>
              <a:cs typeface="Calibri"/>
              <a:sym typeface="Calibri"/>
            </a:endParaRPr>
          </a:p>
        </p:txBody>
      </p:sp>
      <p:pic>
        <p:nvPicPr>
          <p:cNvPr id="221" name="Google Shape;221;p33" title="mashroom_s.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99250" y="612300"/>
            <a:ext cx="3026886" cy="37434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4"/>
          <p:cNvSpPr txBox="1"/>
          <p:nvPr/>
        </p:nvSpPr>
        <p:spPr>
          <a:xfrm>
            <a:off x="81774" y="67675"/>
            <a:ext cx="451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Consulting - From Projects to Retainers</a:t>
            </a:r>
            <a:endParaRPr sz="2000" b="1">
              <a:solidFill>
                <a:schemeClr val="dk1"/>
              </a:solidFill>
              <a:latin typeface="Calibri"/>
              <a:ea typeface="Calibri"/>
              <a:cs typeface="Calibri"/>
              <a:sym typeface="Calibri"/>
            </a:endParaRPr>
          </a:p>
        </p:txBody>
      </p:sp>
      <p:sp>
        <p:nvSpPr>
          <p:cNvPr id="227" name="Google Shape;227;p34"/>
          <p:cNvSpPr txBox="1"/>
          <p:nvPr/>
        </p:nvSpPr>
        <p:spPr>
          <a:xfrm>
            <a:off x="223539" y="625979"/>
            <a:ext cx="43779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to Make $20,000/Month with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https://www.youtube.com/watch?v=NlGIl5-gpHM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Liam Ottley  - use a retainer-based model for AI agencies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Take advantage of AI - making AI automation development significantly faster and cheaper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99% of business owners still lack the time or desire to set up complex automations themselves, leaving a massive opening for "lean" agencies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Projects to Retainers: Instead of one-off projects costing $10,000–$40,000, Ottley suggests moving to a monthly retainer model, where clients pay a flat fee for ongoing automation builds and support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5K * 4 clients = $20K/month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single person can do that. High-profit, low-stress business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specializing in a specific niche, learnings from one client can be exported and applied to others - easy increasing efficiency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Initial setup (AI OS), transitioning to a retainer ($2.5K/mo) to build more autiomations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 fees for management and optimization for every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Focus on "end of the chain" services: management, optimization, and human training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Speed to Value - show POCs within hours or days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Automated Auditing of Client Needs</a:t>
            </a:r>
            <a:endParaRPr sz="1200">
              <a:solidFill>
                <a:schemeClr val="dk1"/>
              </a:solidFill>
              <a:latin typeface="Calibri"/>
              <a:ea typeface="Calibri"/>
              <a:cs typeface="Calibri"/>
              <a:sym typeface="Calibri"/>
            </a:endParaRPr>
          </a:p>
        </p:txBody>
      </p:sp>
      <p:pic>
        <p:nvPicPr>
          <p:cNvPr id="228" name="Google Shape;228;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4875" y="625975"/>
            <a:ext cx="2533650" cy="2110425"/>
          </a:xfrm>
          <a:prstGeom prst="rect">
            <a:avLst/>
          </a:prstGeom>
          <a:noFill/>
          <a:ln w="9525" cap="flat" cmpd="sng">
            <a:solidFill>
              <a:srgbClr val="FF0000"/>
            </a:solidFill>
            <a:prstDash val="solid"/>
            <a:round/>
            <a:headEnd type="none" w="sm" len="sm"/>
            <a:tailEnd type="none" w="sm" len="sm"/>
          </a:ln>
        </p:spPr>
      </p:pic>
      <p:sp>
        <p:nvSpPr>
          <p:cNvPr id="229" name="Google Shape;229;p34"/>
          <p:cNvSpPr txBox="1"/>
          <p:nvPr/>
        </p:nvSpPr>
        <p:spPr>
          <a:xfrm>
            <a:off x="4956450" y="2819300"/>
            <a:ext cx="20505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a:solidFill>
                  <a:srgbClr val="6D9EEB"/>
                </a:solidFill>
                <a:latin typeface="Calibri"/>
                <a:ea typeface="Calibri"/>
                <a:cs typeface="Calibri"/>
                <a:sym typeface="Calibri"/>
              </a:rPr>
              <a:t>Liam Ottley</a:t>
            </a:r>
            <a:endParaRPr sz="1600" b="1">
              <a:solidFill>
                <a:srgbClr val="6D9EEB"/>
              </a:solidFill>
              <a:latin typeface="Calibri"/>
              <a:ea typeface="Calibri"/>
              <a:cs typeface="Calibri"/>
              <a:sym typeface="Calibri"/>
            </a:endParaRPr>
          </a:p>
          <a:p>
            <a:pPr marL="0" marR="0" lvl="0" indent="0" algn="l" rtl="0">
              <a:lnSpc>
                <a:spcPct val="100000"/>
              </a:lnSpc>
              <a:spcBef>
                <a:spcPts val="0"/>
              </a:spcBef>
              <a:spcAft>
                <a:spcPts val="0"/>
              </a:spcAft>
              <a:buNone/>
            </a:pPr>
            <a:endParaRPr sz="1600" b="1">
              <a:solidFill>
                <a:srgbClr val="6D9EEB"/>
              </a:solidFill>
              <a:latin typeface="Calibri"/>
              <a:ea typeface="Calibri"/>
              <a:cs typeface="Calibri"/>
              <a:sym typeface="Calibri"/>
            </a:endParaRPr>
          </a:p>
          <a:p>
            <a:pPr marL="0" marR="0" lvl="0" indent="0" algn="l" rtl="0">
              <a:lnSpc>
                <a:spcPct val="100000"/>
              </a:lnSpc>
              <a:spcBef>
                <a:spcPts val="0"/>
              </a:spcBef>
              <a:spcAft>
                <a:spcPts val="0"/>
              </a:spcAft>
              <a:buNone/>
            </a:pPr>
            <a:r>
              <a:rPr lang="en" sz="1600" b="1">
                <a:solidFill>
                  <a:srgbClr val="6D9EEB"/>
                </a:solidFill>
                <a:latin typeface="Calibri"/>
                <a:ea typeface="Calibri"/>
                <a:cs typeface="Calibri"/>
                <a:sym typeface="Calibri"/>
              </a:rPr>
              <a:t>$5K * 4 = $20K/month</a:t>
            </a:r>
            <a:endParaRPr sz="1600" b="1">
              <a:solidFill>
                <a:srgbClr val="6D9EEB"/>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5"/>
          <p:cNvSpPr txBox="1"/>
          <p:nvPr/>
        </p:nvSpPr>
        <p:spPr>
          <a:xfrm>
            <a:off x="81774" y="67675"/>
            <a:ext cx="451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Anijam AI - Animation Agent</a:t>
            </a:r>
            <a:endParaRPr sz="2000" b="1">
              <a:solidFill>
                <a:schemeClr val="dk1"/>
              </a:solidFill>
              <a:latin typeface="Calibri"/>
              <a:ea typeface="Calibri"/>
              <a:cs typeface="Calibri"/>
              <a:sym typeface="Calibri"/>
            </a:endParaRPr>
          </a:p>
        </p:txBody>
      </p:sp>
      <p:sp>
        <p:nvSpPr>
          <p:cNvPr id="235" name="Google Shape;235;p35"/>
          <p:cNvSpPr txBox="1"/>
          <p:nvPr/>
        </p:nvSpPr>
        <p:spPr>
          <a:xfrm>
            <a:off x="223539" y="625979"/>
            <a:ext cx="43779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Anijam AI - animation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https://www.youtube.com/watch?v=t-A1okCP6Yc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 the entire production pipeline through a simple chat interface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Handling scriptwriting, storyboarding, character design, and voiceovers in one browser-based platform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Character consistency - allows creators to lock in a character’s appearance across different scenes using a reference image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Motion control - users can upload videos to drive character movements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Automated lip-syncing for professional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tool is a game-changer for social media creators, marketers, and educators who need high-quality animated content without technical expertise or a massive budget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https://www.anijam.ai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36" name="Google Shape;236;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80000" y="625979"/>
            <a:ext cx="2514325" cy="19245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6"/>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 Dan Kennedy Book</a:t>
            </a:r>
            <a:endParaRPr sz="2000" b="1">
              <a:solidFill>
                <a:schemeClr val="dk1"/>
              </a:solidFill>
              <a:latin typeface="Calibri"/>
              <a:ea typeface="Calibri"/>
              <a:cs typeface="Calibri"/>
              <a:sym typeface="Calibri"/>
            </a:endParaRPr>
          </a:p>
        </p:txBody>
      </p:sp>
      <p:sp>
        <p:nvSpPr>
          <p:cNvPr id="242" name="Google Shape;242;p36"/>
          <p:cNvSpPr txBox="1"/>
          <p:nvPr/>
        </p:nvSpPr>
        <p:spPr>
          <a:xfrm>
            <a:off x="163550" y="507300"/>
            <a:ext cx="43779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Dan Kennedy book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"The Business Owner's Emergency Survival Guide for the AI Revolution"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Dan Kennedy's new book warns business owners that AI is dangerous because it pushes everyone toward sameness.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studies what competitors do and recommends you copy them, which destroys what makes your business special.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everyone looks alike, customers only choose by price and location, killing profits.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Kennedy shows how resumes, college essays, and marketing all sound identical now because AI wrote them.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Even lawyers face new rules limiting their fees when using AI.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danger is worst for newer business owners who trust AI's advice and lose their unique voice.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His solution: keep doing the basics well, protect what makes you different, and use AI carefully.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book is on Amazon - </a:t>
            </a:r>
            <a:r>
              <a:rPr lang="en" sz="1200" u="sng">
                <a:solidFill>
                  <a:schemeClr val="hlink"/>
                </a:solidFill>
                <a:latin typeface="Calibri"/>
                <a:ea typeface="Calibri"/>
                <a:cs typeface="Calibri"/>
                <a:sym typeface="Calibri"/>
                <a:hlinkClick r:id="rId3"/>
              </a:rPr>
              <a:t>https://www.amazon.com/dp/B0GWYDTL8P</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43" name="Google Shape;243;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89318" y="303150"/>
            <a:ext cx="1071450" cy="1677074"/>
          </a:xfrm>
          <a:prstGeom prst="rect">
            <a:avLst/>
          </a:prstGeom>
          <a:noFill/>
          <a:ln w="9525" cap="flat" cmpd="sng">
            <a:solidFill>
              <a:srgbClr val="FF0000"/>
            </a:solidFill>
            <a:prstDash val="solid"/>
            <a:round/>
            <a:headEnd type="none" w="sm" len="sm"/>
            <a:tailEnd type="none" w="sm" len="sm"/>
          </a:ln>
        </p:spPr>
      </p:pic>
      <p:pic>
        <p:nvPicPr>
          <p:cNvPr id="244" name="Google Shape;244;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765300" y="2132625"/>
            <a:ext cx="3271750" cy="1841999"/>
          </a:xfrm>
          <a:prstGeom prst="rect">
            <a:avLst/>
          </a:prstGeom>
          <a:noFill/>
          <a:ln w="9525" cap="flat" cmpd="sng">
            <a:solidFill>
              <a:srgbClr val="FF0000"/>
            </a:solidFill>
            <a:prstDash val="solid"/>
            <a:round/>
            <a:headEnd type="none" w="sm" len="sm"/>
            <a:tailEnd type="none" w="sm" len="sm"/>
          </a:ln>
        </p:spPr>
      </p:pic>
      <p:sp>
        <p:nvSpPr>
          <p:cNvPr id="245" name="Google Shape;245;p36"/>
          <p:cNvSpPr txBox="1"/>
          <p:nvPr/>
        </p:nvSpPr>
        <p:spPr>
          <a:xfrm>
            <a:off x="4659139" y="4246554"/>
            <a:ext cx="43779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5875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When AI writes everyone's pitch, sounding like yourself becomes the moat. - Dan Kennedy</a:t>
            </a:r>
            <a:endParaRPr sz="1600" b="1">
              <a:solidFill>
                <a:srgbClr val="3C78D8"/>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7"/>
          <p:cNvSpPr txBox="1"/>
          <p:nvPr/>
        </p:nvSpPr>
        <p:spPr>
          <a:xfrm>
            <a:off x="81774" y="67675"/>
            <a:ext cx="4377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About Job Search in the US</a:t>
            </a:r>
            <a:endParaRPr sz="2000" b="1">
              <a:solidFill>
                <a:schemeClr val="dk1"/>
              </a:solidFill>
              <a:latin typeface="Calibri"/>
              <a:ea typeface="Calibri"/>
              <a:cs typeface="Calibri"/>
              <a:sym typeface="Calibri"/>
            </a:endParaRPr>
          </a:p>
        </p:txBody>
      </p:sp>
      <p:sp>
        <p:nvSpPr>
          <p:cNvPr id="251" name="Google Shape;251;p37"/>
          <p:cNvSpPr txBox="1"/>
          <p:nvPr/>
        </p:nvSpPr>
        <p:spPr>
          <a:xfrm>
            <a:off x="163539" y="405642"/>
            <a:ext cx="4377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not use Monster.com or </a:t>
            </a:r>
            <a:r>
              <a:rPr lang="en" sz="1200" u="sng">
                <a:solidFill>
                  <a:schemeClr val="hlink"/>
                </a:solidFill>
                <a:latin typeface="Calibri"/>
                <a:ea typeface="Calibri"/>
                <a:cs typeface="Calibri"/>
                <a:sym typeface="Calibri"/>
                <a:hlinkClick r:id="rId3"/>
              </a:rPr>
              <a:t>Dice.com</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They used to be good for finding jobs, but now they are NOT effective, and can even be dangerous.</a:t>
            </a:r>
            <a:endParaRPr sz="1200">
              <a:solidFill>
                <a:schemeClr val="dk1"/>
              </a:solidFill>
              <a:latin typeface="Calibri"/>
              <a:ea typeface="Calibri"/>
              <a:cs typeface="Calibri"/>
              <a:sym typeface="Calibri"/>
            </a:endParaRPr>
          </a:p>
        </p:txBody>
      </p:sp>
      <p:sp>
        <p:nvSpPr>
          <p:cNvPr id="252" name="Google Shape;252;p37"/>
          <p:cNvSpPr txBox="1"/>
          <p:nvPr/>
        </p:nvSpPr>
        <p:spPr>
          <a:xfrm>
            <a:off x="163539" y="983554"/>
            <a:ext cx="4377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Dice has become heavily populated by Indian-run offshore staffing firms. They scrape resumes and personal data, insisting on getting direct phone number, social security number, or copy of a photo ID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 jobs are low-paying jobs. Many jobs are fake - used purely for lead generation. There is also associated identity-theft risk.</a:t>
            </a:r>
            <a:endParaRPr sz="1200">
              <a:solidFill>
                <a:schemeClr val="dk1"/>
              </a:solidFill>
              <a:latin typeface="Calibri"/>
              <a:ea typeface="Calibri"/>
              <a:cs typeface="Calibri"/>
              <a:sym typeface="Calibri"/>
            </a:endParaRPr>
          </a:p>
        </p:txBody>
      </p:sp>
      <p:sp>
        <p:nvSpPr>
          <p:cNvPr id="253" name="Google Shape;253;p37"/>
          <p:cNvSpPr txBox="1"/>
          <p:nvPr/>
        </p:nvSpPr>
        <p:spPr>
          <a:xfrm>
            <a:off x="163539" y="1921237"/>
            <a:ext cx="4377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Monster followed a different trajectory but ended up in a similar place. It's still large, but cluttered with stale or low-quality listings.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widely scraped, and often yields spammy or irrelevant contact rather than focused outreach from serious employers.</a:t>
            </a:r>
            <a:endParaRPr sz="1200">
              <a:solidFill>
                <a:schemeClr val="dk1"/>
              </a:solidFill>
              <a:latin typeface="Calibri"/>
              <a:ea typeface="Calibri"/>
              <a:cs typeface="Calibri"/>
              <a:sym typeface="Calibri"/>
            </a:endParaRPr>
          </a:p>
        </p:txBody>
      </p:sp>
      <p:sp>
        <p:nvSpPr>
          <p:cNvPr id="254" name="Google Shape;254;p37"/>
          <p:cNvSpPr txBox="1"/>
          <p:nvPr/>
        </p:nvSpPr>
        <p:spPr>
          <a:xfrm>
            <a:off x="163539" y="2674121"/>
            <a:ext cx="4377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So, do NOT post your resume on Dice or Monster. </a:t>
            </a:r>
            <a:br>
              <a:rPr lang="en" sz="1200">
                <a:solidFill>
                  <a:schemeClr val="dk1"/>
                </a:solidFill>
                <a:latin typeface="Calibri"/>
                <a:ea typeface="Calibri"/>
                <a:cs typeface="Calibri"/>
                <a:sym typeface="Calibri"/>
              </a:rPr>
            </a:br>
            <a:r>
              <a:rPr lang="en" sz="1200" b="1">
                <a:solidFill>
                  <a:srgbClr val="3C78D8"/>
                </a:solidFill>
                <a:latin typeface="Calibri"/>
                <a:ea typeface="Calibri"/>
                <a:cs typeface="Calibri"/>
                <a:sym typeface="Calibri"/>
              </a:rPr>
              <a:t>Use these methods instead: </a:t>
            </a:r>
            <a:endParaRPr sz="1200" b="1">
              <a:solidFill>
                <a:srgbClr val="FF0000"/>
              </a:solidFill>
              <a:latin typeface="Calibri"/>
              <a:ea typeface="Calibri"/>
              <a:cs typeface="Calibri"/>
              <a:sym typeface="Calibri"/>
            </a:endParaRPr>
          </a:p>
          <a:p>
            <a:pPr marL="4000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LinkedIn</a:t>
            </a:r>
            <a:r>
              <a:rPr lang="en" sz="1200">
                <a:solidFill>
                  <a:srgbClr val="FF0000"/>
                </a:solidFill>
                <a:latin typeface="Calibri"/>
                <a:ea typeface="Calibri"/>
                <a:cs typeface="Calibri"/>
                <a:sym typeface="Calibri"/>
              </a:rPr>
              <a:t> - </a:t>
            </a:r>
            <a:r>
              <a:rPr lang="en" sz="1200" u="sng">
                <a:solidFill>
                  <a:srgbClr val="FF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https://www.linkedin.com</a:t>
            </a:r>
            <a:r>
              <a:rPr lang="en" sz="1200">
                <a:solidFill>
                  <a:srgbClr val="FF0000"/>
                </a:solidFill>
                <a:latin typeface="Calibri"/>
                <a:ea typeface="Calibri"/>
                <a:cs typeface="Calibri"/>
                <a:sym typeface="Calibri"/>
              </a:rPr>
              <a:t> </a:t>
            </a:r>
            <a:endParaRPr sz="1200">
              <a:solidFill>
                <a:srgbClr val="FF0000"/>
              </a:solidFill>
              <a:latin typeface="Calibri"/>
              <a:ea typeface="Calibri"/>
              <a:cs typeface="Calibri"/>
              <a:sym typeface="Calibri"/>
            </a:endParaRPr>
          </a:p>
          <a:p>
            <a:pPr marL="4000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Hacker News</a:t>
            </a:r>
            <a:r>
              <a:rPr lang="en" sz="1200">
                <a:solidFill>
                  <a:srgbClr val="FF0000"/>
                </a:solidFill>
                <a:latin typeface="Calibri"/>
                <a:ea typeface="Calibri"/>
                <a:cs typeface="Calibri"/>
                <a:sym typeface="Calibri"/>
              </a:rPr>
              <a:t> (Who is hiring? threads) - - </a:t>
            </a:r>
            <a:r>
              <a:rPr lang="en" sz="1200" u="sng">
                <a:solidFill>
                  <a:srgbClr val="FF0000"/>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https://news.ycombinator.com/jobs</a:t>
            </a:r>
            <a:r>
              <a:rPr lang="en" sz="1200">
                <a:solidFill>
                  <a:srgbClr val="FF0000"/>
                </a:solidFill>
                <a:latin typeface="Calibri"/>
                <a:ea typeface="Calibri"/>
                <a:cs typeface="Calibri"/>
                <a:sym typeface="Calibri"/>
              </a:rPr>
              <a:t> </a:t>
            </a:r>
            <a:endParaRPr sz="1200">
              <a:solidFill>
                <a:srgbClr val="FF0000"/>
              </a:solidFill>
              <a:latin typeface="Calibri"/>
              <a:ea typeface="Calibri"/>
              <a:cs typeface="Calibri"/>
              <a:sym typeface="Calibri"/>
            </a:endParaRPr>
          </a:p>
          <a:p>
            <a:pPr marL="4000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Indeed</a:t>
            </a:r>
            <a:r>
              <a:rPr lang="en" sz="1200">
                <a:solidFill>
                  <a:srgbClr val="FF0000"/>
                </a:solidFill>
                <a:latin typeface="Calibri"/>
                <a:ea typeface="Calibri"/>
                <a:cs typeface="Calibri"/>
                <a:sym typeface="Calibri"/>
              </a:rPr>
              <a:t> - </a:t>
            </a:r>
            <a:r>
              <a:rPr lang="en" sz="1200" u="sng">
                <a:solidFill>
                  <a:srgbClr val="FF0000"/>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https://www.indeed.com</a:t>
            </a:r>
            <a:r>
              <a:rPr lang="en" sz="1200">
                <a:solidFill>
                  <a:srgbClr val="FF0000"/>
                </a:solidFill>
                <a:latin typeface="Calibri"/>
                <a:ea typeface="Calibri"/>
                <a:cs typeface="Calibri"/>
                <a:sym typeface="Calibri"/>
              </a:rPr>
              <a:t> </a:t>
            </a:r>
            <a:endParaRPr sz="1200">
              <a:solidFill>
                <a:srgbClr val="FF0000"/>
              </a:solidFill>
              <a:latin typeface="Calibri"/>
              <a:ea typeface="Calibri"/>
              <a:cs typeface="Calibri"/>
              <a:sym typeface="Calibri"/>
            </a:endParaRPr>
          </a:p>
          <a:p>
            <a:pPr marL="4000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company-specific career pages</a:t>
            </a:r>
            <a:endParaRPr sz="1200" b="1">
              <a:solidFill>
                <a:srgbClr val="FF0000"/>
              </a:solidFill>
              <a:latin typeface="Calibri"/>
              <a:ea typeface="Calibri"/>
              <a:cs typeface="Calibri"/>
              <a:sym typeface="Calibri"/>
            </a:endParaRPr>
          </a:p>
          <a:p>
            <a:pPr marL="4000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company-specific talent communities</a:t>
            </a:r>
            <a:endParaRPr sz="1200" b="1">
              <a:solidFill>
                <a:srgbClr val="FF0000"/>
              </a:solidFill>
              <a:latin typeface="Calibri"/>
              <a:ea typeface="Calibri"/>
              <a:cs typeface="Calibri"/>
              <a:sym typeface="Calibri"/>
            </a:endParaRPr>
          </a:p>
          <a:p>
            <a:pPr marL="4000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your own networking, </a:t>
            </a:r>
            <a:r>
              <a:rPr lang="en" sz="1200">
                <a:solidFill>
                  <a:srgbClr val="FF0000"/>
                </a:solidFill>
                <a:latin typeface="Calibri"/>
                <a:ea typeface="Calibri"/>
                <a:cs typeface="Calibri"/>
                <a:sym typeface="Calibri"/>
              </a:rPr>
              <a:t>referrals.</a:t>
            </a:r>
            <a:endParaRPr sz="1200">
              <a:solidFill>
                <a:schemeClr val="dk1"/>
              </a:solidFill>
              <a:latin typeface="Calibri"/>
              <a:ea typeface="Calibri"/>
              <a:cs typeface="Calibri"/>
              <a:sym typeface="Calibri"/>
            </a:endParaRPr>
          </a:p>
        </p:txBody>
      </p:sp>
      <p:sp>
        <p:nvSpPr>
          <p:cNvPr id="255" name="Google Shape;255;p37"/>
          <p:cNvSpPr txBox="1"/>
          <p:nvPr/>
        </p:nvSpPr>
        <p:spPr>
          <a:xfrm>
            <a:off x="163539" y="4348992"/>
            <a:ext cx="4377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 skeptical of inbound calls or emails. Especially from offshore companies, not known, or when details are vague or mismatched.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Prioritize direct relationships with hiring managers and reputable, named firms.</a:t>
            </a:r>
            <a:endParaRPr sz="1200">
              <a:solidFill>
                <a:schemeClr val="dk1"/>
              </a:solidFill>
              <a:latin typeface="Calibri"/>
              <a:ea typeface="Calibri"/>
              <a:cs typeface="Calibri"/>
              <a:sym typeface="Calibri"/>
            </a:endParaRPr>
          </a:p>
        </p:txBody>
      </p:sp>
      <p:pic>
        <p:nvPicPr>
          <p:cNvPr id="256" name="Google Shape;256;p3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41458" y="2738725"/>
            <a:ext cx="1684049" cy="542325"/>
          </a:xfrm>
          <a:prstGeom prst="rect">
            <a:avLst/>
          </a:prstGeom>
          <a:noFill/>
          <a:ln>
            <a:noFill/>
          </a:ln>
        </p:spPr>
      </p:pic>
      <p:pic>
        <p:nvPicPr>
          <p:cNvPr id="257" name="Google Shape;257;p3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41457" y="3396013"/>
            <a:ext cx="2693250" cy="542325"/>
          </a:xfrm>
          <a:prstGeom prst="rect">
            <a:avLst/>
          </a:prstGeom>
          <a:noFill/>
          <a:ln>
            <a:noFill/>
          </a:ln>
        </p:spPr>
      </p:pic>
      <p:pic>
        <p:nvPicPr>
          <p:cNvPr id="258" name="Google Shape;258;p3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41450" y="4010975"/>
            <a:ext cx="1684050" cy="517532"/>
          </a:xfrm>
          <a:prstGeom prst="rect">
            <a:avLst/>
          </a:prstGeom>
          <a:noFill/>
          <a:ln>
            <a:noFill/>
          </a:ln>
        </p:spPr>
      </p:pic>
      <p:pic>
        <p:nvPicPr>
          <p:cNvPr id="259" name="Google Shape;259;p37"/>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47964" y="1953229"/>
            <a:ext cx="1281526" cy="712849"/>
          </a:xfrm>
          <a:prstGeom prst="rect">
            <a:avLst/>
          </a:prstGeom>
          <a:noFill/>
          <a:ln>
            <a:noFill/>
          </a:ln>
        </p:spPr>
      </p:pic>
      <p:cxnSp>
        <p:nvCxnSpPr>
          <p:cNvPr id="260" name="Google Shape;260;p37"/>
          <p:cNvCxnSpPr/>
          <p:nvPr/>
        </p:nvCxnSpPr>
        <p:spPr>
          <a:xfrm>
            <a:off x="4664391" y="1908878"/>
            <a:ext cx="1216500" cy="728700"/>
          </a:xfrm>
          <a:prstGeom prst="straightConnector1">
            <a:avLst/>
          </a:prstGeom>
          <a:noFill/>
          <a:ln w="23975" cap="flat" cmpd="sng">
            <a:solidFill>
              <a:srgbClr val="EA9999"/>
            </a:solidFill>
            <a:prstDash val="solid"/>
            <a:round/>
            <a:headEnd type="none" w="med" len="med"/>
            <a:tailEnd type="none" w="med" len="med"/>
          </a:ln>
        </p:spPr>
      </p:cxnSp>
      <p:cxnSp>
        <p:nvCxnSpPr>
          <p:cNvPr id="261" name="Google Shape;261;p37"/>
          <p:cNvCxnSpPr/>
          <p:nvPr/>
        </p:nvCxnSpPr>
        <p:spPr>
          <a:xfrm flipH="1">
            <a:off x="4641315" y="1955150"/>
            <a:ext cx="1158900" cy="698700"/>
          </a:xfrm>
          <a:prstGeom prst="straightConnector1">
            <a:avLst/>
          </a:prstGeom>
          <a:noFill/>
          <a:ln w="23975" cap="flat" cmpd="sng">
            <a:solidFill>
              <a:srgbClr val="EA9999"/>
            </a:solidFill>
            <a:prstDash val="solid"/>
            <a:round/>
            <a:headEnd type="none" w="med" len="med"/>
            <a:tailEnd type="none" w="med" len="med"/>
          </a:ln>
        </p:spPr>
      </p:cxnSp>
      <p:pic>
        <p:nvPicPr>
          <p:cNvPr id="262" name="Google Shape;262;p3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651075" y="1043197"/>
            <a:ext cx="1141902" cy="815649"/>
          </a:xfrm>
          <a:prstGeom prst="rect">
            <a:avLst/>
          </a:prstGeom>
          <a:noFill/>
          <a:ln>
            <a:noFill/>
          </a:ln>
        </p:spPr>
      </p:pic>
      <p:cxnSp>
        <p:nvCxnSpPr>
          <p:cNvPr id="263" name="Google Shape;263;p37"/>
          <p:cNvCxnSpPr/>
          <p:nvPr/>
        </p:nvCxnSpPr>
        <p:spPr>
          <a:xfrm>
            <a:off x="4726210" y="1001472"/>
            <a:ext cx="1083900" cy="828000"/>
          </a:xfrm>
          <a:prstGeom prst="straightConnector1">
            <a:avLst/>
          </a:prstGeom>
          <a:noFill/>
          <a:ln w="21375" cap="flat" cmpd="sng">
            <a:solidFill>
              <a:srgbClr val="EA9999"/>
            </a:solidFill>
            <a:prstDash val="solid"/>
            <a:round/>
            <a:headEnd type="none" w="med" len="med"/>
            <a:tailEnd type="none" w="med" len="med"/>
          </a:ln>
        </p:spPr>
      </p:cxnSp>
      <p:cxnSp>
        <p:nvCxnSpPr>
          <p:cNvPr id="264" name="Google Shape;264;p37"/>
          <p:cNvCxnSpPr/>
          <p:nvPr/>
        </p:nvCxnSpPr>
        <p:spPr>
          <a:xfrm flipH="1">
            <a:off x="4705684" y="1054049"/>
            <a:ext cx="1032600" cy="793800"/>
          </a:xfrm>
          <a:prstGeom prst="straightConnector1">
            <a:avLst/>
          </a:prstGeom>
          <a:noFill/>
          <a:ln w="21375" cap="flat" cmpd="sng">
            <a:solidFill>
              <a:srgbClr val="EA9999"/>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8"/>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70" name="Google Shape;270;p38"/>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71" name="Google Shape;271;p38"/>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92.3K  in 2026 </a:t>
            </a:r>
            <a:r>
              <a:rPr lang="en" sz="1000" b="1">
                <a:solidFill>
                  <a:schemeClr val="dk1"/>
                </a:solidFill>
                <a:latin typeface="Roboto Mono"/>
                <a:ea typeface="Roboto Mono"/>
                <a:cs typeface="Roboto Mono"/>
                <a:sym typeface="Roboto Mono"/>
              </a:rPr>
              <a:t>(as of May 1,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72" name="Google Shape;272;p38"/>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119,565</a:t>
            </a:r>
            <a:r>
              <a:rPr lang="en" sz="1200">
                <a:latin typeface="Calibri"/>
                <a:ea typeface="Calibri"/>
                <a:cs typeface="Calibri"/>
                <a:sym typeface="Calibri"/>
              </a:rPr>
              <a:t> people laid off (988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73" name="Google Shape;273;p3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133714"/>
            <a:ext cx="4950375" cy="1946645"/>
          </a:xfrm>
          <a:prstGeom prst="rect">
            <a:avLst/>
          </a:prstGeom>
          <a:noFill/>
          <a:ln w="9525" cap="flat" cmpd="sng">
            <a:solidFill>
              <a:srgbClr val="FF0000"/>
            </a:solidFill>
            <a:prstDash val="solid"/>
            <a:round/>
            <a:headEnd type="none" w="sm" len="sm"/>
            <a:tailEnd type="none" w="sm" len="sm"/>
          </a:ln>
        </p:spPr>
      </p:pic>
      <p:pic>
        <p:nvPicPr>
          <p:cNvPr id="274" name="Google Shape;274;p3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478603"/>
            <a:ext cx="4950375" cy="2598671"/>
          </a:xfrm>
          <a:prstGeom prst="rect">
            <a:avLst/>
          </a:prstGeom>
          <a:noFill/>
          <a:ln w="9525" cap="flat" cmpd="sng">
            <a:solidFill>
              <a:srgbClr val="FF0000"/>
            </a:solidFill>
            <a:prstDash val="solid"/>
            <a:round/>
            <a:headEnd type="none" w="sm" len="sm"/>
            <a:tailEnd type="none" w="sm" len="sm"/>
          </a:ln>
        </p:spPr>
      </p:pic>
      <p:graphicFrame>
        <p:nvGraphicFramePr>
          <p:cNvPr id="275" name="Google Shape;275;p38"/>
          <p:cNvGraphicFramePr/>
          <p:nvPr/>
        </p:nvGraphicFramePr>
        <p:xfrm>
          <a:off x="5422950" y="1933350"/>
          <a:ext cx="3000000" cy="3000000"/>
        </p:xfrm>
        <a:graphic>
          <a:graphicData uri="http://schemas.openxmlformats.org/drawingml/2006/table">
            <a:tbl>
              <a:tblPr>
                <a:noFill/>
                <a:tableStyleId>{410CED21-B8A9-4888-AF41-A55212CB7C90}</a:tableStyleId>
              </a:tblPr>
              <a:tblGrid>
                <a:gridCol w="835325">
                  <a:extLst>
                    <a:ext uri="{9D8B030D-6E8A-4147-A177-3AD203B41FA5}">
                      <a16:colId xmlns:a16="http://schemas.microsoft.com/office/drawing/2014/main" val="20000"/>
                    </a:ext>
                  </a:extLst>
                </a:gridCol>
                <a:gridCol w="1357350">
                  <a:extLst>
                    <a:ext uri="{9D8B030D-6E8A-4147-A177-3AD203B41FA5}">
                      <a16:colId xmlns:a16="http://schemas.microsoft.com/office/drawing/2014/main" val="20001"/>
                    </a:ext>
                  </a:extLst>
                </a:gridCol>
              </a:tblGrid>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Company</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April Employees Cut </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Meta</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~8,000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Microsoft</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~8,750 (voluntary)</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Snap</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~1,000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Nike</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~1,400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3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81" name="Google Shape;281;p39"/>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82" name="Google Shape;282;p39"/>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83" name="Google Shape;283;p3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84" name="Google Shape;284;p39"/>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85" name="Google Shape;285;p39"/>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0"/>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5492</Words>
  <Application>Microsoft Macintosh PowerPoint</Application>
  <PresentationFormat>On-screen Show (16:9)</PresentationFormat>
  <Paragraphs>732</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2</cp:revision>
  <dcterms:modified xsi:type="dcterms:W3CDTF">2026-05-01T17:58:37Z</dcterms:modified>
</cp:coreProperties>
</file>