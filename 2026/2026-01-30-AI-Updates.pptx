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Roboto Mono" pitchFamily="49"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3F381E-C177-4060-A7CB-DC133FBEDD4A}">
  <a:tblStyle styleId="{C13F381E-C177-4060-A7CB-DC133FBEDD4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07" d="100"/>
          <a:sy n="107" d="100"/>
        </p:scale>
        <p:origin x="105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bb447c7ab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3bb447c7ab9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92fa1f5d6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92fa1f5d6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932fd0c8e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3932fd0c8e7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9312c978c2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39312c978c2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9327a329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g39327a3296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931696d59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3931696d59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931867543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g3931867543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930fe94e63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930fe94e63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be3546f9a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be3546f9ae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932257341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3932257341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930fe94e63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g3930fe94e63_1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930fe94e63_1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g3930fe94e63_1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c245fefc6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g3c245fefc67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9323f5944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g39323f5944a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9313376d3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39313376d3d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93147452de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g393147452de_1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931696d591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931696d591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931696d591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g3931696d591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9323f5944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g39323f5944a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931696d59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g3931696d591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93166466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8" name="Google Shape;328;g393166466b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930fe94e63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g3930fe94e63_1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1" name="Google Shape;37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www.kimi.com/blog/kimi-k2-5.html" TargetMode="External"/><Relationship Id="rId39" Type="http://schemas.openxmlformats.org/officeDocument/2006/relationships/hyperlink" Target="https://qwen.ai/blog?id=241398b9cd6353de490b0f82806c7848c5d2777d&amp;from=research.latest-advancements-list" TargetMode="External"/><Relationship Id="rId21" Type="http://schemas.openxmlformats.org/officeDocument/2006/relationships/hyperlink" Target="https://blog.google/products/gemini/gemini-3-flash" TargetMode="External"/><Relationship Id="rId34" Type="http://schemas.openxmlformats.org/officeDocument/2006/relationships/hyperlink" Target="https://platform.openai.com/docs/models/gpt-5"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www.anthropic.com/news/claude-sonnet-4-5" TargetMode="External"/><Relationship Id="rId33" Type="http://schemas.openxmlformats.org/officeDocument/2006/relationships/hyperlink" Target="https://openai.com/index/introducing-gpt-5-2" TargetMode="External"/><Relationship Id="rId38" Type="http://schemas.openxmlformats.org/officeDocument/2006/relationships/hyperlink" Target="https://www.anthropic.com/news/claude-haiku-4-5"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x.ai/news/grok-4-1" TargetMode="External"/><Relationship Id="rId29" Type="http://schemas.openxmlformats.org/officeDocument/2006/relationships/hyperlink" Target="https://www.anthropic.com/news/claude-opus-4-1"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ernie.baidu.com/blog/posts/ernie-5.0-0110-release-on-lmarena/" TargetMode="External"/><Relationship Id="rId32" Type="http://schemas.openxmlformats.org/officeDocument/2006/relationships/hyperlink" Target="https://huggingface.co/zai-org/GLM-4.7" TargetMode="External"/><Relationship Id="rId37" Type="http://schemas.openxmlformats.org/officeDocument/2006/relationships/hyperlink" Target="https://huggingface.co/moonshotai/Kimi-K2-Thinking" TargetMode="External"/><Relationship Id="rId40" Type="http://schemas.openxmlformats.org/officeDocument/2006/relationships/hyperlink" Target="https://huggingface.co/meituan-longcat/LongCat-Flash-Chat"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openai.com/index/gpt-5-1/" TargetMode="External"/><Relationship Id="rId28" Type="http://schemas.openxmlformats.org/officeDocument/2006/relationships/hyperlink" Target="https://ernie.baidu.com/blog/posts/ernie-5.0-preview-1203-release-on-lmarena/" TargetMode="External"/><Relationship Id="rId36" Type="http://schemas.openxmlformats.org/officeDocument/2006/relationships/hyperlink" Target="https://www.anthropic.com/news/claude-4" TargetMode="External"/><Relationship Id="rId10" Type="http://schemas.openxmlformats.org/officeDocument/2006/relationships/hyperlink" Target="https://llmworld.net/llm_leaderboards/" TargetMode="External"/><Relationship Id="rId19" Type="http://schemas.openxmlformats.org/officeDocument/2006/relationships/hyperlink" Target="https://aistudio.google.com/app/prompts/new_chat?model=gemini-3-pro-preview" TargetMode="External"/><Relationship Id="rId31" Type="http://schemas.openxmlformats.org/officeDocument/2006/relationships/hyperlink" Target="https://x.com/OpenAI/status/1905331956856050135"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5" TargetMode="External"/><Relationship Id="rId27" Type="http://schemas.openxmlformats.org/officeDocument/2006/relationships/hyperlink" Target="https://aistudio.google.com/app/prompts/new_chat?model=gemini-2.5-pro" TargetMode="External"/><Relationship Id="rId30" Type="http://schemas.openxmlformats.org/officeDocument/2006/relationships/hyperlink" Target="https://openai.com/index/introducing-gpt-4-5/" TargetMode="External"/><Relationship Id="rId35" Type="http://schemas.openxmlformats.org/officeDocument/2006/relationships/hyperlink" Target="https://www.alibabacloud.com/help/en/model-studio/models"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huggingface.co/ByteDance-Seed/Stable-DiffCoder-8B-Instruct"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Tencent-Hunyuan/HunyuanImage-3.0" TargetMode="External"/><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hyperlink" Target="https://huggingface.co/tencent/HunyuanImage-3.0-Instruct" TargetMode="External"/><Relationship Id="rId4" Type="http://schemas.openxmlformats.org/officeDocument/2006/relationships/hyperlink" Target="https://x.com/TencentHunyuan/status/2016356787361087615"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vercel-labs/skill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hyperlink" Target="http://www.youtube.com/watch?v=A_1ELXEVp5w"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hyperlink" Target="https://x.com/Kimi_Moonshot/status/2016034259350520226"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hyperlink" Target="http://www.youtube.com/watch?v=AbGBM-aGDJw"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hyperlink" Target="https://www.linkedin.com/posts/linasbeliunas_jensen-huang-just-said-the-quiet-part-out-activity-7418389362226233344-WqLu"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ruvnet/claude-flow"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hyperlink" Target="https://www.reddit.com/r/ClaudeAI/comments/1l87dj7/claudeflow_multiagent_orchestration_platform_for/"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clawd.bot" TargetMode="External"/><Relationship Id="rId7"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hyperlink" Target="http://www.youtube.com/watch?v=MUDvwqJWWIw" TargetMode="External"/><Relationship Id="rId4" Type="http://schemas.openxmlformats.org/officeDocument/2006/relationships/hyperlink" Target="https://github.com/moltbot/moltbot"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www.youtube.com/watch?v=mPWY7qiISoA"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jpeg"/><Relationship Id="rId5" Type="http://schemas.openxmlformats.org/officeDocument/2006/relationships/hyperlink" Target="https://vibeaudits.com/blog/64000-github-stars-16m-scam-moltbot-clawdbot-security-nightmare" TargetMode="External"/><Relationship Id="rId4" Type="http://schemas.openxmlformats.org/officeDocument/2006/relationships/hyperlink" Target="https://www.bitdefender.com/en-us/blog/hotforsecurity/moltbot-security-alert-exposed-clawdbot-control-panels-risk-credential-leaks-and-account-takeovers"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youtube.com/watch?v=eq05p90xyJw" TargetMode="External"/><Relationship Id="rId3" Type="http://schemas.openxmlformats.org/officeDocument/2006/relationships/hyperlink" Target="https://github.com/eigent-ai/eigent" TargetMode="External"/><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github.com/eigent-ai" TargetMode="External"/><Relationship Id="rId5" Type="http://schemas.openxmlformats.org/officeDocument/2006/relationships/hyperlink" Target="https://www.camel-ai.org/blogs/a-guide-to-building-a-fully-local-ai-workforce-with-eigent" TargetMode="External"/><Relationship Id="rId4" Type="http://schemas.openxmlformats.org/officeDocument/2006/relationships/hyperlink" Target="https://www.camel-ai.org"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the-decoder.com/openais-upcoming-codex-update-will-hit-the-companys-high-cybersecurity-risk-level-for-the-first-tim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hyperlink" Target="https://x.com/sama/status/2014733975755817267"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hyperlink" Target="https://huggingface.co/spaces/Qwen/Qwen3-TTS"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hyperlink" Target="https://www.eweek.com/news/google-ai-plus-rollout-35-countries/"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BmzdS-a-G8g"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xxppO2ws-J8" TargetMode="External"/><Relationship Id="rId7" Type="http://schemas.openxmlformats.org/officeDocument/2006/relationships/image" Target="../media/image28.jpe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www.linkedin.com/in/filev" TargetMode="External"/><Relationship Id="rId5" Type="http://schemas.openxmlformats.org/officeDocument/2006/relationships/image" Target="../media/image27.png"/><Relationship Id="rId4" Type="http://schemas.openxmlformats.org/officeDocument/2006/relationships/hyperlink" Target="https://zencoder.ai/zenflow"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www.youtube.com/watch?v=MEtDwwi7bEU"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hyperlink" Target="https://www.youtube.com/watch?v=D_ELyz_leRc" TargetMode="External"/><Relationship Id="rId7"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hyperlink" Target="https://fal.ai" TargetMode="External"/><Relationship Id="rId9" Type="http://schemas.openxmlformats.org/officeDocument/2006/relationships/image" Target="../media/image34.jpeg"/></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yUdE9oj3sWk"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8" Type="http://schemas.openxmlformats.org/officeDocument/2006/relationships/hyperlink" Target="https://scholarai.io" TargetMode="External"/><Relationship Id="rId3" Type="http://schemas.openxmlformats.org/officeDocument/2006/relationships/hyperlink" Target="https://aischoollibrarian.substack.com/p/top-10-ai-research-tools-for-2026" TargetMode="External"/><Relationship Id="rId7" Type="http://schemas.openxmlformats.org/officeDocument/2006/relationships/hyperlink" Target="https://paperguide.ai/blog/best-ai-paper-writing-tools/" TargetMode="External"/><Relationship Id="rId12" Type="http://schemas.openxmlformats.org/officeDocument/2006/relationships/hyperlink" Target="https://lumivero.com/resources/blog/ai-tools-for-academic-research/"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www.reddit.com/r/IBO/comments/1lraery/ai_tools_for_academic_writing_which_ones_are/" TargetMode="External"/><Relationship Id="rId11" Type="http://schemas.openxmlformats.org/officeDocument/2006/relationships/hyperlink" Target="http://atlas.ti" TargetMode="External"/><Relationship Id="rId5" Type="http://schemas.openxmlformats.org/officeDocument/2006/relationships/hyperlink" Target="https://ssbr-edu.ch/free_tools_for_academic_research_in_2026/" TargetMode="External"/><Relationship Id="rId10" Type="http://schemas.openxmlformats.org/officeDocument/2006/relationships/image" Target="../media/image39.png"/><Relationship Id="rId4" Type="http://schemas.openxmlformats.org/officeDocument/2006/relationships/hyperlink" Target="https://paperguide.ai/blog/ai-tools-for-research/" TargetMode="External"/><Relationship Id="rId9" Type="http://schemas.openxmlformats.org/officeDocument/2006/relationships/hyperlink" Target="https://www.nature.com/articles/d41586-025-01069-0"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layoffs.fyi" TargetMode="External"/><Relationship Id="rId7"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hyperlink" Target="https://trueup.io/layoffs"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624534"/>
            <a:ext cx="4420200" cy="1742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Crowd-sourced "LM Arena" Leaderboard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Stable-DiffCoder-8B-Instruct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NVIDIA Climate "Earth-2" models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Tencent HunyuanImage 3.0-Instruct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Skills v1.1.1</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Problem - Agents not invoking (ignoring) skills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Kimi K2.5 by Moonshot AI</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Kimi Code, open-source coding agent - Apache 2.0</a:t>
            </a:r>
            <a:endParaRPr b="1">
              <a:solidFill>
                <a:srgbClr val="3C78D8"/>
              </a:solidFill>
              <a:latin typeface="Calibri"/>
              <a:ea typeface="Calibri"/>
              <a:cs typeface="Calibri"/>
              <a:sym typeface="Calibri"/>
            </a:endParaRPr>
          </a:p>
        </p:txBody>
      </p:sp>
      <p:sp>
        <p:nvSpPr>
          <p:cNvPr id="64" name="Google Shape;64;p15"/>
          <p:cNvSpPr txBox="1"/>
          <p:nvPr/>
        </p:nvSpPr>
        <p:spPr>
          <a:xfrm>
            <a:off x="0" y="-753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Jan </a:t>
            </a:r>
            <a:r>
              <a:rPr lang="en" sz="2200" b="1">
                <a:solidFill>
                  <a:srgbClr val="3C78D8"/>
                </a:solidFill>
                <a:latin typeface="Calibri"/>
                <a:ea typeface="Calibri"/>
                <a:cs typeface="Calibri"/>
                <a:sym typeface="Calibri"/>
              </a:rPr>
              <a:t>30</a:t>
            </a:r>
            <a:r>
              <a:rPr lang="en" sz="2200" b="1" i="0" u="none" strike="noStrike" cap="none">
                <a:solidFill>
                  <a:srgbClr val="3C78D8"/>
                </a:solidFill>
                <a:latin typeface="Calibri"/>
                <a:ea typeface="Calibri"/>
                <a:cs typeface="Calibri"/>
                <a:sym typeface="Calibri"/>
              </a:rPr>
              <a:t>, 2026</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74323" y="4328593"/>
            <a:ext cx="4502400" cy="664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Git &amp; GitHub</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for Academic &amp; Research Work</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i="0" u="none" strike="noStrike" cap="none">
                <a:solidFill>
                  <a:srgbClr val="3C78D8"/>
                </a:solidFill>
                <a:latin typeface="Calibri"/>
                <a:ea typeface="Calibri"/>
                <a:cs typeface="Calibri"/>
                <a:sym typeface="Calibri"/>
              </a:rPr>
              <a:t>Jobs, Layoffs, </a:t>
            </a:r>
            <a:r>
              <a:rPr lang="en" b="1">
                <a:solidFill>
                  <a:srgbClr val="3C78D8"/>
                </a:solidFill>
                <a:latin typeface="Calibri"/>
                <a:ea typeface="Calibri"/>
                <a:cs typeface="Calibri"/>
                <a:sym typeface="Calibri"/>
              </a:rPr>
              <a:t>demand for AI Engineers</a:t>
            </a:r>
            <a:endParaRPr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427177"/>
            <a:ext cx="4420200" cy="2604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Apps in Claude &amp; in ChatGPT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Updates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Jensen Huang: "Stop Coding"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Claude-Flow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Moltbot (originally Clawdbot)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Moltbot Security Disaster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Eigent is an open-source desktop application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Co-work Use Cases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Reached "High" Level of Cybersecurity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&amp; Sakana AI Partnership</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OpenAI’s "Value Sharing" Strategy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Qwen3-TTS open-source text-to-speech models</a:t>
            </a:r>
            <a:endParaRPr b="1">
              <a:solidFill>
                <a:srgbClr val="3C78D8"/>
              </a:solidFill>
              <a:latin typeface="Calibri"/>
              <a:ea typeface="Calibri"/>
              <a:cs typeface="Calibri"/>
              <a:sym typeface="Calibri"/>
            </a:endParaRPr>
          </a:p>
        </p:txBody>
      </p:sp>
      <p:sp>
        <p:nvSpPr>
          <p:cNvPr id="67" name="Google Shape;67;p15"/>
          <p:cNvSpPr txBox="1"/>
          <p:nvPr/>
        </p:nvSpPr>
        <p:spPr>
          <a:xfrm>
            <a:off x="4574323" y="1751705"/>
            <a:ext cx="4502400" cy="21735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AI Plus $7.99/month in the U.S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RAG Reasoning Collapse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Zenflow autonomous AI software engineer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Automated Quality Assurance (QA)</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Create AI YouTuber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Microsoft Maya 200 inference chip</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UAE K2 Think open-source model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Grok Imagine - text to videos up to 15 sec</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Tesla is ending Models S &amp; X to focus on AI and robotics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How to Advertise with AI</a:t>
            </a:r>
            <a:endParaRPr b="1">
              <a:solidFill>
                <a:srgbClr val="3C78D8"/>
              </a:solidFill>
              <a:latin typeface="Calibri"/>
              <a:ea typeface="Calibri"/>
              <a:cs typeface="Calibri"/>
              <a:sym typeface="Calibri"/>
            </a:endParaRPr>
          </a:p>
        </p:txBody>
      </p:sp>
      <p:sp>
        <p:nvSpPr>
          <p:cNvPr id="68" name="Google Shape;68;p15"/>
          <p:cNvSpPr txBox="1"/>
          <p:nvPr/>
        </p:nvSpPr>
        <p:spPr>
          <a:xfrm>
            <a:off x="4656600" y="125325"/>
            <a:ext cx="4420200" cy="1249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600" b="1" i="1">
                <a:solidFill>
                  <a:srgbClr val="FF0000"/>
                </a:solidFill>
                <a:latin typeface="Roboto Mono"/>
                <a:ea typeface="Roboto Mono"/>
                <a:cs typeface="Roboto Mono"/>
                <a:sym typeface="Roboto Mono"/>
              </a:rPr>
              <a:t>NVIDIA CEO Jensen Huang ... wants his engineers to spend "exactly zero percent" of their time writing code, with AI tools handling the coding tasks instead</a:t>
            </a:r>
            <a:endParaRPr sz="1600"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244248"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998655"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380840" y="78105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9" name="Google Shape;79;p16"/>
          <p:cNvSpPr/>
          <p:nvPr/>
        </p:nvSpPr>
        <p:spPr>
          <a:xfrm>
            <a:off x="3338040" y="77870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p:nvPr/>
        </p:nvSpPr>
        <p:spPr>
          <a:xfrm>
            <a:off x="384813" y="203630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a:off x="378228" y="150043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3335041" y="96137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January 29</a:t>
            </a:r>
            <a:endParaRPr sz="1000">
              <a:solidFill>
                <a:schemeClr val="dk1"/>
              </a:solidFill>
              <a:latin typeface="Calibri"/>
              <a:ea typeface="Calibri"/>
              <a:cs typeface="Calibri"/>
              <a:sym typeface="Calibri"/>
            </a:endParaRPr>
          </a:p>
        </p:txBody>
      </p:sp>
      <p:sp>
        <p:nvSpPr>
          <p:cNvPr id="84" name="Google Shape;84;p16"/>
          <p:cNvSpPr/>
          <p:nvPr/>
        </p:nvSpPr>
        <p:spPr>
          <a:xfrm>
            <a:off x="3337376" y="113276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6"/>
          <p:cNvSpPr txBox="1"/>
          <p:nvPr/>
        </p:nvSpPr>
        <p:spPr>
          <a:xfrm>
            <a:off x="3053206" y="49217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6" name="Google Shape;86;p16"/>
          <p:cNvSpPr/>
          <p:nvPr/>
        </p:nvSpPr>
        <p:spPr>
          <a:xfrm>
            <a:off x="3344075" y="493013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p:nvPr/>
        </p:nvSpPr>
        <p:spPr>
          <a:xfrm>
            <a:off x="3335154" y="132173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6"/>
          <p:cNvSpPr txBox="1"/>
          <p:nvPr/>
        </p:nvSpPr>
        <p:spPr>
          <a:xfrm flipH="1">
            <a:off x="3281430" y="202534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89" name="Google Shape;89;p16"/>
          <p:cNvSpPr txBox="1"/>
          <p:nvPr/>
        </p:nvSpPr>
        <p:spPr>
          <a:xfrm flipH="1">
            <a:off x="3278082" y="292435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0" name="Google Shape;90;p16"/>
          <p:cNvSpPr/>
          <p:nvPr/>
        </p:nvSpPr>
        <p:spPr>
          <a:xfrm>
            <a:off x="3335051" y="185363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6"/>
          <p:cNvSpPr/>
          <p:nvPr/>
        </p:nvSpPr>
        <p:spPr>
          <a:xfrm>
            <a:off x="3337376" y="166670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6"/>
          <p:cNvSpPr/>
          <p:nvPr/>
        </p:nvSpPr>
        <p:spPr>
          <a:xfrm>
            <a:off x="388460" y="186768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txBox="1"/>
          <p:nvPr/>
        </p:nvSpPr>
        <p:spPr>
          <a:xfrm flipH="1">
            <a:off x="322721" y="93542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4" name="Google Shape;94;p16"/>
          <p:cNvSpPr/>
          <p:nvPr/>
        </p:nvSpPr>
        <p:spPr>
          <a:xfrm>
            <a:off x="388445" y="457148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txBox="1"/>
          <p:nvPr/>
        </p:nvSpPr>
        <p:spPr>
          <a:xfrm flipH="1">
            <a:off x="326945" y="166407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6" name="Google Shape;96;p16"/>
          <p:cNvSpPr/>
          <p:nvPr/>
        </p:nvSpPr>
        <p:spPr>
          <a:xfrm>
            <a:off x="378228" y="131376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6"/>
          <p:cNvSpPr/>
          <p:nvPr/>
        </p:nvSpPr>
        <p:spPr>
          <a:xfrm>
            <a:off x="386592" y="240101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p:nvPr/>
        </p:nvSpPr>
        <p:spPr>
          <a:xfrm>
            <a:off x="3337376" y="257609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6"/>
          <p:cNvSpPr/>
          <p:nvPr/>
        </p:nvSpPr>
        <p:spPr>
          <a:xfrm>
            <a:off x="3338579" y="349130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6"/>
          <p:cNvSpPr/>
          <p:nvPr/>
        </p:nvSpPr>
        <p:spPr>
          <a:xfrm>
            <a:off x="6114208" y="720883"/>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p:nvPr/>
        </p:nvSpPr>
        <p:spPr>
          <a:xfrm>
            <a:off x="6114208" y="92594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6"/>
          <p:cNvSpPr/>
          <p:nvPr/>
        </p:nvSpPr>
        <p:spPr>
          <a:xfrm>
            <a:off x="6114208" y="113099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p:nvPr/>
        </p:nvSpPr>
        <p:spPr>
          <a:xfrm>
            <a:off x="6114208" y="133605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6"/>
          <p:cNvSpPr txBox="1"/>
          <p:nvPr/>
        </p:nvSpPr>
        <p:spPr>
          <a:xfrm>
            <a:off x="6294334" y="679168"/>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Google Gemini</a:t>
            </a:r>
            <a:endParaRPr sz="1100" b="1" i="0" u="none" strike="noStrike" cap="none">
              <a:solidFill>
                <a:srgbClr val="000000"/>
              </a:solidFill>
              <a:latin typeface="Calibri"/>
              <a:ea typeface="Calibri"/>
              <a:cs typeface="Calibri"/>
              <a:sym typeface="Calibri"/>
            </a:endParaRPr>
          </a:p>
        </p:txBody>
      </p:sp>
      <p:sp>
        <p:nvSpPr>
          <p:cNvPr id="105" name="Google Shape;105;p16"/>
          <p:cNvSpPr txBox="1"/>
          <p:nvPr/>
        </p:nvSpPr>
        <p:spPr>
          <a:xfrm>
            <a:off x="6290884" y="884225"/>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Claude</a:t>
            </a:r>
            <a:endParaRPr sz="1100" b="1" i="0" u="none" strike="noStrike" cap="none">
              <a:solidFill>
                <a:srgbClr val="000000"/>
              </a:solidFill>
              <a:latin typeface="Calibri"/>
              <a:ea typeface="Calibri"/>
              <a:cs typeface="Calibri"/>
              <a:sym typeface="Calibri"/>
            </a:endParaRPr>
          </a:p>
        </p:txBody>
      </p:sp>
      <p:sp>
        <p:nvSpPr>
          <p:cNvPr id="106" name="Google Shape;106;p16"/>
          <p:cNvSpPr txBox="1"/>
          <p:nvPr/>
        </p:nvSpPr>
        <p:spPr>
          <a:xfrm>
            <a:off x="6297459" y="1089282"/>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OpenAI</a:t>
            </a:r>
            <a:endParaRPr sz="1100" b="1" i="0" u="none" strike="noStrike" cap="none">
              <a:solidFill>
                <a:srgbClr val="000000"/>
              </a:solidFill>
              <a:latin typeface="Calibri"/>
              <a:ea typeface="Calibri"/>
              <a:cs typeface="Calibri"/>
              <a:sym typeface="Calibri"/>
            </a:endParaRPr>
          </a:p>
        </p:txBody>
      </p:sp>
      <p:sp>
        <p:nvSpPr>
          <p:cNvPr id="107" name="Google Shape;107;p16"/>
          <p:cNvSpPr txBox="1"/>
          <p:nvPr/>
        </p:nvSpPr>
        <p:spPr>
          <a:xfrm>
            <a:off x="6298784" y="1294339"/>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 Source</a:t>
            </a:r>
            <a:endParaRPr sz="1100" b="1" i="0" u="none" strike="noStrike" cap="none">
              <a:solidFill>
                <a:srgbClr val="000000"/>
              </a:solidFill>
              <a:latin typeface="Calibri"/>
              <a:ea typeface="Calibri"/>
              <a:cs typeface="Calibri"/>
              <a:sym typeface="Calibri"/>
            </a:endParaRPr>
          </a:p>
        </p:txBody>
      </p:sp>
      <p:sp>
        <p:nvSpPr>
          <p:cNvPr id="108" name="Google Shape;108;p16"/>
          <p:cNvSpPr/>
          <p:nvPr/>
        </p:nvSpPr>
        <p:spPr>
          <a:xfrm>
            <a:off x="380840" y="113919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6"/>
          <p:cNvSpPr/>
          <p:nvPr/>
        </p:nvSpPr>
        <p:spPr>
          <a:xfrm>
            <a:off x="388442" y="2580464"/>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6"/>
          <p:cNvSpPr/>
          <p:nvPr/>
        </p:nvSpPr>
        <p:spPr>
          <a:xfrm>
            <a:off x="386592" y="330779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6"/>
          <p:cNvSpPr/>
          <p:nvPr/>
        </p:nvSpPr>
        <p:spPr>
          <a:xfrm>
            <a:off x="384820" y="38471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6"/>
          <p:cNvSpPr/>
          <p:nvPr/>
        </p:nvSpPr>
        <p:spPr>
          <a:xfrm>
            <a:off x="3342774" y="221835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6"/>
          <p:cNvSpPr/>
          <p:nvPr/>
        </p:nvSpPr>
        <p:spPr>
          <a:xfrm>
            <a:off x="3337376" y="275897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6"/>
          <p:cNvSpPr txBox="1"/>
          <p:nvPr/>
        </p:nvSpPr>
        <p:spPr>
          <a:xfrm>
            <a:off x="3189086" y="366253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5" name="Google Shape;115;p16"/>
          <p:cNvSpPr txBox="1"/>
          <p:nvPr/>
        </p:nvSpPr>
        <p:spPr>
          <a:xfrm>
            <a:off x="231819" y="221213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6" name="Google Shape;116;p16"/>
          <p:cNvSpPr/>
          <p:nvPr/>
        </p:nvSpPr>
        <p:spPr>
          <a:xfrm>
            <a:off x="384820" y="366111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6"/>
          <p:cNvSpPr/>
          <p:nvPr/>
        </p:nvSpPr>
        <p:spPr>
          <a:xfrm>
            <a:off x="384820" y="42052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6"/>
          <p:cNvSpPr/>
          <p:nvPr/>
        </p:nvSpPr>
        <p:spPr>
          <a:xfrm>
            <a:off x="3336459" y="3121623"/>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388480" y="2942252"/>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p:nvPr/>
        </p:nvSpPr>
        <p:spPr>
          <a:xfrm>
            <a:off x="386592" y="3482226"/>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6"/>
          <p:cNvSpPr txBox="1"/>
          <p:nvPr/>
        </p:nvSpPr>
        <p:spPr>
          <a:xfrm>
            <a:off x="87039" y="401566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2" name="Google Shape;122;p16"/>
          <p:cNvSpPr/>
          <p:nvPr/>
        </p:nvSpPr>
        <p:spPr>
          <a:xfrm>
            <a:off x="386305" y="402291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p:nvPr/>
        </p:nvSpPr>
        <p:spPr>
          <a:xfrm>
            <a:off x="384820" y="43881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6"/>
          <p:cNvSpPr/>
          <p:nvPr/>
        </p:nvSpPr>
        <p:spPr>
          <a:xfrm>
            <a:off x="3335154" y="239361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txBox="1"/>
          <p:nvPr/>
        </p:nvSpPr>
        <p:spPr>
          <a:xfrm>
            <a:off x="3053206" y="384883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6" name="Google Shape;126;p16"/>
          <p:cNvSpPr/>
          <p:nvPr/>
        </p:nvSpPr>
        <p:spPr>
          <a:xfrm>
            <a:off x="3344075" y="385722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6"/>
          <p:cNvSpPr/>
          <p:nvPr/>
        </p:nvSpPr>
        <p:spPr>
          <a:xfrm>
            <a:off x="3338579" y="33084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6"/>
          <p:cNvSpPr/>
          <p:nvPr/>
        </p:nvSpPr>
        <p:spPr>
          <a:xfrm>
            <a:off x="3338579" y="4758395"/>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6"/>
          <p:cNvSpPr txBox="1"/>
          <p:nvPr/>
        </p:nvSpPr>
        <p:spPr>
          <a:xfrm>
            <a:off x="7349895" y="543655"/>
            <a:ext cx="1745700" cy="109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glm-4.6 - 355B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longcat-flash-chat - 560B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qwen3-max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qwen3-235b-a22b - 235B</a:t>
            </a:r>
            <a:endParaRPr sz="1000">
              <a:latin typeface="Calibri"/>
              <a:ea typeface="Calibri"/>
              <a:cs typeface="Calibri"/>
              <a:sym typeface="Calibri"/>
            </a:endParaRPr>
          </a:p>
        </p:txBody>
      </p:sp>
      <p:sp>
        <p:nvSpPr>
          <p:cNvPr id="130" name="Google Shape;130;p16"/>
          <p:cNvSpPr txBox="1"/>
          <p:nvPr/>
        </p:nvSpPr>
        <p:spPr>
          <a:xfrm>
            <a:off x="231819" y="493006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1" name="Google Shape;131;p16"/>
          <p:cNvSpPr txBox="1"/>
          <p:nvPr/>
        </p:nvSpPr>
        <p:spPr>
          <a:xfrm>
            <a:off x="3190366" y="456359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2" name="Google Shape;132;p16"/>
          <p:cNvSpPr txBox="1"/>
          <p:nvPr/>
        </p:nvSpPr>
        <p:spPr>
          <a:xfrm>
            <a:off x="3189086" y="419593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3" name="Google Shape;133;p16"/>
          <p:cNvSpPr txBox="1"/>
          <p:nvPr/>
        </p:nvSpPr>
        <p:spPr>
          <a:xfrm>
            <a:off x="3053206" y="402409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4" name="Google Shape;134;p16"/>
          <p:cNvSpPr/>
          <p:nvPr/>
        </p:nvSpPr>
        <p:spPr>
          <a:xfrm>
            <a:off x="3344075" y="403248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6"/>
          <p:cNvSpPr/>
          <p:nvPr/>
        </p:nvSpPr>
        <p:spPr>
          <a:xfrm>
            <a:off x="3337376" y="438965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txBox="1"/>
          <p:nvPr/>
        </p:nvSpPr>
        <p:spPr>
          <a:xfrm>
            <a:off x="231819" y="312653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7" name="Google Shape;137;p16"/>
          <p:cNvSpPr txBox="1"/>
          <p:nvPr/>
        </p:nvSpPr>
        <p:spPr>
          <a:xfrm>
            <a:off x="87039" y="275074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8" name="Google Shape;138;p16"/>
          <p:cNvSpPr/>
          <p:nvPr/>
        </p:nvSpPr>
        <p:spPr>
          <a:xfrm>
            <a:off x="386305" y="275799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16"/>
          <p:cNvSpPr/>
          <p:nvPr/>
        </p:nvSpPr>
        <p:spPr>
          <a:xfrm>
            <a:off x="388445" y="475436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6"/>
          <p:cNvSpPr txBox="1"/>
          <p:nvPr/>
        </p:nvSpPr>
        <p:spPr>
          <a:xfrm>
            <a:off x="3053206" y="148663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1" name="Google Shape;141;p16"/>
          <p:cNvSpPr/>
          <p:nvPr/>
        </p:nvSpPr>
        <p:spPr>
          <a:xfrm>
            <a:off x="3344075" y="149502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42" name="Google Shape;142;p16"/>
          <p:cNvGraphicFramePr/>
          <p:nvPr>
            <p:extLst>
              <p:ext uri="{D42A27DB-BD31-4B8C-83A1-F6EECF244321}">
                <p14:modId xmlns:p14="http://schemas.microsoft.com/office/powerpoint/2010/main" val="2236074757"/>
              </p:ext>
            </p:extLst>
          </p:nvPr>
        </p:nvGraphicFramePr>
        <p:xfrm>
          <a:off x="523850" y="563863"/>
          <a:ext cx="2330446" cy="4491775"/>
        </p:xfrm>
        <a:graphic>
          <a:graphicData uri="http://schemas.openxmlformats.org/drawingml/2006/table">
            <a:tbl>
              <a:tblPr>
                <a:noFill/>
                <a:tableStyleId>{C13F381E-C177-4060-A7CB-DC133FBEDD4A}</a:tableStyleId>
              </a:tblPr>
              <a:tblGrid>
                <a:gridCol w="2002065">
                  <a:extLst>
                    <a:ext uri="{9D8B030D-6E8A-4147-A177-3AD203B41FA5}">
                      <a16:colId xmlns:a16="http://schemas.microsoft.com/office/drawing/2014/main" val="20000"/>
                    </a:ext>
                  </a:extLst>
                </a:gridCol>
                <a:gridCol w="328381">
                  <a:extLst>
                    <a:ext uri="{9D8B030D-6E8A-4147-A177-3AD203B41FA5}">
                      <a16:colId xmlns:a16="http://schemas.microsoft.com/office/drawing/2014/main" val="20001"/>
                    </a:ext>
                  </a:extLst>
                </a:gridCol>
              </a:tblGrid>
              <a:tr h="179671">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1487</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1475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1471</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1468</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1466</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1466</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1463</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1459</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ernie-5.0-0110</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1453</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1450</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1450</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kimi-k2.5-thinking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1450</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1450</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ernie-5.0-preview-1203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1449</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1448</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1445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1444</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1443</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1440</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1440</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1440</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1435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1435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dirty="0">
                          <a:solidFill>
                            <a:srgbClr val="413D39"/>
                          </a:solidFill>
                          <a:latin typeface="Calibri"/>
                          <a:ea typeface="Calibri"/>
                          <a:cs typeface="Calibri"/>
                          <a:sym typeface="Calibri"/>
                        </a:rPr>
                        <a:t>1434</a:t>
                      </a:r>
                      <a:endParaRPr sz="800" dirty="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43" name="Google Shape;143;p16"/>
          <p:cNvGraphicFramePr/>
          <p:nvPr>
            <p:extLst>
              <p:ext uri="{D42A27DB-BD31-4B8C-83A1-F6EECF244321}">
                <p14:modId xmlns:p14="http://schemas.microsoft.com/office/powerpoint/2010/main" val="972527937"/>
              </p:ext>
            </p:extLst>
          </p:nvPr>
        </p:nvGraphicFramePr>
        <p:xfrm>
          <a:off x="3473250" y="563750"/>
          <a:ext cx="2330446" cy="4491775"/>
        </p:xfrm>
        <a:graphic>
          <a:graphicData uri="http://schemas.openxmlformats.org/drawingml/2006/table">
            <a:tbl>
              <a:tblPr>
                <a:noFill/>
                <a:tableStyleId>{C13F381E-C177-4060-A7CB-DC133FBEDD4A}</a:tableStyleId>
              </a:tblPr>
              <a:tblGrid>
                <a:gridCol w="2002065">
                  <a:extLst>
                    <a:ext uri="{9D8B030D-6E8A-4147-A177-3AD203B41FA5}">
                      <a16:colId xmlns:a16="http://schemas.microsoft.com/office/drawing/2014/main" val="20000"/>
                    </a:ext>
                  </a:extLst>
                </a:gridCol>
                <a:gridCol w="328381">
                  <a:extLst>
                    <a:ext uri="{9D8B030D-6E8A-4147-A177-3AD203B41FA5}">
                      <a16:colId xmlns:a16="http://schemas.microsoft.com/office/drawing/2014/main" val="20001"/>
                    </a:ext>
                  </a:extLst>
                </a:gridCol>
              </a:tblGrid>
              <a:tr h="179671">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1538</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1521</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1519</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1519</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kimi-k2.5-thinking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1514</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1512</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1510</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1507</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1505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1505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1503</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1497</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1495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3"/>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1495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1494</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5"/>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1493</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6"/>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ernie-5.0-0110</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1491</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7"/>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1487</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8"/>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1484</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9"/>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1482</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0"/>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1478</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1"/>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1477</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2"/>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1475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3"/>
                  </a:ext>
                </a:extLst>
              </a:tr>
              <a:tr h="1796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413D39"/>
                          </a:solidFill>
                          <a:latin typeface="Calibri"/>
                          <a:ea typeface="Calibri"/>
                          <a:cs typeface="Calibri"/>
                          <a:sym typeface="Calibri"/>
                        </a:rPr>
                        <a:t>1475</a:t>
                      </a:r>
                      <a:endParaRPr sz="800">
                        <a:solidFill>
                          <a:srgbClr val="413D3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7"/>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Stable-DiffCoder-8B-Instruct</a:t>
            </a:r>
            <a:endParaRPr sz="2000" b="1">
              <a:solidFill>
                <a:schemeClr val="dk1"/>
              </a:solidFill>
              <a:latin typeface="Calibri"/>
              <a:ea typeface="Calibri"/>
              <a:cs typeface="Calibri"/>
              <a:sym typeface="Calibri"/>
            </a:endParaRPr>
          </a:p>
        </p:txBody>
      </p:sp>
      <p:sp>
        <p:nvSpPr>
          <p:cNvPr id="149" name="Google Shape;149;p17"/>
          <p:cNvSpPr txBox="1"/>
          <p:nvPr/>
        </p:nvSpPr>
        <p:spPr>
          <a:xfrm>
            <a:off x="55075" y="529725"/>
            <a:ext cx="49041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Stable-DiffCoder-8B-Instruct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8B params code diffusion language model from ByteDance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mask diffusion instead of traditional autoregressive generation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on the Seed-Coder architecture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Introduces block diffusion continual pretraining with tailored warmup and noise scheduling to stabilize training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demonstrates superior performance compared to its autoregressive counterpart across code generation benchmarks like HumanEval (86.6%) and MBPP (85.7%), outperforming most ~8B autoregressive and diffusion-based code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supports 8K-token context length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https://huggingface.co/ByteDance-Seed/Stable-DiffCoder-8B-Instruct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50" name="Google Shape;150;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494645" y="2925025"/>
            <a:ext cx="7546281" cy="2129775"/>
          </a:xfrm>
          <a:prstGeom prst="rect">
            <a:avLst/>
          </a:prstGeom>
          <a:noFill/>
          <a:ln w="9525" cap="flat" cmpd="sng">
            <a:solidFill>
              <a:srgbClr val="FF0000"/>
            </a:solidFill>
            <a:prstDash val="solid"/>
            <a:round/>
            <a:headEnd type="none" w="sm" len="sm"/>
            <a:tailEnd type="none" w="sm" len="sm"/>
          </a:ln>
        </p:spPr>
      </p:pic>
      <p:pic>
        <p:nvPicPr>
          <p:cNvPr id="151" name="Google Shape;151;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49475" y="529725"/>
            <a:ext cx="3891451" cy="8433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8"/>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57" name="Google Shape;157;p18"/>
          <p:cNvSpPr txBox="1"/>
          <p:nvPr/>
        </p:nvSpPr>
        <p:spPr>
          <a:xfrm>
            <a:off x="55075" y="686925"/>
            <a:ext cx="49041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Climate "Earth-2" models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new models powered by novel architectures: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Atlas, StormScope, and HealDA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Accelerate forecasting speeds by orders of magnitude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while delivering accuracy that rivals or exceeds traditional methods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suite includes three new breakthrough models: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(1) </a:t>
            </a:r>
            <a:r>
              <a:rPr lang="en" sz="1200" b="1">
                <a:solidFill>
                  <a:srgbClr val="FF0000"/>
                </a:solidFill>
                <a:latin typeface="Calibri"/>
                <a:ea typeface="Calibri"/>
                <a:cs typeface="Calibri"/>
                <a:sym typeface="Calibri"/>
              </a:rPr>
              <a:t>Earth-2 Medium Range</a:t>
            </a:r>
            <a:r>
              <a:rPr lang="en" sz="1200">
                <a:solidFill>
                  <a:schemeClr val="dk1"/>
                </a:solidFill>
                <a:latin typeface="Calibri"/>
                <a:ea typeface="Calibri"/>
                <a:cs typeface="Calibri"/>
                <a:sym typeface="Calibri"/>
              </a:rPr>
              <a:t>: High-accuracy 15-day forecasts across 70+ variables,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(2) </a:t>
            </a:r>
            <a:r>
              <a:rPr lang="en" sz="1200" b="1">
                <a:solidFill>
                  <a:srgbClr val="FF0000"/>
                </a:solidFill>
                <a:latin typeface="Calibri"/>
                <a:ea typeface="Calibri"/>
                <a:cs typeface="Calibri"/>
                <a:sym typeface="Calibri"/>
              </a:rPr>
              <a:t>Earth-2 Nowcasting</a:t>
            </a:r>
            <a:r>
              <a:rPr lang="en" sz="1200">
                <a:solidFill>
                  <a:schemeClr val="dk1"/>
                </a:solidFill>
                <a:latin typeface="Calibri"/>
                <a:ea typeface="Calibri"/>
                <a:cs typeface="Calibri"/>
                <a:sym typeface="Calibri"/>
              </a:rPr>
              <a:t>: Generative AI that delivers kilometer-scale storm predictions in minutes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(3) </a:t>
            </a:r>
            <a:r>
              <a:rPr lang="en" sz="1200" b="1">
                <a:solidFill>
                  <a:srgbClr val="FF0000"/>
                </a:solidFill>
                <a:latin typeface="Calibri"/>
                <a:ea typeface="Calibri"/>
                <a:cs typeface="Calibri"/>
                <a:sym typeface="Calibri"/>
              </a:rPr>
              <a:t>Earth-2 Global Data Assimilation</a:t>
            </a:r>
            <a:r>
              <a:rPr lang="en" sz="1200">
                <a:solidFill>
                  <a:schemeClr val="dk1"/>
                </a:solidFill>
                <a:latin typeface="Calibri"/>
                <a:ea typeface="Calibri"/>
                <a:cs typeface="Calibri"/>
                <a:sym typeface="Calibri"/>
              </a:rPr>
              <a:t> - combines diverse observations (from satellites, weather balloons, and ground stations) into a consistent snapshot of the current state of the atmosphere</a:t>
            </a:r>
            <a:endParaRPr sz="1200">
              <a:solidFill>
                <a:schemeClr val="dk1"/>
              </a:solidFill>
              <a:latin typeface="Calibri"/>
              <a:ea typeface="Calibri"/>
              <a:cs typeface="Calibri"/>
              <a:sym typeface="Calibri"/>
            </a:endParaRPr>
          </a:p>
        </p:txBody>
      </p:sp>
      <p:sp>
        <p:nvSpPr>
          <p:cNvPr id="158" name="Google Shape;158;p18"/>
          <p:cNvSpPr txBox="1"/>
          <p:nvPr/>
        </p:nvSpPr>
        <p:spPr>
          <a:xfrm>
            <a:off x="55075" y="3342863"/>
            <a:ext cx="49041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Tencent HunyuanImage 3.0-Instruct</a:t>
            </a:r>
            <a:r>
              <a:rPr lang="en" sz="1200">
                <a:solidFill>
                  <a:schemeClr val="dk1"/>
                </a:solidFill>
                <a:latin typeface="Calibri"/>
                <a:ea typeface="Calibri"/>
                <a:cs typeface="Calibri"/>
                <a:sym typeface="Calibri"/>
              </a:rPr>
              <a:t> is officially </a:t>
            </a:r>
            <a:r>
              <a:rPr lang="en" sz="1200" b="1">
                <a:solidFill>
                  <a:srgbClr val="3C78D8"/>
                </a:solidFill>
                <a:latin typeface="Calibri"/>
                <a:ea typeface="Calibri"/>
                <a:cs typeface="Calibri"/>
                <a:sym typeface="Calibri"/>
              </a:rPr>
              <a:t>open-sourced</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Ranks global tier-1 on @arena’s Image Edit leaderboard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world's strongest open-source Image-to-Image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https://github.com/Tencent-Hunyuan/HunyuanImage-3.0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https://x.com/TencentHunyuan/status/2016356787361087615</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https://huggingface.co/tencent/HunyuanImage-3.0-Instruct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59" name="Google Shape;159;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178675" y="3250625"/>
            <a:ext cx="2185491" cy="1311300"/>
          </a:xfrm>
          <a:prstGeom prst="rect">
            <a:avLst/>
          </a:prstGeom>
          <a:noFill/>
          <a:ln w="9525" cap="flat" cmpd="sng">
            <a:solidFill>
              <a:srgbClr val="FF0000"/>
            </a:solidFill>
            <a:prstDash val="solid"/>
            <a:round/>
            <a:headEnd type="none" w="sm" len="sm"/>
            <a:tailEnd type="none" w="sm" len="sm"/>
          </a:ln>
        </p:spPr>
      </p:pic>
      <p:pic>
        <p:nvPicPr>
          <p:cNvPr id="160" name="Google Shape;160;p1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178675" y="949725"/>
            <a:ext cx="2722500" cy="15246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9"/>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66" name="Google Shape;166;p19"/>
          <p:cNvSpPr txBox="1"/>
          <p:nvPr/>
        </p:nvSpPr>
        <p:spPr>
          <a:xfrm>
            <a:off x="169525" y="600325"/>
            <a:ext cx="43509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Skills v1.1.1</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Interactive discovery, open source release, and agent support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https://github.com/vercel-labs/skills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67" name="Google Shape;167;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86575" y="183413"/>
            <a:ext cx="2460901" cy="2124424"/>
          </a:xfrm>
          <a:prstGeom prst="rect">
            <a:avLst/>
          </a:prstGeom>
          <a:noFill/>
          <a:ln w="9525" cap="flat" cmpd="sng">
            <a:solidFill>
              <a:srgbClr val="FF0000"/>
            </a:solidFill>
            <a:prstDash val="solid"/>
            <a:round/>
            <a:headEnd type="none" w="sm" len="sm"/>
            <a:tailEnd type="none" w="sm" len="sm"/>
          </a:ln>
        </p:spPr>
      </p:pic>
      <p:sp>
        <p:nvSpPr>
          <p:cNvPr id="168" name="Google Shape;168;p19"/>
          <p:cNvSpPr txBox="1"/>
          <p:nvPr/>
        </p:nvSpPr>
        <p:spPr>
          <a:xfrm>
            <a:off x="169525" y="1876025"/>
            <a:ext cx="43509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Problem - Agents not invoking (ignoring) skills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happens because most frontier models are not yet fully trained on using skills compared to standard tool usage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Surprisingly, adding skills sometimes performed worse than the baseline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most effective alternative is using an "agents.md" or "clode.md" file to house grounding information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Instead of relying on autonomous skill invocation, developers should stuff summarized documentation directly into these grounding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compressing context - for instance, from 40KB to 8KB - developers can mitigate "context rot" while ensuring the agent actually follows the necessary instructions and documentation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http://www.youtube.com/watch?v=A_1ELXEVp5w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69" name="Google Shape;169;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015725" y="2460236"/>
            <a:ext cx="3796297" cy="253086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Kimi K2.5</a:t>
            </a:r>
            <a:endParaRPr sz="2000" b="1">
              <a:solidFill>
                <a:schemeClr val="dk1"/>
              </a:solidFill>
              <a:latin typeface="Calibri"/>
              <a:ea typeface="Calibri"/>
              <a:cs typeface="Calibri"/>
              <a:sym typeface="Calibri"/>
            </a:endParaRPr>
          </a:p>
        </p:txBody>
      </p:sp>
      <p:sp>
        <p:nvSpPr>
          <p:cNvPr id="175" name="Google Shape;175;p20"/>
          <p:cNvSpPr txBox="1"/>
          <p:nvPr/>
        </p:nvSpPr>
        <p:spPr>
          <a:xfrm>
            <a:off x="55075" y="518550"/>
            <a:ext cx="51519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Kimi K2.5 by Moonshot AI - Open Source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MoE architecture with 1 Trillion total params (32B activated), 61 layers with 384 experts that select 8 per token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256K-tokens context window in "Thinking Mode"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Natively multimodal, pre-trained on 15 trillion mixed visual and text tokens with an integrated MoonViT vision encoder - understands images and videos without external adapters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benchmarks, Kimi K2.5 demonstrates competitive performance against Claude Opus 4.5 and Gemini 3 Pro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SWE-Bench Verified, it outperforms Gemini 3 Pro, and beats both GPT 5.2 and Gemini 3 Pro on SWE-Bench Multilingual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video understanding, it surpassed GPT 5.2 and Claude Opus 4.5 on VideoMMMU benchmarks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One evaluation placed Kimi K2.5 at 64% compared to Gemini 3 Pro's 100% and Claude Opus 4.5 Max's 74%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supports native INT4 quantization for efficient deployment</a:t>
            </a:r>
            <a:endParaRPr sz="1200">
              <a:solidFill>
                <a:schemeClr val="dk1"/>
              </a:solidFill>
              <a:latin typeface="Calibri"/>
              <a:ea typeface="Calibri"/>
              <a:cs typeface="Calibri"/>
              <a:sym typeface="Calibri"/>
            </a:endParaRPr>
          </a:p>
        </p:txBody>
      </p:sp>
      <p:pic>
        <p:nvPicPr>
          <p:cNvPr id="176" name="Google Shape;176;p2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401538" y="3559146"/>
            <a:ext cx="2688025" cy="1511575"/>
          </a:xfrm>
          <a:prstGeom prst="rect">
            <a:avLst/>
          </a:prstGeom>
          <a:noFill/>
          <a:ln w="9525" cap="flat" cmpd="sng">
            <a:solidFill>
              <a:srgbClr val="FF0000"/>
            </a:solidFill>
            <a:prstDash val="solid"/>
            <a:round/>
            <a:headEnd type="none" w="sm" len="sm"/>
            <a:tailEnd type="none" w="sm" len="sm"/>
          </a:ln>
        </p:spPr>
      </p:pic>
      <p:sp>
        <p:nvSpPr>
          <p:cNvPr id="177" name="Google Shape;177;p20"/>
          <p:cNvSpPr txBox="1"/>
          <p:nvPr/>
        </p:nvSpPr>
        <p:spPr>
          <a:xfrm>
            <a:off x="475575" y="3641563"/>
            <a:ext cx="41844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Kimi Code, open-source coding agent - Apache 2.0</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Python-based, easy to extend.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Fully transparent — clear, safe, reliable.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Seamlessly integrates with VS Code, Cursor, JetBrains,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Fully-featured &amp; out-of-the-box ready. Switch over in seconds.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Native Multimodal support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https://x.com/Kimi_Moonshot/status/2016034259350520226</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78" name="Google Shape;178;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401550" y="1372725"/>
            <a:ext cx="2823274" cy="158103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1"/>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6.16K subscribers, 266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3. </a:t>
            </a: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84" name="Google Shape;184;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40700" y="119306"/>
            <a:ext cx="3302049" cy="49181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2"/>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Apps in Claude &amp; in ChatGPT</a:t>
            </a:r>
            <a:endParaRPr sz="2000" b="1">
              <a:solidFill>
                <a:schemeClr val="dk1"/>
              </a:solidFill>
              <a:latin typeface="Calibri"/>
              <a:ea typeface="Calibri"/>
              <a:cs typeface="Calibri"/>
              <a:sym typeface="Calibri"/>
            </a:endParaRPr>
          </a:p>
        </p:txBody>
      </p:sp>
      <p:sp>
        <p:nvSpPr>
          <p:cNvPr id="190" name="Google Shape;190;p22"/>
          <p:cNvSpPr txBox="1"/>
          <p:nvPr/>
        </p:nvSpPr>
        <p:spPr>
          <a:xfrm>
            <a:off x="55075" y="465018"/>
            <a:ext cx="4465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 Claude</a:t>
            </a:r>
            <a:r>
              <a:rPr lang="en" sz="1200">
                <a:solidFill>
                  <a:schemeClr val="dk1"/>
                </a:solidFill>
                <a:latin typeface="Calibri"/>
                <a:ea typeface="Calibri"/>
                <a:cs typeface="Calibri"/>
                <a:sym typeface="Calibri"/>
              </a:rPr>
              <a:t> recently launched interactive third-party apps directly within its chat interface for paid subscriptions</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Amplitude</a:t>
            </a:r>
            <a:r>
              <a:rPr lang="en" sz="1200">
                <a:solidFill>
                  <a:srgbClr val="3C78D8"/>
                </a:solidFill>
                <a:latin typeface="Calibri"/>
                <a:ea typeface="Calibri"/>
                <a:cs typeface="Calibri"/>
                <a:sym typeface="Calibri"/>
              </a:rPr>
              <a:t> - Analytics platform</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Asana</a:t>
            </a:r>
            <a:r>
              <a:rPr lang="en" sz="1200">
                <a:solidFill>
                  <a:srgbClr val="3C78D8"/>
                </a:solidFill>
                <a:latin typeface="Calibri"/>
                <a:ea typeface="Calibri"/>
                <a:cs typeface="Calibri"/>
                <a:sym typeface="Calibri"/>
              </a:rPr>
              <a:t> - Project management (can turn chats into projects)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Box</a:t>
            </a:r>
            <a:r>
              <a:rPr lang="en" sz="1200">
                <a:solidFill>
                  <a:srgbClr val="3C78D8"/>
                </a:solidFill>
                <a:latin typeface="Calibri"/>
                <a:ea typeface="Calibri"/>
                <a:cs typeface="Calibri"/>
                <a:sym typeface="Calibri"/>
              </a:rPr>
              <a:t> - File storage (search files, preview documents)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Canva</a:t>
            </a:r>
            <a:r>
              <a:rPr lang="en" sz="1200">
                <a:solidFill>
                  <a:srgbClr val="3C78D8"/>
                </a:solidFill>
                <a:latin typeface="Calibri"/>
                <a:ea typeface="Calibri"/>
                <a:cs typeface="Calibri"/>
                <a:sym typeface="Calibri"/>
              </a:rPr>
              <a:t> - Design tool</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Clay</a:t>
            </a:r>
            <a:r>
              <a:rPr lang="en" sz="1200">
                <a:solidFill>
                  <a:srgbClr val="3C78D8"/>
                </a:solidFill>
                <a:latin typeface="Calibri"/>
                <a:ea typeface="Calibri"/>
                <a:cs typeface="Calibri"/>
                <a:sym typeface="Calibri"/>
              </a:rPr>
              <a:t> - CRM and data enrichment</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Figma</a:t>
            </a:r>
            <a:r>
              <a:rPr lang="en" sz="1200">
                <a:solidFill>
                  <a:srgbClr val="3C78D8"/>
                </a:solidFill>
                <a:latin typeface="Calibri"/>
                <a:ea typeface="Calibri"/>
                <a:cs typeface="Calibri"/>
                <a:sym typeface="Calibri"/>
              </a:rPr>
              <a:t> - Design collaboration</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Hex</a:t>
            </a:r>
            <a:r>
              <a:rPr lang="en" sz="1200">
                <a:solidFill>
                  <a:srgbClr val="3C78D8"/>
                </a:solidFill>
                <a:latin typeface="Calibri"/>
                <a:ea typeface="Calibri"/>
                <a:cs typeface="Calibri"/>
                <a:sym typeface="Calibri"/>
              </a:rPr>
              <a:t> - Data analytics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monday.com</a:t>
            </a:r>
            <a:r>
              <a:rPr lang="en" sz="1200">
                <a:solidFill>
                  <a:srgbClr val="3C78D8"/>
                </a:solidFill>
                <a:latin typeface="Calibri"/>
                <a:ea typeface="Calibri"/>
                <a:cs typeface="Calibri"/>
                <a:sym typeface="Calibri"/>
              </a:rPr>
              <a:t> - Work management</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Slack</a:t>
            </a:r>
            <a:r>
              <a:rPr lang="en" sz="1200">
                <a:solidFill>
                  <a:srgbClr val="3C78D8"/>
                </a:solidFill>
                <a:latin typeface="Calibri"/>
                <a:ea typeface="Calibri"/>
                <a:cs typeface="Calibri"/>
                <a:sym typeface="Calibri"/>
              </a:rPr>
              <a:t> - Team communication</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Salesforce Agentforce 360</a:t>
            </a:r>
            <a:r>
              <a:rPr lang="en" sz="1200">
                <a:solidFill>
                  <a:srgbClr val="3C78D8"/>
                </a:solidFill>
                <a:latin typeface="Calibri"/>
                <a:ea typeface="Calibri"/>
                <a:cs typeface="Calibri"/>
                <a:sym typeface="Calibri"/>
              </a:rPr>
              <a:t> is coming soon</a:t>
            </a:r>
            <a:endParaRPr sz="1200">
              <a:solidFill>
                <a:srgbClr val="3C78D8"/>
              </a:solidFill>
              <a:latin typeface="Calibri"/>
              <a:ea typeface="Calibri"/>
              <a:cs typeface="Calibri"/>
              <a:sym typeface="Calibri"/>
            </a:endParaRPr>
          </a:p>
        </p:txBody>
      </p:sp>
      <p:sp>
        <p:nvSpPr>
          <p:cNvPr id="191" name="Google Shape;191;p22"/>
          <p:cNvSpPr txBox="1"/>
          <p:nvPr/>
        </p:nvSpPr>
        <p:spPr>
          <a:xfrm>
            <a:off x="55075" y="2978375"/>
            <a:ext cx="44652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ChatGPT</a:t>
            </a:r>
            <a:r>
              <a:rPr lang="en" sz="1200">
                <a:solidFill>
                  <a:schemeClr val="dk1"/>
                </a:solidFill>
                <a:latin typeface="Calibri"/>
                <a:ea typeface="Calibri"/>
                <a:cs typeface="Calibri"/>
                <a:sym typeface="Calibri"/>
              </a:rPr>
              <a:t> offers a broader range of third-party app integrations through its </a:t>
            </a:r>
            <a:r>
              <a:rPr lang="en" sz="1200" b="1">
                <a:solidFill>
                  <a:srgbClr val="FF0000"/>
                </a:solidFill>
                <a:latin typeface="Calibri"/>
                <a:ea typeface="Calibri"/>
                <a:cs typeface="Calibri"/>
                <a:sym typeface="Calibri"/>
              </a:rPr>
              <a:t>App Store</a:t>
            </a:r>
            <a:r>
              <a:rPr lang="en" sz="1200">
                <a:solidFill>
                  <a:schemeClr val="dk1"/>
                </a:solidFill>
                <a:latin typeface="Calibri"/>
                <a:ea typeface="Calibri"/>
                <a:cs typeface="Calibri"/>
                <a:sym typeface="Calibri"/>
              </a:rPr>
              <a:t>, including: </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Spotify</a:t>
            </a:r>
            <a:r>
              <a:rPr lang="en" sz="1200">
                <a:solidFill>
                  <a:srgbClr val="3C78D8"/>
                </a:solidFill>
                <a:latin typeface="Calibri"/>
                <a:ea typeface="Calibri"/>
                <a:cs typeface="Calibri"/>
                <a:sym typeface="Calibri"/>
              </a:rPr>
              <a:t> - Music streaming and playlist creation</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Canva</a:t>
            </a:r>
            <a:r>
              <a:rPr lang="en" sz="1200">
                <a:solidFill>
                  <a:srgbClr val="3C78D8"/>
                </a:solidFill>
                <a:latin typeface="Calibri"/>
                <a:ea typeface="Calibri"/>
                <a:cs typeface="Calibri"/>
                <a:sym typeface="Calibri"/>
              </a:rPr>
              <a:t> - Design and graphics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Figma</a:t>
            </a:r>
            <a:r>
              <a:rPr lang="en" sz="1200">
                <a:solidFill>
                  <a:srgbClr val="3C78D8"/>
                </a:solidFill>
                <a:latin typeface="Calibri"/>
                <a:ea typeface="Calibri"/>
                <a:cs typeface="Calibri"/>
                <a:sym typeface="Calibri"/>
              </a:rPr>
              <a:t> - Design collaboration</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Booking.com</a:t>
            </a:r>
            <a:r>
              <a:rPr lang="en" sz="1200">
                <a:solidFill>
                  <a:srgbClr val="3C78D8"/>
                </a:solidFill>
                <a:latin typeface="Calibri"/>
                <a:ea typeface="Calibri"/>
                <a:cs typeface="Calibri"/>
                <a:sym typeface="Calibri"/>
              </a:rPr>
              <a:t> and</a:t>
            </a:r>
            <a:r>
              <a:rPr lang="en" sz="1200" b="1">
                <a:solidFill>
                  <a:srgbClr val="FF0000"/>
                </a:solidFill>
                <a:latin typeface="Calibri"/>
                <a:ea typeface="Calibri"/>
                <a:cs typeface="Calibri"/>
                <a:sym typeface="Calibri"/>
              </a:rPr>
              <a:t> Expedia</a:t>
            </a:r>
            <a:r>
              <a:rPr lang="en" sz="1200">
                <a:solidFill>
                  <a:srgbClr val="3C78D8"/>
                </a:solidFill>
                <a:latin typeface="Calibri"/>
                <a:ea typeface="Calibri"/>
                <a:cs typeface="Calibri"/>
                <a:sym typeface="Calibri"/>
              </a:rPr>
              <a:t> - Travel booking</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Zillow</a:t>
            </a:r>
            <a:r>
              <a:rPr lang="en" sz="1200">
                <a:solidFill>
                  <a:srgbClr val="3C78D8"/>
                </a:solidFill>
                <a:latin typeface="Calibri"/>
                <a:ea typeface="Calibri"/>
                <a:cs typeface="Calibri"/>
                <a:sym typeface="Calibri"/>
              </a:rPr>
              <a:t> - Real estate search</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Coursera</a:t>
            </a:r>
            <a:r>
              <a:rPr lang="en" sz="1200">
                <a:solidFill>
                  <a:srgbClr val="3C78D8"/>
                </a:solidFill>
                <a:latin typeface="Calibri"/>
                <a:ea typeface="Calibri"/>
                <a:cs typeface="Calibri"/>
                <a:sym typeface="Calibri"/>
              </a:rPr>
              <a:t> - Educational content</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DoorDash</a:t>
            </a:r>
            <a:r>
              <a:rPr lang="en" sz="1200">
                <a:solidFill>
                  <a:srgbClr val="3C78D8"/>
                </a:solidFill>
                <a:latin typeface="Calibri"/>
                <a:ea typeface="Calibri"/>
                <a:cs typeface="Calibri"/>
                <a:sym typeface="Calibri"/>
              </a:rPr>
              <a:t> and</a:t>
            </a:r>
            <a:r>
              <a:rPr lang="en" sz="1200" b="1">
                <a:solidFill>
                  <a:srgbClr val="FF0000"/>
                </a:solidFill>
                <a:latin typeface="Calibri"/>
                <a:ea typeface="Calibri"/>
                <a:cs typeface="Calibri"/>
                <a:sym typeface="Calibri"/>
              </a:rPr>
              <a:t> Uber</a:t>
            </a:r>
            <a:r>
              <a:rPr lang="en" sz="1200">
                <a:solidFill>
                  <a:srgbClr val="3C78D8"/>
                </a:solidFill>
                <a:latin typeface="Calibri"/>
                <a:ea typeface="Calibri"/>
                <a:cs typeface="Calibri"/>
                <a:sym typeface="Calibri"/>
              </a:rPr>
              <a:t> - Food delivery and transportation</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Zapier</a:t>
            </a:r>
            <a:r>
              <a:rPr lang="en" sz="1200">
                <a:solidFill>
                  <a:srgbClr val="3C78D8"/>
                </a:solidFill>
                <a:latin typeface="Calibri"/>
                <a:ea typeface="Calibri"/>
                <a:cs typeface="Calibri"/>
                <a:sym typeface="Calibri"/>
              </a:rPr>
              <a:t> - Automation with 5,000+ apps (Gmail, Slack, Google Sheets, HubSpot, etc.)</a:t>
            </a:r>
            <a:endParaRPr sz="1200">
              <a:solidFill>
                <a:srgbClr val="3C78D8"/>
              </a:solidFill>
              <a:latin typeface="Calibri"/>
              <a:ea typeface="Calibri"/>
              <a:cs typeface="Calibri"/>
              <a:sym typeface="Calibri"/>
            </a:endParaRPr>
          </a:p>
        </p:txBody>
      </p:sp>
      <p:pic>
        <p:nvPicPr>
          <p:cNvPr id="192" name="Google Shape;192;p22"/>
          <p:cNvPicPr preferRelativeResize="0"/>
          <p:nvPr/>
        </p:nvPicPr>
        <p:blipFill>
          <a:blip r:embed="rId3">
            <a:alphaModFix/>
          </a:blip>
          <a:stretch>
            <a:fillRect/>
          </a:stretch>
        </p:blipFill>
        <p:spPr>
          <a:xfrm>
            <a:off x="5012075" y="782425"/>
            <a:ext cx="2867025" cy="1600200"/>
          </a:xfrm>
          <a:prstGeom prst="rect">
            <a:avLst/>
          </a:prstGeom>
          <a:noFill/>
          <a:ln w="9525" cap="flat" cmpd="sng">
            <a:solidFill>
              <a:srgbClr val="FF0000"/>
            </a:solidFill>
            <a:prstDash val="solid"/>
            <a:round/>
            <a:headEnd type="none" w="sm" len="sm"/>
            <a:tailEnd type="none" w="sm" len="sm"/>
          </a:ln>
        </p:spPr>
      </p:pic>
      <p:pic>
        <p:nvPicPr>
          <p:cNvPr id="193" name="Google Shape;193;p22"/>
          <p:cNvPicPr preferRelativeResize="0"/>
          <p:nvPr/>
        </p:nvPicPr>
        <p:blipFill>
          <a:blip r:embed="rId4">
            <a:alphaModFix/>
          </a:blip>
          <a:stretch>
            <a:fillRect/>
          </a:stretch>
        </p:blipFill>
        <p:spPr>
          <a:xfrm>
            <a:off x="5212100" y="3079550"/>
            <a:ext cx="2466975" cy="1847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3"/>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Updates</a:t>
            </a:r>
            <a:endParaRPr sz="2000" b="1">
              <a:solidFill>
                <a:schemeClr val="dk1"/>
              </a:solidFill>
              <a:latin typeface="Calibri"/>
              <a:ea typeface="Calibri"/>
              <a:cs typeface="Calibri"/>
              <a:sym typeface="Calibri"/>
            </a:endParaRPr>
          </a:p>
        </p:txBody>
      </p:sp>
      <p:sp>
        <p:nvSpPr>
          <p:cNvPr id="199" name="Google Shape;199;p23"/>
          <p:cNvSpPr txBox="1"/>
          <p:nvPr/>
        </p:nvSpPr>
        <p:spPr>
          <a:xfrm>
            <a:off x="55075" y="542350"/>
            <a:ext cx="44652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Key Claude Code Updates and tweaks by Yaron Been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Main update - </a:t>
            </a:r>
            <a:r>
              <a:rPr lang="en" sz="1200" b="1">
                <a:solidFill>
                  <a:srgbClr val="3C78D8"/>
                </a:solidFill>
                <a:latin typeface="Calibri"/>
                <a:ea typeface="Calibri"/>
                <a:cs typeface="Calibri"/>
                <a:sym typeface="Calibri"/>
              </a:rPr>
              <a:t>Native Persistent Memory</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http://www.youtube.com/watch?v=AbGBM-aGDJw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Tasks &amp; Dependencies</a:t>
            </a:r>
            <a:r>
              <a:rPr lang="en" sz="1200">
                <a:solidFill>
                  <a:schemeClr val="dk1"/>
                </a:solidFill>
                <a:latin typeface="Calibri"/>
                <a:ea typeface="Calibri"/>
                <a:cs typeface="Calibri"/>
                <a:sym typeface="Calibri"/>
              </a:rPr>
              <a:t> - Claude can now create tasks with dependencies that are stored in metadata and the file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Collaboration - </a:t>
            </a:r>
            <a:r>
              <a:rPr lang="en" sz="1200" b="1">
                <a:solidFill>
                  <a:srgbClr val="3C78D8"/>
                </a:solidFill>
                <a:latin typeface="Calibri"/>
                <a:ea typeface="Calibri"/>
                <a:cs typeface="Calibri"/>
                <a:sym typeface="Calibri"/>
              </a:rPr>
              <a:t>Multiple sessions or sub-agents can collaborate</a:t>
            </a:r>
            <a:r>
              <a:rPr lang="en" sz="1200">
                <a:solidFill>
                  <a:schemeClr val="dk1"/>
                </a:solidFill>
                <a:latin typeface="Calibri"/>
                <a:ea typeface="Calibri"/>
                <a:cs typeface="Calibri"/>
                <a:sym typeface="Calibri"/>
              </a:rPr>
              <a:t> on the same task list, and updates are broadcasted across all active sessions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Replacement for "Beads" the native solution replaces the need for third-party repositories like "Beads," which previously handled </a:t>
            </a:r>
            <a:r>
              <a:rPr lang="en" sz="1200" b="1">
                <a:solidFill>
                  <a:srgbClr val="3C78D8"/>
                </a:solidFill>
                <a:latin typeface="Calibri"/>
                <a:ea typeface="Calibri"/>
                <a:cs typeface="Calibri"/>
                <a:sym typeface="Calibri"/>
              </a:rPr>
              <a:t>persistent to-do lists for AI agents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 Workflow Enhancements &amp; Skills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6AA84F"/>
                </a:solidFill>
                <a:latin typeface="Calibri"/>
                <a:ea typeface="Calibri"/>
                <a:cs typeface="Calibri"/>
                <a:sym typeface="Calibri"/>
              </a:rPr>
              <a:t>1. Test-Driven Development (TDD) in Plan Mode</a:t>
            </a:r>
            <a:r>
              <a:rPr lang="en" sz="1200">
                <a:solidFill>
                  <a:schemeClr val="dk1"/>
                </a:solidFill>
                <a:latin typeface="Calibri"/>
                <a:ea typeface="Calibri"/>
                <a:cs typeface="Calibri"/>
                <a:sym typeface="Calibri"/>
              </a:rPr>
              <a:t> - write tests first in Claude's "plan mode"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6AA84F"/>
                </a:solidFill>
                <a:latin typeface="Calibri"/>
                <a:ea typeface="Calibri"/>
                <a:cs typeface="Calibri"/>
                <a:sym typeface="Calibri"/>
              </a:rPr>
              <a:t>2. Use Codex MCP </a:t>
            </a:r>
            <a:r>
              <a:rPr lang="en" sz="1200">
                <a:solidFill>
                  <a:schemeClr val="dk1"/>
                </a:solidFill>
                <a:latin typeface="Calibri"/>
                <a:ea typeface="Calibri"/>
                <a:cs typeface="Calibri"/>
                <a:sym typeface="Calibri"/>
              </a:rPr>
              <a:t> to write the tests and Claude to write the code to pass them, leveraging the different "perspectives" of the two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3. Use "Reinforce" command</a:t>
            </a:r>
            <a:r>
              <a:rPr lang="en" sz="1200">
                <a:solidFill>
                  <a:schemeClr val="dk1"/>
                </a:solidFill>
                <a:latin typeface="Calibri"/>
                <a:ea typeface="Calibri"/>
                <a:cs typeface="Calibri"/>
                <a:sym typeface="Calibri"/>
              </a:rPr>
              <a:t> that spins up six concurrent agents (three Codex, three Opus 4.5). They </a:t>
            </a:r>
            <a:r>
              <a:rPr lang="en" sz="1200" b="1">
                <a:solidFill>
                  <a:srgbClr val="3C78D8"/>
                </a:solidFill>
                <a:latin typeface="Calibri"/>
                <a:ea typeface="Calibri"/>
                <a:cs typeface="Calibri"/>
                <a:sym typeface="Calibri"/>
              </a:rPr>
              <a:t>analyze code for bugs, security breaches, UX/UI improvements, and performance</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a:t>
            </a:r>
            <a:r>
              <a:rPr lang="en" sz="1200" b="1">
                <a:solidFill>
                  <a:srgbClr val="3C78D8"/>
                </a:solidFill>
                <a:latin typeface="Calibri"/>
                <a:ea typeface="Calibri"/>
                <a:cs typeface="Calibri"/>
                <a:sym typeface="Calibri"/>
              </a:rPr>
              <a:t>CLI status line</a:t>
            </a:r>
            <a:r>
              <a:rPr lang="en" sz="1200">
                <a:solidFill>
                  <a:schemeClr val="dk1"/>
                </a:solidFill>
                <a:latin typeface="Calibri"/>
                <a:ea typeface="Calibri"/>
                <a:cs typeface="Calibri"/>
                <a:sym typeface="Calibri"/>
              </a:rPr>
              <a:t> to show context window usage (e.g., % of 200k tokens) and an error counter tracking number of errors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a:t>
            </a:r>
            <a:r>
              <a:rPr lang="en" sz="1200" b="1">
                <a:solidFill>
                  <a:srgbClr val="3C78D8"/>
                </a:solidFill>
                <a:latin typeface="Calibri"/>
                <a:ea typeface="Calibri"/>
                <a:cs typeface="Calibri"/>
                <a:sym typeface="Calibri"/>
              </a:rPr>
              <a:t>A script to skim local conversation logs to identify recurring errors</a:t>
            </a:r>
            <a:r>
              <a:rPr lang="en" sz="1200">
                <a:solidFill>
                  <a:schemeClr val="dk1"/>
                </a:solidFill>
                <a:latin typeface="Calibri"/>
                <a:ea typeface="Calibri"/>
                <a:cs typeface="Calibri"/>
                <a:sym typeface="Calibri"/>
              </a:rPr>
              <a:t>, helping to spot patterns in where the AI is struggling </a:t>
            </a:r>
            <a:endParaRPr sz="1200">
              <a:solidFill>
                <a:schemeClr val="dk1"/>
              </a:solidFill>
              <a:latin typeface="Calibri"/>
              <a:ea typeface="Calibri"/>
              <a:cs typeface="Calibri"/>
              <a:sym typeface="Calibri"/>
            </a:endParaRPr>
          </a:p>
        </p:txBody>
      </p:sp>
      <p:pic>
        <p:nvPicPr>
          <p:cNvPr id="200" name="Google Shape;200;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58275" y="179500"/>
            <a:ext cx="1568025" cy="1568025"/>
          </a:xfrm>
          <a:prstGeom prst="rect">
            <a:avLst/>
          </a:prstGeom>
          <a:noFill/>
          <a:ln>
            <a:noFill/>
          </a:ln>
        </p:spPr>
      </p:pic>
      <p:sp>
        <p:nvSpPr>
          <p:cNvPr id="201" name="Google Shape;201;p23"/>
          <p:cNvSpPr txBox="1"/>
          <p:nvPr/>
        </p:nvSpPr>
        <p:spPr>
          <a:xfrm>
            <a:off x="4593225" y="2389450"/>
            <a:ext cx="44652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6. </a:t>
            </a:r>
            <a:r>
              <a:rPr lang="en" sz="1200" b="1">
                <a:solidFill>
                  <a:srgbClr val="3C78D8"/>
                </a:solidFill>
                <a:latin typeface="Calibri"/>
                <a:ea typeface="Calibri"/>
                <a:cs typeface="Calibri"/>
                <a:sym typeface="Calibri"/>
              </a:rPr>
              <a:t>Docker "YOLO" Mode</a:t>
            </a:r>
            <a:r>
              <a:rPr lang="en" sz="1200">
                <a:solidFill>
                  <a:schemeClr val="dk1"/>
                </a:solidFill>
                <a:latin typeface="Calibri"/>
                <a:ea typeface="Calibri"/>
                <a:cs typeface="Calibri"/>
                <a:sym typeface="Calibri"/>
              </a:rPr>
              <a:t> - for research or tasks that don't require manual approval, run Claude Code in an isolated Docker container  using YOLO mode. This </a:t>
            </a:r>
            <a:r>
              <a:rPr lang="en" sz="1200" b="1">
                <a:solidFill>
                  <a:srgbClr val="3C78D8"/>
                </a:solidFill>
                <a:latin typeface="Calibri"/>
                <a:ea typeface="Calibri"/>
                <a:cs typeface="Calibri"/>
                <a:sym typeface="Calibri"/>
              </a:rPr>
              <a:t>prevents the AI from cluttering local environment </a:t>
            </a:r>
            <a:r>
              <a:rPr lang="en" sz="1200">
                <a:solidFill>
                  <a:schemeClr val="dk1"/>
                </a:solidFill>
                <a:latin typeface="Calibri"/>
                <a:ea typeface="Calibri"/>
                <a:cs typeface="Calibri"/>
                <a:sym typeface="Calibri"/>
              </a:rPr>
              <a:t>while avoiding constant permission prompts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7. </a:t>
            </a:r>
            <a:r>
              <a:rPr lang="en" sz="1200" b="1">
                <a:solidFill>
                  <a:srgbClr val="3C78D8"/>
                </a:solidFill>
                <a:latin typeface="Calibri"/>
                <a:ea typeface="Calibri"/>
                <a:cs typeface="Calibri"/>
                <a:sym typeface="Calibri"/>
              </a:rPr>
              <a:t>"Thinking Critically" Skill </a:t>
            </a:r>
            <a:r>
              <a:rPr lang="en" sz="1200">
                <a:solidFill>
                  <a:schemeClr val="dk1"/>
                </a:solidFill>
                <a:latin typeface="Calibri"/>
                <a:ea typeface="Calibri"/>
                <a:cs typeface="Calibri"/>
                <a:sym typeface="Calibri"/>
              </a:rPr>
              <a:t>- a custom command that forces Claude to challenge the user's assumptions, identify implicit constraints, perform trade-off analysis, and conduct a "failure-first" analysis before writing code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Yaron mentions that he is becoming more selective about testing new AI repositories. He believes that if a third-party solution (like "Beads") is truly valuable, it will eventually be natively integrated into major tools like Claude Code or OpenCode, so he prefers to "double down" on what is already working</a:t>
            </a:r>
            <a:endParaRPr sz="1200">
              <a:solidFill>
                <a:schemeClr val="dk1"/>
              </a:solidFill>
              <a:latin typeface="Calibri"/>
              <a:ea typeface="Calibri"/>
              <a:cs typeface="Calibri"/>
              <a:sym typeface="Calibri"/>
            </a:endParaRPr>
          </a:p>
        </p:txBody>
      </p:sp>
      <p:sp>
        <p:nvSpPr>
          <p:cNvPr id="202" name="Google Shape;202;p23"/>
          <p:cNvSpPr txBox="1"/>
          <p:nvPr/>
        </p:nvSpPr>
        <p:spPr>
          <a:xfrm>
            <a:off x="4914075" y="1747525"/>
            <a:ext cx="1256400" cy="23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b="1">
                <a:solidFill>
                  <a:schemeClr val="dk1"/>
                </a:solidFill>
                <a:latin typeface="Calibri"/>
                <a:ea typeface="Calibri"/>
                <a:cs typeface="Calibri"/>
                <a:sym typeface="Calibri"/>
              </a:rPr>
              <a:t>Yaron Been</a:t>
            </a:r>
            <a:endParaRPr b="1">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4"/>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Jensen Huang: "Stop Coding"</a:t>
            </a:r>
            <a:endParaRPr sz="2000" b="1">
              <a:solidFill>
                <a:schemeClr val="dk1"/>
              </a:solidFill>
              <a:latin typeface="Calibri"/>
              <a:ea typeface="Calibri"/>
              <a:cs typeface="Calibri"/>
              <a:sym typeface="Calibri"/>
            </a:endParaRPr>
          </a:p>
        </p:txBody>
      </p:sp>
      <p:sp>
        <p:nvSpPr>
          <p:cNvPr id="208" name="Google Shape;208;p24"/>
          <p:cNvSpPr txBox="1"/>
          <p:nvPr/>
        </p:nvSpPr>
        <p:spPr>
          <a:xfrm>
            <a:off x="55075" y="542350"/>
            <a:ext cx="44652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NVIDIA CEO Jensen Huang stated that he wants his engineers to spend "exactly zero percent" of their time writing code, with AI tools handling the coding tasks instead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Huang articulated this vision during an appearance on the No Priors AI podcast in January 2026, where he revealed that every engineer at NVIDIA now uses Cursor, an AI coding assistant, throughout their workday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According to Huang, coding is merely a task—the mechanical implementation—while the true purpose of engineering is discovering and solving problems that haven't yet been identified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stated, </a:t>
            </a:r>
            <a:r>
              <a:rPr lang="en" sz="1200" b="1">
                <a:solidFill>
                  <a:srgbClr val="FF0000"/>
                </a:solidFill>
                <a:latin typeface="Calibri"/>
                <a:ea typeface="Calibri"/>
                <a:cs typeface="Calibri"/>
                <a:sym typeface="Calibri"/>
              </a:rPr>
              <a:t>"Nothing would give me more joy than if none of our engineers were coding at all, and they were just purely solving undiscovered problems"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https://www.linkedin.com/posts/linasbeliunas_jensen-huang-just-said-the-quiet-part-out-activity-7418389362226233344-WqLu</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 a recent NVIDIA all-hands meeting, Huang reportedly challenged managers who were asking teams to limit AI tool usage, saying "Are you insane?"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His goal is to free engineers entirely from what he calls "syntax" so they can focus on higher-level system architecture, algorithmic development, and tackling complex, unresolved challenges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Huang has been advocating this "Purpose vs Task" idea across multiple public conversations</a:t>
            </a:r>
            <a:endParaRPr sz="1200">
              <a:solidFill>
                <a:schemeClr val="dk1"/>
              </a:solidFill>
              <a:latin typeface="Calibri"/>
              <a:ea typeface="Calibri"/>
              <a:cs typeface="Calibri"/>
              <a:sym typeface="Calibri"/>
            </a:endParaRPr>
          </a:p>
        </p:txBody>
      </p:sp>
      <p:sp>
        <p:nvSpPr>
          <p:cNvPr id="209" name="Google Shape;209;p24"/>
          <p:cNvSpPr txBox="1"/>
          <p:nvPr/>
        </p:nvSpPr>
        <p:spPr>
          <a:xfrm>
            <a:off x="4615612" y="3045375"/>
            <a:ext cx="4465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Huang's vision aligns with broader industry trends and statements from Google CEO Sundar Pichai and Anthropic CEO Dario Amodei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However even Andrej Karpathy, former Tesla AI director who coined the term "vibe coding," admitted his recent project was "basically entirely hand-written" because AI agents "just didn't work well enough". </a:t>
            </a:r>
            <a:endParaRPr sz="1200">
              <a:solidFill>
                <a:schemeClr val="dk1"/>
              </a:solidFill>
              <a:latin typeface="Calibri"/>
              <a:ea typeface="Calibri"/>
              <a:cs typeface="Calibri"/>
              <a:sym typeface="Calibri"/>
            </a:endParaRPr>
          </a:p>
        </p:txBody>
      </p:sp>
      <p:pic>
        <p:nvPicPr>
          <p:cNvPr id="210" name="Google Shape;210;p24"/>
          <p:cNvPicPr preferRelativeResize="0"/>
          <p:nvPr/>
        </p:nvPicPr>
        <p:blipFill>
          <a:blip r:embed="rId4">
            <a:alphaModFix/>
          </a:blip>
          <a:stretch>
            <a:fillRect/>
          </a:stretch>
        </p:blipFill>
        <p:spPr>
          <a:xfrm>
            <a:off x="5165525" y="542350"/>
            <a:ext cx="1914525" cy="2390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5"/>
          <p:cNvSpPr txBox="1"/>
          <p:nvPr/>
        </p:nvSpPr>
        <p:spPr>
          <a:xfrm>
            <a:off x="55075" y="43025"/>
            <a:ext cx="1720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Claude-Flow</a:t>
            </a:r>
            <a:endParaRPr sz="2000" b="1">
              <a:solidFill>
                <a:schemeClr val="dk1"/>
              </a:solidFill>
              <a:latin typeface="Calibri"/>
              <a:ea typeface="Calibri"/>
              <a:cs typeface="Calibri"/>
              <a:sym typeface="Calibri"/>
            </a:endParaRPr>
          </a:p>
        </p:txBody>
      </p:sp>
      <p:sp>
        <p:nvSpPr>
          <p:cNvPr id="216" name="Google Shape;216;p25"/>
          <p:cNvSpPr txBox="1"/>
          <p:nvPr/>
        </p:nvSpPr>
        <p:spPr>
          <a:xfrm>
            <a:off x="55075" y="414509"/>
            <a:ext cx="44439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Claude-Flow v3: Enterprise AI Orchestration Platform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AI multi-agent orchestration dev. framework, open-source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By Reuven Cohen (GitHub: ruvnet), Toronto Area, Canada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Teams can deploy, coordinate, and optimize specialized AI agents working together on complex software engineering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13.2K stars on Github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CLI and MCP server for command and control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Uses Q-Learning and MoE with 8 experts, 42+ skills, and 17 hooks to intelligently direct tasks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Swarm Coordination</a:t>
            </a:r>
            <a:r>
              <a:rPr lang="en" sz="1200">
                <a:solidFill>
                  <a:schemeClr val="dk1"/>
                </a:solidFill>
                <a:latin typeface="Calibri"/>
                <a:ea typeface="Calibri"/>
                <a:cs typeface="Calibri"/>
                <a:sym typeface="Calibri"/>
              </a:rPr>
              <a:t> - manages agents using various topologies (mesh, hierarchical, ring, star) and consensus mechanisms (Raft, BFT, Gossip, CRDT)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Includes </a:t>
            </a:r>
            <a:r>
              <a:rPr lang="en" sz="1200" b="1">
                <a:solidFill>
                  <a:srgbClr val="3C78D8"/>
                </a:solidFill>
                <a:latin typeface="Calibri"/>
                <a:ea typeface="Calibri"/>
                <a:cs typeface="Calibri"/>
                <a:sym typeface="Calibri"/>
              </a:rPr>
              <a:t>54+ specialized agents (coder, tester, reviewer, architect, security, etc.)</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Memory system (AgentDB)</a:t>
            </a:r>
            <a:r>
              <a:rPr lang="en" sz="1200">
                <a:solidFill>
                  <a:schemeClr val="dk1"/>
                </a:solidFill>
                <a:latin typeface="Calibri"/>
                <a:ea typeface="Calibri"/>
                <a:cs typeface="Calibri"/>
                <a:sym typeface="Calibri"/>
              </a:rPr>
              <a:t>, multiple LLM providers (Claude, GPT, Gemini, Ollama), and 12 workers for tasks like ultralearn, audit, and optimize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Hive-Mind Architecture - a "Queen" agent acts as the master orchestrator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Queen doesn't write code directly but analyzes tasks, breaks them into logical subtasks, delegates to appropriate worker agents, monitors progress, and manages communication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allows multiple specialized agents to work simultaneously on different parts of a project while sharing knowledge through an intelligent memory bank. </a:t>
            </a:r>
            <a:endParaRPr sz="1200">
              <a:solidFill>
                <a:schemeClr val="dk1"/>
              </a:solidFill>
              <a:latin typeface="Calibri"/>
              <a:ea typeface="Calibri"/>
              <a:cs typeface="Calibri"/>
              <a:sym typeface="Calibri"/>
            </a:endParaRPr>
          </a:p>
        </p:txBody>
      </p:sp>
      <p:sp>
        <p:nvSpPr>
          <p:cNvPr id="217" name="Google Shape;217;p25"/>
          <p:cNvSpPr txBox="1"/>
          <p:nvPr/>
        </p:nvSpPr>
        <p:spPr>
          <a:xfrm>
            <a:off x="4621172" y="2076797"/>
            <a:ext cx="44439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Advanced Intelligence (RuVector)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Version 3 introduces self-learning neural capabilities through RuVector components: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SONA = Self-Optimizing Neural Architecture - learns optimal routing in &lt;0.05ms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EWC++ = Elastic Weight Consolidation - preventing catastrophic forgetting (preserves 95%+ knowledge)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Flash Attention - Optimized computation with 2.49x-7.47x speedup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HNSW - Vector search 150x-12,500x faster than traditional methods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LoRA/MicroLoRA - Efficient fine-tuning with 128x compression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Get started: </a:t>
            </a:r>
            <a:r>
              <a:rPr lang="en" sz="1200" b="1">
                <a:solidFill>
                  <a:srgbClr val="3C78D8"/>
                </a:solidFill>
                <a:latin typeface="Calibri"/>
                <a:ea typeface="Calibri"/>
                <a:cs typeface="Calibri"/>
                <a:sym typeface="Calibri"/>
              </a:rPr>
              <a:t>npx claude-flow@v3alpha init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framework supports recursive development - it can build and improve itself using the same agents it orchestrates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https://github.com/ruvnet/claude-flow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https://www.reddit.com/r/ClaudeAI/comments/1l87dj7/claudeflow_multiagent_orchestration_platform_for/</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18" name="Google Shape;218;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437125" y="414498"/>
            <a:ext cx="2475557" cy="1388725"/>
          </a:xfrm>
          <a:prstGeom prst="rect">
            <a:avLst/>
          </a:prstGeom>
          <a:noFill/>
          <a:ln w="9525" cap="flat" cmpd="sng">
            <a:solidFill>
              <a:srgbClr val="FF0000"/>
            </a:solidFill>
            <a:prstDash val="solid"/>
            <a:round/>
            <a:headEnd type="none" w="sm" len="sm"/>
            <a:tailEnd type="none" w="sm" len="sm"/>
          </a:ln>
        </p:spPr>
      </p:pic>
      <p:pic>
        <p:nvPicPr>
          <p:cNvPr id="219" name="Google Shape;219;p25"/>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709926" y="414500"/>
            <a:ext cx="1154749" cy="13887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6"/>
          <p:cNvSpPr txBox="1"/>
          <p:nvPr/>
        </p:nvSpPr>
        <p:spPr>
          <a:xfrm>
            <a:off x="55075" y="43025"/>
            <a:ext cx="432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Moltbot (originally Clawdbot)</a:t>
            </a:r>
            <a:endParaRPr sz="2000" b="1">
              <a:solidFill>
                <a:schemeClr val="dk1"/>
              </a:solidFill>
              <a:latin typeface="Calibri"/>
              <a:ea typeface="Calibri"/>
              <a:cs typeface="Calibri"/>
              <a:sym typeface="Calibri"/>
            </a:endParaRPr>
          </a:p>
        </p:txBody>
      </p:sp>
      <p:sp>
        <p:nvSpPr>
          <p:cNvPr id="225" name="Google Shape;225;p26"/>
          <p:cNvSpPr txBox="1"/>
          <p:nvPr/>
        </p:nvSpPr>
        <p:spPr>
          <a:xfrm>
            <a:off x="80538" y="407619"/>
            <a:ext cx="44652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Moltbot - open source, local personal AI Assistant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Written in TypeScript, combines "Claude Code" with persistent memory and extensive computer access. Connects WhatsApp, Telegram, Slack, Discord, Signal, iMessage , emails, calendars, cameras, smart-home devices, ... to models such as Claude, ChatGPT, Gemini, xAI Grok, Mistral and local backends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tools via standard </a:t>
            </a:r>
            <a:r>
              <a:rPr lang="en" sz="1200" b="1">
                <a:solidFill>
                  <a:srgbClr val="FF0000"/>
                </a:solidFill>
                <a:latin typeface="Calibri"/>
                <a:ea typeface="Calibri"/>
                <a:cs typeface="Calibri"/>
                <a:sym typeface="Calibri"/>
              </a:rPr>
              <a:t>SKILL.md </a:t>
            </a:r>
            <a:r>
              <a:rPr lang="en" sz="1200">
                <a:solidFill>
                  <a:schemeClr val="dk1"/>
                </a:solidFill>
                <a:latin typeface="Calibri"/>
                <a:ea typeface="Calibri"/>
                <a:cs typeface="Calibri"/>
                <a:sym typeface="Calibri"/>
              </a:rPr>
              <a:t>format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workflow runtime "</a:t>
            </a:r>
            <a:r>
              <a:rPr lang="en" sz="1200" b="1">
                <a:solidFill>
                  <a:srgbClr val="FF0000"/>
                </a:solidFill>
                <a:latin typeface="Calibri"/>
                <a:ea typeface="Calibri"/>
                <a:cs typeface="Calibri"/>
                <a:sym typeface="Calibri"/>
              </a:rPr>
              <a:t>Lobster</a:t>
            </a:r>
            <a:r>
              <a:rPr lang="en" sz="1200">
                <a:solidFill>
                  <a:schemeClr val="dk1"/>
                </a:solidFill>
                <a:latin typeface="Calibri"/>
                <a:ea typeface="Calibri"/>
                <a:cs typeface="Calibri"/>
                <a:sym typeface="Calibri"/>
              </a:rPr>
              <a:t>" executes multi-step, typed pipelines with explicit approvals and resumable state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Clawdbot runs on your own hardware or a small VPS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uses cron-like scheduling, integrates with notes, tasks, repos and smart home systems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Created by Peter Steinberger - an Austrian software engineer and serial entrepreneur originally from Vienna, Austria, who now splits his time between Vienna and London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Peter Steinberger changed the name from ClawdBot to Moltbot on January 27, 2026. Original name was based on "Clawd," the Claude Code mascot, and Anthropic owned the trademark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agent needed to "molt" (shed its shell) to adopt a new identity. So it was called "Moltbot" as a fitting reference to the lobster theme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https://Molt.bot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https://github.com/moltbot/moltbot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http://www.youtube.com/watch?v=MUDvwqJWWIw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26" name="Google Shape;226;p26"/>
          <p:cNvSpPr txBox="1"/>
          <p:nvPr/>
        </p:nvSpPr>
        <p:spPr>
          <a:xfrm>
            <a:off x="4672451" y="412237"/>
            <a:ext cx="4384500" cy="308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Clawdbot - can write and execute code, manage files (localy and on Google Drive), check emails, and browse the web via a Chrome extension; Can place phone calls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learns your preferences over time and has a customizable "soul.md" file that dictates its personality and behavior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Social Media Management - drafting and sending replies to comments on X posts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Highly customizable, open-source, runs 24/7, and allows for complex "daisy-chaining" of different AI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project is only 2 months old, can occasionally crash or get stuck in tool-call loops; security risks if improperly configured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be installed on Mac, Windows, and Linux</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npm install -g moltbot@latest</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moltbot onboard --install-daemon</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moltbot gateway --port 18789 --verbose</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moltbot message send --to +1234567890 --message "Hello"</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moltbot agent --message "Ship checklist" --thinking high</a:t>
            </a:r>
            <a:endParaRPr sz="1100" b="1">
              <a:solidFill>
                <a:srgbClr val="3C78D8"/>
              </a:solidFill>
              <a:latin typeface="Calibri"/>
              <a:ea typeface="Calibri"/>
              <a:cs typeface="Calibri"/>
              <a:sym typeface="Calibri"/>
            </a:endParaRPr>
          </a:p>
        </p:txBody>
      </p:sp>
      <p:pic>
        <p:nvPicPr>
          <p:cNvPr id="227" name="Google Shape;227;p2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19344" y="3601169"/>
            <a:ext cx="2337605" cy="1455000"/>
          </a:xfrm>
          <a:prstGeom prst="rect">
            <a:avLst/>
          </a:prstGeom>
          <a:noFill/>
          <a:ln w="9525" cap="flat" cmpd="sng">
            <a:solidFill>
              <a:srgbClr val="FF0000"/>
            </a:solidFill>
            <a:prstDash val="solid"/>
            <a:round/>
            <a:headEnd type="none" w="sm" len="sm"/>
            <a:tailEnd type="none" w="sm" len="sm"/>
          </a:ln>
        </p:spPr>
      </p:pic>
      <p:pic>
        <p:nvPicPr>
          <p:cNvPr id="228" name="Google Shape;228;p2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132126" y="3601167"/>
            <a:ext cx="1455000" cy="1455000"/>
          </a:xfrm>
          <a:prstGeom prst="rect">
            <a:avLst/>
          </a:prstGeom>
          <a:noFill/>
          <a:ln w="9525" cap="flat" cmpd="sng">
            <a:solidFill>
              <a:srgbClr val="FF0000"/>
            </a:solidFill>
            <a:prstDash val="solid"/>
            <a:round/>
            <a:headEnd type="none" w="sm" len="sm"/>
            <a:tailEnd type="none" w="sm" len="sm"/>
          </a:ln>
        </p:spPr>
      </p:pic>
      <p:sp>
        <p:nvSpPr>
          <p:cNvPr id="229" name="Google Shape;229;p26"/>
          <p:cNvSpPr txBox="1"/>
          <p:nvPr/>
        </p:nvSpPr>
        <p:spPr>
          <a:xfrm>
            <a:off x="4546348" y="4540223"/>
            <a:ext cx="560100" cy="554100"/>
          </a:xfrm>
          <a:prstGeom prst="rect">
            <a:avLst/>
          </a:prstGeom>
          <a:noFill/>
          <a:ln>
            <a:noFill/>
          </a:ln>
        </p:spPr>
        <p:txBody>
          <a:bodyPr spcFirstLastPara="1" wrap="square" lIns="91425" tIns="91425" rIns="91425" bIns="91425" anchor="t" anchorCtr="0">
            <a:spAutoFit/>
          </a:bodyPr>
          <a:lstStyle/>
          <a:p>
            <a:pPr marL="0" marR="152400" lvl="0" indent="0" algn="l" rtl="0">
              <a:lnSpc>
                <a:spcPct val="142857"/>
              </a:lnSpc>
              <a:spcBef>
                <a:spcPts val="0"/>
              </a:spcBef>
              <a:spcAft>
                <a:spcPts val="0"/>
              </a:spcAft>
              <a:buNone/>
            </a:pPr>
            <a:r>
              <a:rPr lang="en" sz="2400" b="1">
                <a:solidFill>
                  <a:srgbClr val="1F2328"/>
                </a:solidFill>
                <a:highlight>
                  <a:srgbClr val="FFFFFF"/>
                </a:highlight>
              </a:rPr>
              <a:t>🦞</a:t>
            </a:r>
            <a:endParaRPr sz="2400" b="1">
              <a:solidFill>
                <a:srgbClr val="1F2328"/>
              </a:solidFill>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7"/>
          <p:cNvSpPr txBox="1"/>
          <p:nvPr/>
        </p:nvSpPr>
        <p:spPr>
          <a:xfrm>
            <a:off x="55075" y="43025"/>
            <a:ext cx="432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Moltbot Security Disaster</a:t>
            </a:r>
            <a:endParaRPr sz="2000" b="1">
              <a:solidFill>
                <a:schemeClr val="dk1"/>
              </a:solidFill>
              <a:latin typeface="Calibri"/>
              <a:ea typeface="Calibri"/>
              <a:cs typeface="Calibri"/>
              <a:sym typeface="Calibri"/>
            </a:endParaRPr>
          </a:p>
        </p:txBody>
      </p:sp>
      <p:sp>
        <p:nvSpPr>
          <p:cNvPr id="235" name="Google Shape;235;p27"/>
          <p:cNvSpPr txBox="1"/>
          <p:nvPr/>
        </p:nvSpPr>
        <p:spPr>
          <a:xfrm>
            <a:off x="80538" y="407619"/>
            <a:ext cx="44652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just 72 hours, the Moltbot collapsed into a $16 Mln crypto scam and security disaster </a:t>
            </a:r>
            <a:r>
              <a:rPr lang="en" sz="1200" u="sng">
                <a:solidFill>
                  <a:schemeClr val="hlink"/>
                </a:solidFill>
                <a:latin typeface="Calibri"/>
                <a:ea typeface="Calibri"/>
                <a:cs typeface="Calibri"/>
                <a:sym typeface="Calibri"/>
                <a:hlinkClick r:id="rId3"/>
              </a:rPr>
              <a:t>http://www.youtube.com/watch?v=mPWY7qiISoA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During the Clawdbot → Moltbot rebrand, the previous GitHub adn social identities of the project were briefly released - and then grabbed by others within seconds!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Automated “handle snipers” and squatters took over the old Clawdbot handle on X and the old GitHub org, then used those to post crypto wallet addresses and imply an “official” token.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token was never official: the project’s creator repeatedly stated he had not launched, endorsed, or planned any token at all.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Traders piled in on the assumption this was an early, sanctioned AI-related coin; when the denial hit and liquidity was pulled, late entrants were effectively rugged while the anonymous token creators walked away with large profits.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whole ~ 3-day episode exposed serious security issues in how many people deployed the bot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incident serves as a blueprint for future AI-related scams. Users should remain skeptical of "too good to be true" tools and avoid granting full system access to unverified software in the current "wild west" of AI </a:t>
            </a:r>
            <a:endParaRPr sz="1200">
              <a:solidFill>
                <a:schemeClr val="dk1"/>
              </a:solidFill>
              <a:latin typeface="Calibri"/>
              <a:ea typeface="Calibri"/>
              <a:cs typeface="Calibri"/>
              <a:sym typeface="Calibri"/>
            </a:endParaRPr>
          </a:p>
        </p:txBody>
      </p:sp>
      <p:sp>
        <p:nvSpPr>
          <p:cNvPr id="236" name="Google Shape;236;p27"/>
          <p:cNvSpPr txBox="1"/>
          <p:nvPr/>
        </p:nvSpPr>
        <p:spPr>
          <a:xfrm>
            <a:off x="4623181" y="140334"/>
            <a:ext cx="4465200" cy="325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Independently of the token drama, security researchers scanned the internet and found hundreds of Moltbot/Clawdbot control panels exposed publicly, often with no authentication at all</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https://www.bitdefender.com/en-us/blog/hotforsecurity/moltbot-security-alert-exposed-clawdbot-control-panels-risk-credential-leaks-and-account-takeovers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These exposed instances leaked API keys, OAuth tokens, and conversation histories and, in some cases, allowed unauthenticated command execution on the host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https://vibeaudits.com/blog/64000-github-stars-16m-scam-moltbot-clawdbot-security-nightmare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The root cause was not a zero‑day in the code but widespread bad deployments (trusting localhost, misconfigured reverse proxies); given Moltbot’s broad system access, this turned into a high‑impact security incident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Several post‑mortems and timelines describe a roughly three‑day window from explosive GitHub popularity, to trademark C&amp;D and rebrand, to handle sniping, token launches, and then mass security scanning and disclosures</a:t>
            </a:r>
            <a:endParaRPr sz="1200">
              <a:solidFill>
                <a:schemeClr val="dk1"/>
              </a:solidFill>
              <a:latin typeface="Calibri"/>
              <a:ea typeface="Calibri"/>
              <a:cs typeface="Calibri"/>
              <a:sym typeface="Calibri"/>
            </a:endParaRPr>
          </a:p>
        </p:txBody>
      </p:sp>
      <p:pic>
        <p:nvPicPr>
          <p:cNvPr id="237" name="Google Shape;237;p2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323688" y="3501828"/>
            <a:ext cx="2855680" cy="15448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8"/>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Eigent - Desktop Personal AI Workforce</a:t>
            </a:r>
            <a:endParaRPr sz="2000" b="1">
              <a:solidFill>
                <a:schemeClr val="dk1"/>
              </a:solidFill>
              <a:latin typeface="Calibri"/>
              <a:ea typeface="Calibri"/>
              <a:cs typeface="Calibri"/>
              <a:sym typeface="Calibri"/>
            </a:endParaRPr>
          </a:p>
        </p:txBody>
      </p:sp>
      <p:sp>
        <p:nvSpPr>
          <p:cNvPr id="243" name="Google Shape;243;p28"/>
          <p:cNvSpPr txBox="1"/>
          <p:nvPr/>
        </p:nvSpPr>
        <p:spPr>
          <a:xfrm>
            <a:off x="55075" y="471551"/>
            <a:ext cx="5303400" cy="403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Eigent is an open-source desktop application </a:t>
            </a:r>
            <a:r>
              <a:rPr lang="en" sz="1200">
                <a:solidFill>
                  <a:schemeClr val="dk1"/>
                </a:solidFill>
                <a:latin typeface="Calibri"/>
                <a:ea typeface="Calibri"/>
                <a:cs typeface="Calibri"/>
                <a:sym typeface="Calibri"/>
              </a:rPr>
              <a:t>(Apache 2.0)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https://github.com/eigent-ai/eigent</a:t>
            </a:r>
            <a:r>
              <a:rPr lang="en" sz="1200">
                <a:solidFill>
                  <a:schemeClr val="dk1"/>
                </a:solidFill>
                <a:latin typeface="Calibri"/>
                <a:ea typeface="Calibri"/>
                <a:cs typeface="Calibri"/>
                <a:sym typeface="Calibri"/>
              </a:rPr>
              <a:t> - 11.7K stars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https://www.camel-ai.org</a:t>
            </a:r>
            <a:r>
              <a:rPr lang="en" sz="1200">
                <a:solidFill>
                  <a:schemeClr val="dk1"/>
                </a:solidFill>
                <a:latin typeface="Calibri"/>
                <a:ea typeface="Calibri"/>
                <a:cs typeface="Calibri"/>
                <a:sym typeface="Calibri"/>
              </a:rPr>
              <a:t> - </a:t>
            </a:r>
            <a:r>
              <a:rPr lang="en" sz="1200" b="1">
                <a:solidFill>
                  <a:srgbClr val="FF0000"/>
                </a:solidFill>
                <a:latin typeface="Calibri"/>
                <a:ea typeface="Calibri"/>
                <a:cs typeface="Calibri"/>
                <a:sym typeface="Calibri"/>
              </a:rPr>
              <a:t>CAMEL-AI multi-agent framework</a:t>
            </a:r>
            <a:r>
              <a:rPr lang="en" sz="1200">
                <a:solidFill>
                  <a:schemeClr val="dk1"/>
                </a:solidFill>
                <a:latin typeface="Calibri"/>
                <a:ea typeface="Calibri"/>
                <a:cs typeface="Calibri"/>
                <a:sym typeface="Calibri"/>
              </a:rPr>
              <a:t>. Includes Developer agents, Browser agents, Document agents, Multi-Modal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startup in UK that went open-source (after release of Claude Co-Work)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Deploys a "personal AI workforce" on your local machine, orchestrating multiple specialized AI agents (complex, multi-step tasks, locally)</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https://www.camel-ai.org/blogs/a-guide-to-building-a-fully-local-ai-workforce-with-eigent</a:t>
            </a:r>
            <a:r>
              <a:rPr lang="en" sz="9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Privacy-First Design - everything runs locally on your computer</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Flexible Deployment - Supports both local-only operation (zero cloud dependency) and cloud-connected (API keys)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Extensive Tool Integration - </a:t>
            </a:r>
            <a:r>
              <a:rPr lang="en" sz="1200" b="1">
                <a:solidFill>
                  <a:srgbClr val="FF0000"/>
                </a:solidFill>
                <a:latin typeface="Calibri"/>
                <a:ea typeface="Calibri"/>
                <a:cs typeface="Calibri"/>
                <a:sym typeface="Calibri"/>
              </a:rPr>
              <a:t>over 200 MCP compatible tools for browser automation, code execution, document processing, terminal access, etc. </a:t>
            </a:r>
            <a:r>
              <a:rPr lang="en" sz="1200">
                <a:solidFill>
                  <a:schemeClr val="dk1"/>
                </a:solidFill>
                <a:latin typeface="Calibri"/>
                <a:ea typeface="Calibri"/>
                <a:cs typeface="Calibri"/>
                <a:sym typeface="Calibri"/>
              </a:rPr>
              <a:t>- and you can also add custom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Enterprise Features - SSO, access control, human-in-the-loop controls for oversight, and commercial licensing options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Eigent fits scenarios requiring automation of multi-step workflows such as research assistance, product research, automated report generation, data cleaning, and office automation. The platform is particularly valuable for developers and teams needing complete control over their AI processes without sending data to external servers. [jimmysong](https://jimmysong.io/ai/eigent/)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https://github.com/eigent-ai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44" name="Google Shape;244;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444475" y="471550"/>
            <a:ext cx="1922457" cy="1142875"/>
          </a:xfrm>
          <a:prstGeom prst="rect">
            <a:avLst/>
          </a:prstGeom>
          <a:noFill/>
          <a:ln w="9525" cap="flat" cmpd="sng">
            <a:solidFill>
              <a:srgbClr val="FF0000"/>
            </a:solidFill>
            <a:prstDash val="solid"/>
            <a:round/>
            <a:headEnd type="none" w="sm" len="sm"/>
            <a:tailEnd type="none" w="sm" len="sm"/>
          </a:ln>
        </p:spPr>
      </p:pic>
      <p:sp>
        <p:nvSpPr>
          <p:cNvPr id="245" name="Google Shape;245;p28"/>
          <p:cNvSpPr txBox="1"/>
          <p:nvPr/>
        </p:nvSpPr>
        <p:spPr>
          <a:xfrm>
            <a:off x="5444475" y="1899344"/>
            <a:ext cx="36246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Co-work Use Cases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Desktop File Organization - sorting files into folders/subfolders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Browser Control - navigate, do actions, downloads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Multitask Parallel Processing - organizing files, creating presentations, managing spreadsheets at once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Create Branded Presentation (provide logos, colors)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Data Collection (Shopify, CRMs)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data Analysis, create visual dashboards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Automated Video Editing - find engaging moments, cut into vertical clips optimized for Tik Tok or Instagram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Workspace - check Google Calendar, schedule  meetings, summarize important emails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MCP Server Connections (work with Asana, etc.)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Schedule workflows such as generating and posting LinkedIn content at a specific time every day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https://www.youtube.com/watch?v=eq05p90xyJw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9"/>
          <p:cNvSpPr txBox="1"/>
          <p:nvPr/>
        </p:nvSpPr>
        <p:spPr>
          <a:xfrm>
            <a:off x="55075" y="43025"/>
            <a:ext cx="500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OpenAI Reached "High" Level of Cybersecurity</a:t>
            </a:r>
            <a:endParaRPr sz="2000" b="1">
              <a:solidFill>
                <a:schemeClr val="dk1"/>
              </a:solidFill>
              <a:latin typeface="Calibri"/>
              <a:ea typeface="Calibri"/>
              <a:cs typeface="Calibri"/>
              <a:sym typeface="Calibri"/>
            </a:endParaRPr>
          </a:p>
        </p:txBody>
      </p:sp>
      <p:sp>
        <p:nvSpPr>
          <p:cNvPr id="251" name="Google Shape;251;p29"/>
          <p:cNvSpPr txBox="1"/>
          <p:nvPr/>
        </p:nvSpPr>
        <p:spPr>
          <a:xfrm>
            <a:off x="346725" y="1124850"/>
            <a:ext cx="45714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"We are going to reach the Cybersecurity High level" - Sam Altman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Shifting focus toward "defensive acceleration"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to help people </a:t>
            </a:r>
            <a:r>
              <a:rPr lang="en" sz="1200" b="1">
                <a:solidFill>
                  <a:srgbClr val="FF0000"/>
                </a:solidFill>
                <a:latin typeface="Calibri"/>
                <a:ea typeface="Calibri"/>
                <a:cs typeface="Calibri"/>
                <a:sym typeface="Calibri"/>
              </a:rPr>
              <a:t>patch bugs faster than they can be exploited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 announced that its </a:t>
            </a:r>
            <a:r>
              <a:rPr lang="en" sz="1200" b="1">
                <a:solidFill>
                  <a:srgbClr val="3C78D8"/>
                </a:solidFill>
                <a:latin typeface="Calibri"/>
                <a:ea typeface="Calibri"/>
                <a:cs typeface="Calibri"/>
                <a:sym typeface="Calibri"/>
              </a:rPr>
              <a:t>upcoming Codex coding model updates</a:t>
            </a:r>
            <a:r>
              <a:rPr lang="en" sz="1200">
                <a:solidFill>
                  <a:schemeClr val="dk1"/>
                </a:solidFill>
                <a:latin typeface="Calibri"/>
                <a:ea typeface="Calibri"/>
                <a:cs typeface="Calibri"/>
                <a:sym typeface="Calibri"/>
              </a:rPr>
              <a:t> will reach the "High" cybersecurity level for the first time.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900" u="sng">
                <a:solidFill>
                  <a:schemeClr val="hlink"/>
                </a:solidFill>
                <a:latin typeface="Calibri"/>
                <a:ea typeface="Calibri"/>
                <a:cs typeface="Calibri"/>
                <a:sym typeface="Calibri"/>
                <a:hlinkClick r:id="rId3"/>
              </a:rPr>
              <a:t>https://the-decoder.com/openais-upcoming-codex-update-will-hit-the-companys-high-cybersecurity-risk-level-for-the-first-time/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response, OpenAI is shifting toward "defensive acceleration," prioritizing AI tools that help people patch vulnerabilities faster than they can be exploited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CEO Sam Altman emphasized the importance of rapid adoption of these defensive tools</a:t>
            </a:r>
            <a:r>
              <a:rPr lang="en" sz="1200">
                <a:solidFill>
                  <a:schemeClr val="dk1"/>
                </a:solidFill>
                <a:latin typeface="Calibri"/>
                <a:ea typeface="Calibri"/>
                <a:cs typeface="Calibri"/>
                <a:sym typeface="Calibri"/>
              </a:rPr>
              <a:t>, noting that "there will be many very capable models in the world soon"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Initially, OpenAI will implement product restrictions to block misuse, while transitioning toward the defensive acceleration approach as supporting evidence emerges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https://x.com/sama/status/2014733975755817267</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52" name="Google Shape;252;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772950" y="152389"/>
            <a:ext cx="3225800" cy="4838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0"/>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&amp; Sakana AI Partnership</a:t>
            </a:r>
            <a:endParaRPr sz="2000" b="1">
              <a:solidFill>
                <a:schemeClr val="dk1"/>
              </a:solidFill>
              <a:latin typeface="Calibri"/>
              <a:ea typeface="Calibri"/>
              <a:cs typeface="Calibri"/>
              <a:sym typeface="Calibri"/>
            </a:endParaRPr>
          </a:p>
        </p:txBody>
      </p:sp>
      <p:sp>
        <p:nvSpPr>
          <p:cNvPr id="258" name="Google Shape;258;p30"/>
          <p:cNvSpPr txBox="1"/>
          <p:nvPr/>
        </p:nvSpPr>
        <p:spPr>
          <a:xfrm>
            <a:off x="121350" y="888532"/>
            <a:ext cx="44652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&amp; Sakana AI Partnership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is making a financial investment and forming a strategic partnership with Japan-based Sakana AI.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They aim to leverage models like Gemini and Gemma to accelerate breakthroughs in </a:t>
            </a:r>
            <a:r>
              <a:rPr lang="en" sz="1200" b="1">
                <a:solidFill>
                  <a:srgbClr val="FF0000"/>
                </a:solidFill>
                <a:latin typeface="Calibri"/>
                <a:ea typeface="Calibri"/>
                <a:cs typeface="Calibri"/>
                <a:sym typeface="Calibri"/>
              </a:rPr>
              <a:t>automated scientific discovery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Sakana AI is a Tokyo-based AI startup founded in 2023 by David Ha, Llion Jones (co-author of the "Attention Is All You Need" paper), and Ren Ito.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company is famous for its nature-inspired approach to AI development, particularly its </a:t>
            </a:r>
            <a:r>
              <a:rPr lang="en" sz="1200" b="1">
                <a:solidFill>
                  <a:srgbClr val="FF0000"/>
                </a:solidFill>
                <a:latin typeface="Calibri"/>
                <a:ea typeface="Calibri"/>
                <a:cs typeface="Calibri"/>
                <a:sym typeface="Calibri"/>
              </a:rPr>
              <a:t>Evolutionary Model Merge </a:t>
            </a:r>
            <a:r>
              <a:rPr lang="en" sz="1200">
                <a:solidFill>
                  <a:schemeClr val="dk1"/>
                </a:solidFill>
                <a:latin typeface="Calibri"/>
                <a:ea typeface="Calibri"/>
                <a:cs typeface="Calibri"/>
                <a:sym typeface="Calibri"/>
              </a:rPr>
              <a:t>technique that "breeds" new AI models by combining existing ones rather than training from scratch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method </a:t>
            </a:r>
            <a:r>
              <a:rPr lang="en" sz="1200" b="1">
                <a:solidFill>
                  <a:srgbClr val="FF0000"/>
                </a:solidFill>
                <a:latin typeface="Calibri"/>
                <a:ea typeface="Calibri"/>
                <a:cs typeface="Calibri"/>
                <a:sym typeface="Calibri"/>
              </a:rPr>
              <a:t>uses evolutionary algorithms to automatically merge open-source models</a:t>
            </a:r>
            <a:r>
              <a:rPr lang="en" sz="1200">
                <a:solidFill>
                  <a:schemeClr val="dk1"/>
                </a:solidFill>
                <a:latin typeface="Calibri"/>
                <a:ea typeface="Calibri"/>
                <a:cs typeface="Calibri"/>
                <a:sym typeface="Calibri"/>
              </a:rPr>
              <a:t>, creating powerful new systems without expensive retraining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Other notable innovations include </a:t>
            </a:r>
            <a:r>
              <a:rPr lang="en" sz="1200" b="1">
                <a:solidFill>
                  <a:srgbClr val="FF0000"/>
                </a:solidFill>
                <a:latin typeface="Calibri"/>
                <a:ea typeface="Calibri"/>
                <a:cs typeface="Calibri"/>
                <a:sym typeface="Calibri"/>
              </a:rPr>
              <a:t>The AI Scientist</a:t>
            </a:r>
            <a:r>
              <a:rPr lang="en" sz="1200">
                <a:solidFill>
                  <a:schemeClr val="dk1"/>
                </a:solidFill>
                <a:latin typeface="Calibri"/>
                <a:ea typeface="Calibri"/>
                <a:cs typeface="Calibri"/>
                <a:sym typeface="Calibri"/>
              </a:rPr>
              <a:t>, which automates scientific research, and the </a:t>
            </a:r>
            <a:r>
              <a:rPr lang="en" sz="1200" b="1">
                <a:solidFill>
                  <a:srgbClr val="FF0000"/>
                </a:solidFill>
                <a:latin typeface="Calibri"/>
                <a:ea typeface="Calibri"/>
                <a:cs typeface="Calibri"/>
                <a:sym typeface="Calibri"/>
              </a:rPr>
              <a:t>Continuous Thought Machine</a:t>
            </a:r>
            <a:r>
              <a:rPr lang="en" sz="1200">
                <a:solidFill>
                  <a:schemeClr val="dk1"/>
                </a:solidFill>
                <a:latin typeface="Calibri"/>
                <a:ea typeface="Calibri"/>
                <a:cs typeface="Calibri"/>
                <a:sym typeface="Calibri"/>
              </a:rPr>
              <a:t> for brain-like reasoning.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company raised approximately $200 Mln in Series A in 2024.</a:t>
            </a:r>
            <a:endParaRPr sz="1200">
              <a:solidFill>
                <a:schemeClr val="dk1"/>
              </a:solidFill>
              <a:latin typeface="Calibri"/>
              <a:ea typeface="Calibri"/>
              <a:cs typeface="Calibri"/>
              <a:sym typeface="Calibri"/>
            </a:endParaRPr>
          </a:p>
        </p:txBody>
      </p:sp>
      <p:pic>
        <p:nvPicPr>
          <p:cNvPr id="259" name="Google Shape;259;p3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890250" y="1988275"/>
            <a:ext cx="3527375" cy="2428250"/>
          </a:xfrm>
          <a:prstGeom prst="rect">
            <a:avLst/>
          </a:prstGeom>
          <a:noFill/>
          <a:ln w="9525" cap="flat" cmpd="sng">
            <a:solidFill>
              <a:srgbClr val="FF0000"/>
            </a:solidFill>
            <a:prstDash val="solid"/>
            <a:round/>
            <a:headEnd type="none" w="sm" len="sm"/>
            <a:tailEnd type="none" w="sm" len="sm"/>
          </a:ln>
        </p:spPr>
      </p:pic>
      <p:pic>
        <p:nvPicPr>
          <p:cNvPr id="260" name="Google Shape;260;p3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90250" y="369425"/>
            <a:ext cx="2012100" cy="14563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1"/>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66" name="Google Shape;266;p31"/>
          <p:cNvSpPr txBox="1"/>
          <p:nvPr/>
        </p:nvSpPr>
        <p:spPr>
          <a:xfrm>
            <a:off x="55075" y="655300"/>
            <a:ext cx="4465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OpenAI’s "Value Sharing" Strategy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Instead of just charging for API tokens or compute, OpenAI may partner with pharmaceutical companies to discover new drugs and take a percentage of the final product's value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startups, this is essentially a form of venture capital. Instead of raising money to buy compute, companies get the compute directly from OpenAI in exchange for equity or a license to the discovery</a:t>
            </a:r>
            <a:endParaRPr sz="1200">
              <a:solidFill>
                <a:schemeClr val="dk1"/>
              </a:solidFill>
              <a:latin typeface="Calibri"/>
              <a:ea typeface="Calibri"/>
              <a:cs typeface="Calibri"/>
              <a:sym typeface="Calibri"/>
            </a:endParaRPr>
          </a:p>
        </p:txBody>
      </p:sp>
      <p:sp>
        <p:nvSpPr>
          <p:cNvPr id="267" name="Google Shape;267;p31"/>
          <p:cNvSpPr txBox="1"/>
          <p:nvPr/>
        </p:nvSpPr>
        <p:spPr>
          <a:xfrm>
            <a:off x="55075" y="2489700"/>
            <a:ext cx="4465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Qwen3-TTS open-source text-to-speech models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Sizes: (1.7B &amp; 0.6B params)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Advanced voice cloning, voice design, and speech generation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Clone the voice using just 3 seconds of reference audio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10 major languages (Chinese, English, Japanese, Korean, German, French, Russian, Portuguese, Spanish, and Italian)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run on GPUs with 6GB of VRAM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https://huggingface.co/spaces/Qwen/Qwen3-TTS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68" name="Google Shape;268;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46875" y="425463"/>
            <a:ext cx="3092053" cy="1770975"/>
          </a:xfrm>
          <a:prstGeom prst="rect">
            <a:avLst/>
          </a:prstGeom>
          <a:noFill/>
          <a:ln w="9525" cap="flat" cmpd="sng">
            <a:solidFill>
              <a:srgbClr val="FF0000"/>
            </a:solidFill>
            <a:prstDash val="solid"/>
            <a:round/>
            <a:headEnd type="none" w="sm" len="sm"/>
            <a:tailEnd type="none" w="sm" len="sm"/>
          </a:ln>
        </p:spPr>
      </p:pic>
      <p:pic>
        <p:nvPicPr>
          <p:cNvPr id="269" name="Google Shape;269;p3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46875" y="2385575"/>
            <a:ext cx="3690351" cy="18034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2"/>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Updates</a:t>
            </a:r>
            <a:endParaRPr sz="2000" b="1">
              <a:solidFill>
                <a:schemeClr val="dk1"/>
              </a:solidFill>
              <a:latin typeface="Calibri"/>
              <a:ea typeface="Calibri"/>
              <a:cs typeface="Calibri"/>
              <a:sym typeface="Calibri"/>
            </a:endParaRPr>
          </a:p>
        </p:txBody>
      </p:sp>
      <p:sp>
        <p:nvSpPr>
          <p:cNvPr id="275" name="Google Shape;275;p32"/>
          <p:cNvSpPr txBox="1"/>
          <p:nvPr/>
        </p:nvSpPr>
        <p:spPr>
          <a:xfrm>
            <a:off x="55075" y="725550"/>
            <a:ext cx="44652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AI Plus $7.99/month in the U.S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 3 Pro and Nano Banana Pro models in the Gemini app, Deep Research capabilities, AI filmmaking tools in Flow, and research assistance in NotebookLM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Subscribers receive 200GB of cloud storage and 200 monthly AI credits for video generation, with the ability to share benefits with up to five family members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is an entry-level alternative to the more expensive AI Pro plan ($20/month), designed to make advanced AI tools accessible at a lower price point and compete with ChatGPT's similar offerings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plan is now available in 35 countries and territories globally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https://www.eweek.com/news/google-ai-plus-rollout-35-countries/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Google Gemini Chrome Integration</a:t>
            </a:r>
            <a:r>
              <a:rPr lang="en" sz="1200">
                <a:solidFill>
                  <a:schemeClr val="dk1"/>
                </a:solidFill>
                <a:latin typeface="Calibri"/>
                <a:ea typeface="Calibri"/>
                <a:cs typeface="Calibri"/>
                <a:sym typeface="Calibri"/>
              </a:rPr>
              <a:t> - Nano Banana, "Auto browse", sidebar with Gemini chatbot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Personal Intelligence</a:t>
            </a:r>
            <a:r>
              <a:rPr lang="en" sz="1200">
                <a:solidFill>
                  <a:schemeClr val="dk1"/>
                </a:solidFill>
                <a:latin typeface="Calibri"/>
                <a:ea typeface="Calibri"/>
                <a:cs typeface="Calibri"/>
                <a:sym typeface="Calibri"/>
              </a:rPr>
              <a:t> - connect Gemini to Gmail, Photos, YouTube, and 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Google Search</a:t>
            </a:r>
            <a:r>
              <a:rPr lang="en" sz="1200">
                <a:solidFill>
                  <a:schemeClr val="dk1"/>
                </a:solidFill>
                <a:latin typeface="Calibri"/>
                <a:ea typeface="Calibri"/>
                <a:cs typeface="Calibri"/>
                <a:sym typeface="Calibri"/>
              </a:rPr>
              <a:t> - Gemini 3 for AI Overviews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Agentic Commerce</a:t>
            </a:r>
            <a:r>
              <a:rPr lang="en" sz="1200">
                <a:solidFill>
                  <a:schemeClr val="dk1"/>
                </a:solidFill>
                <a:latin typeface="Calibri"/>
                <a:ea typeface="Calibri"/>
                <a:cs typeface="Calibri"/>
                <a:sym typeface="Calibri"/>
              </a:rPr>
              <a:t> - Business Agent - chat with brands </a:t>
            </a:r>
            <a:endParaRPr sz="1200">
              <a:solidFill>
                <a:schemeClr val="dk1"/>
              </a:solidFill>
              <a:latin typeface="Calibri"/>
              <a:ea typeface="Calibri"/>
              <a:cs typeface="Calibri"/>
              <a:sym typeface="Calibri"/>
            </a:endParaRPr>
          </a:p>
        </p:txBody>
      </p:sp>
      <p:pic>
        <p:nvPicPr>
          <p:cNvPr id="276" name="Google Shape;276;p32"/>
          <p:cNvPicPr preferRelativeResize="0"/>
          <p:nvPr/>
        </p:nvPicPr>
        <p:blipFill>
          <a:blip r:embed="rId4">
            <a:alphaModFix/>
          </a:blip>
          <a:stretch>
            <a:fillRect/>
          </a:stretch>
        </p:blipFill>
        <p:spPr>
          <a:xfrm>
            <a:off x="4723600" y="952463"/>
            <a:ext cx="2562225" cy="17811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3"/>
          <p:cNvSpPr txBox="1"/>
          <p:nvPr/>
        </p:nvSpPr>
        <p:spPr>
          <a:xfrm>
            <a:off x="55075" y="43025"/>
            <a:ext cx="359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RAG Reasoning Collapse</a:t>
            </a:r>
            <a:endParaRPr sz="2000" b="1">
              <a:solidFill>
                <a:schemeClr val="dk1"/>
              </a:solidFill>
              <a:latin typeface="Calibri"/>
              <a:ea typeface="Calibri"/>
              <a:cs typeface="Calibri"/>
              <a:sym typeface="Calibri"/>
            </a:endParaRPr>
          </a:p>
        </p:txBody>
      </p:sp>
      <p:sp>
        <p:nvSpPr>
          <p:cNvPr id="282" name="Google Shape;282;p33"/>
          <p:cNvSpPr txBox="1"/>
          <p:nvPr/>
        </p:nvSpPr>
        <p:spPr>
          <a:xfrm>
            <a:off x="200900" y="752050"/>
            <a:ext cx="4465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"RAG Reasoning Collapse" - occurs when RAG systems provide information that conflicts with an LLM's pre-trained internal memory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Models frequently fail to propagate that new information through complex reasoning chains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2026 study from EPFL and Stony Brook -  internal parametric knowledge often overrides external context, causing the model to hallucinate or revert to outdated facts during multi-step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This is particularly problematic in coding or technical fields where logic is intertwined with specific data.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Current RAG techniques are fragile for mission-critical applications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To truly fix this, the industry may need to move beyond simple retrieval toward more advanced fine-tuning and post-training methods that can effectively "overwrite" an LLM’s fundamental beliefs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https://www.youtube.com/watch?v=BmzdS-a-G8g</a:t>
            </a:r>
            <a:endParaRPr sz="1200">
              <a:solidFill>
                <a:schemeClr val="dk1"/>
              </a:solidFill>
              <a:latin typeface="Calibri"/>
              <a:ea typeface="Calibri"/>
              <a:cs typeface="Calibri"/>
              <a:sym typeface="Calibri"/>
            </a:endParaRPr>
          </a:p>
        </p:txBody>
      </p:sp>
      <p:sp>
        <p:nvSpPr>
          <p:cNvPr id="283" name="Google Shape;283;p33"/>
          <p:cNvSpPr txBox="1"/>
          <p:nvPr/>
        </p:nvSpPr>
        <p:spPr>
          <a:xfrm>
            <a:off x="4600200" y="43025"/>
            <a:ext cx="2227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endParaRPr sz="2000" b="1">
              <a:solidFill>
                <a:schemeClr val="dk1"/>
              </a:solidFill>
              <a:latin typeface="Calibri"/>
              <a:ea typeface="Calibri"/>
              <a:cs typeface="Calibri"/>
              <a:sym typeface="Calibri"/>
            </a:endParaRPr>
          </a:p>
        </p:txBody>
      </p:sp>
      <p:pic>
        <p:nvPicPr>
          <p:cNvPr id="284" name="Google Shape;284;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59725" y="256700"/>
            <a:ext cx="2979517" cy="44692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4"/>
          <p:cNvSpPr txBox="1"/>
          <p:nvPr/>
        </p:nvSpPr>
        <p:spPr>
          <a:xfrm>
            <a:off x="55075" y="43025"/>
            <a:ext cx="44652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800" b="1">
                <a:solidFill>
                  <a:schemeClr val="dk1"/>
                </a:solidFill>
                <a:latin typeface="Calibri"/>
                <a:ea typeface="Calibri"/>
                <a:cs typeface="Calibri"/>
                <a:sym typeface="Calibri"/>
              </a:rPr>
              <a:t>Zenflow - Autonomous AI Software Engineer</a:t>
            </a:r>
            <a:endParaRPr sz="1800" b="1">
              <a:solidFill>
                <a:schemeClr val="dk1"/>
              </a:solidFill>
              <a:latin typeface="Calibri"/>
              <a:ea typeface="Calibri"/>
              <a:cs typeface="Calibri"/>
              <a:sym typeface="Calibri"/>
            </a:endParaRPr>
          </a:p>
        </p:txBody>
      </p:sp>
      <p:sp>
        <p:nvSpPr>
          <p:cNvPr id="290" name="Google Shape;290;p34"/>
          <p:cNvSpPr txBox="1"/>
          <p:nvPr/>
        </p:nvSpPr>
        <p:spPr>
          <a:xfrm>
            <a:off x="55075" y="471550"/>
            <a:ext cx="44652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Zenflow is an autonomous AI software engineering system</a:t>
            </a:r>
            <a:r>
              <a:rPr lang="en" sz="1200">
                <a:solidFill>
                  <a:schemeClr val="dk1"/>
                </a:solidFill>
                <a:latin typeface="Calibri"/>
                <a:ea typeface="Calibri"/>
                <a:cs typeface="Calibri"/>
                <a:sym typeface="Calibri"/>
              </a:rPr>
              <a:t> designed for production-ready, end-to-end development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Unlike standard AI tools that rely on simple prompting, </a:t>
            </a:r>
            <a:r>
              <a:rPr lang="en" sz="1200" b="1">
                <a:solidFill>
                  <a:srgbClr val="3C78D8"/>
                </a:solidFill>
                <a:latin typeface="Calibri"/>
                <a:ea typeface="Calibri"/>
                <a:cs typeface="Calibri"/>
                <a:sym typeface="Calibri"/>
              </a:rPr>
              <a:t>Zenflow uses "spec-driven orchestration" to manage multiple AI agents</a:t>
            </a:r>
            <a:r>
              <a:rPr lang="en" sz="1200">
                <a:solidFill>
                  <a:schemeClr val="dk1"/>
                </a:solidFill>
                <a:latin typeface="Calibri"/>
                <a:ea typeface="Calibri"/>
                <a:cs typeface="Calibri"/>
                <a:sym typeface="Calibri"/>
              </a:rPr>
              <a:t>. This ensures code stays aligned with technical requirements and prevents "prompt drift."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features include </a:t>
            </a:r>
            <a:r>
              <a:rPr lang="en" sz="1200" b="1">
                <a:solidFill>
                  <a:srgbClr val="FF0000"/>
                </a:solidFill>
                <a:latin typeface="Calibri"/>
                <a:ea typeface="Calibri"/>
                <a:cs typeface="Calibri"/>
                <a:sym typeface="Calibri"/>
              </a:rPr>
              <a:t>parallel execution</a:t>
            </a:r>
            <a:r>
              <a:rPr lang="en" sz="1200">
                <a:solidFill>
                  <a:schemeClr val="dk1"/>
                </a:solidFill>
                <a:latin typeface="Calibri"/>
                <a:ea typeface="Calibri"/>
                <a:cs typeface="Calibri"/>
                <a:sym typeface="Calibri"/>
              </a:rPr>
              <a:t>, where multiple agents work on different modules simultaneously, and </a:t>
            </a:r>
            <a:r>
              <a:rPr lang="en" sz="1200" b="1">
                <a:solidFill>
                  <a:srgbClr val="FF0000"/>
                </a:solidFill>
                <a:latin typeface="Calibri"/>
                <a:ea typeface="Calibri"/>
                <a:cs typeface="Calibri"/>
                <a:sym typeface="Calibri"/>
              </a:rPr>
              <a:t>autonomous verification </a:t>
            </a:r>
            <a:r>
              <a:rPr lang="en" sz="1200">
                <a:solidFill>
                  <a:schemeClr val="dk1"/>
                </a:solidFill>
                <a:latin typeface="Calibri"/>
                <a:ea typeface="Calibri"/>
                <a:cs typeface="Calibri"/>
                <a:sym typeface="Calibri"/>
              </a:rPr>
              <a:t>agents that test and review code before shipping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platform offers four modes: Quick Changes, Fix Bugs, Spec and Build, and a full Spec-Driven Development (SDD) workflow.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Zenflow integrates with GitHub and supports MCP servers for documentation and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During a demonstration, the system successfully built a complex Habit Tracker app with backend logic and analytics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automating the technical specification and execution phases, Zenflow allows developers to build functional, polished applications at scale with minimal oversight.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https://www.youtube.com/watch?v=xxppO2ws-J8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https://zencoder.ai/zenflow</a:t>
            </a:r>
            <a:endParaRPr sz="1200">
              <a:solidFill>
                <a:schemeClr val="dk1"/>
              </a:solidFill>
              <a:latin typeface="Calibri"/>
              <a:ea typeface="Calibri"/>
              <a:cs typeface="Calibri"/>
              <a:sym typeface="Calibri"/>
            </a:endParaRPr>
          </a:p>
        </p:txBody>
      </p:sp>
      <p:pic>
        <p:nvPicPr>
          <p:cNvPr id="291" name="Google Shape;291;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589050" y="43025"/>
            <a:ext cx="2059874" cy="1439424"/>
          </a:xfrm>
          <a:prstGeom prst="rect">
            <a:avLst/>
          </a:prstGeom>
          <a:noFill/>
          <a:ln w="9525" cap="flat" cmpd="sng">
            <a:solidFill>
              <a:srgbClr val="FF0000"/>
            </a:solidFill>
            <a:prstDash val="solid"/>
            <a:round/>
            <a:headEnd type="none" w="sm" len="sm"/>
            <a:tailEnd type="none" w="sm" len="sm"/>
          </a:ln>
        </p:spPr>
      </p:pic>
      <p:sp>
        <p:nvSpPr>
          <p:cNvPr id="292" name="Google Shape;292;p34"/>
          <p:cNvSpPr txBox="1"/>
          <p:nvPr/>
        </p:nvSpPr>
        <p:spPr>
          <a:xfrm>
            <a:off x="4589050" y="1579746"/>
            <a:ext cx="4465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Zencoder is an AI startup founded in 2023 by </a:t>
            </a:r>
            <a:r>
              <a:rPr lang="en" sz="1200" b="1">
                <a:solidFill>
                  <a:srgbClr val="FF0000"/>
                </a:solidFill>
                <a:latin typeface="Calibri"/>
                <a:ea typeface="Calibri"/>
                <a:cs typeface="Calibri"/>
                <a:sym typeface="Calibri"/>
              </a:rPr>
              <a:t>Andrew Filev</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offers an orchestration platform for AI-powered software development with spec-driven workflows and AI coding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https://www.linkedin.com/in/filev</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Offers  Zenflow and Zencoder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Zenflow is the workflow engine </a:t>
            </a:r>
            <a:r>
              <a:rPr lang="en" sz="1200">
                <a:solidFill>
                  <a:schemeClr val="dk1"/>
                </a:solidFill>
                <a:latin typeface="Calibri"/>
                <a:ea typeface="Calibri"/>
                <a:cs typeface="Calibri"/>
                <a:sym typeface="Calibri"/>
              </a:rPr>
              <a:t>that coordinates </a:t>
            </a:r>
            <a:r>
              <a:rPr lang="en" sz="1200" b="1">
                <a:solidFill>
                  <a:srgbClr val="FF0000"/>
                </a:solidFill>
                <a:latin typeface="Calibri"/>
                <a:ea typeface="Calibri"/>
                <a:cs typeface="Calibri"/>
                <a:sym typeface="Calibri"/>
              </a:rPr>
              <a:t>multi-agent execution </a:t>
            </a:r>
            <a:r>
              <a:rPr lang="en" sz="1200">
                <a:solidFill>
                  <a:schemeClr val="dk1"/>
                </a:solidFill>
                <a:latin typeface="Calibri"/>
                <a:ea typeface="Calibri"/>
                <a:cs typeface="Calibri"/>
                <a:sym typeface="Calibri"/>
              </a:rPr>
              <a:t>and enforces development specifications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Zencoder agents handle the actual implementation</a:t>
            </a:r>
            <a:r>
              <a:rPr lang="en" sz="1200">
                <a:solidFill>
                  <a:schemeClr val="dk1"/>
                </a:solidFill>
                <a:latin typeface="Calibri"/>
                <a:ea typeface="Calibri"/>
                <a:cs typeface="Calibri"/>
                <a:sym typeface="Calibri"/>
              </a:rPr>
              <a:t> tasks including code generation, code repair, test generation, and real-time optimization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company's headquarters is </a:t>
            </a:r>
            <a:r>
              <a:rPr lang="en" sz="1200" b="1">
                <a:solidFill>
                  <a:srgbClr val="3C78D8"/>
                </a:solidFill>
                <a:latin typeface="Calibri"/>
                <a:ea typeface="Calibri"/>
                <a:cs typeface="Calibri"/>
                <a:sym typeface="Calibri"/>
              </a:rPr>
              <a:t>located at 500 W Hamilton Avenue in Campbell, California (San Jose area)</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Zencoder size ~70 people - AI experts, engineers, and data scientists distributed across the globe</a:t>
            </a:r>
            <a:endParaRPr sz="1200">
              <a:solidFill>
                <a:schemeClr val="dk1"/>
              </a:solidFill>
              <a:latin typeface="Calibri"/>
              <a:ea typeface="Calibri"/>
              <a:cs typeface="Calibri"/>
              <a:sym typeface="Calibri"/>
            </a:endParaRPr>
          </a:p>
        </p:txBody>
      </p:sp>
      <p:pic>
        <p:nvPicPr>
          <p:cNvPr id="293" name="Google Shape;293;p34"/>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6717700" y="43025"/>
            <a:ext cx="1060072" cy="1439425"/>
          </a:xfrm>
          <a:prstGeom prst="rect">
            <a:avLst/>
          </a:prstGeom>
          <a:noFill/>
          <a:ln w="9525" cap="flat" cmpd="sng">
            <a:solidFill>
              <a:srgbClr val="FF0000"/>
            </a:solidFill>
            <a:prstDash val="solid"/>
            <a:round/>
            <a:headEnd type="none" w="sm" len="sm"/>
            <a:tailEnd type="none" w="sm" len="sm"/>
          </a:ln>
        </p:spPr>
      </p:pic>
      <p:sp>
        <p:nvSpPr>
          <p:cNvPr id="294" name="Google Shape;294;p34"/>
          <p:cNvSpPr txBox="1"/>
          <p:nvPr/>
        </p:nvSpPr>
        <p:spPr>
          <a:xfrm>
            <a:off x="1857975" y="4422000"/>
            <a:ext cx="5751300" cy="29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800" b="1">
                <a:solidFill>
                  <a:srgbClr val="3C78D8"/>
                </a:solidFill>
                <a:latin typeface="Calibri"/>
                <a:ea typeface="Calibri"/>
                <a:cs typeface="Calibri"/>
                <a:sym typeface="Calibri"/>
              </a:rPr>
              <a:t>Spec → Plan → Implement → Test → Verify → Merge</a:t>
            </a:r>
            <a:endParaRPr sz="1800" b="1">
              <a:solidFill>
                <a:srgbClr val="3C78D8"/>
              </a:solidFill>
              <a:latin typeface="Calibri"/>
              <a:ea typeface="Calibri"/>
              <a:cs typeface="Calibri"/>
              <a:sym typeface="Calibri"/>
            </a:endParaRPr>
          </a:p>
        </p:txBody>
      </p:sp>
      <p:sp>
        <p:nvSpPr>
          <p:cNvPr id="295" name="Google Shape;295;p34"/>
          <p:cNvSpPr txBox="1"/>
          <p:nvPr/>
        </p:nvSpPr>
        <p:spPr>
          <a:xfrm>
            <a:off x="7846550" y="754250"/>
            <a:ext cx="9900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Andrew Filev</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5"/>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Automated Quality Assurance (QA)</a:t>
            </a:r>
            <a:endParaRPr sz="2000" b="1">
              <a:solidFill>
                <a:schemeClr val="dk1"/>
              </a:solidFill>
              <a:latin typeface="Calibri"/>
              <a:ea typeface="Calibri"/>
              <a:cs typeface="Calibri"/>
              <a:sym typeface="Calibri"/>
            </a:endParaRPr>
          </a:p>
        </p:txBody>
      </p:sp>
      <p:sp>
        <p:nvSpPr>
          <p:cNvPr id="301" name="Google Shape;301;p35"/>
          <p:cNvSpPr txBox="1"/>
          <p:nvPr/>
        </p:nvSpPr>
        <p:spPr>
          <a:xfrm>
            <a:off x="55075" y="471550"/>
            <a:ext cx="4465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challenge has shifted from writing code to trusting the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Trust Gap - </a:t>
            </a:r>
            <a:r>
              <a:rPr lang="en" sz="1200" b="1">
                <a:solidFill>
                  <a:srgbClr val="3C78D8"/>
                </a:solidFill>
                <a:latin typeface="Calibri"/>
                <a:ea typeface="Calibri"/>
                <a:cs typeface="Calibri"/>
                <a:sym typeface="Calibri"/>
              </a:rPr>
              <a:t>development velocity has exploded, but validation processes are still stuck in slow, manual cycles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Competitive advantage shifts to reliability. How to ship software instantly while maintaining total trust in the product's stability - </a:t>
            </a:r>
            <a:r>
              <a:rPr lang="en" sz="1200" u="sng">
                <a:solidFill>
                  <a:schemeClr val="hlink"/>
                </a:solidFill>
                <a:latin typeface="Calibri"/>
                <a:ea typeface="Calibri"/>
                <a:cs typeface="Calibri"/>
                <a:sym typeface="Calibri"/>
                <a:hlinkClick r:id="rId3"/>
              </a:rPr>
              <a:t>http://www.youtube.com/watch?v=MEtDwwi7bEU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Abacus AI’s "Deep Agent" - a "mindset-driven" automated QA </a:t>
            </a:r>
            <a:r>
              <a:rPr lang="en" sz="1200">
                <a:solidFill>
                  <a:schemeClr val="dk1"/>
                </a:solidFill>
                <a:latin typeface="Calibri"/>
                <a:ea typeface="Calibri"/>
                <a:cs typeface="Calibri"/>
                <a:sym typeface="Calibri"/>
              </a:rPr>
              <a:t>designed to "think" like a QA engineer, proactively pressure-testing products to find breakpoints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Autonomous Workflow - building apps, debugging, monitoring, and scaling</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Safety Nets - weekly automated testing for "vibe-coded" apps; automatic infrastructure scaling - based on real-time traffic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Effective QA requires switching between different user personas. Deep Agent can simulate various perspectives - such as confused users, or those in different global regions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 Agent checks also for "simple" errors like broken links and UI glitches that cause "quiet" revenue loss (landing pages, order forms)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catches regional UI issues and language variations that might be invisible to the local development team but disruptive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2026 - year of hybrid teams. AI agents handle execution and humans focus on strategy and judgment</a:t>
            </a:r>
            <a:endParaRPr sz="1200">
              <a:solidFill>
                <a:schemeClr val="dk1"/>
              </a:solidFill>
              <a:latin typeface="Calibri"/>
              <a:ea typeface="Calibri"/>
              <a:cs typeface="Calibri"/>
              <a:sym typeface="Calibri"/>
            </a:endParaRPr>
          </a:p>
        </p:txBody>
      </p:sp>
      <p:pic>
        <p:nvPicPr>
          <p:cNvPr id="302" name="Google Shape;302;p3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250925" y="1936550"/>
            <a:ext cx="2764150" cy="12703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6"/>
          <p:cNvSpPr txBox="1"/>
          <p:nvPr/>
        </p:nvSpPr>
        <p:spPr>
          <a:xfrm>
            <a:off x="55075" y="43025"/>
            <a:ext cx="1611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08" name="Google Shape;308;p36"/>
          <p:cNvSpPr txBox="1"/>
          <p:nvPr/>
        </p:nvSpPr>
        <p:spPr>
          <a:xfrm>
            <a:off x="258125" y="2463438"/>
            <a:ext cx="29745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Maya 200 inference chip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on TSMC’s cutting-edge 3-nanometer process with over 140 Bln transistors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10 petaFLOPS in FP4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petaFLOPS in FP8</a:t>
            </a:r>
            <a:endParaRPr sz="1200">
              <a:solidFill>
                <a:schemeClr val="dk1"/>
              </a:solidFill>
              <a:latin typeface="Calibri"/>
              <a:ea typeface="Calibri"/>
              <a:cs typeface="Calibri"/>
              <a:sym typeface="Calibri"/>
            </a:endParaRPr>
          </a:p>
        </p:txBody>
      </p:sp>
      <p:sp>
        <p:nvSpPr>
          <p:cNvPr id="309" name="Google Shape;309;p36"/>
          <p:cNvSpPr txBox="1"/>
          <p:nvPr/>
        </p:nvSpPr>
        <p:spPr>
          <a:xfrm>
            <a:off x="114150" y="485452"/>
            <a:ext cx="44652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Create AI YouTuber - text to cloned voice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Tutorial - how to create an "AI YouTuber" by coding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 Python program that clones voice and converts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written scripts into high-quality audio voiceovers - </a:t>
            </a:r>
            <a:r>
              <a:rPr lang="en" sz="1200" u="sng">
                <a:solidFill>
                  <a:schemeClr val="hlink"/>
                </a:solidFill>
                <a:latin typeface="Calibri"/>
                <a:ea typeface="Calibri"/>
                <a:cs typeface="Calibri"/>
                <a:sym typeface="Calibri"/>
                <a:hlinkClick r:id="rId3"/>
              </a:rPr>
              <a:t>https://www.youtube.com/watch?v=D_ELyz_leRc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Voice Cloning using </a:t>
            </a:r>
            <a:r>
              <a:rPr lang="en" sz="1200" b="1">
                <a:solidFill>
                  <a:srgbClr val="FF0000"/>
                </a:solidFill>
                <a:latin typeface="Calibri"/>
                <a:ea typeface="Calibri"/>
                <a:cs typeface="Calibri"/>
                <a:sym typeface="Calibri"/>
              </a:rPr>
              <a:t>Inworld TTS 1.5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Coding the Python script to interact with the Inworld API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function called `convert_script_to_speech()` reads the .txt file and generates audio file</a:t>
            </a:r>
            <a:endParaRPr sz="1200">
              <a:solidFill>
                <a:schemeClr val="dk1"/>
              </a:solidFill>
              <a:latin typeface="Calibri"/>
              <a:ea typeface="Calibri"/>
              <a:cs typeface="Calibri"/>
              <a:sym typeface="Calibri"/>
            </a:endParaRPr>
          </a:p>
        </p:txBody>
      </p:sp>
      <p:sp>
        <p:nvSpPr>
          <p:cNvPr id="310" name="Google Shape;310;p36"/>
          <p:cNvSpPr txBox="1"/>
          <p:nvPr/>
        </p:nvSpPr>
        <p:spPr>
          <a:xfrm>
            <a:off x="6655525" y="1992887"/>
            <a:ext cx="24327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UAE K2 Think open-source model </a:t>
            </a:r>
            <a:r>
              <a:rPr lang="en" sz="1200">
                <a:solidFill>
                  <a:schemeClr val="dk1"/>
                </a:solidFill>
                <a:latin typeface="Calibri"/>
                <a:ea typeface="Calibri"/>
                <a:cs typeface="Calibri"/>
                <a:sym typeface="Calibri"/>
              </a:rPr>
              <a:t>to provide a sovereign alternative to US and Chinese systems</a:t>
            </a:r>
            <a:endParaRPr sz="1200">
              <a:solidFill>
                <a:schemeClr val="dk1"/>
              </a:solidFill>
              <a:latin typeface="Calibri"/>
              <a:ea typeface="Calibri"/>
              <a:cs typeface="Calibri"/>
              <a:sym typeface="Calibri"/>
            </a:endParaRPr>
          </a:p>
        </p:txBody>
      </p:sp>
      <p:sp>
        <p:nvSpPr>
          <p:cNvPr id="311" name="Google Shape;311;p36"/>
          <p:cNvSpPr txBox="1"/>
          <p:nvPr/>
        </p:nvSpPr>
        <p:spPr>
          <a:xfrm>
            <a:off x="6655525" y="4126250"/>
            <a:ext cx="2432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Grok Imagine - text to videos </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up to 15 sec</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Acquire an API Key at </a:t>
            </a:r>
            <a:r>
              <a:rPr lang="en" sz="1200" u="sng">
                <a:solidFill>
                  <a:schemeClr val="hlink"/>
                </a:solidFill>
                <a:latin typeface="Calibri"/>
                <a:ea typeface="Calibri"/>
                <a:cs typeface="Calibri"/>
                <a:sym typeface="Calibri"/>
                <a:hlinkClick r:id="rId4"/>
              </a:rPr>
              <a:t>https://fal.ai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Install python client "fal-client" &amp; "python-dotenv"</a:t>
            </a:r>
            <a:endParaRPr sz="1200">
              <a:solidFill>
                <a:schemeClr val="dk1"/>
              </a:solidFill>
              <a:latin typeface="Calibri"/>
              <a:ea typeface="Calibri"/>
              <a:cs typeface="Calibri"/>
              <a:sym typeface="Calibri"/>
            </a:endParaRPr>
          </a:p>
        </p:txBody>
      </p:sp>
      <p:sp>
        <p:nvSpPr>
          <p:cNvPr id="312" name="Google Shape;312;p36"/>
          <p:cNvSpPr txBox="1"/>
          <p:nvPr/>
        </p:nvSpPr>
        <p:spPr>
          <a:xfrm>
            <a:off x="114150" y="3702525"/>
            <a:ext cx="3868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Tesla is ending production of its Model S and Model X </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cars to focus on AI and robotics (Optimus)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CEO Elon Musk announced Wednesday that the company will convert its Fremont factory to produce Optimus humanoid robots, aiming for $1 Mln units annually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strategic shift includes a massive investment in autonomous Cyber Cabs and physical AI technology.</a:t>
            </a:r>
            <a:endParaRPr sz="1200">
              <a:solidFill>
                <a:schemeClr val="dk1"/>
              </a:solidFill>
              <a:latin typeface="Calibri"/>
              <a:ea typeface="Calibri"/>
              <a:cs typeface="Calibri"/>
              <a:sym typeface="Calibri"/>
            </a:endParaRPr>
          </a:p>
        </p:txBody>
      </p:sp>
      <p:pic>
        <p:nvPicPr>
          <p:cNvPr id="313" name="Google Shape;313;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075825" y="3702528"/>
            <a:ext cx="1970535" cy="1311300"/>
          </a:xfrm>
          <a:prstGeom prst="rect">
            <a:avLst/>
          </a:prstGeom>
          <a:noFill/>
          <a:ln w="9525" cap="flat" cmpd="sng">
            <a:solidFill>
              <a:srgbClr val="FF0000"/>
            </a:solidFill>
            <a:prstDash val="solid"/>
            <a:round/>
            <a:headEnd type="none" w="sm" len="sm"/>
            <a:tailEnd type="none" w="sm" len="sm"/>
          </a:ln>
        </p:spPr>
      </p:pic>
      <p:pic>
        <p:nvPicPr>
          <p:cNvPr id="314" name="Google Shape;314;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160675" y="2870650"/>
            <a:ext cx="1422412" cy="1195650"/>
          </a:xfrm>
          <a:prstGeom prst="rect">
            <a:avLst/>
          </a:prstGeom>
          <a:noFill/>
          <a:ln w="9525" cap="flat" cmpd="sng">
            <a:solidFill>
              <a:srgbClr val="FF0000"/>
            </a:solidFill>
            <a:prstDash val="solid"/>
            <a:round/>
            <a:headEnd type="none" w="sm" len="sm"/>
            <a:tailEnd type="none" w="sm" len="sm"/>
          </a:ln>
        </p:spPr>
      </p:pic>
      <p:pic>
        <p:nvPicPr>
          <p:cNvPr id="315" name="Google Shape;315;p3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815600" y="272725"/>
            <a:ext cx="2151000" cy="1195650"/>
          </a:xfrm>
          <a:prstGeom prst="rect">
            <a:avLst/>
          </a:prstGeom>
          <a:noFill/>
          <a:ln w="9525" cap="flat" cmpd="sng">
            <a:solidFill>
              <a:srgbClr val="FF0000"/>
            </a:solidFill>
            <a:prstDash val="solid"/>
            <a:round/>
            <a:headEnd type="none" w="sm" len="sm"/>
            <a:tailEnd type="none" w="sm" len="sm"/>
          </a:ln>
        </p:spPr>
      </p:pic>
      <p:pic>
        <p:nvPicPr>
          <p:cNvPr id="316" name="Google Shape;316;p36"/>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198850" y="272723"/>
            <a:ext cx="1346053" cy="1680900"/>
          </a:xfrm>
          <a:prstGeom prst="rect">
            <a:avLst/>
          </a:prstGeom>
          <a:noFill/>
          <a:ln w="9525" cap="flat" cmpd="sng">
            <a:solidFill>
              <a:srgbClr val="FF0000"/>
            </a:solidFill>
            <a:prstDash val="solid"/>
            <a:round/>
            <a:headEnd type="none" w="sm" len="sm"/>
            <a:tailEnd type="none" w="sm" len="sm"/>
          </a:ln>
        </p:spPr>
      </p:pic>
      <p:pic>
        <p:nvPicPr>
          <p:cNvPr id="317" name="Google Shape;317;p36"/>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3361875" y="2339050"/>
            <a:ext cx="2273955" cy="1195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7"/>
          <p:cNvSpPr txBox="1"/>
          <p:nvPr/>
        </p:nvSpPr>
        <p:spPr>
          <a:xfrm>
            <a:off x="55075" y="43025"/>
            <a:ext cx="359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How to Advertise with AI</a:t>
            </a:r>
            <a:endParaRPr sz="2000" b="1">
              <a:solidFill>
                <a:schemeClr val="dk1"/>
              </a:solidFill>
              <a:latin typeface="Calibri"/>
              <a:ea typeface="Calibri"/>
              <a:cs typeface="Calibri"/>
              <a:sym typeface="Calibri"/>
            </a:endParaRPr>
          </a:p>
        </p:txBody>
      </p:sp>
      <p:sp>
        <p:nvSpPr>
          <p:cNvPr id="323" name="Google Shape;323;p37"/>
          <p:cNvSpPr txBox="1"/>
          <p:nvPr/>
        </p:nvSpPr>
        <p:spPr>
          <a:xfrm>
            <a:off x="78075" y="483825"/>
            <a:ext cx="43923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this video, </a:t>
            </a:r>
            <a:r>
              <a:rPr lang="en" sz="1200" b="1">
                <a:solidFill>
                  <a:srgbClr val="FF0000"/>
                </a:solidFill>
                <a:latin typeface="Calibri"/>
                <a:ea typeface="Calibri"/>
                <a:cs typeface="Calibri"/>
                <a:sym typeface="Calibri"/>
              </a:rPr>
              <a:t>PJ Ace, a pioneer in AI-driven advertising</a:t>
            </a:r>
            <a:r>
              <a:rPr lang="en" sz="1200">
                <a:solidFill>
                  <a:schemeClr val="dk1"/>
                </a:solidFill>
                <a:latin typeface="Calibri"/>
                <a:ea typeface="Calibri"/>
                <a:cs typeface="Calibri"/>
                <a:sym typeface="Calibri"/>
              </a:rPr>
              <a:t>, joins the *Marketing Against the Grain* podcast to break down his </a:t>
            </a:r>
            <a:r>
              <a:rPr lang="en" sz="1200" b="1">
                <a:solidFill>
                  <a:srgbClr val="FF0000"/>
                </a:solidFill>
                <a:latin typeface="Calibri"/>
                <a:ea typeface="Calibri"/>
                <a:cs typeface="Calibri"/>
                <a:sym typeface="Calibri"/>
              </a:rPr>
              <a:t>workflow for creating high-end viral videos</a:t>
            </a:r>
            <a:r>
              <a:rPr lang="en" sz="1200">
                <a:solidFill>
                  <a:schemeClr val="dk1"/>
                </a:solidFill>
                <a:latin typeface="Calibri"/>
                <a:ea typeface="Calibri"/>
                <a:cs typeface="Calibri"/>
                <a:sym typeface="Calibri"/>
              </a:rPr>
              <a:t>, including the David Beckham IM8 ad which garnered 233 million views in just three days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https://www.youtube.com/watch?v=yUdE9oj3sWk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best results come from mirroring traditional filmmaking roles. His team utilizes a five-person structure:</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Writer &amp; Director - script concept, creative vision</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Cinematographer - Using Ideogram and Google’s Nano Banana Pro to generate visual references and mood boards</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Animator &amp; Editor -  Taking static images into tools like Kling or V3 to bring scenes to life</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Storyboarding in Figma</a:t>
            </a:r>
            <a:r>
              <a:rPr lang="en" sz="1200">
                <a:solidFill>
                  <a:schemeClr val="dk1"/>
                </a:solidFill>
                <a:latin typeface="Calibri"/>
                <a:ea typeface="Calibri"/>
                <a:cs typeface="Calibri"/>
                <a:sym typeface="Calibri"/>
              </a:rPr>
              <a:t> - PJ lays out his entire sequence in Figma, placing the voiceover lines next to the corresponding AI-generated shots to ensure visual flow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2x2 Grid Method - generates four related shots in a single 2x2 grid. This ensures that lighting, character likeness, and location remain consistent across different camera angles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Motion Control with Kling</a:t>
            </a:r>
            <a:r>
              <a:rPr lang="en" sz="1200">
                <a:solidFill>
                  <a:schemeClr val="dk1"/>
                </a:solidFill>
                <a:latin typeface="Calibri"/>
                <a:ea typeface="Calibri"/>
                <a:cs typeface="Calibri"/>
                <a:sym typeface="Calibri"/>
              </a:rPr>
              <a:t> - a "driving performance" from a real actor can be used to animate an AI character's face, preserving micro-expressions and nuance</a:t>
            </a:r>
            <a:endParaRPr sz="1200">
              <a:solidFill>
                <a:schemeClr val="dk1"/>
              </a:solidFill>
              <a:latin typeface="Calibri"/>
              <a:ea typeface="Calibri"/>
              <a:cs typeface="Calibri"/>
              <a:sym typeface="Calibri"/>
            </a:endParaRPr>
          </a:p>
        </p:txBody>
      </p:sp>
      <p:sp>
        <p:nvSpPr>
          <p:cNvPr id="324" name="Google Shape;324;p37"/>
          <p:cNvSpPr txBox="1"/>
          <p:nvPr/>
        </p:nvSpPr>
        <p:spPr>
          <a:xfrm>
            <a:off x="4597507" y="2084564"/>
            <a:ext cx="44652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Hyper-Niche Content </a:t>
            </a:r>
            <a:r>
              <a:rPr lang="en" sz="1200">
                <a:solidFill>
                  <a:schemeClr val="dk1"/>
                </a:solidFill>
                <a:latin typeface="Calibri"/>
                <a:ea typeface="Calibri"/>
                <a:cs typeface="Calibri"/>
                <a:sym typeface="Calibri"/>
              </a:rPr>
              <a:t>- PJ predicts that AI will lower the cost of storytelling so significantly that we will see a surge in "niche" high-quality series (e.g., specific Star Wars or Warhammer stories) made by small teams for millions rather than 100s  of millions of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Hybrid Filmmaking </a:t>
            </a:r>
            <a:r>
              <a:rPr lang="en" sz="1200">
                <a:solidFill>
                  <a:schemeClr val="dk1"/>
                </a:solidFill>
                <a:latin typeface="Calibri"/>
                <a:ea typeface="Calibri"/>
                <a:cs typeface="Calibri"/>
                <a:sym typeface="Calibri"/>
              </a:rPr>
              <a:t>- real actors performing on LED backgrounds (like The Mandalorian), while wide shots and complex battle sequences are handled by AI to save costs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Cost Efficiency - PJ ballparks that a commercial that used to cost $3 Mln can now be produced for roughly $300,000 (10x cheaper) using these modern AI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"challenger brands," AI offers a way to surprise audiences and compete with major incumbents. However, he warns that major brands (like Coca-Cola) must be more careful, as they face higher scrutiny and "uncanny valley" risks with their established brand equity </a:t>
            </a:r>
            <a:endParaRPr sz="1200">
              <a:solidFill>
                <a:schemeClr val="dk1"/>
              </a:solidFill>
              <a:latin typeface="Calibri"/>
              <a:ea typeface="Calibri"/>
              <a:cs typeface="Calibri"/>
              <a:sym typeface="Calibri"/>
            </a:endParaRPr>
          </a:p>
        </p:txBody>
      </p:sp>
      <p:pic>
        <p:nvPicPr>
          <p:cNvPr id="325" name="Google Shape;325;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88375" y="70121"/>
            <a:ext cx="3352801" cy="18848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8"/>
          <p:cNvSpPr txBox="1"/>
          <p:nvPr/>
        </p:nvSpPr>
        <p:spPr>
          <a:xfrm>
            <a:off x="55075" y="43025"/>
            <a:ext cx="359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Git &amp; GitHub</a:t>
            </a:r>
            <a:endParaRPr sz="2000" b="1">
              <a:solidFill>
                <a:schemeClr val="dk1"/>
              </a:solidFill>
              <a:latin typeface="Calibri"/>
              <a:ea typeface="Calibri"/>
              <a:cs typeface="Calibri"/>
              <a:sym typeface="Calibri"/>
            </a:endParaRPr>
          </a:p>
        </p:txBody>
      </p:sp>
      <p:sp>
        <p:nvSpPr>
          <p:cNvPr id="331" name="Google Shape;331;p38"/>
          <p:cNvSpPr txBox="1"/>
          <p:nvPr/>
        </p:nvSpPr>
        <p:spPr>
          <a:xfrm>
            <a:off x="118725" y="578648"/>
            <a:ext cx="4695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Linus Torvalds has created Git in April 2005 in only 5-10 days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motivation was a licensing dispute with BitKeeper</a:t>
            </a:r>
            <a:endParaRPr sz="1200">
              <a:solidFill>
                <a:schemeClr val="dk1"/>
              </a:solidFill>
              <a:latin typeface="Calibri"/>
              <a:ea typeface="Calibri"/>
              <a:cs typeface="Calibri"/>
              <a:sym typeface="Calibri"/>
            </a:endParaRPr>
          </a:p>
        </p:txBody>
      </p:sp>
      <p:pic>
        <p:nvPicPr>
          <p:cNvPr id="332" name="Google Shape;332;p3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240616" y="249025"/>
            <a:ext cx="2253850" cy="942049"/>
          </a:xfrm>
          <a:prstGeom prst="rect">
            <a:avLst/>
          </a:prstGeom>
          <a:noFill/>
          <a:ln w="9525" cap="flat" cmpd="sng">
            <a:solidFill>
              <a:srgbClr val="FF0000"/>
            </a:solidFill>
            <a:prstDash val="solid"/>
            <a:round/>
            <a:headEnd type="none" w="sm" len="sm"/>
            <a:tailEnd type="none" w="sm" len="sm"/>
          </a:ln>
        </p:spPr>
      </p:pic>
      <p:pic>
        <p:nvPicPr>
          <p:cNvPr id="333" name="Google Shape;333;p3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240629" y="1804938"/>
            <a:ext cx="1706025" cy="1431976"/>
          </a:xfrm>
          <a:prstGeom prst="rect">
            <a:avLst/>
          </a:prstGeom>
          <a:noFill/>
          <a:ln w="9525" cap="flat" cmpd="sng">
            <a:solidFill>
              <a:srgbClr val="FF0000"/>
            </a:solidFill>
            <a:prstDash val="solid"/>
            <a:round/>
            <a:headEnd type="none" w="sm" len="sm"/>
            <a:tailEnd type="none" w="sm" len="sm"/>
          </a:ln>
        </p:spPr>
      </p:pic>
      <p:pic>
        <p:nvPicPr>
          <p:cNvPr id="334" name="Google Shape;334;p38"/>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240616" y="3850800"/>
            <a:ext cx="2751600" cy="1031625"/>
          </a:xfrm>
          <a:prstGeom prst="rect">
            <a:avLst/>
          </a:prstGeom>
          <a:noFill/>
          <a:ln w="9525" cap="flat" cmpd="sng">
            <a:solidFill>
              <a:srgbClr val="FF0000"/>
            </a:solidFill>
            <a:prstDash val="solid"/>
            <a:round/>
            <a:headEnd type="none" w="sm" len="sm"/>
            <a:tailEnd type="none" w="sm" len="sm"/>
          </a:ln>
        </p:spPr>
      </p:pic>
      <p:sp>
        <p:nvSpPr>
          <p:cNvPr id="335" name="Google Shape;335;p38"/>
          <p:cNvSpPr txBox="1"/>
          <p:nvPr/>
        </p:nvSpPr>
        <p:spPr>
          <a:xfrm>
            <a:off x="118725" y="1924875"/>
            <a:ext cx="4695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GitHub was founded in 2007, launched in April 2008</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Microsoft acquired GitHub on October 26, 2018</a:t>
            </a:r>
            <a:r>
              <a:rPr lang="en" sz="1200">
                <a:solidFill>
                  <a:schemeClr val="dk1"/>
                </a:solidFill>
                <a:latin typeface="Calibri"/>
                <a:ea typeface="Calibri"/>
                <a:cs typeface="Calibri"/>
                <a:sym typeface="Calibri"/>
              </a:rPr>
              <a:t>, for $7.5 Billion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2024 GitHub's ARR reached 2 Bln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GitHub could be valued at approximately $16-18 Bln or more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platform has grown from 28 Mln developers at acquisition to over 150 Mln developers as of 2025, with more than 1 Bln repositories.</a:t>
            </a:r>
            <a:endParaRPr sz="1200">
              <a:solidFill>
                <a:schemeClr val="dk1"/>
              </a:solidFill>
              <a:latin typeface="Calibri"/>
              <a:ea typeface="Calibri"/>
              <a:cs typeface="Calibri"/>
              <a:sym typeface="Calibri"/>
            </a:endParaRPr>
          </a:p>
        </p:txBody>
      </p:sp>
      <p:sp>
        <p:nvSpPr>
          <p:cNvPr id="336" name="Google Shape;336;p38"/>
          <p:cNvSpPr txBox="1"/>
          <p:nvPr/>
        </p:nvSpPr>
        <p:spPr>
          <a:xfrm>
            <a:off x="118725" y="4080275"/>
            <a:ext cx="46956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GitHub Copilot </a:t>
            </a:r>
            <a:r>
              <a:rPr lang="en" sz="1200">
                <a:solidFill>
                  <a:schemeClr val="dk1"/>
                </a:solidFill>
                <a:latin typeface="Calibri"/>
                <a:ea typeface="Calibri"/>
                <a:cs typeface="Calibri"/>
                <a:sym typeface="Calibri"/>
              </a:rPr>
              <a:t>accounts for over 40% of GitHub revenue growth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GitHub Copilot had become a larger business on its own than all of GitHub was at the time of acquisition</a:t>
            </a:r>
            <a:endParaRPr sz="12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9"/>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for Academic &amp; Research Work</a:t>
            </a:r>
            <a:endParaRPr sz="2000" b="1">
              <a:solidFill>
                <a:schemeClr val="dk1"/>
              </a:solidFill>
              <a:latin typeface="Calibri"/>
              <a:ea typeface="Calibri"/>
              <a:cs typeface="Calibri"/>
              <a:sym typeface="Calibri"/>
            </a:endParaRPr>
          </a:p>
        </p:txBody>
      </p:sp>
      <p:sp>
        <p:nvSpPr>
          <p:cNvPr id="342" name="Google Shape;342;p39"/>
          <p:cNvSpPr txBox="1"/>
          <p:nvPr/>
        </p:nvSpPr>
        <p:spPr>
          <a:xfrm>
            <a:off x="55075" y="572215"/>
            <a:ext cx="4465200" cy="246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Literature Review &amp; Discovery: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ScholarAI</a:t>
            </a:r>
            <a:r>
              <a:rPr lang="en" sz="1200">
                <a:solidFill>
                  <a:schemeClr val="dk1"/>
                </a:solidFill>
                <a:latin typeface="Calibri"/>
                <a:ea typeface="Calibri"/>
                <a:cs typeface="Calibri"/>
                <a:sym typeface="Calibri"/>
              </a:rPr>
              <a:t> - Connects directly to </a:t>
            </a:r>
            <a:r>
              <a:rPr lang="en" sz="1200" b="1">
                <a:solidFill>
                  <a:srgbClr val="3C78D8"/>
                </a:solidFill>
                <a:latin typeface="Calibri"/>
                <a:ea typeface="Calibri"/>
                <a:cs typeface="Calibri"/>
                <a:sym typeface="Calibri"/>
              </a:rPr>
              <a:t>PubMed, Semantic Scholar, and JSTOR</a:t>
            </a:r>
            <a:r>
              <a:rPr lang="en" sz="1200">
                <a:solidFill>
                  <a:schemeClr val="dk1"/>
                </a:solidFill>
                <a:latin typeface="Calibri"/>
                <a:ea typeface="Calibri"/>
                <a:cs typeface="Calibri"/>
                <a:sym typeface="Calibri"/>
              </a:rPr>
              <a:t> for searching and summarizing peer-reviewed research </a:t>
            </a:r>
            <a:r>
              <a:rPr lang="en" sz="900" u="sng">
                <a:solidFill>
                  <a:schemeClr val="hlink"/>
                </a:solidFill>
                <a:latin typeface="Calibri"/>
                <a:ea typeface="Calibri"/>
                <a:cs typeface="Calibri"/>
                <a:sym typeface="Calibri"/>
                <a:hlinkClick r:id="rId3"/>
              </a:rPr>
              <a:t>https://aischoollibrarian.substack.com/p/top-10-ai-research-tools-for-2026</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Elicit</a:t>
            </a:r>
            <a:r>
              <a:rPr lang="en" sz="1200">
                <a:solidFill>
                  <a:schemeClr val="dk1"/>
                </a:solidFill>
                <a:latin typeface="Calibri"/>
                <a:ea typeface="Calibri"/>
                <a:cs typeface="Calibri"/>
                <a:sym typeface="Calibri"/>
              </a:rPr>
              <a:t> - Specialized for research question answering and systematic reviews</a:t>
            </a:r>
            <a:r>
              <a:rPr lang="en" sz="900">
                <a:solidFill>
                  <a:schemeClr val="dk1"/>
                </a:solidFill>
                <a:latin typeface="Calibri"/>
                <a:ea typeface="Calibri"/>
                <a:cs typeface="Calibri"/>
                <a:sym typeface="Calibri"/>
              </a:rPr>
              <a:t> - </a:t>
            </a:r>
            <a:r>
              <a:rPr lang="en" sz="900" u="sng">
                <a:solidFill>
                  <a:schemeClr val="hlink"/>
                </a:solidFill>
                <a:latin typeface="Calibri"/>
                <a:ea typeface="Calibri"/>
                <a:cs typeface="Calibri"/>
                <a:sym typeface="Calibri"/>
                <a:hlinkClick r:id="rId4"/>
              </a:rPr>
              <a:t>https://paperguide.ai/blog/ai-tools-for-research/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Consensus</a:t>
            </a:r>
            <a:r>
              <a:rPr lang="en" sz="1200">
                <a:solidFill>
                  <a:schemeClr val="dk1"/>
                </a:solidFill>
                <a:latin typeface="Calibri"/>
                <a:ea typeface="Calibri"/>
                <a:cs typeface="Calibri"/>
                <a:sym typeface="Calibri"/>
              </a:rPr>
              <a:t> - Provides citation-backed answers by integrating multiple research sources</a:t>
            </a:r>
            <a:r>
              <a:rPr lang="en" sz="900">
                <a:solidFill>
                  <a:schemeClr val="dk1"/>
                </a:solidFill>
                <a:latin typeface="Calibri"/>
                <a:ea typeface="Calibri"/>
                <a:cs typeface="Calibri"/>
                <a:sym typeface="Calibri"/>
              </a:rPr>
              <a:t> - </a:t>
            </a:r>
            <a:r>
              <a:rPr lang="en" sz="900" u="sng">
                <a:solidFill>
                  <a:schemeClr val="hlink"/>
                </a:solidFill>
                <a:latin typeface="Calibri"/>
                <a:ea typeface="Calibri"/>
                <a:cs typeface="Calibri"/>
                <a:sym typeface="Calibri"/>
                <a:hlinkClick r:id="rId5"/>
              </a:rPr>
              <a:t>https://ssbr-edu.ch/free_tools_for_academic_research_in_2026/</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Scite</a:t>
            </a:r>
            <a:r>
              <a:rPr lang="en" sz="1200">
                <a:solidFill>
                  <a:schemeClr val="dk1"/>
                </a:solidFill>
                <a:latin typeface="Calibri"/>
                <a:ea typeface="Calibri"/>
                <a:cs typeface="Calibri"/>
                <a:sym typeface="Calibri"/>
              </a:rPr>
              <a:t> - Shows how research articles cite each other and helps identify influential sources</a:t>
            </a:r>
            <a:r>
              <a:rPr lang="en" sz="900">
                <a:solidFill>
                  <a:schemeClr val="dk1"/>
                </a:solidFill>
                <a:latin typeface="Calibri"/>
                <a:ea typeface="Calibri"/>
                <a:cs typeface="Calibri"/>
                <a:sym typeface="Calibri"/>
              </a:rPr>
              <a:t> - </a:t>
            </a:r>
            <a:r>
              <a:rPr lang="en" sz="900" u="sng">
                <a:solidFill>
                  <a:schemeClr val="hlink"/>
                </a:solidFill>
                <a:latin typeface="Calibri"/>
                <a:ea typeface="Calibri"/>
                <a:cs typeface="Calibri"/>
                <a:sym typeface="Calibri"/>
                <a:hlinkClick r:id="rId6"/>
              </a:rPr>
              <a:t>https://www.reddit.com/r/IBO/comments/1lraery/ai_tools_for_academic_writing_which_ones_are/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Semantic Scholar</a:t>
            </a:r>
            <a:r>
              <a:rPr lang="en" sz="1200">
                <a:solidFill>
                  <a:schemeClr val="dk1"/>
                </a:solidFill>
                <a:latin typeface="Calibri"/>
                <a:ea typeface="Calibri"/>
                <a:cs typeface="Calibri"/>
                <a:sym typeface="Calibri"/>
              </a:rPr>
              <a:t> - Offers AI-generated summaries and citation graphs for paper discovery </a:t>
            </a:r>
            <a:r>
              <a:rPr lang="en" sz="900">
                <a:solidFill>
                  <a:schemeClr val="dk1"/>
                </a:solidFill>
                <a:latin typeface="Calibri"/>
                <a:ea typeface="Calibri"/>
                <a:cs typeface="Calibri"/>
                <a:sym typeface="Calibri"/>
              </a:rPr>
              <a:t>- </a:t>
            </a:r>
            <a:r>
              <a:rPr lang="en" sz="900" u="sng">
                <a:solidFill>
                  <a:schemeClr val="hlink"/>
                </a:solidFill>
                <a:latin typeface="Calibri"/>
                <a:ea typeface="Calibri"/>
                <a:cs typeface="Calibri"/>
                <a:sym typeface="Calibri"/>
                <a:hlinkClick r:id="rId4"/>
              </a:rPr>
              <a:t>https://paperguide.ai/blog/ai-tools-for-research/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343" name="Google Shape;343;p39"/>
          <p:cNvSpPr txBox="1"/>
          <p:nvPr/>
        </p:nvSpPr>
        <p:spPr>
          <a:xfrm>
            <a:off x="4606833" y="1786948"/>
            <a:ext cx="44652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Academic Writing: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Paperpal</a:t>
            </a:r>
            <a:r>
              <a:rPr lang="en" sz="1200">
                <a:solidFill>
                  <a:schemeClr val="dk1"/>
                </a:solidFill>
                <a:latin typeface="Calibri"/>
                <a:ea typeface="Calibri"/>
                <a:cs typeface="Calibri"/>
                <a:sym typeface="Calibri"/>
              </a:rPr>
              <a:t> - Helps with academic writing quality and structure </a:t>
            </a:r>
            <a:r>
              <a:rPr lang="en" sz="900" u="sng">
                <a:solidFill>
                  <a:schemeClr val="hlink"/>
                </a:solidFill>
                <a:latin typeface="Calibri"/>
                <a:ea typeface="Calibri"/>
                <a:cs typeface="Calibri"/>
                <a:sym typeface="Calibri"/>
                <a:hlinkClick r:id="rId7"/>
              </a:rPr>
              <a:t>https://paperguide.ai/blog/best-ai-paper-writing-tools/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Jenni AI </a:t>
            </a:r>
            <a:r>
              <a:rPr lang="en" sz="1200">
                <a:solidFill>
                  <a:schemeClr val="dk1"/>
                </a:solidFill>
                <a:latin typeface="Calibri"/>
                <a:ea typeface="Calibri"/>
                <a:cs typeface="Calibri"/>
                <a:sym typeface="Calibri"/>
              </a:rPr>
              <a:t>- AI writing workspace with in-text citations in 2,600+ citation styles</a:t>
            </a:r>
            <a:r>
              <a:rPr lang="en" sz="900">
                <a:solidFill>
                  <a:schemeClr val="dk1"/>
                </a:solidFill>
                <a:latin typeface="Calibri"/>
                <a:ea typeface="Calibri"/>
                <a:cs typeface="Calibri"/>
                <a:sym typeface="Calibri"/>
              </a:rPr>
              <a:t> - </a:t>
            </a:r>
            <a:r>
              <a:rPr lang="en" sz="900" u="sng">
                <a:solidFill>
                  <a:schemeClr val="hlink"/>
                </a:solidFill>
                <a:latin typeface="Calibri"/>
                <a:ea typeface="Calibri"/>
                <a:cs typeface="Calibri"/>
                <a:sym typeface="Calibri"/>
                <a:hlinkClick r:id="rId8"/>
              </a:rPr>
              <a:t>https://scholarai.io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Gemini Deep Research</a:t>
            </a:r>
            <a:r>
              <a:rPr lang="en" sz="1200">
                <a:solidFill>
                  <a:schemeClr val="dk1"/>
                </a:solidFill>
                <a:latin typeface="Calibri"/>
                <a:ea typeface="Calibri"/>
                <a:cs typeface="Calibri"/>
                <a:sym typeface="Calibri"/>
              </a:rPr>
              <a:t> - Generates personalized research plans and can function as a research assistant </a:t>
            </a:r>
            <a:r>
              <a:rPr lang="en" sz="900" u="sng">
                <a:solidFill>
                  <a:schemeClr val="hlink"/>
                </a:solidFill>
                <a:latin typeface="Calibri"/>
                <a:ea typeface="Calibri"/>
                <a:cs typeface="Calibri"/>
                <a:sym typeface="Calibri"/>
                <a:hlinkClick r:id="rId9"/>
              </a:rPr>
              <a:t>https://www.nature.com/articles/d41586-025-01069-0</a:t>
            </a:r>
            <a:r>
              <a:rPr lang="en" sz="9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344" name="Google Shape;344;p39"/>
          <p:cNvPicPr preferRelativeResize="0"/>
          <p:nvPr/>
        </p:nvPicPr>
        <p:blipFill>
          <a:blip r:embed="rId10">
            <a:alphaModFix/>
          </a:blip>
          <a:stretch>
            <a:fillRect/>
          </a:stretch>
        </p:blipFill>
        <p:spPr>
          <a:xfrm>
            <a:off x="5452575" y="43015"/>
            <a:ext cx="2895600" cy="1581150"/>
          </a:xfrm>
          <a:prstGeom prst="rect">
            <a:avLst/>
          </a:prstGeom>
          <a:noFill/>
          <a:ln w="9525" cap="flat" cmpd="sng">
            <a:solidFill>
              <a:srgbClr val="FF0000"/>
            </a:solidFill>
            <a:prstDash val="solid"/>
            <a:round/>
            <a:headEnd type="none" w="sm" len="sm"/>
            <a:tailEnd type="none" w="sm" len="sm"/>
          </a:ln>
        </p:spPr>
      </p:pic>
      <p:sp>
        <p:nvSpPr>
          <p:cNvPr id="345" name="Google Shape;345;p39"/>
          <p:cNvSpPr txBox="1"/>
          <p:nvPr/>
        </p:nvSpPr>
        <p:spPr>
          <a:xfrm>
            <a:off x="4606833" y="3975173"/>
            <a:ext cx="4465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Prism - free workspace for scientists powered by GPT-5.2</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Integrated with LaTeX and scientific databases like arXiv, it allows researchers to draft papers, manage citations, and convert whiteboard drawings into digital diagrams within a single environment </a:t>
            </a:r>
            <a:endParaRPr sz="1200">
              <a:solidFill>
                <a:schemeClr val="dk1"/>
              </a:solidFill>
              <a:latin typeface="Calibri"/>
              <a:ea typeface="Calibri"/>
              <a:cs typeface="Calibri"/>
              <a:sym typeface="Calibri"/>
            </a:endParaRPr>
          </a:p>
        </p:txBody>
      </p:sp>
      <p:sp>
        <p:nvSpPr>
          <p:cNvPr id="346" name="Google Shape;346;p39"/>
          <p:cNvSpPr txBox="1"/>
          <p:nvPr/>
        </p:nvSpPr>
        <p:spPr>
          <a:xfrm>
            <a:off x="55075" y="3188415"/>
            <a:ext cx="4465200" cy="144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Reading &amp; Analysis:</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SciSpace</a:t>
            </a:r>
            <a:r>
              <a:rPr lang="en" sz="1200">
                <a:solidFill>
                  <a:schemeClr val="dk1"/>
                </a:solidFill>
                <a:latin typeface="Calibri"/>
                <a:ea typeface="Calibri"/>
                <a:cs typeface="Calibri"/>
                <a:sym typeface="Calibri"/>
              </a:rPr>
              <a:t> - copilot for reading papers, thematic analysis, and literature summarization</a:t>
            </a:r>
            <a:r>
              <a:rPr lang="en" sz="900">
                <a:solidFill>
                  <a:schemeClr val="dk1"/>
                </a:solidFill>
                <a:latin typeface="Calibri"/>
                <a:ea typeface="Calibri"/>
                <a:cs typeface="Calibri"/>
                <a:sym typeface="Calibri"/>
              </a:rPr>
              <a:t> - </a:t>
            </a:r>
            <a:r>
              <a:rPr lang="en" sz="900" u="sng">
                <a:solidFill>
                  <a:schemeClr val="accent5"/>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https://paperguide.ai/blog/ai-tools-for-research/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Paperguide</a:t>
            </a:r>
            <a:r>
              <a:rPr lang="en" sz="1200">
                <a:solidFill>
                  <a:schemeClr val="dk1"/>
                </a:solidFill>
                <a:latin typeface="Calibri"/>
                <a:ea typeface="Calibri"/>
                <a:cs typeface="Calibri"/>
                <a:sym typeface="Calibri"/>
              </a:rPr>
              <a:t> - AI search, deep research capabilities, summaries, and citation management </a:t>
            </a:r>
            <a:r>
              <a:rPr lang="en" sz="900">
                <a:solidFill>
                  <a:schemeClr val="dk1"/>
                </a:solidFill>
                <a:latin typeface="Calibri"/>
                <a:ea typeface="Calibri"/>
                <a:cs typeface="Calibri"/>
                <a:sym typeface="Calibri"/>
              </a:rPr>
              <a:t>- </a:t>
            </a:r>
            <a:r>
              <a:rPr lang="en" sz="900" u="sng">
                <a:solidFill>
                  <a:schemeClr val="accent5"/>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https://paperguide.ai/blog/ai-tools-for-research/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NVivo &amp; </a:t>
            </a:r>
            <a:r>
              <a:rPr lang="en" sz="1200" b="1">
                <a:solidFill>
                  <a:srgbClr val="FF0000"/>
                </a:solidFill>
                <a:uFill>
                  <a:noFill/>
                </a:uFill>
                <a:latin typeface="Calibri"/>
                <a:ea typeface="Calibri"/>
                <a:cs typeface="Calibri"/>
                <a:sym typeface="Calibri"/>
                <a:hlinkClick r:id="rId11">
                  <a:extLst>
                    <a:ext uri="{A12FA001-AC4F-418D-AE19-62706E023703}">
                      <ahyp:hlinkClr xmlns:ahyp="http://schemas.microsoft.com/office/drawing/2018/hyperlinkcolor" val="tx"/>
                    </a:ext>
                  </a:extLst>
                </a:hlinkClick>
              </a:rPr>
              <a:t>ATLAS.ti</a:t>
            </a:r>
            <a:r>
              <a:rPr lang="en" sz="1200">
                <a:solidFill>
                  <a:schemeClr val="dk1"/>
                </a:solidFill>
                <a:latin typeface="Calibri"/>
                <a:ea typeface="Calibri"/>
                <a:cs typeface="Calibri"/>
                <a:sym typeface="Calibri"/>
              </a:rPr>
              <a:t> - Research-focused tools for qualitative data analysis with transparent AI support </a:t>
            </a:r>
            <a:r>
              <a:rPr lang="en" sz="900" u="sng">
                <a:solidFill>
                  <a:schemeClr val="accent5"/>
                </a:solidFill>
                <a:latin typeface="Calibri"/>
                <a:ea typeface="Calibri"/>
                <a:cs typeface="Calibri"/>
                <a:sym typeface="Calibri"/>
                <a:hlinkClick r:id="rId12">
                  <a:extLst>
                    <a:ext uri="{A12FA001-AC4F-418D-AE19-62706E023703}">
                      <ahyp:hlinkClr xmlns:ahyp="http://schemas.microsoft.com/office/drawing/2018/hyperlinkcolor" val="tx"/>
                    </a:ext>
                  </a:extLst>
                </a:hlinkClick>
              </a:rPr>
              <a:t>https://lumivero.com/resources/blog/ai-tools-for-academic-research/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347" name="Google Shape;347;p39"/>
          <p:cNvSpPr txBox="1"/>
          <p:nvPr/>
        </p:nvSpPr>
        <p:spPr>
          <a:xfrm>
            <a:off x="4606833" y="3296561"/>
            <a:ext cx="44652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Citation &amp; Reference Management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Citavi</a:t>
            </a:r>
            <a:r>
              <a:rPr lang="en" sz="1200">
                <a:solidFill>
                  <a:schemeClr val="dk1"/>
                </a:solidFill>
                <a:latin typeface="Calibri"/>
                <a:ea typeface="Calibri"/>
                <a:cs typeface="Calibri"/>
                <a:sym typeface="Calibri"/>
              </a:rPr>
              <a:t> - Assists with reference management and knowledge organization aligned with academic standards </a:t>
            </a:r>
            <a:endParaRPr sz="12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0"/>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53" name="Google Shape;353;p40"/>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54" name="Google Shape;354;p40"/>
          <p:cNvSpPr txBox="1"/>
          <p:nvPr/>
        </p:nvSpPr>
        <p:spPr>
          <a:xfrm>
            <a:off x="5549900" y="375077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22K  in 2026 </a:t>
            </a:r>
            <a:r>
              <a:rPr lang="en" sz="1000" b="1">
                <a:solidFill>
                  <a:schemeClr val="dk1"/>
                </a:solidFill>
                <a:latin typeface="Roboto Mono"/>
                <a:ea typeface="Roboto Mono"/>
                <a:cs typeface="Roboto Mono"/>
                <a:sym typeface="Roboto Mono"/>
              </a:rPr>
              <a:t>(as of January 30,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55" name="Google Shape;355;p40"/>
          <p:cNvSpPr txBox="1"/>
          <p:nvPr/>
        </p:nvSpPr>
        <p:spPr>
          <a:xfrm>
            <a:off x="5549900" y="5184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25,337 people laid off (845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56" name="Google Shape;356;p4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4834" y="3195161"/>
            <a:ext cx="5030176" cy="1885609"/>
          </a:xfrm>
          <a:prstGeom prst="rect">
            <a:avLst/>
          </a:prstGeom>
          <a:noFill/>
          <a:ln w="9525" cap="flat" cmpd="sng">
            <a:solidFill>
              <a:srgbClr val="FF0000"/>
            </a:solidFill>
            <a:prstDash val="solid"/>
            <a:round/>
            <a:headEnd type="none" w="sm" len="sm"/>
            <a:tailEnd type="none" w="sm" len="sm"/>
          </a:ln>
        </p:spPr>
      </p:pic>
      <p:pic>
        <p:nvPicPr>
          <p:cNvPr id="357" name="Google Shape;357;p4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520524"/>
            <a:ext cx="5027652" cy="2586123"/>
          </a:xfrm>
          <a:prstGeom prst="rect">
            <a:avLst/>
          </a:prstGeom>
          <a:noFill/>
          <a:ln w="9525" cap="flat" cmpd="sng">
            <a:solidFill>
              <a:srgbClr val="FF0000"/>
            </a:solidFill>
            <a:prstDash val="solid"/>
            <a:round/>
            <a:headEnd type="none" w="sm" len="sm"/>
            <a:tailEnd type="none" w="sm" len="sm"/>
          </a:ln>
        </p:spPr>
      </p:pic>
      <p:pic>
        <p:nvPicPr>
          <p:cNvPr id="358" name="Google Shape;358;p4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549904" y="1839850"/>
            <a:ext cx="1279225" cy="12668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4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64" name="Google Shape;364;p41"/>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65" name="Google Shape;365;p41"/>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66" name="Google Shape;366;p4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67" name="Google Shape;367;p41"/>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68" name="Google Shape;368;p41"/>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2"/>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6208</Words>
  <Application>Microsoft Macintosh PowerPoint</Application>
  <PresentationFormat>On-screen Show (16:9)</PresentationFormat>
  <Paragraphs>544</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2026-01-30T18:48:42Z</dcterms:modified>
</cp:coreProperties>
</file>