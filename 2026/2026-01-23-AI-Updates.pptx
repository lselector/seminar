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1" r:id="rId1"/>
  </p:sldMasterIdLst>
  <p:notesMasterIdLst>
    <p:notesMasterId r:id="rId2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sldSz cx="9144000" cy="5143500" type="screen16x9"/>
  <p:notesSz cx="6858000" cy="9144000"/>
  <p:embeddedFontLst>
    <p:embeddedFont>
      <p:font typeface="Roboto Mono" pitchFamily="49" charset="0"/>
      <p:regular r:id="rId27"/>
      <p:bold r:id="rId28"/>
      <p:italic r:id="rId29"/>
      <p:boldItalic r:id="rId30"/>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B88E40D-CCCD-4B91-B8B3-F343E36FBC78}">
  <a:tblStyle styleId="{FB88E40D-CCCD-4B91-B8B3-F343E36FBC78}"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711"/>
  </p:normalViewPr>
  <p:slideViewPr>
    <p:cSldViewPr>
      <p:cViewPr varScale="1">
        <p:scale>
          <a:sx n="107" d="100"/>
          <a:sy n="107" d="100"/>
        </p:scale>
        <p:origin x="1056" y="4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1.fntdata"/><Relationship Id="rId30" Type="http://schemas.openxmlformats.org/officeDocument/2006/relationships/font" Target="fonts/font4.fntdata"/><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9"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g3633c15ed8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1" name="Google Shape;61;g3633c15ed82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
        <p:cNvGrpSpPr/>
        <p:nvPr/>
      </p:nvGrpSpPr>
      <p:grpSpPr>
        <a:xfrm>
          <a:off x="0" y="0"/>
          <a:ext cx="0" cy="0"/>
          <a:chOff x="0" y="0"/>
          <a:chExt cx="0" cy="0"/>
        </a:xfrm>
      </p:grpSpPr>
      <p:sp>
        <p:nvSpPr>
          <p:cNvPr id="70" name="Google Shape;70;p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1" name="Google Shape;71;p2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g3bb97f8a4aa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5" name="Google Shape;145;g3bb97f8a4aa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3b87ace1c80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52" name="Google Shape;152;g3b87ace1c80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g3b9cbb3e3e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2" name="Google Shape;162;g3b9cbb3e3e5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g3b85a609f58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2" name="Google Shape;172;g3b85a609f58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g3b9cbb3e3e5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8" name="Google Shape;178;g3b9cbb3e3e5_0_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g3b9cbb3e3e5_2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88" name="Google Shape;188;g3b9cbb3e3e5_2_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g3b9cbb3e3e5_2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99" name="Google Shape;199;g3b9cbb3e3e5_2_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g3b87ace1c80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8" name="Google Shape;208;g3b87ace1c80_0_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g39274039260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6" name="Google Shape;216;g39274039260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g3b87ace1c80_1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7" name="Google Shape;227;g3b87ace1c80_1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g392e2fb35e3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7" name="Google Shape;237;g392e2fb35e3_0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g3b8857eafec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6" name="Google Shape;246;g3b8857eafec_0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3b8919b7393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8" name="Google Shape;258;g3b8919b7393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g3b9bcbb2fbe_0_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9" name="Google Shape;269;g3b9bcbb2fbe_0_2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g3b9bcbb2fbe_0_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0" name="Google Shape;280;g3b9bcbb2fbe_0_1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
        <p:cNvGrpSpPr/>
        <p:nvPr/>
      </p:nvGrpSpPr>
      <p:grpSpPr>
        <a:xfrm>
          <a:off x="0" y="0"/>
          <a:ext cx="0" cy="0"/>
          <a:chOff x="0" y="0"/>
          <a:chExt cx="0" cy="0"/>
        </a:xfrm>
      </p:grpSpPr>
      <p:sp>
        <p:nvSpPr>
          <p:cNvPr id="290" name="Google Shape;290;gdf6a55d6f7e7919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91" name="Google Shape;291;gdf6a55d6f7e7919_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g3b99c13be74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99" name="Google Shape;299;g3b99c13be74_1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g3b9cbb3e3e5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08" name="Google Shape;308;g3b9cbb3e3e5_1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3"/>
        <p:cNvGrpSpPr/>
        <p:nvPr/>
      </p:nvGrpSpPr>
      <p:grpSpPr>
        <a:xfrm>
          <a:off x="0" y="0"/>
          <a:ext cx="0" cy="0"/>
          <a:chOff x="0" y="0"/>
          <a:chExt cx="0" cy="0"/>
        </a:xfrm>
      </p:grpSpPr>
      <p:sp>
        <p:nvSpPr>
          <p:cNvPr id="314" name="Google Shape;314;gdf6a55d6f7e7919_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15" name="Google Shape;315;gdf6a55d6f7e7919_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0"/>
        <p:cNvGrpSpPr/>
        <p:nvPr/>
      </p:nvGrpSpPr>
      <p:grpSpPr>
        <a:xfrm>
          <a:off x="0" y="0"/>
          <a:ext cx="0" cy="0"/>
          <a:chOff x="0" y="0"/>
          <a:chExt cx="0" cy="0"/>
        </a:xfrm>
      </p:grpSpPr>
      <p:sp>
        <p:nvSpPr>
          <p:cNvPr id="321" name="Google Shape;321;g3bb892466a9_2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22" name="Google Shape;322;g3bb892466a9_2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32" name="Google Shape;332;p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
        <p:cNvGrpSpPr/>
        <p:nvPr/>
      </p:nvGrpSpPr>
      <p:grpSpPr>
        <a:xfrm>
          <a:off x="0" y="0"/>
          <a:ext cx="0" cy="0"/>
          <a:chOff x="0" y="0"/>
          <a:chExt cx="0" cy="0"/>
        </a:xfrm>
      </p:grpSpPr>
      <p:sp>
        <p:nvSpPr>
          <p:cNvPr id="341" name="Google Shape;341;p2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42" name="Google Shape;342;p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9"/>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Content" type="obj">
  <p:cSld name="OBJECT">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457172" y="205067"/>
            <a:ext cx="8228700" cy="858600"/>
          </a:xfrm>
          <a:prstGeom prst="rect">
            <a:avLst/>
          </a:prstGeom>
          <a:noFill/>
          <a:ln>
            <a:noFill/>
          </a:ln>
        </p:spPr>
        <p:txBody>
          <a:bodyPr spcFirstLastPara="1" wrap="square" lIns="0" tIns="0" rIns="0" bIns="0" anchor="ctr"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52" name="Google Shape;52;p13"/>
          <p:cNvSpPr txBox="1">
            <a:spLocks noGrp="1"/>
          </p:cNvSpPr>
          <p:nvPr>
            <p:ph type="body" idx="1"/>
          </p:nvPr>
        </p:nvSpPr>
        <p:spPr>
          <a:xfrm>
            <a:off x="457172" y="1203299"/>
            <a:ext cx="8228700" cy="2982600"/>
          </a:xfrm>
          <a:prstGeom prst="rect">
            <a:avLst/>
          </a:prstGeom>
          <a:noFill/>
          <a:ln>
            <a:noFill/>
          </a:ln>
        </p:spPr>
        <p:txBody>
          <a:bodyPr spcFirstLastPara="1" wrap="square" lIns="0" tIns="0" rIns="0" bIns="0" anchor="t" anchorCtr="0">
            <a:normAutofit/>
          </a:bodyPr>
          <a:lstStyle>
            <a:lvl1pPr marL="457200" lvl="0" indent="-228600" algn="l">
              <a:lnSpc>
                <a:spcPct val="115000"/>
              </a:lnSpc>
              <a:spcBef>
                <a:spcPts val="0"/>
              </a:spcBef>
              <a:spcAft>
                <a:spcPts val="0"/>
              </a:spcAft>
              <a:buSzPts val="1800"/>
              <a:buNone/>
              <a:defRPr/>
            </a:lvl1pPr>
            <a:lvl2pPr marL="914400" lvl="1" indent="-228600" algn="l">
              <a:lnSpc>
                <a:spcPct val="115000"/>
              </a:lnSpc>
              <a:spcBef>
                <a:spcPts val="0"/>
              </a:spcBef>
              <a:spcAft>
                <a:spcPts val="0"/>
              </a:spcAft>
              <a:buSzPts val="1400"/>
              <a:buNone/>
              <a:defRPr/>
            </a:lvl2pPr>
            <a:lvl3pPr marL="1371600" lvl="2" indent="-228600" algn="l">
              <a:lnSpc>
                <a:spcPct val="115000"/>
              </a:lnSpc>
              <a:spcBef>
                <a:spcPts val="0"/>
              </a:spcBef>
              <a:spcAft>
                <a:spcPts val="0"/>
              </a:spcAft>
              <a:buSzPts val="1400"/>
              <a:buNone/>
              <a:defRPr/>
            </a:lvl3pPr>
            <a:lvl4pPr marL="1828800" lvl="3" indent="-228600" algn="l">
              <a:lnSpc>
                <a:spcPct val="115000"/>
              </a:lnSpc>
              <a:spcBef>
                <a:spcPts val="0"/>
              </a:spcBef>
              <a:spcAft>
                <a:spcPts val="0"/>
              </a:spcAft>
              <a:buSzPts val="1400"/>
              <a:buNone/>
              <a:defRPr/>
            </a:lvl4pPr>
            <a:lvl5pPr marL="2286000" lvl="4" indent="-228600" algn="l">
              <a:lnSpc>
                <a:spcPct val="115000"/>
              </a:lnSpc>
              <a:spcBef>
                <a:spcPts val="0"/>
              </a:spcBef>
              <a:spcAft>
                <a:spcPts val="0"/>
              </a:spcAft>
              <a:buSzPts val="1400"/>
              <a:buNone/>
              <a:defRPr/>
            </a:lvl5pPr>
            <a:lvl6pPr marL="2743200" lvl="5" indent="-228600" algn="l">
              <a:lnSpc>
                <a:spcPct val="115000"/>
              </a:lnSpc>
              <a:spcBef>
                <a:spcPts val="0"/>
              </a:spcBef>
              <a:spcAft>
                <a:spcPts val="0"/>
              </a:spcAft>
              <a:buSzPts val="1400"/>
              <a:buNone/>
              <a:defRPr/>
            </a:lvl6pPr>
            <a:lvl7pPr marL="3200400" lvl="6" indent="-228600" algn="l">
              <a:lnSpc>
                <a:spcPct val="115000"/>
              </a:lnSpc>
              <a:spcBef>
                <a:spcPts val="0"/>
              </a:spcBef>
              <a:spcAft>
                <a:spcPts val="0"/>
              </a:spcAft>
              <a:buSzPts val="1400"/>
              <a:buNone/>
              <a:defRPr/>
            </a:lvl7pPr>
            <a:lvl8pPr marL="3657600" lvl="7" indent="-228600" algn="l">
              <a:lnSpc>
                <a:spcPct val="115000"/>
              </a:lnSpc>
              <a:spcBef>
                <a:spcPts val="0"/>
              </a:spcBef>
              <a:spcAft>
                <a:spcPts val="0"/>
              </a:spcAft>
              <a:buSzPts val="1400"/>
              <a:buNone/>
              <a:defRPr/>
            </a:lvl8pPr>
            <a:lvl9pPr marL="4114800" lvl="8" indent="-228600" algn="l">
              <a:lnSpc>
                <a:spcPct val="115000"/>
              </a:lnSpc>
              <a:spcBef>
                <a:spcPts val="0"/>
              </a:spcBef>
              <a:spcAft>
                <a:spcPts val="0"/>
              </a:spcAft>
              <a:buSzPts val="1400"/>
              <a:buNone/>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Header">
  <p:cSld name="SECTION_HEADER_1">
    <p:spTree>
      <p:nvGrpSpPr>
        <p:cNvPr id="1" name="Shape 53"/>
        <p:cNvGrpSpPr/>
        <p:nvPr/>
      </p:nvGrpSpPr>
      <p:grpSpPr>
        <a:xfrm>
          <a:off x="0" y="0"/>
          <a:ext cx="0" cy="0"/>
          <a:chOff x="0" y="0"/>
          <a:chExt cx="0" cy="0"/>
        </a:xfrm>
      </p:grpSpPr>
      <p:sp>
        <p:nvSpPr>
          <p:cNvPr id="54" name="Google Shape;54;p14"/>
          <p:cNvSpPr txBox="1">
            <a:spLocks noGrp="1"/>
          </p:cNvSpPr>
          <p:nvPr>
            <p:ph type="title"/>
          </p:nvPr>
        </p:nvSpPr>
        <p:spPr>
          <a:xfrm>
            <a:off x="623888" y="1282303"/>
            <a:ext cx="7886700" cy="2139600"/>
          </a:xfrm>
          <a:prstGeom prst="rect">
            <a:avLst/>
          </a:prstGeom>
          <a:noFill/>
          <a:ln>
            <a:noFill/>
          </a:ln>
        </p:spPr>
        <p:txBody>
          <a:bodyPr spcFirstLastPara="1" wrap="square" lIns="68575" tIns="68575" rIns="68575" bIns="68575" anchor="b" anchorCtr="0">
            <a:noAutofit/>
          </a:bodyPr>
          <a:lstStyle>
            <a:lvl1pPr marR="0" lvl="0" algn="l">
              <a:lnSpc>
                <a:spcPct val="90000"/>
              </a:lnSpc>
              <a:spcBef>
                <a:spcPts val="0"/>
              </a:spcBef>
              <a:spcAft>
                <a:spcPts val="0"/>
              </a:spcAft>
              <a:buClr>
                <a:schemeClr val="dk1"/>
              </a:buClr>
              <a:buSzPts val="4500"/>
              <a:buFont typeface="Calibri"/>
              <a:buNone/>
              <a:defRPr sz="4500" b="0" i="0" u="none" strike="noStrike" cap="none">
                <a:solidFill>
                  <a:schemeClr val="dk1"/>
                </a:solidFill>
                <a:latin typeface="Calibri"/>
                <a:ea typeface="Calibri"/>
                <a:cs typeface="Calibri"/>
                <a:sym typeface="Calibri"/>
              </a:defRPr>
            </a:lvl1pPr>
            <a:lvl2pPr lvl="1" algn="l">
              <a:lnSpc>
                <a:spcPct val="100000"/>
              </a:lnSpc>
              <a:spcBef>
                <a:spcPts val="0"/>
              </a:spcBef>
              <a:spcAft>
                <a:spcPts val="0"/>
              </a:spcAft>
              <a:buSzPts val="1100"/>
              <a:buNone/>
              <a:defRPr sz="1400"/>
            </a:lvl2pPr>
            <a:lvl3pPr lvl="2" algn="l">
              <a:lnSpc>
                <a:spcPct val="100000"/>
              </a:lnSpc>
              <a:spcBef>
                <a:spcPts val="0"/>
              </a:spcBef>
              <a:spcAft>
                <a:spcPts val="0"/>
              </a:spcAft>
              <a:buSzPts val="1100"/>
              <a:buNone/>
              <a:defRPr sz="1400"/>
            </a:lvl3pPr>
            <a:lvl4pPr lvl="3" algn="l">
              <a:lnSpc>
                <a:spcPct val="100000"/>
              </a:lnSpc>
              <a:spcBef>
                <a:spcPts val="0"/>
              </a:spcBef>
              <a:spcAft>
                <a:spcPts val="0"/>
              </a:spcAft>
              <a:buSzPts val="1100"/>
              <a:buNone/>
              <a:defRPr sz="1400"/>
            </a:lvl4pPr>
            <a:lvl5pPr lvl="4" algn="l">
              <a:lnSpc>
                <a:spcPct val="100000"/>
              </a:lnSpc>
              <a:spcBef>
                <a:spcPts val="0"/>
              </a:spcBef>
              <a:spcAft>
                <a:spcPts val="0"/>
              </a:spcAft>
              <a:buSzPts val="1100"/>
              <a:buNone/>
              <a:defRPr sz="1400"/>
            </a:lvl5pPr>
            <a:lvl6pPr lvl="5" algn="l">
              <a:lnSpc>
                <a:spcPct val="100000"/>
              </a:lnSpc>
              <a:spcBef>
                <a:spcPts val="0"/>
              </a:spcBef>
              <a:spcAft>
                <a:spcPts val="0"/>
              </a:spcAft>
              <a:buSzPts val="1100"/>
              <a:buNone/>
              <a:defRPr sz="1400"/>
            </a:lvl6pPr>
            <a:lvl7pPr lvl="6" algn="l">
              <a:lnSpc>
                <a:spcPct val="100000"/>
              </a:lnSpc>
              <a:spcBef>
                <a:spcPts val="0"/>
              </a:spcBef>
              <a:spcAft>
                <a:spcPts val="0"/>
              </a:spcAft>
              <a:buSzPts val="1100"/>
              <a:buNone/>
              <a:defRPr sz="1400"/>
            </a:lvl7pPr>
            <a:lvl8pPr lvl="7" algn="l">
              <a:lnSpc>
                <a:spcPct val="100000"/>
              </a:lnSpc>
              <a:spcBef>
                <a:spcPts val="0"/>
              </a:spcBef>
              <a:spcAft>
                <a:spcPts val="0"/>
              </a:spcAft>
              <a:buSzPts val="1100"/>
              <a:buNone/>
              <a:defRPr sz="1400"/>
            </a:lvl8pPr>
            <a:lvl9pPr lvl="8" algn="l">
              <a:lnSpc>
                <a:spcPct val="100000"/>
              </a:lnSpc>
              <a:spcBef>
                <a:spcPts val="0"/>
              </a:spcBef>
              <a:spcAft>
                <a:spcPts val="0"/>
              </a:spcAft>
              <a:buSzPts val="1100"/>
              <a:buNone/>
              <a:defRPr sz="1400"/>
            </a:lvl9pPr>
          </a:lstStyle>
          <a:p>
            <a:endParaRPr/>
          </a:p>
        </p:txBody>
      </p:sp>
      <p:sp>
        <p:nvSpPr>
          <p:cNvPr id="55" name="Google Shape;55;p14"/>
          <p:cNvSpPr txBox="1">
            <a:spLocks noGrp="1"/>
          </p:cNvSpPr>
          <p:nvPr>
            <p:ph type="body" idx="1"/>
          </p:nvPr>
        </p:nvSpPr>
        <p:spPr>
          <a:xfrm>
            <a:off x="623888" y="3442097"/>
            <a:ext cx="7886700" cy="1125300"/>
          </a:xfrm>
          <a:prstGeom prst="rect">
            <a:avLst/>
          </a:prstGeom>
          <a:noFill/>
          <a:ln>
            <a:noFill/>
          </a:ln>
        </p:spPr>
        <p:txBody>
          <a:bodyPr spcFirstLastPara="1" wrap="square" lIns="68575" tIns="68575" rIns="68575" bIns="68575" anchor="t" anchorCtr="0">
            <a:noAutofit/>
          </a:bodyPr>
          <a:lstStyle>
            <a:lvl1pPr marL="457200" marR="0" lvl="0" indent="-228600" algn="l">
              <a:lnSpc>
                <a:spcPct val="90000"/>
              </a:lnSpc>
              <a:spcBef>
                <a:spcPts val="80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1pPr>
            <a:lvl2pPr marL="914400" marR="0" lvl="1" indent="-228600" algn="l">
              <a:lnSpc>
                <a:spcPct val="90000"/>
              </a:lnSpc>
              <a:spcBef>
                <a:spcPts val="400"/>
              </a:spcBef>
              <a:spcAft>
                <a:spcPts val="0"/>
              </a:spcAft>
              <a:buClr>
                <a:srgbClr val="888888"/>
              </a:buClr>
              <a:buSzPts val="1500"/>
              <a:buFont typeface="Arial"/>
              <a:buNone/>
              <a:defRPr sz="1500" b="0" i="0" u="none" strike="noStrike" cap="none">
                <a:solidFill>
                  <a:srgbClr val="888888"/>
                </a:solidFill>
                <a:latin typeface="Calibri"/>
                <a:ea typeface="Calibri"/>
                <a:cs typeface="Calibri"/>
                <a:sym typeface="Calibri"/>
              </a:defRPr>
            </a:lvl2pPr>
            <a:lvl3pPr marL="1371600" marR="0" lvl="2" indent="-228600" algn="l">
              <a:lnSpc>
                <a:spcPct val="90000"/>
              </a:lnSpc>
              <a:spcBef>
                <a:spcPts val="400"/>
              </a:spcBef>
              <a:spcAft>
                <a:spcPts val="0"/>
              </a:spcAft>
              <a:buClr>
                <a:srgbClr val="888888"/>
              </a:buClr>
              <a:buSzPts val="1400"/>
              <a:buFont typeface="Arial"/>
              <a:buNone/>
              <a:defRPr sz="1400" b="0" i="0" u="none" strike="noStrike" cap="none">
                <a:solidFill>
                  <a:srgbClr val="888888"/>
                </a:solidFill>
                <a:latin typeface="Calibri"/>
                <a:ea typeface="Calibri"/>
                <a:cs typeface="Calibri"/>
                <a:sym typeface="Calibri"/>
              </a:defRPr>
            </a:lvl3pPr>
            <a:lvl4pPr marL="1828800" marR="0" lvl="3"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4pPr>
            <a:lvl5pPr marL="2286000" marR="0" lvl="4"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5pPr>
            <a:lvl6pPr marL="2743200" marR="0" lvl="5"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6pPr>
            <a:lvl7pPr marL="3200400" marR="0" lvl="6"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7pPr>
            <a:lvl8pPr marL="3657600" marR="0" lvl="7"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8pPr>
            <a:lvl9pPr marL="4114800" marR="0" lvl="8" indent="-228600" algn="l">
              <a:lnSpc>
                <a:spcPct val="90000"/>
              </a:lnSpc>
              <a:spcBef>
                <a:spcPts val="400"/>
              </a:spcBef>
              <a:spcAft>
                <a:spcPts val="0"/>
              </a:spcAft>
              <a:buClr>
                <a:srgbClr val="888888"/>
              </a:buClr>
              <a:buSzPts val="1200"/>
              <a:buFont typeface="Arial"/>
              <a:buNone/>
              <a:defRPr sz="1200" b="0" i="0" u="none" strike="noStrike" cap="none">
                <a:solidFill>
                  <a:srgbClr val="888888"/>
                </a:solidFill>
                <a:latin typeface="Calibri"/>
                <a:ea typeface="Calibri"/>
                <a:cs typeface="Calibri"/>
                <a:sym typeface="Calibri"/>
              </a:defRPr>
            </a:lvl9pPr>
          </a:lstStyle>
          <a:p>
            <a:endParaRPr/>
          </a:p>
        </p:txBody>
      </p:sp>
      <p:sp>
        <p:nvSpPr>
          <p:cNvPr id="56" name="Google Shape;56;p14"/>
          <p:cNvSpPr txBox="1">
            <a:spLocks noGrp="1"/>
          </p:cNvSpPr>
          <p:nvPr>
            <p:ph type="dt" idx="10"/>
          </p:nvPr>
        </p:nvSpPr>
        <p:spPr>
          <a:xfrm>
            <a:off x="628650" y="4767263"/>
            <a:ext cx="2057400" cy="273900"/>
          </a:xfrm>
          <a:prstGeom prst="rect">
            <a:avLst/>
          </a:prstGeom>
          <a:noFill/>
          <a:ln>
            <a:noFill/>
          </a:ln>
        </p:spPr>
        <p:txBody>
          <a:bodyPr spcFirstLastPara="1" wrap="square" lIns="68575" tIns="68575" rIns="68575" bIns="68575" anchor="ctr" anchorCtr="0">
            <a:noAutofit/>
          </a:bodyPr>
          <a:lstStyle>
            <a:lvl1pPr marR="0" lvl="0" algn="l" rtl="0">
              <a:lnSpc>
                <a:spcPct val="100000"/>
              </a:lnSpc>
              <a:spcBef>
                <a:spcPts val="0"/>
              </a:spcBef>
              <a:spcAft>
                <a:spcPts val="0"/>
              </a:spcAft>
              <a:buClr>
                <a:srgbClr val="000000"/>
              </a:buClr>
              <a:buSzPts val="11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9pPr>
          </a:lstStyle>
          <a:p>
            <a:endParaRPr/>
          </a:p>
        </p:txBody>
      </p:sp>
      <p:sp>
        <p:nvSpPr>
          <p:cNvPr id="57" name="Google Shape;57;p14"/>
          <p:cNvSpPr txBox="1">
            <a:spLocks noGrp="1"/>
          </p:cNvSpPr>
          <p:nvPr>
            <p:ph type="ftr" idx="11"/>
          </p:nvPr>
        </p:nvSpPr>
        <p:spPr>
          <a:xfrm>
            <a:off x="3028950" y="4767263"/>
            <a:ext cx="3086100" cy="273900"/>
          </a:xfrm>
          <a:prstGeom prst="rect">
            <a:avLst/>
          </a:prstGeom>
          <a:noFill/>
          <a:ln>
            <a:noFill/>
          </a:ln>
        </p:spPr>
        <p:txBody>
          <a:bodyPr spcFirstLastPara="1" wrap="square" lIns="68575" tIns="68575" rIns="68575" bIns="68575" anchor="ctr" anchorCtr="0">
            <a:noAutofit/>
          </a:bodyPr>
          <a:lstStyle>
            <a:lvl1pPr marR="0" lvl="0" algn="ctr" rtl="0">
              <a:lnSpc>
                <a:spcPct val="100000"/>
              </a:lnSpc>
              <a:spcBef>
                <a:spcPts val="0"/>
              </a:spcBef>
              <a:spcAft>
                <a:spcPts val="0"/>
              </a:spcAft>
              <a:buClr>
                <a:srgbClr val="000000"/>
              </a:buClr>
              <a:buSzPts val="11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Calibri"/>
                <a:ea typeface="Calibri"/>
                <a:cs typeface="Calibri"/>
                <a:sym typeface="Calibri"/>
              </a:defRPr>
            </a:lvl9pPr>
          </a:lstStyle>
          <a:p>
            <a:endParaRPr/>
          </a:p>
        </p:txBody>
      </p:sp>
      <p:sp>
        <p:nvSpPr>
          <p:cNvPr id="58" name="Google Shape;58;p14"/>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3" Type="http://schemas.openxmlformats.org/officeDocument/2006/relationships/hyperlink" Target="https://huggingface.co/open-llm-leaderboard" TargetMode="External"/><Relationship Id="rId18" Type="http://schemas.openxmlformats.org/officeDocument/2006/relationships/hyperlink" Target="https://lmarena.ai/leaderboard/text-to-image" TargetMode="External"/><Relationship Id="rId26" Type="http://schemas.openxmlformats.org/officeDocument/2006/relationships/hyperlink" Target="https://www.anthropic.com/news/claude-sonnet-4-5" TargetMode="External"/><Relationship Id="rId39" Type="http://schemas.openxmlformats.org/officeDocument/2006/relationships/hyperlink" Target="https://qwen.ai/blog?id=241398b9cd6353de490b0f82806c7848c5d2777d&amp;from=research.latest-advancements-list" TargetMode="External"/><Relationship Id="rId21" Type="http://schemas.openxmlformats.org/officeDocument/2006/relationships/hyperlink" Target="https://blog.google/products/gemini/gemini-3-flash" TargetMode="External"/><Relationship Id="rId34" Type="http://schemas.openxmlformats.org/officeDocument/2006/relationships/hyperlink" Target="https://www.alibabacloud.com/help/en/model-studio/models" TargetMode="External"/><Relationship Id="rId7" Type="http://schemas.openxmlformats.org/officeDocument/2006/relationships/hyperlink" Target="https://openlm.ai/chatbot-arena/" TargetMode="External"/><Relationship Id="rId2" Type="http://schemas.openxmlformats.org/officeDocument/2006/relationships/notesSlide" Target="../notesSlides/notesSlide2.xml"/><Relationship Id="rId16" Type="http://schemas.openxmlformats.org/officeDocument/2006/relationships/hyperlink" Target="https://artificialanalysis.ai/models/grok-4" TargetMode="External"/><Relationship Id="rId20" Type="http://schemas.openxmlformats.org/officeDocument/2006/relationships/hyperlink" Target="https://x.ai/news/grok-4-1" TargetMode="External"/><Relationship Id="rId29" Type="http://schemas.openxmlformats.org/officeDocument/2006/relationships/hyperlink" Target="https://openai.com/index/introducing-gpt-5-2" TargetMode="External"/><Relationship Id="rId41" Type="http://schemas.openxmlformats.org/officeDocument/2006/relationships/hyperlink" Target="https://api-docs.deepseek.com/news/news250929" TargetMode="External"/><Relationship Id="rId1" Type="http://schemas.openxmlformats.org/officeDocument/2006/relationships/slideLayout" Target="../slideLayouts/slideLayout1.xml"/><Relationship Id="rId6" Type="http://schemas.openxmlformats.org/officeDocument/2006/relationships/hyperlink" Target="https://www.designarena.ai" TargetMode="External"/><Relationship Id="rId11" Type="http://schemas.openxmlformats.org/officeDocument/2006/relationships/hyperlink" Target="https://www.stack-ai.com/llm-leaderboard" TargetMode="External"/><Relationship Id="rId24" Type="http://schemas.openxmlformats.org/officeDocument/2006/relationships/hyperlink" Target="https://openai.com/index/gpt-5-1/" TargetMode="External"/><Relationship Id="rId32" Type="http://schemas.openxmlformats.org/officeDocument/2006/relationships/hyperlink" Target="https://huggingface.co/zai-org/GLM-4.7" TargetMode="External"/><Relationship Id="rId37" Type="http://schemas.openxmlformats.org/officeDocument/2006/relationships/hyperlink" Target="https://huggingface.co/moonshotai/Kimi-K2-Thinking" TargetMode="External"/><Relationship Id="rId40" Type="http://schemas.openxmlformats.org/officeDocument/2006/relationships/hyperlink" Target="https://huggingface.co/meituan-longcat/LongCat-Flash-Chat" TargetMode="External"/><Relationship Id="rId5" Type="http://schemas.openxmlformats.org/officeDocument/2006/relationships/hyperlink" Target="https://lmarena.ai/leaderboard/text/coding" TargetMode="External"/><Relationship Id="rId15" Type="http://schemas.openxmlformats.org/officeDocument/2006/relationships/hyperlink" Target="https://epoch.ai/data/ai-benchmarking-dashboard" TargetMode="External"/><Relationship Id="rId23" Type="http://schemas.openxmlformats.org/officeDocument/2006/relationships/hyperlink" Target="https://ernie.baidu.com/blog/posts/ernie-5.0-0110-release-on-lmarena/" TargetMode="External"/><Relationship Id="rId28" Type="http://schemas.openxmlformats.org/officeDocument/2006/relationships/hyperlink" Target="https://www.anthropic.com/news/claude-opus-4-1" TargetMode="External"/><Relationship Id="rId36" Type="http://schemas.openxmlformats.org/officeDocument/2006/relationships/hyperlink" Target="https://www.anthropic.com/news/claude-4" TargetMode="External"/><Relationship Id="rId10" Type="http://schemas.openxmlformats.org/officeDocument/2006/relationships/hyperlink" Target="https://llmworld.net/llm_leaderboards/" TargetMode="External"/><Relationship Id="rId19" Type="http://schemas.openxmlformats.org/officeDocument/2006/relationships/hyperlink" Target="https://aistudio.google.com/app/prompts/new_chat?model=gemini-3-pro-preview" TargetMode="External"/><Relationship Id="rId31" Type="http://schemas.openxmlformats.org/officeDocument/2006/relationships/hyperlink" Target="https://x.com/OpenAI/status/1905331956856050135" TargetMode="External"/><Relationship Id="rId4" Type="http://schemas.openxmlformats.org/officeDocument/2006/relationships/hyperlink" Target="https://lmarena.ai/leaderboard/text" TargetMode="External"/><Relationship Id="rId9" Type="http://schemas.openxmlformats.org/officeDocument/2006/relationships/hyperlink" Target="https://web.lmarena.ai/leaderboard" TargetMode="External"/><Relationship Id="rId14" Type="http://schemas.openxmlformats.org/officeDocument/2006/relationships/hyperlink" Target="https://www.vellum.ai/llm-leaderboard" TargetMode="External"/><Relationship Id="rId22" Type="http://schemas.openxmlformats.org/officeDocument/2006/relationships/hyperlink" Target="https://www.anthropic.com/news/claude-opus-4-5" TargetMode="External"/><Relationship Id="rId27" Type="http://schemas.openxmlformats.org/officeDocument/2006/relationships/hyperlink" Target="https://ernie.baidu.com/blog/posts/ernie-5.0-preview-1203-release-on-lmarena/" TargetMode="External"/><Relationship Id="rId30" Type="http://schemas.openxmlformats.org/officeDocument/2006/relationships/hyperlink" Target="https://openai.com/index/introducing-gpt-4-5/" TargetMode="External"/><Relationship Id="rId35" Type="http://schemas.openxmlformats.org/officeDocument/2006/relationships/hyperlink" Target="https://openai.com/index/introducing-o3-and-o4-mini/" TargetMode="External"/><Relationship Id="rId8" Type="http://schemas.openxmlformats.org/officeDocument/2006/relationships/hyperlink" Target="https://beta.lmarena.ai" TargetMode="External"/><Relationship Id="rId3" Type="http://schemas.openxmlformats.org/officeDocument/2006/relationships/hyperlink" Target="https://en.wikipedia.org/wiki/Elo_rating_system" TargetMode="External"/><Relationship Id="rId12" Type="http://schemas.openxmlformats.org/officeDocument/2006/relationships/hyperlink" Target="https://artificialanalysis.ai/leaderboards/models" TargetMode="External"/><Relationship Id="rId17" Type="http://schemas.openxmlformats.org/officeDocument/2006/relationships/hyperlink" Target="http://aiarena.alibaba-inc.com/corpora/arena/leaderboard?arenaType=T2I" TargetMode="External"/><Relationship Id="rId25" Type="http://schemas.openxmlformats.org/officeDocument/2006/relationships/hyperlink" Target="https://aistudio.google.com/app/prompts/new_chat?model=gemini-2.5-pro" TargetMode="External"/><Relationship Id="rId33" Type="http://schemas.openxmlformats.org/officeDocument/2006/relationships/hyperlink" Target="https://platform.openai.com/docs/models/gpt-5" TargetMode="External"/><Relationship Id="rId38" Type="http://schemas.openxmlformats.org/officeDocument/2006/relationships/hyperlink" Target="https://www.anthropic.com/news/claude-haiku-4-5" TargetMode="External"/></Relationships>
</file>

<file path=ppt/slides/_rels/slide3.xml.rels><?xml version="1.0" encoding="UTF-8" standalone="yes"?>
<Relationships xmlns="http://schemas.openxmlformats.org/package/2006/relationships"><Relationship Id="rId3" Type="http://schemas.openxmlformats.org/officeDocument/2006/relationships/hyperlink" Target="http://skills.sh" TargetMode="External"/><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hyperlink" Target="https://skills.sh/docs" TargetMode="External"/><Relationship Id="rId4" Type="http://schemas.openxmlformats.org/officeDocument/2006/relationships/hyperlink" Target="https://skills.sh" TargetMode="External"/></Relationships>
</file>

<file path=ppt/slides/_rels/slide4.xml.rels><?xml version="1.0" encoding="UTF-8" standalone="yes"?>
<Relationships xmlns="http://schemas.openxmlformats.org/package/2006/relationships"><Relationship Id="rId8" Type="http://schemas.openxmlformats.org/officeDocument/2006/relationships/image" Target="../media/image3.png"/><Relationship Id="rId3" Type="http://schemas.openxmlformats.org/officeDocument/2006/relationships/hyperlink" Target="https://github.com/block/goose" TargetMode="External"/><Relationship Id="rId7"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hyperlink" Target="https://block.github.io/goose/docs/getting-started/installation/" TargetMode="External"/><Relationship Id="rId5" Type="http://schemas.openxmlformats.org/officeDocument/2006/relationships/hyperlink" Target="https://block.github.io/goose/docs/quickstart/" TargetMode="External"/><Relationship Id="rId4" Type="http://schemas.openxmlformats.org/officeDocument/2006/relationships/hyperlink" Target="https://block.github.io/goose/" TargetMode="External"/><Relationship Id="rId9"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hyperlink" Target="https://x.com/Baidu_Inc/status/2014252300018254054" TargetMode="Externa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hyperlink" Target="https://www.youtube.com/@lev-selector/videos" TargetMode="External"/><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8" Type="http://schemas.openxmlformats.org/officeDocument/2006/relationships/hyperlink" Target="https://www.youtube.com/watch?v=dzDVt3-MTRk" TargetMode="External"/><Relationship Id="rId3" Type="http://schemas.openxmlformats.org/officeDocument/2006/relationships/hyperlink" Target="https://www.youtube.com/watch?v=Nr4DuTI27CY" TargetMode="External"/><Relationship Id="rId7"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hyperlink" Target="https://www.youtube.com/watch?v=-luEGxUCbTA" TargetMode="External"/><Relationship Id="rId4" Type="http://schemas.openxmlformats.org/officeDocument/2006/relationships/hyperlink" Target="https://www.youtube.com/watch?v=tdzFX2u3dgA" TargetMode="External"/></Relationships>
</file>

<file path=ppt/slides/_rels/slide8.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hyperlink" Target="https://www.youtube.com/watch?v=WSSs4WGImOQ" TargetMode="External"/><Relationship Id="rId7"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hyperlink" Target="https://github.com/iOfficeAI/AionUi" TargetMode="External"/><Relationship Id="rId5" Type="http://schemas.openxmlformats.org/officeDocument/2006/relationships/hyperlink" Target="https://www.youtube.com/watch?v=yUU5E-U5B3M" TargetMode="External"/><Relationship Id="rId4" Type="http://schemas.openxmlformats.org/officeDocument/2006/relationships/hyperlink" Target="https://www.youtube.com/watch?v=YZoxOVQT_RM" TargetMode="External"/><Relationship Id="rId9"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hyperlink" Target="https://www.youtube.com/watch?v=8iWSNwIRazc" TargetMode="External"/><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hyperlink" Target="https://www.youtube.com/watch?v=rsHYx6IJmx0" TargetMode="External"/><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3" Type="http://schemas.openxmlformats.org/officeDocument/2006/relationships/hyperlink" Target="https://www.roboticstomorrow.com/story/2025/06/joint-actuators-the-fundamental-component-for-humanoid-robots-power-and-dexterity/24924/" TargetMode="External"/><Relationship Id="rId7"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hyperlink" Target="https://www.youtube.com/watch?v=FXC5ZFBefvs" TargetMode="External"/><Relationship Id="rId5" Type="http://schemas.openxmlformats.org/officeDocument/2006/relationships/hyperlink" Target="https://news.northwestern.edu/stories/2025/07/bone-ified-muscles-could-be-robots-next-flex" TargetMode="External"/><Relationship Id="rId4" Type="http://schemas.openxmlformats.org/officeDocument/2006/relationships/hyperlink" Target="https://www.youtube.com/watch?v=fhRgwjEd3g8" TargetMode="External"/></Relationships>
</file>

<file path=ppt/slides/_rels/slide11.xml.rels><?xml version="1.0" encoding="UTF-8" standalone="yes"?>
<Relationships xmlns="http://schemas.openxmlformats.org/package/2006/relationships"><Relationship Id="rId8" Type="http://schemas.openxmlformats.org/officeDocument/2006/relationships/image" Target="../media/image18.jpeg"/><Relationship Id="rId3" Type="http://schemas.openxmlformats.org/officeDocument/2006/relationships/hyperlink" Target="https://www.youtube.com/watch?v=JBr3cQph5hU" TargetMode="External"/><Relationship Id="rId7"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hyperlink" Target="https://www.youtube.com/watch?v=672XOB_yD-A" TargetMode="External"/><Relationship Id="rId4" Type="http://schemas.openxmlformats.org/officeDocument/2006/relationships/hyperlink" Target="https://www.cnbc.com/2026/01/13/alibaba-backed-pixverse-real-time-ai-video-generation-tool-investors-startup-openai-sora.html" TargetMode="External"/></Relationships>
</file>

<file path=ppt/slides/_rels/slide12.xml.rels><?xml version="1.0" encoding="UTF-8" standalone="yes"?>
<Relationships xmlns="http://schemas.openxmlformats.org/package/2006/relationships"><Relationship Id="rId3" Type="http://schemas.openxmlformats.org/officeDocument/2006/relationships/hyperlink" Target="https://www.youtube.com/watch?v=KjUPBOCPBKg" TargetMode="External"/><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hyperlink" Target="https://www.youtube.com/watch?v=MxFcCHz1e7A" TargetMode="External"/><Relationship Id="rId5" Type="http://schemas.openxmlformats.org/officeDocument/2006/relationships/image" Target="../media/image20.png"/><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3" Type="http://schemas.openxmlformats.org/officeDocument/2006/relationships/hyperlink" Target="https://www.youtube.com/watch?v=9ZseQ-hXcp4" TargetMode="External"/><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hyperlink" Target="https://www.youtube.com/watch?v=-O-enNK6vYs" TargetMode="External"/></Relationships>
</file>

<file path=ppt/slides/_rels/slide14.xml.rels><?xml version="1.0" encoding="UTF-8" standalone="yes"?>
<Relationships xmlns="http://schemas.openxmlformats.org/package/2006/relationships"><Relationship Id="rId3" Type="http://schemas.openxmlformats.org/officeDocument/2006/relationships/hyperlink" Target="https://huggingface.co/blog/open-responses" TargetMode="External"/><Relationship Id="rId7" Type="http://schemas.openxmlformats.org/officeDocument/2006/relationships/image" Target="../media/image26.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25.jpeg"/><Relationship Id="rId5" Type="http://schemas.openxmlformats.org/officeDocument/2006/relationships/image" Target="../media/image24.jpeg"/><Relationship Id="rId4" Type="http://schemas.openxmlformats.org/officeDocument/2006/relationships/image" Target="../media/image23.jpeg"/></Relationships>
</file>

<file path=ppt/slides/_rels/slide1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29.png"/><Relationship Id="rId5" Type="http://schemas.openxmlformats.org/officeDocument/2006/relationships/hyperlink" Target="https://www.youtube.com/watch?v=83DSjiLgWI8" TargetMode="External"/><Relationship Id="rId4" Type="http://schemas.openxmlformats.org/officeDocument/2006/relationships/image" Target="../media/image28.png"/></Relationships>
</file>

<file path=ppt/slides/_rels/slide16.xml.rels><?xml version="1.0" encoding="UTF-8" standalone="yes"?>
<Relationships xmlns="http://schemas.openxmlformats.org/package/2006/relationships"><Relationship Id="rId8" Type="http://schemas.openxmlformats.org/officeDocument/2006/relationships/image" Target="../media/image32.png"/><Relationship Id="rId3" Type="http://schemas.openxmlformats.org/officeDocument/2006/relationships/hyperlink" Target="https://github.com/deepseek-ai/Engram/tree/main" TargetMode="External"/><Relationship Id="rId7" Type="http://schemas.openxmlformats.org/officeDocument/2006/relationships/image" Target="../media/image31.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hyperlink" Target="https://huggingface.co/microsoft/VibeVoice-ASR" TargetMode="External"/><Relationship Id="rId5" Type="http://schemas.openxmlformats.org/officeDocument/2006/relationships/image" Target="../media/image30.png"/><Relationship Id="rId4" Type="http://schemas.openxmlformats.org/officeDocument/2006/relationships/hyperlink" Target="https://arxiv.org/abs/2601.07372" TargetMode="External"/></Relationships>
</file>

<file path=ppt/slides/_rels/slide17.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hyperlink" Target="https://huggingface.co/nvidia/personaplex-7b-v1" TargetMode="External"/><Relationship Id="rId7" Type="http://schemas.openxmlformats.org/officeDocument/2006/relationships/hyperlink" Target="https://huggingface.co/NousResearch/NousCoder-14B" TargetMode="External"/><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hyperlink" Target="https://arxiv.org/abs/2404.08295" TargetMode="External"/><Relationship Id="rId5" Type="http://schemas.openxmlformats.org/officeDocument/2006/relationships/image" Target="../media/image33.png"/><Relationship Id="rId4" Type="http://schemas.openxmlformats.org/officeDocument/2006/relationships/hyperlink" Target="https://www.marktechpost.com/2026/01/17/nvidia-releases-personaplex-7b-v1-a-real-time-speech-to-speech-model-designed-for-natural-and-full-duplex-conversations/" TargetMode="External"/><Relationship Id="rId9" Type="http://schemas.openxmlformats.org/officeDocument/2006/relationships/image" Target="../media/image35.png"/></Relationships>
</file>

<file path=ppt/slides/_rels/slide18.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hyperlink" Target="https://www.youtube.com/watch?v=YeJjr5-rVww" TargetMode="External"/><Relationship Id="rId7" Type="http://schemas.openxmlformats.org/officeDocument/2006/relationships/hyperlink" Target="https://github.com/MiroMindAI/MiroThinker" TargetMode="External"/><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hyperlink" Target="https://miromind.ccgxk.com/" TargetMode="External"/><Relationship Id="rId5" Type="http://schemas.openxmlformats.org/officeDocument/2006/relationships/hyperlink" Target="https://huggingface.co/miromind-ai/MiroThinker-v1.5-235B" TargetMode="External"/><Relationship Id="rId4" Type="http://schemas.openxmlformats.org/officeDocument/2006/relationships/hyperlink" Target="https://huggingface.co/miromind-ai/MiroThinker-v1.5-30B" TargetMode="External"/><Relationship Id="rId9" Type="http://schemas.openxmlformats.org/officeDocument/2006/relationships/image" Target="../media/image37.png"/></Relationships>
</file>

<file path=ppt/slides/_rels/slide1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image" Target="../media/image40.png"/><Relationship Id="rId4" Type="http://schemas.openxmlformats.org/officeDocument/2006/relationships/image" Target="../media/image39.png"/></Relationships>
</file>

<file path=ppt/slides/_rels/slide20.xml.rels><?xml version="1.0" encoding="UTF-8" standalone="yes"?>
<Relationships xmlns="http://schemas.openxmlformats.org/package/2006/relationships"><Relationship Id="rId3" Type="http://schemas.openxmlformats.org/officeDocument/2006/relationships/hyperlink" Target="https://www.youtube.com/watch?v=x3QSOXgxp6I" TargetMode="External"/><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41.png"/><Relationship Id="rId5" Type="http://schemas.openxmlformats.org/officeDocument/2006/relationships/hyperlink" Target="https://www.microsoft.com/en-us/research/publication/working-with-ai-measuring-the-occupational-implications-of-generative-ai/" TargetMode="External"/><Relationship Id="rId4" Type="http://schemas.openxmlformats.org/officeDocument/2006/relationships/hyperlink" Target="https://arxiv.org/pdf/2507.07935" TargetMode="External"/></Relationships>
</file>

<file path=ppt/slides/_rels/slide21.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hyperlink" Target="https://layoffs.fyi" TargetMode="External"/><Relationship Id="rId7" Type="http://schemas.openxmlformats.org/officeDocument/2006/relationships/image" Target="../media/image44.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hyperlink" Target="https://www.reuters.com/business/world-at-work/amazon-plans-thousands-more-corporate-job-cuts-next-week-sources-say-2026-01-22/" TargetMode="External"/><Relationship Id="rId5" Type="http://schemas.openxmlformats.org/officeDocument/2006/relationships/image" Target="../media/image43.png"/><Relationship Id="rId4" Type="http://schemas.openxmlformats.org/officeDocument/2006/relationships/hyperlink" Target="https://trueup.io/layoffs" TargetMode="External"/></Relationships>
</file>

<file path=ppt/slides/_rels/slide23.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23.xml"/><Relationship Id="rId1" Type="http://schemas.openxmlformats.org/officeDocument/2006/relationships/slideLayout" Target="../slideLayouts/slideLayout1.xml"/><Relationship Id="rId5" Type="http://schemas.openxmlformats.org/officeDocument/2006/relationships/hyperlink" Target="https://eais.ai" TargetMode="External"/><Relationship Id="rId4" Type="http://schemas.openxmlformats.org/officeDocument/2006/relationships/image" Target="../media/image46.pn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2"/>
        <p:cNvGrpSpPr/>
        <p:nvPr/>
      </p:nvGrpSpPr>
      <p:grpSpPr>
        <a:xfrm>
          <a:off x="0" y="0"/>
          <a:ext cx="0" cy="0"/>
          <a:chOff x="0" y="0"/>
          <a:chExt cx="0" cy="0"/>
        </a:xfrm>
      </p:grpSpPr>
      <p:sp>
        <p:nvSpPr>
          <p:cNvPr id="63" name="Google Shape;63;p15"/>
          <p:cNvSpPr txBox="1"/>
          <p:nvPr/>
        </p:nvSpPr>
        <p:spPr>
          <a:xfrm>
            <a:off x="78651" y="490153"/>
            <a:ext cx="4420200" cy="1527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Crowd-sourced "LM Arena" Leaderboard</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skills.sh - directory of skills</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Cline vs Claude Code AI coding assistants</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Block's open-source Goose vs Claude Code</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Stack Overflow - Rapid Decline</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GLM-4.7 Flash - Lightweight and Free</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Baidu ERNIE 5.0 - 2.4T params</a:t>
            </a:r>
            <a:endParaRPr b="1">
              <a:solidFill>
                <a:srgbClr val="3C78D8"/>
              </a:solidFill>
              <a:latin typeface="Calibri"/>
              <a:ea typeface="Calibri"/>
              <a:cs typeface="Calibri"/>
              <a:sym typeface="Calibri"/>
            </a:endParaRPr>
          </a:p>
        </p:txBody>
      </p:sp>
      <p:sp>
        <p:nvSpPr>
          <p:cNvPr id="64" name="Google Shape;64;p15"/>
          <p:cNvSpPr txBox="1"/>
          <p:nvPr/>
        </p:nvSpPr>
        <p:spPr>
          <a:xfrm>
            <a:off x="0" y="-75311"/>
            <a:ext cx="4420200" cy="480300"/>
          </a:xfrm>
          <a:prstGeom prst="rect">
            <a:avLst/>
          </a:prstGeom>
          <a:noFill/>
          <a:ln>
            <a:noFill/>
          </a:ln>
        </p:spPr>
        <p:txBody>
          <a:bodyPr spcFirstLastPara="1" wrap="square" lIns="9125" tIns="9125" rIns="9125" bIns="9125" anchor="t" anchorCtr="0">
            <a:spAutoFit/>
          </a:bodyPr>
          <a:lstStyle/>
          <a:p>
            <a:pPr marL="0" marR="0" lvl="0" indent="0" algn="ctr" rtl="0">
              <a:lnSpc>
                <a:spcPct val="100000"/>
              </a:lnSpc>
              <a:spcBef>
                <a:spcPts val="0"/>
              </a:spcBef>
              <a:spcAft>
                <a:spcPts val="0"/>
              </a:spcAft>
              <a:buClr>
                <a:srgbClr val="000000"/>
              </a:buClr>
              <a:buSzPts val="3600"/>
              <a:buFont typeface="Arial"/>
              <a:buNone/>
            </a:pPr>
            <a:r>
              <a:rPr lang="en" sz="3000" b="1" i="0" u="none" strike="noStrike" cap="none">
                <a:solidFill>
                  <a:srgbClr val="3C78D8"/>
                </a:solidFill>
                <a:latin typeface="Calibri"/>
                <a:ea typeface="Calibri"/>
                <a:cs typeface="Calibri"/>
                <a:sym typeface="Calibri"/>
              </a:rPr>
              <a:t>AI Updates</a:t>
            </a:r>
            <a:r>
              <a:rPr lang="en" sz="2200" b="1" i="0" u="none" strike="noStrike" cap="none">
                <a:solidFill>
                  <a:srgbClr val="3C78D8"/>
                </a:solidFill>
                <a:latin typeface="Calibri"/>
                <a:ea typeface="Calibri"/>
                <a:cs typeface="Calibri"/>
                <a:sym typeface="Calibri"/>
              </a:rPr>
              <a:t> - Jan </a:t>
            </a:r>
            <a:r>
              <a:rPr lang="en" sz="2200" b="1">
                <a:solidFill>
                  <a:srgbClr val="3C78D8"/>
                </a:solidFill>
                <a:latin typeface="Calibri"/>
                <a:ea typeface="Calibri"/>
                <a:cs typeface="Calibri"/>
                <a:sym typeface="Calibri"/>
              </a:rPr>
              <a:t>23</a:t>
            </a:r>
            <a:r>
              <a:rPr lang="en" sz="2200" b="1" i="0" u="none" strike="noStrike" cap="none">
                <a:solidFill>
                  <a:srgbClr val="3C78D8"/>
                </a:solidFill>
                <a:latin typeface="Calibri"/>
                <a:ea typeface="Calibri"/>
                <a:cs typeface="Calibri"/>
                <a:sym typeface="Calibri"/>
              </a:rPr>
              <a:t>, 2026</a:t>
            </a:r>
            <a:endParaRPr sz="2200" b="1" i="0" u="none" strike="noStrike" cap="none">
              <a:solidFill>
                <a:srgbClr val="3C78D8"/>
              </a:solidFill>
              <a:latin typeface="Calibri"/>
              <a:ea typeface="Calibri"/>
              <a:cs typeface="Calibri"/>
              <a:sym typeface="Calibri"/>
            </a:endParaRPr>
          </a:p>
        </p:txBody>
      </p:sp>
      <p:sp>
        <p:nvSpPr>
          <p:cNvPr id="65" name="Google Shape;65;p15"/>
          <p:cNvSpPr txBox="1"/>
          <p:nvPr/>
        </p:nvSpPr>
        <p:spPr>
          <a:xfrm>
            <a:off x="4574323" y="4301142"/>
            <a:ext cx="4502400" cy="664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Microsoft Research Job Market Predictions</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Boris Cherny about career trajectory</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i="0" u="none" strike="noStrike" cap="none">
                <a:solidFill>
                  <a:srgbClr val="3C78D8"/>
                </a:solidFill>
                <a:latin typeface="Calibri"/>
                <a:ea typeface="Calibri"/>
                <a:cs typeface="Calibri"/>
                <a:sym typeface="Calibri"/>
              </a:rPr>
              <a:t>Jobs, Layoffs, </a:t>
            </a:r>
            <a:r>
              <a:rPr lang="en" b="1">
                <a:solidFill>
                  <a:srgbClr val="3C78D8"/>
                </a:solidFill>
                <a:latin typeface="Calibri"/>
                <a:ea typeface="Calibri"/>
                <a:cs typeface="Calibri"/>
                <a:sym typeface="Calibri"/>
              </a:rPr>
              <a:t>demand for AI Engineers</a:t>
            </a:r>
            <a:endParaRPr b="1" i="0" u="none" strike="noStrike" cap="none">
              <a:solidFill>
                <a:srgbClr val="3C78D8"/>
              </a:solidFill>
              <a:latin typeface="Calibri"/>
              <a:ea typeface="Calibri"/>
              <a:cs typeface="Calibri"/>
              <a:sym typeface="Calibri"/>
            </a:endParaRPr>
          </a:p>
        </p:txBody>
      </p:sp>
      <p:sp>
        <p:nvSpPr>
          <p:cNvPr id="66" name="Google Shape;66;p15"/>
          <p:cNvSpPr txBox="1"/>
          <p:nvPr/>
        </p:nvSpPr>
        <p:spPr>
          <a:xfrm>
            <a:off x="78651" y="2146163"/>
            <a:ext cx="4420200" cy="2819700"/>
          </a:xfrm>
          <a:prstGeom prst="rect">
            <a:avLst/>
          </a:prstGeom>
          <a:solidFill>
            <a:srgbClr val="FCE5CD"/>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Anti-gravity Update - Skill Builder capability</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Gemini CLI Update: Session Persistence</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Aion UI - open-source "Co-work" alternative</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Manus AI (Meta) - develop mobile apps</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Claude Code extension for VS Code</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Moonshots podcast with Ray Kurzweil</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Google AI Studio upgrades</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Robotics muscles (actuators)</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Google TranslateGemma</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PixVerse AI Video Generation in Real Time</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FLUX.2 Klein - generate AI Images in 0.5 sec</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How to Rank #1 with NotebookLM AI SEO</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Wikipedia deal: Microsoft, Meta, Amazon</a:t>
            </a:r>
            <a:endParaRPr b="1">
              <a:solidFill>
                <a:srgbClr val="3C78D8"/>
              </a:solidFill>
              <a:latin typeface="Calibri"/>
              <a:ea typeface="Calibri"/>
              <a:cs typeface="Calibri"/>
              <a:sym typeface="Calibri"/>
            </a:endParaRPr>
          </a:p>
        </p:txBody>
      </p:sp>
      <p:sp>
        <p:nvSpPr>
          <p:cNvPr id="67" name="Google Shape;67;p15"/>
          <p:cNvSpPr txBox="1"/>
          <p:nvPr/>
        </p:nvSpPr>
        <p:spPr>
          <a:xfrm>
            <a:off x="4574323" y="726908"/>
            <a:ext cx="4502400" cy="3466200"/>
          </a:xfrm>
          <a:prstGeom prst="rect">
            <a:avLst/>
          </a:prstGeom>
          <a:solidFill>
            <a:srgbClr val="C7E6AF"/>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AI research workflow: Perplexity + NotebookLM</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Microsoft OptiMind-SFT (a.k.a. OptiMind)</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Google AI Edge</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Taiwan invests $250 Bln into US</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Thinking Machines Lab loses two co-founders</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OpenAI Open Responses Standard</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Cursor ran 100s of AI coding agents for weeks</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OpenAI Updates</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VIDIA Nemotron-Speech ASR</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Deepseek Engram Conditional Memory</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Nvidia personaplex-7b-v1</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Emotion Computing</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NousCoder-14B Trained with RL</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Microsoft VibeVoice-ASR</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Myrothinker 1.5 - 30B &amp; 235B</a:t>
            </a:r>
            <a:endParaRPr b="1">
              <a:solidFill>
                <a:srgbClr val="3C78D8"/>
              </a:solidFill>
              <a:latin typeface="Calibri"/>
              <a:ea typeface="Calibri"/>
              <a:cs typeface="Calibri"/>
              <a:sym typeface="Calibri"/>
            </a:endParaRPr>
          </a:p>
          <a:p>
            <a:pPr marL="228600" marR="0" lvl="0" indent="-203200" algn="l" rtl="0">
              <a:lnSpc>
                <a:spcPct val="100000"/>
              </a:lnSpc>
              <a:spcBef>
                <a:spcPts val="0"/>
              </a:spcBef>
              <a:spcAft>
                <a:spcPts val="0"/>
              </a:spcAft>
              <a:buClr>
                <a:srgbClr val="3C78D8"/>
              </a:buClr>
              <a:buSzPts val="1400"/>
              <a:buFont typeface="Calibri"/>
              <a:buChar char="●"/>
            </a:pPr>
            <a:r>
              <a:rPr lang="en" b="1">
                <a:solidFill>
                  <a:srgbClr val="3C78D8"/>
                </a:solidFill>
                <a:latin typeface="Calibri"/>
                <a:ea typeface="Calibri"/>
                <a:cs typeface="Calibri"/>
                <a:sym typeface="Calibri"/>
              </a:rPr>
              <a:t>Haystack, LangChain, LlamaIndex</a:t>
            </a:r>
            <a:endParaRPr b="1">
              <a:solidFill>
                <a:srgbClr val="3C78D8"/>
              </a:solidFill>
              <a:latin typeface="Calibri"/>
              <a:ea typeface="Calibri"/>
              <a:cs typeface="Calibri"/>
              <a:sym typeface="Calibri"/>
            </a:endParaRPr>
          </a:p>
        </p:txBody>
      </p:sp>
      <p:sp>
        <p:nvSpPr>
          <p:cNvPr id="68" name="Google Shape;68;p15"/>
          <p:cNvSpPr txBox="1"/>
          <p:nvPr/>
        </p:nvSpPr>
        <p:spPr>
          <a:xfrm>
            <a:off x="4812040" y="65975"/>
            <a:ext cx="4070400" cy="5109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None/>
            </a:pPr>
            <a:r>
              <a:rPr lang="en" sz="1600" b="1" i="1">
                <a:solidFill>
                  <a:srgbClr val="FF0000"/>
                </a:solidFill>
                <a:latin typeface="Roboto Mono"/>
                <a:ea typeface="Roboto Mono"/>
                <a:cs typeface="Roboto Mono"/>
                <a:sym typeface="Roboto Mono"/>
              </a:rPr>
              <a:t>From manual coder to orchestrator of AI agent fleets</a:t>
            </a:r>
            <a:endParaRPr sz="1600" b="1" i="1">
              <a:solidFill>
                <a:srgbClr val="FF0000"/>
              </a:solidFill>
              <a:latin typeface="Roboto Mono"/>
              <a:ea typeface="Roboto Mono"/>
              <a:cs typeface="Roboto Mono"/>
              <a:sym typeface="Roboto Mono"/>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2"/>
        <p:cNvGrpSpPr/>
        <p:nvPr/>
      </p:nvGrpSpPr>
      <p:grpSpPr>
        <a:xfrm>
          <a:off x="0" y="0"/>
          <a:ext cx="0" cy="0"/>
          <a:chOff x="0" y="0"/>
          <a:chExt cx="0" cy="0"/>
        </a:xfrm>
      </p:grpSpPr>
      <p:sp>
        <p:nvSpPr>
          <p:cNvPr id="73" name="Google Shape;73;p16"/>
          <p:cNvSpPr txBox="1"/>
          <p:nvPr/>
        </p:nvSpPr>
        <p:spPr>
          <a:xfrm>
            <a:off x="6736325" y="52350"/>
            <a:ext cx="2356200" cy="341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1200" b="0" i="0" u="none" strike="noStrike" cap="none">
                <a:solidFill>
                  <a:schemeClr val="dk1"/>
                </a:solidFill>
                <a:latin typeface="Calibri"/>
                <a:ea typeface="Calibri"/>
                <a:cs typeface="Calibri"/>
                <a:sym typeface="Calibri"/>
              </a:rPr>
              <a:t>Starting Elo rating = 1000</a:t>
            </a:r>
            <a:endParaRPr sz="12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r>
              <a:rPr lang="en" sz="900" b="0" i="0" u="sng" strike="noStrike" cap="none">
                <a:solidFill>
                  <a:schemeClr val="hlink"/>
                </a:solidFill>
                <a:latin typeface="Calibri"/>
                <a:ea typeface="Calibri"/>
                <a:cs typeface="Calibri"/>
                <a:sym typeface="Calibri"/>
                <a:hlinkClick r:id="rId3"/>
              </a:rPr>
              <a:t>https://en.wikipedia.org/wiki/Elo_rating_system</a:t>
            </a:r>
            <a:r>
              <a:rPr lang="en" sz="900" b="0" i="0" u="none" strike="noStrike" cap="none">
                <a:solidFill>
                  <a:schemeClr val="dk1"/>
                </a:solidFill>
                <a:latin typeface="Calibri"/>
                <a:ea typeface="Calibri"/>
                <a:cs typeface="Calibri"/>
                <a:sym typeface="Calibri"/>
              </a:rPr>
              <a:t> </a:t>
            </a:r>
            <a:endParaRPr sz="900" b="0" i="0" u="none" strike="noStrike" cap="none">
              <a:solidFill>
                <a:schemeClr val="dk1"/>
              </a:solidFill>
              <a:latin typeface="Calibri"/>
              <a:ea typeface="Calibri"/>
              <a:cs typeface="Calibri"/>
              <a:sym typeface="Calibri"/>
            </a:endParaRPr>
          </a:p>
        </p:txBody>
      </p:sp>
      <p:sp>
        <p:nvSpPr>
          <p:cNvPr id="74" name="Google Shape;74;p16"/>
          <p:cNvSpPr txBox="1"/>
          <p:nvPr/>
        </p:nvSpPr>
        <p:spPr>
          <a:xfrm>
            <a:off x="38150" y="2125"/>
            <a:ext cx="3924000" cy="2955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 sz="1800" b="1" i="0" u="none" strike="noStrike" cap="none">
                <a:solidFill>
                  <a:schemeClr val="dk1"/>
                </a:solidFill>
                <a:latin typeface="Calibri"/>
                <a:ea typeface="Calibri"/>
                <a:cs typeface="Calibri"/>
                <a:sym typeface="Calibri"/>
              </a:rPr>
              <a:t>Crowd-sourced "LM Arena" Leaderboard</a:t>
            </a:r>
            <a:endParaRPr sz="1800" b="1" i="0" u="none" strike="noStrike" cap="none">
              <a:solidFill>
                <a:srgbClr val="000000"/>
              </a:solidFill>
              <a:latin typeface="Calibri"/>
              <a:ea typeface="Calibri"/>
              <a:cs typeface="Calibri"/>
              <a:sym typeface="Calibri"/>
            </a:endParaRPr>
          </a:p>
        </p:txBody>
      </p:sp>
      <p:sp>
        <p:nvSpPr>
          <p:cNvPr id="75" name="Google Shape;75;p16"/>
          <p:cNvSpPr txBox="1"/>
          <p:nvPr/>
        </p:nvSpPr>
        <p:spPr>
          <a:xfrm>
            <a:off x="244248" y="318397"/>
            <a:ext cx="2599800" cy="203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 sz="1200" b="1">
                <a:solidFill>
                  <a:srgbClr val="FF0000"/>
                </a:solidFill>
                <a:latin typeface="Calibri"/>
                <a:ea typeface="Calibri"/>
                <a:cs typeface="Calibri"/>
                <a:sym typeface="Calibri"/>
              </a:rPr>
              <a:t>English - </a:t>
            </a:r>
            <a:r>
              <a:rPr lang="en" sz="900" b="1" u="sng">
                <a:solidFill>
                  <a:schemeClr val="hlink"/>
                </a:solidFill>
                <a:latin typeface="Calibri"/>
                <a:ea typeface="Calibri"/>
                <a:cs typeface="Calibri"/>
                <a:sym typeface="Calibri"/>
                <a:hlinkClick r:id="rId4"/>
              </a:rPr>
              <a:t>https://lmarena.ai/leaderboard/text</a:t>
            </a:r>
            <a:r>
              <a:rPr lang="en" sz="900" b="1">
                <a:solidFill>
                  <a:srgbClr val="FF0000"/>
                </a:solidFill>
                <a:latin typeface="Calibri"/>
                <a:ea typeface="Calibri"/>
                <a:cs typeface="Calibri"/>
                <a:sym typeface="Calibri"/>
              </a:rPr>
              <a:t> </a:t>
            </a:r>
            <a:endParaRPr sz="900" b="1">
              <a:solidFill>
                <a:srgbClr val="FF0000"/>
              </a:solidFill>
              <a:latin typeface="Calibri"/>
              <a:ea typeface="Calibri"/>
              <a:cs typeface="Calibri"/>
              <a:sym typeface="Calibri"/>
            </a:endParaRPr>
          </a:p>
        </p:txBody>
      </p:sp>
      <p:sp>
        <p:nvSpPr>
          <p:cNvPr id="76" name="Google Shape;76;p16"/>
          <p:cNvSpPr txBox="1"/>
          <p:nvPr/>
        </p:nvSpPr>
        <p:spPr>
          <a:xfrm>
            <a:off x="2998655" y="322115"/>
            <a:ext cx="2839500" cy="203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 sz="1200" b="1">
                <a:solidFill>
                  <a:srgbClr val="FF0000"/>
                </a:solidFill>
                <a:latin typeface="Calibri"/>
                <a:ea typeface="Calibri"/>
                <a:cs typeface="Calibri"/>
                <a:sym typeface="Calibri"/>
              </a:rPr>
              <a:t>Coding - </a:t>
            </a:r>
            <a:r>
              <a:rPr lang="en" sz="900" b="1" u="sng">
                <a:solidFill>
                  <a:schemeClr val="hlink"/>
                </a:solidFill>
                <a:latin typeface="Calibri"/>
                <a:ea typeface="Calibri"/>
                <a:cs typeface="Calibri"/>
                <a:sym typeface="Calibri"/>
                <a:hlinkClick r:id="rId5"/>
              </a:rPr>
              <a:t>https://lmarena.ai/leaderboard/text/coding</a:t>
            </a:r>
            <a:r>
              <a:rPr lang="en" sz="900" b="1">
                <a:solidFill>
                  <a:srgbClr val="FF0000"/>
                </a:solidFill>
                <a:latin typeface="Calibri"/>
                <a:ea typeface="Calibri"/>
                <a:cs typeface="Calibri"/>
                <a:sym typeface="Calibri"/>
              </a:rPr>
              <a:t>  </a:t>
            </a:r>
            <a:endParaRPr sz="900" b="0" i="0" u="none" strike="noStrike" cap="none">
              <a:solidFill>
                <a:schemeClr val="dk1"/>
              </a:solidFill>
              <a:latin typeface="Calibri"/>
              <a:ea typeface="Calibri"/>
              <a:cs typeface="Calibri"/>
              <a:sym typeface="Calibri"/>
            </a:endParaRPr>
          </a:p>
        </p:txBody>
      </p:sp>
      <p:sp>
        <p:nvSpPr>
          <p:cNvPr id="77" name="Google Shape;77;p16"/>
          <p:cNvSpPr/>
          <p:nvPr/>
        </p:nvSpPr>
        <p:spPr>
          <a:xfrm>
            <a:off x="380840" y="781055"/>
            <a:ext cx="125400" cy="125400"/>
          </a:xfrm>
          <a:prstGeom prst="ellipse">
            <a:avLst/>
          </a:prstGeom>
          <a:solidFill>
            <a:srgbClr val="FF00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8" name="Google Shape;78;p16"/>
          <p:cNvSpPr txBox="1"/>
          <p:nvPr/>
        </p:nvSpPr>
        <p:spPr>
          <a:xfrm>
            <a:off x="6183999" y="1858050"/>
            <a:ext cx="2908500" cy="3096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07950" algn="l" rtl="0">
              <a:lnSpc>
                <a:spcPct val="100000"/>
              </a:lnSpc>
              <a:spcBef>
                <a:spcPts val="0"/>
              </a:spcBef>
              <a:spcAft>
                <a:spcPts val="0"/>
              </a:spcAft>
              <a:buClr>
                <a:schemeClr val="dk1"/>
              </a:buClr>
              <a:buSzPts val="800"/>
              <a:buFont typeface="Calibri"/>
              <a:buChar char="●"/>
            </a:pPr>
            <a:r>
              <a:rPr lang="en" sz="800" u="sng">
                <a:solidFill>
                  <a:schemeClr val="hlink"/>
                </a:solidFill>
                <a:latin typeface="Calibri"/>
                <a:ea typeface="Calibri"/>
                <a:cs typeface="Calibri"/>
                <a:sym typeface="Calibri"/>
                <a:hlinkClick r:id="rId4"/>
              </a:rPr>
              <a:t>https://lmarena.ai/leaderboard/text</a:t>
            </a:r>
            <a:r>
              <a:rPr lang="en" sz="800">
                <a:latin typeface="Calibri"/>
                <a:ea typeface="Calibri"/>
                <a:cs typeface="Calibri"/>
                <a:sym typeface="Calibri"/>
              </a:rPr>
              <a:t> </a:t>
            </a:r>
            <a:endParaRPr sz="800">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a:latin typeface="Calibri"/>
                <a:ea typeface="Calibri"/>
                <a:cs typeface="Calibri"/>
                <a:sym typeface="Calibri"/>
              </a:rPr>
              <a:t>Design Arena - </a:t>
            </a:r>
            <a:br>
              <a:rPr lang="en" sz="800">
                <a:latin typeface="Calibri"/>
                <a:ea typeface="Calibri"/>
                <a:cs typeface="Calibri"/>
                <a:sym typeface="Calibri"/>
              </a:rPr>
            </a:br>
            <a:r>
              <a:rPr lang="en" sz="800" u="sng">
                <a:solidFill>
                  <a:schemeClr val="hlink"/>
                </a:solidFill>
                <a:latin typeface="Calibri"/>
                <a:ea typeface="Calibri"/>
                <a:cs typeface="Calibri"/>
                <a:sym typeface="Calibri"/>
                <a:hlinkClick r:id="rId6"/>
              </a:rPr>
              <a:t>https://www.designarena.ai</a:t>
            </a:r>
            <a:r>
              <a:rPr lang="en" sz="800">
                <a:latin typeface="Calibri"/>
                <a:ea typeface="Calibri"/>
                <a:cs typeface="Calibri"/>
                <a:sym typeface="Calibri"/>
              </a:rPr>
              <a:t> </a:t>
            </a:r>
            <a:endParaRPr sz="800">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u="sng">
                <a:solidFill>
                  <a:schemeClr val="hlink"/>
                </a:solidFill>
                <a:latin typeface="Calibri"/>
                <a:ea typeface="Calibri"/>
                <a:cs typeface="Calibri"/>
                <a:sym typeface="Calibri"/>
                <a:hlinkClick r:id="rId7"/>
              </a:rPr>
              <a:t>https://openlm.ai/chatbot-arena/</a:t>
            </a:r>
            <a:r>
              <a:rPr lang="en" sz="800">
                <a:solidFill>
                  <a:schemeClr val="dk1"/>
                </a:solidFill>
                <a:latin typeface="Calibri"/>
                <a:ea typeface="Calibri"/>
                <a:cs typeface="Calibri"/>
                <a:sym typeface="Calibri"/>
              </a:rPr>
              <a:t> </a:t>
            </a:r>
            <a:endParaRPr sz="8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u="sng">
                <a:solidFill>
                  <a:schemeClr val="hlink"/>
                </a:solidFill>
                <a:latin typeface="Calibri"/>
                <a:ea typeface="Calibri"/>
                <a:cs typeface="Calibri"/>
                <a:sym typeface="Calibri"/>
                <a:hlinkClick r:id="rId8"/>
              </a:rPr>
              <a:t>https://beta.lmarena.ai</a:t>
            </a:r>
            <a:r>
              <a:rPr lang="en" sz="800">
                <a:solidFill>
                  <a:schemeClr val="dk1"/>
                </a:solidFill>
                <a:latin typeface="Calibri"/>
                <a:ea typeface="Calibri"/>
                <a:cs typeface="Calibri"/>
                <a:sym typeface="Calibri"/>
              </a:rPr>
              <a:t> </a:t>
            </a:r>
            <a:endParaRPr sz="8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b="0" i="0" u="none" strike="noStrike" cap="none">
                <a:solidFill>
                  <a:schemeClr val="dk1"/>
                </a:solidFill>
                <a:latin typeface="Calibri"/>
                <a:ea typeface="Calibri"/>
                <a:cs typeface="Calibri"/>
                <a:sym typeface="Calibri"/>
              </a:rPr>
              <a:t>Web Leaderboard -  1T params</a:t>
            </a:r>
            <a:br>
              <a:rPr lang="en" sz="800" b="0" i="0" u="none" strike="noStrike" cap="none">
                <a:solidFill>
                  <a:schemeClr val="dk1"/>
                </a:solidFill>
                <a:latin typeface="Calibri"/>
                <a:ea typeface="Calibri"/>
                <a:cs typeface="Calibri"/>
                <a:sym typeface="Calibri"/>
              </a:rPr>
            </a:br>
            <a:r>
              <a:rPr lang="en" sz="800" b="0" i="0" u="sng" strike="noStrike" cap="none">
                <a:solidFill>
                  <a:schemeClr val="hlink"/>
                </a:solidFill>
                <a:latin typeface="Calibri"/>
                <a:ea typeface="Calibri"/>
                <a:cs typeface="Calibri"/>
                <a:sym typeface="Calibri"/>
                <a:hlinkClick r:id="rId9"/>
              </a:rPr>
              <a:t>https://web.lmarena.ai/leaderboard</a:t>
            </a:r>
            <a:r>
              <a:rPr lang="en" sz="800" b="0" i="0" u="none" strike="noStrike" cap="none">
                <a:solidFill>
                  <a:schemeClr val="dk1"/>
                </a:solidFill>
                <a:latin typeface="Calibri"/>
                <a:ea typeface="Calibri"/>
                <a:cs typeface="Calibri"/>
                <a:sym typeface="Calibri"/>
              </a:rPr>
              <a:t> </a:t>
            </a:r>
            <a:endParaRPr sz="800" b="0" i="0" u="none" strike="noStrike" cap="none">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b="0" i="0" u="none" strike="noStrike" cap="none">
                <a:solidFill>
                  <a:schemeClr val="dk1"/>
                </a:solidFill>
                <a:latin typeface="Calibri"/>
                <a:ea typeface="Calibri"/>
                <a:cs typeface="Calibri"/>
                <a:sym typeface="Calibri"/>
              </a:rPr>
              <a:t>LLM Leaderboard - by @LlmStats - </a:t>
            </a:r>
            <a:br>
              <a:rPr lang="en" sz="800" b="0" i="0" u="none" strike="noStrike" cap="none">
                <a:solidFill>
                  <a:schemeClr val="dk1"/>
                </a:solidFill>
                <a:latin typeface="Calibri"/>
                <a:ea typeface="Calibri"/>
                <a:cs typeface="Calibri"/>
                <a:sym typeface="Calibri"/>
              </a:rPr>
            </a:br>
            <a:r>
              <a:rPr lang="en" sz="800" b="0" i="0" u="sng" strike="noStrike" cap="none">
                <a:solidFill>
                  <a:schemeClr val="hlink"/>
                </a:solidFill>
                <a:latin typeface="Calibri"/>
                <a:ea typeface="Calibri"/>
                <a:cs typeface="Calibri"/>
                <a:sym typeface="Calibri"/>
                <a:hlinkClick r:id="rId10"/>
              </a:rPr>
              <a:t>https://llmworld.net/llm_leaderboards/</a:t>
            </a:r>
            <a:r>
              <a:rPr lang="en" sz="800" b="0" i="0" u="none" strike="noStrike" cap="none">
                <a:solidFill>
                  <a:schemeClr val="dk1"/>
                </a:solidFill>
                <a:latin typeface="Calibri"/>
                <a:ea typeface="Calibri"/>
                <a:cs typeface="Calibri"/>
                <a:sym typeface="Calibri"/>
              </a:rPr>
              <a:t> </a:t>
            </a:r>
            <a:endParaRPr sz="800" b="0" i="0" u="none" strike="noStrike" cap="none">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b="0" i="0" u="none" strike="noStrike" cap="none">
                <a:solidFill>
                  <a:schemeClr val="dk1"/>
                </a:solidFill>
                <a:latin typeface="Calibri"/>
                <a:ea typeface="Calibri"/>
                <a:cs typeface="Calibri"/>
                <a:sym typeface="Calibri"/>
              </a:rPr>
              <a:t>LLM Leaderboard - by StackAI</a:t>
            </a:r>
            <a:r>
              <a:rPr lang="en" sz="800">
                <a:solidFill>
                  <a:schemeClr val="dk1"/>
                </a:solidFill>
                <a:latin typeface="Calibri"/>
                <a:ea typeface="Calibri"/>
                <a:cs typeface="Calibri"/>
                <a:sym typeface="Calibri"/>
              </a:rPr>
              <a:t> - </a:t>
            </a:r>
            <a:br>
              <a:rPr lang="en" sz="800">
                <a:solidFill>
                  <a:schemeClr val="dk1"/>
                </a:solidFill>
                <a:latin typeface="Calibri"/>
                <a:ea typeface="Calibri"/>
                <a:cs typeface="Calibri"/>
                <a:sym typeface="Calibri"/>
              </a:rPr>
            </a:br>
            <a:r>
              <a:rPr lang="en" sz="800" b="0" i="0" u="sng" strike="noStrike" cap="none">
                <a:solidFill>
                  <a:schemeClr val="hlink"/>
                </a:solidFill>
                <a:latin typeface="Calibri"/>
                <a:ea typeface="Calibri"/>
                <a:cs typeface="Calibri"/>
                <a:sym typeface="Calibri"/>
                <a:hlinkClick r:id="rId11"/>
              </a:rPr>
              <a:t>https://www.stack-ai.com/llm-leaderboard</a:t>
            </a:r>
            <a:r>
              <a:rPr lang="en" sz="800" b="0" i="0" u="none" strike="noStrike" cap="none">
                <a:solidFill>
                  <a:schemeClr val="dk1"/>
                </a:solidFill>
                <a:latin typeface="Calibri"/>
                <a:ea typeface="Calibri"/>
                <a:cs typeface="Calibri"/>
                <a:sym typeface="Calibri"/>
              </a:rPr>
              <a:t> </a:t>
            </a:r>
            <a:endParaRPr sz="800" b="0" i="0" u="none" strike="noStrike" cap="none">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b="0" i="0" u="none" strike="noStrike" cap="none">
                <a:solidFill>
                  <a:schemeClr val="dk1"/>
                </a:solidFill>
                <a:latin typeface="Calibri"/>
                <a:ea typeface="Calibri"/>
                <a:cs typeface="Calibri"/>
                <a:sym typeface="Calibri"/>
              </a:rPr>
              <a:t>LLM Leaderboard - by Artificial Analysis</a:t>
            </a:r>
            <a:r>
              <a:rPr lang="en" sz="800">
                <a:solidFill>
                  <a:schemeClr val="dk1"/>
                </a:solidFill>
                <a:latin typeface="Calibri"/>
                <a:ea typeface="Calibri"/>
                <a:cs typeface="Calibri"/>
                <a:sym typeface="Calibri"/>
              </a:rPr>
              <a:t> - </a:t>
            </a:r>
            <a:br>
              <a:rPr lang="en" sz="800">
                <a:solidFill>
                  <a:schemeClr val="dk1"/>
                </a:solidFill>
                <a:latin typeface="Calibri"/>
                <a:ea typeface="Calibri"/>
                <a:cs typeface="Calibri"/>
                <a:sym typeface="Calibri"/>
              </a:rPr>
            </a:br>
            <a:r>
              <a:rPr lang="en" sz="800" b="0" i="0" u="sng" strike="noStrike" cap="none">
                <a:solidFill>
                  <a:schemeClr val="hlink"/>
                </a:solidFill>
                <a:latin typeface="Calibri"/>
                <a:ea typeface="Calibri"/>
                <a:cs typeface="Calibri"/>
                <a:sym typeface="Calibri"/>
                <a:hlinkClick r:id="rId12"/>
              </a:rPr>
              <a:t>https://artificialanalysis.ai/leaderboards/models</a:t>
            </a:r>
            <a:r>
              <a:rPr lang="en" sz="800" b="0" i="0" u="none" strike="noStrike" cap="none">
                <a:solidFill>
                  <a:schemeClr val="dk1"/>
                </a:solidFill>
                <a:latin typeface="Calibri"/>
                <a:ea typeface="Calibri"/>
                <a:cs typeface="Calibri"/>
                <a:sym typeface="Calibri"/>
              </a:rPr>
              <a:t> </a:t>
            </a:r>
            <a:endParaRPr sz="800" b="0" i="0" u="none" strike="noStrike" cap="none">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b="0" i="0" u="none" strike="noStrike" cap="none">
                <a:solidFill>
                  <a:schemeClr val="dk1"/>
                </a:solidFill>
                <a:latin typeface="Calibri"/>
                <a:ea typeface="Calibri"/>
                <a:cs typeface="Calibri"/>
                <a:sym typeface="Calibri"/>
              </a:rPr>
              <a:t>Open LLM Leaderboard - by Hugging Face - </a:t>
            </a:r>
            <a:br>
              <a:rPr lang="en" sz="800" b="0" i="0" u="none" strike="noStrike" cap="none">
                <a:solidFill>
                  <a:schemeClr val="dk1"/>
                </a:solidFill>
                <a:latin typeface="Calibri"/>
                <a:ea typeface="Calibri"/>
                <a:cs typeface="Calibri"/>
                <a:sym typeface="Calibri"/>
              </a:rPr>
            </a:br>
            <a:r>
              <a:rPr lang="en" sz="800" b="0" i="0" u="sng" strike="noStrike" cap="none">
                <a:solidFill>
                  <a:schemeClr val="hlink"/>
                </a:solidFill>
                <a:latin typeface="Calibri"/>
                <a:ea typeface="Calibri"/>
                <a:cs typeface="Calibri"/>
                <a:sym typeface="Calibri"/>
                <a:hlinkClick r:id="rId13"/>
              </a:rPr>
              <a:t>https://huggingface.co/open-llm-leaderboard</a:t>
            </a:r>
            <a:r>
              <a:rPr lang="en" sz="800" b="0" i="0" u="none" strike="noStrike" cap="none">
                <a:solidFill>
                  <a:schemeClr val="dk1"/>
                </a:solidFill>
                <a:latin typeface="Calibri"/>
                <a:ea typeface="Calibri"/>
                <a:cs typeface="Calibri"/>
                <a:sym typeface="Calibri"/>
              </a:rPr>
              <a:t> </a:t>
            </a:r>
            <a:endParaRPr sz="800" b="0" i="0" u="none" strike="noStrike" cap="none">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b="0" i="0" u="none" strike="noStrike" cap="none">
                <a:solidFill>
                  <a:schemeClr val="dk1"/>
                </a:solidFill>
                <a:latin typeface="Calibri"/>
                <a:ea typeface="Calibri"/>
                <a:cs typeface="Calibri"/>
                <a:sym typeface="Calibri"/>
              </a:rPr>
              <a:t>LLM Leaderboard - by Vellum - </a:t>
            </a:r>
            <a:br>
              <a:rPr lang="en" sz="800" b="0" i="0" u="none" strike="noStrike" cap="none">
                <a:solidFill>
                  <a:schemeClr val="dk1"/>
                </a:solidFill>
                <a:latin typeface="Calibri"/>
                <a:ea typeface="Calibri"/>
                <a:cs typeface="Calibri"/>
                <a:sym typeface="Calibri"/>
              </a:rPr>
            </a:br>
            <a:r>
              <a:rPr lang="en" sz="800" b="0" i="0" u="sng" strike="noStrike" cap="none">
                <a:solidFill>
                  <a:schemeClr val="hlink"/>
                </a:solidFill>
                <a:latin typeface="Calibri"/>
                <a:ea typeface="Calibri"/>
                <a:cs typeface="Calibri"/>
                <a:sym typeface="Calibri"/>
                <a:hlinkClick r:id="rId14"/>
              </a:rPr>
              <a:t>https://www.vellum.ai/llm-leaderboard</a:t>
            </a:r>
            <a:r>
              <a:rPr lang="en" sz="800" b="0" i="0" u="none" strike="noStrike" cap="none">
                <a:solidFill>
                  <a:schemeClr val="dk1"/>
                </a:solidFill>
                <a:latin typeface="Calibri"/>
                <a:ea typeface="Calibri"/>
                <a:cs typeface="Calibri"/>
                <a:sym typeface="Calibri"/>
              </a:rPr>
              <a:t> </a:t>
            </a:r>
            <a:endParaRPr sz="800" b="0" i="0" u="none" strike="noStrike" cap="none">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a:solidFill>
                  <a:schemeClr val="dk1"/>
                </a:solidFill>
                <a:latin typeface="Calibri"/>
                <a:ea typeface="Calibri"/>
                <a:cs typeface="Calibri"/>
                <a:sym typeface="Calibri"/>
              </a:rPr>
              <a:t>AI Benchmarking Hub - </a:t>
            </a:r>
            <a:br>
              <a:rPr lang="en" sz="800">
                <a:solidFill>
                  <a:schemeClr val="dk1"/>
                </a:solidFill>
                <a:latin typeface="Calibri"/>
                <a:ea typeface="Calibri"/>
                <a:cs typeface="Calibri"/>
                <a:sym typeface="Calibri"/>
              </a:rPr>
            </a:br>
            <a:r>
              <a:rPr lang="en" sz="800" u="sng">
                <a:solidFill>
                  <a:schemeClr val="hlink"/>
                </a:solidFill>
                <a:latin typeface="Calibri"/>
                <a:ea typeface="Calibri"/>
                <a:cs typeface="Calibri"/>
                <a:sym typeface="Calibri"/>
                <a:hlinkClick r:id="rId15"/>
              </a:rPr>
              <a:t>https://epoch.ai/data/ai-benchmarking-dashboard</a:t>
            </a:r>
            <a:endParaRPr sz="8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a:solidFill>
                  <a:schemeClr val="dk1"/>
                </a:solidFill>
                <a:latin typeface="Calibri"/>
                <a:ea typeface="Calibri"/>
                <a:cs typeface="Calibri"/>
                <a:sym typeface="Calibri"/>
              </a:rPr>
              <a:t>Grok 4 Benchmarks - </a:t>
            </a:r>
            <a:br>
              <a:rPr lang="en" sz="800">
                <a:solidFill>
                  <a:schemeClr val="dk1"/>
                </a:solidFill>
                <a:latin typeface="Calibri"/>
                <a:ea typeface="Calibri"/>
                <a:cs typeface="Calibri"/>
                <a:sym typeface="Calibri"/>
              </a:rPr>
            </a:br>
            <a:r>
              <a:rPr lang="en" sz="800" u="sng">
                <a:solidFill>
                  <a:schemeClr val="hlink"/>
                </a:solidFill>
                <a:latin typeface="Calibri"/>
                <a:ea typeface="Calibri"/>
                <a:cs typeface="Calibri"/>
                <a:sym typeface="Calibri"/>
                <a:hlinkClick r:id="rId16"/>
              </a:rPr>
              <a:t>https://artificialanalysis.ai/models/grok-4</a:t>
            </a:r>
            <a:r>
              <a:rPr lang="en" sz="800">
                <a:solidFill>
                  <a:schemeClr val="dk1"/>
                </a:solidFill>
                <a:latin typeface="Calibri"/>
                <a:ea typeface="Calibri"/>
                <a:cs typeface="Calibri"/>
                <a:sym typeface="Calibri"/>
              </a:rPr>
              <a:t> </a:t>
            </a:r>
            <a:endParaRPr sz="8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a:solidFill>
                  <a:schemeClr val="dk1"/>
                </a:solidFill>
                <a:latin typeface="Calibri"/>
                <a:ea typeface="Calibri"/>
                <a:cs typeface="Calibri"/>
                <a:sym typeface="Calibri"/>
              </a:rPr>
              <a:t>Image arena (alibaba) - </a:t>
            </a:r>
            <a:br>
              <a:rPr lang="en" sz="800">
                <a:solidFill>
                  <a:schemeClr val="dk1"/>
                </a:solidFill>
                <a:latin typeface="Calibri"/>
                <a:ea typeface="Calibri"/>
                <a:cs typeface="Calibri"/>
                <a:sym typeface="Calibri"/>
              </a:rPr>
            </a:br>
            <a:r>
              <a:rPr lang="en" sz="800" u="sng">
                <a:solidFill>
                  <a:schemeClr val="hlink"/>
                </a:solidFill>
                <a:latin typeface="Calibri"/>
                <a:ea typeface="Calibri"/>
                <a:cs typeface="Calibri"/>
                <a:sym typeface="Calibri"/>
                <a:hlinkClick r:id="rId17"/>
              </a:rPr>
              <a:t>http://aiarena.alibaba-inc.com/corpora/arena/leaderboard?arenaType=T2I</a:t>
            </a:r>
            <a:r>
              <a:rPr lang="en" sz="800">
                <a:solidFill>
                  <a:schemeClr val="dk1"/>
                </a:solidFill>
                <a:latin typeface="Calibri"/>
                <a:ea typeface="Calibri"/>
                <a:cs typeface="Calibri"/>
                <a:sym typeface="Calibri"/>
              </a:rPr>
              <a:t> </a:t>
            </a:r>
            <a:endParaRPr sz="800">
              <a:solidFill>
                <a:schemeClr val="dk1"/>
              </a:solidFill>
              <a:latin typeface="Calibri"/>
              <a:ea typeface="Calibri"/>
              <a:cs typeface="Calibri"/>
              <a:sym typeface="Calibri"/>
            </a:endParaRPr>
          </a:p>
          <a:p>
            <a:pPr marL="171450" marR="0" lvl="0" indent="-107950" algn="l" rtl="0">
              <a:lnSpc>
                <a:spcPct val="100000"/>
              </a:lnSpc>
              <a:spcBef>
                <a:spcPts val="0"/>
              </a:spcBef>
              <a:spcAft>
                <a:spcPts val="0"/>
              </a:spcAft>
              <a:buClr>
                <a:schemeClr val="dk1"/>
              </a:buClr>
              <a:buSzPts val="800"/>
              <a:buFont typeface="Calibri"/>
              <a:buChar char="●"/>
            </a:pPr>
            <a:r>
              <a:rPr lang="en" sz="800">
                <a:solidFill>
                  <a:schemeClr val="dk1"/>
                </a:solidFill>
                <a:latin typeface="Calibri"/>
                <a:ea typeface="Calibri"/>
                <a:cs typeface="Calibri"/>
                <a:sym typeface="Calibri"/>
              </a:rPr>
              <a:t>image arena - </a:t>
            </a:r>
            <a:r>
              <a:rPr lang="en" sz="800" u="sng">
                <a:solidFill>
                  <a:schemeClr val="hlink"/>
                </a:solidFill>
                <a:latin typeface="Calibri"/>
                <a:ea typeface="Calibri"/>
                <a:cs typeface="Calibri"/>
                <a:sym typeface="Calibri"/>
                <a:hlinkClick r:id="rId18"/>
              </a:rPr>
              <a:t>https://lmarena.ai/leaderboard/text-to-image</a:t>
            </a:r>
            <a:r>
              <a:rPr lang="en" sz="800">
                <a:solidFill>
                  <a:schemeClr val="dk1"/>
                </a:solidFill>
                <a:latin typeface="Calibri"/>
                <a:ea typeface="Calibri"/>
                <a:cs typeface="Calibri"/>
                <a:sym typeface="Calibri"/>
              </a:rPr>
              <a:t> </a:t>
            </a:r>
            <a:endParaRPr sz="800">
              <a:solidFill>
                <a:schemeClr val="dk1"/>
              </a:solidFill>
              <a:latin typeface="Calibri"/>
              <a:ea typeface="Calibri"/>
              <a:cs typeface="Calibri"/>
              <a:sym typeface="Calibri"/>
            </a:endParaRPr>
          </a:p>
        </p:txBody>
      </p:sp>
      <p:sp>
        <p:nvSpPr>
          <p:cNvPr id="79" name="Google Shape;79;p16"/>
          <p:cNvSpPr/>
          <p:nvPr/>
        </p:nvSpPr>
        <p:spPr>
          <a:xfrm>
            <a:off x="3338040" y="778709"/>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0" name="Google Shape;80;p16"/>
          <p:cNvSpPr/>
          <p:nvPr/>
        </p:nvSpPr>
        <p:spPr>
          <a:xfrm>
            <a:off x="384813" y="2219189"/>
            <a:ext cx="125400" cy="125400"/>
          </a:xfrm>
          <a:prstGeom prst="ellipse">
            <a:avLst/>
          </a:prstGeom>
          <a:solidFill>
            <a:srgbClr val="FFFF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1" name="Google Shape;81;p16"/>
          <p:cNvSpPr/>
          <p:nvPr/>
        </p:nvSpPr>
        <p:spPr>
          <a:xfrm>
            <a:off x="378228" y="1500438"/>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 name="Google Shape;82;p16"/>
          <p:cNvSpPr/>
          <p:nvPr/>
        </p:nvSpPr>
        <p:spPr>
          <a:xfrm>
            <a:off x="3335041" y="961370"/>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3" name="Google Shape;83;p16"/>
          <p:cNvSpPr txBox="1"/>
          <p:nvPr/>
        </p:nvSpPr>
        <p:spPr>
          <a:xfrm>
            <a:off x="4431041" y="63625"/>
            <a:ext cx="1408200" cy="172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0650" algn="l" rtl="0">
              <a:lnSpc>
                <a:spcPct val="100000"/>
              </a:lnSpc>
              <a:spcBef>
                <a:spcPts val="0"/>
              </a:spcBef>
              <a:spcAft>
                <a:spcPts val="0"/>
              </a:spcAft>
              <a:buClr>
                <a:schemeClr val="dk1"/>
              </a:buClr>
              <a:buSzPts val="1000"/>
              <a:buFont typeface="Calibri"/>
              <a:buChar char="●"/>
            </a:pPr>
            <a:r>
              <a:rPr lang="en" sz="1000">
                <a:latin typeface="Calibri"/>
                <a:ea typeface="Calibri"/>
                <a:cs typeface="Calibri"/>
                <a:sym typeface="Calibri"/>
              </a:rPr>
              <a:t>Data for January 16</a:t>
            </a:r>
            <a:endParaRPr sz="1000">
              <a:solidFill>
                <a:schemeClr val="dk1"/>
              </a:solidFill>
              <a:latin typeface="Calibri"/>
              <a:ea typeface="Calibri"/>
              <a:cs typeface="Calibri"/>
              <a:sym typeface="Calibri"/>
            </a:endParaRPr>
          </a:p>
        </p:txBody>
      </p:sp>
      <p:sp>
        <p:nvSpPr>
          <p:cNvPr id="84" name="Google Shape;84;p16"/>
          <p:cNvSpPr/>
          <p:nvPr/>
        </p:nvSpPr>
        <p:spPr>
          <a:xfrm>
            <a:off x="3337376" y="1132760"/>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5" name="Google Shape;85;p16"/>
          <p:cNvSpPr txBox="1"/>
          <p:nvPr/>
        </p:nvSpPr>
        <p:spPr>
          <a:xfrm>
            <a:off x="3053206" y="4921739"/>
            <a:ext cx="287100" cy="141600"/>
          </a:xfrm>
          <a:prstGeom prst="rect">
            <a:avLst/>
          </a:prstGeom>
          <a:no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highlight>
                  <a:srgbClr val="FFFFFF"/>
                </a:highlight>
                <a:latin typeface="Calibri"/>
                <a:ea typeface="Calibri"/>
                <a:cs typeface="Calibri"/>
                <a:sym typeface="Calibri"/>
              </a:rPr>
              <a:t>China</a:t>
            </a:r>
            <a:endParaRPr sz="800" b="0" i="0" u="none" strike="noStrike" cap="none">
              <a:solidFill>
                <a:srgbClr val="1F2937"/>
              </a:solidFill>
              <a:highlight>
                <a:srgbClr val="FFFFFF"/>
              </a:highlight>
              <a:latin typeface="Calibri"/>
              <a:ea typeface="Calibri"/>
              <a:cs typeface="Calibri"/>
              <a:sym typeface="Calibri"/>
            </a:endParaRPr>
          </a:p>
        </p:txBody>
      </p:sp>
      <p:sp>
        <p:nvSpPr>
          <p:cNvPr id="86" name="Google Shape;86;p16"/>
          <p:cNvSpPr/>
          <p:nvPr/>
        </p:nvSpPr>
        <p:spPr>
          <a:xfrm>
            <a:off x="3344075" y="4930133"/>
            <a:ext cx="125400" cy="125400"/>
          </a:xfrm>
          <a:prstGeom prst="ellipse">
            <a:avLst/>
          </a:prstGeom>
          <a:solidFill>
            <a:srgbClr val="6AA84F"/>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7" name="Google Shape;87;p16"/>
          <p:cNvSpPr/>
          <p:nvPr/>
        </p:nvSpPr>
        <p:spPr>
          <a:xfrm>
            <a:off x="3335154" y="1321737"/>
            <a:ext cx="125400" cy="125400"/>
          </a:xfrm>
          <a:prstGeom prst="ellipse">
            <a:avLst/>
          </a:prstGeom>
          <a:solidFill>
            <a:srgbClr val="FF00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8" name="Google Shape;88;p16"/>
          <p:cNvSpPr txBox="1"/>
          <p:nvPr/>
        </p:nvSpPr>
        <p:spPr>
          <a:xfrm flipH="1">
            <a:off x="3281430" y="1842465"/>
            <a:ext cx="194400" cy="141600"/>
          </a:xfrm>
          <a:prstGeom prst="rect">
            <a:avLst/>
          </a:prstGeom>
          <a:solidFill>
            <a:srgbClr val="FCE5CD"/>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latin typeface="Calibri"/>
                <a:ea typeface="Calibri"/>
                <a:cs typeface="Calibri"/>
                <a:sym typeface="Calibri"/>
              </a:rPr>
              <a:t>x.ai</a:t>
            </a:r>
            <a:endParaRPr sz="800" b="0" i="0" u="none" strike="noStrike" cap="none">
              <a:solidFill>
                <a:srgbClr val="1F2937"/>
              </a:solidFill>
              <a:latin typeface="Calibri"/>
              <a:ea typeface="Calibri"/>
              <a:cs typeface="Calibri"/>
              <a:sym typeface="Calibri"/>
            </a:endParaRPr>
          </a:p>
        </p:txBody>
      </p:sp>
      <p:sp>
        <p:nvSpPr>
          <p:cNvPr id="89" name="Google Shape;89;p16"/>
          <p:cNvSpPr txBox="1"/>
          <p:nvPr/>
        </p:nvSpPr>
        <p:spPr>
          <a:xfrm flipH="1">
            <a:off x="3278082" y="3122472"/>
            <a:ext cx="194400" cy="141600"/>
          </a:xfrm>
          <a:prstGeom prst="rect">
            <a:avLst/>
          </a:prstGeom>
          <a:solidFill>
            <a:srgbClr val="FCE5CD"/>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latin typeface="Calibri"/>
                <a:ea typeface="Calibri"/>
                <a:cs typeface="Calibri"/>
                <a:sym typeface="Calibri"/>
              </a:rPr>
              <a:t>x.ai</a:t>
            </a:r>
            <a:endParaRPr sz="800" b="0" i="0" u="none" strike="noStrike" cap="none">
              <a:solidFill>
                <a:srgbClr val="1F2937"/>
              </a:solidFill>
              <a:latin typeface="Calibri"/>
              <a:ea typeface="Calibri"/>
              <a:cs typeface="Calibri"/>
              <a:sym typeface="Calibri"/>
            </a:endParaRPr>
          </a:p>
        </p:txBody>
      </p:sp>
      <p:sp>
        <p:nvSpPr>
          <p:cNvPr id="90" name="Google Shape;90;p16"/>
          <p:cNvSpPr/>
          <p:nvPr/>
        </p:nvSpPr>
        <p:spPr>
          <a:xfrm>
            <a:off x="3337376" y="1489913"/>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1" name="Google Shape;91;p16"/>
          <p:cNvSpPr/>
          <p:nvPr/>
        </p:nvSpPr>
        <p:spPr>
          <a:xfrm>
            <a:off x="3337376" y="1666707"/>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2" name="Google Shape;92;p16"/>
          <p:cNvSpPr/>
          <p:nvPr/>
        </p:nvSpPr>
        <p:spPr>
          <a:xfrm>
            <a:off x="388460" y="1867685"/>
            <a:ext cx="125400" cy="125400"/>
          </a:xfrm>
          <a:prstGeom prst="ellipse">
            <a:avLst/>
          </a:prstGeom>
          <a:solidFill>
            <a:srgbClr val="FF00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3" name="Google Shape;93;p16"/>
          <p:cNvSpPr txBox="1"/>
          <p:nvPr/>
        </p:nvSpPr>
        <p:spPr>
          <a:xfrm flipH="1">
            <a:off x="322721" y="935423"/>
            <a:ext cx="194400" cy="141600"/>
          </a:xfrm>
          <a:prstGeom prst="rect">
            <a:avLst/>
          </a:prstGeom>
          <a:solidFill>
            <a:srgbClr val="FCE5CD"/>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latin typeface="Calibri"/>
                <a:ea typeface="Calibri"/>
                <a:cs typeface="Calibri"/>
                <a:sym typeface="Calibri"/>
              </a:rPr>
              <a:t>x.ai</a:t>
            </a:r>
            <a:endParaRPr sz="800" b="0" i="0" u="none" strike="noStrike" cap="none">
              <a:solidFill>
                <a:srgbClr val="1F2937"/>
              </a:solidFill>
              <a:latin typeface="Calibri"/>
              <a:ea typeface="Calibri"/>
              <a:cs typeface="Calibri"/>
              <a:sym typeface="Calibri"/>
            </a:endParaRPr>
          </a:p>
        </p:txBody>
      </p:sp>
      <p:sp>
        <p:nvSpPr>
          <p:cNvPr id="94" name="Google Shape;94;p16"/>
          <p:cNvSpPr/>
          <p:nvPr/>
        </p:nvSpPr>
        <p:spPr>
          <a:xfrm>
            <a:off x="388445" y="4571480"/>
            <a:ext cx="125400" cy="125400"/>
          </a:xfrm>
          <a:prstGeom prst="ellipse">
            <a:avLst/>
          </a:prstGeom>
          <a:solidFill>
            <a:srgbClr val="FFFF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5" name="Google Shape;95;p16"/>
          <p:cNvSpPr txBox="1"/>
          <p:nvPr/>
        </p:nvSpPr>
        <p:spPr>
          <a:xfrm flipH="1">
            <a:off x="326945" y="1664075"/>
            <a:ext cx="194400" cy="141600"/>
          </a:xfrm>
          <a:prstGeom prst="rect">
            <a:avLst/>
          </a:prstGeom>
          <a:solidFill>
            <a:srgbClr val="FCE5CD"/>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latin typeface="Calibri"/>
                <a:ea typeface="Calibri"/>
                <a:cs typeface="Calibri"/>
                <a:sym typeface="Calibri"/>
              </a:rPr>
              <a:t>x.ai</a:t>
            </a:r>
            <a:endParaRPr sz="800" b="0" i="0" u="none" strike="noStrike" cap="none">
              <a:solidFill>
                <a:srgbClr val="1F2937"/>
              </a:solidFill>
              <a:latin typeface="Calibri"/>
              <a:ea typeface="Calibri"/>
              <a:cs typeface="Calibri"/>
              <a:sym typeface="Calibri"/>
            </a:endParaRPr>
          </a:p>
        </p:txBody>
      </p:sp>
      <p:sp>
        <p:nvSpPr>
          <p:cNvPr id="96" name="Google Shape;96;p16"/>
          <p:cNvSpPr/>
          <p:nvPr/>
        </p:nvSpPr>
        <p:spPr>
          <a:xfrm>
            <a:off x="378228" y="1313761"/>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7" name="Google Shape;97;p16"/>
          <p:cNvSpPr/>
          <p:nvPr/>
        </p:nvSpPr>
        <p:spPr>
          <a:xfrm>
            <a:off x="386592" y="2576273"/>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8" name="Google Shape;98;p16"/>
          <p:cNvSpPr/>
          <p:nvPr/>
        </p:nvSpPr>
        <p:spPr>
          <a:xfrm>
            <a:off x="3337376" y="2217952"/>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9" name="Google Shape;99;p16"/>
          <p:cNvSpPr/>
          <p:nvPr/>
        </p:nvSpPr>
        <p:spPr>
          <a:xfrm>
            <a:off x="3338579" y="3491300"/>
            <a:ext cx="125400" cy="125400"/>
          </a:xfrm>
          <a:prstGeom prst="ellipse">
            <a:avLst/>
          </a:prstGeom>
          <a:solidFill>
            <a:srgbClr val="FFFF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0" name="Google Shape;100;p16"/>
          <p:cNvSpPr/>
          <p:nvPr/>
        </p:nvSpPr>
        <p:spPr>
          <a:xfrm>
            <a:off x="6114208" y="720883"/>
            <a:ext cx="125400" cy="125400"/>
          </a:xfrm>
          <a:prstGeom prst="ellipse">
            <a:avLst/>
          </a:prstGeom>
          <a:solidFill>
            <a:srgbClr val="FF00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1" name="Google Shape;101;p16"/>
          <p:cNvSpPr/>
          <p:nvPr/>
        </p:nvSpPr>
        <p:spPr>
          <a:xfrm>
            <a:off x="6114208" y="925940"/>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2" name="Google Shape;102;p16"/>
          <p:cNvSpPr/>
          <p:nvPr/>
        </p:nvSpPr>
        <p:spPr>
          <a:xfrm>
            <a:off x="6114208" y="1130997"/>
            <a:ext cx="125400" cy="125400"/>
          </a:xfrm>
          <a:prstGeom prst="ellipse">
            <a:avLst/>
          </a:prstGeom>
          <a:solidFill>
            <a:srgbClr val="FFFF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3" name="Google Shape;103;p16"/>
          <p:cNvSpPr/>
          <p:nvPr/>
        </p:nvSpPr>
        <p:spPr>
          <a:xfrm>
            <a:off x="6114208" y="1336054"/>
            <a:ext cx="125400" cy="125400"/>
          </a:xfrm>
          <a:prstGeom prst="ellipse">
            <a:avLst/>
          </a:prstGeom>
          <a:solidFill>
            <a:srgbClr val="6AA84F"/>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4" name="Google Shape;104;p16"/>
          <p:cNvSpPr txBox="1"/>
          <p:nvPr/>
        </p:nvSpPr>
        <p:spPr>
          <a:xfrm>
            <a:off x="6294334" y="679168"/>
            <a:ext cx="1003200" cy="1878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1100" b="1">
                <a:solidFill>
                  <a:srgbClr val="000000"/>
                </a:solidFill>
                <a:latin typeface="Calibri"/>
                <a:ea typeface="Calibri"/>
                <a:cs typeface="Calibri"/>
                <a:sym typeface="Calibri"/>
              </a:rPr>
              <a:t>Google Gemini</a:t>
            </a:r>
            <a:endParaRPr sz="1100" b="1" i="0" u="none" strike="noStrike" cap="none">
              <a:solidFill>
                <a:srgbClr val="000000"/>
              </a:solidFill>
              <a:latin typeface="Calibri"/>
              <a:ea typeface="Calibri"/>
              <a:cs typeface="Calibri"/>
              <a:sym typeface="Calibri"/>
            </a:endParaRPr>
          </a:p>
        </p:txBody>
      </p:sp>
      <p:sp>
        <p:nvSpPr>
          <p:cNvPr id="105" name="Google Shape;105;p16"/>
          <p:cNvSpPr txBox="1"/>
          <p:nvPr/>
        </p:nvSpPr>
        <p:spPr>
          <a:xfrm>
            <a:off x="6290884" y="884225"/>
            <a:ext cx="1003200" cy="1878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1100" b="1">
                <a:solidFill>
                  <a:srgbClr val="000000"/>
                </a:solidFill>
                <a:latin typeface="Calibri"/>
                <a:ea typeface="Calibri"/>
                <a:cs typeface="Calibri"/>
                <a:sym typeface="Calibri"/>
              </a:rPr>
              <a:t>Claude</a:t>
            </a:r>
            <a:endParaRPr sz="1100" b="1" i="0" u="none" strike="noStrike" cap="none">
              <a:solidFill>
                <a:srgbClr val="000000"/>
              </a:solidFill>
              <a:latin typeface="Calibri"/>
              <a:ea typeface="Calibri"/>
              <a:cs typeface="Calibri"/>
              <a:sym typeface="Calibri"/>
            </a:endParaRPr>
          </a:p>
        </p:txBody>
      </p:sp>
      <p:sp>
        <p:nvSpPr>
          <p:cNvPr id="106" name="Google Shape;106;p16"/>
          <p:cNvSpPr txBox="1"/>
          <p:nvPr/>
        </p:nvSpPr>
        <p:spPr>
          <a:xfrm>
            <a:off x="6297459" y="1089282"/>
            <a:ext cx="1003200" cy="1878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1100" b="1">
                <a:solidFill>
                  <a:srgbClr val="000000"/>
                </a:solidFill>
                <a:latin typeface="Calibri"/>
                <a:ea typeface="Calibri"/>
                <a:cs typeface="Calibri"/>
                <a:sym typeface="Calibri"/>
              </a:rPr>
              <a:t>OpenAI</a:t>
            </a:r>
            <a:endParaRPr sz="1100" b="1" i="0" u="none" strike="noStrike" cap="none">
              <a:solidFill>
                <a:srgbClr val="000000"/>
              </a:solidFill>
              <a:latin typeface="Calibri"/>
              <a:ea typeface="Calibri"/>
              <a:cs typeface="Calibri"/>
              <a:sym typeface="Calibri"/>
            </a:endParaRPr>
          </a:p>
        </p:txBody>
      </p:sp>
      <p:sp>
        <p:nvSpPr>
          <p:cNvPr id="107" name="Google Shape;107;p16"/>
          <p:cNvSpPr txBox="1"/>
          <p:nvPr/>
        </p:nvSpPr>
        <p:spPr>
          <a:xfrm>
            <a:off x="6298784" y="1294339"/>
            <a:ext cx="1003200" cy="1878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1100" b="1">
                <a:solidFill>
                  <a:srgbClr val="000000"/>
                </a:solidFill>
                <a:latin typeface="Calibri"/>
                <a:ea typeface="Calibri"/>
                <a:cs typeface="Calibri"/>
                <a:sym typeface="Calibri"/>
              </a:rPr>
              <a:t>Open Source</a:t>
            </a:r>
            <a:endParaRPr sz="1100" b="1" i="0" u="none" strike="noStrike" cap="none">
              <a:solidFill>
                <a:srgbClr val="000000"/>
              </a:solidFill>
              <a:latin typeface="Calibri"/>
              <a:ea typeface="Calibri"/>
              <a:cs typeface="Calibri"/>
              <a:sym typeface="Calibri"/>
            </a:endParaRPr>
          </a:p>
        </p:txBody>
      </p:sp>
      <p:sp>
        <p:nvSpPr>
          <p:cNvPr id="108" name="Google Shape;108;p16"/>
          <p:cNvSpPr/>
          <p:nvPr/>
        </p:nvSpPr>
        <p:spPr>
          <a:xfrm>
            <a:off x="380840" y="1139195"/>
            <a:ext cx="125400" cy="125400"/>
          </a:xfrm>
          <a:prstGeom prst="ellipse">
            <a:avLst/>
          </a:prstGeom>
          <a:solidFill>
            <a:srgbClr val="FF00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9" name="Google Shape;109;p16"/>
          <p:cNvSpPr/>
          <p:nvPr/>
        </p:nvSpPr>
        <p:spPr>
          <a:xfrm>
            <a:off x="388442" y="2930984"/>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0" name="Google Shape;110;p16"/>
          <p:cNvSpPr/>
          <p:nvPr/>
        </p:nvSpPr>
        <p:spPr>
          <a:xfrm>
            <a:off x="386592" y="3124913"/>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1" name="Google Shape;111;p16"/>
          <p:cNvSpPr/>
          <p:nvPr/>
        </p:nvSpPr>
        <p:spPr>
          <a:xfrm>
            <a:off x="384820" y="3488988"/>
            <a:ext cx="125400" cy="125400"/>
          </a:xfrm>
          <a:prstGeom prst="ellipse">
            <a:avLst/>
          </a:prstGeom>
          <a:solidFill>
            <a:srgbClr val="FFFF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2" name="Google Shape;112;p16"/>
          <p:cNvSpPr/>
          <p:nvPr/>
        </p:nvSpPr>
        <p:spPr>
          <a:xfrm>
            <a:off x="384820" y="3847128"/>
            <a:ext cx="125400" cy="125400"/>
          </a:xfrm>
          <a:prstGeom prst="ellipse">
            <a:avLst/>
          </a:prstGeom>
          <a:solidFill>
            <a:srgbClr val="FFFF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3" name="Google Shape;113;p16"/>
          <p:cNvSpPr/>
          <p:nvPr/>
        </p:nvSpPr>
        <p:spPr>
          <a:xfrm>
            <a:off x="3342774" y="2401237"/>
            <a:ext cx="125400" cy="125400"/>
          </a:xfrm>
          <a:prstGeom prst="ellipse">
            <a:avLst/>
          </a:prstGeom>
          <a:solidFill>
            <a:srgbClr val="FF00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4" name="Google Shape;114;p16"/>
          <p:cNvSpPr/>
          <p:nvPr/>
        </p:nvSpPr>
        <p:spPr>
          <a:xfrm>
            <a:off x="3337376" y="2934232"/>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5" name="Google Shape;115;p16"/>
          <p:cNvSpPr txBox="1"/>
          <p:nvPr/>
        </p:nvSpPr>
        <p:spPr>
          <a:xfrm>
            <a:off x="3189086" y="4020673"/>
            <a:ext cx="288900" cy="141600"/>
          </a:xfrm>
          <a:prstGeom prst="rect">
            <a:avLst/>
          </a:prstGeom>
          <a:no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highlight>
                  <a:srgbClr val="FFFFFF"/>
                </a:highlight>
                <a:latin typeface="Calibri"/>
                <a:ea typeface="Calibri"/>
                <a:cs typeface="Calibri"/>
                <a:sym typeface="Calibri"/>
              </a:rPr>
              <a:t>China</a:t>
            </a:r>
            <a:endParaRPr sz="800" b="0" i="0" u="none" strike="noStrike" cap="none">
              <a:solidFill>
                <a:srgbClr val="1F2937"/>
              </a:solidFill>
              <a:highlight>
                <a:srgbClr val="FFFFFF"/>
              </a:highlight>
              <a:latin typeface="Calibri"/>
              <a:ea typeface="Calibri"/>
              <a:cs typeface="Calibri"/>
              <a:sym typeface="Calibri"/>
            </a:endParaRPr>
          </a:p>
        </p:txBody>
      </p:sp>
      <p:sp>
        <p:nvSpPr>
          <p:cNvPr id="116" name="Google Shape;116;p16"/>
          <p:cNvSpPr txBox="1"/>
          <p:nvPr/>
        </p:nvSpPr>
        <p:spPr>
          <a:xfrm>
            <a:off x="231819" y="2029257"/>
            <a:ext cx="287100" cy="141600"/>
          </a:xfrm>
          <a:prstGeom prst="rect">
            <a:avLst/>
          </a:prstGeom>
          <a:no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highlight>
                  <a:srgbClr val="FFFFFF"/>
                </a:highlight>
                <a:latin typeface="Calibri"/>
                <a:ea typeface="Calibri"/>
                <a:cs typeface="Calibri"/>
                <a:sym typeface="Calibri"/>
              </a:rPr>
              <a:t>China</a:t>
            </a:r>
            <a:endParaRPr sz="800" b="0" i="0" u="none" strike="noStrike" cap="none">
              <a:solidFill>
                <a:srgbClr val="1F2937"/>
              </a:solidFill>
              <a:highlight>
                <a:srgbClr val="FFFFFF"/>
              </a:highlight>
              <a:latin typeface="Calibri"/>
              <a:ea typeface="Calibri"/>
              <a:cs typeface="Calibri"/>
              <a:sym typeface="Calibri"/>
            </a:endParaRPr>
          </a:p>
        </p:txBody>
      </p:sp>
      <p:sp>
        <p:nvSpPr>
          <p:cNvPr id="117" name="Google Shape;117;p16"/>
          <p:cNvSpPr/>
          <p:nvPr/>
        </p:nvSpPr>
        <p:spPr>
          <a:xfrm>
            <a:off x="384820" y="3661118"/>
            <a:ext cx="125400" cy="125400"/>
          </a:xfrm>
          <a:prstGeom prst="ellipse">
            <a:avLst/>
          </a:prstGeom>
          <a:solidFill>
            <a:srgbClr val="FFFF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8" name="Google Shape;118;p16"/>
          <p:cNvSpPr/>
          <p:nvPr/>
        </p:nvSpPr>
        <p:spPr>
          <a:xfrm>
            <a:off x="384820" y="4205268"/>
            <a:ext cx="125400" cy="125400"/>
          </a:xfrm>
          <a:prstGeom prst="ellipse">
            <a:avLst/>
          </a:prstGeom>
          <a:solidFill>
            <a:srgbClr val="FFFF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9" name="Google Shape;119;p16"/>
          <p:cNvSpPr/>
          <p:nvPr/>
        </p:nvSpPr>
        <p:spPr>
          <a:xfrm>
            <a:off x="3338579" y="2040960"/>
            <a:ext cx="125400" cy="125400"/>
          </a:xfrm>
          <a:prstGeom prst="ellipse">
            <a:avLst/>
          </a:prstGeom>
          <a:solidFill>
            <a:srgbClr val="FFFF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0" name="Google Shape;120;p16"/>
          <p:cNvSpPr/>
          <p:nvPr/>
        </p:nvSpPr>
        <p:spPr>
          <a:xfrm>
            <a:off x="388460" y="2401085"/>
            <a:ext cx="125400" cy="125400"/>
          </a:xfrm>
          <a:prstGeom prst="ellipse">
            <a:avLst/>
          </a:prstGeom>
          <a:solidFill>
            <a:srgbClr val="FF00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1" name="Google Shape;121;p16"/>
          <p:cNvSpPr/>
          <p:nvPr/>
        </p:nvSpPr>
        <p:spPr>
          <a:xfrm>
            <a:off x="386592" y="3306966"/>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2" name="Google Shape;122;p16"/>
          <p:cNvSpPr txBox="1"/>
          <p:nvPr/>
        </p:nvSpPr>
        <p:spPr>
          <a:xfrm>
            <a:off x="87039" y="4015668"/>
            <a:ext cx="287100" cy="141600"/>
          </a:xfrm>
          <a:prstGeom prst="rect">
            <a:avLst/>
          </a:prstGeom>
          <a:no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highlight>
                  <a:srgbClr val="FFFFFF"/>
                </a:highlight>
                <a:latin typeface="Calibri"/>
                <a:ea typeface="Calibri"/>
                <a:cs typeface="Calibri"/>
                <a:sym typeface="Calibri"/>
              </a:rPr>
              <a:t>China</a:t>
            </a:r>
            <a:endParaRPr sz="800" b="0" i="0" u="none" strike="noStrike" cap="none">
              <a:solidFill>
                <a:srgbClr val="1F2937"/>
              </a:solidFill>
              <a:highlight>
                <a:srgbClr val="FFFFFF"/>
              </a:highlight>
              <a:latin typeface="Calibri"/>
              <a:ea typeface="Calibri"/>
              <a:cs typeface="Calibri"/>
              <a:sym typeface="Calibri"/>
            </a:endParaRPr>
          </a:p>
        </p:txBody>
      </p:sp>
      <p:sp>
        <p:nvSpPr>
          <p:cNvPr id="123" name="Google Shape;123;p16"/>
          <p:cNvSpPr/>
          <p:nvPr/>
        </p:nvSpPr>
        <p:spPr>
          <a:xfrm>
            <a:off x="386305" y="4022915"/>
            <a:ext cx="125400" cy="125400"/>
          </a:xfrm>
          <a:prstGeom prst="ellipse">
            <a:avLst/>
          </a:prstGeom>
          <a:solidFill>
            <a:srgbClr val="6AA84F"/>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4" name="Google Shape;124;p16"/>
          <p:cNvSpPr/>
          <p:nvPr/>
        </p:nvSpPr>
        <p:spPr>
          <a:xfrm>
            <a:off x="384820" y="4388148"/>
            <a:ext cx="125400" cy="125400"/>
          </a:xfrm>
          <a:prstGeom prst="ellipse">
            <a:avLst/>
          </a:prstGeom>
          <a:solidFill>
            <a:srgbClr val="FFFF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5" name="Google Shape;125;p16"/>
          <p:cNvSpPr/>
          <p:nvPr/>
        </p:nvSpPr>
        <p:spPr>
          <a:xfrm>
            <a:off x="384820" y="4929168"/>
            <a:ext cx="125400" cy="125400"/>
          </a:xfrm>
          <a:prstGeom prst="ellipse">
            <a:avLst/>
          </a:prstGeom>
          <a:solidFill>
            <a:srgbClr val="FFFF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6" name="Google Shape;126;p16"/>
          <p:cNvSpPr/>
          <p:nvPr/>
        </p:nvSpPr>
        <p:spPr>
          <a:xfrm>
            <a:off x="3335154" y="2576497"/>
            <a:ext cx="125400" cy="125400"/>
          </a:xfrm>
          <a:prstGeom prst="ellipse">
            <a:avLst/>
          </a:prstGeom>
          <a:solidFill>
            <a:srgbClr val="FF00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7" name="Google Shape;127;p16"/>
          <p:cNvSpPr txBox="1"/>
          <p:nvPr/>
        </p:nvSpPr>
        <p:spPr>
          <a:xfrm>
            <a:off x="3053206" y="3665955"/>
            <a:ext cx="287100" cy="141600"/>
          </a:xfrm>
          <a:prstGeom prst="rect">
            <a:avLst/>
          </a:prstGeom>
          <a:no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highlight>
                  <a:srgbClr val="FFFFFF"/>
                </a:highlight>
                <a:latin typeface="Calibri"/>
                <a:ea typeface="Calibri"/>
                <a:cs typeface="Calibri"/>
                <a:sym typeface="Calibri"/>
              </a:rPr>
              <a:t>China</a:t>
            </a:r>
            <a:endParaRPr sz="800" b="0" i="0" u="none" strike="noStrike" cap="none">
              <a:solidFill>
                <a:srgbClr val="1F2937"/>
              </a:solidFill>
              <a:highlight>
                <a:srgbClr val="FFFFFF"/>
              </a:highlight>
              <a:latin typeface="Calibri"/>
              <a:ea typeface="Calibri"/>
              <a:cs typeface="Calibri"/>
              <a:sym typeface="Calibri"/>
            </a:endParaRPr>
          </a:p>
        </p:txBody>
      </p:sp>
      <p:sp>
        <p:nvSpPr>
          <p:cNvPr id="128" name="Google Shape;128;p16"/>
          <p:cNvSpPr/>
          <p:nvPr/>
        </p:nvSpPr>
        <p:spPr>
          <a:xfrm>
            <a:off x="3344075" y="3674349"/>
            <a:ext cx="125400" cy="125400"/>
          </a:xfrm>
          <a:prstGeom prst="ellipse">
            <a:avLst/>
          </a:prstGeom>
          <a:solidFill>
            <a:srgbClr val="6AA84F"/>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9" name="Google Shape;129;p16"/>
          <p:cNvSpPr/>
          <p:nvPr/>
        </p:nvSpPr>
        <p:spPr>
          <a:xfrm>
            <a:off x="3338579" y="3308420"/>
            <a:ext cx="125400" cy="125400"/>
          </a:xfrm>
          <a:prstGeom prst="ellipse">
            <a:avLst/>
          </a:prstGeom>
          <a:solidFill>
            <a:srgbClr val="FFFF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0" name="Google Shape;130;p16"/>
          <p:cNvSpPr txBox="1"/>
          <p:nvPr/>
        </p:nvSpPr>
        <p:spPr>
          <a:xfrm>
            <a:off x="3053206" y="4754099"/>
            <a:ext cx="287100" cy="141600"/>
          </a:xfrm>
          <a:prstGeom prst="rect">
            <a:avLst/>
          </a:prstGeom>
          <a:no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highlight>
                  <a:srgbClr val="FFFFFF"/>
                </a:highlight>
                <a:latin typeface="Calibri"/>
                <a:ea typeface="Calibri"/>
                <a:cs typeface="Calibri"/>
                <a:sym typeface="Calibri"/>
              </a:rPr>
              <a:t>China</a:t>
            </a:r>
            <a:endParaRPr sz="800" b="0" i="0" u="none" strike="noStrike" cap="none">
              <a:solidFill>
                <a:srgbClr val="1F2937"/>
              </a:solidFill>
              <a:highlight>
                <a:srgbClr val="FFFFFF"/>
              </a:highlight>
              <a:latin typeface="Calibri"/>
              <a:ea typeface="Calibri"/>
              <a:cs typeface="Calibri"/>
              <a:sym typeface="Calibri"/>
            </a:endParaRPr>
          </a:p>
        </p:txBody>
      </p:sp>
      <p:sp>
        <p:nvSpPr>
          <p:cNvPr id="131" name="Google Shape;131;p16"/>
          <p:cNvSpPr/>
          <p:nvPr/>
        </p:nvSpPr>
        <p:spPr>
          <a:xfrm>
            <a:off x="3344075" y="4762493"/>
            <a:ext cx="125400" cy="125400"/>
          </a:xfrm>
          <a:prstGeom prst="ellipse">
            <a:avLst/>
          </a:prstGeom>
          <a:solidFill>
            <a:srgbClr val="6AA84F"/>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2" name="Google Shape;132;p16"/>
          <p:cNvSpPr/>
          <p:nvPr/>
        </p:nvSpPr>
        <p:spPr>
          <a:xfrm>
            <a:off x="3338579" y="4215200"/>
            <a:ext cx="125400" cy="125400"/>
          </a:xfrm>
          <a:prstGeom prst="ellipse">
            <a:avLst/>
          </a:prstGeom>
          <a:solidFill>
            <a:srgbClr val="FFFF00"/>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3" name="Google Shape;133;p16"/>
          <p:cNvSpPr txBox="1"/>
          <p:nvPr/>
        </p:nvSpPr>
        <p:spPr>
          <a:xfrm>
            <a:off x="7349895" y="543655"/>
            <a:ext cx="1745700" cy="1095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0650" algn="l" rtl="0">
              <a:lnSpc>
                <a:spcPct val="100000"/>
              </a:lnSpc>
              <a:spcBef>
                <a:spcPts val="0"/>
              </a:spcBef>
              <a:spcAft>
                <a:spcPts val="0"/>
              </a:spcAft>
              <a:buClr>
                <a:srgbClr val="000000"/>
              </a:buClr>
              <a:buSzPts val="1000"/>
              <a:buFont typeface="Calibri"/>
              <a:buChar char="●"/>
            </a:pPr>
            <a:r>
              <a:rPr lang="en" sz="1000">
                <a:latin typeface="Calibri"/>
                <a:ea typeface="Calibri"/>
                <a:cs typeface="Calibri"/>
                <a:sym typeface="Calibri"/>
              </a:rPr>
              <a:t>deepseek-v3.2  -  671B</a:t>
            </a:r>
            <a:endParaRPr sz="1000">
              <a:latin typeface="Calibri"/>
              <a:ea typeface="Calibri"/>
              <a:cs typeface="Calibri"/>
              <a:sym typeface="Calibri"/>
            </a:endParaRPr>
          </a:p>
          <a:p>
            <a:pPr marL="171450" marR="0" lvl="0" indent="-120650" algn="l" rtl="0">
              <a:lnSpc>
                <a:spcPct val="100000"/>
              </a:lnSpc>
              <a:spcBef>
                <a:spcPts val="0"/>
              </a:spcBef>
              <a:spcAft>
                <a:spcPts val="0"/>
              </a:spcAft>
              <a:buClr>
                <a:srgbClr val="000000"/>
              </a:buClr>
              <a:buSzPts val="1000"/>
              <a:buFont typeface="Calibri"/>
              <a:buChar char="●"/>
            </a:pPr>
            <a:r>
              <a:rPr lang="en" sz="1000">
                <a:latin typeface="Calibri"/>
                <a:ea typeface="Calibri"/>
                <a:cs typeface="Calibri"/>
                <a:sym typeface="Calibri"/>
              </a:rPr>
              <a:t>ernie-5.0 - 2.4T</a:t>
            </a:r>
            <a:endParaRPr sz="1000">
              <a:latin typeface="Calibri"/>
              <a:ea typeface="Calibri"/>
              <a:cs typeface="Calibri"/>
              <a:sym typeface="Calibri"/>
            </a:endParaRPr>
          </a:p>
          <a:p>
            <a:pPr marL="171450" marR="0" lvl="0" indent="-120650" algn="l" rtl="0">
              <a:lnSpc>
                <a:spcPct val="100000"/>
              </a:lnSpc>
              <a:spcBef>
                <a:spcPts val="0"/>
              </a:spcBef>
              <a:spcAft>
                <a:spcPts val="0"/>
              </a:spcAft>
              <a:buClr>
                <a:srgbClr val="000000"/>
              </a:buClr>
              <a:buSzPts val="1000"/>
              <a:buFont typeface="Calibri"/>
              <a:buChar char="●"/>
            </a:pPr>
            <a:r>
              <a:rPr lang="en" sz="1000">
                <a:latin typeface="Calibri"/>
                <a:ea typeface="Calibri"/>
                <a:cs typeface="Calibri"/>
                <a:sym typeface="Calibri"/>
              </a:rPr>
              <a:t>glm-4.6 - 355B</a:t>
            </a:r>
            <a:endParaRPr sz="1000">
              <a:latin typeface="Calibri"/>
              <a:ea typeface="Calibri"/>
              <a:cs typeface="Calibri"/>
              <a:sym typeface="Calibri"/>
            </a:endParaRPr>
          </a:p>
          <a:p>
            <a:pPr marL="171450" marR="0" lvl="0" indent="-120650" algn="l" rtl="0">
              <a:lnSpc>
                <a:spcPct val="100000"/>
              </a:lnSpc>
              <a:spcBef>
                <a:spcPts val="0"/>
              </a:spcBef>
              <a:spcAft>
                <a:spcPts val="0"/>
              </a:spcAft>
              <a:buClr>
                <a:srgbClr val="000000"/>
              </a:buClr>
              <a:buSzPts val="1000"/>
              <a:buFont typeface="Calibri"/>
              <a:buChar char="●"/>
            </a:pPr>
            <a:r>
              <a:rPr lang="en" sz="1000">
                <a:latin typeface="Calibri"/>
                <a:ea typeface="Calibri"/>
                <a:cs typeface="Calibri"/>
                <a:sym typeface="Calibri"/>
              </a:rPr>
              <a:t>kimi-k2-thinking - 1T</a:t>
            </a:r>
            <a:endParaRPr sz="1000">
              <a:latin typeface="Calibri"/>
              <a:ea typeface="Calibri"/>
              <a:cs typeface="Calibri"/>
              <a:sym typeface="Calibri"/>
            </a:endParaRPr>
          </a:p>
          <a:p>
            <a:pPr marL="171450" marR="0" lvl="0" indent="-120650" algn="l" rtl="0">
              <a:lnSpc>
                <a:spcPct val="100000"/>
              </a:lnSpc>
              <a:spcBef>
                <a:spcPts val="0"/>
              </a:spcBef>
              <a:spcAft>
                <a:spcPts val="0"/>
              </a:spcAft>
              <a:buClr>
                <a:srgbClr val="000000"/>
              </a:buClr>
              <a:buSzPts val="1000"/>
              <a:buFont typeface="Calibri"/>
              <a:buChar char="●"/>
            </a:pPr>
            <a:r>
              <a:rPr lang="en" sz="1000">
                <a:latin typeface="Calibri"/>
                <a:ea typeface="Calibri"/>
                <a:cs typeface="Calibri"/>
                <a:sym typeface="Calibri"/>
              </a:rPr>
              <a:t>longcat-flash-chat - 560B</a:t>
            </a:r>
            <a:endParaRPr sz="1000">
              <a:latin typeface="Calibri"/>
              <a:ea typeface="Calibri"/>
              <a:cs typeface="Calibri"/>
              <a:sym typeface="Calibri"/>
            </a:endParaRPr>
          </a:p>
          <a:p>
            <a:pPr marL="171450" marR="0" lvl="0" indent="-120650" algn="l" rtl="0">
              <a:lnSpc>
                <a:spcPct val="100000"/>
              </a:lnSpc>
              <a:spcBef>
                <a:spcPts val="0"/>
              </a:spcBef>
              <a:spcAft>
                <a:spcPts val="0"/>
              </a:spcAft>
              <a:buClr>
                <a:srgbClr val="000000"/>
              </a:buClr>
              <a:buSzPts val="1000"/>
              <a:buFont typeface="Calibri"/>
              <a:buChar char="●"/>
            </a:pPr>
            <a:r>
              <a:rPr lang="en" sz="1000">
                <a:latin typeface="Calibri"/>
                <a:ea typeface="Calibri"/>
                <a:cs typeface="Calibri"/>
                <a:sym typeface="Calibri"/>
              </a:rPr>
              <a:t>qwen3-max - 1T</a:t>
            </a:r>
            <a:endParaRPr sz="1000">
              <a:latin typeface="Calibri"/>
              <a:ea typeface="Calibri"/>
              <a:cs typeface="Calibri"/>
              <a:sym typeface="Calibri"/>
            </a:endParaRPr>
          </a:p>
          <a:p>
            <a:pPr marL="171450" marR="0" lvl="0" indent="-120650" algn="l" rtl="0">
              <a:lnSpc>
                <a:spcPct val="100000"/>
              </a:lnSpc>
              <a:spcBef>
                <a:spcPts val="0"/>
              </a:spcBef>
              <a:spcAft>
                <a:spcPts val="0"/>
              </a:spcAft>
              <a:buSzPts val="1000"/>
              <a:buFont typeface="Calibri"/>
              <a:buChar char="●"/>
            </a:pPr>
            <a:r>
              <a:rPr lang="en" sz="1000">
                <a:latin typeface="Calibri"/>
                <a:ea typeface="Calibri"/>
                <a:cs typeface="Calibri"/>
                <a:sym typeface="Calibri"/>
              </a:rPr>
              <a:t>qwen3-235b-a22b - 235B</a:t>
            </a:r>
            <a:endParaRPr sz="1000">
              <a:latin typeface="Calibri"/>
              <a:ea typeface="Calibri"/>
              <a:cs typeface="Calibri"/>
              <a:sym typeface="Calibri"/>
            </a:endParaRPr>
          </a:p>
        </p:txBody>
      </p:sp>
      <p:sp>
        <p:nvSpPr>
          <p:cNvPr id="134" name="Google Shape;134;p16"/>
          <p:cNvSpPr txBox="1"/>
          <p:nvPr/>
        </p:nvSpPr>
        <p:spPr>
          <a:xfrm>
            <a:off x="231819" y="4739568"/>
            <a:ext cx="287100" cy="141600"/>
          </a:xfrm>
          <a:prstGeom prst="rect">
            <a:avLst/>
          </a:prstGeom>
          <a:no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highlight>
                  <a:srgbClr val="FFFFFF"/>
                </a:highlight>
                <a:latin typeface="Calibri"/>
                <a:ea typeface="Calibri"/>
                <a:cs typeface="Calibri"/>
                <a:sym typeface="Calibri"/>
              </a:rPr>
              <a:t>China</a:t>
            </a:r>
            <a:endParaRPr sz="800" b="0" i="0" u="none" strike="noStrike" cap="none">
              <a:solidFill>
                <a:srgbClr val="1F2937"/>
              </a:solidFill>
              <a:highlight>
                <a:srgbClr val="FFFFFF"/>
              </a:highlight>
              <a:latin typeface="Calibri"/>
              <a:ea typeface="Calibri"/>
              <a:cs typeface="Calibri"/>
              <a:sym typeface="Calibri"/>
            </a:endParaRPr>
          </a:p>
        </p:txBody>
      </p:sp>
      <p:sp>
        <p:nvSpPr>
          <p:cNvPr id="135" name="Google Shape;135;p16"/>
          <p:cNvSpPr txBox="1"/>
          <p:nvPr/>
        </p:nvSpPr>
        <p:spPr>
          <a:xfrm>
            <a:off x="3190366" y="4563599"/>
            <a:ext cx="287100" cy="141600"/>
          </a:xfrm>
          <a:prstGeom prst="rect">
            <a:avLst/>
          </a:prstGeom>
          <a:no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highlight>
                  <a:srgbClr val="FFFFFF"/>
                </a:highlight>
                <a:latin typeface="Calibri"/>
                <a:ea typeface="Calibri"/>
                <a:cs typeface="Calibri"/>
                <a:sym typeface="Calibri"/>
              </a:rPr>
              <a:t>China</a:t>
            </a:r>
            <a:endParaRPr sz="800" b="0" i="0" u="none" strike="noStrike" cap="none">
              <a:solidFill>
                <a:srgbClr val="1F2937"/>
              </a:solidFill>
              <a:highlight>
                <a:srgbClr val="FFFFFF"/>
              </a:highlight>
              <a:latin typeface="Calibri"/>
              <a:ea typeface="Calibri"/>
              <a:cs typeface="Calibri"/>
              <a:sym typeface="Calibri"/>
            </a:endParaRPr>
          </a:p>
        </p:txBody>
      </p:sp>
      <p:graphicFrame>
        <p:nvGraphicFramePr>
          <p:cNvPr id="136" name="Google Shape;136;p16"/>
          <p:cNvGraphicFramePr/>
          <p:nvPr>
            <p:extLst>
              <p:ext uri="{D42A27DB-BD31-4B8C-83A1-F6EECF244321}">
                <p14:modId xmlns:p14="http://schemas.microsoft.com/office/powerpoint/2010/main" val="3227584065"/>
              </p:ext>
            </p:extLst>
          </p:nvPr>
        </p:nvGraphicFramePr>
        <p:xfrm>
          <a:off x="523850" y="557515"/>
          <a:ext cx="2322176" cy="4474225"/>
        </p:xfrm>
        <a:graphic>
          <a:graphicData uri="http://schemas.openxmlformats.org/drawingml/2006/table">
            <a:tbl>
              <a:tblPr>
                <a:noFill/>
                <a:tableStyleId>{FB88E40D-CCCD-4B91-B8B3-F343E36FBC78}</a:tableStyleId>
              </a:tblPr>
              <a:tblGrid>
                <a:gridCol w="1994960">
                  <a:extLst>
                    <a:ext uri="{9D8B030D-6E8A-4147-A177-3AD203B41FA5}">
                      <a16:colId xmlns:a16="http://schemas.microsoft.com/office/drawing/2014/main" val="20000"/>
                    </a:ext>
                  </a:extLst>
                </a:gridCol>
                <a:gridCol w="327216">
                  <a:extLst>
                    <a:ext uri="{9D8B030D-6E8A-4147-A177-3AD203B41FA5}">
                      <a16:colId xmlns:a16="http://schemas.microsoft.com/office/drawing/2014/main" val="20001"/>
                    </a:ext>
                  </a:extLst>
                </a:gridCol>
              </a:tblGrid>
              <a:tr h="178969">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Model</a:t>
                      </a:r>
                      <a:endParaRPr sz="800">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noFill/>
                  </a:tcPr>
                </a:tc>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Score</a:t>
                      </a:r>
                      <a:endParaRPr sz="800">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noFill/>
                  </a:tcPr>
                </a:tc>
                <a:extLst>
                  <a:ext uri="{0D108BD9-81ED-4DB2-BD59-A6C34878D82A}">
                    <a16:rowId xmlns:a16="http://schemas.microsoft.com/office/drawing/2014/main" val="10000"/>
                  </a:ext>
                </a:extLst>
              </a:tr>
              <a:tr h="178969">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19">
                            <a:extLst>
                              <a:ext uri="{A12FA001-AC4F-418D-AE19-62706E023703}">
                                <ahyp:hlinkClr xmlns:ahyp="http://schemas.microsoft.com/office/drawing/2018/hyperlinkcolor" val="tx"/>
                              </a:ext>
                            </a:extLst>
                          </a:hlinkClick>
                        </a:rPr>
                        <a:t>gemini-3-pro</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no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1490</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DFDFE"/>
                    </a:solidFill>
                  </a:tcPr>
                </a:tc>
                <a:extLst>
                  <a:ext uri="{0D108BD9-81ED-4DB2-BD59-A6C34878D82A}">
                    <a16:rowId xmlns:a16="http://schemas.microsoft.com/office/drawing/2014/main" val="10001"/>
                  </a:ext>
                </a:extLst>
              </a:tr>
              <a:tr h="178969">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0">
                            <a:extLst>
                              <a:ext uri="{A12FA001-AC4F-418D-AE19-62706E023703}">
                                <ahyp:hlinkClr xmlns:ahyp="http://schemas.microsoft.com/office/drawing/2018/hyperlinkcolor" val="tx"/>
                              </a:ext>
                            </a:extLst>
                          </a:hlinkClick>
                        </a:rPr>
                        <a:t>grok-4.1-thinking</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no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1477</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DFDFE"/>
                    </a:solidFill>
                  </a:tcPr>
                </a:tc>
                <a:extLst>
                  <a:ext uri="{0D108BD9-81ED-4DB2-BD59-A6C34878D82A}">
                    <a16:rowId xmlns:a16="http://schemas.microsoft.com/office/drawing/2014/main" val="10002"/>
                  </a:ext>
                </a:extLst>
              </a:tr>
              <a:tr h="178969">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1">
                            <a:extLst>
                              <a:ext uri="{A12FA001-AC4F-418D-AE19-62706E023703}">
                                <ahyp:hlinkClr xmlns:ahyp="http://schemas.microsoft.com/office/drawing/2018/hyperlinkcolor" val="tx"/>
                              </a:ext>
                            </a:extLst>
                          </a:hlinkClick>
                        </a:rPr>
                        <a:t>gemini-3-flash</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no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1472</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DFDFE"/>
                    </a:solidFill>
                  </a:tcPr>
                </a:tc>
                <a:extLst>
                  <a:ext uri="{0D108BD9-81ED-4DB2-BD59-A6C34878D82A}">
                    <a16:rowId xmlns:a16="http://schemas.microsoft.com/office/drawing/2014/main" val="10003"/>
                  </a:ext>
                </a:extLst>
              </a:tr>
              <a:tr h="178969">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2">
                            <a:extLst>
                              <a:ext uri="{A12FA001-AC4F-418D-AE19-62706E023703}">
                                <ahyp:hlinkClr xmlns:ahyp="http://schemas.microsoft.com/office/drawing/2018/hyperlinkcolor" val="tx"/>
                              </a:ext>
                            </a:extLst>
                          </a:hlinkClick>
                        </a:rPr>
                        <a:t>claude-opus-4-5-20251101-thinking-32k</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no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1470</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DFDFE"/>
                    </a:solidFill>
                  </a:tcPr>
                </a:tc>
                <a:extLst>
                  <a:ext uri="{0D108BD9-81ED-4DB2-BD59-A6C34878D82A}">
                    <a16:rowId xmlns:a16="http://schemas.microsoft.com/office/drawing/2014/main" val="10004"/>
                  </a:ext>
                </a:extLst>
              </a:tr>
              <a:tr h="178969">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2">
                            <a:extLst>
                              <a:ext uri="{A12FA001-AC4F-418D-AE19-62706E023703}">
                                <ahyp:hlinkClr xmlns:ahyp="http://schemas.microsoft.com/office/drawing/2018/hyperlinkcolor" val="tx"/>
                              </a:ext>
                            </a:extLst>
                          </a:hlinkClick>
                        </a:rPr>
                        <a:t>claude-opus-4-5-20251101</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no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1467</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DFDFE"/>
                    </a:solidFill>
                  </a:tcPr>
                </a:tc>
                <a:extLst>
                  <a:ext uri="{0D108BD9-81ED-4DB2-BD59-A6C34878D82A}">
                    <a16:rowId xmlns:a16="http://schemas.microsoft.com/office/drawing/2014/main" val="10005"/>
                  </a:ext>
                </a:extLst>
              </a:tr>
              <a:tr h="178969">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0">
                            <a:extLst>
                              <a:ext uri="{A12FA001-AC4F-418D-AE19-62706E023703}">
                                <ahyp:hlinkClr xmlns:ahyp="http://schemas.microsoft.com/office/drawing/2018/hyperlinkcolor" val="tx"/>
                              </a:ext>
                            </a:extLst>
                          </a:hlinkClick>
                        </a:rPr>
                        <a:t>grok-4.1</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no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1465</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DFDFE"/>
                    </a:solidFill>
                  </a:tcPr>
                </a:tc>
                <a:extLst>
                  <a:ext uri="{0D108BD9-81ED-4DB2-BD59-A6C34878D82A}">
                    <a16:rowId xmlns:a16="http://schemas.microsoft.com/office/drawing/2014/main" val="10006"/>
                  </a:ext>
                </a:extLst>
              </a:tr>
              <a:tr h="178969">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1">
                            <a:extLst>
                              <a:ext uri="{A12FA001-AC4F-418D-AE19-62706E023703}">
                                <ahyp:hlinkClr xmlns:ahyp="http://schemas.microsoft.com/office/drawing/2018/hyperlinkcolor" val="tx"/>
                              </a:ext>
                            </a:extLst>
                          </a:hlinkClick>
                        </a:rPr>
                        <a:t>gemini-3-flash (thinking-minimal)</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no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1462</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DFDFE"/>
                    </a:solidFill>
                  </a:tcPr>
                </a:tc>
                <a:extLst>
                  <a:ext uri="{0D108BD9-81ED-4DB2-BD59-A6C34878D82A}">
                    <a16:rowId xmlns:a16="http://schemas.microsoft.com/office/drawing/2014/main" val="10007"/>
                  </a:ext>
                </a:extLst>
              </a:tr>
              <a:tr h="178969">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3">
                            <a:extLst>
                              <a:ext uri="{A12FA001-AC4F-418D-AE19-62706E023703}">
                                <ahyp:hlinkClr xmlns:ahyp="http://schemas.microsoft.com/office/drawing/2018/hyperlinkcolor" val="tx"/>
                              </a:ext>
                            </a:extLst>
                          </a:hlinkClick>
                        </a:rPr>
                        <a:t>ernie-5.0-0110</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no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1459</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DFDFE"/>
                    </a:solidFill>
                  </a:tcPr>
                </a:tc>
                <a:extLst>
                  <a:ext uri="{0D108BD9-81ED-4DB2-BD59-A6C34878D82A}">
                    <a16:rowId xmlns:a16="http://schemas.microsoft.com/office/drawing/2014/main" val="10008"/>
                  </a:ext>
                </a:extLst>
              </a:tr>
              <a:tr h="178969">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4">
                            <a:extLst>
                              <a:ext uri="{A12FA001-AC4F-418D-AE19-62706E023703}">
                                <ahyp:hlinkClr xmlns:ahyp="http://schemas.microsoft.com/office/drawing/2018/hyperlinkcolor" val="tx"/>
                              </a:ext>
                            </a:extLst>
                          </a:hlinkClick>
                        </a:rPr>
                        <a:t>gpt-5.1-high</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no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1458</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DFDFE"/>
                    </a:solidFill>
                  </a:tcPr>
                </a:tc>
                <a:extLst>
                  <a:ext uri="{0D108BD9-81ED-4DB2-BD59-A6C34878D82A}">
                    <a16:rowId xmlns:a16="http://schemas.microsoft.com/office/drawing/2014/main" val="10009"/>
                  </a:ext>
                </a:extLst>
              </a:tr>
              <a:tr h="178969">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5">
                            <a:extLst>
                              <a:ext uri="{A12FA001-AC4F-418D-AE19-62706E023703}">
                                <ahyp:hlinkClr xmlns:ahyp="http://schemas.microsoft.com/office/drawing/2018/hyperlinkcolor" val="tx"/>
                              </a:ext>
                            </a:extLst>
                          </a:hlinkClick>
                        </a:rPr>
                        <a:t>gemini-2.5-pro</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no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1451</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DFDFE"/>
                    </a:solidFill>
                  </a:tcPr>
                </a:tc>
                <a:extLst>
                  <a:ext uri="{0D108BD9-81ED-4DB2-BD59-A6C34878D82A}">
                    <a16:rowId xmlns:a16="http://schemas.microsoft.com/office/drawing/2014/main" val="10010"/>
                  </a:ext>
                </a:extLst>
              </a:tr>
              <a:tr h="178969">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6">
                            <a:extLst>
                              <a:ext uri="{A12FA001-AC4F-418D-AE19-62706E023703}">
                                <ahyp:hlinkClr xmlns:ahyp="http://schemas.microsoft.com/office/drawing/2018/hyperlinkcolor" val="tx"/>
                              </a:ext>
                            </a:extLst>
                          </a:hlinkClick>
                        </a:rPr>
                        <a:t>claude-sonnet-4-5-20250929-thinking-32k</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no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1451</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DFDFE"/>
                    </a:solidFill>
                  </a:tcPr>
                </a:tc>
                <a:extLst>
                  <a:ext uri="{0D108BD9-81ED-4DB2-BD59-A6C34878D82A}">
                    <a16:rowId xmlns:a16="http://schemas.microsoft.com/office/drawing/2014/main" val="10011"/>
                  </a:ext>
                </a:extLst>
              </a:tr>
              <a:tr h="178969">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7">
                            <a:extLst>
                              <a:ext uri="{A12FA001-AC4F-418D-AE19-62706E023703}">
                                <ahyp:hlinkClr xmlns:ahyp="http://schemas.microsoft.com/office/drawing/2018/hyperlinkcolor" val="tx"/>
                              </a:ext>
                            </a:extLst>
                          </a:hlinkClick>
                        </a:rPr>
                        <a:t>ernie-5.0-preview-1203</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no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1450</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DFDFE"/>
                    </a:solidFill>
                  </a:tcPr>
                </a:tc>
                <a:extLst>
                  <a:ext uri="{0D108BD9-81ED-4DB2-BD59-A6C34878D82A}">
                    <a16:rowId xmlns:a16="http://schemas.microsoft.com/office/drawing/2014/main" val="10012"/>
                  </a:ext>
                </a:extLst>
              </a:tr>
              <a:tr h="178969">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6">
                            <a:extLst>
                              <a:ext uri="{A12FA001-AC4F-418D-AE19-62706E023703}">
                                <ahyp:hlinkClr xmlns:ahyp="http://schemas.microsoft.com/office/drawing/2018/hyperlinkcolor" val="tx"/>
                              </a:ext>
                            </a:extLst>
                          </a:hlinkClick>
                        </a:rPr>
                        <a:t>claude-sonnet-4-5-20250929</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no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1450</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DFDFE"/>
                    </a:solidFill>
                  </a:tcPr>
                </a:tc>
                <a:extLst>
                  <a:ext uri="{0D108BD9-81ED-4DB2-BD59-A6C34878D82A}">
                    <a16:rowId xmlns:a16="http://schemas.microsoft.com/office/drawing/2014/main" val="10013"/>
                  </a:ext>
                </a:extLst>
              </a:tr>
              <a:tr h="178969">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8">
                            <a:extLst>
                              <a:ext uri="{A12FA001-AC4F-418D-AE19-62706E023703}">
                                <ahyp:hlinkClr xmlns:ahyp="http://schemas.microsoft.com/office/drawing/2018/hyperlinkcolor" val="tx"/>
                              </a:ext>
                            </a:extLst>
                          </a:hlinkClick>
                        </a:rPr>
                        <a:t>claude-opus-4-1-20250805-thinking-16k</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no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1449</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DFDFE"/>
                    </a:solidFill>
                  </a:tcPr>
                </a:tc>
                <a:extLst>
                  <a:ext uri="{0D108BD9-81ED-4DB2-BD59-A6C34878D82A}">
                    <a16:rowId xmlns:a16="http://schemas.microsoft.com/office/drawing/2014/main" val="10014"/>
                  </a:ext>
                </a:extLst>
              </a:tr>
              <a:tr h="178969">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8">
                            <a:extLst>
                              <a:ext uri="{A12FA001-AC4F-418D-AE19-62706E023703}">
                                <ahyp:hlinkClr xmlns:ahyp="http://schemas.microsoft.com/office/drawing/2018/hyperlinkcolor" val="tx"/>
                              </a:ext>
                            </a:extLst>
                          </a:hlinkClick>
                        </a:rPr>
                        <a:t>claude-opus-4-1-20250805</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no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1445</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DFDFE"/>
                    </a:solidFill>
                  </a:tcPr>
                </a:tc>
                <a:extLst>
                  <a:ext uri="{0D108BD9-81ED-4DB2-BD59-A6C34878D82A}">
                    <a16:rowId xmlns:a16="http://schemas.microsoft.com/office/drawing/2014/main" val="10015"/>
                  </a:ext>
                </a:extLst>
              </a:tr>
              <a:tr h="178969">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9">
                            <a:extLst>
                              <a:ext uri="{A12FA001-AC4F-418D-AE19-62706E023703}">
                                <ahyp:hlinkClr xmlns:ahyp="http://schemas.microsoft.com/office/drawing/2018/hyperlinkcolor" val="tx"/>
                              </a:ext>
                            </a:extLst>
                          </a:hlinkClick>
                        </a:rPr>
                        <a:t>gpt-5.2</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no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1445</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DFDFE"/>
                    </a:solidFill>
                  </a:tcPr>
                </a:tc>
                <a:extLst>
                  <a:ext uri="{0D108BD9-81ED-4DB2-BD59-A6C34878D82A}">
                    <a16:rowId xmlns:a16="http://schemas.microsoft.com/office/drawing/2014/main" val="10016"/>
                  </a:ext>
                </a:extLst>
              </a:tr>
              <a:tr h="178969">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30">
                            <a:extLst>
                              <a:ext uri="{A12FA001-AC4F-418D-AE19-62706E023703}">
                                <ahyp:hlinkClr xmlns:ahyp="http://schemas.microsoft.com/office/drawing/2018/hyperlinkcolor" val="tx"/>
                              </a:ext>
                            </a:extLst>
                          </a:hlinkClick>
                        </a:rPr>
                        <a:t>gpt-4.5-preview-2025-02-27</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no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1444</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DFDFE"/>
                    </a:solidFill>
                  </a:tcPr>
                </a:tc>
                <a:extLst>
                  <a:ext uri="{0D108BD9-81ED-4DB2-BD59-A6C34878D82A}">
                    <a16:rowId xmlns:a16="http://schemas.microsoft.com/office/drawing/2014/main" val="10017"/>
                  </a:ext>
                </a:extLst>
              </a:tr>
              <a:tr h="178969">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31">
                            <a:extLst>
                              <a:ext uri="{A12FA001-AC4F-418D-AE19-62706E023703}">
                                <ahyp:hlinkClr xmlns:ahyp="http://schemas.microsoft.com/office/drawing/2018/hyperlinkcolor" val="tx"/>
                              </a:ext>
                            </a:extLst>
                          </a:hlinkClick>
                        </a:rPr>
                        <a:t>chatgpt-4o-latest-20250326</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no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1442</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DFDFE"/>
                    </a:solidFill>
                  </a:tcPr>
                </a:tc>
                <a:extLst>
                  <a:ext uri="{0D108BD9-81ED-4DB2-BD59-A6C34878D82A}">
                    <a16:rowId xmlns:a16="http://schemas.microsoft.com/office/drawing/2014/main" val="10018"/>
                  </a:ext>
                </a:extLst>
              </a:tr>
              <a:tr h="178969">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32">
                            <a:extLst>
                              <a:ext uri="{A12FA001-AC4F-418D-AE19-62706E023703}">
                                <ahyp:hlinkClr xmlns:ahyp="http://schemas.microsoft.com/office/drawing/2018/hyperlinkcolor" val="tx"/>
                              </a:ext>
                            </a:extLst>
                          </a:hlinkClick>
                        </a:rPr>
                        <a:t>glm-4.7</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no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1441</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DFDFE"/>
                    </a:solidFill>
                  </a:tcPr>
                </a:tc>
                <a:extLst>
                  <a:ext uri="{0D108BD9-81ED-4DB2-BD59-A6C34878D82A}">
                    <a16:rowId xmlns:a16="http://schemas.microsoft.com/office/drawing/2014/main" val="10019"/>
                  </a:ext>
                </a:extLst>
              </a:tr>
              <a:tr h="178969">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9">
                            <a:extLst>
                              <a:ext uri="{A12FA001-AC4F-418D-AE19-62706E023703}">
                                <ahyp:hlinkClr xmlns:ahyp="http://schemas.microsoft.com/office/drawing/2018/hyperlinkcolor" val="tx"/>
                              </a:ext>
                            </a:extLst>
                          </a:hlinkClick>
                        </a:rPr>
                        <a:t>gpt-5.2-high</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no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1436</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DFDFE"/>
                    </a:solidFill>
                  </a:tcPr>
                </a:tc>
                <a:extLst>
                  <a:ext uri="{0D108BD9-81ED-4DB2-BD59-A6C34878D82A}">
                    <a16:rowId xmlns:a16="http://schemas.microsoft.com/office/drawing/2014/main" val="10020"/>
                  </a:ext>
                </a:extLst>
              </a:tr>
              <a:tr h="178969">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4">
                            <a:extLst>
                              <a:ext uri="{A12FA001-AC4F-418D-AE19-62706E023703}">
                                <ahyp:hlinkClr xmlns:ahyp="http://schemas.microsoft.com/office/drawing/2018/hyperlinkcolor" val="tx"/>
                              </a:ext>
                            </a:extLst>
                          </a:hlinkClick>
                        </a:rPr>
                        <a:t>gpt-5.1</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no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1435</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DFDFE"/>
                    </a:solidFill>
                  </a:tcPr>
                </a:tc>
                <a:extLst>
                  <a:ext uri="{0D108BD9-81ED-4DB2-BD59-A6C34878D82A}">
                    <a16:rowId xmlns:a16="http://schemas.microsoft.com/office/drawing/2014/main" val="10021"/>
                  </a:ext>
                </a:extLst>
              </a:tr>
              <a:tr h="178969">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33">
                            <a:extLst>
                              <a:ext uri="{A12FA001-AC4F-418D-AE19-62706E023703}">
                                <ahyp:hlinkClr xmlns:ahyp="http://schemas.microsoft.com/office/drawing/2018/hyperlinkcolor" val="tx"/>
                              </a:ext>
                            </a:extLst>
                          </a:hlinkClick>
                        </a:rPr>
                        <a:t>gpt-5-high</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no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1435</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DFDFE"/>
                    </a:solidFill>
                  </a:tcPr>
                </a:tc>
                <a:extLst>
                  <a:ext uri="{0D108BD9-81ED-4DB2-BD59-A6C34878D82A}">
                    <a16:rowId xmlns:a16="http://schemas.microsoft.com/office/drawing/2014/main" val="10022"/>
                  </a:ext>
                </a:extLst>
              </a:tr>
              <a:tr h="178969">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34">
                            <a:extLst>
                              <a:ext uri="{A12FA001-AC4F-418D-AE19-62706E023703}">
                                <ahyp:hlinkClr xmlns:ahyp="http://schemas.microsoft.com/office/drawing/2018/hyperlinkcolor" val="tx"/>
                              </a:ext>
                            </a:extLst>
                          </a:hlinkClick>
                        </a:rPr>
                        <a:t>qwen3-max-preview</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no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1434</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DFDFE"/>
                    </a:solidFill>
                  </a:tcPr>
                </a:tc>
                <a:extLst>
                  <a:ext uri="{0D108BD9-81ED-4DB2-BD59-A6C34878D82A}">
                    <a16:rowId xmlns:a16="http://schemas.microsoft.com/office/drawing/2014/main" val="10023"/>
                  </a:ext>
                </a:extLst>
              </a:tr>
              <a:tr h="178969">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35">
                            <a:extLst>
                              <a:ext uri="{A12FA001-AC4F-418D-AE19-62706E023703}">
                                <ahyp:hlinkClr xmlns:ahyp="http://schemas.microsoft.com/office/drawing/2018/hyperlinkcolor" val="tx"/>
                              </a:ext>
                            </a:extLst>
                          </a:hlinkClick>
                        </a:rPr>
                        <a:t>o3-2025-04-16</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noFill/>
                  </a:tcPr>
                </a:tc>
                <a:tc>
                  <a:txBody>
                    <a:bodyPr/>
                    <a:lstStyle/>
                    <a:p>
                      <a:pPr marL="0" lvl="0" indent="0" algn="r" rtl="0">
                        <a:lnSpc>
                          <a:spcPct val="115000"/>
                        </a:lnSpc>
                        <a:spcBef>
                          <a:spcPts val="0"/>
                        </a:spcBef>
                        <a:spcAft>
                          <a:spcPts val="0"/>
                        </a:spcAft>
                        <a:buNone/>
                      </a:pPr>
                      <a:r>
                        <a:rPr lang="en" sz="800" dirty="0">
                          <a:solidFill>
                            <a:srgbClr val="636879"/>
                          </a:solidFill>
                          <a:latin typeface="Calibri"/>
                          <a:ea typeface="Calibri"/>
                          <a:cs typeface="Calibri"/>
                          <a:sym typeface="Calibri"/>
                        </a:rPr>
                        <a:t>1433</a:t>
                      </a:r>
                      <a:endParaRPr sz="800" dirty="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DFDFE"/>
                    </a:solidFill>
                  </a:tcPr>
                </a:tc>
                <a:extLst>
                  <a:ext uri="{0D108BD9-81ED-4DB2-BD59-A6C34878D82A}">
                    <a16:rowId xmlns:a16="http://schemas.microsoft.com/office/drawing/2014/main" val="10024"/>
                  </a:ext>
                </a:extLst>
              </a:tr>
            </a:tbl>
          </a:graphicData>
        </a:graphic>
      </p:graphicFrame>
      <p:graphicFrame>
        <p:nvGraphicFramePr>
          <p:cNvPr id="137" name="Google Shape;137;p16"/>
          <p:cNvGraphicFramePr/>
          <p:nvPr>
            <p:extLst>
              <p:ext uri="{D42A27DB-BD31-4B8C-83A1-F6EECF244321}">
                <p14:modId xmlns:p14="http://schemas.microsoft.com/office/powerpoint/2010/main" val="2956750063"/>
              </p:ext>
            </p:extLst>
          </p:nvPr>
        </p:nvGraphicFramePr>
        <p:xfrm>
          <a:off x="3481520" y="559600"/>
          <a:ext cx="2322176" cy="4494973"/>
        </p:xfrm>
        <a:graphic>
          <a:graphicData uri="http://schemas.openxmlformats.org/drawingml/2006/table">
            <a:tbl>
              <a:tblPr>
                <a:noFill/>
                <a:tableStyleId>{FB88E40D-CCCD-4B91-B8B3-F343E36FBC78}</a:tableStyleId>
              </a:tblPr>
              <a:tblGrid>
                <a:gridCol w="1994960">
                  <a:extLst>
                    <a:ext uri="{9D8B030D-6E8A-4147-A177-3AD203B41FA5}">
                      <a16:colId xmlns:a16="http://schemas.microsoft.com/office/drawing/2014/main" val="20000"/>
                    </a:ext>
                  </a:extLst>
                </a:gridCol>
                <a:gridCol w="327216">
                  <a:extLst>
                    <a:ext uri="{9D8B030D-6E8A-4147-A177-3AD203B41FA5}">
                      <a16:colId xmlns:a16="http://schemas.microsoft.com/office/drawing/2014/main" val="20001"/>
                    </a:ext>
                  </a:extLst>
                </a:gridCol>
              </a:tblGrid>
              <a:tr h="178969">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Model</a:t>
                      </a:r>
                      <a:endParaRPr sz="800">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noFill/>
                  </a:tcPr>
                </a:tc>
                <a:tc>
                  <a:txBody>
                    <a:bodyPr/>
                    <a:lstStyle/>
                    <a:p>
                      <a:pPr marL="0" lvl="0" indent="0" algn="l" rtl="0">
                        <a:lnSpc>
                          <a:spcPct val="115000"/>
                        </a:lnSpc>
                        <a:spcBef>
                          <a:spcPts val="0"/>
                        </a:spcBef>
                        <a:spcAft>
                          <a:spcPts val="0"/>
                        </a:spcAft>
                        <a:buNone/>
                      </a:pPr>
                      <a:r>
                        <a:rPr lang="en" sz="800">
                          <a:latin typeface="Calibri"/>
                          <a:ea typeface="Calibri"/>
                          <a:cs typeface="Calibri"/>
                          <a:sym typeface="Calibri"/>
                        </a:rPr>
                        <a:t>Score</a:t>
                      </a:r>
                      <a:endParaRPr sz="800">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noFill/>
                  </a:tcPr>
                </a:tc>
                <a:extLst>
                  <a:ext uri="{0D108BD9-81ED-4DB2-BD59-A6C34878D82A}">
                    <a16:rowId xmlns:a16="http://schemas.microsoft.com/office/drawing/2014/main" val="10000"/>
                  </a:ext>
                </a:extLst>
              </a:tr>
              <a:tr h="18588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2">
                            <a:extLst>
                              <a:ext uri="{A12FA001-AC4F-418D-AE19-62706E023703}">
                                <ahyp:hlinkClr xmlns:ahyp="http://schemas.microsoft.com/office/drawing/2018/hyperlinkcolor" val="tx"/>
                              </a:ext>
                            </a:extLst>
                          </a:hlinkClick>
                        </a:rPr>
                        <a:t>claude-opus-4-5-20251101-thinking-32k</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no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1537</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DFDFE"/>
                    </a:solidFill>
                  </a:tcPr>
                </a:tc>
                <a:extLst>
                  <a:ext uri="{0D108BD9-81ED-4DB2-BD59-A6C34878D82A}">
                    <a16:rowId xmlns:a16="http://schemas.microsoft.com/office/drawing/2014/main" val="10001"/>
                  </a:ext>
                </a:extLst>
              </a:tr>
              <a:tr h="18588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6">
                            <a:extLst>
                              <a:ext uri="{A12FA001-AC4F-418D-AE19-62706E023703}">
                                <ahyp:hlinkClr xmlns:ahyp="http://schemas.microsoft.com/office/drawing/2018/hyperlinkcolor" val="tx"/>
                              </a:ext>
                            </a:extLst>
                          </a:hlinkClick>
                        </a:rPr>
                        <a:t>claude-sonnet-4-5-20250929-thinking-32k</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no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1523</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DFDFE"/>
                    </a:solidFill>
                  </a:tcPr>
                </a:tc>
                <a:extLst>
                  <a:ext uri="{0D108BD9-81ED-4DB2-BD59-A6C34878D82A}">
                    <a16:rowId xmlns:a16="http://schemas.microsoft.com/office/drawing/2014/main" val="10002"/>
                  </a:ext>
                </a:extLst>
              </a:tr>
              <a:tr h="178969">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2">
                            <a:extLst>
                              <a:ext uri="{A12FA001-AC4F-418D-AE19-62706E023703}">
                                <ahyp:hlinkClr xmlns:ahyp="http://schemas.microsoft.com/office/drawing/2018/hyperlinkcolor" val="tx"/>
                              </a:ext>
                            </a:extLst>
                          </a:hlinkClick>
                        </a:rPr>
                        <a:t>claude-opus-4-5-20251101</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no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1519</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DFDFE"/>
                    </a:solidFill>
                  </a:tcPr>
                </a:tc>
                <a:extLst>
                  <a:ext uri="{0D108BD9-81ED-4DB2-BD59-A6C34878D82A}">
                    <a16:rowId xmlns:a16="http://schemas.microsoft.com/office/drawing/2014/main" val="10003"/>
                  </a:ext>
                </a:extLst>
              </a:tr>
              <a:tr h="178969">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19">
                            <a:extLst>
                              <a:ext uri="{A12FA001-AC4F-418D-AE19-62706E023703}">
                                <ahyp:hlinkClr xmlns:ahyp="http://schemas.microsoft.com/office/drawing/2018/hyperlinkcolor" val="tx"/>
                              </a:ext>
                            </a:extLst>
                          </a:hlinkClick>
                        </a:rPr>
                        <a:t>gemini-3-pro</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no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1517</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DFDFE"/>
                    </a:solidFill>
                  </a:tcPr>
                </a:tc>
                <a:extLst>
                  <a:ext uri="{0D108BD9-81ED-4DB2-BD59-A6C34878D82A}">
                    <a16:rowId xmlns:a16="http://schemas.microsoft.com/office/drawing/2014/main" val="10004"/>
                  </a:ext>
                </a:extLst>
              </a:tr>
              <a:tr h="185885">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8">
                            <a:extLst>
                              <a:ext uri="{A12FA001-AC4F-418D-AE19-62706E023703}">
                                <ahyp:hlinkClr xmlns:ahyp="http://schemas.microsoft.com/office/drawing/2018/hyperlinkcolor" val="tx"/>
                              </a:ext>
                            </a:extLst>
                          </a:hlinkClick>
                        </a:rPr>
                        <a:t>claude-opus-4-1-20250805-thinking-16k</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no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1512</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DFDFE"/>
                    </a:solidFill>
                  </a:tcPr>
                </a:tc>
                <a:extLst>
                  <a:ext uri="{0D108BD9-81ED-4DB2-BD59-A6C34878D82A}">
                    <a16:rowId xmlns:a16="http://schemas.microsoft.com/office/drawing/2014/main" val="10005"/>
                  </a:ext>
                </a:extLst>
              </a:tr>
              <a:tr h="178969">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6">
                            <a:extLst>
                              <a:ext uri="{A12FA001-AC4F-418D-AE19-62706E023703}">
                                <ahyp:hlinkClr xmlns:ahyp="http://schemas.microsoft.com/office/drawing/2018/hyperlinkcolor" val="tx"/>
                              </a:ext>
                            </a:extLst>
                          </a:hlinkClick>
                        </a:rPr>
                        <a:t>claude-sonnet-4-5-20250929</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no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1509</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DFDFE"/>
                    </a:solidFill>
                  </a:tcPr>
                </a:tc>
                <a:extLst>
                  <a:ext uri="{0D108BD9-81ED-4DB2-BD59-A6C34878D82A}">
                    <a16:rowId xmlns:a16="http://schemas.microsoft.com/office/drawing/2014/main" val="10006"/>
                  </a:ext>
                </a:extLst>
              </a:tr>
              <a:tr h="178969">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0">
                            <a:extLst>
                              <a:ext uri="{A12FA001-AC4F-418D-AE19-62706E023703}">
                                <ahyp:hlinkClr xmlns:ahyp="http://schemas.microsoft.com/office/drawing/2018/hyperlinkcolor" val="tx"/>
                              </a:ext>
                            </a:extLst>
                          </a:hlinkClick>
                        </a:rPr>
                        <a:t>grok-4.1-thinking</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no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1509</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DFDFE"/>
                    </a:solidFill>
                  </a:tcPr>
                </a:tc>
                <a:extLst>
                  <a:ext uri="{0D108BD9-81ED-4DB2-BD59-A6C34878D82A}">
                    <a16:rowId xmlns:a16="http://schemas.microsoft.com/office/drawing/2014/main" val="10007"/>
                  </a:ext>
                </a:extLst>
              </a:tr>
              <a:tr h="178969">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9">
                            <a:extLst>
                              <a:ext uri="{A12FA001-AC4F-418D-AE19-62706E023703}">
                                <ahyp:hlinkClr xmlns:ahyp="http://schemas.microsoft.com/office/drawing/2018/hyperlinkcolor" val="tx"/>
                              </a:ext>
                            </a:extLst>
                          </a:hlinkClick>
                        </a:rPr>
                        <a:t>gpt-5.2</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no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1505</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DFDFE"/>
                    </a:solidFill>
                  </a:tcPr>
                </a:tc>
                <a:extLst>
                  <a:ext uri="{0D108BD9-81ED-4DB2-BD59-A6C34878D82A}">
                    <a16:rowId xmlns:a16="http://schemas.microsoft.com/office/drawing/2014/main" val="10008"/>
                  </a:ext>
                </a:extLst>
              </a:tr>
              <a:tr h="178969">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8">
                            <a:extLst>
                              <a:ext uri="{A12FA001-AC4F-418D-AE19-62706E023703}">
                                <ahyp:hlinkClr xmlns:ahyp="http://schemas.microsoft.com/office/drawing/2018/hyperlinkcolor" val="tx"/>
                              </a:ext>
                            </a:extLst>
                          </a:hlinkClick>
                        </a:rPr>
                        <a:t>claude-opus-4-1-20250805</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no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1504</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DFDFE"/>
                    </a:solidFill>
                  </a:tcPr>
                </a:tc>
                <a:extLst>
                  <a:ext uri="{0D108BD9-81ED-4DB2-BD59-A6C34878D82A}">
                    <a16:rowId xmlns:a16="http://schemas.microsoft.com/office/drawing/2014/main" val="10009"/>
                  </a:ext>
                </a:extLst>
              </a:tr>
              <a:tr h="178969">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1">
                            <a:extLst>
                              <a:ext uri="{A12FA001-AC4F-418D-AE19-62706E023703}">
                                <ahyp:hlinkClr xmlns:ahyp="http://schemas.microsoft.com/office/drawing/2018/hyperlinkcolor" val="tx"/>
                              </a:ext>
                            </a:extLst>
                          </a:hlinkClick>
                        </a:rPr>
                        <a:t>gemini-3-flash</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no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1501</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DFDFE"/>
                    </a:solidFill>
                  </a:tcPr>
                </a:tc>
                <a:extLst>
                  <a:ext uri="{0D108BD9-81ED-4DB2-BD59-A6C34878D82A}">
                    <a16:rowId xmlns:a16="http://schemas.microsoft.com/office/drawing/2014/main" val="10010"/>
                  </a:ext>
                </a:extLst>
              </a:tr>
              <a:tr h="178969">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1">
                            <a:extLst>
                              <a:ext uri="{A12FA001-AC4F-418D-AE19-62706E023703}">
                                <ahyp:hlinkClr xmlns:ahyp="http://schemas.microsoft.com/office/drawing/2018/hyperlinkcolor" val="tx"/>
                              </a:ext>
                            </a:extLst>
                          </a:hlinkClick>
                        </a:rPr>
                        <a:t>gemini-3-flash (thinking-minimal)</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no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1501</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DFDFE"/>
                    </a:solidFill>
                  </a:tcPr>
                </a:tc>
                <a:extLst>
                  <a:ext uri="{0D108BD9-81ED-4DB2-BD59-A6C34878D82A}">
                    <a16:rowId xmlns:a16="http://schemas.microsoft.com/office/drawing/2014/main" val="10011"/>
                  </a:ext>
                </a:extLst>
              </a:tr>
              <a:tr h="178969">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3">
                            <a:extLst>
                              <a:ext uri="{A12FA001-AC4F-418D-AE19-62706E023703}">
                                <ahyp:hlinkClr xmlns:ahyp="http://schemas.microsoft.com/office/drawing/2018/hyperlinkcolor" val="tx"/>
                              </a:ext>
                            </a:extLst>
                          </a:hlinkClick>
                        </a:rPr>
                        <a:t>ernie-5.0-0110</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no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1497</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DFDFE"/>
                    </a:solidFill>
                  </a:tcPr>
                </a:tc>
                <a:extLst>
                  <a:ext uri="{0D108BD9-81ED-4DB2-BD59-A6C34878D82A}">
                    <a16:rowId xmlns:a16="http://schemas.microsoft.com/office/drawing/2014/main" val="10012"/>
                  </a:ext>
                </a:extLst>
              </a:tr>
              <a:tr h="178969">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36">
                            <a:extLst>
                              <a:ext uri="{A12FA001-AC4F-418D-AE19-62706E023703}">
                                <ahyp:hlinkClr xmlns:ahyp="http://schemas.microsoft.com/office/drawing/2018/hyperlinkcolor" val="tx"/>
                              </a:ext>
                            </a:extLst>
                          </a:hlinkClick>
                        </a:rPr>
                        <a:t>claude-opus-4-20250514-thinking-16k</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no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1497</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DFDFE"/>
                    </a:solidFill>
                  </a:tcPr>
                </a:tc>
                <a:extLst>
                  <a:ext uri="{0D108BD9-81ED-4DB2-BD59-A6C34878D82A}">
                    <a16:rowId xmlns:a16="http://schemas.microsoft.com/office/drawing/2014/main" val="10013"/>
                  </a:ext>
                </a:extLst>
              </a:tr>
              <a:tr h="178969">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0">
                            <a:extLst>
                              <a:ext uri="{A12FA001-AC4F-418D-AE19-62706E023703}">
                                <ahyp:hlinkClr xmlns:ahyp="http://schemas.microsoft.com/office/drawing/2018/hyperlinkcolor" val="tx"/>
                              </a:ext>
                            </a:extLst>
                          </a:hlinkClick>
                        </a:rPr>
                        <a:t>grok-4.1</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no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1496</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DFDFE"/>
                    </a:solidFill>
                  </a:tcPr>
                </a:tc>
                <a:extLst>
                  <a:ext uri="{0D108BD9-81ED-4DB2-BD59-A6C34878D82A}">
                    <a16:rowId xmlns:a16="http://schemas.microsoft.com/office/drawing/2014/main" val="10014"/>
                  </a:ext>
                </a:extLst>
              </a:tr>
              <a:tr h="178969">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4">
                            <a:extLst>
                              <a:ext uri="{A12FA001-AC4F-418D-AE19-62706E023703}">
                                <ahyp:hlinkClr xmlns:ahyp="http://schemas.microsoft.com/office/drawing/2018/hyperlinkcolor" val="tx"/>
                              </a:ext>
                            </a:extLst>
                          </a:hlinkClick>
                        </a:rPr>
                        <a:t>gpt-5.1-high</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no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1495</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DFDFE"/>
                    </a:solidFill>
                  </a:tcPr>
                </a:tc>
                <a:extLst>
                  <a:ext uri="{0D108BD9-81ED-4DB2-BD59-A6C34878D82A}">
                    <a16:rowId xmlns:a16="http://schemas.microsoft.com/office/drawing/2014/main" val="10015"/>
                  </a:ext>
                </a:extLst>
              </a:tr>
              <a:tr h="178969">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9">
                            <a:extLst>
                              <a:ext uri="{A12FA001-AC4F-418D-AE19-62706E023703}">
                                <ahyp:hlinkClr xmlns:ahyp="http://schemas.microsoft.com/office/drawing/2018/hyperlinkcolor" val="tx"/>
                              </a:ext>
                            </a:extLst>
                          </a:hlinkClick>
                        </a:rPr>
                        <a:t>gpt-5.2-high</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no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1494</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DFDFE"/>
                    </a:solidFill>
                  </a:tcPr>
                </a:tc>
                <a:extLst>
                  <a:ext uri="{0D108BD9-81ED-4DB2-BD59-A6C34878D82A}">
                    <a16:rowId xmlns:a16="http://schemas.microsoft.com/office/drawing/2014/main" val="10016"/>
                  </a:ext>
                </a:extLst>
              </a:tr>
              <a:tr h="178969">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32">
                            <a:extLst>
                              <a:ext uri="{A12FA001-AC4F-418D-AE19-62706E023703}">
                                <ahyp:hlinkClr xmlns:ahyp="http://schemas.microsoft.com/office/drawing/2018/hyperlinkcolor" val="tx"/>
                              </a:ext>
                            </a:extLst>
                          </a:hlinkClick>
                        </a:rPr>
                        <a:t>glm-4.7</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no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1485</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DFDFE"/>
                    </a:solidFill>
                  </a:tcPr>
                </a:tc>
                <a:extLst>
                  <a:ext uri="{0D108BD9-81ED-4DB2-BD59-A6C34878D82A}">
                    <a16:rowId xmlns:a16="http://schemas.microsoft.com/office/drawing/2014/main" val="10017"/>
                  </a:ext>
                </a:extLst>
              </a:tr>
              <a:tr h="178969">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37">
                            <a:extLst>
                              <a:ext uri="{A12FA001-AC4F-418D-AE19-62706E023703}">
                                <ahyp:hlinkClr xmlns:ahyp="http://schemas.microsoft.com/office/drawing/2018/hyperlinkcolor" val="tx"/>
                              </a:ext>
                            </a:extLst>
                          </a:hlinkClick>
                        </a:rPr>
                        <a:t>kimi-k2-thinking-turbo</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no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1484</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DFDFE"/>
                    </a:solidFill>
                  </a:tcPr>
                </a:tc>
                <a:extLst>
                  <a:ext uri="{0D108BD9-81ED-4DB2-BD59-A6C34878D82A}">
                    <a16:rowId xmlns:a16="http://schemas.microsoft.com/office/drawing/2014/main" val="10018"/>
                  </a:ext>
                </a:extLst>
              </a:tr>
              <a:tr h="178969">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34">
                            <a:extLst>
                              <a:ext uri="{A12FA001-AC4F-418D-AE19-62706E023703}">
                                <ahyp:hlinkClr xmlns:ahyp="http://schemas.microsoft.com/office/drawing/2018/hyperlinkcolor" val="tx"/>
                              </a:ext>
                            </a:extLst>
                          </a:hlinkClick>
                        </a:rPr>
                        <a:t>qwen3-max-preview</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no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1482</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DFDFE"/>
                    </a:solidFill>
                  </a:tcPr>
                </a:tc>
                <a:extLst>
                  <a:ext uri="{0D108BD9-81ED-4DB2-BD59-A6C34878D82A}">
                    <a16:rowId xmlns:a16="http://schemas.microsoft.com/office/drawing/2014/main" val="10019"/>
                  </a:ext>
                </a:extLst>
              </a:tr>
              <a:tr h="178969">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24">
                            <a:extLst>
                              <a:ext uri="{A12FA001-AC4F-418D-AE19-62706E023703}">
                                <ahyp:hlinkClr xmlns:ahyp="http://schemas.microsoft.com/office/drawing/2018/hyperlinkcolor" val="tx"/>
                              </a:ext>
                            </a:extLst>
                          </a:hlinkClick>
                        </a:rPr>
                        <a:t>gpt-5.1</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no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1478</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DFDFE"/>
                    </a:solidFill>
                  </a:tcPr>
                </a:tc>
                <a:extLst>
                  <a:ext uri="{0D108BD9-81ED-4DB2-BD59-A6C34878D82A}">
                    <a16:rowId xmlns:a16="http://schemas.microsoft.com/office/drawing/2014/main" val="10020"/>
                  </a:ext>
                </a:extLst>
              </a:tr>
              <a:tr h="178969">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38">
                            <a:extLst>
                              <a:ext uri="{A12FA001-AC4F-418D-AE19-62706E023703}">
                                <ahyp:hlinkClr xmlns:ahyp="http://schemas.microsoft.com/office/drawing/2018/hyperlinkcolor" val="tx"/>
                              </a:ext>
                            </a:extLst>
                          </a:hlinkClick>
                        </a:rPr>
                        <a:t>claude-haiku-4-5-20251001</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no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1478</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DFDFE"/>
                    </a:solidFill>
                  </a:tcPr>
                </a:tc>
                <a:extLst>
                  <a:ext uri="{0D108BD9-81ED-4DB2-BD59-A6C34878D82A}">
                    <a16:rowId xmlns:a16="http://schemas.microsoft.com/office/drawing/2014/main" val="10021"/>
                  </a:ext>
                </a:extLst>
              </a:tr>
              <a:tr h="178969">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39">
                            <a:extLst>
                              <a:ext uri="{A12FA001-AC4F-418D-AE19-62706E023703}">
                                <ahyp:hlinkClr xmlns:ahyp="http://schemas.microsoft.com/office/drawing/2018/hyperlinkcolor" val="tx"/>
                              </a:ext>
                            </a:extLst>
                          </a:hlinkClick>
                        </a:rPr>
                        <a:t>qwen3-max-2025-09-23</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no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1476</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DFDFE"/>
                    </a:solidFill>
                  </a:tcPr>
                </a:tc>
                <a:extLst>
                  <a:ext uri="{0D108BD9-81ED-4DB2-BD59-A6C34878D82A}">
                    <a16:rowId xmlns:a16="http://schemas.microsoft.com/office/drawing/2014/main" val="10022"/>
                  </a:ext>
                </a:extLst>
              </a:tr>
              <a:tr h="178969">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40">
                            <a:extLst>
                              <a:ext uri="{A12FA001-AC4F-418D-AE19-62706E023703}">
                                <ahyp:hlinkClr xmlns:ahyp="http://schemas.microsoft.com/office/drawing/2018/hyperlinkcolor" val="tx"/>
                              </a:ext>
                            </a:extLst>
                          </a:hlinkClick>
                        </a:rPr>
                        <a:t>longcat-flash-chat</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no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1474</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DFDFE"/>
                    </a:solidFill>
                  </a:tcPr>
                </a:tc>
                <a:extLst>
                  <a:ext uri="{0D108BD9-81ED-4DB2-BD59-A6C34878D82A}">
                    <a16:rowId xmlns:a16="http://schemas.microsoft.com/office/drawing/2014/main" val="10023"/>
                  </a:ext>
                </a:extLst>
              </a:tr>
              <a:tr h="178969">
                <a:tc>
                  <a:txBody>
                    <a:bodyPr/>
                    <a:lstStyle/>
                    <a:p>
                      <a:pPr marL="0" lvl="0" indent="0" algn="l" rtl="0">
                        <a:lnSpc>
                          <a:spcPct val="115000"/>
                        </a:lnSpc>
                        <a:spcBef>
                          <a:spcPts val="0"/>
                        </a:spcBef>
                        <a:spcAft>
                          <a:spcPts val="0"/>
                        </a:spcAft>
                        <a:buNone/>
                      </a:pPr>
                      <a:r>
                        <a:rPr lang="en" sz="800" u="sng">
                          <a:solidFill>
                            <a:srgbClr val="1155CC"/>
                          </a:solidFill>
                          <a:latin typeface="Calibri"/>
                          <a:ea typeface="Calibri"/>
                          <a:cs typeface="Calibri"/>
                          <a:sym typeface="Calibri"/>
                          <a:hlinkClick r:id="rId41">
                            <a:extLst>
                              <a:ext uri="{A12FA001-AC4F-418D-AE19-62706E023703}">
                                <ahyp:hlinkClr xmlns:ahyp="http://schemas.microsoft.com/office/drawing/2018/hyperlinkcolor" val="tx"/>
                              </a:ext>
                            </a:extLst>
                          </a:hlinkClick>
                        </a:rPr>
                        <a:t>deepseek-v3.2-exp-thinking</a:t>
                      </a:r>
                      <a:endParaRPr sz="800" u="sng">
                        <a:solidFill>
                          <a:srgbClr val="1155CC"/>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noFill/>
                  </a:tcPr>
                </a:tc>
                <a:tc>
                  <a:txBody>
                    <a:bodyPr/>
                    <a:lstStyle/>
                    <a:p>
                      <a:pPr marL="0" lvl="0" indent="0" algn="r" rtl="0">
                        <a:lnSpc>
                          <a:spcPct val="115000"/>
                        </a:lnSpc>
                        <a:spcBef>
                          <a:spcPts val="0"/>
                        </a:spcBef>
                        <a:spcAft>
                          <a:spcPts val="0"/>
                        </a:spcAft>
                        <a:buNone/>
                      </a:pPr>
                      <a:r>
                        <a:rPr lang="en" sz="800">
                          <a:solidFill>
                            <a:srgbClr val="636879"/>
                          </a:solidFill>
                          <a:latin typeface="Calibri"/>
                          <a:ea typeface="Calibri"/>
                          <a:cs typeface="Calibri"/>
                          <a:sym typeface="Calibri"/>
                        </a:rPr>
                        <a:t>1473</a:t>
                      </a:r>
                      <a:endParaRPr sz="800">
                        <a:solidFill>
                          <a:srgbClr val="636879"/>
                        </a:solidFill>
                        <a:latin typeface="Calibri"/>
                        <a:ea typeface="Calibri"/>
                        <a:cs typeface="Calibri"/>
                        <a:sym typeface="Calibri"/>
                      </a:endParaRPr>
                    </a:p>
                  </a:txBody>
                  <a:tcPr marL="28575" marR="28575" marT="19050" marB="19050" anchor="b">
                    <a:lnL w="9525" cap="flat" cmpd="sng">
                      <a:solidFill>
                        <a:srgbClr val="FF0000"/>
                      </a:solidFill>
                      <a:prstDash val="solid"/>
                      <a:round/>
                      <a:headEnd type="none" w="sm" len="sm"/>
                      <a:tailEnd type="none" w="sm" len="sm"/>
                    </a:lnL>
                    <a:lnR w="9525" cap="flat" cmpd="sng">
                      <a:solidFill>
                        <a:srgbClr val="FF0000"/>
                      </a:solidFill>
                      <a:prstDash val="solid"/>
                      <a:round/>
                      <a:headEnd type="none" w="sm" len="sm"/>
                      <a:tailEnd type="none" w="sm" len="sm"/>
                    </a:lnR>
                    <a:lnT w="9525" cap="flat" cmpd="sng">
                      <a:solidFill>
                        <a:srgbClr val="FF0000"/>
                      </a:solidFill>
                      <a:prstDash val="solid"/>
                      <a:round/>
                      <a:headEnd type="none" w="sm" len="sm"/>
                      <a:tailEnd type="none" w="sm" len="sm"/>
                    </a:lnT>
                    <a:lnB w="9525" cap="flat" cmpd="sng">
                      <a:solidFill>
                        <a:srgbClr val="FF0000"/>
                      </a:solidFill>
                      <a:prstDash val="solid"/>
                      <a:round/>
                      <a:headEnd type="none" w="sm" len="sm"/>
                      <a:tailEnd type="none" w="sm" len="sm"/>
                    </a:lnB>
                    <a:solidFill>
                      <a:srgbClr val="FDFDFE"/>
                    </a:solidFill>
                  </a:tcPr>
                </a:tc>
                <a:extLst>
                  <a:ext uri="{0D108BD9-81ED-4DB2-BD59-A6C34878D82A}">
                    <a16:rowId xmlns:a16="http://schemas.microsoft.com/office/drawing/2014/main" val="10024"/>
                  </a:ext>
                </a:extLst>
              </a:tr>
            </a:tbl>
          </a:graphicData>
        </a:graphic>
      </p:graphicFrame>
      <p:sp>
        <p:nvSpPr>
          <p:cNvPr id="138" name="Google Shape;138;p16"/>
          <p:cNvSpPr txBox="1"/>
          <p:nvPr/>
        </p:nvSpPr>
        <p:spPr>
          <a:xfrm>
            <a:off x="3189086" y="2755753"/>
            <a:ext cx="288900" cy="141600"/>
          </a:xfrm>
          <a:prstGeom prst="rect">
            <a:avLst/>
          </a:prstGeom>
          <a:no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highlight>
                  <a:srgbClr val="FFFFFF"/>
                </a:highlight>
                <a:latin typeface="Calibri"/>
                <a:ea typeface="Calibri"/>
                <a:cs typeface="Calibri"/>
                <a:sym typeface="Calibri"/>
              </a:rPr>
              <a:t>China</a:t>
            </a:r>
            <a:endParaRPr sz="800" b="0" i="0" u="none" strike="noStrike" cap="none">
              <a:solidFill>
                <a:srgbClr val="1F2937"/>
              </a:solidFill>
              <a:highlight>
                <a:srgbClr val="FFFFFF"/>
              </a:highlight>
              <a:latin typeface="Calibri"/>
              <a:ea typeface="Calibri"/>
              <a:cs typeface="Calibri"/>
              <a:sym typeface="Calibri"/>
            </a:endParaRPr>
          </a:p>
        </p:txBody>
      </p:sp>
      <p:sp>
        <p:nvSpPr>
          <p:cNvPr id="139" name="Google Shape;139;p16"/>
          <p:cNvSpPr txBox="1"/>
          <p:nvPr/>
        </p:nvSpPr>
        <p:spPr>
          <a:xfrm>
            <a:off x="3053206" y="3841215"/>
            <a:ext cx="287100" cy="141600"/>
          </a:xfrm>
          <a:prstGeom prst="rect">
            <a:avLst/>
          </a:prstGeom>
          <a:no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highlight>
                  <a:srgbClr val="FFFFFF"/>
                </a:highlight>
                <a:latin typeface="Calibri"/>
                <a:ea typeface="Calibri"/>
                <a:cs typeface="Calibri"/>
                <a:sym typeface="Calibri"/>
              </a:rPr>
              <a:t>China</a:t>
            </a:r>
            <a:endParaRPr sz="800" b="0" i="0" u="none" strike="noStrike" cap="none">
              <a:solidFill>
                <a:srgbClr val="1F2937"/>
              </a:solidFill>
              <a:highlight>
                <a:srgbClr val="FFFFFF"/>
              </a:highlight>
              <a:latin typeface="Calibri"/>
              <a:ea typeface="Calibri"/>
              <a:cs typeface="Calibri"/>
              <a:sym typeface="Calibri"/>
            </a:endParaRPr>
          </a:p>
        </p:txBody>
      </p:sp>
      <p:sp>
        <p:nvSpPr>
          <p:cNvPr id="140" name="Google Shape;140;p16"/>
          <p:cNvSpPr/>
          <p:nvPr/>
        </p:nvSpPr>
        <p:spPr>
          <a:xfrm>
            <a:off x="3344075" y="3849609"/>
            <a:ext cx="125400" cy="125400"/>
          </a:xfrm>
          <a:prstGeom prst="ellipse">
            <a:avLst/>
          </a:prstGeom>
          <a:solidFill>
            <a:srgbClr val="6AA84F"/>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1" name="Google Shape;141;p16"/>
          <p:cNvSpPr/>
          <p:nvPr/>
        </p:nvSpPr>
        <p:spPr>
          <a:xfrm>
            <a:off x="3337376" y="4389652"/>
            <a:ext cx="125400" cy="125400"/>
          </a:xfrm>
          <a:prstGeom prst="ellipse">
            <a:avLst/>
          </a:prstGeom>
          <a:solidFill>
            <a:srgbClr val="3C78D8"/>
          </a:solidFill>
          <a:ln w="9525" cap="flat" cmpd="sng">
            <a:solidFill>
              <a:srgbClr val="595959"/>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2" name="Google Shape;142;p16"/>
          <p:cNvSpPr txBox="1"/>
          <p:nvPr/>
        </p:nvSpPr>
        <p:spPr>
          <a:xfrm>
            <a:off x="231819" y="2745537"/>
            <a:ext cx="287100" cy="141600"/>
          </a:xfrm>
          <a:prstGeom prst="rect">
            <a:avLst/>
          </a:prstGeom>
          <a:no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en" sz="800" b="0" i="0" u="none" strike="noStrike" cap="none">
                <a:solidFill>
                  <a:srgbClr val="1F2937"/>
                </a:solidFill>
                <a:highlight>
                  <a:srgbClr val="FFFFFF"/>
                </a:highlight>
                <a:latin typeface="Calibri"/>
                <a:ea typeface="Calibri"/>
                <a:cs typeface="Calibri"/>
                <a:sym typeface="Calibri"/>
              </a:rPr>
              <a:t>China</a:t>
            </a:r>
            <a:endParaRPr sz="800" b="0" i="0" u="none" strike="noStrike" cap="none">
              <a:solidFill>
                <a:srgbClr val="1F2937"/>
              </a:solidFill>
              <a:highlight>
                <a:srgbClr val="FFFFFF"/>
              </a:highlight>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sp>
        <p:nvSpPr>
          <p:cNvPr id="147" name="Google Shape;147;p17"/>
          <p:cNvSpPr txBox="1"/>
          <p:nvPr/>
        </p:nvSpPr>
        <p:spPr>
          <a:xfrm>
            <a:off x="55075" y="43025"/>
            <a:ext cx="44652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u="sng">
                <a:solidFill>
                  <a:schemeClr val="hlink"/>
                </a:solidFill>
                <a:latin typeface="Calibri"/>
                <a:ea typeface="Calibri"/>
                <a:cs typeface="Calibri"/>
                <a:sym typeface="Calibri"/>
                <a:hlinkClick r:id="rId3"/>
              </a:rPr>
              <a:t>skills.sh</a:t>
            </a:r>
            <a:r>
              <a:rPr lang="en" sz="2000" b="1">
                <a:solidFill>
                  <a:schemeClr val="dk1"/>
                </a:solidFill>
                <a:latin typeface="Calibri"/>
                <a:ea typeface="Calibri"/>
                <a:cs typeface="Calibri"/>
                <a:sym typeface="Calibri"/>
              </a:rPr>
              <a:t> - directory of skills</a:t>
            </a:r>
            <a:endParaRPr sz="2000" b="1">
              <a:solidFill>
                <a:schemeClr val="dk1"/>
              </a:solidFill>
              <a:latin typeface="Calibri"/>
              <a:ea typeface="Calibri"/>
              <a:cs typeface="Calibri"/>
              <a:sym typeface="Calibri"/>
            </a:endParaRPr>
          </a:p>
        </p:txBody>
      </p:sp>
      <p:sp>
        <p:nvSpPr>
          <p:cNvPr id="148" name="Google Shape;148;p17"/>
          <p:cNvSpPr txBox="1"/>
          <p:nvPr/>
        </p:nvSpPr>
        <p:spPr>
          <a:xfrm>
            <a:off x="55075" y="529725"/>
            <a:ext cx="4904100" cy="4405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uFill>
                  <a:noFill/>
                </a:uFill>
                <a:latin typeface="Calibri"/>
                <a:ea typeface="Calibri"/>
                <a:cs typeface="Calibri"/>
                <a:sym typeface="Calibri"/>
                <a:hlinkClick r:id="rId3">
                  <a:extLst>
                    <a:ext uri="{A12FA001-AC4F-418D-AE19-62706E023703}">
                      <ahyp:hlinkClr xmlns:ahyp="http://schemas.microsoft.com/office/drawing/2018/hyperlinkcolor" val="tx"/>
                    </a:ext>
                  </a:extLst>
                </a:hlinkClick>
              </a:rPr>
              <a:t>skills.sh</a:t>
            </a:r>
            <a:r>
              <a:rPr lang="en" sz="1200" b="1">
                <a:solidFill>
                  <a:srgbClr val="FF0000"/>
                </a:solidFill>
                <a:latin typeface="Calibri"/>
                <a:ea typeface="Calibri"/>
                <a:cs typeface="Calibri"/>
                <a:sym typeface="Calibri"/>
              </a:rPr>
              <a:t> </a:t>
            </a:r>
            <a:r>
              <a:rPr lang="en" sz="1200">
                <a:solidFill>
                  <a:schemeClr val="dk1"/>
                </a:solidFill>
                <a:latin typeface="Calibri"/>
                <a:ea typeface="Calibri"/>
                <a:cs typeface="Calibri"/>
                <a:sym typeface="Calibri"/>
              </a:rPr>
              <a:t>- stores URLs/references to GitHub repositories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4"/>
              </a:rPr>
              <a:t>https://skills.sh</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5"/>
              </a:rPr>
              <a:t>https://skills.sh/docs</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 web directory, leaderboard, and finder for skills - I counted 6574 skills.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Each skill is essentially a Markdown file. It starts with two lines (name and description) followed by markdown text.</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Each skill may also have optional bundled resources - scripts, references, assets, examples. </a:t>
            </a:r>
            <a:endParaRPr sz="1200">
              <a:solidFill>
                <a:schemeClr val="dk1"/>
              </a:solidFill>
              <a:latin typeface="Calibri"/>
              <a:ea typeface="Calibri"/>
              <a:cs typeface="Calibri"/>
              <a:sym typeface="Calibri"/>
            </a:endParaRPr>
          </a:p>
          <a:p>
            <a:pPr marL="1085850" marR="0" lvl="0" indent="0" algn="l" rtl="0">
              <a:lnSpc>
                <a:spcPct val="100000"/>
              </a:lnSpc>
              <a:spcBef>
                <a:spcPts val="0"/>
              </a:spcBef>
              <a:spcAft>
                <a:spcPts val="0"/>
              </a:spcAft>
              <a:buNone/>
            </a:pPr>
            <a:r>
              <a:rPr lang="en" sz="900" b="1">
                <a:solidFill>
                  <a:srgbClr val="3C78D8"/>
                </a:solidFill>
                <a:latin typeface="Roboto Mono"/>
                <a:ea typeface="Roboto Mono"/>
                <a:cs typeface="Roboto Mono"/>
                <a:sym typeface="Roboto Mono"/>
              </a:rPr>
              <a:t>bigquery-skill/</a:t>
            </a:r>
            <a:endParaRPr sz="900" b="1">
              <a:solidFill>
                <a:srgbClr val="3C78D8"/>
              </a:solidFill>
              <a:latin typeface="Roboto Mono"/>
              <a:ea typeface="Roboto Mono"/>
              <a:cs typeface="Roboto Mono"/>
              <a:sym typeface="Roboto Mono"/>
            </a:endParaRPr>
          </a:p>
          <a:p>
            <a:pPr marL="1085850" marR="0" lvl="0" indent="0" algn="l" rtl="0">
              <a:lnSpc>
                <a:spcPct val="100000"/>
              </a:lnSpc>
              <a:spcBef>
                <a:spcPts val="0"/>
              </a:spcBef>
              <a:spcAft>
                <a:spcPts val="0"/>
              </a:spcAft>
              <a:buNone/>
            </a:pPr>
            <a:r>
              <a:rPr lang="en" sz="900" b="1">
                <a:solidFill>
                  <a:srgbClr val="3C78D8"/>
                </a:solidFill>
                <a:latin typeface="Roboto Mono"/>
                <a:ea typeface="Roboto Mono"/>
                <a:cs typeface="Roboto Mono"/>
                <a:sym typeface="Roboto Mono"/>
              </a:rPr>
              <a:t>├── SKILL.md</a:t>
            </a:r>
            <a:endParaRPr sz="900" b="1">
              <a:solidFill>
                <a:srgbClr val="3C78D8"/>
              </a:solidFill>
              <a:latin typeface="Roboto Mono"/>
              <a:ea typeface="Roboto Mono"/>
              <a:cs typeface="Roboto Mono"/>
              <a:sym typeface="Roboto Mono"/>
            </a:endParaRPr>
          </a:p>
          <a:p>
            <a:pPr marL="1085850" marR="0" lvl="0" indent="0" algn="l" rtl="0">
              <a:lnSpc>
                <a:spcPct val="100000"/>
              </a:lnSpc>
              <a:spcBef>
                <a:spcPts val="0"/>
              </a:spcBef>
              <a:spcAft>
                <a:spcPts val="0"/>
              </a:spcAft>
              <a:buNone/>
            </a:pPr>
            <a:r>
              <a:rPr lang="en" sz="900" b="1">
                <a:solidFill>
                  <a:srgbClr val="3C78D8"/>
                </a:solidFill>
                <a:latin typeface="Roboto Mono"/>
                <a:ea typeface="Roboto Mono"/>
                <a:cs typeface="Roboto Mono"/>
                <a:sym typeface="Roboto Mono"/>
              </a:rPr>
              <a:t>└── reference/</a:t>
            </a:r>
            <a:endParaRPr sz="900" b="1">
              <a:solidFill>
                <a:srgbClr val="3C78D8"/>
              </a:solidFill>
              <a:latin typeface="Roboto Mono"/>
              <a:ea typeface="Roboto Mono"/>
              <a:cs typeface="Roboto Mono"/>
              <a:sym typeface="Roboto Mono"/>
            </a:endParaRPr>
          </a:p>
          <a:p>
            <a:pPr marL="1085850" marR="0" lvl="0" indent="0" algn="l" rtl="0">
              <a:lnSpc>
                <a:spcPct val="100000"/>
              </a:lnSpc>
              <a:spcBef>
                <a:spcPts val="0"/>
              </a:spcBef>
              <a:spcAft>
                <a:spcPts val="0"/>
              </a:spcAft>
              <a:buNone/>
            </a:pPr>
            <a:r>
              <a:rPr lang="en" sz="900" b="1">
                <a:solidFill>
                  <a:srgbClr val="3C78D8"/>
                </a:solidFill>
                <a:latin typeface="Roboto Mono"/>
                <a:ea typeface="Roboto Mono"/>
                <a:cs typeface="Roboto Mono"/>
                <a:sym typeface="Roboto Mono"/>
              </a:rPr>
              <a:t>    ├── finance.md</a:t>
            </a:r>
            <a:endParaRPr sz="900" b="1">
              <a:solidFill>
                <a:srgbClr val="3C78D8"/>
              </a:solidFill>
              <a:latin typeface="Roboto Mono"/>
              <a:ea typeface="Roboto Mono"/>
              <a:cs typeface="Roboto Mono"/>
              <a:sym typeface="Roboto Mono"/>
            </a:endParaRPr>
          </a:p>
          <a:p>
            <a:pPr marL="1085850" marR="0" lvl="0" indent="0" algn="l" rtl="0">
              <a:lnSpc>
                <a:spcPct val="100000"/>
              </a:lnSpc>
              <a:spcBef>
                <a:spcPts val="0"/>
              </a:spcBef>
              <a:spcAft>
                <a:spcPts val="0"/>
              </a:spcAft>
              <a:buNone/>
            </a:pPr>
            <a:r>
              <a:rPr lang="en" sz="900" b="1">
                <a:solidFill>
                  <a:srgbClr val="3C78D8"/>
                </a:solidFill>
                <a:latin typeface="Roboto Mono"/>
                <a:ea typeface="Roboto Mono"/>
                <a:cs typeface="Roboto Mono"/>
                <a:sym typeface="Roboto Mono"/>
              </a:rPr>
              <a:t>    ├── sales.md</a:t>
            </a:r>
            <a:endParaRPr sz="900" b="1">
              <a:solidFill>
                <a:srgbClr val="3C78D8"/>
              </a:solidFill>
              <a:latin typeface="Roboto Mono"/>
              <a:ea typeface="Roboto Mono"/>
              <a:cs typeface="Roboto Mono"/>
              <a:sym typeface="Roboto Mono"/>
            </a:endParaRPr>
          </a:p>
          <a:p>
            <a:pPr marL="1085850" marR="0" lvl="0" indent="0" algn="l" rtl="0">
              <a:lnSpc>
                <a:spcPct val="100000"/>
              </a:lnSpc>
              <a:spcBef>
                <a:spcPts val="0"/>
              </a:spcBef>
              <a:spcAft>
                <a:spcPts val="0"/>
              </a:spcAft>
              <a:buNone/>
            </a:pPr>
            <a:r>
              <a:rPr lang="en" sz="900" b="1">
                <a:solidFill>
                  <a:srgbClr val="3C78D8"/>
                </a:solidFill>
                <a:latin typeface="Roboto Mono"/>
                <a:ea typeface="Roboto Mono"/>
                <a:cs typeface="Roboto Mono"/>
                <a:sym typeface="Roboto Mono"/>
              </a:rPr>
              <a:t>    ├── product.md</a:t>
            </a:r>
            <a:endParaRPr sz="900" b="1">
              <a:solidFill>
                <a:srgbClr val="3C78D8"/>
              </a:solidFill>
              <a:latin typeface="Roboto Mono"/>
              <a:ea typeface="Roboto Mono"/>
              <a:cs typeface="Roboto Mono"/>
              <a:sym typeface="Roboto Mono"/>
            </a:endParaRPr>
          </a:p>
          <a:p>
            <a:pPr marL="1085850" marR="0" lvl="0" indent="0" algn="l" rtl="0">
              <a:lnSpc>
                <a:spcPct val="100000"/>
              </a:lnSpc>
              <a:spcBef>
                <a:spcPts val="0"/>
              </a:spcBef>
              <a:spcAft>
                <a:spcPts val="0"/>
              </a:spcAft>
              <a:buNone/>
            </a:pPr>
            <a:r>
              <a:rPr lang="en" sz="900" b="1">
                <a:solidFill>
                  <a:srgbClr val="3C78D8"/>
                </a:solidFill>
                <a:latin typeface="Roboto Mono"/>
                <a:ea typeface="Roboto Mono"/>
                <a:cs typeface="Roboto Mono"/>
                <a:sym typeface="Roboto Mono"/>
              </a:rPr>
              <a:t>    └── marketing.md</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You can install using </a:t>
            </a:r>
            <a:r>
              <a:rPr lang="en" sz="1200" b="1">
                <a:solidFill>
                  <a:srgbClr val="FF0000"/>
                </a:solidFill>
                <a:latin typeface="Calibri"/>
                <a:ea typeface="Calibri"/>
                <a:cs typeface="Calibri"/>
                <a:sym typeface="Calibri"/>
              </a:rPr>
              <a:t>"npx skills add"</a:t>
            </a:r>
            <a:r>
              <a:rPr lang="en" sz="1200">
                <a:solidFill>
                  <a:schemeClr val="dk1"/>
                </a:solidFill>
                <a:latin typeface="Calibri"/>
                <a:ea typeface="Calibri"/>
                <a:cs typeface="Calibri"/>
                <a:sym typeface="Calibri"/>
              </a:rPr>
              <a:t> command, for example:</a:t>
            </a:r>
            <a:endParaRPr sz="1200">
              <a:solidFill>
                <a:schemeClr val="dk1"/>
              </a:solidFill>
              <a:latin typeface="Calibri"/>
              <a:ea typeface="Calibri"/>
              <a:cs typeface="Calibri"/>
              <a:sym typeface="Calibri"/>
            </a:endParaRPr>
          </a:p>
          <a:p>
            <a:pPr marL="400050" marR="0" lvl="0" indent="-114300" algn="l" rtl="0">
              <a:lnSpc>
                <a:spcPct val="100000"/>
              </a:lnSpc>
              <a:spcBef>
                <a:spcPts val="0"/>
              </a:spcBef>
              <a:spcAft>
                <a:spcPts val="0"/>
              </a:spcAft>
              <a:buClr>
                <a:srgbClr val="6AA84F"/>
              </a:buClr>
              <a:buSzPts val="900"/>
              <a:buFont typeface="Calibri"/>
              <a:buChar char="●"/>
            </a:pPr>
            <a:r>
              <a:rPr lang="en" sz="900" b="1">
                <a:solidFill>
                  <a:srgbClr val="6AA84F"/>
                </a:solidFill>
                <a:latin typeface="Calibri"/>
                <a:ea typeface="Calibri"/>
                <a:cs typeface="Calibri"/>
                <a:sym typeface="Calibri"/>
              </a:rPr>
              <a:t>npx skills add https://github.com/remotion-dev/skills --skill remotion-best-practices</a:t>
            </a:r>
            <a:endParaRPr sz="900" b="1">
              <a:solidFill>
                <a:srgbClr val="6AA84F"/>
              </a:solidFill>
              <a:latin typeface="Calibri"/>
              <a:ea typeface="Calibri"/>
              <a:cs typeface="Calibri"/>
              <a:sym typeface="Calibri"/>
            </a:endParaRPr>
          </a:p>
          <a:p>
            <a:pPr marL="400050" marR="0" lvl="0" indent="-114300" algn="l" rtl="0">
              <a:lnSpc>
                <a:spcPct val="100000"/>
              </a:lnSpc>
              <a:spcBef>
                <a:spcPts val="0"/>
              </a:spcBef>
              <a:spcAft>
                <a:spcPts val="0"/>
              </a:spcAft>
              <a:buClr>
                <a:srgbClr val="6AA84F"/>
              </a:buClr>
              <a:buSzPts val="900"/>
              <a:buFont typeface="Calibri"/>
              <a:buChar char="●"/>
            </a:pPr>
            <a:r>
              <a:rPr lang="en" sz="900" b="1">
                <a:solidFill>
                  <a:srgbClr val="6AA84F"/>
                </a:solidFill>
                <a:latin typeface="Calibri"/>
                <a:ea typeface="Calibri"/>
                <a:cs typeface="Calibri"/>
                <a:sym typeface="Calibri"/>
              </a:rPr>
              <a:t>npx skills add https://github.com/vercel-labs/agent-skills --skill web-design-guidelines </a:t>
            </a:r>
            <a:endParaRPr sz="900" b="1">
              <a:solidFill>
                <a:srgbClr val="6AA84F"/>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You need to provide the Github URL and the skill name</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During installation it finds your agents (for example, Claude Code) and asks where to install (typically to ~/.claude/skills/)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Progressive loading (only 50 tokens per header) - allows developers to have hundreds of skills active without overwhelming the context window</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This makes it significantly lighter than traditional MCP servers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The </a:t>
            </a:r>
            <a:r>
              <a:rPr lang="en" sz="1200" u="sng">
                <a:solidFill>
                  <a:schemeClr val="hlink"/>
                </a:solidFill>
                <a:latin typeface="Calibri"/>
                <a:ea typeface="Calibri"/>
                <a:cs typeface="Calibri"/>
                <a:sym typeface="Calibri"/>
                <a:hlinkClick r:id="rId3"/>
              </a:rPr>
              <a:t>skills.sh</a:t>
            </a:r>
            <a:r>
              <a:rPr lang="en" sz="1200">
                <a:solidFill>
                  <a:schemeClr val="dk1"/>
                </a:solidFill>
                <a:latin typeface="Calibri"/>
                <a:ea typeface="Calibri"/>
                <a:cs typeface="Calibri"/>
                <a:sym typeface="Calibri"/>
              </a:rPr>
              <a:t> has a leaderboard that ranks skills based on anonymous telemetry data from CLI installations</a:t>
            </a:r>
            <a:endParaRPr sz="1200">
              <a:solidFill>
                <a:schemeClr val="dk1"/>
              </a:solidFill>
              <a:latin typeface="Calibri"/>
              <a:ea typeface="Calibri"/>
              <a:cs typeface="Calibri"/>
              <a:sym typeface="Calibri"/>
            </a:endParaRPr>
          </a:p>
        </p:txBody>
      </p:sp>
      <p:pic>
        <p:nvPicPr>
          <p:cNvPr id="149" name="Google Shape;149;p17"/>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5159450" y="529725"/>
            <a:ext cx="2620680" cy="269670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18"/>
          <p:cNvSpPr txBox="1"/>
          <p:nvPr/>
        </p:nvSpPr>
        <p:spPr>
          <a:xfrm>
            <a:off x="55075" y="43025"/>
            <a:ext cx="44652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sp>
        <p:nvSpPr>
          <p:cNvPr id="155" name="Google Shape;155;p18"/>
          <p:cNvSpPr txBox="1"/>
          <p:nvPr/>
        </p:nvSpPr>
        <p:spPr>
          <a:xfrm>
            <a:off x="55075" y="459948"/>
            <a:ext cx="4465200" cy="2050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Cline vs Claude Code AI coding assistants</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Cline is VS Code  extension. Claude Code is primarily a terminal app, good for scripting actions and for team work</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Cline was around for approx 1.5 year and has estimated 4 Mln users; it is free and open source</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Claude Code user-base is MUCH  bigger. </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The 3 largest AI assistants are: </a:t>
            </a:r>
            <a:br>
              <a:rPr lang="en" sz="1100">
                <a:latin typeface="Calibri"/>
                <a:ea typeface="Calibri"/>
                <a:cs typeface="Calibri"/>
                <a:sym typeface="Calibri"/>
              </a:rPr>
            </a:br>
            <a:r>
              <a:rPr lang="en" sz="1100" b="1">
                <a:solidFill>
                  <a:srgbClr val="3C78D8"/>
                </a:solidFill>
                <a:latin typeface="Calibri"/>
                <a:ea typeface="Calibri"/>
                <a:cs typeface="Calibri"/>
                <a:sym typeface="Calibri"/>
              </a:rPr>
              <a:t>GitHub Copilot, </a:t>
            </a:r>
            <a:br>
              <a:rPr lang="en" sz="1100" b="1">
                <a:solidFill>
                  <a:srgbClr val="3C78D8"/>
                </a:solidFill>
                <a:latin typeface="Calibri"/>
                <a:ea typeface="Calibri"/>
                <a:cs typeface="Calibri"/>
                <a:sym typeface="Calibri"/>
              </a:rPr>
            </a:br>
            <a:r>
              <a:rPr lang="en" sz="1100" b="1">
                <a:solidFill>
                  <a:srgbClr val="3C78D8"/>
                </a:solidFill>
                <a:latin typeface="Calibri"/>
                <a:ea typeface="Calibri"/>
                <a:cs typeface="Calibri"/>
                <a:sym typeface="Calibri"/>
              </a:rPr>
              <a:t>Cursor (by Anysphere), </a:t>
            </a:r>
            <a:br>
              <a:rPr lang="en" sz="1100" b="1">
                <a:solidFill>
                  <a:srgbClr val="3C78D8"/>
                </a:solidFill>
                <a:latin typeface="Calibri"/>
                <a:ea typeface="Calibri"/>
                <a:cs typeface="Calibri"/>
                <a:sym typeface="Calibri"/>
              </a:rPr>
            </a:br>
            <a:r>
              <a:rPr lang="en" sz="1100" b="1">
                <a:solidFill>
                  <a:srgbClr val="3C78D8"/>
                </a:solidFill>
                <a:latin typeface="Calibri"/>
                <a:ea typeface="Calibri"/>
                <a:cs typeface="Calibri"/>
                <a:sym typeface="Calibri"/>
              </a:rPr>
              <a:t>Claude Code</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Claude Code also has become available as a VS Code extension (Jan 20th) - and already has more than 3 Mln downloads - more than Cline.</a:t>
            </a:r>
            <a:endParaRPr sz="1100">
              <a:latin typeface="Calibri"/>
              <a:ea typeface="Calibri"/>
              <a:cs typeface="Calibri"/>
              <a:sym typeface="Calibri"/>
            </a:endParaRPr>
          </a:p>
        </p:txBody>
      </p:sp>
      <p:sp>
        <p:nvSpPr>
          <p:cNvPr id="156" name="Google Shape;156;p18"/>
          <p:cNvSpPr txBox="1"/>
          <p:nvPr/>
        </p:nvSpPr>
        <p:spPr>
          <a:xfrm>
            <a:off x="55075" y="2582949"/>
            <a:ext cx="4465200" cy="1788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Block's open-source Goose vs Claude Code</a:t>
            </a:r>
            <a:endParaRPr sz="1100" b="1">
              <a:solidFill>
                <a:srgbClr val="FF0000"/>
              </a:solidFill>
              <a:latin typeface="Calibri"/>
              <a:ea typeface="Calibri"/>
              <a:cs typeface="Calibri"/>
              <a:sym typeface="Calibri"/>
            </a:endParaRPr>
          </a:p>
          <a:p>
            <a:pPr marL="171450" marR="0" lvl="0" indent="-114300" algn="l" rtl="0">
              <a:lnSpc>
                <a:spcPct val="100000"/>
              </a:lnSpc>
              <a:spcBef>
                <a:spcPts val="0"/>
              </a:spcBef>
              <a:spcAft>
                <a:spcPts val="0"/>
              </a:spcAft>
              <a:buSzPts val="900"/>
              <a:buFont typeface="Calibri"/>
              <a:buChar char="●"/>
            </a:pPr>
            <a:r>
              <a:rPr lang="en" sz="900" u="sng">
                <a:solidFill>
                  <a:schemeClr val="hlink"/>
                </a:solidFill>
                <a:latin typeface="Calibri"/>
                <a:ea typeface="Calibri"/>
                <a:cs typeface="Calibri"/>
                <a:sym typeface="Calibri"/>
                <a:hlinkClick r:id="rId3"/>
              </a:rPr>
              <a:t>https://github.com/block/goose</a:t>
            </a:r>
            <a:r>
              <a:rPr lang="en" sz="900">
                <a:latin typeface="Calibri"/>
                <a:ea typeface="Calibri"/>
                <a:cs typeface="Calibri"/>
                <a:sym typeface="Calibri"/>
              </a:rPr>
              <a:t> - more than 27K GitHub stars</a:t>
            </a:r>
            <a:endParaRPr sz="900">
              <a:latin typeface="Calibri"/>
              <a:ea typeface="Calibri"/>
              <a:cs typeface="Calibri"/>
              <a:sym typeface="Calibri"/>
            </a:endParaRPr>
          </a:p>
          <a:p>
            <a:pPr marL="171450" marR="0" lvl="0" indent="-114300" algn="l" rtl="0">
              <a:lnSpc>
                <a:spcPct val="100000"/>
              </a:lnSpc>
              <a:spcBef>
                <a:spcPts val="0"/>
              </a:spcBef>
              <a:spcAft>
                <a:spcPts val="0"/>
              </a:spcAft>
              <a:buSzPts val="900"/>
              <a:buFont typeface="Calibri"/>
              <a:buChar char="●"/>
            </a:pPr>
            <a:r>
              <a:rPr lang="en" sz="900" u="sng">
                <a:solidFill>
                  <a:schemeClr val="hlink"/>
                </a:solidFill>
                <a:latin typeface="Calibri"/>
                <a:ea typeface="Calibri"/>
                <a:cs typeface="Calibri"/>
                <a:sym typeface="Calibri"/>
                <a:hlinkClick r:id="rId4"/>
              </a:rPr>
              <a:t>https://block.github.io/goose/</a:t>
            </a:r>
            <a:r>
              <a:rPr lang="en" sz="900">
                <a:latin typeface="Calibri"/>
                <a:ea typeface="Calibri"/>
                <a:cs typeface="Calibri"/>
                <a:sym typeface="Calibri"/>
              </a:rPr>
              <a:t> </a:t>
            </a:r>
            <a:endParaRPr sz="900">
              <a:latin typeface="Calibri"/>
              <a:ea typeface="Calibri"/>
              <a:cs typeface="Calibri"/>
              <a:sym typeface="Calibri"/>
            </a:endParaRPr>
          </a:p>
          <a:p>
            <a:pPr marL="171450" marR="0" lvl="0" indent="-114300" algn="l" rtl="0">
              <a:lnSpc>
                <a:spcPct val="100000"/>
              </a:lnSpc>
              <a:spcBef>
                <a:spcPts val="0"/>
              </a:spcBef>
              <a:spcAft>
                <a:spcPts val="0"/>
              </a:spcAft>
              <a:buSzPts val="900"/>
              <a:buFont typeface="Calibri"/>
              <a:buChar char="●"/>
            </a:pPr>
            <a:r>
              <a:rPr lang="en" sz="900" u="sng">
                <a:solidFill>
                  <a:schemeClr val="hlink"/>
                </a:solidFill>
                <a:latin typeface="Calibri"/>
                <a:ea typeface="Calibri"/>
                <a:cs typeface="Calibri"/>
                <a:sym typeface="Calibri"/>
                <a:hlinkClick r:id="rId5"/>
              </a:rPr>
              <a:t>https://block.github.io/goose/docs/quickstart/</a:t>
            </a:r>
            <a:endParaRPr sz="900">
              <a:latin typeface="Calibri"/>
              <a:ea typeface="Calibri"/>
              <a:cs typeface="Calibri"/>
              <a:sym typeface="Calibri"/>
            </a:endParaRPr>
          </a:p>
          <a:p>
            <a:pPr marL="171450" marR="0" lvl="0" indent="-114300" algn="l" rtl="0">
              <a:lnSpc>
                <a:spcPct val="100000"/>
              </a:lnSpc>
              <a:spcBef>
                <a:spcPts val="0"/>
              </a:spcBef>
              <a:spcAft>
                <a:spcPts val="0"/>
              </a:spcAft>
              <a:buSzPts val="900"/>
              <a:buFont typeface="Calibri"/>
              <a:buChar char="●"/>
            </a:pPr>
            <a:r>
              <a:rPr lang="en" sz="900" u="sng">
                <a:solidFill>
                  <a:schemeClr val="hlink"/>
                </a:solidFill>
                <a:latin typeface="Calibri"/>
                <a:ea typeface="Calibri"/>
                <a:cs typeface="Calibri"/>
                <a:sym typeface="Calibri"/>
                <a:hlinkClick r:id="rId6"/>
              </a:rPr>
              <a:t>https://block.github.io/goose/docs/getting-started/installation/</a:t>
            </a:r>
            <a:r>
              <a:rPr lang="en" sz="900">
                <a:latin typeface="Calibri"/>
                <a:ea typeface="Calibri"/>
                <a:cs typeface="Calibri"/>
                <a:sym typeface="Calibri"/>
              </a:rPr>
              <a:t> </a:t>
            </a:r>
            <a:endParaRPr sz="9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Goose is available as both a </a:t>
            </a:r>
            <a:r>
              <a:rPr lang="en" sz="1100" b="1">
                <a:solidFill>
                  <a:srgbClr val="FF0000"/>
                </a:solidFill>
                <a:latin typeface="Calibri"/>
                <a:ea typeface="Calibri"/>
                <a:cs typeface="Calibri"/>
                <a:sym typeface="Calibri"/>
              </a:rPr>
              <a:t>desktop application and CLI tool</a:t>
            </a:r>
            <a:r>
              <a:rPr lang="en" sz="1100">
                <a:latin typeface="Calibri"/>
                <a:ea typeface="Calibri"/>
                <a:cs typeface="Calibri"/>
                <a:sym typeface="Calibri"/>
              </a:rPr>
              <a:t>, supporting macOS, Linux, and Windows. Supports variety of models</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You can install Goose via download script or Homebrew: </a:t>
            </a:r>
            <a:br>
              <a:rPr lang="en" sz="1100">
                <a:latin typeface="Calibri"/>
                <a:ea typeface="Calibri"/>
                <a:cs typeface="Calibri"/>
                <a:sym typeface="Calibri"/>
              </a:rPr>
            </a:br>
            <a:r>
              <a:rPr lang="en" sz="800">
                <a:solidFill>
                  <a:srgbClr val="3C78D8"/>
                </a:solidFill>
                <a:latin typeface="Calibri"/>
                <a:ea typeface="Calibri"/>
                <a:cs typeface="Calibri"/>
                <a:sym typeface="Calibri"/>
              </a:rPr>
              <a:t>curl -fsSL https://github.com/block/goose/releases/download/stable/download_cli.sh | bash</a:t>
            </a:r>
            <a:br>
              <a:rPr lang="en" sz="800">
                <a:solidFill>
                  <a:srgbClr val="3C78D8"/>
                </a:solidFill>
                <a:latin typeface="Calibri"/>
                <a:ea typeface="Calibri"/>
                <a:cs typeface="Calibri"/>
                <a:sym typeface="Calibri"/>
              </a:rPr>
            </a:br>
            <a:r>
              <a:rPr lang="en" sz="800">
                <a:solidFill>
                  <a:srgbClr val="3C78D8"/>
                </a:solidFill>
                <a:latin typeface="Calibri"/>
                <a:ea typeface="Calibri"/>
                <a:cs typeface="Calibri"/>
                <a:sym typeface="Calibri"/>
              </a:rPr>
              <a:t>brew install --cask block-goose</a:t>
            </a:r>
            <a:br>
              <a:rPr lang="en" sz="800">
                <a:solidFill>
                  <a:srgbClr val="3C78D8"/>
                </a:solidFill>
                <a:latin typeface="Calibri"/>
                <a:ea typeface="Calibri"/>
                <a:cs typeface="Calibri"/>
                <a:sym typeface="Calibri"/>
              </a:rPr>
            </a:br>
            <a:r>
              <a:rPr lang="en" sz="800">
                <a:solidFill>
                  <a:srgbClr val="3C78D8"/>
                </a:solidFill>
                <a:latin typeface="Calibri"/>
                <a:ea typeface="Calibri"/>
                <a:cs typeface="Calibri"/>
                <a:sym typeface="Calibri"/>
              </a:rPr>
              <a:t>brew install block-goose-cli</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No subscription fees, no cloud dependencies, no usage limits</a:t>
            </a:r>
            <a:endParaRPr sz="1100">
              <a:latin typeface="Calibri"/>
              <a:ea typeface="Calibri"/>
              <a:cs typeface="Calibri"/>
              <a:sym typeface="Calibri"/>
            </a:endParaRPr>
          </a:p>
        </p:txBody>
      </p:sp>
      <p:pic>
        <p:nvPicPr>
          <p:cNvPr id="157" name="Google Shape;157;p18"/>
          <p:cNvPicPr preferRelativeResize="0"/>
          <p:nvPr/>
        </p:nvPicPr>
        <p:blipFill>
          <a:blip r:embed="rId7" cstate="email">
            <a:alphaModFix/>
            <a:extLst>
              <a:ext uri="{28A0092B-C50C-407E-A947-70E740481C1C}">
                <a14:useLocalDpi xmlns:a14="http://schemas.microsoft.com/office/drawing/2010/main"/>
              </a:ext>
            </a:extLst>
          </a:blip>
          <a:stretch>
            <a:fillRect/>
          </a:stretch>
        </p:blipFill>
        <p:spPr>
          <a:xfrm>
            <a:off x="4841250" y="2772313"/>
            <a:ext cx="2041175" cy="1409875"/>
          </a:xfrm>
          <a:prstGeom prst="rect">
            <a:avLst/>
          </a:prstGeom>
          <a:noFill/>
          <a:ln w="9525" cap="flat" cmpd="sng">
            <a:solidFill>
              <a:srgbClr val="FF0000"/>
            </a:solidFill>
            <a:prstDash val="solid"/>
            <a:round/>
            <a:headEnd type="none" w="sm" len="sm"/>
            <a:tailEnd type="none" w="sm" len="sm"/>
          </a:ln>
        </p:spPr>
      </p:pic>
      <p:pic>
        <p:nvPicPr>
          <p:cNvPr id="158" name="Google Shape;158;p18"/>
          <p:cNvPicPr preferRelativeResize="0"/>
          <p:nvPr/>
        </p:nvPicPr>
        <p:blipFill>
          <a:blip r:embed="rId8" cstate="email">
            <a:alphaModFix/>
            <a:extLst>
              <a:ext uri="{28A0092B-C50C-407E-A947-70E740481C1C}">
                <a14:useLocalDpi xmlns:a14="http://schemas.microsoft.com/office/drawing/2010/main"/>
              </a:ext>
            </a:extLst>
          </a:blip>
          <a:stretch>
            <a:fillRect/>
          </a:stretch>
        </p:blipFill>
        <p:spPr>
          <a:xfrm>
            <a:off x="4841241" y="816916"/>
            <a:ext cx="2270774" cy="643075"/>
          </a:xfrm>
          <a:prstGeom prst="rect">
            <a:avLst/>
          </a:prstGeom>
          <a:noFill/>
          <a:ln w="9525" cap="flat" cmpd="sng">
            <a:solidFill>
              <a:srgbClr val="FF0000"/>
            </a:solidFill>
            <a:prstDash val="solid"/>
            <a:round/>
            <a:headEnd type="none" w="sm" len="sm"/>
            <a:tailEnd type="none" w="sm" len="sm"/>
          </a:ln>
        </p:spPr>
      </p:pic>
      <p:pic>
        <p:nvPicPr>
          <p:cNvPr id="159" name="Google Shape;159;p18"/>
          <p:cNvPicPr preferRelativeResize="0"/>
          <p:nvPr/>
        </p:nvPicPr>
        <p:blipFill>
          <a:blip r:embed="rId9" cstate="email">
            <a:alphaModFix/>
            <a:extLst>
              <a:ext uri="{28A0092B-C50C-407E-A947-70E740481C1C}">
                <a14:useLocalDpi xmlns:a14="http://schemas.microsoft.com/office/drawing/2010/main"/>
              </a:ext>
            </a:extLst>
          </a:blip>
          <a:stretch>
            <a:fillRect/>
          </a:stretch>
        </p:blipFill>
        <p:spPr>
          <a:xfrm>
            <a:off x="6690950" y="1538971"/>
            <a:ext cx="1423325" cy="734475"/>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19"/>
          <p:cNvSpPr txBox="1"/>
          <p:nvPr/>
        </p:nvSpPr>
        <p:spPr>
          <a:xfrm>
            <a:off x="55075" y="43025"/>
            <a:ext cx="44652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sp>
        <p:nvSpPr>
          <p:cNvPr id="165" name="Google Shape;165;p19"/>
          <p:cNvSpPr txBox="1"/>
          <p:nvPr/>
        </p:nvSpPr>
        <p:spPr>
          <a:xfrm>
            <a:off x="55075" y="459948"/>
            <a:ext cx="4465200" cy="1711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Stack Overflow - Rapid Decline</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Its massive repository of public coding knowledge was used to train the very AI models that have now replaced it</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Since late 2022, developers have pivoted from searching message boards to using AI agents and LLMs for instant, personalized debugging and code generation</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The founders sold the platform for $1.8 Bln in 2021, just before the AI boom decimated its traffic and value</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As developers use AI to generate code, compile, debug, and test it - this data is used by AI providers to train the models instead of human posts</a:t>
            </a:r>
            <a:endParaRPr sz="1100">
              <a:latin typeface="Calibri"/>
              <a:ea typeface="Calibri"/>
              <a:cs typeface="Calibri"/>
              <a:sym typeface="Calibri"/>
            </a:endParaRPr>
          </a:p>
        </p:txBody>
      </p:sp>
      <p:sp>
        <p:nvSpPr>
          <p:cNvPr id="166" name="Google Shape;166;p19"/>
          <p:cNvSpPr txBox="1"/>
          <p:nvPr/>
        </p:nvSpPr>
        <p:spPr>
          <a:xfrm>
            <a:off x="55075" y="2261973"/>
            <a:ext cx="4465200" cy="1542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GLM-4.7 Flash - Lightweight and Free</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High-speed coding, agent building, and UI generation</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Reasoning ("interleaved" and "preserved" thinking)</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Impressive 59% on SWE-bench Verified (full version ~74%)</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30B MoE architecture, lightning-fast responses, handles long-context tasks without losing accuracy</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Practical Use Cases - coding, AI Agents, UI Generation</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Can be accessed via the Z.ai API (with a free tier) or deploy it locally using weights from Hugging Face for complete privacy and zero latency</a:t>
            </a:r>
            <a:endParaRPr sz="1100">
              <a:latin typeface="Calibri"/>
              <a:ea typeface="Calibri"/>
              <a:cs typeface="Calibri"/>
              <a:sym typeface="Calibri"/>
            </a:endParaRPr>
          </a:p>
        </p:txBody>
      </p:sp>
      <p:pic>
        <p:nvPicPr>
          <p:cNvPr id="167" name="Google Shape;167;p19"/>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4672675" y="597400"/>
            <a:ext cx="2864949" cy="1430500"/>
          </a:xfrm>
          <a:prstGeom prst="rect">
            <a:avLst/>
          </a:prstGeom>
          <a:noFill/>
          <a:ln w="9525" cap="flat" cmpd="sng">
            <a:solidFill>
              <a:srgbClr val="FF0000"/>
            </a:solidFill>
            <a:prstDash val="solid"/>
            <a:round/>
            <a:headEnd type="none" w="sm" len="sm"/>
            <a:tailEnd type="none" w="sm" len="sm"/>
          </a:ln>
        </p:spPr>
      </p:pic>
      <p:pic>
        <p:nvPicPr>
          <p:cNvPr id="168" name="Google Shape;168;p19"/>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4672675" y="2441168"/>
            <a:ext cx="2864950" cy="1135498"/>
          </a:xfrm>
          <a:prstGeom prst="rect">
            <a:avLst/>
          </a:prstGeom>
          <a:noFill/>
          <a:ln w="9525" cap="flat" cmpd="sng">
            <a:solidFill>
              <a:srgbClr val="FF0000"/>
            </a:solidFill>
            <a:prstDash val="solid"/>
            <a:round/>
            <a:headEnd type="none" w="sm" len="sm"/>
            <a:tailEnd type="none" w="sm" len="sm"/>
          </a:ln>
        </p:spPr>
      </p:pic>
      <p:sp>
        <p:nvSpPr>
          <p:cNvPr id="169" name="Google Shape;169;p19"/>
          <p:cNvSpPr txBox="1"/>
          <p:nvPr/>
        </p:nvSpPr>
        <p:spPr>
          <a:xfrm>
            <a:off x="55075" y="3984098"/>
            <a:ext cx="4465200" cy="757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Baidu ERNIE 5.0</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Native omni-modal large model</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2.4T-parama MoE, under 3% active params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5"/>
              </a:rPr>
              <a:t>https://x.com/Baidu_Inc/status/2014252300018254054</a:t>
            </a:r>
            <a:r>
              <a:rPr lang="en" sz="1200">
                <a:latin typeface="Calibri"/>
                <a:ea typeface="Calibri"/>
                <a:cs typeface="Calibri"/>
                <a:sym typeface="Calibri"/>
              </a:rPr>
              <a:t> </a:t>
            </a:r>
            <a:endParaRPr sz="1200">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20"/>
          <p:cNvSpPr txBox="1"/>
          <p:nvPr/>
        </p:nvSpPr>
        <p:spPr>
          <a:xfrm>
            <a:off x="179326" y="478350"/>
            <a:ext cx="4917900" cy="4186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2500"/>
              <a:buFont typeface="Arial"/>
              <a:buNone/>
            </a:pPr>
            <a:r>
              <a:rPr lang="en" sz="2200">
                <a:solidFill>
                  <a:schemeClr val="dk1"/>
                </a:solidFill>
                <a:latin typeface="Calibri"/>
                <a:ea typeface="Calibri"/>
                <a:cs typeface="Calibri"/>
                <a:sym typeface="Calibri"/>
              </a:rPr>
              <a:t>We do these weekly videos every Friday</a:t>
            </a:r>
            <a:endParaRPr sz="2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2500"/>
              <a:buFont typeface="Arial"/>
              <a:buNone/>
            </a:pPr>
            <a:r>
              <a:rPr lang="en" sz="2200">
                <a:solidFill>
                  <a:schemeClr val="dk1"/>
                </a:solidFill>
                <a:latin typeface="Calibri"/>
                <a:ea typeface="Calibri"/>
                <a:cs typeface="Calibri"/>
                <a:sym typeface="Calibri"/>
              </a:rPr>
              <a:t>Stats: 6.06K subscribers, 263 videos</a:t>
            </a:r>
            <a:endParaRPr sz="2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2500"/>
              <a:buFont typeface="Arial"/>
              <a:buNone/>
            </a:pPr>
            <a:endParaRPr sz="2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2500"/>
              <a:buFont typeface="Arial"/>
              <a:buNone/>
            </a:pPr>
            <a:r>
              <a:rPr lang="en" sz="2200">
                <a:solidFill>
                  <a:schemeClr val="dk1"/>
                </a:solidFill>
                <a:latin typeface="Calibri"/>
                <a:ea typeface="Calibri"/>
                <a:cs typeface="Calibri"/>
                <a:sym typeface="Calibri"/>
              </a:rPr>
              <a:t>1. Subscribe to this channel </a:t>
            </a:r>
            <a:r>
              <a:rPr lang="en" sz="1800" b="1" u="sng">
                <a:solidFill>
                  <a:schemeClr val="accent5"/>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https://www.youtube.com/@lev-selector</a:t>
            </a:r>
            <a:r>
              <a:rPr lang="en" sz="1800" b="1">
                <a:solidFill>
                  <a:schemeClr val="dk1"/>
                </a:solidFill>
                <a:latin typeface="Calibri"/>
                <a:ea typeface="Calibri"/>
                <a:cs typeface="Calibri"/>
                <a:sym typeface="Calibri"/>
              </a:rPr>
              <a:t> </a:t>
            </a:r>
            <a:endParaRPr sz="1800" b="1">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2500"/>
              <a:buFont typeface="Arial"/>
              <a:buNone/>
            </a:pPr>
            <a:endParaRPr sz="2200">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2500"/>
              <a:buFont typeface="Arial"/>
              <a:buNone/>
            </a:pPr>
            <a:r>
              <a:rPr lang="en" sz="2200">
                <a:solidFill>
                  <a:schemeClr val="dk1"/>
                </a:solidFill>
                <a:latin typeface="Calibri"/>
                <a:ea typeface="Calibri"/>
                <a:cs typeface="Calibri"/>
                <a:sym typeface="Calibri"/>
              </a:rPr>
              <a:t>2. Download slides from GitHub using links under the videos</a:t>
            </a:r>
            <a:endParaRPr sz="2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2500"/>
              <a:buFont typeface="Arial"/>
              <a:buNone/>
            </a:pPr>
            <a:endParaRPr sz="2200">
              <a:solidFill>
                <a:schemeClr val="dk1"/>
              </a:solidFill>
              <a:latin typeface="Calibri"/>
              <a:ea typeface="Calibri"/>
              <a:cs typeface="Calibri"/>
              <a:sym typeface="Calibri"/>
            </a:endParaRPr>
          </a:p>
          <a:p>
            <a:pPr marL="0" lvl="0" indent="0" algn="l" rtl="0">
              <a:spcBef>
                <a:spcPts val="0"/>
              </a:spcBef>
              <a:spcAft>
                <a:spcPts val="0"/>
              </a:spcAft>
              <a:buClr>
                <a:schemeClr val="dk1"/>
              </a:buClr>
              <a:buSzPts val="2500"/>
              <a:buFont typeface="Arial"/>
              <a:buNone/>
            </a:pPr>
            <a:r>
              <a:rPr lang="en" sz="2200">
                <a:solidFill>
                  <a:schemeClr val="dk1"/>
                </a:solidFill>
                <a:latin typeface="Calibri"/>
                <a:ea typeface="Calibri"/>
                <a:cs typeface="Calibri"/>
                <a:sym typeface="Calibri"/>
              </a:rPr>
              <a:t>3. </a:t>
            </a:r>
            <a:r>
              <a:rPr lang="en" sz="2200" b="1">
                <a:solidFill>
                  <a:srgbClr val="FF0000"/>
                </a:solidFill>
                <a:latin typeface="Calibri"/>
                <a:ea typeface="Calibri"/>
                <a:cs typeface="Calibri"/>
                <a:sym typeface="Calibri"/>
              </a:rPr>
              <a:t>Please pause the video - and answer the pinned question in comments under the video</a:t>
            </a:r>
            <a:endParaRPr sz="1800" b="1" i="0" u="none" strike="noStrike" cap="none">
              <a:solidFill>
                <a:srgbClr val="FF0000"/>
              </a:solidFill>
              <a:latin typeface="Calibri"/>
              <a:ea typeface="Calibri"/>
              <a:cs typeface="Calibri"/>
              <a:sym typeface="Calibri"/>
            </a:endParaRPr>
          </a:p>
        </p:txBody>
      </p:sp>
      <p:pic>
        <p:nvPicPr>
          <p:cNvPr id="175" name="Google Shape;175;p20"/>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5543850" y="61375"/>
            <a:ext cx="3517525" cy="4970901"/>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21"/>
          <p:cNvSpPr txBox="1"/>
          <p:nvPr/>
        </p:nvSpPr>
        <p:spPr>
          <a:xfrm>
            <a:off x="55075" y="43025"/>
            <a:ext cx="44652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sp>
        <p:nvSpPr>
          <p:cNvPr id="181" name="Google Shape;181;p21"/>
          <p:cNvSpPr txBox="1"/>
          <p:nvPr/>
        </p:nvSpPr>
        <p:spPr>
          <a:xfrm>
            <a:off x="55075" y="459948"/>
            <a:ext cx="4465200" cy="2742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Anti-gravity Update - Skill Builder capability</a:t>
            </a:r>
            <a:endParaRPr sz="12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Teach AI agents custom workflows using a single prompt</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The agent observes a user’s actions once, captures the pattern, and saves it as a reusable skill</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Zero Coding, Dynamic Learning (skills adapt to inputs), chaining multiple skills to create automated end-to-end business processes</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Users can tag specific agents (e.g., @frontend-design) to generate superior, modern code compared to standard prompts</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Notebook LM Integration: A new research skill that allows Anti-gravity to query Google Notebook LM URLs for specific data extraction.</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Loki Mode: An autonomous system that dispatches parallel agents to handle planning, architecture, and verification.</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Deployment: Easy integration with platforms like Vercel and Netlify via Model Context Protocol (MCP) tools.</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u="sng">
                <a:solidFill>
                  <a:schemeClr val="hlink"/>
                </a:solidFill>
                <a:latin typeface="Calibri"/>
                <a:ea typeface="Calibri"/>
                <a:cs typeface="Calibri"/>
                <a:sym typeface="Calibri"/>
                <a:hlinkClick r:id="rId3"/>
              </a:rPr>
              <a:t>https://www.youtube.com/watch?v=Nr4DuTI27CY</a:t>
            </a:r>
            <a:r>
              <a:rPr lang="en" sz="1100">
                <a:latin typeface="Calibri"/>
                <a:ea typeface="Calibri"/>
                <a:cs typeface="Calibri"/>
                <a:sym typeface="Calibri"/>
              </a:rPr>
              <a:t> </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u="sng">
                <a:solidFill>
                  <a:schemeClr val="hlink"/>
                </a:solidFill>
                <a:latin typeface="Calibri"/>
                <a:ea typeface="Calibri"/>
                <a:cs typeface="Calibri"/>
                <a:sym typeface="Calibri"/>
                <a:hlinkClick r:id="rId4"/>
              </a:rPr>
              <a:t>https://www.youtube.com/watch?v=tdzFX2u3dgA</a:t>
            </a:r>
            <a:r>
              <a:rPr lang="en" sz="1100">
                <a:latin typeface="Calibri"/>
                <a:ea typeface="Calibri"/>
                <a:cs typeface="Calibri"/>
                <a:sym typeface="Calibri"/>
              </a:rPr>
              <a:t> </a:t>
            </a:r>
            <a:endParaRPr sz="1100">
              <a:latin typeface="Calibri"/>
              <a:ea typeface="Calibri"/>
              <a:cs typeface="Calibri"/>
              <a:sym typeface="Calibri"/>
            </a:endParaRPr>
          </a:p>
        </p:txBody>
      </p:sp>
      <p:sp>
        <p:nvSpPr>
          <p:cNvPr id="182" name="Google Shape;182;p21"/>
          <p:cNvSpPr txBox="1"/>
          <p:nvPr/>
        </p:nvSpPr>
        <p:spPr>
          <a:xfrm>
            <a:off x="55075" y="3296167"/>
            <a:ext cx="4465200" cy="1557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Gemini CLI Update: Session Persistence</a:t>
            </a:r>
            <a:endParaRPr sz="12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solidFill>
                  <a:schemeClr val="dk1"/>
                </a:solidFill>
                <a:latin typeface="Calibri"/>
                <a:ea typeface="Calibri"/>
                <a:cs typeface="Calibri"/>
                <a:sym typeface="Calibri"/>
              </a:rPr>
              <a:t>Automatic background session saving - every prompt and response is stored locally</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solidFill>
                  <a:schemeClr val="dk1"/>
                </a:solidFill>
                <a:latin typeface="Calibri"/>
                <a:ea typeface="Calibri"/>
                <a:cs typeface="Calibri"/>
                <a:sym typeface="Calibri"/>
              </a:rPr>
              <a:t>Use "gemini -res" to instantly resume the most recent conversation exactly where it left off</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solidFill>
                  <a:schemeClr val="dk1"/>
                </a:solidFill>
                <a:latin typeface="Calibri"/>
                <a:ea typeface="Calibri"/>
                <a:cs typeface="Calibri"/>
                <a:sym typeface="Calibri"/>
              </a:rPr>
              <a:t>Use /resume command within the CLI to open a searchable list of all past conversations, allowing users to jump back into specific workflows from days prior</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u="sng">
                <a:solidFill>
                  <a:schemeClr val="hlink"/>
                </a:solidFill>
                <a:latin typeface="Calibri"/>
                <a:ea typeface="Calibri"/>
                <a:cs typeface="Calibri"/>
                <a:sym typeface="Calibri"/>
                <a:hlinkClick r:id="rId5"/>
              </a:rPr>
              <a:t>https://www.youtube.com/watch?v=-luEGxUCbTA</a:t>
            </a:r>
            <a:r>
              <a:rPr lang="en" sz="1100">
                <a:solidFill>
                  <a:schemeClr val="dk1"/>
                </a:solidFill>
                <a:latin typeface="Calibri"/>
                <a:ea typeface="Calibri"/>
                <a:cs typeface="Calibri"/>
                <a:sym typeface="Calibri"/>
              </a:rPr>
              <a:t> </a:t>
            </a:r>
            <a:endParaRPr sz="1100">
              <a:solidFill>
                <a:schemeClr val="dk1"/>
              </a:solidFill>
              <a:latin typeface="Calibri"/>
              <a:ea typeface="Calibri"/>
              <a:cs typeface="Calibri"/>
              <a:sym typeface="Calibri"/>
            </a:endParaRPr>
          </a:p>
        </p:txBody>
      </p:sp>
      <p:pic>
        <p:nvPicPr>
          <p:cNvPr id="183" name="Google Shape;183;p21"/>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4602696" y="458349"/>
            <a:ext cx="1828000" cy="1884649"/>
          </a:xfrm>
          <a:prstGeom prst="rect">
            <a:avLst/>
          </a:prstGeom>
          <a:noFill/>
          <a:ln w="9525" cap="flat" cmpd="sng">
            <a:solidFill>
              <a:srgbClr val="FF0000"/>
            </a:solidFill>
            <a:prstDash val="solid"/>
            <a:round/>
            <a:headEnd type="none" w="sm" len="sm"/>
            <a:tailEnd type="none" w="sm" len="sm"/>
          </a:ln>
        </p:spPr>
      </p:pic>
      <p:pic>
        <p:nvPicPr>
          <p:cNvPr id="184" name="Google Shape;184;p21"/>
          <p:cNvPicPr preferRelativeResize="0"/>
          <p:nvPr/>
        </p:nvPicPr>
        <p:blipFill rotWithShape="1">
          <a:blip r:embed="rId7" cstate="email">
            <a:alphaModFix/>
            <a:extLst>
              <a:ext uri="{28A0092B-C50C-407E-A947-70E740481C1C}">
                <a14:useLocalDpi xmlns:a14="http://schemas.microsoft.com/office/drawing/2010/main"/>
              </a:ext>
            </a:extLst>
          </a:blip>
          <a:srcRect/>
          <a:stretch/>
        </p:blipFill>
        <p:spPr>
          <a:xfrm>
            <a:off x="4602700" y="3615025"/>
            <a:ext cx="2430150" cy="919875"/>
          </a:xfrm>
          <a:prstGeom prst="rect">
            <a:avLst/>
          </a:prstGeom>
          <a:noFill/>
          <a:ln w="9525" cap="flat" cmpd="sng">
            <a:solidFill>
              <a:srgbClr val="FF0000"/>
            </a:solidFill>
            <a:prstDash val="solid"/>
            <a:round/>
            <a:headEnd type="none" w="sm" len="sm"/>
            <a:tailEnd type="none" w="sm" len="sm"/>
          </a:ln>
        </p:spPr>
      </p:pic>
      <p:sp>
        <p:nvSpPr>
          <p:cNvPr id="185" name="Google Shape;185;p21"/>
          <p:cNvSpPr txBox="1"/>
          <p:nvPr/>
        </p:nvSpPr>
        <p:spPr>
          <a:xfrm>
            <a:off x="6513125" y="459950"/>
            <a:ext cx="2567700" cy="2050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Google Anti-gravity + Open Code</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Clr>
                <a:srgbClr val="3C78D8"/>
              </a:buClr>
              <a:buSzPts val="1100"/>
              <a:buFont typeface="Calibri"/>
              <a:buChar char="●"/>
            </a:pPr>
            <a:r>
              <a:rPr lang="en" sz="1100" b="1">
                <a:solidFill>
                  <a:srgbClr val="3C78D8"/>
                </a:solidFill>
                <a:latin typeface="Calibri"/>
                <a:ea typeface="Calibri"/>
                <a:cs typeface="Calibri"/>
                <a:sym typeface="Calibri"/>
              </a:rPr>
              <a:t>"conductor and lead engineer" workflow</a:t>
            </a:r>
            <a:endParaRPr sz="1100" b="1">
              <a:solidFill>
                <a:srgbClr val="3C78D8"/>
              </a:solidFill>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b="1">
                <a:solidFill>
                  <a:srgbClr val="FF0000"/>
                </a:solidFill>
                <a:latin typeface="Calibri"/>
                <a:ea typeface="Calibri"/>
                <a:cs typeface="Calibri"/>
                <a:sym typeface="Calibri"/>
              </a:rPr>
              <a:t>Anti-gravity </a:t>
            </a:r>
            <a:r>
              <a:rPr lang="en" sz="1100">
                <a:latin typeface="Calibri"/>
                <a:ea typeface="Calibri"/>
                <a:cs typeface="Calibri"/>
                <a:sym typeface="Calibri"/>
              </a:rPr>
              <a:t>good at planning</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b="1">
                <a:solidFill>
                  <a:srgbClr val="FF0000"/>
                </a:solidFill>
                <a:latin typeface="Calibri"/>
                <a:ea typeface="Calibri"/>
                <a:cs typeface="Calibri"/>
                <a:sym typeface="Calibri"/>
              </a:rPr>
              <a:t>Open Code</a:t>
            </a:r>
            <a:r>
              <a:rPr lang="en" sz="1100">
                <a:latin typeface="Calibri"/>
                <a:ea typeface="Calibri"/>
                <a:cs typeface="Calibri"/>
                <a:sym typeface="Calibri"/>
              </a:rPr>
              <a:t> is superior for surgical code changes and model flexibility</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Demo: using Anti-gravity (powered by Opus 4.5) to generate a complex implementation plan; Using Open Code as attachment to execute the plan (do the coding)</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u="sng">
                <a:solidFill>
                  <a:schemeClr val="hlink"/>
                </a:solidFill>
                <a:latin typeface="Calibri"/>
                <a:ea typeface="Calibri"/>
                <a:cs typeface="Calibri"/>
                <a:sym typeface="Calibri"/>
                <a:hlinkClick r:id="rId8"/>
              </a:rPr>
              <a:t>https://www.youtube.com/watch?v=dzDVt3-MTRk</a:t>
            </a:r>
            <a:r>
              <a:rPr lang="en" sz="1100">
                <a:latin typeface="Calibri"/>
                <a:ea typeface="Calibri"/>
                <a:cs typeface="Calibri"/>
                <a:sym typeface="Calibri"/>
              </a:rPr>
              <a:t> </a:t>
            </a:r>
            <a:endParaRPr sz="1100">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Google Shape;190;p22"/>
          <p:cNvSpPr txBox="1"/>
          <p:nvPr/>
        </p:nvSpPr>
        <p:spPr>
          <a:xfrm>
            <a:off x="55075" y="43025"/>
            <a:ext cx="23340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sp>
        <p:nvSpPr>
          <p:cNvPr id="191" name="Google Shape;191;p22"/>
          <p:cNvSpPr txBox="1"/>
          <p:nvPr/>
        </p:nvSpPr>
        <p:spPr>
          <a:xfrm>
            <a:off x="55075" y="2450757"/>
            <a:ext cx="5450400" cy="880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Manus AI (Meta) - develop mobile apps</a:t>
            </a:r>
            <a:endParaRPr sz="12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Easy to use, packages files for iOS and Android</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Overall preferred over Lovable - better reliability and real-world utility</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Manus can also automate daily tasks (research, saving reports to GDrive)</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u="sng">
                <a:solidFill>
                  <a:schemeClr val="hlink"/>
                </a:solidFill>
                <a:latin typeface="Calibri"/>
                <a:ea typeface="Calibri"/>
                <a:cs typeface="Calibri"/>
                <a:sym typeface="Calibri"/>
                <a:hlinkClick r:id="rId3"/>
              </a:rPr>
              <a:t>https://www.youtube.com/watch?v=WSSs4WGImOQ</a:t>
            </a:r>
            <a:r>
              <a:rPr lang="en" sz="1100">
                <a:latin typeface="Calibri"/>
                <a:ea typeface="Calibri"/>
                <a:cs typeface="Calibri"/>
                <a:sym typeface="Calibri"/>
              </a:rPr>
              <a:t> </a:t>
            </a:r>
            <a:endParaRPr sz="1100">
              <a:latin typeface="Calibri"/>
              <a:ea typeface="Calibri"/>
              <a:cs typeface="Calibri"/>
              <a:sym typeface="Calibri"/>
            </a:endParaRPr>
          </a:p>
        </p:txBody>
      </p:sp>
      <p:sp>
        <p:nvSpPr>
          <p:cNvPr id="192" name="Google Shape;192;p22"/>
          <p:cNvSpPr txBox="1"/>
          <p:nvPr/>
        </p:nvSpPr>
        <p:spPr>
          <a:xfrm>
            <a:off x="55075" y="3397775"/>
            <a:ext cx="6226800" cy="1557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Claude Code extension for VS Code</a:t>
            </a:r>
            <a:endParaRPr sz="12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Claude Code operates within VS Code sidebar, offers user-friendly UI than the terminal-based version</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Supports planning modes, sub-agents, custom slash commands, and Model Context Protocol (MCP)</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Auto-Compact Feature - solves context window limitations by automatically managing tokens, allowing for longer development sessions without performance drops</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Real-Time Problem Solving - the tool can read error messages, fix bugs, use a "browser agent" for testing</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u="sng">
                <a:solidFill>
                  <a:schemeClr val="hlink"/>
                </a:solidFill>
                <a:latin typeface="Calibri"/>
                <a:ea typeface="Calibri"/>
                <a:cs typeface="Calibri"/>
                <a:sym typeface="Calibri"/>
                <a:hlinkClick r:id="rId4"/>
              </a:rPr>
              <a:t>https://www.youtube.com/watch?v=YZoxOVQT_RM</a:t>
            </a:r>
            <a:r>
              <a:rPr lang="en" sz="1100">
                <a:latin typeface="Calibri"/>
                <a:ea typeface="Calibri"/>
                <a:cs typeface="Calibri"/>
                <a:sym typeface="Calibri"/>
              </a:rPr>
              <a:t> </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Claude Code Updates - Custom Planning Directory, Automated Plan Workflows (PostToolUse hooks), Context Management, MCP Tool Search, ...</a:t>
            </a:r>
            <a:endParaRPr sz="1100">
              <a:latin typeface="Calibri"/>
              <a:ea typeface="Calibri"/>
              <a:cs typeface="Calibri"/>
              <a:sym typeface="Calibri"/>
            </a:endParaRPr>
          </a:p>
        </p:txBody>
      </p:sp>
      <p:sp>
        <p:nvSpPr>
          <p:cNvPr id="193" name="Google Shape;193;p22"/>
          <p:cNvSpPr txBox="1"/>
          <p:nvPr/>
        </p:nvSpPr>
        <p:spPr>
          <a:xfrm>
            <a:off x="55081" y="402536"/>
            <a:ext cx="5450400" cy="2004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Aion UI - open-source "Co-work" alternative</a:t>
            </a:r>
            <a:endParaRPr sz="12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solidFill>
                  <a:schemeClr val="dk1"/>
                </a:solidFill>
                <a:latin typeface="Calibri"/>
                <a:ea typeface="Calibri"/>
                <a:cs typeface="Calibri"/>
                <a:sym typeface="Calibri"/>
              </a:rPr>
              <a:t>Co-work is restricted to Anthropic Pro/Max users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b="1">
                <a:solidFill>
                  <a:srgbClr val="FF0000"/>
                </a:solidFill>
                <a:latin typeface="Calibri"/>
                <a:ea typeface="Calibri"/>
                <a:cs typeface="Calibri"/>
                <a:sym typeface="Calibri"/>
              </a:rPr>
              <a:t>Aion UI </a:t>
            </a:r>
            <a:r>
              <a:rPr lang="en" sz="1100">
                <a:solidFill>
                  <a:schemeClr val="dk1"/>
                </a:solidFill>
                <a:latin typeface="Calibri"/>
                <a:ea typeface="Calibri"/>
                <a:cs typeface="Calibri"/>
                <a:sym typeface="Calibri"/>
              </a:rPr>
              <a:t>functions as a local AI Operating System (AIOS) that integrates multiple agents, including Gemini, Claude Code, and various open-source models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solidFill>
                  <a:schemeClr val="dk1"/>
                </a:solidFill>
                <a:latin typeface="Calibri"/>
                <a:ea typeface="Calibri"/>
                <a:cs typeface="Calibri"/>
                <a:sym typeface="Calibri"/>
              </a:rPr>
              <a:t>Automatically detects and manages various installed AI agents in one graphical dashboard</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solidFill>
                  <a:schemeClr val="dk1"/>
                </a:solidFill>
                <a:latin typeface="Calibri"/>
                <a:ea typeface="Calibri"/>
                <a:cs typeface="Calibri"/>
                <a:sym typeface="Calibri"/>
              </a:rPr>
              <a:t>Agents can read, create, and organize local files directly on your machine</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solidFill>
                  <a:schemeClr val="dk1"/>
                </a:solidFill>
                <a:latin typeface="Calibri"/>
                <a:ea typeface="Calibri"/>
                <a:cs typeface="Calibri"/>
                <a:sym typeface="Calibri"/>
              </a:rPr>
              <a:t>Supports 9+ visual formats (PDF, Excel, HTML, etc.), allowing users to view AI generations without switching apps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solidFill>
                  <a:schemeClr val="dk1"/>
                </a:solidFill>
                <a:latin typeface="Calibri"/>
                <a:ea typeface="Calibri"/>
                <a:cs typeface="Calibri"/>
                <a:sym typeface="Calibri"/>
              </a:rPr>
              <a:t>Users can configure local models via Ollama, add custom skills, and connect to different gateways like OpenRouter or the Gemini CLI for free usage</a:t>
            </a:r>
            <a:endParaRPr sz="11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5"/>
              </a:rPr>
              <a:t>https://www.youtube.com/watch?v=yUU5E-U5B3M</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6"/>
              </a:rPr>
              <a:t>https://github.com/iOfficeAI/AionUi</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p:txBody>
      </p:sp>
      <p:pic>
        <p:nvPicPr>
          <p:cNvPr id="194" name="Google Shape;194;p22"/>
          <p:cNvPicPr preferRelativeResize="0"/>
          <p:nvPr/>
        </p:nvPicPr>
        <p:blipFill>
          <a:blip r:embed="rId7" cstate="email">
            <a:alphaModFix/>
            <a:extLst>
              <a:ext uri="{28A0092B-C50C-407E-A947-70E740481C1C}">
                <a14:useLocalDpi xmlns:a14="http://schemas.microsoft.com/office/drawing/2010/main"/>
              </a:ext>
            </a:extLst>
          </a:blip>
          <a:stretch>
            <a:fillRect/>
          </a:stretch>
        </p:blipFill>
        <p:spPr>
          <a:xfrm>
            <a:off x="5656635" y="866874"/>
            <a:ext cx="3354027" cy="1130226"/>
          </a:xfrm>
          <a:prstGeom prst="rect">
            <a:avLst/>
          </a:prstGeom>
          <a:noFill/>
          <a:ln w="9525" cap="flat" cmpd="sng">
            <a:solidFill>
              <a:srgbClr val="FF0000"/>
            </a:solidFill>
            <a:prstDash val="solid"/>
            <a:round/>
            <a:headEnd type="none" w="sm" len="sm"/>
            <a:tailEnd type="none" w="sm" len="sm"/>
          </a:ln>
        </p:spPr>
      </p:pic>
      <p:pic>
        <p:nvPicPr>
          <p:cNvPr id="195" name="Google Shape;195;p22"/>
          <p:cNvPicPr preferRelativeResize="0"/>
          <p:nvPr/>
        </p:nvPicPr>
        <p:blipFill>
          <a:blip r:embed="rId8" cstate="email">
            <a:alphaModFix/>
            <a:extLst>
              <a:ext uri="{28A0092B-C50C-407E-A947-70E740481C1C}">
                <a14:useLocalDpi xmlns:a14="http://schemas.microsoft.com/office/drawing/2010/main"/>
              </a:ext>
            </a:extLst>
          </a:blip>
          <a:stretch>
            <a:fillRect/>
          </a:stretch>
        </p:blipFill>
        <p:spPr>
          <a:xfrm>
            <a:off x="5657875" y="2399225"/>
            <a:ext cx="1567075" cy="880500"/>
          </a:xfrm>
          <a:prstGeom prst="rect">
            <a:avLst/>
          </a:prstGeom>
          <a:noFill/>
          <a:ln w="9525" cap="flat" cmpd="sng">
            <a:solidFill>
              <a:srgbClr val="FF0000"/>
            </a:solidFill>
            <a:prstDash val="solid"/>
            <a:round/>
            <a:headEnd type="none" w="sm" len="sm"/>
            <a:tailEnd type="none" w="sm" len="sm"/>
          </a:ln>
        </p:spPr>
      </p:pic>
      <p:pic>
        <p:nvPicPr>
          <p:cNvPr id="196" name="Google Shape;196;p22"/>
          <p:cNvPicPr preferRelativeResize="0"/>
          <p:nvPr/>
        </p:nvPicPr>
        <p:blipFill>
          <a:blip r:embed="rId9" cstate="email">
            <a:alphaModFix/>
            <a:extLst>
              <a:ext uri="{28A0092B-C50C-407E-A947-70E740481C1C}">
                <a14:useLocalDpi xmlns:a14="http://schemas.microsoft.com/office/drawing/2010/main"/>
              </a:ext>
            </a:extLst>
          </a:blip>
          <a:stretch>
            <a:fillRect/>
          </a:stretch>
        </p:blipFill>
        <p:spPr>
          <a:xfrm>
            <a:off x="6381175" y="3484938"/>
            <a:ext cx="2470125" cy="1383275"/>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p23"/>
          <p:cNvSpPr txBox="1"/>
          <p:nvPr/>
        </p:nvSpPr>
        <p:spPr>
          <a:xfrm>
            <a:off x="55075" y="43025"/>
            <a:ext cx="23340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sp>
        <p:nvSpPr>
          <p:cNvPr id="202" name="Google Shape;202;p23"/>
          <p:cNvSpPr txBox="1"/>
          <p:nvPr/>
        </p:nvSpPr>
        <p:spPr>
          <a:xfrm>
            <a:off x="55076" y="402525"/>
            <a:ext cx="4448400" cy="2573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Moonshots podcast with Ray Kurzweil</a:t>
            </a:r>
            <a:endParaRPr sz="12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solidFill>
                  <a:schemeClr val="dk1"/>
                </a:solidFill>
                <a:latin typeface="Calibri"/>
                <a:ea typeface="Calibri"/>
                <a:cs typeface="Calibri"/>
                <a:sym typeface="Calibri"/>
              </a:rPr>
              <a:t>Discusses the accelerating timeline toward the Singularity</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solidFill>
                  <a:schemeClr val="dk1"/>
                </a:solidFill>
                <a:latin typeface="Calibri"/>
                <a:ea typeface="Calibri"/>
                <a:cs typeface="Calibri"/>
                <a:sym typeface="Calibri"/>
              </a:rPr>
              <a:t>Singularity = we become 1,000 times more intelligent by merging with AI</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solidFill>
                  <a:schemeClr val="dk1"/>
                </a:solidFill>
                <a:latin typeface="Calibri"/>
                <a:ea typeface="Calibri"/>
                <a:cs typeface="Calibri"/>
                <a:sym typeface="Calibri"/>
              </a:rPr>
              <a:t>Kurzweil reaffirms his long-standing predictions: </a:t>
            </a:r>
            <a:br>
              <a:rPr lang="en" sz="1100">
                <a:solidFill>
                  <a:schemeClr val="dk1"/>
                </a:solidFill>
                <a:latin typeface="Calibri"/>
                <a:ea typeface="Calibri"/>
                <a:cs typeface="Calibri"/>
                <a:sym typeface="Calibri"/>
              </a:rPr>
            </a:br>
            <a:r>
              <a:rPr lang="en" sz="1100">
                <a:solidFill>
                  <a:schemeClr val="dk1"/>
                </a:solidFill>
                <a:latin typeface="Calibri"/>
                <a:ea typeface="Calibri"/>
                <a:cs typeface="Calibri"/>
                <a:sym typeface="Calibri"/>
              </a:rPr>
              <a:t>.. Human-level AI (AGI) by 2029</a:t>
            </a:r>
            <a:br>
              <a:rPr lang="en" sz="1100">
                <a:solidFill>
                  <a:schemeClr val="dk1"/>
                </a:solidFill>
                <a:latin typeface="Calibri"/>
                <a:ea typeface="Calibri"/>
                <a:cs typeface="Calibri"/>
                <a:sym typeface="Calibri"/>
              </a:rPr>
            </a:br>
            <a:r>
              <a:rPr lang="en" sz="1100">
                <a:solidFill>
                  <a:schemeClr val="dk1"/>
                </a:solidFill>
                <a:latin typeface="Calibri"/>
                <a:ea typeface="Calibri"/>
                <a:cs typeface="Calibri"/>
                <a:sym typeface="Calibri"/>
              </a:rPr>
              <a:t>.. Singularity by 2045.</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solidFill>
                  <a:schemeClr val="dk1"/>
                </a:solidFill>
                <a:latin typeface="Calibri"/>
                <a:ea typeface="Calibri"/>
                <a:cs typeface="Calibri"/>
                <a:sym typeface="Calibri"/>
              </a:rPr>
              <a:t>Longevity Escape Velocity: Predicted for 2032, where medical advances add more than one year to your life expectancy for every year that passes.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solidFill>
                  <a:schemeClr val="dk1"/>
                </a:solidFill>
                <a:latin typeface="Calibri"/>
                <a:ea typeface="Calibri"/>
                <a:cs typeface="Calibri"/>
                <a:sym typeface="Calibri"/>
              </a:rPr>
              <a:t>Brain-Computer Interfaces (BCI): High-bandwidth interfaces are expected by the mid-2030s, allowing human thoughts to merge seamlessly with the cloud.</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solidFill>
                  <a:schemeClr val="dk1"/>
                </a:solidFill>
                <a:latin typeface="Calibri"/>
                <a:ea typeface="Calibri"/>
                <a:cs typeface="Calibri"/>
                <a:sym typeface="Calibri"/>
              </a:rPr>
              <a:t>The Future of Life: By 2086, Kurzweil suggests most intelligence will exist as software running on computronium - matter optimized for maximum processing power.</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u="sng">
                <a:solidFill>
                  <a:schemeClr val="hlink"/>
                </a:solidFill>
                <a:latin typeface="Calibri"/>
                <a:ea typeface="Calibri"/>
                <a:cs typeface="Calibri"/>
                <a:sym typeface="Calibri"/>
                <a:hlinkClick r:id="rId3"/>
              </a:rPr>
              <a:t>https://www.youtube.com/watch?v=8iWSNwIRazc</a:t>
            </a:r>
            <a:r>
              <a:rPr lang="en" sz="1100">
                <a:solidFill>
                  <a:schemeClr val="dk1"/>
                </a:solidFill>
                <a:latin typeface="Calibri"/>
                <a:ea typeface="Calibri"/>
                <a:cs typeface="Calibri"/>
                <a:sym typeface="Calibri"/>
              </a:rPr>
              <a:t> </a:t>
            </a:r>
            <a:endParaRPr sz="1100">
              <a:solidFill>
                <a:schemeClr val="dk1"/>
              </a:solidFill>
              <a:latin typeface="Calibri"/>
              <a:ea typeface="Calibri"/>
              <a:cs typeface="Calibri"/>
              <a:sym typeface="Calibri"/>
            </a:endParaRPr>
          </a:p>
        </p:txBody>
      </p:sp>
      <p:pic>
        <p:nvPicPr>
          <p:cNvPr id="203" name="Google Shape;203;p23"/>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4628426" y="964613"/>
            <a:ext cx="2183401" cy="1618725"/>
          </a:xfrm>
          <a:prstGeom prst="rect">
            <a:avLst/>
          </a:prstGeom>
          <a:noFill/>
          <a:ln w="9525" cap="flat" cmpd="sng">
            <a:solidFill>
              <a:srgbClr val="FF0000"/>
            </a:solidFill>
            <a:prstDash val="solid"/>
            <a:round/>
            <a:headEnd type="none" w="sm" len="sm"/>
            <a:tailEnd type="none" w="sm" len="sm"/>
          </a:ln>
        </p:spPr>
      </p:pic>
      <p:sp>
        <p:nvSpPr>
          <p:cNvPr id="204" name="Google Shape;204;p23"/>
          <p:cNvSpPr txBox="1"/>
          <p:nvPr/>
        </p:nvSpPr>
        <p:spPr>
          <a:xfrm>
            <a:off x="55076" y="3052384"/>
            <a:ext cx="4448400" cy="15576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Google AI Studio upgrades</a:t>
            </a:r>
            <a:endParaRPr sz="12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solidFill>
                  <a:schemeClr val="dk1"/>
                </a:solidFill>
                <a:latin typeface="Calibri"/>
                <a:ea typeface="Calibri"/>
                <a:cs typeface="Calibri"/>
                <a:sym typeface="Calibri"/>
              </a:rPr>
              <a:t>Integration of Veo 3.1, which allows for high-quality, 4K video generation, consistent character rendering, and native vertical video for social media.</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solidFill>
                  <a:schemeClr val="dk1"/>
                </a:solidFill>
                <a:latin typeface="Calibri"/>
                <a:ea typeface="Calibri"/>
                <a:cs typeface="Calibri"/>
                <a:sym typeface="Calibri"/>
              </a:rPr>
              <a:t>AI Studio now supports advanced agent building - automate workflows and generate Python scripts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solidFill>
                  <a:schemeClr val="dk1"/>
                </a:solidFill>
                <a:latin typeface="Calibri"/>
                <a:ea typeface="Calibri"/>
                <a:cs typeface="Calibri"/>
                <a:sym typeface="Calibri"/>
              </a:rPr>
              <a:t>Data handling - ingest files directly from URLs (including AWS S3 and Azure) and increased file size limits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solidFill>
                  <a:schemeClr val="dk1"/>
                </a:solidFill>
                <a:latin typeface="Calibri"/>
                <a:ea typeface="Calibri"/>
                <a:cs typeface="Calibri"/>
                <a:sym typeface="Calibri"/>
              </a:rPr>
              <a:t>Future  - GitHub integration, built-in authentication, and Stripe support</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Clr>
                <a:schemeClr val="dk1"/>
              </a:buClr>
              <a:buSzPts val="1100"/>
              <a:buFont typeface="Calibri"/>
              <a:buChar char="●"/>
            </a:pPr>
            <a:r>
              <a:rPr lang="en" sz="1100" u="sng">
                <a:solidFill>
                  <a:schemeClr val="hlink"/>
                </a:solidFill>
                <a:latin typeface="Calibri"/>
                <a:ea typeface="Calibri"/>
                <a:cs typeface="Calibri"/>
                <a:sym typeface="Calibri"/>
                <a:hlinkClick r:id="rId5"/>
              </a:rPr>
              <a:t>https://www.youtube.com/watch?v=rsHYx6IJmx0</a:t>
            </a:r>
            <a:r>
              <a:rPr lang="en" sz="1100">
                <a:solidFill>
                  <a:schemeClr val="dk1"/>
                </a:solidFill>
                <a:latin typeface="Calibri"/>
                <a:ea typeface="Calibri"/>
                <a:cs typeface="Calibri"/>
                <a:sym typeface="Calibri"/>
              </a:rPr>
              <a:t> </a:t>
            </a:r>
            <a:endParaRPr sz="1100">
              <a:solidFill>
                <a:schemeClr val="dk1"/>
              </a:solidFill>
              <a:latin typeface="Calibri"/>
              <a:ea typeface="Calibri"/>
              <a:cs typeface="Calibri"/>
              <a:sym typeface="Calibri"/>
            </a:endParaRPr>
          </a:p>
        </p:txBody>
      </p:sp>
      <p:pic>
        <p:nvPicPr>
          <p:cNvPr id="205" name="Google Shape;205;p23"/>
          <p:cNvPicPr preferRelativeResize="0"/>
          <p:nvPr/>
        </p:nvPicPr>
        <p:blipFill>
          <a:blip r:embed="rId6">
            <a:alphaModFix/>
          </a:blip>
          <a:stretch>
            <a:fillRect/>
          </a:stretch>
        </p:blipFill>
        <p:spPr>
          <a:xfrm>
            <a:off x="4628426" y="3073925"/>
            <a:ext cx="3028950" cy="1514475"/>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sp>
        <p:nvSpPr>
          <p:cNvPr id="210" name="Google Shape;210;p24"/>
          <p:cNvSpPr txBox="1"/>
          <p:nvPr/>
        </p:nvSpPr>
        <p:spPr>
          <a:xfrm>
            <a:off x="55075" y="43025"/>
            <a:ext cx="44652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Robotics muscles (actuators)</a:t>
            </a:r>
            <a:endParaRPr sz="2000" b="1">
              <a:solidFill>
                <a:schemeClr val="dk1"/>
              </a:solidFill>
              <a:latin typeface="Calibri"/>
              <a:ea typeface="Calibri"/>
              <a:cs typeface="Calibri"/>
              <a:sym typeface="Calibri"/>
            </a:endParaRPr>
          </a:p>
        </p:txBody>
      </p:sp>
      <p:sp>
        <p:nvSpPr>
          <p:cNvPr id="211" name="Google Shape;211;p24"/>
          <p:cNvSpPr txBox="1"/>
          <p:nvPr/>
        </p:nvSpPr>
        <p:spPr>
          <a:xfrm>
            <a:off x="4596575" y="363781"/>
            <a:ext cx="4465200" cy="4590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Modern humanoid robots primarily use rotating electric motors combined with gear reduction systems (like harmonic drives or planetary gears) as their main actuation mechanism for hands and feet</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These joint motors serve as the "muscles" of humanoid robots and typically account for over 30% of the overall bill of materials cost in high-performance humanoid systems</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u="sng">
                <a:solidFill>
                  <a:schemeClr val="hlink"/>
                </a:solidFill>
                <a:latin typeface="Calibri"/>
                <a:ea typeface="Calibri"/>
                <a:cs typeface="Calibri"/>
                <a:sym typeface="Calibri"/>
                <a:hlinkClick r:id="rId3"/>
              </a:rPr>
              <a:t>https://www.roboticstomorrow.com/story/2025/06/joint-actuators-the-fundamental-component-for-humanoid-robots-power-and-dexterity/24924/</a:t>
            </a:r>
            <a:r>
              <a:rPr lang="en" sz="1100">
                <a:latin typeface="Calibri"/>
                <a:ea typeface="Calibri"/>
                <a:cs typeface="Calibri"/>
                <a:sym typeface="Calibri"/>
              </a:rPr>
              <a:t> </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For legs, ankle joints typically have at least two actuators to control dorsiflexion/plantarflexion (pointing the foot up or down) and inversion/eversion (tilting the foot inward or outward)</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Some designs use linkage mechanisms where actuators drive knee joints through four-bar linkages rather than direct rotation</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The motors prioritize lightweight components with high torque density to minimize inertia and enhance agility while maintaining precise control</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u="sng">
                <a:solidFill>
                  <a:schemeClr val="hlink"/>
                </a:solidFill>
                <a:latin typeface="Calibri"/>
                <a:ea typeface="Calibri"/>
                <a:cs typeface="Calibri"/>
                <a:sym typeface="Calibri"/>
                <a:hlinkClick r:id="rId4"/>
              </a:rPr>
              <a:t>https://www.youtube.com/watch?v=fhRgwjEd3g8</a:t>
            </a:r>
            <a:r>
              <a:rPr lang="en" sz="1100">
                <a:latin typeface="Calibri"/>
                <a:ea typeface="Calibri"/>
                <a:cs typeface="Calibri"/>
                <a:sym typeface="Calibri"/>
              </a:rPr>
              <a:t> </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Artificial muscle actuators research - soft actuators made from 3D-printed rubbers that can move and stiffen like biological muscle,</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In 2025, South Korean researchers created magnetic composite actuators that can lift approximately 4,000 times their own weight and achieve 86.4% strain (over double human muscle performance) by using tunable stiffness polymers with magnetic microparticles</a:t>
            </a:r>
            <a:br>
              <a:rPr lang="en" sz="1100">
                <a:latin typeface="Calibri"/>
                <a:ea typeface="Calibri"/>
                <a:cs typeface="Calibri"/>
                <a:sym typeface="Calibri"/>
              </a:rPr>
            </a:br>
            <a:r>
              <a:rPr lang="en" sz="1100" u="sng">
                <a:solidFill>
                  <a:schemeClr val="hlink"/>
                </a:solidFill>
                <a:latin typeface="Calibri"/>
                <a:ea typeface="Calibri"/>
                <a:cs typeface="Calibri"/>
                <a:sym typeface="Calibri"/>
                <a:hlinkClick r:id="rId5"/>
              </a:rPr>
              <a:t>https://news.northwestern.edu/stories/2025/07/bone-ified-muscles-could-be-robots-next-flex</a:t>
            </a:r>
            <a:r>
              <a:rPr lang="en" sz="1100">
                <a:latin typeface="Calibri"/>
                <a:ea typeface="Calibri"/>
                <a:cs typeface="Calibri"/>
                <a:sym typeface="Calibri"/>
              </a:rPr>
              <a:t> </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Upper limb joints have reached consensus around harmonic drive modules, while lower limb joints still vary between harmonic, planetary, RV rotary actuators, and linear actuators based on screws</a:t>
            </a:r>
            <a:endParaRPr sz="1100">
              <a:latin typeface="Calibri"/>
              <a:ea typeface="Calibri"/>
              <a:cs typeface="Calibri"/>
              <a:sym typeface="Calibri"/>
            </a:endParaRPr>
          </a:p>
        </p:txBody>
      </p:sp>
      <p:sp>
        <p:nvSpPr>
          <p:cNvPr id="212" name="Google Shape;212;p24"/>
          <p:cNvSpPr txBox="1"/>
          <p:nvPr/>
        </p:nvSpPr>
        <p:spPr>
          <a:xfrm>
            <a:off x="55075" y="369423"/>
            <a:ext cx="4465200" cy="5265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A Deep Dive into Actuators for Humanoid Robotics</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u="sng">
                <a:solidFill>
                  <a:schemeClr val="hlink"/>
                </a:solidFill>
                <a:latin typeface="Calibri"/>
                <a:ea typeface="Calibri"/>
                <a:cs typeface="Calibri"/>
                <a:sym typeface="Calibri"/>
                <a:hlinkClick r:id="rId6"/>
              </a:rPr>
              <a:t>https://www.youtube.com/watch?v=FXC5ZFBefvs</a:t>
            </a:r>
            <a:r>
              <a:rPr lang="en" sz="1100">
                <a:latin typeface="Calibri"/>
                <a:ea typeface="Calibri"/>
                <a:cs typeface="Calibri"/>
                <a:sym typeface="Calibri"/>
              </a:rPr>
              <a:t> </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Rotary or Linear</a:t>
            </a:r>
            <a:endParaRPr sz="1100">
              <a:latin typeface="Calibri"/>
              <a:ea typeface="Calibri"/>
              <a:cs typeface="Calibri"/>
              <a:sym typeface="Calibri"/>
            </a:endParaRPr>
          </a:p>
        </p:txBody>
      </p:sp>
      <p:pic>
        <p:nvPicPr>
          <p:cNvPr id="213" name="Google Shape;213;p24"/>
          <p:cNvPicPr preferRelativeResize="0"/>
          <p:nvPr/>
        </p:nvPicPr>
        <p:blipFill>
          <a:blip r:embed="rId7" cstate="email">
            <a:alphaModFix/>
            <a:extLst>
              <a:ext uri="{28A0092B-C50C-407E-A947-70E740481C1C}">
                <a14:useLocalDpi xmlns:a14="http://schemas.microsoft.com/office/drawing/2010/main"/>
              </a:ext>
            </a:extLst>
          </a:blip>
          <a:stretch>
            <a:fillRect/>
          </a:stretch>
        </p:blipFill>
        <p:spPr>
          <a:xfrm>
            <a:off x="121075" y="978313"/>
            <a:ext cx="4399199" cy="1656941"/>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8" name="Google Shape;218;p25"/>
          <p:cNvSpPr txBox="1"/>
          <p:nvPr/>
        </p:nvSpPr>
        <p:spPr>
          <a:xfrm>
            <a:off x="55075" y="43025"/>
            <a:ext cx="44652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sp>
        <p:nvSpPr>
          <p:cNvPr id="219" name="Google Shape;219;p25"/>
          <p:cNvSpPr txBox="1"/>
          <p:nvPr/>
        </p:nvSpPr>
        <p:spPr>
          <a:xfrm>
            <a:off x="55075" y="459948"/>
            <a:ext cx="4465200" cy="1265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Google TranslateGemma</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open-weight LLM, built on Gemma 3</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 4B, 12B, and 27B params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55 languages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Multimodal (text &amp; images)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Image Translation - not very good, significant hallucinations </a:t>
            </a:r>
            <a:endParaRPr sz="1200">
              <a:latin typeface="Calibri"/>
              <a:ea typeface="Calibri"/>
              <a:cs typeface="Calibri"/>
              <a:sym typeface="Calibri"/>
            </a:endParaRPr>
          </a:p>
          <a:p>
            <a:pPr marL="171450" marR="0" lvl="0" indent="-114300" algn="l" rtl="0">
              <a:lnSpc>
                <a:spcPct val="100000"/>
              </a:lnSpc>
              <a:spcBef>
                <a:spcPts val="0"/>
              </a:spcBef>
              <a:spcAft>
                <a:spcPts val="0"/>
              </a:spcAft>
              <a:buSzPts val="900"/>
              <a:buFont typeface="Calibri"/>
              <a:buChar char="●"/>
            </a:pPr>
            <a:r>
              <a:rPr lang="en" sz="900" u="sng">
                <a:solidFill>
                  <a:schemeClr val="hlink"/>
                </a:solidFill>
                <a:latin typeface="Calibri"/>
                <a:ea typeface="Calibri"/>
                <a:cs typeface="Calibri"/>
                <a:sym typeface="Calibri"/>
                <a:hlinkClick r:id="rId3"/>
              </a:rPr>
              <a:t>https://www.youtube.com/watch?v=JBr3cQph5hU</a:t>
            </a:r>
            <a:r>
              <a:rPr lang="en" sz="900">
                <a:latin typeface="Calibri"/>
                <a:ea typeface="Calibri"/>
                <a:cs typeface="Calibri"/>
                <a:sym typeface="Calibri"/>
              </a:rPr>
              <a:t> </a:t>
            </a:r>
            <a:endParaRPr sz="900">
              <a:latin typeface="Calibri"/>
              <a:ea typeface="Calibri"/>
              <a:cs typeface="Calibri"/>
              <a:sym typeface="Calibri"/>
            </a:endParaRPr>
          </a:p>
        </p:txBody>
      </p:sp>
      <p:sp>
        <p:nvSpPr>
          <p:cNvPr id="220" name="Google Shape;220;p25"/>
          <p:cNvSpPr txBox="1"/>
          <p:nvPr/>
        </p:nvSpPr>
        <p:spPr>
          <a:xfrm>
            <a:off x="55075" y="1768361"/>
            <a:ext cx="4465200" cy="2327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PixVerse AI Video Generation in Real Time</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PixVerse is an Alibaba-backed Beijing startup that launched the first real-time interactive AI video generation tool on January 13, 2026</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Founded in 2023, the company has raised over $60 million in funding and serves 16 million monthly active users with projected $40 million annual revenue</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Users can control video generation in real-time at 1080P resolution, directing characters' emotions and actions like a film director</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PixVerse V5 leads globally in image-to-video generation, surpassing Google's Veo 3, with V5.5 adding integrated audio and multi-shot capabilities</a:t>
            </a:r>
            <a:endParaRPr sz="1200">
              <a:latin typeface="Calibri"/>
              <a:ea typeface="Calibri"/>
              <a:cs typeface="Calibri"/>
              <a:sym typeface="Calibri"/>
            </a:endParaRPr>
          </a:p>
          <a:p>
            <a:pPr marL="171450" marR="0" lvl="0" indent="-114300" algn="l" rtl="0">
              <a:lnSpc>
                <a:spcPct val="100000"/>
              </a:lnSpc>
              <a:spcBef>
                <a:spcPts val="0"/>
              </a:spcBef>
              <a:spcAft>
                <a:spcPts val="0"/>
              </a:spcAft>
              <a:buSzPts val="900"/>
              <a:buFont typeface="Calibri"/>
              <a:buChar char="●"/>
            </a:pPr>
            <a:r>
              <a:rPr lang="en" sz="900" u="sng">
                <a:solidFill>
                  <a:schemeClr val="hlink"/>
                </a:solidFill>
                <a:latin typeface="Calibri"/>
                <a:ea typeface="Calibri"/>
                <a:cs typeface="Calibri"/>
                <a:sym typeface="Calibri"/>
                <a:hlinkClick r:id="rId4"/>
              </a:rPr>
              <a:t>https://www.cnbc.com/2026/01/13/alibaba-backed-pixverse-real-time-ai-video-generation-tool-investors-startup-openai-sora.html</a:t>
            </a:r>
            <a:r>
              <a:rPr lang="en" sz="900">
                <a:latin typeface="Calibri"/>
                <a:ea typeface="Calibri"/>
                <a:cs typeface="Calibri"/>
                <a:sym typeface="Calibri"/>
              </a:rPr>
              <a:t> </a:t>
            </a:r>
            <a:endParaRPr sz="900">
              <a:latin typeface="Calibri"/>
              <a:ea typeface="Calibri"/>
              <a:cs typeface="Calibri"/>
              <a:sym typeface="Calibri"/>
            </a:endParaRPr>
          </a:p>
        </p:txBody>
      </p:sp>
      <p:sp>
        <p:nvSpPr>
          <p:cNvPr id="221" name="Google Shape;221;p25"/>
          <p:cNvSpPr txBox="1"/>
          <p:nvPr/>
        </p:nvSpPr>
        <p:spPr>
          <a:xfrm>
            <a:off x="55075" y="4210511"/>
            <a:ext cx="4465200" cy="757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14300" algn="l" rtl="0">
              <a:lnSpc>
                <a:spcPct val="100000"/>
              </a:lnSpc>
              <a:spcBef>
                <a:spcPts val="0"/>
              </a:spcBef>
              <a:spcAft>
                <a:spcPts val="0"/>
              </a:spcAft>
              <a:buClr>
                <a:srgbClr val="FF0000"/>
              </a:buClr>
              <a:buSzPts val="900"/>
              <a:buFont typeface="Calibri"/>
              <a:buChar char="●"/>
            </a:pPr>
            <a:r>
              <a:rPr lang="en" sz="1200" b="1">
                <a:solidFill>
                  <a:srgbClr val="FF0000"/>
                </a:solidFill>
                <a:latin typeface="Calibri"/>
                <a:ea typeface="Calibri"/>
                <a:cs typeface="Calibri"/>
                <a:sym typeface="Calibri"/>
              </a:rPr>
              <a:t>FLUX.2 Klein - generate AI Images in 0.5 sec</a:t>
            </a:r>
            <a:endParaRPr sz="1200" b="1">
              <a:solidFill>
                <a:srgbClr val="FF0000"/>
              </a:solidFill>
              <a:latin typeface="Calibri"/>
              <a:ea typeface="Calibri"/>
              <a:cs typeface="Calibri"/>
              <a:sym typeface="Calibri"/>
            </a:endParaRPr>
          </a:p>
          <a:p>
            <a:pPr marL="171450" marR="0" lvl="0" indent="-114300" algn="l" rtl="0">
              <a:lnSpc>
                <a:spcPct val="100000"/>
              </a:lnSpc>
              <a:spcBef>
                <a:spcPts val="0"/>
              </a:spcBef>
              <a:spcAft>
                <a:spcPts val="0"/>
              </a:spcAft>
              <a:buSzPts val="900"/>
              <a:buFont typeface="Calibri"/>
              <a:buChar char="●"/>
            </a:pPr>
            <a:r>
              <a:rPr lang="en" sz="1200">
                <a:latin typeface="Calibri"/>
                <a:ea typeface="Calibri"/>
                <a:cs typeface="Calibri"/>
                <a:sym typeface="Calibri"/>
              </a:rPr>
              <a:t>Extreme speed, high-quality images in less than a second</a:t>
            </a:r>
            <a:endParaRPr sz="1200">
              <a:latin typeface="Calibri"/>
              <a:ea typeface="Calibri"/>
              <a:cs typeface="Calibri"/>
              <a:sym typeface="Calibri"/>
            </a:endParaRPr>
          </a:p>
          <a:p>
            <a:pPr marL="171450" marR="0" lvl="0" indent="-114300" algn="l" rtl="0">
              <a:lnSpc>
                <a:spcPct val="100000"/>
              </a:lnSpc>
              <a:spcBef>
                <a:spcPts val="0"/>
              </a:spcBef>
              <a:spcAft>
                <a:spcPts val="0"/>
              </a:spcAft>
              <a:buSzPts val="900"/>
              <a:buFont typeface="Calibri"/>
              <a:buChar char="●"/>
            </a:pPr>
            <a:r>
              <a:rPr lang="en" sz="1200">
                <a:latin typeface="Calibri"/>
                <a:ea typeface="Calibri"/>
                <a:cs typeface="Calibri"/>
                <a:sym typeface="Calibri"/>
              </a:rPr>
              <a:t>Image editing using AI</a:t>
            </a:r>
            <a:endParaRPr sz="1200">
              <a:latin typeface="Calibri"/>
              <a:ea typeface="Calibri"/>
              <a:cs typeface="Calibri"/>
              <a:sym typeface="Calibri"/>
            </a:endParaRPr>
          </a:p>
          <a:p>
            <a:pPr marL="171450" marR="0" lvl="0" indent="-114300" algn="l" rtl="0">
              <a:lnSpc>
                <a:spcPct val="100000"/>
              </a:lnSpc>
              <a:spcBef>
                <a:spcPts val="0"/>
              </a:spcBef>
              <a:spcAft>
                <a:spcPts val="0"/>
              </a:spcAft>
              <a:buSzPts val="900"/>
              <a:buFont typeface="Calibri"/>
              <a:buChar char="●"/>
            </a:pPr>
            <a:r>
              <a:rPr lang="en" sz="1200" u="sng">
                <a:solidFill>
                  <a:schemeClr val="hlink"/>
                </a:solidFill>
                <a:latin typeface="Calibri"/>
                <a:ea typeface="Calibri"/>
                <a:cs typeface="Calibri"/>
                <a:sym typeface="Calibri"/>
                <a:hlinkClick r:id="rId5"/>
              </a:rPr>
              <a:t>https://www.youtube.com/watch?v=672XOB_yD-A</a:t>
            </a:r>
            <a:r>
              <a:rPr lang="en" sz="1200">
                <a:latin typeface="Calibri"/>
                <a:ea typeface="Calibri"/>
                <a:cs typeface="Calibri"/>
                <a:sym typeface="Calibri"/>
              </a:rPr>
              <a:t> </a:t>
            </a:r>
            <a:endParaRPr sz="1200">
              <a:latin typeface="Calibri"/>
              <a:ea typeface="Calibri"/>
              <a:cs typeface="Calibri"/>
              <a:sym typeface="Calibri"/>
            </a:endParaRPr>
          </a:p>
        </p:txBody>
      </p:sp>
      <p:pic>
        <p:nvPicPr>
          <p:cNvPr id="222" name="Google Shape;222;p25"/>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4634025" y="459950"/>
            <a:ext cx="4141886" cy="1265100"/>
          </a:xfrm>
          <a:prstGeom prst="rect">
            <a:avLst/>
          </a:prstGeom>
          <a:noFill/>
          <a:ln w="9525" cap="flat" cmpd="sng">
            <a:solidFill>
              <a:srgbClr val="FF0000"/>
            </a:solidFill>
            <a:prstDash val="solid"/>
            <a:round/>
            <a:headEnd type="none" w="sm" len="sm"/>
            <a:tailEnd type="none" w="sm" len="sm"/>
          </a:ln>
        </p:spPr>
      </p:pic>
      <p:pic>
        <p:nvPicPr>
          <p:cNvPr id="223" name="Google Shape;223;p25"/>
          <p:cNvPicPr preferRelativeResize="0"/>
          <p:nvPr/>
        </p:nvPicPr>
        <p:blipFill>
          <a:blip r:embed="rId7">
            <a:alphaModFix/>
          </a:blip>
          <a:stretch>
            <a:fillRect/>
          </a:stretch>
        </p:blipFill>
        <p:spPr>
          <a:xfrm>
            <a:off x="4634025" y="1771648"/>
            <a:ext cx="2847975" cy="1600200"/>
          </a:xfrm>
          <a:prstGeom prst="rect">
            <a:avLst/>
          </a:prstGeom>
          <a:noFill/>
          <a:ln w="9525" cap="flat" cmpd="sng">
            <a:solidFill>
              <a:srgbClr val="FF0000"/>
            </a:solidFill>
            <a:prstDash val="solid"/>
            <a:round/>
            <a:headEnd type="none" w="sm" len="sm"/>
            <a:tailEnd type="none" w="sm" len="sm"/>
          </a:ln>
        </p:spPr>
      </p:pic>
      <p:pic>
        <p:nvPicPr>
          <p:cNvPr id="224" name="Google Shape;224;p25"/>
          <p:cNvPicPr preferRelativeResize="0"/>
          <p:nvPr/>
        </p:nvPicPr>
        <p:blipFill>
          <a:blip r:embed="rId8" cstate="email">
            <a:alphaModFix/>
            <a:extLst>
              <a:ext uri="{28A0092B-C50C-407E-A947-70E740481C1C}">
                <a14:useLocalDpi xmlns:a14="http://schemas.microsoft.com/office/drawing/2010/main"/>
              </a:ext>
            </a:extLst>
          </a:blip>
          <a:stretch>
            <a:fillRect/>
          </a:stretch>
        </p:blipFill>
        <p:spPr>
          <a:xfrm>
            <a:off x="4634025" y="3500848"/>
            <a:ext cx="2232516" cy="1466852"/>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29" name="Google Shape;229;p26"/>
          <p:cNvSpPr txBox="1"/>
          <p:nvPr/>
        </p:nvSpPr>
        <p:spPr>
          <a:xfrm>
            <a:off x="55075" y="43025"/>
            <a:ext cx="44652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sp>
        <p:nvSpPr>
          <p:cNvPr id="230" name="Google Shape;230;p26"/>
          <p:cNvSpPr txBox="1"/>
          <p:nvPr/>
        </p:nvSpPr>
        <p:spPr>
          <a:xfrm>
            <a:off x="55075" y="459948"/>
            <a:ext cx="4465200" cy="2604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How to Rank #1 with NotebookLM AI SEO</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Deep Research - gather authoritative sources, analyze competitor blogs, and identify search intent</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Structured SEO Analysis - generate a detailed outline (H1–H4) with suggested keyword placements and internal link opportunities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Refining Content Draft - expand the outline into a 2,000+ word article that sounds human and avoids repetition</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Generating Infographics - visual summaries and alt-text descriptions to increase engagement and backlink potential</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Build Data Tables - structured tables (e.g., keyword difficulty or competitor metrics) to increase authority and time-on-page</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Final Assembly - Use NotebookLM to assemble the full post with meta tags and specific placement notes for visuals and tables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3"/>
              </a:rPr>
              <a:t>https://www.youtube.com/watch?v=KjUPBOCPBKg</a:t>
            </a:r>
            <a:r>
              <a:rPr lang="en" sz="1200">
                <a:latin typeface="Calibri"/>
                <a:ea typeface="Calibri"/>
                <a:cs typeface="Calibri"/>
                <a:sym typeface="Calibri"/>
              </a:rPr>
              <a:t> </a:t>
            </a:r>
            <a:endParaRPr sz="900">
              <a:latin typeface="Calibri"/>
              <a:ea typeface="Calibri"/>
              <a:cs typeface="Calibri"/>
              <a:sym typeface="Calibri"/>
            </a:endParaRPr>
          </a:p>
        </p:txBody>
      </p:sp>
      <p:sp>
        <p:nvSpPr>
          <p:cNvPr id="231" name="Google Shape;231;p26"/>
          <p:cNvSpPr txBox="1"/>
          <p:nvPr/>
        </p:nvSpPr>
        <p:spPr>
          <a:xfrm>
            <a:off x="6887813" y="4309000"/>
            <a:ext cx="2181300" cy="5727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Wikipedia signs AI training deals with Microsoft, Meta, and Amazon</a:t>
            </a:r>
            <a:endParaRPr sz="900" b="1">
              <a:solidFill>
                <a:srgbClr val="FF0000"/>
              </a:solidFill>
              <a:latin typeface="Calibri"/>
              <a:ea typeface="Calibri"/>
              <a:cs typeface="Calibri"/>
              <a:sym typeface="Calibri"/>
            </a:endParaRPr>
          </a:p>
        </p:txBody>
      </p:sp>
      <p:pic>
        <p:nvPicPr>
          <p:cNvPr id="232" name="Google Shape;232;p26"/>
          <p:cNvPicPr preferRelativeResize="0"/>
          <p:nvPr/>
        </p:nvPicPr>
        <p:blipFill>
          <a:blip r:embed="rId4">
            <a:alphaModFix/>
          </a:blip>
          <a:stretch>
            <a:fillRect/>
          </a:stretch>
        </p:blipFill>
        <p:spPr>
          <a:xfrm>
            <a:off x="4672675" y="459950"/>
            <a:ext cx="2847975" cy="1600200"/>
          </a:xfrm>
          <a:prstGeom prst="rect">
            <a:avLst/>
          </a:prstGeom>
          <a:noFill/>
          <a:ln w="9525" cap="flat" cmpd="sng">
            <a:solidFill>
              <a:srgbClr val="FF0000"/>
            </a:solidFill>
            <a:prstDash val="solid"/>
            <a:round/>
            <a:headEnd type="none" w="sm" len="sm"/>
            <a:tailEnd type="none" w="sm" len="sm"/>
          </a:ln>
        </p:spPr>
      </p:pic>
      <p:pic>
        <p:nvPicPr>
          <p:cNvPr id="233" name="Google Shape;233;p26"/>
          <p:cNvPicPr preferRelativeResize="0"/>
          <p:nvPr/>
        </p:nvPicPr>
        <p:blipFill>
          <a:blip r:embed="rId5">
            <a:alphaModFix/>
          </a:blip>
          <a:stretch>
            <a:fillRect/>
          </a:stretch>
        </p:blipFill>
        <p:spPr>
          <a:xfrm>
            <a:off x="6887850" y="2136825"/>
            <a:ext cx="2181225" cy="2095500"/>
          </a:xfrm>
          <a:prstGeom prst="rect">
            <a:avLst/>
          </a:prstGeom>
          <a:noFill/>
          <a:ln w="9525" cap="flat" cmpd="sng">
            <a:solidFill>
              <a:srgbClr val="FF0000"/>
            </a:solidFill>
            <a:prstDash val="solid"/>
            <a:round/>
            <a:headEnd type="none" w="sm" len="sm"/>
            <a:tailEnd type="none" w="sm" len="sm"/>
          </a:ln>
        </p:spPr>
      </p:pic>
      <p:sp>
        <p:nvSpPr>
          <p:cNvPr id="234" name="Google Shape;234;p26"/>
          <p:cNvSpPr txBox="1"/>
          <p:nvPr/>
        </p:nvSpPr>
        <p:spPr>
          <a:xfrm>
            <a:off x="55075" y="3154773"/>
            <a:ext cx="4465200" cy="942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AI research workflow: Perplexity + NotebookLM</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1. Research and Vetting (Perplexity) - Deep Research, Source Selection, Verification</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2. Synthesis and Creation (NotebookLM)</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6"/>
              </a:rPr>
              <a:t>https://www.youtube.com/watch?v=MxFcCHz1e7A</a:t>
            </a:r>
            <a:r>
              <a:rPr lang="en" sz="1200">
                <a:latin typeface="Calibri"/>
                <a:ea typeface="Calibri"/>
                <a:cs typeface="Calibri"/>
                <a:sym typeface="Calibri"/>
              </a:rPr>
              <a:t> </a:t>
            </a:r>
            <a:endParaRPr sz="1200">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sp>
        <p:nvSpPr>
          <p:cNvPr id="239" name="Google Shape;239;p27"/>
          <p:cNvSpPr txBox="1"/>
          <p:nvPr/>
        </p:nvSpPr>
        <p:spPr>
          <a:xfrm>
            <a:off x="55075" y="43025"/>
            <a:ext cx="44652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sp>
        <p:nvSpPr>
          <p:cNvPr id="240" name="Google Shape;240;p27"/>
          <p:cNvSpPr txBox="1"/>
          <p:nvPr/>
        </p:nvSpPr>
        <p:spPr>
          <a:xfrm>
            <a:off x="55075" y="464350"/>
            <a:ext cx="4465200" cy="2604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Microsoft OptiMind-SFT (a.k.a. OptiMind)</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Open-source 20-B params MoE AI model, 128K context</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Converting complex business problems into formal Mixed Integer Linear Programs (MILP) and executable Gurobi Python code</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Optimization Expert-in-the-Loop: Microsoft trained the model using a "cleaned" dataset where human experts identified and corrected common mathematical modeling errors.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The system supports multi-stage inference, where it classifies problems, provides self-hints, and uses a "solver-in-the-loop" approach to execute code and self-correct based on error logs. While it requires significant hardware (at least 32GB VRAM) and human oversight for safety-critical tasks, Optim-SFT aims to make high-level decision science accessible to non-experts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3"/>
              </a:rPr>
              <a:t>https://www.youtube.com/watch?v=9ZseQ-hXcp4</a:t>
            </a:r>
            <a:r>
              <a:rPr lang="en" sz="1200">
                <a:latin typeface="Calibri"/>
                <a:ea typeface="Calibri"/>
                <a:cs typeface="Calibri"/>
                <a:sym typeface="Calibri"/>
              </a:rPr>
              <a:t> </a:t>
            </a:r>
            <a:endParaRPr sz="1200">
              <a:latin typeface="Calibri"/>
              <a:ea typeface="Calibri"/>
              <a:cs typeface="Calibri"/>
              <a:sym typeface="Calibri"/>
            </a:endParaRPr>
          </a:p>
        </p:txBody>
      </p:sp>
      <p:sp>
        <p:nvSpPr>
          <p:cNvPr id="241" name="Google Shape;241;p27"/>
          <p:cNvSpPr txBox="1"/>
          <p:nvPr/>
        </p:nvSpPr>
        <p:spPr>
          <a:xfrm>
            <a:off x="4674700" y="2101075"/>
            <a:ext cx="4409700" cy="2973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Google AI Edge</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Run AI models on mobile devices and microcontrollers without a cloud or internet connection</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Uses  TensorFlow and PyTorch</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Fast performance, improved privacy, and offline functionality across Android, iOS, and the web</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Low-code APIs for vision, text, and audio.</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LiteRT - optimized runtime for CPU, GPU, and NPU execution</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Model Explorer - visualizing and debugging model bottlenecks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AI Edge Portal - A private preview platform for benchmarking models on over 100 real physical devices to track latency, memory, and battery drain</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Use Gemma LLM and multimodal apps, allowing businesses to ensure high performance on everything from budget phones to flagships before deployment</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4"/>
              </a:rPr>
              <a:t>https://www.youtube.com/watch?v=-O-enNK6vYs</a:t>
            </a:r>
            <a:r>
              <a:rPr lang="en" sz="1200">
                <a:latin typeface="Calibri"/>
                <a:ea typeface="Calibri"/>
                <a:cs typeface="Calibri"/>
                <a:sym typeface="Calibri"/>
              </a:rPr>
              <a:t> </a:t>
            </a:r>
            <a:endParaRPr sz="1200">
              <a:latin typeface="Calibri"/>
              <a:ea typeface="Calibri"/>
              <a:cs typeface="Calibri"/>
              <a:sym typeface="Calibri"/>
            </a:endParaRPr>
          </a:p>
        </p:txBody>
      </p:sp>
      <p:pic>
        <p:nvPicPr>
          <p:cNvPr id="242" name="Google Shape;242;p27"/>
          <p:cNvPicPr preferRelativeResize="0"/>
          <p:nvPr/>
        </p:nvPicPr>
        <p:blipFill>
          <a:blip r:embed="rId5">
            <a:alphaModFix/>
          </a:blip>
          <a:stretch>
            <a:fillRect/>
          </a:stretch>
        </p:blipFill>
        <p:spPr>
          <a:xfrm>
            <a:off x="4674700" y="464350"/>
            <a:ext cx="2933700" cy="1181100"/>
          </a:xfrm>
          <a:prstGeom prst="rect">
            <a:avLst/>
          </a:prstGeom>
          <a:noFill/>
          <a:ln w="9525" cap="flat" cmpd="sng">
            <a:solidFill>
              <a:srgbClr val="FF0000"/>
            </a:solidFill>
            <a:prstDash val="solid"/>
            <a:round/>
            <a:headEnd type="none" w="sm" len="sm"/>
            <a:tailEnd type="none" w="sm" len="sm"/>
          </a:ln>
        </p:spPr>
      </p:pic>
      <p:pic>
        <p:nvPicPr>
          <p:cNvPr id="243" name="Google Shape;243;p27"/>
          <p:cNvPicPr preferRelativeResize="0"/>
          <p:nvPr/>
        </p:nvPicPr>
        <p:blipFill>
          <a:blip r:embed="rId6">
            <a:alphaModFix/>
          </a:blip>
          <a:stretch>
            <a:fillRect/>
          </a:stretch>
        </p:blipFill>
        <p:spPr>
          <a:xfrm>
            <a:off x="1834225" y="3379525"/>
            <a:ext cx="2686050" cy="169545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47"/>
        <p:cNvGrpSpPr/>
        <p:nvPr/>
      </p:nvGrpSpPr>
      <p:grpSpPr>
        <a:xfrm>
          <a:off x="0" y="0"/>
          <a:ext cx="0" cy="0"/>
          <a:chOff x="0" y="0"/>
          <a:chExt cx="0" cy="0"/>
        </a:xfrm>
      </p:grpSpPr>
      <p:sp>
        <p:nvSpPr>
          <p:cNvPr id="248" name="Google Shape;248;p28"/>
          <p:cNvSpPr txBox="1"/>
          <p:nvPr/>
        </p:nvSpPr>
        <p:spPr>
          <a:xfrm>
            <a:off x="55075" y="43025"/>
            <a:ext cx="44652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sp>
        <p:nvSpPr>
          <p:cNvPr id="249" name="Google Shape;249;p28"/>
          <p:cNvSpPr txBox="1"/>
          <p:nvPr/>
        </p:nvSpPr>
        <p:spPr>
          <a:xfrm>
            <a:off x="123450" y="446971"/>
            <a:ext cx="4465200" cy="1311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Taiwan invests $250 Bln into US</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Into U.S. semiconductor, energy, and AI production, with another $250 billion in credit guarantees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In exchange, the U.S. will lower tariffs on Taiwanese goods and increase investment in Taiwan’s tech and defense sectors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The deal aims to reduce U.S. reliance on foreign chipmakers and deepen bilateral tech ties amid tensions with China.</a:t>
            </a:r>
            <a:endParaRPr sz="900">
              <a:latin typeface="Calibri"/>
              <a:ea typeface="Calibri"/>
              <a:cs typeface="Calibri"/>
              <a:sym typeface="Calibri"/>
            </a:endParaRPr>
          </a:p>
        </p:txBody>
      </p:sp>
      <p:sp>
        <p:nvSpPr>
          <p:cNvPr id="250" name="Google Shape;250;p28"/>
          <p:cNvSpPr txBox="1"/>
          <p:nvPr/>
        </p:nvSpPr>
        <p:spPr>
          <a:xfrm>
            <a:off x="123450" y="1813067"/>
            <a:ext cx="4465200" cy="1680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Thinking Machines Lab loses two co-founders</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solidFill>
                  <a:schemeClr val="dk1"/>
                </a:solidFill>
                <a:latin typeface="Calibri"/>
                <a:ea typeface="Calibri"/>
                <a:cs typeface="Calibri"/>
                <a:sym typeface="Calibri"/>
              </a:rPr>
              <a:t>Thinking Machines Lab</a:t>
            </a:r>
            <a:r>
              <a:rPr lang="en" sz="1200">
                <a:latin typeface="Calibri"/>
                <a:ea typeface="Calibri"/>
                <a:cs typeface="Calibri"/>
                <a:sym typeface="Calibri"/>
              </a:rPr>
              <a:t>, founded by former OpenAI CTO Mira Murati, is losing two co-founders as Barret Zoph and Luke Metz return to OpenAI. </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Another early employee, Sam Schoenholz, is also rejoining the company. </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Murati announced Zoph’s exit and named Soumith Chintala as the new CTO, without addressing the other departures. The moves follow a $2B seed round valuing the startup at $12B.</a:t>
            </a:r>
            <a:endParaRPr sz="1200">
              <a:latin typeface="Calibri"/>
              <a:ea typeface="Calibri"/>
              <a:cs typeface="Calibri"/>
              <a:sym typeface="Calibri"/>
            </a:endParaRPr>
          </a:p>
        </p:txBody>
      </p:sp>
      <p:sp>
        <p:nvSpPr>
          <p:cNvPr id="251" name="Google Shape;251;p28"/>
          <p:cNvSpPr txBox="1"/>
          <p:nvPr/>
        </p:nvSpPr>
        <p:spPr>
          <a:xfrm>
            <a:off x="123450" y="3559517"/>
            <a:ext cx="4465200" cy="1496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OpenAI Open Responses Standard</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Specification for building interoperable, multi-provider LLM interfaces; It allows developers to switch between provider without rewriting their code. </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Early adopters - Hugging Face contributors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The standard aiming to reduce lock-in while preserving advanced features across providers.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3"/>
              </a:rPr>
              <a:t>https://huggingface.co/blog/open-responses</a:t>
            </a:r>
            <a:r>
              <a:rPr lang="en" sz="1200">
                <a:latin typeface="Calibri"/>
                <a:ea typeface="Calibri"/>
                <a:cs typeface="Calibri"/>
                <a:sym typeface="Calibri"/>
              </a:rPr>
              <a:t> </a:t>
            </a:r>
            <a:endParaRPr sz="1200">
              <a:latin typeface="Calibri"/>
              <a:ea typeface="Calibri"/>
              <a:cs typeface="Calibri"/>
              <a:sym typeface="Calibri"/>
            </a:endParaRPr>
          </a:p>
        </p:txBody>
      </p:sp>
      <p:pic>
        <p:nvPicPr>
          <p:cNvPr id="252" name="Google Shape;252;p28"/>
          <p:cNvPicPr preferRelativeResize="0"/>
          <p:nvPr/>
        </p:nvPicPr>
        <p:blipFill rotWithShape="1">
          <a:blip r:embed="rId4" cstate="email">
            <a:alphaModFix/>
            <a:extLst>
              <a:ext uri="{28A0092B-C50C-407E-A947-70E740481C1C}">
                <a14:useLocalDpi xmlns:a14="http://schemas.microsoft.com/office/drawing/2010/main"/>
              </a:ext>
            </a:extLst>
          </a:blip>
          <a:srcRect/>
          <a:stretch/>
        </p:blipFill>
        <p:spPr>
          <a:xfrm>
            <a:off x="4778075" y="446973"/>
            <a:ext cx="1992015" cy="1311300"/>
          </a:xfrm>
          <a:prstGeom prst="rect">
            <a:avLst/>
          </a:prstGeom>
          <a:noFill/>
          <a:ln w="9525" cap="flat" cmpd="sng">
            <a:solidFill>
              <a:srgbClr val="FF0000"/>
            </a:solidFill>
            <a:prstDash val="solid"/>
            <a:round/>
            <a:headEnd type="none" w="sm" len="sm"/>
            <a:tailEnd type="none" w="sm" len="sm"/>
          </a:ln>
        </p:spPr>
      </p:pic>
      <p:pic>
        <p:nvPicPr>
          <p:cNvPr id="253" name="Google Shape;253;p28"/>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4778075" y="1887631"/>
            <a:ext cx="1267901" cy="1583300"/>
          </a:xfrm>
          <a:prstGeom prst="rect">
            <a:avLst/>
          </a:prstGeom>
          <a:noFill/>
          <a:ln w="9525" cap="flat" cmpd="sng">
            <a:solidFill>
              <a:srgbClr val="FF0000"/>
            </a:solidFill>
            <a:prstDash val="solid"/>
            <a:round/>
            <a:headEnd type="none" w="sm" len="sm"/>
            <a:tailEnd type="none" w="sm" len="sm"/>
          </a:ln>
        </p:spPr>
      </p:pic>
      <p:pic>
        <p:nvPicPr>
          <p:cNvPr id="254" name="Google Shape;254;p28"/>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6146875" y="1935819"/>
            <a:ext cx="2671618" cy="1496100"/>
          </a:xfrm>
          <a:prstGeom prst="rect">
            <a:avLst/>
          </a:prstGeom>
          <a:noFill/>
          <a:ln w="9525" cap="flat" cmpd="sng">
            <a:solidFill>
              <a:srgbClr val="FF0000"/>
            </a:solidFill>
            <a:prstDash val="solid"/>
            <a:round/>
            <a:headEnd type="none" w="sm" len="sm"/>
            <a:tailEnd type="none" w="sm" len="sm"/>
          </a:ln>
        </p:spPr>
      </p:pic>
      <p:pic>
        <p:nvPicPr>
          <p:cNvPr id="255" name="Google Shape;255;p28"/>
          <p:cNvPicPr preferRelativeResize="0"/>
          <p:nvPr/>
        </p:nvPicPr>
        <p:blipFill>
          <a:blip r:embed="rId7" cstate="email">
            <a:alphaModFix/>
            <a:extLst>
              <a:ext uri="{28A0092B-C50C-407E-A947-70E740481C1C}">
                <a14:useLocalDpi xmlns:a14="http://schemas.microsoft.com/office/drawing/2010/main"/>
              </a:ext>
            </a:extLst>
          </a:blip>
          <a:stretch>
            <a:fillRect/>
          </a:stretch>
        </p:blipFill>
        <p:spPr>
          <a:xfrm>
            <a:off x="4766808" y="3597574"/>
            <a:ext cx="2488440" cy="1393526"/>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0" name="Google Shape;260;p29"/>
          <p:cNvSpPr txBox="1"/>
          <p:nvPr/>
        </p:nvSpPr>
        <p:spPr>
          <a:xfrm>
            <a:off x="55075" y="43025"/>
            <a:ext cx="44652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sp>
        <p:nvSpPr>
          <p:cNvPr id="261" name="Google Shape;261;p29"/>
          <p:cNvSpPr txBox="1"/>
          <p:nvPr/>
        </p:nvSpPr>
        <p:spPr>
          <a:xfrm>
            <a:off x="55075" y="369423"/>
            <a:ext cx="4465200" cy="2050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Cursor ran 100s of AI coding agents for weeks</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In one experiment producing a 3M+ line web browser built entirely from the ground up using GPT 5.2</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Cursor organized agents into </a:t>
            </a:r>
            <a:r>
              <a:rPr lang="en" sz="1200" b="1">
                <a:solidFill>
                  <a:srgbClr val="FF0000"/>
                </a:solidFill>
                <a:latin typeface="Calibri"/>
                <a:ea typeface="Calibri"/>
                <a:cs typeface="Calibri"/>
                <a:sym typeface="Calibri"/>
              </a:rPr>
              <a:t>planners, workers, and judges </a:t>
            </a:r>
            <a:r>
              <a:rPr lang="en" sz="1200">
                <a:latin typeface="Calibri"/>
                <a:ea typeface="Calibri"/>
                <a:cs typeface="Calibri"/>
                <a:sym typeface="Calibri"/>
              </a:rPr>
              <a:t>(similar to the viral Ralph Wiggum technique), allowing hundreds of agents to run and collaborate together</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The browser was built in under a week by the agents from scratch, with the final output actually loading simple websites correctly</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Other experiments included a Windows 7 emulator, an Excel clone, and an internal migration of Cursor's codebase, each spanning a Million+ lines of code</a:t>
            </a:r>
            <a:endParaRPr sz="1200">
              <a:latin typeface="Calibri"/>
              <a:ea typeface="Calibri"/>
              <a:cs typeface="Calibri"/>
              <a:sym typeface="Calibri"/>
            </a:endParaRPr>
          </a:p>
        </p:txBody>
      </p:sp>
      <p:pic>
        <p:nvPicPr>
          <p:cNvPr id="262" name="Google Shape;262;p29"/>
          <p:cNvPicPr preferRelativeResize="0"/>
          <p:nvPr/>
        </p:nvPicPr>
        <p:blipFill>
          <a:blip r:embed="rId3">
            <a:alphaModFix/>
          </a:blip>
          <a:stretch>
            <a:fillRect/>
          </a:stretch>
        </p:blipFill>
        <p:spPr>
          <a:xfrm>
            <a:off x="4753925" y="629816"/>
            <a:ext cx="3028950" cy="1514475"/>
          </a:xfrm>
          <a:prstGeom prst="rect">
            <a:avLst/>
          </a:prstGeom>
          <a:noFill/>
          <a:ln w="9525" cap="flat" cmpd="sng">
            <a:solidFill>
              <a:srgbClr val="FF0000"/>
            </a:solidFill>
            <a:prstDash val="solid"/>
            <a:round/>
            <a:headEnd type="none" w="sm" len="sm"/>
            <a:tailEnd type="none" w="sm" len="sm"/>
          </a:ln>
        </p:spPr>
      </p:pic>
      <p:sp>
        <p:nvSpPr>
          <p:cNvPr id="263" name="Google Shape;263;p29"/>
          <p:cNvSpPr txBox="1"/>
          <p:nvPr/>
        </p:nvSpPr>
        <p:spPr>
          <a:xfrm>
            <a:off x="55075" y="2465347"/>
            <a:ext cx="4465200" cy="1126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OpenAI Updates</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$20 Bln in annual revenue</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$8/mo "ChatGPT Go" plan - uses GPT-5.2 Instant - fast cheap model</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Ads are being introduced to the Free and Go tiers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Flywheel: - more usage leads to more data, which trains better models, driving more revenue to buy more compute.</a:t>
            </a:r>
            <a:endParaRPr sz="1200">
              <a:latin typeface="Calibri"/>
              <a:ea typeface="Calibri"/>
              <a:cs typeface="Calibri"/>
              <a:sym typeface="Calibri"/>
            </a:endParaRPr>
          </a:p>
        </p:txBody>
      </p:sp>
      <p:pic>
        <p:nvPicPr>
          <p:cNvPr id="264" name="Google Shape;264;p29"/>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4753925" y="2465349"/>
            <a:ext cx="1693277" cy="1126800"/>
          </a:xfrm>
          <a:prstGeom prst="rect">
            <a:avLst/>
          </a:prstGeom>
          <a:noFill/>
          <a:ln w="9525" cap="flat" cmpd="sng">
            <a:solidFill>
              <a:srgbClr val="FF0000"/>
            </a:solidFill>
            <a:prstDash val="solid"/>
            <a:round/>
            <a:headEnd type="none" w="sm" len="sm"/>
            <a:tailEnd type="none" w="sm" len="sm"/>
          </a:ln>
        </p:spPr>
      </p:pic>
      <p:sp>
        <p:nvSpPr>
          <p:cNvPr id="265" name="Google Shape;265;p29"/>
          <p:cNvSpPr txBox="1"/>
          <p:nvPr/>
        </p:nvSpPr>
        <p:spPr>
          <a:xfrm>
            <a:off x="55075" y="3653347"/>
            <a:ext cx="4465200" cy="1311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NVIDIA Nemotron-Speech ASR </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ASR = Automatic Speech Recognition</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Uses cache-aware streaming which only processes new audio "deltas" and stores past computations in an internal cache. 3x higher efficiency and zero latency drift under heavy loads; A 600M params model, outperforms larger models in both speed and word error rate</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5"/>
              </a:rPr>
              <a:t>https://www.youtube.com/watch?v=83DSjiLgWI8</a:t>
            </a:r>
            <a:r>
              <a:rPr lang="en" sz="1200">
                <a:latin typeface="Calibri"/>
                <a:ea typeface="Calibri"/>
                <a:cs typeface="Calibri"/>
                <a:sym typeface="Calibri"/>
              </a:rPr>
              <a:t> </a:t>
            </a:r>
            <a:endParaRPr sz="1200">
              <a:latin typeface="Calibri"/>
              <a:ea typeface="Calibri"/>
              <a:cs typeface="Calibri"/>
              <a:sym typeface="Calibri"/>
            </a:endParaRPr>
          </a:p>
        </p:txBody>
      </p:sp>
      <p:pic>
        <p:nvPicPr>
          <p:cNvPr id="266" name="Google Shape;266;p29"/>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4753926" y="3704023"/>
            <a:ext cx="1693275" cy="1209467"/>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0"/>
        <p:cNvGrpSpPr/>
        <p:nvPr/>
      </p:nvGrpSpPr>
      <p:grpSpPr>
        <a:xfrm>
          <a:off x="0" y="0"/>
          <a:ext cx="0" cy="0"/>
          <a:chOff x="0" y="0"/>
          <a:chExt cx="0" cy="0"/>
        </a:xfrm>
      </p:grpSpPr>
      <p:sp>
        <p:nvSpPr>
          <p:cNvPr id="271" name="Google Shape;271;p30"/>
          <p:cNvSpPr txBox="1"/>
          <p:nvPr/>
        </p:nvSpPr>
        <p:spPr>
          <a:xfrm>
            <a:off x="55075" y="43025"/>
            <a:ext cx="44652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Deepseek Engram</a:t>
            </a:r>
            <a:endParaRPr sz="2000" b="1">
              <a:solidFill>
                <a:schemeClr val="dk1"/>
              </a:solidFill>
              <a:latin typeface="Calibri"/>
              <a:ea typeface="Calibri"/>
              <a:cs typeface="Calibri"/>
              <a:sym typeface="Calibri"/>
            </a:endParaRPr>
          </a:p>
        </p:txBody>
      </p:sp>
      <p:sp>
        <p:nvSpPr>
          <p:cNvPr id="272" name="Google Shape;272;p30"/>
          <p:cNvSpPr txBox="1"/>
          <p:nvPr/>
        </p:nvSpPr>
        <p:spPr>
          <a:xfrm>
            <a:off x="55075" y="458038"/>
            <a:ext cx="4465200" cy="3158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Deepseek Engram - Conditional Memory via Scalable Lookup</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Engram is a conditional memory module that adds a new type of sparsity to LLMs alongside existing Mixture-of-Experts (MoE) approaches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Unlike traditional Transformers that simulate knowledge retrieval through computation, Engram enables O(1) lookups using modernized N-gram embeddings, storing up to 27B parameters.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The researchers discovered a U-shaped scaling law that optimizes the balance between neural computation (MoE) and static memory (Engram)</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Mechanistic analysis reveals Engram handles static reconstruction in early layers, effectively deepening the network for complex reasoning, while delegating local dependencies to lookups frees attention for global context, dramatically improving long-context retrieval (Multi-Query NIAH: 84.2→97.0)</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3"/>
              </a:rPr>
              <a:t>https://github.com/deepseek-ai/Engram/tree/main</a:t>
            </a:r>
            <a:r>
              <a:rPr lang="en" sz="1200">
                <a:latin typeface="Calibri"/>
                <a:ea typeface="Calibri"/>
                <a:cs typeface="Calibri"/>
                <a:sym typeface="Calibri"/>
              </a:rPr>
              <a:t> </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4"/>
              </a:rPr>
              <a:t>https://arxiv.org/abs/2601.07372</a:t>
            </a:r>
            <a:r>
              <a:rPr lang="en" sz="1200">
                <a:latin typeface="Calibri"/>
                <a:ea typeface="Calibri"/>
                <a:cs typeface="Calibri"/>
                <a:sym typeface="Calibri"/>
              </a:rPr>
              <a:t> </a:t>
            </a:r>
            <a:endParaRPr sz="1200">
              <a:latin typeface="Calibri"/>
              <a:ea typeface="Calibri"/>
              <a:cs typeface="Calibri"/>
              <a:sym typeface="Calibri"/>
            </a:endParaRPr>
          </a:p>
        </p:txBody>
      </p:sp>
      <p:pic>
        <p:nvPicPr>
          <p:cNvPr id="273" name="Google Shape;273;p30"/>
          <p:cNvPicPr preferRelativeResize="0"/>
          <p:nvPr/>
        </p:nvPicPr>
        <p:blipFill>
          <a:blip r:embed="rId5">
            <a:alphaModFix/>
          </a:blip>
          <a:stretch>
            <a:fillRect/>
          </a:stretch>
        </p:blipFill>
        <p:spPr>
          <a:xfrm>
            <a:off x="4396075" y="299727"/>
            <a:ext cx="3028950" cy="1514475"/>
          </a:xfrm>
          <a:prstGeom prst="rect">
            <a:avLst/>
          </a:prstGeom>
          <a:noFill/>
          <a:ln w="9525" cap="flat" cmpd="sng">
            <a:solidFill>
              <a:srgbClr val="FF0000"/>
            </a:solidFill>
            <a:prstDash val="solid"/>
            <a:round/>
            <a:headEnd type="none" w="sm" len="sm"/>
            <a:tailEnd type="none" w="sm" len="sm"/>
          </a:ln>
        </p:spPr>
      </p:pic>
      <p:sp>
        <p:nvSpPr>
          <p:cNvPr id="274" name="Google Shape;274;p30"/>
          <p:cNvSpPr txBox="1"/>
          <p:nvPr/>
        </p:nvSpPr>
        <p:spPr>
          <a:xfrm>
            <a:off x="55075" y="3678673"/>
            <a:ext cx="4465200" cy="942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DeepSeek V4 Leak</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Evidence on GitHub suggests DeepSeek is preparing its next flagship model for a mid-February 2026 release</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Technical shifts in KV cache and FP8 support hint at a major architectural overhaul focused on efficiency and coding</a:t>
            </a:r>
            <a:endParaRPr sz="1200">
              <a:latin typeface="Calibri"/>
              <a:ea typeface="Calibri"/>
              <a:cs typeface="Calibri"/>
              <a:sym typeface="Calibri"/>
            </a:endParaRPr>
          </a:p>
        </p:txBody>
      </p:sp>
      <p:sp>
        <p:nvSpPr>
          <p:cNvPr id="275" name="Google Shape;275;p30"/>
          <p:cNvSpPr txBox="1"/>
          <p:nvPr/>
        </p:nvSpPr>
        <p:spPr>
          <a:xfrm>
            <a:off x="6428170" y="3279175"/>
            <a:ext cx="2623500" cy="8958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Microsoft VibeVoice-ASR</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Speech-to-text model, 9B params, 64K-token context window</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Transcribes up to 60 min of audio</a:t>
            </a:r>
            <a:endParaRPr sz="12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Clr>
                <a:schemeClr val="dk1"/>
              </a:buClr>
              <a:buSzPts val="900"/>
              <a:buFont typeface="Calibri"/>
              <a:buChar char="●"/>
            </a:pPr>
            <a:r>
              <a:rPr lang="en" sz="900" u="sng">
                <a:solidFill>
                  <a:schemeClr val="hlink"/>
                </a:solidFill>
                <a:latin typeface="Calibri"/>
                <a:ea typeface="Calibri"/>
                <a:cs typeface="Calibri"/>
                <a:sym typeface="Calibri"/>
                <a:hlinkClick r:id="rId6"/>
              </a:rPr>
              <a:t>https://huggingface.co/microsoft/VibeVoice-ASR</a:t>
            </a:r>
            <a:r>
              <a:rPr lang="en" sz="900">
                <a:solidFill>
                  <a:schemeClr val="dk1"/>
                </a:solidFill>
                <a:latin typeface="Calibri"/>
                <a:ea typeface="Calibri"/>
                <a:cs typeface="Calibri"/>
                <a:sym typeface="Calibri"/>
              </a:rPr>
              <a:t> </a:t>
            </a:r>
            <a:endParaRPr sz="900">
              <a:solidFill>
                <a:schemeClr val="dk1"/>
              </a:solidFill>
              <a:latin typeface="Calibri"/>
              <a:ea typeface="Calibri"/>
              <a:cs typeface="Calibri"/>
              <a:sym typeface="Calibri"/>
            </a:endParaRPr>
          </a:p>
        </p:txBody>
      </p:sp>
      <p:pic>
        <p:nvPicPr>
          <p:cNvPr id="276" name="Google Shape;276;p30"/>
          <p:cNvPicPr preferRelativeResize="0"/>
          <p:nvPr/>
        </p:nvPicPr>
        <p:blipFill>
          <a:blip r:embed="rId7" cstate="email">
            <a:alphaModFix/>
            <a:extLst>
              <a:ext uri="{28A0092B-C50C-407E-A947-70E740481C1C}">
                <a14:useLocalDpi xmlns:a14="http://schemas.microsoft.com/office/drawing/2010/main"/>
              </a:ext>
            </a:extLst>
          </a:blip>
          <a:stretch>
            <a:fillRect/>
          </a:stretch>
        </p:blipFill>
        <p:spPr>
          <a:xfrm>
            <a:off x="6732351" y="2447897"/>
            <a:ext cx="2015129" cy="757200"/>
          </a:xfrm>
          <a:prstGeom prst="rect">
            <a:avLst/>
          </a:prstGeom>
          <a:noFill/>
          <a:ln w="9525" cap="flat" cmpd="sng">
            <a:solidFill>
              <a:srgbClr val="FF0000"/>
            </a:solidFill>
            <a:prstDash val="solid"/>
            <a:round/>
            <a:headEnd type="none" w="sm" len="sm"/>
            <a:tailEnd type="none" w="sm" len="sm"/>
          </a:ln>
        </p:spPr>
      </p:pic>
      <p:pic>
        <p:nvPicPr>
          <p:cNvPr id="277" name="Google Shape;277;p30"/>
          <p:cNvPicPr preferRelativeResize="0"/>
          <p:nvPr/>
        </p:nvPicPr>
        <p:blipFill>
          <a:blip r:embed="rId8" cstate="email">
            <a:alphaModFix/>
            <a:extLst>
              <a:ext uri="{28A0092B-C50C-407E-A947-70E740481C1C}">
                <a14:useLocalDpi xmlns:a14="http://schemas.microsoft.com/office/drawing/2010/main"/>
              </a:ext>
            </a:extLst>
          </a:blip>
          <a:stretch>
            <a:fillRect/>
          </a:stretch>
        </p:blipFill>
        <p:spPr>
          <a:xfrm>
            <a:off x="3811275" y="4476450"/>
            <a:ext cx="1730550" cy="51515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81"/>
        <p:cNvGrpSpPr/>
        <p:nvPr/>
      </p:nvGrpSpPr>
      <p:grpSpPr>
        <a:xfrm>
          <a:off x="0" y="0"/>
          <a:ext cx="0" cy="0"/>
          <a:chOff x="0" y="0"/>
          <a:chExt cx="0" cy="0"/>
        </a:xfrm>
      </p:grpSpPr>
      <p:sp>
        <p:nvSpPr>
          <p:cNvPr id="282" name="Google Shape;282;p31"/>
          <p:cNvSpPr txBox="1"/>
          <p:nvPr/>
        </p:nvSpPr>
        <p:spPr>
          <a:xfrm>
            <a:off x="55075" y="43025"/>
            <a:ext cx="44652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AI Updates</a:t>
            </a:r>
            <a:endParaRPr sz="2000" b="1">
              <a:solidFill>
                <a:schemeClr val="dk1"/>
              </a:solidFill>
              <a:latin typeface="Calibri"/>
              <a:ea typeface="Calibri"/>
              <a:cs typeface="Calibri"/>
              <a:sym typeface="Calibri"/>
            </a:endParaRPr>
          </a:p>
        </p:txBody>
      </p:sp>
      <p:sp>
        <p:nvSpPr>
          <p:cNvPr id="283" name="Google Shape;283;p31"/>
          <p:cNvSpPr txBox="1"/>
          <p:nvPr/>
        </p:nvSpPr>
        <p:spPr>
          <a:xfrm>
            <a:off x="55075" y="427768"/>
            <a:ext cx="4465200" cy="2835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Nvidia personaplex-7b-v1</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A full duplex speech to speech conversational model that targets natural voice interactions with precise persona control.</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From ASR→LLM→TTS to a single full duplex model</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Conventional voice assistants usually run a cascade. Automatic Speech Recognition (ASR) converts speech to text, a language model generates a text answer, and Text to Speech (TTS) converts back to audio</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a:solidFill>
                  <a:schemeClr val="dk1"/>
                </a:solidFill>
                <a:latin typeface="Calibri"/>
                <a:ea typeface="Calibri"/>
                <a:cs typeface="Calibri"/>
                <a:sym typeface="Calibri"/>
              </a:rPr>
              <a:t>Each stage adds latency, and the pipeline cannot handle overlapping speech, natural interruptions, or dense backchannels</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b="1">
                <a:solidFill>
                  <a:srgbClr val="FF0000"/>
                </a:solidFill>
                <a:latin typeface="Calibri"/>
                <a:ea typeface="Calibri"/>
                <a:cs typeface="Calibri"/>
                <a:sym typeface="Calibri"/>
              </a:rPr>
              <a:t>PersonaPlex replaces this stack with a single Transformer model </a:t>
            </a:r>
            <a:r>
              <a:rPr lang="en" sz="1200">
                <a:solidFill>
                  <a:schemeClr val="dk1"/>
                </a:solidFill>
                <a:latin typeface="Calibri"/>
                <a:ea typeface="Calibri"/>
                <a:cs typeface="Calibri"/>
                <a:sym typeface="Calibri"/>
              </a:rPr>
              <a:t>that performs streaming speech understanding and speech generation in one network</a:t>
            </a:r>
            <a:endParaRPr sz="12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SzPts val="900"/>
              <a:buFont typeface="Calibri"/>
              <a:buChar char="●"/>
            </a:pPr>
            <a:r>
              <a:rPr lang="en" sz="900" u="sng">
                <a:solidFill>
                  <a:schemeClr val="hlink"/>
                </a:solidFill>
                <a:latin typeface="Calibri"/>
                <a:ea typeface="Calibri"/>
                <a:cs typeface="Calibri"/>
                <a:sym typeface="Calibri"/>
                <a:hlinkClick r:id="rId3"/>
              </a:rPr>
              <a:t>https://huggingface.co/nvidia/personaplex-7b-v1</a:t>
            </a:r>
            <a:r>
              <a:rPr lang="en" sz="900">
                <a:latin typeface="Calibri"/>
                <a:ea typeface="Calibri"/>
                <a:cs typeface="Calibri"/>
                <a:sym typeface="Calibri"/>
              </a:rPr>
              <a:t> </a:t>
            </a:r>
            <a:endParaRPr sz="900">
              <a:latin typeface="Calibri"/>
              <a:ea typeface="Calibri"/>
              <a:cs typeface="Calibri"/>
              <a:sym typeface="Calibri"/>
            </a:endParaRPr>
          </a:p>
          <a:p>
            <a:pPr marL="171450" marR="0" lvl="0" indent="-114300" algn="l" rtl="0">
              <a:lnSpc>
                <a:spcPct val="100000"/>
              </a:lnSpc>
              <a:spcBef>
                <a:spcPts val="0"/>
              </a:spcBef>
              <a:spcAft>
                <a:spcPts val="0"/>
              </a:spcAft>
              <a:buSzPts val="900"/>
              <a:buFont typeface="Calibri"/>
              <a:buChar char="●"/>
            </a:pPr>
            <a:r>
              <a:rPr lang="en" sz="900" u="sng">
                <a:solidFill>
                  <a:schemeClr val="hlink"/>
                </a:solidFill>
                <a:latin typeface="Calibri"/>
                <a:ea typeface="Calibri"/>
                <a:cs typeface="Calibri"/>
                <a:sym typeface="Calibri"/>
                <a:hlinkClick r:id="rId4"/>
              </a:rPr>
              <a:t>https://www.marktechpost.com/2026/01/17/nvidia-releases-personaplex-7b-v1-a-real-time-speech-to-speech-model-designed-for-natural-and-full-duplex-conversations/</a:t>
            </a:r>
            <a:r>
              <a:rPr lang="en" sz="900">
                <a:latin typeface="Calibri"/>
                <a:ea typeface="Calibri"/>
                <a:cs typeface="Calibri"/>
                <a:sym typeface="Calibri"/>
              </a:rPr>
              <a:t> </a:t>
            </a:r>
            <a:endParaRPr sz="900">
              <a:latin typeface="Calibri"/>
              <a:ea typeface="Calibri"/>
              <a:cs typeface="Calibri"/>
              <a:sym typeface="Calibri"/>
            </a:endParaRPr>
          </a:p>
        </p:txBody>
      </p:sp>
      <p:pic>
        <p:nvPicPr>
          <p:cNvPr id="284" name="Google Shape;284;p31"/>
          <p:cNvPicPr preferRelativeResize="0"/>
          <p:nvPr/>
        </p:nvPicPr>
        <p:blipFill>
          <a:blip r:embed="rId5">
            <a:alphaModFix/>
          </a:blip>
          <a:stretch>
            <a:fillRect/>
          </a:stretch>
        </p:blipFill>
        <p:spPr>
          <a:xfrm>
            <a:off x="4770075" y="556825"/>
            <a:ext cx="2533650" cy="1809750"/>
          </a:xfrm>
          <a:prstGeom prst="rect">
            <a:avLst/>
          </a:prstGeom>
          <a:noFill/>
          <a:ln w="9525" cap="flat" cmpd="sng">
            <a:solidFill>
              <a:srgbClr val="FF0000"/>
            </a:solidFill>
            <a:prstDash val="solid"/>
            <a:round/>
            <a:headEnd type="none" w="sm" len="sm"/>
            <a:tailEnd type="none" w="sm" len="sm"/>
          </a:ln>
        </p:spPr>
      </p:pic>
      <p:sp>
        <p:nvSpPr>
          <p:cNvPr id="285" name="Google Shape;285;p31"/>
          <p:cNvSpPr txBox="1"/>
          <p:nvPr/>
        </p:nvSpPr>
        <p:spPr>
          <a:xfrm>
            <a:off x="55075" y="3307538"/>
            <a:ext cx="4465200" cy="942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Emotion Computing</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Researchers in Japan published a framework that identifies human emotions with 75% accuracy using bodily signals (like heart rate) and visual data, rather than just text analysis.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6"/>
              </a:rPr>
              <a:t>https://arxiv.org/abs/2404.08295</a:t>
            </a:r>
            <a:r>
              <a:rPr lang="en" sz="1200">
                <a:latin typeface="Calibri"/>
                <a:ea typeface="Calibri"/>
                <a:cs typeface="Calibri"/>
                <a:sym typeface="Calibri"/>
              </a:rPr>
              <a:t> </a:t>
            </a:r>
            <a:endParaRPr sz="1200">
              <a:latin typeface="Calibri"/>
              <a:ea typeface="Calibri"/>
              <a:cs typeface="Calibri"/>
              <a:sym typeface="Calibri"/>
            </a:endParaRPr>
          </a:p>
        </p:txBody>
      </p:sp>
      <p:sp>
        <p:nvSpPr>
          <p:cNvPr id="286" name="Google Shape;286;p31"/>
          <p:cNvSpPr txBox="1"/>
          <p:nvPr/>
        </p:nvSpPr>
        <p:spPr>
          <a:xfrm>
            <a:off x="55075" y="4303313"/>
            <a:ext cx="4465200" cy="7572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NousCoder-14B - Open Source</a:t>
            </a:r>
            <a:endParaRPr sz="1200" b="1">
              <a:solidFill>
                <a:srgbClr val="FF0000"/>
              </a:solidFill>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Nous Research - programming model trained via RL by executing code in a sandbox and receiving rewards for success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7"/>
              </a:rPr>
              <a:t>https://huggingface.co/NousResearch/NousCoder-14B</a:t>
            </a:r>
            <a:r>
              <a:rPr lang="en" sz="1200">
                <a:latin typeface="Calibri"/>
                <a:ea typeface="Calibri"/>
                <a:cs typeface="Calibri"/>
                <a:sym typeface="Calibri"/>
              </a:rPr>
              <a:t> </a:t>
            </a:r>
            <a:endParaRPr sz="1200">
              <a:latin typeface="Calibri"/>
              <a:ea typeface="Calibri"/>
              <a:cs typeface="Calibri"/>
              <a:sym typeface="Calibri"/>
            </a:endParaRPr>
          </a:p>
        </p:txBody>
      </p:sp>
      <p:pic>
        <p:nvPicPr>
          <p:cNvPr id="287" name="Google Shape;287;p31"/>
          <p:cNvPicPr preferRelativeResize="0"/>
          <p:nvPr/>
        </p:nvPicPr>
        <p:blipFill>
          <a:blip r:embed="rId8" cstate="email">
            <a:alphaModFix/>
            <a:extLst>
              <a:ext uri="{28A0092B-C50C-407E-A947-70E740481C1C}">
                <a14:useLocalDpi xmlns:a14="http://schemas.microsoft.com/office/drawing/2010/main"/>
              </a:ext>
            </a:extLst>
          </a:blip>
          <a:stretch>
            <a:fillRect/>
          </a:stretch>
        </p:blipFill>
        <p:spPr>
          <a:xfrm>
            <a:off x="4672675" y="2832675"/>
            <a:ext cx="2387133" cy="1291400"/>
          </a:xfrm>
          <a:prstGeom prst="rect">
            <a:avLst/>
          </a:prstGeom>
          <a:noFill/>
          <a:ln w="9525" cap="flat" cmpd="sng">
            <a:solidFill>
              <a:srgbClr val="FF0000"/>
            </a:solidFill>
            <a:prstDash val="solid"/>
            <a:round/>
            <a:headEnd type="none" w="sm" len="sm"/>
            <a:tailEnd type="none" w="sm" len="sm"/>
          </a:ln>
        </p:spPr>
      </p:pic>
      <p:pic>
        <p:nvPicPr>
          <p:cNvPr id="288" name="Google Shape;288;p31"/>
          <p:cNvPicPr preferRelativeResize="0"/>
          <p:nvPr/>
        </p:nvPicPr>
        <p:blipFill>
          <a:blip r:embed="rId9" cstate="email">
            <a:alphaModFix/>
            <a:extLst>
              <a:ext uri="{28A0092B-C50C-407E-A947-70E740481C1C}">
                <a14:useLocalDpi xmlns:a14="http://schemas.microsoft.com/office/drawing/2010/main"/>
              </a:ext>
            </a:extLst>
          </a:blip>
          <a:stretch>
            <a:fillRect/>
          </a:stretch>
        </p:blipFill>
        <p:spPr>
          <a:xfrm>
            <a:off x="4672675" y="4303325"/>
            <a:ext cx="2069680" cy="75720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92"/>
        <p:cNvGrpSpPr/>
        <p:nvPr/>
      </p:nvGrpSpPr>
      <p:grpSpPr>
        <a:xfrm>
          <a:off x="0" y="0"/>
          <a:ext cx="0" cy="0"/>
          <a:chOff x="0" y="0"/>
          <a:chExt cx="0" cy="0"/>
        </a:xfrm>
      </p:grpSpPr>
      <p:sp>
        <p:nvSpPr>
          <p:cNvPr id="293" name="Google Shape;293;p32"/>
          <p:cNvSpPr txBox="1"/>
          <p:nvPr/>
        </p:nvSpPr>
        <p:spPr>
          <a:xfrm>
            <a:off x="55075" y="43025"/>
            <a:ext cx="44652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Myrothinker</a:t>
            </a:r>
            <a:endParaRPr sz="2000" b="1">
              <a:solidFill>
                <a:schemeClr val="dk1"/>
              </a:solidFill>
              <a:latin typeface="Calibri"/>
              <a:ea typeface="Calibri"/>
              <a:cs typeface="Calibri"/>
              <a:sym typeface="Calibri"/>
            </a:endParaRPr>
          </a:p>
        </p:txBody>
      </p:sp>
      <p:sp>
        <p:nvSpPr>
          <p:cNvPr id="294" name="Google Shape;294;p32"/>
          <p:cNvSpPr txBox="1"/>
          <p:nvPr/>
        </p:nvSpPr>
        <p:spPr>
          <a:xfrm>
            <a:off x="55075" y="427768"/>
            <a:ext cx="4465200" cy="26043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14300" algn="l" rtl="0">
              <a:lnSpc>
                <a:spcPct val="100000"/>
              </a:lnSpc>
              <a:spcBef>
                <a:spcPts val="0"/>
              </a:spcBef>
              <a:spcAft>
                <a:spcPts val="0"/>
              </a:spcAft>
              <a:buSzPts val="900"/>
              <a:buFont typeface="Calibri"/>
              <a:buChar char="●"/>
            </a:pPr>
            <a:r>
              <a:rPr lang="en" sz="1200">
                <a:solidFill>
                  <a:schemeClr val="dk1"/>
                </a:solidFill>
                <a:latin typeface="Calibri"/>
                <a:ea typeface="Calibri"/>
                <a:cs typeface="Calibri"/>
                <a:sym typeface="Calibri"/>
              </a:rPr>
              <a:t>Myrothinker v1.5 open-source web research agent</a:t>
            </a:r>
            <a:endParaRPr sz="12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SzPts val="900"/>
              <a:buFont typeface="Calibri"/>
              <a:buChar char="●"/>
            </a:pPr>
            <a:r>
              <a:rPr lang="en" sz="1200">
                <a:solidFill>
                  <a:schemeClr val="dk1"/>
                </a:solidFill>
                <a:latin typeface="Calibri"/>
                <a:ea typeface="Calibri"/>
                <a:cs typeface="Calibri"/>
                <a:sym typeface="Calibri"/>
              </a:rPr>
              <a:t>By Myromind AI - deep research and code execution</a:t>
            </a:r>
            <a:endParaRPr sz="12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SzPts val="900"/>
              <a:buFont typeface="Calibri"/>
              <a:buChar char="●"/>
            </a:pPr>
            <a:r>
              <a:rPr lang="en" sz="1200">
                <a:solidFill>
                  <a:schemeClr val="dk1"/>
                </a:solidFill>
                <a:latin typeface="Calibri"/>
                <a:ea typeface="Calibri"/>
                <a:cs typeface="Calibri"/>
                <a:sym typeface="Calibri"/>
              </a:rPr>
              <a:t>Direct competitor to OpenAI and Google Gemini Deep Research</a:t>
            </a:r>
            <a:endParaRPr sz="12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SzPts val="900"/>
              <a:buFont typeface="Calibri"/>
              <a:buChar char="●"/>
            </a:pPr>
            <a:r>
              <a:rPr lang="en" sz="1200">
                <a:solidFill>
                  <a:schemeClr val="dk1"/>
                </a:solidFill>
                <a:latin typeface="Calibri"/>
                <a:ea typeface="Calibri"/>
                <a:cs typeface="Calibri"/>
                <a:sym typeface="Calibri"/>
              </a:rPr>
              <a:t>Ranks at the top of benchmarks like HLE and GAIA for real-world agent tasks; 256K-token context window; 30B and 235B versions; can handle up to 400 tool calls per task; uses "interactive scaling" to think, act, and evaluate results in a continuous loop</a:t>
            </a:r>
            <a:endParaRPr sz="12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SzPts val="900"/>
              <a:buFont typeface="Calibri"/>
              <a:buChar char="●"/>
            </a:pPr>
            <a:r>
              <a:rPr lang="en" sz="1200">
                <a:solidFill>
                  <a:schemeClr val="dk1"/>
                </a:solidFill>
                <a:latin typeface="Calibri"/>
                <a:ea typeface="Calibri"/>
                <a:cs typeface="Calibri"/>
                <a:sym typeface="Calibri"/>
              </a:rPr>
              <a:t>You can download and run the model locally via GitHub, allowing for total data privacy and customization.</a:t>
            </a:r>
            <a:endParaRPr sz="1200">
              <a:solidFill>
                <a:schemeClr val="dk1"/>
              </a:solidFill>
              <a:latin typeface="Calibri"/>
              <a:ea typeface="Calibri"/>
              <a:cs typeface="Calibri"/>
              <a:sym typeface="Calibri"/>
            </a:endParaRPr>
          </a:p>
          <a:p>
            <a:pPr marL="171450" marR="0" lvl="0" indent="-114300" algn="l" rtl="0">
              <a:lnSpc>
                <a:spcPct val="100000"/>
              </a:lnSpc>
              <a:spcBef>
                <a:spcPts val="0"/>
              </a:spcBef>
              <a:spcAft>
                <a:spcPts val="0"/>
              </a:spcAft>
              <a:buSzPts val="900"/>
              <a:buFont typeface="Calibri"/>
              <a:buChar char="●"/>
            </a:pPr>
            <a:r>
              <a:rPr lang="en" sz="1200" u="sng">
                <a:solidFill>
                  <a:schemeClr val="hlink"/>
                </a:solidFill>
                <a:latin typeface="Calibri"/>
                <a:ea typeface="Calibri"/>
                <a:cs typeface="Calibri"/>
                <a:sym typeface="Calibri"/>
                <a:hlinkClick r:id="rId3"/>
              </a:rPr>
              <a:t>https://www.youtube.com/watch?v=YeJjr5-rVww</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4"/>
              </a:rPr>
              <a:t>https://huggingface.co/miromind-ai/MiroThinker-v1.5-30B</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5"/>
              </a:rPr>
              <a:t>https://huggingface.co/miromind-ai/MiroThinker-v1.5-235B</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6"/>
              </a:rPr>
              <a:t>https://miromind.ccgxk.com/</a:t>
            </a:r>
            <a:endParaRPr sz="1200">
              <a:solidFill>
                <a:schemeClr val="dk1"/>
              </a:solidFill>
              <a:latin typeface="Calibri"/>
              <a:ea typeface="Calibri"/>
              <a:cs typeface="Calibri"/>
              <a:sym typeface="Calibri"/>
            </a:endParaRPr>
          </a:p>
          <a:p>
            <a:pPr marL="171450" marR="0" lvl="0" indent="-133350" algn="l" rtl="0">
              <a:lnSpc>
                <a:spcPct val="100000"/>
              </a:lnSpc>
              <a:spcBef>
                <a:spcPts val="0"/>
              </a:spcBef>
              <a:spcAft>
                <a:spcPts val="0"/>
              </a:spcAft>
              <a:buClr>
                <a:schemeClr val="dk1"/>
              </a:buClr>
              <a:buSzPts val="1200"/>
              <a:buFont typeface="Calibri"/>
              <a:buChar char="●"/>
            </a:pPr>
            <a:r>
              <a:rPr lang="en" sz="1200" u="sng">
                <a:solidFill>
                  <a:schemeClr val="hlink"/>
                </a:solidFill>
                <a:latin typeface="Calibri"/>
                <a:ea typeface="Calibri"/>
                <a:cs typeface="Calibri"/>
                <a:sym typeface="Calibri"/>
                <a:hlinkClick r:id="rId7"/>
              </a:rPr>
              <a:t>https://github.com/MiroMindAI/MiroThinker</a:t>
            </a:r>
            <a:r>
              <a:rPr lang="en" sz="1200">
                <a:solidFill>
                  <a:schemeClr val="dk1"/>
                </a:solidFill>
                <a:latin typeface="Calibri"/>
                <a:ea typeface="Calibri"/>
                <a:cs typeface="Calibri"/>
                <a:sym typeface="Calibri"/>
              </a:rPr>
              <a:t> </a:t>
            </a:r>
            <a:endParaRPr sz="1200">
              <a:solidFill>
                <a:schemeClr val="dk1"/>
              </a:solidFill>
              <a:latin typeface="Calibri"/>
              <a:ea typeface="Calibri"/>
              <a:cs typeface="Calibri"/>
              <a:sym typeface="Calibri"/>
            </a:endParaRPr>
          </a:p>
        </p:txBody>
      </p:sp>
      <p:pic>
        <p:nvPicPr>
          <p:cNvPr id="295" name="Google Shape;295;p32"/>
          <p:cNvPicPr preferRelativeResize="0"/>
          <p:nvPr/>
        </p:nvPicPr>
        <p:blipFill>
          <a:blip r:embed="rId8" cstate="email">
            <a:alphaModFix/>
            <a:extLst>
              <a:ext uri="{28A0092B-C50C-407E-A947-70E740481C1C}">
                <a14:useLocalDpi xmlns:a14="http://schemas.microsoft.com/office/drawing/2010/main"/>
              </a:ext>
            </a:extLst>
          </a:blip>
          <a:stretch>
            <a:fillRect/>
          </a:stretch>
        </p:blipFill>
        <p:spPr>
          <a:xfrm>
            <a:off x="5245799" y="369423"/>
            <a:ext cx="3667874" cy="559425"/>
          </a:xfrm>
          <a:prstGeom prst="rect">
            <a:avLst/>
          </a:prstGeom>
          <a:noFill/>
          <a:ln w="9525" cap="flat" cmpd="sng">
            <a:solidFill>
              <a:srgbClr val="FF0000"/>
            </a:solidFill>
            <a:prstDash val="solid"/>
            <a:round/>
            <a:headEnd type="none" w="sm" len="sm"/>
            <a:tailEnd type="none" w="sm" len="sm"/>
          </a:ln>
        </p:spPr>
      </p:pic>
      <p:pic>
        <p:nvPicPr>
          <p:cNvPr id="296" name="Google Shape;296;p32"/>
          <p:cNvPicPr preferRelativeResize="0"/>
          <p:nvPr/>
        </p:nvPicPr>
        <p:blipFill>
          <a:blip r:embed="rId9" cstate="email">
            <a:alphaModFix/>
            <a:extLst>
              <a:ext uri="{28A0092B-C50C-407E-A947-70E740481C1C}">
                <a14:useLocalDpi xmlns:a14="http://schemas.microsoft.com/office/drawing/2010/main"/>
              </a:ext>
            </a:extLst>
          </a:blip>
          <a:stretch>
            <a:fillRect/>
          </a:stretch>
        </p:blipFill>
        <p:spPr>
          <a:xfrm>
            <a:off x="5404200" y="1274498"/>
            <a:ext cx="3509466" cy="3716601"/>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301" name="Google Shape;301;p33"/>
          <p:cNvSpPr txBox="1"/>
          <p:nvPr/>
        </p:nvSpPr>
        <p:spPr>
          <a:xfrm>
            <a:off x="55075" y="43025"/>
            <a:ext cx="44652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a:solidFill>
                  <a:schemeClr val="dk1"/>
                </a:solidFill>
                <a:latin typeface="Calibri"/>
                <a:ea typeface="Calibri"/>
                <a:cs typeface="Calibri"/>
                <a:sym typeface="Calibri"/>
              </a:rPr>
              <a:t>Haystack, LangChain, LlamaIndex</a:t>
            </a:r>
            <a:endParaRPr sz="2000" b="1">
              <a:solidFill>
                <a:schemeClr val="dk1"/>
              </a:solidFill>
              <a:latin typeface="Calibri"/>
              <a:ea typeface="Calibri"/>
              <a:cs typeface="Calibri"/>
              <a:sym typeface="Calibri"/>
            </a:endParaRPr>
          </a:p>
        </p:txBody>
      </p:sp>
      <p:sp>
        <p:nvSpPr>
          <p:cNvPr id="302" name="Google Shape;302;p33"/>
          <p:cNvSpPr txBox="1"/>
          <p:nvPr/>
        </p:nvSpPr>
        <p:spPr>
          <a:xfrm>
            <a:off x="55075" y="446948"/>
            <a:ext cx="4465200" cy="44514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SzPts val="1200"/>
              <a:buFont typeface="Calibri"/>
              <a:buChar char="●"/>
            </a:pPr>
            <a:r>
              <a:rPr lang="en" sz="1200" b="1">
                <a:solidFill>
                  <a:srgbClr val="FF0000"/>
                </a:solidFill>
                <a:latin typeface="Calibri"/>
                <a:ea typeface="Calibri"/>
                <a:cs typeface="Calibri"/>
                <a:sym typeface="Calibri"/>
              </a:rPr>
              <a:t>Haystack, LangChain, and LlamaIndex</a:t>
            </a:r>
            <a:r>
              <a:rPr lang="en" sz="1200">
                <a:latin typeface="Calibri"/>
                <a:ea typeface="Calibri"/>
                <a:cs typeface="Calibri"/>
                <a:sym typeface="Calibri"/>
              </a:rPr>
              <a:t> are three leading open-source frameworks for building LLM / RAG applications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b="1">
                <a:solidFill>
                  <a:srgbClr val="FF0000"/>
                </a:solidFill>
                <a:latin typeface="Calibri"/>
                <a:ea typeface="Calibri"/>
                <a:cs typeface="Calibri"/>
                <a:sym typeface="Calibri"/>
              </a:rPr>
              <a:t>Haystack</a:t>
            </a:r>
            <a:r>
              <a:rPr lang="en" sz="1200">
                <a:latin typeface="Calibri"/>
                <a:ea typeface="Calibri"/>
                <a:cs typeface="Calibri"/>
                <a:sym typeface="Calibri"/>
              </a:rPr>
              <a:t> - production-oriented and enterprise-ready</a:t>
            </a:r>
            <a:br>
              <a:rPr lang="en" sz="1200">
                <a:latin typeface="Calibri"/>
                <a:ea typeface="Calibri"/>
                <a:cs typeface="Calibri"/>
                <a:sym typeface="Calibri"/>
              </a:rPr>
            </a:br>
            <a:r>
              <a:rPr lang="en" sz="1200">
                <a:latin typeface="Calibri"/>
                <a:ea typeface="Calibri"/>
                <a:cs typeface="Calibri"/>
                <a:sym typeface="Calibri"/>
              </a:rPr>
              <a:t>designed for large-scale deployments requiring robust document handling, stability, and compliance</a:t>
            </a:r>
            <a:br>
              <a:rPr lang="en" sz="1200">
                <a:latin typeface="Calibri"/>
                <a:ea typeface="Calibri"/>
                <a:cs typeface="Calibri"/>
                <a:sym typeface="Calibri"/>
              </a:rPr>
            </a:br>
            <a:r>
              <a:rPr lang="en" sz="1200">
                <a:latin typeface="Calibri"/>
                <a:ea typeface="Calibri"/>
                <a:cs typeface="Calibri"/>
                <a:sym typeface="Calibri"/>
              </a:rPr>
              <a:t>It features a modular, component-based architecture with strong metadata filtering and hybrid retrieval capabilities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b="1">
                <a:solidFill>
                  <a:srgbClr val="FF0000"/>
                </a:solidFill>
                <a:latin typeface="Calibri"/>
                <a:ea typeface="Calibri"/>
                <a:cs typeface="Calibri"/>
                <a:sym typeface="Calibri"/>
              </a:rPr>
              <a:t>LangChain</a:t>
            </a:r>
            <a:r>
              <a:rPr lang="en" sz="1200">
                <a:latin typeface="Calibri"/>
                <a:ea typeface="Calibri"/>
                <a:cs typeface="Calibri"/>
                <a:sym typeface="Calibri"/>
              </a:rPr>
              <a:t>  - orchestration and rapid prototyping</a:t>
            </a:r>
            <a:br>
              <a:rPr lang="en" sz="1200">
                <a:latin typeface="Calibri"/>
                <a:ea typeface="Calibri"/>
                <a:cs typeface="Calibri"/>
                <a:sym typeface="Calibri"/>
              </a:rPr>
            </a:br>
            <a:r>
              <a:rPr lang="en" sz="1200">
                <a:latin typeface="Calibri"/>
                <a:ea typeface="Calibri"/>
                <a:cs typeface="Calibri"/>
                <a:sym typeface="Calibri"/>
              </a:rPr>
              <a:t>It offers maximum flexibility for building complex agent workflows, multi-modal applications, and dynamic systems requiring sophisticated context retention and real-time updates</a:t>
            </a:r>
            <a:br>
              <a:rPr lang="en" sz="1200">
                <a:latin typeface="Calibri"/>
                <a:ea typeface="Calibri"/>
                <a:cs typeface="Calibri"/>
                <a:sym typeface="Calibri"/>
              </a:rPr>
            </a:br>
            <a:r>
              <a:rPr lang="en" sz="1200">
                <a:latin typeface="Calibri"/>
                <a:ea typeface="Calibri"/>
                <a:cs typeface="Calibri"/>
                <a:sym typeface="Calibri"/>
              </a:rPr>
              <a:t>LangChain has captured significant developer mindshare for experimentation</a:t>
            </a:r>
            <a:br>
              <a:rPr lang="en" sz="1200">
                <a:latin typeface="Calibri"/>
                <a:ea typeface="Calibri"/>
                <a:cs typeface="Calibri"/>
                <a:sym typeface="Calibri"/>
              </a:rPr>
            </a:br>
            <a:r>
              <a:rPr lang="en" sz="1200" b="1">
                <a:solidFill>
                  <a:srgbClr val="FF0000"/>
                </a:solidFill>
                <a:latin typeface="Calibri"/>
                <a:ea typeface="Calibri"/>
                <a:cs typeface="Calibri"/>
                <a:sym typeface="Calibri"/>
              </a:rPr>
              <a:t>LlamaIndex</a:t>
            </a:r>
            <a:r>
              <a:rPr lang="en" sz="1200">
                <a:latin typeface="Calibri"/>
                <a:ea typeface="Calibri"/>
                <a:cs typeface="Calibri"/>
                <a:sym typeface="Calibri"/>
              </a:rPr>
              <a:t> - pecializes in fast information retrieval with dynamic chunking and flexible indexing strategies, though it's more limited in scope than the other frameworks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Recent benchmarks show minimal performance differences when using identical components</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All three achieve 100% accuracy with variation mainly in token consumption (Haystack most efficient at ~1,570 tokens vs LangChain's ~2,400)</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a:latin typeface="Calibri"/>
                <a:ea typeface="Calibri"/>
                <a:cs typeface="Calibri"/>
                <a:sym typeface="Calibri"/>
              </a:rPr>
              <a:t>Framework choice depends on whether you prioritize production stability (Haystack), development flexibility (LangChain), or retrieval simplicity (LlamaIndex)</a:t>
            </a:r>
            <a:endParaRPr sz="1200">
              <a:latin typeface="Calibri"/>
              <a:ea typeface="Calibri"/>
              <a:cs typeface="Calibri"/>
              <a:sym typeface="Calibri"/>
            </a:endParaRPr>
          </a:p>
        </p:txBody>
      </p:sp>
      <p:pic>
        <p:nvPicPr>
          <p:cNvPr id="303" name="Google Shape;303;p33"/>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5715075" y="1616450"/>
            <a:ext cx="1349400" cy="1349400"/>
          </a:xfrm>
          <a:prstGeom prst="rect">
            <a:avLst/>
          </a:prstGeom>
          <a:noFill/>
          <a:ln w="9525" cap="flat" cmpd="sng">
            <a:solidFill>
              <a:srgbClr val="FF0000"/>
            </a:solidFill>
            <a:prstDash val="solid"/>
            <a:round/>
            <a:headEnd type="none" w="sm" len="sm"/>
            <a:tailEnd type="none" w="sm" len="sm"/>
          </a:ln>
        </p:spPr>
      </p:pic>
      <p:pic>
        <p:nvPicPr>
          <p:cNvPr id="304" name="Google Shape;304;p33"/>
          <p:cNvPicPr preferRelativeResize="0"/>
          <p:nvPr/>
        </p:nvPicPr>
        <p:blipFill>
          <a:blip r:embed="rId4" cstate="email">
            <a:alphaModFix/>
            <a:extLst>
              <a:ext uri="{28A0092B-C50C-407E-A947-70E740481C1C}">
                <a14:useLocalDpi xmlns:a14="http://schemas.microsoft.com/office/drawing/2010/main"/>
              </a:ext>
            </a:extLst>
          </a:blip>
          <a:stretch>
            <a:fillRect/>
          </a:stretch>
        </p:blipFill>
        <p:spPr>
          <a:xfrm>
            <a:off x="4993713" y="3042050"/>
            <a:ext cx="2792125" cy="955000"/>
          </a:xfrm>
          <a:prstGeom prst="rect">
            <a:avLst/>
          </a:prstGeom>
          <a:noFill/>
          <a:ln w="9525" cap="flat" cmpd="sng">
            <a:solidFill>
              <a:srgbClr val="FF0000"/>
            </a:solidFill>
            <a:prstDash val="solid"/>
            <a:round/>
            <a:headEnd type="none" w="sm" len="sm"/>
            <a:tailEnd type="none" w="sm" len="sm"/>
          </a:ln>
        </p:spPr>
      </p:pic>
      <p:pic>
        <p:nvPicPr>
          <p:cNvPr id="305" name="Google Shape;305;p33"/>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5103022" y="369422"/>
            <a:ext cx="2454956" cy="1170825"/>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9"/>
        <p:cNvGrpSpPr/>
        <p:nvPr/>
      </p:nvGrpSpPr>
      <p:grpSpPr>
        <a:xfrm>
          <a:off x="0" y="0"/>
          <a:ext cx="0" cy="0"/>
          <a:chOff x="0" y="0"/>
          <a:chExt cx="0" cy="0"/>
        </a:xfrm>
      </p:grpSpPr>
      <p:sp>
        <p:nvSpPr>
          <p:cNvPr id="310" name="Google Shape;310;p34"/>
          <p:cNvSpPr txBox="1"/>
          <p:nvPr/>
        </p:nvSpPr>
        <p:spPr>
          <a:xfrm>
            <a:off x="55075" y="43025"/>
            <a:ext cx="4465200" cy="3108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1900" b="1">
                <a:solidFill>
                  <a:schemeClr val="dk1"/>
                </a:solidFill>
                <a:latin typeface="Calibri"/>
                <a:ea typeface="Calibri"/>
                <a:cs typeface="Calibri"/>
                <a:sym typeface="Calibri"/>
              </a:rPr>
              <a:t>Microsoft Research Job Market Predictions</a:t>
            </a:r>
            <a:endParaRPr sz="1900" b="1">
              <a:solidFill>
                <a:schemeClr val="dk1"/>
              </a:solidFill>
              <a:latin typeface="Calibri"/>
              <a:ea typeface="Calibri"/>
              <a:cs typeface="Calibri"/>
              <a:sym typeface="Calibri"/>
            </a:endParaRPr>
          </a:p>
        </p:txBody>
      </p:sp>
      <p:sp>
        <p:nvSpPr>
          <p:cNvPr id="311" name="Google Shape;311;p34"/>
          <p:cNvSpPr txBox="1"/>
          <p:nvPr/>
        </p:nvSpPr>
        <p:spPr>
          <a:xfrm>
            <a:off x="100643" y="611927"/>
            <a:ext cx="5414400" cy="3804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Microsoft Research Job Market Predictions.</a:t>
            </a:r>
            <a:endParaRPr sz="12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b="1">
                <a:solidFill>
                  <a:srgbClr val="3C78D8"/>
                </a:solidFill>
                <a:latin typeface="Calibri"/>
                <a:ea typeface="Calibri"/>
                <a:cs typeface="Calibri"/>
                <a:sym typeface="Calibri"/>
              </a:rPr>
              <a:t>Transformation vs. Elimination.</a:t>
            </a:r>
            <a:r>
              <a:rPr lang="en" sz="1100">
                <a:latin typeface="Calibri"/>
                <a:ea typeface="Calibri"/>
                <a:cs typeface="Calibri"/>
                <a:sym typeface="Calibri"/>
              </a:rPr>
              <a:t> </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High-Risk jobs - White Collar (translation, writing, sales, customer service, coding)</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Low Risk - Physical/Human-Centric (construction, electricians, nursing, personal services)</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b="1">
                <a:solidFill>
                  <a:srgbClr val="FF0000"/>
                </a:solidFill>
                <a:latin typeface="Calibri"/>
                <a:ea typeface="Calibri"/>
                <a:cs typeface="Calibri"/>
                <a:sym typeface="Calibri"/>
              </a:rPr>
              <a:t>2025</a:t>
            </a:r>
            <a:r>
              <a:rPr lang="en" sz="1100">
                <a:latin typeface="Calibri"/>
                <a:ea typeface="Calibri"/>
                <a:cs typeface="Calibri"/>
                <a:sym typeface="Calibri"/>
              </a:rPr>
              <a:t> - Entry-level "extinction" and the initial 85 Mln jobs outsourced to AI globally (but 97 Mln AI related jobs have emerged)</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b="1">
                <a:solidFill>
                  <a:srgbClr val="FF0000"/>
                </a:solidFill>
                <a:latin typeface="Calibri"/>
                <a:ea typeface="Calibri"/>
                <a:cs typeface="Calibri"/>
                <a:sym typeface="Calibri"/>
              </a:rPr>
              <a:t>2026</a:t>
            </a:r>
            <a:r>
              <a:rPr lang="en" sz="1100">
                <a:latin typeface="Calibri"/>
                <a:ea typeface="Calibri"/>
                <a:cs typeface="Calibri"/>
                <a:sym typeface="Calibri"/>
              </a:rPr>
              <a:t> - Industry transformation (jobs losses in manufacturing, transportation, healthcare), </a:t>
            </a:r>
            <a:r>
              <a:rPr lang="en" sz="1100">
                <a:solidFill>
                  <a:schemeClr val="dk1"/>
                </a:solidFill>
                <a:latin typeface="Calibri"/>
                <a:ea typeface="Calibri"/>
                <a:cs typeface="Calibri"/>
                <a:sym typeface="Calibri"/>
              </a:rPr>
              <a:t>but growth in AI-related management roles</a:t>
            </a:r>
            <a:endParaRPr sz="1100">
              <a:solidFill>
                <a:schemeClr val="dk1"/>
              </a:solidFill>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b="1">
                <a:solidFill>
                  <a:srgbClr val="FF0000"/>
                </a:solidFill>
                <a:latin typeface="Calibri"/>
                <a:ea typeface="Calibri"/>
                <a:cs typeface="Calibri"/>
                <a:sym typeface="Calibri"/>
              </a:rPr>
              <a:t>2027</a:t>
            </a:r>
            <a:r>
              <a:rPr lang="en" sz="1100">
                <a:latin typeface="Calibri"/>
                <a:ea typeface="Calibri"/>
                <a:cs typeface="Calibri"/>
                <a:sym typeface="Calibri"/>
              </a:rPr>
              <a:t>: The "Skill Revolution" where the divide between AI-literate workers and others becomes permanent. </a:t>
            </a:r>
            <a:r>
              <a:rPr lang="en" sz="1100">
                <a:solidFill>
                  <a:schemeClr val="dk1"/>
                </a:solidFill>
                <a:latin typeface="Calibri"/>
                <a:ea typeface="Calibri"/>
                <a:cs typeface="Calibri"/>
                <a:sym typeface="Calibri"/>
              </a:rPr>
              <a:t>AI literacy becomes a mandatory requirement for high-paying roles; 70% of job skills globally are expected to change</a:t>
            </a:r>
            <a:endParaRPr sz="1100">
              <a:latin typeface="Calibri"/>
              <a:ea typeface="Calibri"/>
              <a:cs typeface="Calibri"/>
              <a:sym typeface="Calibri"/>
            </a:endParaRPr>
          </a:p>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By 2027, workers with AI skills will earn roughly 56% more than those without</a:t>
            </a:r>
            <a:endParaRPr sz="1100">
              <a:latin typeface="Calibri"/>
              <a:ea typeface="Calibri"/>
              <a:cs typeface="Calibri"/>
              <a:sym typeface="Calibri"/>
            </a:endParaRPr>
          </a:p>
          <a:p>
            <a:pPr marL="171450" marR="0" lvl="0" indent="-127000" algn="l" rtl="0">
              <a:lnSpc>
                <a:spcPct val="100000"/>
              </a:lnSpc>
              <a:spcBef>
                <a:spcPts val="0"/>
              </a:spcBef>
              <a:spcAft>
                <a:spcPts val="0"/>
              </a:spcAft>
              <a:buClr>
                <a:srgbClr val="3C78D8"/>
              </a:buClr>
              <a:buSzPts val="1100"/>
              <a:buFont typeface="Calibri"/>
              <a:buChar char="●"/>
            </a:pPr>
            <a:r>
              <a:rPr lang="en" sz="1100" b="1">
                <a:solidFill>
                  <a:srgbClr val="3C78D8"/>
                </a:solidFill>
                <a:latin typeface="Calibri"/>
                <a:ea typeface="Calibri"/>
                <a:cs typeface="Calibri"/>
                <a:sym typeface="Calibri"/>
              </a:rPr>
              <a:t>Three strategies for workers:</a:t>
            </a:r>
            <a:endParaRPr sz="1100" b="1">
              <a:solidFill>
                <a:srgbClr val="3C78D8"/>
              </a:solidFill>
              <a:latin typeface="Calibri"/>
              <a:ea typeface="Calibri"/>
              <a:cs typeface="Calibri"/>
              <a:sym typeface="Calibri"/>
            </a:endParaRPr>
          </a:p>
          <a:p>
            <a:pPr marL="457200" marR="0" lvl="0" indent="-127000" algn="l" rtl="0">
              <a:lnSpc>
                <a:spcPct val="100000"/>
              </a:lnSpc>
              <a:spcBef>
                <a:spcPts val="0"/>
              </a:spcBef>
              <a:spcAft>
                <a:spcPts val="0"/>
              </a:spcAft>
              <a:buClr>
                <a:srgbClr val="3C78D8"/>
              </a:buClr>
              <a:buSzPts val="1100"/>
              <a:buFont typeface="Calibri"/>
              <a:buChar char="●"/>
            </a:pPr>
            <a:r>
              <a:rPr lang="en" sz="1100">
                <a:solidFill>
                  <a:srgbClr val="3C78D8"/>
                </a:solidFill>
                <a:latin typeface="Calibri"/>
                <a:ea typeface="Calibri"/>
                <a:cs typeface="Calibri"/>
                <a:sym typeface="Calibri"/>
              </a:rPr>
              <a:t>1. Collaborate, don't compete: Use AI to handle routine tasks </a:t>
            </a:r>
            <a:br>
              <a:rPr lang="en" sz="1100">
                <a:solidFill>
                  <a:srgbClr val="3C78D8"/>
                </a:solidFill>
                <a:latin typeface="Calibri"/>
                <a:ea typeface="Calibri"/>
                <a:cs typeface="Calibri"/>
                <a:sym typeface="Calibri"/>
              </a:rPr>
            </a:br>
            <a:r>
              <a:rPr lang="en" sz="1100">
                <a:solidFill>
                  <a:srgbClr val="3C78D8"/>
                </a:solidFill>
                <a:latin typeface="Calibri"/>
                <a:ea typeface="Calibri"/>
                <a:cs typeface="Calibri"/>
                <a:sym typeface="Calibri"/>
              </a:rPr>
              <a:t>    and move "up the value chain"</a:t>
            </a:r>
            <a:endParaRPr sz="1100">
              <a:solidFill>
                <a:srgbClr val="3C78D8"/>
              </a:solidFill>
              <a:latin typeface="Calibri"/>
              <a:ea typeface="Calibri"/>
              <a:cs typeface="Calibri"/>
              <a:sym typeface="Calibri"/>
            </a:endParaRPr>
          </a:p>
          <a:p>
            <a:pPr marL="457200" marR="0" lvl="0" indent="-127000" algn="l" rtl="0">
              <a:lnSpc>
                <a:spcPct val="100000"/>
              </a:lnSpc>
              <a:spcBef>
                <a:spcPts val="0"/>
              </a:spcBef>
              <a:spcAft>
                <a:spcPts val="0"/>
              </a:spcAft>
              <a:buClr>
                <a:srgbClr val="3C78D8"/>
              </a:buClr>
              <a:buSzPts val="1100"/>
              <a:buFont typeface="Calibri"/>
              <a:buChar char="●"/>
            </a:pPr>
            <a:r>
              <a:rPr lang="en" sz="1100">
                <a:solidFill>
                  <a:srgbClr val="3C78D8"/>
                </a:solidFill>
                <a:latin typeface="Calibri"/>
                <a:ea typeface="Calibri"/>
                <a:cs typeface="Calibri"/>
                <a:sym typeface="Calibri"/>
              </a:rPr>
              <a:t>2. Focus on Human Skills: Double down on ethics, </a:t>
            </a:r>
            <a:br>
              <a:rPr lang="en" sz="1100">
                <a:solidFill>
                  <a:srgbClr val="3C78D8"/>
                </a:solidFill>
                <a:latin typeface="Calibri"/>
                <a:ea typeface="Calibri"/>
                <a:cs typeface="Calibri"/>
                <a:sym typeface="Calibri"/>
              </a:rPr>
            </a:br>
            <a:r>
              <a:rPr lang="en" sz="1100">
                <a:solidFill>
                  <a:srgbClr val="3C78D8"/>
                </a:solidFill>
                <a:latin typeface="Calibri"/>
                <a:ea typeface="Calibri"/>
                <a:cs typeface="Calibri"/>
                <a:sym typeface="Calibri"/>
              </a:rPr>
              <a:t>    strategy, and emotional intelligence</a:t>
            </a:r>
            <a:endParaRPr sz="1100">
              <a:solidFill>
                <a:srgbClr val="3C78D8"/>
              </a:solidFill>
              <a:latin typeface="Calibri"/>
              <a:ea typeface="Calibri"/>
              <a:cs typeface="Calibri"/>
              <a:sym typeface="Calibri"/>
            </a:endParaRPr>
          </a:p>
          <a:p>
            <a:pPr marL="457200" marR="0" lvl="0" indent="-127000" algn="l" rtl="0">
              <a:lnSpc>
                <a:spcPct val="100000"/>
              </a:lnSpc>
              <a:spcBef>
                <a:spcPts val="0"/>
              </a:spcBef>
              <a:spcAft>
                <a:spcPts val="0"/>
              </a:spcAft>
              <a:buClr>
                <a:srgbClr val="3C78D8"/>
              </a:buClr>
              <a:buSzPts val="1100"/>
              <a:buFont typeface="Calibri"/>
              <a:buChar char="●"/>
            </a:pPr>
            <a:r>
              <a:rPr lang="en" sz="1100">
                <a:solidFill>
                  <a:srgbClr val="3C78D8"/>
                </a:solidFill>
                <a:latin typeface="Calibri"/>
                <a:ea typeface="Calibri"/>
                <a:cs typeface="Calibri"/>
                <a:sym typeface="Calibri"/>
              </a:rPr>
              <a:t>3. Gain AI Literacy: Learn to prompt and manage AI systems </a:t>
            </a:r>
            <a:br>
              <a:rPr lang="en" sz="1100">
                <a:solidFill>
                  <a:srgbClr val="3C78D8"/>
                </a:solidFill>
                <a:latin typeface="Calibri"/>
                <a:ea typeface="Calibri"/>
                <a:cs typeface="Calibri"/>
                <a:sym typeface="Calibri"/>
              </a:rPr>
            </a:br>
            <a:r>
              <a:rPr lang="en" sz="1100">
                <a:solidFill>
                  <a:srgbClr val="3C78D8"/>
                </a:solidFill>
                <a:latin typeface="Calibri"/>
                <a:ea typeface="Calibri"/>
                <a:cs typeface="Calibri"/>
                <a:sym typeface="Calibri"/>
              </a:rPr>
              <a:t>    to remain employable and access higher wages</a:t>
            </a:r>
            <a:endParaRPr sz="1100">
              <a:solidFill>
                <a:srgbClr val="3C78D8"/>
              </a:solidFill>
              <a:latin typeface="Calibri"/>
              <a:ea typeface="Calibri"/>
              <a:cs typeface="Calibri"/>
              <a:sym typeface="Calibri"/>
            </a:endParaRPr>
          </a:p>
          <a:p>
            <a:pPr marL="171450" marR="0" lvl="0" indent="-114300" algn="l" rtl="0">
              <a:lnSpc>
                <a:spcPct val="100000"/>
              </a:lnSpc>
              <a:spcBef>
                <a:spcPts val="0"/>
              </a:spcBef>
              <a:spcAft>
                <a:spcPts val="0"/>
              </a:spcAft>
              <a:buSzPts val="900"/>
              <a:buFont typeface="Calibri"/>
              <a:buChar char="●"/>
            </a:pPr>
            <a:r>
              <a:rPr lang="en" sz="900" u="sng">
                <a:solidFill>
                  <a:schemeClr val="hlink"/>
                </a:solidFill>
                <a:latin typeface="Calibri"/>
                <a:ea typeface="Calibri"/>
                <a:cs typeface="Calibri"/>
                <a:sym typeface="Calibri"/>
                <a:hlinkClick r:id="rId3"/>
              </a:rPr>
              <a:t>https://www.youtube.com/watch?v=x3QSOXgxp6I</a:t>
            </a:r>
            <a:r>
              <a:rPr lang="en" sz="900">
                <a:latin typeface="Calibri"/>
                <a:ea typeface="Calibri"/>
                <a:cs typeface="Calibri"/>
                <a:sym typeface="Calibri"/>
              </a:rPr>
              <a:t> </a:t>
            </a:r>
            <a:endParaRPr sz="900">
              <a:latin typeface="Calibri"/>
              <a:ea typeface="Calibri"/>
              <a:cs typeface="Calibri"/>
              <a:sym typeface="Calibri"/>
            </a:endParaRPr>
          </a:p>
          <a:p>
            <a:pPr marL="171450" marR="0" lvl="0" indent="-114300" algn="l" rtl="0">
              <a:lnSpc>
                <a:spcPct val="100000"/>
              </a:lnSpc>
              <a:spcBef>
                <a:spcPts val="0"/>
              </a:spcBef>
              <a:spcAft>
                <a:spcPts val="0"/>
              </a:spcAft>
              <a:buSzPts val="900"/>
              <a:buFont typeface="Calibri"/>
              <a:buChar char="●"/>
            </a:pPr>
            <a:r>
              <a:rPr lang="en" sz="900" u="sng">
                <a:solidFill>
                  <a:schemeClr val="hlink"/>
                </a:solidFill>
                <a:latin typeface="Calibri"/>
                <a:ea typeface="Calibri"/>
                <a:cs typeface="Calibri"/>
                <a:sym typeface="Calibri"/>
                <a:hlinkClick r:id="rId4"/>
              </a:rPr>
              <a:t>https://arxiv.org/pdf/2507.07935</a:t>
            </a:r>
            <a:endParaRPr sz="900">
              <a:latin typeface="Calibri"/>
              <a:ea typeface="Calibri"/>
              <a:cs typeface="Calibri"/>
              <a:sym typeface="Calibri"/>
            </a:endParaRPr>
          </a:p>
          <a:p>
            <a:pPr marL="171450" marR="0" lvl="0" indent="-114300" algn="l" rtl="0">
              <a:lnSpc>
                <a:spcPct val="100000"/>
              </a:lnSpc>
              <a:spcBef>
                <a:spcPts val="0"/>
              </a:spcBef>
              <a:spcAft>
                <a:spcPts val="0"/>
              </a:spcAft>
              <a:buSzPts val="900"/>
              <a:buFont typeface="Calibri"/>
              <a:buChar char="●"/>
            </a:pPr>
            <a:r>
              <a:rPr lang="en" sz="900" u="sng">
                <a:solidFill>
                  <a:schemeClr val="hlink"/>
                </a:solidFill>
                <a:latin typeface="Calibri"/>
                <a:ea typeface="Calibri"/>
                <a:cs typeface="Calibri"/>
                <a:sym typeface="Calibri"/>
                <a:hlinkClick r:id="rId5"/>
              </a:rPr>
              <a:t>https://www.microsoft.com/en-us/research/publication/working-with-ai-measuring-the-occupational-implications-of-generative-ai/</a:t>
            </a:r>
            <a:r>
              <a:rPr lang="en" sz="900">
                <a:latin typeface="Calibri"/>
                <a:ea typeface="Calibri"/>
                <a:cs typeface="Calibri"/>
                <a:sym typeface="Calibri"/>
              </a:rPr>
              <a:t> </a:t>
            </a:r>
            <a:endParaRPr sz="900">
              <a:latin typeface="Calibri"/>
              <a:ea typeface="Calibri"/>
              <a:cs typeface="Calibri"/>
              <a:sym typeface="Calibri"/>
            </a:endParaRPr>
          </a:p>
        </p:txBody>
      </p:sp>
      <p:pic>
        <p:nvPicPr>
          <p:cNvPr id="312" name="Google Shape;312;p34"/>
          <p:cNvPicPr preferRelativeResize="0"/>
          <p:nvPr/>
        </p:nvPicPr>
        <p:blipFill>
          <a:blip r:embed="rId6" cstate="email">
            <a:alphaModFix/>
            <a:extLst>
              <a:ext uri="{28A0092B-C50C-407E-A947-70E740481C1C}">
                <a14:useLocalDpi xmlns:a14="http://schemas.microsoft.com/office/drawing/2010/main"/>
              </a:ext>
            </a:extLst>
          </a:blip>
          <a:stretch>
            <a:fillRect/>
          </a:stretch>
        </p:blipFill>
        <p:spPr>
          <a:xfrm>
            <a:off x="5642436" y="1441725"/>
            <a:ext cx="3363024" cy="2126530"/>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16"/>
        <p:cNvGrpSpPr/>
        <p:nvPr/>
      </p:nvGrpSpPr>
      <p:grpSpPr>
        <a:xfrm>
          <a:off x="0" y="0"/>
          <a:ext cx="0" cy="0"/>
          <a:chOff x="0" y="0"/>
          <a:chExt cx="0" cy="0"/>
        </a:xfrm>
      </p:grpSpPr>
      <p:sp>
        <p:nvSpPr>
          <p:cNvPr id="317" name="Google Shape;317;p35"/>
          <p:cNvSpPr txBox="1"/>
          <p:nvPr/>
        </p:nvSpPr>
        <p:spPr>
          <a:xfrm>
            <a:off x="55075" y="43025"/>
            <a:ext cx="4465200" cy="3108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1900" b="1">
                <a:solidFill>
                  <a:schemeClr val="dk1"/>
                </a:solidFill>
                <a:latin typeface="Calibri"/>
                <a:ea typeface="Calibri"/>
                <a:cs typeface="Calibri"/>
                <a:sym typeface="Calibri"/>
              </a:rPr>
              <a:t>Boris Cherny about career trajectory</a:t>
            </a:r>
            <a:endParaRPr sz="1900" b="1">
              <a:solidFill>
                <a:schemeClr val="dk1"/>
              </a:solidFill>
              <a:latin typeface="Calibri"/>
              <a:ea typeface="Calibri"/>
              <a:cs typeface="Calibri"/>
              <a:sym typeface="Calibri"/>
            </a:endParaRPr>
          </a:p>
        </p:txBody>
      </p:sp>
      <p:sp>
        <p:nvSpPr>
          <p:cNvPr id="318" name="Google Shape;318;p35"/>
          <p:cNvSpPr txBox="1"/>
          <p:nvPr/>
        </p:nvSpPr>
        <p:spPr>
          <a:xfrm>
            <a:off x="55075" y="530700"/>
            <a:ext cx="4465200" cy="40821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27000" algn="l" rtl="0">
              <a:lnSpc>
                <a:spcPct val="100000"/>
              </a:lnSpc>
              <a:spcBef>
                <a:spcPts val="0"/>
              </a:spcBef>
              <a:spcAft>
                <a:spcPts val="0"/>
              </a:spcAft>
              <a:buClr>
                <a:srgbClr val="FF0000"/>
              </a:buClr>
              <a:buSzPts val="1100"/>
              <a:buFont typeface="Calibri"/>
              <a:buChar char="●"/>
            </a:pPr>
            <a:r>
              <a:rPr lang="en" sz="1100" b="1">
                <a:solidFill>
                  <a:srgbClr val="FF0000"/>
                </a:solidFill>
                <a:latin typeface="Calibri"/>
                <a:ea typeface="Calibri"/>
                <a:cs typeface="Calibri"/>
                <a:sym typeface="Calibri"/>
              </a:rPr>
              <a:t>Boris Cherny about career trajectory </a:t>
            </a:r>
            <a:endParaRPr sz="1100" b="1">
              <a:solidFill>
                <a:srgbClr val="FF0000"/>
              </a:solidFill>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Boris Cherny, creator of Claude Code, former Principal Engineer at Meta</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He progressed from a mid-level engineer to a high-level IC</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He emphasize the value of being a "generalist" and seeking "latent demand" - building products based on how users are already hacking existing tools</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At Meta Boris rose through the levels by taking initiative on high-leverage "side quests," such as creating internal state management frameworks (Undux) and leading massive migrations like the rewrite of Facebook Groups onto the Comet platform</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At Instagram - he moved to Tokyo to maintain his relationship, which inadvertently helped him avoid "meeting burnout" and return to deep coding, eventually leading the migration of Instagram's backend from Python to Hack</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At Anthropic - driven by a mission-oriented culture and a love for sci-fi, he developed Claude Code</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Boris argues that engineers should "build for the </a:t>
            </a:r>
            <a:r>
              <a:rPr lang="en" sz="1100" b="1">
                <a:solidFill>
                  <a:srgbClr val="3C78D8"/>
                </a:solidFill>
                <a:latin typeface="Calibri"/>
                <a:ea typeface="Calibri"/>
                <a:cs typeface="Calibri"/>
                <a:sym typeface="Calibri"/>
              </a:rPr>
              <a:t>model six months from now</a:t>
            </a:r>
            <a:r>
              <a:rPr lang="en" sz="1100">
                <a:latin typeface="Calibri"/>
                <a:ea typeface="Calibri"/>
                <a:cs typeface="Calibri"/>
                <a:sym typeface="Calibri"/>
              </a:rPr>
              <a:t>," not the model of today. </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He highlights that Claude Code has increased engineer productivity at Anthropic by nearly 70%, shifting the developer's role from manual coding to "orchestrating" fleets of AI agents</a:t>
            </a:r>
            <a:endParaRPr sz="1100">
              <a:latin typeface="Calibri"/>
              <a:ea typeface="Calibri"/>
              <a:cs typeface="Calibri"/>
              <a:sym typeface="Calibri"/>
            </a:endParaRPr>
          </a:p>
          <a:p>
            <a:pPr marL="171450" marR="0" lvl="0" indent="-127000" algn="l" rtl="0">
              <a:lnSpc>
                <a:spcPct val="100000"/>
              </a:lnSpc>
              <a:spcBef>
                <a:spcPts val="0"/>
              </a:spcBef>
              <a:spcAft>
                <a:spcPts val="0"/>
              </a:spcAft>
              <a:buSzPts val="1100"/>
              <a:buFont typeface="Calibri"/>
              <a:buChar char="●"/>
            </a:pPr>
            <a:r>
              <a:rPr lang="en" sz="1100">
                <a:latin typeface="Calibri"/>
                <a:ea typeface="Calibri"/>
                <a:cs typeface="Calibri"/>
                <a:sym typeface="Calibri"/>
              </a:rPr>
              <a:t>His ultimate advice for engineers is to maintain "common sense" and focus on solving real user problems rather than just following organizational processes</a:t>
            </a:r>
            <a:endParaRPr sz="1100">
              <a:latin typeface="Calibri"/>
              <a:ea typeface="Calibri"/>
              <a:cs typeface="Calibri"/>
              <a:sym typeface="Calibri"/>
            </a:endParaRPr>
          </a:p>
        </p:txBody>
      </p:sp>
      <p:pic>
        <p:nvPicPr>
          <p:cNvPr id="319" name="Google Shape;319;p35"/>
          <p:cNvPicPr preferRelativeResize="0"/>
          <p:nvPr/>
        </p:nvPicPr>
        <p:blipFill>
          <a:blip r:embed="rId3" cstate="email">
            <a:alphaModFix/>
            <a:extLst>
              <a:ext uri="{28A0092B-C50C-407E-A947-70E740481C1C}">
                <a14:useLocalDpi xmlns:a14="http://schemas.microsoft.com/office/drawing/2010/main"/>
              </a:ext>
            </a:extLst>
          </a:blip>
          <a:stretch>
            <a:fillRect/>
          </a:stretch>
        </p:blipFill>
        <p:spPr>
          <a:xfrm>
            <a:off x="4744350" y="1408250"/>
            <a:ext cx="3049525" cy="1694175"/>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23"/>
        <p:cNvGrpSpPr/>
        <p:nvPr/>
      </p:nvGrpSpPr>
      <p:grpSpPr>
        <a:xfrm>
          <a:off x="0" y="0"/>
          <a:ext cx="0" cy="0"/>
          <a:chOff x="0" y="0"/>
          <a:chExt cx="0" cy="0"/>
        </a:xfrm>
      </p:grpSpPr>
      <p:sp>
        <p:nvSpPr>
          <p:cNvPr id="324" name="Google Shape;324;p36"/>
          <p:cNvSpPr txBox="1"/>
          <p:nvPr/>
        </p:nvSpPr>
        <p:spPr>
          <a:xfrm>
            <a:off x="67350" y="52750"/>
            <a:ext cx="3179400" cy="326400"/>
          </a:xfrm>
          <a:prstGeom prst="rect">
            <a:avLst/>
          </a:prstGeom>
          <a:noFill/>
          <a:ln>
            <a:noFill/>
          </a:ln>
        </p:spPr>
        <p:txBody>
          <a:bodyPr spcFirstLastPara="1" wrap="square" lIns="9125" tIns="9125" rIns="9125" bIns="91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000" b="1" i="0" u="none" strike="noStrike" cap="none">
                <a:solidFill>
                  <a:schemeClr val="dk1"/>
                </a:solidFill>
                <a:latin typeface="Calibri"/>
                <a:ea typeface="Calibri"/>
                <a:cs typeface="Calibri"/>
                <a:sym typeface="Calibri"/>
              </a:rPr>
              <a:t>Jobs</a:t>
            </a:r>
            <a:endParaRPr sz="2000" b="1" i="0" u="none" strike="noStrike" cap="none">
              <a:solidFill>
                <a:schemeClr val="dk1"/>
              </a:solidFill>
              <a:latin typeface="Calibri"/>
              <a:ea typeface="Calibri"/>
              <a:cs typeface="Calibri"/>
              <a:sym typeface="Calibri"/>
            </a:endParaRPr>
          </a:p>
        </p:txBody>
      </p:sp>
      <p:sp>
        <p:nvSpPr>
          <p:cNvPr id="325" name="Google Shape;325;p36"/>
          <p:cNvSpPr txBox="1"/>
          <p:nvPr/>
        </p:nvSpPr>
        <p:spPr>
          <a:xfrm>
            <a:off x="2102050" y="77475"/>
            <a:ext cx="1800600" cy="3879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171450" marR="0" lvl="0" indent="-133350" algn="l" rtl="0">
              <a:lnSpc>
                <a:spcPct val="100000"/>
              </a:lnSpc>
              <a:spcBef>
                <a:spcPts val="0"/>
              </a:spcBef>
              <a:spcAft>
                <a:spcPts val="0"/>
              </a:spcAft>
              <a:buSzPts val="1200"/>
              <a:buFont typeface="Calibri"/>
              <a:buChar char="●"/>
            </a:pPr>
            <a:r>
              <a:rPr lang="en" sz="1200" b="0" i="0" u="sng" strike="noStrike" cap="none">
                <a:solidFill>
                  <a:schemeClr val="hlink"/>
                </a:solidFill>
                <a:latin typeface="Calibri"/>
                <a:ea typeface="Calibri"/>
                <a:cs typeface="Calibri"/>
                <a:sym typeface="Calibri"/>
                <a:hlinkClick r:id="rId3"/>
              </a:rPr>
              <a:t>https://layoffs.fyi</a:t>
            </a:r>
            <a:endParaRPr sz="1200">
              <a:latin typeface="Calibri"/>
              <a:ea typeface="Calibri"/>
              <a:cs typeface="Calibri"/>
              <a:sym typeface="Calibri"/>
            </a:endParaRPr>
          </a:p>
          <a:p>
            <a:pPr marL="171450" marR="0" lvl="0" indent="-133350" algn="l" rtl="0">
              <a:lnSpc>
                <a:spcPct val="100000"/>
              </a:lnSpc>
              <a:spcBef>
                <a:spcPts val="0"/>
              </a:spcBef>
              <a:spcAft>
                <a:spcPts val="0"/>
              </a:spcAft>
              <a:buSzPts val="1200"/>
              <a:buFont typeface="Calibri"/>
              <a:buChar char="●"/>
            </a:pPr>
            <a:r>
              <a:rPr lang="en" sz="1200" u="sng">
                <a:solidFill>
                  <a:schemeClr val="hlink"/>
                </a:solidFill>
                <a:latin typeface="Calibri"/>
                <a:ea typeface="Calibri"/>
                <a:cs typeface="Calibri"/>
                <a:sym typeface="Calibri"/>
                <a:hlinkClick r:id="rId4"/>
              </a:rPr>
              <a:t>https://trueup.io/layoffs</a:t>
            </a:r>
            <a:r>
              <a:rPr lang="en" sz="1200">
                <a:latin typeface="Calibri"/>
                <a:ea typeface="Calibri"/>
                <a:cs typeface="Calibri"/>
                <a:sym typeface="Calibri"/>
              </a:rPr>
              <a:t> </a:t>
            </a:r>
            <a:r>
              <a:rPr lang="en" sz="1200" b="0" i="0" u="none" strike="noStrike" cap="none">
                <a:solidFill>
                  <a:srgbClr val="000000"/>
                </a:solidFill>
                <a:latin typeface="Calibri"/>
                <a:ea typeface="Calibri"/>
                <a:cs typeface="Calibri"/>
                <a:sym typeface="Calibri"/>
              </a:rPr>
              <a:t> </a:t>
            </a:r>
            <a:endParaRPr sz="1200" b="0" i="0" u="none" strike="noStrike" cap="none">
              <a:solidFill>
                <a:srgbClr val="000000"/>
              </a:solidFill>
              <a:latin typeface="Calibri"/>
              <a:ea typeface="Calibri"/>
              <a:cs typeface="Calibri"/>
              <a:sym typeface="Calibri"/>
            </a:endParaRPr>
          </a:p>
        </p:txBody>
      </p:sp>
      <p:pic>
        <p:nvPicPr>
          <p:cNvPr id="326" name="Google Shape;326;p36"/>
          <p:cNvPicPr preferRelativeResize="0"/>
          <p:nvPr/>
        </p:nvPicPr>
        <p:blipFill>
          <a:blip r:embed="rId5" cstate="email">
            <a:alphaModFix/>
            <a:extLst>
              <a:ext uri="{28A0092B-C50C-407E-A947-70E740481C1C}">
                <a14:useLocalDpi xmlns:a14="http://schemas.microsoft.com/office/drawing/2010/main"/>
              </a:ext>
            </a:extLst>
          </a:blip>
          <a:stretch>
            <a:fillRect/>
          </a:stretch>
        </p:blipFill>
        <p:spPr>
          <a:xfrm>
            <a:off x="67350" y="518450"/>
            <a:ext cx="5118275" cy="2647600"/>
          </a:xfrm>
          <a:prstGeom prst="rect">
            <a:avLst/>
          </a:prstGeom>
          <a:noFill/>
          <a:ln w="9525" cap="flat" cmpd="sng">
            <a:solidFill>
              <a:srgbClr val="FF0000"/>
            </a:solidFill>
            <a:prstDash val="solid"/>
            <a:round/>
            <a:headEnd type="none" w="sm" len="sm"/>
            <a:tailEnd type="none" w="sm" len="sm"/>
          </a:ln>
        </p:spPr>
      </p:pic>
      <p:sp>
        <p:nvSpPr>
          <p:cNvPr id="327" name="Google Shape;327;p36"/>
          <p:cNvSpPr txBox="1"/>
          <p:nvPr/>
        </p:nvSpPr>
        <p:spPr>
          <a:xfrm>
            <a:off x="5486275" y="518450"/>
            <a:ext cx="3536400" cy="942000"/>
          </a:xfrm>
          <a:prstGeom prst="rect">
            <a:avLst/>
          </a:prstGeom>
          <a:solidFill>
            <a:srgbClr val="FFF2CC"/>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0" lvl="0" indent="0" algn="l" rtl="0">
              <a:spcBef>
                <a:spcPts val="0"/>
              </a:spcBef>
              <a:spcAft>
                <a:spcPts val="0"/>
              </a:spcAft>
              <a:buNone/>
            </a:pPr>
            <a:r>
              <a:rPr lang="en" sz="1200" b="1">
                <a:solidFill>
                  <a:srgbClr val="FF0000"/>
                </a:solidFill>
                <a:latin typeface="Calibri"/>
                <a:ea typeface="Calibri"/>
                <a:cs typeface="Calibri"/>
                <a:sym typeface="Calibri"/>
              </a:rPr>
              <a:t>  The Tech Layoff Tracker</a:t>
            </a:r>
            <a:endParaRPr sz="1200" b="1">
              <a:solidFill>
                <a:srgbClr val="FF0000"/>
              </a:solidFill>
              <a:latin typeface="Calibri"/>
              <a:ea typeface="Calibri"/>
              <a:cs typeface="Calibri"/>
              <a:sym typeface="Calibri"/>
            </a:endParaRPr>
          </a:p>
          <a:p>
            <a:pPr marL="228600" lvl="0" indent="-133350" algn="l" rtl="0">
              <a:spcBef>
                <a:spcPts val="0"/>
              </a:spcBef>
              <a:spcAft>
                <a:spcPts val="0"/>
              </a:spcAft>
              <a:buSzPts val="1200"/>
              <a:buFont typeface="Calibri"/>
              <a:buChar char="●"/>
            </a:pPr>
            <a:r>
              <a:rPr lang="en" sz="1200">
                <a:latin typeface="Calibri"/>
                <a:ea typeface="Calibri"/>
                <a:cs typeface="Calibri"/>
                <a:sym typeface="Calibri"/>
              </a:rPr>
              <a:t>In 2026: 6,702 people laid off (291 per day)</a:t>
            </a:r>
            <a:endParaRPr sz="1200">
              <a:latin typeface="Calibri"/>
              <a:ea typeface="Calibri"/>
              <a:cs typeface="Calibri"/>
              <a:sym typeface="Calibri"/>
            </a:endParaRPr>
          </a:p>
          <a:p>
            <a:pPr marL="228600" lvl="0" indent="-133350" algn="l" rtl="0">
              <a:spcBef>
                <a:spcPts val="0"/>
              </a:spcBef>
              <a:spcAft>
                <a:spcPts val="0"/>
              </a:spcAft>
              <a:buSzPts val="1200"/>
              <a:buFont typeface="Calibri"/>
              <a:buChar char="●"/>
            </a:pPr>
            <a:r>
              <a:rPr lang="en" sz="1200">
                <a:latin typeface="Calibri"/>
                <a:ea typeface="Calibri"/>
                <a:cs typeface="Calibri"/>
                <a:sym typeface="Calibri"/>
              </a:rPr>
              <a:t>In 2025: </a:t>
            </a:r>
            <a:r>
              <a:rPr lang="en" sz="1200" b="1">
                <a:latin typeface="Calibri"/>
                <a:ea typeface="Calibri"/>
                <a:cs typeface="Calibri"/>
                <a:sym typeface="Calibri"/>
              </a:rPr>
              <a:t>245,953</a:t>
            </a:r>
            <a:r>
              <a:rPr lang="en" sz="1200">
                <a:latin typeface="Calibri"/>
                <a:ea typeface="Calibri"/>
                <a:cs typeface="Calibri"/>
                <a:sym typeface="Calibri"/>
              </a:rPr>
              <a:t> people laid off (674 per day)</a:t>
            </a:r>
            <a:endParaRPr sz="1200">
              <a:latin typeface="Calibri"/>
              <a:ea typeface="Calibri"/>
              <a:cs typeface="Calibri"/>
              <a:sym typeface="Calibri"/>
            </a:endParaRPr>
          </a:p>
          <a:p>
            <a:pPr marL="228600" lvl="0" indent="-133350" algn="l" rtl="0">
              <a:spcBef>
                <a:spcPts val="0"/>
              </a:spcBef>
              <a:spcAft>
                <a:spcPts val="0"/>
              </a:spcAft>
              <a:buSzPts val="1200"/>
              <a:buFont typeface="Calibri"/>
              <a:buChar char="●"/>
            </a:pPr>
            <a:r>
              <a:rPr lang="en" sz="1200">
                <a:latin typeface="Calibri"/>
                <a:ea typeface="Calibri"/>
                <a:cs typeface="Calibri"/>
                <a:sym typeface="Calibri"/>
              </a:rPr>
              <a:t>In 2024: 238,461 people </a:t>
            </a:r>
            <a:r>
              <a:rPr lang="en" sz="1200">
                <a:solidFill>
                  <a:srgbClr val="000000"/>
                </a:solidFill>
                <a:latin typeface="Calibri"/>
                <a:ea typeface="Calibri"/>
                <a:cs typeface="Calibri"/>
                <a:sym typeface="Calibri"/>
              </a:rPr>
              <a:t>laid off</a:t>
            </a:r>
            <a:r>
              <a:rPr lang="en" sz="1200">
                <a:latin typeface="Calibri"/>
                <a:ea typeface="Calibri"/>
                <a:cs typeface="Calibri"/>
                <a:sym typeface="Calibri"/>
              </a:rPr>
              <a:t> (653 per day)</a:t>
            </a:r>
            <a:endParaRPr sz="1200">
              <a:latin typeface="Calibri"/>
              <a:ea typeface="Calibri"/>
              <a:cs typeface="Calibri"/>
              <a:sym typeface="Calibri"/>
            </a:endParaRPr>
          </a:p>
          <a:p>
            <a:pPr marL="228600" marR="460857" lvl="0" indent="-57150" algn="r" rtl="0">
              <a:spcBef>
                <a:spcPts val="0"/>
              </a:spcBef>
              <a:spcAft>
                <a:spcPts val="0"/>
              </a:spcAft>
              <a:buNone/>
            </a:pPr>
            <a:r>
              <a:rPr lang="en" sz="1200" u="sng">
                <a:solidFill>
                  <a:srgbClr val="0097A7"/>
                </a:solidFill>
                <a:latin typeface="Calibri"/>
                <a:ea typeface="Calibri"/>
                <a:cs typeface="Calibri"/>
                <a:sym typeface="Calibri"/>
                <a:hlinkClick r:id="rId4">
                  <a:extLst>
                    <a:ext uri="{A12FA001-AC4F-418D-AE19-62706E023703}">
                      <ahyp:hlinkClr xmlns:ahyp="http://schemas.microsoft.com/office/drawing/2018/hyperlinkcolor" val="tx"/>
                    </a:ext>
                  </a:extLst>
                </a:hlinkClick>
              </a:rPr>
              <a:t>https://trueup.io/layoffs</a:t>
            </a:r>
            <a:endParaRPr sz="1200">
              <a:latin typeface="Calibri"/>
              <a:ea typeface="Calibri"/>
              <a:cs typeface="Calibri"/>
              <a:sym typeface="Calibri"/>
            </a:endParaRPr>
          </a:p>
        </p:txBody>
      </p:sp>
      <p:sp>
        <p:nvSpPr>
          <p:cNvPr id="328" name="Google Shape;328;p36"/>
          <p:cNvSpPr txBox="1"/>
          <p:nvPr/>
        </p:nvSpPr>
        <p:spPr>
          <a:xfrm>
            <a:off x="1036788" y="3776900"/>
            <a:ext cx="3179400" cy="803400"/>
          </a:xfrm>
          <a:prstGeom prst="rect">
            <a:avLst/>
          </a:prstGeom>
          <a:solidFill>
            <a:srgbClr val="FCE5CD"/>
          </a:solidFill>
          <a:ln w="9525" cap="flat" cmpd="sng">
            <a:solidFill>
              <a:srgbClr val="FF0000"/>
            </a:solidFill>
            <a:prstDash val="solid"/>
            <a:round/>
            <a:headEnd type="none" w="sm" len="sm"/>
            <a:tailEnd type="none" w="sm" len="sm"/>
          </a:ln>
        </p:spPr>
        <p:txBody>
          <a:bodyPr spcFirstLastPara="1" wrap="square" lIns="9125" tIns="9125" rIns="9125" bIns="9125" anchor="t" anchorCtr="0">
            <a:spAutoFit/>
          </a:bodyPr>
          <a:lstStyle/>
          <a:p>
            <a:pPr marL="228600" lvl="0" indent="-133350" algn="l" rtl="0">
              <a:spcBef>
                <a:spcPts val="0"/>
              </a:spcBef>
              <a:spcAft>
                <a:spcPts val="0"/>
              </a:spcAft>
              <a:buClr>
                <a:srgbClr val="FF0000"/>
              </a:buClr>
              <a:buSzPts val="1200"/>
              <a:buFont typeface="Calibri"/>
              <a:buChar char="●"/>
            </a:pPr>
            <a:r>
              <a:rPr lang="en" sz="1200" b="1">
                <a:solidFill>
                  <a:srgbClr val="FF0000"/>
                </a:solidFill>
                <a:latin typeface="Calibri"/>
                <a:ea typeface="Calibri"/>
                <a:cs typeface="Calibri"/>
                <a:sym typeface="Calibri"/>
              </a:rPr>
              <a:t>Amazon in process of laying off </a:t>
            </a:r>
            <a:br>
              <a:rPr lang="en" sz="1200" b="1">
                <a:solidFill>
                  <a:srgbClr val="FF0000"/>
                </a:solidFill>
                <a:latin typeface="Calibri"/>
                <a:ea typeface="Calibri"/>
                <a:cs typeface="Calibri"/>
                <a:sym typeface="Calibri"/>
              </a:rPr>
            </a:br>
            <a:r>
              <a:rPr lang="en" sz="1200" b="1">
                <a:solidFill>
                  <a:srgbClr val="FF0000"/>
                </a:solidFill>
                <a:latin typeface="Calibri"/>
                <a:ea typeface="Calibri"/>
                <a:cs typeface="Calibri"/>
                <a:sym typeface="Calibri"/>
              </a:rPr>
              <a:t>~30K corporate jobs</a:t>
            </a:r>
            <a:endParaRPr sz="1200" b="1">
              <a:solidFill>
                <a:srgbClr val="FF0000"/>
              </a:solidFill>
              <a:latin typeface="Calibri"/>
              <a:ea typeface="Calibri"/>
              <a:cs typeface="Calibri"/>
              <a:sym typeface="Calibri"/>
            </a:endParaRPr>
          </a:p>
          <a:p>
            <a:pPr marL="228600" lvl="0" indent="-114300" algn="l" rtl="0">
              <a:spcBef>
                <a:spcPts val="0"/>
              </a:spcBef>
              <a:spcAft>
                <a:spcPts val="0"/>
              </a:spcAft>
              <a:buSzPts val="900"/>
              <a:buFont typeface="Calibri"/>
              <a:buChar char="●"/>
            </a:pPr>
            <a:r>
              <a:rPr lang="en" sz="900" u="sng">
                <a:solidFill>
                  <a:schemeClr val="hlink"/>
                </a:solidFill>
                <a:latin typeface="Calibri"/>
                <a:ea typeface="Calibri"/>
                <a:cs typeface="Calibri"/>
                <a:sym typeface="Calibri"/>
                <a:hlinkClick r:id="rId6"/>
              </a:rPr>
              <a:t>https://www.reuters.com/business/world-at-work/amazon-plans-thousands-more-corporate-job-cuts-next-week-sources-say-2026-01-22/</a:t>
            </a:r>
            <a:endParaRPr sz="900">
              <a:latin typeface="Calibri"/>
              <a:ea typeface="Calibri"/>
              <a:cs typeface="Calibri"/>
              <a:sym typeface="Calibri"/>
            </a:endParaRPr>
          </a:p>
        </p:txBody>
      </p:sp>
      <p:pic>
        <p:nvPicPr>
          <p:cNvPr id="329" name="Google Shape;329;p36"/>
          <p:cNvPicPr preferRelativeResize="0"/>
          <p:nvPr/>
        </p:nvPicPr>
        <p:blipFill>
          <a:blip r:embed="rId7" cstate="email">
            <a:alphaModFix/>
            <a:extLst>
              <a:ext uri="{28A0092B-C50C-407E-A947-70E740481C1C}">
                <a14:useLocalDpi xmlns:a14="http://schemas.microsoft.com/office/drawing/2010/main"/>
              </a:ext>
            </a:extLst>
          </a:blip>
          <a:stretch>
            <a:fillRect/>
          </a:stretch>
        </p:blipFill>
        <p:spPr>
          <a:xfrm>
            <a:off x="5522625" y="1617375"/>
            <a:ext cx="3500051" cy="3420502"/>
          </a:xfrm>
          <a:prstGeom prst="rect">
            <a:avLst/>
          </a:prstGeom>
          <a:noFill/>
          <a:ln w="9525" cap="flat" cmpd="sng">
            <a:solidFill>
              <a:srgbClr val="FF0000"/>
            </a:solidFill>
            <a:prstDash val="solid"/>
            <a:round/>
            <a:headEnd type="none" w="sm" len="sm"/>
            <a:tailEnd type="none" w="sm" len="sm"/>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pic>
        <p:nvPicPr>
          <p:cNvPr id="334" name="Google Shape;334;p37"/>
          <p:cNvPicPr preferRelativeResize="0"/>
          <p:nvPr/>
        </p:nvPicPr>
        <p:blipFill rotWithShape="1">
          <a:blip r:embed="rId3" cstate="email">
            <a:alphaModFix/>
            <a:extLst>
              <a:ext uri="{28A0092B-C50C-407E-A947-70E740481C1C}">
                <a14:useLocalDpi xmlns:a14="http://schemas.microsoft.com/office/drawing/2010/main"/>
              </a:ext>
            </a:extLst>
          </a:blip>
          <a:srcRect/>
          <a:stretch/>
        </p:blipFill>
        <p:spPr>
          <a:xfrm>
            <a:off x="645525" y="1203525"/>
            <a:ext cx="1570556" cy="1570556"/>
          </a:xfrm>
          <a:prstGeom prst="rect">
            <a:avLst/>
          </a:prstGeom>
          <a:noFill/>
          <a:ln>
            <a:noFill/>
          </a:ln>
        </p:spPr>
      </p:pic>
      <p:sp>
        <p:nvSpPr>
          <p:cNvPr id="335" name="Google Shape;335;p37"/>
          <p:cNvSpPr txBox="1"/>
          <p:nvPr/>
        </p:nvSpPr>
        <p:spPr>
          <a:xfrm>
            <a:off x="-25625" y="-14775"/>
            <a:ext cx="3355800" cy="5694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500"/>
              <a:buFont typeface="Arial"/>
              <a:buNone/>
            </a:pPr>
            <a:r>
              <a:rPr lang="en" sz="2500" b="1" i="0" u="none" strike="noStrike" cap="none">
                <a:solidFill>
                  <a:srgbClr val="000000"/>
                </a:solidFill>
                <a:latin typeface="Calibri"/>
                <a:ea typeface="Calibri"/>
                <a:cs typeface="Calibri"/>
                <a:sym typeface="Calibri"/>
              </a:rPr>
              <a:t>About the Speaker</a:t>
            </a:r>
            <a:endParaRPr sz="2500" b="1" i="0" u="none" strike="noStrike" cap="none">
              <a:solidFill>
                <a:srgbClr val="000000"/>
              </a:solidFill>
              <a:latin typeface="Calibri"/>
              <a:ea typeface="Calibri"/>
              <a:cs typeface="Calibri"/>
              <a:sym typeface="Calibri"/>
            </a:endParaRPr>
          </a:p>
        </p:txBody>
      </p:sp>
      <p:sp>
        <p:nvSpPr>
          <p:cNvPr id="336" name="Google Shape;336;p37"/>
          <p:cNvSpPr txBox="1"/>
          <p:nvPr/>
        </p:nvSpPr>
        <p:spPr>
          <a:xfrm>
            <a:off x="3330175" y="878750"/>
            <a:ext cx="5621700" cy="33093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chemeClr val="dk1"/>
              </a:buClr>
              <a:buSzPts val="1100"/>
              <a:buFont typeface="Arial"/>
              <a:buNone/>
            </a:pPr>
            <a:r>
              <a:rPr lang="en" sz="2500" b="1" i="0" u="none" strike="noStrike" cap="none">
                <a:solidFill>
                  <a:srgbClr val="000000"/>
                </a:solidFill>
                <a:latin typeface="Calibri"/>
                <a:ea typeface="Calibri"/>
                <a:cs typeface="Calibri"/>
                <a:sym typeface="Calibri"/>
              </a:rPr>
              <a:t>Lev Selector, Ph.D.</a:t>
            </a:r>
            <a:endParaRPr sz="2500" b="1"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endParaRPr sz="1800" b="0" i="0" u="none" strike="noStrike" cap="none">
              <a:solidFill>
                <a:srgbClr val="000000"/>
              </a:solidFill>
              <a:latin typeface="Calibri"/>
              <a:ea typeface="Calibri"/>
              <a:cs typeface="Calibri"/>
              <a:sym typeface="Calibri"/>
            </a:endParaRPr>
          </a:p>
          <a:p>
            <a:pPr marL="457200" marR="0" lvl="0" indent="-330200" algn="l" rtl="0">
              <a:lnSpc>
                <a:spcPct val="100000"/>
              </a:lnSpc>
              <a:spcBef>
                <a:spcPts val="0"/>
              </a:spcBef>
              <a:spcAft>
                <a:spcPts val="0"/>
              </a:spcAft>
              <a:buClr>
                <a:srgbClr val="000000"/>
              </a:buClr>
              <a:buSzPts val="1600"/>
              <a:buFont typeface="Calibri"/>
              <a:buChar char="●"/>
            </a:pPr>
            <a:r>
              <a:rPr lang="en" sz="1600" b="0" i="0" u="none" strike="noStrike" cap="none">
                <a:solidFill>
                  <a:schemeClr val="dk1"/>
                </a:solidFill>
                <a:latin typeface="Calibri"/>
                <a:ea typeface="Calibri"/>
                <a:cs typeface="Calibri"/>
                <a:sym typeface="Calibri"/>
              </a:rPr>
              <a:t>40+ years of software engineering, data science, and building teams (hiring, training, and managing)</a:t>
            </a:r>
            <a:endParaRPr sz="1600" b="0" i="0" u="none" strike="noStrike" cap="none">
              <a:solidFill>
                <a:schemeClr val="dk1"/>
              </a:solidFill>
              <a:latin typeface="Calibri"/>
              <a:ea typeface="Calibri"/>
              <a:cs typeface="Calibri"/>
              <a:sym typeface="Calibri"/>
            </a:endParaRPr>
          </a:p>
          <a:p>
            <a:pPr marL="457200" marR="0" lvl="0" indent="-330200" algn="l" rtl="0">
              <a:lnSpc>
                <a:spcPct val="100000"/>
              </a:lnSpc>
              <a:spcBef>
                <a:spcPts val="0"/>
              </a:spcBef>
              <a:spcAft>
                <a:spcPts val="0"/>
              </a:spcAft>
              <a:buClr>
                <a:srgbClr val="000000"/>
              </a:buClr>
              <a:buSzPts val="1600"/>
              <a:buFont typeface="Calibri"/>
              <a:buChar char="●"/>
            </a:pPr>
            <a:r>
              <a:rPr lang="en" sz="1600" b="0" i="0" u="none" strike="noStrike" cap="none">
                <a:solidFill>
                  <a:schemeClr val="dk1"/>
                </a:solidFill>
                <a:latin typeface="Calibri"/>
                <a:ea typeface="Calibri"/>
                <a:cs typeface="Calibri"/>
                <a:sym typeface="Calibri"/>
              </a:rPr>
              <a:t>Ph.D. in mathematical modeling and computer simulations</a:t>
            </a: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chemeClr val="dk1"/>
              </a:buClr>
              <a:buSzPts val="1100"/>
              <a:buFont typeface="Arial"/>
              <a:buNone/>
            </a:pP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Calibri"/>
                <a:ea typeface="Calibri"/>
                <a:cs typeface="Calibri"/>
                <a:sym typeface="Calibri"/>
              </a:rPr>
              <a:t>Interests: </a:t>
            </a:r>
            <a:endParaRPr sz="1600" b="0" i="0" u="none" strike="noStrike" cap="none">
              <a:solidFill>
                <a:srgbClr val="000000"/>
              </a:solidFill>
              <a:latin typeface="Calibri"/>
              <a:ea typeface="Calibri"/>
              <a:cs typeface="Calibri"/>
              <a:sym typeface="Calibri"/>
            </a:endParaRPr>
          </a:p>
          <a:p>
            <a:pPr marL="457200" marR="0" lvl="0" indent="-330200" algn="l" rtl="0">
              <a:lnSpc>
                <a:spcPct val="100000"/>
              </a:lnSpc>
              <a:spcBef>
                <a:spcPts val="0"/>
              </a:spcBef>
              <a:spcAft>
                <a:spcPts val="0"/>
              </a:spcAft>
              <a:buClr>
                <a:srgbClr val="000000"/>
              </a:buClr>
              <a:buSzPts val="1600"/>
              <a:buFont typeface="Calibri"/>
              <a:buChar char="●"/>
            </a:pPr>
            <a:r>
              <a:rPr lang="en" sz="1600" b="0" i="0" u="none" strike="noStrike" cap="none">
                <a:solidFill>
                  <a:schemeClr val="dk1"/>
                </a:solidFill>
                <a:latin typeface="Calibri"/>
                <a:ea typeface="Calibri"/>
                <a:cs typeface="Calibri"/>
                <a:sym typeface="Calibri"/>
              </a:rPr>
              <a:t>Generative AI, Using LLM with your data</a:t>
            </a:r>
            <a:endParaRPr sz="1600" b="0" i="0" u="none" strike="noStrike" cap="none">
              <a:solidFill>
                <a:schemeClr val="dk1"/>
              </a:solidFill>
              <a:latin typeface="Calibri"/>
              <a:ea typeface="Calibri"/>
              <a:cs typeface="Calibri"/>
              <a:sym typeface="Calibri"/>
            </a:endParaRPr>
          </a:p>
          <a:p>
            <a:pPr marL="457200" marR="0" lvl="0" indent="-330200" algn="l" rtl="0">
              <a:lnSpc>
                <a:spcPct val="100000"/>
              </a:lnSpc>
              <a:spcBef>
                <a:spcPts val="0"/>
              </a:spcBef>
              <a:spcAft>
                <a:spcPts val="0"/>
              </a:spcAft>
              <a:buClr>
                <a:schemeClr val="dk1"/>
              </a:buClr>
              <a:buSzPts val="1600"/>
              <a:buFont typeface="Calibri"/>
              <a:buChar char="●"/>
            </a:pPr>
            <a:r>
              <a:rPr lang="en" sz="1600" b="0" i="0" u="none" strike="noStrike" cap="none">
                <a:solidFill>
                  <a:schemeClr val="dk1"/>
                </a:solidFill>
                <a:latin typeface="Calibri"/>
                <a:ea typeface="Calibri"/>
                <a:cs typeface="Calibri"/>
                <a:sym typeface="Calibri"/>
              </a:rPr>
              <a:t>Local AI for Local Private Data</a:t>
            </a:r>
            <a:endParaRPr sz="1600" b="0" i="0" u="none" strike="noStrike" cap="none">
              <a:solidFill>
                <a:schemeClr val="dk1"/>
              </a:solidFill>
              <a:latin typeface="Calibri"/>
              <a:ea typeface="Calibri"/>
              <a:cs typeface="Calibri"/>
              <a:sym typeface="Calibri"/>
            </a:endParaRPr>
          </a:p>
          <a:p>
            <a:pPr marL="457200" marR="0" lvl="0" indent="-330200" algn="l" rtl="0">
              <a:lnSpc>
                <a:spcPct val="100000"/>
              </a:lnSpc>
              <a:spcBef>
                <a:spcPts val="0"/>
              </a:spcBef>
              <a:spcAft>
                <a:spcPts val="0"/>
              </a:spcAft>
              <a:buClr>
                <a:srgbClr val="000000"/>
              </a:buClr>
              <a:buSzPts val="1600"/>
              <a:buFont typeface="Calibri"/>
              <a:buChar char="●"/>
            </a:pPr>
            <a:r>
              <a:rPr lang="en" sz="1600" b="0" i="0" u="none" strike="noStrike" cap="none">
                <a:solidFill>
                  <a:srgbClr val="000000"/>
                </a:solidFill>
                <a:latin typeface="Calibri"/>
                <a:ea typeface="Calibri"/>
                <a:cs typeface="Calibri"/>
                <a:sym typeface="Calibri"/>
              </a:rPr>
              <a:t>Cloud architecture, fin-tech, application security</a:t>
            </a: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1600"/>
              <a:buFont typeface="Arial"/>
              <a:buNone/>
            </a:pPr>
            <a:r>
              <a:rPr lang="en" sz="1600" b="0" i="0" u="none" strike="noStrike" cap="none">
                <a:solidFill>
                  <a:srgbClr val="000000"/>
                </a:solidFill>
                <a:latin typeface="Calibri"/>
                <a:ea typeface="Calibri"/>
                <a:cs typeface="Calibri"/>
                <a:sym typeface="Calibri"/>
              </a:rPr>
              <a:t>Find/connect: Linkedin, GitHub, YouTube, Google</a:t>
            </a:r>
            <a:endParaRPr sz="1600" b="0" i="0" u="none" strike="noStrike" cap="none">
              <a:solidFill>
                <a:srgbClr val="000000"/>
              </a:solidFill>
              <a:latin typeface="Calibri"/>
              <a:ea typeface="Calibri"/>
              <a:cs typeface="Calibri"/>
              <a:sym typeface="Calibri"/>
            </a:endParaRPr>
          </a:p>
        </p:txBody>
      </p:sp>
      <p:pic>
        <p:nvPicPr>
          <p:cNvPr id="337" name="Google Shape;337;p37"/>
          <p:cNvPicPr preferRelativeResize="0"/>
          <p:nvPr/>
        </p:nvPicPr>
        <p:blipFill rotWithShape="1">
          <a:blip r:embed="rId4" cstate="email">
            <a:alphaModFix/>
            <a:extLst>
              <a:ext uri="{28A0092B-C50C-407E-A947-70E740481C1C}">
                <a14:useLocalDpi xmlns:a14="http://schemas.microsoft.com/office/drawing/2010/main"/>
              </a:ext>
            </a:extLst>
          </a:blip>
          <a:srcRect/>
          <a:stretch/>
        </p:blipFill>
        <p:spPr>
          <a:xfrm>
            <a:off x="1001578" y="3664175"/>
            <a:ext cx="858450" cy="311906"/>
          </a:xfrm>
          <a:prstGeom prst="rect">
            <a:avLst/>
          </a:prstGeom>
          <a:noFill/>
          <a:ln>
            <a:noFill/>
          </a:ln>
        </p:spPr>
      </p:pic>
      <p:sp>
        <p:nvSpPr>
          <p:cNvPr id="338" name="Google Shape;338;p37"/>
          <p:cNvSpPr txBox="1"/>
          <p:nvPr/>
        </p:nvSpPr>
        <p:spPr>
          <a:xfrm>
            <a:off x="735103" y="4005903"/>
            <a:ext cx="1391400" cy="431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en" sz="1600" b="0" i="0" u="sng" strike="noStrike" cap="none">
                <a:solidFill>
                  <a:schemeClr val="hlink"/>
                </a:solidFill>
                <a:latin typeface="Calibri"/>
                <a:ea typeface="Calibri"/>
                <a:cs typeface="Calibri"/>
                <a:sym typeface="Calibri"/>
                <a:hlinkClick r:id="rId5"/>
              </a:rPr>
              <a:t>https://eais.ai</a:t>
            </a:r>
            <a:r>
              <a:rPr lang="en" sz="1600" b="0" i="0" u="none" strike="noStrike" cap="none">
                <a:solidFill>
                  <a:srgbClr val="000000"/>
                </a:solidFill>
                <a:latin typeface="Calibri"/>
                <a:ea typeface="Calibri"/>
                <a:cs typeface="Calibri"/>
                <a:sym typeface="Calibri"/>
              </a:rPr>
              <a:t> </a:t>
            </a:r>
            <a:endParaRPr sz="1600" b="0" i="0" u="none" strike="noStrike" cap="none">
              <a:solidFill>
                <a:srgbClr val="000000"/>
              </a:solidFill>
              <a:latin typeface="Calibri"/>
              <a:ea typeface="Calibri"/>
              <a:cs typeface="Calibri"/>
              <a:sym typeface="Calibri"/>
            </a:endParaRPr>
          </a:p>
        </p:txBody>
      </p:sp>
      <p:sp>
        <p:nvSpPr>
          <p:cNvPr id="339" name="Google Shape;339;p37"/>
          <p:cNvSpPr txBox="1"/>
          <p:nvPr/>
        </p:nvSpPr>
        <p:spPr>
          <a:xfrm>
            <a:off x="383803" y="4360974"/>
            <a:ext cx="2094000" cy="4311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chemeClr val="dk1"/>
              </a:buClr>
              <a:buSzPts val="1100"/>
              <a:buFont typeface="Arial"/>
              <a:buNone/>
            </a:pPr>
            <a:r>
              <a:rPr lang="en" sz="1600" b="0" i="0" u="none" strike="noStrike" cap="none">
                <a:solidFill>
                  <a:srgbClr val="000000"/>
                </a:solidFill>
                <a:latin typeface="Calibri"/>
                <a:ea typeface="Calibri"/>
                <a:cs typeface="Calibri"/>
                <a:sym typeface="Calibri"/>
              </a:rPr>
              <a:t>Enterprise AI Systems</a:t>
            </a:r>
            <a:endParaRPr sz="1600" b="0" i="0" u="none" strike="noStrike" cap="none">
              <a:solidFill>
                <a:srgbClr val="000000"/>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43"/>
        <p:cNvGrpSpPr/>
        <p:nvPr/>
      </p:nvGrpSpPr>
      <p:grpSpPr>
        <a:xfrm>
          <a:off x="0" y="0"/>
          <a:ext cx="0" cy="0"/>
          <a:chOff x="0" y="0"/>
          <a:chExt cx="0" cy="0"/>
        </a:xfrm>
      </p:grpSpPr>
      <p:sp>
        <p:nvSpPr>
          <p:cNvPr id="344" name="Google Shape;344;p38"/>
          <p:cNvSpPr txBox="1"/>
          <p:nvPr/>
        </p:nvSpPr>
        <p:spPr>
          <a:xfrm>
            <a:off x="2151375" y="1533150"/>
            <a:ext cx="4632600" cy="1262100"/>
          </a:xfrm>
          <a:prstGeom prst="rect">
            <a:avLst/>
          </a:prstGeom>
          <a:noFill/>
          <a:ln>
            <a:noFill/>
          </a:ln>
        </p:spPr>
        <p:txBody>
          <a:bodyPr spcFirstLastPara="1" wrap="square" lIns="91425" tIns="91425" rIns="91425" bIns="91425" anchor="t" anchorCtr="0">
            <a:spAutoFit/>
          </a:bodyPr>
          <a:lstStyle/>
          <a:p>
            <a:pPr marL="0" marR="0" lvl="0" indent="0" algn="ctr" rtl="0">
              <a:lnSpc>
                <a:spcPct val="100000"/>
              </a:lnSpc>
              <a:spcBef>
                <a:spcPts val="0"/>
              </a:spcBef>
              <a:spcAft>
                <a:spcPts val="0"/>
              </a:spcAft>
              <a:buClr>
                <a:srgbClr val="000000"/>
              </a:buClr>
              <a:buSzPts val="7000"/>
              <a:buFont typeface="Arial"/>
              <a:buNone/>
            </a:pPr>
            <a:r>
              <a:rPr lang="en" sz="7000" b="1" i="0" u="none" strike="noStrike" cap="none">
                <a:solidFill>
                  <a:srgbClr val="3C78D8"/>
                </a:solidFill>
                <a:latin typeface="Calibri"/>
                <a:ea typeface="Calibri"/>
                <a:cs typeface="Calibri"/>
                <a:sym typeface="Calibri"/>
              </a:rPr>
              <a:t>Thank You!</a:t>
            </a:r>
            <a:endParaRPr sz="7000" b="1" i="0" u="none" strike="noStrike" cap="none">
              <a:solidFill>
                <a:srgbClr val="3C78D8"/>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5075</Words>
  <Application>Microsoft Macintosh PowerPoint</Application>
  <PresentationFormat>On-screen Show (16:9)</PresentationFormat>
  <Paragraphs>500</Paragraphs>
  <Slides>24</Slides>
  <Notes>24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24</vt:i4>
      </vt:variant>
    </vt:vector>
  </HeadingPairs>
  <TitlesOfParts>
    <vt:vector size="28" baseType="lpstr">
      <vt:lpstr>Roboto Mono</vt:lpstr>
      <vt:lpstr>Arial</vt:lpstr>
      <vt:lpstr>Calibri</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Lev Selector</cp:lastModifiedBy>
  <cp:revision>1</cp:revision>
  <dcterms:modified xsi:type="dcterms:W3CDTF">2026-01-24T19:36:06Z</dcterms:modified>
</cp:coreProperties>
</file>