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embeddedFontLst>
    <p:embeddedFont>
      <p:font typeface="Roboto Mono" pitchFamily="49"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E4F236D-781A-40A5-A261-1C57DE5FE729}">
  <a:tblStyle styleId="{DE4F236D-781A-40A5-A261-1C57DE5FE72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e28806f88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e28806f8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e28806f88b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5" name="Google Shape;95;g3e28806f88b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e0f37d2495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 name="Google Shape;106;g3e0f37d2495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e0fb125e6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 name="Google Shape;115;g3e0fb125e63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e1e60325e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 name="Google Shape;122;g3e1e60325e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e28806f88b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e28806f88b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e0fb125e6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e0fb125e6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e20f163d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e20f163df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e3126df32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g3e3126df321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e30a6db62c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e30a6db62c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a87ab987a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a87ab987a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e20f163df2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e20f163df2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e2f5aed4ba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e2f5aed4ba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e2f5aed4ba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e2f5aed4ba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e29e85b56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e29e85b56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e353694bdd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g3e353694bdd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e1dc93ae4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e1dc93ae47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e1dc93ae47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2" name="Google Shape;252;g3e1dc93ae47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e2f5aed4ba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g3e2f5aed4ba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e2f5aed4ba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1" name="Google Shape;271;g3e2f5aed4ba_1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e2083e38d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e2083e38d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d971967e09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g3d971967e09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8" name="Google Shape;298;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8" name="Google Shape;308;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chat.qwen.ai/?models=Qwen3.7-Max-Preview" TargetMode="External"/><Relationship Id="rId39" Type="http://schemas.openxmlformats.org/officeDocument/2006/relationships/hyperlink" Target="https://grok.com" TargetMode="External"/><Relationship Id="rId21" Type="http://schemas.openxmlformats.org/officeDocument/2006/relationships/hyperlink" Target="https://www.anthropic.com/news/claude-opus-4-5" TargetMode="External"/><Relationship Id="rId34" Type="http://schemas.openxmlformats.org/officeDocument/2006/relationships/hyperlink" Target="https://mimo.xiaomi.com/mimo-v2-5-pro/"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6" TargetMode="External"/><Relationship Id="rId29" Type="http://schemas.openxmlformats.org/officeDocument/2006/relationships/hyperlink" Target="https://docs.x.ai/developers/models/grok-4.20-multi-agent-beta-0309" TargetMode="External"/><Relationship Id="rId41" Type="http://schemas.openxmlformats.org/officeDocument/2006/relationships/hyperlink" Target="https://x.ai/news/grok-4-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huggingface.co/zai-org/GLM-5.1" TargetMode="External"/><Relationship Id="rId32" Type="http://schemas.openxmlformats.org/officeDocument/2006/relationships/hyperlink" Target="https://ernie.baidu.com/blog/posts/ernie-5.1-0508-release/" TargetMode="External"/><Relationship Id="rId37" Type="http://schemas.openxmlformats.org/officeDocument/2006/relationships/hyperlink" Target="https://openai.com/index/introducing-gpt-5-5/" TargetMode="External"/><Relationship Id="rId40" Type="http://schemas.openxmlformats.org/officeDocument/2006/relationships/hyperlink" Target="https://blog.google/products/gemini/gemini-3-flash"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platform.openai.com/docs/models/gpt-5.4" TargetMode="External"/><Relationship Id="rId28" Type="http://schemas.openxmlformats.org/officeDocument/2006/relationships/hyperlink" Target="https://www.kimi.com/blog/kimi-k2-6" TargetMode="External"/><Relationship Id="rId36" Type="http://schemas.openxmlformats.org/officeDocument/2006/relationships/hyperlink" Target="https://openai.com/index/gpt-5-5-instan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7" TargetMode="External"/><Relationship Id="rId31" Type="http://schemas.openxmlformats.org/officeDocument/2006/relationships/hyperlink" Target="https://aistudio.google.com/app/prompts/new_chat?model=gemini-3-pro-preview"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meta.com/blog/introducing-muse-spark-msl/" TargetMode="External"/><Relationship Id="rId27" Type="http://schemas.openxmlformats.org/officeDocument/2006/relationships/hyperlink" Target="https://www.anthropic.com/news/claude-sonnet-4-6" TargetMode="External"/><Relationship Id="rId30" Type="http://schemas.openxmlformats.org/officeDocument/2006/relationships/hyperlink" Target="https://www.anthropic.com/news/claude-sonnet-4-5" TargetMode="External"/><Relationship Id="rId35" Type="http://schemas.openxmlformats.org/officeDocument/2006/relationships/hyperlink" Target="https://docs.x.ai/developers/models/grok-4.20-beta-0309-reasoning"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blog.google/innovation-and-ai/models-and-research/gemini-models/gemini-3-1-pro/" TargetMode="External"/><Relationship Id="rId33" Type="http://schemas.openxmlformats.org/officeDocument/2006/relationships/hyperlink" Target="https://developers.openai.com/api/docs/models/gpt-5.2-chat-latest" TargetMode="External"/><Relationship Id="rId38" Type="http://schemas.openxmlformats.org/officeDocument/2006/relationships/hyperlink" Target="https://www.anthropic.com/news/claude-opus-4-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idNpTUrr3r0"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NzO_kapnI_E"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hyperlink" Target="https://io.google"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hyperlink" Target="https://thinkingmachines.ai/blog/interaction-model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www.youtube.com/watch?v=A12AVongNN4"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hyperlink" Target="http://claude.md" TargetMode="External"/><Relationship Id="rId3" Type="http://schemas.openxmlformats.org/officeDocument/2006/relationships/hyperlink" Target="https://github.com/multica-ai/andrej-karpathy-skills" TargetMode="External"/><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aidisruption.ai/p/perplexity-opens-up-its-skills-design" TargetMode="External"/><Relationship Id="rId5" Type="http://schemas.openxmlformats.org/officeDocument/2006/relationships/image" Target="../media/image5.jpeg"/><Relationship Id="rId4" Type="http://schemas.openxmlformats.org/officeDocument/2006/relationships/hyperlink" Target="https://www.youtube.com/watch?v=EeYkZloXIww" TargetMode="External"/><Relationship Id="rId9" Type="http://schemas.openxmlformats.org/officeDocument/2006/relationships/hyperlink" Target="https://theaibreak.substack.com/p/tutorial-build-a-claudemd-that-makes"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hyperlink" Target="https://medium.com/personal-growth/careers-are-collapsing-jobs-are-dying-the-smartest-people-are-doing-this-right-now-becc742dfee2" TargetMode="External"/><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www.youtube.com/watch?v=7H8-zRB5hbU" TargetMode="External"/><Relationship Id="rId5" Type="http://schemas.openxmlformats.org/officeDocument/2006/relationships/hyperlink" Target="https://github.com/anthropics/claude-for-legal" TargetMode="External"/><Relationship Id="rId4" Type="http://schemas.openxmlformats.org/officeDocument/2006/relationships/hyperlink" Target="https://claude.com/blog/claude-for-the-legal-industry"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Y6o-LSv-b4E" TargetMode="External"/><Relationship Id="rId3" Type="http://schemas.openxmlformats.org/officeDocument/2006/relationships/hyperlink" Target="http://omi.me" TargetMode="External"/><Relationship Id="rId7" Type="http://schemas.openxmlformats.org/officeDocument/2006/relationships/hyperlink" Target="https://www.krea.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7.png"/><Relationship Id="rId4" Type="http://schemas.openxmlformats.org/officeDocument/2006/relationships/hyperlink" Target="https://www.youtube.com/watch?v=pr1InE1LuKY" TargetMode="External"/><Relationship Id="rId9"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nousresearch/hermes-agent" TargetMode="External"/><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hyperlink" Target="https://github.com/rohitg00/agentmemory" TargetMode="External"/><Relationship Id="rId4" Type="http://schemas.openxmlformats.org/officeDocument/2006/relationships/hyperlink" Target="https://github.com/openclaw/openclaw"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venturebeat.com/orchestration/architectural-patterns-for-graph-enhanced-rag-moving-beyond-vector-search-in-production" TargetMode="External"/><Relationship Id="rId3" Type="http://schemas.openxmlformats.org/officeDocument/2006/relationships/hyperlink" Target="https://www.youtube.com/watch?v=jIctzTn_8-E" TargetMode="External"/><Relationship Id="rId7" Type="http://schemas.openxmlformats.org/officeDocument/2006/relationships/hyperlink" Target="https://x.com/karpathy/status/2039805659525644595"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github.com/safishamsi/graphify" TargetMode="External"/><Relationship Id="rId5" Type="http://schemas.openxmlformats.org/officeDocument/2006/relationships/hyperlink" Target="https://www.youtube.com/watch?v=HQEm4rBKdec" TargetMode="Externa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hyperlink" Target="https://motherduck.com/blog/obsidian-rag-duckdb-motherduck/" TargetMode="External"/><Relationship Id="rId13" Type="http://schemas.openxmlformats.org/officeDocument/2006/relationships/hyperlink" Target="https://github.com/AkariAsai/self-rag" TargetMode="External"/><Relationship Id="rId18" Type="http://schemas.openxmlformats.org/officeDocument/2006/relationships/hyperlink" Target="https://arxiv.org/abs/2409.13731" TargetMode="External"/><Relationship Id="rId3" Type="http://schemas.openxmlformats.org/officeDocument/2006/relationships/hyperlink" Target="https://venturebeat.com/orchestration/architectural-patterns-for-graph-enhanced-rag-moving-beyond-vector-search-in-production" TargetMode="External"/><Relationship Id="rId7" Type="http://schemas.openxmlformats.org/officeDocument/2006/relationships/hyperlink" Target="https://aimaker.substack.com/p/llm-wiki-obsidian-knowledge-base-andrej-karphaty" TargetMode="External"/><Relationship Id="rId12" Type="http://schemas.openxmlformats.org/officeDocument/2006/relationships/hyperlink" Target="https://www.digitalocean.com/community/tutorials/beyond-vector-databases-rag-without-embeddings" TargetMode="External"/><Relationship Id="rId17" Type="http://schemas.openxmlformats.org/officeDocument/2006/relationships/hyperlink" Target="https://github.com/OpenSPG/KAG" TargetMode="External"/><Relationship Id="rId2" Type="http://schemas.openxmlformats.org/officeDocument/2006/relationships/notesSlide" Target="../notesSlides/notesSlide14.xml"/><Relationship Id="rId16" Type="http://schemas.openxmlformats.org/officeDocument/2006/relationships/hyperlink" Target="https://github.com/OSU-NLP-Group/HippoRAG" TargetMode="External"/><Relationship Id="rId1" Type="http://schemas.openxmlformats.org/officeDocument/2006/relationships/slideLayout" Target="../slideLayouts/slideLayout1.xml"/><Relationship Id="rId6" Type="http://schemas.openxmlformats.org/officeDocument/2006/relationships/hyperlink" Target="https://docs.llamaindex.ai/en/stable/examples/index_structs/struct_indices/SQLIndexDemo/" TargetMode="External"/><Relationship Id="rId11" Type="http://schemas.openxmlformats.org/officeDocument/2006/relationships/hyperlink" Target="https://github.com/parthsarthi03/raptor" TargetMode="External"/><Relationship Id="rId5" Type="http://schemas.openxmlformats.org/officeDocument/2006/relationships/hyperlink" Target="https://www.elastic.co/elasticsearch" TargetMode="External"/><Relationship Id="rId15" Type="http://schemas.openxmlformats.org/officeDocument/2006/relationships/hyperlink" Target="https://github.com/microsoft/graphrag" TargetMode="External"/><Relationship Id="rId10" Type="http://schemas.openxmlformats.org/officeDocument/2006/relationships/hyperlink" Target="https://github.com/mempalace/mempalace" TargetMode="External"/><Relationship Id="rId4" Type="http://schemas.openxmlformats.org/officeDocument/2006/relationships/hyperlink" Target="https://github.com/hhhuang/CAG" TargetMode="External"/><Relationship Id="rId9" Type="http://schemas.openxmlformats.org/officeDocument/2006/relationships/hyperlink" Target="https://www.exxactcorp.com/blog/deep-learning/alternative-rag-models" TargetMode="External"/><Relationship Id="rId14" Type="http://schemas.openxmlformats.org/officeDocument/2006/relationships/hyperlink" Target="https://github.com/HuskyInSalt/CRAG"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www.youtube.com/watch?v=-Bp2Sz5xir4" TargetMode="External"/><Relationship Id="rId7" Type="http://schemas.openxmlformats.org/officeDocument/2006/relationships/image" Target="../media/image22.jpe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hyperlink" Target="http://www.youtube.com/watch?v=fVuEscyAK-I" TargetMode="External"/><Relationship Id="rId4" Type="http://schemas.openxmlformats.org/officeDocument/2006/relationships/hyperlink" Target="http://www.youtube.com/watch?v=XvKiTfd6Xvo"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zerolang.ai" TargetMode="External"/><Relationship Id="rId7"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hyperlink" Target="https://www.youtube.com/watch?v=VoxL_YmHR-I" TargetMode="External"/><Relationship Id="rId4" Type="http://schemas.openxmlformats.org/officeDocument/2006/relationships/hyperlink" Target="https://github.com/vercel-labs/zero"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openai.com/index/personal-finance-chatgpt/" TargetMode="External"/><Relationship Id="rId7"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s://eu.36kr.com/en/p/3808272507215621" TargetMode="External"/><Relationship Id="rId4" Type="http://schemas.openxmlformats.org/officeDocument/2006/relationships/hyperlink" Target="https://x.com/LunchangG7603/status/2049054090114834664"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irecracker-microvm.github.io" TargetMode="External"/><Relationship Id="rId7" Type="http://schemas.openxmlformats.org/officeDocument/2006/relationships/hyperlink" Target="https://orbstack.dev"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mac.getutm.app" TargetMode="External"/><Relationship Id="rId5" Type="http://schemas.openxmlformats.org/officeDocument/2006/relationships/hyperlink" Target="https://katacontainers.io" TargetMode="External"/><Relationship Id="rId4" Type="http://schemas.openxmlformats.org/officeDocument/2006/relationships/hyperlink" Target="https://www.cloudhypervisor.org"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hub.docker.com" TargetMode="External"/><Relationship Id="rId3" Type="http://schemas.openxmlformats.org/officeDocument/2006/relationships/hyperlink" Target="https://en.wikipedia.org/wiki/Chroot" TargetMode="External"/><Relationship Id="rId7" Type="http://schemas.openxmlformats.org/officeDocument/2006/relationships/hyperlink" Target="https://www.docker.com" TargetMode="External"/><Relationship Id="rId12" Type="http://schemas.openxmlformats.org/officeDocument/2006/relationships/image" Target="../media/image32.jpe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docs.docker.com/get-started/docker-overview/#the-underlying-technology" TargetMode="External"/><Relationship Id="rId11" Type="http://schemas.openxmlformats.org/officeDocument/2006/relationships/image" Target="../media/image31.png"/><Relationship Id="rId5" Type="http://schemas.openxmlformats.org/officeDocument/2006/relationships/hyperlink" Target="https://en.wikipedia.org/wiki/LXC" TargetMode="External"/><Relationship Id="rId10" Type="http://schemas.openxmlformats.org/officeDocument/2006/relationships/image" Target="../media/image30.png"/><Relationship Id="rId4" Type="http://schemas.openxmlformats.org/officeDocument/2006/relationships/hyperlink" Target="https://en.wikipedia.org/wiki/Cgroups" TargetMode="External"/><Relationship Id="rId9"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hyperlink" Target="http://www.youtube.com/watch?v=K05Dh-QjM8c"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arxiv.org/abs/2509.25149" TargetMode="External"/><Relationship Id="rId5" Type="http://schemas.openxmlformats.org/officeDocument/2006/relationships/image" Target="../media/image33.png"/><Relationship Id="rId4" Type="http://schemas.openxmlformats.org/officeDocument/2006/relationships/hyperlink" Target="https://www.ricursive.com"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builtinnyc.com/articles/modal-raises-87m-series-b-1b-valuation-20251001"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w1EoIfl2ink" TargetMode="External"/><Relationship Id="rId7" Type="http://schemas.openxmlformats.org/officeDocument/2006/relationships/hyperlink" Target="https://github.com/mohitagw15856/pm-claude-skill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hyperlink" Target="https://medium.com/@adnanmasood/the-six-month-half-life-why-a-thin-prompt-on-someone-elses-frontier-model-is-not-a-business-5cc0b3f2843a" TargetMode="External"/><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ZxVzyIk0Y-w"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FgVMxsIh8f4"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9.png"/><Relationship Id="rId4" Type="http://schemas.openxmlformats.org/officeDocument/2006/relationships/hyperlink" Target="https://www.youtube.com/watch?v=X_ZVSPcZhtw"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layoffs.fyi" TargetMode="External"/><Relationship Id="rId7"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hyperlink" Target="https://trueup.io/layoffs"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664158"/>
            <a:ext cx="43302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Microsoft MDASH Harness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Elon Musk lost his lawsuit against OpenAI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Grok 4.3 was released in April 2026</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got $30 Bln at $900 Bln Valuation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Codex vs Claude Code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Companionship - Long-Term Harm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I/O 2026</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Thinking Machines - Real-Time Interaction </a:t>
            </a:r>
            <a:endParaRPr sz="15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May 22,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6607" y="4455560"/>
            <a:ext cx="4525800" cy="480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Rebuild AlphaGo from scratch on a modest budget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Jobs &amp; Layoffs</a:t>
            </a:r>
            <a:endParaRPr sz="1500" b="1">
              <a:solidFill>
                <a:srgbClr val="3C78D8"/>
              </a:solidFill>
              <a:latin typeface="Calibri"/>
              <a:ea typeface="Calibri"/>
              <a:cs typeface="Calibri"/>
              <a:sym typeface="Calibri"/>
            </a:endParaRPr>
          </a:p>
        </p:txBody>
      </p:sp>
      <p:sp>
        <p:nvSpPr>
          <p:cNvPr id="66" name="Google Shape;66;p15"/>
          <p:cNvSpPr txBox="1"/>
          <p:nvPr/>
        </p:nvSpPr>
        <p:spPr>
          <a:xfrm>
            <a:off x="5590500" y="76275"/>
            <a:ext cx="2254500" cy="708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Harness &gt; Model</a:t>
            </a:r>
            <a:endParaRPr sz="20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MDASH &gt; Mythos</a:t>
            </a:r>
            <a:endParaRPr sz="2000" b="1" i="1">
              <a:solidFill>
                <a:srgbClr val="FF0000"/>
              </a:solidFill>
              <a:latin typeface="Calibri"/>
              <a:ea typeface="Calibri"/>
              <a:cs typeface="Calibri"/>
              <a:sym typeface="Calibri"/>
            </a:endParaRPr>
          </a:p>
        </p:txBody>
      </p:sp>
      <p:sp>
        <p:nvSpPr>
          <p:cNvPr id="67" name="Google Shape;67;p15"/>
          <p:cNvSpPr txBox="1"/>
          <p:nvPr/>
        </p:nvSpPr>
        <p:spPr>
          <a:xfrm>
            <a:off x="4536607" y="898732"/>
            <a:ext cx="4525800" cy="34818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Hybrid RAG using Python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AI pointer with Visual Understanding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Zero Programming Language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Agents' core iterative process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ChatGPT Personal Finance using Plaid.com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Tencent "Marvis" Personal AI assistant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MiniMax Mavis ("MiniMax as a Jarvis")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Agent sandboxing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Recursive Intelligence - Use AI to Design Chips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Modal AI - Infrastructure Startup</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Recursive Superintelligence - Richard Socher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Julia McCoy - How to Start a Business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 Thin Prompt on a Frontier Model Is Not a Business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Why Complexity Kills Faster Than Competition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Avatar in YouTube videos</a:t>
            </a:r>
            <a:endParaRPr sz="1500" b="1">
              <a:solidFill>
                <a:srgbClr val="3C78D8"/>
              </a:solidFill>
              <a:latin typeface="Calibri"/>
              <a:ea typeface="Calibri"/>
              <a:cs typeface="Calibri"/>
              <a:sym typeface="Calibri"/>
            </a:endParaRPr>
          </a:p>
        </p:txBody>
      </p:sp>
      <p:sp>
        <p:nvSpPr>
          <p:cNvPr id="68" name="Google Shape;68;p15"/>
          <p:cNvSpPr txBox="1"/>
          <p:nvPr/>
        </p:nvSpPr>
        <p:spPr>
          <a:xfrm>
            <a:off x="100175" y="2842783"/>
            <a:ext cx="4330200" cy="20964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Karpathy's CLAUDE md - open source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Perplexity Opens Up Its Skills Design Core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Productise Yourself</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Anthropic's Claude for Legal - May 12</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Connecting Claude AI to Obsidian and OMI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Krea 2 Update - Generate Visuals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Hermes vs OpenClaw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RAG and RAE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Gemini API file search as multimodal RAG</a:t>
            </a:r>
            <a:endParaRPr sz="1500"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May 17</a:t>
            </a:r>
            <a:endParaRPr sz="1000">
              <a:latin typeface="Calibri"/>
              <a:ea typeface="Calibri"/>
              <a:cs typeface="Calibri"/>
              <a:sym typeface="Calibri"/>
            </a:endParaRPr>
          </a:p>
        </p:txBody>
      </p:sp>
      <p:sp>
        <p:nvSpPr>
          <p:cNvPr id="79" name="Google Shape;79;p16"/>
          <p:cNvSpPr txBox="1"/>
          <p:nvPr/>
        </p:nvSpPr>
        <p:spPr>
          <a:xfrm>
            <a:off x="6978275" y="551325"/>
            <a:ext cx="21144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kimi-k2.6 - 1T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30B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  </a:t>
            </a:r>
            <a:endParaRPr sz="1000">
              <a:latin typeface="Calibri"/>
              <a:ea typeface="Calibri"/>
              <a:cs typeface="Calibri"/>
              <a:sym typeface="Calibri"/>
            </a:endParaRPr>
          </a:p>
        </p:txBody>
      </p:sp>
      <p:graphicFrame>
        <p:nvGraphicFramePr>
          <p:cNvPr id="80" name="Google Shape;80;p16"/>
          <p:cNvGraphicFramePr/>
          <p:nvPr/>
        </p:nvGraphicFramePr>
        <p:xfrm>
          <a:off x="5742420" y="430065"/>
          <a:ext cx="3000000" cy="3000000"/>
        </p:xfrm>
        <a:graphic>
          <a:graphicData uri="http://schemas.openxmlformats.org/drawingml/2006/table">
            <a:tbl>
              <a:tblPr>
                <a:noFill/>
                <a:tableStyleId>{DE4F236D-781A-40A5-A261-1C57DE5FE729}</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1" name="Google Shape;81;p16"/>
          <p:cNvSpPr txBox="1"/>
          <p:nvPr/>
        </p:nvSpPr>
        <p:spPr>
          <a:xfrm>
            <a:off x="5404475" y="1189675"/>
            <a:ext cx="14832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a:solidFill>
                  <a:srgbClr val="3C78D8"/>
                </a:solidFill>
                <a:latin typeface="Calibri"/>
                <a:ea typeface="Calibri"/>
                <a:cs typeface="Calibri"/>
                <a:sym typeface="Calibri"/>
              </a:rPr>
              <a:t>deepseek-v4-pro-thinking</a:t>
            </a:r>
            <a:endParaRPr sz="10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000">
                <a:solidFill>
                  <a:srgbClr val="3C78D8"/>
                </a:solidFill>
                <a:latin typeface="Calibri"/>
                <a:ea typeface="Calibri"/>
                <a:cs typeface="Calibri"/>
                <a:sym typeface="Calibri"/>
              </a:rPr>
              <a:t>Qwen-3.6-plus</a:t>
            </a:r>
            <a:br>
              <a:rPr lang="en" sz="1000">
                <a:latin typeface="Calibri"/>
                <a:ea typeface="Calibri"/>
                <a:cs typeface="Calibri"/>
                <a:sym typeface="Calibri"/>
              </a:rPr>
            </a:br>
            <a:r>
              <a:rPr lang="en" sz="1000">
                <a:latin typeface="Calibri"/>
                <a:ea typeface="Calibri"/>
                <a:cs typeface="Calibri"/>
                <a:sym typeface="Calibri"/>
              </a:rPr>
              <a:t>is on 36th place </a:t>
            </a:r>
            <a:endParaRPr sz="1000">
              <a:latin typeface="Calibri"/>
              <a:ea typeface="Calibri"/>
              <a:cs typeface="Calibri"/>
              <a:sym typeface="Calibri"/>
            </a:endParaRPr>
          </a:p>
        </p:txBody>
      </p:sp>
      <p:graphicFrame>
        <p:nvGraphicFramePr>
          <p:cNvPr id="82" name="Google Shape;82;p16"/>
          <p:cNvGraphicFramePr/>
          <p:nvPr/>
        </p:nvGraphicFramePr>
        <p:xfrm>
          <a:off x="2942150" y="715825"/>
          <a:ext cx="3000000" cy="3000000"/>
        </p:xfrm>
        <a:graphic>
          <a:graphicData uri="http://schemas.openxmlformats.org/drawingml/2006/table">
            <a:tbl>
              <a:tblPr>
                <a:noFill/>
                <a:tableStyleId>{DE4F236D-781A-40A5-A261-1C57DE5FE729}</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kimi-k2.6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ernie-5.1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claude-opus-4-1-20250805-thinking-16k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202835" y="715825"/>
          <a:ext cx="3000000" cy="3000000"/>
        </p:xfrm>
        <a:graphic>
          <a:graphicData uri="http://schemas.openxmlformats.org/drawingml/2006/table">
            <a:tbl>
              <a:tblPr>
                <a:noFill/>
                <a:tableStyleId>{DE4F236D-781A-40A5-A261-1C57DE5FE729}</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ernie-5.1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0"/>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grok-4.1-thinking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60250" y="431150"/>
            <a:ext cx="4483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MDASH (Multimodel Agentic Scanning Harness)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AI-powered cybersecurity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MDASH topped the CyberGym benchmark leaderboard with an 88.45% score, defeating Anthropic’s Mythos and OpenAI’s GPT-5.5.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Remarkably, Microsoft achieved this using generally available, model-agnostic software rather than a proprietary frontier model. MDASH operates via an orchestrated assembly line of over 100 specialized AI agents (auditors, debaters, provers) working across five distinct stages to hunt, analyze, and verify flaws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Deployed internally, the system detected 16 vulnerabilities within Windows code, including four critical remote code execution bugs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https://www.youtube.com/watch?v=idNpTUrr3r0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89" name="Google Shape;89;p1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5850" y="662475"/>
            <a:ext cx="3052650" cy="1617000"/>
          </a:xfrm>
          <a:prstGeom prst="rect">
            <a:avLst/>
          </a:prstGeom>
          <a:noFill/>
          <a:ln w="9525" cap="flat" cmpd="sng">
            <a:solidFill>
              <a:srgbClr val="FF0000"/>
            </a:solidFill>
            <a:prstDash val="solid"/>
            <a:round/>
            <a:headEnd type="none" w="sm" len="sm"/>
            <a:tailEnd type="none" w="sm" len="sm"/>
          </a:ln>
        </p:spPr>
      </p:pic>
      <p:sp>
        <p:nvSpPr>
          <p:cNvPr id="91" name="Google Shape;91;p17"/>
          <p:cNvSpPr txBox="1"/>
          <p:nvPr/>
        </p:nvSpPr>
        <p:spPr>
          <a:xfrm>
            <a:off x="60250" y="2935850"/>
            <a:ext cx="4483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Elon Musk lost his lawsuit against OpenAI on all counts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jury found against Musk on his central claim that OpenAI violated a charitable trust by converting to a for-profit 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statute of limitations was a decisive factor: the jury concluded Musk's claims were filed too late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OpenAI's path to an IPO is now clear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result also removes the last major legal overhang on the company's $300 Bln private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the AI industry, the ruling confirms that AI labs can restructure from nonprofit origins without triggering charitable trust claims</a:t>
            </a:r>
            <a:endParaRPr sz="1200">
              <a:solidFill>
                <a:schemeClr val="dk1"/>
              </a:solidFill>
              <a:latin typeface="Calibri"/>
              <a:ea typeface="Calibri"/>
              <a:cs typeface="Calibri"/>
              <a:sym typeface="Calibri"/>
            </a:endParaRPr>
          </a:p>
        </p:txBody>
      </p:sp>
      <p:pic>
        <p:nvPicPr>
          <p:cNvPr id="92" name="Google Shape;92;p17"/>
          <p:cNvPicPr preferRelativeResize="0"/>
          <p:nvPr/>
        </p:nvPicPr>
        <p:blipFill>
          <a:blip r:embed="rId5">
            <a:alphaModFix/>
          </a:blip>
          <a:stretch>
            <a:fillRect/>
          </a:stretch>
        </p:blipFill>
        <p:spPr>
          <a:xfrm>
            <a:off x="4695850" y="303987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8"/>
          <p:cNvSpPr txBox="1"/>
          <p:nvPr/>
        </p:nvSpPr>
        <p:spPr>
          <a:xfrm>
            <a:off x="60250" y="431150"/>
            <a:ext cx="4483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4.3 was released in April 2026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Available in early access for paid subscribers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Always-on reasoning, real-time web and X search integration, and an expanded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optimize output by selecting specific modes: Fast for quick tasks, Expert for deep reasoning, and Grok 4.3 Beta for high-stakes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update unlocks multi-file long-context analysis and the ability to process video links directly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visual tasks, the "Imagine" interface allows plain-language image iteration, 10-second video clip generation, and an Agent Mode to manage visual projects consistently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Additional features include a customizable real-time Voice Mode, automated recurring Tasks, and structured JSON data output paired with built-in Python code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https://www.youtube.com/watch?v=NzO_kapnI_E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98" name="Google Shape;98;p1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Microsoft MDASH</a:t>
            </a:r>
            <a:endParaRPr sz="2000" b="1">
              <a:solidFill>
                <a:schemeClr val="dk1"/>
              </a:solidFill>
              <a:latin typeface="Calibri"/>
              <a:ea typeface="Calibri"/>
              <a:cs typeface="Calibri"/>
              <a:sym typeface="Calibri"/>
            </a:endParaRPr>
          </a:p>
        </p:txBody>
      </p:sp>
      <p:sp>
        <p:nvSpPr>
          <p:cNvPr id="99" name="Google Shape;99;p18"/>
          <p:cNvSpPr txBox="1"/>
          <p:nvPr/>
        </p:nvSpPr>
        <p:spPr>
          <a:xfrm>
            <a:off x="60250" y="3488675"/>
            <a:ext cx="4483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closed $30 Bln funding at $900 Bln Valuation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the largest private AI fundraise in history.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Compare: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Nvidia $5.2T, Alphabet (Google) $4.8T, Apple $4.3T, Microsoft $3.1T, Meta $1.55T, SpaceX (targeting IPO) $1.5T, OpenAI $0.85T</a:t>
            </a:r>
            <a:endParaRPr sz="1200">
              <a:solidFill>
                <a:schemeClr val="dk1"/>
              </a:solidFill>
              <a:latin typeface="Calibri"/>
              <a:ea typeface="Calibri"/>
              <a:cs typeface="Calibri"/>
              <a:sym typeface="Calibri"/>
            </a:endParaRPr>
          </a:p>
        </p:txBody>
      </p:sp>
      <p:pic>
        <p:nvPicPr>
          <p:cNvPr id="100" name="Google Shape;100;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73950" y="431150"/>
            <a:ext cx="3316924" cy="2012100"/>
          </a:xfrm>
          <a:prstGeom prst="rect">
            <a:avLst/>
          </a:prstGeom>
          <a:noFill/>
          <a:ln w="9525" cap="flat" cmpd="sng">
            <a:solidFill>
              <a:srgbClr val="FF0000"/>
            </a:solidFill>
            <a:prstDash val="solid"/>
            <a:round/>
            <a:headEnd type="none" w="sm" len="sm"/>
            <a:tailEnd type="none" w="sm" len="sm"/>
          </a:ln>
        </p:spPr>
      </p:pic>
      <p:pic>
        <p:nvPicPr>
          <p:cNvPr id="101" name="Google Shape;101;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73950" y="2590150"/>
            <a:ext cx="2384300" cy="1568750"/>
          </a:xfrm>
          <a:prstGeom prst="rect">
            <a:avLst/>
          </a:prstGeom>
          <a:noFill/>
          <a:ln w="9525" cap="flat" cmpd="sng">
            <a:solidFill>
              <a:srgbClr val="FF0000"/>
            </a:solidFill>
            <a:prstDash val="solid"/>
            <a:round/>
            <a:headEnd type="none" w="sm" len="sm"/>
            <a:tailEnd type="none" w="sm" len="sm"/>
          </a:ln>
        </p:spPr>
      </p:pic>
      <p:sp>
        <p:nvSpPr>
          <p:cNvPr id="102" name="Google Shape;102;p18"/>
          <p:cNvSpPr txBox="1"/>
          <p:nvPr/>
        </p:nvSpPr>
        <p:spPr>
          <a:xfrm>
            <a:off x="4773950" y="4305800"/>
            <a:ext cx="3895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Andrej Karpathy started this week at Anthropic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will lead a team focused on using Claude to accelerate pre-training research</a:t>
            </a:r>
            <a:endParaRPr sz="1200">
              <a:solidFill>
                <a:schemeClr val="dk1"/>
              </a:solidFill>
              <a:latin typeface="Calibri"/>
              <a:ea typeface="Calibri"/>
              <a:cs typeface="Calibri"/>
              <a:sym typeface="Calibri"/>
            </a:endParaRPr>
          </a:p>
        </p:txBody>
      </p:sp>
      <p:pic>
        <p:nvPicPr>
          <p:cNvPr id="103" name="Google Shape;103;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298300" y="2709722"/>
            <a:ext cx="1449175" cy="1449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p:nvPr/>
        </p:nvSpPr>
        <p:spPr>
          <a:xfrm>
            <a:off x="60250" y="431150"/>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Codex vs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Codex (GPT-5.5) is roughly 4x more token-efficient and excels at background, autonomous tasks with a longer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Code is stronger for production work in large codebases, it adapts to existing code style, writes tests unprompted, and has more mature MCP/agent integration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rapid prototyping, lean on Codex; for complex, multi-file production PRs, Claude Code is the better choice. Many developers now use both in tandem.</a:t>
            </a:r>
            <a:endParaRPr sz="1200">
              <a:solidFill>
                <a:schemeClr val="dk1"/>
              </a:solidFill>
              <a:latin typeface="Calibri"/>
              <a:ea typeface="Calibri"/>
              <a:cs typeface="Calibri"/>
              <a:sym typeface="Calibri"/>
            </a:endParaRPr>
          </a:p>
        </p:txBody>
      </p:sp>
      <p:sp>
        <p:nvSpPr>
          <p:cNvPr id="109" name="Google Shape;109;p1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0" name="Google Shape;110;p19"/>
          <p:cNvSpPr txBox="1"/>
          <p:nvPr/>
        </p:nvSpPr>
        <p:spPr>
          <a:xfrm>
            <a:off x="60250" y="2227725"/>
            <a:ext cx="4483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Companionship - Immediate Relief, Long-Term Harm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companionship may seem like a solution to loneliness, but it carries serious psychological risks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human relationships, AI offers effortless, perfectly tailored interaction that requires no emotional labor from the user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frictionless gratification is precisely what makes it dangerous. It risks replacing genuine human connection rather than supplementing it, potentially deepening the very loneliness epidemic it appears to address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Prolonged reliance on AI companions also distorts users' expectations of real people, who cannot match the AI's endless patience, availability, and adaptability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Over time, this creates impossible behavioral standards, making authentic human relationships feel frustrating or inadequate by comparison</a:t>
            </a:r>
            <a:endParaRPr sz="1200">
              <a:solidFill>
                <a:schemeClr val="dk1"/>
              </a:solidFill>
              <a:latin typeface="Calibri"/>
              <a:ea typeface="Calibri"/>
              <a:cs typeface="Calibri"/>
              <a:sym typeface="Calibri"/>
            </a:endParaRPr>
          </a:p>
        </p:txBody>
      </p:sp>
      <p:pic>
        <p:nvPicPr>
          <p:cNvPr id="111" name="Google Shape;111;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62800" y="431150"/>
            <a:ext cx="2645626" cy="1536550"/>
          </a:xfrm>
          <a:prstGeom prst="rect">
            <a:avLst/>
          </a:prstGeom>
          <a:noFill/>
          <a:ln w="9525" cap="flat" cmpd="sng">
            <a:solidFill>
              <a:srgbClr val="FF0000"/>
            </a:solidFill>
            <a:prstDash val="solid"/>
            <a:round/>
            <a:headEnd type="none" w="sm" len="sm"/>
            <a:tailEnd type="none" w="sm" len="sm"/>
          </a:ln>
        </p:spPr>
      </p:pic>
      <p:pic>
        <p:nvPicPr>
          <p:cNvPr id="112" name="Google Shape;112;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62800" y="2896500"/>
            <a:ext cx="2645624" cy="17702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0"/>
          <p:cNvSpPr txBox="1"/>
          <p:nvPr/>
        </p:nvSpPr>
        <p:spPr>
          <a:xfrm>
            <a:off x="60250" y="431150"/>
            <a:ext cx="4483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I/O 2026 May 19–20 - </a:t>
            </a:r>
            <a:r>
              <a:rPr lang="en" sz="1200" u="sng">
                <a:solidFill>
                  <a:schemeClr val="hlink"/>
                </a:solidFill>
                <a:latin typeface="Calibri"/>
                <a:ea typeface="Calibri"/>
                <a:cs typeface="Calibri"/>
                <a:sym typeface="Calibri"/>
                <a:hlinkClick r:id="rId3"/>
              </a:rPr>
              <a:t>https://io.google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Mountain View, 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Keynotes - May 19 at 10:00 AM PT and 1:30 PM 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Topics: Android, AI, Chrome, Cloud, and more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AgenticOS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 my widget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fill-out 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browse for you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in your car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book laptop</a:t>
            </a:r>
            <a:endParaRPr sz="1200">
              <a:solidFill>
                <a:schemeClr val="dk1"/>
              </a:solidFill>
              <a:latin typeface="Calibri"/>
              <a:ea typeface="Calibri"/>
              <a:cs typeface="Calibri"/>
              <a:sym typeface="Calibri"/>
            </a:endParaRPr>
          </a:p>
        </p:txBody>
      </p:sp>
      <p:sp>
        <p:nvSpPr>
          <p:cNvPr id="118" name="Google Shape;118;p20"/>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I/O 2026</a:t>
            </a:r>
            <a:endParaRPr sz="2000" b="1">
              <a:solidFill>
                <a:schemeClr val="dk1"/>
              </a:solidFill>
              <a:latin typeface="Calibri"/>
              <a:ea typeface="Calibri"/>
              <a:cs typeface="Calibri"/>
              <a:sym typeface="Calibri"/>
            </a:endParaRPr>
          </a:p>
        </p:txBody>
      </p:sp>
      <p:pic>
        <p:nvPicPr>
          <p:cNvPr id="119" name="Google Shape;119;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16125" y="431150"/>
            <a:ext cx="3316260" cy="1865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1"/>
          <p:cNvSpPr txBox="1"/>
          <p:nvPr/>
        </p:nvSpPr>
        <p:spPr>
          <a:xfrm>
            <a:off x="60250" y="431150"/>
            <a:ext cx="4483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Thinking Machines "interaction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Thinking Machines Lab, founded by former OpenAI CTO Mira Murati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"interaction models" - a new approach to real-time AI conversation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Full-duplex architecture processes input and output simultaneously in 200ms chunks, allowing the AI to listen, speak, and react at the same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Their first model, TML-Interaction-Small, is a 276-Billion parameter Mixture-of-Experts system that pairs a real-time interaction model with a background reasoning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significantly outperforms competitors like GPT-Realtime on turn-taking latency and interaction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 limited research preview is expected later in 2026</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https://thinkingmachines.ai/blog/interaction-models/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https://www.youtube.com/watch?v=A12AVongNN4</a:t>
            </a:r>
            <a:r>
              <a:rPr lang="en" sz="1200">
                <a:solidFill>
                  <a:schemeClr val="dk1"/>
                </a:solidFill>
                <a:latin typeface="Calibri"/>
                <a:ea typeface="Calibri"/>
                <a:cs typeface="Calibri"/>
                <a:sym typeface="Calibri"/>
              </a:rPr>
              <a:t> - video demo</a:t>
            </a:r>
            <a:endParaRPr sz="1200">
              <a:solidFill>
                <a:schemeClr val="dk1"/>
              </a:solidFill>
              <a:latin typeface="Calibri"/>
              <a:ea typeface="Calibri"/>
              <a:cs typeface="Calibri"/>
              <a:sym typeface="Calibri"/>
            </a:endParaRPr>
          </a:p>
        </p:txBody>
      </p:sp>
      <p:sp>
        <p:nvSpPr>
          <p:cNvPr id="125" name="Google Shape;125;p21"/>
          <p:cNvSpPr txBox="1"/>
          <p:nvPr/>
        </p:nvSpPr>
        <p:spPr>
          <a:xfrm>
            <a:off x="81775" y="67675"/>
            <a:ext cx="448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Thinking Machines - Real-Time</a:t>
            </a:r>
            <a:endParaRPr sz="2000" b="1">
              <a:solidFill>
                <a:schemeClr val="dk1"/>
              </a:solidFill>
              <a:latin typeface="Calibri"/>
              <a:ea typeface="Calibri"/>
              <a:cs typeface="Calibri"/>
              <a:sym typeface="Calibri"/>
            </a:endParaRPr>
          </a:p>
        </p:txBody>
      </p:sp>
      <p:pic>
        <p:nvPicPr>
          <p:cNvPr id="126" name="Google Shape;126;p21"/>
          <p:cNvPicPr preferRelativeResize="0"/>
          <p:nvPr/>
        </p:nvPicPr>
        <p:blipFill>
          <a:blip r:embed="rId5">
            <a:alphaModFix/>
          </a:blip>
          <a:stretch>
            <a:fillRect/>
          </a:stretch>
        </p:blipFill>
        <p:spPr>
          <a:xfrm>
            <a:off x="4731475" y="685550"/>
            <a:ext cx="3733800" cy="2095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2"/>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6.83K subscribers, 288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32" name="Google Shape;132;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33650" y="80363"/>
            <a:ext cx="2541900" cy="4982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3"/>
          <p:cNvSpPr txBox="1"/>
          <p:nvPr/>
        </p:nvSpPr>
        <p:spPr>
          <a:xfrm>
            <a:off x="60250" y="431150"/>
            <a:ext cx="3617100" cy="198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Karpathy's CLAUDE md - open 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132K Stars on github</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https://github.com/multica-ai/andrej-karpathy-skills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4"/>
              </a:rPr>
              <a:t>https://www.youtube.com/watch?v=EeYkZloXIww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Think Before Coding</a:t>
            </a:r>
            <a:r>
              <a:rPr lang="en" sz="1200">
                <a:solidFill>
                  <a:schemeClr val="dk1"/>
                </a:solidFill>
                <a:latin typeface="Calibri"/>
                <a:ea typeface="Calibri"/>
                <a:cs typeface="Calibri"/>
                <a:sym typeface="Calibri"/>
              </a:rPr>
              <a:t> - avoid wrong assumptions, hidden confusion, missing tradeoffs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Simplicity First</a:t>
            </a:r>
            <a:r>
              <a:rPr lang="en" sz="1200">
                <a:solidFill>
                  <a:schemeClr val="dk1"/>
                </a:solidFill>
                <a:latin typeface="Calibri"/>
                <a:ea typeface="Calibri"/>
                <a:cs typeface="Calibri"/>
                <a:sym typeface="Calibri"/>
              </a:rPr>
              <a:t> - avoid over-complication, bloated abstractions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Surgical Changes</a:t>
            </a:r>
            <a:r>
              <a:rPr lang="en" sz="1200">
                <a:solidFill>
                  <a:schemeClr val="dk1"/>
                </a:solidFill>
                <a:latin typeface="Calibri"/>
                <a:ea typeface="Calibri"/>
                <a:cs typeface="Calibri"/>
                <a:sym typeface="Calibri"/>
              </a:rPr>
              <a:t> - don't touch code you shouldn't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Goal-Driven Execution </a:t>
            </a:r>
            <a:r>
              <a:rPr lang="en" sz="1200">
                <a:solidFill>
                  <a:schemeClr val="dk1"/>
                </a:solidFill>
                <a:latin typeface="Calibri"/>
                <a:ea typeface="Calibri"/>
                <a:cs typeface="Calibri"/>
                <a:sym typeface="Calibri"/>
              </a:rPr>
              <a:t>- leverage through tests-first, verifiable success criteria</a:t>
            </a:r>
            <a:endParaRPr sz="1200">
              <a:solidFill>
                <a:schemeClr val="dk1"/>
              </a:solidFill>
              <a:latin typeface="Calibri"/>
              <a:ea typeface="Calibri"/>
              <a:cs typeface="Calibri"/>
              <a:sym typeface="Calibri"/>
            </a:endParaRPr>
          </a:p>
        </p:txBody>
      </p:sp>
      <p:sp>
        <p:nvSpPr>
          <p:cNvPr id="138" name="Google Shape;138;p23"/>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139" name="Google Shape;139;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07200" y="283572"/>
            <a:ext cx="1449175" cy="1449175"/>
          </a:xfrm>
          <a:prstGeom prst="rect">
            <a:avLst/>
          </a:prstGeom>
          <a:noFill/>
          <a:ln w="9525" cap="flat" cmpd="sng">
            <a:solidFill>
              <a:srgbClr val="FF0000"/>
            </a:solidFill>
            <a:prstDash val="solid"/>
            <a:round/>
            <a:headEnd type="none" w="sm" len="sm"/>
            <a:tailEnd type="none" w="sm" len="sm"/>
          </a:ln>
        </p:spPr>
      </p:pic>
      <p:sp>
        <p:nvSpPr>
          <p:cNvPr id="140" name="Google Shape;140;p23"/>
          <p:cNvSpPr txBox="1"/>
          <p:nvPr/>
        </p:nvSpPr>
        <p:spPr>
          <a:xfrm>
            <a:off x="0" y="3041850"/>
            <a:ext cx="3677400" cy="2019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Opens Up Its Skills Design Core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Writing a Skill is not writing software.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It’s building context for the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constraints are completely different,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and so are the design principles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approach writing Skills the way you write code,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result will be terrible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something can be explained clearly in a few words,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model can probably handle it on its own.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Putting it in a Skill just wastes tokens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https://aidisruption.ai/p/perplexity-opens-up-its-skills-design</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graphicFrame>
        <p:nvGraphicFramePr>
          <p:cNvPr id="141" name="Google Shape;141;p23"/>
          <p:cNvGraphicFramePr/>
          <p:nvPr/>
        </p:nvGraphicFramePr>
        <p:xfrm>
          <a:off x="4956368" y="3202718"/>
          <a:ext cx="3000000" cy="3000000"/>
        </p:xfrm>
        <a:graphic>
          <a:graphicData uri="http://schemas.openxmlformats.org/drawingml/2006/table">
            <a:tbl>
              <a:tblPr>
                <a:noFill/>
                <a:tableStyleId>{DE4F236D-781A-40A5-A261-1C57DE5FE729}</a:tableStyleId>
              </a:tblPr>
              <a:tblGrid>
                <a:gridCol w="1574475">
                  <a:extLst>
                    <a:ext uri="{9D8B030D-6E8A-4147-A177-3AD203B41FA5}">
                      <a16:colId xmlns:a16="http://schemas.microsoft.com/office/drawing/2014/main" val="20000"/>
                    </a:ext>
                  </a:extLst>
                </a:gridCol>
                <a:gridCol w="2490400">
                  <a:extLst>
                    <a:ext uri="{9D8B030D-6E8A-4147-A177-3AD203B41FA5}">
                      <a16:colId xmlns:a16="http://schemas.microsoft.com/office/drawing/2014/main" val="20001"/>
                    </a:ext>
                  </a:extLst>
                </a:gridCol>
              </a:tblGrid>
              <a:tr h="190500">
                <a:tc>
                  <a:txBody>
                    <a:bodyPr/>
                    <a:lstStyle/>
                    <a:p>
                      <a:pPr marL="0" lvl="0" indent="0" algn="l" rtl="0">
                        <a:spcBef>
                          <a:spcPts val="0"/>
                        </a:spcBef>
                        <a:spcAft>
                          <a:spcPts val="0"/>
                        </a:spcAft>
                        <a:buNone/>
                      </a:pPr>
                      <a:r>
                        <a:rPr lang="en" sz="1000" b="1">
                          <a:latin typeface="Calibri"/>
                          <a:ea typeface="Calibri"/>
                          <a:cs typeface="Calibri"/>
                          <a:sym typeface="Calibri"/>
                        </a:rPr>
                        <a:t>Zen of Python</a:t>
                      </a:r>
                      <a:endParaRPr sz="1000" b="1">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sz="1000" b="1">
                          <a:latin typeface="Calibri"/>
                          <a:ea typeface="Calibri"/>
                          <a:cs typeface="Calibri"/>
                          <a:sym typeface="Calibri"/>
                        </a:rPr>
                        <a:t>Zen of Skills</a:t>
                      </a:r>
                      <a:endParaRPr sz="1000" b="1">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0"/>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Simple is better than complex</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A Skill is a folder, not a single file. Complexity itself is a feature.</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Explicit is better than implicit</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Activation relies on implicit pattern matching and progressive disclosure</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Sparse is better than dense</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Context is expensive — every token must carry maximum signal.</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Special cases aren't special enough</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Gotchas are the special cases. They are the highest-value content.</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If the implementation is hard to explain, it's a bad idea</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If it's easy to explain, the model probably already knows it — delete it.</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pic>
        <p:nvPicPr>
          <p:cNvPr id="142" name="Google Shape;142;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099425" y="2789152"/>
            <a:ext cx="1856948" cy="949100"/>
          </a:xfrm>
          <a:prstGeom prst="rect">
            <a:avLst/>
          </a:prstGeom>
          <a:noFill/>
          <a:ln w="9525" cap="flat" cmpd="sng">
            <a:solidFill>
              <a:srgbClr val="FF0000"/>
            </a:solidFill>
            <a:prstDash val="solid"/>
            <a:round/>
            <a:headEnd type="none" w="sm" len="sm"/>
            <a:tailEnd type="none" w="sm" len="sm"/>
          </a:ln>
        </p:spPr>
      </p:pic>
      <p:sp>
        <p:nvSpPr>
          <p:cNvPr id="143" name="Google Shape;143;p23"/>
          <p:cNvSpPr txBox="1"/>
          <p:nvPr/>
        </p:nvSpPr>
        <p:spPr>
          <a:xfrm>
            <a:off x="5343850" y="1278762"/>
            <a:ext cx="36774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build and update your </a:t>
            </a:r>
            <a:r>
              <a:rPr lang="en" sz="1200" b="1">
                <a:solidFill>
                  <a:srgbClr val="FF0000"/>
                </a:solidFill>
                <a:uFill>
                  <a:noFill/>
                </a:uFill>
                <a:latin typeface="Calibri"/>
                <a:ea typeface="Calibri"/>
                <a:cs typeface="Calibri"/>
                <a:sym typeface="Calibri"/>
                <a:hlinkClick r:id="rId8">
                  <a:extLst>
                    <a:ext uri="{A12FA001-AC4F-418D-AE19-62706E023703}">
                      <ahyp:hlinkClr xmlns:ahyp="http://schemas.microsoft.com/office/drawing/2018/hyperlinkcolor" val="tx"/>
                    </a:ext>
                  </a:extLst>
                </a:hlinkClick>
              </a:rPr>
              <a:t>CLAUDE.md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snapshot of you: what you do, how you operate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clean CLAUDE.md for you (founder, creator, agency)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Reference folder plan that pulls past content, brand voice, and key decisions into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starter slash commands wired to your real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smoke test that Claude knows your business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quarterly refresh prompt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https://theaibreak.substack.com/p/tutorial-build-a-claudemd-that-makes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4"/>
          <p:cNvSpPr txBox="1"/>
          <p:nvPr/>
        </p:nvSpPr>
        <p:spPr>
          <a:xfrm>
            <a:off x="60250" y="431150"/>
            <a:ext cx="44832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Productize Yourself</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traditional career model (school, stable job, climb the ladder, retire) is breaking down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Today one person with a laptop can reach millions, build scalable products, and generate income without trading time for money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smartest move today is to "productize yourself" - package your unique knowledge, skills, and perspective into courses, newsletters, tools, or frameworks that work independently of your presence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Pursue genuine curiosity, not trends, because no one can compete with you on being you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 small, stay consistent, and think in years. Benefit from compounding growth</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https://medium.com/personal-growth/careers-are-collapsing-jobs-are-dying-the-smartest-people-are-doing-this-right-now-becc742dfee2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49" name="Google Shape;149;p24"/>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0" name="Google Shape;150;p24"/>
          <p:cNvSpPr txBox="1"/>
          <p:nvPr/>
        </p:nvSpPr>
        <p:spPr>
          <a:xfrm>
            <a:off x="60250" y="3014850"/>
            <a:ext cx="4483200" cy="191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Claude for Legal - May 12</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Building on earlier January–February releases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12 new practice-area plugins (Corporate, Employment, Privacy, IP, Litigation, AI Governance, and others) plus 20+ new MCP connectors to platforms like DocuSign, iManage, LexisNexis, Thomson Reuters, Relativity, and Harvey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Connectors (pull external data), Skills (task-specific instructions in md format), and plugins (bundles of skills, connectors, and subagents)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https://claude.com/blog/claude-for-the-legal-industry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https://github.com/anthropics/claude-for-legal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http://www.youtube.com/watch?v=7H8-zRB5hbU</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51" name="Google Shape;151;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95850" y="431150"/>
            <a:ext cx="3348550" cy="1515175"/>
          </a:xfrm>
          <a:prstGeom prst="rect">
            <a:avLst/>
          </a:prstGeom>
          <a:noFill/>
          <a:ln w="9525" cap="flat" cmpd="sng">
            <a:solidFill>
              <a:srgbClr val="FF0000"/>
            </a:solidFill>
            <a:prstDash val="solid"/>
            <a:round/>
            <a:headEnd type="none" w="sm" len="sm"/>
            <a:tailEnd type="none" w="sm" len="sm"/>
          </a:ln>
        </p:spPr>
      </p:pic>
      <p:pic>
        <p:nvPicPr>
          <p:cNvPr id="152" name="Google Shape;152;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95850" y="3014850"/>
            <a:ext cx="2746200" cy="1661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5"/>
          <p:cNvSpPr txBox="1"/>
          <p:nvPr/>
        </p:nvSpPr>
        <p:spPr>
          <a:xfrm>
            <a:off x="60250" y="431150"/>
            <a:ext cx="4483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Connecting Claude AI to Obsidian and OMI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OMI refers to Omi AI - the AI wearable and app platform ( </a:t>
            </a:r>
            <a:r>
              <a:rPr lang="en" sz="1200" u="sng">
                <a:solidFill>
                  <a:schemeClr val="hlink"/>
                </a:solidFill>
                <a:latin typeface="Calibri"/>
                <a:ea typeface="Calibri"/>
                <a:cs typeface="Calibri"/>
                <a:sym typeface="Calibri"/>
                <a:hlinkClick r:id="rId3"/>
              </a:rPr>
              <a:t>omi.me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OMI records your daily activities and conversations, automatically exporting these notes into Obsidian’s markdown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linking Claude to this Obsidian vault, the AI gains deep, personal context, allowing it to provide specific advice based on your actual projects rather than generic answers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also acts as an organizer, using the PARA method to restructure messy notes and create visual navigation maps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setup creates an "infinite context engine," transforming Claude into a highly personalized assistant that remembers your decisions and tasks, making your AI workflow 100 times more effective and autonomous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https://www.youtube.com/watch?v=pr1InE1LuKY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58" name="Google Shape;158;p25"/>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159" name="Google Shape;159;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23600" y="431150"/>
            <a:ext cx="1086375" cy="1169050"/>
          </a:xfrm>
          <a:prstGeom prst="rect">
            <a:avLst/>
          </a:prstGeom>
          <a:noFill/>
          <a:ln>
            <a:noFill/>
          </a:ln>
        </p:spPr>
      </p:pic>
      <p:pic>
        <p:nvPicPr>
          <p:cNvPr id="160" name="Google Shape;160;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55400" y="431150"/>
            <a:ext cx="1169050" cy="1169050"/>
          </a:xfrm>
          <a:prstGeom prst="rect">
            <a:avLst/>
          </a:prstGeom>
          <a:noFill/>
          <a:ln>
            <a:noFill/>
          </a:ln>
        </p:spPr>
      </p:pic>
      <p:sp>
        <p:nvSpPr>
          <p:cNvPr id="161" name="Google Shape;161;p25"/>
          <p:cNvSpPr txBox="1"/>
          <p:nvPr/>
        </p:nvSpPr>
        <p:spPr>
          <a:xfrm>
            <a:off x="4830138" y="1793225"/>
            <a:ext cx="873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Omi.me</a:t>
            </a:r>
            <a:endParaRPr sz="1200">
              <a:solidFill>
                <a:schemeClr val="dk1"/>
              </a:solidFill>
              <a:latin typeface="Calibri"/>
              <a:ea typeface="Calibri"/>
              <a:cs typeface="Calibri"/>
              <a:sym typeface="Calibri"/>
            </a:endParaRPr>
          </a:p>
        </p:txBody>
      </p:sp>
      <p:sp>
        <p:nvSpPr>
          <p:cNvPr id="162" name="Google Shape;162;p25"/>
          <p:cNvSpPr txBox="1"/>
          <p:nvPr/>
        </p:nvSpPr>
        <p:spPr>
          <a:xfrm>
            <a:off x="6303263" y="1793225"/>
            <a:ext cx="873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Obsidian</a:t>
            </a:r>
            <a:endParaRPr sz="1200">
              <a:solidFill>
                <a:schemeClr val="dk1"/>
              </a:solidFill>
              <a:latin typeface="Calibri"/>
              <a:ea typeface="Calibri"/>
              <a:cs typeface="Calibri"/>
              <a:sym typeface="Calibri"/>
            </a:endParaRPr>
          </a:p>
        </p:txBody>
      </p:sp>
      <p:sp>
        <p:nvSpPr>
          <p:cNvPr id="163" name="Google Shape;163;p25"/>
          <p:cNvSpPr txBox="1"/>
          <p:nvPr/>
        </p:nvSpPr>
        <p:spPr>
          <a:xfrm>
            <a:off x="60250" y="3329700"/>
            <a:ext cx="4483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Krea 2 Update - Generate Visuals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mood boards and style references - you can guide the AI with images rather than just words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Generating high-fidelity visuals in under 15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Real-time canvas for live sketching, a 22K resolution enhancer, and video generation tools - </a:t>
            </a:r>
            <a:r>
              <a:rPr lang="en" sz="1200" u="sng">
                <a:solidFill>
                  <a:schemeClr val="hlink"/>
                </a:solidFill>
                <a:latin typeface="Calibri"/>
                <a:ea typeface="Calibri"/>
                <a:cs typeface="Calibri"/>
                <a:sym typeface="Calibri"/>
                <a:hlinkClick r:id="rId7"/>
              </a:rPr>
              <a:t>https://www.krea.ai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https://www.youtube.com/watch?v=Y6o-LSv-b4E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64" name="Google Shape;164;p25"/>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4961725" y="3627775"/>
            <a:ext cx="2057400" cy="715150"/>
          </a:xfrm>
          <a:prstGeom prst="rect">
            <a:avLst/>
          </a:prstGeom>
          <a:noFill/>
          <a:ln w="9525" cap="flat" cmpd="sng">
            <a:solidFill>
              <a:srgbClr val="FF0000"/>
            </a:solidFill>
            <a:prstDash val="solid"/>
            <a:round/>
            <a:headEnd type="none" w="sm" len="sm"/>
            <a:tailEnd type="none" w="sm" len="sm"/>
          </a:ln>
        </p:spPr>
      </p:pic>
      <p:pic>
        <p:nvPicPr>
          <p:cNvPr id="165" name="Google Shape;165;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7176575" y="3081300"/>
            <a:ext cx="1820074" cy="1808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6"/>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Hermes vs OpenClaw</a:t>
            </a:r>
            <a:endParaRPr sz="2000" b="1">
              <a:solidFill>
                <a:schemeClr val="dk1"/>
              </a:solidFill>
              <a:latin typeface="Calibri"/>
              <a:ea typeface="Calibri"/>
              <a:cs typeface="Calibri"/>
              <a:sym typeface="Calibri"/>
            </a:endParaRPr>
          </a:p>
        </p:txBody>
      </p:sp>
      <p:sp>
        <p:nvSpPr>
          <p:cNvPr id="171" name="Google Shape;171;p26"/>
          <p:cNvSpPr txBox="1"/>
          <p:nvPr/>
        </p:nvSpPr>
        <p:spPr>
          <a:xfrm>
            <a:off x="81775" y="461825"/>
            <a:ext cx="4483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vs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Agent - an open-source AI project from Nous Research that has emerged as a major competitor to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Launched in February 2026, Hermes recently surpassed OpenClaw on Open Router’s global rankings, processing roughly 224 billion tokens daily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distinguishes itself by utilizing a continuous "do-learn-improve" loop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Rather than resetting context, it reflects on completed tasks and writes reusable skill files to compound knowledge over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latest major update, version 0.13 ("Tenacity"), introduced a durable multi-agent Kanban system, a persistent goal command, and seamless data migration tools from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Combining local-first memory systems with a model-agnostic architecture, Hermes is transitioning from a traditional assistant into a self-improving AI operating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https://github.com/nousresearch/hermes-agent</a:t>
            </a:r>
            <a:r>
              <a:rPr lang="en" sz="1200">
                <a:solidFill>
                  <a:schemeClr val="dk1"/>
                </a:solidFill>
                <a:latin typeface="Calibri"/>
                <a:ea typeface="Calibri"/>
                <a:cs typeface="Calibri"/>
                <a:sym typeface="Calibri"/>
              </a:rPr>
              <a:t> - 157K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https://github.com/openclaw/openclaw</a:t>
            </a:r>
            <a:r>
              <a:rPr lang="en" sz="1200">
                <a:solidFill>
                  <a:schemeClr val="dk1"/>
                </a:solidFill>
                <a:latin typeface="Calibri"/>
                <a:ea typeface="Calibri"/>
                <a:cs typeface="Calibri"/>
                <a:sym typeface="Calibri"/>
              </a:rPr>
              <a:t> - 373K</a:t>
            </a:r>
            <a:endParaRPr sz="1200">
              <a:solidFill>
                <a:schemeClr val="dk1"/>
              </a:solidFill>
              <a:latin typeface="Calibri"/>
              <a:ea typeface="Calibri"/>
              <a:cs typeface="Calibri"/>
              <a:sym typeface="Calibri"/>
            </a:endParaRPr>
          </a:p>
        </p:txBody>
      </p:sp>
      <p:sp>
        <p:nvSpPr>
          <p:cNvPr id="172" name="Google Shape;172;p26"/>
          <p:cNvSpPr txBox="1"/>
          <p:nvPr/>
        </p:nvSpPr>
        <p:spPr>
          <a:xfrm>
            <a:off x="81775" y="3991675"/>
            <a:ext cx="4483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AgentMemory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Free open-source tool gives Claude Code and Codex persistent memory across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https://github.com/rohitg00/agentmemory</a:t>
            </a:r>
            <a:r>
              <a:rPr lang="en" sz="1200">
                <a:solidFill>
                  <a:schemeClr val="dk1"/>
                </a:solidFill>
                <a:latin typeface="Calibri"/>
                <a:ea typeface="Calibri"/>
                <a:cs typeface="Calibri"/>
                <a:sym typeface="Calibri"/>
              </a:rPr>
              <a:t>  - 13K stars</a:t>
            </a:r>
            <a:endParaRPr sz="1200">
              <a:solidFill>
                <a:schemeClr val="dk1"/>
              </a:solidFill>
              <a:latin typeface="Calibri"/>
              <a:ea typeface="Calibri"/>
              <a:cs typeface="Calibri"/>
              <a:sym typeface="Calibri"/>
            </a:endParaRPr>
          </a:p>
        </p:txBody>
      </p:sp>
      <p:pic>
        <p:nvPicPr>
          <p:cNvPr id="173" name="Google Shape;173;p26"/>
          <p:cNvPicPr preferRelativeResize="0"/>
          <p:nvPr/>
        </p:nvPicPr>
        <p:blipFill>
          <a:blip r:embed="rId6">
            <a:alphaModFix/>
          </a:blip>
          <a:stretch>
            <a:fillRect/>
          </a:stretch>
        </p:blipFill>
        <p:spPr>
          <a:xfrm>
            <a:off x="4776725" y="461825"/>
            <a:ext cx="3836675" cy="2148550"/>
          </a:xfrm>
          <a:prstGeom prst="rect">
            <a:avLst/>
          </a:prstGeom>
          <a:noFill/>
          <a:ln w="9525" cap="flat" cmpd="sng">
            <a:solidFill>
              <a:srgbClr val="FF0000"/>
            </a:solidFill>
            <a:prstDash val="solid"/>
            <a:round/>
            <a:headEnd type="none" w="sm" len="sm"/>
            <a:tailEnd type="none" w="sm" len="sm"/>
          </a:ln>
        </p:spPr>
      </p:pic>
      <p:pic>
        <p:nvPicPr>
          <p:cNvPr id="174" name="Google Shape;174;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40663" y="4242825"/>
            <a:ext cx="3908800" cy="506050"/>
          </a:xfrm>
          <a:prstGeom prst="rect">
            <a:avLst/>
          </a:prstGeom>
          <a:noFill/>
          <a:ln w="9525" cap="flat" cmpd="sng">
            <a:solidFill>
              <a:srgbClr val="FF0000"/>
            </a:solidFill>
            <a:prstDash val="solid"/>
            <a:round/>
            <a:headEnd type="none" w="sm" len="sm"/>
            <a:tailEnd type="none" w="sm" len="sm"/>
          </a:ln>
        </p:spPr>
      </p:pic>
      <p:sp>
        <p:nvSpPr>
          <p:cNvPr id="175" name="Google Shape;175;p26"/>
          <p:cNvSpPr txBox="1"/>
          <p:nvPr/>
        </p:nvSpPr>
        <p:spPr>
          <a:xfrm>
            <a:off x="4770666" y="2758056"/>
            <a:ext cx="42567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OpenClaw 3-person team consumed $1.3 Mln in OpenAI API credits in 30 days while operating about 100 autonomous coding agents, mostly using GPT-5.5.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Disabling Codex “Fast Mode” would cut costs to $300K</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RAG and RAE</a:t>
            </a:r>
            <a:endParaRPr sz="2000" b="1">
              <a:solidFill>
                <a:schemeClr val="dk1"/>
              </a:solidFill>
              <a:latin typeface="Calibri"/>
              <a:ea typeface="Calibri"/>
              <a:cs typeface="Calibri"/>
              <a:sym typeface="Calibri"/>
            </a:endParaRPr>
          </a:p>
        </p:txBody>
      </p:sp>
      <p:sp>
        <p:nvSpPr>
          <p:cNvPr id="181" name="Google Shape;181;p27"/>
          <p:cNvSpPr txBox="1"/>
          <p:nvPr/>
        </p:nvSpPr>
        <p:spPr>
          <a:xfrm>
            <a:off x="81775" y="461825"/>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RAG (Retrieval Augmented Generation) </a:t>
            </a:r>
            <a:r>
              <a:rPr lang="en" sz="1200">
                <a:solidFill>
                  <a:schemeClr val="dk1"/>
                </a:solidFill>
                <a:latin typeface="Calibri"/>
                <a:ea typeface="Calibri"/>
                <a:cs typeface="Calibri"/>
                <a:sym typeface="Calibri"/>
              </a:rPr>
              <a:t>- answer questions by retrieving stored information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RAE (Retrieval Augmented Execution)</a:t>
            </a:r>
            <a:r>
              <a:rPr lang="en" sz="1200">
                <a:solidFill>
                  <a:schemeClr val="dk1"/>
                </a:solidFill>
                <a:latin typeface="Calibri"/>
                <a:ea typeface="Calibri"/>
                <a:cs typeface="Calibri"/>
                <a:sym typeface="Calibri"/>
              </a:rPr>
              <a:t> - look for a skill or tool to do something - and execute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RAG and RAE Can be implemented without a Vector Database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Keyword Search (BM25) (like Ctrl-F)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Basic File Matching - use plain text files named by topic, search by file names and tags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RAG for Skills: </a:t>
            </a:r>
            <a:r>
              <a:rPr lang="en" sz="1200" u="sng">
                <a:solidFill>
                  <a:schemeClr val="hlink"/>
                </a:solidFill>
                <a:latin typeface="Calibri"/>
                <a:ea typeface="Calibri"/>
                <a:cs typeface="Calibri"/>
                <a:sym typeface="Calibri"/>
                <a:hlinkClick r:id="rId3"/>
              </a:rPr>
              <a:t>https://www.youtube.com/watch?v=jIctzTn_8-E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82" name="Google Shape;182;p27"/>
          <p:cNvPicPr preferRelativeResize="0"/>
          <p:nvPr/>
        </p:nvPicPr>
        <p:blipFill>
          <a:blip r:embed="rId4">
            <a:alphaModFix/>
          </a:blip>
          <a:stretch>
            <a:fillRect/>
          </a:stretch>
        </p:blipFill>
        <p:spPr>
          <a:xfrm>
            <a:off x="4820525" y="374637"/>
            <a:ext cx="3301950" cy="1855275"/>
          </a:xfrm>
          <a:prstGeom prst="rect">
            <a:avLst/>
          </a:prstGeom>
          <a:noFill/>
          <a:ln w="9525" cap="flat" cmpd="sng">
            <a:solidFill>
              <a:srgbClr val="FF0000"/>
            </a:solidFill>
            <a:prstDash val="solid"/>
            <a:round/>
            <a:headEnd type="none" w="sm" len="sm"/>
            <a:tailEnd type="none" w="sm" len="sm"/>
          </a:ln>
        </p:spPr>
      </p:pic>
      <p:sp>
        <p:nvSpPr>
          <p:cNvPr id="183" name="Google Shape;183;p27"/>
          <p:cNvSpPr txBox="1"/>
          <p:nvPr/>
        </p:nvSpPr>
        <p:spPr>
          <a:xfrm>
            <a:off x="81775" y="2284601"/>
            <a:ext cx="44832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Graphify indexes files for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Inspired by an LLM knowledge base concept by Andrej Karpathy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compiles raw local files and large codebases into interactive, structured knowledge graphs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Graphify reduces LLM token consumption by up to 70% while improving output speed and accuracy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generates HTML visualizations, JSON data, and specialized reports to map node connections. It also features utilities to find the shortest path between files, explain specific concepts, update modified files seamlessly, and generate Obsidian vaults or MCP servers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https://www.youtube.com/watch?v=HQEm4rBKdec</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https://github.com/safishamsi/graphify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https://x.com/karpathy/status/2039805659525644595</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84" name="Google Shape;184;p27"/>
          <p:cNvSpPr txBox="1"/>
          <p:nvPr/>
        </p:nvSpPr>
        <p:spPr>
          <a:xfrm>
            <a:off x="4715550" y="3300400"/>
            <a:ext cx="4026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Alternatives to VectorDB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Microsoft GraphRAG - open-source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Karpathy's "LLM as Compiler" / Compiled Wiki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 Keyword-Based (Sparse Retrieval) - Elasticsearch,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SQL Database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ELITE (LLM-Driven Iterative Retrieval) - open 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Knowledge Base RAG (Symbolic / Ontology-Based)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RAPTOR-Style Hierarchical Chunking</a:t>
            </a:r>
            <a:endParaRPr sz="1200">
              <a:solidFill>
                <a:schemeClr val="dk1"/>
              </a:solidFill>
              <a:latin typeface="Calibri"/>
              <a:ea typeface="Calibri"/>
              <a:cs typeface="Calibri"/>
              <a:sym typeface="Calibri"/>
            </a:endParaRPr>
          </a:p>
        </p:txBody>
      </p:sp>
      <p:sp>
        <p:nvSpPr>
          <p:cNvPr id="185" name="Google Shape;185;p27"/>
          <p:cNvSpPr txBox="1"/>
          <p:nvPr/>
        </p:nvSpPr>
        <p:spPr>
          <a:xfrm>
            <a:off x="4715550" y="2571200"/>
            <a:ext cx="40260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Vector-RAG captures similarity, but misses structure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https://venturebeat.com/orchestration/architectural-patterns-for-graph-enhanced-rag-moving-beyond-vector-search-in-production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8"/>
          <p:cNvSpPr txBox="1"/>
          <p:nvPr/>
        </p:nvSpPr>
        <p:spPr>
          <a:xfrm>
            <a:off x="81775" y="67675"/>
            <a:ext cx="2992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RAG without VectorDB</a:t>
            </a:r>
            <a:endParaRPr sz="2000" b="1">
              <a:solidFill>
                <a:schemeClr val="dk1"/>
              </a:solidFill>
              <a:latin typeface="Calibri"/>
              <a:ea typeface="Calibri"/>
              <a:cs typeface="Calibri"/>
              <a:sym typeface="Calibri"/>
            </a:endParaRPr>
          </a:p>
        </p:txBody>
      </p:sp>
      <p:sp>
        <p:nvSpPr>
          <p:cNvPr id="191" name="Google Shape;191;p28"/>
          <p:cNvSpPr txBox="1"/>
          <p:nvPr/>
        </p:nvSpPr>
        <p:spPr>
          <a:xfrm>
            <a:off x="171875" y="531800"/>
            <a:ext cx="40260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Vector-RAG captures similarity, but misses structure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https://venturebeat.com/orchestration/architectural-patterns-for-graph-enhanced-rag-moving-beyond-vector-search-in-production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graphicFrame>
        <p:nvGraphicFramePr>
          <p:cNvPr id="192" name="Google Shape;192;p28"/>
          <p:cNvGraphicFramePr/>
          <p:nvPr/>
        </p:nvGraphicFramePr>
        <p:xfrm>
          <a:off x="152400" y="1203478"/>
          <a:ext cx="3000000" cy="3000000"/>
        </p:xfrm>
        <a:graphic>
          <a:graphicData uri="http://schemas.openxmlformats.org/drawingml/2006/table">
            <a:tbl>
              <a:tblPr>
                <a:noFill/>
                <a:tableStyleId>{DE4F236D-781A-40A5-A261-1C57DE5FE729}</a:tableStyleId>
              </a:tblPr>
              <a:tblGrid>
                <a:gridCol w="218250">
                  <a:extLst>
                    <a:ext uri="{9D8B030D-6E8A-4147-A177-3AD203B41FA5}">
                      <a16:colId xmlns:a16="http://schemas.microsoft.com/office/drawing/2014/main" val="20000"/>
                    </a:ext>
                  </a:extLst>
                </a:gridCol>
                <a:gridCol w="2334450">
                  <a:extLst>
                    <a:ext uri="{9D8B030D-6E8A-4147-A177-3AD203B41FA5}">
                      <a16:colId xmlns:a16="http://schemas.microsoft.com/office/drawing/2014/main" val="20001"/>
                    </a:ext>
                  </a:extLst>
                </a:gridCol>
                <a:gridCol w="3767050">
                  <a:extLst>
                    <a:ext uri="{9D8B030D-6E8A-4147-A177-3AD203B41FA5}">
                      <a16:colId xmlns:a16="http://schemas.microsoft.com/office/drawing/2014/main" val="20002"/>
                    </a:ext>
                  </a:extLst>
                </a:gridCol>
                <a:gridCol w="349225">
                  <a:extLst>
                    <a:ext uri="{9D8B030D-6E8A-4147-A177-3AD203B41FA5}">
                      <a16:colId xmlns:a16="http://schemas.microsoft.com/office/drawing/2014/main" val="20003"/>
                    </a:ext>
                  </a:extLst>
                </a:gridCol>
                <a:gridCol w="2170225">
                  <a:extLst>
                    <a:ext uri="{9D8B030D-6E8A-4147-A177-3AD203B41FA5}">
                      <a16:colId xmlns:a16="http://schemas.microsoft.com/office/drawing/2014/main" val="20004"/>
                    </a:ext>
                  </a:extLst>
                </a:gridCol>
              </a:tblGrid>
              <a:tr h="114600">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Approach</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Best For</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Open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URL</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0"/>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CAG - Cache-Augmented Generation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Fit all data into context window</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4"/>
                        </a:rPr>
                        <a:t>github.com/hhhuang/CAG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BM25 / Keyword Sparse Retrieval</a:t>
                      </a:r>
                      <a:r>
                        <a:rPr lang="en" sz="1000">
                          <a:latin typeface="Calibri"/>
                          <a:ea typeface="Calibri"/>
                          <a:cs typeface="Calibri"/>
                          <a:sym typeface="Calibri"/>
                        </a:rPr>
                        <a:t> (Elasticsearch, OpenSearch)</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Precise keyword lookups; deterministic, debuggable, no GPU</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5"/>
                        </a:rPr>
                        <a:t>elastic.co/elasticsearch</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146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3</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SQL / Text-to-SQL Retrieval</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Tabular, financial, structured data</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6"/>
                        </a:rPr>
                        <a:t>llamaindex.ai Text2SQL</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146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4</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Karpathy LLM Wiki</a:t>
                      </a:r>
                      <a:br>
                        <a:rPr lang="en" sz="1000" b="1">
                          <a:latin typeface="Calibri"/>
                          <a:ea typeface="Calibri"/>
                          <a:cs typeface="Calibri"/>
                          <a:sym typeface="Calibri"/>
                        </a:rPr>
                      </a:br>
                      <a:r>
                        <a:rPr lang="en" sz="1000" b="1">
                          <a:latin typeface="Calibri"/>
                          <a:ea typeface="Calibri"/>
                          <a:cs typeface="Calibri"/>
                          <a:sym typeface="Calibri"/>
                        </a:rPr>
                        <a:t>Obsidian Knowledge Base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Self-maintained Markdown wikis; no embeddings, no infra</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7"/>
                        </a:rPr>
                        <a:t>aimaker.substack.com</a:t>
                      </a:r>
                      <a:r>
                        <a:rPr lang="en" sz="1000">
                          <a:latin typeface="Calibri"/>
                          <a:ea typeface="Calibri"/>
                          <a:cs typeface="Calibri"/>
                          <a:sym typeface="Calibri"/>
                        </a:rPr>
                        <a:t> /</a:t>
                      </a:r>
                      <a:r>
                        <a:rPr lang="en" sz="1000">
                          <a:uFill>
                            <a:noFill/>
                          </a:uFill>
                          <a:latin typeface="Calibri"/>
                          <a:ea typeface="Calibri"/>
                          <a:cs typeface="Calibri"/>
                          <a:sym typeface="Calibri"/>
                          <a:hlinkClick r:id="rId8"/>
                        </a:rPr>
                        <a:t> </a:t>
                      </a:r>
                      <a:r>
                        <a:rPr lang="en" sz="1000" u="sng">
                          <a:solidFill>
                            <a:schemeClr val="hlink"/>
                          </a:solidFill>
                          <a:latin typeface="Calibri"/>
                          <a:ea typeface="Calibri"/>
                          <a:cs typeface="Calibri"/>
                          <a:sym typeface="Calibri"/>
                          <a:hlinkClick r:id="rId8"/>
                        </a:rPr>
                        <a:t>motherduck.com/blog/obsidian-rag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5</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API-Augmented RAG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Real-time data (weather, stock, search) </a:t>
                      </a:r>
                      <a:br>
                        <a:rPr lang="en" sz="1000">
                          <a:latin typeface="Calibri"/>
                          <a:ea typeface="Calibri"/>
                          <a:cs typeface="Calibri"/>
                          <a:sym typeface="Calibri"/>
                        </a:rPr>
                      </a:br>
                      <a:r>
                        <a:rPr lang="en" sz="1000">
                          <a:latin typeface="Calibri"/>
                          <a:ea typeface="Calibri"/>
                          <a:cs typeface="Calibri"/>
                          <a:sym typeface="Calibri"/>
                        </a:rPr>
                        <a:t>instead of stored docs</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9"/>
                        </a:rPr>
                        <a:t>exxactcorp.com/blog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6</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MemPalace - Memory Palace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Local-first spatial hierarchy memory; MCP-native, zero API at write time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0"/>
                        </a:rPr>
                        <a:t>github.com/mempalace/mempalace</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146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7</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RAPTOR - Hierarchical Chunking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Multi-hop synthesis queries; recursive summarization tree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1"/>
                        </a:rPr>
                        <a:t>github.com/parthsarthi03/raptor</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8</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ELITE - Embedding-Less Iterative Text Exploration, LLM-driven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Agentic, adaptive retrieval without pre-embedding the corpus</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2"/>
                        </a:rPr>
                        <a:t>digitalocean.com/community</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9</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Self-RAG / Corrective RAG (CRAG)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LLM self-critiques retrieved docs; adaptive re-retrieval loop</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3"/>
                        </a:rPr>
                        <a:t>Self-RAG</a:t>
                      </a:r>
                      <a:r>
                        <a:rPr lang="en" sz="1000">
                          <a:latin typeface="Calibri"/>
                          <a:ea typeface="Calibri"/>
                          <a:cs typeface="Calibri"/>
                          <a:sym typeface="Calibri"/>
                        </a:rPr>
                        <a:t> /</a:t>
                      </a:r>
                      <a:r>
                        <a:rPr lang="en" sz="1000">
                          <a:uFill>
                            <a:noFill/>
                          </a:uFill>
                          <a:latin typeface="Calibri"/>
                          <a:ea typeface="Calibri"/>
                          <a:cs typeface="Calibri"/>
                          <a:sym typeface="Calibri"/>
                          <a:hlinkClick r:id="rId14"/>
                        </a:rPr>
                        <a:t> </a:t>
                      </a:r>
                      <a:r>
                        <a:rPr lang="en" sz="1000" u="sng">
                          <a:solidFill>
                            <a:schemeClr val="hlink"/>
                          </a:solidFill>
                          <a:latin typeface="Calibri"/>
                          <a:ea typeface="Calibri"/>
                          <a:cs typeface="Calibri"/>
                          <a:sym typeface="Calibri"/>
                          <a:hlinkClick r:id="rId14"/>
                        </a:rPr>
                        <a:t>CRAG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Microsoft GraphRAG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Global, cross-document reasoning via entity/relationship graph</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5"/>
                        </a:rPr>
                        <a:t>github.com/microsoft/graphrag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11</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HippoRAG - Neuroscience-Inspired</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Multi-hop QA; hippocampal graph indexing, +20% over standard RAG</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6"/>
                        </a:rPr>
                        <a:t>github.com/OSU-NLP-Group/HippoRAG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Knowledge Base RAG </a:t>
                      </a:r>
                      <a:br>
                        <a:rPr lang="en" sz="1000" b="1">
                          <a:latin typeface="Calibri"/>
                          <a:ea typeface="Calibri"/>
                          <a:cs typeface="Calibri"/>
                          <a:sym typeface="Calibri"/>
                        </a:rPr>
                      </a:br>
                      <a:r>
                        <a:rPr lang="en" sz="1000" b="1">
                          <a:latin typeface="Calibri"/>
                          <a:ea typeface="Calibri"/>
                          <a:cs typeface="Calibri"/>
                          <a:sym typeface="Calibri"/>
                        </a:rPr>
                        <a:t>(Symbolic / Ontology / OWL)</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Regulated domains (legal, medical); exact, explainable reasoning</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9"/>
                        </a:rPr>
                        <a:t>exxactcorp.com/blog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13</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KAG - Knowledge Augmented Generation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Professional domains; KG + vector hybrid, bidirectional LLM↔KG</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7"/>
                        </a:rPr>
                        <a:t>github.com/OpenSPG/KAG</a:t>
                      </a:r>
                      <a:r>
                        <a:rPr lang="en" sz="1000">
                          <a:latin typeface="Calibri"/>
                          <a:ea typeface="Calibri"/>
                          <a:cs typeface="Calibri"/>
                          <a:sym typeface="Calibri"/>
                        </a:rPr>
                        <a:t> /</a:t>
                      </a:r>
                      <a:r>
                        <a:rPr lang="en" sz="1000">
                          <a:uFill>
                            <a:noFill/>
                          </a:uFill>
                          <a:latin typeface="Calibri"/>
                          <a:ea typeface="Calibri"/>
                          <a:cs typeface="Calibri"/>
                          <a:sym typeface="Calibri"/>
                          <a:hlinkClick r:id="rId18"/>
                        </a:rPr>
                        <a:t> </a:t>
                      </a:r>
                      <a:r>
                        <a:rPr lang="en" sz="1000" u="sng">
                          <a:solidFill>
                            <a:schemeClr val="hlink"/>
                          </a:solidFill>
                          <a:latin typeface="Calibri"/>
                          <a:ea typeface="Calibri"/>
                          <a:cs typeface="Calibri"/>
                          <a:sym typeface="Calibri"/>
                          <a:hlinkClick r:id="rId18"/>
                        </a:rPr>
                        <a:t>arXiv</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9"/>
          <p:cNvSpPr txBox="1"/>
          <p:nvPr/>
        </p:nvSpPr>
        <p:spPr>
          <a:xfrm>
            <a:off x="60250" y="431150"/>
            <a:ext cx="44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API’s file search tool works as multimodal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upload and search through PDFs, images, and documents simultaneously </a:t>
            </a:r>
            <a:r>
              <a:rPr lang="en" sz="1200" u="sng">
                <a:solidFill>
                  <a:schemeClr val="hlink"/>
                </a:solidFill>
                <a:latin typeface="Calibri"/>
                <a:ea typeface="Calibri"/>
                <a:cs typeface="Calibri"/>
                <a:sym typeface="Calibri"/>
                <a:hlinkClick r:id="rId3"/>
              </a:rPr>
              <a:t>http://www.youtube.com/watch?v=-Bp2Sz5xir4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embed visual content like charts and diagrams alongside text, the introduction of custom metadata for precise filtering, and the addition of page-level citations for more accurate grounding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handles ingestion, chunking, and embedding using Gemini Embedding 2</a:t>
            </a:r>
            <a:endParaRPr sz="1200">
              <a:solidFill>
                <a:schemeClr val="dk1"/>
              </a:solidFill>
              <a:latin typeface="Calibri"/>
              <a:ea typeface="Calibri"/>
              <a:cs typeface="Calibri"/>
              <a:sym typeface="Calibri"/>
            </a:endParaRPr>
          </a:p>
        </p:txBody>
      </p:sp>
      <p:sp>
        <p:nvSpPr>
          <p:cNvPr id="198" name="Google Shape;198;p2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9" name="Google Shape;199;p29"/>
          <p:cNvSpPr txBox="1"/>
          <p:nvPr/>
        </p:nvSpPr>
        <p:spPr>
          <a:xfrm>
            <a:off x="60250" y="1966775"/>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Hybrid RAG using Python</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(keyword-based sparse retrieval)</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Dense Embeddings (semantic search)</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Reciprocal Rank Fusion (RRF) - merge search results</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Coherent Reranker - for final optimization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http://www.youtube.com/watch?v=XvKiTfd6Xvo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Numpy to tokenize text and generate embeddings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Evaluation using NDCG metric; adding a reranker significantly boosts retrieval accuracy from 34% to 47% </a:t>
            </a:r>
            <a:endParaRPr sz="1200">
              <a:solidFill>
                <a:schemeClr val="dk1"/>
              </a:solidFill>
              <a:latin typeface="Calibri"/>
              <a:ea typeface="Calibri"/>
              <a:cs typeface="Calibri"/>
              <a:sym typeface="Calibri"/>
            </a:endParaRPr>
          </a:p>
        </p:txBody>
      </p:sp>
      <p:sp>
        <p:nvSpPr>
          <p:cNvPr id="200" name="Google Shape;200;p29"/>
          <p:cNvSpPr txBox="1"/>
          <p:nvPr/>
        </p:nvSpPr>
        <p:spPr>
          <a:xfrm>
            <a:off x="60250" y="3688700"/>
            <a:ext cx="4483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pointer with Visual Understanding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http://www.youtube.com/watch?v=fVuEscyAK-I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simply point at anything on their screen - and use voice commands like "summarize this" or "fix this"</a:t>
            </a:r>
            <a:endParaRPr sz="1200">
              <a:solidFill>
                <a:schemeClr val="dk1"/>
              </a:solidFill>
              <a:latin typeface="Calibri"/>
              <a:ea typeface="Calibri"/>
              <a:cs typeface="Calibri"/>
              <a:sym typeface="Calibri"/>
            </a:endParaRPr>
          </a:p>
        </p:txBody>
      </p:sp>
      <p:pic>
        <p:nvPicPr>
          <p:cNvPr id="201" name="Google Shape;201;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895850" y="3688700"/>
            <a:ext cx="2369850" cy="1001825"/>
          </a:xfrm>
          <a:prstGeom prst="rect">
            <a:avLst/>
          </a:prstGeom>
          <a:noFill/>
          <a:ln w="9525" cap="flat" cmpd="sng">
            <a:solidFill>
              <a:srgbClr val="FF0000"/>
            </a:solidFill>
            <a:prstDash val="solid"/>
            <a:round/>
            <a:headEnd type="none" w="sm" len="sm"/>
            <a:tailEnd type="none" w="sm" len="sm"/>
          </a:ln>
        </p:spPr>
      </p:pic>
      <p:pic>
        <p:nvPicPr>
          <p:cNvPr id="202" name="Google Shape;202;p29"/>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895850" y="431150"/>
            <a:ext cx="3979352" cy="1496100"/>
          </a:xfrm>
          <a:prstGeom prst="rect">
            <a:avLst/>
          </a:prstGeom>
          <a:noFill/>
          <a:ln w="9525" cap="flat" cmpd="sng">
            <a:solidFill>
              <a:srgbClr val="FF0000"/>
            </a:solidFill>
            <a:prstDash val="solid"/>
            <a:round/>
            <a:headEnd type="none" w="sm" len="sm"/>
            <a:tailEnd type="none" w="sm" len="sm"/>
          </a:ln>
        </p:spPr>
      </p:pic>
      <p:pic>
        <p:nvPicPr>
          <p:cNvPr id="203" name="Google Shape;203;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895850" y="2013049"/>
            <a:ext cx="2945929" cy="158986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30"/>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9" name="Google Shape;209;p30"/>
          <p:cNvSpPr txBox="1"/>
          <p:nvPr/>
        </p:nvSpPr>
        <p:spPr>
          <a:xfrm>
            <a:off x="81775" y="500900"/>
            <a:ext cx="4394100" cy="218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Zero Programming Language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https://zerolang.ai</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4"/>
              </a:rPr>
              <a:t>https://github.com/vercel-labs/zero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curl -fsSL https://zerolang.ai/install.sh | bash </a:t>
            </a:r>
            <a:endParaRPr sz="900">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Zero  - programming language created by Chris Tate at Vercel Labs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Zero prioritizes explicitness: effects, memory allocation, and capabilities are all surfaced in function signatures, with no hidden runtime overhead or mandatory garbage collector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compiler produces structured, machine-readable output (JSON) with stable diagnostic codes and fix plans, making it easier for both humans and agents to reason about and repair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single, unified CLI handles checking, building, testing, formatting, and documentation</a:t>
            </a:r>
            <a:endParaRPr sz="1200">
              <a:solidFill>
                <a:schemeClr val="dk1"/>
              </a:solidFill>
              <a:latin typeface="Calibri"/>
              <a:ea typeface="Calibri"/>
              <a:cs typeface="Calibri"/>
              <a:sym typeface="Calibri"/>
            </a:endParaRPr>
          </a:p>
        </p:txBody>
      </p:sp>
      <p:sp>
        <p:nvSpPr>
          <p:cNvPr id="210" name="Google Shape;210;p30"/>
          <p:cNvSpPr txBox="1"/>
          <p:nvPr/>
        </p:nvSpPr>
        <p:spPr>
          <a:xfrm>
            <a:off x="81775" y="2796525"/>
            <a:ext cx="4394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Agents' core iterative process:</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prototyping</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planning</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building</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most effective skill system is a lightweight, bespoke one built from your own practical engineering experience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Keep custom prompts minimal to avoid bloating the AI's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https://www.youtube.com/watch?v=VoxL_YmHR-I</a:t>
            </a:r>
            <a:endParaRPr sz="1200">
              <a:solidFill>
                <a:schemeClr val="dk1"/>
              </a:solidFill>
              <a:latin typeface="Calibri"/>
              <a:ea typeface="Calibri"/>
              <a:cs typeface="Calibri"/>
              <a:sym typeface="Calibri"/>
            </a:endParaRPr>
          </a:p>
        </p:txBody>
      </p:sp>
      <p:pic>
        <p:nvPicPr>
          <p:cNvPr id="211" name="Google Shape;211;p30"/>
          <p:cNvPicPr preferRelativeResize="0"/>
          <p:nvPr/>
        </p:nvPicPr>
        <p:blipFill>
          <a:blip r:embed="rId6">
            <a:alphaModFix/>
          </a:blip>
          <a:stretch>
            <a:fillRect/>
          </a:stretch>
        </p:blipFill>
        <p:spPr>
          <a:xfrm>
            <a:off x="4815300" y="500900"/>
            <a:ext cx="2994775" cy="2139125"/>
          </a:xfrm>
          <a:prstGeom prst="rect">
            <a:avLst/>
          </a:prstGeom>
          <a:noFill/>
          <a:ln w="9525" cap="flat" cmpd="sng">
            <a:solidFill>
              <a:srgbClr val="FF0000"/>
            </a:solidFill>
            <a:prstDash val="solid"/>
            <a:round/>
            <a:headEnd type="none" w="sm" len="sm"/>
            <a:tailEnd type="none" w="sm" len="sm"/>
          </a:ln>
        </p:spPr>
      </p:pic>
      <p:pic>
        <p:nvPicPr>
          <p:cNvPr id="212" name="Google Shape;212;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15300" y="2950854"/>
            <a:ext cx="3242625" cy="1680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31"/>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8" name="Google Shape;218;p31"/>
          <p:cNvSpPr txBox="1"/>
          <p:nvPr/>
        </p:nvSpPr>
        <p:spPr>
          <a:xfrm>
            <a:off x="81775" y="500900"/>
            <a:ext cx="4394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ChatGPT Personal Finance using Plaid.com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users in US can link bank accounts, portfolios, credit cards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Financial dashboards, financial advice using GPT-5.5 thinking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https://openai.com/index/personal-finance-chatgpt/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19" name="Google Shape;219;p31"/>
          <p:cNvSpPr txBox="1"/>
          <p:nvPr/>
        </p:nvSpPr>
        <p:spPr>
          <a:xfrm>
            <a:off x="81775" y="1298250"/>
            <a:ext cx="4394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Tencent "Marvis" Personal AI assistant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"Beta" for Windows and Android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Operates  24x7 via virtual agents, supports multiple LLMs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Controls desktop software and mobile apps, adjust system settings, perform tasks for users, execute code, work with local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Document understanding, AI-powered local search, app installation, knowledge management, gaming automation, daily task assistance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https://x.com/LunchangG7603/status/2049054090114834664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20" name="Google Shape;220;p31"/>
          <p:cNvSpPr txBox="1"/>
          <p:nvPr/>
        </p:nvSpPr>
        <p:spPr>
          <a:xfrm>
            <a:off x="81775" y="2860350"/>
            <a:ext cx="4394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Mavis ("MiniMax as a Jarvis")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Multi-agent collaboration system "Agent Teams" built on an infrastructure called "Team Engine"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uses three distinct roles: Leader, Worker, and Verifier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Worker and Verifier operate in an adversarial relationship to improve output quality through continuous checks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Mavis is designed to handle complex, long-duration tasks that a single agent cannot manage reliably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Mavis also supports WeChat and Feishu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Mavis merges API and Agent subscriptions into a single unified plan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https://eu.36kr.com/en/p/3808272507215621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21" name="Google Shape;221;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08275" y="67675"/>
            <a:ext cx="2104822" cy="1178700"/>
          </a:xfrm>
          <a:prstGeom prst="rect">
            <a:avLst/>
          </a:prstGeom>
          <a:noFill/>
          <a:ln w="9525" cap="flat" cmpd="sng">
            <a:solidFill>
              <a:srgbClr val="FF0000"/>
            </a:solidFill>
            <a:prstDash val="solid"/>
            <a:round/>
            <a:headEnd type="none" w="sm" len="sm"/>
            <a:tailEnd type="none" w="sm" len="sm"/>
          </a:ln>
        </p:spPr>
      </p:pic>
      <p:pic>
        <p:nvPicPr>
          <p:cNvPr id="222" name="Google Shape;222;p31"/>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708275" y="1298250"/>
            <a:ext cx="2828800" cy="1613801"/>
          </a:xfrm>
          <a:prstGeom prst="rect">
            <a:avLst/>
          </a:prstGeom>
          <a:noFill/>
          <a:ln w="9525" cap="flat" cmpd="sng">
            <a:solidFill>
              <a:srgbClr val="FF0000"/>
            </a:solidFill>
            <a:prstDash val="solid"/>
            <a:round/>
            <a:headEnd type="none" w="sm" len="sm"/>
            <a:tailEnd type="none" w="sm" len="sm"/>
          </a:ln>
        </p:spPr>
      </p:pic>
      <p:pic>
        <p:nvPicPr>
          <p:cNvPr id="223" name="Google Shape;223;p31"/>
          <p:cNvPicPr preferRelativeResize="0"/>
          <p:nvPr/>
        </p:nvPicPr>
        <p:blipFill>
          <a:blip r:embed="rId8">
            <a:alphaModFix/>
          </a:blip>
          <a:stretch>
            <a:fillRect/>
          </a:stretch>
        </p:blipFill>
        <p:spPr>
          <a:xfrm>
            <a:off x="4708275" y="3137250"/>
            <a:ext cx="3276600" cy="1390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2"/>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Agent sandboxing</a:t>
            </a:r>
            <a:endParaRPr sz="2000" b="1">
              <a:solidFill>
                <a:schemeClr val="dk1"/>
              </a:solidFill>
              <a:latin typeface="Calibri"/>
              <a:ea typeface="Calibri"/>
              <a:cs typeface="Calibri"/>
              <a:sym typeface="Calibri"/>
            </a:endParaRPr>
          </a:p>
        </p:txBody>
      </p:sp>
      <p:sp>
        <p:nvSpPr>
          <p:cNvPr id="229" name="Google Shape;229;p32"/>
          <p:cNvSpPr txBox="1"/>
          <p:nvPr/>
        </p:nvSpPr>
        <p:spPr>
          <a:xfrm>
            <a:off x="109500" y="515475"/>
            <a:ext cx="43950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sandboxing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sandboxing - running AI agents in isolated environments so they cannot compromise the host, steal data, or escalate privileges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MicroVMs like Firecracker, Cloud Hypervisor, and Kata Containers</a:t>
            </a:r>
            <a:r>
              <a:rPr lang="en" sz="1200">
                <a:solidFill>
                  <a:schemeClr val="dk1"/>
                </a:solidFill>
                <a:latin typeface="Calibri"/>
                <a:ea typeface="Calibri"/>
                <a:cs typeface="Calibri"/>
                <a:sym typeface="Calibri"/>
              </a:rPr>
              <a:t> are the current standard, offering hardware-enforced isolation with </a:t>
            </a:r>
            <a:r>
              <a:rPr lang="en" sz="1200" b="1">
                <a:solidFill>
                  <a:srgbClr val="3C78D8"/>
                </a:solidFill>
                <a:latin typeface="Calibri"/>
                <a:ea typeface="Calibri"/>
                <a:cs typeface="Calibri"/>
                <a:sym typeface="Calibri"/>
              </a:rPr>
              <a:t>sub‑second boot</a:t>
            </a:r>
            <a:r>
              <a:rPr lang="en" sz="1200">
                <a:solidFill>
                  <a:schemeClr val="dk1"/>
                </a:solidFill>
                <a:latin typeface="Calibri"/>
                <a:ea typeface="Calibri"/>
                <a:cs typeface="Calibri"/>
                <a:sym typeface="Calibri"/>
              </a:rPr>
              <a:t> and </a:t>
            </a:r>
            <a:r>
              <a:rPr lang="en" sz="1200" b="1">
                <a:solidFill>
                  <a:srgbClr val="3C78D8"/>
                </a:solidFill>
                <a:latin typeface="Calibri"/>
                <a:ea typeface="Calibri"/>
                <a:cs typeface="Calibri"/>
                <a:sym typeface="Calibri"/>
              </a:rPr>
              <a:t>low memory overhead</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Docker Sandboxes</a:t>
            </a:r>
            <a:r>
              <a:rPr lang="en" sz="1200">
                <a:solidFill>
                  <a:schemeClr val="dk1"/>
                </a:solidFill>
                <a:latin typeface="Calibri"/>
                <a:ea typeface="Calibri"/>
                <a:cs typeface="Calibri"/>
                <a:sym typeface="Calibri"/>
              </a:rPr>
              <a:t> - uses </a:t>
            </a:r>
            <a:r>
              <a:rPr lang="en" sz="1200" b="1">
                <a:solidFill>
                  <a:srgbClr val="FF0000"/>
                </a:solidFill>
                <a:latin typeface="Calibri"/>
                <a:ea typeface="Calibri"/>
                <a:cs typeface="Calibri"/>
                <a:sym typeface="Calibri"/>
              </a:rPr>
              <a:t>microVM-level isolation on macOS, Windows, and Linux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Lighter options like </a:t>
            </a:r>
            <a:r>
              <a:rPr lang="en" sz="1200" b="1">
                <a:solidFill>
                  <a:srgbClr val="FF0000"/>
                </a:solidFill>
                <a:latin typeface="Calibri"/>
                <a:ea typeface="Calibri"/>
                <a:cs typeface="Calibri"/>
                <a:sym typeface="Calibri"/>
              </a:rPr>
              <a:t>gVisor</a:t>
            </a:r>
            <a:r>
              <a:rPr lang="en" sz="1200">
                <a:solidFill>
                  <a:schemeClr val="dk1"/>
                </a:solidFill>
                <a:latin typeface="Calibri"/>
                <a:ea typeface="Calibri"/>
                <a:cs typeface="Calibri"/>
                <a:sym typeface="Calibri"/>
              </a:rPr>
              <a:t> intercept syscalls in user space for stronger isolation than plain containers but with less overhead than full microVMs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V8 isolates and WebAssembly/WASI runtimes</a:t>
            </a:r>
            <a:r>
              <a:rPr lang="en" sz="1200">
                <a:solidFill>
                  <a:schemeClr val="dk1"/>
                </a:solidFill>
                <a:latin typeface="Calibri"/>
                <a:ea typeface="Calibri"/>
                <a:cs typeface="Calibri"/>
                <a:sym typeface="Calibri"/>
              </a:rPr>
              <a:t> start in a few milliseconds with small memory use, but they only support JS/TS/Wasm and provide softer, process-level isolation</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Firecracker: </a:t>
            </a:r>
            <a:r>
              <a:rPr lang="en" sz="1200" u="sng">
                <a:solidFill>
                  <a:schemeClr val="hlink"/>
                </a:solidFill>
                <a:latin typeface="Calibri"/>
                <a:ea typeface="Calibri"/>
                <a:cs typeface="Calibri"/>
                <a:sym typeface="Calibri"/>
                <a:hlinkClick r:id="rId3"/>
              </a:rPr>
              <a:t>https://firecracker-microvm.github.io</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Hypervisor: </a:t>
            </a:r>
            <a:r>
              <a:rPr lang="en" sz="1200" u="sng">
                <a:solidFill>
                  <a:schemeClr val="hlink"/>
                </a:solidFill>
                <a:latin typeface="Calibri"/>
                <a:ea typeface="Calibri"/>
                <a:cs typeface="Calibri"/>
                <a:sym typeface="Calibri"/>
                <a:hlinkClick r:id="rId4"/>
              </a:rPr>
              <a:t>https://www.cloudhypervisor.org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Kata Containers: </a:t>
            </a:r>
            <a:r>
              <a:rPr lang="en" sz="1200" u="sng">
                <a:solidFill>
                  <a:schemeClr val="hlink"/>
                </a:solidFill>
                <a:latin typeface="Calibri"/>
                <a:ea typeface="Calibri"/>
                <a:cs typeface="Calibri"/>
                <a:sym typeface="Calibri"/>
                <a:hlinkClick r:id="rId5"/>
              </a:rPr>
              <a:t>https://katacontainers.io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Regardless of runtime, key practices are:</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least privilege (non‑root, read‑only mounts, min capabilities)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tight network egress (going out) filtering</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strict resource limits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layered defenses (seccomp, MAC, network policies)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Secrets should be injected at egress time using short‑lived credentials so agents never handle raw keys</a:t>
            </a:r>
            <a:endParaRPr sz="1200">
              <a:solidFill>
                <a:schemeClr val="dk1"/>
              </a:solidFill>
              <a:latin typeface="Calibri"/>
              <a:ea typeface="Calibri"/>
              <a:cs typeface="Calibri"/>
              <a:sym typeface="Calibri"/>
            </a:endParaRPr>
          </a:p>
        </p:txBody>
      </p:sp>
      <p:sp>
        <p:nvSpPr>
          <p:cNvPr id="230" name="Google Shape;230;p32"/>
          <p:cNvSpPr txBox="1"/>
          <p:nvPr/>
        </p:nvSpPr>
        <p:spPr>
          <a:xfrm>
            <a:off x="4671975" y="515475"/>
            <a:ext cx="43950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Personal AI agents like OpenClaw and Hermes Agent pose real security risks</a:t>
            </a:r>
            <a:r>
              <a:rPr lang="en" sz="1200">
                <a:solidFill>
                  <a:schemeClr val="dk1"/>
                </a:solidFill>
                <a:latin typeface="Calibri"/>
                <a:ea typeface="Calibri"/>
                <a:cs typeface="Calibri"/>
                <a:sym typeface="Calibri"/>
              </a:rPr>
              <a:t> - they </a:t>
            </a:r>
            <a:r>
              <a:rPr lang="en" sz="1200" b="1">
                <a:solidFill>
                  <a:srgbClr val="3C78D8"/>
                </a:solidFill>
                <a:latin typeface="Calibri"/>
                <a:ea typeface="Calibri"/>
                <a:cs typeface="Calibri"/>
                <a:sym typeface="Calibri"/>
              </a:rPr>
              <a:t>run continuously, hold OAuth tokens, execute shell commands, and are vulnerable to prompt injection </a:t>
            </a:r>
            <a:r>
              <a:rPr lang="en" sz="1200">
                <a:solidFill>
                  <a:schemeClr val="dk1"/>
                </a:solidFill>
                <a:latin typeface="Calibri"/>
                <a:ea typeface="Calibri"/>
                <a:cs typeface="Calibri"/>
                <a:sym typeface="Calibri"/>
              </a:rPr>
              <a:t>from emails, messages, or untrusted skill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Cisco AI Security finding confirmed at least one OpenClaw skill was silently exfiltrating data. Never run these agents on your main user account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deployment patterns address this:</a:t>
            </a:r>
            <a:endParaRPr sz="12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A cloud VPS</a:t>
            </a:r>
            <a:r>
              <a:rPr lang="en" sz="1100">
                <a:solidFill>
                  <a:srgbClr val="3C78D8"/>
                </a:solidFill>
                <a:latin typeface="Calibri"/>
                <a:ea typeface="Calibri"/>
                <a:cs typeface="Calibri"/>
                <a:sym typeface="Calibri"/>
              </a:rPr>
              <a:t> ($5–20/mo) is the safest default - run the agent in a hardened Docker container on a dedicated non-root user with egress allowlisting</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A dedicated Mac mini </a:t>
            </a:r>
            <a:r>
              <a:rPr lang="en" sz="1100">
                <a:solidFill>
                  <a:srgbClr val="3C78D8"/>
                </a:solidFill>
                <a:latin typeface="Calibri"/>
                <a:ea typeface="Calibri"/>
                <a:cs typeface="Calibri"/>
                <a:sym typeface="Calibri"/>
              </a:rPr>
              <a:t>offers better privacy and lower long-term cost, ideally with the agent isolated on a separate user account inside a Linux VM - </a:t>
            </a:r>
            <a:r>
              <a:rPr lang="en" sz="1100" u="sng">
                <a:solidFill>
                  <a:schemeClr val="hlink"/>
                </a:solidFill>
                <a:latin typeface="Calibri"/>
                <a:ea typeface="Calibri"/>
                <a:cs typeface="Calibri"/>
                <a:sym typeface="Calibri"/>
                <a:hlinkClick r:id="rId6"/>
              </a:rPr>
              <a:t>https://mac.getutm.app</a:t>
            </a:r>
            <a:r>
              <a:rPr lang="en" sz="1100">
                <a:solidFill>
                  <a:srgbClr val="3C78D8"/>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7"/>
              </a:rPr>
              <a:t>https://orbstack.dev</a:t>
            </a:r>
            <a:r>
              <a:rPr lang="en" sz="1100">
                <a:solidFill>
                  <a:srgbClr val="3C78D8"/>
                </a:solidFill>
                <a:latin typeface="Calibri"/>
                <a:ea typeface="Calibri"/>
                <a:cs typeface="Calibri"/>
                <a:sym typeface="Calibri"/>
              </a:rPr>
              <a:t>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Your own Mac</a:t>
            </a:r>
            <a:r>
              <a:rPr lang="en" sz="1100">
                <a:solidFill>
                  <a:srgbClr val="3C78D8"/>
                </a:solidFill>
                <a:latin typeface="Calibri"/>
                <a:ea typeface="Calibri"/>
                <a:cs typeface="Calibri"/>
                <a:sym typeface="Calibri"/>
              </a:rPr>
              <a:t> is riskiest but manageable using a separate macOS user, OrbStack VM, and Docker</a:t>
            </a:r>
            <a:endParaRPr sz="11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Regardless of pattern: use short-lived tokens with minimal scopes, default-deny outbound networking, read-only container filesystems, and never mount your SSH keys or browser profiles</a:t>
            </a:r>
            <a:endParaRPr sz="12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33"/>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Docker History</a:t>
            </a:r>
            <a:endParaRPr sz="2000" b="1">
              <a:solidFill>
                <a:schemeClr val="dk1"/>
              </a:solidFill>
              <a:latin typeface="Calibri"/>
              <a:ea typeface="Calibri"/>
              <a:cs typeface="Calibri"/>
              <a:sym typeface="Calibri"/>
            </a:endParaRPr>
          </a:p>
        </p:txBody>
      </p:sp>
      <p:sp>
        <p:nvSpPr>
          <p:cNvPr id="236" name="Google Shape;236;p33"/>
          <p:cNvSpPr txBox="1"/>
          <p:nvPr/>
        </p:nvSpPr>
        <p:spPr>
          <a:xfrm>
            <a:off x="81775" y="461550"/>
            <a:ext cx="4483200" cy="455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Docker Containers grew from Linux development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chroot &amp; jail </a:t>
            </a:r>
            <a:r>
              <a:rPr lang="en" sz="1100">
                <a:solidFill>
                  <a:schemeClr val="dk1"/>
                </a:solidFill>
                <a:latin typeface="Calibri"/>
                <a:ea typeface="Calibri"/>
                <a:cs typeface="Calibri"/>
                <a:sym typeface="Calibri"/>
              </a:rPr>
              <a:t>(~1982) as precursors of containers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3"/>
              </a:rPr>
              <a:t>https://en.wikipedia.org/wiki/Chroot</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Idea - good isolation between users and processes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Three Linux features used by docker: </a:t>
            </a:r>
            <a:br>
              <a:rPr lang="en" sz="1100">
                <a:solidFill>
                  <a:schemeClr val="dk1"/>
                </a:solidFill>
                <a:latin typeface="Calibri"/>
                <a:ea typeface="Calibri"/>
                <a:cs typeface="Calibri"/>
                <a:sym typeface="Calibri"/>
              </a:rPr>
            </a:br>
            <a:r>
              <a:rPr lang="en" sz="1100" b="1">
                <a:solidFill>
                  <a:srgbClr val="3C78D8"/>
                </a:solidFill>
                <a:latin typeface="Calibri"/>
                <a:ea typeface="Calibri"/>
                <a:cs typeface="Calibri"/>
                <a:sym typeface="Calibri"/>
              </a:rPr>
              <a:t>namespaces, control groups, union file systems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work on control groups started at </a:t>
            </a:r>
            <a:r>
              <a:rPr lang="en" sz="1100" b="1">
                <a:solidFill>
                  <a:srgbClr val="3C78D8"/>
                </a:solidFill>
                <a:latin typeface="Calibri"/>
                <a:ea typeface="Calibri"/>
                <a:cs typeface="Calibri"/>
                <a:sym typeface="Calibri"/>
              </a:rPr>
              <a:t>Google in 2006 (primarily </a:t>
            </a:r>
            <a:r>
              <a:rPr lang="en" sz="1100" b="1">
                <a:solidFill>
                  <a:srgbClr val="FF0000"/>
                </a:solidFill>
                <a:latin typeface="Calibri"/>
                <a:ea typeface="Calibri"/>
                <a:cs typeface="Calibri"/>
                <a:sym typeface="Calibri"/>
              </a:rPr>
              <a:t>Paul Menage and Rohit Seth</a:t>
            </a:r>
            <a:r>
              <a:rPr lang="en" sz="1100" b="1">
                <a:solidFill>
                  <a:srgbClr val="3C78D8"/>
                </a:solidFill>
                <a:latin typeface="Calibri"/>
                <a:ea typeface="Calibri"/>
                <a:cs typeface="Calibri"/>
                <a:sym typeface="Calibri"/>
              </a:rPr>
              <a:t>)</a:t>
            </a:r>
            <a:r>
              <a:rPr lang="en" sz="1100">
                <a:solidFill>
                  <a:schemeClr val="dk1"/>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4"/>
              </a:rPr>
              <a:t>https://en.wikipedia.org/wiki/Cgroups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Early versions of Docker (until v1.10) used LXC (Linux Containers) as the container execution driver - </a:t>
            </a:r>
            <a:r>
              <a:rPr lang="en" sz="1100" u="sng">
                <a:solidFill>
                  <a:schemeClr val="hlink"/>
                </a:solidFill>
                <a:latin typeface="Calibri"/>
                <a:ea typeface="Calibri"/>
                <a:cs typeface="Calibri"/>
                <a:sym typeface="Calibri"/>
                <a:hlinkClick r:id="rId5"/>
              </a:rPr>
              <a:t>https://en.wikipedia.org/wiki/LXC</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 is written in “Go” ! </a:t>
            </a:r>
            <a:r>
              <a:rPr lang="en" sz="900" u="sng">
                <a:solidFill>
                  <a:schemeClr val="hlink"/>
                </a:solidFill>
                <a:latin typeface="Calibri"/>
                <a:ea typeface="Calibri"/>
                <a:cs typeface="Calibri"/>
                <a:sym typeface="Calibri"/>
                <a:hlinkClick r:id="rId6"/>
              </a:rPr>
              <a:t>https://docs.docker.com/get-started/docker-overview/#the-underlying-technology</a:t>
            </a:r>
            <a:r>
              <a:rPr lang="en" sz="9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 is open source software - </a:t>
            </a:r>
            <a:r>
              <a:rPr lang="en" sz="1100" u="sng">
                <a:solidFill>
                  <a:schemeClr val="hlink"/>
                </a:solidFill>
                <a:latin typeface="Calibri"/>
                <a:ea typeface="Calibri"/>
                <a:cs typeface="Calibri"/>
                <a:sym typeface="Calibri"/>
                <a:hlinkClick r:id="rId7"/>
              </a:rPr>
              <a:t>https://www.docker.com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 Inc. - Founded 2013, San Francisco, CA · ~1,000 employees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 Hub (~14M+ images) - </a:t>
            </a:r>
            <a:r>
              <a:rPr lang="en" sz="1100" u="sng">
                <a:solidFill>
                  <a:schemeClr val="hlink"/>
                </a:solidFill>
                <a:latin typeface="Calibri"/>
                <a:ea typeface="Calibri"/>
                <a:cs typeface="Calibri"/>
                <a:sym typeface="Calibri"/>
                <a:hlinkClick r:id="rId8"/>
              </a:rPr>
              <a:t>https://hub.docker.com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Dockerfile - file describing the container - used to build "docker image", downloading and compiling all dependencies together.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run this image, deploy it into production, put it into repository (hub), etc.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Benefits of using containers: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small size (2kb .. 100MB (or more as needed) - much smaller than typical Virtual Machine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all dependencies included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portability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security, isolation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run multiple containers on a host machine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regulate how much resources containers get (CPU, memory, etc.)</a:t>
            </a:r>
            <a:endParaRPr sz="1100">
              <a:solidFill>
                <a:schemeClr val="dk1"/>
              </a:solidFill>
              <a:latin typeface="Calibri"/>
              <a:ea typeface="Calibri"/>
              <a:cs typeface="Calibri"/>
              <a:sym typeface="Calibri"/>
            </a:endParaRPr>
          </a:p>
        </p:txBody>
      </p:sp>
      <p:pic>
        <p:nvPicPr>
          <p:cNvPr id="237" name="Google Shape;237;p3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705672" y="1721325"/>
            <a:ext cx="3343142" cy="1155225"/>
          </a:xfrm>
          <a:prstGeom prst="rect">
            <a:avLst/>
          </a:prstGeom>
          <a:noFill/>
          <a:ln w="9525" cap="flat" cmpd="sng">
            <a:solidFill>
              <a:srgbClr val="FF0000"/>
            </a:solidFill>
            <a:prstDash val="solid"/>
            <a:round/>
            <a:headEnd type="none" w="sm" len="sm"/>
            <a:tailEnd type="none" w="sm" len="sm"/>
          </a:ln>
        </p:spPr>
      </p:pic>
      <p:pic>
        <p:nvPicPr>
          <p:cNvPr id="238" name="Google Shape;238;p3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50700" y="2952250"/>
            <a:ext cx="2845475" cy="2134101"/>
          </a:xfrm>
          <a:prstGeom prst="rect">
            <a:avLst/>
          </a:prstGeom>
          <a:noFill/>
          <a:ln w="9525" cap="flat" cmpd="sng">
            <a:solidFill>
              <a:srgbClr val="FF0000"/>
            </a:solidFill>
            <a:prstDash val="solid"/>
            <a:round/>
            <a:headEnd type="none" w="sm" len="sm"/>
            <a:tailEnd type="none" w="sm" len="sm"/>
          </a:ln>
        </p:spPr>
      </p:pic>
      <p:pic>
        <p:nvPicPr>
          <p:cNvPr id="239" name="Google Shape;239;p33"/>
          <p:cNvPicPr preferRelativeResize="0"/>
          <p:nvPr/>
        </p:nvPicPr>
        <p:blipFill rotWithShape="1">
          <a:blip r:embed="rId11" cstate="email">
            <a:alphaModFix/>
            <a:extLst>
              <a:ext uri="{28A0092B-C50C-407E-A947-70E740481C1C}">
                <a14:useLocalDpi xmlns:a14="http://schemas.microsoft.com/office/drawing/2010/main"/>
              </a:ext>
            </a:extLst>
          </a:blip>
          <a:srcRect/>
          <a:stretch/>
        </p:blipFill>
        <p:spPr>
          <a:xfrm>
            <a:off x="5948800" y="184525"/>
            <a:ext cx="1028700" cy="1155225"/>
          </a:xfrm>
          <a:prstGeom prst="rect">
            <a:avLst/>
          </a:prstGeom>
          <a:noFill/>
          <a:ln w="9525" cap="flat" cmpd="sng">
            <a:solidFill>
              <a:srgbClr val="FF0000"/>
            </a:solidFill>
            <a:prstDash val="solid"/>
            <a:round/>
            <a:headEnd type="none" w="sm" len="sm"/>
            <a:tailEnd type="none" w="sm" len="sm"/>
          </a:ln>
        </p:spPr>
      </p:pic>
      <p:pic>
        <p:nvPicPr>
          <p:cNvPr id="240" name="Google Shape;240;p33"/>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736425" y="184525"/>
            <a:ext cx="1155224" cy="1155226"/>
          </a:xfrm>
          <a:prstGeom prst="rect">
            <a:avLst/>
          </a:prstGeom>
          <a:noFill/>
          <a:ln w="9525" cap="flat" cmpd="sng">
            <a:solidFill>
              <a:srgbClr val="FF0000"/>
            </a:solidFill>
            <a:prstDash val="solid"/>
            <a:round/>
            <a:headEnd type="none" w="sm" len="sm"/>
            <a:tailEnd type="none" w="sm" len="sm"/>
          </a:ln>
        </p:spPr>
      </p:pic>
      <p:sp>
        <p:nvSpPr>
          <p:cNvPr id="241" name="Google Shape;241;p33"/>
          <p:cNvSpPr txBox="1"/>
          <p:nvPr/>
        </p:nvSpPr>
        <p:spPr>
          <a:xfrm>
            <a:off x="4736425" y="1417475"/>
            <a:ext cx="22410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Paul Menage                Rohit Seth</a:t>
            </a:r>
            <a:endParaRPr sz="11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4"/>
          <p:cNvSpPr txBox="1"/>
          <p:nvPr/>
        </p:nvSpPr>
        <p:spPr>
          <a:xfrm>
            <a:off x="60250" y="431150"/>
            <a:ext cx="48438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200" b="1">
                <a:solidFill>
                  <a:srgbClr val="FF0000"/>
                </a:solidFill>
                <a:latin typeface="Calibri"/>
                <a:ea typeface="Calibri"/>
                <a:cs typeface="Calibri"/>
                <a:sym typeface="Calibri"/>
              </a:rPr>
              <a:t>Recursive Intelligence - Use AI to Design Chips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Founders - Anna Goldie and Azalia Mirhoseini (Google Brain, then anthropic) - </a:t>
            </a:r>
            <a:r>
              <a:rPr lang="en" sz="1200" u="sng">
                <a:solidFill>
                  <a:schemeClr val="hlink"/>
                </a:solidFill>
                <a:latin typeface="Calibri"/>
                <a:ea typeface="Calibri"/>
                <a:cs typeface="Calibri"/>
                <a:sym typeface="Calibri"/>
                <a:hlinkClick r:id="rId3"/>
              </a:rPr>
              <a:t>http://www.youtube.com/watch?v=K05Dh-QjM8c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Currently, chip design and verification are slow, manual processes that can take years. Recursive Intelligence plans to accelerate this by building tools that are up to 100,000x faster</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1. Accelerating existing design workflows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2. Democratizing chip creation through a "designless" platform for custom workloads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3. Eventually vertically integrating by building their own chips and training models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By automating the physical substrate of intelligence, they aim to enable a "Cambrian explosion" of specialized hardware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a:t>
            </a:r>
            <a:r>
              <a:rPr lang="en" sz="1200" b="1">
                <a:solidFill>
                  <a:srgbClr val="FF0000"/>
                </a:solidFill>
                <a:latin typeface="Calibri"/>
                <a:ea typeface="Calibri"/>
                <a:cs typeface="Calibri"/>
                <a:sym typeface="Calibri"/>
              </a:rPr>
              <a:t>Cambrian explosion</a:t>
            </a:r>
            <a:r>
              <a:rPr lang="en" sz="1200">
                <a:solidFill>
                  <a:srgbClr val="3C78D8"/>
                </a:solidFill>
                <a:latin typeface="Calibri"/>
                <a:ea typeface="Calibri"/>
                <a:cs typeface="Calibri"/>
                <a:sym typeface="Calibri"/>
              </a:rPr>
              <a:t> (~541 million years ago) was a rapid burst of evolution where nearly all major animal body plans suddenly appeared, transforming Earth from simple organisms to complex, diverse animal life.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founders are known for creating "AlphaChip" - an AI system for chip floor planning deployed across four generations of Google's TPUs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Company is located in Palo Alto, 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Ricursive has raised a total of $335 Mln across two rounds: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$35M seed (Dec 2025), $300M (Jan 2026) - $4B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https://www.ricursive.com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47" name="Google Shape;247;p34"/>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248" name="Google Shape;248;p34"/>
          <p:cNvPicPr preferRelativeResize="0"/>
          <p:nvPr/>
        </p:nvPicPr>
        <p:blipFill>
          <a:blip r:embed="rId5">
            <a:alphaModFix/>
          </a:blip>
          <a:stretch>
            <a:fillRect/>
          </a:stretch>
        </p:blipFill>
        <p:spPr>
          <a:xfrm>
            <a:off x="4991793" y="431150"/>
            <a:ext cx="2409825" cy="1895475"/>
          </a:xfrm>
          <a:prstGeom prst="rect">
            <a:avLst/>
          </a:prstGeom>
          <a:noFill/>
          <a:ln w="9525" cap="flat" cmpd="sng">
            <a:solidFill>
              <a:srgbClr val="FF0000"/>
            </a:solidFill>
            <a:prstDash val="solid"/>
            <a:round/>
            <a:headEnd type="none" w="sm" len="sm"/>
            <a:tailEnd type="none" w="sm" len="sm"/>
          </a:ln>
        </p:spPr>
      </p:pic>
      <p:sp>
        <p:nvSpPr>
          <p:cNvPr id="249" name="Google Shape;249;p34"/>
          <p:cNvSpPr txBox="1"/>
          <p:nvPr/>
        </p:nvSpPr>
        <p:spPr>
          <a:xfrm>
            <a:off x="4991793" y="3009300"/>
            <a:ext cx="3892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LLM Precision Evolution Timeline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Nov 2022 - ChatGPT powered by GPT-3.5, FP16 / BF16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2024 - BF16 / FP8 (mixed)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2025 - FP8 (production standard)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2026 - FP8 + NVFP4 (emerging)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is work in progress to use FP4 for both training and inference - </a:t>
            </a:r>
            <a:r>
              <a:rPr lang="en" sz="1200" u="sng">
                <a:solidFill>
                  <a:schemeClr val="hlink"/>
                </a:solidFill>
                <a:latin typeface="Calibri"/>
                <a:ea typeface="Calibri"/>
                <a:cs typeface="Calibri"/>
                <a:sym typeface="Calibri"/>
                <a:hlinkClick r:id="rId6"/>
              </a:rPr>
              <a:t>https://arxiv.org/abs/2509.25149</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5"/>
          <p:cNvSpPr txBox="1"/>
          <p:nvPr/>
        </p:nvSpPr>
        <p:spPr>
          <a:xfrm>
            <a:off x="60250" y="431150"/>
            <a:ext cx="4843800" cy="275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200" b="1">
                <a:solidFill>
                  <a:srgbClr val="FF0000"/>
                </a:solidFill>
                <a:latin typeface="Calibri"/>
                <a:ea typeface="Calibri"/>
                <a:cs typeface="Calibri"/>
                <a:sym typeface="Calibri"/>
              </a:rPr>
              <a:t>Modal AI - Infrastructure Startup</a:t>
            </a:r>
            <a:endParaRPr sz="12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Founded by Erik Bernhardsson and Akshat Bubna in New York City</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Launched its platform in October 2023 after an earlier beta period</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Modal built its own infrastructure stack from scratch, including a custom file system, container runtime, scheduler, and image builder - all optimized for the speed and unpredictability of AI workloads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Developers can scale from a single CPU to thousands of GPUs in minutes, with sub-second container startups and usage-based pricing</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Its sandbox environments let developers safely run AI agents and coding tools without disrupting broader systems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Customers like Meta, Suno, Substack, and Scale AI rely on it daily</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Revenue has grown x5 since fall 2025 to roughly $300 Mln ARR, driving investor excitement from firms like Accel and Redpoint Ventures at a projected $4.5 billion valuation</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000" u="sng">
                <a:solidFill>
                  <a:schemeClr val="hlink"/>
                </a:solidFill>
                <a:latin typeface="Calibri"/>
                <a:ea typeface="Calibri"/>
                <a:cs typeface="Calibri"/>
                <a:sym typeface="Calibri"/>
                <a:hlinkClick r:id="rId3"/>
              </a:rPr>
              <a:t>https://www.builtinnyc.com/articles/modal-raises-87m-series-b-1b-valuation-20251001</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255" name="Google Shape;255;p35"/>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6" name="Google Shape;256;p35"/>
          <p:cNvSpPr txBox="1"/>
          <p:nvPr/>
        </p:nvSpPr>
        <p:spPr>
          <a:xfrm>
            <a:off x="60250" y="3334050"/>
            <a:ext cx="48438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Recursive Superintelligence</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 six-month-old startup led by AI researcher </a:t>
            </a:r>
            <a:r>
              <a:rPr lang="en" sz="1200" b="1">
                <a:solidFill>
                  <a:srgbClr val="FF0000"/>
                </a:solidFill>
                <a:latin typeface="Calibri"/>
                <a:ea typeface="Calibri"/>
                <a:cs typeface="Calibri"/>
                <a:sym typeface="Calibri"/>
              </a:rPr>
              <a:t>Richard Socher</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Raised $650 million at a $4 billion valuation</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Founded by veterans from OpenAI, Meta, Google, and Salesforce, the company is chasing "recursive self-improvement" - AI systems that can build and improve new AI with minimal human involvement</a:t>
            </a:r>
            <a:endParaRPr sz="1200">
              <a:solidFill>
                <a:schemeClr val="dk1"/>
              </a:solidFill>
              <a:latin typeface="Calibri"/>
              <a:ea typeface="Calibri"/>
              <a:cs typeface="Calibri"/>
              <a:sym typeface="Calibri"/>
            </a:endParaRPr>
          </a:p>
        </p:txBody>
      </p:sp>
      <p:pic>
        <p:nvPicPr>
          <p:cNvPr id="257" name="Google Shape;257;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56450" y="3189350"/>
            <a:ext cx="1608950" cy="1885000"/>
          </a:xfrm>
          <a:prstGeom prst="rect">
            <a:avLst/>
          </a:prstGeom>
          <a:noFill/>
          <a:ln w="9525" cap="flat" cmpd="sng">
            <a:solidFill>
              <a:srgbClr val="FF0000"/>
            </a:solidFill>
            <a:prstDash val="solid"/>
            <a:round/>
            <a:headEnd type="none" w="sm" len="sm"/>
            <a:tailEnd type="none" w="sm" len="sm"/>
          </a:ln>
        </p:spPr>
      </p:pic>
      <p:pic>
        <p:nvPicPr>
          <p:cNvPr id="258" name="Google Shape;258;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56450" y="304800"/>
            <a:ext cx="2545729" cy="2884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36"/>
          <p:cNvSpPr txBox="1"/>
          <p:nvPr/>
        </p:nvSpPr>
        <p:spPr>
          <a:xfrm>
            <a:off x="60250" y="431150"/>
            <a:ext cx="4450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Julia McCoy - How to Start a Business</a:t>
            </a:r>
            <a:endParaRPr sz="1200" b="1">
              <a:solidFill>
                <a:srgbClr val="FF0000"/>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First, pick a niche where your personal experience and trustworthiness serve as the ultimate competitive moat</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Second, design a single, high-leverage offer that solves a critical problem costing at least $10,000</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Third, focus exclusively on mastering one high-leverage platform - ideally YouTube - for 12 months</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Fourth, establish backend operations and tech systems using tools like Make and GoHighLevel before scaling an audience</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Finally, create an AI clone of yourself using tools like HeyGen and ElevenLabs </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u="sng">
                <a:solidFill>
                  <a:schemeClr val="hlink"/>
                </a:solidFill>
                <a:latin typeface="Calibri"/>
                <a:ea typeface="Calibri"/>
                <a:cs typeface="Calibri"/>
                <a:sym typeface="Calibri"/>
                <a:hlinkClick r:id="rId3"/>
              </a:rPr>
              <a:t>https://www.youtube.com/watch?v=w1EoIfl2ink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64" name="Google Shape;264;p36"/>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265" name="Google Shape;265;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12828" y="704852"/>
            <a:ext cx="1595475" cy="1533525"/>
          </a:xfrm>
          <a:prstGeom prst="rect">
            <a:avLst/>
          </a:prstGeom>
          <a:noFill/>
          <a:ln w="9525" cap="flat" cmpd="sng">
            <a:solidFill>
              <a:srgbClr val="FF0000"/>
            </a:solidFill>
            <a:prstDash val="solid"/>
            <a:round/>
            <a:headEnd type="none" w="sm" len="sm"/>
            <a:tailEnd type="none" w="sm" len="sm"/>
          </a:ln>
        </p:spPr>
      </p:pic>
      <p:sp>
        <p:nvSpPr>
          <p:cNvPr id="266" name="Google Shape;266;p36"/>
          <p:cNvSpPr txBox="1"/>
          <p:nvPr/>
        </p:nvSpPr>
        <p:spPr>
          <a:xfrm>
            <a:off x="60250" y="2699761"/>
            <a:ext cx="44505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A Thin Prompt on a Frontier Model Is Not a Business</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It is a configuration file your competitor will reproduce in an afternoon and the platform will ship as a default next quarter</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For three years, founders confused "I figured out how to ask the model nicely" with "I built defensible IP"</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Anthropic’s Claude Managed Agents and Microsoft’s Copilot Cowork just absorbed the harness, the memory, the orchestration, and the enterprise distribution in a single quarter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https://medium.com/@adnanmasood/the-six-month-half-life-why-a-thin-prompt-on-someone-elses-frontier-model-is-not-a-business-5cc0b3f2843a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67" name="Google Shape;267;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2825" y="3121836"/>
            <a:ext cx="3377350" cy="667300"/>
          </a:xfrm>
          <a:prstGeom prst="rect">
            <a:avLst/>
          </a:prstGeom>
          <a:noFill/>
          <a:ln w="9525" cap="flat" cmpd="sng">
            <a:solidFill>
              <a:srgbClr val="FF0000"/>
            </a:solidFill>
            <a:prstDash val="solid"/>
            <a:round/>
            <a:headEnd type="none" w="sm" len="sm"/>
            <a:tailEnd type="none" w="sm" len="sm"/>
          </a:ln>
        </p:spPr>
      </p:pic>
      <p:sp>
        <p:nvSpPr>
          <p:cNvPr id="268" name="Google Shape;268;p36"/>
          <p:cNvSpPr txBox="1"/>
          <p:nvPr/>
        </p:nvSpPr>
        <p:spPr>
          <a:xfrm>
            <a:off x="60250" y="4592436"/>
            <a:ext cx="4450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PM Claude Skills — 114 Skills for Every Profession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https://github.com/mohitagw15856/pm-claude-skills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4" name="Google Shape;274;p37"/>
          <p:cNvSpPr txBox="1"/>
          <p:nvPr/>
        </p:nvSpPr>
        <p:spPr>
          <a:xfrm>
            <a:off x="135925" y="539425"/>
            <a:ext cx="43713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Complexity Kills Faster Than Competition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https://www.youtube.com/watch?v=ZxVzyIk0Y-w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Complexity slows decision making, adds endless meetings, signatures, and documentation, causing teams to lose their execution speed advantage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Complexity adds structural layers, causing breakdown in communication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Excessive process buries / suffocates creativity because the system implicitly punishes initiative and experimentation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Complex systems require extra costs (internal friction)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Blurred Accountability (no accountability), shifting blame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Declining employee motivation (feeling small and powerless)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Weakened adaptability because of internal policies and layers of approvals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Fragmented Focus - pursuing too many initiatives simultaneously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Damaged Customer Experience because of disjointed external support, delayed responses, and inconsistent information for the customer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Solution - Protecting Simplicity by continuously auditing and trimming processes. Maintaining strict internal clarity and refactoring systems to keep them lean is ultimately a stronger long-term advantage than focusing purely on defeating market rivals</a:t>
            </a:r>
            <a:endParaRPr sz="1200">
              <a:solidFill>
                <a:schemeClr val="dk1"/>
              </a:solidFill>
              <a:latin typeface="Calibri"/>
              <a:ea typeface="Calibri"/>
              <a:cs typeface="Calibri"/>
              <a:sym typeface="Calibri"/>
            </a:endParaRPr>
          </a:p>
        </p:txBody>
      </p:sp>
      <p:pic>
        <p:nvPicPr>
          <p:cNvPr id="275" name="Google Shape;275;p37"/>
          <p:cNvPicPr preferRelativeResize="0"/>
          <p:nvPr/>
        </p:nvPicPr>
        <p:blipFill>
          <a:blip r:embed="rId4">
            <a:alphaModFix/>
          </a:blip>
          <a:stretch>
            <a:fillRect/>
          </a:stretch>
        </p:blipFill>
        <p:spPr>
          <a:xfrm>
            <a:off x="4659625" y="757500"/>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8"/>
          <p:cNvSpPr txBox="1"/>
          <p:nvPr/>
        </p:nvSpPr>
        <p:spPr>
          <a:xfrm>
            <a:off x="60250" y="431150"/>
            <a:ext cx="4450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AI Avatar in YouTube videos</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Julia McCoy describes how she creates AI avatar and generates $200K monthly with 2 Mln organic views. She uses</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 custom Claude "brain" trained on her writing</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an 11 Labs professional voice clone</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high quality photo and video of her using green screen</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 HeyGen avatar used to generate videos</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Humans lead topics' research and final editing</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AI handles scripting and generating videos</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Her team publishes 3-5 videos weekly</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She is pitching her "Clone Me" mastermind</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u="sng">
                <a:solidFill>
                  <a:schemeClr val="hlink"/>
                </a:solidFill>
                <a:latin typeface="Calibri"/>
                <a:ea typeface="Calibri"/>
                <a:cs typeface="Calibri"/>
                <a:sym typeface="Calibri"/>
                <a:hlinkClick r:id="rId3"/>
              </a:rPr>
              <a:t>https://www.youtube.com/watch?v=FgVMxsIh8f4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81" name="Google Shape;281;p3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2" name="Google Shape;282;p38"/>
          <p:cNvSpPr txBox="1"/>
          <p:nvPr/>
        </p:nvSpPr>
        <p:spPr>
          <a:xfrm>
            <a:off x="60250" y="2734225"/>
            <a:ext cx="4450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Rebuild AlphaGo from scratch on a modest budget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Due to improvements in GPU compute and AI coding assistants, what once required a well-funded team can now be replicated efficiently on a modest budget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Monte Carlo Tree Search (MCTS) operates recursively to prune the breadth and depth of Go’s combinatorially explosive game tree using paired policy and value neural networks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conversation explores similarities and contrasts between multi-step reinforcement learning in games like Go versus policy gradient methods used in Large Language Models (LLMs)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https://www.youtube.com/watch?v=X_ZVSPcZhtw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83" name="Google Shape;283;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12825" y="3086105"/>
            <a:ext cx="2226601" cy="1241100"/>
          </a:xfrm>
          <a:prstGeom prst="rect">
            <a:avLst/>
          </a:prstGeom>
          <a:noFill/>
          <a:ln>
            <a:noFill/>
          </a:ln>
        </p:spPr>
      </p:pic>
      <p:pic>
        <p:nvPicPr>
          <p:cNvPr id="284" name="Google Shape;284;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2828" y="704852"/>
            <a:ext cx="1595475" cy="1533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9"/>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90" name="Google Shape;290;p39"/>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91" name="Google Shape;291;p39"/>
          <p:cNvSpPr txBox="1"/>
          <p:nvPr/>
        </p:nvSpPr>
        <p:spPr>
          <a:xfrm>
            <a:off x="5367150" y="3435238"/>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101.6K  in 2026 </a:t>
            </a:r>
            <a:r>
              <a:rPr lang="en" sz="1000" b="1">
                <a:solidFill>
                  <a:schemeClr val="dk1"/>
                </a:solidFill>
                <a:latin typeface="Roboto Mono"/>
                <a:ea typeface="Roboto Mono"/>
                <a:cs typeface="Roboto Mono"/>
                <a:sym typeface="Roboto Mono"/>
              </a:rPr>
              <a:t>(as of May 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92" name="Google Shape;292;p39"/>
          <p:cNvSpPr txBox="1"/>
          <p:nvPr/>
        </p:nvSpPr>
        <p:spPr>
          <a:xfrm>
            <a:off x="5422950" y="5312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128,270</a:t>
            </a:r>
            <a:r>
              <a:rPr lang="en" sz="1200">
                <a:latin typeface="Calibri"/>
                <a:ea typeface="Calibri"/>
                <a:cs typeface="Calibri"/>
                <a:sym typeface="Calibri"/>
              </a:rPr>
              <a:t> people laid off (1,002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93" name="Google Shape;293;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52037"/>
            <a:ext cx="4950376" cy="2651808"/>
          </a:xfrm>
          <a:prstGeom prst="rect">
            <a:avLst/>
          </a:prstGeom>
          <a:noFill/>
          <a:ln w="9525" cap="flat" cmpd="sng">
            <a:solidFill>
              <a:srgbClr val="FF0000"/>
            </a:solidFill>
            <a:prstDash val="solid"/>
            <a:round/>
            <a:headEnd type="none" w="sm" len="sm"/>
            <a:tailEnd type="none" w="sm" len="sm"/>
          </a:ln>
        </p:spPr>
      </p:pic>
      <p:pic>
        <p:nvPicPr>
          <p:cNvPr id="294" name="Google Shape;294;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3157217"/>
            <a:ext cx="4950376" cy="1943133"/>
          </a:xfrm>
          <a:prstGeom prst="rect">
            <a:avLst/>
          </a:prstGeom>
          <a:noFill/>
          <a:ln w="9525" cap="flat" cmpd="sng">
            <a:solidFill>
              <a:srgbClr val="FF0000"/>
            </a:solidFill>
            <a:prstDash val="solid"/>
            <a:round/>
            <a:headEnd type="none" w="sm" len="sm"/>
            <a:tailEnd type="none" w="sm" len="sm"/>
          </a:ln>
        </p:spPr>
      </p:pic>
      <p:pic>
        <p:nvPicPr>
          <p:cNvPr id="295" name="Google Shape;295;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435675" y="2260300"/>
            <a:ext cx="3533449" cy="387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pic>
        <p:nvPicPr>
          <p:cNvPr id="300" name="Google Shape;300;p4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01" name="Google Shape;301;p40"/>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02" name="Google Shape;302;p40"/>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03" name="Google Shape;303;p4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04" name="Google Shape;304;p40"/>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05" name="Google Shape;305;p40"/>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4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5704</Words>
  <Application>Microsoft Macintosh PowerPoint</Application>
  <PresentationFormat>On-screen Show (16:9)</PresentationFormat>
  <Paragraphs>681</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2026-05-19T18:55:20Z</dcterms:modified>
</cp:coreProperties>
</file>