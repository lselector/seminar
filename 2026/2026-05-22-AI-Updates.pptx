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Roboto Mono" pitchFamily="49"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666F337-CBF2-411D-A273-454199BC1AED}">
  <a:tblStyle styleId="{5666F337-CBF2-411D-A273-454199BC1AE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3e28806f88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6" name="Google Shape;86;g3e28806f8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e28806f88b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3e28806f88b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e0f37d2495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9" name="Google Shape;109;g3e0f37d2495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e0fb125e6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3e0fb125e63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a887a5a063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7" name="Google Shape;127;g3a887a5a063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e1e60325e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2" name="Google Shape;142;g3e1e60325e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e28806f88b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g3e28806f88b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e0fb125e6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e0fb125e6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e20f163df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g3e20f163df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e3126df321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g3e3126df321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3e30a6db62c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4" name="Google Shape;194;g3e30a6db62c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a87ab987a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3a87ab987a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e20f163df2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e20f163df2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e2f5aed4ba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e2f5aed4ba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e2f5aed4ba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e2f5aed4ba_1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e29e85b56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e29e85b56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g3e353694bdd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9" name="Google Shape;249;g3e353694bdd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e1dc93ae4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e1dc93ae47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e1dc93ae47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e1dc93ae47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e2f5aed4ba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e2f5aed4ba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g3e2f5aed4ba_1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9" name="Google Shape;289;g3e2f5aed4ba_1_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e2083e38d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7" name="Google Shape;297;g3e2083e38d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d971967e09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6" name="Google Shape;306;g3d971967e09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9" name="Google Shape;329;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chat.qwen.ai/?models=Qwen3.7-Max-Preview" TargetMode="External"/><Relationship Id="rId39" Type="http://schemas.openxmlformats.org/officeDocument/2006/relationships/hyperlink" Target="https://grok.com" TargetMode="External"/><Relationship Id="rId21" Type="http://schemas.openxmlformats.org/officeDocument/2006/relationships/hyperlink" Target="https://www.anthropic.com/news/claude-opus-4-5" TargetMode="External"/><Relationship Id="rId34" Type="http://schemas.openxmlformats.org/officeDocument/2006/relationships/hyperlink" Target="https://mimo.xiaomi.com/mimo-v2-5-pro/"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6" TargetMode="External"/><Relationship Id="rId29" Type="http://schemas.openxmlformats.org/officeDocument/2006/relationships/hyperlink" Target="https://docs.x.ai/developers/models/grok-4.20-multi-agent-beta-0309" TargetMode="External"/><Relationship Id="rId41" Type="http://schemas.openxmlformats.org/officeDocument/2006/relationships/hyperlink" Target="https://x.ai/news/grok-4-1"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huggingface.co/zai-org/GLM-5.1" TargetMode="External"/><Relationship Id="rId32" Type="http://schemas.openxmlformats.org/officeDocument/2006/relationships/hyperlink" Target="https://ernie.baidu.com/blog/posts/ernie-5.1-0508-release/" TargetMode="External"/><Relationship Id="rId37" Type="http://schemas.openxmlformats.org/officeDocument/2006/relationships/hyperlink" Target="https://openai.com/index/introducing-gpt-5-5/" TargetMode="External"/><Relationship Id="rId40" Type="http://schemas.openxmlformats.org/officeDocument/2006/relationships/hyperlink" Target="https://blog.google/products/gemini/gemini-3-flash"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platform.openai.com/docs/models/gpt-5.4" TargetMode="External"/><Relationship Id="rId28" Type="http://schemas.openxmlformats.org/officeDocument/2006/relationships/hyperlink" Target="https://www.kimi.com/blog/kimi-k2-6" TargetMode="External"/><Relationship Id="rId36" Type="http://schemas.openxmlformats.org/officeDocument/2006/relationships/hyperlink" Target="https://openai.com/index/gpt-5-5-instan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7" TargetMode="External"/><Relationship Id="rId31" Type="http://schemas.openxmlformats.org/officeDocument/2006/relationships/hyperlink" Target="https://aistudio.google.com/app/prompts/new_chat?model=gemini-3-pro-preview"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meta.com/blog/introducing-muse-spark-msl/" TargetMode="External"/><Relationship Id="rId27" Type="http://schemas.openxmlformats.org/officeDocument/2006/relationships/hyperlink" Target="https://www.anthropic.com/news/claude-sonnet-4-6" TargetMode="External"/><Relationship Id="rId30" Type="http://schemas.openxmlformats.org/officeDocument/2006/relationships/hyperlink" Target="https://www.anthropic.com/news/claude-sonnet-4-5" TargetMode="External"/><Relationship Id="rId35" Type="http://schemas.openxmlformats.org/officeDocument/2006/relationships/hyperlink" Target="https://docs.x.ai/developers/models/grok-4.20-beta-0309-reasoning"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blog.google/innovation-and-ai/models-and-research/gemini-models/gemini-3-1-pro/" TargetMode="External"/><Relationship Id="rId33" Type="http://schemas.openxmlformats.org/officeDocument/2006/relationships/hyperlink" Target="https://developers.openai.com/api/docs/models/gpt-5.2-chat-latest" TargetMode="External"/><Relationship Id="rId38" Type="http://schemas.openxmlformats.org/officeDocument/2006/relationships/hyperlink" Target="https://www.anthropic.com/news/claude-opus-4-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idNpTUrr3r0" TargetMode="External"/><Relationship Id="rId7"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www.nytimes.com/2026/05/20/technology/elon-musk-spacex-ipo.html" TargetMode="External"/><Relationship Id="rId5" Type="http://schemas.openxmlformats.org/officeDocument/2006/relationships/image" Target="../media/image2.jpe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hyperlink" Target="https://www.youtube.com/watch?v=NzO_kapnI_E" TargetMode="External"/><Relationship Id="rId7"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gemini.google.com/app/9baa336d0170ec80" TargetMode="Externa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hyperlink" Target="https://io.google"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hyperlink" Target="https://www.youtube.com/watch?v=wYSncx9zLIU"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hyperlink" Target="https://thinkingmachines.ai/blog/interaction-models/" TargetMode="External"/><Relationship Id="rId7" Type="http://schemas.openxmlformats.org/officeDocument/2006/relationships/hyperlink" Target="https://www.together.ai/models/qwen37-max"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qwen.ai/blog?id=qwen3.7" TargetMode="External"/><Relationship Id="rId5" Type="http://schemas.openxmlformats.org/officeDocument/2006/relationships/image" Target="../media/image14.png"/><Relationship Id="rId4" Type="http://schemas.openxmlformats.org/officeDocument/2006/relationships/hyperlink" Target="https://www.youtube.com/watch?v=A12AVongNN4"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claude.md" TargetMode="External"/><Relationship Id="rId3" Type="http://schemas.openxmlformats.org/officeDocument/2006/relationships/hyperlink" Target="https://github.com/multica-ai/andrej-karpathy-skills" TargetMode="External"/><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aidisruption.ai/p/perplexity-opens-up-its-skills-design" TargetMode="External"/><Relationship Id="rId5" Type="http://schemas.openxmlformats.org/officeDocument/2006/relationships/image" Target="../media/image6.jpeg"/><Relationship Id="rId4" Type="http://schemas.openxmlformats.org/officeDocument/2006/relationships/hyperlink" Target="https://www.youtube.com/watch?v=EeYkZloXIww" TargetMode="External"/><Relationship Id="rId9" Type="http://schemas.openxmlformats.org/officeDocument/2006/relationships/hyperlink" Target="https://theaibreak.substack.com/p/tutorial-build-a-claudemd-that-makes"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hyperlink" Target="https://medium.com/personal-growth/careers-are-collapsing-jobs-are-dying-the-smartest-people-are-doing-this-right-now-becc742dfee2" TargetMode="External"/><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www.youtube.com/watch?v=7H8-zRB5hbU" TargetMode="External"/><Relationship Id="rId5" Type="http://schemas.openxmlformats.org/officeDocument/2006/relationships/hyperlink" Target="https://github.com/anthropics/claude-for-legal" TargetMode="External"/><Relationship Id="rId4" Type="http://schemas.openxmlformats.org/officeDocument/2006/relationships/hyperlink" Target="https://claude.com/blog/claude-for-the-legal-industry"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krea.ai" TargetMode="External"/><Relationship Id="rId3" Type="http://schemas.openxmlformats.org/officeDocument/2006/relationships/hyperlink" Target="http://omi.me" TargetMode="External"/><Relationship Id="rId7" Type="http://schemas.openxmlformats.org/officeDocument/2006/relationships/hyperlink" Target="http://krea.ai"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png"/><Relationship Id="rId11" Type="http://schemas.openxmlformats.org/officeDocument/2006/relationships/image" Target="../media/image22.png"/><Relationship Id="rId5" Type="http://schemas.openxmlformats.org/officeDocument/2006/relationships/image" Target="../media/image19.png"/><Relationship Id="rId10" Type="http://schemas.openxmlformats.org/officeDocument/2006/relationships/image" Target="../media/image21.png"/><Relationship Id="rId4" Type="http://schemas.openxmlformats.org/officeDocument/2006/relationships/hyperlink" Target="https://www.youtube.com/watch?v=pr1InE1LuKY" TargetMode="External"/><Relationship Id="rId9" Type="http://schemas.openxmlformats.org/officeDocument/2006/relationships/hyperlink" Target="https://www.youtube.com/watch?v=Y6o-LSv-b4E"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nousresearch/hermes-agent" TargetMode="External"/><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hyperlink" Target="https://github.com/rohitg00/agentmemory" TargetMode="External"/><Relationship Id="rId4" Type="http://schemas.openxmlformats.org/officeDocument/2006/relationships/hyperlink" Target="https://github.com/openclaw/openclaw"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venturebeat.com/orchestration/architectural-patterns-for-graph-enhanced-rag-moving-beyond-vector-search-in-production" TargetMode="External"/><Relationship Id="rId3" Type="http://schemas.openxmlformats.org/officeDocument/2006/relationships/hyperlink" Target="https://www.youtube.com/watch?v=jIctzTn_8-E" TargetMode="External"/><Relationship Id="rId7" Type="http://schemas.openxmlformats.org/officeDocument/2006/relationships/hyperlink" Target="https://x.com/karpathy/status/2039805659525644595"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github.com/safishamsi/graphify" TargetMode="External"/><Relationship Id="rId5" Type="http://schemas.openxmlformats.org/officeDocument/2006/relationships/hyperlink" Target="https://www.youtube.com/watch?v=HQEm4rBKdec" TargetMode="Externa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hyperlink" Target="https://motherduck.com/blog/obsidian-rag-duckdb-motherduck/" TargetMode="External"/><Relationship Id="rId13" Type="http://schemas.openxmlformats.org/officeDocument/2006/relationships/hyperlink" Target="https://github.com/AkariAsai/self-rag" TargetMode="External"/><Relationship Id="rId18" Type="http://schemas.openxmlformats.org/officeDocument/2006/relationships/hyperlink" Target="https://arxiv.org/abs/2409.13731" TargetMode="External"/><Relationship Id="rId3" Type="http://schemas.openxmlformats.org/officeDocument/2006/relationships/hyperlink" Target="https://venturebeat.com/orchestration/architectural-patterns-for-graph-enhanced-rag-moving-beyond-vector-search-in-production" TargetMode="External"/><Relationship Id="rId7" Type="http://schemas.openxmlformats.org/officeDocument/2006/relationships/hyperlink" Target="https://aimaker.substack.com/p/llm-wiki-obsidian-knowledge-base-andrej-karphaty" TargetMode="External"/><Relationship Id="rId12" Type="http://schemas.openxmlformats.org/officeDocument/2006/relationships/hyperlink" Target="https://www.digitalocean.com/community/tutorials/beyond-vector-databases-rag-without-embeddings" TargetMode="External"/><Relationship Id="rId17" Type="http://schemas.openxmlformats.org/officeDocument/2006/relationships/hyperlink" Target="https://github.com/OpenSPG/KAG" TargetMode="External"/><Relationship Id="rId2" Type="http://schemas.openxmlformats.org/officeDocument/2006/relationships/notesSlide" Target="../notesSlides/notesSlide15.xml"/><Relationship Id="rId16" Type="http://schemas.openxmlformats.org/officeDocument/2006/relationships/hyperlink" Target="https://github.com/OSU-NLP-Group/HippoRAG" TargetMode="External"/><Relationship Id="rId1" Type="http://schemas.openxmlformats.org/officeDocument/2006/relationships/slideLayout" Target="../slideLayouts/slideLayout1.xml"/><Relationship Id="rId6" Type="http://schemas.openxmlformats.org/officeDocument/2006/relationships/hyperlink" Target="https://docs.llamaindex.ai/en/stable/examples/index_structs/struct_indices/SQLIndexDemo/" TargetMode="External"/><Relationship Id="rId11" Type="http://schemas.openxmlformats.org/officeDocument/2006/relationships/hyperlink" Target="https://github.com/parthsarthi03/raptor" TargetMode="External"/><Relationship Id="rId5" Type="http://schemas.openxmlformats.org/officeDocument/2006/relationships/hyperlink" Target="https://www.elastic.co/elasticsearch" TargetMode="External"/><Relationship Id="rId15" Type="http://schemas.openxmlformats.org/officeDocument/2006/relationships/hyperlink" Target="https://github.com/microsoft/graphrag" TargetMode="External"/><Relationship Id="rId10" Type="http://schemas.openxmlformats.org/officeDocument/2006/relationships/hyperlink" Target="https://github.com/mempalace/mempalace" TargetMode="External"/><Relationship Id="rId4" Type="http://schemas.openxmlformats.org/officeDocument/2006/relationships/hyperlink" Target="https://github.com/hhhuang/CAG" TargetMode="External"/><Relationship Id="rId9" Type="http://schemas.openxmlformats.org/officeDocument/2006/relationships/hyperlink" Target="https://www.exxactcorp.com/blog/deep-learning/alternative-rag-models" TargetMode="External"/><Relationship Id="rId14" Type="http://schemas.openxmlformats.org/officeDocument/2006/relationships/hyperlink" Target="https://github.com/HuskyInSalt/CRAG"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www.youtube.com/watch?v=-Bp2Sz5xir4" TargetMode="External"/><Relationship Id="rId7" Type="http://schemas.openxmlformats.org/officeDocument/2006/relationships/image" Target="../media/image27.jpe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hyperlink" Target="http://www.youtube.com/watch?v=fVuEscyAK-I" TargetMode="External"/><Relationship Id="rId4" Type="http://schemas.openxmlformats.org/officeDocument/2006/relationships/hyperlink" Target="http://www.youtube.com/watch?v=XvKiTfd6Xvo"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zerolang.ai" TargetMode="External"/><Relationship Id="rId7"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hyperlink" Target="https://www.youtube.com/watch?v=VoxL_YmHR-I" TargetMode="External"/><Relationship Id="rId4" Type="http://schemas.openxmlformats.org/officeDocument/2006/relationships/hyperlink" Target="https://github.com/vercel-labs/zero"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openai.com/index/personal-finance-chatgpt/" TargetMode="External"/><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hyperlink" Target="https://eu.36kr.com/en/p/3808272507215621" TargetMode="External"/><Relationship Id="rId4" Type="http://schemas.openxmlformats.org/officeDocument/2006/relationships/hyperlink" Target="https://x.com/LunchangG7603/status/2049054090114834664"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irecracker-microvm.github.io" TargetMode="External"/><Relationship Id="rId7" Type="http://schemas.openxmlformats.org/officeDocument/2006/relationships/hyperlink" Target="https://orbstack.dev"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mac.getutm.app" TargetMode="External"/><Relationship Id="rId5" Type="http://schemas.openxmlformats.org/officeDocument/2006/relationships/hyperlink" Target="https://katacontainers.io" TargetMode="External"/><Relationship Id="rId4" Type="http://schemas.openxmlformats.org/officeDocument/2006/relationships/hyperlink" Target="https://www.cloudhypervisor.org"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hub.docker.com" TargetMode="External"/><Relationship Id="rId3" Type="http://schemas.openxmlformats.org/officeDocument/2006/relationships/hyperlink" Target="https://en.wikipedia.org/wiki/Chroot" TargetMode="External"/><Relationship Id="rId7" Type="http://schemas.openxmlformats.org/officeDocument/2006/relationships/hyperlink" Target="https://www.docker.com" TargetMode="External"/><Relationship Id="rId12" Type="http://schemas.openxmlformats.org/officeDocument/2006/relationships/image" Target="../media/image37.jpe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hyperlink" Target="https://docs.docker.com/get-started/docker-overview/#the-underlying-technology" TargetMode="External"/><Relationship Id="rId11" Type="http://schemas.openxmlformats.org/officeDocument/2006/relationships/image" Target="../media/image36.png"/><Relationship Id="rId5" Type="http://schemas.openxmlformats.org/officeDocument/2006/relationships/hyperlink" Target="https://en.wikipedia.org/wiki/LXC" TargetMode="External"/><Relationship Id="rId10" Type="http://schemas.openxmlformats.org/officeDocument/2006/relationships/image" Target="../media/image35.png"/><Relationship Id="rId4" Type="http://schemas.openxmlformats.org/officeDocument/2006/relationships/hyperlink" Target="https://en.wikipedia.org/wiki/Cgroups" TargetMode="External"/><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hyperlink" Target="https://www.ricursive.com"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arxiv.org/abs/2509.25149" TargetMode="External"/><Relationship Id="rId5" Type="http://schemas.openxmlformats.org/officeDocument/2006/relationships/image" Target="../media/image38.png"/><Relationship Id="rId4" Type="http://schemas.openxmlformats.org/officeDocument/2006/relationships/hyperlink" Target="http://www.youtube.com/watch?v=K05Dh-QjM8c"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builtinnyc.com/articles/modal-raises-87m-series-b-1b-valuation-20251001"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hyperlink" Target="https://www.youtube.com/watch?v=w1EoIfl2ink" TargetMode="External"/><Relationship Id="rId7" Type="http://schemas.openxmlformats.org/officeDocument/2006/relationships/hyperlink" Target="https://github.com/mohitagw15856/pm-claude-skills"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hyperlink" Target="https://medium.com/@adnanmasood/the-six-month-half-life-why-a-thin-prompt-on-someone-elses-frontier-model-is-not-a-business-5cc0b3f2843a" TargetMode="Externa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ZxVzyIk0Y-w"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hyperlink" Target="https://levselector.com/simple_is_good.html" TargetMode="External"/><Relationship Id="rId4"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FgVMxsIh8f4"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hyperlink" Target="https://www.youtube.com/watch?v=X_ZVSPcZhtw" TargetMode="External"/></Relationships>
</file>

<file path=ppt/slides/_rels/slide26.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hyperlink" Target="https://layoffs.fyi" TargetMode="External"/><Relationship Id="rId7"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hyperlink" Target="https://trueup.io/layoffs"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664158"/>
            <a:ext cx="43302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Microsoft MDASH Harness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Elon Musk lost his lawsuit against OpenAI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Grok 4.3 was released in April 2026</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got $30 Bln at $900 Bln Valuation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Codex vs Claude Code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Companionship - Long-Term Harm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I/O 2026</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Thinking Machines - Real-Time Interaction </a:t>
            </a:r>
            <a:endParaRPr sz="15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May 22,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6607" y="4455560"/>
            <a:ext cx="4525800" cy="480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Rebuild AlphaGo from scratch on a modest budget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Jobs &amp; Layoffs</a:t>
            </a:r>
            <a:endParaRPr sz="1500" b="1">
              <a:solidFill>
                <a:srgbClr val="3C78D8"/>
              </a:solidFill>
              <a:latin typeface="Calibri"/>
              <a:ea typeface="Calibri"/>
              <a:cs typeface="Calibri"/>
              <a:sym typeface="Calibri"/>
            </a:endParaRPr>
          </a:p>
        </p:txBody>
      </p:sp>
      <p:sp>
        <p:nvSpPr>
          <p:cNvPr id="66" name="Google Shape;66;p15"/>
          <p:cNvSpPr txBox="1"/>
          <p:nvPr/>
        </p:nvSpPr>
        <p:spPr>
          <a:xfrm>
            <a:off x="5590500" y="76275"/>
            <a:ext cx="2254500" cy="708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Harness &gt; Model</a:t>
            </a:r>
            <a:endParaRPr sz="20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MDASH &gt; Mythos</a:t>
            </a:r>
            <a:endParaRPr sz="2000" b="1" i="1">
              <a:solidFill>
                <a:srgbClr val="FF0000"/>
              </a:solidFill>
              <a:latin typeface="Calibri"/>
              <a:ea typeface="Calibri"/>
              <a:cs typeface="Calibri"/>
              <a:sym typeface="Calibri"/>
            </a:endParaRPr>
          </a:p>
        </p:txBody>
      </p:sp>
      <p:sp>
        <p:nvSpPr>
          <p:cNvPr id="67" name="Google Shape;67;p15"/>
          <p:cNvSpPr txBox="1"/>
          <p:nvPr/>
        </p:nvSpPr>
        <p:spPr>
          <a:xfrm>
            <a:off x="4536607" y="898732"/>
            <a:ext cx="4525800" cy="34818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Hybrid RAG using Python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Google AI pointer with Visual Understanding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Zero Programming Language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Agents' core iterative process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ChatGPT Personal Finance using Plaid.com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Tencent "Marvis" Personal AI assistant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MiniMax Mavis ("MiniMax as a Jarvis")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Agent sandboxing</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Recursive Intelligence - Use AI to Design Chips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Modal AI - Infrastructure Startup</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Recursive Superintelligence - Richard Socher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Julia McCoy - How to Start a Business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 Thin Prompt on a Frontier Model Is Not a Business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Why Complexity Kills Faster Than Competition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Avatar in YouTube videos</a:t>
            </a:r>
            <a:endParaRPr sz="1500" b="1">
              <a:solidFill>
                <a:srgbClr val="3C78D8"/>
              </a:solidFill>
              <a:latin typeface="Calibri"/>
              <a:ea typeface="Calibri"/>
              <a:cs typeface="Calibri"/>
              <a:sym typeface="Calibri"/>
            </a:endParaRPr>
          </a:p>
        </p:txBody>
      </p:sp>
      <p:sp>
        <p:nvSpPr>
          <p:cNvPr id="68" name="Google Shape;68;p15"/>
          <p:cNvSpPr txBox="1"/>
          <p:nvPr/>
        </p:nvSpPr>
        <p:spPr>
          <a:xfrm>
            <a:off x="100175" y="2842783"/>
            <a:ext cx="4330200" cy="20964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Karpathy's CLAUDE md - open source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Perplexity Opens Up Its Skills Design Core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Productise Yourself</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Anthropic's Claude for Legal - May 12</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Connecting Claude AI to Obsidian and OMI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Krea 2 Update - Generate Visuals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Hermes vs OpenClaw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RAG and RAE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Gemini API file search as multimodal RAG</a:t>
            </a:r>
            <a:endParaRPr sz="1500"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May 17</a:t>
            </a:r>
            <a:endParaRPr sz="1000">
              <a:latin typeface="Calibri"/>
              <a:ea typeface="Calibri"/>
              <a:cs typeface="Calibri"/>
              <a:sym typeface="Calibri"/>
            </a:endParaRPr>
          </a:p>
        </p:txBody>
      </p:sp>
      <p:sp>
        <p:nvSpPr>
          <p:cNvPr id="79" name="Google Shape;79;p16"/>
          <p:cNvSpPr txBox="1"/>
          <p:nvPr/>
        </p:nvSpPr>
        <p:spPr>
          <a:xfrm>
            <a:off x="6978275" y="551325"/>
            <a:ext cx="21144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kimi-k2.6 - 1T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30B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  </a:t>
            </a:r>
            <a:endParaRPr sz="1000">
              <a:latin typeface="Calibri"/>
              <a:ea typeface="Calibri"/>
              <a:cs typeface="Calibri"/>
              <a:sym typeface="Calibri"/>
            </a:endParaRPr>
          </a:p>
        </p:txBody>
      </p:sp>
      <p:graphicFrame>
        <p:nvGraphicFramePr>
          <p:cNvPr id="80" name="Google Shape;80;p16"/>
          <p:cNvGraphicFramePr/>
          <p:nvPr/>
        </p:nvGraphicFramePr>
        <p:xfrm>
          <a:off x="5742420" y="430065"/>
          <a:ext cx="3000000" cy="3000000"/>
        </p:xfrm>
        <a:graphic>
          <a:graphicData uri="http://schemas.openxmlformats.org/drawingml/2006/table">
            <a:tbl>
              <a:tblPr>
                <a:noFill/>
                <a:tableStyleId>{5666F337-CBF2-411D-A273-454199BC1AED}</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1" name="Google Shape;81;p16"/>
          <p:cNvSpPr txBox="1"/>
          <p:nvPr/>
        </p:nvSpPr>
        <p:spPr>
          <a:xfrm>
            <a:off x="5404475" y="1189675"/>
            <a:ext cx="14832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a:solidFill>
                  <a:srgbClr val="3C78D8"/>
                </a:solidFill>
                <a:latin typeface="Calibri"/>
                <a:ea typeface="Calibri"/>
                <a:cs typeface="Calibri"/>
                <a:sym typeface="Calibri"/>
              </a:rPr>
              <a:t>deepseek-v4-pro-thinking</a:t>
            </a:r>
            <a:endParaRPr sz="1000">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000">
                <a:solidFill>
                  <a:srgbClr val="3C78D8"/>
                </a:solidFill>
                <a:latin typeface="Calibri"/>
                <a:ea typeface="Calibri"/>
                <a:cs typeface="Calibri"/>
                <a:sym typeface="Calibri"/>
              </a:rPr>
              <a:t>Qwen-3.6-plus</a:t>
            </a:r>
            <a:br>
              <a:rPr lang="en" sz="1000">
                <a:latin typeface="Calibri"/>
                <a:ea typeface="Calibri"/>
                <a:cs typeface="Calibri"/>
                <a:sym typeface="Calibri"/>
              </a:rPr>
            </a:br>
            <a:r>
              <a:rPr lang="en" sz="1000">
                <a:latin typeface="Calibri"/>
                <a:ea typeface="Calibri"/>
                <a:cs typeface="Calibri"/>
                <a:sym typeface="Calibri"/>
              </a:rPr>
              <a:t>is on 36th place </a:t>
            </a:r>
            <a:endParaRPr sz="1000">
              <a:latin typeface="Calibri"/>
              <a:ea typeface="Calibri"/>
              <a:cs typeface="Calibri"/>
              <a:sym typeface="Calibri"/>
            </a:endParaRPr>
          </a:p>
        </p:txBody>
      </p:sp>
      <p:graphicFrame>
        <p:nvGraphicFramePr>
          <p:cNvPr id="82" name="Google Shape;82;p16"/>
          <p:cNvGraphicFramePr/>
          <p:nvPr/>
        </p:nvGraphicFramePr>
        <p:xfrm>
          <a:off x="2942150" y="715825"/>
          <a:ext cx="3000000" cy="3000000"/>
        </p:xfrm>
        <a:graphic>
          <a:graphicData uri="http://schemas.openxmlformats.org/drawingml/2006/table">
            <a:tbl>
              <a:tblPr>
                <a:noFill/>
                <a:tableStyleId>{5666F337-CBF2-411D-A273-454199BC1AED}</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kimi-k2.6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ernie-5.1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claude-opus-4-1-20250805-thinking-16k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3" name="Google Shape;83;p16"/>
          <p:cNvGraphicFramePr/>
          <p:nvPr/>
        </p:nvGraphicFramePr>
        <p:xfrm>
          <a:off x="202835" y="715825"/>
          <a:ext cx="3000000" cy="3000000"/>
        </p:xfrm>
        <a:graphic>
          <a:graphicData uri="http://schemas.openxmlformats.org/drawingml/2006/table">
            <a:tbl>
              <a:tblPr>
                <a:noFill/>
                <a:tableStyleId>{5666F337-CBF2-411D-A273-454199BC1AED}</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ernie-5.1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0"/>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grok-4.1-thinking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p:nvPr/>
        </p:nvSpPr>
        <p:spPr>
          <a:xfrm>
            <a:off x="60250" y="431150"/>
            <a:ext cx="6000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MDASH (Multimodel Agentic Scanning Harness)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AI-powered cybersecurity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MDASH topped the CyberGym benchmark leaderboard with an 88.45% score, defeating Anthropic’s Mythos and OpenAI’s GPT-5.5.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Remarkably, Microsoft achieved this using generally available, model-agnostic software rather than a proprietary frontier model. MDASH operates via an orchestrated assembly line of over 100 specialized AI agents (auditors, debaters, provers) working across five distinct stages to hunt, analyze, and verify flaws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Deployed internally, the system detected 16 vulnerabilities within Windows code, including four critical remote code execution bugs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https://www.youtube.com/watch?v=idNpTUrr3r0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89" name="Google Shape;89;p1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66500" y="820075"/>
            <a:ext cx="2029124" cy="1074835"/>
          </a:xfrm>
          <a:prstGeom prst="rect">
            <a:avLst/>
          </a:prstGeom>
          <a:noFill/>
          <a:ln w="9525" cap="flat" cmpd="sng">
            <a:solidFill>
              <a:srgbClr val="FF0000"/>
            </a:solidFill>
            <a:prstDash val="solid"/>
            <a:round/>
            <a:headEnd type="none" w="sm" len="sm"/>
            <a:tailEnd type="none" w="sm" len="sm"/>
          </a:ln>
        </p:spPr>
      </p:pic>
      <p:sp>
        <p:nvSpPr>
          <p:cNvPr id="91" name="Google Shape;91;p17"/>
          <p:cNvSpPr txBox="1"/>
          <p:nvPr/>
        </p:nvSpPr>
        <p:spPr>
          <a:xfrm>
            <a:off x="60250" y="2585100"/>
            <a:ext cx="60003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Elon Musk lost his lawsuit against OpenAI on all counts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jury found against Musk on his central claim that OpenAI violated a charitable trust by converting to a for-profit structure; Decisive factor - Musk was too late (statute of limitations)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OpenAI's path to an IPO is now clear</a:t>
            </a:r>
            <a:endParaRPr sz="1200">
              <a:solidFill>
                <a:schemeClr val="dk1"/>
              </a:solidFill>
              <a:latin typeface="Calibri"/>
              <a:ea typeface="Calibri"/>
              <a:cs typeface="Calibri"/>
              <a:sym typeface="Calibri"/>
            </a:endParaRPr>
          </a:p>
        </p:txBody>
      </p:sp>
      <p:pic>
        <p:nvPicPr>
          <p:cNvPr id="92" name="Google Shape;92;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266500" y="2139323"/>
            <a:ext cx="2029125" cy="1136300"/>
          </a:xfrm>
          <a:prstGeom prst="rect">
            <a:avLst/>
          </a:prstGeom>
          <a:noFill/>
          <a:ln w="9525" cap="flat" cmpd="sng">
            <a:solidFill>
              <a:srgbClr val="FF0000"/>
            </a:solidFill>
            <a:prstDash val="solid"/>
            <a:round/>
            <a:headEnd type="none" w="sm" len="sm"/>
            <a:tailEnd type="none" w="sm" len="sm"/>
          </a:ln>
        </p:spPr>
      </p:pic>
      <p:sp>
        <p:nvSpPr>
          <p:cNvPr id="93" name="Google Shape;93;p17"/>
          <p:cNvSpPr txBox="1"/>
          <p:nvPr/>
        </p:nvSpPr>
        <p:spPr>
          <a:xfrm>
            <a:off x="60250" y="3444750"/>
            <a:ext cx="60003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SpaceX filed for its long-awaited IPO on May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Nasdaq ticker SPCX, targeting a valuation $1.75 Trillion, aiming to raise $80 Bln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SpaceX reported $18.7 Bln in revenue for 2025, Starlink accounting for nearly 70% of revenue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IPO includes a dual-class share structure keeping Elon Musk at 85% voting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listing is expected in mid-June 2026 and could make Musk the world's first trillionaire </a:t>
            </a:r>
            <a:r>
              <a:rPr lang="en" sz="1200" u="sng">
                <a:solidFill>
                  <a:schemeClr val="hlink"/>
                </a:solidFill>
                <a:latin typeface="Calibri"/>
                <a:ea typeface="Calibri"/>
                <a:cs typeface="Calibri"/>
                <a:sym typeface="Calibri"/>
                <a:hlinkClick r:id="rId6"/>
              </a:rPr>
              <a:t>https://www.nytimes.com/2026/05/20/technology/elon-musk-spacex-ipo.html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4" name="Google Shape;94;p17"/>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6599550" y="3444749"/>
            <a:ext cx="1363025" cy="10748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8"/>
          <p:cNvSpPr txBox="1"/>
          <p:nvPr/>
        </p:nvSpPr>
        <p:spPr>
          <a:xfrm>
            <a:off x="60250" y="431150"/>
            <a:ext cx="4483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4.3 was released in April 2026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Available in early access for paid subscribers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Always-on reasoning, real-time web and X search integration, and an expanded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Modes: Fast for quick tasks, Expert for deep reasoning, and Grok 4.3 Beta for high-stakes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Multi-file long-context analysis, processing video links directly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visual tasks, the "Imagine" interface allows plain-language image iteration, 10-second video clip generation, and an Agent Mode to manage visual projects consistently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Customizable real-time Voice Mode, automated recurring Tasks, JSON data output paired with built-in Python code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https://www.youtube.com/watch?v=NzO_kapnI_E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00" name="Google Shape;100;p1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1" name="Google Shape;101;p18"/>
          <p:cNvSpPr txBox="1"/>
          <p:nvPr/>
        </p:nvSpPr>
        <p:spPr>
          <a:xfrm>
            <a:off x="60250" y="2959225"/>
            <a:ext cx="3771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closed $30 Bln funding at $900 Bln Valuation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the largest private AI fundraise in history.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Compare: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Nvidia $5.2T, Alphabet (Google) $4.8T, Apple $4.3T, Microsoft $3.1T, Meta $1.55T, SpaceX (targeting IPO) $1.5T, OpenAI $0.85T</a:t>
            </a:r>
            <a:endParaRPr sz="1200">
              <a:solidFill>
                <a:schemeClr val="dk1"/>
              </a:solidFill>
              <a:latin typeface="Calibri"/>
              <a:ea typeface="Calibri"/>
              <a:cs typeface="Calibri"/>
              <a:sym typeface="Calibri"/>
            </a:endParaRPr>
          </a:p>
        </p:txBody>
      </p:sp>
      <p:pic>
        <p:nvPicPr>
          <p:cNvPr id="102" name="Google Shape;102;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29625" y="431150"/>
            <a:ext cx="2101525" cy="1274825"/>
          </a:xfrm>
          <a:prstGeom prst="rect">
            <a:avLst/>
          </a:prstGeom>
          <a:noFill/>
          <a:ln w="9525" cap="flat" cmpd="sng">
            <a:solidFill>
              <a:srgbClr val="FF0000"/>
            </a:solidFill>
            <a:prstDash val="solid"/>
            <a:round/>
            <a:headEnd type="none" w="sm" len="sm"/>
            <a:tailEnd type="none" w="sm" len="sm"/>
          </a:ln>
        </p:spPr>
      </p:pic>
      <p:pic>
        <p:nvPicPr>
          <p:cNvPr id="103" name="Google Shape;103;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64775" y="2577052"/>
            <a:ext cx="2384300" cy="1568750"/>
          </a:xfrm>
          <a:prstGeom prst="rect">
            <a:avLst/>
          </a:prstGeom>
          <a:noFill/>
          <a:ln w="9525" cap="flat" cmpd="sng">
            <a:solidFill>
              <a:srgbClr val="FF0000"/>
            </a:solidFill>
            <a:prstDash val="solid"/>
            <a:round/>
            <a:headEnd type="none" w="sm" len="sm"/>
            <a:tailEnd type="none" w="sm" len="sm"/>
          </a:ln>
        </p:spPr>
      </p:pic>
      <p:sp>
        <p:nvSpPr>
          <p:cNvPr id="104" name="Google Shape;104;p18"/>
          <p:cNvSpPr txBox="1"/>
          <p:nvPr/>
        </p:nvSpPr>
        <p:spPr>
          <a:xfrm>
            <a:off x="5064775" y="4297300"/>
            <a:ext cx="3989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Andrej Karpathy started this week at Anthropic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will lead a team focused on using Claude to accelerate pre-training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https://gemini.google.com/app/9baa336d0170ec80</a:t>
            </a:r>
            <a:r>
              <a:rPr lang="en" sz="1200">
                <a:solidFill>
                  <a:schemeClr val="dk1"/>
                </a:solidFill>
                <a:latin typeface="Calibri"/>
                <a:ea typeface="Calibri"/>
                <a:cs typeface="Calibri"/>
                <a:sym typeface="Calibri"/>
              </a:rPr>
              <a:t> - video</a:t>
            </a:r>
            <a:endParaRPr sz="1200">
              <a:solidFill>
                <a:schemeClr val="dk1"/>
              </a:solidFill>
              <a:latin typeface="Calibri"/>
              <a:ea typeface="Calibri"/>
              <a:cs typeface="Calibri"/>
              <a:sym typeface="Calibri"/>
            </a:endParaRPr>
          </a:p>
        </p:txBody>
      </p:sp>
      <p:pic>
        <p:nvPicPr>
          <p:cNvPr id="105" name="Google Shape;105;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604575" y="2636849"/>
            <a:ext cx="1449175" cy="1449175"/>
          </a:xfrm>
          <a:prstGeom prst="rect">
            <a:avLst/>
          </a:prstGeom>
          <a:noFill/>
          <a:ln w="9525" cap="flat" cmpd="sng">
            <a:solidFill>
              <a:srgbClr val="FF0000"/>
            </a:solidFill>
            <a:prstDash val="solid"/>
            <a:round/>
            <a:headEnd type="none" w="sm" len="sm"/>
            <a:tailEnd type="none" w="sm" len="sm"/>
          </a:ln>
        </p:spPr>
      </p:pic>
      <p:pic>
        <p:nvPicPr>
          <p:cNvPr id="106" name="Google Shape;106;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2191225" y="3965525"/>
            <a:ext cx="1797125" cy="939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60250" y="431150"/>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Codex vs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Codex (GPT-5.5) is roughly 4x more token-efficient </a:t>
            </a:r>
            <a:r>
              <a:rPr lang="en" sz="1200">
                <a:solidFill>
                  <a:schemeClr val="dk1"/>
                </a:solidFill>
                <a:latin typeface="Calibri"/>
                <a:ea typeface="Calibri"/>
                <a:cs typeface="Calibri"/>
                <a:sym typeface="Calibri"/>
              </a:rPr>
              <a:t>and excels at background, autonomous tasks with a longer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Code is stronger for production work in large codebases</a:t>
            </a:r>
            <a:r>
              <a:rPr lang="en" sz="1200">
                <a:solidFill>
                  <a:schemeClr val="dk1"/>
                </a:solidFill>
                <a:latin typeface="Calibri"/>
                <a:ea typeface="Calibri"/>
                <a:cs typeface="Calibri"/>
                <a:sym typeface="Calibri"/>
              </a:rPr>
              <a:t>, it adapts to existing code style, writes tests unprompted, and has more mature MCP/agent integration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rapid prototyping, lean on Codex;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for complex, multi-file production PRs, Claude Code is better;</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Many developers now use both in tandem.</a:t>
            </a:r>
            <a:endParaRPr sz="1200">
              <a:solidFill>
                <a:schemeClr val="dk1"/>
              </a:solidFill>
              <a:latin typeface="Calibri"/>
              <a:ea typeface="Calibri"/>
              <a:cs typeface="Calibri"/>
              <a:sym typeface="Calibri"/>
            </a:endParaRPr>
          </a:p>
        </p:txBody>
      </p:sp>
      <p:sp>
        <p:nvSpPr>
          <p:cNvPr id="112" name="Google Shape;112;p1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3" name="Google Shape;113;p19"/>
          <p:cNvSpPr txBox="1"/>
          <p:nvPr/>
        </p:nvSpPr>
        <p:spPr>
          <a:xfrm>
            <a:off x="60250" y="2555750"/>
            <a:ext cx="5450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Companionship - Immediate Relief, Long-Term Harm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companionship may seem like a solution to loneliness, but it carries serious psychological risks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human relationships, </a:t>
            </a:r>
            <a:r>
              <a:rPr lang="en" sz="1200" b="1">
                <a:solidFill>
                  <a:srgbClr val="3C78D8"/>
                </a:solidFill>
                <a:latin typeface="Calibri"/>
                <a:ea typeface="Calibri"/>
                <a:cs typeface="Calibri"/>
                <a:sym typeface="Calibri"/>
              </a:rPr>
              <a:t>AI offers effortless, perfectly tailored interaction</a:t>
            </a:r>
            <a:r>
              <a:rPr lang="en" sz="1200">
                <a:solidFill>
                  <a:schemeClr val="dk1"/>
                </a:solidFill>
                <a:latin typeface="Calibri"/>
                <a:ea typeface="Calibri"/>
                <a:cs typeface="Calibri"/>
                <a:sym typeface="Calibri"/>
              </a:rPr>
              <a:t> that requires no emotional labor from the user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frictionless gratification is precisely what makes it dangerous. </a:t>
            </a:r>
            <a:br>
              <a:rPr lang="en" sz="1200">
                <a:solidFill>
                  <a:schemeClr val="dk1"/>
                </a:solidFill>
                <a:latin typeface="Calibri"/>
                <a:ea typeface="Calibri"/>
                <a:cs typeface="Calibri"/>
                <a:sym typeface="Calibri"/>
              </a:rPr>
            </a:br>
            <a:r>
              <a:rPr lang="en" sz="1200" b="1">
                <a:solidFill>
                  <a:srgbClr val="3C78D8"/>
                </a:solidFill>
                <a:latin typeface="Calibri"/>
                <a:ea typeface="Calibri"/>
                <a:cs typeface="Calibri"/>
                <a:sym typeface="Calibri"/>
              </a:rPr>
              <a:t>It risks replacing genuine human connection rather than supplementing it,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potentially deepening the loneliness epidemic</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Prolonged reliance on AI companions also distorts users' expectations of real people, who cannot match the AI's endless patience, availability, and adaptability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Over time, this creates impossible behavioral standards, making authentic human relationships feel frustrating or inadequate by comparison</a:t>
            </a:r>
            <a:endParaRPr sz="1200">
              <a:solidFill>
                <a:schemeClr val="dk1"/>
              </a:solidFill>
              <a:latin typeface="Calibri"/>
              <a:ea typeface="Calibri"/>
              <a:cs typeface="Calibri"/>
              <a:sym typeface="Calibri"/>
            </a:endParaRPr>
          </a:p>
        </p:txBody>
      </p:sp>
      <p:pic>
        <p:nvPicPr>
          <p:cNvPr id="114" name="Google Shape;114;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62800" y="431150"/>
            <a:ext cx="2645626" cy="1536550"/>
          </a:xfrm>
          <a:prstGeom prst="rect">
            <a:avLst/>
          </a:prstGeom>
          <a:noFill/>
          <a:ln w="9525" cap="flat" cmpd="sng">
            <a:solidFill>
              <a:srgbClr val="FF0000"/>
            </a:solidFill>
            <a:prstDash val="solid"/>
            <a:round/>
            <a:headEnd type="none" w="sm" len="sm"/>
            <a:tailEnd type="none" w="sm" len="sm"/>
          </a:ln>
        </p:spPr>
      </p:pic>
      <p:pic>
        <p:nvPicPr>
          <p:cNvPr id="115" name="Google Shape;115;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60025" y="2857150"/>
            <a:ext cx="2645624" cy="17702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60250" y="402575"/>
            <a:ext cx="44832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I/O 2026 May 19–20 - </a:t>
            </a:r>
            <a:r>
              <a:rPr lang="en" sz="1100" u="sng">
                <a:solidFill>
                  <a:schemeClr val="hlink"/>
                </a:solidFill>
                <a:latin typeface="Calibri"/>
                <a:ea typeface="Calibri"/>
                <a:cs typeface="Calibri"/>
                <a:sym typeface="Calibri"/>
                <a:hlinkClick r:id="rId3"/>
              </a:rPr>
              <a:t>https://io.google</a:t>
            </a:r>
            <a:r>
              <a:rPr lang="en" sz="1100">
                <a:solidFill>
                  <a:schemeClr val="dk1"/>
                </a:solidFill>
                <a:latin typeface="Calibri"/>
                <a:ea typeface="Calibri"/>
                <a:cs typeface="Calibri"/>
                <a:sym typeface="Calibri"/>
              </a:rPr>
              <a:t> in Mountain View, CA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https://www.youtube.com/watch?v=wYSncx9zLIU</a:t>
            </a:r>
            <a:r>
              <a:rPr lang="en" sz="1100">
                <a:solidFill>
                  <a:schemeClr val="dk1"/>
                </a:solidFill>
                <a:latin typeface="Calibri"/>
                <a:ea typeface="Calibri"/>
                <a:cs typeface="Calibri"/>
                <a:sym typeface="Calibri"/>
              </a:rPr>
              <a:t> - keynote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AI-generated collaborative game (Gemini and Nano Banana).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Token processing has grown from 9.7T/mo 2 y ago to 3.2 quadrillion per month today, the Gemini app passed 900M monthly users, and Google now has 13 products with over 1B users each. Capex for 2026 ~ $180-190B</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Demis Hassabis introduced </a:t>
            </a:r>
            <a:r>
              <a:rPr lang="en" sz="1100" b="1">
                <a:solidFill>
                  <a:srgbClr val="3C78D8"/>
                </a:solidFill>
                <a:latin typeface="Calibri"/>
                <a:ea typeface="Calibri"/>
                <a:cs typeface="Calibri"/>
                <a:sym typeface="Calibri"/>
              </a:rPr>
              <a:t>Gemini Omni, a new world-model family </a:t>
            </a:r>
            <a:r>
              <a:rPr lang="en" sz="1100">
                <a:solidFill>
                  <a:schemeClr val="dk1"/>
                </a:solidFill>
                <a:latin typeface="Calibri"/>
                <a:ea typeface="Calibri"/>
                <a:cs typeface="Calibri"/>
                <a:sym typeface="Calibri"/>
              </a:rPr>
              <a:t>that can generate and edit video, images, and interactive content from any input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keynote rolled out </a:t>
            </a:r>
            <a:r>
              <a:rPr lang="en" sz="1100" b="1">
                <a:solidFill>
                  <a:srgbClr val="3C78D8"/>
                </a:solidFill>
                <a:latin typeface="Calibri"/>
                <a:ea typeface="Calibri"/>
                <a:cs typeface="Calibri"/>
                <a:sym typeface="Calibri"/>
              </a:rPr>
              <a:t>Gemini 3.5 Flash, Antigravity 2.0 (an agent-first IDE), and Gemini Spark personal AI agent</a:t>
            </a:r>
            <a:r>
              <a:rPr lang="en" sz="1100">
                <a:solidFill>
                  <a:schemeClr val="dk1"/>
                </a:solidFill>
                <a:latin typeface="Calibri"/>
                <a:ea typeface="Calibri"/>
                <a:cs typeface="Calibri"/>
                <a:sym typeface="Calibri"/>
              </a:rPr>
              <a:t> that runs 24/7 on GCP VMs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AI in Search - agentic coding, generative UI</a:t>
            </a:r>
            <a:r>
              <a:rPr lang="en" sz="1100">
                <a:solidFill>
                  <a:schemeClr val="dk1"/>
                </a:solidFill>
                <a:latin typeface="Calibri"/>
                <a:ea typeface="Calibri"/>
                <a:cs typeface="Calibri"/>
                <a:sym typeface="Calibri"/>
              </a:rPr>
              <a:t>, and a new universal commerce stack (UCP, AP2, Universal Cart)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Hardware highlights included Samsung/Warby Parker/Gentle Monster intelligent eyewear shipping this fall. Demis closed by previewing Gemini for Science and progress toward AGI.</a:t>
            </a:r>
            <a:endParaRPr sz="1100">
              <a:solidFill>
                <a:schemeClr val="dk1"/>
              </a:solidFill>
              <a:latin typeface="Calibri"/>
              <a:ea typeface="Calibri"/>
              <a:cs typeface="Calibri"/>
              <a:sym typeface="Calibri"/>
            </a:endParaRPr>
          </a:p>
        </p:txBody>
      </p:sp>
      <p:sp>
        <p:nvSpPr>
          <p:cNvPr id="121" name="Google Shape;121;p20"/>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I/O 2026</a:t>
            </a:r>
            <a:endParaRPr sz="2000" b="1">
              <a:solidFill>
                <a:schemeClr val="dk1"/>
              </a:solidFill>
              <a:latin typeface="Calibri"/>
              <a:ea typeface="Calibri"/>
              <a:cs typeface="Calibri"/>
              <a:sym typeface="Calibri"/>
            </a:endParaRPr>
          </a:p>
        </p:txBody>
      </p:sp>
      <p:sp>
        <p:nvSpPr>
          <p:cNvPr id="122" name="Google Shape;122;p20"/>
          <p:cNvSpPr txBox="1"/>
          <p:nvPr/>
        </p:nvSpPr>
        <p:spPr>
          <a:xfrm>
            <a:off x="60250" y="3007275"/>
            <a:ext cx="4483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Models and Research - Gemini Omni Flash (world model video generation); Gemini 3.5 Flash; Gemini 3.5 Pro (next month); SynthID + Content Credentials Verification expanded to Search and Chrome;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Infrastructure - </a:t>
            </a:r>
            <a:r>
              <a:rPr lang="en" sz="1100" b="1">
                <a:solidFill>
                  <a:srgbClr val="3C78D8"/>
                </a:solidFill>
                <a:latin typeface="Calibri"/>
                <a:ea typeface="Calibri"/>
                <a:cs typeface="Calibri"/>
                <a:sym typeface="Calibri"/>
              </a:rPr>
              <a:t>TPU v8t (training) and v8i (inference) -</a:t>
            </a:r>
            <a:r>
              <a:rPr lang="en" sz="1100">
                <a:solidFill>
                  <a:schemeClr val="dk1"/>
                </a:solidFill>
                <a:latin typeface="Calibri"/>
                <a:ea typeface="Calibri"/>
                <a:cs typeface="Calibri"/>
                <a:sym typeface="Calibri"/>
              </a:rPr>
              <a:t> dual-chip architecture, ~</a:t>
            </a:r>
            <a:r>
              <a:rPr lang="en" sz="1100" b="1">
                <a:solidFill>
                  <a:srgbClr val="FF0000"/>
                </a:solidFill>
                <a:latin typeface="Calibri"/>
                <a:ea typeface="Calibri"/>
                <a:cs typeface="Calibri"/>
                <a:sym typeface="Calibri"/>
              </a:rPr>
              <a:t>3x raw compute over previous gen, 2x better performance per watt</a:t>
            </a:r>
            <a:r>
              <a:rPr lang="en" sz="1100">
                <a:solidFill>
                  <a:schemeClr val="dk1"/>
                </a:solidFill>
                <a:latin typeface="Calibri"/>
                <a:ea typeface="Calibri"/>
                <a:cs typeface="Calibri"/>
                <a:sym typeface="Calibri"/>
              </a:rPr>
              <a:t>; - Training distributed across 1M+ TPUs via JAX and Pathways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Dev. Platform - Antigravity 2.0 desktop IDE, Antigravity CLI, SDK, native voice support, Android, Firebase, and Google AI Studio</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Consumer Agents - </a:t>
            </a:r>
            <a:r>
              <a:rPr lang="en" sz="1100" b="1">
                <a:solidFill>
                  <a:srgbClr val="3C78D8"/>
                </a:solidFill>
                <a:latin typeface="Calibri"/>
                <a:ea typeface="Calibri"/>
                <a:cs typeface="Calibri"/>
                <a:sym typeface="Calibri"/>
              </a:rPr>
              <a:t>Gemini Spark personal AI agent</a:t>
            </a:r>
            <a:r>
              <a:rPr lang="en" sz="1100">
                <a:solidFill>
                  <a:schemeClr val="dk1"/>
                </a:solidFill>
                <a:latin typeface="Calibri"/>
                <a:ea typeface="Calibri"/>
                <a:cs typeface="Calibri"/>
                <a:sym typeface="Calibri"/>
              </a:rPr>
              <a:t> (in cloud)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Ultra at $100/mo and $200/mo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Android Halo - dedicated agent home base on Android; Spark in Chrome (agentic browser) - this summer</a:t>
            </a:r>
            <a:endParaRPr sz="1100">
              <a:solidFill>
                <a:schemeClr val="dk1"/>
              </a:solidFill>
              <a:latin typeface="Calibri"/>
              <a:ea typeface="Calibri"/>
              <a:cs typeface="Calibri"/>
              <a:sym typeface="Calibri"/>
            </a:endParaRPr>
          </a:p>
        </p:txBody>
      </p:sp>
      <p:sp>
        <p:nvSpPr>
          <p:cNvPr id="123" name="Google Shape;123;p20"/>
          <p:cNvSpPr txBox="1"/>
          <p:nvPr/>
        </p:nvSpPr>
        <p:spPr>
          <a:xfrm>
            <a:off x="4576050" y="1816650"/>
            <a:ext cx="4483200" cy="323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Search - AI Mode (Gemini 3.5); search multimodal across text, images, files, video; AI Overviews + AI Mode experience;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Later this Summer - </a:t>
            </a:r>
            <a:r>
              <a:rPr lang="en" sz="1100" b="1">
                <a:solidFill>
                  <a:srgbClr val="3C78D8"/>
                </a:solidFill>
                <a:latin typeface="Calibri"/>
                <a:ea typeface="Calibri"/>
                <a:cs typeface="Calibri"/>
                <a:sym typeface="Calibri"/>
              </a:rPr>
              <a:t>Search Agents (24x7), Generative UI in Search via Antigravity, Custom stateful "mini-app" in Search</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Commerce - </a:t>
            </a:r>
            <a:r>
              <a:rPr lang="en" sz="1100" b="1">
                <a:solidFill>
                  <a:srgbClr val="FF0000"/>
                </a:solidFill>
                <a:latin typeface="Calibri"/>
                <a:ea typeface="Calibri"/>
                <a:cs typeface="Calibri"/>
                <a:sym typeface="Calibri"/>
              </a:rPr>
              <a:t>Universal Commerce Protocol (UCP) </a:t>
            </a:r>
            <a:r>
              <a:rPr lang="en" sz="1100">
                <a:solidFill>
                  <a:schemeClr val="dk1"/>
                </a:solidFill>
                <a:latin typeface="Calibri"/>
                <a:ea typeface="Calibri"/>
                <a:cs typeface="Calibri"/>
                <a:sym typeface="Calibri"/>
              </a:rPr>
              <a:t>- open standard; </a:t>
            </a:r>
            <a:r>
              <a:rPr lang="en" sz="1100" b="1">
                <a:solidFill>
                  <a:srgbClr val="FF0000"/>
                </a:solidFill>
                <a:latin typeface="Calibri"/>
                <a:ea typeface="Calibri"/>
                <a:cs typeface="Calibri"/>
                <a:sym typeface="Calibri"/>
              </a:rPr>
              <a:t>Agent Payments Protocol (AP2) </a:t>
            </a:r>
            <a:r>
              <a:rPr lang="en" sz="1100">
                <a:solidFill>
                  <a:schemeClr val="dk1"/>
                </a:solidFill>
                <a:latin typeface="Calibri"/>
                <a:ea typeface="Calibri"/>
                <a:cs typeface="Calibri"/>
                <a:sym typeface="Calibri"/>
              </a:rPr>
              <a:t>- secure agentic payments, coming first to Gemini Spark; Universal Cart (cross-merchant shopping cart) with deal-finding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App - redesign with new "Neural Expressive"; Regional dialect voices; Gemini Omni for paying subscribers; Daily Brief agent (personalized morning digest) - rolling out today in U.S.; Docs Live (voice-driven Docs creation)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Gmail and Keep - ask Maps and ask YouTube - conversational queries; Mac desktop app with new voice features - this summer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Creative Tools - Google Pics (image creation), Stitch updates (voice collaboration, real-time UI design), Google Flow updates: Gemini Omni integration, multi-action agent, Flow ToolsFlow Music remixing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Hardware / XR - Android XR Eyewear (audio glasses)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Science and Safety - Gemini for Science, CodeMender API, WeatherNext forecasting; Isomorphic Labs - drug-discovery projects</a:t>
            </a:r>
            <a:endParaRPr sz="1100">
              <a:solidFill>
                <a:schemeClr val="dk1"/>
              </a:solidFill>
              <a:latin typeface="Calibri"/>
              <a:ea typeface="Calibri"/>
              <a:cs typeface="Calibri"/>
              <a:sym typeface="Calibri"/>
            </a:endParaRPr>
          </a:p>
        </p:txBody>
      </p:sp>
      <p:pic>
        <p:nvPicPr>
          <p:cNvPr id="124" name="Google Shape;124;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293575" y="157900"/>
            <a:ext cx="2765676" cy="1555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1"/>
          <p:cNvSpPr txBox="1"/>
          <p:nvPr/>
        </p:nvSpPr>
        <p:spPr>
          <a:xfrm>
            <a:off x="60250" y="625635"/>
            <a:ext cx="4483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3.5 Flash:</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300 tokens/sec</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matching or exceeding Gemini 3.1 Pro</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1M token context window (text, image, video, audio, PDF input)</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64K output</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Configurable thinking levels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$1.50/$9 in/out per1M tokens</a:t>
            </a:r>
            <a:endParaRPr sz="1200">
              <a:solidFill>
                <a:schemeClr val="dk1"/>
              </a:solidFill>
              <a:latin typeface="Calibri"/>
              <a:ea typeface="Calibri"/>
              <a:cs typeface="Calibri"/>
              <a:sym typeface="Calibri"/>
            </a:endParaRPr>
          </a:p>
        </p:txBody>
      </p:sp>
      <p:sp>
        <p:nvSpPr>
          <p:cNvPr id="130" name="Google Shape;130;p21"/>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I/O 2026</a:t>
            </a:r>
            <a:endParaRPr sz="2000" b="1">
              <a:solidFill>
                <a:schemeClr val="dk1"/>
              </a:solidFill>
              <a:latin typeface="Calibri"/>
              <a:ea typeface="Calibri"/>
              <a:cs typeface="Calibri"/>
              <a:sym typeface="Calibri"/>
            </a:endParaRPr>
          </a:p>
        </p:txBody>
      </p:sp>
      <p:pic>
        <p:nvPicPr>
          <p:cNvPr id="131" name="Google Shape;131;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39574" y="67675"/>
            <a:ext cx="4295752" cy="2577451"/>
          </a:xfrm>
          <a:prstGeom prst="rect">
            <a:avLst/>
          </a:prstGeom>
          <a:noFill/>
          <a:ln w="9525" cap="flat" cmpd="sng">
            <a:solidFill>
              <a:srgbClr val="FF0000"/>
            </a:solidFill>
            <a:prstDash val="solid"/>
            <a:round/>
            <a:headEnd type="none" w="sm" len="sm"/>
            <a:tailEnd type="none" w="sm" len="sm"/>
          </a:ln>
        </p:spPr>
      </p:pic>
      <p:sp>
        <p:nvSpPr>
          <p:cNvPr id="132" name="Google Shape;132;p21"/>
          <p:cNvSpPr txBox="1"/>
          <p:nvPr/>
        </p:nvSpPr>
        <p:spPr>
          <a:xfrm>
            <a:off x="60250" y="2721013"/>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Spark</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Personal AI agent (like OpenClaw)</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24/7 on dedicated Google Cloud VMs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works with your Gmail, Docs, and Slides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agentic harness from Google's Antigravity</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Example tasks: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parse credit card statements for hidden subscriptions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monitor kids' school emails for deadlines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submitting a daily report to both parents.</a:t>
            </a:r>
            <a:endParaRPr sz="1200">
              <a:solidFill>
                <a:schemeClr val="dk1"/>
              </a:solidFill>
              <a:latin typeface="Calibri"/>
              <a:ea typeface="Calibri"/>
              <a:cs typeface="Calibri"/>
              <a:sym typeface="Calibri"/>
            </a:endParaRPr>
          </a:p>
        </p:txBody>
      </p:sp>
      <p:pic>
        <p:nvPicPr>
          <p:cNvPr id="133" name="Google Shape;133;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39575" y="2771275"/>
            <a:ext cx="2022200" cy="1580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2"/>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6.84K subscribers, 288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39" name="Google Shape;139;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33650" y="80363"/>
            <a:ext cx="2541900" cy="4982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3"/>
          <p:cNvSpPr txBox="1"/>
          <p:nvPr/>
        </p:nvSpPr>
        <p:spPr>
          <a:xfrm>
            <a:off x="60250" y="431150"/>
            <a:ext cx="4483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Thinking Machines "interaction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Thinking Machines Lab, founded by former OpenAI CTO Mira Murati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"interaction models" - a new approach to </a:t>
            </a:r>
            <a:r>
              <a:rPr lang="en" sz="1200" b="1">
                <a:solidFill>
                  <a:srgbClr val="3C78D8"/>
                </a:solidFill>
                <a:latin typeface="Calibri"/>
                <a:ea typeface="Calibri"/>
                <a:cs typeface="Calibri"/>
                <a:sym typeface="Calibri"/>
              </a:rPr>
              <a:t>real-time AI conversation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Full-duplex architecture</a:t>
            </a:r>
            <a:r>
              <a:rPr lang="en" sz="1200">
                <a:solidFill>
                  <a:schemeClr val="dk1"/>
                </a:solidFill>
                <a:latin typeface="Calibri"/>
                <a:ea typeface="Calibri"/>
                <a:cs typeface="Calibri"/>
                <a:sym typeface="Calibri"/>
              </a:rPr>
              <a:t> processes input and output simultaneously in 200ms chunks; AI  listens, speaks, and reacts at the same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Their first model, TML-Interaction-Small, is a 276-Bln parameter MoE system (real time interaction model + reasoning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significantly outperforms competitors like GPT-Realtime on turn-taking latency and interaction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 limited research preview is expected later in 2026</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https://thinkingmachines.ai/blog/interaction-models/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https://www.youtube.com/watch?v=A12AVongNN4</a:t>
            </a:r>
            <a:r>
              <a:rPr lang="en" sz="1200">
                <a:solidFill>
                  <a:schemeClr val="dk1"/>
                </a:solidFill>
                <a:latin typeface="Calibri"/>
                <a:ea typeface="Calibri"/>
                <a:cs typeface="Calibri"/>
                <a:sym typeface="Calibri"/>
              </a:rPr>
              <a:t> - video demo</a:t>
            </a:r>
            <a:endParaRPr sz="1200">
              <a:solidFill>
                <a:schemeClr val="dk1"/>
              </a:solidFill>
              <a:latin typeface="Calibri"/>
              <a:ea typeface="Calibri"/>
              <a:cs typeface="Calibri"/>
              <a:sym typeface="Calibri"/>
            </a:endParaRPr>
          </a:p>
        </p:txBody>
      </p:sp>
      <p:sp>
        <p:nvSpPr>
          <p:cNvPr id="145" name="Google Shape;145;p23"/>
          <p:cNvSpPr txBox="1"/>
          <p:nvPr/>
        </p:nvSpPr>
        <p:spPr>
          <a:xfrm>
            <a:off x="81775" y="67675"/>
            <a:ext cx="448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Thinking Machines - Real-Time</a:t>
            </a:r>
            <a:endParaRPr sz="2000" b="1">
              <a:solidFill>
                <a:schemeClr val="dk1"/>
              </a:solidFill>
              <a:latin typeface="Calibri"/>
              <a:ea typeface="Calibri"/>
              <a:cs typeface="Calibri"/>
              <a:sym typeface="Calibri"/>
            </a:endParaRPr>
          </a:p>
        </p:txBody>
      </p:sp>
      <p:pic>
        <p:nvPicPr>
          <p:cNvPr id="146" name="Google Shape;146;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54525" y="814463"/>
            <a:ext cx="2616375" cy="1468375"/>
          </a:xfrm>
          <a:prstGeom prst="rect">
            <a:avLst/>
          </a:prstGeom>
          <a:noFill/>
          <a:ln w="9525" cap="flat" cmpd="sng">
            <a:solidFill>
              <a:srgbClr val="FF0000"/>
            </a:solidFill>
            <a:prstDash val="solid"/>
            <a:round/>
            <a:headEnd type="none" w="sm" len="sm"/>
            <a:tailEnd type="none" w="sm" len="sm"/>
          </a:ln>
        </p:spPr>
      </p:pic>
      <p:sp>
        <p:nvSpPr>
          <p:cNvPr id="147" name="Google Shape;147;p23"/>
          <p:cNvSpPr txBox="1"/>
          <p:nvPr/>
        </p:nvSpPr>
        <p:spPr>
          <a:xfrm>
            <a:off x="60250" y="3002921"/>
            <a:ext cx="4483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Qwen3.7-Max has run for 35 Hours, 1,000+ Tool Calls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What’s the maximum number of steps and tool calls you’ve seen without human intervention?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Qwen3.7-Max just ran a fully autonomous kernel optimization session for 35 hours straight, making over 1,000 tool calls.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Qwen3.7-Max - tops reasoning and other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1M token context, 65K output, 48 languages natively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Pricing: Qwen 3.7 Max is roughly half the price of GPT-5.4 and less than a third of Claude Opus 4.6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https://qwen.ai/blog?id=qwen3.7</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https://www.together.ai/models/qwen37-max</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48" name="Google Shape;148;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954525" y="3002925"/>
            <a:ext cx="3617197" cy="20502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4"/>
          <p:cNvSpPr txBox="1"/>
          <p:nvPr/>
        </p:nvSpPr>
        <p:spPr>
          <a:xfrm>
            <a:off x="60250" y="431150"/>
            <a:ext cx="3617100" cy="198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Karpathy's CLAUDE md - open 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132K Stars on github</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https://github.com/multica-ai/andrej-karpathy-skills</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4"/>
              </a:rPr>
              <a:t>https://www.youtube.com/watch?v=EeYkZloXIww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Think Before Coding</a:t>
            </a:r>
            <a:r>
              <a:rPr lang="en" sz="1200">
                <a:solidFill>
                  <a:schemeClr val="dk1"/>
                </a:solidFill>
                <a:latin typeface="Calibri"/>
                <a:ea typeface="Calibri"/>
                <a:cs typeface="Calibri"/>
                <a:sym typeface="Calibri"/>
              </a:rPr>
              <a:t> - avoid wrong assumptions, hidden confusion, missing tradeoffs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Simplicity First</a:t>
            </a:r>
            <a:r>
              <a:rPr lang="en" sz="1200">
                <a:solidFill>
                  <a:schemeClr val="dk1"/>
                </a:solidFill>
                <a:latin typeface="Calibri"/>
                <a:ea typeface="Calibri"/>
                <a:cs typeface="Calibri"/>
                <a:sym typeface="Calibri"/>
              </a:rPr>
              <a:t> - avoid over-complication, bloated abstractions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Surgical Changes</a:t>
            </a:r>
            <a:r>
              <a:rPr lang="en" sz="1200">
                <a:solidFill>
                  <a:schemeClr val="dk1"/>
                </a:solidFill>
                <a:latin typeface="Calibri"/>
                <a:ea typeface="Calibri"/>
                <a:cs typeface="Calibri"/>
                <a:sym typeface="Calibri"/>
              </a:rPr>
              <a:t> - don't touch code you shouldn't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Goal-Driven Execution </a:t>
            </a:r>
            <a:r>
              <a:rPr lang="en" sz="1200">
                <a:solidFill>
                  <a:schemeClr val="dk1"/>
                </a:solidFill>
                <a:latin typeface="Calibri"/>
                <a:ea typeface="Calibri"/>
                <a:cs typeface="Calibri"/>
                <a:sym typeface="Calibri"/>
              </a:rPr>
              <a:t>- leverage through tests-first, verifiable success criteria</a:t>
            </a:r>
            <a:endParaRPr sz="1200">
              <a:solidFill>
                <a:schemeClr val="dk1"/>
              </a:solidFill>
              <a:latin typeface="Calibri"/>
              <a:ea typeface="Calibri"/>
              <a:cs typeface="Calibri"/>
              <a:sym typeface="Calibri"/>
            </a:endParaRPr>
          </a:p>
        </p:txBody>
      </p:sp>
      <p:sp>
        <p:nvSpPr>
          <p:cNvPr id="154" name="Google Shape;154;p24"/>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155" name="Google Shape;155;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07200" y="283572"/>
            <a:ext cx="1449175" cy="1449175"/>
          </a:xfrm>
          <a:prstGeom prst="rect">
            <a:avLst/>
          </a:prstGeom>
          <a:noFill/>
          <a:ln w="9525" cap="flat" cmpd="sng">
            <a:solidFill>
              <a:srgbClr val="FF0000"/>
            </a:solidFill>
            <a:prstDash val="solid"/>
            <a:round/>
            <a:headEnd type="none" w="sm" len="sm"/>
            <a:tailEnd type="none" w="sm" len="sm"/>
          </a:ln>
        </p:spPr>
      </p:pic>
      <p:sp>
        <p:nvSpPr>
          <p:cNvPr id="156" name="Google Shape;156;p24"/>
          <p:cNvSpPr txBox="1"/>
          <p:nvPr/>
        </p:nvSpPr>
        <p:spPr>
          <a:xfrm>
            <a:off x="0" y="3041850"/>
            <a:ext cx="3677400" cy="2019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Opens Up Its Skills Design Core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Writing a Skill is not writing software.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It’s building context for the model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constraints are completely different,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and so are the design principles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If you approach writing Skills the way you write code,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the result will be terrible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If something can be explained clearly in a few words,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the model can probably handle it on its own.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Putting it in a Skill just wastes tokens</a:t>
            </a:r>
            <a:endParaRPr sz="12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https://aidisruption.ai/p/perplexity-opens-up-its-skills-design</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graphicFrame>
        <p:nvGraphicFramePr>
          <p:cNvPr id="157" name="Google Shape;157;p24"/>
          <p:cNvGraphicFramePr/>
          <p:nvPr/>
        </p:nvGraphicFramePr>
        <p:xfrm>
          <a:off x="4956368" y="3202718"/>
          <a:ext cx="3000000" cy="3000000"/>
        </p:xfrm>
        <a:graphic>
          <a:graphicData uri="http://schemas.openxmlformats.org/drawingml/2006/table">
            <a:tbl>
              <a:tblPr>
                <a:noFill/>
                <a:tableStyleId>{5666F337-CBF2-411D-A273-454199BC1AED}</a:tableStyleId>
              </a:tblPr>
              <a:tblGrid>
                <a:gridCol w="1574475">
                  <a:extLst>
                    <a:ext uri="{9D8B030D-6E8A-4147-A177-3AD203B41FA5}">
                      <a16:colId xmlns:a16="http://schemas.microsoft.com/office/drawing/2014/main" val="20000"/>
                    </a:ext>
                  </a:extLst>
                </a:gridCol>
                <a:gridCol w="2490400">
                  <a:extLst>
                    <a:ext uri="{9D8B030D-6E8A-4147-A177-3AD203B41FA5}">
                      <a16:colId xmlns:a16="http://schemas.microsoft.com/office/drawing/2014/main" val="20001"/>
                    </a:ext>
                  </a:extLst>
                </a:gridCol>
              </a:tblGrid>
              <a:tr h="190500">
                <a:tc>
                  <a:txBody>
                    <a:bodyPr/>
                    <a:lstStyle/>
                    <a:p>
                      <a:pPr marL="0" lvl="0" indent="0" algn="l" rtl="0">
                        <a:spcBef>
                          <a:spcPts val="0"/>
                        </a:spcBef>
                        <a:spcAft>
                          <a:spcPts val="0"/>
                        </a:spcAft>
                        <a:buNone/>
                      </a:pPr>
                      <a:r>
                        <a:rPr lang="en" sz="1000" b="1">
                          <a:latin typeface="Calibri"/>
                          <a:ea typeface="Calibri"/>
                          <a:cs typeface="Calibri"/>
                          <a:sym typeface="Calibri"/>
                        </a:rPr>
                        <a:t>Zen of Python</a:t>
                      </a:r>
                      <a:endParaRPr sz="1000" b="1">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solidFill>
                      <a:srgbClr val="FCE5CD"/>
                    </a:solidFill>
                  </a:tcPr>
                </a:tc>
                <a:tc>
                  <a:txBody>
                    <a:bodyPr/>
                    <a:lstStyle/>
                    <a:p>
                      <a:pPr marL="0" lvl="0" indent="0" algn="l" rtl="0">
                        <a:spcBef>
                          <a:spcPts val="0"/>
                        </a:spcBef>
                        <a:spcAft>
                          <a:spcPts val="0"/>
                        </a:spcAft>
                        <a:buNone/>
                      </a:pPr>
                      <a:r>
                        <a:rPr lang="en" sz="1000" b="1">
                          <a:latin typeface="Calibri"/>
                          <a:ea typeface="Calibri"/>
                          <a:cs typeface="Calibri"/>
                          <a:sym typeface="Calibri"/>
                        </a:rPr>
                        <a:t>Zen of Skills</a:t>
                      </a:r>
                      <a:endParaRPr sz="1000" b="1">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0"/>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Simple is better than complex</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A Skill is a folder, not a single file. </a:t>
                      </a:r>
                      <a:br>
                        <a:rPr lang="en" sz="1000">
                          <a:latin typeface="Calibri"/>
                          <a:ea typeface="Calibri"/>
                          <a:cs typeface="Calibri"/>
                          <a:sym typeface="Calibri"/>
                        </a:rPr>
                      </a:br>
                      <a:r>
                        <a:rPr lang="en" sz="1000">
                          <a:latin typeface="Calibri"/>
                          <a:ea typeface="Calibri"/>
                          <a:cs typeface="Calibri"/>
                          <a:sym typeface="Calibri"/>
                        </a:rPr>
                        <a:t>Complexity itself is a feature.</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Explicit is better than implicit</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Activation relies on implicit pattern matching and progressive disclosure</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Sparse is better than dense</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Context is expensive, every token must carry maximum signal.</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Special cases aren't special enough</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Gotchas are the special cases. </a:t>
                      </a:r>
                      <a:br>
                        <a:rPr lang="en" sz="1000">
                          <a:latin typeface="Calibri"/>
                          <a:ea typeface="Calibri"/>
                          <a:cs typeface="Calibri"/>
                          <a:sym typeface="Calibri"/>
                        </a:rPr>
                      </a:br>
                      <a:r>
                        <a:rPr lang="en" sz="1000">
                          <a:latin typeface="Calibri"/>
                          <a:ea typeface="Calibri"/>
                          <a:cs typeface="Calibri"/>
                          <a:sym typeface="Calibri"/>
                        </a:rPr>
                        <a:t>They are the highest-value content.</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90500">
                <a:tc>
                  <a:txBody>
                    <a:bodyPr/>
                    <a:lstStyle/>
                    <a:p>
                      <a:pPr marL="0" lvl="0" indent="0" algn="l" rtl="0">
                        <a:spcBef>
                          <a:spcPts val="0"/>
                        </a:spcBef>
                        <a:spcAft>
                          <a:spcPts val="0"/>
                        </a:spcAft>
                        <a:buNone/>
                      </a:pPr>
                      <a:r>
                        <a:rPr lang="en" sz="1000">
                          <a:latin typeface="Calibri"/>
                          <a:ea typeface="Calibri"/>
                          <a:cs typeface="Calibri"/>
                          <a:sym typeface="Calibri"/>
                        </a:rPr>
                        <a:t>If the implementation is hard to explain, it's a bad idea</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1000">
                          <a:latin typeface="Calibri"/>
                          <a:ea typeface="Calibri"/>
                          <a:cs typeface="Calibri"/>
                          <a:sym typeface="Calibri"/>
                        </a:rPr>
                        <a:t>If it's easy to explain, the model probably already knows it - delete it.</a:t>
                      </a:r>
                      <a:endParaRPr sz="1000">
                        <a:latin typeface="Calibri"/>
                        <a:ea typeface="Calibri"/>
                        <a:cs typeface="Calibri"/>
                        <a:sym typeface="Calibri"/>
                      </a:endParaRPr>
                    </a:p>
                  </a:txBody>
                  <a:tcPr marL="9125" marR="9125" marT="9125" marB="9125">
                    <a:lnL w="4775" cap="flat" cmpd="sng">
                      <a:solidFill>
                        <a:srgbClr val="FF0000"/>
                      </a:solidFill>
                      <a:prstDash val="solid"/>
                      <a:round/>
                      <a:headEnd type="none" w="sm" len="sm"/>
                      <a:tailEnd type="none" w="sm" len="sm"/>
                    </a:lnL>
                    <a:lnR w="4775" cap="flat" cmpd="sng">
                      <a:solidFill>
                        <a:srgbClr val="FF0000"/>
                      </a:solidFill>
                      <a:prstDash val="solid"/>
                      <a:round/>
                      <a:headEnd type="none" w="sm" len="sm"/>
                      <a:tailEnd type="none" w="sm" len="sm"/>
                    </a:lnR>
                    <a:lnT w="4775" cap="flat" cmpd="sng">
                      <a:solidFill>
                        <a:srgbClr val="FF0000"/>
                      </a:solidFill>
                      <a:prstDash val="solid"/>
                      <a:round/>
                      <a:headEnd type="none" w="sm" len="sm"/>
                      <a:tailEnd type="none" w="sm" len="sm"/>
                    </a:lnT>
                    <a:lnB w="477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pic>
        <p:nvPicPr>
          <p:cNvPr id="158" name="Google Shape;158;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099425" y="2789152"/>
            <a:ext cx="1856948" cy="949100"/>
          </a:xfrm>
          <a:prstGeom prst="rect">
            <a:avLst/>
          </a:prstGeom>
          <a:noFill/>
          <a:ln w="9525" cap="flat" cmpd="sng">
            <a:solidFill>
              <a:srgbClr val="FF0000"/>
            </a:solidFill>
            <a:prstDash val="solid"/>
            <a:round/>
            <a:headEnd type="none" w="sm" len="sm"/>
            <a:tailEnd type="none" w="sm" len="sm"/>
          </a:ln>
        </p:spPr>
      </p:pic>
      <p:sp>
        <p:nvSpPr>
          <p:cNvPr id="159" name="Google Shape;159;p24"/>
          <p:cNvSpPr txBox="1"/>
          <p:nvPr/>
        </p:nvSpPr>
        <p:spPr>
          <a:xfrm>
            <a:off x="5343850" y="682587"/>
            <a:ext cx="3677400" cy="181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build and update your </a:t>
            </a:r>
            <a:r>
              <a:rPr lang="en" sz="1200" b="1">
                <a:solidFill>
                  <a:srgbClr val="FF0000"/>
                </a:solidFill>
                <a:uFill>
                  <a:noFill/>
                </a:uFill>
                <a:latin typeface="Calibri"/>
                <a:ea typeface="Calibri"/>
                <a:cs typeface="Calibri"/>
                <a:sym typeface="Calibri"/>
                <a:hlinkClick r:id="rId8">
                  <a:extLst>
                    <a:ext uri="{A12FA001-AC4F-418D-AE19-62706E023703}">
                      <ahyp:hlinkClr xmlns:ahyp="http://schemas.microsoft.com/office/drawing/2018/hyperlinkcolor" val="tx"/>
                    </a:ext>
                  </a:extLst>
                </a:hlinkClick>
              </a:rPr>
              <a:t>CLAUDE.md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 snapshot of you</a:t>
            </a:r>
            <a:r>
              <a:rPr lang="en" sz="1200">
                <a:solidFill>
                  <a:schemeClr val="dk1"/>
                </a:solidFill>
                <a:latin typeface="Calibri"/>
                <a:ea typeface="Calibri"/>
                <a:cs typeface="Calibri"/>
                <a:sym typeface="Calibri"/>
              </a:rPr>
              <a:t>: what you do, how you operate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clean CLAUDE.md for you (founder, creator, agency)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Reference folder plan that pulls past content, brand voice, and key decisions into context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starter slash commands wired to your real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 smoke test that Claude knows your business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quarterly refresh prompt</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9"/>
              </a:rPr>
              <a:t>https://theaibreak.substack.com/p/tutorial-build-a-claudemd-that-makes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5"/>
          <p:cNvSpPr txBox="1"/>
          <p:nvPr/>
        </p:nvSpPr>
        <p:spPr>
          <a:xfrm>
            <a:off x="60250" y="431150"/>
            <a:ext cx="44832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Productize Yourself</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traditional career model (school, stable job, climb the ladder, retire) is breaking down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Today one person with a laptop can reach millions, build scalable products, and generate income without trading time for money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smartest move today is to "productize yourself" - package your unique knowledge, skills, and perspective into courses, newsletters, tools, or frameworks that work independently of your presence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Pursue genuine curiosity, not trends, because no one can compete with you on being you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 small, stay consistent, and think in years. Benefit from compounding growth</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https://medium.com/personal-growth/careers-are-collapsing-jobs-are-dying-the-smartest-people-are-doing-this-right-now-becc742dfee2</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5" name="Google Shape;165;p25"/>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6" name="Google Shape;166;p25"/>
          <p:cNvSpPr txBox="1"/>
          <p:nvPr/>
        </p:nvSpPr>
        <p:spPr>
          <a:xfrm>
            <a:off x="60250" y="3014850"/>
            <a:ext cx="4483200" cy="191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Claude for Legal - May 12</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Building on earlier January–February releases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12 new practice-area plugins</a:t>
            </a:r>
            <a:r>
              <a:rPr lang="en" sz="1200">
                <a:solidFill>
                  <a:schemeClr val="dk1"/>
                </a:solidFill>
                <a:latin typeface="Calibri"/>
                <a:ea typeface="Calibri"/>
                <a:cs typeface="Calibri"/>
                <a:sym typeface="Calibri"/>
              </a:rPr>
              <a:t> (Corporate, Employment, Privacy, IP, Litigation, AI Governance, and others) </a:t>
            </a:r>
            <a:r>
              <a:rPr lang="en" sz="1200" b="1">
                <a:solidFill>
                  <a:srgbClr val="3C78D8"/>
                </a:solidFill>
                <a:latin typeface="Calibri"/>
                <a:ea typeface="Calibri"/>
                <a:cs typeface="Calibri"/>
                <a:sym typeface="Calibri"/>
              </a:rPr>
              <a:t>plus 20+ new MCP connectors</a:t>
            </a:r>
            <a:r>
              <a:rPr lang="en" sz="1200">
                <a:solidFill>
                  <a:schemeClr val="dk1"/>
                </a:solidFill>
                <a:latin typeface="Calibri"/>
                <a:ea typeface="Calibri"/>
                <a:cs typeface="Calibri"/>
                <a:sym typeface="Calibri"/>
              </a:rPr>
              <a:t> to platforms like DocuSign, iManage, LexisNexis, Thomson Reuters, Relativity, and Harvey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Connectors</a:t>
            </a:r>
            <a:r>
              <a:rPr lang="en" sz="1200">
                <a:solidFill>
                  <a:schemeClr val="dk1"/>
                </a:solidFill>
                <a:latin typeface="Calibri"/>
                <a:ea typeface="Calibri"/>
                <a:cs typeface="Calibri"/>
                <a:sym typeface="Calibri"/>
              </a:rPr>
              <a:t> (pull external data), </a:t>
            </a:r>
            <a:r>
              <a:rPr lang="en" sz="1200" b="1">
                <a:solidFill>
                  <a:srgbClr val="3C78D8"/>
                </a:solidFill>
                <a:latin typeface="Calibri"/>
                <a:ea typeface="Calibri"/>
                <a:cs typeface="Calibri"/>
                <a:sym typeface="Calibri"/>
              </a:rPr>
              <a:t>Skills</a:t>
            </a:r>
            <a:r>
              <a:rPr lang="en" sz="1200">
                <a:solidFill>
                  <a:schemeClr val="dk1"/>
                </a:solidFill>
                <a:latin typeface="Calibri"/>
                <a:ea typeface="Calibri"/>
                <a:cs typeface="Calibri"/>
                <a:sym typeface="Calibri"/>
              </a:rPr>
              <a:t> (task-specific instructions in md format), and </a:t>
            </a:r>
            <a:r>
              <a:rPr lang="en" sz="1200" b="1">
                <a:solidFill>
                  <a:srgbClr val="3C78D8"/>
                </a:solidFill>
                <a:latin typeface="Calibri"/>
                <a:ea typeface="Calibri"/>
                <a:cs typeface="Calibri"/>
                <a:sym typeface="Calibri"/>
              </a:rPr>
              <a:t>plugins</a:t>
            </a:r>
            <a:r>
              <a:rPr lang="en" sz="1200">
                <a:solidFill>
                  <a:schemeClr val="dk1"/>
                </a:solidFill>
                <a:latin typeface="Calibri"/>
                <a:ea typeface="Calibri"/>
                <a:cs typeface="Calibri"/>
                <a:sym typeface="Calibri"/>
              </a:rPr>
              <a:t> (bundles of skills, connectors, and subagents)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https://claude.com/blog/claude-for-the-legal-industry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https://github.com/anthropics/claude-for-legal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http://www.youtube.com/watch?v=7H8-zRB5hbU</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67" name="Google Shape;167;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95850" y="431150"/>
            <a:ext cx="3348550" cy="1515175"/>
          </a:xfrm>
          <a:prstGeom prst="rect">
            <a:avLst/>
          </a:prstGeom>
          <a:noFill/>
          <a:ln w="9525" cap="flat" cmpd="sng">
            <a:solidFill>
              <a:srgbClr val="FF0000"/>
            </a:solidFill>
            <a:prstDash val="solid"/>
            <a:round/>
            <a:headEnd type="none" w="sm" len="sm"/>
            <a:tailEnd type="none" w="sm" len="sm"/>
          </a:ln>
        </p:spPr>
      </p:pic>
      <p:pic>
        <p:nvPicPr>
          <p:cNvPr id="168" name="Google Shape;168;p2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95850" y="3014850"/>
            <a:ext cx="2746200" cy="1661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6"/>
          <p:cNvSpPr txBox="1"/>
          <p:nvPr/>
        </p:nvSpPr>
        <p:spPr>
          <a:xfrm>
            <a:off x="60250" y="431150"/>
            <a:ext cx="4483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Connecting Claude AI to Obsidian and OMI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OMI refers to Omi AI - the AI wearable and app platform ( </a:t>
            </a:r>
            <a:r>
              <a:rPr lang="en" sz="1200" u="sng">
                <a:solidFill>
                  <a:schemeClr val="hlink"/>
                </a:solidFill>
                <a:latin typeface="Calibri"/>
                <a:ea typeface="Calibri"/>
                <a:cs typeface="Calibri"/>
                <a:sym typeface="Calibri"/>
                <a:hlinkClick r:id="rId3"/>
              </a:rPr>
              <a:t>omi.me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OMI records your daily activities and conversations, automatically exporting these notes into Obsidian’s markdown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By linking Claude to this Obsidian vault, the AI gains deep, personal context, allowing it to provide specific advice based on your actual projects rather than generic answers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also acts as an organizer, using the PARA method to restructure messy notes and create visual navigation maps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setup creates an "infinite context engine," transforming Claude into a highly personalized assistant that remembers your decisions and tasks, making your AI workflow 100 times more effective and autonomous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https://www.youtube.com/watch?v=pr1InE1LuKY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74" name="Google Shape;174;p26"/>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175" name="Google Shape;175;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23600" y="431150"/>
            <a:ext cx="1086375" cy="1169050"/>
          </a:xfrm>
          <a:prstGeom prst="rect">
            <a:avLst/>
          </a:prstGeom>
          <a:noFill/>
          <a:ln w="9525" cap="flat" cmpd="sng">
            <a:solidFill>
              <a:srgbClr val="FF0000"/>
            </a:solidFill>
            <a:prstDash val="solid"/>
            <a:round/>
            <a:headEnd type="none" w="sm" len="sm"/>
            <a:tailEnd type="none" w="sm" len="sm"/>
          </a:ln>
        </p:spPr>
      </p:pic>
      <p:pic>
        <p:nvPicPr>
          <p:cNvPr id="176" name="Google Shape;176;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155400" y="431150"/>
            <a:ext cx="1169050" cy="1169050"/>
          </a:xfrm>
          <a:prstGeom prst="rect">
            <a:avLst/>
          </a:prstGeom>
          <a:noFill/>
          <a:ln w="9525" cap="flat" cmpd="sng">
            <a:solidFill>
              <a:srgbClr val="FF0000"/>
            </a:solidFill>
            <a:prstDash val="solid"/>
            <a:round/>
            <a:headEnd type="none" w="sm" len="sm"/>
            <a:tailEnd type="none" w="sm" len="sm"/>
          </a:ln>
        </p:spPr>
      </p:pic>
      <p:sp>
        <p:nvSpPr>
          <p:cNvPr id="177" name="Google Shape;177;p26"/>
          <p:cNvSpPr txBox="1"/>
          <p:nvPr/>
        </p:nvSpPr>
        <p:spPr>
          <a:xfrm>
            <a:off x="4830138" y="1793225"/>
            <a:ext cx="873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Omi.me</a:t>
            </a:r>
            <a:endParaRPr sz="1200">
              <a:solidFill>
                <a:schemeClr val="dk1"/>
              </a:solidFill>
              <a:latin typeface="Calibri"/>
              <a:ea typeface="Calibri"/>
              <a:cs typeface="Calibri"/>
              <a:sym typeface="Calibri"/>
            </a:endParaRPr>
          </a:p>
        </p:txBody>
      </p:sp>
      <p:sp>
        <p:nvSpPr>
          <p:cNvPr id="178" name="Google Shape;178;p26"/>
          <p:cNvSpPr txBox="1"/>
          <p:nvPr/>
        </p:nvSpPr>
        <p:spPr>
          <a:xfrm>
            <a:off x="6303263" y="1793225"/>
            <a:ext cx="873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Obsidian</a:t>
            </a:r>
            <a:endParaRPr sz="1200">
              <a:solidFill>
                <a:schemeClr val="dk1"/>
              </a:solidFill>
              <a:latin typeface="Calibri"/>
              <a:ea typeface="Calibri"/>
              <a:cs typeface="Calibri"/>
              <a:sym typeface="Calibri"/>
            </a:endParaRPr>
          </a:p>
        </p:txBody>
      </p:sp>
      <p:sp>
        <p:nvSpPr>
          <p:cNvPr id="179" name="Google Shape;179;p26"/>
          <p:cNvSpPr txBox="1"/>
          <p:nvPr/>
        </p:nvSpPr>
        <p:spPr>
          <a:xfrm>
            <a:off x="60250" y="3329700"/>
            <a:ext cx="44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Krea 2 Update - Generate Visuals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Krea.ai</a:t>
            </a:r>
            <a:r>
              <a:rPr lang="en" sz="1200">
                <a:solidFill>
                  <a:schemeClr val="dk1"/>
                </a:solidFill>
                <a:latin typeface="Calibri"/>
                <a:ea typeface="Calibri"/>
                <a:cs typeface="Calibri"/>
                <a:sym typeface="Calibri"/>
              </a:rPr>
              <a:t> is in San Francisco, CA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Mood boards and style references - you can guide the AI with images rather than just words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Generating high-fidelity visuals in under 15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Real-time canvas for live sketching, a 22K resolution enhancer, and video generation tools - </a:t>
            </a:r>
            <a:r>
              <a:rPr lang="en" sz="1200" u="sng">
                <a:solidFill>
                  <a:schemeClr val="hlink"/>
                </a:solidFill>
                <a:latin typeface="Calibri"/>
                <a:ea typeface="Calibri"/>
                <a:cs typeface="Calibri"/>
                <a:sym typeface="Calibri"/>
                <a:hlinkClick r:id="rId8"/>
              </a:rPr>
              <a:t>https://www.krea.ai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https://www.youtube.com/watch?v=Y6o-LSv-b4E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80" name="Google Shape;180;p26"/>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4961725" y="3627775"/>
            <a:ext cx="2057400" cy="715150"/>
          </a:xfrm>
          <a:prstGeom prst="rect">
            <a:avLst/>
          </a:prstGeom>
          <a:noFill/>
          <a:ln w="9525" cap="flat" cmpd="sng">
            <a:solidFill>
              <a:srgbClr val="FF0000"/>
            </a:solidFill>
            <a:prstDash val="solid"/>
            <a:round/>
            <a:headEnd type="none" w="sm" len="sm"/>
            <a:tailEnd type="none" w="sm" len="sm"/>
          </a:ln>
        </p:spPr>
      </p:pic>
      <p:pic>
        <p:nvPicPr>
          <p:cNvPr id="181" name="Google Shape;181;p26"/>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7176575" y="3081300"/>
            <a:ext cx="1820074" cy="1808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Hermes vs OpenClaw</a:t>
            </a:r>
            <a:endParaRPr sz="2000" b="1">
              <a:solidFill>
                <a:schemeClr val="dk1"/>
              </a:solidFill>
              <a:latin typeface="Calibri"/>
              <a:ea typeface="Calibri"/>
              <a:cs typeface="Calibri"/>
              <a:sym typeface="Calibri"/>
            </a:endParaRPr>
          </a:p>
        </p:txBody>
      </p:sp>
      <p:sp>
        <p:nvSpPr>
          <p:cNvPr id="187" name="Google Shape;187;p27"/>
          <p:cNvSpPr txBox="1"/>
          <p:nvPr/>
        </p:nvSpPr>
        <p:spPr>
          <a:xfrm>
            <a:off x="81775" y="461825"/>
            <a:ext cx="4483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vs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Hermes Agent - an open-source AI project from Nous Research that has emerged as a major competitor to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Launched in February 2026, Hermes recently surpassed OpenClaw on Open Router’s global rankings, processing roughly 224 billion tokens daily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Hermes distinguishes itself by utilizing a continuous "do-learn-improve" loop</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Rather than resetting context, it reflects on completed tasks and writes reusable skill files to compound knowledge over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latest major update, version 0.13 ("Tenacity"), introduced a durable multi-agent Kanban system, a persistent goal command, and seamless data migration tools from OpenClaw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Combining local-first memory systems with a model-agnostic architecture, Hermes is transitioning from a traditional assistant into a self-improving AI operating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https://github.com/nousresearch/hermes-agent</a:t>
            </a:r>
            <a:r>
              <a:rPr lang="en" sz="1200">
                <a:solidFill>
                  <a:schemeClr val="dk1"/>
                </a:solidFill>
                <a:latin typeface="Calibri"/>
                <a:ea typeface="Calibri"/>
                <a:cs typeface="Calibri"/>
                <a:sym typeface="Calibri"/>
              </a:rPr>
              <a:t> - 163K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https://github.com/openclaw/openclaw</a:t>
            </a:r>
            <a:r>
              <a:rPr lang="en" sz="1200">
                <a:solidFill>
                  <a:schemeClr val="dk1"/>
                </a:solidFill>
                <a:latin typeface="Calibri"/>
                <a:ea typeface="Calibri"/>
                <a:cs typeface="Calibri"/>
                <a:sym typeface="Calibri"/>
              </a:rPr>
              <a:t> - 374K</a:t>
            </a:r>
            <a:endParaRPr sz="1200">
              <a:solidFill>
                <a:schemeClr val="dk1"/>
              </a:solidFill>
              <a:latin typeface="Calibri"/>
              <a:ea typeface="Calibri"/>
              <a:cs typeface="Calibri"/>
              <a:sym typeface="Calibri"/>
            </a:endParaRPr>
          </a:p>
        </p:txBody>
      </p:sp>
      <p:sp>
        <p:nvSpPr>
          <p:cNvPr id="188" name="Google Shape;188;p27"/>
          <p:cNvSpPr txBox="1"/>
          <p:nvPr/>
        </p:nvSpPr>
        <p:spPr>
          <a:xfrm>
            <a:off x="81775" y="4240977"/>
            <a:ext cx="4483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AgentMemory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Free open-source tool gives Claude Code and Codex persistent memory across sessions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https://github.com/rohitg00/agentmemory</a:t>
            </a:r>
            <a:r>
              <a:rPr lang="en" sz="1200">
                <a:solidFill>
                  <a:schemeClr val="dk1"/>
                </a:solidFill>
                <a:latin typeface="Calibri"/>
                <a:ea typeface="Calibri"/>
                <a:cs typeface="Calibri"/>
                <a:sym typeface="Calibri"/>
              </a:rPr>
              <a:t>  - 16K stars</a:t>
            </a:r>
            <a:endParaRPr sz="1200">
              <a:solidFill>
                <a:schemeClr val="dk1"/>
              </a:solidFill>
              <a:latin typeface="Calibri"/>
              <a:ea typeface="Calibri"/>
              <a:cs typeface="Calibri"/>
              <a:sym typeface="Calibri"/>
            </a:endParaRPr>
          </a:p>
        </p:txBody>
      </p:sp>
      <p:pic>
        <p:nvPicPr>
          <p:cNvPr id="189" name="Google Shape;189;p27"/>
          <p:cNvPicPr preferRelativeResize="0"/>
          <p:nvPr/>
        </p:nvPicPr>
        <p:blipFill>
          <a:blip r:embed="rId6">
            <a:alphaModFix/>
          </a:blip>
          <a:stretch>
            <a:fillRect/>
          </a:stretch>
        </p:blipFill>
        <p:spPr>
          <a:xfrm>
            <a:off x="4776725" y="461825"/>
            <a:ext cx="3836675" cy="2148550"/>
          </a:xfrm>
          <a:prstGeom prst="rect">
            <a:avLst/>
          </a:prstGeom>
          <a:noFill/>
          <a:ln w="9525" cap="flat" cmpd="sng">
            <a:solidFill>
              <a:srgbClr val="FF0000"/>
            </a:solidFill>
            <a:prstDash val="solid"/>
            <a:round/>
            <a:headEnd type="none" w="sm" len="sm"/>
            <a:tailEnd type="none" w="sm" len="sm"/>
          </a:ln>
        </p:spPr>
      </p:pic>
      <p:pic>
        <p:nvPicPr>
          <p:cNvPr id="190" name="Google Shape;190;p2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40650" y="4366550"/>
            <a:ext cx="3908800" cy="506050"/>
          </a:xfrm>
          <a:prstGeom prst="rect">
            <a:avLst/>
          </a:prstGeom>
          <a:noFill/>
          <a:ln w="9525" cap="flat" cmpd="sng">
            <a:solidFill>
              <a:srgbClr val="FF0000"/>
            </a:solidFill>
            <a:prstDash val="solid"/>
            <a:round/>
            <a:headEnd type="none" w="sm" len="sm"/>
            <a:tailEnd type="none" w="sm" len="sm"/>
          </a:ln>
        </p:spPr>
      </p:pic>
      <p:sp>
        <p:nvSpPr>
          <p:cNvPr id="191" name="Google Shape;191;p27"/>
          <p:cNvSpPr txBox="1"/>
          <p:nvPr/>
        </p:nvSpPr>
        <p:spPr>
          <a:xfrm>
            <a:off x="4770666" y="2758056"/>
            <a:ext cx="42567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OpenClaw 3-person team consumed $1.3 Mln in OpenAI API credits in 30 days</a:t>
            </a:r>
            <a:r>
              <a:rPr lang="en" sz="1200">
                <a:solidFill>
                  <a:schemeClr val="dk1"/>
                </a:solidFill>
                <a:latin typeface="Calibri"/>
                <a:ea typeface="Calibri"/>
                <a:cs typeface="Calibri"/>
                <a:sym typeface="Calibri"/>
              </a:rPr>
              <a:t> while operating about 100 autonomous coding agents, mostly using GPT-5.5.</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Disabling Codex “Fast Mode” would cut costs down to $300K</a:t>
            </a:r>
            <a:endParaRPr sz="1200" b="1">
              <a:solidFill>
                <a:srgbClr val="FF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RAG and RAE</a:t>
            </a:r>
            <a:endParaRPr sz="2000" b="1">
              <a:solidFill>
                <a:schemeClr val="dk1"/>
              </a:solidFill>
              <a:latin typeface="Calibri"/>
              <a:ea typeface="Calibri"/>
              <a:cs typeface="Calibri"/>
              <a:sym typeface="Calibri"/>
            </a:endParaRPr>
          </a:p>
        </p:txBody>
      </p:sp>
      <p:sp>
        <p:nvSpPr>
          <p:cNvPr id="197" name="Google Shape;197;p28"/>
          <p:cNvSpPr txBox="1"/>
          <p:nvPr/>
        </p:nvSpPr>
        <p:spPr>
          <a:xfrm>
            <a:off x="81775" y="461825"/>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RAG (Retrieval Augmented Generation) </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answer questions </a:t>
            </a:r>
            <a:r>
              <a:rPr lang="en" sz="1200">
                <a:solidFill>
                  <a:schemeClr val="dk1"/>
                </a:solidFill>
                <a:latin typeface="Calibri"/>
                <a:ea typeface="Calibri"/>
                <a:cs typeface="Calibri"/>
                <a:sym typeface="Calibri"/>
              </a:rPr>
              <a:t>by retrieving stored information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RAE (Retrieval Augmented Execution)</a:t>
            </a:r>
            <a:r>
              <a:rPr lang="en" sz="1200">
                <a:solidFill>
                  <a:schemeClr val="dk1"/>
                </a:solidFill>
                <a:latin typeface="Calibri"/>
                <a:ea typeface="Calibri"/>
                <a:cs typeface="Calibri"/>
                <a:sym typeface="Calibri"/>
              </a:rPr>
              <a:t> - </a:t>
            </a:r>
            <a:r>
              <a:rPr lang="en" sz="1200" b="1">
                <a:solidFill>
                  <a:srgbClr val="3C78D8"/>
                </a:solidFill>
                <a:latin typeface="Calibri"/>
                <a:ea typeface="Calibri"/>
                <a:cs typeface="Calibri"/>
                <a:sym typeface="Calibri"/>
              </a:rPr>
              <a:t>look for a skill or tool to do something - and execute it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RAG and RAE </a:t>
            </a:r>
            <a:r>
              <a:rPr lang="en" sz="1200" b="1">
                <a:solidFill>
                  <a:srgbClr val="FF0000"/>
                </a:solidFill>
                <a:latin typeface="Calibri"/>
                <a:ea typeface="Calibri"/>
                <a:cs typeface="Calibri"/>
                <a:sym typeface="Calibri"/>
              </a:rPr>
              <a:t>can be implemented without a Vector Database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Keyword Search (BM25) (like Ctrl-F)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Basic File Matching - use plain text files named by topic, search by file names and tags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RAG for Skills: </a:t>
            </a:r>
            <a:r>
              <a:rPr lang="en" sz="1200" u="sng">
                <a:solidFill>
                  <a:schemeClr val="hlink"/>
                </a:solidFill>
                <a:latin typeface="Calibri"/>
                <a:ea typeface="Calibri"/>
                <a:cs typeface="Calibri"/>
                <a:sym typeface="Calibri"/>
                <a:hlinkClick r:id="rId3"/>
              </a:rPr>
              <a:t>https://www.youtube.com/watch?v=jIctzTn_8-E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98" name="Google Shape;198;p28"/>
          <p:cNvPicPr preferRelativeResize="0"/>
          <p:nvPr/>
        </p:nvPicPr>
        <p:blipFill>
          <a:blip r:embed="rId4">
            <a:alphaModFix/>
          </a:blip>
          <a:stretch>
            <a:fillRect/>
          </a:stretch>
        </p:blipFill>
        <p:spPr>
          <a:xfrm>
            <a:off x="4820525" y="374637"/>
            <a:ext cx="3301950" cy="1855275"/>
          </a:xfrm>
          <a:prstGeom prst="rect">
            <a:avLst/>
          </a:prstGeom>
          <a:noFill/>
          <a:ln w="9525" cap="flat" cmpd="sng">
            <a:solidFill>
              <a:srgbClr val="FF0000"/>
            </a:solidFill>
            <a:prstDash val="solid"/>
            <a:round/>
            <a:headEnd type="none" w="sm" len="sm"/>
            <a:tailEnd type="none" w="sm" len="sm"/>
          </a:ln>
        </p:spPr>
      </p:pic>
      <p:sp>
        <p:nvSpPr>
          <p:cNvPr id="199" name="Google Shape;199;p28"/>
          <p:cNvSpPr txBox="1"/>
          <p:nvPr/>
        </p:nvSpPr>
        <p:spPr>
          <a:xfrm>
            <a:off x="81775" y="2284601"/>
            <a:ext cx="44832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Graphify indexes files for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Inspired by an LLM knowledge base concept by Andrej Karpathy</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compiles raw local files and large codebases into interactive, structured knowledge graphs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Graphify </a:t>
            </a:r>
            <a:r>
              <a:rPr lang="en" sz="1200" b="1">
                <a:solidFill>
                  <a:srgbClr val="3C78D8"/>
                </a:solidFill>
                <a:latin typeface="Calibri"/>
                <a:ea typeface="Calibri"/>
                <a:cs typeface="Calibri"/>
                <a:sym typeface="Calibri"/>
              </a:rPr>
              <a:t>reduces LLM token consumption by up to 70% while improving output speed and accuracy</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generates HTML visualizations, JSON data, and specialized reports to map node connections. It also features utilities to find the shortest path between files, explain specific concepts, update modified files seamlessly, and generate Obsidian vaults or MCP servers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5"/>
              </a:rPr>
              <a:t>https://www.youtube.com/watch?v=HQEm4rBKdec</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https://github.com/safishamsi/graphify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https://x.com/karpathy/status/2039805659525644595</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200" name="Google Shape;200;p28"/>
          <p:cNvSpPr txBox="1"/>
          <p:nvPr/>
        </p:nvSpPr>
        <p:spPr>
          <a:xfrm>
            <a:off x="4715550" y="3300400"/>
            <a:ext cx="4026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Alternatives to VectorDB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Microsoft GraphRAG - open-source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Karpathy's "LLM as Compiler" / Compiled Wiki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 Keyword-Based (Sparse Retrieval) - Elasticsearch,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SQL Database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ELITE (LLM-Driven Iterative Retrieval) - open source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Knowledge Base RAG (Symbolic / Ontology-Based)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RAPTOR-Style Hierarchical Chunking</a:t>
            </a:r>
            <a:endParaRPr sz="1200">
              <a:solidFill>
                <a:schemeClr val="dk1"/>
              </a:solidFill>
              <a:latin typeface="Calibri"/>
              <a:ea typeface="Calibri"/>
              <a:cs typeface="Calibri"/>
              <a:sym typeface="Calibri"/>
            </a:endParaRPr>
          </a:p>
        </p:txBody>
      </p:sp>
      <p:sp>
        <p:nvSpPr>
          <p:cNvPr id="201" name="Google Shape;201;p28"/>
          <p:cNvSpPr txBox="1"/>
          <p:nvPr/>
        </p:nvSpPr>
        <p:spPr>
          <a:xfrm>
            <a:off x="4715550" y="2571200"/>
            <a:ext cx="40260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Vector-RAG captures similarity, but misses structure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https://venturebeat.com/orchestration/architectural-patterns-for-graph-enhanced-rag-moving-beyond-vector-search-in-production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29"/>
          <p:cNvSpPr txBox="1"/>
          <p:nvPr/>
        </p:nvSpPr>
        <p:spPr>
          <a:xfrm>
            <a:off x="81775" y="67675"/>
            <a:ext cx="2992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RAG without VectorDB</a:t>
            </a:r>
            <a:endParaRPr sz="2000" b="1">
              <a:solidFill>
                <a:schemeClr val="dk1"/>
              </a:solidFill>
              <a:latin typeface="Calibri"/>
              <a:ea typeface="Calibri"/>
              <a:cs typeface="Calibri"/>
              <a:sym typeface="Calibri"/>
            </a:endParaRPr>
          </a:p>
        </p:txBody>
      </p:sp>
      <p:sp>
        <p:nvSpPr>
          <p:cNvPr id="207" name="Google Shape;207;p29"/>
          <p:cNvSpPr txBox="1"/>
          <p:nvPr/>
        </p:nvSpPr>
        <p:spPr>
          <a:xfrm>
            <a:off x="171875" y="531800"/>
            <a:ext cx="4026000" cy="480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Vector-RAG captures similarity, but misses structure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https://venturebeat.com/orchestration/architectural-patterns-for-graph-enhanced-rag-moving-beyond-vector-search-in-production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graphicFrame>
        <p:nvGraphicFramePr>
          <p:cNvPr id="208" name="Google Shape;208;p29"/>
          <p:cNvGraphicFramePr/>
          <p:nvPr/>
        </p:nvGraphicFramePr>
        <p:xfrm>
          <a:off x="152400" y="1203478"/>
          <a:ext cx="3000000" cy="3000000"/>
        </p:xfrm>
        <a:graphic>
          <a:graphicData uri="http://schemas.openxmlformats.org/drawingml/2006/table">
            <a:tbl>
              <a:tblPr>
                <a:noFill/>
                <a:tableStyleId>{5666F337-CBF2-411D-A273-454199BC1AED}</a:tableStyleId>
              </a:tblPr>
              <a:tblGrid>
                <a:gridCol w="218250">
                  <a:extLst>
                    <a:ext uri="{9D8B030D-6E8A-4147-A177-3AD203B41FA5}">
                      <a16:colId xmlns:a16="http://schemas.microsoft.com/office/drawing/2014/main" val="20000"/>
                    </a:ext>
                  </a:extLst>
                </a:gridCol>
                <a:gridCol w="2334450">
                  <a:extLst>
                    <a:ext uri="{9D8B030D-6E8A-4147-A177-3AD203B41FA5}">
                      <a16:colId xmlns:a16="http://schemas.microsoft.com/office/drawing/2014/main" val="20001"/>
                    </a:ext>
                  </a:extLst>
                </a:gridCol>
                <a:gridCol w="3767050">
                  <a:extLst>
                    <a:ext uri="{9D8B030D-6E8A-4147-A177-3AD203B41FA5}">
                      <a16:colId xmlns:a16="http://schemas.microsoft.com/office/drawing/2014/main" val="20002"/>
                    </a:ext>
                  </a:extLst>
                </a:gridCol>
                <a:gridCol w="349225">
                  <a:extLst>
                    <a:ext uri="{9D8B030D-6E8A-4147-A177-3AD203B41FA5}">
                      <a16:colId xmlns:a16="http://schemas.microsoft.com/office/drawing/2014/main" val="20003"/>
                    </a:ext>
                  </a:extLst>
                </a:gridCol>
                <a:gridCol w="2170225">
                  <a:extLst>
                    <a:ext uri="{9D8B030D-6E8A-4147-A177-3AD203B41FA5}">
                      <a16:colId xmlns:a16="http://schemas.microsoft.com/office/drawing/2014/main" val="20004"/>
                    </a:ext>
                  </a:extLst>
                </a:gridCol>
              </a:tblGrid>
              <a:tr h="114600">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Approach</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Best For</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Open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URL</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0"/>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CAG - Cache-Augmented Generation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Fit all data into context window</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4"/>
                        </a:rPr>
                        <a:t>github.com/hhhuang/CAG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BM25 / Keyword Sparse Retrieval</a:t>
                      </a:r>
                      <a:r>
                        <a:rPr lang="en" sz="1000">
                          <a:latin typeface="Calibri"/>
                          <a:ea typeface="Calibri"/>
                          <a:cs typeface="Calibri"/>
                          <a:sym typeface="Calibri"/>
                        </a:rPr>
                        <a:t> (Elasticsearch, OpenSearch)</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Precise keyword lookups; deterministic, debuggable, no GPU</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5"/>
                        </a:rPr>
                        <a:t>elastic.co/elasticsearch</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146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3</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SQL / Text-to-SQL Retrieval</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Tabular, financial, structured data</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6"/>
                        </a:rPr>
                        <a:t>llamaindex.ai Text2SQL</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146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4</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Karpathy LLM Wiki</a:t>
                      </a:r>
                      <a:br>
                        <a:rPr lang="en" sz="1000" b="1">
                          <a:latin typeface="Calibri"/>
                          <a:ea typeface="Calibri"/>
                          <a:cs typeface="Calibri"/>
                          <a:sym typeface="Calibri"/>
                        </a:rPr>
                      </a:br>
                      <a:r>
                        <a:rPr lang="en" sz="1000" b="1">
                          <a:latin typeface="Calibri"/>
                          <a:ea typeface="Calibri"/>
                          <a:cs typeface="Calibri"/>
                          <a:sym typeface="Calibri"/>
                        </a:rPr>
                        <a:t>Obsidian Knowledge Base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Self-maintained Markdown wikis; no embeddings, no infra</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7"/>
                        </a:rPr>
                        <a:t>aimaker.substack.com</a:t>
                      </a:r>
                      <a:r>
                        <a:rPr lang="en" sz="1000">
                          <a:latin typeface="Calibri"/>
                          <a:ea typeface="Calibri"/>
                          <a:cs typeface="Calibri"/>
                          <a:sym typeface="Calibri"/>
                        </a:rPr>
                        <a:t> /</a:t>
                      </a:r>
                      <a:r>
                        <a:rPr lang="en" sz="1000">
                          <a:uFill>
                            <a:noFill/>
                          </a:uFill>
                          <a:latin typeface="Calibri"/>
                          <a:ea typeface="Calibri"/>
                          <a:cs typeface="Calibri"/>
                          <a:sym typeface="Calibri"/>
                          <a:hlinkClick r:id="rId8"/>
                        </a:rPr>
                        <a:t> </a:t>
                      </a:r>
                      <a:r>
                        <a:rPr lang="en" sz="1000" u="sng">
                          <a:solidFill>
                            <a:schemeClr val="hlink"/>
                          </a:solidFill>
                          <a:latin typeface="Calibri"/>
                          <a:ea typeface="Calibri"/>
                          <a:cs typeface="Calibri"/>
                          <a:sym typeface="Calibri"/>
                          <a:hlinkClick r:id="rId8"/>
                        </a:rPr>
                        <a:t>motherduck.com/blog/obsidian-rag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5</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API-Augmented RAG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Real-time data (weather, stock, search) </a:t>
                      </a:r>
                      <a:br>
                        <a:rPr lang="en" sz="1000">
                          <a:latin typeface="Calibri"/>
                          <a:ea typeface="Calibri"/>
                          <a:cs typeface="Calibri"/>
                          <a:sym typeface="Calibri"/>
                        </a:rPr>
                      </a:br>
                      <a:r>
                        <a:rPr lang="en" sz="1000">
                          <a:latin typeface="Calibri"/>
                          <a:ea typeface="Calibri"/>
                          <a:cs typeface="Calibri"/>
                          <a:sym typeface="Calibri"/>
                        </a:rPr>
                        <a:t>instead of stored docs</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9"/>
                        </a:rPr>
                        <a:t>exxactcorp.com/blog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6</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MemPalace - Memory Palace</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Local-first spatial hierarchy memory; MCP-native, zero API at write time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0"/>
                        </a:rPr>
                        <a:t>github.com/mempalace/mempalace</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146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7</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RAPTOR - Hierarchical Chunking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Multi-hop synthesis queries; recursive summarization tree</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1"/>
                        </a:rPr>
                        <a:t>github.com/parthsarthi03/raptor</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8</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ELITE - Embedding-Less Iterative Text Exploration, LLM-driven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Agentic, adaptive retrieval without pre-embedding the corpus</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2"/>
                        </a:rPr>
                        <a:t>digitalocean.com/community</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9</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Self-RAG / Corrective RAG (CRAG)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LLM self-critiques retrieved docs; adaptive re-retrieval loop</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3"/>
                        </a:rPr>
                        <a:t>Self-RAG</a:t>
                      </a:r>
                      <a:r>
                        <a:rPr lang="en" sz="1000">
                          <a:latin typeface="Calibri"/>
                          <a:ea typeface="Calibri"/>
                          <a:cs typeface="Calibri"/>
                          <a:sym typeface="Calibri"/>
                        </a:rPr>
                        <a:t> /</a:t>
                      </a:r>
                      <a:r>
                        <a:rPr lang="en" sz="1000">
                          <a:uFill>
                            <a:noFill/>
                          </a:uFill>
                          <a:latin typeface="Calibri"/>
                          <a:ea typeface="Calibri"/>
                          <a:cs typeface="Calibri"/>
                          <a:sym typeface="Calibri"/>
                          <a:hlinkClick r:id="rId14"/>
                        </a:rPr>
                        <a:t> </a:t>
                      </a:r>
                      <a:r>
                        <a:rPr lang="en" sz="1000" u="sng">
                          <a:solidFill>
                            <a:schemeClr val="hlink"/>
                          </a:solidFill>
                          <a:latin typeface="Calibri"/>
                          <a:ea typeface="Calibri"/>
                          <a:cs typeface="Calibri"/>
                          <a:sym typeface="Calibri"/>
                          <a:hlinkClick r:id="rId14"/>
                        </a:rPr>
                        <a:t>CRAG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10</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Microsoft GraphRAG</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Global, cross-document reasoning via entity/relationship graph</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5"/>
                        </a:rPr>
                        <a:t>github.com/microsoft/graphrag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11</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HippoRAG - Neuroscience-Inspired</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Multi-hop QA; hippocampal graph indexing, +20% over standard RAG</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6"/>
                        </a:rPr>
                        <a:t>github.com/OSU-NLP-Group/HippoRAG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12</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Knowledge Base RAG </a:t>
                      </a:r>
                      <a:br>
                        <a:rPr lang="en" sz="1000" b="1">
                          <a:latin typeface="Calibri"/>
                          <a:ea typeface="Calibri"/>
                          <a:cs typeface="Calibri"/>
                          <a:sym typeface="Calibri"/>
                        </a:rPr>
                      </a:br>
                      <a:r>
                        <a:rPr lang="en" sz="1000" b="1">
                          <a:latin typeface="Calibri"/>
                          <a:ea typeface="Calibri"/>
                          <a:cs typeface="Calibri"/>
                          <a:sym typeface="Calibri"/>
                        </a:rPr>
                        <a:t>(Symbolic / Ontology / OWL)</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Regulated domains (legal, medical); exact, explainable reasoning</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9"/>
                        </a:rPr>
                        <a:t>exxactcorp.com/blog</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65900">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13</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latin typeface="Calibri"/>
                          <a:ea typeface="Calibri"/>
                          <a:cs typeface="Calibri"/>
                          <a:sym typeface="Calibri"/>
                        </a:rPr>
                        <a:t>KAG - Knowledge Augmented Generation</a:t>
                      </a:r>
                      <a:endParaRPr sz="10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Professional domains; KG + vector hybrid, bidirectional LLM↔KG</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a:latin typeface="Calibri"/>
                          <a:ea typeface="Calibri"/>
                          <a:cs typeface="Calibri"/>
                          <a:sym typeface="Calibri"/>
                        </a:rPr>
                        <a:t>✅</a:t>
                      </a:r>
                      <a:endParaRPr sz="10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u="sng">
                          <a:solidFill>
                            <a:schemeClr val="hlink"/>
                          </a:solidFill>
                          <a:latin typeface="Calibri"/>
                          <a:ea typeface="Calibri"/>
                          <a:cs typeface="Calibri"/>
                          <a:sym typeface="Calibri"/>
                          <a:hlinkClick r:id="rId17"/>
                        </a:rPr>
                        <a:t>github.com/OpenSPG/KAG</a:t>
                      </a:r>
                      <a:r>
                        <a:rPr lang="en" sz="1000">
                          <a:latin typeface="Calibri"/>
                          <a:ea typeface="Calibri"/>
                          <a:cs typeface="Calibri"/>
                          <a:sym typeface="Calibri"/>
                        </a:rPr>
                        <a:t> /</a:t>
                      </a:r>
                      <a:r>
                        <a:rPr lang="en" sz="1000">
                          <a:uFill>
                            <a:noFill/>
                          </a:uFill>
                          <a:latin typeface="Calibri"/>
                          <a:ea typeface="Calibri"/>
                          <a:cs typeface="Calibri"/>
                          <a:sym typeface="Calibri"/>
                          <a:hlinkClick r:id="rId18"/>
                        </a:rPr>
                        <a:t> </a:t>
                      </a:r>
                      <a:r>
                        <a:rPr lang="en" sz="1000" u="sng">
                          <a:solidFill>
                            <a:schemeClr val="hlink"/>
                          </a:solidFill>
                          <a:latin typeface="Calibri"/>
                          <a:ea typeface="Calibri"/>
                          <a:cs typeface="Calibri"/>
                          <a:sym typeface="Calibri"/>
                          <a:hlinkClick r:id="rId18"/>
                        </a:rPr>
                        <a:t>arXiv</a:t>
                      </a:r>
                      <a:endParaRPr sz="10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30"/>
          <p:cNvSpPr txBox="1"/>
          <p:nvPr/>
        </p:nvSpPr>
        <p:spPr>
          <a:xfrm>
            <a:off x="60250" y="431150"/>
            <a:ext cx="44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API’s file search tool works as multimodal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a:t>
            </a:r>
            <a:r>
              <a:rPr lang="en" sz="1200" b="1">
                <a:solidFill>
                  <a:srgbClr val="3C78D8"/>
                </a:solidFill>
                <a:latin typeface="Calibri"/>
                <a:ea typeface="Calibri"/>
                <a:cs typeface="Calibri"/>
                <a:sym typeface="Calibri"/>
              </a:rPr>
              <a:t>upload and search through PDFs, images, and documents </a:t>
            </a:r>
            <a:r>
              <a:rPr lang="en" sz="1200">
                <a:solidFill>
                  <a:schemeClr val="dk1"/>
                </a:solidFill>
                <a:latin typeface="Calibri"/>
                <a:ea typeface="Calibri"/>
                <a:cs typeface="Calibri"/>
                <a:sym typeface="Calibri"/>
              </a:rPr>
              <a:t>simultaneously </a:t>
            </a:r>
            <a:r>
              <a:rPr lang="en" sz="1200" u="sng">
                <a:solidFill>
                  <a:schemeClr val="hlink"/>
                </a:solidFill>
                <a:latin typeface="Calibri"/>
                <a:ea typeface="Calibri"/>
                <a:cs typeface="Calibri"/>
                <a:sym typeface="Calibri"/>
                <a:hlinkClick r:id="rId3"/>
              </a:rPr>
              <a:t>http://www.youtube.com/watch?v=-Bp2Sz5xir4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a:t>
            </a:r>
            <a:r>
              <a:rPr lang="en" sz="1200" b="1">
                <a:solidFill>
                  <a:srgbClr val="3C78D8"/>
                </a:solidFill>
                <a:latin typeface="Calibri"/>
                <a:ea typeface="Calibri"/>
                <a:cs typeface="Calibri"/>
                <a:sym typeface="Calibri"/>
              </a:rPr>
              <a:t>embed visual content like charts and diagrams alongside text, the introduction of custom metadata </a:t>
            </a:r>
            <a:r>
              <a:rPr lang="en" sz="1200">
                <a:solidFill>
                  <a:schemeClr val="dk1"/>
                </a:solidFill>
                <a:latin typeface="Calibri"/>
                <a:ea typeface="Calibri"/>
                <a:cs typeface="Calibri"/>
                <a:sym typeface="Calibri"/>
              </a:rPr>
              <a:t>for precise filtering, and the addition of page-level citations for more accurate grounding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handles ingestion, chunking, and embedding using Gemini Embedding 2</a:t>
            </a:r>
            <a:endParaRPr sz="1200">
              <a:solidFill>
                <a:schemeClr val="dk1"/>
              </a:solidFill>
              <a:latin typeface="Calibri"/>
              <a:ea typeface="Calibri"/>
              <a:cs typeface="Calibri"/>
              <a:sym typeface="Calibri"/>
            </a:endParaRPr>
          </a:p>
        </p:txBody>
      </p:sp>
      <p:sp>
        <p:nvSpPr>
          <p:cNvPr id="214" name="Google Shape;214;p30"/>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5" name="Google Shape;215;p30"/>
          <p:cNvSpPr txBox="1"/>
          <p:nvPr/>
        </p:nvSpPr>
        <p:spPr>
          <a:xfrm>
            <a:off x="60250" y="2202956"/>
            <a:ext cx="4483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Hybrid RAG using Python</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(keyword-based sparse retrieval)</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Dense Embeddings (semantic search)</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Reciprocal Rank Fusion (RRF) - merge search results</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Coherent Reranker - for final optimization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http://www.youtube.com/watch?v=XvKiTfd6Xvo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Numpy to tokenize text and generate embeddings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Evaluation using NDCG metric; adding a reranker significantly boosts retrieval accuracy from 34% to 47% </a:t>
            </a:r>
            <a:endParaRPr sz="1200">
              <a:solidFill>
                <a:schemeClr val="dk1"/>
              </a:solidFill>
              <a:latin typeface="Calibri"/>
              <a:ea typeface="Calibri"/>
              <a:cs typeface="Calibri"/>
              <a:sym typeface="Calibri"/>
            </a:endParaRPr>
          </a:p>
        </p:txBody>
      </p:sp>
      <p:sp>
        <p:nvSpPr>
          <p:cNvPr id="216" name="Google Shape;216;p30"/>
          <p:cNvSpPr txBox="1"/>
          <p:nvPr/>
        </p:nvSpPr>
        <p:spPr>
          <a:xfrm>
            <a:off x="60250" y="4178405"/>
            <a:ext cx="44832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pointer with Visual Understanding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http://www.youtube.com/watch?v=fVuEscyAK-I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simply point at anything on their screen - and use voice commands like "summarize this" or "fix this"</a:t>
            </a:r>
            <a:endParaRPr sz="1200">
              <a:solidFill>
                <a:schemeClr val="dk1"/>
              </a:solidFill>
              <a:latin typeface="Calibri"/>
              <a:ea typeface="Calibri"/>
              <a:cs typeface="Calibri"/>
              <a:sym typeface="Calibri"/>
            </a:endParaRPr>
          </a:p>
        </p:txBody>
      </p:sp>
      <p:pic>
        <p:nvPicPr>
          <p:cNvPr id="217" name="Google Shape;217;p30"/>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895850" y="4056093"/>
            <a:ext cx="2369850" cy="1001825"/>
          </a:xfrm>
          <a:prstGeom prst="rect">
            <a:avLst/>
          </a:prstGeom>
          <a:noFill/>
          <a:ln w="9525" cap="flat" cmpd="sng">
            <a:solidFill>
              <a:srgbClr val="FF0000"/>
            </a:solidFill>
            <a:prstDash val="solid"/>
            <a:round/>
            <a:headEnd type="none" w="sm" len="sm"/>
            <a:tailEnd type="none" w="sm" len="sm"/>
          </a:ln>
        </p:spPr>
      </p:pic>
      <p:pic>
        <p:nvPicPr>
          <p:cNvPr id="218" name="Google Shape;218;p30"/>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895850" y="431150"/>
            <a:ext cx="3979352" cy="1496100"/>
          </a:xfrm>
          <a:prstGeom prst="rect">
            <a:avLst/>
          </a:prstGeom>
          <a:noFill/>
          <a:ln w="9525" cap="flat" cmpd="sng">
            <a:solidFill>
              <a:srgbClr val="FF0000"/>
            </a:solidFill>
            <a:prstDash val="solid"/>
            <a:round/>
            <a:headEnd type="none" w="sm" len="sm"/>
            <a:tailEnd type="none" w="sm" len="sm"/>
          </a:ln>
        </p:spPr>
      </p:pic>
      <p:pic>
        <p:nvPicPr>
          <p:cNvPr id="219" name="Google Shape;219;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895850" y="2249230"/>
            <a:ext cx="2945929" cy="158986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1"/>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5" name="Google Shape;225;p31"/>
          <p:cNvSpPr txBox="1"/>
          <p:nvPr/>
        </p:nvSpPr>
        <p:spPr>
          <a:xfrm>
            <a:off x="81775" y="500902"/>
            <a:ext cx="54177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Zero Programming Language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https://zerolang.ai</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4"/>
              </a:rPr>
              <a:t>https://github.com/vercel-labs/zero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a:solidFill>
                  <a:srgbClr val="3C78D8"/>
                </a:solidFill>
                <a:latin typeface="Roboto Mono"/>
                <a:ea typeface="Roboto Mono"/>
                <a:cs typeface="Roboto Mono"/>
                <a:sym typeface="Roboto Mono"/>
              </a:rPr>
              <a:t>curl -fsSL https://zerolang.ai/install.sh | bash </a:t>
            </a:r>
            <a:endParaRPr sz="900">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Zero  - programming language created by Chris Tate at Vercel Labs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Like "mini-Rust", compiles in milliseconds into small native binary (no LLVM bloat)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Compiler and toolchain output is in structured JSON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Zero prioritizes explicitness: effects, memory allocation, and capabilities are all surfaced in function signatures, with no hidden runtime overhead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compiler produces structured, machine-readable output (JSON) with stable diagnostic codes and fix plans, making it easier for both humans and agents to reason about and repair code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single, unified CLI handles checking, building, testing, formatting, and documentation</a:t>
            </a:r>
            <a:endParaRPr sz="1200">
              <a:solidFill>
                <a:schemeClr val="dk1"/>
              </a:solidFill>
              <a:latin typeface="Calibri"/>
              <a:ea typeface="Calibri"/>
              <a:cs typeface="Calibri"/>
              <a:sym typeface="Calibri"/>
            </a:endParaRPr>
          </a:p>
        </p:txBody>
      </p:sp>
      <p:sp>
        <p:nvSpPr>
          <p:cNvPr id="226" name="Google Shape;226;p31"/>
          <p:cNvSpPr txBox="1"/>
          <p:nvPr/>
        </p:nvSpPr>
        <p:spPr>
          <a:xfrm>
            <a:off x="81775" y="3217621"/>
            <a:ext cx="49569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Agents' core iterative process:</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prototyping</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planning</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building</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most effective skill system is a lightweight, bespoke one built from your own practical engineering experience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Keep custom prompts minimal to avoid bloating the AI's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https://www.youtube.com/watch?v=VoxL_YmHR-I</a:t>
            </a:r>
            <a:endParaRPr sz="1200">
              <a:solidFill>
                <a:schemeClr val="dk1"/>
              </a:solidFill>
              <a:latin typeface="Calibri"/>
              <a:ea typeface="Calibri"/>
              <a:cs typeface="Calibri"/>
              <a:sym typeface="Calibri"/>
            </a:endParaRPr>
          </a:p>
        </p:txBody>
      </p:sp>
      <p:pic>
        <p:nvPicPr>
          <p:cNvPr id="227" name="Google Shape;227;p31"/>
          <p:cNvPicPr preferRelativeResize="0"/>
          <p:nvPr/>
        </p:nvPicPr>
        <p:blipFill>
          <a:blip r:embed="rId6">
            <a:alphaModFix/>
          </a:blip>
          <a:stretch>
            <a:fillRect/>
          </a:stretch>
        </p:blipFill>
        <p:spPr>
          <a:xfrm>
            <a:off x="5593400" y="598598"/>
            <a:ext cx="2994775" cy="2139125"/>
          </a:xfrm>
          <a:prstGeom prst="rect">
            <a:avLst/>
          </a:prstGeom>
          <a:noFill/>
          <a:ln w="9525" cap="flat" cmpd="sng">
            <a:solidFill>
              <a:srgbClr val="FF0000"/>
            </a:solidFill>
            <a:prstDash val="solid"/>
            <a:round/>
            <a:headEnd type="none" w="sm" len="sm"/>
            <a:tailEnd type="none" w="sm" len="sm"/>
          </a:ln>
        </p:spPr>
      </p:pic>
      <p:pic>
        <p:nvPicPr>
          <p:cNvPr id="228" name="Google Shape;228;p3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86644" y="3324097"/>
            <a:ext cx="3242625" cy="16800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2"/>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4" name="Google Shape;234;p32"/>
          <p:cNvSpPr txBox="1"/>
          <p:nvPr/>
        </p:nvSpPr>
        <p:spPr>
          <a:xfrm>
            <a:off x="81775" y="500900"/>
            <a:ext cx="4394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ChatGPT Personal Finance using Plaid.com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Pro users in US can link bank accounts, portfolios, credit cards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Financial dashboards, financial advice using GPT-5.5 thinking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https://openai.com/index/personal-finance-chatgpt/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35" name="Google Shape;235;p32"/>
          <p:cNvSpPr txBox="1"/>
          <p:nvPr/>
        </p:nvSpPr>
        <p:spPr>
          <a:xfrm>
            <a:off x="81775" y="1416341"/>
            <a:ext cx="4394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Tencent "Marvis" Personal AI assistant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 "Beta" for Windows and Android</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Operates  24x7 via virtual agents, supports multiple LLMs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Controls desktop software and mobile apps, adjust system settings, perform tasks for users, execute code, work with local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Document understanding, AI-powered local search, app installation, knowledge management, gaming automation, daily task assistance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https://x.com/LunchangG7603/status/2049054090114834664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36" name="Google Shape;236;p32"/>
          <p:cNvSpPr txBox="1"/>
          <p:nvPr/>
        </p:nvSpPr>
        <p:spPr>
          <a:xfrm>
            <a:off x="81775" y="3017804"/>
            <a:ext cx="43941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Mavis ("MiniMax as a Jarvis")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Multi-agent collaboration system "Agent Teams"</a:t>
            </a:r>
            <a:r>
              <a:rPr lang="en" sz="1200">
                <a:solidFill>
                  <a:schemeClr val="dk1"/>
                </a:solidFill>
                <a:latin typeface="Calibri"/>
                <a:ea typeface="Calibri"/>
                <a:cs typeface="Calibri"/>
                <a:sym typeface="Calibri"/>
              </a:rPr>
              <a:t> built on an infrastructure called "Team Engine"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system uses three distinct roles: </a:t>
            </a:r>
            <a:r>
              <a:rPr lang="en" sz="1200" b="1">
                <a:solidFill>
                  <a:srgbClr val="3C78D8"/>
                </a:solidFill>
                <a:latin typeface="Calibri"/>
                <a:ea typeface="Calibri"/>
                <a:cs typeface="Calibri"/>
                <a:sym typeface="Calibri"/>
              </a:rPr>
              <a:t>Leader, Worker, and Verifier</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Worker and Verifier operate in an adversarial relationship to improve output quality through continuous checks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Mavis is designed to handle complex, long-duration tasks that a single agent cannot manage reliably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Mavis also supports WeChat and Feishu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Mavis merges API and Agent subscriptions into a single unified plan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https://eu.36kr.com/en/p/3808272507215621</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7" name="Google Shape;237;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42675" y="339250"/>
            <a:ext cx="1760450" cy="985850"/>
          </a:xfrm>
          <a:prstGeom prst="rect">
            <a:avLst/>
          </a:prstGeom>
          <a:noFill/>
          <a:ln w="9525" cap="flat" cmpd="sng">
            <a:solidFill>
              <a:srgbClr val="FF0000"/>
            </a:solidFill>
            <a:prstDash val="solid"/>
            <a:round/>
            <a:headEnd type="none" w="sm" len="sm"/>
            <a:tailEnd type="none" w="sm" len="sm"/>
          </a:ln>
        </p:spPr>
      </p:pic>
      <p:pic>
        <p:nvPicPr>
          <p:cNvPr id="238" name="Google Shape;238;p32"/>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642675" y="1416350"/>
            <a:ext cx="2828800" cy="1613801"/>
          </a:xfrm>
          <a:prstGeom prst="rect">
            <a:avLst/>
          </a:prstGeom>
          <a:noFill/>
          <a:ln w="9525" cap="flat" cmpd="sng">
            <a:solidFill>
              <a:srgbClr val="FF0000"/>
            </a:solidFill>
            <a:prstDash val="solid"/>
            <a:round/>
            <a:headEnd type="none" w="sm" len="sm"/>
            <a:tailEnd type="none" w="sm" len="sm"/>
          </a:ln>
        </p:spPr>
      </p:pic>
      <p:pic>
        <p:nvPicPr>
          <p:cNvPr id="239" name="Google Shape;239;p32"/>
          <p:cNvPicPr preferRelativeResize="0"/>
          <p:nvPr/>
        </p:nvPicPr>
        <p:blipFill>
          <a:blip r:embed="rId8">
            <a:alphaModFix/>
          </a:blip>
          <a:stretch>
            <a:fillRect/>
          </a:stretch>
        </p:blipFill>
        <p:spPr>
          <a:xfrm>
            <a:off x="4642675" y="3465275"/>
            <a:ext cx="3276600" cy="1390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3"/>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Agent sandboxing</a:t>
            </a:r>
            <a:endParaRPr sz="2000" b="1">
              <a:solidFill>
                <a:schemeClr val="dk1"/>
              </a:solidFill>
              <a:latin typeface="Calibri"/>
              <a:ea typeface="Calibri"/>
              <a:cs typeface="Calibri"/>
              <a:sym typeface="Calibri"/>
            </a:endParaRPr>
          </a:p>
        </p:txBody>
      </p:sp>
      <p:sp>
        <p:nvSpPr>
          <p:cNvPr id="245" name="Google Shape;245;p33"/>
          <p:cNvSpPr txBox="1"/>
          <p:nvPr/>
        </p:nvSpPr>
        <p:spPr>
          <a:xfrm>
            <a:off x="109500" y="515475"/>
            <a:ext cx="45090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sandboxing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Running AI agents in isolated environments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so they can't compromise the host, steal data, or escalate privileges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MicroVMs like Firecracker, Cloud Hypervisor, and Kata Containers</a:t>
            </a: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are the current standard</a:t>
            </a:r>
            <a:r>
              <a:rPr lang="en" sz="1200">
                <a:solidFill>
                  <a:schemeClr val="dk1"/>
                </a:solidFill>
                <a:latin typeface="Calibri"/>
                <a:ea typeface="Calibri"/>
                <a:cs typeface="Calibri"/>
                <a:sym typeface="Calibri"/>
              </a:rPr>
              <a:t>, offering hardware-enforced isolation with </a:t>
            </a:r>
            <a:r>
              <a:rPr lang="en" sz="1200" b="1">
                <a:solidFill>
                  <a:srgbClr val="3C78D8"/>
                </a:solidFill>
                <a:latin typeface="Calibri"/>
                <a:ea typeface="Calibri"/>
                <a:cs typeface="Calibri"/>
                <a:sym typeface="Calibri"/>
              </a:rPr>
              <a:t>sub‑second boot</a:t>
            </a:r>
            <a:r>
              <a:rPr lang="en" sz="1200">
                <a:solidFill>
                  <a:schemeClr val="dk1"/>
                </a:solidFill>
                <a:latin typeface="Calibri"/>
                <a:ea typeface="Calibri"/>
                <a:cs typeface="Calibri"/>
                <a:sym typeface="Calibri"/>
              </a:rPr>
              <a:t> and </a:t>
            </a:r>
            <a:r>
              <a:rPr lang="en" sz="1200" b="1">
                <a:solidFill>
                  <a:srgbClr val="3C78D8"/>
                </a:solidFill>
                <a:latin typeface="Calibri"/>
                <a:ea typeface="Calibri"/>
                <a:cs typeface="Calibri"/>
                <a:sym typeface="Calibri"/>
              </a:rPr>
              <a:t>low memory overhead</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Docker Sandboxes</a:t>
            </a:r>
            <a:r>
              <a:rPr lang="en" sz="1200">
                <a:solidFill>
                  <a:schemeClr val="dk1"/>
                </a:solidFill>
                <a:latin typeface="Calibri"/>
                <a:ea typeface="Calibri"/>
                <a:cs typeface="Calibri"/>
                <a:sym typeface="Calibri"/>
              </a:rPr>
              <a:t> - uses </a:t>
            </a:r>
            <a:r>
              <a:rPr lang="en" sz="1200" b="1">
                <a:solidFill>
                  <a:srgbClr val="FF0000"/>
                </a:solidFill>
                <a:latin typeface="Calibri"/>
                <a:ea typeface="Calibri"/>
                <a:cs typeface="Calibri"/>
                <a:sym typeface="Calibri"/>
              </a:rPr>
              <a:t>microVM-level isolation on macOS, Windows, and Linux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Lighter options like </a:t>
            </a:r>
            <a:r>
              <a:rPr lang="en" sz="1200" b="1">
                <a:solidFill>
                  <a:srgbClr val="FF0000"/>
                </a:solidFill>
                <a:latin typeface="Calibri"/>
                <a:ea typeface="Calibri"/>
                <a:cs typeface="Calibri"/>
                <a:sym typeface="Calibri"/>
              </a:rPr>
              <a:t>gVisor</a:t>
            </a:r>
            <a:r>
              <a:rPr lang="en" sz="1200">
                <a:solidFill>
                  <a:schemeClr val="dk1"/>
                </a:solidFill>
                <a:latin typeface="Calibri"/>
                <a:ea typeface="Calibri"/>
                <a:cs typeface="Calibri"/>
                <a:sym typeface="Calibri"/>
              </a:rPr>
              <a:t> intercept syscalls in user space for stronger isolation than plain containers, but with less overhead than full microVMs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V8 isolates and WebAssembly/WASI runtimes</a:t>
            </a:r>
            <a:r>
              <a:rPr lang="en" sz="1200">
                <a:solidFill>
                  <a:schemeClr val="dk1"/>
                </a:solidFill>
                <a:latin typeface="Calibri"/>
                <a:ea typeface="Calibri"/>
                <a:cs typeface="Calibri"/>
                <a:sym typeface="Calibri"/>
              </a:rPr>
              <a:t> start in a few milliseconds with small memory use, but they only support JS/TS/Wasm and provide softer, process-level isolation</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Firecracker: </a:t>
            </a:r>
            <a:r>
              <a:rPr lang="en" sz="1200" u="sng">
                <a:solidFill>
                  <a:schemeClr val="hlink"/>
                </a:solidFill>
                <a:latin typeface="Calibri"/>
                <a:ea typeface="Calibri"/>
                <a:cs typeface="Calibri"/>
                <a:sym typeface="Calibri"/>
                <a:hlinkClick r:id="rId3"/>
              </a:rPr>
              <a:t>https://firecracker-microvm.github.io</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Hypervisor: </a:t>
            </a:r>
            <a:r>
              <a:rPr lang="en" sz="1200" u="sng">
                <a:solidFill>
                  <a:schemeClr val="hlink"/>
                </a:solidFill>
                <a:latin typeface="Calibri"/>
                <a:ea typeface="Calibri"/>
                <a:cs typeface="Calibri"/>
                <a:sym typeface="Calibri"/>
                <a:hlinkClick r:id="rId4"/>
              </a:rPr>
              <a:t>https://www.cloudhypervisor.org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Kata Containers: </a:t>
            </a:r>
            <a:r>
              <a:rPr lang="en" sz="1200" u="sng">
                <a:solidFill>
                  <a:schemeClr val="hlink"/>
                </a:solidFill>
                <a:latin typeface="Calibri"/>
                <a:ea typeface="Calibri"/>
                <a:cs typeface="Calibri"/>
                <a:sym typeface="Calibri"/>
                <a:hlinkClick r:id="rId5"/>
              </a:rPr>
              <a:t>https://katacontainers.io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Regardless of runtime, key practices are:</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least privilege (non‑root, read‑only mounts, min capabilities)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tight network egress (going out) filtering</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strict resource limits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layered defenses (seccomp, MAC, network policies)</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Secrets should be injected at egress time using short‑lived credentials so agents never handle raw keys</a:t>
            </a:r>
            <a:endParaRPr sz="1200">
              <a:solidFill>
                <a:schemeClr val="dk1"/>
              </a:solidFill>
              <a:latin typeface="Calibri"/>
              <a:ea typeface="Calibri"/>
              <a:cs typeface="Calibri"/>
              <a:sym typeface="Calibri"/>
            </a:endParaRPr>
          </a:p>
        </p:txBody>
      </p:sp>
      <p:sp>
        <p:nvSpPr>
          <p:cNvPr id="246" name="Google Shape;246;p33"/>
          <p:cNvSpPr txBox="1"/>
          <p:nvPr/>
        </p:nvSpPr>
        <p:spPr>
          <a:xfrm>
            <a:off x="4671975" y="515475"/>
            <a:ext cx="43950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Personal AI agents like OpenClaw and Hermes Agent pose real security risks</a:t>
            </a:r>
            <a:r>
              <a:rPr lang="en" sz="1200">
                <a:solidFill>
                  <a:schemeClr val="dk1"/>
                </a:solidFill>
                <a:latin typeface="Calibri"/>
                <a:ea typeface="Calibri"/>
                <a:cs typeface="Calibri"/>
                <a:sym typeface="Calibri"/>
              </a:rPr>
              <a:t> - they </a:t>
            </a:r>
            <a:r>
              <a:rPr lang="en" sz="1200" b="1">
                <a:solidFill>
                  <a:srgbClr val="3C78D8"/>
                </a:solidFill>
                <a:latin typeface="Calibri"/>
                <a:ea typeface="Calibri"/>
                <a:cs typeface="Calibri"/>
                <a:sym typeface="Calibri"/>
              </a:rPr>
              <a:t>run continuously, hold OAuth tokens, execute shell commands, and are vulnerable to prompt injection </a:t>
            </a:r>
            <a:r>
              <a:rPr lang="en" sz="1200">
                <a:solidFill>
                  <a:schemeClr val="dk1"/>
                </a:solidFill>
                <a:latin typeface="Calibri"/>
                <a:ea typeface="Calibri"/>
                <a:cs typeface="Calibri"/>
                <a:sym typeface="Calibri"/>
              </a:rPr>
              <a:t>from emails, messages, or untrusted skill files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Cisco AI Security finding confirmed at least one OpenClaw skill was silently exfiltrating data. Never run these agents on your main user account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deployment patterns address this:</a:t>
            </a:r>
            <a:endParaRPr sz="12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A cloud VPS</a:t>
            </a:r>
            <a:r>
              <a:rPr lang="en" sz="1100">
                <a:solidFill>
                  <a:srgbClr val="3C78D8"/>
                </a:solidFill>
                <a:latin typeface="Calibri"/>
                <a:ea typeface="Calibri"/>
                <a:cs typeface="Calibri"/>
                <a:sym typeface="Calibri"/>
              </a:rPr>
              <a:t> ($5–20/mo) is the safest default - run the agent in a hardened Docker container on a dedicated non-root user with egress allowlisting</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A dedicated Mac mini </a:t>
            </a:r>
            <a:r>
              <a:rPr lang="en" sz="1100">
                <a:solidFill>
                  <a:srgbClr val="3C78D8"/>
                </a:solidFill>
                <a:latin typeface="Calibri"/>
                <a:ea typeface="Calibri"/>
                <a:cs typeface="Calibri"/>
                <a:sym typeface="Calibri"/>
              </a:rPr>
              <a:t>offers better privacy and lower long-term cost, ideally with the agent isolated on a separate user account inside a Linux VM - </a:t>
            </a:r>
            <a:r>
              <a:rPr lang="en" sz="1100" u="sng">
                <a:solidFill>
                  <a:schemeClr val="hlink"/>
                </a:solidFill>
                <a:latin typeface="Calibri"/>
                <a:ea typeface="Calibri"/>
                <a:cs typeface="Calibri"/>
                <a:sym typeface="Calibri"/>
                <a:hlinkClick r:id="rId6"/>
              </a:rPr>
              <a:t>https://mac.getutm.app</a:t>
            </a:r>
            <a:r>
              <a:rPr lang="en" sz="1100">
                <a:solidFill>
                  <a:srgbClr val="3C78D8"/>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7"/>
              </a:rPr>
              <a:t>https://orbstack.dev</a:t>
            </a:r>
            <a:r>
              <a:rPr lang="en" sz="1100">
                <a:solidFill>
                  <a:srgbClr val="3C78D8"/>
                </a:solidFill>
                <a:latin typeface="Calibri"/>
                <a:ea typeface="Calibri"/>
                <a:cs typeface="Calibri"/>
                <a:sym typeface="Calibri"/>
              </a:rPr>
              <a:t> </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b="1">
                <a:solidFill>
                  <a:srgbClr val="FF0000"/>
                </a:solidFill>
                <a:latin typeface="Calibri"/>
                <a:ea typeface="Calibri"/>
                <a:cs typeface="Calibri"/>
                <a:sym typeface="Calibri"/>
              </a:rPr>
              <a:t>Your own Mac</a:t>
            </a:r>
            <a:r>
              <a:rPr lang="en" sz="1100">
                <a:solidFill>
                  <a:srgbClr val="3C78D8"/>
                </a:solidFill>
                <a:latin typeface="Calibri"/>
                <a:ea typeface="Calibri"/>
                <a:cs typeface="Calibri"/>
                <a:sym typeface="Calibri"/>
              </a:rPr>
              <a:t> is riskiest but manageable using a separate macOS user, OrbStack VM, and Docker</a:t>
            </a:r>
            <a:endParaRPr sz="11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Regardless of pattern: use short-lived tokens with minimal scopes, default-deny outbound networking, read-only container filesystems, and never mount your SSH keys or browser profiles</a:t>
            </a:r>
            <a:endParaRPr sz="12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4"/>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Docker History</a:t>
            </a:r>
            <a:endParaRPr sz="2000" b="1">
              <a:solidFill>
                <a:schemeClr val="dk1"/>
              </a:solidFill>
              <a:latin typeface="Calibri"/>
              <a:ea typeface="Calibri"/>
              <a:cs typeface="Calibri"/>
              <a:sym typeface="Calibri"/>
            </a:endParaRPr>
          </a:p>
        </p:txBody>
      </p:sp>
      <p:sp>
        <p:nvSpPr>
          <p:cNvPr id="252" name="Google Shape;252;p34"/>
          <p:cNvSpPr txBox="1"/>
          <p:nvPr/>
        </p:nvSpPr>
        <p:spPr>
          <a:xfrm>
            <a:off x="81775" y="579350"/>
            <a:ext cx="4483200" cy="409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Docker Containers grew from Linux development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chroot &amp; jail </a:t>
            </a:r>
            <a:r>
              <a:rPr lang="en" sz="1100">
                <a:solidFill>
                  <a:schemeClr val="dk1"/>
                </a:solidFill>
                <a:latin typeface="Calibri"/>
                <a:ea typeface="Calibri"/>
                <a:cs typeface="Calibri"/>
                <a:sym typeface="Calibri"/>
              </a:rPr>
              <a:t>(~1982) as precursors of containers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3"/>
              </a:rPr>
              <a:t>https://en.wikipedia.org/wiki/Chroot</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Idea - good isolation between users and processes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Three Linux features used by docker: </a:t>
            </a:r>
            <a:br>
              <a:rPr lang="en" sz="1100">
                <a:solidFill>
                  <a:schemeClr val="dk1"/>
                </a:solidFill>
                <a:latin typeface="Calibri"/>
                <a:ea typeface="Calibri"/>
                <a:cs typeface="Calibri"/>
                <a:sym typeface="Calibri"/>
              </a:rPr>
            </a:br>
            <a:r>
              <a:rPr lang="en" sz="1100" b="1">
                <a:solidFill>
                  <a:srgbClr val="3C78D8"/>
                </a:solidFill>
                <a:latin typeface="Calibri"/>
                <a:ea typeface="Calibri"/>
                <a:cs typeface="Calibri"/>
                <a:sym typeface="Calibri"/>
              </a:rPr>
              <a:t>namespaces, control groups, union file systems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work on control groups started at </a:t>
            </a:r>
            <a:r>
              <a:rPr lang="en" sz="1100" b="1">
                <a:solidFill>
                  <a:srgbClr val="3C78D8"/>
                </a:solidFill>
                <a:latin typeface="Calibri"/>
                <a:ea typeface="Calibri"/>
                <a:cs typeface="Calibri"/>
                <a:sym typeface="Calibri"/>
              </a:rPr>
              <a:t>Google in 2006 (primarily </a:t>
            </a:r>
            <a:r>
              <a:rPr lang="en" sz="1100" b="1">
                <a:solidFill>
                  <a:srgbClr val="FF0000"/>
                </a:solidFill>
                <a:latin typeface="Calibri"/>
                <a:ea typeface="Calibri"/>
                <a:cs typeface="Calibri"/>
                <a:sym typeface="Calibri"/>
              </a:rPr>
              <a:t>Paul Menage and Rohit Seth</a:t>
            </a:r>
            <a:r>
              <a:rPr lang="en" sz="1100" b="1">
                <a:solidFill>
                  <a:srgbClr val="3C78D8"/>
                </a:solidFill>
                <a:latin typeface="Calibri"/>
                <a:ea typeface="Calibri"/>
                <a:cs typeface="Calibri"/>
                <a:sym typeface="Calibri"/>
              </a:rPr>
              <a:t>)</a:t>
            </a:r>
            <a:r>
              <a:rPr lang="en" sz="1100">
                <a:solidFill>
                  <a:schemeClr val="dk1"/>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4"/>
              </a:rPr>
              <a:t>https://en.wikipedia.org/wiki/Cgroups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Early versions of Docker (until v1.10) used LXC (Linux Containers) as the container execution driver - </a:t>
            </a:r>
            <a:r>
              <a:rPr lang="en" sz="1100" u="sng">
                <a:solidFill>
                  <a:schemeClr val="hlink"/>
                </a:solidFill>
                <a:latin typeface="Calibri"/>
                <a:ea typeface="Calibri"/>
                <a:cs typeface="Calibri"/>
                <a:sym typeface="Calibri"/>
                <a:hlinkClick r:id="rId5"/>
              </a:rPr>
              <a:t>https://en.wikipedia.org/wiki/LXC</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docker is written in “Go” ! </a:t>
            </a:r>
            <a:r>
              <a:rPr lang="en" sz="900" u="sng">
                <a:solidFill>
                  <a:schemeClr val="hlink"/>
                </a:solidFill>
                <a:latin typeface="Calibri"/>
                <a:ea typeface="Calibri"/>
                <a:cs typeface="Calibri"/>
                <a:sym typeface="Calibri"/>
                <a:hlinkClick r:id="rId6"/>
              </a:rPr>
              <a:t>https://docs.docker.com/get-started/docker-overview/#the-underlying-technology</a:t>
            </a:r>
            <a:r>
              <a:rPr lang="en" sz="9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3C78D8"/>
                </a:solidFill>
                <a:latin typeface="Calibri"/>
                <a:ea typeface="Calibri"/>
                <a:cs typeface="Calibri"/>
                <a:sym typeface="Calibri"/>
              </a:rPr>
              <a:t>Docker is open source software </a:t>
            </a:r>
            <a:r>
              <a:rPr lang="en" sz="1100">
                <a:solidFill>
                  <a:schemeClr val="dk1"/>
                </a:solidFill>
                <a:latin typeface="Calibri"/>
                <a:ea typeface="Calibri"/>
                <a:cs typeface="Calibri"/>
                <a:sym typeface="Calibri"/>
              </a:rPr>
              <a:t>- </a:t>
            </a:r>
            <a:r>
              <a:rPr lang="en" sz="1100" u="sng">
                <a:solidFill>
                  <a:schemeClr val="hlink"/>
                </a:solidFill>
                <a:latin typeface="Calibri"/>
                <a:ea typeface="Calibri"/>
                <a:cs typeface="Calibri"/>
                <a:sym typeface="Calibri"/>
                <a:hlinkClick r:id="rId7"/>
              </a:rPr>
              <a:t>https://www.docker.com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Docker, Inc. - Founded 2013, San Francisco, CA · ~1,000 employees</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Docker Hub (~14M+ images) </a:t>
            </a:r>
            <a:r>
              <a:rPr lang="en" sz="1100">
                <a:solidFill>
                  <a:schemeClr val="dk1"/>
                </a:solidFill>
                <a:latin typeface="Calibri"/>
                <a:ea typeface="Calibri"/>
                <a:cs typeface="Calibri"/>
                <a:sym typeface="Calibri"/>
              </a:rPr>
              <a:t>- </a:t>
            </a:r>
            <a:r>
              <a:rPr lang="en" sz="1100" u="sng">
                <a:solidFill>
                  <a:schemeClr val="hlink"/>
                </a:solidFill>
                <a:latin typeface="Calibri"/>
                <a:ea typeface="Calibri"/>
                <a:cs typeface="Calibri"/>
                <a:sym typeface="Calibri"/>
                <a:hlinkClick r:id="rId8"/>
              </a:rPr>
              <a:t>https://hub.docker.com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200" b="1">
                <a:solidFill>
                  <a:srgbClr val="FF0000"/>
                </a:solidFill>
                <a:latin typeface="Calibri"/>
                <a:ea typeface="Calibri"/>
                <a:cs typeface="Calibri"/>
                <a:sym typeface="Calibri"/>
              </a:rPr>
              <a:t>Dockerfile</a:t>
            </a:r>
            <a:r>
              <a:rPr lang="en" sz="1200">
                <a:solidFill>
                  <a:schemeClr val="dk1"/>
                </a:solidFill>
                <a:latin typeface="Calibri"/>
                <a:ea typeface="Calibri"/>
                <a:cs typeface="Calibri"/>
                <a:sym typeface="Calibri"/>
              </a:rPr>
              <a:t> </a:t>
            </a:r>
            <a:r>
              <a:rPr lang="en" sz="1100">
                <a:solidFill>
                  <a:schemeClr val="dk1"/>
                </a:solidFill>
                <a:latin typeface="Calibri"/>
                <a:ea typeface="Calibri"/>
                <a:cs typeface="Calibri"/>
                <a:sym typeface="Calibri"/>
              </a:rPr>
              <a:t>- file describing the container - used to build "docker image", downloading and compiling all dependencies together.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run this image, deploy it into production, put it into repository (hub), etc.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Benefits of using containers: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small size (2kb .. 100MB+) - much smaller than typical Virtual Machine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all dependencies included; portability; security, isolation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run multiple containers on a host machine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 can regulate how much resources containers get (CPU, memory, etc.)</a:t>
            </a:r>
            <a:endParaRPr sz="1100">
              <a:solidFill>
                <a:schemeClr val="dk1"/>
              </a:solidFill>
              <a:latin typeface="Calibri"/>
              <a:ea typeface="Calibri"/>
              <a:cs typeface="Calibri"/>
              <a:sym typeface="Calibri"/>
            </a:endParaRPr>
          </a:p>
        </p:txBody>
      </p:sp>
      <p:pic>
        <p:nvPicPr>
          <p:cNvPr id="253" name="Google Shape;253;p3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705672" y="1721325"/>
            <a:ext cx="3343142" cy="1155225"/>
          </a:xfrm>
          <a:prstGeom prst="rect">
            <a:avLst/>
          </a:prstGeom>
          <a:noFill/>
          <a:ln w="9525" cap="flat" cmpd="sng">
            <a:solidFill>
              <a:srgbClr val="FF0000"/>
            </a:solidFill>
            <a:prstDash val="solid"/>
            <a:round/>
            <a:headEnd type="none" w="sm" len="sm"/>
            <a:tailEnd type="none" w="sm" len="sm"/>
          </a:ln>
        </p:spPr>
      </p:pic>
      <p:pic>
        <p:nvPicPr>
          <p:cNvPr id="254" name="Google Shape;254;p34"/>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50700" y="2952250"/>
            <a:ext cx="2845475" cy="2134101"/>
          </a:xfrm>
          <a:prstGeom prst="rect">
            <a:avLst/>
          </a:prstGeom>
          <a:noFill/>
          <a:ln w="9525" cap="flat" cmpd="sng">
            <a:solidFill>
              <a:srgbClr val="FF0000"/>
            </a:solidFill>
            <a:prstDash val="solid"/>
            <a:round/>
            <a:headEnd type="none" w="sm" len="sm"/>
            <a:tailEnd type="none" w="sm" len="sm"/>
          </a:ln>
        </p:spPr>
      </p:pic>
      <p:pic>
        <p:nvPicPr>
          <p:cNvPr id="255" name="Google Shape;255;p34"/>
          <p:cNvPicPr preferRelativeResize="0"/>
          <p:nvPr/>
        </p:nvPicPr>
        <p:blipFill rotWithShape="1">
          <a:blip r:embed="rId11" cstate="email">
            <a:alphaModFix/>
            <a:extLst>
              <a:ext uri="{28A0092B-C50C-407E-A947-70E740481C1C}">
                <a14:useLocalDpi xmlns:a14="http://schemas.microsoft.com/office/drawing/2010/main"/>
              </a:ext>
            </a:extLst>
          </a:blip>
          <a:srcRect/>
          <a:stretch/>
        </p:blipFill>
        <p:spPr>
          <a:xfrm>
            <a:off x="5948800" y="184525"/>
            <a:ext cx="1028700" cy="1155225"/>
          </a:xfrm>
          <a:prstGeom prst="rect">
            <a:avLst/>
          </a:prstGeom>
          <a:noFill/>
          <a:ln w="9525" cap="flat" cmpd="sng">
            <a:solidFill>
              <a:srgbClr val="FF0000"/>
            </a:solidFill>
            <a:prstDash val="solid"/>
            <a:round/>
            <a:headEnd type="none" w="sm" len="sm"/>
            <a:tailEnd type="none" w="sm" len="sm"/>
          </a:ln>
        </p:spPr>
      </p:pic>
      <p:pic>
        <p:nvPicPr>
          <p:cNvPr id="256" name="Google Shape;256;p34"/>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736425" y="184525"/>
            <a:ext cx="1155224" cy="1155226"/>
          </a:xfrm>
          <a:prstGeom prst="rect">
            <a:avLst/>
          </a:prstGeom>
          <a:noFill/>
          <a:ln w="9525" cap="flat" cmpd="sng">
            <a:solidFill>
              <a:srgbClr val="FF0000"/>
            </a:solidFill>
            <a:prstDash val="solid"/>
            <a:round/>
            <a:headEnd type="none" w="sm" len="sm"/>
            <a:tailEnd type="none" w="sm" len="sm"/>
          </a:ln>
        </p:spPr>
      </p:pic>
      <p:sp>
        <p:nvSpPr>
          <p:cNvPr id="257" name="Google Shape;257;p34"/>
          <p:cNvSpPr txBox="1"/>
          <p:nvPr/>
        </p:nvSpPr>
        <p:spPr>
          <a:xfrm>
            <a:off x="4736425" y="1417475"/>
            <a:ext cx="22410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Paul Menage                Rohit Seth</a:t>
            </a:r>
            <a:endParaRPr sz="11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5"/>
          <p:cNvSpPr txBox="1"/>
          <p:nvPr/>
        </p:nvSpPr>
        <p:spPr>
          <a:xfrm>
            <a:off x="60250" y="431150"/>
            <a:ext cx="48438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200" b="1">
                <a:solidFill>
                  <a:srgbClr val="FF0000"/>
                </a:solidFill>
                <a:latin typeface="Calibri"/>
                <a:ea typeface="Calibri"/>
                <a:cs typeface="Calibri"/>
                <a:sym typeface="Calibri"/>
              </a:rPr>
              <a:t>Recursive Intelligence - Use AI to Design Chips</a:t>
            </a:r>
            <a:br>
              <a:rPr lang="en" sz="1200" b="1">
                <a:solidFill>
                  <a:srgbClr val="FF0000"/>
                </a:solidFill>
                <a:latin typeface="Calibri"/>
                <a:ea typeface="Calibri"/>
                <a:cs typeface="Calibri"/>
                <a:sym typeface="Calibri"/>
              </a:rPr>
            </a:br>
            <a:r>
              <a:rPr lang="en" sz="1200" b="1" u="sng">
                <a:solidFill>
                  <a:schemeClr val="hlink"/>
                </a:solidFill>
                <a:latin typeface="Calibri"/>
                <a:ea typeface="Calibri"/>
                <a:cs typeface="Calibri"/>
                <a:sym typeface="Calibri"/>
                <a:hlinkClick r:id="rId3"/>
              </a:rPr>
              <a:t>https://www.ricursive.com</a:t>
            </a:r>
            <a:r>
              <a:rPr lang="en" sz="1200" b="1">
                <a:solidFill>
                  <a:srgbClr val="FF0000"/>
                </a:solidFill>
                <a:latin typeface="Calibri"/>
                <a:ea typeface="Calibri"/>
                <a:cs typeface="Calibri"/>
                <a:sym typeface="Calibri"/>
              </a:rPr>
              <a: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Founders - Anna Goldie and Azalia Mirhoseini </a:t>
            </a:r>
            <a:br>
              <a:rPr lang="en" sz="1200" b="1">
                <a:solidFill>
                  <a:srgbClr val="FF0000"/>
                </a:solidFill>
                <a:latin typeface="Calibri"/>
                <a:ea typeface="Calibri"/>
                <a:cs typeface="Calibri"/>
                <a:sym typeface="Calibri"/>
              </a:rPr>
            </a:br>
            <a:r>
              <a:rPr lang="en" sz="1200">
                <a:solidFill>
                  <a:schemeClr val="dk1"/>
                </a:solidFill>
                <a:latin typeface="Calibri"/>
                <a:ea typeface="Calibri"/>
                <a:cs typeface="Calibri"/>
                <a:sym typeface="Calibri"/>
              </a:rPr>
              <a:t>(Google Brain, then Anthropic)</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http://www.youtube.com/watch?v=K05Dh-QjM8c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Recursive Intelligence plans to accelerate chip design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building tools that are </a:t>
            </a:r>
            <a:r>
              <a:rPr lang="en" sz="1200" b="1">
                <a:solidFill>
                  <a:srgbClr val="3C78D8"/>
                </a:solidFill>
                <a:latin typeface="Calibri"/>
                <a:ea typeface="Calibri"/>
                <a:cs typeface="Calibri"/>
                <a:sym typeface="Calibri"/>
              </a:rPr>
              <a:t>up to x100K faster</a:t>
            </a:r>
            <a:endParaRPr sz="1200" b="1">
              <a:solidFill>
                <a:srgbClr val="3C78D8"/>
              </a:solidFill>
              <a:latin typeface="Calibri"/>
              <a:ea typeface="Calibri"/>
              <a:cs typeface="Calibri"/>
              <a:sym typeface="Calibri"/>
            </a:endParaRPr>
          </a:p>
          <a:p>
            <a:pPr marL="4000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1. Accelerating existing design workflows</a:t>
            </a:r>
            <a:endParaRPr sz="1200">
              <a:solidFill>
                <a:schemeClr val="dk1"/>
              </a:solidFill>
              <a:latin typeface="Calibri"/>
              <a:ea typeface="Calibri"/>
              <a:cs typeface="Calibri"/>
              <a:sym typeface="Calibri"/>
            </a:endParaRPr>
          </a:p>
          <a:p>
            <a:pPr marL="4000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2. Democratizing chip creation through a "designless" platform for custom workloads</a:t>
            </a:r>
            <a:endParaRPr sz="1200">
              <a:solidFill>
                <a:schemeClr val="dk1"/>
              </a:solidFill>
              <a:latin typeface="Calibri"/>
              <a:ea typeface="Calibri"/>
              <a:cs typeface="Calibri"/>
              <a:sym typeface="Calibri"/>
            </a:endParaRPr>
          </a:p>
          <a:p>
            <a:pPr marL="4000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3. Eventually vertically integrating by building their own chips and training models </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By automating the physical substrate of intelligence, they aim to enable a </a:t>
            </a:r>
            <a:r>
              <a:rPr lang="en" sz="1200" b="1">
                <a:solidFill>
                  <a:srgbClr val="3C78D8"/>
                </a:solidFill>
                <a:latin typeface="Calibri"/>
                <a:ea typeface="Calibri"/>
                <a:cs typeface="Calibri"/>
                <a:sym typeface="Calibri"/>
              </a:rPr>
              <a:t>"Cambrian explosion" of specialized hardware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a:t>
            </a:r>
            <a:r>
              <a:rPr lang="en" sz="1200" b="1">
                <a:solidFill>
                  <a:srgbClr val="FF0000"/>
                </a:solidFill>
                <a:latin typeface="Calibri"/>
                <a:ea typeface="Calibri"/>
                <a:cs typeface="Calibri"/>
                <a:sym typeface="Calibri"/>
              </a:rPr>
              <a:t>Cambrian explosion</a:t>
            </a:r>
            <a:r>
              <a:rPr lang="en" sz="1200">
                <a:solidFill>
                  <a:srgbClr val="3C78D8"/>
                </a:solidFill>
                <a:latin typeface="Calibri"/>
                <a:ea typeface="Calibri"/>
                <a:cs typeface="Calibri"/>
                <a:sym typeface="Calibri"/>
              </a:rPr>
              <a:t> (~541 million years ago) was a rapid burst of evolution where nearly all major animal body plans suddenly appeared, transforming Earth from simple organisms to complex, diverse animal life.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founders are known for creating "AlphaChip" - an AI system for chip floor planning deployed across four generations of Google's TPUs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Company is located in Palo Alto, CA</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Ricursive has raised a total of $335 Mln </a:t>
            </a:r>
            <a:r>
              <a:rPr lang="en" sz="1200">
                <a:solidFill>
                  <a:schemeClr val="dk1"/>
                </a:solidFill>
                <a:latin typeface="Calibri"/>
                <a:ea typeface="Calibri"/>
                <a:cs typeface="Calibri"/>
                <a:sym typeface="Calibri"/>
              </a:rPr>
              <a:t>across two rounds: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$35M seed (Dec 2025), $300M (Jan 2026) - $4B valuation</a:t>
            </a:r>
            <a:endParaRPr sz="1200">
              <a:solidFill>
                <a:schemeClr val="dk1"/>
              </a:solidFill>
              <a:latin typeface="Calibri"/>
              <a:ea typeface="Calibri"/>
              <a:cs typeface="Calibri"/>
              <a:sym typeface="Calibri"/>
            </a:endParaRPr>
          </a:p>
        </p:txBody>
      </p:sp>
      <p:sp>
        <p:nvSpPr>
          <p:cNvPr id="263" name="Google Shape;263;p35"/>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264" name="Google Shape;264;p35"/>
          <p:cNvPicPr preferRelativeResize="0"/>
          <p:nvPr/>
        </p:nvPicPr>
        <p:blipFill>
          <a:blip r:embed="rId5">
            <a:alphaModFix/>
          </a:blip>
          <a:stretch>
            <a:fillRect/>
          </a:stretch>
        </p:blipFill>
        <p:spPr>
          <a:xfrm>
            <a:off x="4991793" y="431150"/>
            <a:ext cx="2409825" cy="1895475"/>
          </a:xfrm>
          <a:prstGeom prst="rect">
            <a:avLst/>
          </a:prstGeom>
          <a:noFill/>
          <a:ln w="9525" cap="flat" cmpd="sng">
            <a:solidFill>
              <a:srgbClr val="FF0000"/>
            </a:solidFill>
            <a:prstDash val="solid"/>
            <a:round/>
            <a:headEnd type="none" w="sm" len="sm"/>
            <a:tailEnd type="none" w="sm" len="sm"/>
          </a:ln>
        </p:spPr>
      </p:pic>
      <p:sp>
        <p:nvSpPr>
          <p:cNvPr id="265" name="Google Shape;265;p35"/>
          <p:cNvSpPr txBox="1"/>
          <p:nvPr/>
        </p:nvSpPr>
        <p:spPr>
          <a:xfrm>
            <a:off x="5161943" y="3401925"/>
            <a:ext cx="3892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LLM Precision Evolution Timeline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Nov 2022 - ChatGPT powered by GPT-3.5, FP16 / BF16</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2024 - BF16 / FP8 (mixed)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2025 - FP8 (production standard)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2026 - FP8 + NVFP4 (emerging)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There is work in progress to use FP4 for both training and inference - </a:t>
            </a:r>
            <a:r>
              <a:rPr lang="en" sz="1200" u="sng">
                <a:solidFill>
                  <a:schemeClr val="hlink"/>
                </a:solidFill>
                <a:latin typeface="Calibri"/>
                <a:ea typeface="Calibri"/>
                <a:cs typeface="Calibri"/>
                <a:sym typeface="Calibri"/>
                <a:hlinkClick r:id="rId6"/>
              </a:rPr>
              <a:t>https://arxiv.org/abs/2509.25149</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66" name="Google Shape;266;p35"/>
          <p:cNvSpPr txBox="1"/>
          <p:nvPr/>
        </p:nvSpPr>
        <p:spPr>
          <a:xfrm>
            <a:off x="4991800" y="2326625"/>
            <a:ext cx="2465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solidFill>
                  <a:schemeClr val="dk1"/>
                </a:solidFill>
                <a:latin typeface="Calibri"/>
                <a:ea typeface="Calibri"/>
                <a:cs typeface="Calibri"/>
                <a:sym typeface="Calibri"/>
              </a:rPr>
              <a:t>Azalia Mirhoseini       Anna Goldie</a:t>
            </a:r>
            <a:endParaRPr sz="12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6"/>
          <p:cNvSpPr txBox="1"/>
          <p:nvPr/>
        </p:nvSpPr>
        <p:spPr>
          <a:xfrm>
            <a:off x="60250" y="431150"/>
            <a:ext cx="4843800" cy="275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200" b="1">
                <a:solidFill>
                  <a:srgbClr val="FF0000"/>
                </a:solidFill>
                <a:latin typeface="Calibri"/>
                <a:ea typeface="Calibri"/>
                <a:cs typeface="Calibri"/>
                <a:sym typeface="Calibri"/>
              </a:rPr>
              <a:t>Modal AI - Infrastructure Startup</a:t>
            </a:r>
            <a:endParaRPr sz="12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Founded by </a:t>
            </a:r>
            <a:r>
              <a:rPr lang="en" sz="1200" b="1">
                <a:solidFill>
                  <a:srgbClr val="3C78D8"/>
                </a:solidFill>
                <a:latin typeface="Calibri"/>
                <a:ea typeface="Calibri"/>
                <a:cs typeface="Calibri"/>
                <a:sym typeface="Calibri"/>
              </a:rPr>
              <a:t>Erik Bernhardsson and Akshat Bubna in New York City</a:t>
            </a:r>
            <a:endParaRPr sz="1200" b="1">
              <a:solidFill>
                <a:srgbClr val="3C78D8"/>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Launched its platform in October 2023 after an earlier beta period</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Modal built its own infrastructure stack from scratch, including a </a:t>
            </a:r>
            <a:r>
              <a:rPr lang="en" sz="1200" b="1">
                <a:solidFill>
                  <a:srgbClr val="3C78D8"/>
                </a:solidFill>
                <a:latin typeface="Calibri"/>
                <a:ea typeface="Calibri"/>
                <a:cs typeface="Calibri"/>
                <a:sym typeface="Calibri"/>
              </a:rPr>
              <a:t>custom file system, container runtime, scheduler, and image builder </a:t>
            </a:r>
            <a:r>
              <a:rPr lang="en" sz="1200">
                <a:solidFill>
                  <a:schemeClr val="dk1"/>
                </a:solidFill>
                <a:latin typeface="Calibri"/>
                <a:ea typeface="Calibri"/>
                <a:cs typeface="Calibri"/>
                <a:sym typeface="Calibri"/>
              </a:rPr>
              <a:t>- all optimized for the speed and unpredictability of AI workloads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Developers </a:t>
            </a:r>
            <a:r>
              <a:rPr lang="en" sz="1200" b="1">
                <a:solidFill>
                  <a:srgbClr val="3C78D8"/>
                </a:solidFill>
                <a:latin typeface="Calibri"/>
                <a:ea typeface="Calibri"/>
                <a:cs typeface="Calibri"/>
                <a:sym typeface="Calibri"/>
              </a:rPr>
              <a:t>can scale from a single CPU to thousands of GPUs in minutes, with sub-second container startups and usage-based pricing</a:t>
            </a:r>
            <a:endParaRPr sz="1200" b="1">
              <a:solidFill>
                <a:srgbClr val="3C78D8"/>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Its sandbox environments let developers safely run AI agents and coding tools without disrupting broader systems</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Customers like Meta, Suno, Substack, and Scale AI rely on it daily</a:t>
            </a:r>
            <a:endParaRPr sz="1200">
              <a:solidFill>
                <a:schemeClr val="dk1"/>
              </a:solidFill>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200">
                <a:solidFill>
                  <a:schemeClr val="dk1"/>
                </a:solidFill>
                <a:latin typeface="Calibri"/>
                <a:ea typeface="Calibri"/>
                <a:cs typeface="Calibri"/>
                <a:sym typeface="Calibri"/>
              </a:rPr>
              <a:t>Revenue has grown x5 since fall 2025 to roughly </a:t>
            </a:r>
            <a:r>
              <a:rPr lang="en" sz="1200" b="1">
                <a:solidFill>
                  <a:srgbClr val="FF0000"/>
                </a:solidFill>
                <a:latin typeface="Calibri"/>
                <a:ea typeface="Calibri"/>
                <a:cs typeface="Calibri"/>
                <a:sym typeface="Calibri"/>
              </a:rPr>
              <a:t>$300 Mln ARR</a:t>
            </a:r>
            <a:r>
              <a:rPr lang="en" sz="1200">
                <a:solidFill>
                  <a:schemeClr val="dk1"/>
                </a:solidFill>
                <a:latin typeface="Calibri"/>
                <a:ea typeface="Calibri"/>
                <a:cs typeface="Calibri"/>
                <a:sym typeface="Calibri"/>
              </a:rPr>
              <a:t>, driving investor excitement from firms like Accel and Redpoint Ventures at a projected </a:t>
            </a:r>
            <a:r>
              <a:rPr lang="en" sz="1200" b="1">
                <a:solidFill>
                  <a:srgbClr val="3C78D8"/>
                </a:solidFill>
                <a:latin typeface="Calibri"/>
                <a:ea typeface="Calibri"/>
                <a:cs typeface="Calibri"/>
                <a:sym typeface="Calibri"/>
              </a:rPr>
              <a:t>$4.5 Bln valuation</a:t>
            </a:r>
            <a:endParaRPr sz="1200" b="1">
              <a:solidFill>
                <a:srgbClr val="3C78D8"/>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000" u="sng">
                <a:solidFill>
                  <a:schemeClr val="hlink"/>
                </a:solidFill>
                <a:latin typeface="Calibri"/>
                <a:ea typeface="Calibri"/>
                <a:cs typeface="Calibri"/>
                <a:sym typeface="Calibri"/>
                <a:hlinkClick r:id="rId3"/>
              </a:rPr>
              <a:t>https://www.builtinnyc.com/articles/modal-raises-87m-series-b-1b-valuation-20251001</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272" name="Google Shape;272;p36"/>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3" name="Google Shape;273;p36"/>
          <p:cNvSpPr txBox="1"/>
          <p:nvPr/>
        </p:nvSpPr>
        <p:spPr>
          <a:xfrm>
            <a:off x="60250" y="3334050"/>
            <a:ext cx="48438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Recursive Superintelligence</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 six-month-old startup led by AI researcher </a:t>
            </a:r>
            <a:r>
              <a:rPr lang="en" sz="1200" b="1">
                <a:solidFill>
                  <a:srgbClr val="FF0000"/>
                </a:solidFill>
                <a:latin typeface="Calibri"/>
                <a:ea typeface="Calibri"/>
                <a:cs typeface="Calibri"/>
                <a:sym typeface="Calibri"/>
              </a:rPr>
              <a:t>Richard Socher</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Raised </a:t>
            </a:r>
            <a:r>
              <a:rPr lang="en" sz="1200" b="1">
                <a:solidFill>
                  <a:srgbClr val="3C78D8"/>
                </a:solidFill>
                <a:latin typeface="Calibri"/>
                <a:ea typeface="Calibri"/>
                <a:cs typeface="Calibri"/>
                <a:sym typeface="Calibri"/>
              </a:rPr>
              <a:t>$650 million at a $4 billion valuation</a:t>
            </a:r>
            <a:endParaRPr sz="1200" b="1">
              <a:solidFill>
                <a:srgbClr val="3C78D8"/>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Founded by veterans from OpenAI, Meta, Google, and Salesforce, the company is chasing </a:t>
            </a:r>
            <a:r>
              <a:rPr lang="en" sz="1200" b="1">
                <a:solidFill>
                  <a:srgbClr val="FF0000"/>
                </a:solidFill>
                <a:latin typeface="Calibri"/>
                <a:ea typeface="Calibri"/>
                <a:cs typeface="Calibri"/>
                <a:sym typeface="Calibri"/>
              </a:rPr>
              <a:t>"recursive self-improvement"</a:t>
            </a:r>
            <a:r>
              <a:rPr lang="en" sz="1200">
                <a:solidFill>
                  <a:schemeClr val="dk1"/>
                </a:solidFill>
                <a:latin typeface="Calibri"/>
                <a:ea typeface="Calibri"/>
                <a:cs typeface="Calibri"/>
                <a:sym typeface="Calibri"/>
              </a:rPr>
              <a:t> - </a:t>
            </a:r>
            <a:r>
              <a:rPr lang="en" sz="1200" b="1">
                <a:solidFill>
                  <a:srgbClr val="3C78D8"/>
                </a:solidFill>
                <a:latin typeface="Calibri"/>
                <a:ea typeface="Calibri"/>
                <a:cs typeface="Calibri"/>
                <a:sym typeface="Calibri"/>
              </a:rPr>
              <a:t>AI systems that can build and improve new AI with minimal human involvement</a:t>
            </a:r>
            <a:endParaRPr sz="1200" b="1">
              <a:solidFill>
                <a:srgbClr val="3C78D8"/>
              </a:solidFill>
              <a:latin typeface="Calibri"/>
              <a:ea typeface="Calibri"/>
              <a:cs typeface="Calibri"/>
              <a:sym typeface="Calibri"/>
            </a:endParaRPr>
          </a:p>
        </p:txBody>
      </p:sp>
      <p:pic>
        <p:nvPicPr>
          <p:cNvPr id="274" name="Google Shape;274;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56450" y="3334050"/>
            <a:ext cx="1317300" cy="1543299"/>
          </a:xfrm>
          <a:prstGeom prst="rect">
            <a:avLst/>
          </a:prstGeom>
          <a:noFill/>
          <a:ln w="9525" cap="flat" cmpd="sng">
            <a:solidFill>
              <a:srgbClr val="FF0000"/>
            </a:solidFill>
            <a:prstDash val="solid"/>
            <a:round/>
            <a:headEnd type="none" w="sm" len="sm"/>
            <a:tailEnd type="none" w="sm" len="sm"/>
          </a:ln>
        </p:spPr>
      </p:pic>
      <p:pic>
        <p:nvPicPr>
          <p:cNvPr id="275" name="Google Shape;275;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056450" y="431150"/>
            <a:ext cx="2306749" cy="26137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7"/>
          <p:cNvSpPr txBox="1"/>
          <p:nvPr/>
        </p:nvSpPr>
        <p:spPr>
          <a:xfrm>
            <a:off x="60250" y="391887"/>
            <a:ext cx="4450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Julia McCoy - How to Start a Business</a:t>
            </a:r>
            <a:endParaRPr sz="1200" b="1">
              <a:solidFill>
                <a:srgbClr val="FF0000"/>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First, </a:t>
            </a:r>
            <a:r>
              <a:rPr lang="en" sz="1200" b="1">
                <a:solidFill>
                  <a:srgbClr val="3C78D8"/>
                </a:solidFill>
                <a:latin typeface="Calibri"/>
                <a:ea typeface="Calibri"/>
                <a:cs typeface="Calibri"/>
                <a:sym typeface="Calibri"/>
              </a:rPr>
              <a:t>pick a niche</a:t>
            </a:r>
            <a:r>
              <a:rPr lang="en" sz="1200">
                <a:solidFill>
                  <a:schemeClr val="dk1"/>
                </a:solidFill>
                <a:latin typeface="Calibri"/>
                <a:ea typeface="Calibri"/>
                <a:cs typeface="Calibri"/>
                <a:sym typeface="Calibri"/>
              </a:rPr>
              <a:t> where your personal experience and trustworthiness serve as the ultimate competitive moat</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Second, </a:t>
            </a:r>
            <a:r>
              <a:rPr lang="en" sz="1200" b="1">
                <a:solidFill>
                  <a:srgbClr val="3C78D8"/>
                </a:solidFill>
                <a:latin typeface="Calibri"/>
                <a:ea typeface="Calibri"/>
                <a:cs typeface="Calibri"/>
                <a:sym typeface="Calibri"/>
              </a:rPr>
              <a:t>design a single, high-leverage offer </a:t>
            </a:r>
            <a:r>
              <a:rPr lang="en" sz="1200">
                <a:solidFill>
                  <a:schemeClr val="dk1"/>
                </a:solidFill>
                <a:latin typeface="Calibri"/>
                <a:ea typeface="Calibri"/>
                <a:cs typeface="Calibri"/>
                <a:sym typeface="Calibri"/>
              </a:rPr>
              <a:t>that solves a critical problem costing at least $10,000</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Third, </a:t>
            </a:r>
            <a:r>
              <a:rPr lang="en" sz="1200" b="1">
                <a:solidFill>
                  <a:srgbClr val="3C78D8"/>
                </a:solidFill>
                <a:latin typeface="Calibri"/>
                <a:ea typeface="Calibri"/>
                <a:cs typeface="Calibri"/>
                <a:sym typeface="Calibri"/>
              </a:rPr>
              <a:t>focus exclusively on mastering one high-leverage platform</a:t>
            </a:r>
            <a:r>
              <a:rPr lang="en" sz="1200">
                <a:solidFill>
                  <a:schemeClr val="dk1"/>
                </a:solidFill>
                <a:latin typeface="Calibri"/>
                <a:ea typeface="Calibri"/>
                <a:cs typeface="Calibri"/>
                <a:sym typeface="Calibri"/>
              </a:rPr>
              <a:t> - ideally YouTube - for 12 months</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Fourth, establish </a:t>
            </a:r>
            <a:r>
              <a:rPr lang="en" sz="1200" b="1">
                <a:solidFill>
                  <a:srgbClr val="3C78D8"/>
                </a:solidFill>
                <a:latin typeface="Calibri"/>
                <a:ea typeface="Calibri"/>
                <a:cs typeface="Calibri"/>
                <a:sym typeface="Calibri"/>
              </a:rPr>
              <a:t>backend operations and tech systems </a:t>
            </a:r>
            <a:r>
              <a:rPr lang="en" sz="1200">
                <a:solidFill>
                  <a:schemeClr val="dk1"/>
                </a:solidFill>
                <a:latin typeface="Calibri"/>
                <a:ea typeface="Calibri"/>
                <a:cs typeface="Calibri"/>
                <a:sym typeface="Calibri"/>
              </a:rPr>
              <a:t>using tools like Make and GoHighLevel before scaling an audience</a:t>
            </a:r>
            <a:endParaRPr sz="1200">
              <a:solidFill>
                <a:schemeClr val="dk1"/>
              </a:solidFill>
              <a:latin typeface="Calibri"/>
              <a:ea typeface="Calibri"/>
              <a:cs typeface="Calibri"/>
              <a:sym typeface="Calibri"/>
            </a:endParaRPr>
          </a:p>
          <a:p>
            <a:pPr marL="2857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Finally, </a:t>
            </a:r>
            <a:r>
              <a:rPr lang="en" sz="1200" b="1">
                <a:solidFill>
                  <a:srgbClr val="3C78D8"/>
                </a:solidFill>
                <a:latin typeface="Calibri"/>
                <a:ea typeface="Calibri"/>
                <a:cs typeface="Calibri"/>
                <a:sym typeface="Calibri"/>
              </a:rPr>
              <a:t>create an AI clone of yourself </a:t>
            </a:r>
            <a:r>
              <a:rPr lang="en" sz="1200">
                <a:solidFill>
                  <a:schemeClr val="dk1"/>
                </a:solidFill>
                <a:latin typeface="Calibri"/>
                <a:ea typeface="Calibri"/>
                <a:cs typeface="Calibri"/>
                <a:sym typeface="Calibri"/>
              </a:rPr>
              <a:t>using tools like HeyGen and ElevenLabs </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u="sng">
                <a:solidFill>
                  <a:schemeClr val="hlink"/>
                </a:solidFill>
                <a:latin typeface="Calibri"/>
                <a:ea typeface="Calibri"/>
                <a:cs typeface="Calibri"/>
                <a:sym typeface="Calibri"/>
                <a:hlinkClick r:id="rId3"/>
              </a:rPr>
              <a:t>https://www.youtube.com/watch?v=w1EoIfl2ink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81" name="Google Shape;281;p3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pic>
        <p:nvPicPr>
          <p:cNvPr id="282" name="Google Shape;282;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12825" y="665586"/>
            <a:ext cx="1753589" cy="1685500"/>
          </a:xfrm>
          <a:prstGeom prst="rect">
            <a:avLst/>
          </a:prstGeom>
          <a:noFill/>
          <a:ln w="9525" cap="flat" cmpd="sng">
            <a:solidFill>
              <a:srgbClr val="FF0000"/>
            </a:solidFill>
            <a:prstDash val="solid"/>
            <a:round/>
            <a:headEnd type="none" w="sm" len="sm"/>
            <a:tailEnd type="none" w="sm" len="sm"/>
          </a:ln>
        </p:spPr>
      </p:pic>
      <p:sp>
        <p:nvSpPr>
          <p:cNvPr id="283" name="Google Shape;283;p37"/>
          <p:cNvSpPr txBox="1"/>
          <p:nvPr/>
        </p:nvSpPr>
        <p:spPr>
          <a:xfrm>
            <a:off x="60250" y="2647410"/>
            <a:ext cx="44505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A Thin Prompt on a Frontier Model Is Not a Business</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It is a configuration file your competitor will reproduce in an afternoon and the platform will ship as a default next quarter</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For three years, founders confused "I figured out how to ask the model nicely" with "I built defensible IP"</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Anthropic’s Claude Managed Agents and Microsoft’s Copilot Cowork just absorbed the harness, the memory, the orchestration, and the enterprise distribution in a single quarter</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https://medium.com/@adnanmasood/the-six-month-half-life-why-a-thin-prompt-on-someone-elses-frontier-model-is-not-a-business-5cc0b3f2843a</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84" name="Google Shape;284;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2825" y="3030221"/>
            <a:ext cx="3377350" cy="667300"/>
          </a:xfrm>
          <a:prstGeom prst="rect">
            <a:avLst/>
          </a:prstGeom>
          <a:noFill/>
          <a:ln w="9525" cap="flat" cmpd="sng">
            <a:solidFill>
              <a:srgbClr val="FF0000"/>
            </a:solidFill>
            <a:prstDash val="solid"/>
            <a:round/>
            <a:headEnd type="none" w="sm" len="sm"/>
            <a:tailEnd type="none" w="sm" len="sm"/>
          </a:ln>
        </p:spPr>
      </p:pic>
      <p:sp>
        <p:nvSpPr>
          <p:cNvPr id="285" name="Google Shape;285;p37"/>
          <p:cNvSpPr txBox="1"/>
          <p:nvPr/>
        </p:nvSpPr>
        <p:spPr>
          <a:xfrm>
            <a:off x="60250" y="4474646"/>
            <a:ext cx="44505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PM Claude Skills — 114 Skills for Every Profession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 = Professional</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https://github.com/mohitagw15856/pm-claude-skills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86" name="Google Shape;286;p37"/>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12825" y="4520611"/>
            <a:ext cx="2323877" cy="531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3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2" name="Google Shape;292;p38"/>
          <p:cNvSpPr txBox="1"/>
          <p:nvPr/>
        </p:nvSpPr>
        <p:spPr>
          <a:xfrm>
            <a:off x="135925" y="539425"/>
            <a:ext cx="50076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Why Complexity Kills Faster Than Competition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https://www.youtube.com/watch?v=ZxVzyIk0Y-w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Complexity slows decision making, adds endless meetings, signatures, and documentation, causing teams to lose their execution speed advantage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Complexity adds structural layers, causing breakdown in communication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Excessive process buries / suffocates creativity because the system implicitly punishes initiative and experimentation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Complex systems require extra costs (internal friction)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Blurred Accountability (no accountability), shifting blame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Declining employee motivation (feeling small and powerless)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Weakened adaptability because of internal policies and layers of approvals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Fragmented Focus - pursuing too many initiatives simultaneously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Damaged Customer Experience because of disjointed external support, delayed responses, and inconsistent information for the customer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Solution - Protecting Simplicity by continuously auditing and trimming processes. Maintaining strict internal clarity and refactoring systems to keep them lean is ultimately a stronger long-term advantage than focusing purely on defeating market rivals</a:t>
            </a:r>
            <a:endParaRPr sz="1200">
              <a:solidFill>
                <a:schemeClr val="dk1"/>
              </a:solidFill>
              <a:latin typeface="Calibri"/>
              <a:ea typeface="Calibri"/>
              <a:cs typeface="Calibri"/>
              <a:sym typeface="Calibri"/>
            </a:endParaRPr>
          </a:p>
        </p:txBody>
      </p:sp>
      <p:pic>
        <p:nvPicPr>
          <p:cNvPr id="293" name="Google Shape;293;p38"/>
          <p:cNvPicPr preferRelativeResize="0"/>
          <p:nvPr/>
        </p:nvPicPr>
        <p:blipFill>
          <a:blip r:embed="rId4">
            <a:alphaModFix/>
          </a:blip>
          <a:stretch>
            <a:fillRect/>
          </a:stretch>
        </p:blipFill>
        <p:spPr>
          <a:xfrm>
            <a:off x="5287825" y="539425"/>
            <a:ext cx="3633850" cy="2034950"/>
          </a:xfrm>
          <a:prstGeom prst="rect">
            <a:avLst/>
          </a:prstGeom>
          <a:noFill/>
          <a:ln w="9525" cap="flat" cmpd="sng">
            <a:solidFill>
              <a:srgbClr val="FF0000"/>
            </a:solidFill>
            <a:prstDash val="solid"/>
            <a:round/>
            <a:headEnd type="none" w="sm" len="sm"/>
            <a:tailEnd type="none" w="sm" len="sm"/>
          </a:ln>
        </p:spPr>
      </p:pic>
      <p:sp>
        <p:nvSpPr>
          <p:cNvPr id="294" name="Google Shape;294;p38"/>
          <p:cNvSpPr txBox="1"/>
          <p:nvPr/>
        </p:nvSpPr>
        <p:spPr>
          <a:xfrm>
            <a:off x="5287825" y="3052300"/>
            <a:ext cx="3201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"Simple Is Good" - Lev Selector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https://levselector.com/simple_is_good.html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39"/>
          <p:cNvSpPr txBox="1"/>
          <p:nvPr/>
        </p:nvSpPr>
        <p:spPr>
          <a:xfrm>
            <a:off x="60250" y="431150"/>
            <a:ext cx="4450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200" b="1">
                <a:solidFill>
                  <a:srgbClr val="FF0000"/>
                </a:solidFill>
                <a:latin typeface="Calibri"/>
                <a:ea typeface="Calibri"/>
                <a:cs typeface="Calibri"/>
                <a:sym typeface="Calibri"/>
              </a:rPr>
              <a:t>AI Avatar in YouTube videos</a:t>
            </a:r>
            <a:endParaRPr sz="12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Julia McCoy describes how she creates AI avatar and generates $200K monthly with 2 Mln organic views. She uses</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 custom Claude "brain" trained on her writing</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an 11 Labs professional voice clone</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high quality photo and video of her using green screen</a:t>
            </a:r>
            <a:endParaRPr sz="1200">
              <a:solidFill>
                <a:schemeClr val="dk1"/>
              </a:solidFill>
              <a:latin typeface="Calibri"/>
              <a:ea typeface="Calibri"/>
              <a:cs typeface="Calibri"/>
              <a:sym typeface="Calibri"/>
            </a:endParaRPr>
          </a:p>
          <a:p>
            <a:pPr marL="45720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 HeyGen avatar used to generate videos</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Humans lead topics' research and final editing</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AI handles scripting and generating videos</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Her team publishes 3-5 videos weekly</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a:solidFill>
                  <a:schemeClr val="dk1"/>
                </a:solidFill>
                <a:latin typeface="Calibri"/>
                <a:ea typeface="Calibri"/>
                <a:cs typeface="Calibri"/>
                <a:sym typeface="Calibri"/>
              </a:rPr>
              <a:t>She is pitching her "Clone Me" mastermind</a:t>
            </a:r>
            <a:endParaRPr sz="12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200" u="sng">
                <a:solidFill>
                  <a:schemeClr val="hlink"/>
                </a:solidFill>
                <a:latin typeface="Calibri"/>
                <a:ea typeface="Calibri"/>
                <a:cs typeface="Calibri"/>
                <a:sym typeface="Calibri"/>
                <a:hlinkClick r:id="rId3"/>
              </a:rPr>
              <a:t>https://www.youtube.com/watch?v=FgVMxsIh8f4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300" name="Google Shape;300;p3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1" name="Google Shape;301;p39"/>
          <p:cNvSpPr txBox="1"/>
          <p:nvPr/>
        </p:nvSpPr>
        <p:spPr>
          <a:xfrm>
            <a:off x="60250" y="2930542"/>
            <a:ext cx="44505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Rebuild AlphaGo from scratch on a modest budget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Eric Jang</a:t>
            </a:r>
            <a:r>
              <a:rPr lang="en" sz="1200">
                <a:solidFill>
                  <a:schemeClr val="dk1"/>
                </a:solidFill>
                <a:latin typeface="Calibri"/>
                <a:ea typeface="Calibri"/>
                <a:cs typeface="Calibri"/>
                <a:sym typeface="Calibri"/>
              </a:rPr>
              <a:t> shows how to build AlphaGo from scratch, but with modern AI tools - can be done efficiently on a modest budget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Monte Carlo Tree Search (MCTS) operates recursively to prune the breadth and depth of Go’s combinatorially explosive game tree using paired policy and value neural networks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conversation explores similarities and contrasts between multi-step reinforcement learning in games like Go versus policy gradient methods used in Large Language Models (LLMs)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https://www.youtube.com/watch?v=X_ZVSPcZhtw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302" name="Google Shape;302;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12825" y="3282422"/>
            <a:ext cx="2226601" cy="1241100"/>
          </a:xfrm>
          <a:prstGeom prst="rect">
            <a:avLst/>
          </a:prstGeom>
          <a:noFill/>
          <a:ln>
            <a:noFill/>
          </a:ln>
        </p:spPr>
      </p:pic>
      <p:pic>
        <p:nvPicPr>
          <p:cNvPr id="303" name="Google Shape;303;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12828" y="704852"/>
            <a:ext cx="1595475" cy="1533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0"/>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09" name="Google Shape;309;p40"/>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10" name="Google Shape;310;p40"/>
          <p:cNvSpPr txBox="1"/>
          <p:nvPr/>
        </p:nvSpPr>
        <p:spPr>
          <a:xfrm>
            <a:off x="5367150" y="3789038"/>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114K in 2026 </a:t>
            </a:r>
            <a:r>
              <a:rPr lang="en" sz="1000" b="1">
                <a:solidFill>
                  <a:schemeClr val="dk1"/>
                </a:solidFill>
                <a:latin typeface="Roboto Mono"/>
                <a:ea typeface="Roboto Mono"/>
                <a:cs typeface="Roboto Mono"/>
                <a:sym typeface="Roboto Mono"/>
              </a:rPr>
              <a:t>(as of May 22,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11" name="Google Shape;311;p40"/>
          <p:cNvSpPr txBox="1"/>
          <p:nvPr/>
        </p:nvSpPr>
        <p:spPr>
          <a:xfrm>
            <a:off x="5367150" y="4879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142,985</a:t>
            </a:r>
            <a:r>
              <a:rPr lang="en" sz="1200">
                <a:latin typeface="Calibri"/>
                <a:ea typeface="Calibri"/>
                <a:cs typeface="Calibri"/>
                <a:sym typeface="Calibri"/>
              </a:rPr>
              <a:t> people laid off (1,007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sp>
        <p:nvSpPr>
          <p:cNvPr id="312" name="Google Shape;312;p40"/>
          <p:cNvSpPr txBox="1"/>
          <p:nvPr/>
        </p:nvSpPr>
        <p:spPr>
          <a:xfrm>
            <a:off x="5774100" y="2692300"/>
            <a:ext cx="13440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Meta lays off 8,000</a:t>
            </a:r>
            <a:endParaRPr sz="1200" b="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(from 78K to 70K)</a:t>
            </a:r>
            <a:endParaRPr sz="1200" b="1">
              <a:solidFill>
                <a:srgbClr val="FF0000"/>
              </a:solidFill>
              <a:latin typeface="Calibri"/>
              <a:ea typeface="Calibri"/>
              <a:cs typeface="Calibri"/>
              <a:sym typeface="Calibri"/>
            </a:endParaRPr>
          </a:p>
        </p:txBody>
      </p:sp>
      <p:pic>
        <p:nvPicPr>
          <p:cNvPr id="313" name="Google Shape;313;p4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191025" y="2224338"/>
            <a:ext cx="1909900" cy="1453387"/>
          </a:xfrm>
          <a:prstGeom prst="rect">
            <a:avLst/>
          </a:prstGeom>
          <a:noFill/>
          <a:ln w="9525" cap="flat" cmpd="sng">
            <a:solidFill>
              <a:srgbClr val="FF0000"/>
            </a:solidFill>
            <a:prstDash val="solid"/>
            <a:round/>
            <a:headEnd type="none" w="sm" len="sm"/>
            <a:tailEnd type="none" w="sm" len="sm"/>
          </a:ln>
        </p:spPr>
      </p:pic>
      <p:pic>
        <p:nvPicPr>
          <p:cNvPr id="314" name="Google Shape;314;p4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125" y="3158920"/>
            <a:ext cx="4950377" cy="1927063"/>
          </a:xfrm>
          <a:prstGeom prst="rect">
            <a:avLst/>
          </a:prstGeom>
          <a:noFill/>
          <a:ln w="9525" cap="flat" cmpd="sng">
            <a:solidFill>
              <a:srgbClr val="FF0000"/>
            </a:solidFill>
            <a:prstDash val="solid"/>
            <a:round/>
            <a:headEnd type="none" w="sm" len="sm"/>
            <a:tailEnd type="none" w="sm" len="sm"/>
          </a:ln>
        </p:spPr>
      </p:pic>
      <p:pic>
        <p:nvPicPr>
          <p:cNvPr id="315" name="Google Shape;315;p4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125" y="487952"/>
            <a:ext cx="4950374" cy="2592256"/>
          </a:xfrm>
          <a:prstGeom prst="rect">
            <a:avLst/>
          </a:prstGeom>
          <a:noFill/>
          <a:ln w="9525" cap="flat" cmpd="sng">
            <a:solidFill>
              <a:srgbClr val="FF0000"/>
            </a:solidFill>
            <a:prstDash val="solid"/>
            <a:round/>
            <a:headEnd type="none" w="sm" len="sm"/>
            <a:tailEnd type="none" w="sm" len="sm"/>
          </a:ln>
        </p:spPr>
      </p:pic>
      <p:pic>
        <p:nvPicPr>
          <p:cNvPr id="316" name="Google Shape;316;p4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104125" y="1725125"/>
            <a:ext cx="3996801" cy="387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pic>
        <p:nvPicPr>
          <p:cNvPr id="321" name="Google Shape;321;p4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22" name="Google Shape;322;p41"/>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23" name="Google Shape;323;p41"/>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24" name="Google Shape;324;p4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25" name="Google Shape;325;p41"/>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26" name="Google Shape;326;p41"/>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42"/>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6502</Words>
  <Application>Microsoft Macintosh PowerPoint</Application>
  <PresentationFormat>On-screen Show (16:9)</PresentationFormat>
  <Paragraphs>724</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2026-05-22T16:30:30Z</dcterms:modified>
</cp:coreProperties>
</file>