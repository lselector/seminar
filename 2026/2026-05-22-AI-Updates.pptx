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5143500" type="screen16x9"/>
  <p:notesSz cx="6858000" cy="9144000"/>
  <p:embeddedFontLst>
    <p:embeddedFont>
      <p:font typeface="Roboto Mono" pitchFamily="49"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7325457-8548-4F29-AE03-A678B52A35A3}">
  <a:tblStyle styleId="{67325457-8548-4F29-AE03-A678B52A35A3}"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67"/>
  </p:normalViewPr>
  <p:slideViewPr>
    <p:cSldViewPr>
      <p:cViewPr varScale="1">
        <p:scale>
          <a:sx n="124" d="100"/>
          <a:sy n="124" d="100"/>
        </p:scale>
        <p:origin x="57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633c15ed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g3633c15ed8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3cc01bf30ee_1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3cc01bf30ee_1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e28806f88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6" name="Google Shape;86;g3e28806f88b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e28806f88b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5" name="Google Shape;95;g3e28806f88b_0_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e0f37d2495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 name="Google Shape;104;g3e0f37d2495_0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e0fb125e63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 name="Google Shape;113;g3e0fb125e63_0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3e1e60325e0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0" name="Google Shape;120;g3e1e60325e0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9318675434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7" name="Google Shape;127;g39318675434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e28806f88b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3" name="Google Shape;133;g3e28806f88b_0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e0fb125e6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4" name="Google Shape;144;g3e0fb125e63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e20f163df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3" name="Google Shape;153;g3e20f163df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e3126df321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3e3126df321_0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3e30a6db62c_1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5" name="Google Shape;175;g3e30a6db62c_1_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e20f163df2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4" name="Google Shape;184;g3e20f163df2_1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3e2f5aed4ba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5" name="Google Shape;195;g3e2f5aed4ba_1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3e2f5aed4ba_1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4" name="Google Shape;204;g3e2f5aed4ba_1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3e29e85b569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5" name="Google Shape;215;g3e29e85b569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e1dc93ae47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2" name="Google Shape;222;g3e1dc93ae47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3e1dc93ae47_1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0" name="Google Shape;230;g3e1dc93ae47_1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3e2f5aed4ba_1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9" name="Google Shape;239;g3e2f5aed4ba_1_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3e2f5aed4ba_1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9" name="Google Shape;249;g3e2f5aed4ba_1_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3e2083e38d4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g3e2083e38d4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3d971967e09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5" name="Google Shape;265;g3d971967e09_0_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3d971967e09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6" name="Google Shape;276;g3d971967e09_0_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3d971967e09_0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6" name="Google Shape;286;g3d971967e09_0_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457172" y="1203299"/>
            <a:ext cx="8228700" cy="2982600"/>
          </a:xfrm>
          <a:prstGeom prst="rect">
            <a:avLst/>
          </a:prstGeom>
          <a:noFill/>
          <a:ln>
            <a:noFill/>
          </a:ln>
        </p:spPr>
        <p:txBody>
          <a:bodyPr spcFirstLastPara="1" wrap="square" lIns="0" tIns="0" rIns="0" bIns="0" anchor="t" anchorCtr="0">
            <a:normAutofit/>
          </a:bodyPr>
          <a:lstStyle>
            <a:lvl1pPr marL="457200" lvl="0" indent="-228600" algn="l">
              <a:lnSpc>
                <a:spcPct val="115000"/>
              </a:lnSpc>
              <a:spcBef>
                <a:spcPts val="0"/>
              </a:spcBef>
              <a:spcAft>
                <a:spcPts val="0"/>
              </a:spcAft>
              <a:buSzPts val="1800"/>
              <a:buNone/>
              <a:defRPr/>
            </a:lvl1pPr>
            <a:lvl2pPr marL="914400" lvl="1" indent="-228600" algn="l">
              <a:lnSpc>
                <a:spcPct val="115000"/>
              </a:lnSpc>
              <a:spcBef>
                <a:spcPts val="0"/>
              </a:spcBef>
              <a:spcAft>
                <a:spcPts val="0"/>
              </a:spcAft>
              <a:buSzPts val="1400"/>
              <a:buNone/>
              <a:defRPr/>
            </a:lvl2pPr>
            <a:lvl3pPr marL="1371600" lvl="2" indent="-228600" algn="l">
              <a:lnSpc>
                <a:spcPct val="115000"/>
              </a:lnSpc>
              <a:spcBef>
                <a:spcPts val="0"/>
              </a:spcBef>
              <a:spcAft>
                <a:spcPts val="0"/>
              </a:spcAft>
              <a:buSzPts val="1400"/>
              <a:buNone/>
              <a:defRPr/>
            </a:lvl3pPr>
            <a:lvl4pPr marL="1828800" lvl="3" indent="-228600" algn="l">
              <a:lnSpc>
                <a:spcPct val="115000"/>
              </a:lnSpc>
              <a:spcBef>
                <a:spcPts val="0"/>
              </a:spcBef>
              <a:spcAft>
                <a:spcPts val="0"/>
              </a:spcAft>
              <a:buSzPts val="1400"/>
              <a:buNone/>
              <a:defRPr/>
            </a:lvl4pPr>
            <a:lvl5pPr marL="2286000" lvl="4" indent="-228600" algn="l">
              <a:lnSpc>
                <a:spcPct val="115000"/>
              </a:lnSpc>
              <a:spcBef>
                <a:spcPts val="0"/>
              </a:spcBef>
              <a:spcAft>
                <a:spcPts val="0"/>
              </a:spcAft>
              <a:buSzPts val="1400"/>
              <a:buNone/>
              <a:defRPr/>
            </a:lvl5pPr>
            <a:lvl6pPr marL="2743200" lvl="5" indent="-228600" algn="l">
              <a:lnSpc>
                <a:spcPct val="115000"/>
              </a:lnSpc>
              <a:spcBef>
                <a:spcPts val="0"/>
              </a:spcBef>
              <a:spcAft>
                <a:spcPts val="0"/>
              </a:spcAft>
              <a:buSzPts val="1400"/>
              <a:buNone/>
              <a:defRPr/>
            </a:lvl6pPr>
            <a:lvl7pPr marL="3200400" lvl="6" indent="-228600" algn="l">
              <a:lnSpc>
                <a:spcPct val="115000"/>
              </a:lnSpc>
              <a:spcBef>
                <a:spcPts val="0"/>
              </a:spcBef>
              <a:spcAft>
                <a:spcPts val="0"/>
              </a:spcAft>
              <a:buSzPts val="1400"/>
              <a:buNone/>
              <a:defRPr/>
            </a:lvl7pPr>
            <a:lvl8pPr marL="3657600" lvl="7" indent="-228600" algn="l">
              <a:lnSpc>
                <a:spcPct val="115000"/>
              </a:lnSpc>
              <a:spcBef>
                <a:spcPts val="0"/>
              </a:spcBef>
              <a:spcAft>
                <a:spcPts val="0"/>
              </a:spcAft>
              <a:buSzPts val="1400"/>
              <a:buNone/>
              <a:defRPr/>
            </a:lvl8pPr>
            <a:lvl9pPr marL="4114800" lvl="8" indent="-228600" algn="l">
              <a:lnSpc>
                <a:spcPct val="115000"/>
              </a:lnSpc>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_HEADER_1">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623888" y="1282303"/>
            <a:ext cx="7886700" cy="2139600"/>
          </a:xfrm>
          <a:prstGeom prst="rect">
            <a:avLst/>
          </a:prstGeom>
          <a:noFill/>
          <a:ln>
            <a:noFill/>
          </a:ln>
        </p:spPr>
        <p:txBody>
          <a:bodyPr spcFirstLastPara="1" wrap="square" lIns="68575" tIns="68575" rIns="68575" bIns="68575" anchor="b" anchorCtr="0">
            <a:noAutofit/>
          </a:bodyPr>
          <a:lstStyle>
            <a:lvl1pPr marR="0" lvl="0" algn="l">
              <a:lnSpc>
                <a:spcPct val="90000"/>
              </a:lnSpc>
              <a:spcBef>
                <a:spcPts val="0"/>
              </a:spcBef>
              <a:spcAft>
                <a:spcPts val="0"/>
              </a:spcAft>
              <a:buClr>
                <a:schemeClr val="dk1"/>
              </a:buClr>
              <a:buSzPts val="4500"/>
              <a:buFont typeface="Calibri"/>
              <a:buNone/>
              <a:defRPr sz="4500" b="0" i="0" u="none" strike="noStrike"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sz="1400"/>
            </a:lvl2pPr>
            <a:lvl3pPr lvl="2" algn="l">
              <a:lnSpc>
                <a:spcPct val="100000"/>
              </a:lnSpc>
              <a:spcBef>
                <a:spcPts val="0"/>
              </a:spcBef>
              <a:spcAft>
                <a:spcPts val="0"/>
              </a:spcAft>
              <a:buSzPts val="1100"/>
              <a:buNone/>
              <a:defRPr sz="1400"/>
            </a:lvl3pPr>
            <a:lvl4pPr lvl="3" algn="l">
              <a:lnSpc>
                <a:spcPct val="100000"/>
              </a:lnSpc>
              <a:spcBef>
                <a:spcPts val="0"/>
              </a:spcBef>
              <a:spcAft>
                <a:spcPts val="0"/>
              </a:spcAft>
              <a:buSzPts val="1100"/>
              <a:buNone/>
              <a:defRPr sz="1400"/>
            </a:lvl4pPr>
            <a:lvl5pPr lvl="4" algn="l">
              <a:lnSpc>
                <a:spcPct val="100000"/>
              </a:lnSpc>
              <a:spcBef>
                <a:spcPts val="0"/>
              </a:spcBef>
              <a:spcAft>
                <a:spcPts val="0"/>
              </a:spcAft>
              <a:buSzPts val="1100"/>
              <a:buNone/>
              <a:defRPr sz="1400"/>
            </a:lvl5pPr>
            <a:lvl6pPr lvl="5" algn="l">
              <a:lnSpc>
                <a:spcPct val="100000"/>
              </a:lnSpc>
              <a:spcBef>
                <a:spcPts val="0"/>
              </a:spcBef>
              <a:spcAft>
                <a:spcPts val="0"/>
              </a:spcAft>
              <a:buSzPts val="1100"/>
              <a:buNone/>
              <a:defRPr sz="1400"/>
            </a:lvl6pPr>
            <a:lvl7pPr lvl="6" algn="l">
              <a:lnSpc>
                <a:spcPct val="100000"/>
              </a:lnSpc>
              <a:spcBef>
                <a:spcPts val="0"/>
              </a:spcBef>
              <a:spcAft>
                <a:spcPts val="0"/>
              </a:spcAft>
              <a:buSzPts val="1100"/>
              <a:buNone/>
              <a:defRPr sz="1400"/>
            </a:lvl7pPr>
            <a:lvl8pPr lvl="7" algn="l">
              <a:lnSpc>
                <a:spcPct val="100000"/>
              </a:lnSpc>
              <a:spcBef>
                <a:spcPts val="0"/>
              </a:spcBef>
              <a:spcAft>
                <a:spcPts val="0"/>
              </a:spcAft>
              <a:buSzPts val="1100"/>
              <a:buNone/>
              <a:defRPr sz="1400"/>
            </a:lvl8pPr>
            <a:lvl9pPr lvl="8" algn="l">
              <a:lnSpc>
                <a:spcPct val="100000"/>
              </a:lnSpc>
              <a:spcBef>
                <a:spcPts val="0"/>
              </a:spcBef>
              <a:spcAft>
                <a:spcPts val="0"/>
              </a:spcAft>
              <a:buSzPts val="1100"/>
              <a:buNone/>
              <a:defRPr sz="1400"/>
            </a:lvl9pPr>
          </a:lstStyle>
          <a:p>
            <a:endParaRPr/>
          </a:p>
        </p:txBody>
      </p:sp>
      <p:sp>
        <p:nvSpPr>
          <p:cNvPr id="55" name="Google Shape;55;p14"/>
          <p:cNvSpPr txBox="1">
            <a:spLocks noGrp="1"/>
          </p:cNvSpPr>
          <p:nvPr>
            <p:ph type="body" idx="1"/>
          </p:nvPr>
        </p:nvSpPr>
        <p:spPr>
          <a:xfrm>
            <a:off x="623888" y="3442097"/>
            <a:ext cx="7886700" cy="1125300"/>
          </a:xfrm>
          <a:prstGeom prst="rect">
            <a:avLst/>
          </a:prstGeom>
          <a:noFill/>
          <a:ln>
            <a:noFill/>
          </a:ln>
        </p:spPr>
        <p:txBody>
          <a:bodyPr spcFirstLastPara="1" wrap="square" lIns="68575" tIns="68575" rIns="68575" bIns="68575" anchor="t" anchorCtr="0">
            <a:noAutofit/>
          </a:bodyPr>
          <a:lstStyle>
            <a:lvl1pPr marL="457200" marR="0" lvl="0" indent="-228600" algn="l">
              <a:lnSpc>
                <a:spcPct val="90000"/>
              </a:lnSpc>
              <a:spcBef>
                <a:spcPts val="8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1pPr>
            <a:lvl2pPr marL="914400" marR="0" lvl="1" indent="-228600" algn="l">
              <a:lnSpc>
                <a:spcPct val="90000"/>
              </a:lnSpc>
              <a:spcBef>
                <a:spcPts val="400"/>
              </a:spcBef>
              <a:spcAft>
                <a:spcPts val="0"/>
              </a:spcAft>
              <a:buClr>
                <a:srgbClr val="888888"/>
              </a:buClr>
              <a:buSzPts val="1500"/>
              <a:buFont typeface="Arial"/>
              <a:buNone/>
              <a:defRPr sz="1500" b="0" i="0" u="none" strike="noStrike" cap="none">
                <a:solidFill>
                  <a:srgbClr val="888888"/>
                </a:solidFill>
                <a:latin typeface="Calibri"/>
                <a:ea typeface="Calibri"/>
                <a:cs typeface="Calibri"/>
                <a:sym typeface="Calibri"/>
              </a:defRPr>
            </a:lvl2pPr>
            <a:lvl3pPr marL="1371600" marR="0" lvl="2" indent="-228600" algn="l">
              <a:lnSpc>
                <a:spcPct val="90000"/>
              </a:lnSpc>
              <a:spcBef>
                <a:spcPts val="40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3pPr>
            <a:lvl4pPr marL="1828800" marR="0" lvl="3"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4pPr>
            <a:lvl5pPr marL="2286000" marR="0" lvl="4"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5pPr>
            <a:lvl6pPr marL="2743200" marR="0" lvl="5"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6pPr>
            <a:lvl7pPr marL="3200400" marR="0" lvl="6"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7pPr>
            <a:lvl8pPr marL="3657600" marR="0" lvl="7"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8pPr>
            <a:lvl9pPr marL="4114800" marR="0" lvl="8"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9pPr>
          </a:lstStyle>
          <a:p>
            <a:endParaRPr/>
          </a:p>
        </p:txBody>
      </p:sp>
      <p:sp>
        <p:nvSpPr>
          <p:cNvPr id="56" name="Google Shape;56;p14"/>
          <p:cNvSpPr txBox="1">
            <a:spLocks noGrp="1"/>
          </p:cNvSpPr>
          <p:nvPr>
            <p:ph type="dt" idx="10"/>
          </p:nvPr>
        </p:nvSpPr>
        <p:spPr>
          <a:xfrm>
            <a:off x="628650" y="4767263"/>
            <a:ext cx="2057400" cy="273900"/>
          </a:xfrm>
          <a:prstGeom prst="rect">
            <a:avLst/>
          </a:prstGeom>
          <a:noFill/>
          <a:ln>
            <a:noFill/>
          </a:ln>
        </p:spPr>
        <p:txBody>
          <a:bodyPr spcFirstLastPara="1" wrap="square" lIns="68575" tIns="68575" rIns="68575" bIns="685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7" name="Google Shape;57;p14"/>
          <p:cNvSpPr txBox="1">
            <a:spLocks noGrp="1"/>
          </p:cNvSpPr>
          <p:nvPr>
            <p:ph type="ftr" idx="11"/>
          </p:nvPr>
        </p:nvSpPr>
        <p:spPr>
          <a:xfrm>
            <a:off x="3028950" y="4767263"/>
            <a:ext cx="3086100" cy="273900"/>
          </a:xfrm>
          <a:prstGeom prst="rect">
            <a:avLst/>
          </a:prstGeom>
          <a:noFill/>
          <a:ln>
            <a:noFill/>
          </a:ln>
        </p:spPr>
        <p:txBody>
          <a:bodyPr spcFirstLastPara="1" wrap="square" lIns="68575" tIns="68575" rIns="68575" bIns="685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8" name="Google Shape;58;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3" Type="http://schemas.openxmlformats.org/officeDocument/2006/relationships/hyperlink" Target="https://huggingface.co/open-llm-leaderboard" TargetMode="External"/><Relationship Id="rId18" Type="http://schemas.openxmlformats.org/officeDocument/2006/relationships/hyperlink" Target="https://lmarena.ai/leaderboard/text-to-image" TargetMode="External"/><Relationship Id="rId26" Type="http://schemas.openxmlformats.org/officeDocument/2006/relationships/hyperlink" Target="https://openai.com/index/introducing-gpt-5-5/" TargetMode="External"/><Relationship Id="rId39" Type="http://schemas.openxmlformats.org/officeDocument/2006/relationships/hyperlink" Target="https://blog.google/products/gemini/gemini-3-flash" TargetMode="External"/><Relationship Id="rId21" Type="http://schemas.openxmlformats.org/officeDocument/2006/relationships/hyperlink" Target="https://www.anthropic.com/news/claude-opus-4-5" TargetMode="External"/><Relationship Id="rId34" Type="http://schemas.openxmlformats.org/officeDocument/2006/relationships/hyperlink" Target="https://ernie.baidu.com/blog/posts/ernie-5.1-preview-0430-release-on-lmarena/" TargetMode="External"/><Relationship Id="rId42" Type="http://schemas.openxmlformats.org/officeDocument/2006/relationships/hyperlink" Target="https://qwen.ai/blog?id=qwen3.5-max-preview" TargetMode="External"/><Relationship Id="rId7" Type="http://schemas.openxmlformats.org/officeDocument/2006/relationships/hyperlink" Target="https://openlm.ai/chatbot-arena/" TargetMode="External"/><Relationship Id="rId2" Type="http://schemas.openxmlformats.org/officeDocument/2006/relationships/notesSlide" Target="../notesSlides/notesSlide2.xml"/><Relationship Id="rId16" Type="http://schemas.openxmlformats.org/officeDocument/2006/relationships/hyperlink" Target="https://artificialanalysis.ai/models/grok-4" TargetMode="External"/><Relationship Id="rId20" Type="http://schemas.openxmlformats.org/officeDocument/2006/relationships/hyperlink" Target="https://www.anthropic.com/news/claude-opus-4-6" TargetMode="External"/><Relationship Id="rId29" Type="http://schemas.openxmlformats.org/officeDocument/2006/relationships/hyperlink" Target="https://www.anthropic.com/news/claude-sonnet-4-5" TargetMode="External"/><Relationship Id="rId41" Type="http://schemas.openxmlformats.org/officeDocument/2006/relationships/hyperlink" Target="https://mimo.xiaomi.com/mimo-v2-5-pro/" TargetMode="External"/><Relationship Id="rId1" Type="http://schemas.openxmlformats.org/officeDocument/2006/relationships/slideLayout" Target="../slideLayouts/slideLayout1.xml"/><Relationship Id="rId6" Type="http://schemas.openxmlformats.org/officeDocument/2006/relationships/hyperlink" Target="https://www.designarena.ai" TargetMode="External"/><Relationship Id="rId11" Type="http://schemas.openxmlformats.org/officeDocument/2006/relationships/hyperlink" Target="https://www.stack-ai.com/llm-leaderboard" TargetMode="External"/><Relationship Id="rId24" Type="http://schemas.openxmlformats.org/officeDocument/2006/relationships/hyperlink" Target="https://platform.openai.com/docs/models/gpt-5.4" TargetMode="External"/><Relationship Id="rId32" Type="http://schemas.openxmlformats.org/officeDocument/2006/relationships/hyperlink" Target="https://aistudio.google.com/app/prompts/new_chat?model=gemini-3-pro-preview" TargetMode="External"/><Relationship Id="rId37" Type="http://schemas.openxmlformats.org/officeDocument/2006/relationships/hyperlink" Target="https://grok.com" TargetMode="External"/><Relationship Id="rId40" Type="http://schemas.openxmlformats.org/officeDocument/2006/relationships/hyperlink" Target="https://x.ai/news/grok-4-1" TargetMode="External"/><Relationship Id="rId5" Type="http://schemas.openxmlformats.org/officeDocument/2006/relationships/hyperlink" Target="https://lmarena.ai/leaderboard/text/coding" TargetMode="External"/><Relationship Id="rId15" Type="http://schemas.openxmlformats.org/officeDocument/2006/relationships/hyperlink" Target="https://epoch.ai/data/ai-benchmarking-dashboard" TargetMode="External"/><Relationship Id="rId23" Type="http://schemas.openxmlformats.org/officeDocument/2006/relationships/hyperlink" Target="https://blog.google/innovation-and-ai/models-and-research/gemini-models/gemini-3-1-pro/" TargetMode="External"/><Relationship Id="rId28" Type="http://schemas.openxmlformats.org/officeDocument/2006/relationships/hyperlink" Target="https://docs.x.ai/developers/models/grok-4.20-multi-agent-beta-0309" TargetMode="External"/><Relationship Id="rId36" Type="http://schemas.openxmlformats.org/officeDocument/2006/relationships/hyperlink" Target="https://www.byteplus.com/en/blog/dola-seed-2-0-pro" TargetMode="External"/><Relationship Id="rId10" Type="http://schemas.openxmlformats.org/officeDocument/2006/relationships/hyperlink" Target="https://llmworld.net/llm_leaderboards/" TargetMode="External"/><Relationship Id="rId19" Type="http://schemas.openxmlformats.org/officeDocument/2006/relationships/hyperlink" Target="https://www.anthropic.com/news/claude-opus-4-7" TargetMode="External"/><Relationship Id="rId31" Type="http://schemas.openxmlformats.org/officeDocument/2006/relationships/hyperlink" Target="https://www.kimi.com/blog/kimi-k2-6" TargetMode="External"/><Relationship Id="rId4" Type="http://schemas.openxmlformats.org/officeDocument/2006/relationships/hyperlink" Target="https://lmarena.ai/leaderboard/text" TargetMode="External"/><Relationship Id="rId9" Type="http://schemas.openxmlformats.org/officeDocument/2006/relationships/hyperlink" Target="https://web.lmarena.ai/leaderboard" TargetMode="External"/><Relationship Id="rId14" Type="http://schemas.openxmlformats.org/officeDocument/2006/relationships/hyperlink" Target="https://www.vellum.ai/llm-leaderboard" TargetMode="External"/><Relationship Id="rId22" Type="http://schemas.openxmlformats.org/officeDocument/2006/relationships/hyperlink" Target="https://ai.meta.com/blog/introducing-muse-spark-msl/" TargetMode="External"/><Relationship Id="rId27" Type="http://schemas.openxmlformats.org/officeDocument/2006/relationships/hyperlink" Target="https://www.anthropic.com/news/claude-sonnet-4-6" TargetMode="External"/><Relationship Id="rId30" Type="http://schemas.openxmlformats.org/officeDocument/2006/relationships/hyperlink" Target="https://developers.openai.com/api/docs/models/gpt-5.2-chat-latest" TargetMode="External"/><Relationship Id="rId35" Type="http://schemas.openxmlformats.org/officeDocument/2006/relationships/hyperlink" Target="https://www.anthropic.com/news/claude-opus-4-1" TargetMode="External"/><Relationship Id="rId8" Type="http://schemas.openxmlformats.org/officeDocument/2006/relationships/hyperlink" Target="https://beta.lmarena.ai" TargetMode="External"/><Relationship Id="rId3" Type="http://schemas.openxmlformats.org/officeDocument/2006/relationships/hyperlink" Target="https://en.wikipedia.org/wiki/Elo_rating_system" TargetMode="External"/><Relationship Id="rId12" Type="http://schemas.openxmlformats.org/officeDocument/2006/relationships/hyperlink" Target="https://artificialanalysis.ai/leaderboards/models" TargetMode="External"/><Relationship Id="rId17" Type="http://schemas.openxmlformats.org/officeDocument/2006/relationships/hyperlink" Target="http://aiarena.alibaba-inc.com/corpora/arena/leaderboard?arenaType=T2I" TargetMode="External"/><Relationship Id="rId25" Type="http://schemas.openxmlformats.org/officeDocument/2006/relationships/hyperlink" Target="https://huggingface.co/zai-org/GLM-5.1" TargetMode="External"/><Relationship Id="rId33" Type="http://schemas.openxmlformats.org/officeDocument/2006/relationships/hyperlink" Target="https://docs.x.ai/developers/models/grok-4.20-beta-0309-reasoning" TargetMode="External"/><Relationship Id="rId38" Type="http://schemas.openxmlformats.org/officeDocument/2006/relationships/hyperlink" Target="https://openai.com/index/gpt-5-5-instant"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www.youtube.com/watch?v=idNpTUrr3r0"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hyperlink" Target="https://www.youtube.com/watch?v=NzO_kapnI_E"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hyperlink" Target="https://io.google"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3" Type="http://schemas.openxmlformats.org/officeDocument/2006/relationships/hyperlink" Target="https://thinkingmachines.ai/blog/interaction-models/"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hyperlink" Target="https://www.youtube.com/watch?v=A12AVongNN4"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www.youtube.com/@lev-selector/videos"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hyperlink" Target="https://github.com/multica-ai/andrej-karpathy-skills" TargetMode="External"/><Relationship Id="rId7" Type="http://schemas.openxmlformats.org/officeDocument/2006/relationships/hyperlink" Target="https://aidisruption.ai/p/perplexity-opens-up-its-skills-design"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1.jpeg"/><Relationship Id="rId5" Type="http://schemas.openxmlformats.org/officeDocument/2006/relationships/image" Target="../media/image10.png"/><Relationship Id="rId4" Type="http://schemas.openxmlformats.org/officeDocument/2006/relationships/hyperlink" Target="https://www.youtube.com/watch?v=EeYkZloXIww" TargetMode="External"/></Relationships>
</file>

<file path=ppt/slides/_rels/slide10.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hyperlink" Target="https://medium.com/personal-growth/careers-are-collapsing-jobs-are-dying-the-smartest-people-are-doing-this-right-now-becc742dfee2" TargetMode="External"/><Relationship Id="rId7"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hyperlink" Target="http://www.youtube.com/watch?v=7H8-zRB5hbU" TargetMode="External"/><Relationship Id="rId5" Type="http://schemas.openxmlformats.org/officeDocument/2006/relationships/hyperlink" Target="https://github.com/anthropics/claude-for-legal" TargetMode="External"/><Relationship Id="rId4" Type="http://schemas.openxmlformats.org/officeDocument/2006/relationships/hyperlink" Target="https://claude.com/blog/claude-for-the-legal-industry" TargetMode="External"/></Relationships>
</file>

<file path=ppt/slides/_rels/slide11.xml.rels><?xml version="1.0" encoding="UTF-8" standalone="yes"?>
<Relationships xmlns="http://schemas.openxmlformats.org/package/2006/relationships"><Relationship Id="rId8" Type="http://schemas.openxmlformats.org/officeDocument/2006/relationships/hyperlink" Target="https://www.youtube.com/watch?v=Y6o-LSv-b4E" TargetMode="External"/><Relationship Id="rId3" Type="http://schemas.openxmlformats.org/officeDocument/2006/relationships/hyperlink" Target="http://omi.me" TargetMode="External"/><Relationship Id="rId7" Type="http://schemas.openxmlformats.org/officeDocument/2006/relationships/hyperlink" Target="https://www.krea.ai"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18.png"/><Relationship Id="rId4" Type="http://schemas.openxmlformats.org/officeDocument/2006/relationships/hyperlink" Target="https://www.youtube.com/watch?v=pr1InE1LuKY" TargetMode="External"/><Relationship Id="rId9"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nousresearch/hermes-agent"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hyperlink" Target="https://github.com/rohitg00/agentmemory"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www.youtube.com/watch?v=jIctzTn_8-E" TargetMode="External"/><Relationship Id="rId7" Type="http://schemas.openxmlformats.org/officeDocument/2006/relationships/hyperlink" Target="https://x.com/karpathy/status/2039805659525644595"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hyperlink" Target="https://github.com/safishamsi/graphify" TargetMode="External"/><Relationship Id="rId5" Type="http://schemas.openxmlformats.org/officeDocument/2006/relationships/hyperlink" Target="https://www.youtube.com/watch?v=HQEm4rBKdec" TargetMode="Externa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hyperlink" Target="http://www.youtube.com/watch?v=-Bp2Sz5xir4" TargetMode="External"/><Relationship Id="rId7" Type="http://schemas.openxmlformats.org/officeDocument/2006/relationships/image" Target="../media/image23.jpe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hyperlink" Target="http://www.youtube.com/watch?v=fVuEscyAK-I" TargetMode="External"/><Relationship Id="rId4" Type="http://schemas.openxmlformats.org/officeDocument/2006/relationships/hyperlink" Target="http://www.youtube.com/watch?v=XvKiTfd6Xvo"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zerolang.ai" TargetMode="External"/><Relationship Id="rId7"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hyperlink" Target="https://www.youtube.com/watch?v=VoxL_YmHR-I" TargetMode="External"/><Relationship Id="rId4" Type="http://schemas.openxmlformats.org/officeDocument/2006/relationships/hyperlink" Target="https://github.com/vercel-labs/zero" TargetMode="External"/></Relationships>
</file>

<file path=ppt/slides/_rels/slide16.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hyperlink" Target="https://openai.com/index/personal-finance-chatgpt/" TargetMode="External"/><Relationship Id="rId7"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hyperlink" Target="https://eu.36kr.com/en/p/3808272507215621" TargetMode="External"/><Relationship Id="rId4" Type="http://schemas.openxmlformats.org/officeDocument/2006/relationships/hyperlink" Target="https://x.com/LunchangG7603/status/2049054090114834664" TargetMode="External"/></Relationships>
</file>

<file path=ppt/slides/_rels/slide17.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hyperlink" Target="https://northflank.com/blog/how-to-sandbox-ai-agents" TargetMode="External"/><Relationship Id="rId7" Type="http://schemas.openxmlformats.org/officeDocument/2006/relationships/hyperlink" Target="https://blog.cloudflare.com/dynamic-workers/"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hyperlink" Target="https://developer.nvidia.com/blog/practical-security-guidance-for-sandboxing-agentic-workflows-and-managing-execution-risk/" TargetMode="External"/><Relationship Id="rId5" Type="http://schemas.openxmlformats.org/officeDocument/2006/relationships/hyperlink" Target="https://www.augmentcode.com/guides/agent-execution-sandbox" TargetMode="External"/><Relationship Id="rId4" Type="http://schemas.openxmlformats.org/officeDocument/2006/relationships/hyperlink" Target="https://www.docker.com/blog/comparing-sandboxing-approaches-ai-agents/"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www.youtube.com/watch?v=K05Dh-QjM8c"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hyperlink" Target="https://arxiv.org/abs/2509.25149" TargetMode="External"/><Relationship Id="rId5" Type="http://schemas.openxmlformats.org/officeDocument/2006/relationships/image" Target="../media/image31.png"/><Relationship Id="rId4" Type="http://schemas.openxmlformats.org/officeDocument/2006/relationships/hyperlink" Target="https://www.ricursive.com"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www.builtinnyc.com/articles/modal-raises-87m-series-b-1b-valuation-20251001"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3" Type="http://schemas.openxmlformats.org/officeDocument/2006/relationships/hyperlink" Target="https://www.youtube.com/watch?v=w1EoIfl2ink" TargetMode="External"/><Relationship Id="rId7" Type="http://schemas.openxmlformats.org/officeDocument/2006/relationships/hyperlink" Target="https://github.com/mohitagw15856/pm-claude-skills"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hyperlink" Target="https://medium.com/@adnanmasood/the-six-month-half-life-why-a-thin-prompt-on-someone-elses-frontier-model-is-not-a-business-5cc0b3f2843a" TargetMode="External"/><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3" Type="http://schemas.openxmlformats.org/officeDocument/2006/relationships/hyperlink" Target="https://www.youtube.com/watch?v=ZxVzyIk0Y-w" TargetMode="External"/><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22.xml.rels><?xml version="1.0" encoding="UTF-8" standalone="yes"?>
<Relationships xmlns="http://schemas.openxmlformats.org/package/2006/relationships"><Relationship Id="rId3" Type="http://schemas.openxmlformats.org/officeDocument/2006/relationships/hyperlink" Target="https://www.youtube.com/watch?v=FgVMxsIh8f4" TargetMode="External"/><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7.png"/><Relationship Id="rId4" Type="http://schemas.openxmlformats.org/officeDocument/2006/relationships/hyperlink" Target="https://www.youtube.com/watch?v=X_ZVSPcZhtw"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https://layoffs.fyi" TargetMode="External"/><Relationship Id="rId7" Type="http://schemas.openxmlformats.org/officeDocument/2006/relationships/image" Target="../media/image40.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hyperlink" Target="https://trueup.io/layoffs"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hyperlink" Target="https://eais.ai" TargetMode="External"/><Relationship Id="rId4" Type="http://schemas.openxmlformats.org/officeDocument/2006/relationships/image" Target="../media/image42.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5"/>
          <p:cNvSpPr txBox="1"/>
          <p:nvPr/>
        </p:nvSpPr>
        <p:spPr>
          <a:xfrm>
            <a:off x="100175" y="664158"/>
            <a:ext cx="4330200" cy="2096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Crowd-sourced "LM Arena" Leaderboard</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Microsoft MDASH Harness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Elon Musk lost his lawsuit against OpenAI</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Grok 4.3 was released in April 2026</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Anthropic got $30 Bln at $900 Bln Valuation</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Codex vs Claude Code</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AI Companionship - Long-Term Harm</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Google I/O 2026</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Thinking Machines - Real-Time Interaction </a:t>
            </a:r>
            <a:endParaRPr sz="1500" b="1">
              <a:solidFill>
                <a:srgbClr val="3C78D8"/>
              </a:solidFill>
              <a:latin typeface="Calibri"/>
              <a:ea typeface="Calibri"/>
              <a:cs typeface="Calibri"/>
              <a:sym typeface="Calibri"/>
            </a:endParaRPr>
          </a:p>
        </p:txBody>
      </p:sp>
      <p:sp>
        <p:nvSpPr>
          <p:cNvPr id="64" name="Google Shape;64;p15"/>
          <p:cNvSpPr txBox="1"/>
          <p:nvPr/>
        </p:nvSpPr>
        <p:spPr>
          <a:xfrm>
            <a:off x="55167" y="-22692"/>
            <a:ext cx="4420200" cy="480300"/>
          </a:xfrm>
          <a:prstGeom prst="rect">
            <a:avLst/>
          </a:prstGeom>
          <a:noFill/>
          <a:ln>
            <a:noFill/>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 sz="3000" b="1">
                <a:solidFill>
                  <a:srgbClr val="3C78D8"/>
                </a:solidFill>
                <a:latin typeface="Calibri"/>
                <a:ea typeface="Calibri"/>
                <a:cs typeface="Calibri"/>
                <a:sym typeface="Calibri"/>
              </a:rPr>
              <a:t>AI Updates - May 22, 2026</a:t>
            </a:r>
            <a:endParaRPr sz="3000" b="1">
              <a:solidFill>
                <a:srgbClr val="3C78D8"/>
              </a:solidFill>
              <a:latin typeface="Calibri"/>
              <a:ea typeface="Calibri"/>
              <a:cs typeface="Calibri"/>
              <a:sym typeface="Calibri"/>
            </a:endParaRPr>
          </a:p>
        </p:txBody>
      </p:sp>
      <p:sp>
        <p:nvSpPr>
          <p:cNvPr id="65" name="Google Shape;65;p15"/>
          <p:cNvSpPr txBox="1"/>
          <p:nvPr/>
        </p:nvSpPr>
        <p:spPr>
          <a:xfrm>
            <a:off x="4536607" y="4455560"/>
            <a:ext cx="4525800" cy="4803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Rebuild AlphaGo from scratch on a modest budget</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Jobs &amp; Layoffs</a:t>
            </a:r>
            <a:endParaRPr sz="1500" b="1">
              <a:solidFill>
                <a:srgbClr val="3C78D8"/>
              </a:solidFill>
              <a:latin typeface="Calibri"/>
              <a:ea typeface="Calibri"/>
              <a:cs typeface="Calibri"/>
              <a:sym typeface="Calibri"/>
            </a:endParaRPr>
          </a:p>
        </p:txBody>
      </p:sp>
      <p:sp>
        <p:nvSpPr>
          <p:cNvPr id="66" name="Google Shape;66;p15"/>
          <p:cNvSpPr txBox="1"/>
          <p:nvPr/>
        </p:nvSpPr>
        <p:spPr>
          <a:xfrm>
            <a:off x="5590500" y="76275"/>
            <a:ext cx="2254500" cy="708000"/>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None/>
            </a:pPr>
            <a:r>
              <a:rPr lang="en" sz="2000" b="1" i="1">
                <a:solidFill>
                  <a:srgbClr val="FF0000"/>
                </a:solidFill>
                <a:latin typeface="Calibri"/>
                <a:ea typeface="Calibri"/>
                <a:cs typeface="Calibri"/>
                <a:sym typeface="Calibri"/>
              </a:rPr>
              <a:t>Harness &gt; Model</a:t>
            </a:r>
            <a:endParaRPr sz="2000" b="1" i="1">
              <a:solidFill>
                <a:srgbClr val="FF0000"/>
              </a:solidFill>
              <a:latin typeface="Calibri"/>
              <a:ea typeface="Calibri"/>
              <a:cs typeface="Calibri"/>
              <a:sym typeface="Calibri"/>
            </a:endParaRPr>
          </a:p>
          <a:p>
            <a:pPr marL="0" marR="0" lvl="0" indent="0" algn="l" rtl="0">
              <a:lnSpc>
                <a:spcPct val="100000"/>
              </a:lnSpc>
              <a:spcBef>
                <a:spcPts val="0"/>
              </a:spcBef>
              <a:spcAft>
                <a:spcPts val="0"/>
              </a:spcAft>
              <a:buNone/>
            </a:pPr>
            <a:r>
              <a:rPr lang="en" sz="2000" b="1" i="1">
                <a:solidFill>
                  <a:srgbClr val="FF0000"/>
                </a:solidFill>
                <a:latin typeface="Calibri"/>
                <a:ea typeface="Calibri"/>
                <a:cs typeface="Calibri"/>
                <a:sym typeface="Calibri"/>
              </a:rPr>
              <a:t>MDASH &gt; Mythos</a:t>
            </a:r>
            <a:endParaRPr sz="2000" b="1" i="1">
              <a:solidFill>
                <a:srgbClr val="FF0000"/>
              </a:solidFill>
              <a:latin typeface="Calibri"/>
              <a:ea typeface="Calibri"/>
              <a:cs typeface="Calibri"/>
              <a:sym typeface="Calibri"/>
            </a:endParaRPr>
          </a:p>
        </p:txBody>
      </p:sp>
      <p:sp>
        <p:nvSpPr>
          <p:cNvPr id="67" name="Google Shape;67;p15"/>
          <p:cNvSpPr txBox="1"/>
          <p:nvPr/>
        </p:nvSpPr>
        <p:spPr>
          <a:xfrm>
            <a:off x="4536607" y="898732"/>
            <a:ext cx="4525800" cy="3481800"/>
          </a:xfrm>
          <a:prstGeom prst="rect">
            <a:avLst/>
          </a:prstGeom>
          <a:solidFill>
            <a:srgbClr val="D9EAD3"/>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Hybrid RAG using Python</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Google AI pointer with Visual Understanding</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Zero Programming Language</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Agents' core iterative process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OpenAI ChatGPT Personal Finance using Plaid.com</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Tencent "Marvis" Personal AI assistant</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MiniMax Mavis ("MiniMax as a Jarvis")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Agent sandboxing</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Recursive Intelligence - Use AI to Design Chips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Modal AI - Infrastructure Startup</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Recursive Superintelligence - Richard Socher</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Julia McCoy - How to Start a Business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 Thin Prompt on a Frontier Model Is Not a Business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Why Complexity Kills Faster Than Competition</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AI Avatar in YouTube videos</a:t>
            </a:r>
            <a:endParaRPr sz="1500" b="1">
              <a:solidFill>
                <a:srgbClr val="3C78D8"/>
              </a:solidFill>
              <a:latin typeface="Calibri"/>
              <a:ea typeface="Calibri"/>
              <a:cs typeface="Calibri"/>
              <a:sym typeface="Calibri"/>
            </a:endParaRPr>
          </a:p>
        </p:txBody>
      </p:sp>
      <p:sp>
        <p:nvSpPr>
          <p:cNvPr id="68" name="Google Shape;68;p15"/>
          <p:cNvSpPr txBox="1"/>
          <p:nvPr/>
        </p:nvSpPr>
        <p:spPr>
          <a:xfrm>
            <a:off x="100175" y="2842783"/>
            <a:ext cx="4330200" cy="2096400"/>
          </a:xfrm>
          <a:prstGeom prst="rect">
            <a:avLst/>
          </a:prstGeom>
          <a:solidFill>
            <a:srgbClr val="D0E0E3"/>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Karpathy's CLAUDE md - open source</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Perplexity Opens Up Its Skills Design Core</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Productise Yourself</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Anthropic's Claude for Legal - May 12</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Connecting Claude AI to Obsidian and OMI</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Krea 2 Update - Generate Visuals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Hermes vs OpenClaw</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RAG and RAE</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Gemini API file search as multimodal RAG</a:t>
            </a:r>
            <a:endParaRPr sz="1500" b="1">
              <a:solidFill>
                <a:srgbClr val="3C78D8"/>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6736325" y="52350"/>
            <a:ext cx="2356200" cy="341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Starting Elo rating = 1000</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900" b="0" i="0" u="sng" strike="noStrike" cap="none">
                <a:solidFill>
                  <a:schemeClr val="hlink"/>
                </a:solidFill>
                <a:latin typeface="Calibri"/>
                <a:ea typeface="Calibri"/>
                <a:cs typeface="Calibri"/>
                <a:sym typeface="Calibri"/>
                <a:hlinkClick r:id="rId3"/>
              </a:rPr>
              <a:t>https://en.wikipedia.org/wiki/Elo_rating_system</a:t>
            </a:r>
            <a:r>
              <a:rPr lang="en" sz="900" b="0" i="0" u="none" strike="noStrike" cap="none">
                <a:solidFill>
                  <a:schemeClr val="dk1"/>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4" name="Google Shape;74;p16"/>
          <p:cNvSpPr txBox="1"/>
          <p:nvPr/>
        </p:nvSpPr>
        <p:spPr>
          <a:xfrm>
            <a:off x="38150" y="2125"/>
            <a:ext cx="2599800" cy="2955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1800" b="1" i="0" u="none" strike="noStrike" cap="none">
                <a:solidFill>
                  <a:schemeClr val="dk1"/>
                </a:solidFill>
                <a:latin typeface="Calibri"/>
                <a:ea typeface="Calibri"/>
                <a:cs typeface="Calibri"/>
                <a:sym typeface="Calibri"/>
              </a:rPr>
              <a:t>"LM Arena" Leaderboard</a:t>
            </a:r>
            <a:endParaRPr sz="1800" b="1" i="0" u="none" strike="noStrike" cap="none">
              <a:solidFill>
                <a:srgbClr val="000000"/>
              </a:solidFill>
              <a:latin typeface="Calibri"/>
              <a:ea typeface="Calibri"/>
              <a:cs typeface="Calibri"/>
              <a:sym typeface="Calibri"/>
            </a:endParaRPr>
          </a:p>
        </p:txBody>
      </p:sp>
      <p:sp>
        <p:nvSpPr>
          <p:cNvPr id="75" name="Google Shape;75;p16"/>
          <p:cNvSpPr txBox="1"/>
          <p:nvPr/>
        </p:nvSpPr>
        <p:spPr>
          <a:xfrm>
            <a:off x="52418" y="476072"/>
            <a:ext cx="25998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English - </a:t>
            </a:r>
            <a:r>
              <a:rPr lang="en" sz="900" b="1" u="sng">
                <a:solidFill>
                  <a:schemeClr val="hlink"/>
                </a:solidFill>
                <a:latin typeface="Calibri"/>
                <a:ea typeface="Calibri"/>
                <a:cs typeface="Calibri"/>
                <a:sym typeface="Calibri"/>
                <a:hlinkClick r:id="rId4"/>
              </a:rPr>
              <a:t>https://lmarena.ai/leaderboard/text</a:t>
            </a:r>
            <a:r>
              <a:rPr lang="en" sz="900" b="1">
                <a:solidFill>
                  <a:srgbClr val="FF0000"/>
                </a:solidFill>
                <a:latin typeface="Calibri"/>
                <a:ea typeface="Calibri"/>
                <a:cs typeface="Calibri"/>
                <a:sym typeface="Calibri"/>
              </a:rPr>
              <a:t> </a:t>
            </a:r>
            <a:endParaRPr sz="900" b="1">
              <a:solidFill>
                <a:srgbClr val="FF0000"/>
              </a:solidFill>
              <a:latin typeface="Calibri"/>
              <a:ea typeface="Calibri"/>
              <a:cs typeface="Calibri"/>
              <a:sym typeface="Calibri"/>
            </a:endParaRPr>
          </a:p>
        </p:txBody>
      </p:sp>
      <p:sp>
        <p:nvSpPr>
          <p:cNvPr id="76" name="Google Shape;76;p16"/>
          <p:cNvSpPr txBox="1"/>
          <p:nvPr/>
        </p:nvSpPr>
        <p:spPr>
          <a:xfrm>
            <a:off x="2726905" y="476078"/>
            <a:ext cx="28395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Coding - </a:t>
            </a:r>
            <a:r>
              <a:rPr lang="en" sz="900" b="1" u="sng">
                <a:solidFill>
                  <a:schemeClr val="hlink"/>
                </a:solidFill>
                <a:latin typeface="Calibri"/>
                <a:ea typeface="Calibri"/>
                <a:cs typeface="Calibri"/>
                <a:sym typeface="Calibri"/>
                <a:hlinkClick r:id="rId5"/>
              </a:rPr>
              <a:t>https://lmarena.ai/leaderboard/text/coding</a:t>
            </a:r>
            <a:r>
              <a:rPr lang="en" sz="900" b="1">
                <a:solidFill>
                  <a:srgbClr val="FF0000"/>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7" name="Google Shape;77;p16"/>
          <p:cNvSpPr txBox="1"/>
          <p:nvPr/>
        </p:nvSpPr>
        <p:spPr>
          <a:xfrm>
            <a:off x="6183999" y="1858050"/>
            <a:ext cx="2908500" cy="3096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4"/>
              </a:rPr>
              <a:t>https://lmarena.ai/leaderboard/text</a:t>
            </a:r>
            <a:r>
              <a:rPr lang="en" sz="800">
                <a:latin typeface="Calibri"/>
                <a:ea typeface="Calibri"/>
                <a:cs typeface="Calibri"/>
                <a:sym typeface="Calibri"/>
              </a:rPr>
              <a:t> </a:t>
            </a:r>
            <a:endParaRPr sz="8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latin typeface="Calibri"/>
                <a:ea typeface="Calibri"/>
                <a:cs typeface="Calibri"/>
                <a:sym typeface="Calibri"/>
              </a:rPr>
              <a:t>Design Arena -    </a:t>
            </a:r>
            <a:br>
              <a:rPr lang="en" sz="800">
                <a:latin typeface="Calibri"/>
                <a:ea typeface="Calibri"/>
                <a:cs typeface="Calibri"/>
                <a:sym typeface="Calibri"/>
              </a:rPr>
            </a:br>
            <a:r>
              <a:rPr lang="en" sz="800" u="sng">
                <a:solidFill>
                  <a:schemeClr val="hlink"/>
                </a:solidFill>
                <a:latin typeface="Calibri"/>
                <a:ea typeface="Calibri"/>
                <a:cs typeface="Calibri"/>
                <a:sym typeface="Calibri"/>
                <a:hlinkClick r:id="rId6"/>
              </a:rPr>
              <a:t>https://www.designarena.ai</a:t>
            </a:r>
            <a:r>
              <a:rPr lang="en" sz="800">
                <a:latin typeface="Calibri"/>
                <a:ea typeface="Calibri"/>
                <a:cs typeface="Calibri"/>
                <a:sym typeface="Calibri"/>
              </a:rPr>
              <a:t> </a:t>
            </a:r>
            <a:endParaRPr sz="8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7"/>
              </a:rPr>
              <a:t>https://openlm.ai/chatbot-arena/</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8"/>
              </a:rPr>
              <a:t>https://beta.lmarena.ai</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Web Leaderboard -  1T params</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9"/>
              </a:rPr>
              <a:t>https://web.lmarena.ai/leaderboard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@LlmStats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0"/>
              </a:rPr>
              <a:t>https://llmworld.net/llm_leaderboards/</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StackAI</a:t>
            </a:r>
            <a:r>
              <a:rPr lang="en" sz="800">
                <a:solidFill>
                  <a:schemeClr val="dk1"/>
                </a:solidFill>
                <a:latin typeface="Calibri"/>
                <a:ea typeface="Calibri"/>
                <a:cs typeface="Calibri"/>
                <a:sym typeface="Calibri"/>
              </a:rPr>
              <a:t> - </a:t>
            </a:r>
            <a:br>
              <a:rPr lang="en" sz="800">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1"/>
              </a:rPr>
              <a:t>https://www.stack-ai.com/llm-leaderboard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Artificial Analysis</a:t>
            </a:r>
            <a:r>
              <a:rPr lang="en" sz="800">
                <a:solidFill>
                  <a:schemeClr val="dk1"/>
                </a:solidFill>
                <a:latin typeface="Calibri"/>
                <a:ea typeface="Calibri"/>
                <a:cs typeface="Calibri"/>
                <a:sym typeface="Calibri"/>
              </a:rPr>
              <a:t> - </a:t>
            </a:r>
            <a:br>
              <a:rPr lang="en" sz="800">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2"/>
              </a:rPr>
              <a:t>https://artificialanalysis.ai/leaderboards/models</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Open LLM Leaderboard - by Hugging Face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3"/>
              </a:rPr>
              <a:t>https://huggingface.co/open-llm-leaderboard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Vellum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4"/>
              </a:rPr>
              <a:t>https://www.vellum.ai/llm-leaderboard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AI Benchmarking Hub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5"/>
              </a:rPr>
              <a:t>https://epoch.ai/data/ai-benchmarking-dashboard</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Grok 4 Benchmarks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6"/>
              </a:rPr>
              <a:t>https://artificialanalysis.ai/models/grok-4</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Image arena (alibaba)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7"/>
              </a:rPr>
              <a:t>http://aiarena.alibaba-inc.com/corpora/arena/leaderboard?arenaType=T2I</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image arena - </a:t>
            </a:r>
            <a:r>
              <a:rPr lang="en" sz="800" u="sng">
                <a:solidFill>
                  <a:schemeClr val="hlink"/>
                </a:solidFill>
                <a:latin typeface="Calibri"/>
                <a:ea typeface="Calibri"/>
                <a:cs typeface="Calibri"/>
                <a:sym typeface="Calibri"/>
                <a:hlinkClick r:id="rId18"/>
              </a:rPr>
              <a:t>https://lmarena.ai/leaderboard/text-to-image</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p:txBody>
      </p:sp>
      <p:sp>
        <p:nvSpPr>
          <p:cNvPr id="78" name="Google Shape;78;p16"/>
          <p:cNvSpPr txBox="1"/>
          <p:nvPr/>
        </p:nvSpPr>
        <p:spPr>
          <a:xfrm>
            <a:off x="4431041" y="63625"/>
            <a:ext cx="1408200" cy="17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chemeClr val="dk1"/>
              </a:buClr>
              <a:buSzPts val="1000"/>
              <a:buFont typeface="Calibri"/>
              <a:buChar char="●"/>
            </a:pPr>
            <a:r>
              <a:rPr lang="en" sz="1000">
                <a:latin typeface="Calibri"/>
                <a:ea typeface="Calibri"/>
                <a:cs typeface="Calibri"/>
                <a:sym typeface="Calibri"/>
              </a:rPr>
              <a:t>Data for May 07</a:t>
            </a:r>
            <a:endParaRPr sz="1000">
              <a:latin typeface="Calibri"/>
              <a:ea typeface="Calibri"/>
              <a:cs typeface="Calibri"/>
              <a:sym typeface="Calibri"/>
            </a:endParaRPr>
          </a:p>
        </p:txBody>
      </p:sp>
      <p:sp>
        <p:nvSpPr>
          <p:cNvPr id="79" name="Google Shape;79;p16"/>
          <p:cNvSpPr txBox="1"/>
          <p:nvPr/>
        </p:nvSpPr>
        <p:spPr>
          <a:xfrm>
            <a:off x="6978275" y="551325"/>
            <a:ext cx="2114400" cy="1249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deepseek-v4 - 1.6T</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Baidu Ernie-5.1 - 800B</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GLM-5.1 - 744B </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kimi-k2.6 - 1T</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Qwen3.5-397B</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Xiaomi MiMo-V2-Pro - 1T+</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Meta muse-spark  30B</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solidFill>
                  <a:schemeClr val="dk1"/>
                </a:solidFill>
                <a:latin typeface="Calibri"/>
                <a:ea typeface="Calibri"/>
                <a:cs typeface="Calibri"/>
                <a:sym typeface="Calibri"/>
              </a:rPr>
              <a:t>ByteDance </a:t>
            </a:r>
            <a:r>
              <a:rPr lang="en" sz="1000">
                <a:latin typeface="Calibri"/>
                <a:ea typeface="Calibri"/>
                <a:cs typeface="Calibri"/>
                <a:sym typeface="Calibri"/>
              </a:rPr>
              <a:t>dola-seed-2.0-pro 400B  </a:t>
            </a:r>
            <a:endParaRPr sz="1000">
              <a:latin typeface="Calibri"/>
              <a:ea typeface="Calibri"/>
              <a:cs typeface="Calibri"/>
              <a:sym typeface="Calibri"/>
            </a:endParaRPr>
          </a:p>
        </p:txBody>
      </p:sp>
      <p:graphicFrame>
        <p:nvGraphicFramePr>
          <p:cNvPr id="80" name="Google Shape;80;p16"/>
          <p:cNvGraphicFramePr/>
          <p:nvPr/>
        </p:nvGraphicFramePr>
        <p:xfrm>
          <a:off x="5742420" y="430065"/>
          <a:ext cx="3000000" cy="3000000"/>
        </p:xfrm>
        <a:graphic>
          <a:graphicData uri="http://schemas.openxmlformats.org/drawingml/2006/table">
            <a:tbl>
              <a:tblPr>
                <a:noFill/>
                <a:tableStyleId>{67325457-8548-4F29-AE03-A678B52A35A3}</a:tableStyleId>
              </a:tblPr>
              <a:tblGrid>
                <a:gridCol w="219050">
                  <a:extLst>
                    <a:ext uri="{9D8B030D-6E8A-4147-A177-3AD203B41FA5}">
                      <a16:colId xmlns:a16="http://schemas.microsoft.com/office/drawing/2014/main" val="20000"/>
                    </a:ext>
                  </a:extLst>
                </a:gridCol>
                <a:gridCol w="585450">
                  <a:extLst>
                    <a:ext uri="{9D8B030D-6E8A-4147-A177-3AD203B41FA5}">
                      <a16:colId xmlns:a16="http://schemas.microsoft.com/office/drawing/2014/main" val="20001"/>
                    </a:ext>
                  </a:extLst>
                </a:gridCol>
              </a:tblGrid>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solidFill>
                      <a:srgbClr val="4472C4"/>
                    </a:solidFill>
                  </a:tcPr>
                </a:tc>
                <a:tc>
                  <a:txBody>
                    <a:bodyPr/>
                    <a:lstStyle/>
                    <a:p>
                      <a:pPr marL="0" lvl="0" indent="0" algn="l" rtl="0">
                        <a:spcBef>
                          <a:spcPts val="0"/>
                        </a:spcBef>
                        <a:spcAft>
                          <a:spcPts val="0"/>
                        </a:spcAft>
                        <a:buNone/>
                      </a:pPr>
                      <a:r>
                        <a:rPr lang="en" sz="800">
                          <a:latin typeface="Calibri"/>
                          <a:ea typeface="Calibri"/>
                          <a:cs typeface="Calibri"/>
                          <a:sym typeface="Calibri"/>
                        </a:rPr>
                        <a:t>Claude</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0"/>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solidFill>
                      <a:srgbClr val="FF0000"/>
                    </a:solidFill>
                  </a:tcPr>
                </a:tc>
                <a:tc>
                  <a:txBody>
                    <a:bodyPr/>
                    <a:lstStyle/>
                    <a:p>
                      <a:pPr marL="0" lvl="0" indent="0" algn="l" rtl="0">
                        <a:spcBef>
                          <a:spcPts val="0"/>
                        </a:spcBef>
                        <a:spcAft>
                          <a:spcPts val="0"/>
                        </a:spcAft>
                        <a:buNone/>
                      </a:pPr>
                      <a:r>
                        <a:rPr lang="en" sz="800">
                          <a:latin typeface="Calibri"/>
                          <a:ea typeface="Calibri"/>
                          <a:cs typeface="Calibri"/>
                          <a:sym typeface="Calibri"/>
                        </a:rPr>
                        <a:t>Gemini</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1"/>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solidFill>
                      <a:srgbClr val="FFD700"/>
                    </a:solidFill>
                  </a:tcPr>
                </a:tc>
                <a:tc>
                  <a:txBody>
                    <a:bodyPr/>
                    <a:lstStyle/>
                    <a:p>
                      <a:pPr marL="0" lvl="0" indent="0" algn="l" rtl="0">
                        <a:spcBef>
                          <a:spcPts val="0"/>
                        </a:spcBef>
                        <a:spcAft>
                          <a:spcPts val="0"/>
                        </a:spcAft>
                        <a:buNone/>
                      </a:pPr>
                      <a:r>
                        <a:rPr lang="en" sz="800">
                          <a:latin typeface="Calibri"/>
                          <a:ea typeface="Calibri"/>
                          <a:cs typeface="Calibri"/>
                          <a:sym typeface="Calibri"/>
                        </a:rPr>
                        <a:t>OpenAI</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2"/>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solidFill>
                      <a:srgbClr val="00B050"/>
                    </a:solidFill>
                  </a:tcPr>
                </a:tc>
                <a:tc>
                  <a:txBody>
                    <a:bodyPr/>
                    <a:lstStyle/>
                    <a:p>
                      <a:pPr marL="0" lvl="0" indent="0" algn="l" rtl="0">
                        <a:spcBef>
                          <a:spcPts val="0"/>
                        </a:spcBef>
                        <a:spcAft>
                          <a:spcPts val="0"/>
                        </a:spcAft>
                        <a:buNone/>
                      </a:pPr>
                      <a:r>
                        <a:rPr lang="en" sz="800">
                          <a:latin typeface="Calibri"/>
                          <a:ea typeface="Calibri"/>
                          <a:cs typeface="Calibri"/>
                          <a:sym typeface="Calibri"/>
                        </a:rPr>
                        <a:t>Open Source</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3"/>
                  </a:ext>
                </a:extLst>
              </a:tr>
            </a:tbl>
          </a:graphicData>
        </a:graphic>
      </p:graphicFrame>
      <p:sp>
        <p:nvSpPr>
          <p:cNvPr id="81" name="Google Shape;81;p16"/>
          <p:cNvSpPr txBox="1"/>
          <p:nvPr/>
        </p:nvSpPr>
        <p:spPr>
          <a:xfrm>
            <a:off x="5404475" y="1189675"/>
            <a:ext cx="1483200" cy="480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000">
                <a:solidFill>
                  <a:srgbClr val="3C78D8"/>
                </a:solidFill>
                <a:latin typeface="Calibri"/>
                <a:ea typeface="Calibri"/>
                <a:cs typeface="Calibri"/>
                <a:sym typeface="Calibri"/>
              </a:rPr>
              <a:t>deepseek-v4-pro-thinking</a:t>
            </a:r>
            <a:endParaRPr sz="1000">
              <a:solidFill>
                <a:srgbClr val="3C78D8"/>
              </a:solidFill>
              <a:latin typeface="Calibri"/>
              <a:ea typeface="Calibri"/>
              <a:cs typeface="Calibri"/>
              <a:sym typeface="Calibri"/>
            </a:endParaRPr>
          </a:p>
          <a:p>
            <a:pPr marL="0" marR="0" lvl="0" indent="0" algn="l" rtl="0">
              <a:lnSpc>
                <a:spcPct val="100000"/>
              </a:lnSpc>
              <a:spcBef>
                <a:spcPts val="0"/>
              </a:spcBef>
              <a:spcAft>
                <a:spcPts val="0"/>
              </a:spcAft>
              <a:buNone/>
            </a:pPr>
            <a:r>
              <a:rPr lang="en" sz="1000">
                <a:solidFill>
                  <a:srgbClr val="3C78D8"/>
                </a:solidFill>
                <a:latin typeface="Calibri"/>
                <a:ea typeface="Calibri"/>
                <a:cs typeface="Calibri"/>
                <a:sym typeface="Calibri"/>
              </a:rPr>
              <a:t>Qwen-3.6-plus</a:t>
            </a:r>
            <a:br>
              <a:rPr lang="en" sz="1000">
                <a:latin typeface="Calibri"/>
                <a:ea typeface="Calibri"/>
                <a:cs typeface="Calibri"/>
                <a:sym typeface="Calibri"/>
              </a:rPr>
            </a:br>
            <a:r>
              <a:rPr lang="en" sz="1000">
                <a:latin typeface="Calibri"/>
                <a:ea typeface="Calibri"/>
                <a:cs typeface="Calibri"/>
                <a:sym typeface="Calibri"/>
              </a:rPr>
              <a:t>is on 36th place </a:t>
            </a:r>
            <a:endParaRPr sz="1000">
              <a:latin typeface="Calibri"/>
              <a:ea typeface="Calibri"/>
              <a:cs typeface="Calibri"/>
              <a:sym typeface="Calibri"/>
            </a:endParaRPr>
          </a:p>
        </p:txBody>
      </p:sp>
      <p:graphicFrame>
        <p:nvGraphicFramePr>
          <p:cNvPr id="82" name="Google Shape;82;p16"/>
          <p:cNvGraphicFramePr/>
          <p:nvPr/>
        </p:nvGraphicFramePr>
        <p:xfrm>
          <a:off x="2952750" y="715825"/>
          <a:ext cx="3000000" cy="3000000"/>
        </p:xfrm>
        <a:graphic>
          <a:graphicData uri="http://schemas.openxmlformats.org/drawingml/2006/table">
            <a:tbl>
              <a:tblPr>
                <a:noFill/>
                <a:tableStyleId>{67325457-8548-4F29-AE03-A678B52A35A3}</a:tableStyleId>
              </a:tblPr>
              <a:tblGrid>
                <a:gridCol w="276225">
                  <a:extLst>
                    <a:ext uri="{9D8B030D-6E8A-4147-A177-3AD203B41FA5}">
                      <a16:colId xmlns:a16="http://schemas.microsoft.com/office/drawing/2014/main" val="20000"/>
                    </a:ext>
                  </a:extLst>
                </a:gridCol>
                <a:gridCol w="1800225">
                  <a:extLst>
                    <a:ext uri="{9D8B030D-6E8A-4147-A177-3AD203B41FA5}">
                      <a16:colId xmlns:a16="http://schemas.microsoft.com/office/drawing/2014/main" val="20001"/>
                    </a:ext>
                  </a:extLst>
                </a:gridCol>
                <a:gridCol w="295275">
                  <a:extLst>
                    <a:ext uri="{9D8B030D-6E8A-4147-A177-3AD203B41FA5}">
                      <a16:colId xmlns:a16="http://schemas.microsoft.com/office/drawing/2014/main" val="20002"/>
                    </a:ext>
                  </a:extLst>
                </a:gridCol>
              </a:tblGrid>
              <a:tr h="136225">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Code</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Model</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Score</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0"/>
                  </a:ext>
                </a:extLst>
              </a:tr>
              <a:tr h="136225">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9"/>
                        </a:rPr>
                        <a:t>claude-opus-4-7-thinking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1569</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1"/>
                  </a:ext>
                </a:extLst>
              </a:tr>
              <a:tr h="136225">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0"/>
                        </a:rPr>
                        <a:t>claude-opus-4-6-thinking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1553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2"/>
                  </a:ext>
                </a:extLst>
              </a:tr>
              <a:tr h="136225">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9"/>
                        </a:rPr>
                        <a:t>claude-opus-4-7</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1550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3"/>
                  </a:ext>
                </a:extLst>
              </a:tr>
              <a:tr h="136225">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0"/>
                        </a:rPr>
                        <a:t>claude-opus-4-6</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1550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4"/>
                  </a:ext>
                </a:extLst>
              </a:tr>
              <a:tr h="136225">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1"/>
                        </a:rPr>
                        <a:t>claude-opus-4-5-20251101-thinking-32k</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1531</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5"/>
                  </a:ext>
                </a:extLst>
              </a:tr>
              <a:tr h="136225">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2"/>
                        </a:rPr>
                        <a:t>muse-spark</a:t>
                      </a:r>
                      <a:r>
                        <a:rPr lang="en" sz="800">
                          <a:solidFill>
                            <a:schemeClr val="dk1"/>
                          </a:solidFill>
                          <a:latin typeface="Calibri"/>
                          <a:ea typeface="Calibri"/>
                          <a:cs typeface="Calibri"/>
                          <a:sym typeface="Calibri"/>
                        </a:rPr>
                        <a:t> Meta</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6"/>
                  </a:ext>
                </a:extLst>
              </a:tr>
              <a:tr h="136225">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3"/>
                        </a:rPr>
                        <a:t>gemini-3.1-pro-preview</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1529</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7"/>
                  </a:ext>
                </a:extLst>
              </a:tr>
              <a:tr h="136225">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4"/>
                        </a:rPr>
                        <a:t>gpt-5.4-high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8"/>
                  </a:ext>
                </a:extLst>
              </a:tr>
              <a:tr h="136225">
                <a:tc>
                  <a:txBody>
                    <a:bodyPr/>
                    <a:lstStyle/>
                    <a:p>
                      <a:pPr marL="0" lvl="0" indent="0" algn="l" rtl="0">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5"/>
                        </a:rPr>
                        <a:t>glm-5.1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1525</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9"/>
                  </a:ext>
                </a:extLst>
              </a:tr>
              <a:tr h="136225">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6"/>
                        </a:rPr>
                        <a:t>gpt-5.5-high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0"/>
                  </a:ext>
                </a:extLst>
              </a:tr>
              <a:tr h="136225">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7"/>
                        </a:rPr>
                        <a:t>claude-sonnet-4-6</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1521</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1"/>
                  </a:ext>
                </a:extLst>
              </a:tr>
              <a:tr h="136225">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8"/>
                        </a:rPr>
                        <a:t>grok-4.20-multi-agent-beta-0309</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1521</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2"/>
                  </a:ext>
                </a:extLst>
              </a:tr>
              <a:tr h="136225">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9"/>
                        </a:rPr>
                        <a:t>claude-sonnet-4-5-20250929-thinking-32k</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1521</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3"/>
                  </a:ext>
                </a:extLst>
              </a:tr>
              <a:tr h="136225">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0"/>
                        </a:rPr>
                        <a:t>gpt-5.2-chat-latest-20260210</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1519</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4"/>
                  </a:ext>
                </a:extLst>
              </a:tr>
              <a:tr h="136225">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1"/>
                        </a:rPr>
                        <a:t>claude-opus-4-5-20251101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1519</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5"/>
                  </a:ext>
                </a:extLst>
              </a:tr>
              <a:tr h="136225">
                <a:tc>
                  <a:txBody>
                    <a:bodyPr/>
                    <a:lstStyle/>
                    <a:p>
                      <a:pPr marL="0" lvl="0" indent="0" algn="l" rtl="0">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1"/>
                        </a:rPr>
                        <a:t>kimi-k2.6</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1519</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6"/>
                  </a:ext>
                </a:extLst>
              </a:tr>
              <a:tr h="136225">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2"/>
                        </a:rPr>
                        <a:t>gemini-3-pro</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1519</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7"/>
                  </a:ext>
                </a:extLst>
              </a:tr>
              <a:tr h="136225">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3"/>
                        </a:rPr>
                        <a:t>grok-4.20-beta-0309-reasoning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8"/>
                  </a:ext>
                </a:extLst>
              </a:tr>
              <a:tr h="136225">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4"/>
                        </a:rPr>
                        <a:t>gpt-5.4</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9"/>
                  </a:ext>
                </a:extLst>
              </a:tr>
              <a:tr h="136225">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4"/>
                        </a:rPr>
                        <a:t>ernie-5.1</a:t>
                      </a:r>
                      <a:r>
                        <a:rPr lang="en" sz="800">
                          <a:solidFill>
                            <a:schemeClr val="dk1"/>
                          </a:solidFill>
                          <a:latin typeface="Calibri"/>
                          <a:ea typeface="Calibri"/>
                          <a:cs typeface="Calibri"/>
                          <a:sym typeface="Calibri"/>
                        </a:rPr>
                        <a:t> Baidu</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1517</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0"/>
                  </a:ext>
                </a:extLst>
              </a:tr>
              <a:tr h="136225">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9"/>
                        </a:rPr>
                        <a:t>claude-sonnet-4-5-20250929</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1"/>
                  </a:ext>
                </a:extLst>
              </a:tr>
              <a:tr h="136225">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5"/>
                        </a:rPr>
                        <a:t>claude-opus-4-1-20250805-thinking-16k</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2"/>
                  </a:ext>
                </a:extLst>
              </a:tr>
              <a:tr h="136225">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6"/>
                        </a:rPr>
                        <a:t>dola-seed-2.0-pro</a:t>
                      </a:r>
                      <a:r>
                        <a:rPr lang="en" sz="800">
                          <a:solidFill>
                            <a:schemeClr val="dk1"/>
                          </a:solidFill>
                          <a:latin typeface="Calibri"/>
                          <a:ea typeface="Calibri"/>
                          <a:cs typeface="Calibri"/>
                          <a:sym typeface="Calibri"/>
                        </a:rPr>
                        <a:t>  ByteDance</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3"/>
                  </a:ext>
                </a:extLst>
              </a:tr>
              <a:tr h="136225">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7"/>
                        </a:rPr>
                        <a:t>grok-4.20-beta1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1512</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4"/>
                  </a:ext>
                </a:extLst>
              </a:tr>
              <a:tr h="136225">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8"/>
                        </a:rPr>
                        <a:t>gpt-5.5-instant</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1512</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5"/>
                  </a:ext>
                </a:extLst>
              </a:tr>
            </a:tbl>
          </a:graphicData>
        </a:graphic>
      </p:graphicFrame>
      <p:graphicFrame>
        <p:nvGraphicFramePr>
          <p:cNvPr id="83" name="Google Shape;83;p16"/>
          <p:cNvGraphicFramePr/>
          <p:nvPr/>
        </p:nvGraphicFramePr>
        <p:xfrm>
          <a:off x="209550" y="715950"/>
          <a:ext cx="3000000" cy="3000000"/>
        </p:xfrm>
        <a:graphic>
          <a:graphicData uri="http://schemas.openxmlformats.org/drawingml/2006/table">
            <a:tbl>
              <a:tblPr>
                <a:noFill/>
                <a:tableStyleId>{67325457-8548-4F29-AE03-A678B52A35A3}</a:tableStyleId>
              </a:tblPr>
              <a:tblGrid>
                <a:gridCol w="276225">
                  <a:extLst>
                    <a:ext uri="{9D8B030D-6E8A-4147-A177-3AD203B41FA5}">
                      <a16:colId xmlns:a16="http://schemas.microsoft.com/office/drawing/2014/main" val="20000"/>
                    </a:ext>
                  </a:extLst>
                </a:gridCol>
                <a:gridCol w="1724025">
                  <a:extLst>
                    <a:ext uri="{9D8B030D-6E8A-4147-A177-3AD203B41FA5}">
                      <a16:colId xmlns:a16="http://schemas.microsoft.com/office/drawing/2014/main" val="20001"/>
                    </a:ext>
                  </a:extLst>
                </a:gridCol>
                <a:gridCol w="295275">
                  <a:extLst>
                    <a:ext uri="{9D8B030D-6E8A-4147-A177-3AD203B41FA5}">
                      <a16:colId xmlns:a16="http://schemas.microsoft.com/office/drawing/2014/main" val="20002"/>
                    </a:ext>
                  </a:extLst>
                </a:gridCol>
              </a:tblGrid>
              <a:tr h="145375">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Code</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Model</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Score</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0"/>
                  </a:ext>
                </a:extLst>
              </a:tr>
              <a:tr h="145375">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9"/>
                        </a:rPr>
                        <a:t>claude-opus-4-7-thinking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1"/>
                  </a:ext>
                </a:extLst>
              </a:tr>
              <a:tr h="145375">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0"/>
                        </a:rPr>
                        <a:t>claude-opus-4-6-thinking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1502</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2"/>
                  </a:ext>
                </a:extLst>
              </a:tr>
              <a:tr h="145375">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0"/>
                        </a:rPr>
                        <a:t>claude-opus-4-6</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3"/>
                  </a:ext>
                </a:extLst>
              </a:tr>
              <a:tr h="145375">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3"/>
                        </a:rPr>
                        <a:t>gemini-3.1-pro-preview</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1492</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4"/>
                  </a:ext>
                </a:extLst>
              </a:tr>
              <a:tr h="145375">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9"/>
                        </a:rPr>
                        <a:t>claude-opus-4-7</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1491</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5"/>
                  </a:ext>
                </a:extLst>
              </a:tr>
              <a:tr h="145375">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2"/>
                        </a:rPr>
                        <a:t>muse-spark</a:t>
                      </a:r>
                      <a:r>
                        <a:rPr lang="en" sz="800">
                          <a:solidFill>
                            <a:schemeClr val="dk1"/>
                          </a:solidFill>
                          <a:latin typeface="Calibri"/>
                          <a:ea typeface="Calibri"/>
                          <a:cs typeface="Calibri"/>
                          <a:sym typeface="Calibri"/>
                        </a:rPr>
                        <a:t> Meta</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6"/>
                  </a:ext>
                </a:extLst>
              </a:tr>
              <a:tr h="145375">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2"/>
                        </a:rPr>
                        <a:t>gemini-3-pro</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1486</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7"/>
                  </a:ext>
                </a:extLst>
              </a:tr>
              <a:tr h="145375">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6"/>
                        </a:rPr>
                        <a:t>gpt-5.5-high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8"/>
                  </a:ext>
                </a:extLst>
              </a:tr>
              <a:tr h="145375">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7"/>
                        </a:rPr>
                        <a:t>grok-4.20-beta1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9"/>
                  </a:ext>
                </a:extLst>
              </a:tr>
              <a:tr h="145375">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0"/>
                        </a:rPr>
                        <a:t>gpt-5.2-chat-latest-20260210</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1477</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0"/>
                  </a:ext>
                </a:extLst>
              </a:tr>
              <a:tr h="145375">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4"/>
                        </a:rPr>
                        <a:t>gpt-5.4-high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1477</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1"/>
                  </a:ext>
                </a:extLst>
              </a:tr>
              <a:tr h="145375">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3"/>
                        </a:rPr>
                        <a:t>grok-4.20-beta-0309-reasoning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1477</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2"/>
                  </a:ext>
                </a:extLst>
              </a:tr>
              <a:tr h="145375">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6"/>
                        </a:rPr>
                        <a:t>gpt-5.5</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1475</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3"/>
                  </a:ext>
                </a:extLst>
              </a:tr>
              <a:tr h="145375">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4"/>
                        </a:rPr>
                        <a:t>ernie-5.1</a:t>
                      </a:r>
                      <a:r>
                        <a:rPr lang="en" sz="800">
                          <a:solidFill>
                            <a:schemeClr val="dk1"/>
                          </a:solidFill>
                          <a:latin typeface="Calibri"/>
                          <a:ea typeface="Calibri"/>
                          <a:cs typeface="Calibri"/>
                          <a:sym typeface="Calibri"/>
                        </a:rPr>
                        <a:t> Baidu</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4"/>
                  </a:ext>
                </a:extLst>
              </a:tr>
              <a:tr h="145375">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8"/>
                        </a:rPr>
                        <a:t>grok-4.20-multi-agent-beta-0309</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5"/>
                  </a:ext>
                </a:extLst>
              </a:tr>
              <a:tr h="145375">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9"/>
                        </a:rPr>
                        <a:t>gemini-3-flash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6"/>
                  </a:ext>
                </a:extLst>
              </a:tr>
              <a:tr h="145375">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1"/>
                        </a:rPr>
                        <a:t>claude-opus-4-5-20251101-thinking-32k</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7"/>
                  </a:ext>
                </a:extLst>
              </a:tr>
              <a:tr h="145375">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8"/>
                        </a:rPr>
                        <a:t>gpt-5.5-instant</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8"/>
                  </a:ext>
                </a:extLst>
              </a:tr>
              <a:tr h="145375">
                <a:tc>
                  <a:txBody>
                    <a:bodyPr/>
                    <a:lstStyle/>
                    <a:p>
                      <a:pPr marL="0" lvl="0" indent="0" algn="l" rtl="0">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5"/>
                        </a:rPr>
                        <a:t>glm-5.1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1471</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9"/>
                  </a:ext>
                </a:extLst>
              </a:tr>
              <a:tr h="145375">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1"/>
                        </a:rPr>
                        <a:t>claude-opus-4-5-20251101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0"/>
                  </a:ext>
                </a:extLst>
              </a:tr>
              <a:tr h="145375">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4"/>
                        </a:rPr>
                        <a:t>gpt-5.4</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1"/>
                  </a:ext>
                </a:extLst>
              </a:tr>
              <a:tr h="145375">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40"/>
                        </a:rPr>
                        <a:t>grok-4.1-thinking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1467</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2"/>
                  </a:ext>
                </a:extLst>
              </a:tr>
              <a:tr h="145375">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7"/>
                        </a:rPr>
                        <a:t>claude-sonnet-4-6</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1466</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3"/>
                  </a:ext>
                </a:extLst>
              </a:tr>
              <a:tr h="145375">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41"/>
                        </a:rPr>
                        <a:t>mimo-v2.5-pro</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4"/>
                  </a:ext>
                </a:extLst>
              </a:tr>
              <a:tr h="145375">
                <a:tc>
                  <a:txBody>
                    <a:bodyPr/>
                    <a:lstStyle/>
                    <a:p>
                      <a:pPr marL="0" lvl="0" indent="0" algn="l" rtl="0">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42"/>
                        </a:rPr>
                        <a:t>qwen3.5-max-preview</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5"/>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7"/>
          <p:cNvSpPr txBox="1"/>
          <p:nvPr/>
        </p:nvSpPr>
        <p:spPr>
          <a:xfrm>
            <a:off x="60250" y="431150"/>
            <a:ext cx="4483200" cy="223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Microsoft MDASH (Multimodel Agentic Scanning Harness)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AI-powered cybersecurity system</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MDASH topped the CyberGym benchmark leaderboard with an 88.45% score, defeating Anthropic’s Mythos and OpenAI’s GPT-5.5.</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Remarkably, Microsoft achieved this using generally available, model-agnostic software rather than a proprietary frontier model. MDASH operates via an orchestrated assembly line of over 100 specialized AI agents (auditors, debaters, provers) working across five distinct stages to hunt, analyze, and verify flaws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Deployed internally, the system detected 16 vulnerabilities within Windows code, including four critical remote code execution bugs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https://www.youtube.com/watch?v=idNpTUrr3r0</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89" name="Google Shape;89;p17"/>
          <p:cNvSpPr txBox="1"/>
          <p:nvPr/>
        </p:nvSpPr>
        <p:spPr>
          <a:xfrm>
            <a:off x="81775" y="67675"/>
            <a:ext cx="2527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pic>
        <p:nvPicPr>
          <p:cNvPr id="90" name="Google Shape;90;p17"/>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695850" y="662475"/>
            <a:ext cx="3052650" cy="1617000"/>
          </a:xfrm>
          <a:prstGeom prst="rect">
            <a:avLst/>
          </a:prstGeom>
          <a:noFill/>
          <a:ln w="9525" cap="flat" cmpd="sng">
            <a:solidFill>
              <a:srgbClr val="FF0000"/>
            </a:solidFill>
            <a:prstDash val="solid"/>
            <a:round/>
            <a:headEnd type="none" w="sm" len="sm"/>
            <a:tailEnd type="none" w="sm" len="sm"/>
          </a:ln>
        </p:spPr>
      </p:pic>
      <p:sp>
        <p:nvSpPr>
          <p:cNvPr id="91" name="Google Shape;91;p17"/>
          <p:cNvSpPr txBox="1"/>
          <p:nvPr/>
        </p:nvSpPr>
        <p:spPr>
          <a:xfrm>
            <a:off x="60250" y="2935850"/>
            <a:ext cx="4483200" cy="186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Elon Musk lost his lawsuit against OpenAI on all counts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jury found against Musk on his central claim that OpenAI violated a charitable trust by converting to a for-profit structure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statute of limitations was a decisive factor: the jury concluded Musk's claims were filed too late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OpenAI's path to an IPO is now clear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result also removes the last major legal overhang on the company's $300 Bln private valuation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For the AI industry, the ruling confirms that AI labs can restructure from nonprofit origins without triggering charitable trust claims</a:t>
            </a:r>
            <a:endParaRPr sz="1200">
              <a:solidFill>
                <a:schemeClr val="dk1"/>
              </a:solidFill>
              <a:latin typeface="Calibri"/>
              <a:ea typeface="Calibri"/>
              <a:cs typeface="Calibri"/>
              <a:sym typeface="Calibri"/>
            </a:endParaRPr>
          </a:p>
        </p:txBody>
      </p:sp>
      <p:pic>
        <p:nvPicPr>
          <p:cNvPr id="92" name="Google Shape;92;p17"/>
          <p:cNvPicPr preferRelativeResize="0"/>
          <p:nvPr/>
        </p:nvPicPr>
        <p:blipFill>
          <a:blip r:embed="rId5">
            <a:alphaModFix/>
          </a:blip>
          <a:stretch>
            <a:fillRect/>
          </a:stretch>
        </p:blipFill>
        <p:spPr>
          <a:xfrm>
            <a:off x="4695850" y="3039875"/>
            <a:ext cx="2857500" cy="16002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8"/>
          <p:cNvSpPr txBox="1"/>
          <p:nvPr/>
        </p:nvSpPr>
        <p:spPr>
          <a:xfrm>
            <a:off x="60250" y="431150"/>
            <a:ext cx="4483200" cy="2973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Grok 4.3 was released in April 2026</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Available in early access for paid subscribers</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Always-on reasoning, real-time web and X search integration, and an expanded context window</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Users can optimize output by selecting specific modes: Fast for quick tasks, Expert for deep reasoning, and Grok 4.3 Beta for high-stakes research</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update unlocks multi-file long-context analysis and the ability to process video links directly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For visual tasks, the "Imagine" interface allows plain-language image iteration, 10-second video clip generation, and an Agent Mode to manage visual projects consistently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Additional features include a customizable real-time Voice Mode, automated recurring Tasks, and structured JSON data output paired with built-in Python code execution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https://www.youtube.com/watch?v=NzO_kapnI_E</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98" name="Google Shape;98;p18"/>
          <p:cNvSpPr txBox="1"/>
          <p:nvPr/>
        </p:nvSpPr>
        <p:spPr>
          <a:xfrm>
            <a:off x="81775" y="67675"/>
            <a:ext cx="2527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Microsoft MDASH</a:t>
            </a:r>
            <a:endParaRPr sz="2000" b="1">
              <a:solidFill>
                <a:schemeClr val="dk1"/>
              </a:solidFill>
              <a:latin typeface="Calibri"/>
              <a:ea typeface="Calibri"/>
              <a:cs typeface="Calibri"/>
              <a:sym typeface="Calibri"/>
            </a:endParaRPr>
          </a:p>
        </p:txBody>
      </p:sp>
      <p:sp>
        <p:nvSpPr>
          <p:cNvPr id="99" name="Google Shape;99;p18"/>
          <p:cNvSpPr txBox="1"/>
          <p:nvPr/>
        </p:nvSpPr>
        <p:spPr>
          <a:xfrm>
            <a:off x="60250" y="3488675"/>
            <a:ext cx="4483200" cy="149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Anthropic closed $30 Bln funding at $900 Bln Valuation</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is the largest private AI fundraise in history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deal values Anthropic at ~ x3 times OpenAI's last private valuation of $300 Bln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Anthropic would rank as the third most valuable company in the world if public, trailing only Apple and Nvidia</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funding gives Anthropic the compute budget and runway to compete directly with OpenAI, Google, and Meta.</a:t>
            </a:r>
            <a:endParaRPr sz="1200">
              <a:solidFill>
                <a:schemeClr val="dk1"/>
              </a:solidFill>
              <a:latin typeface="Calibri"/>
              <a:ea typeface="Calibri"/>
              <a:cs typeface="Calibri"/>
              <a:sym typeface="Calibri"/>
            </a:endParaRPr>
          </a:p>
        </p:txBody>
      </p:sp>
      <p:pic>
        <p:nvPicPr>
          <p:cNvPr id="100" name="Google Shape;100;p18"/>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773950" y="431150"/>
            <a:ext cx="3316924" cy="2012100"/>
          </a:xfrm>
          <a:prstGeom prst="rect">
            <a:avLst/>
          </a:prstGeom>
          <a:noFill/>
          <a:ln w="9525" cap="flat" cmpd="sng">
            <a:solidFill>
              <a:srgbClr val="FF0000"/>
            </a:solidFill>
            <a:prstDash val="solid"/>
            <a:round/>
            <a:headEnd type="none" w="sm" len="sm"/>
            <a:tailEnd type="none" w="sm" len="sm"/>
          </a:ln>
        </p:spPr>
      </p:pic>
      <p:pic>
        <p:nvPicPr>
          <p:cNvPr id="101" name="Google Shape;101;p18"/>
          <p:cNvPicPr preferRelativeResize="0"/>
          <p:nvPr/>
        </p:nvPicPr>
        <p:blipFill>
          <a:blip r:embed="rId5">
            <a:alphaModFix/>
          </a:blip>
          <a:stretch>
            <a:fillRect/>
          </a:stretch>
        </p:blipFill>
        <p:spPr>
          <a:xfrm>
            <a:off x="4840925" y="3041675"/>
            <a:ext cx="1962150" cy="19431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9"/>
          <p:cNvSpPr txBox="1"/>
          <p:nvPr/>
        </p:nvSpPr>
        <p:spPr>
          <a:xfrm>
            <a:off x="60250" y="431150"/>
            <a:ext cx="4483200" cy="168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Codex vs Claude Code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Codex (GPT-5.5) is roughly 4x more token-efficient and excels at background, autonomous tasks with a longer context window</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Claude Code is stronger for production work in large codebases, it adapts to existing code style, writes tests unprompted, and has more mature MCP/agent integration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For rapid prototyping, lean on Codex; for complex, multi-file production PRs, Claude Code is the better choice. Many developers now use both in tandem.</a:t>
            </a:r>
            <a:endParaRPr sz="1200">
              <a:solidFill>
                <a:schemeClr val="dk1"/>
              </a:solidFill>
              <a:latin typeface="Calibri"/>
              <a:ea typeface="Calibri"/>
              <a:cs typeface="Calibri"/>
              <a:sym typeface="Calibri"/>
            </a:endParaRPr>
          </a:p>
        </p:txBody>
      </p:sp>
      <p:sp>
        <p:nvSpPr>
          <p:cNvPr id="107" name="Google Shape;107;p19"/>
          <p:cNvSpPr txBox="1"/>
          <p:nvPr/>
        </p:nvSpPr>
        <p:spPr>
          <a:xfrm>
            <a:off x="81775" y="67675"/>
            <a:ext cx="2527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08" name="Google Shape;108;p19"/>
          <p:cNvSpPr txBox="1"/>
          <p:nvPr/>
        </p:nvSpPr>
        <p:spPr>
          <a:xfrm>
            <a:off x="60250" y="2227725"/>
            <a:ext cx="4483200" cy="2789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AI Companionship - Immediate Relief, Long-Term Harm</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AI companionship may seem like a solution to loneliness, but it carries serious psychological risks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Unlike human relationships, AI offers effortless, perfectly tailored interaction that requires no emotional labor from the user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frictionless gratification is precisely what makes it dangerous. It risks replacing genuine human connection rather than supplementing it, potentially deepening the very loneliness epidemic it appears to address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Prolonged reliance on AI companions also distorts users' expectations of real people, who cannot match the AI's endless patience, availability, and adaptability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Over time, this creates impossible behavioral standards, making authentic human relationships feel frustrating or inadequate by comparison</a:t>
            </a:r>
            <a:endParaRPr sz="1200">
              <a:solidFill>
                <a:schemeClr val="dk1"/>
              </a:solidFill>
              <a:latin typeface="Calibri"/>
              <a:ea typeface="Calibri"/>
              <a:cs typeface="Calibri"/>
              <a:sym typeface="Calibri"/>
            </a:endParaRPr>
          </a:p>
        </p:txBody>
      </p:sp>
      <p:pic>
        <p:nvPicPr>
          <p:cNvPr id="109" name="Google Shape;109;p19"/>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4762800" y="431150"/>
            <a:ext cx="2645626" cy="1536550"/>
          </a:xfrm>
          <a:prstGeom prst="rect">
            <a:avLst/>
          </a:prstGeom>
          <a:noFill/>
          <a:ln w="9525" cap="flat" cmpd="sng">
            <a:solidFill>
              <a:srgbClr val="FF0000"/>
            </a:solidFill>
            <a:prstDash val="solid"/>
            <a:round/>
            <a:headEnd type="none" w="sm" len="sm"/>
            <a:tailEnd type="none" w="sm" len="sm"/>
          </a:ln>
        </p:spPr>
      </p:pic>
      <p:pic>
        <p:nvPicPr>
          <p:cNvPr id="110" name="Google Shape;110;p19"/>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762800" y="2896500"/>
            <a:ext cx="2645624" cy="177023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0"/>
          <p:cNvSpPr txBox="1"/>
          <p:nvPr/>
        </p:nvSpPr>
        <p:spPr>
          <a:xfrm>
            <a:off x="60250" y="431150"/>
            <a:ext cx="4483200" cy="186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Google I/O 2026 May 19–20 - </a:t>
            </a:r>
            <a:r>
              <a:rPr lang="en" sz="1200" u="sng">
                <a:solidFill>
                  <a:schemeClr val="hlink"/>
                </a:solidFill>
                <a:latin typeface="Calibri"/>
                <a:ea typeface="Calibri"/>
                <a:cs typeface="Calibri"/>
                <a:sym typeface="Calibri"/>
                <a:hlinkClick r:id="rId3"/>
              </a:rPr>
              <a:t>https://io.google</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 Mountain View, CA</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Google Keynotes - May 19 at 10:00 AM PT and 1:30 PM PT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Topics: Android, AI, Chrome, Cloud, and more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AgenticOS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Create my widget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fill-out forms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browse for you</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gemini in your car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google book laptop</a:t>
            </a:r>
            <a:endParaRPr sz="1200">
              <a:solidFill>
                <a:schemeClr val="dk1"/>
              </a:solidFill>
              <a:latin typeface="Calibri"/>
              <a:ea typeface="Calibri"/>
              <a:cs typeface="Calibri"/>
              <a:sym typeface="Calibri"/>
            </a:endParaRPr>
          </a:p>
        </p:txBody>
      </p:sp>
      <p:sp>
        <p:nvSpPr>
          <p:cNvPr id="116" name="Google Shape;116;p20"/>
          <p:cNvSpPr txBox="1"/>
          <p:nvPr/>
        </p:nvSpPr>
        <p:spPr>
          <a:xfrm>
            <a:off x="81775" y="67675"/>
            <a:ext cx="2527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Google I/O 2026</a:t>
            </a:r>
            <a:endParaRPr sz="2000" b="1">
              <a:solidFill>
                <a:schemeClr val="dk1"/>
              </a:solidFill>
              <a:latin typeface="Calibri"/>
              <a:ea typeface="Calibri"/>
              <a:cs typeface="Calibri"/>
              <a:sym typeface="Calibri"/>
            </a:endParaRPr>
          </a:p>
        </p:txBody>
      </p:sp>
      <p:pic>
        <p:nvPicPr>
          <p:cNvPr id="117" name="Google Shape;117;p20"/>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816125" y="431150"/>
            <a:ext cx="3316260" cy="18654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1"/>
          <p:cNvSpPr txBox="1"/>
          <p:nvPr/>
        </p:nvSpPr>
        <p:spPr>
          <a:xfrm>
            <a:off x="60250" y="431150"/>
            <a:ext cx="44832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Thinking Machines "interaction models"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Thinking Machines Lab, founded by former OpenAI CTO Mira Murati</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"interaction models" - a new approach to real-time AI conversation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Full-duplex architecture processes input and output simultaneously in 200ms chunks, allowing the AI to listen, speak, and react at the same time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Their first model, TML-Interaction-Small, is a 276-Billion parameter Mixture-of-Experts system that pairs a real-time interaction model with a background reasoning model</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significantly outperforms competitors like GPT-Realtime on turn-taking latency and interaction benchmarks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A limited research preview is expected later in 2026</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https://thinkingmachines.ai/blog/interaction-models/</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https://www.youtube.com/watch?v=A12AVongNN4</a:t>
            </a:r>
            <a:r>
              <a:rPr lang="en" sz="1200">
                <a:solidFill>
                  <a:schemeClr val="dk1"/>
                </a:solidFill>
                <a:latin typeface="Calibri"/>
                <a:ea typeface="Calibri"/>
                <a:cs typeface="Calibri"/>
                <a:sym typeface="Calibri"/>
              </a:rPr>
              <a:t> - video demo</a:t>
            </a:r>
            <a:endParaRPr sz="1200">
              <a:solidFill>
                <a:schemeClr val="dk1"/>
              </a:solidFill>
              <a:latin typeface="Calibri"/>
              <a:ea typeface="Calibri"/>
              <a:cs typeface="Calibri"/>
              <a:sym typeface="Calibri"/>
            </a:endParaRPr>
          </a:p>
        </p:txBody>
      </p:sp>
      <p:sp>
        <p:nvSpPr>
          <p:cNvPr id="123" name="Google Shape;123;p21"/>
          <p:cNvSpPr txBox="1"/>
          <p:nvPr/>
        </p:nvSpPr>
        <p:spPr>
          <a:xfrm>
            <a:off x="81775" y="67675"/>
            <a:ext cx="4483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Thinking Machines - Real-Time</a:t>
            </a:r>
            <a:endParaRPr sz="2000" b="1">
              <a:solidFill>
                <a:schemeClr val="dk1"/>
              </a:solidFill>
              <a:latin typeface="Calibri"/>
              <a:ea typeface="Calibri"/>
              <a:cs typeface="Calibri"/>
              <a:sym typeface="Calibri"/>
            </a:endParaRPr>
          </a:p>
        </p:txBody>
      </p:sp>
      <p:pic>
        <p:nvPicPr>
          <p:cNvPr id="124" name="Google Shape;124;p21"/>
          <p:cNvPicPr preferRelativeResize="0"/>
          <p:nvPr/>
        </p:nvPicPr>
        <p:blipFill>
          <a:blip r:embed="rId5">
            <a:alphaModFix/>
          </a:blip>
          <a:stretch>
            <a:fillRect/>
          </a:stretch>
        </p:blipFill>
        <p:spPr>
          <a:xfrm>
            <a:off x="4731475" y="685550"/>
            <a:ext cx="3733800" cy="20955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2"/>
          <p:cNvSpPr txBox="1"/>
          <p:nvPr/>
        </p:nvSpPr>
        <p:spPr>
          <a:xfrm>
            <a:off x="179326" y="478350"/>
            <a:ext cx="4917900" cy="418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We do these weekly videos every Friday</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Stats: 6.83K subscribers, 288 videos</a:t>
            </a: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1. Subscribe to this channel </a:t>
            </a:r>
            <a:r>
              <a:rPr lang="en" sz="1800" b="1" u="sng">
                <a:solidFill>
                  <a:schemeClr val="accent5"/>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https://www.youtube.com/@lev-selector</a:t>
            </a:r>
            <a:r>
              <a:rPr lang="en" sz="1800" b="1">
                <a:solidFill>
                  <a:schemeClr val="dk1"/>
                </a:solidFill>
                <a:latin typeface="Calibri"/>
                <a:ea typeface="Calibri"/>
                <a:cs typeface="Calibri"/>
                <a:sym typeface="Calibri"/>
              </a:rPr>
              <a:t> </a:t>
            </a:r>
            <a:endParaRPr sz="1800" b="1">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2. Download slides from GitHub using links under the videos</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b="1">
                <a:solidFill>
                  <a:srgbClr val="FF0000"/>
                </a:solidFill>
                <a:latin typeface="Calibri"/>
                <a:ea typeface="Calibri"/>
                <a:cs typeface="Calibri"/>
                <a:sym typeface="Calibri"/>
              </a:rPr>
              <a:t>3. Please pause the video - and answer the pinned question in comments under the video</a:t>
            </a:r>
            <a:endParaRPr sz="1800" b="1" i="0" u="none" strike="noStrike" cap="none">
              <a:solidFill>
                <a:srgbClr val="FF0000"/>
              </a:solidFill>
              <a:latin typeface="Calibri"/>
              <a:ea typeface="Calibri"/>
              <a:cs typeface="Calibri"/>
              <a:sym typeface="Calibri"/>
            </a:endParaRPr>
          </a:p>
        </p:txBody>
      </p:sp>
      <p:pic>
        <p:nvPicPr>
          <p:cNvPr id="130" name="Google Shape;130;p22"/>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6233650" y="80363"/>
            <a:ext cx="2541900" cy="49827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3"/>
          <p:cNvSpPr txBox="1"/>
          <p:nvPr/>
        </p:nvSpPr>
        <p:spPr>
          <a:xfrm>
            <a:off x="60250" y="431150"/>
            <a:ext cx="2983200" cy="1742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Karpathy's </a:t>
            </a:r>
            <a:r>
              <a:rPr lang="en" sz="1000" b="1">
                <a:solidFill>
                  <a:srgbClr val="FF0000"/>
                </a:solidFill>
                <a:latin typeface="Calibri"/>
                <a:ea typeface="Calibri"/>
                <a:cs typeface="Calibri"/>
                <a:sym typeface="Calibri"/>
              </a:rPr>
              <a:t>CLAUDE md - open source</a:t>
            </a:r>
            <a:endParaRPr sz="1000" b="1">
              <a:solidFill>
                <a:srgbClr val="FF0000"/>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132K Stars on github</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u="sng">
                <a:solidFill>
                  <a:schemeClr val="hlink"/>
                </a:solidFill>
                <a:latin typeface="Calibri"/>
                <a:ea typeface="Calibri"/>
                <a:cs typeface="Calibri"/>
                <a:sym typeface="Calibri"/>
                <a:hlinkClick r:id="rId3"/>
              </a:rPr>
              <a:t>https://github.com/multica-ai/andrej-karpathy-skills</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u="sng">
                <a:solidFill>
                  <a:schemeClr val="hlink"/>
                </a:solidFill>
                <a:latin typeface="Calibri"/>
                <a:ea typeface="Calibri"/>
                <a:cs typeface="Calibri"/>
                <a:sym typeface="Calibri"/>
                <a:hlinkClick r:id="rId4"/>
              </a:rPr>
              <a:t>https://www.youtube.com/watch?v=EeYkZloXIww</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b="1">
                <a:solidFill>
                  <a:srgbClr val="FF0000"/>
                </a:solidFill>
                <a:latin typeface="Calibri"/>
                <a:ea typeface="Calibri"/>
                <a:cs typeface="Calibri"/>
                <a:sym typeface="Calibri"/>
              </a:rPr>
              <a:t>Think Before Coding</a:t>
            </a:r>
            <a:r>
              <a:rPr lang="en" sz="1000">
                <a:solidFill>
                  <a:schemeClr val="dk1"/>
                </a:solidFill>
                <a:latin typeface="Calibri"/>
                <a:ea typeface="Calibri"/>
                <a:cs typeface="Calibri"/>
                <a:sym typeface="Calibri"/>
              </a:rPr>
              <a:t> - to avoid wrong assumptions, hidden confusion, missing tradeoffs</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b="1">
                <a:solidFill>
                  <a:srgbClr val="FF0000"/>
                </a:solidFill>
                <a:latin typeface="Calibri"/>
                <a:ea typeface="Calibri"/>
                <a:cs typeface="Calibri"/>
                <a:sym typeface="Calibri"/>
              </a:rPr>
              <a:t>Simplicity First</a:t>
            </a:r>
            <a:r>
              <a:rPr lang="en" sz="1000">
                <a:solidFill>
                  <a:schemeClr val="dk1"/>
                </a:solidFill>
                <a:latin typeface="Calibri"/>
                <a:ea typeface="Calibri"/>
                <a:cs typeface="Calibri"/>
                <a:sym typeface="Calibri"/>
              </a:rPr>
              <a:t> - avoid overcomplication, bloated abstractions</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b="1">
                <a:solidFill>
                  <a:srgbClr val="FF0000"/>
                </a:solidFill>
                <a:latin typeface="Calibri"/>
                <a:ea typeface="Calibri"/>
                <a:cs typeface="Calibri"/>
                <a:sym typeface="Calibri"/>
              </a:rPr>
              <a:t>Surgical Changes</a:t>
            </a:r>
            <a:r>
              <a:rPr lang="en" sz="1000">
                <a:solidFill>
                  <a:schemeClr val="dk1"/>
                </a:solidFill>
                <a:latin typeface="Calibri"/>
                <a:ea typeface="Calibri"/>
                <a:cs typeface="Calibri"/>
                <a:sym typeface="Calibri"/>
              </a:rPr>
              <a:t> - don't touch code you shouldn't</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b="1">
                <a:solidFill>
                  <a:srgbClr val="FF0000"/>
                </a:solidFill>
                <a:latin typeface="Calibri"/>
                <a:ea typeface="Calibri"/>
                <a:cs typeface="Calibri"/>
                <a:sym typeface="Calibri"/>
              </a:rPr>
              <a:t>Goal-Driven Execution </a:t>
            </a:r>
            <a:r>
              <a:rPr lang="en" sz="1000">
                <a:solidFill>
                  <a:schemeClr val="dk1"/>
                </a:solidFill>
                <a:latin typeface="Calibri"/>
                <a:ea typeface="Calibri"/>
                <a:cs typeface="Calibri"/>
                <a:sym typeface="Calibri"/>
              </a:rPr>
              <a:t>- leverage through tests-first, verifiable success criteria</a:t>
            </a:r>
            <a:endParaRPr sz="1000">
              <a:solidFill>
                <a:schemeClr val="dk1"/>
              </a:solidFill>
              <a:latin typeface="Calibri"/>
              <a:ea typeface="Calibri"/>
              <a:cs typeface="Calibri"/>
              <a:sym typeface="Calibri"/>
            </a:endParaRPr>
          </a:p>
        </p:txBody>
      </p:sp>
      <p:sp>
        <p:nvSpPr>
          <p:cNvPr id="136" name="Google Shape;136;p23"/>
          <p:cNvSpPr txBox="1"/>
          <p:nvPr/>
        </p:nvSpPr>
        <p:spPr>
          <a:xfrm>
            <a:off x="81775" y="67675"/>
            <a:ext cx="2527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pic>
        <p:nvPicPr>
          <p:cNvPr id="137" name="Google Shape;137;p23"/>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3200088" y="67674"/>
            <a:ext cx="2898376" cy="2311350"/>
          </a:xfrm>
          <a:prstGeom prst="rect">
            <a:avLst/>
          </a:prstGeom>
          <a:noFill/>
          <a:ln w="9525" cap="flat" cmpd="sng">
            <a:solidFill>
              <a:srgbClr val="FF0000"/>
            </a:solidFill>
            <a:prstDash val="solid"/>
            <a:round/>
            <a:headEnd type="none" w="sm" len="sm"/>
            <a:tailEnd type="none" w="sm" len="sm"/>
          </a:ln>
        </p:spPr>
      </p:pic>
      <p:pic>
        <p:nvPicPr>
          <p:cNvPr id="138" name="Google Shape;138;p23"/>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6255125" y="200145"/>
            <a:ext cx="1449175" cy="1449175"/>
          </a:xfrm>
          <a:prstGeom prst="rect">
            <a:avLst/>
          </a:prstGeom>
          <a:noFill/>
          <a:ln w="9525" cap="flat" cmpd="sng">
            <a:solidFill>
              <a:srgbClr val="FF0000"/>
            </a:solidFill>
            <a:prstDash val="solid"/>
            <a:round/>
            <a:headEnd type="none" w="sm" len="sm"/>
            <a:tailEnd type="none" w="sm" len="sm"/>
          </a:ln>
        </p:spPr>
      </p:pic>
      <p:sp>
        <p:nvSpPr>
          <p:cNvPr id="139" name="Google Shape;139;p23"/>
          <p:cNvSpPr txBox="1"/>
          <p:nvPr/>
        </p:nvSpPr>
        <p:spPr>
          <a:xfrm>
            <a:off x="0" y="3041850"/>
            <a:ext cx="3677400" cy="2019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Perplexity Opens Up Its Skills Design Core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Writing a Skill is not writing software.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It’s building context for the model</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constraints are completely different,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and so are the design principles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If you approach writing Skills the way you write code,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the result will be terrible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If something can be explained clearly in a few words,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the model can probably handle it on its own.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Putting it in a Skill just wastes tokens</a:t>
            </a:r>
            <a:endParaRPr sz="12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u="sng">
                <a:solidFill>
                  <a:schemeClr val="hlink"/>
                </a:solidFill>
                <a:latin typeface="Calibri"/>
                <a:ea typeface="Calibri"/>
                <a:cs typeface="Calibri"/>
                <a:sym typeface="Calibri"/>
                <a:hlinkClick r:id="rId7"/>
              </a:rPr>
              <a:t>https://aidisruption.ai/p/perplexity-opens-up-its-skills-design</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graphicFrame>
        <p:nvGraphicFramePr>
          <p:cNvPr id="140" name="Google Shape;140;p23"/>
          <p:cNvGraphicFramePr/>
          <p:nvPr/>
        </p:nvGraphicFramePr>
        <p:xfrm>
          <a:off x="4947275" y="3255400"/>
          <a:ext cx="3000000" cy="3000000"/>
        </p:xfrm>
        <a:graphic>
          <a:graphicData uri="http://schemas.openxmlformats.org/drawingml/2006/table">
            <a:tbl>
              <a:tblPr>
                <a:noFill/>
                <a:tableStyleId>{67325457-8548-4F29-AE03-A678B52A35A3}</a:tableStyleId>
              </a:tblPr>
              <a:tblGrid>
                <a:gridCol w="1574475">
                  <a:extLst>
                    <a:ext uri="{9D8B030D-6E8A-4147-A177-3AD203B41FA5}">
                      <a16:colId xmlns:a16="http://schemas.microsoft.com/office/drawing/2014/main" val="20000"/>
                    </a:ext>
                  </a:extLst>
                </a:gridCol>
                <a:gridCol w="2490400">
                  <a:extLst>
                    <a:ext uri="{9D8B030D-6E8A-4147-A177-3AD203B41FA5}">
                      <a16:colId xmlns:a16="http://schemas.microsoft.com/office/drawing/2014/main" val="20001"/>
                    </a:ext>
                  </a:extLst>
                </a:gridCol>
              </a:tblGrid>
              <a:tr h="190500">
                <a:tc>
                  <a:txBody>
                    <a:bodyPr/>
                    <a:lstStyle/>
                    <a:p>
                      <a:pPr marL="0" lvl="0" indent="0" algn="l" rtl="0">
                        <a:spcBef>
                          <a:spcPts val="0"/>
                        </a:spcBef>
                        <a:spcAft>
                          <a:spcPts val="0"/>
                        </a:spcAft>
                        <a:buNone/>
                      </a:pPr>
                      <a:r>
                        <a:rPr lang="en" sz="1000" b="1">
                          <a:latin typeface="Calibri"/>
                          <a:ea typeface="Calibri"/>
                          <a:cs typeface="Calibri"/>
                          <a:sym typeface="Calibri"/>
                        </a:rPr>
                        <a:t>Zen of Python</a:t>
                      </a:r>
                      <a:endParaRPr sz="1000" b="1">
                        <a:latin typeface="Calibri"/>
                        <a:ea typeface="Calibri"/>
                        <a:cs typeface="Calibri"/>
                        <a:sym typeface="Calibri"/>
                      </a:endParaRPr>
                    </a:p>
                  </a:txBody>
                  <a:tcPr marL="9125" marR="9125" marT="9125" marB="9125">
                    <a:lnL w="4775" cap="flat" cmpd="sng">
                      <a:solidFill>
                        <a:srgbClr val="FF0000"/>
                      </a:solidFill>
                      <a:prstDash val="solid"/>
                      <a:round/>
                      <a:headEnd type="none" w="sm" len="sm"/>
                      <a:tailEnd type="none" w="sm" len="sm"/>
                    </a:lnL>
                    <a:lnR w="4775" cap="flat" cmpd="sng">
                      <a:solidFill>
                        <a:srgbClr val="FF0000"/>
                      </a:solidFill>
                      <a:prstDash val="solid"/>
                      <a:round/>
                      <a:headEnd type="none" w="sm" len="sm"/>
                      <a:tailEnd type="none" w="sm" len="sm"/>
                    </a:lnR>
                    <a:lnT w="4775" cap="flat" cmpd="sng">
                      <a:solidFill>
                        <a:srgbClr val="FF0000"/>
                      </a:solidFill>
                      <a:prstDash val="solid"/>
                      <a:round/>
                      <a:headEnd type="none" w="sm" len="sm"/>
                      <a:tailEnd type="none" w="sm" len="sm"/>
                    </a:lnT>
                    <a:lnB w="4775" cap="flat" cmpd="sng">
                      <a:solidFill>
                        <a:srgbClr val="FF0000"/>
                      </a:solidFill>
                      <a:prstDash val="solid"/>
                      <a:round/>
                      <a:headEnd type="none" w="sm" len="sm"/>
                      <a:tailEnd type="none" w="sm" len="sm"/>
                    </a:lnB>
                    <a:solidFill>
                      <a:srgbClr val="FCE5CD"/>
                    </a:solidFill>
                  </a:tcPr>
                </a:tc>
                <a:tc>
                  <a:txBody>
                    <a:bodyPr/>
                    <a:lstStyle/>
                    <a:p>
                      <a:pPr marL="0" lvl="0" indent="0" algn="l" rtl="0">
                        <a:spcBef>
                          <a:spcPts val="0"/>
                        </a:spcBef>
                        <a:spcAft>
                          <a:spcPts val="0"/>
                        </a:spcAft>
                        <a:buNone/>
                      </a:pPr>
                      <a:r>
                        <a:rPr lang="en" sz="1000" b="1">
                          <a:latin typeface="Calibri"/>
                          <a:ea typeface="Calibri"/>
                          <a:cs typeface="Calibri"/>
                          <a:sym typeface="Calibri"/>
                        </a:rPr>
                        <a:t>Zen of Skills</a:t>
                      </a:r>
                      <a:endParaRPr sz="1000" b="1">
                        <a:latin typeface="Calibri"/>
                        <a:ea typeface="Calibri"/>
                        <a:cs typeface="Calibri"/>
                        <a:sym typeface="Calibri"/>
                      </a:endParaRPr>
                    </a:p>
                  </a:txBody>
                  <a:tcPr marL="9125" marR="9125" marT="9125" marB="9125">
                    <a:lnL w="4775" cap="flat" cmpd="sng">
                      <a:solidFill>
                        <a:srgbClr val="FF0000"/>
                      </a:solidFill>
                      <a:prstDash val="solid"/>
                      <a:round/>
                      <a:headEnd type="none" w="sm" len="sm"/>
                      <a:tailEnd type="none" w="sm" len="sm"/>
                    </a:lnL>
                    <a:lnR w="4775" cap="flat" cmpd="sng">
                      <a:solidFill>
                        <a:srgbClr val="FF0000"/>
                      </a:solidFill>
                      <a:prstDash val="solid"/>
                      <a:round/>
                      <a:headEnd type="none" w="sm" len="sm"/>
                      <a:tailEnd type="none" w="sm" len="sm"/>
                    </a:lnR>
                    <a:lnT w="4775" cap="flat" cmpd="sng">
                      <a:solidFill>
                        <a:srgbClr val="FF0000"/>
                      </a:solidFill>
                      <a:prstDash val="solid"/>
                      <a:round/>
                      <a:headEnd type="none" w="sm" len="sm"/>
                      <a:tailEnd type="none" w="sm" len="sm"/>
                    </a:lnT>
                    <a:lnB w="4775" cap="flat" cmpd="sng">
                      <a:solidFill>
                        <a:srgbClr val="FF0000"/>
                      </a:solidFill>
                      <a:prstDash val="solid"/>
                      <a:round/>
                      <a:headEnd type="none" w="sm" len="sm"/>
                      <a:tailEnd type="none" w="sm" len="sm"/>
                    </a:lnB>
                    <a:solidFill>
                      <a:srgbClr val="FCE5CD"/>
                    </a:solidFill>
                  </a:tcPr>
                </a:tc>
                <a:extLst>
                  <a:ext uri="{0D108BD9-81ED-4DB2-BD59-A6C34878D82A}">
                    <a16:rowId xmlns:a16="http://schemas.microsoft.com/office/drawing/2014/main" val="10000"/>
                  </a:ext>
                </a:extLst>
              </a:tr>
              <a:tr h="190500">
                <a:tc>
                  <a:txBody>
                    <a:bodyPr/>
                    <a:lstStyle/>
                    <a:p>
                      <a:pPr marL="0" lvl="0" indent="0" algn="l" rtl="0">
                        <a:spcBef>
                          <a:spcPts val="0"/>
                        </a:spcBef>
                        <a:spcAft>
                          <a:spcPts val="0"/>
                        </a:spcAft>
                        <a:buNone/>
                      </a:pPr>
                      <a:r>
                        <a:rPr lang="en" sz="1000">
                          <a:latin typeface="Calibri"/>
                          <a:ea typeface="Calibri"/>
                          <a:cs typeface="Calibri"/>
                          <a:sym typeface="Calibri"/>
                        </a:rPr>
                        <a:t>Simple is better than complex</a:t>
                      </a:r>
                      <a:endParaRPr sz="1000">
                        <a:latin typeface="Calibri"/>
                        <a:ea typeface="Calibri"/>
                        <a:cs typeface="Calibri"/>
                        <a:sym typeface="Calibri"/>
                      </a:endParaRPr>
                    </a:p>
                  </a:txBody>
                  <a:tcPr marL="9125" marR="9125" marT="9125" marB="9125">
                    <a:lnL w="4775" cap="flat" cmpd="sng">
                      <a:solidFill>
                        <a:srgbClr val="FF0000"/>
                      </a:solidFill>
                      <a:prstDash val="solid"/>
                      <a:round/>
                      <a:headEnd type="none" w="sm" len="sm"/>
                      <a:tailEnd type="none" w="sm" len="sm"/>
                    </a:lnL>
                    <a:lnR w="4775" cap="flat" cmpd="sng">
                      <a:solidFill>
                        <a:srgbClr val="FF0000"/>
                      </a:solidFill>
                      <a:prstDash val="solid"/>
                      <a:round/>
                      <a:headEnd type="none" w="sm" len="sm"/>
                      <a:tailEnd type="none" w="sm" len="sm"/>
                    </a:lnR>
                    <a:lnT w="4775" cap="flat" cmpd="sng">
                      <a:solidFill>
                        <a:srgbClr val="FF0000"/>
                      </a:solidFill>
                      <a:prstDash val="solid"/>
                      <a:round/>
                      <a:headEnd type="none" w="sm" len="sm"/>
                      <a:tailEnd type="none" w="sm" len="sm"/>
                    </a:lnT>
                    <a:lnB w="4775" cap="flat" cmpd="sng">
                      <a:solidFill>
                        <a:srgbClr val="FF0000"/>
                      </a:solidFill>
                      <a:prstDash val="solid"/>
                      <a:round/>
                      <a:headEnd type="none" w="sm" len="sm"/>
                      <a:tailEnd type="none" w="sm" len="sm"/>
                    </a:lnB>
                  </a:tcPr>
                </a:tc>
                <a:tc>
                  <a:txBody>
                    <a:bodyPr/>
                    <a:lstStyle/>
                    <a:p>
                      <a:pPr marL="0" lvl="0" indent="0" algn="l" rtl="0">
                        <a:spcBef>
                          <a:spcPts val="0"/>
                        </a:spcBef>
                        <a:spcAft>
                          <a:spcPts val="0"/>
                        </a:spcAft>
                        <a:buNone/>
                      </a:pPr>
                      <a:r>
                        <a:rPr lang="en" sz="1000">
                          <a:latin typeface="Calibri"/>
                          <a:ea typeface="Calibri"/>
                          <a:cs typeface="Calibri"/>
                          <a:sym typeface="Calibri"/>
                        </a:rPr>
                        <a:t>A Skill is a folder, not a single file. Complexity itself is a feature.</a:t>
                      </a:r>
                      <a:endParaRPr sz="1000">
                        <a:latin typeface="Calibri"/>
                        <a:ea typeface="Calibri"/>
                        <a:cs typeface="Calibri"/>
                        <a:sym typeface="Calibri"/>
                      </a:endParaRPr>
                    </a:p>
                  </a:txBody>
                  <a:tcPr marL="9125" marR="9125" marT="9125" marB="9125">
                    <a:lnL w="4775" cap="flat" cmpd="sng">
                      <a:solidFill>
                        <a:srgbClr val="FF0000"/>
                      </a:solidFill>
                      <a:prstDash val="solid"/>
                      <a:round/>
                      <a:headEnd type="none" w="sm" len="sm"/>
                      <a:tailEnd type="none" w="sm" len="sm"/>
                    </a:lnL>
                    <a:lnR w="4775" cap="flat" cmpd="sng">
                      <a:solidFill>
                        <a:srgbClr val="FF0000"/>
                      </a:solidFill>
                      <a:prstDash val="solid"/>
                      <a:round/>
                      <a:headEnd type="none" w="sm" len="sm"/>
                      <a:tailEnd type="none" w="sm" len="sm"/>
                    </a:lnR>
                    <a:lnT w="4775" cap="flat" cmpd="sng">
                      <a:solidFill>
                        <a:srgbClr val="FF0000"/>
                      </a:solidFill>
                      <a:prstDash val="solid"/>
                      <a:round/>
                      <a:headEnd type="none" w="sm" len="sm"/>
                      <a:tailEnd type="none" w="sm" len="sm"/>
                    </a:lnT>
                    <a:lnB w="4775" cap="flat" cmpd="sng">
                      <a:solidFill>
                        <a:srgbClr val="FF0000"/>
                      </a:solidFill>
                      <a:prstDash val="solid"/>
                      <a:round/>
                      <a:headEnd type="none" w="sm" len="sm"/>
                      <a:tailEnd type="none" w="sm" len="sm"/>
                    </a:lnB>
                  </a:tcPr>
                </a:tc>
                <a:extLst>
                  <a:ext uri="{0D108BD9-81ED-4DB2-BD59-A6C34878D82A}">
                    <a16:rowId xmlns:a16="http://schemas.microsoft.com/office/drawing/2014/main" val="10001"/>
                  </a:ext>
                </a:extLst>
              </a:tr>
              <a:tr h="190500">
                <a:tc>
                  <a:txBody>
                    <a:bodyPr/>
                    <a:lstStyle/>
                    <a:p>
                      <a:pPr marL="0" lvl="0" indent="0" algn="l" rtl="0">
                        <a:spcBef>
                          <a:spcPts val="0"/>
                        </a:spcBef>
                        <a:spcAft>
                          <a:spcPts val="0"/>
                        </a:spcAft>
                        <a:buNone/>
                      </a:pPr>
                      <a:r>
                        <a:rPr lang="en" sz="1000">
                          <a:latin typeface="Calibri"/>
                          <a:ea typeface="Calibri"/>
                          <a:cs typeface="Calibri"/>
                          <a:sym typeface="Calibri"/>
                        </a:rPr>
                        <a:t>Explicit is better than implicit</a:t>
                      </a:r>
                      <a:endParaRPr sz="1000">
                        <a:latin typeface="Calibri"/>
                        <a:ea typeface="Calibri"/>
                        <a:cs typeface="Calibri"/>
                        <a:sym typeface="Calibri"/>
                      </a:endParaRPr>
                    </a:p>
                  </a:txBody>
                  <a:tcPr marL="9125" marR="9125" marT="9125" marB="9125">
                    <a:lnL w="4775" cap="flat" cmpd="sng">
                      <a:solidFill>
                        <a:srgbClr val="FF0000"/>
                      </a:solidFill>
                      <a:prstDash val="solid"/>
                      <a:round/>
                      <a:headEnd type="none" w="sm" len="sm"/>
                      <a:tailEnd type="none" w="sm" len="sm"/>
                    </a:lnL>
                    <a:lnR w="4775" cap="flat" cmpd="sng">
                      <a:solidFill>
                        <a:srgbClr val="FF0000"/>
                      </a:solidFill>
                      <a:prstDash val="solid"/>
                      <a:round/>
                      <a:headEnd type="none" w="sm" len="sm"/>
                      <a:tailEnd type="none" w="sm" len="sm"/>
                    </a:lnR>
                    <a:lnT w="4775" cap="flat" cmpd="sng">
                      <a:solidFill>
                        <a:srgbClr val="FF0000"/>
                      </a:solidFill>
                      <a:prstDash val="solid"/>
                      <a:round/>
                      <a:headEnd type="none" w="sm" len="sm"/>
                      <a:tailEnd type="none" w="sm" len="sm"/>
                    </a:lnT>
                    <a:lnB w="4775" cap="flat" cmpd="sng">
                      <a:solidFill>
                        <a:srgbClr val="FF0000"/>
                      </a:solidFill>
                      <a:prstDash val="solid"/>
                      <a:round/>
                      <a:headEnd type="none" w="sm" len="sm"/>
                      <a:tailEnd type="none" w="sm" len="sm"/>
                    </a:lnB>
                  </a:tcPr>
                </a:tc>
                <a:tc>
                  <a:txBody>
                    <a:bodyPr/>
                    <a:lstStyle/>
                    <a:p>
                      <a:pPr marL="0" lvl="0" indent="0" algn="l" rtl="0">
                        <a:spcBef>
                          <a:spcPts val="0"/>
                        </a:spcBef>
                        <a:spcAft>
                          <a:spcPts val="0"/>
                        </a:spcAft>
                        <a:buNone/>
                      </a:pPr>
                      <a:r>
                        <a:rPr lang="en" sz="1000">
                          <a:latin typeface="Calibri"/>
                          <a:ea typeface="Calibri"/>
                          <a:cs typeface="Calibri"/>
                          <a:sym typeface="Calibri"/>
                        </a:rPr>
                        <a:t>Activation relies on implicit pattern matching and progressive disclosure</a:t>
                      </a:r>
                      <a:endParaRPr sz="1000">
                        <a:latin typeface="Calibri"/>
                        <a:ea typeface="Calibri"/>
                        <a:cs typeface="Calibri"/>
                        <a:sym typeface="Calibri"/>
                      </a:endParaRPr>
                    </a:p>
                  </a:txBody>
                  <a:tcPr marL="9125" marR="9125" marT="9125" marB="9125">
                    <a:lnL w="4775" cap="flat" cmpd="sng">
                      <a:solidFill>
                        <a:srgbClr val="FF0000"/>
                      </a:solidFill>
                      <a:prstDash val="solid"/>
                      <a:round/>
                      <a:headEnd type="none" w="sm" len="sm"/>
                      <a:tailEnd type="none" w="sm" len="sm"/>
                    </a:lnL>
                    <a:lnR w="4775" cap="flat" cmpd="sng">
                      <a:solidFill>
                        <a:srgbClr val="FF0000"/>
                      </a:solidFill>
                      <a:prstDash val="solid"/>
                      <a:round/>
                      <a:headEnd type="none" w="sm" len="sm"/>
                      <a:tailEnd type="none" w="sm" len="sm"/>
                    </a:lnR>
                    <a:lnT w="4775" cap="flat" cmpd="sng">
                      <a:solidFill>
                        <a:srgbClr val="FF0000"/>
                      </a:solidFill>
                      <a:prstDash val="solid"/>
                      <a:round/>
                      <a:headEnd type="none" w="sm" len="sm"/>
                      <a:tailEnd type="none" w="sm" len="sm"/>
                    </a:lnT>
                    <a:lnB w="4775" cap="flat" cmpd="sng">
                      <a:solidFill>
                        <a:srgbClr val="FF0000"/>
                      </a:solidFill>
                      <a:prstDash val="solid"/>
                      <a:round/>
                      <a:headEnd type="none" w="sm" len="sm"/>
                      <a:tailEnd type="none" w="sm" len="sm"/>
                    </a:lnB>
                  </a:tcPr>
                </a:tc>
                <a:extLst>
                  <a:ext uri="{0D108BD9-81ED-4DB2-BD59-A6C34878D82A}">
                    <a16:rowId xmlns:a16="http://schemas.microsoft.com/office/drawing/2014/main" val="10002"/>
                  </a:ext>
                </a:extLst>
              </a:tr>
              <a:tr h="190500">
                <a:tc>
                  <a:txBody>
                    <a:bodyPr/>
                    <a:lstStyle/>
                    <a:p>
                      <a:pPr marL="0" lvl="0" indent="0" algn="l" rtl="0">
                        <a:spcBef>
                          <a:spcPts val="0"/>
                        </a:spcBef>
                        <a:spcAft>
                          <a:spcPts val="0"/>
                        </a:spcAft>
                        <a:buNone/>
                      </a:pPr>
                      <a:r>
                        <a:rPr lang="en" sz="1000">
                          <a:latin typeface="Calibri"/>
                          <a:ea typeface="Calibri"/>
                          <a:cs typeface="Calibri"/>
                          <a:sym typeface="Calibri"/>
                        </a:rPr>
                        <a:t>Sparse is better than dense</a:t>
                      </a:r>
                      <a:endParaRPr sz="1000">
                        <a:latin typeface="Calibri"/>
                        <a:ea typeface="Calibri"/>
                        <a:cs typeface="Calibri"/>
                        <a:sym typeface="Calibri"/>
                      </a:endParaRPr>
                    </a:p>
                  </a:txBody>
                  <a:tcPr marL="9125" marR="9125" marT="9125" marB="9125">
                    <a:lnL w="4775" cap="flat" cmpd="sng">
                      <a:solidFill>
                        <a:srgbClr val="FF0000"/>
                      </a:solidFill>
                      <a:prstDash val="solid"/>
                      <a:round/>
                      <a:headEnd type="none" w="sm" len="sm"/>
                      <a:tailEnd type="none" w="sm" len="sm"/>
                    </a:lnL>
                    <a:lnR w="4775" cap="flat" cmpd="sng">
                      <a:solidFill>
                        <a:srgbClr val="FF0000"/>
                      </a:solidFill>
                      <a:prstDash val="solid"/>
                      <a:round/>
                      <a:headEnd type="none" w="sm" len="sm"/>
                      <a:tailEnd type="none" w="sm" len="sm"/>
                    </a:lnR>
                    <a:lnT w="4775" cap="flat" cmpd="sng">
                      <a:solidFill>
                        <a:srgbClr val="FF0000"/>
                      </a:solidFill>
                      <a:prstDash val="solid"/>
                      <a:round/>
                      <a:headEnd type="none" w="sm" len="sm"/>
                      <a:tailEnd type="none" w="sm" len="sm"/>
                    </a:lnT>
                    <a:lnB w="4775" cap="flat" cmpd="sng">
                      <a:solidFill>
                        <a:srgbClr val="FF0000"/>
                      </a:solidFill>
                      <a:prstDash val="solid"/>
                      <a:round/>
                      <a:headEnd type="none" w="sm" len="sm"/>
                      <a:tailEnd type="none" w="sm" len="sm"/>
                    </a:lnB>
                  </a:tcPr>
                </a:tc>
                <a:tc>
                  <a:txBody>
                    <a:bodyPr/>
                    <a:lstStyle/>
                    <a:p>
                      <a:pPr marL="0" lvl="0" indent="0" algn="l" rtl="0">
                        <a:spcBef>
                          <a:spcPts val="0"/>
                        </a:spcBef>
                        <a:spcAft>
                          <a:spcPts val="0"/>
                        </a:spcAft>
                        <a:buNone/>
                      </a:pPr>
                      <a:r>
                        <a:rPr lang="en" sz="1000">
                          <a:latin typeface="Calibri"/>
                          <a:ea typeface="Calibri"/>
                          <a:cs typeface="Calibri"/>
                          <a:sym typeface="Calibri"/>
                        </a:rPr>
                        <a:t>Context is expensive — every token must carry maximum signal.</a:t>
                      </a:r>
                      <a:endParaRPr sz="1000">
                        <a:latin typeface="Calibri"/>
                        <a:ea typeface="Calibri"/>
                        <a:cs typeface="Calibri"/>
                        <a:sym typeface="Calibri"/>
                      </a:endParaRPr>
                    </a:p>
                  </a:txBody>
                  <a:tcPr marL="9125" marR="9125" marT="9125" marB="9125">
                    <a:lnL w="4775" cap="flat" cmpd="sng">
                      <a:solidFill>
                        <a:srgbClr val="FF0000"/>
                      </a:solidFill>
                      <a:prstDash val="solid"/>
                      <a:round/>
                      <a:headEnd type="none" w="sm" len="sm"/>
                      <a:tailEnd type="none" w="sm" len="sm"/>
                    </a:lnL>
                    <a:lnR w="4775" cap="flat" cmpd="sng">
                      <a:solidFill>
                        <a:srgbClr val="FF0000"/>
                      </a:solidFill>
                      <a:prstDash val="solid"/>
                      <a:round/>
                      <a:headEnd type="none" w="sm" len="sm"/>
                      <a:tailEnd type="none" w="sm" len="sm"/>
                    </a:lnR>
                    <a:lnT w="4775" cap="flat" cmpd="sng">
                      <a:solidFill>
                        <a:srgbClr val="FF0000"/>
                      </a:solidFill>
                      <a:prstDash val="solid"/>
                      <a:round/>
                      <a:headEnd type="none" w="sm" len="sm"/>
                      <a:tailEnd type="none" w="sm" len="sm"/>
                    </a:lnT>
                    <a:lnB w="4775" cap="flat" cmpd="sng">
                      <a:solidFill>
                        <a:srgbClr val="FF0000"/>
                      </a:solidFill>
                      <a:prstDash val="solid"/>
                      <a:round/>
                      <a:headEnd type="none" w="sm" len="sm"/>
                      <a:tailEnd type="none" w="sm" len="sm"/>
                    </a:lnB>
                  </a:tcPr>
                </a:tc>
                <a:extLst>
                  <a:ext uri="{0D108BD9-81ED-4DB2-BD59-A6C34878D82A}">
                    <a16:rowId xmlns:a16="http://schemas.microsoft.com/office/drawing/2014/main" val="10003"/>
                  </a:ext>
                </a:extLst>
              </a:tr>
              <a:tr h="190500">
                <a:tc>
                  <a:txBody>
                    <a:bodyPr/>
                    <a:lstStyle/>
                    <a:p>
                      <a:pPr marL="0" lvl="0" indent="0" algn="l" rtl="0">
                        <a:spcBef>
                          <a:spcPts val="0"/>
                        </a:spcBef>
                        <a:spcAft>
                          <a:spcPts val="0"/>
                        </a:spcAft>
                        <a:buNone/>
                      </a:pPr>
                      <a:r>
                        <a:rPr lang="en" sz="1000">
                          <a:latin typeface="Calibri"/>
                          <a:ea typeface="Calibri"/>
                          <a:cs typeface="Calibri"/>
                          <a:sym typeface="Calibri"/>
                        </a:rPr>
                        <a:t>Special cases aren't special enough</a:t>
                      </a:r>
                      <a:endParaRPr sz="1000">
                        <a:latin typeface="Calibri"/>
                        <a:ea typeface="Calibri"/>
                        <a:cs typeface="Calibri"/>
                        <a:sym typeface="Calibri"/>
                      </a:endParaRPr>
                    </a:p>
                  </a:txBody>
                  <a:tcPr marL="9125" marR="9125" marT="9125" marB="9125">
                    <a:lnL w="4775" cap="flat" cmpd="sng">
                      <a:solidFill>
                        <a:srgbClr val="FF0000"/>
                      </a:solidFill>
                      <a:prstDash val="solid"/>
                      <a:round/>
                      <a:headEnd type="none" w="sm" len="sm"/>
                      <a:tailEnd type="none" w="sm" len="sm"/>
                    </a:lnL>
                    <a:lnR w="4775" cap="flat" cmpd="sng">
                      <a:solidFill>
                        <a:srgbClr val="FF0000"/>
                      </a:solidFill>
                      <a:prstDash val="solid"/>
                      <a:round/>
                      <a:headEnd type="none" w="sm" len="sm"/>
                      <a:tailEnd type="none" w="sm" len="sm"/>
                    </a:lnR>
                    <a:lnT w="4775" cap="flat" cmpd="sng">
                      <a:solidFill>
                        <a:srgbClr val="FF0000"/>
                      </a:solidFill>
                      <a:prstDash val="solid"/>
                      <a:round/>
                      <a:headEnd type="none" w="sm" len="sm"/>
                      <a:tailEnd type="none" w="sm" len="sm"/>
                    </a:lnT>
                    <a:lnB w="4775" cap="flat" cmpd="sng">
                      <a:solidFill>
                        <a:srgbClr val="FF0000"/>
                      </a:solidFill>
                      <a:prstDash val="solid"/>
                      <a:round/>
                      <a:headEnd type="none" w="sm" len="sm"/>
                      <a:tailEnd type="none" w="sm" len="sm"/>
                    </a:lnB>
                  </a:tcPr>
                </a:tc>
                <a:tc>
                  <a:txBody>
                    <a:bodyPr/>
                    <a:lstStyle/>
                    <a:p>
                      <a:pPr marL="0" lvl="0" indent="0" algn="l" rtl="0">
                        <a:spcBef>
                          <a:spcPts val="0"/>
                        </a:spcBef>
                        <a:spcAft>
                          <a:spcPts val="0"/>
                        </a:spcAft>
                        <a:buNone/>
                      </a:pPr>
                      <a:r>
                        <a:rPr lang="en" sz="1000">
                          <a:latin typeface="Calibri"/>
                          <a:ea typeface="Calibri"/>
                          <a:cs typeface="Calibri"/>
                          <a:sym typeface="Calibri"/>
                        </a:rPr>
                        <a:t>Gotchas are the special cases. They are the highest-value content.</a:t>
                      </a:r>
                      <a:endParaRPr sz="1000">
                        <a:latin typeface="Calibri"/>
                        <a:ea typeface="Calibri"/>
                        <a:cs typeface="Calibri"/>
                        <a:sym typeface="Calibri"/>
                      </a:endParaRPr>
                    </a:p>
                  </a:txBody>
                  <a:tcPr marL="9125" marR="9125" marT="9125" marB="9125">
                    <a:lnL w="4775" cap="flat" cmpd="sng">
                      <a:solidFill>
                        <a:srgbClr val="FF0000"/>
                      </a:solidFill>
                      <a:prstDash val="solid"/>
                      <a:round/>
                      <a:headEnd type="none" w="sm" len="sm"/>
                      <a:tailEnd type="none" w="sm" len="sm"/>
                    </a:lnL>
                    <a:lnR w="4775" cap="flat" cmpd="sng">
                      <a:solidFill>
                        <a:srgbClr val="FF0000"/>
                      </a:solidFill>
                      <a:prstDash val="solid"/>
                      <a:round/>
                      <a:headEnd type="none" w="sm" len="sm"/>
                      <a:tailEnd type="none" w="sm" len="sm"/>
                    </a:lnR>
                    <a:lnT w="4775" cap="flat" cmpd="sng">
                      <a:solidFill>
                        <a:srgbClr val="FF0000"/>
                      </a:solidFill>
                      <a:prstDash val="solid"/>
                      <a:round/>
                      <a:headEnd type="none" w="sm" len="sm"/>
                      <a:tailEnd type="none" w="sm" len="sm"/>
                    </a:lnT>
                    <a:lnB w="4775" cap="flat" cmpd="sng">
                      <a:solidFill>
                        <a:srgbClr val="FF0000"/>
                      </a:solidFill>
                      <a:prstDash val="solid"/>
                      <a:round/>
                      <a:headEnd type="none" w="sm" len="sm"/>
                      <a:tailEnd type="none" w="sm" len="sm"/>
                    </a:lnB>
                  </a:tcPr>
                </a:tc>
                <a:extLst>
                  <a:ext uri="{0D108BD9-81ED-4DB2-BD59-A6C34878D82A}">
                    <a16:rowId xmlns:a16="http://schemas.microsoft.com/office/drawing/2014/main" val="10004"/>
                  </a:ext>
                </a:extLst>
              </a:tr>
              <a:tr h="190500">
                <a:tc>
                  <a:txBody>
                    <a:bodyPr/>
                    <a:lstStyle/>
                    <a:p>
                      <a:pPr marL="0" lvl="0" indent="0" algn="l" rtl="0">
                        <a:spcBef>
                          <a:spcPts val="0"/>
                        </a:spcBef>
                        <a:spcAft>
                          <a:spcPts val="0"/>
                        </a:spcAft>
                        <a:buNone/>
                      </a:pPr>
                      <a:r>
                        <a:rPr lang="en" sz="1000">
                          <a:latin typeface="Calibri"/>
                          <a:ea typeface="Calibri"/>
                          <a:cs typeface="Calibri"/>
                          <a:sym typeface="Calibri"/>
                        </a:rPr>
                        <a:t>If the implementation is hard to explain, it's a bad idea</a:t>
                      </a:r>
                      <a:endParaRPr sz="1000">
                        <a:latin typeface="Calibri"/>
                        <a:ea typeface="Calibri"/>
                        <a:cs typeface="Calibri"/>
                        <a:sym typeface="Calibri"/>
                      </a:endParaRPr>
                    </a:p>
                  </a:txBody>
                  <a:tcPr marL="9125" marR="9125" marT="9125" marB="9125">
                    <a:lnL w="4775" cap="flat" cmpd="sng">
                      <a:solidFill>
                        <a:srgbClr val="FF0000"/>
                      </a:solidFill>
                      <a:prstDash val="solid"/>
                      <a:round/>
                      <a:headEnd type="none" w="sm" len="sm"/>
                      <a:tailEnd type="none" w="sm" len="sm"/>
                    </a:lnL>
                    <a:lnR w="4775" cap="flat" cmpd="sng">
                      <a:solidFill>
                        <a:srgbClr val="FF0000"/>
                      </a:solidFill>
                      <a:prstDash val="solid"/>
                      <a:round/>
                      <a:headEnd type="none" w="sm" len="sm"/>
                      <a:tailEnd type="none" w="sm" len="sm"/>
                    </a:lnR>
                    <a:lnT w="4775" cap="flat" cmpd="sng">
                      <a:solidFill>
                        <a:srgbClr val="FF0000"/>
                      </a:solidFill>
                      <a:prstDash val="solid"/>
                      <a:round/>
                      <a:headEnd type="none" w="sm" len="sm"/>
                      <a:tailEnd type="none" w="sm" len="sm"/>
                    </a:lnT>
                    <a:lnB w="4775" cap="flat" cmpd="sng">
                      <a:solidFill>
                        <a:srgbClr val="FF0000"/>
                      </a:solidFill>
                      <a:prstDash val="solid"/>
                      <a:round/>
                      <a:headEnd type="none" w="sm" len="sm"/>
                      <a:tailEnd type="none" w="sm" len="sm"/>
                    </a:lnB>
                  </a:tcPr>
                </a:tc>
                <a:tc>
                  <a:txBody>
                    <a:bodyPr/>
                    <a:lstStyle/>
                    <a:p>
                      <a:pPr marL="0" lvl="0" indent="0" algn="l" rtl="0">
                        <a:spcBef>
                          <a:spcPts val="0"/>
                        </a:spcBef>
                        <a:spcAft>
                          <a:spcPts val="0"/>
                        </a:spcAft>
                        <a:buNone/>
                      </a:pPr>
                      <a:r>
                        <a:rPr lang="en" sz="1000">
                          <a:latin typeface="Calibri"/>
                          <a:ea typeface="Calibri"/>
                          <a:cs typeface="Calibri"/>
                          <a:sym typeface="Calibri"/>
                        </a:rPr>
                        <a:t>If it's easy to explain, the model probably already knows it — delete it.</a:t>
                      </a:r>
                      <a:endParaRPr sz="1000">
                        <a:latin typeface="Calibri"/>
                        <a:ea typeface="Calibri"/>
                        <a:cs typeface="Calibri"/>
                        <a:sym typeface="Calibri"/>
                      </a:endParaRPr>
                    </a:p>
                  </a:txBody>
                  <a:tcPr marL="9125" marR="9125" marT="9125" marB="9125">
                    <a:lnL w="4775" cap="flat" cmpd="sng">
                      <a:solidFill>
                        <a:srgbClr val="FF0000"/>
                      </a:solidFill>
                      <a:prstDash val="solid"/>
                      <a:round/>
                      <a:headEnd type="none" w="sm" len="sm"/>
                      <a:tailEnd type="none" w="sm" len="sm"/>
                    </a:lnL>
                    <a:lnR w="4775" cap="flat" cmpd="sng">
                      <a:solidFill>
                        <a:srgbClr val="FF0000"/>
                      </a:solidFill>
                      <a:prstDash val="solid"/>
                      <a:round/>
                      <a:headEnd type="none" w="sm" len="sm"/>
                      <a:tailEnd type="none" w="sm" len="sm"/>
                    </a:lnR>
                    <a:lnT w="4775" cap="flat" cmpd="sng">
                      <a:solidFill>
                        <a:srgbClr val="FF0000"/>
                      </a:solidFill>
                      <a:prstDash val="solid"/>
                      <a:round/>
                      <a:headEnd type="none" w="sm" len="sm"/>
                      <a:tailEnd type="none" w="sm" len="sm"/>
                    </a:lnT>
                    <a:lnB w="4775" cap="flat" cmpd="sng">
                      <a:solidFill>
                        <a:srgbClr val="FF0000"/>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pic>
        <p:nvPicPr>
          <p:cNvPr id="141" name="Google Shape;141;p23"/>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2987075" y="2885102"/>
            <a:ext cx="1856948" cy="9491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4"/>
          <p:cNvSpPr txBox="1"/>
          <p:nvPr/>
        </p:nvSpPr>
        <p:spPr>
          <a:xfrm>
            <a:off x="60250" y="431150"/>
            <a:ext cx="4483200" cy="2511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Productize Yourself</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traditional career model (school, stable job, climb the ladder, retire) is breaking down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Today one person with a laptop can reach millions, build scalable products, and generate income without trading time for money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The smartest move today is to "productize yourself" - package your unique knowledge, skills, and perspective into courses, newsletters, tools, or frameworks that work independently of your presence</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Pursue genuine curiosity, not trends, because no one can compete with you on being you</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Start small, stay consistent, and think in years. Benefit from compounding growth</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https://medium.com/personal-growth/careers-are-collapsing-jobs-are-dying-the-smartest-people-are-doing-this-right-now-becc742dfee2</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sp>
        <p:nvSpPr>
          <p:cNvPr id="147" name="Google Shape;147;p24"/>
          <p:cNvSpPr txBox="1"/>
          <p:nvPr/>
        </p:nvSpPr>
        <p:spPr>
          <a:xfrm>
            <a:off x="81775" y="67675"/>
            <a:ext cx="2527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48" name="Google Shape;148;p24"/>
          <p:cNvSpPr txBox="1"/>
          <p:nvPr/>
        </p:nvSpPr>
        <p:spPr>
          <a:xfrm>
            <a:off x="60250" y="3014850"/>
            <a:ext cx="4483200" cy="1911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Anthropic's Claude for Legal - May 12</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Building on earlier January–February releases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12 new practice-area plugins (Corporate, Employment, Privacy, IP, Litigation, AI Governance, and others) plus 20+ new MCP connectors to platforms like DocuSign, iManage, LexisNexis, Thomson Reuters, Relativity, and Harvey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Connectors (pull external data), Skills (task-specific instructions in md format), and plugins (bundles of skills, connectors, and subagents)</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https://claude.com/blog/claude-for-the-legal-industry</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5"/>
              </a:rPr>
              <a:t>https://github.com/anthropics/claude-for-legal</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6"/>
              </a:rPr>
              <a:t>http://www.youtube.com/watch?v=7H8-zRB5hbU</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pic>
        <p:nvPicPr>
          <p:cNvPr id="149" name="Google Shape;149;p24"/>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4695850" y="431150"/>
            <a:ext cx="3348550" cy="1515175"/>
          </a:xfrm>
          <a:prstGeom prst="rect">
            <a:avLst/>
          </a:prstGeom>
          <a:noFill/>
          <a:ln w="9525" cap="flat" cmpd="sng">
            <a:solidFill>
              <a:srgbClr val="FF0000"/>
            </a:solidFill>
            <a:prstDash val="solid"/>
            <a:round/>
            <a:headEnd type="none" w="sm" len="sm"/>
            <a:tailEnd type="none" w="sm" len="sm"/>
          </a:ln>
        </p:spPr>
      </p:pic>
      <p:pic>
        <p:nvPicPr>
          <p:cNvPr id="150" name="Google Shape;150;p24"/>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4695850" y="3014850"/>
            <a:ext cx="2746200" cy="16612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5"/>
          <p:cNvSpPr txBox="1"/>
          <p:nvPr/>
        </p:nvSpPr>
        <p:spPr>
          <a:xfrm>
            <a:off x="60250" y="431150"/>
            <a:ext cx="44832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Connecting Claude AI to Obsidian and OMI</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OMI refers to Omi AI - the AI wearable and app platform ( </a:t>
            </a:r>
            <a:r>
              <a:rPr lang="en" sz="1200" u="sng">
                <a:solidFill>
                  <a:schemeClr val="hlink"/>
                </a:solidFill>
                <a:latin typeface="Calibri"/>
                <a:ea typeface="Calibri"/>
                <a:cs typeface="Calibri"/>
                <a:sym typeface="Calibri"/>
                <a:hlinkClick r:id="rId3"/>
              </a:rPr>
              <a:t>omi.me</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OMI records your daily activities and conversations, automatically exporting these notes into Obsidian’s markdown files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By linking Claude to this Obsidian vault, the AI gains deep, personal context, allowing it to provide specific advice based on your actual projects rather than generic answers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Claude also acts as an organizer, using the PARA method to restructure messy notes and create visual navigation maps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setup creates an "infinite context engine," transforming Claude into a highly personalized assistant that remembers your decisions and tasks, making your AI workflow 100 times more effective and autonomous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https://www.youtube.com/watch?v=pr1InE1LuKY</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156" name="Google Shape;156;p25"/>
          <p:cNvSpPr txBox="1"/>
          <p:nvPr/>
        </p:nvSpPr>
        <p:spPr>
          <a:xfrm>
            <a:off x="81775" y="67675"/>
            <a:ext cx="2527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pic>
        <p:nvPicPr>
          <p:cNvPr id="157" name="Google Shape;157;p25"/>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723600" y="431150"/>
            <a:ext cx="1086375" cy="1169050"/>
          </a:xfrm>
          <a:prstGeom prst="rect">
            <a:avLst/>
          </a:prstGeom>
          <a:noFill/>
          <a:ln>
            <a:noFill/>
          </a:ln>
        </p:spPr>
      </p:pic>
      <p:pic>
        <p:nvPicPr>
          <p:cNvPr id="158" name="Google Shape;158;p25"/>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6155400" y="431150"/>
            <a:ext cx="1169050" cy="1169050"/>
          </a:xfrm>
          <a:prstGeom prst="rect">
            <a:avLst/>
          </a:prstGeom>
          <a:noFill/>
          <a:ln>
            <a:noFill/>
          </a:ln>
        </p:spPr>
      </p:pic>
      <p:sp>
        <p:nvSpPr>
          <p:cNvPr id="159" name="Google Shape;159;p25"/>
          <p:cNvSpPr txBox="1"/>
          <p:nvPr/>
        </p:nvSpPr>
        <p:spPr>
          <a:xfrm>
            <a:off x="4830138" y="1793225"/>
            <a:ext cx="8733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200">
                <a:solidFill>
                  <a:schemeClr val="dk1"/>
                </a:solidFill>
                <a:latin typeface="Calibri"/>
                <a:ea typeface="Calibri"/>
                <a:cs typeface="Calibri"/>
                <a:sym typeface="Calibri"/>
              </a:rPr>
              <a:t>Omi.me</a:t>
            </a:r>
            <a:endParaRPr sz="1200">
              <a:solidFill>
                <a:schemeClr val="dk1"/>
              </a:solidFill>
              <a:latin typeface="Calibri"/>
              <a:ea typeface="Calibri"/>
              <a:cs typeface="Calibri"/>
              <a:sym typeface="Calibri"/>
            </a:endParaRPr>
          </a:p>
        </p:txBody>
      </p:sp>
      <p:sp>
        <p:nvSpPr>
          <p:cNvPr id="160" name="Google Shape;160;p25"/>
          <p:cNvSpPr txBox="1"/>
          <p:nvPr/>
        </p:nvSpPr>
        <p:spPr>
          <a:xfrm>
            <a:off x="6303263" y="1793225"/>
            <a:ext cx="8733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200">
                <a:solidFill>
                  <a:schemeClr val="dk1"/>
                </a:solidFill>
                <a:latin typeface="Calibri"/>
                <a:ea typeface="Calibri"/>
                <a:cs typeface="Calibri"/>
                <a:sym typeface="Calibri"/>
              </a:rPr>
              <a:t>Obsidian</a:t>
            </a:r>
            <a:endParaRPr sz="1200">
              <a:solidFill>
                <a:schemeClr val="dk1"/>
              </a:solidFill>
              <a:latin typeface="Calibri"/>
              <a:ea typeface="Calibri"/>
              <a:cs typeface="Calibri"/>
              <a:sym typeface="Calibri"/>
            </a:endParaRPr>
          </a:p>
        </p:txBody>
      </p:sp>
      <p:sp>
        <p:nvSpPr>
          <p:cNvPr id="161" name="Google Shape;161;p25"/>
          <p:cNvSpPr txBox="1"/>
          <p:nvPr/>
        </p:nvSpPr>
        <p:spPr>
          <a:xfrm>
            <a:off x="60250" y="3329700"/>
            <a:ext cx="44832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Krea 2 Update - Generate Visuals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mood boards and style references - you can guide the AI with images rather than just words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Generating high-fidelity visuals in under 15 seconds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Real-time canvas for live sketching, a 22K resolution enhancer, and video generation tools - </a:t>
            </a:r>
            <a:r>
              <a:rPr lang="en" sz="1200" u="sng">
                <a:solidFill>
                  <a:schemeClr val="hlink"/>
                </a:solidFill>
                <a:latin typeface="Calibri"/>
                <a:ea typeface="Calibri"/>
                <a:cs typeface="Calibri"/>
                <a:sym typeface="Calibri"/>
                <a:hlinkClick r:id="rId7"/>
              </a:rPr>
              <a:t>https://www.krea.ai</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8"/>
              </a:rPr>
              <a:t>https://www.youtube.com/watch?v=Y6o-LSv-b4E</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62" name="Google Shape;162;p25"/>
          <p:cNvPicPr preferRelativeResize="0"/>
          <p:nvPr/>
        </p:nvPicPr>
        <p:blipFill rotWithShape="1">
          <a:blip r:embed="rId9" cstate="email">
            <a:alphaModFix/>
            <a:extLst>
              <a:ext uri="{28A0092B-C50C-407E-A947-70E740481C1C}">
                <a14:useLocalDpi xmlns:a14="http://schemas.microsoft.com/office/drawing/2010/main"/>
              </a:ext>
            </a:extLst>
          </a:blip>
          <a:srcRect/>
          <a:stretch/>
        </p:blipFill>
        <p:spPr>
          <a:xfrm>
            <a:off x="4961725" y="3627775"/>
            <a:ext cx="2057400" cy="715150"/>
          </a:xfrm>
          <a:prstGeom prst="rect">
            <a:avLst/>
          </a:prstGeom>
          <a:noFill/>
          <a:ln w="9525" cap="flat" cmpd="sng">
            <a:solidFill>
              <a:srgbClr val="FF0000"/>
            </a:solidFill>
            <a:prstDash val="solid"/>
            <a:round/>
            <a:headEnd type="none" w="sm" len="sm"/>
            <a:tailEnd type="none" w="sm" len="sm"/>
          </a:ln>
        </p:spPr>
      </p:pic>
      <p:pic>
        <p:nvPicPr>
          <p:cNvPr id="163" name="Google Shape;163;p25"/>
          <p:cNvPicPr preferRelativeResize="0"/>
          <p:nvPr/>
        </p:nvPicPr>
        <p:blipFill>
          <a:blip r:embed="rId10" cstate="email">
            <a:alphaModFix/>
            <a:extLst>
              <a:ext uri="{28A0092B-C50C-407E-A947-70E740481C1C}">
                <a14:useLocalDpi xmlns:a14="http://schemas.microsoft.com/office/drawing/2010/main"/>
              </a:ext>
            </a:extLst>
          </a:blip>
          <a:stretch>
            <a:fillRect/>
          </a:stretch>
        </p:blipFill>
        <p:spPr>
          <a:xfrm>
            <a:off x="7176575" y="3081300"/>
            <a:ext cx="1820074" cy="18081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6"/>
          <p:cNvSpPr txBox="1"/>
          <p:nvPr/>
        </p:nvSpPr>
        <p:spPr>
          <a:xfrm>
            <a:off x="81775" y="67675"/>
            <a:ext cx="2527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Hermes vs OpenClaw</a:t>
            </a:r>
            <a:endParaRPr sz="2000" b="1">
              <a:solidFill>
                <a:schemeClr val="dk1"/>
              </a:solidFill>
              <a:latin typeface="Calibri"/>
              <a:ea typeface="Calibri"/>
              <a:cs typeface="Calibri"/>
              <a:sym typeface="Calibri"/>
            </a:endParaRPr>
          </a:p>
        </p:txBody>
      </p:sp>
      <p:sp>
        <p:nvSpPr>
          <p:cNvPr id="169" name="Google Shape;169;p26"/>
          <p:cNvSpPr txBox="1"/>
          <p:nvPr/>
        </p:nvSpPr>
        <p:spPr>
          <a:xfrm>
            <a:off x="81775" y="461825"/>
            <a:ext cx="4483200" cy="3158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Hermes vs OpenClaw</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Hermes Agent - an open-source AI project from Nous Research that has emerged as a major competitor to OpenClaw</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Launched in February 2026, Hermes recently surpassed OpenClaw on Open Router’s global rankings, processing roughly 224 billion tokens daily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Hermes distinguishes itself by utilizing a continuous "do-learn-improve" loop</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Rather than resetting context, it reflects on completed tasks and writes reusable skill files to compound knowledge over time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Its latest major update, version 0.13 ("Tenacity"), introduced a durable multi-agent Kanban system, a persistent goal command, and seamless data migration tools from OpenClaw</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Combining local-first memory systems with a model-agnostic architecture, Hermes is transitioning from a traditional assistant into a self-improving AI operating system</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https://github.com/nousresearch/hermes-agent</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170" name="Google Shape;170;p26"/>
          <p:cNvSpPr txBox="1"/>
          <p:nvPr/>
        </p:nvSpPr>
        <p:spPr>
          <a:xfrm>
            <a:off x="81775" y="3991675"/>
            <a:ext cx="44832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AgentMemory</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Free open-source tool gives Claude Code and Codex persistent memory across sessions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https://github.com/rohitg00/agentmemory</a:t>
            </a:r>
            <a:r>
              <a:rPr lang="en" sz="1200">
                <a:solidFill>
                  <a:schemeClr val="dk1"/>
                </a:solidFill>
                <a:latin typeface="Calibri"/>
                <a:ea typeface="Calibri"/>
                <a:cs typeface="Calibri"/>
                <a:sym typeface="Calibri"/>
              </a:rPr>
              <a:t>  - 13K stars</a:t>
            </a:r>
            <a:endParaRPr sz="1200">
              <a:solidFill>
                <a:schemeClr val="dk1"/>
              </a:solidFill>
              <a:latin typeface="Calibri"/>
              <a:ea typeface="Calibri"/>
              <a:cs typeface="Calibri"/>
              <a:sym typeface="Calibri"/>
            </a:endParaRPr>
          </a:p>
        </p:txBody>
      </p:sp>
      <p:pic>
        <p:nvPicPr>
          <p:cNvPr id="171" name="Google Shape;171;p26"/>
          <p:cNvPicPr preferRelativeResize="0"/>
          <p:nvPr/>
        </p:nvPicPr>
        <p:blipFill>
          <a:blip r:embed="rId5">
            <a:alphaModFix/>
          </a:blip>
          <a:stretch>
            <a:fillRect/>
          </a:stretch>
        </p:blipFill>
        <p:spPr>
          <a:xfrm>
            <a:off x="4776725" y="461825"/>
            <a:ext cx="3836675" cy="2148550"/>
          </a:xfrm>
          <a:prstGeom prst="rect">
            <a:avLst/>
          </a:prstGeom>
          <a:noFill/>
          <a:ln w="9525" cap="flat" cmpd="sng">
            <a:solidFill>
              <a:srgbClr val="FF0000"/>
            </a:solidFill>
            <a:prstDash val="solid"/>
            <a:round/>
            <a:headEnd type="none" w="sm" len="sm"/>
            <a:tailEnd type="none" w="sm" len="sm"/>
          </a:ln>
        </p:spPr>
      </p:pic>
      <p:pic>
        <p:nvPicPr>
          <p:cNvPr id="172" name="Google Shape;172;p26"/>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776725" y="3991675"/>
            <a:ext cx="3908800" cy="5060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7"/>
          <p:cNvSpPr txBox="1"/>
          <p:nvPr/>
        </p:nvSpPr>
        <p:spPr>
          <a:xfrm>
            <a:off x="81775" y="67675"/>
            <a:ext cx="2527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RAG and RAE</a:t>
            </a:r>
            <a:endParaRPr sz="2000" b="1">
              <a:solidFill>
                <a:schemeClr val="dk1"/>
              </a:solidFill>
              <a:latin typeface="Calibri"/>
              <a:ea typeface="Calibri"/>
              <a:cs typeface="Calibri"/>
              <a:sym typeface="Calibri"/>
            </a:endParaRPr>
          </a:p>
        </p:txBody>
      </p:sp>
      <p:sp>
        <p:nvSpPr>
          <p:cNvPr id="178" name="Google Shape;178;p27"/>
          <p:cNvSpPr txBox="1"/>
          <p:nvPr/>
        </p:nvSpPr>
        <p:spPr>
          <a:xfrm>
            <a:off x="81775" y="461825"/>
            <a:ext cx="4483200" cy="168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RAG (Retrieval Augmented Generation) </a:t>
            </a:r>
            <a:r>
              <a:rPr lang="en" sz="1200">
                <a:solidFill>
                  <a:schemeClr val="dk1"/>
                </a:solidFill>
                <a:latin typeface="Calibri"/>
                <a:ea typeface="Calibri"/>
                <a:cs typeface="Calibri"/>
                <a:sym typeface="Calibri"/>
              </a:rPr>
              <a:t>- answer questions by retrieving stored information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RAE (Retrieval Augmented Execution)</a:t>
            </a:r>
            <a:r>
              <a:rPr lang="en" sz="1200">
                <a:solidFill>
                  <a:schemeClr val="dk1"/>
                </a:solidFill>
                <a:latin typeface="Calibri"/>
                <a:ea typeface="Calibri"/>
                <a:cs typeface="Calibri"/>
                <a:sym typeface="Calibri"/>
              </a:rPr>
              <a:t> - look for a skill or tool to do something - and execute it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RAG and RAE Can be implemented without a Vector Database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Keyword Search (BM25) (like Ctrl-F)</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Basic File Matching - use plain text files named by topic, search by file names and tags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RAG for Skills: </a:t>
            </a:r>
            <a:r>
              <a:rPr lang="en" sz="1200" u="sng">
                <a:solidFill>
                  <a:schemeClr val="hlink"/>
                </a:solidFill>
                <a:latin typeface="Calibri"/>
                <a:ea typeface="Calibri"/>
                <a:cs typeface="Calibri"/>
                <a:sym typeface="Calibri"/>
                <a:hlinkClick r:id="rId3"/>
              </a:rPr>
              <a:t>https://www.youtube.com/watch?v=jIctzTn_8-E</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79" name="Google Shape;179;p27"/>
          <p:cNvPicPr preferRelativeResize="0"/>
          <p:nvPr/>
        </p:nvPicPr>
        <p:blipFill>
          <a:blip r:embed="rId4">
            <a:alphaModFix/>
          </a:blip>
          <a:stretch>
            <a:fillRect/>
          </a:stretch>
        </p:blipFill>
        <p:spPr>
          <a:xfrm>
            <a:off x="4820525" y="374637"/>
            <a:ext cx="3301950" cy="1855275"/>
          </a:xfrm>
          <a:prstGeom prst="rect">
            <a:avLst/>
          </a:prstGeom>
          <a:noFill/>
          <a:ln w="9525" cap="flat" cmpd="sng">
            <a:solidFill>
              <a:srgbClr val="FF0000"/>
            </a:solidFill>
            <a:prstDash val="solid"/>
            <a:round/>
            <a:headEnd type="none" w="sm" len="sm"/>
            <a:tailEnd type="none" w="sm" len="sm"/>
          </a:ln>
        </p:spPr>
      </p:pic>
      <p:sp>
        <p:nvSpPr>
          <p:cNvPr id="180" name="Google Shape;180;p27"/>
          <p:cNvSpPr txBox="1"/>
          <p:nvPr/>
        </p:nvSpPr>
        <p:spPr>
          <a:xfrm>
            <a:off x="81775" y="2284601"/>
            <a:ext cx="4483200" cy="2511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Graphify indexes files for RAG</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Inspired by an LLM knowledge base concept by Andrej Karpathy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tool compiles raw local files and large codebases into interactive, structured knowledge graphs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Graphify reduces LLM token consumption by up to 70% while improving output speed and accuracy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tool generates HTML visualizations, JSON data, and specialized reports to map node connections. It also features utilities to find the shortest path between files, explain specific concepts, update modified files seamlessly, and generate Obsidian vaults or MCP servers</a:t>
            </a:r>
            <a:endParaRPr sz="12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u="sng">
                <a:solidFill>
                  <a:schemeClr val="hlink"/>
                </a:solidFill>
                <a:latin typeface="Calibri"/>
                <a:ea typeface="Calibri"/>
                <a:cs typeface="Calibri"/>
                <a:sym typeface="Calibri"/>
                <a:hlinkClick r:id="rId5"/>
              </a:rPr>
              <a:t>https://www.youtube.com/watch?v=HQEm4rBKdec</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u="sng">
                <a:solidFill>
                  <a:schemeClr val="hlink"/>
                </a:solidFill>
                <a:latin typeface="Calibri"/>
                <a:ea typeface="Calibri"/>
                <a:cs typeface="Calibri"/>
                <a:sym typeface="Calibri"/>
                <a:hlinkClick r:id="rId6"/>
              </a:rPr>
              <a:t>https://github.com/safishamsi/graphify</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u="sng">
                <a:solidFill>
                  <a:schemeClr val="hlink"/>
                </a:solidFill>
                <a:latin typeface="Calibri"/>
                <a:ea typeface="Calibri"/>
                <a:cs typeface="Calibri"/>
                <a:sym typeface="Calibri"/>
                <a:hlinkClick r:id="rId7"/>
              </a:rPr>
              <a:t>https://x.com/karpathy/status/2039805659525644595</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sp>
        <p:nvSpPr>
          <p:cNvPr id="181" name="Google Shape;181;p27"/>
          <p:cNvSpPr txBox="1"/>
          <p:nvPr/>
        </p:nvSpPr>
        <p:spPr>
          <a:xfrm>
            <a:off x="4820525" y="2792500"/>
            <a:ext cx="4026000" cy="149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Alternatives to VectorDB RAG:</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Microsoft GraphRAG - open-source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Karpathy's "LLM as Compiler" / Compiled Wiki</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BM25 / Keyword-Based (Sparse Retrieval) - Elasticsearch,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SQL Database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ELITE (LLM-Driven Iterative Retrieval)</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Knowledge Base RAG (Symbolic / Ontology-Based)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RAPTOR-Style Hierarchical Chunking</a:t>
            </a:r>
            <a:endParaRPr sz="12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8"/>
          <p:cNvSpPr txBox="1"/>
          <p:nvPr/>
        </p:nvSpPr>
        <p:spPr>
          <a:xfrm>
            <a:off x="60250" y="431150"/>
            <a:ext cx="4483200" cy="149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Gemini API’s file search tool works as multimodal RAG</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You can upload and search through PDFs, images, and documents simultaneously </a:t>
            </a:r>
            <a:r>
              <a:rPr lang="en" sz="1200" u="sng">
                <a:solidFill>
                  <a:schemeClr val="hlink"/>
                </a:solidFill>
                <a:latin typeface="Calibri"/>
                <a:ea typeface="Calibri"/>
                <a:cs typeface="Calibri"/>
                <a:sym typeface="Calibri"/>
                <a:hlinkClick r:id="rId3"/>
              </a:rPr>
              <a:t>http://www.youtube.com/watch?v=-Bp2Sz5xir4</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You can embed visual content like charts and diagrams alongside text, the introduction of custom metadata for precise filtering, and the addition of page-level citations for more accurate grounding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system handles ingestion, chunking, and embedding using Gemini Embedding 2</a:t>
            </a:r>
            <a:endParaRPr sz="1200">
              <a:solidFill>
                <a:schemeClr val="dk1"/>
              </a:solidFill>
              <a:latin typeface="Calibri"/>
              <a:ea typeface="Calibri"/>
              <a:cs typeface="Calibri"/>
              <a:sym typeface="Calibri"/>
            </a:endParaRPr>
          </a:p>
        </p:txBody>
      </p:sp>
      <p:sp>
        <p:nvSpPr>
          <p:cNvPr id="187" name="Google Shape;187;p28"/>
          <p:cNvSpPr txBox="1"/>
          <p:nvPr/>
        </p:nvSpPr>
        <p:spPr>
          <a:xfrm>
            <a:off x="81775" y="67675"/>
            <a:ext cx="2527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88" name="Google Shape;188;p28"/>
          <p:cNvSpPr txBox="1"/>
          <p:nvPr/>
        </p:nvSpPr>
        <p:spPr>
          <a:xfrm>
            <a:off x="60250" y="1966775"/>
            <a:ext cx="4483200" cy="168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Hybrid RAG using Python</a:t>
            </a:r>
            <a:endParaRPr sz="1200" b="1">
              <a:solidFill>
                <a:srgbClr val="FF0000"/>
              </a:solidFill>
              <a:latin typeface="Calibri"/>
              <a:ea typeface="Calibri"/>
              <a:cs typeface="Calibri"/>
              <a:sym typeface="Calibri"/>
            </a:endParaRPr>
          </a:p>
          <a:p>
            <a:pPr marL="4000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BM25 (keyword-based sparse retrieval)</a:t>
            </a:r>
            <a:endParaRPr sz="1200">
              <a:solidFill>
                <a:schemeClr val="dk1"/>
              </a:solidFill>
              <a:latin typeface="Calibri"/>
              <a:ea typeface="Calibri"/>
              <a:cs typeface="Calibri"/>
              <a:sym typeface="Calibri"/>
            </a:endParaRPr>
          </a:p>
          <a:p>
            <a:pPr marL="4000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Dense Embeddings (semantic search)</a:t>
            </a:r>
            <a:endParaRPr sz="1200">
              <a:solidFill>
                <a:schemeClr val="dk1"/>
              </a:solidFill>
              <a:latin typeface="Calibri"/>
              <a:ea typeface="Calibri"/>
              <a:cs typeface="Calibri"/>
              <a:sym typeface="Calibri"/>
            </a:endParaRPr>
          </a:p>
          <a:p>
            <a:pPr marL="4000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Reciprocal Rank Fusion (RRF) - merge search results</a:t>
            </a:r>
            <a:endParaRPr sz="1200">
              <a:solidFill>
                <a:schemeClr val="dk1"/>
              </a:solidFill>
              <a:latin typeface="Calibri"/>
              <a:ea typeface="Calibri"/>
              <a:cs typeface="Calibri"/>
              <a:sym typeface="Calibri"/>
            </a:endParaRPr>
          </a:p>
          <a:p>
            <a:pPr marL="4000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Coherent Reranker - for final optimization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http://www.youtube.com/watch?v=XvKiTfd6Xvo</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Use Numpy to tokenize text and generate embeddings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Evaluation using NDCG metric; adding a reranker significantly boosts retrieval accuracy from 34% to 47% </a:t>
            </a:r>
            <a:endParaRPr sz="1200">
              <a:solidFill>
                <a:schemeClr val="dk1"/>
              </a:solidFill>
              <a:latin typeface="Calibri"/>
              <a:ea typeface="Calibri"/>
              <a:cs typeface="Calibri"/>
              <a:sym typeface="Calibri"/>
            </a:endParaRPr>
          </a:p>
        </p:txBody>
      </p:sp>
      <p:sp>
        <p:nvSpPr>
          <p:cNvPr id="189" name="Google Shape;189;p28"/>
          <p:cNvSpPr txBox="1"/>
          <p:nvPr/>
        </p:nvSpPr>
        <p:spPr>
          <a:xfrm>
            <a:off x="60250" y="3688700"/>
            <a:ext cx="44832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Google AI pointer with Visual Understanding</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http://www.youtube.com/watch?v=fVuEscyAK-I</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Users can simply point at anything on their screen - and use voice commands like "summarize this" or "fix this"</a:t>
            </a:r>
            <a:endParaRPr sz="1200">
              <a:solidFill>
                <a:schemeClr val="dk1"/>
              </a:solidFill>
              <a:latin typeface="Calibri"/>
              <a:ea typeface="Calibri"/>
              <a:cs typeface="Calibri"/>
              <a:sym typeface="Calibri"/>
            </a:endParaRPr>
          </a:p>
        </p:txBody>
      </p:sp>
      <p:pic>
        <p:nvPicPr>
          <p:cNvPr id="190" name="Google Shape;190;p28"/>
          <p:cNvPicPr preferRelativeResize="0"/>
          <p:nvPr/>
        </p:nvPicPr>
        <p:blipFill rotWithShape="1">
          <a:blip r:embed="rId6" cstate="email">
            <a:alphaModFix/>
            <a:extLst>
              <a:ext uri="{28A0092B-C50C-407E-A947-70E740481C1C}">
                <a14:useLocalDpi xmlns:a14="http://schemas.microsoft.com/office/drawing/2010/main"/>
              </a:ext>
            </a:extLst>
          </a:blip>
          <a:srcRect/>
          <a:stretch/>
        </p:blipFill>
        <p:spPr>
          <a:xfrm>
            <a:off x="4895850" y="3688700"/>
            <a:ext cx="2369850" cy="1001825"/>
          </a:xfrm>
          <a:prstGeom prst="rect">
            <a:avLst/>
          </a:prstGeom>
          <a:noFill/>
          <a:ln w="9525" cap="flat" cmpd="sng">
            <a:solidFill>
              <a:srgbClr val="FF0000"/>
            </a:solidFill>
            <a:prstDash val="solid"/>
            <a:round/>
            <a:headEnd type="none" w="sm" len="sm"/>
            <a:tailEnd type="none" w="sm" len="sm"/>
          </a:ln>
        </p:spPr>
      </p:pic>
      <p:pic>
        <p:nvPicPr>
          <p:cNvPr id="191" name="Google Shape;191;p28"/>
          <p:cNvPicPr preferRelativeResize="0"/>
          <p:nvPr/>
        </p:nvPicPr>
        <p:blipFill rotWithShape="1">
          <a:blip r:embed="rId7" cstate="email">
            <a:alphaModFix/>
            <a:extLst>
              <a:ext uri="{28A0092B-C50C-407E-A947-70E740481C1C}">
                <a14:useLocalDpi xmlns:a14="http://schemas.microsoft.com/office/drawing/2010/main"/>
              </a:ext>
            </a:extLst>
          </a:blip>
          <a:srcRect/>
          <a:stretch/>
        </p:blipFill>
        <p:spPr>
          <a:xfrm>
            <a:off x="4895850" y="431150"/>
            <a:ext cx="3979352" cy="1496100"/>
          </a:xfrm>
          <a:prstGeom prst="rect">
            <a:avLst/>
          </a:prstGeom>
          <a:noFill/>
          <a:ln w="9525" cap="flat" cmpd="sng">
            <a:solidFill>
              <a:srgbClr val="FF0000"/>
            </a:solidFill>
            <a:prstDash val="solid"/>
            <a:round/>
            <a:headEnd type="none" w="sm" len="sm"/>
            <a:tailEnd type="none" w="sm" len="sm"/>
          </a:ln>
        </p:spPr>
      </p:pic>
      <p:pic>
        <p:nvPicPr>
          <p:cNvPr id="192" name="Google Shape;192;p28"/>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4895850" y="2013049"/>
            <a:ext cx="2945929" cy="1589862"/>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29"/>
          <p:cNvSpPr txBox="1"/>
          <p:nvPr/>
        </p:nvSpPr>
        <p:spPr>
          <a:xfrm>
            <a:off x="81775" y="67675"/>
            <a:ext cx="2527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98" name="Google Shape;198;p29"/>
          <p:cNvSpPr txBox="1"/>
          <p:nvPr/>
        </p:nvSpPr>
        <p:spPr>
          <a:xfrm>
            <a:off x="81775" y="500900"/>
            <a:ext cx="4394100" cy="2188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Zero Programming Language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https://zerolang.ai</a:t>
            </a:r>
            <a:r>
              <a:rPr lang="en" sz="1200">
                <a:solidFill>
                  <a:schemeClr val="dk1"/>
                </a:solidFill>
                <a:latin typeface="Calibri"/>
                <a:ea typeface="Calibri"/>
                <a:cs typeface="Calibri"/>
                <a:sym typeface="Calibri"/>
              </a:rPr>
              <a:t> - </a:t>
            </a:r>
            <a:r>
              <a:rPr lang="en" sz="1200" u="sng">
                <a:solidFill>
                  <a:schemeClr val="hlink"/>
                </a:solidFill>
                <a:latin typeface="Calibri"/>
                <a:ea typeface="Calibri"/>
                <a:cs typeface="Calibri"/>
                <a:sym typeface="Calibri"/>
                <a:hlinkClick r:id="rId4"/>
              </a:rPr>
              <a:t>https://github.com/vercel-labs/zero</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rgbClr val="3C78D8"/>
              </a:buClr>
              <a:buSzPts val="900"/>
              <a:buFont typeface="Roboto Mono"/>
              <a:buChar char="●"/>
            </a:pPr>
            <a:r>
              <a:rPr lang="en" sz="900">
                <a:solidFill>
                  <a:srgbClr val="3C78D8"/>
                </a:solidFill>
                <a:latin typeface="Roboto Mono"/>
                <a:ea typeface="Roboto Mono"/>
                <a:cs typeface="Roboto Mono"/>
                <a:sym typeface="Roboto Mono"/>
              </a:rPr>
              <a:t>curl -fsSL https://zerolang.ai/install.sh | bash </a:t>
            </a:r>
            <a:endParaRPr sz="900">
              <a:solidFill>
                <a:srgbClr val="3C78D8"/>
              </a:solidFill>
              <a:latin typeface="Roboto Mono"/>
              <a:ea typeface="Roboto Mono"/>
              <a:cs typeface="Roboto Mono"/>
              <a:sym typeface="Roboto Mono"/>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Zero  - programming language created by Chris Tate at Vercel Labs</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Zero prioritizes explicitness: effects, memory allocation, and capabilities are all surfaced in function signatures, with no hidden runtime overhead or mandatory garbage collector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compiler produces structured, machine-readable output (JSON) with stable diagnostic codes and fix plans, making it easier for both humans and agents to reason about and repair code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single, unified CLI handles checking, building, testing, formatting, and documentation</a:t>
            </a:r>
            <a:endParaRPr sz="1200">
              <a:solidFill>
                <a:schemeClr val="dk1"/>
              </a:solidFill>
              <a:latin typeface="Calibri"/>
              <a:ea typeface="Calibri"/>
              <a:cs typeface="Calibri"/>
              <a:sym typeface="Calibri"/>
            </a:endParaRPr>
          </a:p>
        </p:txBody>
      </p:sp>
      <p:sp>
        <p:nvSpPr>
          <p:cNvPr id="199" name="Google Shape;199;p29"/>
          <p:cNvSpPr txBox="1"/>
          <p:nvPr/>
        </p:nvSpPr>
        <p:spPr>
          <a:xfrm>
            <a:off x="81775" y="2796525"/>
            <a:ext cx="43941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Agents' core iterative process:</a:t>
            </a:r>
            <a:endParaRPr sz="1200" b="1">
              <a:solidFill>
                <a:srgbClr val="FF0000"/>
              </a:solidFill>
              <a:latin typeface="Calibri"/>
              <a:ea typeface="Calibri"/>
              <a:cs typeface="Calibri"/>
              <a:sym typeface="Calibri"/>
            </a:endParaRPr>
          </a:p>
          <a:p>
            <a:pPr marL="45720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research</a:t>
            </a:r>
            <a:endParaRPr sz="1200">
              <a:solidFill>
                <a:schemeClr val="dk1"/>
              </a:solidFill>
              <a:latin typeface="Calibri"/>
              <a:ea typeface="Calibri"/>
              <a:cs typeface="Calibri"/>
              <a:sym typeface="Calibri"/>
            </a:endParaRPr>
          </a:p>
          <a:p>
            <a:pPr marL="45720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prototyping</a:t>
            </a:r>
            <a:endParaRPr sz="1200">
              <a:solidFill>
                <a:schemeClr val="dk1"/>
              </a:solidFill>
              <a:latin typeface="Calibri"/>
              <a:ea typeface="Calibri"/>
              <a:cs typeface="Calibri"/>
              <a:sym typeface="Calibri"/>
            </a:endParaRPr>
          </a:p>
          <a:p>
            <a:pPr marL="45720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planning</a:t>
            </a:r>
            <a:endParaRPr sz="1200">
              <a:solidFill>
                <a:schemeClr val="dk1"/>
              </a:solidFill>
              <a:latin typeface="Calibri"/>
              <a:ea typeface="Calibri"/>
              <a:cs typeface="Calibri"/>
              <a:sym typeface="Calibri"/>
            </a:endParaRPr>
          </a:p>
          <a:p>
            <a:pPr marL="45720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building</a:t>
            </a:r>
            <a:endParaRPr sz="1200">
              <a:solidFill>
                <a:schemeClr val="dk1"/>
              </a:solidFill>
              <a:latin typeface="Calibri"/>
              <a:ea typeface="Calibri"/>
              <a:cs typeface="Calibri"/>
              <a:sym typeface="Calibri"/>
            </a:endParaRPr>
          </a:p>
          <a:p>
            <a:pPr marL="45720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testing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most effective skill system is a lightweight, bespoke one built from your own practical engineering experience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Keep custom prompts minimal to avoid bloating the AI's context window</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https://www.youtube.com/watch?v=VoxL_YmHR-I</a:t>
            </a:r>
            <a:endParaRPr sz="1200">
              <a:solidFill>
                <a:schemeClr val="dk1"/>
              </a:solidFill>
              <a:latin typeface="Calibri"/>
              <a:ea typeface="Calibri"/>
              <a:cs typeface="Calibri"/>
              <a:sym typeface="Calibri"/>
            </a:endParaRPr>
          </a:p>
        </p:txBody>
      </p:sp>
      <p:pic>
        <p:nvPicPr>
          <p:cNvPr id="200" name="Google Shape;200;p29"/>
          <p:cNvPicPr preferRelativeResize="0"/>
          <p:nvPr/>
        </p:nvPicPr>
        <p:blipFill>
          <a:blip r:embed="rId6">
            <a:alphaModFix/>
          </a:blip>
          <a:stretch>
            <a:fillRect/>
          </a:stretch>
        </p:blipFill>
        <p:spPr>
          <a:xfrm>
            <a:off x="4815300" y="500900"/>
            <a:ext cx="2994775" cy="2139125"/>
          </a:xfrm>
          <a:prstGeom prst="rect">
            <a:avLst/>
          </a:prstGeom>
          <a:noFill/>
          <a:ln w="9525" cap="flat" cmpd="sng">
            <a:solidFill>
              <a:srgbClr val="FF0000"/>
            </a:solidFill>
            <a:prstDash val="solid"/>
            <a:round/>
            <a:headEnd type="none" w="sm" len="sm"/>
            <a:tailEnd type="none" w="sm" len="sm"/>
          </a:ln>
        </p:spPr>
      </p:pic>
      <p:pic>
        <p:nvPicPr>
          <p:cNvPr id="201" name="Google Shape;201;p29"/>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4815300" y="2950854"/>
            <a:ext cx="3242625" cy="16800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30"/>
          <p:cNvSpPr txBox="1"/>
          <p:nvPr/>
        </p:nvSpPr>
        <p:spPr>
          <a:xfrm>
            <a:off x="81775" y="67675"/>
            <a:ext cx="2527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07" name="Google Shape;207;p30"/>
          <p:cNvSpPr txBox="1"/>
          <p:nvPr/>
        </p:nvSpPr>
        <p:spPr>
          <a:xfrm>
            <a:off x="81775" y="500900"/>
            <a:ext cx="43941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OpenAI ChatGPT Personal Finance using Plaid.com</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Pro users in US can link bank accounts, portfolios, credit cards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Financial dashboards, financial advice using GPT-5.5 thinking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https://openai.com/index/personal-finance-chatgpt/</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208" name="Google Shape;208;p30"/>
          <p:cNvSpPr txBox="1"/>
          <p:nvPr/>
        </p:nvSpPr>
        <p:spPr>
          <a:xfrm>
            <a:off x="81775" y="1298250"/>
            <a:ext cx="4394100" cy="149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Tencent "Marvis" Personal AI assistant</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 "Beta" for Windows and Android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Operates  24x7 via virtual agents, supports multiple LLMs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Controls desktop software and mobile apps, adjust system settings, perform tasks for users, execute code, work with local files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Document understanding, AI-powered local search, app installation, knowledge management, gaming automation, daily task assistance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https://x.com/LunchangG7603/status/2049054090114834664</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209" name="Google Shape;209;p30"/>
          <p:cNvSpPr txBox="1"/>
          <p:nvPr/>
        </p:nvSpPr>
        <p:spPr>
          <a:xfrm>
            <a:off x="81775" y="2860350"/>
            <a:ext cx="43941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MiniMax Mavis ("MiniMax as a Jarvis")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Multi-agent collaboration system "Agent Teams" built on an infrastructure called "Team Engine"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system uses three distinct roles: Leader, Worker, and Verifier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Worker and Verifier operate in an adversarial relationship to improve output quality through continuous checks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Mavis is designed to handle complex, long-duration tasks that a single agent cannot manage reliably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Mavis also supports WeChat and Feishu</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Mavis merges API and Agent subscriptions into a single unified plan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https://eu.36kr.com/en/p/3808272507215621</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210" name="Google Shape;210;p30"/>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708275" y="67675"/>
            <a:ext cx="2104822" cy="1178700"/>
          </a:xfrm>
          <a:prstGeom prst="rect">
            <a:avLst/>
          </a:prstGeom>
          <a:noFill/>
          <a:ln w="9525" cap="flat" cmpd="sng">
            <a:solidFill>
              <a:srgbClr val="FF0000"/>
            </a:solidFill>
            <a:prstDash val="solid"/>
            <a:round/>
            <a:headEnd type="none" w="sm" len="sm"/>
            <a:tailEnd type="none" w="sm" len="sm"/>
          </a:ln>
        </p:spPr>
      </p:pic>
      <p:pic>
        <p:nvPicPr>
          <p:cNvPr id="211" name="Google Shape;211;p30"/>
          <p:cNvPicPr preferRelativeResize="0"/>
          <p:nvPr/>
        </p:nvPicPr>
        <p:blipFill rotWithShape="1">
          <a:blip r:embed="rId7" cstate="email">
            <a:alphaModFix/>
            <a:extLst>
              <a:ext uri="{28A0092B-C50C-407E-A947-70E740481C1C}">
                <a14:useLocalDpi xmlns:a14="http://schemas.microsoft.com/office/drawing/2010/main"/>
              </a:ext>
            </a:extLst>
          </a:blip>
          <a:srcRect/>
          <a:stretch/>
        </p:blipFill>
        <p:spPr>
          <a:xfrm>
            <a:off x="4708275" y="1298250"/>
            <a:ext cx="2828800" cy="1613801"/>
          </a:xfrm>
          <a:prstGeom prst="rect">
            <a:avLst/>
          </a:prstGeom>
          <a:noFill/>
          <a:ln w="9525" cap="flat" cmpd="sng">
            <a:solidFill>
              <a:srgbClr val="FF0000"/>
            </a:solidFill>
            <a:prstDash val="solid"/>
            <a:round/>
            <a:headEnd type="none" w="sm" len="sm"/>
            <a:tailEnd type="none" w="sm" len="sm"/>
          </a:ln>
        </p:spPr>
      </p:pic>
      <p:pic>
        <p:nvPicPr>
          <p:cNvPr id="212" name="Google Shape;212;p30"/>
          <p:cNvPicPr preferRelativeResize="0"/>
          <p:nvPr/>
        </p:nvPicPr>
        <p:blipFill>
          <a:blip r:embed="rId8">
            <a:alphaModFix/>
          </a:blip>
          <a:stretch>
            <a:fillRect/>
          </a:stretch>
        </p:blipFill>
        <p:spPr>
          <a:xfrm>
            <a:off x="4708275" y="3137250"/>
            <a:ext cx="3276600" cy="13906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31"/>
          <p:cNvSpPr txBox="1"/>
          <p:nvPr/>
        </p:nvSpPr>
        <p:spPr>
          <a:xfrm>
            <a:off x="81775" y="67675"/>
            <a:ext cx="2527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Agent sandboxing</a:t>
            </a:r>
            <a:endParaRPr sz="2000" b="1">
              <a:solidFill>
                <a:schemeClr val="dk1"/>
              </a:solidFill>
              <a:latin typeface="Calibri"/>
              <a:ea typeface="Calibri"/>
              <a:cs typeface="Calibri"/>
              <a:sym typeface="Calibri"/>
            </a:endParaRPr>
          </a:p>
        </p:txBody>
      </p:sp>
      <p:sp>
        <p:nvSpPr>
          <p:cNvPr id="218" name="Google Shape;218;p31"/>
          <p:cNvSpPr txBox="1"/>
          <p:nvPr/>
        </p:nvSpPr>
        <p:spPr>
          <a:xfrm>
            <a:off x="81775" y="477375"/>
            <a:ext cx="4894200" cy="3958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Agent sandboxing - </a:t>
            </a:r>
            <a:r>
              <a:rPr lang="en" sz="1200">
                <a:solidFill>
                  <a:schemeClr val="dk1"/>
                </a:solidFill>
                <a:latin typeface="Calibri"/>
                <a:ea typeface="Calibri"/>
                <a:cs typeface="Calibri"/>
                <a:sym typeface="Calibri"/>
              </a:rPr>
              <a:t>e.g. docker, web assembly, VMs, VPS, ...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is important? What is good?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Agent sandboxing - isolating AI agent execution environments to prevent host compromise, data exfiltration, and privilege escalation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Trade Offs: isolation strength vs boot speed</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matters most: Least-privilege execution (no root, read-only mounts, scoped credentials), network egress filtering, strict timeouts, and defense-in-depth layering. Secrets must never be exposed directly to the agent - short-lived tokens via a credential broker are best practice </a:t>
            </a:r>
            <a:r>
              <a:rPr lang="en" sz="1000">
                <a:solidFill>
                  <a:schemeClr val="dk1"/>
                </a:solidFill>
                <a:latin typeface="Calibri"/>
                <a:ea typeface="Calibri"/>
                <a:cs typeface="Calibri"/>
                <a:sym typeface="Calibri"/>
              </a:rPr>
              <a:t>- </a:t>
            </a:r>
            <a:r>
              <a:rPr lang="en" sz="1000" u="sng">
                <a:solidFill>
                  <a:schemeClr val="hlink"/>
                </a:solidFill>
                <a:latin typeface="Calibri"/>
                <a:ea typeface="Calibri"/>
                <a:cs typeface="Calibri"/>
                <a:sym typeface="Calibri"/>
                <a:hlinkClick r:id="rId3"/>
              </a:rPr>
              <a:t>https://northflank.com/blog/how-to-sandbox-ai-agents</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State of the art (2026):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MicroVMs (Firecracker, Kata Containers) are the gold standard for untrusted code, booting in ~125ms with hardware-level kernel isolation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gVisor intercepts syscalls in user space for a middle-ground option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WebAssembly/WASI and V8 isolates (used by Cloudflare Dynamic Workers) offer ultra-fast, lightweight sandboxing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Docker launched dedicated Sandbox microVM products for agent workloads</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https://www.docker.com/blog/comparing-sandboxing-approaches-ai-agents/</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5"/>
              </a:rPr>
              <a:t>https://www.augmentcode.com/guides/agent-execution-sandbox</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https://northflank.com/blog/how-to-sandbox-ai-agents</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6"/>
              </a:rPr>
              <a:t>https://developer.nvidia.com/blog/practical-security-guidance-for-sandboxing-agentic-workflows-and-managing-execution-risk/</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7"/>
              </a:rPr>
              <a:t>https://blog.cloudflare.com/dynamic-workers/</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pic>
        <p:nvPicPr>
          <p:cNvPr id="219" name="Google Shape;219;p31"/>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5128375" y="1051560"/>
            <a:ext cx="3863225" cy="21201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2"/>
          <p:cNvSpPr txBox="1"/>
          <p:nvPr/>
        </p:nvSpPr>
        <p:spPr>
          <a:xfrm>
            <a:off x="60250" y="431150"/>
            <a:ext cx="4843800" cy="4082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rgbClr val="FF0000"/>
              </a:buClr>
              <a:buSzPts val="1000"/>
              <a:buFont typeface="Calibri"/>
              <a:buChar char="●"/>
            </a:pPr>
            <a:r>
              <a:rPr lang="en" sz="1200" b="1">
                <a:solidFill>
                  <a:srgbClr val="FF0000"/>
                </a:solidFill>
                <a:latin typeface="Calibri"/>
                <a:ea typeface="Calibri"/>
                <a:cs typeface="Calibri"/>
                <a:sym typeface="Calibri"/>
              </a:rPr>
              <a:t>Recursive Intelligence - Use AI to Design Chips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Founders - Anna Goldie and Azalia Mirhoseini (Google Brain, then anthropic) - </a:t>
            </a:r>
            <a:r>
              <a:rPr lang="en" sz="1200" u="sng">
                <a:solidFill>
                  <a:schemeClr val="hlink"/>
                </a:solidFill>
                <a:latin typeface="Calibri"/>
                <a:ea typeface="Calibri"/>
                <a:cs typeface="Calibri"/>
                <a:sym typeface="Calibri"/>
                <a:hlinkClick r:id="rId3"/>
              </a:rPr>
              <a:t>http://www.youtube.com/watch?v=K05Dh-QjM8c</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200">
                <a:solidFill>
                  <a:schemeClr val="dk1"/>
                </a:solidFill>
                <a:latin typeface="Calibri"/>
                <a:ea typeface="Calibri"/>
                <a:cs typeface="Calibri"/>
                <a:sym typeface="Calibri"/>
              </a:rPr>
              <a:t>Currently, chip design and verification are slow, manual processes that can take years. Recursive Intelligence plans to accelerate this by building tools that are up to 100,000x faster</a:t>
            </a:r>
            <a:endParaRPr sz="12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200">
                <a:solidFill>
                  <a:schemeClr val="dk1"/>
                </a:solidFill>
                <a:latin typeface="Calibri"/>
                <a:ea typeface="Calibri"/>
                <a:cs typeface="Calibri"/>
                <a:sym typeface="Calibri"/>
              </a:rPr>
              <a:t>1. Accelerating existing design workflows</a:t>
            </a:r>
            <a:endParaRPr sz="12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200">
                <a:solidFill>
                  <a:schemeClr val="dk1"/>
                </a:solidFill>
                <a:latin typeface="Calibri"/>
                <a:ea typeface="Calibri"/>
                <a:cs typeface="Calibri"/>
                <a:sym typeface="Calibri"/>
              </a:rPr>
              <a:t>2. Democratizing chip creation through a "designless" platform for custom workloads</a:t>
            </a:r>
            <a:endParaRPr sz="12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200">
                <a:solidFill>
                  <a:schemeClr val="dk1"/>
                </a:solidFill>
                <a:latin typeface="Calibri"/>
                <a:ea typeface="Calibri"/>
                <a:cs typeface="Calibri"/>
                <a:sym typeface="Calibri"/>
              </a:rPr>
              <a:t>3. Eventually vertically integrating by building their own chips and training models </a:t>
            </a:r>
            <a:endParaRPr sz="12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200">
                <a:solidFill>
                  <a:schemeClr val="dk1"/>
                </a:solidFill>
                <a:latin typeface="Calibri"/>
                <a:ea typeface="Calibri"/>
                <a:cs typeface="Calibri"/>
                <a:sym typeface="Calibri"/>
              </a:rPr>
              <a:t>By automating the physical substrate of intelligence, they aim to enable a "Cambrian explosion" of specialized hardware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The </a:t>
            </a:r>
            <a:r>
              <a:rPr lang="en" sz="1200" b="1">
                <a:solidFill>
                  <a:srgbClr val="FF0000"/>
                </a:solidFill>
                <a:latin typeface="Calibri"/>
                <a:ea typeface="Calibri"/>
                <a:cs typeface="Calibri"/>
                <a:sym typeface="Calibri"/>
              </a:rPr>
              <a:t>Cambrian explosion</a:t>
            </a:r>
            <a:r>
              <a:rPr lang="en" sz="1200">
                <a:solidFill>
                  <a:srgbClr val="3C78D8"/>
                </a:solidFill>
                <a:latin typeface="Calibri"/>
                <a:ea typeface="Calibri"/>
                <a:cs typeface="Calibri"/>
                <a:sym typeface="Calibri"/>
              </a:rPr>
              <a:t> (~541 million years ago) was a rapid burst of evolution where nearly all major animal body plans suddenly appeared, transforming Earth from simple organisms to complex, diverse animal life.</a:t>
            </a:r>
            <a:endParaRPr sz="1200">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founders are known for creating "AlphaChip" - an AI system for chip floor planning deployed across four generations of Google's TPUs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Company is located in Palo Alto, CA</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Ricursive has raised a total of $335 Mln across two rounds:</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$35M seed (Dec 2025), $300M (Jan 2026) - $4B valuation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https://www.ricursive.com</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225" name="Google Shape;225;p32"/>
          <p:cNvSpPr txBox="1"/>
          <p:nvPr/>
        </p:nvSpPr>
        <p:spPr>
          <a:xfrm>
            <a:off x="81775" y="67675"/>
            <a:ext cx="2527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pic>
        <p:nvPicPr>
          <p:cNvPr id="226" name="Google Shape;226;p32"/>
          <p:cNvPicPr preferRelativeResize="0"/>
          <p:nvPr/>
        </p:nvPicPr>
        <p:blipFill>
          <a:blip r:embed="rId5">
            <a:alphaModFix/>
          </a:blip>
          <a:stretch>
            <a:fillRect/>
          </a:stretch>
        </p:blipFill>
        <p:spPr>
          <a:xfrm>
            <a:off x="4991793" y="431150"/>
            <a:ext cx="2409825" cy="1895475"/>
          </a:xfrm>
          <a:prstGeom prst="rect">
            <a:avLst/>
          </a:prstGeom>
          <a:noFill/>
          <a:ln w="9525" cap="flat" cmpd="sng">
            <a:solidFill>
              <a:srgbClr val="FF0000"/>
            </a:solidFill>
            <a:prstDash val="solid"/>
            <a:round/>
            <a:headEnd type="none" w="sm" len="sm"/>
            <a:tailEnd type="none" w="sm" len="sm"/>
          </a:ln>
        </p:spPr>
      </p:pic>
      <p:sp>
        <p:nvSpPr>
          <p:cNvPr id="227" name="Google Shape;227;p32"/>
          <p:cNvSpPr txBox="1"/>
          <p:nvPr/>
        </p:nvSpPr>
        <p:spPr>
          <a:xfrm>
            <a:off x="4991793" y="3009300"/>
            <a:ext cx="38928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LLM Precision Evolution Timeline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Nov 2022 - ChatGPT powered by GPT-3.5, FP16 / BF16</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2024 - BF16 / FP8 (mixed)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2025 - FP8 (production standard)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2026 - FP8 + NVFP4 (emerging)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There is work in progress to use FP4 for both training and inference - </a:t>
            </a:r>
            <a:r>
              <a:rPr lang="en" sz="1200" u="sng">
                <a:solidFill>
                  <a:schemeClr val="hlink"/>
                </a:solidFill>
                <a:latin typeface="Calibri"/>
                <a:ea typeface="Calibri"/>
                <a:cs typeface="Calibri"/>
                <a:sym typeface="Calibri"/>
                <a:hlinkClick r:id="rId6"/>
              </a:rPr>
              <a:t>https://arxiv.org/abs/2509.25149</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33"/>
          <p:cNvSpPr txBox="1"/>
          <p:nvPr/>
        </p:nvSpPr>
        <p:spPr>
          <a:xfrm>
            <a:off x="60250" y="431150"/>
            <a:ext cx="4843800" cy="2758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rgbClr val="FF0000"/>
              </a:buClr>
              <a:buSzPts val="1000"/>
              <a:buFont typeface="Calibri"/>
              <a:buChar char="●"/>
            </a:pPr>
            <a:r>
              <a:rPr lang="en" sz="1200" b="1">
                <a:solidFill>
                  <a:srgbClr val="FF0000"/>
                </a:solidFill>
                <a:latin typeface="Calibri"/>
                <a:ea typeface="Calibri"/>
                <a:cs typeface="Calibri"/>
                <a:sym typeface="Calibri"/>
              </a:rPr>
              <a:t>Modal AI - Infrastructure Startup</a:t>
            </a:r>
            <a:endParaRPr sz="1200" b="1">
              <a:solidFill>
                <a:srgbClr val="FF0000"/>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200">
                <a:solidFill>
                  <a:schemeClr val="dk1"/>
                </a:solidFill>
                <a:latin typeface="Calibri"/>
                <a:ea typeface="Calibri"/>
                <a:cs typeface="Calibri"/>
                <a:sym typeface="Calibri"/>
              </a:rPr>
              <a:t>Founded by Erik Bernhardsson and Akshat Bubna in New York City</a:t>
            </a:r>
            <a:endParaRPr sz="12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200">
                <a:solidFill>
                  <a:schemeClr val="dk1"/>
                </a:solidFill>
                <a:latin typeface="Calibri"/>
                <a:ea typeface="Calibri"/>
                <a:cs typeface="Calibri"/>
                <a:sym typeface="Calibri"/>
              </a:rPr>
              <a:t>Launched its platform in October 2023 after an earlier beta period</a:t>
            </a:r>
            <a:endParaRPr sz="12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200">
                <a:solidFill>
                  <a:schemeClr val="dk1"/>
                </a:solidFill>
                <a:latin typeface="Calibri"/>
                <a:ea typeface="Calibri"/>
                <a:cs typeface="Calibri"/>
                <a:sym typeface="Calibri"/>
              </a:rPr>
              <a:t>Modal built its own infrastructure stack from scratch, including a custom file system, container runtime, scheduler, and image builder - all optimized for the speed and unpredictability of AI workloads</a:t>
            </a:r>
            <a:endParaRPr sz="12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200">
                <a:solidFill>
                  <a:schemeClr val="dk1"/>
                </a:solidFill>
                <a:latin typeface="Calibri"/>
                <a:ea typeface="Calibri"/>
                <a:cs typeface="Calibri"/>
                <a:sym typeface="Calibri"/>
              </a:rPr>
              <a:t>Developers can scale from a single CPU to thousands of GPUs in minutes, with sub-second container startups and usage-based pricing</a:t>
            </a:r>
            <a:endParaRPr sz="12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200">
                <a:solidFill>
                  <a:schemeClr val="dk1"/>
                </a:solidFill>
                <a:latin typeface="Calibri"/>
                <a:ea typeface="Calibri"/>
                <a:cs typeface="Calibri"/>
                <a:sym typeface="Calibri"/>
              </a:rPr>
              <a:t>Its sandbox environments let developers safely run AI agents and coding tools without disrupting broader systems</a:t>
            </a:r>
            <a:endParaRPr sz="12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200">
                <a:solidFill>
                  <a:schemeClr val="dk1"/>
                </a:solidFill>
                <a:latin typeface="Calibri"/>
                <a:ea typeface="Calibri"/>
                <a:cs typeface="Calibri"/>
                <a:sym typeface="Calibri"/>
              </a:rPr>
              <a:t>Customers like Meta, Suno, Substack, and Scale AI rely on it daily</a:t>
            </a:r>
            <a:endParaRPr sz="12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200">
                <a:solidFill>
                  <a:schemeClr val="dk1"/>
                </a:solidFill>
                <a:latin typeface="Calibri"/>
                <a:ea typeface="Calibri"/>
                <a:cs typeface="Calibri"/>
                <a:sym typeface="Calibri"/>
              </a:rPr>
              <a:t>Revenue has grown x5 since fall 2025 to roughly $300 Mln ARR, driving investor excitement from firms like Accel and Redpoint Ventures at a projected $4.5 billion valuation</a:t>
            </a:r>
            <a:endParaRPr sz="12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1000" u="sng">
                <a:solidFill>
                  <a:schemeClr val="hlink"/>
                </a:solidFill>
                <a:latin typeface="Calibri"/>
                <a:ea typeface="Calibri"/>
                <a:cs typeface="Calibri"/>
                <a:sym typeface="Calibri"/>
                <a:hlinkClick r:id="rId3"/>
              </a:rPr>
              <a:t>https://www.builtinnyc.com/articles/modal-raises-87m-series-b-1b-valuation-20251001</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sp>
        <p:nvSpPr>
          <p:cNvPr id="233" name="Google Shape;233;p33"/>
          <p:cNvSpPr txBox="1"/>
          <p:nvPr/>
        </p:nvSpPr>
        <p:spPr>
          <a:xfrm>
            <a:off x="81775" y="67675"/>
            <a:ext cx="2527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34" name="Google Shape;234;p33"/>
          <p:cNvSpPr txBox="1"/>
          <p:nvPr/>
        </p:nvSpPr>
        <p:spPr>
          <a:xfrm>
            <a:off x="60250" y="3334050"/>
            <a:ext cx="4843800" cy="112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07950" algn="l" rtl="0">
              <a:lnSpc>
                <a:spcPct val="100000"/>
              </a:lnSpc>
              <a:spcBef>
                <a:spcPts val="0"/>
              </a:spcBef>
              <a:spcAft>
                <a:spcPts val="0"/>
              </a:spcAft>
              <a:buClr>
                <a:srgbClr val="FF0000"/>
              </a:buClr>
              <a:buSzPts val="800"/>
              <a:buFont typeface="Calibri"/>
              <a:buChar char="●"/>
            </a:pPr>
            <a:r>
              <a:rPr lang="en" sz="1200" b="1">
                <a:solidFill>
                  <a:srgbClr val="FF0000"/>
                </a:solidFill>
                <a:latin typeface="Calibri"/>
                <a:ea typeface="Calibri"/>
                <a:cs typeface="Calibri"/>
                <a:sym typeface="Calibri"/>
              </a:rPr>
              <a:t>Recursive Superintelligence</a:t>
            </a:r>
            <a:endParaRPr sz="1200" b="1">
              <a:solidFill>
                <a:srgbClr val="FF0000"/>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1200">
                <a:solidFill>
                  <a:schemeClr val="dk1"/>
                </a:solidFill>
                <a:latin typeface="Calibri"/>
                <a:ea typeface="Calibri"/>
                <a:cs typeface="Calibri"/>
                <a:sym typeface="Calibri"/>
              </a:rPr>
              <a:t>A six-month-old startup led by AI researcher </a:t>
            </a:r>
            <a:r>
              <a:rPr lang="en" sz="1200" b="1">
                <a:solidFill>
                  <a:srgbClr val="FF0000"/>
                </a:solidFill>
                <a:latin typeface="Calibri"/>
                <a:ea typeface="Calibri"/>
                <a:cs typeface="Calibri"/>
                <a:sym typeface="Calibri"/>
              </a:rPr>
              <a:t>Richard Socher</a:t>
            </a:r>
            <a:endParaRPr sz="1200" b="1">
              <a:solidFill>
                <a:srgbClr val="FF0000"/>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1200">
                <a:solidFill>
                  <a:schemeClr val="dk1"/>
                </a:solidFill>
                <a:latin typeface="Calibri"/>
                <a:ea typeface="Calibri"/>
                <a:cs typeface="Calibri"/>
                <a:sym typeface="Calibri"/>
              </a:rPr>
              <a:t>Raised $650 million at a $4 billion valuation</a:t>
            </a:r>
            <a:endParaRPr sz="12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1200">
                <a:solidFill>
                  <a:schemeClr val="dk1"/>
                </a:solidFill>
                <a:latin typeface="Calibri"/>
                <a:ea typeface="Calibri"/>
                <a:cs typeface="Calibri"/>
                <a:sym typeface="Calibri"/>
              </a:rPr>
              <a:t>Founded by veterans from OpenAI, Meta, Google, and Salesforce, the company is chasing "recursive self-improvement" - AI systems that can build and improve new AI with minimal human involvement</a:t>
            </a:r>
            <a:endParaRPr sz="1200">
              <a:solidFill>
                <a:schemeClr val="dk1"/>
              </a:solidFill>
              <a:latin typeface="Calibri"/>
              <a:ea typeface="Calibri"/>
              <a:cs typeface="Calibri"/>
              <a:sym typeface="Calibri"/>
            </a:endParaRPr>
          </a:p>
        </p:txBody>
      </p:sp>
      <p:pic>
        <p:nvPicPr>
          <p:cNvPr id="235" name="Google Shape;235;p33"/>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056450" y="3189350"/>
            <a:ext cx="1608950" cy="1885000"/>
          </a:xfrm>
          <a:prstGeom prst="rect">
            <a:avLst/>
          </a:prstGeom>
          <a:noFill/>
          <a:ln w="9525" cap="flat" cmpd="sng">
            <a:solidFill>
              <a:srgbClr val="FF0000"/>
            </a:solidFill>
            <a:prstDash val="solid"/>
            <a:round/>
            <a:headEnd type="none" w="sm" len="sm"/>
            <a:tailEnd type="none" w="sm" len="sm"/>
          </a:ln>
        </p:spPr>
      </p:pic>
      <p:pic>
        <p:nvPicPr>
          <p:cNvPr id="236" name="Google Shape;236;p33"/>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056450" y="304800"/>
            <a:ext cx="2545729" cy="28845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4"/>
          <p:cNvSpPr txBox="1"/>
          <p:nvPr/>
        </p:nvSpPr>
        <p:spPr>
          <a:xfrm>
            <a:off x="60250" y="431150"/>
            <a:ext cx="4450500" cy="223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07950" algn="l" rtl="0">
              <a:lnSpc>
                <a:spcPct val="100000"/>
              </a:lnSpc>
              <a:spcBef>
                <a:spcPts val="0"/>
              </a:spcBef>
              <a:spcAft>
                <a:spcPts val="0"/>
              </a:spcAft>
              <a:buClr>
                <a:srgbClr val="FF0000"/>
              </a:buClr>
              <a:buSzPts val="800"/>
              <a:buFont typeface="Calibri"/>
              <a:buChar char="●"/>
            </a:pPr>
            <a:r>
              <a:rPr lang="en" sz="1200" b="1">
                <a:solidFill>
                  <a:srgbClr val="FF0000"/>
                </a:solidFill>
                <a:latin typeface="Calibri"/>
                <a:ea typeface="Calibri"/>
                <a:cs typeface="Calibri"/>
                <a:sym typeface="Calibri"/>
              </a:rPr>
              <a:t>Julia McCoy - How to Start a Business</a:t>
            </a:r>
            <a:endParaRPr sz="1200" b="1">
              <a:solidFill>
                <a:srgbClr val="FF0000"/>
              </a:solidFill>
              <a:latin typeface="Calibri"/>
              <a:ea typeface="Calibri"/>
              <a:cs typeface="Calibri"/>
              <a:sym typeface="Calibri"/>
            </a:endParaRPr>
          </a:p>
          <a:p>
            <a:pPr marL="285750" marR="0" lvl="0" indent="-107950" algn="l" rtl="0">
              <a:lnSpc>
                <a:spcPct val="100000"/>
              </a:lnSpc>
              <a:spcBef>
                <a:spcPts val="0"/>
              </a:spcBef>
              <a:spcAft>
                <a:spcPts val="0"/>
              </a:spcAft>
              <a:buClr>
                <a:schemeClr val="dk1"/>
              </a:buClr>
              <a:buSzPts val="800"/>
              <a:buFont typeface="Calibri"/>
              <a:buChar char="●"/>
            </a:pPr>
            <a:r>
              <a:rPr lang="en" sz="1200">
                <a:solidFill>
                  <a:schemeClr val="dk1"/>
                </a:solidFill>
                <a:latin typeface="Calibri"/>
                <a:ea typeface="Calibri"/>
                <a:cs typeface="Calibri"/>
                <a:sym typeface="Calibri"/>
              </a:rPr>
              <a:t>First, pick a niche where your personal experience and trustworthiness serve as the ultimate competitive moat</a:t>
            </a:r>
            <a:endParaRPr sz="1200">
              <a:solidFill>
                <a:schemeClr val="dk1"/>
              </a:solidFill>
              <a:latin typeface="Calibri"/>
              <a:ea typeface="Calibri"/>
              <a:cs typeface="Calibri"/>
              <a:sym typeface="Calibri"/>
            </a:endParaRPr>
          </a:p>
          <a:p>
            <a:pPr marL="285750" marR="0" lvl="0" indent="-107950" algn="l" rtl="0">
              <a:lnSpc>
                <a:spcPct val="100000"/>
              </a:lnSpc>
              <a:spcBef>
                <a:spcPts val="0"/>
              </a:spcBef>
              <a:spcAft>
                <a:spcPts val="0"/>
              </a:spcAft>
              <a:buClr>
                <a:schemeClr val="dk1"/>
              </a:buClr>
              <a:buSzPts val="800"/>
              <a:buFont typeface="Calibri"/>
              <a:buChar char="●"/>
            </a:pPr>
            <a:r>
              <a:rPr lang="en" sz="1200">
                <a:solidFill>
                  <a:schemeClr val="dk1"/>
                </a:solidFill>
                <a:latin typeface="Calibri"/>
                <a:ea typeface="Calibri"/>
                <a:cs typeface="Calibri"/>
                <a:sym typeface="Calibri"/>
              </a:rPr>
              <a:t>Second, design a single, high-leverage offer that solves a critical problem costing at least $10,000</a:t>
            </a:r>
            <a:endParaRPr sz="1200">
              <a:solidFill>
                <a:schemeClr val="dk1"/>
              </a:solidFill>
              <a:latin typeface="Calibri"/>
              <a:ea typeface="Calibri"/>
              <a:cs typeface="Calibri"/>
              <a:sym typeface="Calibri"/>
            </a:endParaRPr>
          </a:p>
          <a:p>
            <a:pPr marL="285750" marR="0" lvl="0" indent="-107950" algn="l" rtl="0">
              <a:lnSpc>
                <a:spcPct val="100000"/>
              </a:lnSpc>
              <a:spcBef>
                <a:spcPts val="0"/>
              </a:spcBef>
              <a:spcAft>
                <a:spcPts val="0"/>
              </a:spcAft>
              <a:buClr>
                <a:schemeClr val="dk1"/>
              </a:buClr>
              <a:buSzPts val="800"/>
              <a:buFont typeface="Calibri"/>
              <a:buChar char="●"/>
            </a:pPr>
            <a:r>
              <a:rPr lang="en" sz="1200">
                <a:solidFill>
                  <a:schemeClr val="dk1"/>
                </a:solidFill>
                <a:latin typeface="Calibri"/>
                <a:ea typeface="Calibri"/>
                <a:cs typeface="Calibri"/>
                <a:sym typeface="Calibri"/>
              </a:rPr>
              <a:t>Third, focus exclusively on mastering one high-leverage platform - ideally YouTube - for 12 months</a:t>
            </a:r>
            <a:endParaRPr sz="1200">
              <a:solidFill>
                <a:schemeClr val="dk1"/>
              </a:solidFill>
              <a:latin typeface="Calibri"/>
              <a:ea typeface="Calibri"/>
              <a:cs typeface="Calibri"/>
              <a:sym typeface="Calibri"/>
            </a:endParaRPr>
          </a:p>
          <a:p>
            <a:pPr marL="285750" marR="0" lvl="0" indent="-107950" algn="l" rtl="0">
              <a:lnSpc>
                <a:spcPct val="100000"/>
              </a:lnSpc>
              <a:spcBef>
                <a:spcPts val="0"/>
              </a:spcBef>
              <a:spcAft>
                <a:spcPts val="0"/>
              </a:spcAft>
              <a:buClr>
                <a:schemeClr val="dk1"/>
              </a:buClr>
              <a:buSzPts val="800"/>
              <a:buFont typeface="Calibri"/>
              <a:buChar char="●"/>
            </a:pPr>
            <a:r>
              <a:rPr lang="en" sz="1200">
                <a:solidFill>
                  <a:schemeClr val="dk1"/>
                </a:solidFill>
                <a:latin typeface="Calibri"/>
                <a:ea typeface="Calibri"/>
                <a:cs typeface="Calibri"/>
                <a:sym typeface="Calibri"/>
              </a:rPr>
              <a:t>Fourth, establish backend operations and tech systems using tools like Make and GoHighLevel before scaling an audience</a:t>
            </a:r>
            <a:endParaRPr sz="1200">
              <a:solidFill>
                <a:schemeClr val="dk1"/>
              </a:solidFill>
              <a:latin typeface="Calibri"/>
              <a:ea typeface="Calibri"/>
              <a:cs typeface="Calibri"/>
              <a:sym typeface="Calibri"/>
            </a:endParaRPr>
          </a:p>
          <a:p>
            <a:pPr marL="285750" marR="0" lvl="0" indent="-107950" algn="l" rtl="0">
              <a:lnSpc>
                <a:spcPct val="100000"/>
              </a:lnSpc>
              <a:spcBef>
                <a:spcPts val="0"/>
              </a:spcBef>
              <a:spcAft>
                <a:spcPts val="0"/>
              </a:spcAft>
              <a:buClr>
                <a:schemeClr val="dk1"/>
              </a:buClr>
              <a:buSzPts val="800"/>
              <a:buFont typeface="Calibri"/>
              <a:buChar char="●"/>
            </a:pPr>
            <a:r>
              <a:rPr lang="en" sz="1200">
                <a:solidFill>
                  <a:schemeClr val="dk1"/>
                </a:solidFill>
                <a:latin typeface="Calibri"/>
                <a:ea typeface="Calibri"/>
                <a:cs typeface="Calibri"/>
                <a:sym typeface="Calibri"/>
              </a:rPr>
              <a:t>Finally, create an AI clone of yourself using tools like HeyGen and ElevenLabs </a:t>
            </a:r>
            <a:endParaRPr sz="12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1200" u="sng">
                <a:solidFill>
                  <a:schemeClr val="hlink"/>
                </a:solidFill>
                <a:latin typeface="Calibri"/>
                <a:ea typeface="Calibri"/>
                <a:cs typeface="Calibri"/>
                <a:sym typeface="Calibri"/>
                <a:hlinkClick r:id="rId3"/>
              </a:rPr>
              <a:t>https://www.youtube.com/watch?v=w1EoIfl2ink</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242" name="Google Shape;242;p34"/>
          <p:cNvSpPr txBox="1"/>
          <p:nvPr/>
        </p:nvSpPr>
        <p:spPr>
          <a:xfrm>
            <a:off x="81775" y="67675"/>
            <a:ext cx="2527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pic>
        <p:nvPicPr>
          <p:cNvPr id="243" name="Google Shape;243;p34"/>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712828" y="704852"/>
            <a:ext cx="1595475" cy="1533525"/>
          </a:xfrm>
          <a:prstGeom prst="rect">
            <a:avLst/>
          </a:prstGeom>
          <a:noFill/>
          <a:ln w="9525" cap="flat" cmpd="sng">
            <a:solidFill>
              <a:srgbClr val="FF0000"/>
            </a:solidFill>
            <a:prstDash val="solid"/>
            <a:round/>
            <a:headEnd type="none" w="sm" len="sm"/>
            <a:tailEnd type="none" w="sm" len="sm"/>
          </a:ln>
        </p:spPr>
      </p:pic>
      <p:sp>
        <p:nvSpPr>
          <p:cNvPr id="244" name="Google Shape;244;p34"/>
          <p:cNvSpPr txBox="1"/>
          <p:nvPr/>
        </p:nvSpPr>
        <p:spPr>
          <a:xfrm>
            <a:off x="60250" y="2699761"/>
            <a:ext cx="4450500" cy="1773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07950" algn="l" rtl="0">
              <a:lnSpc>
                <a:spcPct val="100000"/>
              </a:lnSpc>
              <a:spcBef>
                <a:spcPts val="0"/>
              </a:spcBef>
              <a:spcAft>
                <a:spcPts val="0"/>
              </a:spcAft>
              <a:buClr>
                <a:srgbClr val="FF0000"/>
              </a:buClr>
              <a:buSzPts val="800"/>
              <a:buFont typeface="Calibri"/>
              <a:buChar char="●"/>
            </a:pPr>
            <a:r>
              <a:rPr lang="en" sz="1200" b="1">
                <a:solidFill>
                  <a:srgbClr val="FF0000"/>
                </a:solidFill>
                <a:latin typeface="Calibri"/>
                <a:ea typeface="Calibri"/>
                <a:cs typeface="Calibri"/>
                <a:sym typeface="Calibri"/>
              </a:rPr>
              <a:t>A Thin Prompt on a Frontier Model Is Not a Business</a:t>
            </a:r>
            <a:endParaRPr sz="1200" b="1">
              <a:solidFill>
                <a:srgbClr val="FF0000"/>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1200">
                <a:solidFill>
                  <a:schemeClr val="dk1"/>
                </a:solidFill>
                <a:latin typeface="Calibri"/>
                <a:ea typeface="Calibri"/>
                <a:cs typeface="Calibri"/>
                <a:sym typeface="Calibri"/>
              </a:rPr>
              <a:t>It is a configuration file your competitor will reproduce in an afternoon and the platform will ship as a default next quarter</a:t>
            </a:r>
            <a:endParaRPr sz="12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1200">
                <a:solidFill>
                  <a:schemeClr val="dk1"/>
                </a:solidFill>
                <a:latin typeface="Calibri"/>
                <a:ea typeface="Calibri"/>
                <a:cs typeface="Calibri"/>
                <a:sym typeface="Calibri"/>
              </a:rPr>
              <a:t>For three years, founders confused "I figured out how to ask the model nicely" with "I built defensible IP"</a:t>
            </a:r>
            <a:endParaRPr sz="12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1200">
                <a:solidFill>
                  <a:schemeClr val="dk1"/>
                </a:solidFill>
                <a:latin typeface="Calibri"/>
                <a:ea typeface="Calibri"/>
                <a:cs typeface="Calibri"/>
                <a:sym typeface="Calibri"/>
              </a:rPr>
              <a:t>Anthropic’s Claude Managed Agents and Microsoft’s Copilot Cowork just absorbed the harness, the memory, the orchestration, and the enterprise distribution in a single quarter</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5"/>
              </a:rPr>
              <a:t>https://medium.com/@adnanmasood/the-six-month-half-life-why-a-thin-prompt-on-someone-elses-frontier-model-is-not-a-business-5cc0b3f2843a</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pic>
        <p:nvPicPr>
          <p:cNvPr id="245" name="Google Shape;245;p34"/>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712825" y="3121836"/>
            <a:ext cx="3377350" cy="667300"/>
          </a:xfrm>
          <a:prstGeom prst="rect">
            <a:avLst/>
          </a:prstGeom>
          <a:noFill/>
          <a:ln w="9525" cap="flat" cmpd="sng">
            <a:solidFill>
              <a:srgbClr val="FF0000"/>
            </a:solidFill>
            <a:prstDash val="solid"/>
            <a:round/>
            <a:headEnd type="none" w="sm" len="sm"/>
            <a:tailEnd type="none" w="sm" len="sm"/>
          </a:ln>
        </p:spPr>
      </p:pic>
      <p:sp>
        <p:nvSpPr>
          <p:cNvPr id="246" name="Google Shape;246;p34"/>
          <p:cNvSpPr txBox="1"/>
          <p:nvPr/>
        </p:nvSpPr>
        <p:spPr>
          <a:xfrm>
            <a:off x="60250" y="4592436"/>
            <a:ext cx="44505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PM Claude Skills — 114 Skills for Every Profession</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7"/>
              </a:rPr>
              <a:t>https://github.com/mohitagw15856/pm-claude-skills</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35"/>
          <p:cNvSpPr txBox="1"/>
          <p:nvPr/>
        </p:nvSpPr>
        <p:spPr>
          <a:xfrm>
            <a:off x="81775" y="67675"/>
            <a:ext cx="2527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52" name="Google Shape;252;p35"/>
          <p:cNvSpPr txBox="1"/>
          <p:nvPr/>
        </p:nvSpPr>
        <p:spPr>
          <a:xfrm>
            <a:off x="135925" y="539425"/>
            <a:ext cx="4371300" cy="4266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Why Complexity Kills Faster Than Competition</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https://www.youtube.com/watch?v=ZxVzyIk0Y-w</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Complexity slows decision making, adds endless meetings, signatures, and documentation, causing teams to lose their execution speed advantage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Complexity adds structural layers, causing breakdown in communication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Excessive process buries / suffocates creativity because the system implicitly punishes initiative and experimentation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Complex systems require extra costs (internal friction)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Blurred Accountability (no accountability), shifting blame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Declining employee motivation (feeling small and powerless)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Weakened adaptability because of internal policies and layers of approvals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Fragmented Focus - pursuing too many initiatives simultaneously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Damaged Customer Experience because of disjointed external support, delayed responses, and inconsistent information for the customer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Solution - Protecting Simplicity by continuously auditing and trimming processes. Maintaining strict internal clarity and refactoring systems to keep them lean is ultimately a stronger long-term advantage than focusing purely on defeating market rivals</a:t>
            </a:r>
            <a:endParaRPr sz="1200">
              <a:solidFill>
                <a:schemeClr val="dk1"/>
              </a:solidFill>
              <a:latin typeface="Calibri"/>
              <a:ea typeface="Calibri"/>
              <a:cs typeface="Calibri"/>
              <a:sym typeface="Calibri"/>
            </a:endParaRPr>
          </a:p>
        </p:txBody>
      </p:sp>
      <p:pic>
        <p:nvPicPr>
          <p:cNvPr id="253" name="Google Shape;253;p35"/>
          <p:cNvPicPr preferRelativeResize="0"/>
          <p:nvPr/>
        </p:nvPicPr>
        <p:blipFill>
          <a:blip r:embed="rId4">
            <a:alphaModFix/>
          </a:blip>
          <a:stretch>
            <a:fillRect/>
          </a:stretch>
        </p:blipFill>
        <p:spPr>
          <a:xfrm>
            <a:off x="4659625" y="757500"/>
            <a:ext cx="2857500" cy="16002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36"/>
          <p:cNvSpPr txBox="1"/>
          <p:nvPr/>
        </p:nvSpPr>
        <p:spPr>
          <a:xfrm>
            <a:off x="60250" y="431150"/>
            <a:ext cx="4450500" cy="223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07950" algn="l" rtl="0">
              <a:lnSpc>
                <a:spcPct val="100000"/>
              </a:lnSpc>
              <a:spcBef>
                <a:spcPts val="0"/>
              </a:spcBef>
              <a:spcAft>
                <a:spcPts val="0"/>
              </a:spcAft>
              <a:buClr>
                <a:srgbClr val="FF0000"/>
              </a:buClr>
              <a:buSzPts val="800"/>
              <a:buFont typeface="Calibri"/>
              <a:buChar char="●"/>
            </a:pPr>
            <a:r>
              <a:rPr lang="en" sz="1200" b="1">
                <a:solidFill>
                  <a:srgbClr val="FF0000"/>
                </a:solidFill>
                <a:latin typeface="Calibri"/>
                <a:ea typeface="Calibri"/>
                <a:cs typeface="Calibri"/>
                <a:sym typeface="Calibri"/>
              </a:rPr>
              <a:t>AI Avatar in YouTube videos</a:t>
            </a:r>
            <a:endParaRPr sz="1200" b="1">
              <a:solidFill>
                <a:srgbClr val="FF0000"/>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1200">
                <a:solidFill>
                  <a:schemeClr val="dk1"/>
                </a:solidFill>
                <a:latin typeface="Calibri"/>
                <a:ea typeface="Calibri"/>
                <a:cs typeface="Calibri"/>
                <a:sym typeface="Calibri"/>
              </a:rPr>
              <a:t>Julia McCoy describes how she creates AI avatar and generates $200K monthly with 2 Mln organic views. She uses</a:t>
            </a:r>
            <a:endParaRPr sz="1200">
              <a:solidFill>
                <a:schemeClr val="dk1"/>
              </a:solidFill>
              <a:latin typeface="Calibri"/>
              <a:ea typeface="Calibri"/>
              <a:cs typeface="Calibri"/>
              <a:sym typeface="Calibri"/>
            </a:endParaRPr>
          </a:p>
          <a:p>
            <a:pPr marL="457200" marR="0" lvl="0" indent="-107950" algn="l" rtl="0">
              <a:lnSpc>
                <a:spcPct val="100000"/>
              </a:lnSpc>
              <a:spcBef>
                <a:spcPts val="0"/>
              </a:spcBef>
              <a:spcAft>
                <a:spcPts val="0"/>
              </a:spcAft>
              <a:buClr>
                <a:schemeClr val="dk1"/>
              </a:buClr>
              <a:buSzPts val="800"/>
              <a:buFont typeface="Calibri"/>
              <a:buChar char="●"/>
            </a:pPr>
            <a:r>
              <a:rPr lang="en" sz="1200">
                <a:solidFill>
                  <a:schemeClr val="dk1"/>
                </a:solidFill>
                <a:latin typeface="Calibri"/>
                <a:ea typeface="Calibri"/>
                <a:cs typeface="Calibri"/>
                <a:sym typeface="Calibri"/>
              </a:rPr>
              <a:t>a custom Claude "brain" trained on her writing</a:t>
            </a:r>
            <a:endParaRPr sz="1200">
              <a:solidFill>
                <a:schemeClr val="dk1"/>
              </a:solidFill>
              <a:latin typeface="Calibri"/>
              <a:ea typeface="Calibri"/>
              <a:cs typeface="Calibri"/>
              <a:sym typeface="Calibri"/>
            </a:endParaRPr>
          </a:p>
          <a:p>
            <a:pPr marL="457200" marR="0" lvl="0" indent="-107950" algn="l" rtl="0">
              <a:lnSpc>
                <a:spcPct val="100000"/>
              </a:lnSpc>
              <a:spcBef>
                <a:spcPts val="0"/>
              </a:spcBef>
              <a:spcAft>
                <a:spcPts val="0"/>
              </a:spcAft>
              <a:buClr>
                <a:schemeClr val="dk1"/>
              </a:buClr>
              <a:buSzPts val="800"/>
              <a:buFont typeface="Calibri"/>
              <a:buChar char="●"/>
            </a:pPr>
            <a:r>
              <a:rPr lang="en" sz="1200">
                <a:solidFill>
                  <a:schemeClr val="dk1"/>
                </a:solidFill>
                <a:latin typeface="Calibri"/>
                <a:ea typeface="Calibri"/>
                <a:cs typeface="Calibri"/>
                <a:sym typeface="Calibri"/>
              </a:rPr>
              <a:t>an 11 Labs professional voice clone</a:t>
            </a:r>
            <a:endParaRPr sz="1200">
              <a:solidFill>
                <a:schemeClr val="dk1"/>
              </a:solidFill>
              <a:latin typeface="Calibri"/>
              <a:ea typeface="Calibri"/>
              <a:cs typeface="Calibri"/>
              <a:sym typeface="Calibri"/>
            </a:endParaRPr>
          </a:p>
          <a:p>
            <a:pPr marL="457200" marR="0" lvl="0" indent="-107950" algn="l" rtl="0">
              <a:lnSpc>
                <a:spcPct val="100000"/>
              </a:lnSpc>
              <a:spcBef>
                <a:spcPts val="0"/>
              </a:spcBef>
              <a:spcAft>
                <a:spcPts val="0"/>
              </a:spcAft>
              <a:buClr>
                <a:schemeClr val="dk1"/>
              </a:buClr>
              <a:buSzPts val="800"/>
              <a:buFont typeface="Calibri"/>
              <a:buChar char="●"/>
            </a:pPr>
            <a:r>
              <a:rPr lang="en" sz="1200">
                <a:solidFill>
                  <a:schemeClr val="dk1"/>
                </a:solidFill>
                <a:latin typeface="Calibri"/>
                <a:ea typeface="Calibri"/>
                <a:cs typeface="Calibri"/>
                <a:sym typeface="Calibri"/>
              </a:rPr>
              <a:t>high quality photo and video of her using green screen</a:t>
            </a:r>
            <a:endParaRPr sz="1200">
              <a:solidFill>
                <a:schemeClr val="dk1"/>
              </a:solidFill>
              <a:latin typeface="Calibri"/>
              <a:ea typeface="Calibri"/>
              <a:cs typeface="Calibri"/>
              <a:sym typeface="Calibri"/>
            </a:endParaRPr>
          </a:p>
          <a:p>
            <a:pPr marL="457200" marR="0" lvl="0" indent="-107950" algn="l" rtl="0">
              <a:lnSpc>
                <a:spcPct val="100000"/>
              </a:lnSpc>
              <a:spcBef>
                <a:spcPts val="0"/>
              </a:spcBef>
              <a:spcAft>
                <a:spcPts val="0"/>
              </a:spcAft>
              <a:buClr>
                <a:schemeClr val="dk1"/>
              </a:buClr>
              <a:buSzPts val="800"/>
              <a:buFont typeface="Calibri"/>
              <a:buChar char="●"/>
            </a:pPr>
            <a:r>
              <a:rPr lang="en" sz="1200">
                <a:solidFill>
                  <a:schemeClr val="dk1"/>
                </a:solidFill>
                <a:latin typeface="Calibri"/>
                <a:ea typeface="Calibri"/>
                <a:cs typeface="Calibri"/>
                <a:sym typeface="Calibri"/>
              </a:rPr>
              <a:t>a HeyGen avatar used to generate videos</a:t>
            </a:r>
            <a:endParaRPr sz="12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1200">
                <a:solidFill>
                  <a:schemeClr val="dk1"/>
                </a:solidFill>
                <a:latin typeface="Calibri"/>
                <a:ea typeface="Calibri"/>
                <a:cs typeface="Calibri"/>
                <a:sym typeface="Calibri"/>
              </a:rPr>
              <a:t>Humans lead topics' research and final editing</a:t>
            </a:r>
            <a:endParaRPr sz="12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1200">
                <a:solidFill>
                  <a:schemeClr val="dk1"/>
                </a:solidFill>
                <a:latin typeface="Calibri"/>
                <a:ea typeface="Calibri"/>
                <a:cs typeface="Calibri"/>
                <a:sym typeface="Calibri"/>
              </a:rPr>
              <a:t>AI handles scripting and generating videos</a:t>
            </a:r>
            <a:endParaRPr sz="12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1200">
                <a:solidFill>
                  <a:schemeClr val="dk1"/>
                </a:solidFill>
                <a:latin typeface="Calibri"/>
                <a:ea typeface="Calibri"/>
                <a:cs typeface="Calibri"/>
                <a:sym typeface="Calibri"/>
              </a:rPr>
              <a:t>Her team publishes 3-5 videos weekly</a:t>
            </a:r>
            <a:endParaRPr sz="12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1200">
                <a:solidFill>
                  <a:schemeClr val="dk1"/>
                </a:solidFill>
                <a:latin typeface="Calibri"/>
                <a:ea typeface="Calibri"/>
                <a:cs typeface="Calibri"/>
                <a:sym typeface="Calibri"/>
              </a:rPr>
              <a:t>She is pitching her "Clone Me" mastermind</a:t>
            </a:r>
            <a:endParaRPr sz="12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1200" u="sng">
                <a:solidFill>
                  <a:schemeClr val="hlink"/>
                </a:solidFill>
                <a:latin typeface="Calibri"/>
                <a:ea typeface="Calibri"/>
                <a:cs typeface="Calibri"/>
                <a:sym typeface="Calibri"/>
                <a:hlinkClick r:id="rId3"/>
              </a:rPr>
              <a:t>https://www.youtube.com/watch?v=FgVMxsIh8f4</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259" name="Google Shape;259;p36"/>
          <p:cNvSpPr txBox="1"/>
          <p:nvPr/>
        </p:nvSpPr>
        <p:spPr>
          <a:xfrm>
            <a:off x="81775" y="67675"/>
            <a:ext cx="2527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60" name="Google Shape;260;p36"/>
          <p:cNvSpPr txBox="1"/>
          <p:nvPr/>
        </p:nvSpPr>
        <p:spPr>
          <a:xfrm>
            <a:off x="60250" y="2734225"/>
            <a:ext cx="44505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Rebuild AlphaGo from scratch on a modest budget</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Due to improvements in GPU compute and AI coding assistants, what once required a well-funded team can now be replicated efficiently on a modest budget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Monte Carlo Tree Search (MCTS) operates recursively to prune the breadth and depth of Go’s combinatorially explosive game tree using paired policy and value neural networks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conversation explores similarities and contrasts between multi-step reinforcement learning in games like Go versus policy gradient methods used in Large Language Models (LLMs)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https://www.youtube.com/watch?v=X_ZVSPcZhtw</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261" name="Google Shape;261;p36"/>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712825" y="3086105"/>
            <a:ext cx="2226601" cy="1241100"/>
          </a:xfrm>
          <a:prstGeom prst="rect">
            <a:avLst/>
          </a:prstGeom>
          <a:noFill/>
          <a:ln>
            <a:noFill/>
          </a:ln>
        </p:spPr>
      </p:pic>
      <p:pic>
        <p:nvPicPr>
          <p:cNvPr id="262" name="Google Shape;262;p36"/>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712828" y="704852"/>
            <a:ext cx="1595475" cy="153352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37"/>
          <p:cNvSpPr txBox="1"/>
          <p:nvPr/>
        </p:nvSpPr>
        <p:spPr>
          <a:xfrm>
            <a:off x="67350" y="52750"/>
            <a:ext cx="3179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i="0" u="none" strike="noStrike" cap="none">
                <a:solidFill>
                  <a:schemeClr val="dk1"/>
                </a:solidFill>
                <a:latin typeface="Calibri"/>
                <a:ea typeface="Calibri"/>
                <a:cs typeface="Calibri"/>
                <a:sym typeface="Calibri"/>
              </a:rPr>
              <a:t>Jobs</a:t>
            </a:r>
            <a:endParaRPr sz="2000" b="1" i="0" u="none" strike="noStrike" cap="none">
              <a:solidFill>
                <a:schemeClr val="dk1"/>
              </a:solidFill>
              <a:latin typeface="Calibri"/>
              <a:ea typeface="Calibri"/>
              <a:cs typeface="Calibri"/>
              <a:sym typeface="Calibri"/>
            </a:endParaRPr>
          </a:p>
        </p:txBody>
      </p:sp>
      <p:sp>
        <p:nvSpPr>
          <p:cNvPr id="268" name="Google Shape;268;p37"/>
          <p:cNvSpPr txBox="1"/>
          <p:nvPr/>
        </p:nvSpPr>
        <p:spPr>
          <a:xfrm>
            <a:off x="2134467" y="34252"/>
            <a:ext cx="18006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0" i="0" u="sng" strike="noStrike" cap="none">
                <a:solidFill>
                  <a:schemeClr val="hlink"/>
                </a:solidFill>
                <a:latin typeface="Calibri"/>
                <a:ea typeface="Calibri"/>
                <a:cs typeface="Calibri"/>
                <a:sym typeface="Calibri"/>
                <a:hlinkClick r:id="rId3"/>
              </a:rPr>
              <a:t>https://layoffs.fyi</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https://trueup.io/layoffs</a:t>
            </a:r>
            <a:r>
              <a:rPr lang="en" sz="1200">
                <a:latin typeface="Calibri"/>
                <a:ea typeface="Calibri"/>
                <a:cs typeface="Calibri"/>
                <a:sym typeface="Calibri"/>
              </a:rPr>
              <a:t> </a:t>
            </a:r>
            <a:r>
              <a:rPr lang="en" sz="1200" b="0" i="0" u="none" strike="noStrike" cap="none">
                <a:solidFill>
                  <a:srgbClr val="000000"/>
                </a:solidFill>
                <a:latin typeface="Calibri"/>
                <a:ea typeface="Calibri"/>
                <a:cs typeface="Calibri"/>
                <a:sym typeface="Calibri"/>
              </a:rPr>
              <a:t> </a:t>
            </a:r>
            <a:endParaRPr sz="1200" b="0" i="0" u="none" strike="noStrike" cap="none">
              <a:solidFill>
                <a:srgbClr val="000000"/>
              </a:solidFill>
              <a:latin typeface="Calibri"/>
              <a:ea typeface="Calibri"/>
              <a:cs typeface="Calibri"/>
              <a:sym typeface="Calibri"/>
            </a:endParaRPr>
          </a:p>
        </p:txBody>
      </p:sp>
      <p:sp>
        <p:nvSpPr>
          <p:cNvPr id="269" name="Google Shape;269;p37"/>
          <p:cNvSpPr txBox="1"/>
          <p:nvPr/>
        </p:nvSpPr>
        <p:spPr>
          <a:xfrm>
            <a:off x="5367150" y="3435238"/>
            <a:ext cx="33606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200" b="1">
                <a:solidFill>
                  <a:srgbClr val="FF0000"/>
                </a:solidFill>
                <a:latin typeface="Calibri"/>
                <a:ea typeface="Calibri"/>
                <a:cs typeface="Calibri"/>
                <a:sym typeface="Calibri"/>
              </a:rPr>
              <a:t>  Tech Layoffs by year (US only):</a:t>
            </a:r>
            <a:endParaRPr sz="1200" b="1">
              <a:solidFill>
                <a:srgbClr val="FF0000"/>
              </a:solidFill>
              <a:latin typeface="Calibri"/>
              <a:ea typeface="Calibri"/>
              <a:cs typeface="Calibri"/>
              <a:sym typeface="Calibri"/>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101.6K  in 2026 </a:t>
            </a:r>
            <a:r>
              <a:rPr lang="en" sz="1000" b="1">
                <a:solidFill>
                  <a:schemeClr val="dk1"/>
                </a:solidFill>
                <a:latin typeface="Roboto Mono"/>
                <a:ea typeface="Roboto Mono"/>
                <a:cs typeface="Roboto Mono"/>
                <a:sym typeface="Roboto Mono"/>
              </a:rPr>
              <a:t>(as of May 8, 2026)</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124K in 2025 </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153K in </a:t>
            </a:r>
            <a:r>
              <a:rPr lang="en" sz="1000" b="1">
                <a:solidFill>
                  <a:srgbClr val="000000"/>
                </a:solidFill>
                <a:latin typeface="Roboto Mono"/>
                <a:ea typeface="Roboto Mono"/>
                <a:cs typeface="Roboto Mono"/>
                <a:sym typeface="Roboto Mono"/>
              </a:rPr>
              <a:t>2024</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264K in 2023</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165K in 2022                  </a:t>
            </a:r>
            <a:r>
              <a:rPr lang="en" sz="1200" i="0" u="sng" strike="noStrike" cap="none">
                <a:solidFill>
                  <a:srgbClr val="0097A7"/>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https://layoffs.fyi</a:t>
            </a:r>
            <a:endParaRPr sz="1200" i="0" u="none" strike="noStrike" cap="none">
              <a:solidFill>
                <a:srgbClr val="000000"/>
              </a:solidFill>
              <a:latin typeface="Calibri"/>
              <a:ea typeface="Calibri"/>
              <a:cs typeface="Calibri"/>
              <a:sym typeface="Calibri"/>
            </a:endParaRPr>
          </a:p>
        </p:txBody>
      </p:sp>
      <p:sp>
        <p:nvSpPr>
          <p:cNvPr id="270" name="Google Shape;270;p37"/>
          <p:cNvSpPr txBox="1"/>
          <p:nvPr/>
        </p:nvSpPr>
        <p:spPr>
          <a:xfrm>
            <a:off x="5422950" y="531250"/>
            <a:ext cx="35589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200" b="1">
                <a:solidFill>
                  <a:srgbClr val="FF0000"/>
                </a:solidFill>
                <a:latin typeface="Calibri"/>
                <a:ea typeface="Calibri"/>
                <a:cs typeface="Calibri"/>
                <a:sym typeface="Calibri"/>
              </a:rPr>
              <a:t>  The Tech Layoff Tracker</a:t>
            </a:r>
            <a:endParaRPr sz="1200" b="1">
              <a:solidFill>
                <a:srgbClr val="FF0000"/>
              </a:solidFill>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2026: </a:t>
            </a:r>
            <a:r>
              <a:rPr lang="en" sz="1200" b="1">
                <a:latin typeface="Calibri"/>
                <a:ea typeface="Calibri"/>
                <a:cs typeface="Calibri"/>
                <a:sym typeface="Calibri"/>
              </a:rPr>
              <a:t>128,270</a:t>
            </a:r>
            <a:r>
              <a:rPr lang="en" sz="1200">
                <a:latin typeface="Calibri"/>
                <a:ea typeface="Calibri"/>
                <a:cs typeface="Calibri"/>
                <a:sym typeface="Calibri"/>
              </a:rPr>
              <a:t> people laid off (1,002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2025: </a:t>
            </a:r>
            <a:r>
              <a:rPr lang="en" sz="1200" b="1">
                <a:latin typeface="Calibri"/>
                <a:ea typeface="Calibri"/>
                <a:cs typeface="Calibri"/>
                <a:sym typeface="Calibri"/>
              </a:rPr>
              <a:t>245,953</a:t>
            </a:r>
            <a:r>
              <a:rPr lang="en" sz="1200">
                <a:latin typeface="Calibri"/>
                <a:ea typeface="Calibri"/>
                <a:cs typeface="Calibri"/>
                <a:sym typeface="Calibri"/>
              </a:rPr>
              <a:t> people laid off (674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2024: </a:t>
            </a:r>
            <a:r>
              <a:rPr lang="en" sz="1200" b="1">
                <a:latin typeface="Calibri"/>
                <a:ea typeface="Calibri"/>
                <a:cs typeface="Calibri"/>
                <a:sym typeface="Calibri"/>
              </a:rPr>
              <a:t>238,461</a:t>
            </a:r>
            <a:r>
              <a:rPr lang="en" sz="1200">
                <a:latin typeface="Calibri"/>
                <a:ea typeface="Calibri"/>
                <a:cs typeface="Calibri"/>
                <a:sym typeface="Calibri"/>
              </a:rPr>
              <a:t> people </a:t>
            </a:r>
            <a:r>
              <a:rPr lang="en" sz="1200">
                <a:solidFill>
                  <a:srgbClr val="000000"/>
                </a:solidFill>
                <a:latin typeface="Calibri"/>
                <a:ea typeface="Calibri"/>
                <a:cs typeface="Calibri"/>
                <a:sym typeface="Calibri"/>
              </a:rPr>
              <a:t>laid off</a:t>
            </a:r>
            <a:r>
              <a:rPr lang="en" sz="1200">
                <a:latin typeface="Calibri"/>
                <a:ea typeface="Calibri"/>
                <a:cs typeface="Calibri"/>
                <a:sym typeface="Calibri"/>
              </a:rPr>
              <a:t> (653 per day)</a:t>
            </a:r>
            <a:endParaRPr sz="1200">
              <a:latin typeface="Calibri"/>
              <a:ea typeface="Calibri"/>
              <a:cs typeface="Calibri"/>
              <a:sym typeface="Calibri"/>
            </a:endParaRPr>
          </a:p>
          <a:p>
            <a:pPr marL="228600" marR="460858" lvl="0" indent="-57150" algn="r" rtl="0">
              <a:spcBef>
                <a:spcPts val="0"/>
              </a:spcBef>
              <a:spcAft>
                <a:spcPts val="0"/>
              </a:spcAft>
              <a:buNone/>
            </a:pPr>
            <a:r>
              <a:rPr lang="en" sz="1200" u="sng">
                <a:solidFill>
                  <a:srgbClr val="0097A7"/>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https://trueup.io/layoffs</a:t>
            </a:r>
            <a:endParaRPr sz="1200">
              <a:latin typeface="Calibri"/>
              <a:ea typeface="Calibri"/>
              <a:cs typeface="Calibri"/>
              <a:sym typeface="Calibri"/>
            </a:endParaRPr>
          </a:p>
        </p:txBody>
      </p:sp>
      <p:pic>
        <p:nvPicPr>
          <p:cNvPr id="271" name="Google Shape;271;p37"/>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7350" y="452037"/>
            <a:ext cx="4950376" cy="2651808"/>
          </a:xfrm>
          <a:prstGeom prst="rect">
            <a:avLst/>
          </a:prstGeom>
          <a:noFill/>
          <a:ln w="9525" cap="flat" cmpd="sng">
            <a:solidFill>
              <a:srgbClr val="FF0000"/>
            </a:solidFill>
            <a:prstDash val="solid"/>
            <a:round/>
            <a:headEnd type="none" w="sm" len="sm"/>
            <a:tailEnd type="none" w="sm" len="sm"/>
          </a:ln>
        </p:spPr>
      </p:pic>
      <p:pic>
        <p:nvPicPr>
          <p:cNvPr id="272" name="Google Shape;272;p37"/>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67350" y="3157217"/>
            <a:ext cx="4950376" cy="1943133"/>
          </a:xfrm>
          <a:prstGeom prst="rect">
            <a:avLst/>
          </a:prstGeom>
          <a:noFill/>
          <a:ln w="9525" cap="flat" cmpd="sng">
            <a:solidFill>
              <a:srgbClr val="FF0000"/>
            </a:solidFill>
            <a:prstDash val="solid"/>
            <a:round/>
            <a:headEnd type="none" w="sm" len="sm"/>
            <a:tailEnd type="none" w="sm" len="sm"/>
          </a:ln>
        </p:spPr>
      </p:pic>
      <p:pic>
        <p:nvPicPr>
          <p:cNvPr id="273" name="Google Shape;273;p37"/>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5435675" y="2260300"/>
            <a:ext cx="3533449" cy="3879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78" name="Google Shape;278;p38"/>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645525" y="1203525"/>
            <a:ext cx="1570556" cy="1570556"/>
          </a:xfrm>
          <a:prstGeom prst="rect">
            <a:avLst/>
          </a:prstGeom>
          <a:noFill/>
          <a:ln>
            <a:noFill/>
          </a:ln>
        </p:spPr>
      </p:pic>
      <p:sp>
        <p:nvSpPr>
          <p:cNvPr id="279" name="Google Shape;279;p38"/>
          <p:cNvSpPr txBox="1"/>
          <p:nvPr/>
        </p:nvSpPr>
        <p:spPr>
          <a:xfrm>
            <a:off x="-25625" y="-14775"/>
            <a:ext cx="33558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 sz="2500" b="1" i="0" u="none" strike="noStrike" cap="none">
                <a:solidFill>
                  <a:srgbClr val="000000"/>
                </a:solidFill>
                <a:latin typeface="Calibri"/>
                <a:ea typeface="Calibri"/>
                <a:cs typeface="Calibri"/>
                <a:sym typeface="Calibri"/>
              </a:rPr>
              <a:t>About the Speaker</a:t>
            </a:r>
            <a:endParaRPr sz="2500" b="1" i="0" u="none" strike="noStrike" cap="none">
              <a:solidFill>
                <a:srgbClr val="000000"/>
              </a:solidFill>
              <a:latin typeface="Calibri"/>
              <a:ea typeface="Calibri"/>
              <a:cs typeface="Calibri"/>
              <a:sym typeface="Calibri"/>
            </a:endParaRPr>
          </a:p>
        </p:txBody>
      </p:sp>
      <p:sp>
        <p:nvSpPr>
          <p:cNvPr id="280" name="Google Shape;280;p38"/>
          <p:cNvSpPr txBox="1"/>
          <p:nvPr/>
        </p:nvSpPr>
        <p:spPr>
          <a:xfrm>
            <a:off x="3330175" y="878750"/>
            <a:ext cx="5621700" cy="330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500" b="1" i="0" u="none" strike="noStrike" cap="none">
                <a:solidFill>
                  <a:srgbClr val="000000"/>
                </a:solidFill>
                <a:latin typeface="Calibri"/>
                <a:ea typeface="Calibri"/>
                <a:cs typeface="Calibri"/>
                <a:sym typeface="Calibri"/>
              </a:rPr>
              <a:t>Lev Selector, Ph.D.</a:t>
            </a:r>
            <a:endParaRPr sz="25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8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40+ years of software engineering, data science, and building teams (hiring, training, and managing)</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Ph.D. in mathematical modeling and computer simulations</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Interests: </a:t>
            </a:r>
            <a:endParaRPr sz="16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Generative AI, Using LLM with your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chemeClr val="dk1"/>
              </a:buClr>
              <a:buSzPts val="1600"/>
              <a:buFont typeface="Calibri"/>
              <a:buChar char="●"/>
            </a:pPr>
            <a:r>
              <a:rPr lang="en" sz="1600" b="0" i="0" u="none" strike="noStrike" cap="none">
                <a:solidFill>
                  <a:schemeClr val="dk1"/>
                </a:solidFill>
                <a:latin typeface="Calibri"/>
                <a:ea typeface="Calibri"/>
                <a:cs typeface="Calibri"/>
                <a:sym typeface="Calibri"/>
              </a:rPr>
              <a:t>Local AI for Local Private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rgbClr val="000000"/>
                </a:solidFill>
                <a:latin typeface="Calibri"/>
                <a:ea typeface="Calibri"/>
                <a:cs typeface="Calibri"/>
                <a:sym typeface="Calibri"/>
              </a:rPr>
              <a:t>Cloud architecture, fin-tech, application security</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Find/connect: Linkedin, GitHub, YouTube, Google</a:t>
            </a:r>
            <a:endParaRPr sz="1600" b="0" i="0" u="none" strike="noStrike" cap="none">
              <a:solidFill>
                <a:srgbClr val="000000"/>
              </a:solidFill>
              <a:latin typeface="Calibri"/>
              <a:ea typeface="Calibri"/>
              <a:cs typeface="Calibri"/>
              <a:sym typeface="Calibri"/>
            </a:endParaRPr>
          </a:p>
        </p:txBody>
      </p:sp>
      <p:pic>
        <p:nvPicPr>
          <p:cNvPr id="281" name="Google Shape;281;p38"/>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001578" y="3664175"/>
            <a:ext cx="858450" cy="311906"/>
          </a:xfrm>
          <a:prstGeom prst="rect">
            <a:avLst/>
          </a:prstGeom>
          <a:noFill/>
          <a:ln>
            <a:noFill/>
          </a:ln>
        </p:spPr>
      </p:pic>
      <p:sp>
        <p:nvSpPr>
          <p:cNvPr id="282" name="Google Shape;282;p38"/>
          <p:cNvSpPr txBox="1"/>
          <p:nvPr/>
        </p:nvSpPr>
        <p:spPr>
          <a:xfrm>
            <a:off x="735103" y="4005903"/>
            <a:ext cx="13914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sng" strike="noStrike" cap="none">
                <a:solidFill>
                  <a:schemeClr val="hlink"/>
                </a:solidFill>
                <a:latin typeface="Calibri"/>
                <a:ea typeface="Calibri"/>
                <a:cs typeface="Calibri"/>
                <a:sym typeface="Calibri"/>
                <a:hlinkClick r:id="rId5"/>
              </a:rPr>
              <a:t>https://eais.ai</a:t>
            </a:r>
            <a:r>
              <a:rPr lang="en" sz="1600" b="0" i="0" u="none" strike="noStrike" cap="none">
                <a:solidFill>
                  <a:srgbClr val="000000"/>
                </a:solidFill>
                <a:latin typeface="Calibri"/>
                <a:ea typeface="Calibri"/>
                <a:cs typeface="Calibri"/>
                <a:sym typeface="Calibri"/>
              </a:rPr>
              <a:t> </a:t>
            </a:r>
            <a:endParaRPr sz="1600" b="0" i="0" u="none" strike="noStrike" cap="none">
              <a:solidFill>
                <a:srgbClr val="000000"/>
              </a:solidFill>
              <a:latin typeface="Calibri"/>
              <a:ea typeface="Calibri"/>
              <a:cs typeface="Calibri"/>
              <a:sym typeface="Calibri"/>
            </a:endParaRPr>
          </a:p>
        </p:txBody>
      </p:sp>
      <p:sp>
        <p:nvSpPr>
          <p:cNvPr id="283" name="Google Shape;283;p38"/>
          <p:cNvSpPr txBox="1"/>
          <p:nvPr/>
        </p:nvSpPr>
        <p:spPr>
          <a:xfrm>
            <a:off x="383803" y="4360974"/>
            <a:ext cx="20940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600" b="0" i="0" u="none" strike="noStrike" cap="none">
                <a:solidFill>
                  <a:srgbClr val="000000"/>
                </a:solidFill>
                <a:latin typeface="Calibri"/>
                <a:ea typeface="Calibri"/>
                <a:cs typeface="Calibri"/>
                <a:sym typeface="Calibri"/>
              </a:rPr>
              <a:t>Enterprise AI Systems</a:t>
            </a:r>
            <a:endParaRPr sz="1600" b="0" i="0" u="none" strike="noStrike" cap="none">
              <a:solidFill>
                <a:srgbClr val="000000"/>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39"/>
          <p:cNvSpPr txBox="1"/>
          <p:nvPr/>
        </p:nvSpPr>
        <p:spPr>
          <a:xfrm>
            <a:off x="2151375" y="1533150"/>
            <a:ext cx="4632600" cy="1262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7000"/>
              <a:buFont typeface="Arial"/>
              <a:buNone/>
            </a:pPr>
            <a:r>
              <a:rPr lang="en" sz="7000" b="1" i="0" u="none" strike="noStrike" cap="none">
                <a:solidFill>
                  <a:srgbClr val="3C78D8"/>
                </a:solidFill>
                <a:latin typeface="Calibri"/>
                <a:ea typeface="Calibri"/>
                <a:cs typeface="Calibri"/>
                <a:sym typeface="Calibri"/>
              </a:rPr>
              <a:t>Thank You!</a:t>
            </a:r>
            <a:endParaRPr sz="7000" b="1" i="0" u="none" strike="noStrike" cap="none">
              <a:solidFill>
                <a:srgbClr val="3C78D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4779</Words>
  <Application>Microsoft Macintosh PowerPoint</Application>
  <PresentationFormat>On-screen Show (16:9)</PresentationFormat>
  <Paragraphs>566</Paragraphs>
  <Slides>25</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Roboto Mono</vt:lpstr>
      <vt:lpstr>Calibri</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Lev Selector</cp:lastModifiedBy>
  <cp:revision>1</cp:revision>
  <dcterms:modified xsi:type="dcterms:W3CDTF">2026-05-19T00:32:43Z</dcterms:modified>
</cp:coreProperties>
</file>