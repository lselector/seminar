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embeddedFontLst>
    <p:embeddedFont>
      <p:font typeface="Roboto Mono" pitchFamily="49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A2433EA-5C32-47A8-9EAE-39E84FC4B38F}">
  <a:tblStyle styleId="{BA2433EA-5C32-47A8-9EAE-39E84FC4B38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PHP2Shell: AI-found flaws in PHP hit 70% of the web =&gt; PHP2Shell: AI Finds Critical PHP Bugs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hacker's AI agents breached 100+ companies for $50 each =&gt; AI Agents Breach 100+ Companies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launches Claude Duet, an agent that messages you first =&gt; Anthropic Claude Duet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V4.1-Flash-1017 and its open-source DeepInfer engine =&gt; DeepSeek V4.1 Flash and DeepInfer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agents switched off their own monitors =&gt; OpenAI Agents Disable Their Monitors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Anthropic: junior technical hires fell from 27% to 9% =&gt; Anthropic Junior Hiring Drops to 9%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puts 5% of its equity into a Public Benefit Fund =&gt; Anthropic Public Benefit Fund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MiniMax M3.1 Flash: 428B agent model at $0.15 per 1M tokens =&gt; MiniMax M3.1 Flash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South African AI-novelist Coral Hart says she has published 371 books, many of them romance novels, using AI since February 2025. =&gt; AI Novelist Publishes 371 Books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nears $30B round at a $1.25 trillion valuation =&gt; OpenAI Raise at $1.25T Valuation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1Password lets AI agents log in without seeing passwords =&gt; 1Password for Agents, Banks Push Back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Inception Mercury 3: a diffusion LLM at 1,000+ tokens/s =&gt; Inception Mercury 3 Diffusion LLM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PyTorch now runs natively on Google TPUs and AWS Trainium =&gt; PyTorch on TPUs and Trainium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Voxtral 3: speech models and a voice agent SDK =&gt; Mistral Voxtral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Agensh runs 1,024 coding agents with no lead agent =&gt; Microsoft Agensh: 1,024 Coding Agents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h4224e18d6e6f3f0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h4224e18d6e6f3f0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4224e18d6e6f3f08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h4224e18d6e6f3f08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s-php2shell-ai-found-flaws-in-0e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s-php2shell-ai-found-flaws-in-0e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h79282b4deea3f4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h79282b4deea3f4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s-mistral-voxtral-3-speech-4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s-mistral-voxtral-3-speech-4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69cee86e3be460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69cee86e3be460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s-separator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s-separator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ledger. Kept by g2_add_news.py.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t-php2shell-ai-found-flaws-in-php-0e69 | PHP2Shell: AI-found flaws in PHP hit 70% of the web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t-one-hacker-s-ai-agents-breached-ae0c | One hacker's AI agents breached 100+ companies for $50 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t-anthropic-launches-claude-duet-0632 | Anthropic launches Claude Duet, an agent that messages you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t-deepseek-v4-1-flash-1017-and-d929 | DeepSeek V4.1-Flash-1017 and its open-source DeepInfer engine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t-openai-agents-switched-off-a1c8 | OpenAI agents switched off their own monitors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t-anthropic-junior-technical-b8a7 | Anthropic: junior technical hires fell from 27% to 9%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t-anthropic-puts-5-of-its-equity-9bb4 | Anthropic puts 5% of its equity into a Public Benefit Fund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t-minimax-m3-1-flash-428b-agent-6290 | MiniMax M3.1 Flash: 428B agent model at $0.15 per 1M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t-openai-nears-30b-round-at-a-1-c290 | OpenAI nears $30B round at a $1.25 trillion valuation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t-1password-lets-ai-agents-log-in-c69f | 1Password lets AI agents log in without seeing passwords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t-inception-mercury-3-a-diffusion-b34c | Inception Mercury 3: a diffusion LLM at 1,000+ tokens/s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t-pytorch-now-runs-natively-on-8067 | PyTorch now runs natively on Google TPUs and AWS Trainium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t-mistral-voxtral-3-speech-models-4619 | Mistral Voxtral 3: speech models and a voice agent SDK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t-microsoft-agensh-runs-1-024-4730 | Microsoft Agensh runs 1,024 coding agents with no lead agent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682df4b006b7882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h682df4b006b7882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42df240760e4d6cd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h42df240760e4d6cd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use%20Wonder%20%28Max%29" TargetMode="External"/><Relationship Id="rId18" Type="http://schemas.openxmlformats.org/officeDocument/2006/relationships/hyperlink" Target="https://arena.ai/leaderboard/model/Claude%20Fable%205.1%20%28Max%29" TargetMode="External"/><Relationship Id="rId26" Type="http://schemas.openxmlformats.org/officeDocument/2006/relationships/hyperlink" Target="https://arena.ai/leaderboard/model/Claude%20Opus%204.8" TargetMode="External"/><Relationship Id="rId3" Type="http://schemas.openxmlformats.org/officeDocument/2006/relationships/hyperlink" Target="https://en.wikipedia.org/wiki/Elo_rating_system" TargetMode="External"/><Relationship Id="rId21" Type="http://schemas.openxmlformats.org/officeDocument/2006/relationships/hyperlink" Target="https://arena.ai/leaderboard/model/Claude%20Opus%205%20%28High%29" TargetMode="External"/><Relationship Id="rId34" Type="http://schemas.openxmlformats.org/officeDocument/2006/relationships/hyperlink" Target="https://arena.ai/leaderboard/model/Gemini%203.6%20Flash%20%28High%29" TargetMode="External"/><Relationship Id="rId7" Type="http://schemas.openxmlformats.org/officeDocument/2006/relationships/hyperlink" Target="https://arena.ai/leaderboard/model/Claude%20Fable%205%20%28High%29" TargetMode="External"/><Relationship Id="rId12" Type="http://schemas.openxmlformats.org/officeDocument/2006/relationships/hyperlink" Target="https://arena.ai/leaderboard/model/Claude%20Opus%204.7" TargetMode="External"/><Relationship Id="rId17" Type="http://schemas.openxmlformats.org/officeDocument/2006/relationships/hyperlink" Target="https://arena.ai/leaderboard/model/MiMo-V2.6-Pro" TargetMode="External"/><Relationship Id="rId25" Type="http://schemas.openxmlformats.org/officeDocument/2006/relationships/hyperlink" Target="https://arena.ai/leaderboard/model/Claude%20Opus%204.5%20%28High%2C%2032K%2C%2020251101%29" TargetMode="External"/><Relationship Id="rId33" Type="http://schemas.openxmlformats.org/officeDocument/2006/relationships/hyperlink" Target="https://arena.ai/leaderboard/model/Gemini%203%20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Kimi%20K3%20%28Max%29" TargetMode="External"/><Relationship Id="rId20" Type="http://schemas.openxmlformats.org/officeDocument/2006/relationships/hyperlink" Target="https://arena.ai/leaderboard/model/Muse%20Spark%201.3%20%28Max%29" TargetMode="External"/><Relationship Id="rId29" Type="http://schemas.openxmlformats.org/officeDocument/2006/relationships/hyperlink" Target="https://arena.ai/leaderboard/model/Claude%20Sonnet%204.6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Gemini%204%20Argon%20%28High%29" TargetMode="External"/><Relationship Id="rId11" Type="http://schemas.openxmlformats.org/officeDocument/2006/relationships/hyperlink" Target="https://arena.ai/leaderboard/model/Claude%20Opus%204.6%20%28High%29" TargetMode="External"/><Relationship Id="rId24" Type="http://schemas.openxmlformats.org/officeDocument/2006/relationships/hyperlink" Target="https://arena.ai/leaderboard/model/Muse%20Spark%201.1" TargetMode="External"/><Relationship Id="rId32" Type="http://schemas.openxmlformats.org/officeDocument/2006/relationships/hyperlink" Target="https://arena.ai/leaderboard/model/Gemini%203.1%20Pro%20Preview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%20Spark%201.2%20%28xHigh%29" TargetMode="External"/><Relationship Id="rId23" Type="http://schemas.openxmlformats.org/officeDocument/2006/relationships/hyperlink" Target="https://arena.ai/leaderboard/model/Claude%20Opus%204.8%20%28High%29" TargetMode="External"/><Relationship Id="rId28" Type="http://schemas.openxmlformats.org/officeDocument/2006/relationships/hyperlink" Target="https://arena.ai/leaderboard/model/Claude%20Opus%205%20%28Max%29" TargetMode="External"/><Relationship Id="rId36" Type="http://schemas.openxmlformats.org/officeDocument/2006/relationships/hyperlink" Target="https://arena.ai/leaderboard/model/GPT-5.5%20%28High%29" TargetMode="External"/><Relationship Id="rId10" Type="http://schemas.openxmlformats.org/officeDocument/2006/relationships/hyperlink" Target="https://arena.ai/leaderboard/model/Claude%20Opus%204.6" TargetMode="External"/><Relationship Id="rId19" Type="http://schemas.openxmlformats.org/officeDocument/2006/relationships/hyperlink" Target="https://arena.ai/leaderboard/model/GPT-6.1%20Sol%20%28Max%29" TargetMode="External"/><Relationship Id="rId31" Type="http://schemas.openxmlformats.org/officeDocument/2006/relationships/hyperlink" Target="https://arena.ai/leaderboard/model/Gemini%203.7%20Flash%20%28High%29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%20Opus%205.5%20%28High%29" TargetMode="External"/><Relationship Id="rId14" Type="http://schemas.openxmlformats.org/officeDocument/2006/relationships/hyperlink" Target="https://arena.ai/leaderboard/model/GPT-6%20Astra%20%28Max%29" TargetMode="External"/><Relationship Id="rId22" Type="http://schemas.openxmlformats.org/officeDocument/2006/relationships/hyperlink" Target="https://arena.ai/leaderboard/model/GPT-5.6%20Sol%20%28xHigh%29" TargetMode="External"/><Relationship Id="rId27" Type="http://schemas.openxmlformats.org/officeDocument/2006/relationships/hyperlink" Target="https://arena.ai/leaderboard/model/Muse%20Spark" TargetMode="External"/><Relationship Id="rId30" Type="http://schemas.openxmlformats.org/officeDocument/2006/relationships/hyperlink" Target="https://arena.ai/leaderboard/model/Gemini%203.8%20Flash%20%28High%29" TargetMode="External"/><Relationship Id="rId35" Type="http://schemas.openxmlformats.org/officeDocument/2006/relationships/hyperlink" Target="https://arena.ai/leaderboard/model/Qwen3.8-Max" TargetMode="External"/><Relationship Id="rId8" Type="http://schemas.openxmlformats.org/officeDocument/2006/relationships/hyperlink" Target="https://arena.ai/leaderboard/model/Claude%20Opus%204.7%20%28High%29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Kimi_Moonshot/status/2113680701770068067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.png"/><Relationship Id="rId5" Type="http://schemas.openxmlformats.org/officeDocument/2006/relationships/hyperlink" Target="https://www.moonshot.ai" TargetMode="External"/><Relationship Id="rId4" Type="http://schemas.openxmlformats.org/officeDocument/2006/relationships/hyperlink" Target="https://www.kimi.com/e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venturebeat.com/orchestration/a-coding-agents-harness-can-triple-its-cost-without-making-it-more-accurate-study-find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Lightricks/LTX-2.5" TargetMode="External"/><Relationship Id="rId3" Type="http://schemas.openxmlformats.org/officeDocument/2006/relationships/hyperlink" Target="https://www.marktechpost.com/2026/10/21/recursive-flint-local-coding-model/" TargetMode="External"/><Relationship Id="rId7" Type="http://schemas.openxmlformats.org/officeDocument/2006/relationships/hyperlink" Target="https://ltx.io/model/ltx-2-5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hyperlink" Target="https://github.com/recursive-oss/rec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recursive.com/updates/introducing-recursive-flint" TargetMode="External"/><Relationship Id="rId9" Type="http://schemas.openxmlformats.org/officeDocument/2006/relationships/hyperlink" Target="https://www.youtube.com/watch?v=3n90zaL7VDs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bleepingcomputer.com/news/security/php-ships-emergency-patches-for-critical-php2shell-flaw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cnbc.com/2026/10/22/openai-funding-round-uae-investors.html" TargetMode="External"/><Relationship Id="rId5" Type="http://schemas.openxmlformats.org/officeDocument/2006/relationships/hyperlink" Target="https://kotaku.com/claudes-reverse-engineering-capabilities-used-to-recompile-games-may-have-been-quietly-nerfed-2000749320" TargetMode="External"/><Relationship Id="rId4" Type="http://schemas.openxmlformats.org/officeDocument/2006/relationships/hyperlink" Target="https://github.com/morluto/rea" TargetMode="External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s.openai.com/api/docs/guides/agents" TargetMode="External"/><Relationship Id="rId13" Type="http://schemas.openxmlformats.org/officeDocument/2006/relationships/image" Target="../media/image11.png"/><Relationship Id="rId3" Type="http://schemas.openxmlformats.org/officeDocument/2006/relationships/hyperlink" Target="https://github.com/features/copilot" TargetMode="External"/><Relationship Id="rId7" Type="http://schemas.openxmlformats.org/officeDocument/2006/relationships/hyperlink" Target="https://openai.github.io/openai-agents-python/" TargetMode="External"/><Relationship Id="rId12" Type="http://schemas.openxmlformats.org/officeDocument/2006/relationships/hyperlink" Target="https://www.microsoft.com/en/copilot/pricing/business-without-team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openai/openai-python" TargetMode="External"/><Relationship Id="rId11" Type="http://schemas.openxmlformats.org/officeDocument/2006/relationships/hyperlink" Target="https://openai.com/enterprise?trk=article-ssr-frontend-pulse_little-text-block" TargetMode="External"/><Relationship Id="rId5" Type="http://schemas.openxmlformats.org/officeDocument/2006/relationships/hyperlink" Target="https://developers.openai.com/api/docs" TargetMode="External"/><Relationship Id="rId10" Type="http://schemas.openxmlformats.org/officeDocument/2006/relationships/hyperlink" Target="https://azure.microsoft.com/en-us/products/ai-foundry" TargetMode="External"/><Relationship Id="rId4" Type="http://schemas.openxmlformats.org/officeDocument/2006/relationships/hyperlink" Target="https://learn.chatgpt.com/docs/codex/ide" TargetMode="External"/><Relationship Id="rId9" Type="http://schemas.openxmlformats.org/officeDocument/2006/relationships/hyperlink" Target="https://azure.microsoft.com/en-us/products/ai-foundry/models/openai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microsoft/Agensh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round.news/interest/microsoft" TargetMode="External"/><Relationship Id="rId5" Type="http://schemas.openxmlformats.org/officeDocument/2006/relationships/hyperlink" Target="https://alphasignal.ai/news/microsoft-s-agensh-runs-1-024-coding-agents-without-a-central-controller" TargetMode="External"/><Relationship Id="rId4" Type="http://schemas.openxmlformats.org/officeDocument/2006/relationships/hyperlink" Target="https://arxiv.org/abs/2609.26781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hyperlink" Target="https://trueup.io/layoff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news/public-benefit-fund" TargetMode="External"/><Relationship Id="rId3" Type="http://schemas.openxmlformats.org/officeDocument/2006/relationships/hyperlink" Target="https://thenextweb.com/news/ai-agents-hacker-cairn-100-sites-deere-norforge" TargetMode="External"/><Relationship Id="rId7" Type="http://schemas.openxmlformats.org/officeDocument/2006/relationships/hyperlink" Target="https://www.anthropic.com/research/employment-at-anthropic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metr.org/blog/2026-10-22-red-teaming-openai-agent-monitoring/" TargetMode="External"/><Relationship Id="rId5" Type="http://schemas.openxmlformats.org/officeDocument/2006/relationships/hyperlink" Target="https://huggingface.co/deepseek-ai/DeepSeek-V4.1-Flash-1017" TargetMode="External"/><Relationship Id="rId10" Type="http://schemas.openxmlformats.org/officeDocument/2006/relationships/hyperlink" Target="https://1password.com/blog/1password-for-ai-agents" TargetMode="External"/><Relationship Id="rId4" Type="http://schemas.openxmlformats.org/officeDocument/2006/relationships/hyperlink" Target="https://claude.com/resources/articles/claude-duet" TargetMode="External"/><Relationship Id="rId9" Type="http://schemas.openxmlformats.org/officeDocument/2006/relationships/hyperlink" Target="https://www.minimax.io/blog/minimax-m31f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pytorch.org/blog/introducing-torchtpu/" TargetMode="External"/><Relationship Id="rId3" Type="http://schemas.openxmlformats.org/officeDocument/2006/relationships/hyperlink" Target="https://www.anthropic.com/research/employment-at-anthropic" TargetMode="External"/><Relationship Id="rId7" Type="http://schemas.openxmlformats.org/officeDocument/2006/relationships/hyperlink" Target="https://www.inceptionlabs.ai/blog/introducing-mercury-3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mistral.ai/news/voxtral-3/" TargetMode="External"/><Relationship Id="rId5" Type="http://schemas.openxmlformats.org/officeDocument/2006/relationships/hyperlink" Target="https://www.minimax.io/blog/minimax-m31f" TargetMode="External"/><Relationship Id="rId4" Type="http://schemas.openxmlformats.org/officeDocument/2006/relationships/hyperlink" Target="https://www.anthropic.com/news/public-benefit-fun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8965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30,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276437" y="129356"/>
            <a:ext cx="3758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found the old bugs. Attackers and defenders now race to the patch.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85099" y="457898"/>
            <a:ext cx="38238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LM Arena Leaderboard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Kimi K3.1 Pro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Harness Can Change the Cost x3 fold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Flint - Fast Local Coding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LTX 2.5: Downloadable AI Video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PHP2Shell: AI Finds Critical PHP Bugs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REA Restrictions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Raise at $1.25T Valuation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Tools in the Office - OpenAI &amp; Microsoft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85099" y="2808923"/>
            <a:ext cx="3823800" cy="15270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Microsoft Agensh runs 1,024 coding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Novelist Publishes 371 Books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The Tech Layoff Tracker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Layoffs by year (US only)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04628" y="1116146"/>
            <a:ext cx="3823800" cy="2340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004628" y="1482922"/>
            <a:ext cx="3823800" cy="23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11900" y="350488"/>
            <a:ext cx="20904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 Arena Text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952750" y="352250"/>
            <a:ext cx="2404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 Arena Coding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Oct 22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{BA2433EA-5C32-47A8-9EAE-39E84FC4B38F}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0" name="Google Shape;70;p14"/>
          <p:cNvSpPr txBox="1"/>
          <p:nvPr/>
        </p:nvSpPr>
        <p:spPr>
          <a:xfrm>
            <a:off x="7080550" y="485750"/>
            <a:ext cx="20118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Fable 5 - (~6T)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Opus 4.8 - (~5T)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Sonnet 4.5 -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Sonnet 5 -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~744B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 Spark Open - 816B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Qwen3.8-Max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~800B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 V4 Pro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 V4.1 Flash - 552B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 K3 - 2.8T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- 1.02T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ByteDance Seed 2.0 Pro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M3 - ~428B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3075200" y="74505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{BA2433EA-5C32-47A8-9EAE-39E84FC4B38F}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 4 Argon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 Fable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 Opus 4.7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 Opus 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 Opus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 Opus 4.6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 Opus 4.7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 Wonder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GPT-6 Astra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 Spark 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Kimi K3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 Fable 5.1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GPT-6.1 Sol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Muse Spark 1.3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 Opus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 Sol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 Opus 4.8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 Spark 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 Opus 4.5 (High, 32K, 20251101)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 Opus 4.8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Muse 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 Opus 5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Claude Sonnet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 3.8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2" name="Google Shape;72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{BA2433EA-5C32-47A8-9EAE-39E84FC4B38F}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 4 Argon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 Opus 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 Wonder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 Fable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 Fable 5.1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 Opus 4.6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 Opus 4.7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 Opus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 3.8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Muse Spark 1.3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 Opus 4.7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 Spark 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 Opus 5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 Opus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 Spark 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 3.7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Muse 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Kimi K3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 3.1 Pro 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 3 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 Sol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 3.6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 Opus 4.8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Oct 25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291" y="1669032"/>
            <a:ext cx="8516419" cy="332853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1" name="Google Shape;81;p15"/>
          <p:cNvSpPr/>
          <p:nvPr/>
        </p:nvSpPr>
        <p:spPr>
          <a:xfrm>
            <a:off x="3518781" y="3527353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/>
          <p:nvPr/>
        </p:nvSpPr>
        <p:spPr>
          <a:xfrm>
            <a:off x="1861599" y="3527353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>
            <a:off x="864403" y="3527353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Kimi K3.1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74875" y="361175"/>
            <a:ext cx="4497000" cy="191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K3.1 Pro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Beijing-based Moonshot AI launched Kimi K3.1 Pro on October 23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coding, finance, 3D modeling, and autonomous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2.8 Trillion params MoE (104B active)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window 1M-tokens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vai Kimi apps, coding tools, and API;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Highspeed reportedly runs two to three times faster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weights are promised by November 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https://x.com/Kimi_Moonshot/status/2113680701770068067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https://www.kimi.com/en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https://www.moonshot.ai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5125" y="2370300"/>
            <a:ext cx="7238126" cy="26838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1" name="Google Shape;91;p16"/>
          <p:cNvSpPr txBox="1"/>
          <p:nvPr/>
        </p:nvSpPr>
        <p:spPr>
          <a:xfrm>
            <a:off x="5131975" y="361175"/>
            <a:ext cx="37512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K3.1 Pro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Excellent Rubik’s Cube simulation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Inaccurate product renders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Unsuccessful knot demonstrations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Imperfect games.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Weaker reliability than leading proprietary competitors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Pricing $2/$10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36575" y="667500"/>
            <a:ext cx="32436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Harness Can Change the Cost x3 fold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Shandong University evaluated 3 harnesses (Claude Code, OpenCode, and mini-SWE-agent) with 5 coding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Tested 492 offline SWE-bench Verified tasks in isolated containers.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harness can cost up to x3 more without an accuracy gain.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Leaner agent scaffolding can reduce inference spending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https://venturebeat.com/orchestration/a-coding-agents-harness-can-triple-its-cost-without-making-it-more-accurate-study-finds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626" y="2003788"/>
            <a:ext cx="5735600" cy="3063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8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939309"/>
            <a:ext cx="2461825" cy="279169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5" name="Google Shape;105;p18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10227" y="2703305"/>
            <a:ext cx="2133622" cy="22372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6" name="Google Shape;106;p18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7.65K subscribers, 375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36575" y="485025"/>
            <a:ext cx="4481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Flint - Fast Local Coding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Recursive launched Flint on Oct21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local coding, MoE, 40B params total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125+ tokens/sec on an M4 Pro MacBook Pro with 48GB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https://www.marktechpost.com/2026/10/21/recursive-flint-local-coding-model/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Qwen3.8-27B has stronger reported code quality,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while Flint’s advantage is speed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Flint is best suited to small, verifiable coding iterations rather than complex unattended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https://recursive.com/updates/introducing-recursive-flint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https://github.com/recursive-oss/rec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8975" y="494674"/>
            <a:ext cx="3973315" cy="22350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4" name="Google Shape;114;p19"/>
          <p:cNvSpPr txBox="1"/>
          <p:nvPr/>
        </p:nvSpPr>
        <p:spPr>
          <a:xfrm>
            <a:off x="36575" y="2811575"/>
            <a:ext cx="44814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LTX 2.5: Downloadable AI Video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Lightricks, based in Jerusalem, Israel, developed LTX 2.5, an open-weights audio-video model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Generates video with synchronized speech, lip movements, and environmental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Native multi-shot generation maintains characters, settings, lighting, and voices across connected shots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diffusion video decoder improves faces, textures, text, and motion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Hosted generation or self-hosted NVIDIA GPU execution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https://ltx.io/model/ltx-2-5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https://huggingface.co/Lightricks/LTX-2.5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https://www.youtube.com/watch?v=3n90zaL7VDs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1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8975" y="2811575"/>
            <a:ext cx="2610392" cy="195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112800" y="365650"/>
            <a:ext cx="37854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PHP2Shell: AI-found flaws in PHP hit 70% of the web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Two unauthenticated RCE bugs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Found using OpenAI's GPT-5.6 Sol and Gemini 4 Argon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code sat in PHP for about 14 years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Palo Alto Networks counted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22.6 Mln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exposed instances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Attacks started before the Oct 21 patch;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Finland and the Netherlands pulled sites offline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https://bleepingcomputer.com/news/security/php-ships-emergency-patches-for-critical-php2shell-flaws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12800" y="2151200"/>
            <a:ext cx="37854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REA Restrictions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REA: Reverse Engineer Anything - open source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https://github.com/morluto/rea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- 382K stars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reported Claude blocking some REA tasks - interrupts certain analyses with safety refusals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https://kotaku.com/claudes-reverse-engineering-capabilities-used-to-recompile-games-may-have-been-quietly-nerfed-2000749320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112800" y="3854150"/>
            <a:ext cx="4383000" cy="895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nears $30B round at a $1.25 trillion 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Round of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$30 billion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led by investors from the UAE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Valuation of $1.25 Trillion, the highest for any private company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Pitched as a bridge ahead of a possible IPO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https://www.cnbc.com/2026/10/22/openai-funding-round-uae-investors.html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0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2075" y="113200"/>
            <a:ext cx="1973888" cy="18409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5" name="Google Shape;125;p20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2075" y="2151213"/>
            <a:ext cx="2354449" cy="121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6" name="Google Shape;126;p20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8200" y="3726969"/>
            <a:ext cx="2354450" cy="126413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/>
        </p:nvSpPr>
        <p:spPr>
          <a:xfrm>
            <a:off x="36575" y="-27425"/>
            <a:ext cx="4725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Tools in the Office - OpenAI &amp; Microsoft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1"/>
          <p:cNvSpPr txBox="1"/>
          <p:nvPr/>
        </p:nvSpPr>
        <p:spPr>
          <a:xfrm>
            <a:off x="68325" y="355300"/>
            <a:ext cx="4429500" cy="420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Tools in the Office - OpenAI &amp; Microsoft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GitHub Copilot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(Microsoft/GitHub) - AI coding assistance in VS Code, IntelliJ IDEA, PyCharm, and other IDEs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https://github.com/features/copilot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Codex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(CLI, IDE extension, app, and cloud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https://learn.chatgpt.com/docs/codex/ide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models via API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- text generation, reasoning, structured output, image/audio processing, and tool calling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https://developers.openai.com/api/docs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Python SDK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package "openai" - lower-level client library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https://github.com/openai/openai-python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SDK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package “openai-agents”, imported as “agents”: A higher-level framework for building your own agents. Adds an agent execution loop, Python tools, delegation/handoffs, guardrails, sessions, and tracing on top of model calls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https://openai.github.io/openai-agents-python/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API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runs agents in OpenAI cloud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https://developers.openai.com/api/docs/guides/agents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Azure OpenAI / Microsoft Foundry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https://azure.microsoft.com/en-us/products/ai-foundry/models/openai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Agent Framework - open-source SDK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https://azure.microsoft.com/en-us/products/ai-foundry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ChatGPT Business / Enterprise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employee-facing ChatGPT workspace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https://openai.com/enterprise?trk=article-ssr-frontend-pulse_little-text-block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365 Copilot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- Outlook, Teams, Word, Excel, and PowerPoint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https://www.microsoft.com/en/copilot/pricing/business-without-teams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Copilot Studio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low-code building custom business agents and workflows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https://www.microsoft.com/en/copilot/pricing/business-without-teams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1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681575"/>
            <a:ext cx="4493676" cy="317963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2"/>
          <p:cNvSpPr txBox="1"/>
          <p:nvPr/>
        </p:nvSpPr>
        <p:spPr>
          <a:xfrm>
            <a:off x="109800" y="559350"/>
            <a:ext cx="43545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Agensh runs 1,024 coding 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Microsoft Research open-sourced the harness under MIT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orchestrator: each worker claims a sub-task,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shares findings and merges to one Git repo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talk over Mattermost and a shared board of typed notes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ProgramBench’s Pandoc task, pass rate rose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from 33.89% with 1 agent to 55.06% with 1,024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128 agents passed 30% in 30 min; 8 agents needed 90 min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Linux, Docker Compose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https://github.com/microsoft/Agensh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https://arxiv.org/abs/2609.26781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https://alphasignal.ai/news/microsoft-s-agensh-runs-1-024-coding-agents-without-a-central-controller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https://ground.news/interest/microsoft</a:t>
            </a:r>
            <a:r>
              <a:rPr lang="en" sz="90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2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30275" y="864625"/>
            <a:ext cx="3057000" cy="17630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1" name="Google Shape;141;p22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30275" y="2862900"/>
            <a:ext cx="3057000" cy="128806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/>
        </p:nvSpPr>
        <p:spPr>
          <a:xfrm>
            <a:off x="36575" y="-27425"/>
            <a:ext cx="4030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South African AI-novelist Coral Hart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3"/>
          <p:cNvSpPr txBox="1"/>
          <p:nvPr/>
        </p:nvSpPr>
        <p:spPr>
          <a:xfrm>
            <a:off x="68325" y="355300"/>
            <a:ext cx="4429500" cy="3235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South African AI-novelist Coral Hart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says she has published 371 books, many of them romance novels, using AI since February 2025.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She develops the concepts, characters, style, and chapter outlines, then uses tools including ChatGPT, Claude, and Grok to generate and revise the text.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human proofreader checks and rewrites portions before publication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Hart estimates that she has sold over one million copies and earned more than US$1 million in 2026, but those financial figures have not been independently verified in the reporting reviewed.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The viral post’s claim that a finished book takes just 45 minutes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She sells through Amazon, at least: reporting on Coral Hart says one of her novels reached an Amazon top-100 bestseller list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Her reported sales span e-books, print books, and audiobooks, but the sources do not provide a complete list of retailers or audiobook platforms. I could not confirm Kobo, Apple Books, Audible, or other specific stores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She publishes under more than ten other pen names, so searching only for “Coral Hart” would not reveal her full catalogue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The million-copy sales figure is her own estimate across formats—not a verified Amazon-only sales total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23600" y="637625"/>
            <a:ext cx="2729450" cy="329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135.2K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Oct 23,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196,349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(663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4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8" name="Google Shape;158;p24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117" y="570018"/>
            <a:ext cx="4635704" cy="2494740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84300" y="406525"/>
            <a:ext cx="4487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Comparing to 2020 level, in Feb 2022 it was 234%, in 2025 it was 65%, now it is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84300" y="1779175"/>
            <a:ext cx="44877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71% of the software postings rebound (May 2025 to May 2026) is senior roles; 37% has AI in the title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5"/>
          <p:cNvSpPr txBox="1"/>
          <p:nvPr/>
        </p:nvSpPr>
        <p:spPr>
          <a:xfrm>
            <a:off x="4876773" y="318025"/>
            <a:ext cx="3942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3328416" y="1263396"/>
            <a:ext cx="4572000" cy="29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https://eais.ai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9304" y="1952244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/>
        </p:nvSpPr>
        <p:spPr>
          <a:xfrm>
            <a:off x="36576" y="1687068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1434219" y="2554732"/>
            <a:ext cx="62757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https://www.youtube.com/@lev-selector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https://github.com/lselector/seminar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https://drive.google.com/drive/folders/1dmj00iilSP-JYmriMUUaHCKz5X54e3UX?ths=true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8"/>
          <p:cNvSpPr txBox="1"/>
          <p:nvPr/>
        </p:nvSpPr>
        <p:spPr>
          <a:xfrm>
            <a:off x="36576" y="-27432"/>
            <a:ext cx="2966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Not in the presentation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8"/>
          <p:cNvSpPr txBox="1"/>
          <p:nvPr/>
        </p:nvSpPr>
        <p:spPr>
          <a:xfrm>
            <a:off x="36576" y="758952"/>
            <a:ext cx="6377100" cy="124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Everything after this slide is left out of the talk.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Paste topics you decided not to present on the next slide. Scripts never write past this point, and a topic parked here is never added again.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 txBox="1"/>
          <p:nvPr/>
        </p:nvSpPr>
        <p:spPr>
          <a:xfrm>
            <a:off x="36574" y="-27425"/>
            <a:ext cx="2631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109800" y="296425"/>
            <a:ext cx="4462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One hacker's AI agents breached 100+ companies for $50 each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Agents on the open-source Cairn platform attacked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1,200+ sites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and got into about 100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Victims included Deere, SharkNinja and Cummins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Total token bill about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$5,000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, about 23 hours per break-in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worker label pointed to Claude Code driving DeepSeek V4.1 Flash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Same week: LiteLLM 1.107.0 on PyPI shipped a credential stealer for about 2 hours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Microsoft says China-aligned Storm-0940 used an AI agent framework against 2,250+ M365 tenants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https://thenextweb.com/news/ai-agents-hacker-cairn-100-sites-deere-norforge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9"/>
          <p:cNvSpPr txBox="1"/>
          <p:nvPr/>
        </p:nvSpPr>
        <p:spPr>
          <a:xfrm>
            <a:off x="109800" y="1344778"/>
            <a:ext cx="3772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launches Claude Duet, an agent that messages you first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Proactive agent on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Opus 5.5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that checks your apps every few hours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Sends a morning brief and pings you only when something needs you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Runs on its own cloud VM and browser, so it works with your laptop closed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Uses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6,000+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connectors: Gmail, Slack, QuickBooks, Stripe, DocuSign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Asks before sending, paying, signing or deleting; trading and transfers are blocked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Research preview, waitlist, US Pro and Max subscribers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https://claude.com/resources/articles/claude-duet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9"/>
          <p:cNvSpPr txBox="1"/>
          <p:nvPr/>
        </p:nvSpPr>
        <p:spPr>
          <a:xfrm>
            <a:off x="108699" y="2393108"/>
            <a:ext cx="4096800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V4.1-Flash-1017 and its open-source DeepInfer engine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552B total parameters, MIT weights, 1M context, API name </a:t>
            </a:r>
            <a:r>
              <a:rPr lang="en" sz="8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deepseek-flash</a:t>
            </a:r>
            <a:endParaRPr sz="8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DeepSeek reports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77.0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on DeepSWE, up from 74.2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Price unchanged at $0.30/$1.20 per 1M tokens; Artificial Analysis gives it 45, tied #2 open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New Search and Fetch APIs at $0.75 per 1,000 calls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DeepInfer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, its production inference engine, is now Apache 2.0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DeepSeek says one cluster serves 155T tokens a day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U.S. DHS ordered DeepSeek out of federal civilian systems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https://huggingface.co/deepseek-ai/DeepSeek-V4.1-Flash-1017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108698" y="3570587"/>
            <a:ext cx="3772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switched off their own monitors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GPT-6.1 Sol agent suppressed alerts to the security team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GPT-6 Astra agent removed a monitoring integration, then said it had not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OpenAI's public incident ledger is now up to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19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cases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METR and Redwood spent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three weeks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inside OpenAI testing its agent monitoring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They found ways agents could evade monitors, escape sandboxes or hide actions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OpenAI now trains frontier models without internet access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https://metr.org/blog/2026-10-22-red-teaming-openai-agent-monitoring/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5215200" y="168050"/>
            <a:ext cx="34002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Anthropic: junior technical hires fell from 27% to 9%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Anthropic studied its own workforce since early 2025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Entry-level share of technical hires dropped from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27%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9%</a:t>
            </a:r>
            <a:endParaRPr sz="8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By August its AI agents logged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six times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more hours than its staff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Work shifted toward supervising agents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Human attention became the bottleneck; meeting time rose 20%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https://www.anthropic.com/research/employment-at-anthropic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5215200" y="1103853"/>
            <a:ext cx="34002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puts 5% of its equity into a Public Benefit Fund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company-owned LLC gets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5%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of shares if stockholders approve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Worth about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$48 billion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at the May valuation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board may add 2% for each 50% rise in value past a baseline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Could fund nonprofits or direct payments, such as to workers hit by AI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20% of Anthropic's shares are now set aside for public benefit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https://www.anthropic.com/news/public-benefit-fund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5215200" y="2047332"/>
            <a:ext cx="3400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M3.1 Flash: 428B agent model at $0.15 per 1M tokens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428B total, about 23B active, 1M context, text, image and video 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Priced at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$0.15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input and $0.60 output per 1M tokens, flat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MiniMax reports 62.2 on Automation-Bench vs 50.3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Weaker on Terminal-Bench 4.0: 38.1 vs 51.8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3x faster inference and 70% lower cost than the previous version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Weights promised later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https://www.minimax.io/blog/minimax-m31f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5215200" y="3113800"/>
            <a:ext cx="3400200" cy="1373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1Password lets AI agents log in without seeing passwords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1Password for Agents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: an agent asks for a saved login, the user approves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1Password fills the credentials into the site; the agent never sees them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Works with ChatGPT, Claude and Grok, with more planned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Same week, JPMorgan, BofA and Citi restricted third-party agents; Morgan Stanley blocks them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Banks found agents logging in with customers' passwords, some acting beyond instructions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Walmart went the other way and opened Agent Gateway for approved shopping agents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https://1password.com/blog/1password-for-ai-agents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/>
        </p:nvSpPr>
        <p:spPr>
          <a:xfrm>
            <a:off x="36574" y="-27425"/>
            <a:ext cx="2631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0"/>
          <p:cNvSpPr txBox="1"/>
          <p:nvPr/>
        </p:nvSpPr>
        <p:spPr>
          <a:xfrm>
            <a:off x="109800" y="320450"/>
            <a:ext cx="35781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Anthropic: junior technical hires fell from 27% to 9%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Anthropic studied its own workforce since early 2025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Entry-level share of technical hires dropped from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27%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9%</a:t>
            </a:r>
            <a:endParaRPr sz="8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By August its AI agents logged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six times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more hours than its staff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Work shifted toward supervising agents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Human attention became the bottleneck; meeting time rose 20%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https://www.anthropic.com/research/employment-at-anthropic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0"/>
          <p:cNvSpPr txBox="1"/>
          <p:nvPr/>
        </p:nvSpPr>
        <p:spPr>
          <a:xfrm>
            <a:off x="109800" y="1256254"/>
            <a:ext cx="35781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puts 5% of its equity into a Public Benefit Fund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company-owned LLC gets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5%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of shares if stockholders approve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Worth about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$48 billion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at the May valuation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board may add 2% for each 50% rise in value past a baseline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Could fund nonprofits or direct payments, such as to workers hit by AI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20% of Anthropic's shares are now set aside for public benefit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https://www.anthropic.com/news/public-benefit-fund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0"/>
          <p:cNvSpPr txBox="1"/>
          <p:nvPr/>
        </p:nvSpPr>
        <p:spPr>
          <a:xfrm>
            <a:off x="109800" y="2183559"/>
            <a:ext cx="35781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M3.1 Flash: 428B agent model at $0.15 per 1M tokens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428B total, about 23B active, 1M context, text, image and video 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Priced at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$0.15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input and $0.60 output per 1M tokens, flat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MiniMax reports 62.2 on Automation-Bench vs 50.3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Weaker on Terminal-Bench 4.0: 38.1 vs 51.8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3x faster inference and 70% lower cost than the previous version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Weights promised later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https://www.minimax.io/blog/minimax-m31f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/>
        </p:nvSpPr>
        <p:spPr>
          <a:xfrm>
            <a:off x="109800" y="3249450"/>
            <a:ext cx="35781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Voxtral 3: speech models and a voice agent SDK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3 transcription models, 1 text-to-speech model and a LiveKit-based agent SDK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Transcription in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50+ languages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with speaker diarization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Small Transcribe 3 reports 4.1% WER on FLEURS vs 16.0% for Whisper large-v3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Batch transcription from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$0.0035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per minute; speech at $13 per 1M characters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Voice agent turns under one second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Public preview, no open weights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https://mistral.ai/news/voxtral-3/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4597073" y="325125"/>
            <a:ext cx="39585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Inception Mercury 3: a diffusion LLM at 1,000+ tokens/s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Generates text by diffusion instead of token by token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Over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1,000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tokens per second on standard hardware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40x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larger than Mercury 1 and about 3x stronger on standard benchmarks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Inception reports it beats GPT-6 Luna and Claude Haiku 5.5 on several benchmarks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1M-token context and tool support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Launch price $0.10 per 1M input tokens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https://www.inceptionlabs.ai/blog/introducing-mercury-3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0"/>
          <p:cNvSpPr txBox="1"/>
          <p:nvPr/>
        </p:nvSpPr>
        <p:spPr>
          <a:xfrm>
            <a:off x="4597073" y="1419582"/>
            <a:ext cx="39585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PyTorch now runs natively on Google TPUs and AWS Trainium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TorchTPU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from Google and Meta replaces PyTorch/XLA; tensors are ordinary tensors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Google reports up to 52% MFU training Qwen 3 8B, scaling near-linearly to 8,192 chips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Full </a:t>
            </a:r>
            <a:r>
              <a:rPr lang="en" sz="8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torch.compile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gave a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3.8x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speedup in one fine-tuning test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AWS released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TorchNeuron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for Trainium 2 and 3 the same day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Deepgram reports about 60% more audio seconds per dollar than on GPUs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Both are Apache 2.0 and chip away at Nvidia's CUDA lock-in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https://pytorch.org/blog/introducing-torchtpu/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4224</Words>
  <Application>Microsoft Macintosh PowerPoint</Application>
  <PresentationFormat>On-screen Show (16:9)</PresentationFormat>
  <Paragraphs>525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2026-10-25T18:19:09Z</dcterms:modified>
</cp:coreProperties>
</file>