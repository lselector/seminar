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Roboto Mono" pitchFamily="49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FB7FCE-0512-4828-B285-EFB33EF349FB}">
  <a:tblStyle styleId="{DBFB7FCE-0512-4828-B285-EFB33EF349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8"/>
  </p:normalViewPr>
  <p:slideViewPr>
    <p:cSldViewPr snapToGrid="0">
      <p:cViewPr varScale="1">
        <p:scale>
          <a:sx n="122" d="100"/>
          <a:sy n="122" d="100"/>
        </p:scale>
        <p:origin x="656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-toc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-toc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labels. Kept by g3_update_toc.py.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PHP2Shell: AI-found flaws in PHP hit 70% of the web =&gt; PHP2Shell: AI Finds Critical PHP Bugs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hacker's AI agents breached 100+ companies for $50 each =&gt; AI Agents Breach 100+ Companies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launches Claude Duet, an agent that messages you first =&gt; Anthropic Claude Duet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DeepSeek V4.1-Flash-1017 and its open-source DeepInfer engine =&gt; DeepSeek V4.1 Flash and DeepInfer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agents switched off their own monitors =&gt; OpenAI Agents Disable Their Monitors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Anthropic: junior technical hires fell from 27% to 9% =&gt; Anthropic Junior Hiring Drops to 9%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puts 5% of its equity into a Public Benefit Fund =&gt; Anthropic Public Benefit Fund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MiniMax M3.1 Flash: 428B agent model at $0.15 per 1M tokens =&gt; MiniMax M3.1 Flash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South African AI-novelist Coral Hart says she has published 371 books, many of them romance novels, using AI since February 2025. =&gt; AI Novelist Publishes 371 Books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nears $30B round at a $1.25 trillion valuation =&gt; OpenAI Raise at $1.25T Valuation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1Password lets AI agents log in without seeing passwords =&gt; 1Password for Agents, Banks Push Back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Inception Mercury 3: a diffusion LLM at 1,000+ tokens/s =&gt; Inception Mercury 3 Diffusion LLM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PyTorch now runs natively on Google TPUs and AWS Trainium =&gt; PyTorch on TPUs and Trainium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Mistral Voxtral 3: speech models and a voice agent SDK =&gt; Mistral Voxtral 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Agensh runs 1,024 coding agents with no lead agent =&gt; Microsoft Agensh: 1,024 Coding Agents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cuts frontier training off from the internet =&gt; OpenAI Trains Offline After DNS Escape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OSS Scanner: 29,000 findings, 516 patched =&gt; Anthropic OSS Scanner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Apple's 20B on-device model runs in about 2 GB of memory =&gt; Apple 20B On-Device Model in 2 GB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GPT-6.1 Terra: computer use at $1 per 1M tokens =&gt; OpenAI GPT-6.1 Terra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Frontier models' robot-arm skills double every 54 days =&gt; Robot-Arm Skills Double Every 54 Days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I put a wiki memory into a database? MongoDB or PostgreSQL? =&gt; Wiki Memory: MongoDB or PostgreSQL?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Andrej Karpathy has popularized the idea of using wiki as agentic memory =&gt; Karpathy's Wiki as Agentic Memory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Kimi K3.1 Pro: 2.8T open-weight model due November 4 =&gt; Kimi K3.1 Pro Open Weights Nov 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OpenAI and Anthropic claim the Exponential Time Hypothesis is false =&gt; AI Claims ETH Is False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Axiom machine-checks the longest proof in mathematics =&gt; Axiom Formalizes Finite Simple Groups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proves 123 open-source libraries never crash =&gt; Claude Proves 123 Libraries Crash-Free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 banks restrict third-party AI agents in customer accounts =&gt; US Banks Restrict AI Agents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Liquid AI LFM3: open on-device models from 1.7B =&gt; Liquid AI LFM3 On-Device Models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Phonon: a 31M-parameter text-to-speech model, now in Ollama =&gt; Phonon TTS in Ollama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Andrej Karpathy has popularized the idea of using obsidian wiki as agentic memory in April of 2026 =&gt; Karpathy: Obsidian Wiki as Agent Memory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Gemini 4 Carbon tops the leaderboards, cyber defenders first =&gt; Google Gemini 4 Carbon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unreleased Claude model found exploit chains in browsers and Windows =&gt; Claude Finds Browser &amp; OS Exploit Chains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Analysis Index v5 reshuffles the model rankings =&gt; Artificial Analysis Index v5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NVIDIA Nemotron 3.5 Transcribe: open speech model with speaker labels =&gt; NVIDIA Nemotron 3.5 Transcribe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Qwenputer: a working RISC-V CPU inside Qwen3.5's weights =&gt; Qwenputer: A CPU Inside Qwen3.5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Anthropic adds reports on what enterprise Claude spend buys =&gt; Anthropic Enterprise Spend Reports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Gemini 4 Carbon tops the leaderboards cyber defenders first =&gt; Google Gemini 4 Carbon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Mistral Large 4 weights are out: 1T parameters, open download =&gt; Mistral Large 4 Open Weights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Epoch: open models turn published fixes into exploits before users update =&gt; Open Models Turn Patches Into Exploits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leads an agent swarm? The model, and where its name sits in the prompt =&gt; Who Leads an Agent Swarm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Google Gemini 4 Carbon tops the leaderboardscyber defenders first =&gt; Google Gemini 4 Carbon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b585c93b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3fb585c93b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b585c93b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3fb585c93b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6b7f4a530f6ad7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6b7f4a530f6ad7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44700e9fbbe71d2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44700e9fbbe71d2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s-news-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s-news-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58f8c00b71791d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58f8c00b71791d6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s-youtub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s-youtub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4224e18d6e6f3f0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4224e18d6e6f3f0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3573f17abea406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3573f17abea406e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s-php2shell-ai-found-flaws-in-0e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s-php2shell-ai-found-flaws-in-0e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79282b4deea3f4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79282b4deea3f45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s-mistral-voxtral-3-speech-4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s-mistral-voxtral-3-speech-4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74c92ed2cc6733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h74c92ed2cc6733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69cee86e3be46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h69cee86e3be460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1181022f622da1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h1181022f622da1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s-openai-gpt-6-1-terra-computer-be3f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s-openai-gpt-6-1-terra-computer-be3f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s-openai-and-anthropic-claim-28f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s-openai-and-anthropic-claim-28f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s-us-banks-restrict-third-party-6cb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s-us-banks-restrict-third-party-6cb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s-an-unreleased-claude-model-41af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s-an-unreleased-claude-model-41af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s-artificial-analysis-index-v5-48ee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s-artificial-analysis-index-v5-48ee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48ce6f2a598966b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h48ce6f2a598966b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68a7c8d76f77350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h68a7c8d76f77350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s-layoff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s-layoff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s-about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s-about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s-thanks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s-thanks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arena.ai/leaderboard/model/Claude%20Opus%204.7" TargetMode="External"/><Relationship Id="rId18" Type="http://schemas.openxmlformats.org/officeDocument/2006/relationships/hyperlink" Target="https://arena.ai/leaderboard/model/Kimi%20K3%20%28Max%29" TargetMode="External"/><Relationship Id="rId26" Type="http://schemas.openxmlformats.org/officeDocument/2006/relationships/hyperlink" Target="https://arena.ai/leaderboard/model/Claude%20Opus%204.5%20%28High%2C%2032K%2C%2020251101%29" TargetMode="External"/><Relationship Id="rId3" Type="http://schemas.openxmlformats.org/officeDocument/2006/relationships/hyperlink" Target="https://en.wikipedia.org/wiki/Elo_rating_system" TargetMode="External"/><Relationship Id="rId21" Type="http://schemas.openxmlformats.org/officeDocument/2006/relationships/hyperlink" Target="https://arena.ai/leaderboard/model/Claude%20Opus%205%20%28High%29" TargetMode="External"/><Relationship Id="rId34" Type="http://schemas.openxmlformats.org/officeDocument/2006/relationships/hyperlink" Target="https://arena.ai/leaderboard/model/Gemini%203%20Pro" TargetMode="External"/><Relationship Id="rId7" Type="http://schemas.openxmlformats.org/officeDocument/2006/relationships/hyperlink" Target="https://arena.ai/leaderboard/model/Claude%20Opus%204.7%20%28High%29" TargetMode="External"/><Relationship Id="rId12" Type="http://schemas.openxmlformats.org/officeDocument/2006/relationships/hyperlink" Target="https://arena.ai/leaderboard/model/Claude%20Opus%204.6" TargetMode="External"/><Relationship Id="rId17" Type="http://schemas.openxmlformats.org/officeDocument/2006/relationships/hyperlink" Target="https://arena.ai/leaderboard/model/GPT-6.1%20Sol%20%28Max%29" TargetMode="External"/><Relationship Id="rId25" Type="http://schemas.openxmlformats.org/officeDocument/2006/relationships/hyperlink" Target="https://arena.ai/leaderboard/model/GPT-5.6%20Sol%20%28xHigh%29" TargetMode="External"/><Relationship Id="rId33" Type="http://schemas.openxmlformats.org/officeDocument/2006/relationships/hyperlink" Target="https://arena.ai/leaderboard/model/Gemini%203.1%20Pro%20Preview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ena.ai/leaderboard/model/GPT-6%20Astra%20%28Max%29" TargetMode="External"/><Relationship Id="rId20" Type="http://schemas.openxmlformats.org/officeDocument/2006/relationships/hyperlink" Target="https://arena.ai/leaderboard/model/Claude%20Fable%205.1%20%28Max%29" TargetMode="External"/><Relationship Id="rId29" Type="http://schemas.openxmlformats.org/officeDocument/2006/relationships/hyperlink" Target="https://arena.ai/leaderboard/model/Claude%20Sonnet%205.5%20%28xHigh%29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ena.ai/leaderboard/model/Gemini%204%20Carbon%20%28High%29" TargetMode="External"/><Relationship Id="rId11" Type="http://schemas.openxmlformats.org/officeDocument/2006/relationships/hyperlink" Target="https://arena.ai/leaderboard/model/Claude%20Opus%204.6%20%28High%29" TargetMode="External"/><Relationship Id="rId24" Type="http://schemas.openxmlformats.org/officeDocument/2006/relationships/hyperlink" Target="https://arena.ai/leaderboard/model/Muse%20Spark%201.1" TargetMode="External"/><Relationship Id="rId32" Type="http://schemas.openxmlformats.org/officeDocument/2006/relationships/hyperlink" Target="https://arena.ai/leaderboard/model/Gemini%203.7%20Flash%20%28High%29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arena.ai/leaderboard/model/Muse%20Spark%201.2%20%28xHigh%29" TargetMode="External"/><Relationship Id="rId23" Type="http://schemas.openxmlformats.org/officeDocument/2006/relationships/hyperlink" Target="https://arena.ai/leaderboard/model/Claude%20Opus%204.8%20%28High%29" TargetMode="External"/><Relationship Id="rId28" Type="http://schemas.openxmlformats.org/officeDocument/2006/relationships/hyperlink" Target="https://arena.ai/leaderboard/model/Claude%20Opus%204.8" TargetMode="External"/><Relationship Id="rId36" Type="http://schemas.openxmlformats.org/officeDocument/2006/relationships/hyperlink" Target="https://arena.ai/leaderboard/model/Qwen3.8-Max" TargetMode="External"/><Relationship Id="rId10" Type="http://schemas.openxmlformats.org/officeDocument/2006/relationships/hyperlink" Target="https://arena.ai/leaderboard/model/Gemini%204%20Argon%20%28High%29" TargetMode="External"/><Relationship Id="rId19" Type="http://schemas.openxmlformats.org/officeDocument/2006/relationships/hyperlink" Target="https://arena.ai/leaderboard/model/MiMo-V2.6-Pro" TargetMode="External"/><Relationship Id="rId31" Type="http://schemas.openxmlformats.org/officeDocument/2006/relationships/hyperlink" Target="https://arena.ai/leaderboard/model/Claude%20Opus%205%20%28Max%29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arena.ai/leaderboard/model/Claude%20Fable%205%20%28High%29" TargetMode="External"/><Relationship Id="rId14" Type="http://schemas.openxmlformats.org/officeDocument/2006/relationships/hyperlink" Target="https://arena.ai/leaderboard/model/Muse%20Wonder%20%28Max%29" TargetMode="External"/><Relationship Id="rId22" Type="http://schemas.openxmlformats.org/officeDocument/2006/relationships/hyperlink" Target="https://arena.ai/leaderboard/model/Muse%20Spark%201.3%20%28Max%29" TargetMode="External"/><Relationship Id="rId27" Type="http://schemas.openxmlformats.org/officeDocument/2006/relationships/hyperlink" Target="https://arena.ai/leaderboard/model/Gemini%203.8%20Flash%20%28High%29" TargetMode="External"/><Relationship Id="rId30" Type="http://schemas.openxmlformats.org/officeDocument/2006/relationships/hyperlink" Target="https://arena.ai/leaderboard/model/Muse%20Spark" TargetMode="External"/><Relationship Id="rId35" Type="http://schemas.openxmlformats.org/officeDocument/2006/relationships/hyperlink" Target="https://arena.ai/leaderboard/model/Gemini%203.6%20Flash%20%28High%29" TargetMode="External"/><Relationship Id="rId8" Type="http://schemas.openxmlformats.org/officeDocument/2006/relationships/hyperlink" Target="https://arena.ai/leaderboard/model/Claude%20Opus%205.5%20%28High%29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evaluations/artificial-analysis-intelligence-inde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google/innovation-and-ai/models-and-research/gemini-models/introducing-gemini-4-carbon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Kimi_Moonshot/status/211368070177006806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hyperlink" Target="https://www.moonshot.ai" TargetMode="External"/><Relationship Id="rId4" Type="http://schemas.openxmlformats.org/officeDocument/2006/relationships/hyperlink" Target="https://www.kimi.com/e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enturebeat.com/orchestration/a-coding-agents-harness-can-triple-its-cost-without-making-it-more-accurate-study-find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hyperlink" Target="https://www.anthropic.com/news/s1-sec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obliteration.ai" TargetMode="External"/><Relationship Id="rId3" Type="http://schemas.openxmlformats.org/officeDocument/2006/relationships/hyperlink" Target="https://block.xyz/dessa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techcrunch.com/2026/10/24/blocks-new-voice-model-sounds-eerily-human/" TargetMode="External"/><Relationship Id="rId11" Type="http://schemas.openxmlformats.org/officeDocument/2006/relationships/image" Target="../media/image9.png"/><Relationship Id="rId5" Type="http://schemas.openxmlformats.org/officeDocument/2006/relationships/hyperlink" Target="https://www.unite.ai/block-unveils-dessa-a-full-duplex-speech-model-trained-on-conversation/" TargetMode="External"/><Relationship Id="rId10" Type="http://schemas.openxmlformats.org/officeDocument/2006/relationships/image" Target="../media/image8.png"/><Relationship Id="rId4" Type="http://schemas.openxmlformats.org/officeDocument/2006/relationships/hyperlink" Target="https://www.youtube.com/watch?v=MFP7CRm2xW4" TargetMode="External"/><Relationship Id="rId9" Type="http://schemas.openxmlformats.org/officeDocument/2006/relationships/hyperlink" Target="https://z.ai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www.youtube.com/@lev-selector/videos" TargetMode="Externa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Lightricks/LTX-2.5" TargetMode="External"/><Relationship Id="rId3" Type="http://schemas.openxmlformats.org/officeDocument/2006/relationships/hyperlink" Target="https://www.marktechpost.com/2026/10/21/recursive-flint-local-coding-model/" TargetMode="External"/><Relationship Id="rId7" Type="http://schemas.openxmlformats.org/officeDocument/2006/relationships/hyperlink" Target="https://ltx.io/model/ltx-2-5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hyperlink" Target="https://github.com/recursive-oss/rec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recursive.com/updates/introducing-recursive-flint" TargetMode="External"/><Relationship Id="rId9" Type="http://schemas.openxmlformats.org/officeDocument/2006/relationships/hyperlink" Target="https://www.youtube.com/watch?v=3n90zaL7VD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vateo.medium.com/after-waterfall-agile-and-devops-anthropics-ai-native-sdlc-playbook-0131a3a9156e" TargetMode="External"/><Relationship Id="rId4" Type="http://schemas.openxmlformats.org/officeDocument/2006/relationships/hyperlink" Target="https://academy.claude.com/courses/ai-native-sdlc-playbook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bleepingcomputer.com/news/security/php-ships-emergency-patches-for-critical-php2shell-flaws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cnbc.com/2026/10/22/openai-funding-round-uae-investors.html" TargetMode="External"/><Relationship Id="rId5" Type="http://schemas.openxmlformats.org/officeDocument/2006/relationships/hyperlink" Target="https://kotaku.com/claudes-reverse-engineering-capabilities-used-to-recompile-games-may-have-been-quietly-nerfed-2000749320" TargetMode="External"/><Relationship Id="rId4" Type="http://schemas.openxmlformats.org/officeDocument/2006/relationships/hyperlink" Target="https://github.com/morluto/rea" TargetMode="External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s.openai.com/api/docs/guides/agents" TargetMode="External"/><Relationship Id="rId13" Type="http://schemas.openxmlformats.org/officeDocument/2006/relationships/image" Target="../media/image18.png"/><Relationship Id="rId3" Type="http://schemas.openxmlformats.org/officeDocument/2006/relationships/hyperlink" Target="https://github.com/features/copilot" TargetMode="External"/><Relationship Id="rId7" Type="http://schemas.openxmlformats.org/officeDocument/2006/relationships/hyperlink" Target="https://openai.github.io/openai-agents-python/" TargetMode="External"/><Relationship Id="rId12" Type="http://schemas.openxmlformats.org/officeDocument/2006/relationships/hyperlink" Target="https://www.microsoft.com/en/copilot/pricing/business-without-team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ithub.com/openai/openai-python" TargetMode="External"/><Relationship Id="rId11" Type="http://schemas.openxmlformats.org/officeDocument/2006/relationships/hyperlink" Target="https://openai.com/enterprise?trk=article-ssr-frontend-pulse_little-text-block" TargetMode="External"/><Relationship Id="rId5" Type="http://schemas.openxmlformats.org/officeDocument/2006/relationships/hyperlink" Target="https://developers.openai.com/api/docs" TargetMode="External"/><Relationship Id="rId10" Type="http://schemas.openxmlformats.org/officeDocument/2006/relationships/hyperlink" Target="https://azure.microsoft.com/en-us/products/ai-foundry" TargetMode="External"/><Relationship Id="rId4" Type="http://schemas.openxmlformats.org/officeDocument/2006/relationships/hyperlink" Target="https://learn.chatgpt.com/docs/codex/ide" TargetMode="External"/><Relationship Id="rId9" Type="http://schemas.openxmlformats.org/officeDocument/2006/relationships/hyperlink" Target="https://azure.microsoft.com/en-us/products/ai-foundry/models/openai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1.png"/><Relationship Id="rId3" Type="http://schemas.openxmlformats.org/officeDocument/2006/relationships/hyperlink" Target="https://github.com/microsoft/Agensh" TargetMode="External"/><Relationship Id="rId7" Type="http://schemas.openxmlformats.org/officeDocument/2006/relationships/image" Target="../media/image19.png"/><Relationship Id="rId12" Type="http://schemas.openxmlformats.org/officeDocument/2006/relationships/hyperlink" Target="https://www.youtube.com/watch?v=n9w7w383pJ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round.news/interest/microsoft" TargetMode="External"/><Relationship Id="rId11" Type="http://schemas.openxmlformats.org/officeDocument/2006/relationships/hyperlink" Target="https://huggingface.co/InternScience" TargetMode="External"/><Relationship Id="rId5" Type="http://schemas.openxmlformats.org/officeDocument/2006/relationships/hyperlink" Target="https://alphasignal.ai/news/microsoft-s-agensh-runs-1-024-coding-agents-without-a-central-controller" TargetMode="External"/><Relationship Id="rId10" Type="http://schemas.openxmlformats.org/officeDocument/2006/relationships/hyperlink" Target="https://huggingface.co/InternScience/Sage-A1.5" TargetMode="External"/><Relationship Id="rId4" Type="http://schemas.openxmlformats.org/officeDocument/2006/relationships/hyperlink" Target="https://arxiv.org/abs/2609.26781" TargetMode="External"/><Relationship Id="rId9" Type="http://schemas.openxmlformats.org/officeDocument/2006/relationships/hyperlink" Target="https://arxiv.org/abs/2610.28578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hyperlink" Target="https://aaif.io/blog/karpathys-llm-wiki-as-agent-memory" TargetMode="External"/><Relationship Id="rId4" Type="http://schemas.openxmlformats.org/officeDocument/2006/relationships/hyperlink" Target="https://gist.github.com/karpathy/442a6bf555914893e9891c11519de94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venturebeat.com/data/coheres-test-caught-an-open-source-qwen3-8-model-trying-to-phone-home-to-china-what-enterprises-should-know" TargetMode="External"/><Relationship Id="rId3" Type="http://schemas.openxmlformats.org/officeDocument/2006/relationships/hyperlink" Target="https://huggingface.co/Nanbeige/Nanbeige4.3-33B" TargetMode="External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airealist.ai/p/exploring-apple-on-device-model" TargetMode="External"/><Relationship Id="rId5" Type="http://schemas.openxmlformats.org/officeDocument/2006/relationships/image" Target="../media/image25.png"/><Relationship Id="rId4" Type="http://schemas.openxmlformats.org/officeDocument/2006/relationships/hyperlink" Target="https://www.marktechpost.com/2026/10/25/nanbeige-releases-nanbeige4-3-33b-open-agentic-coding-model/" TargetMode="External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hyperlink" Target="https://openai.com/index/introducing-gpt-6-1-terra/" TargetMode="Externa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jpeg"/><Relationship Id="rId5" Type="http://schemas.openxmlformats.org/officeDocument/2006/relationships/hyperlink" Target="https://deepmind.google/blog/genie-4-a-new-generation-of-world-simulation/" TargetMode="External"/><Relationship Id="rId4" Type="http://schemas.openxmlformats.org/officeDocument/2006/relationships/hyperlink" Target="https://www.lesswrong.com/posts/ndS9Xn8Qx5PppHJ3Q/the-ability-of-frontier-models-to-control-robots-is-rapidly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hyperlink" Target="https://www.webpronews.com/openai-anthropic-exponential-time-hypothesis-refuted-sat" TargetMode="External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png"/><Relationship Id="rId5" Type="http://schemas.openxmlformats.org/officeDocument/2006/relationships/hyperlink" Target="https://interestingengineering.com/ai-robotics/claude-formal-verification-software-security" TargetMode="External"/><Relationship Id="rId4" Type="http://schemas.openxmlformats.org/officeDocument/2006/relationships/hyperlink" Target="https://axiommath.ai/research/the-enormous-theorem-formalized/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hyperlink" Target="https://www.liquid.ai/blog/lfm3" TargetMode="External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4.png"/><Relationship Id="rId5" Type="http://schemas.openxmlformats.org/officeDocument/2006/relationships/hyperlink" Target="https://openai.com/index/building-scientific-understanding-with-academic-communities/" TargetMode="External"/><Relationship Id="rId4" Type="http://schemas.openxmlformats.org/officeDocument/2006/relationships/hyperlink" Target="https://ollama.com/blog/speech-models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nthropic.com/research/discovering-vulnerabilities-with-claude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8.jpeg"/><Relationship Id="rId5" Type="http://schemas.openxmlformats.org/officeDocument/2006/relationships/hyperlink" Target="https://huggingface.co/blog/nvidia/nemotron-transcribe-granary" TargetMode="Externa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evaluations/artificial-analysis-intelligence-index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9.png"/><Relationship Id="rId4" Type="http://schemas.openxmlformats.org/officeDocument/2006/relationships/hyperlink" Target="https://artificialanalysis.ai/ko/articles/artificial-analysis-intelligence-index-v5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le.com/shop/buy-mac/mac-studio/m5-ultra-chip-36-core-cpu-80-core-gpu-512gb-memory-16tb-storage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.png"/><Relationship Id="rId5" Type="http://schemas.openxmlformats.org/officeDocument/2006/relationships/image" Target="../media/image40.jpeg"/><Relationship Id="rId4" Type="http://schemas.openxmlformats.org/officeDocument/2006/relationships/hyperlink" Target="https://fortune.com/2026/10/26/elon-musk-ai-boom-debt-neoclouds/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hyperlink" Target="https://www.youtube.com/watch?v=ezM5YR9twRE" TargetMode="External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epoch.ai/publications/open-weight-models-patch-gap" TargetMode="External"/><Relationship Id="rId5" Type="http://schemas.openxmlformats.org/officeDocument/2006/relationships/hyperlink" Target="https://mistral.ai/news/mistral-large-4-oss/" TargetMode="Externa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hyperlink" Target="https://trueup.io/layoffs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ais.ai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drive.google.com/drive/folders/1dmj00iilSP-JYmriMUUaHCKz5X54e3UX?ths=true" TargetMode="External"/><Relationship Id="rId4" Type="http://schemas.openxmlformats.org/officeDocument/2006/relationships/hyperlink" Target="https://github.com/lselector/semin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6576" y="-27432"/>
            <a:ext cx="2896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 - Oct 30, 2026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915950" y="193175"/>
            <a:ext cx="1776300" cy="14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Confessions: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- to a parent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- to a priest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- to accountant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- to AI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575" y="393200"/>
            <a:ext cx="33315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LM Arena Leaderboard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Google Gemini 4 Carbon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Kimi K3.1 Pro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Harness Can Change the Cost x3 fold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Anthropic IPO - filed S-1 for Nasdaq listing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Dessa: Speech-Only Voice AI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Obliterated Large V2: Security AI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Flint - Fast Local Coding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LTX 2.5: Downloadable AI Video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Claude Academy - The AI-native SDLC playbook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575" y="2511555"/>
            <a:ext cx="3331500" cy="2419500"/>
          </a:xfrm>
          <a:prstGeom prst="rect">
            <a:avLst/>
          </a:prstGeom>
          <a:solidFill>
            <a:srgbClr val="E2F0D9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PHP2Shell: AI Finds Critical PHP Bugs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Claude REA Restrictions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OpenAI Raise at $1.25T Valuation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AI Tools in the Office - OpenAI &amp; Microsoft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Microsoft Agensh runs 1,024 coding agents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Sage-A1.5 - Small Science Agent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Wiki Memory: MongoDB or PostgreSQL?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Karpathy: Obsidian Wiki as Agent Memory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AI Novelist Publishes 371 Books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Nanbeige4.3-33B on Hugging Face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Apple 20B On-Device Model in 2 GB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Qwen tried uploading stuff back to China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OpenAI GPT-6.1 Terra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432047" y="1484950"/>
            <a:ext cx="3331500" cy="1680900"/>
          </a:xfrm>
          <a:prstGeom prst="rect">
            <a:avLst/>
          </a:prstGeom>
          <a:solidFill>
            <a:srgbClr val="DEEBF7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Robot-Arm Skills Double Every 54 Days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Genie 4: Interactive AI Worlds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AI Claims ETH Is False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Axiom Formalizes Finite Simple Groups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Claude Proves 123 Libraries Crash-Free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Liquid AI LFM3 On-Device Models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Phonon TTS in Ollama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OpenAI’s Claimed Science Advances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Claude found exploits in browsers and Windows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432047" y="3250156"/>
            <a:ext cx="33315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NVIDIA Nemotron 3.5 Transcribe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Artificial Analysis v5 Shakeup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Mac Studio M5 Ultra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Why AI Cloud Firms Face Trouble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AI caused a Software Firm’s End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Mistral Large 4 Open Weights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Open Models Turn Patches Into Exploits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The Tech Layoff Tracker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Tech Layoffs by year (US only)</a:t>
            </a:r>
            <a:endParaRPr sz="1200" b="1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5947" y="2102725"/>
            <a:ext cx="2075653" cy="207565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11900" y="350488"/>
            <a:ext cx="20904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LM Arena Text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952750" y="352250"/>
            <a:ext cx="2404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LM Arena Coding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Oct 27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" name="Google Shape;70;p14"/>
          <p:cNvGraphicFramePr/>
          <p:nvPr/>
        </p:nvGraphicFramePr>
        <p:xfrm>
          <a:off x="5742420" y="430065"/>
          <a:ext cx="804500" cy="571500"/>
        </p:xfrm>
        <a:graphic>
          <a:graphicData uri="http://schemas.openxmlformats.org/drawingml/2006/table">
            <a:tbl>
              <a:tblPr>
                <a:noFill/>
                <a:tableStyleId>{DBFB7FCE-0512-4828-B285-EFB33EF349FB}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" name="Google Shape;71;p14"/>
          <p:cNvSpPr txBox="1"/>
          <p:nvPr/>
        </p:nvSpPr>
        <p:spPr>
          <a:xfrm>
            <a:off x="7080550" y="485750"/>
            <a:ext cx="2011800" cy="2327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Claude Fable 5 - (~6T)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Claude Opus 4.8 - (~5T)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Claude Sonnet 4.5 -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Claude Sonnet 5 -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GLM-5.3 - ~744B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 Spark Open - 816B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Qwen3.8-Max - 2.4T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~800B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 V4 Pro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 V4.1 Flash - 552B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Kimi K3 - 2.8T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MiMo-V2.5-Pro - 1.02T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ByteDance Seed 2.0 Pro -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M3 - ~428B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" name="Google Shape;72;p14"/>
          <p:cNvGraphicFramePr/>
          <p:nvPr/>
        </p:nvGraphicFramePr>
        <p:xfrm>
          <a:off x="2910338" y="744418"/>
          <a:ext cx="2489700" cy="3905278"/>
        </p:xfrm>
        <a:graphic>
          <a:graphicData uri="http://schemas.openxmlformats.org/drawingml/2006/table">
            <a:tbl>
              <a:tblPr>
                <a:noFill/>
                <a:tableStyleId>{DBFB7FCE-0512-4828-B285-EFB33EF349FB}</a:tableStyleId>
              </a:tblPr>
              <a:tblGrid>
                <a:gridCol w="32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Gemini 4 Carbon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1573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 Opus 4.7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 Opus 5.5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 Fable 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Gemini 4 Argon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Claude Opus 4.6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Claude Opus 4.6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Claude Opus 4.7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Muse Wonder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 Spark 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GPT-6 Astra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GPT-6.1 Sol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Kimi K3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MiMo-V2.6-Pro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 Fable 5.1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 Opus 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Muse Spark 1.3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 Opus 4.8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Muse Spark 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5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GPT-5.6 Sol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Claude Opus 4.5 (High, 32K, 20251101)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Gemini 3.8 Flash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Claude Opus 4.8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Claude Sonnet 5.5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Muse 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73" name="Google Shape;73;p14"/>
          <p:cNvGraphicFramePr/>
          <p:nvPr/>
        </p:nvGraphicFramePr>
        <p:xfrm>
          <a:off x="423650" y="745044"/>
          <a:ext cx="1828800" cy="3905278"/>
        </p:xfrm>
        <a:graphic>
          <a:graphicData uri="http://schemas.openxmlformats.org/drawingml/2006/table">
            <a:tbl>
              <a:tblPr>
                <a:noFill/>
                <a:tableStyleId>{DBFB7FCE-0512-4828-B285-EFB33EF349FB}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Gemini 4 Carbon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Gemini 4 Argon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 Opus 5.5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Muse Wonder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 Fable 5.1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 Fable 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Claude Opus 4.6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 Opus 4.7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Claude Opus 4.6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Gemini 3.8 Flash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Muse Spark 1.3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Claude Opus 4.7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 Spark 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Claude Opus 5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Claude Opus 5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Muse Spark 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Gemini 3.7 Flash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Muse 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Kimi K3 (Max)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Gemini 3.1 Pro 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Gemini 3 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GPT-5.6 Sol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Gemini 3.6 Flash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3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Claude Opus 4.8 (High)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38150" y="2125"/>
            <a:ext cx="4493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52430" y="355163"/>
            <a:ext cx="44295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https://artificialanalysis.ai/evaluations/artificial-analysis-intelligence-index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934676" y="1088150"/>
            <a:ext cx="9447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Oct 29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5" descr="auto: aa-index-chart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727" y="1669032"/>
            <a:ext cx="8143546" cy="332853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2" name="Google Shape;82;p15"/>
          <p:cNvSpPr/>
          <p:nvPr/>
        </p:nvSpPr>
        <p:spPr>
          <a:xfrm>
            <a:off x="6893440" y="3007403"/>
            <a:ext cx="233100" cy="383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3351246" y="3569513"/>
            <a:ext cx="233100" cy="383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976825" y="3681934"/>
            <a:ext cx="233100" cy="383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/>
        </p:nvSpPr>
        <p:spPr>
          <a:xfrm>
            <a:off x="36574" y="-27425"/>
            <a:ext cx="3038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Google Gemini 4 Carbon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09801" y="381602"/>
            <a:ext cx="4462200" cy="288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Gemini 4 Carbon tops the leaderboards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cyber defenders first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Released four weeks after Gemini 4 Argon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aimed at cybersecurity and long-horizon tasks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Carbon vs Argon - improves coding, long-running agent workflows, cybersecurity, and long-context reasoning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#1 on Artificial Analysis Intelligence Index v5 at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59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ahead of Opus 5.5 at 58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#1 in LM Arena Text at 1528;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88.2% on SEC-bench Pro for finding vulnerabilities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Still trails Claude Code with Opus 5.5 on the Coding Agent Index,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59 vs 62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1M-token context window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Intro pricing $2 / $10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https://blog.google/innovation-and-ai/models-and-research/gemini-models/introducing-gemini-4-carbon/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17726" y="237608"/>
            <a:ext cx="3694150" cy="44865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Kimi K3.1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74875" y="361175"/>
            <a:ext cx="4497000" cy="1911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Kimi K3.1 Pro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Beijing-based Moonshot AI launched Kimi K3.1 Pro on October 23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coding, finance, 3D modeling, and autonomous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2.8 Trillion params MoE (104B active)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window 1M-tokens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vai Kimi apps, coding tools, and API;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Highspeed reportedly runs two to three times faster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weights are promised by November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https://x.com/Kimi_Moonshot/status/2113680701770068067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https://www.kimi.com/en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https://www.moonshot.ai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5125" y="2370300"/>
            <a:ext cx="7238126" cy="26838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9" name="Google Shape;99;p17"/>
          <p:cNvSpPr txBox="1"/>
          <p:nvPr/>
        </p:nvSpPr>
        <p:spPr>
          <a:xfrm>
            <a:off x="5131975" y="361175"/>
            <a:ext cx="37512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Kimi K3.1 Pro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Excellent Rubik’s Cube simulation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Inaccurate product renders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Unsuccessful knot demonstrations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Imperfect games.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Weaker reliability than leading proprietary competitors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Pricing $2/$10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36575" y="429150"/>
            <a:ext cx="3243600" cy="214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Harness Can Change the Cost x3 fold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Shandong University evaluated 3 harnesses (Claude Code, OpenCode, and mini-SWE-agent) with 5 coding models.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Tested 492 offline SWE-bench Verified tasks in isolated containers.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harness can cost up to x3 more without an accuracy gain.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Leaner agent scaffolding can reduce inference spending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https://venturebeat.com/orchestration/a-coding-agents-harness-can-triple-its-cost-without-making-it-more-accurate-study-finds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6320" y="128888"/>
            <a:ext cx="5735600" cy="3063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7" name="Google Shape;107;p18"/>
          <p:cNvSpPr txBox="1"/>
          <p:nvPr/>
        </p:nvSpPr>
        <p:spPr>
          <a:xfrm>
            <a:off x="36575" y="3416300"/>
            <a:ext cx="3243600" cy="1496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IPO - filed S-1 for Nasdaq listing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Stats: $67.2 Bln ARR, $131.7 Bln in cash, and over 11,900 customers spending at least $100,000 annually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Founders retain 50.1% voting control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remains advertising-free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Offering price and share count undetermined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https://www.anthropic.com/news/s1-sec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96325" y="3593813"/>
            <a:ext cx="1987149" cy="11410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/>
        </p:nvSpPr>
        <p:spPr>
          <a:xfrm>
            <a:off x="36572" y="-27425"/>
            <a:ext cx="4535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36575" y="391650"/>
            <a:ext cx="52854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Dessa: Speech-Only Voice AI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Research Preview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Dessa is a conversational AI trained entirely on human speech, without text or pretrained models.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Dessa processes speech directly and listens while speaking, supporting interruptions, laughter, sarcasm, and natural conversational timing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doesn't sound robotic, it sounds very human. Can potentially be used in phone scams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says it runs locally on a MacBook Pro M4 Max or better - no cloud needed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Developed at Jack Dorsey’s Block, a U.S. company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https://block.xyz/dessa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https://www.youtube.com/watch?v=MFP7CRm2xW4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video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https://www.unite.ai/block-unveils-dessa-a-full-duplex-speech-model-trained-on-conversation/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95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https://techcrunch.com/2026/10/24/blocks-new-voice-model-sounds-eerily-human/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1978" y="168600"/>
            <a:ext cx="3522645" cy="152694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6" name="Google Shape;116;p19"/>
          <p:cNvSpPr txBox="1"/>
          <p:nvPr/>
        </p:nvSpPr>
        <p:spPr>
          <a:xfrm>
            <a:off x="36575" y="2903825"/>
            <a:ext cx="52854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Obliterated Large V2: Security AI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Obliteration’s Large V2 for security researchers and red teams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builds on Z.ai’s GLM 5.3, modifying refusal behavior to support authorized penetration testing and security investigations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1M tokens context window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cases - identifying vulnerabilities, ranking severity, recommending defensive fixes, and generating regression tests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https://obliteration.ai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https://z.ai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8750" y="2188301"/>
            <a:ext cx="2569176" cy="134886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8" name="Google Shape;118;p19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8750" y="3605990"/>
            <a:ext cx="2569174" cy="14451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/>
        </p:nvSpPr>
        <p:spPr>
          <a:xfrm>
            <a:off x="36576" y="-27432"/>
            <a:ext cx="351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20" descr="auto: youtube-videos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9500" y="1021777"/>
            <a:ext cx="2461825" cy="262676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5" name="Google Shape;125;p20" descr="auto: youtube-shorts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0227" y="2703305"/>
            <a:ext cx="2133622" cy="223725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6" name="Google Shape;126;p20"/>
          <p:cNvSpPr txBox="1"/>
          <p:nvPr/>
        </p:nvSpPr>
        <p:spPr>
          <a:xfrm>
            <a:off x="102375" y="725485"/>
            <a:ext cx="4161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7.68K subscribers, 384 videos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6575" y="485025"/>
            <a:ext cx="44814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Flint - Fast Local Coding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launched Flint on Oct21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local coding, MoE, 40B params total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125+ tokens/sec on an M4 Pro MacBook Pro with 48GB memory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https://www.marktechpost.com/2026/10/21/recursive-flint-local-coding-model/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Qwen3.8-27B has stronger reported code quality, 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while Flint’s advantage is speed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Flint is best suited to small, verifiable coding iterations rather than complex unattended 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https://recursive.com/updates/introducing-recursive-flint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https://github.com/recursive-oss/rec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8975" y="494674"/>
            <a:ext cx="3973315" cy="22350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4" name="Google Shape;134;p21"/>
          <p:cNvSpPr txBox="1"/>
          <p:nvPr/>
        </p:nvSpPr>
        <p:spPr>
          <a:xfrm>
            <a:off x="36575" y="2811575"/>
            <a:ext cx="4481400" cy="209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LTX 2.5: Downloadable AI Video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Lightricks, based in Jerusalem, Israel, developed LTX 2.5, an open-weights audio-video model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video with synchronized speech, lip movements, and environmental audio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Native multi-shot generation maintains characters, settings, lighting, and voices across connected shots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diffusion video decoder improves faces, textures, text, and motion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Hosted generation or self-hosted NVIDIA GPU execution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https://ltx.io/model/ltx-2-5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https://huggingface.co/Lightricks/LTX-2.5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https://www.youtube.com/watch?v=3n90zaL7VDs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8975" y="2811575"/>
            <a:ext cx="2610392" cy="1957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4550" y="793388"/>
            <a:ext cx="3094000" cy="270147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2" name="Google Shape;142;p22"/>
          <p:cNvSpPr txBox="1"/>
          <p:nvPr/>
        </p:nvSpPr>
        <p:spPr>
          <a:xfrm>
            <a:off x="166450" y="633075"/>
            <a:ext cx="4481400" cy="3389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Academy - The AI-native SDLC playbook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 lessons, 1 hour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writes over 80% of code merged at Anthropic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Anthropic proposes an AI-native software development lifecycle spanning planning, design, building, testing, deployment, and maintenance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accelerates coding, but human-paced handoffs, reviews, and approvals still delay delivery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- connect humans and agents through Git-versioned intent, specifications, implementation plans, tests, and incident records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 plays combine automated checks, policy enforcement, regression evaluations, and auditable evidence; humans retain responsibility for intent, risk, and production authorization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Redesigning the entire delivery process could improve throughput and governance, although this remains an emerging approach, not an established industry standard.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https://academy.claude.com/courses/ai-native-sdlc-playbook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https://vateo.medium.com/after-waterfall-agile-and-devops-anthropics-ai-native-sdlc-playbook-0131a3a9156e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112800" y="365650"/>
            <a:ext cx="3785400" cy="158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PHP2Shell: AI-found flaws in PHP hit 70% of the web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Two unauthenticated RCE bugs</a:t>
            </a:r>
            <a:endParaRPr sz="1200" b="1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Found using OpenAI's GPT-5.6 Sol and Gemini 4 Argon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code sat in PHP for about 14 years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Palo Alto Networks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counted </a:t>
            </a:r>
            <a:r>
              <a:rPr lang="en" sz="1200" b="1">
                <a:solidFill>
                  <a:srgbClr val="FF0000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22.6 Mln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exposed instances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Attacks started before the Oct 21 patch;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Finland and the Netherlands pulled sites offline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https://bleepingcomputer.com/news/security/php-ships-emergency-patches-for-critical-php2shell-flaws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112800" y="2223037"/>
            <a:ext cx="3785400" cy="1218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REA Restrictions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REA: Reverse Engineer Anything - open source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https://github.com/morluto/rea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408K stars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Users reported Claude blocking some REA tasks - interrupts certain analyses with safety refusals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https://kotaku.com/claudes-reverse-engineering-capabilities-used-to-recompile-games-may-have-been-quietly-nerfed-2000749320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112800" y="3854150"/>
            <a:ext cx="4383000" cy="895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nears $30B round at a $1.25 trillion valuation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Round of up to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$30 billion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led by investors from the UAE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Valuation of $1.25 Trillion, the highest for any private company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Pitched as a bridge ahead of a possible IPO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https://www.cnbc.com/2026/10/22/openai-funding-round-uae-investors.html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3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42075" y="113200"/>
            <a:ext cx="1973888" cy="18409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2" name="Google Shape;152;p23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42075" y="2223049"/>
            <a:ext cx="2354449" cy="1218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3" name="Google Shape;153;p23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8200" y="3726969"/>
            <a:ext cx="2354450" cy="126413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/>
        </p:nvSpPr>
        <p:spPr>
          <a:xfrm>
            <a:off x="36575" y="-27425"/>
            <a:ext cx="47259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Tools in the Office - OpenAI &amp; Microsoft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68325" y="355300"/>
            <a:ext cx="4429500" cy="420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Tools in the Office - OpenAI &amp; Microsoft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GitHub Copilot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(Microsoft/GitHub) - AI coding assistance in VS Code, IntelliJ IDEA, PyCharm, and other IDEs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https://github.com/features/copilot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Codex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(CLI, IDE extension, app, and cloud</a:t>
            </a:r>
            <a:br>
              <a:rPr lang="en" sz="11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https://learn.chatgpt.com/docs/codex/ide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models via API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- text generation, reasoning, structured output, image/audio processing, and tool calling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https://developers.openai.com/api/docs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Python SDK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package "openai" - lower-level client library</a:t>
            </a:r>
            <a:br>
              <a:rPr lang="en" sz="11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https://github.com/openai/openai-python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Agents SDK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package “openai-agents”, imported as “agents”: A higher-level framework for building your own agents. Adds an agent execution loop, Python tools, delegation/handoffs, guardrails, sessions, and tracing on top of model calls - </a:t>
            </a: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https://openai.github.io/openai-agents-python/</a:t>
            </a:r>
            <a:r>
              <a:rPr lang="en" sz="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Agents API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runs agents in OpenAI cloud</a:t>
            </a:r>
            <a:br>
              <a:rPr lang="en" sz="11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https://developers.openai.com/api/docs/guides/agents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Azure OpenAI / Microsoft Foundry</a:t>
            </a:r>
            <a:br>
              <a:rPr lang="en" sz="11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https://azure.microsoft.com/en-us/products/ai-foundry/models/openai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Agent Framework - open-source SDK</a:t>
            </a:r>
            <a:br>
              <a:rPr lang="en" sz="11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https://azure.microsoft.com/en-us/products/ai-foundry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ChatGPT Business / Enterprise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employee-facing ChatGPT workspace</a:t>
            </a:r>
            <a:br>
              <a:rPr lang="en" sz="11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https://openai.com/enterprise?trk=article-ssr-frontend-pulse_little-text-block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365 Copilot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- Outlook, Teams, Word, Excel, and PowerPoint</a:t>
            </a:r>
            <a:br>
              <a:rPr lang="en" sz="1100"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https://www.microsoft.com/en/copilot/pricing/business-without-teams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07950" algn="l" rtl="0">
              <a:spcBef>
                <a:spcPts val="0"/>
              </a:spcBef>
              <a:spcAft>
                <a:spcPts val="0"/>
              </a:spcAft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Copilot Studio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- low-code building custom business agents and workflows 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https://www.microsoft.com/en/copilot/pricing/business-without-teams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681575"/>
            <a:ext cx="4493676" cy="317963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/>
        </p:nvSpPr>
        <p:spPr>
          <a:xfrm>
            <a:off x="36576" y="-27432"/>
            <a:ext cx="11772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109800" y="559350"/>
            <a:ext cx="4354500" cy="2558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Microsoft Agensh runs 1,024 coding agents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Microsoft Research open-sourced the harness under MIT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orchestrator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: each worker claims a sub-task,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shares findings and merges to one Git repo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Agents talk over Mattermost messaging platform and a shared board of typed notes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 ProgramBench’s Pandoc task, pass rate rose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from 33.89% with 1 agent to 55.06% with 1,024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128 agents passed 30% in 30 min; 8 agents needed 90 min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Linux, Docker Compose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https://github.com/microsoft/Agensh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https://arxiv.org/abs/2609.26781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https://alphasignal.ai/news/microsoft-s-agensh-runs-1-024-coding-agents-without-a-central-controller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https://ground.news/interest/microsoft</a:t>
            </a:r>
            <a:r>
              <a:rPr lang="en" sz="90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25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08663" y="102975"/>
            <a:ext cx="3057000" cy="17630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8" name="Google Shape;168;p25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71888" y="1866000"/>
            <a:ext cx="2293775" cy="96648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9" name="Google Shape;169;p25"/>
          <p:cNvSpPr txBox="1"/>
          <p:nvPr/>
        </p:nvSpPr>
        <p:spPr>
          <a:xfrm>
            <a:off x="109800" y="3170318"/>
            <a:ext cx="4354500" cy="1865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Sage-A1.5 - Small Science Agent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MoE 35B/3B, from InternScience, China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81 vs GPT-5.6-sol’s 73 on FrontierScience-Olympiad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80 vs the nearest competitor’s 50 on condensed-matter theory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Parallel helpers, optional self-verification and review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Trails leading models in web search and coding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Quantized weights fit a 24GB GPU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https://arxiv.org/abs/2610.28578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https://huggingface.co/InternScience/Sage-A1.5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https://huggingface.co/InternScience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https://www.youtube.com/watch?v=n9w7w383pJY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749636" y="3246080"/>
            <a:ext cx="3048000" cy="1714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/>
        </p:nvSpPr>
        <p:spPr>
          <a:xfrm>
            <a:off x="36575" y="-27425"/>
            <a:ext cx="4030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Wiki Memory in a Database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68325" y="474575"/>
            <a:ext cx="5194500" cy="4423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Can I put a wiki memory into a database? MongoDB or PostgreSQL?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7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Will I be able to reproduce the speed and quality of the local search?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7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How local search works: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 python script does an exact substring or regex scan, then sort by match count with a title bonus. The real quality comes from the agent working in a loop: grep, read the page, follow the [[links]], grep again.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7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database keeps that quality as long as it offers the same four operations with the same exact-match behavior.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7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Both PostgreSQL and MongoDB can store wiki pages, metadata, and links.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7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Preserve the agent’s search, read, follow-links, and search-again loop, including match counts and title bonuses.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7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PostgreSQL’s pg_trgm indexes accelerate substring and regex searches, but short or broad patterns may still scan extensively.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7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PostgreSQL regex behavior differs from Python’s; test compatibility and escape literal substring queries correctly.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7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Full-text search and vector search are optional additions, not replacements for exact matching.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7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Store links in a relationship table and flexible metadata in jsonb.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7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Benchmark realistic workloads; page count alone cannot guarantee millisecond responses.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7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MongoDB supports substring regex and self-managed search, but PostgreSQL better fits this exact-search-first design.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44317" y="474578"/>
            <a:ext cx="1427825" cy="14278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8" name="Google Shape;178;p26"/>
          <p:cNvSpPr txBox="1"/>
          <p:nvPr/>
        </p:nvSpPr>
        <p:spPr>
          <a:xfrm>
            <a:off x="5352225" y="2021660"/>
            <a:ext cx="3697200" cy="214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Andrej Karpathy has popularized the idea of using obsidian wiki as agentic memory in April of 2026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Idea - preserve original sources, let an LLM maintain interlinked Markdown pages, and use instruction files to govern updates, organization, and consistency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Agents ingest sources, answer questions, and check the wiki for contradictions, outdated information, and missing connections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Knowledge accumulates as persistent, human-readable memory rather than being rebuilt for every query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https://gist.github.com/karpathy/442a6bf555914893e9891c11519de94f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https://aaif.io/blog/karpathys-llm-wiki-as-agent-memory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1168" y="616988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/>
        </p:nvSpPr>
        <p:spPr>
          <a:xfrm>
            <a:off x="36575" y="-27425"/>
            <a:ext cx="4030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South African AI-novelist Coral Hart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97060" y="599544"/>
            <a:ext cx="5361000" cy="3343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South African AI-novelist Coral Hart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says she has published 371 books, many of them romance novels, using AI since February 2025.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She develops the concepts, characters, style, and chapter outlines, then uses tools including ChatGPT, Claude, and Grok to generate and revise the text.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human proofreader checks and rewrites portions before publication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Hart estimates that she has sold over one million copies and earned more than US$1 million in 2026, but those financial figures have not been independently verified in the reporting reviewed.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viral post’s claim that a finished book takes just 45 minutes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She sells through Amazon, at least: reporting on Coral Hart says one of her novels reached an Amazon top-100 bestseller list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Her reported sales span e-books, print books, and audiobooks, but the sources do not provide a complete list of retailers or audiobook platforms. I could not confirm Kobo, Apple Books, Audible, or other specific stores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She publishes under more than ten other pen names, so searching only for “Coral Hart” would not reveal her full catalogue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million-copy sales figure is her own estimate across formats—not a verified Amazon-only sales total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3600" y="637625"/>
            <a:ext cx="2729450" cy="32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/>
        </p:nvSpPr>
        <p:spPr>
          <a:xfrm>
            <a:off x="36575" y="-27425"/>
            <a:ext cx="4030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142500" y="355625"/>
            <a:ext cx="44295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Nanbeige4.3-33B on Hugging Face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Nanbeige LLM Lab, part of BOSS Zhipin,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Beijing, China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https://huggingface.co/Nanbeige/Nanbeige4.3-33B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33B params dense model for coding agents and office work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 Source - Apache 2.0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; 524K-token context window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https://www.marktechpost.com/2026/10/25/nanbeige-releases-nanbeige4-3-33b-open-agentic-coding-model/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For complex, multistep workflows through reasoning, tool calling, and retained reasoning across interactions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Leads in 17 of 20 comparison benchmarks, including 80.9 on Terminal-Bench 2.1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Planned smaller 3B version, through distillation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8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1855" y="564025"/>
            <a:ext cx="2668599" cy="20077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4" name="Google Shape;194;p28"/>
          <p:cNvSpPr txBox="1"/>
          <p:nvPr/>
        </p:nvSpPr>
        <p:spPr>
          <a:xfrm>
            <a:off x="122608" y="2663358"/>
            <a:ext cx="4462200" cy="126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Apple's 20B on-device model runs in about 2 GB of memory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20 Bln params model that keeps most weights in flash storage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Only 1 to 4 Bln parameters are active per prompt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 an M3 Max Mac it used roughly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2 GB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of memory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Energy use was much lower than comparable open models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Weaker at math than those open models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https://www.airealist.ai/p/exploring-apple-on-device-model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1859" y="2691487"/>
            <a:ext cx="1464147" cy="12088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6" name="Google Shape;196;p28"/>
          <p:cNvSpPr txBox="1"/>
          <p:nvPr/>
        </p:nvSpPr>
        <p:spPr>
          <a:xfrm>
            <a:off x="129700" y="4001175"/>
            <a:ext cx="4455000" cy="1034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Qwen tried uploading stuff back to China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Canada’s Cohere reported that China’s Alibaba Qwen3.8-Flash-Next attempted an unauthorized upload to Alibaba Cloud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This was detected during a sandboxed cybersecurity evaluation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https://venturebeat.com/data/coheres-test-caught-an-open-source-qwen3-8-model-trying-to-phone-home-to-china-what-enterprises-should-know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1855" y="4020025"/>
            <a:ext cx="1177079" cy="10344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119526" y="321125"/>
            <a:ext cx="4919100" cy="163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GPT-6.1 Terra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Mid-tier model for screens, apps and writing,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gpt-6.1-terra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Pricing  $1 / $5  in/out per 1M tokens - half of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GPT-5.6 Terra or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GPT-6.1 Sol,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OpenAI says 15 points better than GPT-5.6 Terra on computer use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at about one-third the cost (lower pricing and lower tokens' usage)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Terminal-Bench 4.0 up from 21.5% to 50.3%, still behind Sol at 55.9%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Artificial Analysis: it guesses on 38% of unknowns vs 88% for GPT-5.6 Terra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1.05M-token context; in ChatGPT Work, Codex and the API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https://openai.com/index/introducing-gpt-6-1-terra/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116149" y="1988300"/>
            <a:ext cx="4919100" cy="1403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Frontier models' robot-arm skills double every 54 days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Researchers tested nine multimodal models on six real robot-arm tasks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Tests ran from July to October 2026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Performance doubled about every 54 days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Best execution rate rose 4.4x; lowest cost per subtask fell 6.2x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Models are held back mostly by efficiency and precision, not reasoning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https://www.lesswrong.com/posts/ndS9Xn8Qx5PppHJ3Q/the-ability-of-frontier-models-to-control-robots-is-rapidly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9"/>
          <p:cNvSpPr txBox="1"/>
          <p:nvPr/>
        </p:nvSpPr>
        <p:spPr>
          <a:xfrm>
            <a:off x="116150" y="3424475"/>
            <a:ext cx="4919100" cy="163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Genie 4: Interactive AI Worlds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Google DeepMind announced Genie 4’s research preview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95250" algn="l" rtl="0">
              <a:spcBef>
                <a:spcPts val="0"/>
              </a:spcBef>
              <a:spcAft>
                <a:spcPts val="0"/>
              </a:spcAft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https://deepmind.google/blog/genie-4-a-new-generation-of-world-simulation/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Interactive worlds featuring native sound, music and dialogue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Users change weather, cameras, characters and objects through live text prompts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Use cases - rapid film and game prototyping, with potential for safer robot and AI-agent training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Improved physics and human movement increase realism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7175" y="3424472"/>
            <a:ext cx="2906155" cy="16346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7" name="Google Shape;207;p29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97175" y="1988300"/>
            <a:ext cx="1815074" cy="14036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8" name="Google Shape;208;p2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7175" y="321125"/>
            <a:ext cx="2724491" cy="16346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124850" y="373163"/>
            <a:ext cx="55752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and Anthropic claim the Exponential Time Hypothesis is false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Exponential Time Hypothesis (ETH) is a hypothesis in computational complexity stating that solving certain problems requires exponential time in the worst case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OpenAI posted a preprint and a Lean-verified proof that ETH fails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Anthropic published a parallel refutation credited to Claude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ETH has been assumed for about 30 years; hundreds of papers rely on it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Not peer reviewed yet; OpenAI says it gives no practical SAT algorithm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https://www.webpronews.com/openai-anthropic-exponential-time-hypothesis-refuted-sat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112775" y="1867175"/>
            <a:ext cx="5587200" cy="163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Axiom machine-checks the longest proof in mathematics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Complete Lean formalization of the Classification of Finite Simple Groups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Original proof: about 15,000 pages in 500+ papers by 100+ mathematicians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Agent swarms wrote about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43 million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lines of Lean in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24 days</a:t>
            </a:r>
            <a:endParaRPr sz="12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Agents claimed tasks, reviewed each other and merged through GitHub,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with human guidance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Fixed hundreds of errata in the published proof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Now the largest computer-verified proof, past the four-color theorem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https://axiommath.ai/research/the-enormous-theorem-formalized/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112775" y="3571996"/>
            <a:ext cx="55872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proves 123 open-source libraries never crash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Anthropic and Theorem covered 239 fuzz entry points in 123 OSS-Fuzz libraries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About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180 million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lines of Rocq proofs, checked by the Rocq kernel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Claim: no crash for any input under 64 MB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turned each fuzz test into a spec, then wrote the proof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Found and patched bugs that fuzzing had missed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Limits: single-threaded static RISC-V binaries on Linux with musl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https://interestingengineering.com/ai-robotics/claude-formal-verification-software-security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3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6525" y="3780235"/>
            <a:ext cx="2745674" cy="10334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8" name="Google Shape;218;p3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6525" y="1897619"/>
            <a:ext cx="2307818" cy="1634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9" name="Google Shape;219;p30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6525" y="335903"/>
            <a:ext cx="1807999" cy="1449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109800" y="433950"/>
            <a:ext cx="5364600" cy="163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Liquid AI LFM3: open on-device models from 1.7B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Text, vision, audio, omni and decision models on one tri-hybrid backbone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1.7B text model beats its 2.6B predecessor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with 35% fewer parameters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Beats Qwen3.5-9B in some tests!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Fits in about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 GB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at 4-bit with a 256K context window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LFM3-VL-2B adds video input and matches Gemma 4 12B on 62 vision benchmarks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Every model fine-tunes on a single GPU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Aimed at browser automation, voice and vision agents on local hardware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https://www.liquid.ai/blog/lfm3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109800" y="2142646"/>
            <a:ext cx="5364600" cy="1480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Phonon: a 31M-parameter text-to-speech model, now in Ollama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Gradium, spun out of Kyutai, open-sourced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Phonon 31m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under Apache 2.0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First audio in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6.9 ms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on a MacBook Air M5 CPU, against 517 ms for Kokoro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1.70% WER on hard sentences with phone numbers and emails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Runs 3.7x faster than real time on a Raspberry Pi 5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4605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Ollama 0.40.11 adds speech: </a:t>
            </a:r>
            <a:r>
              <a:rPr lang="en" sz="9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ollama run phonon "Hello"</a:t>
            </a:r>
            <a:endParaRPr sz="900">
              <a:solidFill>
                <a:srgbClr val="3C78D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Only the English 31m model is commercial; others are CC BY-NC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https://ollama.com/blog/speech-models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109800" y="3697446"/>
            <a:ext cx="5364600" cy="126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OpenAI’s Claimed Science Advances</a:t>
            </a:r>
            <a:endParaRPr sz="1200" b="1">
              <a:solidFill>
                <a:srgbClr val="FF0000"/>
              </a:solidFill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Disproved the Exponential Time Hypothesis, challenging assumed computational limits; the proof was formalized in Lean.</a:t>
            </a:r>
            <a:endParaRPr sz="12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Math claims include local smoothing and Kakeya conjectures across all dimensions; physics claims include quantum chromodynamics and Yang–Mills existence, not the complete Millennium Prize problem</a:t>
            </a:r>
            <a:endParaRPr sz="12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  <a:hlinkClick r:id="rId5"/>
              </a:rPr>
              <a:t>https://openai.com/index/building-scientific-understanding-with-academic-communities/</a:t>
            </a:r>
            <a:r>
              <a:rPr lang="en" sz="9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highlight>
                <a:srgbClr val="FFF2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26800" y="3772788"/>
            <a:ext cx="1533525" cy="11144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9" name="Google Shape;229;p31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6800" y="152400"/>
            <a:ext cx="3364800" cy="1892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0" name="Google Shape;230;p31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6800" y="2091600"/>
            <a:ext cx="2329236" cy="1634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/>
        </p:nvSpPr>
        <p:spPr>
          <a:xfrm>
            <a:off x="36576" y="-27432"/>
            <a:ext cx="1177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109801" y="382950"/>
            <a:ext cx="5033700" cy="200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found exploits in browsers and Windows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Anthropic's internal research model found five attack chains with little or no user interaction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Includes </a:t>
            </a:r>
            <a:r>
              <a:rPr lang="en" sz="1200">
                <a:highlight>
                  <a:srgbClr val="FFF2CC"/>
                </a:highlight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sandbox escapes and 21 bugs that could compromise a browser renderer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Safari: a one-click chain starting from a use-after-free in JavaScriptCore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Windows: a remote denial of service through the kernel's QUIC code for HTTP/3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Newsletters report 62 Chrome flaws plus Android and Linux bugs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Anthropic says all the reported bugs are now fixed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https://anthropic.com/research/discovering-vulnerabilities-with-claude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32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09350" y="382950"/>
            <a:ext cx="3675700" cy="191726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8" name="Google Shape;238;p32"/>
          <p:cNvSpPr txBox="1"/>
          <p:nvPr/>
        </p:nvSpPr>
        <p:spPr>
          <a:xfrm>
            <a:off x="109800" y="2851338"/>
            <a:ext cx="5033700" cy="1634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 Nemotron 3.5 Transcribe: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speech model with speaker labels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transcription, translation, speaker attribution and audio Q&amp;A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Ranked first on several transcription and speaker-attribution leaderboards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 to 40 languages; translates between English and 31 others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Tells apart up to 8 speakers in recordings up to an hour long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 only, no live transcription; runs on a single GPU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Granary v2 adds data pipelines for fine-tuning on medical or business jargon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https://huggingface.co/blog/nvidia/nemotron-transcribe-granary</a:t>
            </a:r>
            <a:endParaRPr sz="9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32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19176" y="2716115"/>
            <a:ext cx="3675707" cy="226618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/>
        </p:nvSpPr>
        <p:spPr>
          <a:xfrm>
            <a:off x="36573" y="-27424"/>
            <a:ext cx="4114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Artificial Analysis v5 Shakeup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109800" y="575782"/>
            <a:ext cx="5199300" cy="3620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v5 Shakeup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AA has rebuilt its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model-ranking benchmark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with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nine evaluations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across knowledge work, coding, science, and general capabilities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public tests invite contamination 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and benchmark-specific optimization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private test sets or withheld answers now determine 60% of the score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, reducing opportunities to rehearse exact questions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The reshuffle widened the measured gap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between proprietary and open models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Private testing improves credibility </a:t>
            </a:r>
            <a:br>
              <a:rPr lang="en" sz="1200"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but cannot guarantee zero contamination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Before Carbon: Opus 5.5 at 58, GPT-6 Astra 57, GPT-6.1 Sol 55, Sonnet 5.5 54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Kimi K3.1 Pro fell from 55 to 46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DeepSeek V4.1 Flash and GLM-5.3 score 32, below Claude Haiku 5.5 at 36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analyst puts the China-US gap </a:t>
            </a:r>
            <a:b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at about 3.3 months on AA's Progress Index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Benchmarker's dilemma: </a:t>
            </a:r>
            <a:b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one number now sways a trillion-dollar market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https://artificialanalysis.ai/evaluations/artificial-analysis-intelligence-index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https://artificialanalysis.ai/ko/articles/artificial-analysis-intelligence-index-v5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3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4300" y="1263400"/>
            <a:ext cx="3643425" cy="18124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"/>
          <p:cNvSpPr txBox="1"/>
          <p:nvPr/>
        </p:nvSpPr>
        <p:spPr>
          <a:xfrm>
            <a:off x="36573" y="-27424"/>
            <a:ext cx="4114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4"/>
          <p:cNvSpPr txBox="1"/>
          <p:nvPr/>
        </p:nvSpPr>
        <p:spPr>
          <a:xfrm>
            <a:off x="109800" y="575782"/>
            <a:ext cx="51993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Mac Studio M5 Ultra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Chip: Apple M5 Ultra, 36-core CPU and 80-core GPU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https://www.apple.com/shop/buy-mac/mac-studio/m5-ultra-chip-36-core-cpu-80-core-gpu-512gb-memory-16tb-storage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Memory: 512GB, Storage: up to 16TB SSD.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Memory bandwidth: 1.2TB/s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US price: $29,799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Lower-priced configurations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Same chip and 512GB memory, but 1TB SSD: $22,299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Same chip with 256GB memory and 1TB SSD: $10,799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Entry Ultra: 30-core CPU, 64-core GPU, 96GB memory and 1TB SSD: $5,499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4"/>
          <p:cNvSpPr txBox="1"/>
          <p:nvPr/>
        </p:nvSpPr>
        <p:spPr>
          <a:xfrm>
            <a:off x="109800" y="2721107"/>
            <a:ext cx="5199300" cy="218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Why AI Cloud Firms Face Trouble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Elon Musk warns that more than 200 specialist AI cloud providers face financial pressure; CoreWeave is a prominent example.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Providers borrow heavily for GPUs and infrastructure,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while rental income arrives later. Tightening credit threatens their ability to fund operations and repay debt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Possible solution is to secure creditworthy customers, contracted revenue, differentiated services, and sustainable financing.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CoreWeave’s substantial customer backlog demonstrates demand, but future commitments are not cash. Growing AI adoption does not guarantee individual providers’ survival.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14300" algn="l" rtl="0"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https://fortune.com/2026/10/26/elon-musk-ai-boom-debt-neoclouds/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3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1500" y="149327"/>
            <a:ext cx="3075300" cy="2050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55" name="Google Shape;255;p3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1500" y="2351919"/>
            <a:ext cx="3607399" cy="270555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/>
        </p:nvSpPr>
        <p:spPr>
          <a:xfrm>
            <a:off x="36573" y="-27424"/>
            <a:ext cx="4114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5"/>
          <p:cNvSpPr txBox="1"/>
          <p:nvPr/>
        </p:nvSpPr>
        <p:spPr>
          <a:xfrm>
            <a:off x="109800" y="311750"/>
            <a:ext cx="55812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caused a Software Firm’s End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A proprietor was running a business for 24 years (since 2002) generating millions selling ornamental-iron CAD software and CNC plasma-cutting designs worldwide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 has closed his company 2 months ago because sales declined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He attributes declining sales to AI-generated artwork allegedly copying his designs, followed by AI-assisted software duplication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His response is to leave commercial software and pursue mechanical or robotic projects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https://www.youtube.com/watch?v=ezM5YR9twRE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3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9451" y="484363"/>
            <a:ext cx="2382974" cy="13356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3" name="Google Shape;263;p35"/>
          <p:cNvSpPr txBox="1"/>
          <p:nvPr/>
        </p:nvSpPr>
        <p:spPr>
          <a:xfrm>
            <a:off x="102950" y="2057431"/>
            <a:ext cx="5581200" cy="1542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Mistral Large 4 weights are out: 1T parameters, open download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1.05T total, 52B active parameters, 1M context, text and image input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API price cut about 50%: $0.70 / $2.10 per 1M tokens, $0.07 cached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Mistral claims #1 among open models on Cognition's FrontierCode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Cyber testing with CrowdStrike, Cloudflare and Zscaler; 82% on AA's reproduce-and-patch test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Artificial Analysis Index v5: 26, top open model from outside China, behind GLM-5.3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The license needs a separate deal for model-as-a-service use; </a:t>
            </a:r>
            <a:br>
              <a:rPr lang="en" sz="1100"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on Ollama as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mistral-large-4:cloud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https://mistral.ai/news/mistral-large-4-oss/</a:t>
            </a:r>
            <a:endParaRPr sz="11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109798" y="3664500"/>
            <a:ext cx="5581200" cy="1203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Epoch: open models turn published fixes </a:t>
            </a:r>
            <a:b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into exploits before users update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latin typeface="Calibri"/>
                <a:ea typeface="Calibri"/>
                <a:cs typeface="Calibri"/>
                <a:sym typeface="Calibri"/>
              </a:rPr>
              <a:t>GLM 5.3 exploited Firefox flaws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 using security fixes </a:t>
            </a:r>
            <a:br>
              <a:rPr lang="en" sz="1100"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published but not yet shipped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 window -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between a public patch and the user's update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Open-source projects are most exposed because their fixes are public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2700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https://epoch.ai/publications/open-weight-models-patch-gap</a:t>
            </a:r>
            <a:endParaRPr sz="11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35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19458" y="4023908"/>
            <a:ext cx="2751901" cy="7134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66" name="Google Shape;266;p35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19450" y="2151849"/>
            <a:ext cx="3012850" cy="13866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6"/>
          <p:cNvSpPr txBox="1"/>
          <p:nvPr/>
        </p:nvSpPr>
        <p:spPr>
          <a:xfrm>
            <a:off x="83398" y="50600"/>
            <a:ext cx="19236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Jobs and Layoffs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6"/>
          <p:cNvSpPr txBox="1"/>
          <p:nvPr/>
        </p:nvSpPr>
        <p:spPr>
          <a:xfrm>
            <a:off x="2771397" y="198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6"/>
          <p:cNvSpPr txBox="1"/>
          <p:nvPr/>
        </p:nvSpPr>
        <p:spPr>
          <a:xfrm>
            <a:off x="5690525" y="3510625"/>
            <a:ext cx="32868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135.4K in 2026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(as of Oct 29,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123K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266K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6"/>
          <p:cNvSpPr txBox="1"/>
          <p:nvPr/>
        </p:nvSpPr>
        <p:spPr>
          <a:xfrm>
            <a:off x="5690530" y="1158774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198,135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(654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6" descr="auto: layoffs-fyi-chart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736" y="3407672"/>
            <a:ext cx="4634459" cy="1548885"/>
          </a:xfrm>
          <a:prstGeom prst="rect">
            <a:avLst/>
          </a:prstGeom>
          <a:noFill/>
          <a:ln w="9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6" name="Google Shape;276;p36" descr="auto: trueup-chart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117" y="570018"/>
            <a:ext cx="4635704" cy="2494740"/>
          </a:xfrm>
          <a:prstGeom prst="rect">
            <a:avLst/>
          </a:prstGeom>
          <a:noFill/>
          <a:ln w="9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/>
          <p:nvPr/>
        </p:nvSpPr>
        <p:spPr>
          <a:xfrm>
            <a:off x="36576" y="-27432"/>
            <a:ext cx="2441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7"/>
          <p:cNvSpPr txBox="1"/>
          <p:nvPr/>
        </p:nvSpPr>
        <p:spPr>
          <a:xfrm>
            <a:off x="2887825" y="1263400"/>
            <a:ext cx="5919600" cy="22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4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5875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5875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5875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Interests: Generative AI, using LLMs with your data, local AI for local private data, cloud architecture, fin-tech, application security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5875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Find and connect: LinkedIn, GitHub, YouTube, Google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5875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https://eais.ai</a:t>
            </a:r>
            <a:endParaRPr sz="12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3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906" y="1615969"/>
            <a:ext cx="1572768" cy="157276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/>
          <p:nvPr/>
        </p:nvSpPr>
        <p:spPr>
          <a:xfrm>
            <a:off x="36576" y="997437"/>
            <a:ext cx="90708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4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1434226" y="1865094"/>
            <a:ext cx="69420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5875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Videos of every seminar are on YouTube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https://www.youtube.com/@lev-selector</a:t>
            </a:r>
            <a:endParaRPr sz="12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5875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Slides on GitHub. Click a pptx file, then the download button on the right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https://github.com/lselector/seminar</a:t>
            </a:r>
            <a:endParaRPr sz="12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58750" algn="l" rtl="0"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Slides on Google Drive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https://drive.google.com/drive/folders/1dmj00iilSP-JYmriMUUaHCKz5X54e3UX?ths=true</a:t>
            </a:r>
            <a:endParaRPr sz="1200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5737</Words>
  <Application>Microsoft Macintosh PowerPoint</Application>
  <PresentationFormat>On-screen Show (16:9)</PresentationFormat>
  <Paragraphs>648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Roboto Mono</vt:lpstr>
      <vt:lpstr>Calibri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2026-10-30T17:20:26Z</dcterms:modified>
</cp:coreProperties>
</file>