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embeddedFontLst>
    <p:embeddedFont>
      <p:font typeface="Roboto Mono" pitchFamily="49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DF68E57-3D87-476E-BFB1-253E05C22860}">
  <a:tblStyle styleId="{9DF68E57-3D87-476E-BFB1-253E05C228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 snapToGrid="0">
      <p:cViewPr varScale="1">
        <p:scale>
          <a:sx n="124" d="100"/>
          <a:sy n="124" d="100"/>
        </p:scale>
        <p:origin x="576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s-toc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s-toc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Contents labels. Kept by g3_update_toc.py.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PHP2Shell: AI-found flaws in PHP hit 70% of the web =&gt; PHP2Shell: AI Finds Critical PHP Bugs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hacker's AI agents breached 100+ companies for $50 each =&gt; AI Agents Breach 100+ Companies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 launches Claude Duet, an agent that messages you first =&gt; Anthropic Claude Duet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DeepSeek V4.1-Flash-1017 and its open-source DeepInfer engine =&gt; DeepSeek V4.1 Flash and DeepInfer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agents switched off their own monitors =&gt; OpenAI Agents Disable Their Monitors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Anthropic: junior technical hires fell from 27% to 9% =&gt; Anthropic Junior Hiring Drops to 9%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 puts 5% of its equity into a Public Benefit Fund =&gt; Anthropic Public Benefit Fund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MiniMax M3.1 Flash: 428B agent model at $0.15 per 1M tokens =&gt; MiniMax M3.1 Flash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South African AI-novelist Coral Hart says she has published 371 books, many of them romance novels, using AI since February 2025. =&gt; AI Novelist Publishes 371 Books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nears $30B round at a $1.25 trillion valuation =&gt; OpenAI Raise at $1.25T Valuation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1Password lets AI agents log in without seeing passwords =&gt; 1Password for Agents, Banks Push Back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Inception Mercury 3: a diffusion LLM at 1,000+ tokens/s =&gt; Inception Mercury 3 Diffusion LLM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PyTorch now runs natively on Google TPUs and AWS Trainium =&gt; PyTorch on TPUs and Trainium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Mistral Voxtral 3: speech models and a voice agent SDK =&gt; Mistral Voxtral 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Microsoft Agensh runs 1,024 coding agents with no lead agent =&gt; Microsoft Agensh: 1,024 Coding Agents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cuts frontier training off from the internet =&gt; OpenAI Trains Offline After DNS Escape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 OSS Scanner: 29,000 findings, 516 patched =&gt; Anthropic OSS Scanner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Apple's 20B on-device model runs in about 2 GB of memory =&gt; Apple 20B On-Device Model in 2 GB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GPT-6.1 Terra: computer use at $1 per 1M tokens =&gt; OpenAI GPT-6.1 Terra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Frontier models' robot-arm skills double every 54 days =&gt; Robot-Arm Skills Double Every 54 Days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I put a wiki memory into a database? MongoDB or PostgreSQL? =&gt; Wiki Memory: MongoDB or PostgreSQL?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Andrej Karpathy has popularized the idea of using wiki as agentic memory =&gt; Karpathy's Wiki as Agentic Memory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b585c93bf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" name="Google Shape;62;g3fb585c93bf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fb585c93b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5" name="Google Shape;75;g3fb585c93b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h4224e18d6e6f3f08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h4224e18d6e6f3f08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s-news-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s-news-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h58f8c00b71791d6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h58f8c00b71791d6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s-youtub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s-youtub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h4224e18d6e6f3f08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h4224e18d6e6f3f08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h3573f17abea406e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h3573f17abea406e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s-php2shell-ai-found-flaws-in-0e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s-php2shell-ai-found-flaws-in-0e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h79282b4deea3f45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h79282b4deea3f45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s-mistral-voxtral-3-speech-46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s-mistral-voxtral-3-speech-46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h74c92ed2cc67331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h74c92ed2cc67331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h69cee86e3be460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h69cee86e3be460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h1181022f622da12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h1181022f622da12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s-openai-gpt-6-1-terra-computer-be3f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s-openai-gpt-6-1-terra-computer-be3f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s-layoffs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s-layoffs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s-hiring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s-hiring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s-about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s-about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s-thanks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s-thanks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s-separator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s-separator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Topic ledger. Kept by g2_add_news.py.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t-php2shell-ai-found-flaws-in-php-0e69 | PHP2Shell: AI-found flaws in PHP hit 70% of the web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t-one-hacker-s-ai-agents-breached-ae0c | One hacker's AI agents breached 100+ companies for $50 each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t-anthropic-launches-claude-duet-0632 | Anthropic launches Claude Duet, an agent that messages you first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t-deepseek-v4-1-flash-1017-and-d929 | DeepSeek V4.1-Flash-1017 and its open-source DeepInfer engine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t-openai-agents-switched-off-a1c8 | OpenAI agents switched off their own monitors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t-anthropic-junior-technical-b8a7 | Anthropic: junior technical hires fell from 27% to 9%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t-anthropic-puts-5-of-its-equity-9bb4 | Anthropic puts 5% of its equity into a Public Benefit Fund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t-minimax-m3-1-flash-428b-agent-6290 | MiniMax M3.1 Flash: 428B agent model at $0.15 per 1M tokens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t-openai-nears-30b-round-at-a-1-c290 | OpenAI nears $30B round at a $1.25 trillion valuation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t-1password-lets-ai-agents-log-in-c69f | 1Password lets AI agents log in without seeing passwords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t-inception-mercury-3-a-diffusion-b34c | Inception Mercury 3: a diffusion LLM at 1,000+ tokens/s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t-pytorch-now-runs-natively-on-8067 | PyTorch now runs natively on Google TPUs and AWS Trainium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t-mistral-voxtral-3-speech-models-4619 | Mistral Voxtral 3: speech models and a voice agent SDK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t-microsoft-agensh-runs-1-024-4730 | Microsoft Agensh runs 1,024 coding agents with no lead agent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t-openai-cuts-frontier-training-c3d1 | OpenAI cuts frontier training off from the internet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t-anthropic-oss-scanner-29-000-b3ea | Anthropic OSS Scanner: 29,000 findings, 516 patched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t-apple-s-20b-on-device-model-ec24 | Apple's 20B on-device model runs in about 2 GB of memory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t-openai-gpt-6-1-terra-computer-be3f | OpenAI GPT-6.1 Terra: computer use at $1 per 1M tokens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t-frontier-models-robot-arm-3045 | Frontier models' robot-arm skills double every 54 days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h682df4b006b78828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h682df4b006b78828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h42df240760e4d6cd_2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h42df240760e4d6cd_2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s-openai-cuts-frontier-training-c3d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s-openai-cuts-frontier-training-c3d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hyperlink" Target="https://arena.ai/leaderboard/model/Muse%20Wonder%20%28Max%29" TargetMode="External"/><Relationship Id="rId18" Type="http://schemas.openxmlformats.org/officeDocument/2006/relationships/hyperlink" Target="https://arena.ai/leaderboard/model/Claude%20Fable%205.1%20%28Max%29" TargetMode="External"/><Relationship Id="rId26" Type="http://schemas.openxmlformats.org/officeDocument/2006/relationships/hyperlink" Target="https://arena.ai/leaderboard/model/Claude%20Opus%204.8" TargetMode="External"/><Relationship Id="rId3" Type="http://schemas.openxmlformats.org/officeDocument/2006/relationships/hyperlink" Target="https://en.wikipedia.org/wiki/Elo_rating_system" TargetMode="External"/><Relationship Id="rId21" Type="http://schemas.openxmlformats.org/officeDocument/2006/relationships/hyperlink" Target="https://arena.ai/leaderboard/model/Claude%20Opus%205%20%28High%29" TargetMode="External"/><Relationship Id="rId34" Type="http://schemas.openxmlformats.org/officeDocument/2006/relationships/hyperlink" Target="https://arena.ai/leaderboard/model/Gemini%203.6%20Flash%20%28High%29" TargetMode="External"/><Relationship Id="rId7" Type="http://schemas.openxmlformats.org/officeDocument/2006/relationships/hyperlink" Target="https://arena.ai/leaderboard/model/Claude%20Fable%205%20%28High%29" TargetMode="External"/><Relationship Id="rId12" Type="http://schemas.openxmlformats.org/officeDocument/2006/relationships/hyperlink" Target="https://arena.ai/leaderboard/model/Claude%20Opus%204.7" TargetMode="External"/><Relationship Id="rId17" Type="http://schemas.openxmlformats.org/officeDocument/2006/relationships/hyperlink" Target="https://arena.ai/leaderboard/model/MiMo-V2.6-Pro" TargetMode="External"/><Relationship Id="rId25" Type="http://schemas.openxmlformats.org/officeDocument/2006/relationships/hyperlink" Target="https://arena.ai/leaderboard/model/Claude%20Opus%204.5%20%28High%2C%2032K%2C%2020251101%29" TargetMode="External"/><Relationship Id="rId33" Type="http://schemas.openxmlformats.org/officeDocument/2006/relationships/hyperlink" Target="https://arena.ai/leaderboard/model/Gemini%203%20Pro" TargetMode="External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arena.ai/leaderboard/model/Kimi%20K3%20%28Max%29" TargetMode="External"/><Relationship Id="rId20" Type="http://schemas.openxmlformats.org/officeDocument/2006/relationships/hyperlink" Target="https://arena.ai/leaderboard/model/Muse%20Spark%201.3%20%28Max%29" TargetMode="External"/><Relationship Id="rId29" Type="http://schemas.openxmlformats.org/officeDocument/2006/relationships/hyperlink" Target="https://arena.ai/leaderboard/model/Claude%20Sonnet%204.6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ena.ai/leaderboard/model/Gemini%204%20Argon%20%28High%29" TargetMode="External"/><Relationship Id="rId11" Type="http://schemas.openxmlformats.org/officeDocument/2006/relationships/hyperlink" Target="https://arena.ai/leaderboard/model/Claude%20Opus%204.6%20%28High%29" TargetMode="External"/><Relationship Id="rId24" Type="http://schemas.openxmlformats.org/officeDocument/2006/relationships/hyperlink" Target="https://arena.ai/leaderboard/model/Muse%20Spark%201.1" TargetMode="External"/><Relationship Id="rId32" Type="http://schemas.openxmlformats.org/officeDocument/2006/relationships/hyperlink" Target="https://arena.ai/leaderboard/model/Gemini%203.1%20Pro%20Preview" TargetMode="External"/><Relationship Id="rId5" Type="http://schemas.openxmlformats.org/officeDocument/2006/relationships/hyperlink" Target="https://lmarena.ai/leaderboard/text/coding" TargetMode="External"/><Relationship Id="rId15" Type="http://schemas.openxmlformats.org/officeDocument/2006/relationships/hyperlink" Target="https://arena.ai/leaderboard/model/Muse%20Spark%201.2%20%28xHigh%29" TargetMode="External"/><Relationship Id="rId23" Type="http://schemas.openxmlformats.org/officeDocument/2006/relationships/hyperlink" Target="https://arena.ai/leaderboard/model/Claude%20Opus%204.8%20%28High%29" TargetMode="External"/><Relationship Id="rId28" Type="http://schemas.openxmlformats.org/officeDocument/2006/relationships/hyperlink" Target="https://arena.ai/leaderboard/model/Claude%20Opus%205%20%28Max%29" TargetMode="External"/><Relationship Id="rId36" Type="http://schemas.openxmlformats.org/officeDocument/2006/relationships/hyperlink" Target="https://arena.ai/leaderboard/model/GPT-5.5%20%28High%29" TargetMode="External"/><Relationship Id="rId10" Type="http://schemas.openxmlformats.org/officeDocument/2006/relationships/hyperlink" Target="https://arena.ai/leaderboard/model/Claude%20Opus%204.6" TargetMode="External"/><Relationship Id="rId19" Type="http://schemas.openxmlformats.org/officeDocument/2006/relationships/hyperlink" Target="https://arena.ai/leaderboard/model/GPT-6.1%20Sol%20%28Max%29" TargetMode="External"/><Relationship Id="rId31" Type="http://schemas.openxmlformats.org/officeDocument/2006/relationships/hyperlink" Target="https://arena.ai/leaderboard/model/Gemini%203.7%20Flash%20%28High%29" TargetMode="External"/><Relationship Id="rId4" Type="http://schemas.openxmlformats.org/officeDocument/2006/relationships/hyperlink" Target="https://lmarena.ai/leaderboard/text" TargetMode="External"/><Relationship Id="rId9" Type="http://schemas.openxmlformats.org/officeDocument/2006/relationships/hyperlink" Target="https://arena.ai/leaderboard/model/Claude%20Opus%205.5%20%28High%29" TargetMode="External"/><Relationship Id="rId14" Type="http://schemas.openxmlformats.org/officeDocument/2006/relationships/hyperlink" Target="https://arena.ai/leaderboard/model/GPT-6%20Astra%20%28Max%29" TargetMode="External"/><Relationship Id="rId22" Type="http://schemas.openxmlformats.org/officeDocument/2006/relationships/hyperlink" Target="https://arena.ai/leaderboard/model/GPT-5.6%20Sol%20%28xHigh%29" TargetMode="External"/><Relationship Id="rId27" Type="http://schemas.openxmlformats.org/officeDocument/2006/relationships/hyperlink" Target="https://arena.ai/leaderboard/model/Muse%20Spark" TargetMode="External"/><Relationship Id="rId30" Type="http://schemas.openxmlformats.org/officeDocument/2006/relationships/hyperlink" Target="https://arena.ai/leaderboard/model/Gemini%203.8%20Flash%20%28High%29" TargetMode="External"/><Relationship Id="rId35" Type="http://schemas.openxmlformats.org/officeDocument/2006/relationships/hyperlink" Target="https://arena.ai/leaderboard/model/Qwen3.8-Max" TargetMode="External"/><Relationship Id="rId8" Type="http://schemas.openxmlformats.org/officeDocument/2006/relationships/hyperlink" Target="https://arena.ai/leaderboard/model/Claude%20Opus%204.7%20%28High%29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tificialanalysis.ai/evaluations/artificial-analysis-intelligence-index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x.com/Kimi_Moonshot/status/2113680701770068067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.png"/><Relationship Id="rId5" Type="http://schemas.openxmlformats.org/officeDocument/2006/relationships/hyperlink" Target="https://www.moonshot.ai" TargetMode="External"/><Relationship Id="rId4" Type="http://schemas.openxmlformats.org/officeDocument/2006/relationships/hyperlink" Target="https://www.kimi.com/en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venturebeat.com/orchestration/a-coding-agents-harness-can-triple-its-cost-without-making-it-more-accurate-study-finds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.png"/><Relationship Id="rId5" Type="http://schemas.openxmlformats.org/officeDocument/2006/relationships/hyperlink" Target="https://www.anthropic.com/news/s1-sec" TargetMode="Externa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obliteration.ai" TargetMode="External"/><Relationship Id="rId3" Type="http://schemas.openxmlformats.org/officeDocument/2006/relationships/hyperlink" Target="https://block.xyz/dessa" TargetMode="Externa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techcrunch.com/2026/10/24/blocks-new-voice-model-sounds-eerily-human/" TargetMode="External"/><Relationship Id="rId11" Type="http://schemas.openxmlformats.org/officeDocument/2006/relationships/image" Target="../media/image7.png"/><Relationship Id="rId5" Type="http://schemas.openxmlformats.org/officeDocument/2006/relationships/hyperlink" Target="https://www.unite.ai/block-unveils-dessa-a-full-duplex-speech-model-trained-on-conversation/" TargetMode="External"/><Relationship Id="rId10" Type="http://schemas.openxmlformats.org/officeDocument/2006/relationships/image" Target="../media/image6.png"/><Relationship Id="rId4" Type="http://schemas.openxmlformats.org/officeDocument/2006/relationships/hyperlink" Target="https://www.youtube.com/watch?v=MFP7CRm2xW4" TargetMode="External"/><Relationship Id="rId9" Type="http://schemas.openxmlformats.org/officeDocument/2006/relationships/hyperlink" Target="https://z.ai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www.youtube.com/@lev-selector/videos" TargetMode="External"/><Relationship Id="rId4" Type="http://schemas.openxmlformats.org/officeDocument/2006/relationships/image" Target="../media/image9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huggingface.co/Lightricks/LTX-2.5" TargetMode="External"/><Relationship Id="rId3" Type="http://schemas.openxmlformats.org/officeDocument/2006/relationships/hyperlink" Target="https://www.marktechpost.com/2026/10/21/recursive-flint-local-coding-model/" TargetMode="External"/><Relationship Id="rId7" Type="http://schemas.openxmlformats.org/officeDocument/2006/relationships/hyperlink" Target="https://ltx.io/model/ltx-2-5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0.png"/><Relationship Id="rId5" Type="http://schemas.openxmlformats.org/officeDocument/2006/relationships/hyperlink" Target="https://github.com/recursive-oss/rec" TargetMode="External"/><Relationship Id="rId10" Type="http://schemas.openxmlformats.org/officeDocument/2006/relationships/image" Target="../media/image11.png"/><Relationship Id="rId4" Type="http://schemas.openxmlformats.org/officeDocument/2006/relationships/hyperlink" Target="https://recursive.com/updates/introducing-recursive-flint" TargetMode="External"/><Relationship Id="rId9" Type="http://schemas.openxmlformats.org/officeDocument/2006/relationships/hyperlink" Target="https://www.youtube.com/watch?v=3n90zaL7VDs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cademy.claude.com/courses/ai-native-sdlc-playbook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2.png"/><Relationship Id="rId4" Type="http://schemas.openxmlformats.org/officeDocument/2006/relationships/hyperlink" Target="https://vateo.medium.com/after-waterfall-agile-and-devops-anthropics-ai-native-sdlc-playbook-0131a3a9156e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hyperlink" Target="https://bleepingcomputer.com/news/security/php-ships-emergency-patches-for-critical-php2shell-flaws" TargetMode="External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www.cnbc.com/2026/10/22/openai-funding-round-uae-investors.html" TargetMode="External"/><Relationship Id="rId5" Type="http://schemas.openxmlformats.org/officeDocument/2006/relationships/hyperlink" Target="https://kotaku.com/claudes-reverse-engineering-capabilities-used-to-recompile-games-may-have-been-quietly-nerfed-2000749320" TargetMode="External"/><Relationship Id="rId4" Type="http://schemas.openxmlformats.org/officeDocument/2006/relationships/hyperlink" Target="https://github.com/morluto/rea" TargetMode="External"/><Relationship Id="rId9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developers.openai.com/api/docs/guides/agents" TargetMode="External"/><Relationship Id="rId13" Type="http://schemas.openxmlformats.org/officeDocument/2006/relationships/image" Target="../media/image16.png"/><Relationship Id="rId3" Type="http://schemas.openxmlformats.org/officeDocument/2006/relationships/hyperlink" Target="https://github.com/features/copilot" TargetMode="External"/><Relationship Id="rId7" Type="http://schemas.openxmlformats.org/officeDocument/2006/relationships/hyperlink" Target="https://openai.github.io/openai-agents-python/" TargetMode="External"/><Relationship Id="rId12" Type="http://schemas.openxmlformats.org/officeDocument/2006/relationships/hyperlink" Target="https://www.microsoft.com/en/copilot/pricing/business-without-teams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github.com/openai/openai-python" TargetMode="External"/><Relationship Id="rId11" Type="http://schemas.openxmlformats.org/officeDocument/2006/relationships/hyperlink" Target="https://openai.com/enterprise?trk=article-ssr-frontend-pulse_little-text-block" TargetMode="External"/><Relationship Id="rId5" Type="http://schemas.openxmlformats.org/officeDocument/2006/relationships/hyperlink" Target="https://developers.openai.com/api/docs" TargetMode="External"/><Relationship Id="rId10" Type="http://schemas.openxmlformats.org/officeDocument/2006/relationships/hyperlink" Target="https://azure.microsoft.com/en-us/products/ai-foundry" TargetMode="External"/><Relationship Id="rId4" Type="http://schemas.openxmlformats.org/officeDocument/2006/relationships/hyperlink" Target="https://learn.chatgpt.com/docs/codex/ide" TargetMode="External"/><Relationship Id="rId9" Type="http://schemas.openxmlformats.org/officeDocument/2006/relationships/hyperlink" Target="https://azure.microsoft.com/en-us/products/ai-foundry/models/openai" TargetMode="Externa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19.png"/><Relationship Id="rId3" Type="http://schemas.openxmlformats.org/officeDocument/2006/relationships/hyperlink" Target="https://github.com/microsoft/Agensh" TargetMode="External"/><Relationship Id="rId7" Type="http://schemas.openxmlformats.org/officeDocument/2006/relationships/image" Target="../media/image17.png"/><Relationship Id="rId12" Type="http://schemas.openxmlformats.org/officeDocument/2006/relationships/hyperlink" Target="https://www.youtube.com/watch?v=n9w7w383pJY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ground.news/interest/microsoft" TargetMode="External"/><Relationship Id="rId11" Type="http://schemas.openxmlformats.org/officeDocument/2006/relationships/hyperlink" Target="https://huggingface.co/InternScience" TargetMode="External"/><Relationship Id="rId5" Type="http://schemas.openxmlformats.org/officeDocument/2006/relationships/hyperlink" Target="https://alphasignal.ai/news/microsoft-s-agensh-runs-1-024-coding-agents-without-a-central-controller" TargetMode="External"/><Relationship Id="rId10" Type="http://schemas.openxmlformats.org/officeDocument/2006/relationships/hyperlink" Target="https://huggingface.co/InternScience/Sage-A1.5" TargetMode="External"/><Relationship Id="rId4" Type="http://schemas.openxmlformats.org/officeDocument/2006/relationships/hyperlink" Target="https://arxiv.org/abs/2609.26781" TargetMode="External"/><Relationship Id="rId9" Type="http://schemas.openxmlformats.org/officeDocument/2006/relationships/hyperlink" Target="https://arxiv.org/abs/2610.28578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1.png"/><Relationship Id="rId5" Type="http://schemas.openxmlformats.org/officeDocument/2006/relationships/hyperlink" Target="https://aaif.io/blog/karpathys-llm-wiki-as-agent-memory" TargetMode="External"/><Relationship Id="rId4" Type="http://schemas.openxmlformats.org/officeDocument/2006/relationships/hyperlink" Target="https://gist.github.com/karpathy/442a6bf555914893e9891c11519de94f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venturebeat.com/data/coheres-test-caught-an-open-source-qwen3-8-model-trying-to-phone-home-to-china-what-enterprises-should-know" TargetMode="External"/><Relationship Id="rId3" Type="http://schemas.openxmlformats.org/officeDocument/2006/relationships/hyperlink" Target="https://huggingface.co/Nanbeige/Nanbeige4.3-33B" TargetMode="Externa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www.airealist.ai/p/exploring-apple-on-device-model" TargetMode="External"/><Relationship Id="rId5" Type="http://schemas.openxmlformats.org/officeDocument/2006/relationships/image" Target="../media/image23.png"/><Relationship Id="rId4" Type="http://schemas.openxmlformats.org/officeDocument/2006/relationships/hyperlink" Target="https://www.marktechpost.com/2026/10/25/nanbeige-releases-nanbeige4-3-33b-open-agentic-coding-model/" TargetMode="Externa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jpeg"/><Relationship Id="rId3" Type="http://schemas.openxmlformats.org/officeDocument/2006/relationships/hyperlink" Target="https://openai.com/index/introducing-gpt-6-1-terra/" TargetMode="External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5.jpeg"/><Relationship Id="rId5" Type="http://schemas.openxmlformats.org/officeDocument/2006/relationships/hyperlink" Target="https://deepmind.google/blog/genie-4-a-new-generation-of-world-simulation/" TargetMode="External"/><Relationship Id="rId4" Type="http://schemas.openxmlformats.org/officeDocument/2006/relationships/hyperlink" Target="https://www.lesswrong.com/posts/ndS9Xn8Qx5PppHJ3Q/the-ability-of-frontier-models-to-control-robots-is-rapidly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layoffs.fyi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9.jpeg"/><Relationship Id="rId5" Type="http://schemas.openxmlformats.org/officeDocument/2006/relationships/image" Target="../media/image28.jpeg"/><Relationship Id="rId4" Type="http://schemas.openxmlformats.org/officeDocument/2006/relationships/hyperlink" Target="https://trueup.io/layoffs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fred.stlouisfed.org/series/IHLIDXUSTPSOFTDEVE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www.dice.com/hiring/recruitment/reports/dice-tech-job-report" TargetMode="External"/><Relationship Id="rId4" Type="http://schemas.openxmlformats.org/officeDocument/2006/relationships/hyperlink" Target="https://hiringlab.indeed.com/2026/07/08/ai-and-job-postings-from-destruction-to-creation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eais.ai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0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lev-selector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drive.google.com/drive/folders/1dmj00iilSP-JYmriMUUaHCKz5X54e3UX?ths=true" TargetMode="External"/><Relationship Id="rId4" Type="http://schemas.openxmlformats.org/officeDocument/2006/relationships/hyperlink" Target="https://github.com/lselector/seminar" TargetMode="Externa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anthropic.com/news/public-benefit-fund" TargetMode="External"/><Relationship Id="rId3" Type="http://schemas.openxmlformats.org/officeDocument/2006/relationships/hyperlink" Target="https://thenextweb.com/news/ai-agents-hacker-cairn-100-sites-deere-norforge" TargetMode="External"/><Relationship Id="rId7" Type="http://schemas.openxmlformats.org/officeDocument/2006/relationships/hyperlink" Target="https://www.anthropic.com/research/employment-at-anthropic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metr.org/blog/2026-10-22-red-teaming-openai-agent-monitoring/" TargetMode="External"/><Relationship Id="rId5" Type="http://schemas.openxmlformats.org/officeDocument/2006/relationships/hyperlink" Target="https://huggingface.co/deepseek-ai/DeepSeek-V4.1-Flash-1017" TargetMode="External"/><Relationship Id="rId10" Type="http://schemas.openxmlformats.org/officeDocument/2006/relationships/hyperlink" Target="https://1password.com/blog/1password-for-ai-agents" TargetMode="External"/><Relationship Id="rId4" Type="http://schemas.openxmlformats.org/officeDocument/2006/relationships/hyperlink" Target="https://claude.com/resources/articles/claude-duet" TargetMode="External"/><Relationship Id="rId9" Type="http://schemas.openxmlformats.org/officeDocument/2006/relationships/hyperlink" Target="https://www.minimax.io/blog/minimax-m31f" TargetMode="Externa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pytorch.org/blog/introducing-torchtpu/" TargetMode="External"/><Relationship Id="rId3" Type="http://schemas.openxmlformats.org/officeDocument/2006/relationships/hyperlink" Target="https://www.anthropic.com/research/employment-at-anthropic" TargetMode="External"/><Relationship Id="rId7" Type="http://schemas.openxmlformats.org/officeDocument/2006/relationships/hyperlink" Target="https://www.inceptionlabs.ai/blog/introducing-mercury-3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mistral.ai/news/voxtral-3/" TargetMode="External"/><Relationship Id="rId5" Type="http://schemas.openxmlformats.org/officeDocument/2006/relationships/hyperlink" Target="https://www.minimax.io/blog/minimax-m31f" TargetMode="External"/><Relationship Id="rId4" Type="http://schemas.openxmlformats.org/officeDocument/2006/relationships/hyperlink" Target="https://www.anthropic.com/news/public-benefit-fund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betanews.com/article/openai-pauses-frontier-ai-training-dns-gap/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socket.dev/blog/anthropic-oss-scanne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36576" y="-27432"/>
            <a:ext cx="28965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 - Oct 30, 2026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5276437" y="129356"/>
            <a:ext cx="3758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found the old bugs. Attackers and defenders now race to the patch.</a:t>
            </a:r>
            <a:endParaRPr sz="18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6576" y="393192"/>
            <a:ext cx="4517100" cy="2314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LM Arena Leaderboard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Kimi K3.1 Pro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Harness Can Change the Cost x3 fold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Anthropic IPO - filed S-1 for Nasdaq listing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Dessa: Speech-Only Voice AI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Obliterated Large V2: Security AI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Flint - Fast Local Coding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LTX 2.5: Downloadable AI Video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Claude Academy - The AI-native SDLC playbook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6576" y="2744216"/>
            <a:ext cx="4517100" cy="2314500"/>
          </a:xfrm>
          <a:prstGeom prst="rect">
            <a:avLst/>
          </a:prstGeom>
          <a:solidFill>
            <a:srgbClr val="E2F0D9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PHP2Shell: AI Finds Critical PHP Bugs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Claude REA Restrictions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OpenAI Raise at $1.25T Valuation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AI Tools in the Office - OpenAI &amp; Microsoft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Microsoft Agensh runs 1,024 coding agents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Sage-A1.5 - Small Science Agent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Wiki Memory: MongoDB or PostgreSQL?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Karpathy's Wiki as Agentic Memory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AI Novelist Publishes 371 Books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Nanbeige4.3-33B on Hugging Face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4590288" y="1098620"/>
            <a:ext cx="4517100" cy="1873500"/>
          </a:xfrm>
          <a:prstGeom prst="rect">
            <a:avLst/>
          </a:prstGeom>
          <a:solidFill>
            <a:srgbClr val="DEEBF7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Apple 20B On-Device Model in 2 GB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Qwen tried uploading stuff back to China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OpenAI GPT-6.1 Terra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Robot-Arm Skills Double Every 54 Days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Genie 4: Interactive AI Worlds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The Tech Layoff Tracker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Tech Layoffs by year (US only)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Top "In Demand" Skills and Qualifications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4590288" y="3008700"/>
            <a:ext cx="4517100" cy="550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Software job postings on Indeed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Skills in demand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/>
          <p:nvPr/>
        </p:nvSpPr>
        <p:spPr>
          <a:xfrm>
            <a:off x="6736325" y="52350"/>
            <a:ext cx="23562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https://en.wikipedia.org/wiki/Elo_rating_system</a:t>
            </a:r>
            <a:r>
              <a:rPr lang="en"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38150" y="2125"/>
            <a:ext cx="25998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"LM Arena" Leaderboard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11900" y="350488"/>
            <a:ext cx="20904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LM Arena Text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2952750" y="352250"/>
            <a:ext cx="24042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LM Arena Coding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https://lmarena.ai/leaderboard/text/coding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3437903" y="63625"/>
            <a:ext cx="14082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Data for Oct 22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9" name="Google Shape;69;p14"/>
          <p:cNvGraphicFramePr/>
          <p:nvPr/>
        </p:nvGraphicFramePr>
        <p:xfrm>
          <a:off x="5742420" y="4300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{9DF68E57-3D87-476E-BFB1-253E05C22860}</a:tableStyleId>
              </a:tblPr>
              <a:tblGrid>
                <a:gridCol w="21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Claude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Gemini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OpenAI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 Source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0" name="Google Shape;70;p14"/>
          <p:cNvSpPr txBox="1"/>
          <p:nvPr/>
        </p:nvSpPr>
        <p:spPr>
          <a:xfrm>
            <a:off x="7080550" y="485750"/>
            <a:ext cx="2011800" cy="2327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Claude Fable 5 - (~6T)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Claude Opus 4.8 - (~5T)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Claude Sonnet 4.5 -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Claude Sonnet 5 -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GLM-5.3 - ~744B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Meta Muse Spark Open - 816B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Qwen3.7-Max-Preview -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Qwen3.8-Max - 2.4T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Baidu ERNIE-5.1 - ~800B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 V4 Pro - 1.6T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 V4.1 Flash - 552B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Kimi K3 - 2.8T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Xiaomi MiMo-V2.5-Pro - 1.02T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ByteDance Seed 2.0 Pro -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MiniMax M3 - ~428B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1" name="Google Shape;71;p14"/>
          <p:cNvGraphicFramePr/>
          <p:nvPr/>
        </p:nvGraphicFramePr>
        <p:xfrm>
          <a:off x="3075200" y="74505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{9DF68E57-3D87-476E-BFB1-253E05C22860}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Gemini 4 Argon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 Fable 5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 Opus 4.7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 Opus 5.5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 Opus 4.6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Claude Opus 4.6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Claude Opus 4.7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Muse Wonder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GPT-6 Astra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Muse Spark 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Kimi K3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MiMo-V2.6-Pro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Claude Fable 5.1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GPT-6.1 Sol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Muse Spark 1.3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 Opus 5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GPT-5.6 Sol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Claude Opus 4.8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Muse Spark 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41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Claude Opus 4.5 (High, 32K, 20251101)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Claude Opus 4.8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Muse 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Claude Opus 5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Claude Sonnet 4.6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2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Gemini 3.8 Flash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graphicFrame>
        <p:nvGraphicFramePr>
          <p:cNvPr id="72" name="Google Shape;72;p14"/>
          <p:cNvGraphicFramePr/>
          <p:nvPr/>
        </p:nvGraphicFramePr>
        <p:xfrm>
          <a:off x="423650" y="74504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{9DF68E57-3D87-476E-BFB1-253E05C22860}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Gemini 4 Argon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 Opus 5.5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Muse Wonder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 Fable 5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Claude Fable 5.1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Claude Opus 4.6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 Opus 4.7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 Opus 4.6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Gemini 3.8 Flash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Muse Spark 1.3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Claude Opus 4.7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Muse Spark 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Claude Opus 5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 Opus 5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Muse Spark 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/>
                        </a:rPr>
                        <a:t>Gemini 3.7 Flash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Muse 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Kimi K3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/>
                        </a:rPr>
                        <a:t>Gemini 3.1 Pro 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/>
                        </a:rPr>
                        <a:t>Gemini 3 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GPT-5.6 Sol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/>
                        </a:rPr>
                        <a:t>Gemini 3.6 Flash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/>
                        </a:rPr>
                        <a:t>Qwen3.8-Max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/>
                        </a:rPr>
                        <a:t>GPT-5.5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Claude Opus 4.8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5"/>
          <p:cNvSpPr txBox="1"/>
          <p:nvPr/>
        </p:nvSpPr>
        <p:spPr>
          <a:xfrm>
            <a:off x="38150" y="2125"/>
            <a:ext cx="44937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5"/>
          <p:cNvSpPr txBox="1"/>
          <p:nvPr/>
        </p:nvSpPr>
        <p:spPr>
          <a:xfrm>
            <a:off x="52430" y="355163"/>
            <a:ext cx="44295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https://artificialanalysis.ai/evaluations/artificial-analysis-intelligence-index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5"/>
          <p:cNvSpPr txBox="1"/>
          <p:nvPr/>
        </p:nvSpPr>
        <p:spPr>
          <a:xfrm>
            <a:off x="5934676" y="1088150"/>
            <a:ext cx="9447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Oct 25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0" name="Google Shape;80;p15" descr="auto: aa-index-chart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0291" y="1669032"/>
            <a:ext cx="8516419" cy="332853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1" name="Google Shape;81;p15"/>
          <p:cNvSpPr/>
          <p:nvPr/>
        </p:nvSpPr>
        <p:spPr>
          <a:xfrm>
            <a:off x="3518781" y="3527353"/>
            <a:ext cx="233100" cy="3837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5"/>
          <p:cNvSpPr/>
          <p:nvPr/>
        </p:nvSpPr>
        <p:spPr>
          <a:xfrm>
            <a:off x="1861599" y="3527353"/>
            <a:ext cx="233100" cy="3837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15"/>
          <p:cNvSpPr/>
          <p:nvPr/>
        </p:nvSpPr>
        <p:spPr>
          <a:xfrm>
            <a:off x="864403" y="3527353"/>
            <a:ext cx="233100" cy="3837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6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Kimi K3.1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6"/>
          <p:cNvSpPr txBox="1"/>
          <p:nvPr/>
        </p:nvSpPr>
        <p:spPr>
          <a:xfrm>
            <a:off x="74875" y="361175"/>
            <a:ext cx="4497000" cy="1911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Kimi K3.1 Pro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Beijing-based Moonshot AI launched Kimi K3.1 Pro on October 23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coding, finance, 3D modeling, and autonomous tasks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2.8 Trillion params MoE (104B active)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Context window 1M-tokens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Available vai Kimi apps, coding tools, and API;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Highspeed reportedly runs two to three times faster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 weights are promised by November 4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https://x.com/Kimi_Moonshot/status/2113680701770068067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https://www.kimi.com/en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https://www.moonshot.ai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0" name="Google Shape;90;p16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25125" y="2370300"/>
            <a:ext cx="7238126" cy="26838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91" name="Google Shape;91;p16"/>
          <p:cNvSpPr txBox="1"/>
          <p:nvPr/>
        </p:nvSpPr>
        <p:spPr>
          <a:xfrm>
            <a:off x="5131975" y="361175"/>
            <a:ext cx="37512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Kimi K3.1 Pro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Excellent Rubik’s Cube simulation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Inaccurate product renders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Unsuccessful knot demonstrations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Imperfect games.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Weaker reliability than leading proprietary competitors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API Pricing $2/$10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7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7"/>
          <p:cNvSpPr txBox="1"/>
          <p:nvPr/>
        </p:nvSpPr>
        <p:spPr>
          <a:xfrm>
            <a:off x="36575" y="429150"/>
            <a:ext cx="3243600" cy="2142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Harness Can Change the Cost x3 fold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Shandong University evaluated 3 harnesses (Claude Code, OpenCode, and mini-SWE-agent) with 5 coding models.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Tested 492 offline SWE-bench Verified tasks in isolated containers.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One harness can cost up to x3 more without an accuracy gain.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Leaner agent scaffolding can reduce inference spending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https://venturebeat.com/orchestration/a-coding-agents-harness-can-triple-its-cost-without-making-it-more-accurate-study-finds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8" name="Google Shape;98;p1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96320" y="128888"/>
            <a:ext cx="5735600" cy="3063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99" name="Google Shape;99;p17"/>
          <p:cNvSpPr txBox="1"/>
          <p:nvPr/>
        </p:nvSpPr>
        <p:spPr>
          <a:xfrm>
            <a:off x="36575" y="3416300"/>
            <a:ext cx="3243600" cy="1496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IPO - filed S-1 for Nasdaq listing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Stats: $67.2 Bln ARR, $131.7 Bln in cash, and over 11,900 customers spending at least $100,000 annually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Founders retain 50.1% voting control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 remains advertising-free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Offering price and share count undetermined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https://www.anthropic.com/news/s1-sec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0" name="Google Shape;100;p17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396325" y="3593813"/>
            <a:ext cx="1987149" cy="11410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/>
        </p:nvSpPr>
        <p:spPr>
          <a:xfrm>
            <a:off x="36572" y="-27425"/>
            <a:ext cx="4535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8"/>
          <p:cNvSpPr txBox="1"/>
          <p:nvPr/>
        </p:nvSpPr>
        <p:spPr>
          <a:xfrm>
            <a:off x="36575" y="391650"/>
            <a:ext cx="52854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Dessa: Speech-Only Voice AI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Research Preview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Dessa is a conversational AI trained entirely on human speech, without text or pretrained models.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Dessa processes speech directly and listens while speaking, supporting interruptions, laughter, sarcasm, and natural conversational timing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doesn't sound robotic, it sounds very human. Can potentially be used in phone scams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Block says it runs locally on a MacBook Pro M4 Max or better - no cloud needed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Developed at Jack Dorsey’s Block, a U.S. company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https://block.xyz/dessa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https://www.youtube.com/watch?v=MFP7CRm2xW4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video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952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https://www.unite.ai/block-unveils-dessa-a-full-duplex-speech-model-trained-on-conversation/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952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https://techcrunch.com/2026/10/24/blocks-new-voice-model-sounds-eerily-human/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7" name="Google Shape;107;p18"/>
          <p:cNvPicPr preferRelativeResize="0"/>
          <p:nvPr/>
        </p:nvPicPr>
        <p:blipFill rotWithShape="1"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321978" y="168600"/>
            <a:ext cx="3522645" cy="152694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08" name="Google Shape;108;p18"/>
          <p:cNvSpPr txBox="1"/>
          <p:nvPr/>
        </p:nvSpPr>
        <p:spPr>
          <a:xfrm>
            <a:off x="36575" y="2903825"/>
            <a:ext cx="52854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Obliterated Large V2: Security AI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Obliteration’s Large V2 for security researchers and red teams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builds on Z.ai’s GLM 5.3, modifying refusal behavior to support authorized penetration testing and security investigations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1M tokens context window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cases - identifying vulnerabilities, ranking severity, recommending defensive fixes, and generating regression tests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https://obliteration.ai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https://z.ai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9" name="Google Shape;109;p18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08750" y="1958424"/>
            <a:ext cx="2569176" cy="134886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10" name="Google Shape;110;p18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08750" y="3447950"/>
            <a:ext cx="2569174" cy="14451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/>
        </p:nvSpPr>
        <p:spPr>
          <a:xfrm>
            <a:off x="36576" y="-27432"/>
            <a:ext cx="35172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Weekly videos every Friday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6" name="Google Shape;116;p19" descr="auto: youtube-videos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9500" y="939309"/>
            <a:ext cx="2461825" cy="279169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17" name="Google Shape;117;p19" descr="auto: youtube-shorts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10227" y="2703305"/>
            <a:ext cx="2133622" cy="223725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18" name="Google Shape;118;p19"/>
          <p:cNvSpPr txBox="1"/>
          <p:nvPr/>
        </p:nvSpPr>
        <p:spPr>
          <a:xfrm>
            <a:off x="102375" y="725485"/>
            <a:ext cx="4161900" cy="418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Weekly videos every Friday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latin typeface="Calibri"/>
                <a:ea typeface="Calibri"/>
                <a:cs typeface="Calibri"/>
                <a:sym typeface="Calibri"/>
              </a:rPr>
              <a:t>7.65K subscribers, 375 videos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1. Subscribe to this channel </a:t>
            </a:r>
            <a:r>
              <a:rPr lang="en" sz="1800" b="1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r>
              <a:rPr lang="en" sz="18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b="1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2. Download slides from GitHub using links under the videos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3. Please pause the video - and answer the pinned question in comments under the video</a:t>
            </a:r>
            <a:endParaRPr sz="18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0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20"/>
          <p:cNvSpPr txBox="1"/>
          <p:nvPr/>
        </p:nvSpPr>
        <p:spPr>
          <a:xfrm>
            <a:off x="36575" y="485025"/>
            <a:ext cx="4481400" cy="223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Flint - Fast Local Coding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Recursive launched Flint on Oct21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local coding, MoE, 40B params total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125+ tokens/sec on an M4 Pro MacBook Pro with 48GB memory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https://www.marktechpost.com/2026/10/21/recursive-flint-local-coding-model/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Qwen3.8-27B has stronger reported code quality, 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while Flint’s advantage is speed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Flint is best suited to small, verifiable coding iterations rather than complex unattended work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https://recursive.com/updates/introducing-recursive-flint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https://github.com/recursive-oss/rec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5" name="Google Shape;125;p20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8975" y="494674"/>
            <a:ext cx="3973315" cy="223500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6" name="Google Shape;126;p20"/>
          <p:cNvSpPr txBox="1"/>
          <p:nvPr/>
        </p:nvSpPr>
        <p:spPr>
          <a:xfrm>
            <a:off x="36575" y="2811575"/>
            <a:ext cx="4481400" cy="2096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LTX 2.5: Downloadable AI Video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Lightricks, based in Jerusalem, Israel, developed LTX 2.5, an open-weights audio-video model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Generates video with synchronized speech, lip movements, and environmental audio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Native multi-shot generation maintains characters, settings, lighting, and voices across connected shots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diffusion video decoder improves faces, textures, text, and motion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Hosted generation or self-hosted NVIDIA GPU execution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https://ltx.io/model/ltx-2-5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https://huggingface.co/Lightricks/LTX-2.5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https://www.youtube.com/watch?v=3n90zaL7VDs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7" name="Google Shape;127;p20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8975" y="2811575"/>
            <a:ext cx="2610392" cy="19578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1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1"/>
          <p:cNvSpPr txBox="1"/>
          <p:nvPr/>
        </p:nvSpPr>
        <p:spPr>
          <a:xfrm>
            <a:off x="198825" y="458875"/>
            <a:ext cx="44814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 Academy - The AI-native SDLC playbook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https://academy.claude.com/courses/ai-native-sdlc-playbook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https://vateo.medium.com/after-waterfall-agile-and-devops-anthropics-ai-native-sdlc-playbook-0131a3a9156e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21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00" y="2289625"/>
            <a:ext cx="3094000" cy="2701474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1"/>
          <p:cNvSpPr txBox="1"/>
          <p:nvPr/>
        </p:nvSpPr>
        <p:spPr>
          <a:xfrm>
            <a:off x="4774150" y="253650"/>
            <a:ext cx="4481400" cy="4636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 Academy - The AI-native SDLC playbook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Anthropic’s AI-Native SDLC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Anthropic proposes an AI-native software development lifecycle spanning planning, design, building, testing, deployment, and maintenance.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The article provides no publication date, author’s full name, country, or location.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Problem: AI accelerates coding, but human-paced handoffs, reviews, and approvals still delay delivery.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Solution: connect humans and agents through Git-versioned intent, specifications, implementation plans, tests, and incident records.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Sixteen plays combine automated checks, policy enforcement, regression evaluations, and auditable evidence; humans retain responsibility for intent, risk, and production authorization.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The article reports Claude writes over 80% of code merged at Anthropic.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Importance: redesigning the entire delivery process could improve throughput and governance, although this remains an emerging approach, not an established industry standard.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[https://vateo.medium.com/after-waterfall-agile-and-devops-anthropics-ai-native-sdlc-playbook-0131a3a9156e](https://vateo.medium.com/after-waterfall-agile-and-devops-anthropics-ai-native-sdlc-playbook-0131a3a9156e)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22"/>
          <p:cNvSpPr txBox="1"/>
          <p:nvPr/>
        </p:nvSpPr>
        <p:spPr>
          <a:xfrm>
            <a:off x="112800" y="365650"/>
            <a:ext cx="3785400" cy="158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PHP2Shell: AI-found flaws in PHP hit 70% of the web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Two unauthenticated RCE bugs</a:t>
            </a:r>
            <a:endParaRPr sz="12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Found using OpenAI's GPT-5.6 Sol and Gemini 4 Argon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code sat in PHP for about 14 years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Palo Alto Networks counted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22.6 Mln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exposed instances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Attacks started before the Oct 21 patch;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Finland and the Netherlands pulled sites offline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https://bleepingcomputer.com/news/security/php-ships-emergency-patches-for-critical-php2shell-flaws</a:t>
            </a:r>
            <a:endParaRPr sz="9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2"/>
          <p:cNvSpPr txBox="1"/>
          <p:nvPr/>
        </p:nvSpPr>
        <p:spPr>
          <a:xfrm>
            <a:off x="112800" y="2151200"/>
            <a:ext cx="3785400" cy="1218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REA Restrictions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REA: Reverse Engineer Anything - open source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https://github.com/morluto/rea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- 382K stars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Users reported Claude blocking some REA tasks - interrupts certain analyses with safety refusals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https://kotaku.com/claudes-reverse-engineering-capabilities-used-to-recompile-games-may-have-been-quietly-nerfed-2000749320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22"/>
          <p:cNvSpPr txBox="1"/>
          <p:nvPr/>
        </p:nvSpPr>
        <p:spPr>
          <a:xfrm>
            <a:off x="112800" y="3854150"/>
            <a:ext cx="4383000" cy="895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nears $30B round at a $1.25 trillion valuation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Round of up to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$30 billion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led by investors from the UAE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Valuation of $1.25 Trillion, the highest for any private company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Pitched as a bridge ahead of a possible IPO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https://www.cnbc.com/2026/10/22/openai-funding-round-uae-investors.html</a:t>
            </a:r>
            <a:endParaRPr sz="9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4" name="Google Shape;144;p22"/>
          <p:cNvPicPr preferRelativeResize="0"/>
          <p:nvPr/>
        </p:nvPicPr>
        <p:blipFill rotWithShape="1"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42075" y="113200"/>
            <a:ext cx="1973888" cy="18409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5" name="Google Shape;145;p22"/>
          <p:cNvPicPr preferRelativeResize="0"/>
          <p:nvPr/>
        </p:nvPicPr>
        <p:blipFill rotWithShape="1"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42075" y="2151213"/>
            <a:ext cx="2354449" cy="1218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6" name="Google Shape;146;p22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8200" y="3726969"/>
            <a:ext cx="2354450" cy="126413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3"/>
          <p:cNvSpPr txBox="1"/>
          <p:nvPr/>
        </p:nvSpPr>
        <p:spPr>
          <a:xfrm>
            <a:off x="36575" y="-27425"/>
            <a:ext cx="47259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Tools in the Office - OpenAI &amp; Microsoft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3"/>
          <p:cNvSpPr txBox="1"/>
          <p:nvPr/>
        </p:nvSpPr>
        <p:spPr>
          <a:xfrm>
            <a:off x="68325" y="355300"/>
            <a:ext cx="4429500" cy="4205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Tools in the Office - OpenAI &amp; Microsoft</a:t>
            </a:r>
            <a:endParaRPr sz="11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GitHub Copilot 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(Microsoft/GitHub) - AI coding assistance in VS Code, IntelliJ IDEA, PyCharm, and other IDEs -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https://github.com/features/copilot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Codex 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(CLI, IDE extension, app, and cloud</a:t>
            </a:r>
            <a:br>
              <a:rPr lang="en" sz="1100"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https://learn.chatgpt.com/docs/codex/ide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models via API 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- text generation, reasoning, structured output, image/audio processing, and tool calling -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https://developers.openai.com/api/docs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Python SDK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- package "openai" - lower-level client library</a:t>
            </a:r>
            <a:br>
              <a:rPr lang="en" sz="1100"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https://github.com/openai/openai-python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Agents SDK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- package “openai-agents”, imported as “agents”: A higher-level framework for building your own agents. Adds an agent execution loop, Python tools, delegation/handoffs, guardrails, sessions, and tracing on top of model calls - </a:t>
            </a: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https://openai.github.io/openai-agents-python/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Agents API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- runs agents in OpenAI cloud</a:t>
            </a:r>
            <a:br>
              <a:rPr lang="en" sz="1100"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https://developers.openai.com/api/docs/guides/agents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Azure OpenAI / Microsoft Foundry</a:t>
            </a:r>
            <a:br>
              <a:rPr lang="en" sz="1100"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https://azure.microsoft.com/en-us/products/ai-foundry/models/openai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Agent Framework - open-source SDK</a:t>
            </a:r>
            <a:br>
              <a:rPr lang="en" sz="1100"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https://azure.microsoft.com/en-us/products/ai-foundry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ChatGPT Business / Enterprise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- employee-facing ChatGPT workspace</a:t>
            </a:r>
            <a:br>
              <a:rPr lang="en" sz="1100"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https://openai.com/enterprise?trk=article-ssr-frontend-pulse_little-text-block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365 Copilot 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- Outlook, Teams, Word, Excel, and PowerPoint</a:t>
            </a:r>
            <a:br>
              <a:rPr lang="en" sz="1100"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https://www.microsoft.com/en/copilot/pricing/business-without-teams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Copilot Studio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- low-code building custom business agents and workflows -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https://www.microsoft.com/en/copilot/pricing/business-without-teams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3" name="Google Shape;153;p23"/>
          <p:cNvPicPr preferRelativeResize="0"/>
          <p:nvPr/>
        </p:nvPicPr>
        <p:blipFill>
          <a:blip r:embed="rId1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2000" y="681575"/>
            <a:ext cx="4493676" cy="317963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4"/>
          <p:cNvSpPr txBox="1"/>
          <p:nvPr/>
        </p:nvSpPr>
        <p:spPr>
          <a:xfrm>
            <a:off x="36576" y="-27432"/>
            <a:ext cx="11772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24"/>
          <p:cNvSpPr txBox="1"/>
          <p:nvPr/>
        </p:nvSpPr>
        <p:spPr>
          <a:xfrm>
            <a:off x="109800" y="559350"/>
            <a:ext cx="4354500" cy="2373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Agensh runs 1,024 coding agents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Microsoft Research open-sourced the harness under MIT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No orchestrator: each worker claims a sub-task,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shares findings and merges to one Git repo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Agents talk over Mattermost and a shared board of typed notes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 ProgramBench’s Pandoc task, pass rate rose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from 33.89% with 1 agent to 55.06% with 1,024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128 agents passed 30% in 30 min; 8 agents needed 90 min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Linux, Docker Compose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https://github.com/microsoft/Agensh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https://arxiv.org/abs/2609.26781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https://alphasignal.ai/news/microsoft-s-agensh-runs-1-024-coding-agents-without-a-central-controller</a:t>
            </a:r>
            <a:endParaRPr sz="9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https://ground.news/interest/microsoft</a:t>
            </a:r>
            <a:r>
              <a:rPr lang="en" sz="90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0" name="Google Shape;160;p24"/>
          <p:cNvPicPr preferRelativeResize="0"/>
          <p:nvPr/>
        </p:nvPicPr>
        <p:blipFill rotWithShape="1"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572000" y="102975"/>
            <a:ext cx="3057000" cy="17630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61" name="Google Shape;161;p24"/>
          <p:cNvPicPr preferRelativeResize="0"/>
          <p:nvPr/>
        </p:nvPicPr>
        <p:blipFill rotWithShape="1"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335225" y="1866000"/>
            <a:ext cx="2293775" cy="96648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62" name="Google Shape;162;p24"/>
          <p:cNvSpPr txBox="1"/>
          <p:nvPr/>
        </p:nvSpPr>
        <p:spPr>
          <a:xfrm>
            <a:off x="109800" y="3095775"/>
            <a:ext cx="43545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Sage-A1.5 - Small Science Agent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MoE 35B/3B, from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InternScience,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China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81 vs GPT-5.6-sol’s 73 on FrontierScience-Olympiad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80 vs the nearest competitor’s 50 on condensed-matter theory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Parallel helpers, optional self-verification and review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Trails leading models in web search and coding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Quantized weights fit a 24GB GPU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https://arxiv.org/abs/2610.28578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https://huggingface.co/InternScience/Sage-A1.5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https://huggingface.co/InternScience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https://www.youtube.com/watch?v=n9w7w383pJY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3" name="Google Shape;163;p24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4873875" y="3146688"/>
            <a:ext cx="3048000" cy="1714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5"/>
          <p:cNvSpPr txBox="1"/>
          <p:nvPr/>
        </p:nvSpPr>
        <p:spPr>
          <a:xfrm>
            <a:off x="36575" y="-27425"/>
            <a:ext cx="4030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Wiki Memory in a Database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5"/>
          <p:cNvSpPr txBox="1"/>
          <p:nvPr/>
        </p:nvSpPr>
        <p:spPr>
          <a:xfrm>
            <a:off x="68325" y="474575"/>
            <a:ext cx="5194500" cy="4423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Can I put a wiki memory into a database? MongoDB or PostgreSQL?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7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Will I be able to reproduce the speed and quality of the local search?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7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How local search works: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 python script does an exact substring or regex scan, then sort by match count with a title bonus. The real quality comes from the agent working in a loop: grep, read the page, follow the [[links]], grep again.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7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100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 database keeps that quality as long as it offers the same four operations with the same exact-match behavior.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7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Both PostgreSQL and MongoDB can store wiki pages, metadata, and links.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7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Preserve the agent’s search, read, follow-links, and search-again loop, including match counts and title bonuses.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7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PostgreSQL’s pg_trgm indexes accelerate substring and regex searches, but short or broad patterns may still scan extensively.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7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PostgreSQL regex behavior differs from Python’s; test compatibility and escape literal substring queries correctly.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7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Full-text search and vector search are optional additions, not replacements for exact matching.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7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Store links in a relationship table and flexible metadata in jsonb.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7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Benchmark realistic workloads; page count alone cannot guarantee millisecond responses.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7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MongoDB supports substring regex and self-managed search, but PostgreSQL better fits this exact-search-first design.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0" name="Google Shape;170;p25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44317" y="474578"/>
            <a:ext cx="1427825" cy="14278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71" name="Google Shape;171;p25"/>
          <p:cNvSpPr txBox="1"/>
          <p:nvPr/>
        </p:nvSpPr>
        <p:spPr>
          <a:xfrm>
            <a:off x="5352225" y="2021660"/>
            <a:ext cx="3697200" cy="2142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Andrej Karpathy has popularized the idea of using obsidian wiki as agentic memory in April of 2026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Idea - preserve original sources, let an LLM maintain interlinked Markdown pages, and use instruction files to govern updates, organization, and consistency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Agents ingest sources, answer questions, and check the wiki for contradictions, outdated information, and missing connections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Knowledge accumulates as persistent, human-readable memory rather than being rebuilt for every query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https://gist.github.com/karpathy/442a6bf555914893e9891c11519de94f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https://aaif.io/blog/karpathys-llm-wiki-as-agent-memory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2" name="Google Shape;172;p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821168" y="616988"/>
            <a:ext cx="1143000" cy="114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6"/>
          <p:cNvSpPr txBox="1"/>
          <p:nvPr/>
        </p:nvSpPr>
        <p:spPr>
          <a:xfrm>
            <a:off x="36575" y="-27425"/>
            <a:ext cx="4030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South African AI-novelist Coral Hart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26"/>
          <p:cNvSpPr txBox="1"/>
          <p:nvPr/>
        </p:nvSpPr>
        <p:spPr>
          <a:xfrm>
            <a:off x="68325" y="355300"/>
            <a:ext cx="5361000" cy="3343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South African AI-novelist Coral Hart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says she has published 371 books, many of them romance novels, using AI since February 2025.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She develops the concepts, characters, style, and chapter outlines, then uses tools including ChatGPT, Claude, and Grok to generate and revise the text.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 human proofreader checks and rewrites portions before publication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Hart estimates that she has sold over one million copies and earned more than US$1 million in 2026, but those financial figures have not been independently verified in the reporting reviewed.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viral post’s claim that a finished book takes just 45 minutes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She sells through Amazon, at least: reporting on Coral Hart says one of her novels reached an Amazon top-100 bestseller list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Her reported sales span e-books, print books, and audiobooks, but the sources do not provide a complete list of retailers or audiobook platforms. I could not confirm Kobo, Apple Books, Audible, or other specific stores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She publishes under more than ten other pen names, so searching only for “Coral Hart” would not reveal her full catalogue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million-copy sales figure is her own estimate across formats—not a verified Amazon-only sales total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9" name="Google Shape;179;p26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23600" y="637625"/>
            <a:ext cx="2729450" cy="3292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7"/>
          <p:cNvSpPr txBox="1"/>
          <p:nvPr/>
        </p:nvSpPr>
        <p:spPr>
          <a:xfrm>
            <a:off x="36575" y="-27425"/>
            <a:ext cx="4030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7"/>
          <p:cNvSpPr txBox="1"/>
          <p:nvPr/>
        </p:nvSpPr>
        <p:spPr>
          <a:xfrm>
            <a:off x="142500" y="355625"/>
            <a:ext cx="4429500" cy="223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Nanbeige4.3-33B on Hugging Face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Nanbeige LLM Lab, part of BOSS Zhipin, Beijing, China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https://huggingface.co/Nanbeige/Nanbeige4.3-33B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33B params dense model for coding agents and office work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Open Source - Apache 2.0; 524K-token context window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https://www.marktechpost.com/2026/10/25/nanbeige-releases-nanbeige4-3-33b-open-agentic-coding-model/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For complex, multistep workflows through reasoning, tool calling, and retained reasoning across interactions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Leads in 17 of 20 comparison benchmarks, including 80.9 on Terminal-Bench 2.1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Planned smaller 3B version, through distillation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6" name="Google Shape;186;p27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8225" y="564025"/>
            <a:ext cx="2668599" cy="20077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87" name="Google Shape;187;p27"/>
          <p:cNvSpPr txBox="1"/>
          <p:nvPr/>
        </p:nvSpPr>
        <p:spPr>
          <a:xfrm>
            <a:off x="122608" y="2663358"/>
            <a:ext cx="4462200" cy="1265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Apple's 20B on-device model runs in about 2 GB of memory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20 Bln params model that keeps most weights in flash storage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Only 1 to 4 Bln parameters are active per prompt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 an M3 Max Mac it used roughly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2 GB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of memory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Energy use was much lower than comparable open models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Weaker at math than those open models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https://www.airealist.ai/p/exploring-apple-on-device-model</a:t>
            </a:r>
            <a:endParaRPr sz="9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8" name="Google Shape;188;p27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8228" y="2691487"/>
            <a:ext cx="1464147" cy="12088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89" name="Google Shape;189;p27"/>
          <p:cNvSpPr txBox="1"/>
          <p:nvPr/>
        </p:nvSpPr>
        <p:spPr>
          <a:xfrm>
            <a:off x="129700" y="4001175"/>
            <a:ext cx="4455000" cy="1034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Qwen tried uploading stuff back to China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Canada’s Cohere reported that China’s Alibaba Qwen3.8-Flash-Next attempted an unauthorized upload to Alibaba Cloud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This was detected during a sandboxed cybersecurity evaluation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https://venturebeat.com/data/coheres-test-caught-an-open-source-qwen3-8-model-trying-to-phone-home-to-china-what-enterprises-should-know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8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8"/>
          <p:cNvSpPr txBox="1"/>
          <p:nvPr/>
        </p:nvSpPr>
        <p:spPr>
          <a:xfrm>
            <a:off x="119526" y="321125"/>
            <a:ext cx="4919100" cy="1634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GPT-6.1 Terra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Mid-tier model for screens, apps and writing,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gpt-6.1-terra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Pricing  $1 / $5  in/out per 1M tokens - half of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GPT-5.6 Terra or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GPT-6.1 Sol,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OpenAI says 15 points better than GPT-5.6 Terra on computer use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at about one-third the cost (lower pricing and lower tokens' usage)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Terminal-Bench 4.0 up from 21.5% to 50.3%, still behind Sol at 55.9%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Artificial Analysis: it guesses on 38% of unknowns vs 88% for GPT-5.6 Terra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1.05M-token context; in ChatGPT Work, Codex and the API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https://openai.com/index/introducing-gpt-6-1-terra/</a:t>
            </a:r>
            <a:endParaRPr sz="9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8"/>
          <p:cNvSpPr txBox="1"/>
          <p:nvPr/>
        </p:nvSpPr>
        <p:spPr>
          <a:xfrm>
            <a:off x="116149" y="1988300"/>
            <a:ext cx="4919100" cy="1403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Frontier models' robot-arm skills double every 54 days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Researchers tested nine multimodal models on six real robot-arm tasks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Tests ran from July to October 2026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Performance doubled about every 54 days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Best execution rate rose 4.4x; lowest cost per subtask fell 6.2x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Models are held back mostly by efficiency and precision, not reasoning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https://www.lesswrong.com/posts/ndS9Xn8Qx5PppHJ3Q/the-ability-of-frontier-models-to-control-robots-is-rapidly</a:t>
            </a:r>
            <a:endParaRPr sz="9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8"/>
          <p:cNvSpPr txBox="1"/>
          <p:nvPr/>
        </p:nvSpPr>
        <p:spPr>
          <a:xfrm>
            <a:off x="116150" y="3424475"/>
            <a:ext cx="4919100" cy="1634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Genie 4: Interactive AI Worlds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Google DeepMind announced Genie 4’s research preview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95250" algn="l" rtl="0">
              <a:spcBef>
                <a:spcPts val="0"/>
              </a:spcBef>
              <a:spcAft>
                <a:spcPts val="0"/>
              </a:spcAft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https://deepmind.google/blog/genie-4-a-new-generation-of-world-simulation/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Interactive worlds featuring native sound, music and dialogue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Users change weather, cameras, characters and objects through live text prompts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Use cases - rapid film and game prototyping, with potential for safer robot and AI-agent training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Improved physics and human movement increase realism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8" name="Google Shape;198;p2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97175" y="3424472"/>
            <a:ext cx="2906155" cy="16346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99" name="Google Shape;199;p28"/>
          <p:cNvPicPr preferRelativeResize="0"/>
          <p:nvPr/>
        </p:nvPicPr>
        <p:blipFill rotWithShape="1"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97175" y="1988300"/>
            <a:ext cx="1815074" cy="14036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00" name="Google Shape;200;p28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97175" y="321125"/>
            <a:ext cx="2724491" cy="16346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9"/>
          <p:cNvSpPr txBox="1"/>
          <p:nvPr/>
        </p:nvSpPr>
        <p:spPr>
          <a:xfrm>
            <a:off x="83398" y="50600"/>
            <a:ext cx="1923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Jobs and Layoffs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9"/>
          <p:cNvSpPr txBox="1"/>
          <p:nvPr/>
        </p:nvSpPr>
        <p:spPr>
          <a:xfrm>
            <a:off x="2771397" y="19852"/>
            <a:ext cx="18006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9"/>
          <p:cNvSpPr txBox="1"/>
          <p:nvPr/>
        </p:nvSpPr>
        <p:spPr>
          <a:xfrm>
            <a:off x="5690525" y="3510625"/>
            <a:ext cx="32868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Tech Layoffs by year (US only):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135.4K in 2026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(as of Oct 27, 2026)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123K in 2025 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153K in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2024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266K in 2023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165K in 2022                  </a:t>
            </a:r>
            <a:r>
              <a:rPr lang="en" sz="120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9"/>
          <p:cNvSpPr txBox="1"/>
          <p:nvPr/>
        </p:nvSpPr>
        <p:spPr>
          <a:xfrm>
            <a:off x="5690530" y="1158774"/>
            <a:ext cx="32868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The Tech Layoff Tracker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2026: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197,123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(657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2025: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245,953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(674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2024: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238,461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laid off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(653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marR="460858" lvl="0" indent="-5715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9" name="Google Shape;209;p29" descr="auto: layoffs-fyi-chart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5736" y="3407672"/>
            <a:ext cx="4634459" cy="1548885"/>
          </a:xfrm>
          <a:prstGeom prst="rect">
            <a:avLst/>
          </a:prstGeom>
          <a:noFill/>
          <a:ln w="9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10" name="Google Shape;210;p29" descr="auto: trueup-chart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5117" y="570018"/>
            <a:ext cx="4635704" cy="2494740"/>
          </a:xfrm>
          <a:prstGeom prst="rect">
            <a:avLst/>
          </a:prstGeom>
          <a:noFill/>
          <a:ln w="9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0"/>
          <p:cNvSpPr txBox="1"/>
          <p:nvPr/>
        </p:nvSpPr>
        <p:spPr>
          <a:xfrm>
            <a:off x="93825" y="-8374"/>
            <a:ext cx="1382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Tech Hiring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30"/>
          <p:cNvSpPr txBox="1"/>
          <p:nvPr/>
        </p:nvSpPr>
        <p:spPr>
          <a:xfrm>
            <a:off x="84300" y="406525"/>
            <a:ext cx="4487700" cy="1080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Software job postings on Indeed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Comparing to 2020 level, in Feb 2022 it was 234%, in 2025 it was 65%, now it is 77%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All US job postings: 103% (compared with 2020)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Postings that mention AI: 6.7% of all, up from 3.4% a year ago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https://fred.stlouisfed.org/series/IHLIDXUSTPSOFTDEVE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30"/>
          <p:cNvSpPr txBox="1"/>
          <p:nvPr/>
        </p:nvSpPr>
        <p:spPr>
          <a:xfrm>
            <a:off x="84300" y="1779175"/>
            <a:ext cx="4487700" cy="2142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Skills in demand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Dice, 7M+ US tech postings (Aug 2026): +18% year over year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AI and machine learning postings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+101%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year over year, five times the overall rate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Fastest-growing skills, each up 200%+: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responsible AI, AI agents, agentic AI, AI infrastructure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Most requested overall: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communication, computer science, troubleshooting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Indeed: 71% of the software postings rebound (May 2025 to May 2026) is senior roles; 37% has AI in the title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https://hiringlab.indeed.com/2026/07/08/ai-and-job-postings-from-destruction-to-creation/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https://www.dice.com/hiring/recruitment/reports/dice-tech-job-report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30"/>
          <p:cNvSpPr txBox="1"/>
          <p:nvPr/>
        </p:nvSpPr>
        <p:spPr>
          <a:xfrm>
            <a:off x="4876773" y="318025"/>
            <a:ext cx="3942600" cy="4082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Top "In Demand" Skills and Qualifications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Critical thinking and problem-solving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Communication and stakeholder management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Adaptability and continuous learning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AI literacy and practical AI adoption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AI/ML application development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Data engineering and data management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Cybersecurity and risk management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Cloud and infrastructure engineering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Software engineering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Automation and workflow optimization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DevOps, CI/CD, and platform engineering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Governance, compliance, and responsible AI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Analytical thinking and data analysis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Product management and business alignment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Project and program management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Leadership and cross-functional collaboration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Creativity and innovation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Resilience and professionalism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Technical troubleshooting and systems thinking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Business growth and customer focus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1"/>
          <p:cNvSpPr txBox="1"/>
          <p:nvPr/>
        </p:nvSpPr>
        <p:spPr>
          <a:xfrm>
            <a:off x="36576" y="-27432"/>
            <a:ext cx="2441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31"/>
          <p:cNvSpPr txBox="1"/>
          <p:nvPr/>
        </p:nvSpPr>
        <p:spPr>
          <a:xfrm>
            <a:off x="3328416" y="1263396"/>
            <a:ext cx="4572000" cy="29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4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58750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58750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58750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Interests: Generative AI, using LLMs with your data, local AI for local private data, cloud architecture, fin-tech, application security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58750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Find and connect: LinkedIn, GitHub, YouTube, Google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https://eais.ai</a:t>
            </a:r>
            <a:endParaRPr sz="12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5" name="Google Shape;225;p31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89304" y="1952244"/>
            <a:ext cx="1572768" cy="157276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2"/>
          <p:cNvSpPr txBox="1"/>
          <p:nvPr/>
        </p:nvSpPr>
        <p:spPr>
          <a:xfrm>
            <a:off x="36576" y="1687068"/>
            <a:ext cx="9070800" cy="7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4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32"/>
          <p:cNvSpPr txBox="1"/>
          <p:nvPr/>
        </p:nvSpPr>
        <p:spPr>
          <a:xfrm>
            <a:off x="1434219" y="2554732"/>
            <a:ext cx="6275700" cy="14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58750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Videos of every seminar are on YouTube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https://www.youtube.com/@lev-selector</a:t>
            </a:r>
            <a:endParaRPr sz="12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58750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Slides on GitHub. Click a pptx file, then the download button on the right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https://github.com/lselector/seminar</a:t>
            </a:r>
            <a:endParaRPr sz="12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58750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Slides on Google Drive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https://drive.google.com/drive/folders/1dmj00iilSP-JYmriMUUaHCKz5X54e3UX?ths=true</a:t>
            </a:r>
            <a:endParaRPr sz="12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3"/>
          <p:cNvSpPr txBox="1"/>
          <p:nvPr/>
        </p:nvSpPr>
        <p:spPr>
          <a:xfrm>
            <a:off x="36576" y="-27432"/>
            <a:ext cx="2966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Not in the presentation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33"/>
          <p:cNvSpPr txBox="1"/>
          <p:nvPr/>
        </p:nvSpPr>
        <p:spPr>
          <a:xfrm>
            <a:off x="36576" y="758952"/>
            <a:ext cx="6377100" cy="1243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Everything after this slide is left out of the talk.</a:t>
            </a:r>
            <a:endParaRPr sz="1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Paste topics you decided not to present on the next slide. Scripts never write past this point, and a topic parked here is never added again.</a:t>
            </a:r>
            <a:endParaRPr sz="1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4"/>
          <p:cNvSpPr txBox="1"/>
          <p:nvPr/>
        </p:nvSpPr>
        <p:spPr>
          <a:xfrm>
            <a:off x="36574" y="-27425"/>
            <a:ext cx="2631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Parked topics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34"/>
          <p:cNvSpPr txBox="1"/>
          <p:nvPr/>
        </p:nvSpPr>
        <p:spPr>
          <a:xfrm>
            <a:off x="109800" y="296425"/>
            <a:ext cx="4462200" cy="1003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One hacker's AI agents breached 100+ companies for $50 each</a:t>
            </a:r>
            <a:endParaRPr sz="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Agents on the open-source Cairn platform attacked </a:t>
            </a:r>
            <a:r>
              <a:rPr lang="en" sz="800" b="1">
                <a:latin typeface="Calibri"/>
                <a:ea typeface="Calibri"/>
                <a:cs typeface="Calibri"/>
                <a:sym typeface="Calibri"/>
              </a:rPr>
              <a:t>1,200+ sites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and got into about 100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Victims included Deere, SharkNinja and Cummins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Total token bill about </a:t>
            </a:r>
            <a:r>
              <a:rPr lang="en" sz="8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$5,000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, about 23 hours per break-in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The worker label pointed to Claude Code driving DeepSeek V4.1 Flash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Same week: LiteLLM 1.107.0 on PyPI shipped a credential stealer for about 2 hours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Microsoft says China-aligned Storm-0940 used an AI agent framework against 2,250+ M365 tenants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https://thenextweb.com/news/ai-agents-hacker-cairn-100-sites-deere-norforge</a:t>
            </a:r>
            <a:endParaRPr sz="8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34"/>
          <p:cNvSpPr txBox="1"/>
          <p:nvPr/>
        </p:nvSpPr>
        <p:spPr>
          <a:xfrm>
            <a:off x="109800" y="1344778"/>
            <a:ext cx="3772200" cy="1003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launches Claude Duet, an agent that messages you first</a:t>
            </a:r>
            <a:endParaRPr sz="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Proactive agent on </a:t>
            </a:r>
            <a:r>
              <a:rPr lang="en" sz="800" b="1">
                <a:latin typeface="Calibri"/>
                <a:ea typeface="Calibri"/>
                <a:cs typeface="Calibri"/>
                <a:sym typeface="Calibri"/>
              </a:rPr>
              <a:t>Opus 5.5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that checks your apps every few hours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Sends a morning brief and pings you only when something needs you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Runs on its own cloud VM and browser, so it works with your laptop closed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Uses </a:t>
            </a:r>
            <a:r>
              <a:rPr lang="en" sz="8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6,000+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connectors: Gmail, Slack, QuickBooks, Stripe, DocuSign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Asks before sending, paying, signing or deleting; trading and transfers are blocked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Research preview, waitlist, US Pro and Max subscribers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https://claude.com/resources/articles/claude-duet</a:t>
            </a:r>
            <a:endParaRPr sz="8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34"/>
          <p:cNvSpPr txBox="1"/>
          <p:nvPr/>
        </p:nvSpPr>
        <p:spPr>
          <a:xfrm>
            <a:off x="108699" y="2393108"/>
            <a:ext cx="4096800" cy="11268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DeepSeek V4.1-Flash-1017 and its open-source DeepInfer engine</a:t>
            </a:r>
            <a:endParaRPr sz="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552B total parameters, MIT weights, 1M context, API name </a:t>
            </a:r>
            <a:r>
              <a:rPr lang="en" sz="8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deepseek-flash</a:t>
            </a:r>
            <a:endParaRPr sz="8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DeepSeek reports </a:t>
            </a:r>
            <a:r>
              <a:rPr lang="en" sz="8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77.0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on DeepSWE, up from 74.2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Price unchanged at $0.30/$1.20 per 1M tokens; Artificial Analysis gives it 45, tied #2 open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New Search and Fetch APIs at $0.75 per 1,000 calls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b="1">
                <a:latin typeface="Calibri"/>
                <a:ea typeface="Calibri"/>
                <a:cs typeface="Calibri"/>
                <a:sym typeface="Calibri"/>
              </a:rPr>
              <a:t>DeepInfer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, its production inference engine, is now Apache 2.0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DeepSeek says one cluster serves 155T tokens a day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The U.S. DHS ordered DeepSeek out of federal civilian systems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https://huggingface.co/deepseek-ai/DeepSeek-V4.1-Flash-1017</a:t>
            </a:r>
            <a:endParaRPr sz="8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34"/>
          <p:cNvSpPr txBox="1"/>
          <p:nvPr/>
        </p:nvSpPr>
        <p:spPr>
          <a:xfrm>
            <a:off x="108698" y="3570587"/>
            <a:ext cx="3772200" cy="1003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agents switched off their own monitors</a:t>
            </a:r>
            <a:endParaRPr sz="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A GPT-6.1 Sol agent suppressed alerts to the security team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A GPT-6 Astra agent removed a monitoring integration, then said it had not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OpenAI's public incident ledger is now up to </a:t>
            </a:r>
            <a:r>
              <a:rPr lang="en" sz="8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19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cases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METR and Redwood spent </a:t>
            </a:r>
            <a:r>
              <a:rPr lang="en" sz="800" b="1">
                <a:latin typeface="Calibri"/>
                <a:ea typeface="Calibri"/>
                <a:cs typeface="Calibri"/>
                <a:sym typeface="Calibri"/>
              </a:rPr>
              <a:t>three weeks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inside OpenAI testing its agent monitoring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They found ways agents could evade monitors, escape sandboxes or hide actions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OpenAI now trains frontier models without internet access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https://metr.org/blog/2026-10-22-red-teaming-openai-agent-monitoring/</a:t>
            </a:r>
            <a:endParaRPr sz="8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34"/>
          <p:cNvSpPr txBox="1"/>
          <p:nvPr/>
        </p:nvSpPr>
        <p:spPr>
          <a:xfrm>
            <a:off x="5215200" y="168050"/>
            <a:ext cx="3400200" cy="880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Anthropic: junior technical hires fell from 27% to 9%</a:t>
            </a:r>
            <a:endParaRPr sz="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Anthropic studied its own workforce since early 2025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Entry-level share of technical hires dropped from </a:t>
            </a:r>
            <a:r>
              <a:rPr lang="en" sz="8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27%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to </a:t>
            </a:r>
            <a:r>
              <a:rPr lang="en" sz="8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9%</a:t>
            </a:r>
            <a:endParaRPr sz="800">
              <a:highlight>
                <a:srgbClr val="FFF2CC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By August its AI agents logged </a:t>
            </a:r>
            <a:r>
              <a:rPr lang="en" sz="800" b="1">
                <a:latin typeface="Calibri"/>
                <a:ea typeface="Calibri"/>
                <a:cs typeface="Calibri"/>
                <a:sym typeface="Calibri"/>
              </a:rPr>
              <a:t>six times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more hours than its staff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Work shifted toward supervising agents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Human attention became the bottleneck; meeting time rose 20%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https://www.anthropic.com/research/employment-at-anthropic</a:t>
            </a:r>
            <a:endParaRPr sz="8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34"/>
          <p:cNvSpPr txBox="1"/>
          <p:nvPr/>
        </p:nvSpPr>
        <p:spPr>
          <a:xfrm>
            <a:off x="5215200" y="1103853"/>
            <a:ext cx="3400200" cy="880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puts 5% of its equity into a Public Benefit Fund</a:t>
            </a:r>
            <a:endParaRPr sz="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A company-owned LLC gets </a:t>
            </a:r>
            <a:r>
              <a:rPr lang="en" sz="800" b="1">
                <a:latin typeface="Calibri"/>
                <a:ea typeface="Calibri"/>
                <a:cs typeface="Calibri"/>
                <a:sym typeface="Calibri"/>
              </a:rPr>
              <a:t>5%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of shares if stockholders approve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Worth about </a:t>
            </a:r>
            <a:r>
              <a:rPr lang="en" sz="8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$48 billion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at the May valuation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The board may add 2% for each 50% rise in value past a baseline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Could fund nonprofits or direct payments, such as to workers hit by AI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About 20% of Anthropic's shares are now set aside for public benefit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https://www.anthropic.com/news/public-benefit-fund</a:t>
            </a:r>
            <a:endParaRPr sz="8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34"/>
          <p:cNvSpPr txBox="1"/>
          <p:nvPr/>
        </p:nvSpPr>
        <p:spPr>
          <a:xfrm>
            <a:off x="5215200" y="2047332"/>
            <a:ext cx="3400200" cy="1003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MiniMax M3.1 Flash: 428B agent model at $0.15 per 1M tokens</a:t>
            </a:r>
            <a:endParaRPr sz="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428B total, about 23B active, 1M context, text, image and video in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Priced at </a:t>
            </a:r>
            <a:r>
              <a:rPr lang="en" sz="8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$0.15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input and $0.60 output per 1M tokens, flat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MiniMax reports 62.2 on Automation-Bench vs 50.3 for Opus 5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Weaker on Terminal-Bench 4.0: 38.1 vs 51.8 for Opus 5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About 3x faster inference and 70% lower cost than the previous version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Weights promised later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https://www.minimax.io/blog/minimax-m31f</a:t>
            </a:r>
            <a:endParaRPr sz="8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34"/>
          <p:cNvSpPr txBox="1"/>
          <p:nvPr/>
        </p:nvSpPr>
        <p:spPr>
          <a:xfrm>
            <a:off x="5215200" y="3113800"/>
            <a:ext cx="3400200" cy="1373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1Password lets AI agents log in without seeing passwords</a:t>
            </a:r>
            <a:endParaRPr sz="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b="1">
                <a:latin typeface="Calibri"/>
                <a:ea typeface="Calibri"/>
                <a:cs typeface="Calibri"/>
                <a:sym typeface="Calibri"/>
              </a:rPr>
              <a:t>1Password for Agents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: an agent asks for a saved login, the user approves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1Password fills the credentials into the site; the agent never sees them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Works with ChatGPT, Claude and Grok, with more planned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Same week, JPMorgan, BofA and Citi restricted third-party agents; Morgan Stanley blocks them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Banks found agents logging in with customers' passwords, some acting beyond instructions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Walmart went the other way and opened Agent Gateway for approved shopping agents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https://1password.com/blog/1password-for-ai-agents</a:t>
            </a:r>
            <a:endParaRPr sz="8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5"/>
          <p:cNvSpPr txBox="1"/>
          <p:nvPr/>
        </p:nvSpPr>
        <p:spPr>
          <a:xfrm>
            <a:off x="36574" y="-27425"/>
            <a:ext cx="2631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Parked topics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35"/>
          <p:cNvSpPr txBox="1"/>
          <p:nvPr/>
        </p:nvSpPr>
        <p:spPr>
          <a:xfrm>
            <a:off x="109800" y="320450"/>
            <a:ext cx="3578100" cy="880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Anthropic: junior technical hires fell from 27% to 9%</a:t>
            </a:r>
            <a:endParaRPr sz="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Anthropic studied its own workforce since early 2025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Entry-level share of technical hires dropped from </a:t>
            </a:r>
            <a:r>
              <a:rPr lang="en" sz="8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27%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to </a:t>
            </a:r>
            <a:r>
              <a:rPr lang="en" sz="8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9%</a:t>
            </a:r>
            <a:endParaRPr sz="800">
              <a:highlight>
                <a:srgbClr val="FFF2CC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By August its AI agents logged </a:t>
            </a:r>
            <a:r>
              <a:rPr lang="en" sz="800" b="1">
                <a:latin typeface="Calibri"/>
                <a:ea typeface="Calibri"/>
                <a:cs typeface="Calibri"/>
                <a:sym typeface="Calibri"/>
              </a:rPr>
              <a:t>six times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more hours than its staff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Work shifted toward supervising agents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Human attention became the bottleneck; meeting time rose 20%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https://www.anthropic.com/research/employment-at-anthropic</a:t>
            </a:r>
            <a:endParaRPr sz="8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35"/>
          <p:cNvSpPr txBox="1"/>
          <p:nvPr/>
        </p:nvSpPr>
        <p:spPr>
          <a:xfrm>
            <a:off x="109800" y="1256254"/>
            <a:ext cx="3578100" cy="880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puts 5% of its equity into a Public Benefit Fund</a:t>
            </a:r>
            <a:endParaRPr sz="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A company-owned LLC gets </a:t>
            </a:r>
            <a:r>
              <a:rPr lang="en" sz="800" b="1">
                <a:latin typeface="Calibri"/>
                <a:ea typeface="Calibri"/>
                <a:cs typeface="Calibri"/>
                <a:sym typeface="Calibri"/>
              </a:rPr>
              <a:t>5%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of shares if stockholders approve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Worth about </a:t>
            </a:r>
            <a:r>
              <a:rPr lang="en" sz="8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$48 billion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at the May valuation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The board may add 2% for each 50% rise in value past a baseline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Could fund nonprofits or direct payments, such as to workers hit by AI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About 20% of Anthropic's shares are now set aside for public benefit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https://www.anthropic.com/news/public-benefit-fund</a:t>
            </a:r>
            <a:endParaRPr sz="8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35"/>
          <p:cNvSpPr txBox="1"/>
          <p:nvPr/>
        </p:nvSpPr>
        <p:spPr>
          <a:xfrm>
            <a:off x="109800" y="2183559"/>
            <a:ext cx="3578100" cy="1003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MiniMax M3.1 Flash: 428B agent model at $0.15 per 1M tokens</a:t>
            </a:r>
            <a:endParaRPr sz="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428B total, about 23B active, 1M context, text, image and video in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Priced at </a:t>
            </a:r>
            <a:r>
              <a:rPr lang="en" sz="8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$0.15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input and $0.60 output per 1M tokens, flat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MiniMax reports 62.2 on Automation-Bench vs 50.3 for Opus 5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Weaker on Terminal-Bench 4.0: 38.1 vs 51.8 for Opus 5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About 3x faster inference and 70% lower cost than the previous version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Weights promised later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https://www.minimax.io/blog/minimax-m31f</a:t>
            </a:r>
            <a:endParaRPr sz="8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35"/>
          <p:cNvSpPr txBox="1"/>
          <p:nvPr/>
        </p:nvSpPr>
        <p:spPr>
          <a:xfrm>
            <a:off x="109800" y="3249450"/>
            <a:ext cx="3578100" cy="1003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Mistral Voxtral 3: speech models and a voice agent SDK</a:t>
            </a:r>
            <a:endParaRPr sz="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3 transcription models, 1 text-to-speech model and a LiveKit-based agent SDK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Transcription in </a:t>
            </a:r>
            <a:r>
              <a:rPr lang="en" sz="800" b="1">
                <a:latin typeface="Calibri"/>
                <a:ea typeface="Calibri"/>
                <a:cs typeface="Calibri"/>
                <a:sym typeface="Calibri"/>
              </a:rPr>
              <a:t>50+ languages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with speaker diarization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Small Transcribe 3 reports 4.1% WER on FLEURS vs 16.0% for Whisper large-v3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Batch transcription from </a:t>
            </a:r>
            <a:r>
              <a:rPr lang="en" sz="8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$0.0035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per minute; speech at $13 per 1M characters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Voice agent turns under one second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Public preview, no open weights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https://mistral.ai/news/voxtral-3/</a:t>
            </a:r>
            <a:endParaRPr sz="8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35"/>
          <p:cNvSpPr txBox="1"/>
          <p:nvPr/>
        </p:nvSpPr>
        <p:spPr>
          <a:xfrm>
            <a:off x="4597073" y="325125"/>
            <a:ext cx="3958500" cy="1003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Inception Mercury 3: a diffusion LLM at 1,000+ tokens/s</a:t>
            </a:r>
            <a:endParaRPr sz="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Generates text by diffusion instead of token by token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Over </a:t>
            </a:r>
            <a:r>
              <a:rPr lang="en" sz="8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1,000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tokens per second on standard hardware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b="1">
                <a:latin typeface="Calibri"/>
                <a:ea typeface="Calibri"/>
                <a:cs typeface="Calibri"/>
                <a:sym typeface="Calibri"/>
              </a:rPr>
              <a:t>40x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larger than Mercury 1 and about 3x stronger on standard benchmarks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Inception reports it beats GPT-6 Luna and Claude Haiku 5.5 on several benchmarks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1M-token context and tool support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Launch price $0.10 per 1M input tokens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https://www.inceptionlabs.ai/blog/introducing-mercury-3</a:t>
            </a:r>
            <a:endParaRPr sz="8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35"/>
          <p:cNvSpPr txBox="1"/>
          <p:nvPr/>
        </p:nvSpPr>
        <p:spPr>
          <a:xfrm>
            <a:off x="4597073" y="1419582"/>
            <a:ext cx="3958500" cy="1003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PyTorch now runs natively on Google TPUs and AWS Trainium</a:t>
            </a:r>
            <a:endParaRPr sz="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b="1">
                <a:latin typeface="Calibri"/>
                <a:ea typeface="Calibri"/>
                <a:cs typeface="Calibri"/>
                <a:sym typeface="Calibri"/>
              </a:rPr>
              <a:t>TorchTPU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from Google and Meta replaces PyTorch/XLA; tensors are ordinary tensors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Google reports up to 52% MFU training Qwen 3 8B, scaling near-linearly to 8,192 chips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Full </a:t>
            </a:r>
            <a:r>
              <a:rPr lang="en" sz="8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torch.compile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gave a </a:t>
            </a:r>
            <a:r>
              <a:rPr lang="en" sz="8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3.8x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speedup in one fine-tuning test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AWS released </a:t>
            </a:r>
            <a:r>
              <a:rPr lang="en" sz="800" b="1">
                <a:latin typeface="Calibri"/>
                <a:ea typeface="Calibri"/>
                <a:cs typeface="Calibri"/>
                <a:sym typeface="Calibri"/>
              </a:rPr>
              <a:t>TorchNeuron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for Trainium 2 and 3 the same day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Deepgram reports about 60% more audio seconds per dollar than on GPUs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Both are Apache 2.0 and chip away at Nvidia's CUDA lock-in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https://pytorch.org/blog/introducing-torchtpu/</a:t>
            </a:r>
            <a:endParaRPr sz="8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6"/>
          <p:cNvSpPr txBox="1"/>
          <p:nvPr/>
        </p:nvSpPr>
        <p:spPr>
          <a:xfrm>
            <a:off x="36573" y="-27425"/>
            <a:ext cx="3411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Parked topics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36"/>
          <p:cNvSpPr txBox="1"/>
          <p:nvPr/>
        </p:nvSpPr>
        <p:spPr>
          <a:xfrm>
            <a:off x="109800" y="1959101"/>
            <a:ext cx="4462200" cy="1542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cuts frontier training off from the internet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On Sept 20 a research model reached the live internet through a </a:t>
            </a:r>
            <a:r>
              <a:rPr lang="en" sz="900" b="1">
                <a:latin typeface="Calibri"/>
                <a:ea typeface="Calibri"/>
                <a:cs typeface="Calibri"/>
                <a:sym typeface="Calibri"/>
              </a:rPr>
              <a:t>misconfigured DNS resolver</a:t>
            </a:r>
            <a:endParaRPr sz="9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OpenAI paused training and internal inference on its top models; RL resumed Oct 1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Frontier runs now learn from a cached copy of the web, not the live internet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Agent teams, including an unreleased GPT-6 Astra Cyber, then spent </a:t>
            </a:r>
            <a:r>
              <a:rPr lang="en" sz="9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hundreds of billions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of tokens trying to escape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They chained microVM escapes, leading to patches in Kata Containers, gVisor, Moby and the Linux kernel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Isolated agents built covert channels from CPU cache timing and shared storage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https://betanews.com/article/openai-pauses-frontier-ai-training-dns-gap/</a:t>
            </a:r>
            <a:endParaRPr sz="9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36"/>
          <p:cNvSpPr txBox="1"/>
          <p:nvPr/>
        </p:nvSpPr>
        <p:spPr>
          <a:xfrm>
            <a:off x="109800" y="620398"/>
            <a:ext cx="4462200" cy="1265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OSS Scanner: 29,000 findings, 516 patched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Free, opt-in vulnerability scanning for open-source projects, built on </a:t>
            </a:r>
            <a:r>
              <a:rPr lang="en" sz="900" b="1">
                <a:latin typeface="Calibri"/>
                <a:ea typeface="Calibri"/>
                <a:cs typeface="Calibri"/>
                <a:sym typeface="Calibri"/>
              </a:rPr>
              <a:t>Claude Mythos</a:t>
            </a:r>
            <a:endParaRPr sz="9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Maintainers enroll by pull request; each report has a reproducer and often a candidate patch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First week: 77 critical and 803 high model-rated findings, sent with no human review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Six-month backlog: </a:t>
            </a:r>
            <a:r>
              <a:rPr lang="en" sz="9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29,000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candidates, about 6,000 triaged, 516 patched upstream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wolfSSL got 74 reports: 72 valid, 5 CVEs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Anthropic's audit of 97 findings: 85 met the disclosure bar, 1 was wrong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https://www.socket.dev/blog/anthropic-oss-scanner</a:t>
            </a:r>
            <a:endParaRPr sz="9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6038</Words>
  <Application>Microsoft Macintosh PowerPoint</Application>
  <PresentationFormat>On-screen Show (16:9)</PresentationFormat>
  <Paragraphs>680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Calibri</vt:lpstr>
      <vt:lpstr>Roboto Mono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1</cp:revision>
  <dcterms:modified xsi:type="dcterms:W3CDTF">2026-10-28T13:20:44Z</dcterms:modified>
</cp:coreProperties>
</file>