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embeddedFontLst>
    <p:embeddedFont>
      <p:font typeface="Roboto Mono" pitchFamily="49"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2E63ED9-4AAA-433E-8870-650E670C5045}">
  <a:tblStyle styleId="{42E63ED9-4AAA-433E-8870-650E670C504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ce3012afc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ce3012afcb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cfda4d19c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 name="Google Shape;94;g3cfda4d19c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3cfda4d19c9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3cfda4d19c9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 name="Google Shape;109;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ce3012afcb_1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 name="Google Shape;115;g3ce3012afcb_1_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ce3012afcb_1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4" name="Google Shape;124;g3ce3012afcb_1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cdf853e001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2" name="Google Shape;132;g3cdf853e001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ce3012afcb_1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3ce3012afcb_1_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cd53ce483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g3cd53ce483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95736e1bce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95736e1bce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ce3012afcb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g3ce3012afcb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cf85cbb64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cf85cbb64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ce3012afcb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3ce3012afcb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ce3012afcb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ce3012afcb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3ce3012afcb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3ce3012afcb_1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ce66c1ba34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g3ce66c1ba34_0_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ce3012afcb_1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ce3012afcb_1_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95d23f480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g395d23f480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95d3a8fcf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g395d3a8fcf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95d3a8fcf6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95d3a8fcf6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cdf4e6dde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g3cdf4e6dde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3ce66c1ba3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g3ce66c1ba3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ce3012afcb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ce3012afcb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cdf4e6dde4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cdf4e6dde4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cdf853e001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5" name="Google Shape;285;g3cdf853e001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cd53ce4837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g3cd53ce4837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4" name="Google Shape;31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4" name="Google Shape;32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aistudio.google.com/app/prompts/new_chat?model=gemini-3-pro-preview" TargetMode="External"/><Relationship Id="rId39" Type="http://schemas.openxmlformats.org/officeDocument/2006/relationships/hyperlink" Target="https://ernie.baidu.com/blog/posts/ernie-5.0-preview-1203-release-on-lmarena/" TargetMode="External"/><Relationship Id="rId21" Type="http://schemas.openxmlformats.org/officeDocument/2006/relationships/hyperlink" Target="https://blog.google/innovation-and-ai/models-and-research/gemini-models/gemini-3-1-pro/" TargetMode="External"/><Relationship Id="rId34" Type="http://schemas.openxmlformats.org/officeDocument/2006/relationships/hyperlink" Target="https://www.anthropic.com/news/claude-4"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www.anthropic.com/news/claude-sonnet-4-5" TargetMode="External"/><Relationship Id="rId33" Type="http://schemas.openxmlformats.org/officeDocument/2006/relationships/hyperlink" Target="https://openai.com/index/introducing-gpt-5-2" TargetMode="External"/><Relationship Id="rId38" Type="http://schemas.openxmlformats.org/officeDocument/2006/relationships/hyperlink" Target="https://huggingface.co/Qwen/Qwen3.5-397B-A17B"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platform.openai.com/docs/models/gpt-5.4" TargetMode="External"/><Relationship Id="rId29" Type="http://schemas.openxmlformats.org/officeDocument/2006/relationships/hyperlink" Target="https://www.kimi.com/blog/kimi-k2-5.html"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developers.openai.com/api/docs/models/gpt-5.2-chat-latest" TargetMode="External"/><Relationship Id="rId32" Type="http://schemas.openxmlformats.org/officeDocument/2006/relationships/hyperlink" Target="https://x.ai/news/grok-4-1" TargetMode="External"/><Relationship Id="rId37" Type="http://schemas.openxmlformats.org/officeDocument/2006/relationships/hyperlink" Target="https://huggingface.co/zai-org/GLM-5" TargetMode="External"/><Relationship Id="rId40" Type="http://schemas.openxmlformats.org/officeDocument/2006/relationships/hyperlink" Target="https://aistudio.google.com/app/prompts/new_chat?model=gemini-2.5-pro"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grok.com/" TargetMode="External"/><Relationship Id="rId28" Type="http://schemas.openxmlformats.org/officeDocument/2006/relationships/hyperlink" Target="https://www.anthropic.com/news/claude-opus-4-1" TargetMode="External"/><Relationship Id="rId36" Type="http://schemas.openxmlformats.org/officeDocument/2006/relationships/hyperlink" Target="https://openai.com/index/gpt-5-1/"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blog.google/products/gemini/gemini-3-flash"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www.anthropic.com/news/claude-sonnet-4-6" TargetMode="External"/><Relationship Id="rId30" Type="http://schemas.openxmlformats.org/officeDocument/2006/relationships/hyperlink" Target="https://seed.bytedance.com/en/blog/dola-seed-2-0-preview-model-release-on-arena" TargetMode="External"/><Relationship Id="rId35" Type="http://schemas.openxmlformats.org/officeDocument/2006/relationships/hyperlink" Target="https://ernie.baidu.com/blog/posts/ernie-5.0-0110-release-on-lmarena/"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promptfoo/promptfoo" TargetMode="External"/><Relationship Id="rId7"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hyperlink" Target="https://www.youtube.com/watch?v=E8UObj_R2mM" TargetMode="External"/><Relationship Id="rId4" Type="http://schemas.openxmlformats.org/officeDocument/2006/relationships/hyperlink" Target="https://www.promptfoo.dev"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claude.com/blog/claude-builds-visuals"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www.youtube.com/watch?v=Ii99RU3mOJM"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huggingface.co/collections/nvidia/nvidia-nemotron-v3"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hyperlink" Target="https://nemoclaw.bot"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hyperlink" Target="https://devin.ai" TargetMode="External"/><Relationship Id="rId7" Type="http://schemas.openxmlformats.org/officeDocument/2006/relationships/hyperlink" Target="https://www.youtube.com/watch?v=a0yaKgxLVdQ"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youtube.com/watch?v=Kr_cS795M4o" TargetMode="External"/><Relationship Id="rId5" Type="http://schemas.openxmlformats.org/officeDocument/2006/relationships/hyperlink" Target="https://docs.devin.ai/release-notes/overview" TargetMode="External"/><Relationship Id="rId4" Type="http://schemas.openxmlformats.org/officeDocument/2006/relationships/hyperlink" Target="https://cognition.ai/blog/introducing-devin-2-2" TargetMode="External"/><Relationship Id="rId9" Type="http://schemas.openxmlformats.org/officeDocument/2006/relationships/image" Target="../media/image7.png"/></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hyperlink" Target="http://skill.md" TargetMode="External"/><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www.databricks.com/blog/meet-karl-faster-agent-enterprise-knowledge-powered-custom-rl" TargetMode="External"/><Relationship Id="rId5" Type="http://schemas.openxmlformats.org/officeDocument/2006/relationships/hyperlink" Target="https://arxiv.org/abs/2603.05218" TargetMode="External"/><Relationship Id="rId4" Type="http://schemas.openxmlformats.org/officeDocument/2006/relationships/hyperlink" Target="https://www.youtube.com/watch?v=OGT3NoFo-qg"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LCkGVCfmtzo"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hyperlink" Target="https://github.com/openclaw/openclaw" TargetMode="Externa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hyperlink" Target="https://github.com/Yuan-lab-LLM/Yuan3.0-Ultra" TargetMode="External"/><Relationship Id="rId7"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yuanlab.ai" TargetMode="External"/><Relationship Id="rId5" Type="http://schemas.openxmlformats.org/officeDocument/2006/relationships/hyperlink" Target="https://arxiv.org/abs/2601.01718" TargetMode="External"/><Relationship Id="rId4" Type="http://schemas.openxmlformats.org/officeDocument/2006/relationships/hyperlink" Target="https://arxiv.org/abs/2601.14327" TargetMode="External"/><Relationship Id="rId9"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hyperlink" Target="https://www.geeky-gadgets.com/nested-claude-code-tmux/"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jP6tN9JTtx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youtube.com/watch?v=CXeCIgc982I" TargetMode="External"/><Relationship Id="rId5" Type="http://schemas.openxmlformats.org/officeDocument/2006/relationships/hyperlink" Target="https://www.youtube.com/watch?v=wqH1hTkA6qg" TargetMode="External"/><Relationship Id="rId4" Type="http://schemas.openxmlformats.org/officeDocument/2006/relationships/hyperlink" Target="https://www.youtube.com/watch?v=R7OCrqyGMeY"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code.claude.com/docs/en/vs-code"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www.anthropic.com/news/enabling-claude-code-to-work-more-autonomously"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f95-O8C88uw"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hyperlink" Target="https://www.youtube.com/watch?v=DHH9MqJe0YM" TargetMode="External"/><Relationship Id="rId4" Type="http://schemas.openxmlformats.org/officeDocument/2006/relationships/image" Target="../media/image17.jpe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Z9RaLpbPluQ" TargetMode="External"/><Relationship Id="rId7" Type="http://schemas.openxmlformats.org/officeDocument/2006/relationships/image" Target="../media/image20.jpe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hyperlink" Target="https://www.youtube.com/watch?v=I9kO6-yPkfM" TargetMode="External"/><Relationship Id="rId4" Type="http://schemas.openxmlformats.org/officeDocument/2006/relationships/hyperlink" Target="https://kilo.ai/kiloclaw"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obra/superpowers"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hyperlink" Target="http://www.youtube.com/watch?v=7cOAayWzYDY"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user.md"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hyperlink" Target="https://www.youtube.com/watch?v=f8LJBh1AtKg" TargetMode="External"/><Relationship Id="rId4" Type="http://schemas.openxmlformats.org/officeDocument/2006/relationships/hyperlink" Target="http://onboarding.m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qP73cGLQmCU"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hyperlink" Target="https://www.youtube.com/watch?v=d__HRChE2ZE"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WzOXDIWxVeM"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hyperlink" Target="https://www.krea.ai"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polsia.com"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29.jpe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hyperlink" Target="https://www.youtube.com/watch?v=Lfvmlr2vhLY"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situationalawarenesslp.com"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hyperlink" Target="https://www.youtube.com/watch?v=04Kutj1vAiw" TargetMode="External"/><Relationship Id="rId5" Type="http://schemas.openxmlformats.org/officeDocument/2006/relationships/image" Target="../media/image34.jpeg"/><Relationship Id="rId4" Type="http://schemas.openxmlformats.org/officeDocument/2006/relationships/hyperlink" Target="https://situational-awareness.ai/wp-content/uploads/2024/06/situationalawareness.pdf"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flywire.ai" TargetMode="External"/><Relationship Id="rId3" Type="http://schemas.openxmlformats.org/officeDocument/2006/relationships/hyperlink" Target="https://github.com/karpathy/autoresearch" TargetMode="External"/><Relationship Id="rId7"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garryslist.org/posts/karpathy-just-turned-one-gpu-into-a-research-lab-f55754a6" TargetMode="External"/><Relationship Id="rId11" Type="http://schemas.openxmlformats.org/officeDocument/2006/relationships/image" Target="../media/image36.png"/><Relationship Id="rId5" Type="http://schemas.openxmlformats.org/officeDocument/2006/relationships/hyperlink" Target="https://www.youtube.com/shorts/g7V0UJv9gT4" TargetMode="External"/><Relationship Id="rId10" Type="http://schemas.openxmlformats.org/officeDocument/2006/relationships/hyperlink" Target="https://www.youtube.com/watch?v=N2ccho6ug1w" TargetMode="External"/><Relationship Id="rId4" Type="http://schemas.openxmlformats.org/officeDocument/2006/relationships/hyperlink" Target="https://x.com/karpathy" TargetMode="External"/><Relationship Id="rId9" Type="http://schemas.openxmlformats.org/officeDocument/2006/relationships/hyperlink" Target="https://x.com/michaelandregg/status/2030764512488677736"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www.youtube.com/watch?v=TJ5okrPNmWQ"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8" Type="http://schemas.openxmlformats.org/officeDocument/2006/relationships/hyperlink" Target="https://jobloss.ai" TargetMode="External"/><Relationship Id="rId3" Type="http://schemas.openxmlformats.org/officeDocument/2006/relationships/hyperlink" Target="https://layoffs.fyi" TargetMode="External"/><Relationship Id="rId7"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hyperlink" Target="https://trueup.io/layoffs"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2.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96108"/>
            <a:ext cx="4420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acquired Promptfoo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LeCun's AMI raises $1B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Shows Visuals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Nemotron 3 Super Open 120B params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NemoClaw Open Source - upcoming</a:t>
            </a:r>
            <a:endParaRPr b="1">
              <a:solidFill>
                <a:srgbClr val="3C78D8"/>
              </a:solidFill>
              <a:latin typeface="Calibri"/>
              <a:ea typeface="Calibri"/>
              <a:cs typeface="Calibri"/>
              <a:sym typeface="Calibri"/>
            </a:endParaRPr>
          </a:p>
        </p:txBody>
      </p:sp>
      <p:sp>
        <p:nvSpPr>
          <p:cNvPr id="64" name="Google Shape;64;p15"/>
          <p:cNvSpPr txBox="1"/>
          <p:nvPr/>
        </p:nvSpPr>
        <p:spPr>
          <a:xfrm>
            <a:off x="0"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Mar 13,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74323" y="4843419"/>
            <a:ext cx="45024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1844046"/>
            <a:ext cx="4420200" cy="32508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Perplexity "Computer" Agentic Workflows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Devon 2.2 - a fully autonomous AI software engineer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DataBricks KARL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Agents Making Money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Recent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Phi-4 Reasoning Vision 15B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Symphony Coding Tracker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Xiaomi launched MClaw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Yuan3.0 Ultra Multimodal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Scheduling, Super Nested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 Tool Search &amp; Calling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is better than Cline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as Virtual Employee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Elon Musk's  Digital Optimus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KiloClaw Cloud-hosted Alternative to OpenClaw</a:t>
            </a:r>
            <a:endParaRPr b="1">
              <a:solidFill>
                <a:srgbClr val="3C78D8"/>
              </a:solidFill>
              <a:latin typeface="Calibri"/>
              <a:ea typeface="Calibri"/>
              <a:cs typeface="Calibri"/>
              <a:sym typeface="Calibri"/>
            </a:endParaRPr>
          </a:p>
        </p:txBody>
      </p:sp>
      <p:sp>
        <p:nvSpPr>
          <p:cNvPr id="67" name="Google Shape;67;p15"/>
          <p:cNvSpPr txBox="1"/>
          <p:nvPr/>
        </p:nvSpPr>
        <p:spPr>
          <a:xfrm>
            <a:off x="4574323" y="901687"/>
            <a:ext cx="4502400" cy="38973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 Playwright CLI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Superpowers GitHub repo for AI Coding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Memory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Moonshots - about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is transforming education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Infrastructure Investments - $135 Billion in 7 Days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Krea AI "Core Edit"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Pulsia AI - Runs 3,300 Companies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Apple vs Nvidia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Facebook buys Moltbook (Team &amp; Operations)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sues Pentagon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revises military AI deal with US Government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has launched Claude Marketplace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Intel 18A Manufacturing Process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Leopold Aschenbrenner Investments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Autoresearch from Andrej Karpathy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Modeling a fruit fly brain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Alibaba’s Qwen Team Restructuring</a:t>
            </a:r>
            <a:endParaRPr b="1">
              <a:solidFill>
                <a:srgbClr val="3C78D8"/>
              </a:solidFill>
              <a:latin typeface="Calibri"/>
              <a:ea typeface="Calibri"/>
              <a:cs typeface="Calibri"/>
              <a:sym typeface="Calibri"/>
            </a:endParaRPr>
          </a:p>
        </p:txBody>
      </p:sp>
      <p:sp>
        <p:nvSpPr>
          <p:cNvPr id="68" name="Google Shape;68;p15"/>
          <p:cNvSpPr txBox="1"/>
          <p:nvPr/>
        </p:nvSpPr>
        <p:spPr>
          <a:xfrm>
            <a:off x="4759425" y="263216"/>
            <a:ext cx="4132200" cy="372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2300" b="1" i="1">
                <a:solidFill>
                  <a:srgbClr val="FF0000"/>
                </a:solidFill>
                <a:latin typeface="Calibri"/>
                <a:ea typeface="Calibri"/>
                <a:cs typeface="Calibri"/>
                <a:sym typeface="Calibri"/>
              </a:rPr>
              <a:t>Winner:  Claude + Claude Code</a:t>
            </a:r>
            <a:endParaRPr sz="2300" b="1" i="1">
              <a:solidFill>
                <a:srgbClr val="FF0000"/>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March 11</a:t>
            </a:r>
            <a:endParaRPr sz="1000">
              <a:latin typeface="Calibri"/>
              <a:ea typeface="Calibri"/>
              <a:cs typeface="Calibri"/>
              <a:sym typeface="Calibri"/>
            </a:endParaRPr>
          </a:p>
        </p:txBody>
      </p:sp>
      <p:sp>
        <p:nvSpPr>
          <p:cNvPr id="79" name="Google Shape;79;p16"/>
          <p:cNvSpPr txBox="1"/>
          <p:nvPr/>
        </p:nvSpPr>
        <p:spPr>
          <a:xfrm>
            <a:off x="7346795" y="608477"/>
            <a:ext cx="1745700" cy="78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p:txBody>
      </p:sp>
      <p:graphicFrame>
        <p:nvGraphicFramePr>
          <p:cNvPr id="80" name="Google Shape;80;p16"/>
          <p:cNvGraphicFramePr/>
          <p:nvPr/>
        </p:nvGraphicFramePr>
        <p:xfrm>
          <a:off x="5742420" y="430065"/>
          <a:ext cx="3000000" cy="3000000"/>
        </p:xfrm>
        <a:graphic>
          <a:graphicData uri="http://schemas.openxmlformats.org/drawingml/2006/table">
            <a:tbl>
              <a:tblPr>
                <a:noFill/>
                <a:tableStyleId>{42E63ED9-4AAA-433E-8870-650E670C5045}</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1" name="Google Shape;81;p16"/>
          <p:cNvGraphicFramePr/>
          <p:nvPr/>
        </p:nvGraphicFramePr>
        <p:xfrm>
          <a:off x="3083325" y="815057"/>
          <a:ext cx="3000000" cy="3000000"/>
        </p:xfrm>
        <a:graphic>
          <a:graphicData uri="http://schemas.openxmlformats.org/drawingml/2006/table">
            <a:tbl>
              <a:tblPr>
                <a:noFill/>
                <a:tableStyleId>{42E63ED9-4AAA-433E-8870-650E670C5045}</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167628" y="815057"/>
          <a:ext cx="3000000" cy="3000000"/>
        </p:xfrm>
        <a:graphic>
          <a:graphicData uri="http://schemas.openxmlformats.org/drawingml/2006/table">
            <a:tbl>
              <a:tblPr>
                <a:noFill/>
                <a:tableStyleId>{42E63ED9-4AAA-433E-8870-650E670C5045}</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ernie-5.0-preview-1203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gemini-2.5-pro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7"/>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88" name="Google Shape;88;p17"/>
          <p:cNvSpPr txBox="1"/>
          <p:nvPr/>
        </p:nvSpPr>
        <p:spPr>
          <a:xfrm>
            <a:off x="55075" y="496650"/>
            <a:ext cx="4392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acquired Promptfoo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startup specializing in </a:t>
            </a:r>
            <a:r>
              <a:rPr lang="en" sz="1200" b="1">
                <a:solidFill>
                  <a:srgbClr val="3C78D8"/>
                </a:solidFill>
                <a:latin typeface="Calibri"/>
                <a:ea typeface="Calibri"/>
                <a:cs typeface="Calibri"/>
                <a:sym typeface="Calibri"/>
              </a:rPr>
              <a:t>security and testing for AI agents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https://github.com/promptfoo/promptfoo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https://www.promptfoo.dev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agents are vulnerable to prompt injection,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Promptfoo allows developers to run automated red-teaming and vulnerability tests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allows OpenAI to offer built-in compliance, auditing, and security to cautious corporate clients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Promptfoo is 2 years old - and is already used by over 25% of Fortune 500 companies and has a community of 125K developers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https://www.youtube.com/watch?v=E8UObj_R2mM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89" name="Google Shape;89;p17"/>
          <p:cNvPicPr preferRelativeResize="0"/>
          <p:nvPr/>
        </p:nvPicPr>
        <p:blipFill>
          <a:blip r:embed="rId6">
            <a:alphaModFix/>
          </a:blip>
          <a:stretch>
            <a:fillRect/>
          </a:stretch>
        </p:blipFill>
        <p:spPr>
          <a:xfrm>
            <a:off x="4813872" y="496650"/>
            <a:ext cx="3952875" cy="1152525"/>
          </a:xfrm>
          <a:prstGeom prst="rect">
            <a:avLst/>
          </a:prstGeom>
          <a:noFill/>
          <a:ln w="9525" cap="flat" cmpd="sng">
            <a:solidFill>
              <a:srgbClr val="FF0000"/>
            </a:solidFill>
            <a:prstDash val="solid"/>
            <a:round/>
            <a:headEnd type="none" w="sm" len="sm"/>
            <a:tailEnd type="none" w="sm" len="sm"/>
          </a:ln>
        </p:spPr>
      </p:pic>
      <p:sp>
        <p:nvSpPr>
          <p:cNvPr id="90" name="Google Shape;90;p17"/>
          <p:cNvSpPr txBox="1"/>
          <p:nvPr/>
        </p:nvSpPr>
        <p:spPr>
          <a:xfrm>
            <a:off x="55075" y="2838250"/>
            <a:ext cx="4392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LeCun's AMI raises $1B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new company, </a:t>
            </a:r>
            <a:r>
              <a:rPr lang="en" sz="1200" b="1">
                <a:solidFill>
                  <a:srgbClr val="FF0000"/>
                </a:solidFill>
                <a:latin typeface="Calibri"/>
                <a:ea typeface="Calibri"/>
                <a:cs typeface="Calibri"/>
                <a:sym typeface="Calibri"/>
              </a:rPr>
              <a:t>Advanced Machine Intelligence</a:t>
            </a:r>
            <a:r>
              <a:rPr lang="en" sz="1200">
                <a:solidFill>
                  <a:schemeClr val="dk1"/>
                </a:solidFill>
                <a:latin typeface="Calibri"/>
                <a:ea typeface="Calibri"/>
                <a:cs typeface="Calibri"/>
                <a:sym typeface="Calibri"/>
              </a:rPr>
              <a:t>, will build "</a:t>
            </a:r>
            <a:r>
              <a:rPr lang="en" sz="1200" b="1">
                <a:solidFill>
                  <a:srgbClr val="3C78D8"/>
                </a:solidFill>
                <a:latin typeface="Calibri"/>
                <a:ea typeface="Calibri"/>
                <a:cs typeface="Calibri"/>
                <a:sym typeface="Calibri"/>
              </a:rPr>
              <a:t>world models</a:t>
            </a:r>
            <a:r>
              <a:rPr lang="en" sz="1200">
                <a:solidFill>
                  <a:schemeClr val="dk1"/>
                </a:solidFill>
                <a:latin typeface="Calibri"/>
                <a:ea typeface="Calibri"/>
                <a:cs typeface="Calibri"/>
                <a:sym typeface="Calibri"/>
              </a:rPr>
              <a:t>" that understand the physical world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a different approach than current text-based AI.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Investors include Jeff Bezos and Nvidia.</a:t>
            </a:r>
            <a:endParaRPr sz="1200">
              <a:solidFill>
                <a:schemeClr val="dk1"/>
              </a:solidFill>
              <a:latin typeface="Calibri"/>
              <a:ea typeface="Calibri"/>
              <a:cs typeface="Calibri"/>
              <a:sym typeface="Calibri"/>
            </a:endParaRPr>
          </a:p>
        </p:txBody>
      </p:sp>
      <p:pic>
        <p:nvPicPr>
          <p:cNvPr id="91" name="Google Shape;91;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13875" y="2222804"/>
            <a:ext cx="3114925" cy="1557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Shows Visuals</a:t>
            </a:r>
            <a:endParaRPr sz="2000" b="1">
              <a:solidFill>
                <a:schemeClr val="dk1"/>
              </a:solidFill>
              <a:latin typeface="Calibri"/>
              <a:ea typeface="Calibri"/>
              <a:cs typeface="Calibri"/>
              <a:sym typeface="Calibri"/>
            </a:endParaRPr>
          </a:p>
        </p:txBody>
      </p:sp>
      <p:sp>
        <p:nvSpPr>
          <p:cNvPr id="97" name="Google Shape;97;p18"/>
          <p:cNvSpPr txBox="1"/>
          <p:nvPr/>
        </p:nvSpPr>
        <p:spPr>
          <a:xfrm>
            <a:off x="55075" y="496650"/>
            <a:ext cx="43926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creates interactive charts, diagrams, and visualizations directly inside chat responses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visuals are temporary, appear in-line (not in side panels), and update or disappear as the conversation evolves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let Claude decide when to generate visuals or explicitly request them with prompts like “draw this as a diagram.”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uses include exploring compound interest with an adjustable curve and an interactive periodic table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Visuals complement artifacts, which remain for polished, shareable work products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feature is in beta, on by default, and available to all Claude plan types, including free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https://claude.com/blog/claude-builds-visuals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https://www.youtube.com/watch?v=Ii99RU3mOJM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8" name="Google Shape;98;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13925" y="496650"/>
            <a:ext cx="4391525" cy="304394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Nemotron 3 Super Open 120B</a:t>
            </a:r>
            <a:endParaRPr sz="2000" b="1">
              <a:solidFill>
                <a:schemeClr val="dk1"/>
              </a:solidFill>
              <a:latin typeface="Calibri"/>
              <a:ea typeface="Calibri"/>
              <a:cs typeface="Calibri"/>
              <a:sym typeface="Calibri"/>
            </a:endParaRPr>
          </a:p>
        </p:txBody>
      </p:sp>
      <p:sp>
        <p:nvSpPr>
          <p:cNvPr id="104" name="Google Shape;104;p19"/>
          <p:cNvSpPr txBox="1"/>
          <p:nvPr/>
        </p:nvSpPr>
        <p:spPr>
          <a:xfrm>
            <a:off x="55075" y="496650"/>
            <a:ext cx="4392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 3 Super Open 120B params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cost-effective, high-performance standard for autonomous, multi-step enterprise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Triple hybrid architecture (Mamba, Transformer, MoE layers)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MoE: 120B total, 12B active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 Mln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Optimized for Blackwell GPUs using NVFP4 precision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Achieves up to 5x higher throughput than previous versions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multi-token prediction to accelerate generation for complex tasks like software engineering and cybersecurity triage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https://huggingface.co/collections/nvidia/nvidia-nemotron-v3</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05" name="Google Shape;105;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9775" y="730575"/>
            <a:ext cx="2759025" cy="644625"/>
          </a:xfrm>
          <a:prstGeom prst="rect">
            <a:avLst/>
          </a:prstGeom>
          <a:noFill/>
          <a:ln w="9525" cap="flat" cmpd="sng">
            <a:solidFill>
              <a:srgbClr val="FF0000"/>
            </a:solidFill>
            <a:prstDash val="solid"/>
            <a:round/>
            <a:headEnd type="none" w="sm" len="sm"/>
            <a:tailEnd type="none" w="sm" len="sm"/>
          </a:ln>
        </p:spPr>
      </p:pic>
      <p:sp>
        <p:nvSpPr>
          <p:cNvPr id="106" name="Google Shape;106;p19"/>
          <p:cNvSpPr txBox="1"/>
          <p:nvPr/>
        </p:nvSpPr>
        <p:spPr>
          <a:xfrm>
            <a:off x="55075" y="2831475"/>
            <a:ext cx="4392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NemoClaw Open Source - upcoming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Enterprise-focused AI agent platform with enhanced security features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Shift toward autonomous AI systems for Production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Hardware agnostic (not only Nvidia)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https://nemoclaw.bot</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20"/>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6.44K subscribers, 273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12" name="Google Shape;112;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8" name="Google Shape;118;p21"/>
          <p:cNvSpPr txBox="1"/>
          <p:nvPr/>
        </p:nvSpPr>
        <p:spPr>
          <a:xfrm>
            <a:off x="55075" y="496650"/>
            <a:ext cx="4392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"Computer" Agentic Workflows in your browser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lets you run multi-step automated tasks (research, compare options, generate docs, send email, etc.) in one workflow instead of doing everything manually in chats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need to upgrade to "Max" subscription to get access to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will also get "Model Council" - consensus-based approach, running multiple top-tier models (like GPT, Claude, and Gemini) simultaneously, then compare their answers to find agreement, which significantly reduces "hallucinations" and provides more reliable results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Sub-Agent - using GPT-5.3 Codex, can write, run,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debug code - and push to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Includes GPT-5.4 &amp; GPT-5.4 Thinking (for planning)</a:t>
            </a:r>
            <a:endParaRPr sz="1200">
              <a:solidFill>
                <a:schemeClr val="dk1"/>
              </a:solidFill>
              <a:latin typeface="Calibri"/>
              <a:ea typeface="Calibri"/>
              <a:cs typeface="Calibri"/>
              <a:sym typeface="Calibri"/>
            </a:endParaRPr>
          </a:p>
        </p:txBody>
      </p:sp>
      <p:sp>
        <p:nvSpPr>
          <p:cNvPr id="119" name="Google Shape;119;p21"/>
          <p:cNvSpPr txBox="1"/>
          <p:nvPr/>
        </p:nvSpPr>
        <p:spPr>
          <a:xfrm>
            <a:off x="55075" y="2992582"/>
            <a:ext cx="43926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Devon 2.2 - a fully autonomous AI software engineer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writes, tests, debugs, and delivers complete code without human intervention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operates x3 times faster than previous versions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self-verifies work before delivery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https://devin.ai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https://cognition.ai/blog/introducing-devin-2-2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https://docs.devin.ai/release-notes/overview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https://www.youtube.com/watch?v=Kr_cS795M4o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https://www.youtube.com/watch?v=a0yaKgxLVdQ</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20" name="Google Shape;120;p2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29750" y="607549"/>
            <a:ext cx="3907050" cy="2197699"/>
          </a:xfrm>
          <a:prstGeom prst="rect">
            <a:avLst/>
          </a:prstGeom>
          <a:noFill/>
          <a:ln w="9525" cap="flat" cmpd="sng">
            <a:solidFill>
              <a:srgbClr val="FF0000"/>
            </a:solidFill>
            <a:prstDash val="solid"/>
            <a:round/>
            <a:headEnd type="none" w="sm" len="sm"/>
            <a:tailEnd type="none" w="sm" len="sm"/>
          </a:ln>
        </p:spPr>
      </p:pic>
      <p:pic>
        <p:nvPicPr>
          <p:cNvPr id="121" name="Google Shape;121;p21"/>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29750" y="2928975"/>
            <a:ext cx="2873129" cy="1698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2"/>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27" name="Google Shape;127;p22"/>
          <p:cNvSpPr txBox="1"/>
          <p:nvPr/>
        </p:nvSpPr>
        <p:spPr>
          <a:xfrm>
            <a:off x="55075" y="496650"/>
            <a:ext cx="43926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DataBricks KARL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KARL - Knowledge Agents via Reinforcement Learning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Static </a:t>
            </a:r>
            <a:r>
              <a:rPr lang="en" sz="1200" u="sng">
                <a:solidFill>
                  <a:schemeClr val="hlink"/>
                </a:solidFill>
                <a:latin typeface="Calibri"/>
                <a:ea typeface="Calibri"/>
                <a:cs typeface="Calibri"/>
                <a:sym typeface="Calibri"/>
                <a:hlinkClick r:id="rId3"/>
              </a:rPr>
              <a:t>Skill.md</a:t>
            </a:r>
            <a:r>
              <a:rPr lang="en" sz="1200">
                <a:solidFill>
                  <a:schemeClr val="dk1"/>
                </a:solidFill>
                <a:latin typeface="Calibri"/>
                <a:ea typeface="Calibri"/>
                <a:cs typeface="Calibri"/>
                <a:sym typeface="Calibri"/>
              </a:rPr>
              <a:t> to Reinforcement Learning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System generates its own synthetic training problems based on a set of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agent attempts to solve these problems by searching documents. It records its "trajectory"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Only the most successful trajectories are used to update the model's weights. </a:t>
            </a:r>
            <a:r>
              <a:rPr lang="en" sz="1200">
                <a:solidFill>
                  <a:schemeClr val="dk1"/>
                </a:solidFill>
                <a:latin typeface="Calibri"/>
                <a:ea typeface="Calibri"/>
                <a:cs typeface="Calibri"/>
                <a:sym typeface="Calibri"/>
              </a:rPr>
              <a:t>This "bakes" the search intelligence directly into the AI's neural network rather than relying on a prompt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KARL uses parallel reasoning attempts</a:t>
            </a:r>
            <a:r>
              <a:rPr lang="en" sz="1200">
                <a:solidFill>
                  <a:schemeClr val="dk1"/>
                </a:solidFill>
                <a:latin typeface="Calibri"/>
                <a:ea typeface="Calibri"/>
                <a:cs typeface="Calibri"/>
                <a:sym typeface="Calibri"/>
              </a:rPr>
              <a:t> (multiple "rollouts") to verify and aggregate the best possible answer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KARL reportedly outperforms larger models like Claude 4.6 and GPT-5.2 in specific knowledge-retrieval tasks while remaining cheaper and faster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Intelligence gained through KARL can be distilled into smaller, "student" models, significantly boosting their performance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https://www.youtube.com/watch?v=OGT3NoFo-qg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https://arxiv.org/abs/2603.05218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https://www.databricks.com/blog/meet-karl-faster-agent-enterprise-knowledge-powered-custom-rl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28" name="Google Shape;128;p2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29425" y="152400"/>
            <a:ext cx="1298776" cy="1811751"/>
          </a:xfrm>
          <a:prstGeom prst="rect">
            <a:avLst/>
          </a:prstGeom>
          <a:noFill/>
          <a:ln w="9525" cap="flat" cmpd="sng">
            <a:solidFill>
              <a:srgbClr val="FF0000"/>
            </a:solidFill>
            <a:prstDash val="solid"/>
            <a:round/>
            <a:headEnd type="none" w="sm" len="sm"/>
            <a:tailEnd type="none" w="sm" len="sm"/>
          </a:ln>
        </p:spPr>
      </p:pic>
      <p:pic>
        <p:nvPicPr>
          <p:cNvPr id="129" name="Google Shape;129;p22"/>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529425" y="2020672"/>
            <a:ext cx="3447849" cy="30210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3"/>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Updates</a:t>
            </a:r>
            <a:endParaRPr sz="2000" b="1">
              <a:solidFill>
                <a:schemeClr val="dk1"/>
              </a:solidFill>
              <a:latin typeface="Calibri"/>
              <a:ea typeface="Calibri"/>
              <a:cs typeface="Calibri"/>
              <a:sym typeface="Calibri"/>
            </a:endParaRPr>
          </a:p>
        </p:txBody>
      </p:sp>
      <p:sp>
        <p:nvSpPr>
          <p:cNvPr id="135" name="Google Shape;135;p23"/>
          <p:cNvSpPr txBox="1"/>
          <p:nvPr/>
        </p:nvSpPr>
        <p:spPr>
          <a:xfrm>
            <a:off x="55075" y="2258082"/>
            <a:ext cx="4520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Agents Making Money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https://www.youtube.com/watch?v=LCkGVCfmtzo</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Each agent received $1,000</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Clawculus leads with $79.68 profit using calculated strategies and prediction markets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YOLObster created five arcade games and NFTs - but barely broke even, while cautious Clawtious made minimal moves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agents built websites, automated social media accounts, and attempted various monetization strategies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experiment costs approximately $530 monthly to run, including $400 for Claude API credits, server hosting, and social media API fees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Human oversight is necessary as agents often create low-value content and face limitations with crypto payments and API access requirements</a:t>
            </a:r>
            <a:endParaRPr sz="1200">
              <a:latin typeface="Calibri"/>
              <a:ea typeface="Calibri"/>
              <a:cs typeface="Calibri"/>
              <a:sym typeface="Calibri"/>
            </a:endParaRPr>
          </a:p>
        </p:txBody>
      </p:sp>
      <p:pic>
        <p:nvPicPr>
          <p:cNvPr id="136" name="Google Shape;136;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49075" y="2643382"/>
            <a:ext cx="3690200" cy="1989050"/>
          </a:xfrm>
          <a:prstGeom prst="rect">
            <a:avLst/>
          </a:prstGeom>
          <a:noFill/>
          <a:ln w="9525" cap="flat" cmpd="sng">
            <a:solidFill>
              <a:srgbClr val="FF0000"/>
            </a:solidFill>
            <a:prstDash val="solid"/>
            <a:round/>
            <a:headEnd type="none" w="sm" len="sm"/>
            <a:tailEnd type="none" w="sm" len="sm"/>
          </a:ln>
        </p:spPr>
      </p:pic>
      <p:sp>
        <p:nvSpPr>
          <p:cNvPr id="137" name="Google Shape;137;p23"/>
          <p:cNvSpPr txBox="1"/>
          <p:nvPr/>
        </p:nvSpPr>
        <p:spPr>
          <a:xfrm>
            <a:off x="55075" y="497225"/>
            <a:ext cx="6225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https://github.com/openclaw/openclaw</a:t>
            </a:r>
            <a:r>
              <a:rPr lang="en" sz="1200">
                <a:latin typeface="Calibri"/>
                <a:ea typeface="Calibri"/>
                <a:cs typeface="Calibri"/>
                <a:sym typeface="Calibri"/>
              </a:rPr>
              <a:t> - 310K stars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Recent Updates:</a:t>
            </a:r>
            <a:endParaRPr sz="1200" b="1">
              <a:solidFill>
                <a:srgbClr val="FF0000"/>
              </a:solidFill>
              <a:latin typeface="Calibri"/>
              <a:ea typeface="Calibri"/>
              <a:cs typeface="Calibri"/>
              <a:sym typeface="Calibri"/>
            </a:endParaRPr>
          </a:p>
          <a:p>
            <a:pPr marL="3429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2026.3.12 - Security hardening: Patched a cross-site WebSocket hijacking vulnerability. Updated the Control UI with modular dashboard views</a:t>
            </a:r>
            <a:endParaRPr sz="1200">
              <a:latin typeface="Calibri"/>
              <a:ea typeface="Calibri"/>
              <a:cs typeface="Calibri"/>
              <a:sym typeface="Calibri"/>
            </a:endParaRPr>
          </a:p>
          <a:p>
            <a:pPr marL="3429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2026.3.11 - Enhanced workflow reliability for local-only agents and added native app updates for HarmonyOS</a:t>
            </a:r>
            <a:endParaRPr sz="1200">
              <a:latin typeface="Calibri"/>
              <a:ea typeface="Calibri"/>
              <a:cs typeface="Calibri"/>
              <a:sym typeface="Calibri"/>
            </a:endParaRPr>
          </a:p>
          <a:p>
            <a:pPr marL="3429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2026.3.8 - Stable release following the intensive beta testing of the new plugin architecture</a:t>
            </a:r>
            <a:endParaRPr sz="1200">
              <a:latin typeface="Calibri"/>
              <a:ea typeface="Calibri"/>
              <a:cs typeface="Calibri"/>
              <a:sym typeface="Calibri"/>
            </a:endParaRPr>
          </a:p>
          <a:p>
            <a:pPr marL="3429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2026.3.2 - Improved secret management and browser control features</a:t>
            </a:r>
            <a:endParaRPr sz="1200">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3" name="Google Shape;143;p24"/>
          <p:cNvSpPr txBox="1"/>
          <p:nvPr/>
        </p:nvSpPr>
        <p:spPr>
          <a:xfrm>
            <a:off x="107725" y="1416950"/>
            <a:ext cx="43401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Symphony Coding Tracker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Symphony autonomously completes coding tasks by monitoring issue trackers and launching AI agents to work on ready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creates isolated workspaces, requires proof of work through testing, and manages the entire development process from task assignment to code merging</a:t>
            </a:r>
            <a:endParaRPr sz="1200">
              <a:solidFill>
                <a:schemeClr val="dk1"/>
              </a:solidFill>
              <a:latin typeface="Calibri"/>
              <a:ea typeface="Calibri"/>
              <a:cs typeface="Calibri"/>
              <a:sym typeface="Calibri"/>
            </a:endParaRPr>
          </a:p>
        </p:txBody>
      </p:sp>
      <p:sp>
        <p:nvSpPr>
          <p:cNvPr id="144" name="Google Shape;144;p24"/>
          <p:cNvSpPr txBox="1"/>
          <p:nvPr/>
        </p:nvSpPr>
        <p:spPr>
          <a:xfrm>
            <a:off x="107725" y="524900"/>
            <a:ext cx="4340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Phi-4 Reasoning Vision 15B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compact multimodal AI model that combines image understanding with text reasoning capabilities, focusing on efficiency</a:t>
            </a:r>
            <a:endParaRPr sz="1200">
              <a:solidFill>
                <a:schemeClr val="dk1"/>
              </a:solidFill>
              <a:latin typeface="Calibri"/>
              <a:ea typeface="Calibri"/>
              <a:cs typeface="Calibri"/>
              <a:sym typeface="Calibri"/>
            </a:endParaRPr>
          </a:p>
        </p:txBody>
      </p:sp>
      <p:sp>
        <p:nvSpPr>
          <p:cNvPr id="145" name="Google Shape;145;p24"/>
          <p:cNvSpPr txBox="1"/>
          <p:nvPr/>
        </p:nvSpPr>
        <p:spPr>
          <a:xfrm>
            <a:off x="107725" y="2678600"/>
            <a:ext cx="4340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Xiaomi launched MiClaw</a:t>
            </a:r>
            <a:r>
              <a:rPr lang="en" sz="1200">
                <a:solidFill>
                  <a:schemeClr val="dk1"/>
                </a:solidFill>
                <a:latin typeface="Calibri"/>
                <a:ea typeface="Calibri"/>
                <a:cs typeface="Calibri"/>
                <a:sym typeface="Calibri"/>
              </a:rPr>
              <a:t>, aAI agent integrated into phone 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control apps, smart home devices, and automate complex multi-step tasks using natural language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processes data locally for privacy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connects to over 1 Billion Xiaomi ecosystem devices</a:t>
            </a:r>
            <a:endParaRPr sz="1200">
              <a:solidFill>
                <a:schemeClr val="dk1"/>
              </a:solidFill>
              <a:latin typeface="Calibri"/>
              <a:ea typeface="Calibri"/>
              <a:cs typeface="Calibri"/>
              <a:sym typeface="Calibri"/>
            </a:endParaRPr>
          </a:p>
        </p:txBody>
      </p:sp>
      <p:pic>
        <p:nvPicPr>
          <p:cNvPr id="146" name="Google Shape;146;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00225" y="63650"/>
            <a:ext cx="2445076" cy="1201000"/>
          </a:xfrm>
          <a:prstGeom prst="rect">
            <a:avLst/>
          </a:prstGeom>
          <a:noFill/>
          <a:ln w="9525" cap="flat" cmpd="sng">
            <a:solidFill>
              <a:srgbClr val="FF0000"/>
            </a:solidFill>
            <a:prstDash val="solid"/>
            <a:round/>
            <a:headEnd type="none" w="sm" len="sm"/>
            <a:tailEnd type="none" w="sm" len="sm"/>
          </a:ln>
        </p:spPr>
      </p:pic>
      <p:pic>
        <p:nvPicPr>
          <p:cNvPr id="147" name="Google Shape;147;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00225" y="1416950"/>
            <a:ext cx="2608985" cy="1126800"/>
          </a:xfrm>
          <a:prstGeom prst="rect">
            <a:avLst/>
          </a:prstGeom>
          <a:noFill/>
          <a:ln w="9525" cap="flat" cmpd="sng">
            <a:solidFill>
              <a:srgbClr val="FF0000"/>
            </a:solidFill>
            <a:prstDash val="solid"/>
            <a:round/>
            <a:headEnd type="none" w="sm" len="sm"/>
            <a:tailEnd type="none" w="sm" len="sm"/>
          </a:ln>
        </p:spPr>
      </p:pic>
      <p:pic>
        <p:nvPicPr>
          <p:cNvPr id="148" name="Google Shape;148;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00225" y="2696050"/>
            <a:ext cx="4189257" cy="863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5"/>
          <p:cNvSpPr txBox="1"/>
          <p:nvPr/>
        </p:nvSpPr>
        <p:spPr>
          <a:xfrm>
            <a:off x="55075" y="63650"/>
            <a:ext cx="30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Yuan3.0 Ultra Multimodal</a:t>
            </a:r>
            <a:endParaRPr sz="2000" b="1">
              <a:solidFill>
                <a:schemeClr val="dk1"/>
              </a:solidFill>
              <a:latin typeface="Calibri"/>
              <a:ea typeface="Calibri"/>
              <a:cs typeface="Calibri"/>
              <a:sym typeface="Calibri"/>
            </a:endParaRPr>
          </a:p>
        </p:txBody>
      </p:sp>
      <p:sp>
        <p:nvSpPr>
          <p:cNvPr id="154" name="Google Shape;154;p25"/>
          <p:cNvSpPr txBox="1"/>
          <p:nvPr/>
        </p:nvSpPr>
        <p:spPr>
          <a:xfrm>
            <a:off x="108933" y="633708"/>
            <a:ext cx="44079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Yuan3.0 Ultra Multimodal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China's Yuan Lab AI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1 Trillion params model</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Comparable with GPT, Claude, Gemini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 Source</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https://github.com/Yuan-lab-LLM/Yuan3.0-Ultra</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https://arxiv.org/abs/2601.14327</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https://arxiv.org/abs/2601.01718</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https://yuanlab.ai</a:t>
            </a:r>
            <a:r>
              <a:rPr lang="en" sz="900">
                <a:latin typeface="Calibri"/>
                <a:ea typeface="Calibri"/>
                <a:cs typeface="Calibri"/>
                <a:sym typeface="Calibri"/>
              </a:rPr>
              <a:t> </a:t>
            </a:r>
            <a:endParaRPr sz="900">
              <a:latin typeface="Calibri"/>
              <a:ea typeface="Calibri"/>
              <a:cs typeface="Calibri"/>
              <a:sym typeface="Calibri"/>
            </a:endParaRPr>
          </a:p>
        </p:txBody>
      </p:sp>
      <p:pic>
        <p:nvPicPr>
          <p:cNvPr id="155" name="Google Shape;155;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120183" y="2375708"/>
            <a:ext cx="4396652" cy="2413026"/>
          </a:xfrm>
          <a:prstGeom prst="rect">
            <a:avLst/>
          </a:prstGeom>
          <a:noFill/>
          <a:ln w="9525" cap="flat" cmpd="sng">
            <a:solidFill>
              <a:srgbClr val="FF0000"/>
            </a:solidFill>
            <a:prstDash val="solid"/>
            <a:round/>
            <a:headEnd type="none" w="sm" len="sm"/>
            <a:tailEnd type="none" w="sm" len="sm"/>
          </a:ln>
        </p:spPr>
      </p:pic>
      <p:pic>
        <p:nvPicPr>
          <p:cNvPr id="156" name="Google Shape;156;p2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15626" y="666938"/>
            <a:ext cx="2807225" cy="1403613"/>
          </a:xfrm>
          <a:prstGeom prst="rect">
            <a:avLst/>
          </a:prstGeom>
          <a:noFill/>
          <a:ln w="9525" cap="flat" cmpd="sng">
            <a:solidFill>
              <a:srgbClr val="FF0000"/>
            </a:solidFill>
            <a:prstDash val="solid"/>
            <a:round/>
            <a:headEnd type="none" w="sm" len="sm"/>
            <a:tailEnd type="none" w="sm" len="sm"/>
          </a:ln>
        </p:spPr>
      </p:pic>
      <p:pic>
        <p:nvPicPr>
          <p:cNvPr id="157" name="Google Shape;157;p25"/>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5515625" y="3007975"/>
            <a:ext cx="2807225" cy="1263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6"/>
          <p:cNvSpPr txBox="1"/>
          <p:nvPr/>
        </p:nvSpPr>
        <p:spPr>
          <a:xfrm>
            <a:off x="55075" y="68225"/>
            <a:ext cx="289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Scheduling</a:t>
            </a:r>
            <a:endParaRPr sz="2000" b="1">
              <a:solidFill>
                <a:schemeClr val="dk1"/>
              </a:solidFill>
              <a:latin typeface="Calibri"/>
              <a:ea typeface="Calibri"/>
              <a:cs typeface="Calibri"/>
              <a:sym typeface="Calibri"/>
            </a:endParaRPr>
          </a:p>
        </p:txBody>
      </p:sp>
      <p:sp>
        <p:nvSpPr>
          <p:cNvPr id="163" name="Google Shape;163;p26"/>
          <p:cNvSpPr txBox="1"/>
          <p:nvPr/>
        </p:nvSpPr>
        <p:spPr>
          <a:xfrm>
            <a:off x="4704925" y="68234"/>
            <a:ext cx="43665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scheduled tasks </a:t>
            </a:r>
            <a:endParaRPr sz="1200" b="1">
              <a:solidFill>
                <a:srgbClr val="FF0000"/>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first method works within Claude Desktop's co-work tab, running in a VM sandbox with access to external connectors but limited local file access.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second runs in Claude Desktop's code tab with full local system access including files, terminal, and git.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third uses the /loop slash command in Claude Code CLI for short-term tasks up to 3 days, tied to specific sessions.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fourth method leverages GitHub Actions for repository-focused automation that doesn't require keeping your computer on.</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limitations include most methods requiring the desktop app to remain open, potential permission prompts, and stateless execution unless you implement memory through JSON files.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choice depends on your time horizon and task type: </a:t>
            </a:r>
            <a:br>
              <a:rPr lang="en" sz="1200">
                <a:latin typeface="Calibri"/>
                <a:ea typeface="Calibri"/>
                <a:cs typeface="Calibri"/>
                <a:sym typeface="Calibri"/>
              </a:rPr>
            </a:br>
            <a:r>
              <a:rPr lang="en" sz="1200">
                <a:latin typeface="Calibri"/>
                <a:ea typeface="Calibri"/>
                <a:cs typeface="Calibri"/>
                <a:sym typeface="Calibri"/>
              </a:rPr>
              <a:t>.. use /loop for short development tasks, </a:t>
            </a:r>
            <a:br>
              <a:rPr lang="en" sz="1200">
                <a:latin typeface="Calibri"/>
                <a:ea typeface="Calibri"/>
                <a:cs typeface="Calibri"/>
                <a:sym typeface="Calibri"/>
              </a:rPr>
            </a:br>
            <a:r>
              <a:rPr lang="en" sz="1200">
                <a:latin typeface="Calibri"/>
                <a:ea typeface="Calibri"/>
                <a:cs typeface="Calibri"/>
                <a:sym typeface="Calibri"/>
              </a:rPr>
              <a:t>.. desktop scheduling for long-running persistent automation, </a:t>
            </a:r>
            <a:br>
              <a:rPr lang="en" sz="1200">
                <a:latin typeface="Calibri"/>
                <a:ea typeface="Calibri"/>
                <a:cs typeface="Calibri"/>
                <a:sym typeface="Calibri"/>
              </a:rPr>
            </a:br>
            <a:r>
              <a:rPr lang="en" sz="1200">
                <a:latin typeface="Calibri"/>
                <a:ea typeface="Calibri"/>
                <a:cs typeface="Calibri"/>
                <a:sym typeface="Calibri"/>
              </a:rPr>
              <a:t>.. and consider access requirements when choosing </a:t>
            </a:r>
            <a:br>
              <a:rPr lang="en" sz="1200">
                <a:latin typeface="Calibri"/>
                <a:ea typeface="Calibri"/>
                <a:cs typeface="Calibri"/>
                <a:sym typeface="Calibri"/>
              </a:rPr>
            </a:br>
            <a:r>
              <a:rPr lang="en" sz="1200">
                <a:latin typeface="Calibri"/>
                <a:ea typeface="Calibri"/>
                <a:cs typeface="Calibri"/>
                <a:sym typeface="Calibri"/>
              </a:rPr>
              <a:t>   between co-work and code tabs</a:t>
            </a:r>
            <a:endParaRPr sz="1200">
              <a:latin typeface="Calibri"/>
              <a:ea typeface="Calibri"/>
              <a:cs typeface="Calibri"/>
              <a:sym typeface="Calibri"/>
            </a:endParaRPr>
          </a:p>
        </p:txBody>
      </p:sp>
      <p:sp>
        <p:nvSpPr>
          <p:cNvPr id="164" name="Google Shape;164;p26"/>
          <p:cNvSpPr txBox="1"/>
          <p:nvPr/>
        </p:nvSpPr>
        <p:spPr>
          <a:xfrm>
            <a:off x="80650" y="471909"/>
            <a:ext cx="4366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 /loop command to schedule tasks within session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Running every 10 minutes by default for up to 3 days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Users can set reminders and recurring tasks using natural language, such as "remind me at 10:23 AM" or "check my ClickUp every 10 minutes."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Limitation - the features works only within the same session. It requires the terminal window and computer to stay open, doesn't survive restarts, and expires after 3 days.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feature works across VS Code, terminal, and desktop app</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Code Desktop actually offers more powerful scheduling that survives restarts and runs indefinitely, though it still requires the desktop app open.</a:t>
            </a:r>
            <a:endParaRPr sz="1200">
              <a:latin typeface="Calibri"/>
              <a:ea typeface="Calibri"/>
              <a:cs typeface="Calibri"/>
              <a:sym typeface="Calibri"/>
            </a:endParaRPr>
          </a:p>
        </p:txBody>
      </p:sp>
      <p:sp>
        <p:nvSpPr>
          <p:cNvPr id="165" name="Google Shape;165;p26"/>
          <p:cNvSpPr txBox="1"/>
          <p:nvPr/>
        </p:nvSpPr>
        <p:spPr>
          <a:xfrm>
            <a:off x="80650" y="2784184"/>
            <a:ext cx="4366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Super Nested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nested Claude Code workflow in tmux on macOS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Coordinates multiple terminals for parallel AI-assisted development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central controller assigns subtasks across terminals, letting developers state high-level goals while Claude manages planning and execution steps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Examples include a multi-terminal 3D galaxy project in 3JS and visualizing micro GPT training with dedicated panes for backend, charts, and dashboards.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system boosts productivity but currently depends on macOS, tmux, and a non-trivial setup.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https://www.geeky-gadgets.com/nested-claude-code-tmux/</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7"/>
          <p:cNvSpPr txBox="1"/>
          <p:nvPr/>
        </p:nvSpPr>
        <p:spPr>
          <a:xfrm>
            <a:off x="55075" y="63650"/>
            <a:ext cx="4471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 Tool Search &amp; Calling</a:t>
            </a:r>
            <a:endParaRPr sz="2000" b="1">
              <a:solidFill>
                <a:schemeClr val="dk1"/>
              </a:solidFill>
              <a:latin typeface="Calibri"/>
              <a:ea typeface="Calibri"/>
              <a:cs typeface="Calibri"/>
              <a:sym typeface="Calibri"/>
            </a:endParaRPr>
          </a:p>
        </p:txBody>
      </p:sp>
      <p:sp>
        <p:nvSpPr>
          <p:cNvPr id="171" name="Google Shape;171;p27"/>
          <p:cNvSpPr txBox="1"/>
          <p:nvPr/>
        </p:nvSpPr>
        <p:spPr>
          <a:xfrm>
            <a:off x="159800" y="429528"/>
            <a:ext cx="43665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Use Claude Code to automate model training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https://www.youtube.com/watch?v=jP6tN9JTtxE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Automate machine learning model training using three tools working together: Claude Code as an AI agent, HuggingFace Jobs for cloud GPU compute, and Tracko for experiment tracking.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presenter modifies Andre Karpathy's nano GPT repository to train a GPT2-level model, integrating Tracko to log metrics and generate alerts when validation loss increases.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Code acts as an autonomous ML researcher, systematically testing different learning rates starting from 1.0 and automatically terminating unstable training runs based on Tracko alerts.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system successfully found an optimal learning rate of 0.1 after canceling higher learning rate experiments that showed instability.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approach enables efficient autonomous hyperparameter optimization while minimizing cloud compute costs by quickly terminating unsuccessful experiments.</a:t>
            </a:r>
            <a:endParaRPr sz="1200">
              <a:latin typeface="Calibri"/>
              <a:ea typeface="Calibri"/>
              <a:cs typeface="Calibri"/>
              <a:sym typeface="Calibri"/>
            </a:endParaRPr>
          </a:p>
        </p:txBody>
      </p:sp>
      <p:sp>
        <p:nvSpPr>
          <p:cNvPr id="172" name="Google Shape;172;p27"/>
          <p:cNvSpPr txBox="1"/>
          <p:nvPr/>
        </p:nvSpPr>
        <p:spPr>
          <a:xfrm>
            <a:off x="4689343" y="48980"/>
            <a:ext cx="43665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tool search and calling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Reduce token usage by up to 85%</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https://www.youtube.com/watch?v=R7OCrqyGMeY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Tool search allows agents to discover and load tools on-demand rather than loading everything upfront, significantly reducing context usage.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Programmatic tool calling enables agents to write and execute Python scripts in sandboxes to handle complex multi-step tasks more efficiently than traditional sequential tool calls.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video demonstrates these patterns in a custom system using Qwen 3.5 model, showing how these aren't exclusive to Claude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system uses Docker containers for secure code execution with a tool bridge architecture that prevents direct internet access while enabling communication with external services through authenticated calls.</a:t>
            </a:r>
            <a:endParaRPr sz="1200">
              <a:latin typeface="Calibri"/>
              <a:ea typeface="Calibri"/>
              <a:cs typeface="Calibri"/>
              <a:sym typeface="Calibri"/>
            </a:endParaRPr>
          </a:p>
        </p:txBody>
      </p:sp>
      <p:sp>
        <p:nvSpPr>
          <p:cNvPr id="173" name="Google Shape;173;p27"/>
          <p:cNvSpPr txBox="1"/>
          <p:nvPr/>
        </p:nvSpPr>
        <p:spPr>
          <a:xfrm>
            <a:off x="159800" y="3443206"/>
            <a:ext cx="43665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Concentrate on Building Skills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https://www.youtube.com/watch?v=wqH1hTkA6qg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Skills are markdown instruction files to provide expertise on-demand, functioning like employee playbooks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Skills are modular and "progressively disclosed" - Claude only loads relevant skills when needed.</a:t>
            </a:r>
            <a:endParaRPr sz="1200">
              <a:latin typeface="Calibri"/>
              <a:ea typeface="Calibri"/>
              <a:cs typeface="Calibri"/>
              <a:sym typeface="Calibri"/>
            </a:endParaRPr>
          </a:p>
        </p:txBody>
      </p:sp>
      <p:sp>
        <p:nvSpPr>
          <p:cNvPr id="174" name="Google Shape;174;p27"/>
          <p:cNvSpPr txBox="1"/>
          <p:nvPr/>
        </p:nvSpPr>
        <p:spPr>
          <a:xfrm>
            <a:off x="4689343" y="2859455"/>
            <a:ext cx="4366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Common Mistakes when Using Skills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First Mistake - installing too many skills (50-200) which creates noise in Claude's 15,000 chars system prompt budget and leads to ambiguous skill selection. Solution - use only 20-30 specific, well-built skills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Second Mistake - installing generic marketplace skills without customization, resulting in generic output. Solution - add reference files with brand guidelines and examples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Third Mistake - cram everything into a single skill.md file instead of using proper folder structure with separate reference files, making debugging difficult and wasting context tokens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https://www.youtube.com/watch?v=CXeCIgc982I</a:t>
            </a:r>
            <a:r>
              <a:rPr lang="en" sz="1200">
                <a:latin typeface="Calibri"/>
                <a:ea typeface="Calibri"/>
                <a:cs typeface="Calibri"/>
                <a:sym typeface="Calibri"/>
              </a:rPr>
              <a:t> </a:t>
            </a:r>
            <a:endParaRPr sz="1200">
              <a:latin typeface="Calibri"/>
              <a:ea typeface="Calibri"/>
              <a:cs typeface="Calibri"/>
              <a:sym typeface="Calibri"/>
            </a:endParaRPr>
          </a:p>
        </p:txBody>
      </p:sp>
      <p:sp>
        <p:nvSpPr>
          <p:cNvPr id="175" name="Google Shape;175;p27"/>
          <p:cNvSpPr txBox="1"/>
          <p:nvPr/>
        </p:nvSpPr>
        <p:spPr>
          <a:xfrm>
            <a:off x="159800" y="4609775"/>
            <a:ext cx="4366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Prompt Engineering =&gt; Context Engineering =&gt; Workflows (Skill Creator)</a:t>
            </a:r>
            <a:endParaRPr sz="1200" b="1">
              <a:solidFill>
                <a:srgbClr val="3C78D8"/>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8"/>
          <p:cNvSpPr txBox="1"/>
          <p:nvPr/>
        </p:nvSpPr>
        <p:spPr>
          <a:xfrm>
            <a:off x="55075" y="63650"/>
            <a:ext cx="3639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is NOT Open Source</a:t>
            </a:r>
            <a:endParaRPr sz="2000" b="1">
              <a:solidFill>
                <a:schemeClr val="dk1"/>
              </a:solidFill>
              <a:latin typeface="Calibri"/>
              <a:ea typeface="Calibri"/>
              <a:cs typeface="Calibri"/>
              <a:sym typeface="Calibri"/>
            </a:endParaRPr>
          </a:p>
        </p:txBody>
      </p:sp>
      <p:sp>
        <p:nvSpPr>
          <p:cNvPr id="181" name="Google Shape;181;p28"/>
          <p:cNvSpPr txBox="1"/>
          <p:nvPr/>
        </p:nvSpPr>
        <p:spPr>
          <a:xfrm>
            <a:off x="55075" y="441375"/>
            <a:ext cx="44487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and Claude models are NOT open 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Under the hood, Claude Code is just a Claude model (e.g., a Sonnet or Opus “thinking” variant) prompted and tooled for software tasks: reading/editing code, explaining errors, designing APIs, etc.</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model performs step-by-step reasoning internally (especially in “thinking”/reasoning modes), which improves multi-step tasks like debugging or refactoring, but those thoughts are not a symbolic program or fixed algorithm—just very large pattern-based inference over its training data plus your prompt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Claude base model has broad capabilities (coding, natural language, reasoning) baked into its weights; those aren’t modular plug‑ins you can see or toggle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Platforms (like Claude Code) then layer “skills” on top by using specialized system prompts (e.g., “act as a software engineer”), and enabling tools such as code execution, browsing, file and repo access, or chart/image creation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By default, Claude Code runs in the cloud on Anthropic or partner infrastructure; your prompts and code are sent to remote servers for inference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Additional “skills” like web browsing, Deep Research, and code sandboxes are also cloud services, not something the model does purely on your local machine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You can integrate Claude via API into your own stack, but the core model execution still happens on remote cloud</a:t>
            </a:r>
            <a:endParaRPr sz="1200">
              <a:latin typeface="Calibri"/>
              <a:ea typeface="Calibri"/>
              <a:cs typeface="Calibri"/>
              <a:sym typeface="Calibri"/>
            </a:endParaRPr>
          </a:p>
        </p:txBody>
      </p:sp>
      <p:sp>
        <p:nvSpPr>
          <p:cNvPr id="182" name="Google Shape;182;p28"/>
          <p:cNvSpPr txBox="1"/>
          <p:nvPr/>
        </p:nvSpPr>
        <p:spPr>
          <a:xfrm>
            <a:off x="4630425" y="441375"/>
            <a:ext cx="44487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is better than Cline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Cline, by design, is more model‑agnostic and prompt‑driven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Code (CC) is Anthropic specific. It was released in Feb 2025. Over the whole year it was tuned to work with Claude models and tools, and models were tuned to work with CC</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So even if you try to use the same Opus model with both Cline and CC, the CC experience will be “smoother” because of better orchestration, tighter tool contracts, better defaults, better chunking and truncation. And the Claude models are trained to use  the Claude tools effectively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https://code.claude.com/docs/en/vs-code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https://www.anthropic.com/news/enabling-claude-code-to-work-more-autonomously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Anthropic uses large, sophisticated system prompts plus tool definitions to define how Claude behaves in each product, and CC has its own agent spec layered on top of the base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So CC is basically talking to the specialized agent in the cloud.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public analysis of Claude’s system prompts shows Anthropic routinely bakes workflows, safety rules, and UX behaviors directly into long system messages (tens of thousands of tokens), rather than leaving everything to the user; The tool definitions alone are ~11k tokens, and Anthropic exposes multiple “system prompt methods” (base agent prompt, user‑customizable extra prompt, etc.), which strongly suggests a nontrivial internal prompt stack optimized for dev workflows</a:t>
            </a:r>
            <a:endParaRPr sz="1200">
              <a:latin typeface="Calibri"/>
              <a:ea typeface="Calibri"/>
              <a:cs typeface="Calibri"/>
              <a:sym typeface="Calibri"/>
            </a:endParaRPr>
          </a:p>
        </p:txBody>
      </p:sp>
      <p:sp>
        <p:nvSpPr>
          <p:cNvPr id="183" name="Google Shape;183;p28"/>
          <p:cNvSpPr txBox="1"/>
          <p:nvPr/>
        </p:nvSpPr>
        <p:spPr>
          <a:xfrm>
            <a:off x="4712475" y="63650"/>
            <a:ext cx="3639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is better than Cline</a:t>
            </a:r>
            <a:endParaRPr sz="2000" b="1">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9"/>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89" name="Google Shape;189;p29"/>
          <p:cNvSpPr txBox="1"/>
          <p:nvPr/>
        </p:nvSpPr>
        <p:spPr>
          <a:xfrm>
            <a:off x="159800" y="390061"/>
            <a:ext cx="4366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Use Claude Cowork as a Virtual Employee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https://www.youtube.com/watch?v=f95-O8C88uw</a:t>
            </a:r>
            <a:r>
              <a:rPr lang="en" sz="1200">
                <a:latin typeface="Calibri"/>
                <a:ea typeface="Calibri"/>
                <a:cs typeface="Calibri"/>
                <a:sym typeface="Calibri"/>
              </a:rPr>
              <a:t> </a:t>
            </a:r>
            <a:endParaRPr sz="1200">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Import (transferring memory from ChatGPT to Claude)</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Foundation (setting up goal files and business context)</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Workflows (using pre-built plugins for different job functions like legal, marketing, and HR)</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Connect to Gmail, Google Calendar, Slack, ...</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Scheduling tasks to run automatically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File reading and editing, app integration, task/workflow  automation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Co-work learns and improves over time</a:t>
            </a:r>
            <a:endParaRPr sz="1200">
              <a:latin typeface="Calibri"/>
              <a:ea typeface="Calibri"/>
              <a:cs typeface="Calibri"/>
              <a:sym typeface="Calibri"/>
            </a:endParaRPr>
          </a:p>
        </p:txBody>
      </p:sp>
      <p:pic>
        <p:nvPicPr>
          <p:cNvPr id="190" name="Google Shape;190;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88025" y="215926"/>
            <a:ext cx="3954346" cy="2224325"/>
          </a:xfrm>
          <a:prstGeom prst="rect">
            <a:avLst/>
          </a:prstGeom>
          <a:noFill/>
          <a:ln w="9525" cap="flat" cmpd="sng">
            <a:solidFill>
              <a:srgbClr val="FF0000"/>
            </a:solidFill>
            <a:prstDash val="solid"/>
            <a:round/>
            <a:headEnd type="none" w="sm" len="sm"/>
            <a:tailEnd type="none" w="sm" len="sm"/>
          </a:ln>
        </p:spPr>
      </p:pic>
      <p:sp>
        <p:nvSpPr>
          <p:cNvPr id="191" name="Google Shape;191;p29"/>
          <p:cNvSpPr txBox="1"/>
          <p:nvPr/>
        </p:nvSpPr>
        <p:spPr>
          <a:xfrm>
            <a:off x="159800" y="2892611"/>
            <a:ext cx="4366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Elon Musk's  Digital Optimus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https://www.youtube.com/watch?v=DHH9MqJe0YM</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AGI that can perform computer-based work like an office worker</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system combines Tesla's AI4 chip for real-time screen processing with Grok for higher-level thinking, mimicking the brain's fast and slow systems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Unlike competitors who use screenshots, Digital Optimus processes continuous video streams like Tesla's self-driving technology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is similar to how physical Optimus robots work. And how the model can be trained on multiple robots (like Tesla driving is trained on Billions of driving miles.</a:t>
            </a:r>
            <a:endParaRPr sz="1200">
              <a:latin typeface="Calibri"/>
              <a:ea typeface="Calibri"/>
              <a:cs typeface="Calibri"/>
              <a:sym typeface="Calibri"/>
            </a:endParaRPr>
          </a:p>
        </p:txBody>
      </p:sp>
      <p:pic>
        <p:nvPicPr>
          <p:cNvPr id="192" name="Google Shape;192;p29"/>
          <p:cNvPicPr preferRelativeResize="0"/>
          <p:nvPr/>
        </p:nvPicPr>
        <p:blipFill>
          <a:blip r:embed="rId6">
            <a:alphaModFix/>
          </a:blip>
          <a:stretch>
            <a:fillRect/>
          </a:stretch>
        </p:blipFill>
        <p:spPr>
          <a:xfrm>
            <a:off x="4788025" y="3117600"/>
            <a:ext cx="2847975"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30"/>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8" name="Google Shape;198;p30"/>
          <p:cNvSpPr txBox="1"/>
          <p:nvPr/>
        </p:nvSpPr>
        <p:spPr>
          <a:xfrm>
            <a:off x="109650" y="525411"/>
            <a:ext cx="43665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KiloClaw Cloud-hosted Alternative to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https://www.youtube.com/watch?v=Z9RaLpbPluQ</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KiloClaw makes deployment simple (60 sec)</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 Beta, free, one-click deployment, multiple AI models, scheduled tasks, and integration with Discord, Telegram, and Slack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Good for non-technical users who want immediate functionality without dealing with servers or configuration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https://kilo.ai/kiloclaw</a:t>
            </a:r>
            <a:r>
              <a:rPr lang="en" sz="1200">
                <a:latin typeface="Calibri"/>
                <a:ea typeface="Calibri"/>
                <a:cs typeface="Calibri"/>
                <a:sym typeface="Calibri"/>
              </a:rPr>
              <a:t> </a:t>
            </a:r>
            <a:endParaRPr sz="1200">
              <a:latin typeface="Calibri"/>
              <a:ea typeface="Calibri"/>
              <a:cs typeface="Calibri"/>
              <a:sym typeface="Calibri"/>
            </a:endParaRPr>
          </a:p>
        </p:txBody>
      </p:sp>
      <p:sp>
        <p:nvSpPr>
          <p:cNvPr id="199" name="Google Shape;199;p30"/>
          <p:cNvSpPr txBox="1"/>
          <p:nvPr/>
        </p:nvSpPr>
        <p:spPr>
          <a:xfrm>
            <a:off x="4675725" y="731136"/>
            <a:ext cx="43665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 Playwright CLI for Browser Automations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https://www.youtube.com/watch?v=I9kO6-yPkfM</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Code can spawn three parallel sub-agents using Playwright to test website form submissions from multiple angles, including edge cases and validation testing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Playwright CLI is a superior to alternatives like MCP servers or Chrome extensions because it uses significantly fewer tokens (90,000 fewer than MCP) and supports headless browsing and parallel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tool works by </a:t>
            </a:r>
            <a:r>
              <a:rPr lang="en" sz="1200" b="1">
                <a:solidFill>
                  <a:srgbClr val="FF0000"/>
                </a:solidFill>
                <a:latin typeface="Calibri"/>
                <a:ea typeface="Calibri"/>
                <a:cs typeface="Calibri"/>
                <a:sym typeface="Calibri"/>
              </a:rPr>
              <a:t>utilizing accessibility trees rather than screenshots, making it more efficient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Installation: </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installing Playwright CLI via npm</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installing browser engines</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setting up the Claude Code skill</a:t>
            </a:r>
            <a:endParaRPr sz="1200">
              <a:solidFill>
                <a:srgbClr val="6AA84F"/>
              </a:solidFill>
              <a:latin typeface="Calibri"/>
              <a:ea typeface="Calibri"/>
              <a:cs typeface="Calibri"/>
              <a:sym typeface="Calibri"/>
            </a:endParaRPr>
          </a:p>
        </p:txBody>
      </p:sp>
      <p:pic>
        <p:nvPicPr>
          <p:cNvPr id="200" name="Google Shape;200;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69847" y="2156852"/>
            <a:ext cx="3261351" cy="2163824"/>
          </a:xfrm>
          <a:prstGeom prst="rect">
            <a:avLst/>
          </a:prstGeom>
          <a:noFill/>
          <a:ln w="9525" cap="flat" cmpd="sng">
            <a:solidFill>
              <a:srgbClr val="FF0000"/>
            </a:solidFill>
            <a:prstDash val="solid"/>
            <a:round/>
            <a:headEnd type="none" w="sm" len="sm"/>
            <a:tailEnd type="none" w="sm" len="sm"/>
          </a:ln>
        </p:spPr>
      </p:pic>
      <p:pic>
        <p:nvPicPr>
          <p:cNvPr id="201" name="Google Shape;201;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42298" y="3658511"/>
            <a:ext cx="2354401" cy="13184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1"/>
          <p:cNvSpPr txBox="1"/>
          <p:nvPr/>
        </p:nvSpPr>
        <p:spPr>
          <a:xfrm>
            <a:off x="55075" y="63650"/>
            <a:ext cx="33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Superpowers</a:t>
            </a:r>
            <a:endParaRPr sz="2000" b="1">
              <a:solidFill>
                <a:schemeClr val="dk1"/>
              </a:solidFill>
              <a:latin typeface="Calibri"/>
              <a:ea typeface="Calibri"/>
              <a:cs typeface="Calibri"/>
              <a:sym typeface="Calibri"/>
            </a:endParaRPr>
          </a:p>
        </p:txBody>
      </p:sp>
      <p:sp>
        <p:nvSpPr>
          <p:cNvPr id="207" name="Google Shape;207;p31"/>
          <p:cNvSpPr txBox="1"/>
          <p:nvPr/>
        </p:nvSpPr>
        <p:spPr>
          <a:xfrm>
            <a:off x="43825" y="541600"/>
            <a:ext cx="4421400" cy="302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Superpowers GitHub repo for AI Coding Agents</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https://github.com/obra/superpowers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http://www.youtube.com/watch?v=7cOAayWzYDY</a:t>
            </a:r>
            <a:endParaRPr sz="1100">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/plugin marketplace add obra/superpowers-marketplace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/plugin install superpowers@superpowers-marketplace</a:t>
            </a:r>
            <a:endParaRPr sz="900" b="1">
              <a:solidFill>
                <a:srgbClr val="3C78D8"/>
              </a:solidFill>
              <a:latin typeface="Roboto Mono"/>
              <a:ea typeface="Roboto Mono"/>
              <a:cs typeface="Roboto Mono"/>
              <a:sym typeface="Roboto Mono"/>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 fully autonomous software development workflow for AI coding agents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Unlike traditional "spec-driven" tools like OpenSpec or SpecKit, which primarily focus on turning conversations into task lists, Superpowers manages the entire engineering lifecycle. It guides agents through brainstorming, design generation, technical specification, and detailed implementation planning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Key features include the ability to handle non-linear tasks, reduce hallucinations by keeping models focused on specific steps, and the integration of "sub-agents" to execute parallel implementation plans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easily install Superpowers as a plugin within coding environments like Cursor or Claude Code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Ultimately, the toolkit aims to replace "vibe coding" with a structured, reliable workflow that produces professional-grade, bug-free results</a:t>
            </a:r>
            <a:endParaRPr sz="1100">
              <a:latin typeface="Calibri"/>
              <a:ea typeface="Calibri"/>
              <a:cs typeface="Calibri"/>
              <a:sym typeface="Calibri"/>
            </a:endParaRPr>
          </a:p>
        </p:txBody>
      </p:sp>
      <p:pic>
        <p:nvPicPr>
          <p:cNvPr id="208" name="Google Shape;208;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0050" y="541600"/>
            <a:ext cx="4048526" cy="1958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2"/>
          <p:cNvSpPr txBox="1"/>
          <p:nvPr/>
        </p:nvSpPr>
        <p:spPr>
          <a:xfrm>
            <a:off x="55075" y="63650"/>
            <a:ext cx="2457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Memory</a:t>
            </a:r>
            <a:endParaRPr sz="2000" b="1">
              <a:solidFill>
                <a:schemeClr val="dk1"/>
              </a:solidFill>
              <a:latin typeface="Calibri"/>
              <a:ea typeface="Calibri"/>
              <a:cs typeface="Calibri"/>
              <a:sym typeface="Calibri"/>
            </a:endParaRPr>
          </a:p>
        </p:txBody>
      </p:sp>
      <p:sp>
        <p:nvSpPr>
          <p:cNvPr id="214" name="Google Shape;214;p32"/>
          <p:cNvSpPr txBox="1"/>
          <p:nvPr/>
        </p:nvSpPr>
        <p:spPr>
          <a:xfrm>
            <a:off x="55075" y="475825"/>
            <a:ext cx="4421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3-Layer Memory Architecture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Layer 1 - core identity (the "Soul") - in he root of workspace:</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files: soul.md, agents.md, memory.md, and </a:t>
            </a:r>
            <a:r>
              <a:rPr lang="en" sz="1200" u="sng">
                <a:solidFill>
                  <a:srgbClr val="6AA84F"/>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user.md</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only the owner can edit the identiy files</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Layer 2 - long-term recall - in "Memory" folder</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files - Daily logs (dated `YYYY-MM-DD.md`) </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and specific topic files (e.g., `</a:t>
            </a:r>
            <a:r>
              <a:rPr lang="en" sz="1200" u="sng">
                <a:solidFill>
                  <a:srgbClr val="6AA84F"/>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onboarding.md</a:t>
            </a:r>
            <a:r>
              <a:rPr lang="en" sz="1200">
                <a:solidFill>
                  <a:srgbClr val="6AA84F"/>
                </a:solidFill>
                <a:latin typeface="Calibri"/>
                <a:ea typeface="Calibri"/>
                <a:cs typeface="Calibri"/>
                <a:sym typeface="Calibri"/>
              </a:rPr>
              <a:t>`)</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short (under 4KB) summaries and "breadcrumbs"</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Layer 3 - Deep References (The Library) in "Reference" folder </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files - full documents and long-form histories  </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Enable `memory_flush` in the config file to stop immediate context loss on resets.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Write memory files in plain, natural language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https://www.youtube.com/watch?v=f8LJBh1AtKg</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15" name="Google Shape;215;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72100" y="475825"/>
            <a:ext cx="3347175" cy="1825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3"/>
          <p:cNvSpPr txBox="1"/>
          <p:nvPr/>
        </p:nvSpPr>
        <p:spPr>
          <a:xfrm>
            <a:off x="55075" y="63650"/>
            <a:ext cx="404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 about OpenClaw</a:t>
            </a:r>
            <a:endParaRPr sz="2000" b="1">
              <a:solidFill>
                <a:schemeClr val="dk1"/>
              </a:solidFill>
              <a:latin typeface="Calibri"/>
              <a:ea typeface="Calibri"/>
              <a:cs typeface="Calibri"/>
              <a:sym typeface="Calibri"/>
            </a:endParaRPr>
          </a:p>
        </p:txBody>
      </p:sp>
      <p:sp>
        <p:nvSpPr>
          <p:cNvPr id="221" name="Google Shape;221;p33"/>
          <p:cNvSpPr txBox="1"/>
          <p:nvPr/>
        </p:nvSpPr>
        <p:spPr>
          <a:xfrm>
            <a:off x="43825" y="541600"/>
            <a:ext cx="44214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OpenClaw is an open-source, self-improving AI agent that runs locally on your computer 24/7, with no token limits or cloud costs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Alex Finn runs four agents (Henry, Ralph, Charlie, Scout) organized like a business hierarchy, with Henry (Claude Opus) as chief of staff</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Local hardware, especially Apple devices with unified memory architecture, is strongly preferred over virtual private servers for speed, security, and cost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OAuth lets you connect existing ChatGPT subscriptions to OpenClaw instead of paying per token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use cases include autonomous software development, content pipelines, and research automation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Memory is stored in plain markdown files; agents can design and fix their own memory systems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recent security vulnerability allowed websites to hijack agents via JavaScript; patched within 24 hours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Best starting tip: use reverse prompting - tell your agent your goals and ask it what it should do next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https://www.youtube.com/watch?v=qP73cGLQmCU</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https://www.youtube.com/watch?v=d__HRChE2ZE</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22" name="Google Shape;222;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66398" y="541600"/>
            <a:ext cx="3218200" cy="1770450"/>
          </a:xfrm>
          <a:prstGeom prst="rect">
            <a:avLst/>
          </a:prstGeom>
          <a:noFill/>
          <a:ln w="9525" cap="flat" cmpd="sng">
            <a:solidFill>
              <a:srgbClr val="FF0000"/>
            </a:solidFill>
            <a:prstDash val="solid"/>
            <a:round/>
            <a:headEnd type="none" w="sm" len="sm"/>
            <a:tailEnd type="none" w="sm" len="sm"/>
          </a:ln>
        </p:spPr>
      </p:pic>
      <p:pic>
        <p:nvPicPr>
          <p:cNvPr id="223" name="Google Shape;223;p33" title="Screenshot 2026-03-13 at 1.03.13 PM.png"/>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66400" y="2439175"/>
            <a:ext cx="3218201" cy="179175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4"/>
          <p:cNvSpPr txBox="1"/>
          <p:nvPr/>
        </p:nvSpPr>
        <p:spPr>
          <a:xfrm>
            <a:off x="55075" y="63650"/>
            <a:ext cx="33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is transforming education</a:t>
            </a:r>
            <a:endParaRPr sz="2000" b="1">
              <a:solidFill>
                <a:schemeClr val="dk1"/>
              </a:solidFill>
              <a:latin typeface="Calibri"/>
              <a:ea typeface="Calibri"/>
              <a:cs typeface="Calibri"/>
              <a:sym typeface="Calibri"/>
            </a:endParaRPr>
          </a:p>
        </p:txBody>
      </p:sp>
      <p:sp>
        <p:nvSpPr>
          <p:cNvPr id="229" name="Google Shape;229;p34"/>
          <p:cNvSpPr txBox="1"/>
          <p:nvPr/>
        </p:nvSpPr>
        <p:spPr>
          <a:xfrm>
            <a:off x="43825" y="541600"/>
            <a:ext cx="41232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is fundamentally transforming education and learning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https://www.youtube.com/watch?v=WzOXDIWxVeM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Traditional courses are becoming obsolete </a:t>
            </a:r>
            <a:br>
              <a:rPr lang="en" sz="1100">
                <a:latin typeface="Calibri"/>
                <a:ea typeface="Calibri"/>
                <a:cs typeface="Calibri"/>
                <a:sym typeface="Calibri"/>
              </a:rPr>
            </a:br>
            <a:r>
              <a:rPr lang="en" sz="1100">
                <a:latin typeface="Calibri"/>
                <a:ea typeface="Calibri"/>
                <a:cs typeface="Calibri"/>
                <a:sym typeface="Calibri"/>
              </a:rPr>
              <a:t>as </a:t>
            </a:r>
            <a:r>
              <a:rPr lang="en" sz="1100" b="1">
                <a:solidFill>
                  <a:srgbClr val="3C78D8"/>
                </a:solidFill>
                <a:latin typeface="Calibri"/>
                <a:ea typeface="Calibri"/>
                <a:cs typeface="Calibri"/>
                <a:sym typeface="Calibri"/>
              </a:rPr>
              <a:t>AI agents can now handle most learning tasks automatically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Instead of consuming pre-made content, learners will receive </a:t>
            </a:r>
            <a:r>
              <a:rPr lang="en" sz="1100" b="1">
                <a:solidFill>
                  <a:srgbClr val="FF0000"/>
                </a:solidFill>
                <a:latin typeface="Calibri"/>
                <a:ea typeface="Calibri"/>
                <a:cs typeface="Calibri"/>
                <a:sym typeface="Calibri"/>
              </a:rPr>
              <a:t>personalized, on-demand lessons generated by AI.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New learning model focuses on </a:t>
            </a:r>
            <a:r>
              <a:rPr lang="en" sz="1100" b="1">
                <a:solidFill>
                  <a:srgbClr val="FF0000"/>
                </a:solidFill>
                <a:latin typeface="Calibri"/>
                <a:ea typeface="Calibri"/>
                <a:cs typeface="Calibri"/>
                <a:sym typeface="Calibri"/>
              </a:rPr>
              <a:t>"loops"</a:t>
            </a:r>
            <a:r>
              <a:rPr lang="en" sz="1100">
                <a:latin typeface="Calibri"/>
                <a:ea typeface="Calibri"/>
                <a:cs typeface="Calibri"/>
                <a:sym typeface="Calibri"/>
              </a:rPr>
              <a:t> rather than linear curricula: </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goal-setting</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tiny actions</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feedback</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proof of completion</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next steps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Shift </a:t>
            </a:r>
            <a:r>
              <a:rPr lang="en" sz="1100" b="1">
                <a:solidFill>
                  <a:srgbClr val="FF0000"/>
                </a:solidFill>
                <a:latin typeface="Calibri"/>
                <a:ea typeface="Calibri"/>
                <a:cs typeface="Calibri"/>
                <a:sym typeface="Calibri"/>
              </a:rPr>
              <a:t>from content delivery to live facilitation and community accountability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Rather than learning how to do things, people now tell AI what they want accomplished</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a:t>
            </a:r>
            <a:r>
              <a:rPr lang="en" sz="1100" b="1">
                <a:solidFill>
                  <a:srgbClr val="3C78D8"/>
                </a:solidFill>
                <a:latin typeface="Calibri"/>
                <a:ea typeface="Calibri"/>
                <a:cs typeface="Calibri"/>
                <a:sym typeface="Calibri"/>
              </a:rPr>
              <a:t>value lies in guided environments where people actually implement and change behavior</a:t>
            </a:r>
            <a:r>
              <a:rPr lang="en" sz="1100">
                <a:latin typeface="Calibri"/>
                <a:ea typeface="Calibri"/>
                <a:cs typeface="Calibri"/>
                <a:sym typeface="Calibri"/>
              </a:rPr>
              <a:t>, not just consume information.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Communities become essential for accountability</a:t>
            </a:r>
            <a:r>
              <a:rPr lang="en" sz="1100">
                <a:latin typeface="Calibri"/>
                <a:ea typeface="Calibri"/>
                <a:cs typeface="Calibri"/>
                <a:sym typeface="Calibri"/>
              </a:rPr>
              <a:t>, requiring members to show what they've started, built, and shipped rather than just completing courses.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transformation </a:t>
            </a:r>
            <a:r>
              <a:rPr lang="en" sz="1100" b="1">
                <a:solidFill>
                  <a:srgbClr val="FF0000"/>
                </a:solidFill>
                <a:latin typeface="Calibri"/>
                <a:ea typeface="Calibri"/>
                <a:cs typeface="Calibri"/>
                <a:sym typeface="Calibri"/>
              </a:rPr>
              <a:t>moves educators from creators to conductors</a:t>
            </a:r>
            <a:r>
              <a:rPr lang="en" sz="1100">
                <a:latin typeface="Calibri"/>
                <a:ea typeface="Calibri"/>
                <a:cs typeface="Calibri"/>
                <a:sym typeface="Calibri"/>
              </a:rPr>
              <a:t>, </a:t>
            </a:r>
            <a:br>
              <a:rPr lang="en" sz="1100">
                <a:latin typeface="Calibri"/>
                <a:ea typeface="Calibri"/>
                <a:cs typeface="Calibri"/>
                <a:sym typeface="Calibri"/>
              </a:rPr>
            </a:br>
            <a:r>
              <a:rPr lang="en" sz="1100" b="1">
                <a:solidFill>
                  <a:srgbClr val="3C78D8"/>
                </a:solidFill>
                <a:latin typeface="Calibri"/>
                <a:ea typeface="Calibri"/>
                <a:cs typeface="Calibri"/>
                <a:sym typeface="Calibri"/>
              </a:rPr>
              <a:t>focusing on practical implementation over knowledge transfer</a:t>
            </a:r>
            <a:endParaRPr sz="1100" b="1">
              <a:solidFill>
                <a:srgbClr val="3C78D8"/>
              </a:solidFill>
              <a:latin typeface="Calibri"/>
              <a:ea typeface="Calibri"/>
              <a:cs typeface="Calibri"/>
              <a:sym typeface="Calibri"/>
            </a:endParaRPr>
          </a:p>
        </p:txBody>
      </p:sp>
      <p:pic>
        <p:nvPicPr>
          <p:cNvPr id="230" name="Google Shape;230;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51250" y="985800"/>
            <a:ext cx="4805451" cy="26211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5"/>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6" name="Google Shape;236;p35"/>
          <p:cNvSpPr txBox="1"/>
          <p:nvPr/>
        </p:nvSpPr>
        <p:spPr>
          <a:xfrm>
            <a:off x="43820" y="398733"/>
            <a:ext cx="45039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Infrastructure Investments - $135 Billion in 7 Days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Amazon’s $35 Billion investment into OpenAI. The deal also requires OpenAI to use Amazon’s Tranium 2 chips for training, positioning Amazon as the exclusive third-party cloud host for OpenAI’s automated AI workers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Meta’s $100 Billion to AMD - to break free from NVIDIA dependency. This includes Meta buying 6 gigawatts of AI compute and taking a 10% equity stake in AMD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Meta going to Google for TPUs is a sign NVIDIA’s monopoly is finally cracking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CoreWeave raised $8.5 Bln for data centers backed by a $14.2 billion contract from Meta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Together, these three deals represent $135 billion committed in seven days. That’s not venture capital. That’s infrastructure-scale capital reshaping the supply chain in real time.</a:t>
            </a:r>
            <a:endParaRPr sz="1100">
              <a:latin typeface="Calibri"/>
              <a:ea typeface="Calibri"/>
              <a:cs typeface="Calibri"/>
              <a:sym typeface="Calibri"/>
            </a:endParaRPr>
          </a:p>
        </p:txBody>
      </p:sp>
      <p:pic>
        <p:nvPicPr>
          <p:cNvPr id="237" name="Google Shape;237;p3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5299750" y="442136"/>
            <a:ext cx="3099124" cy="2340801"/>
          </a:xfrm>
          <a:prstGeom prst="rect">
            <a:avLst/>
          </a:prstGeom>
          <a:noFill/>
          <a:ln w="9525" cap="flat" cmpd="sng">
            <a:solidFill>
              <a:srgbClr val="FF0000"/>
            </a:solidFill>
            <a:prstDash val="solid"/>
            <a:round/>
            <a:headEnd type="none" w="sm" len="sm"/>
            <a:tailEnd type="none" w="sm" len="sm"/>
          </a:ln>
        </p:spPr>
      </p:pic>
      <p:sp>
        <p:nvSpPr>
          <p:cNvPr id="238" name="Google Shape;238;p35"/>
          <p:cNvSpPr txBox="1"/>
          <p:nvPr/>
        </p:nvSpPr>
        <p:spPr>
          <a:xfrm>
            <a:off x="43820" y="2885158"/>
            <a:ext cx="45039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Krea AI "Core Edit"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Allows users to edit images instantly using only text prompts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Region-based editing, object detection and rearrangement, lighting and color control, outpainting to expand images beyond original frames, and natural language editing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https://www.krea.ai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39" name="Google Shape;239;p35"/>
          <p:cNvPicPr preferRelativeResize="0"/>
          <p:nvPr/>
        </p:nvPicPr>
        <p:blipFill>
          <a:blip r:embed="rId5">
            <a:alphaModFix/>
          </a:blip>
          <a:stretch>
            <a:fillRect/>
          </a:stretch>
        </p:blipFill>
        <p:spPr>
          <a:xfrm>
            <a:off x="5299745" y="2885162"/>
            <a:ext cx="2847975" cy="16002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6"/>
          <p:cNvSpPr txBox="1"/>
          <p:nvPr/>
        </p:nvSpPr>
        <p:spPr>
          <a:xfrm>
            <a:off x="55075" y="63650"/>
            <a:ext cx="443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Pulsia AI - Runs 3,300 Companies</a:t>
            </a:r>
            <a:endParaRPr sz="2000" b="1">
              <a:solidFill>
                <a:schemeClr val="dk1"/>
              </a:solidFill>
              <a:latin typeface="Calibri"/>
              <a:ea typeface="Calibri"/>
              <a:cs typeface="Calibri"/>
              <a:sym typeface="Calibri"/>
            </a:endParaRPr>
          </a:p>
        </p:txBody>
      </p:sp>
      <p:sp>
        <p:nvSpPr>
          <p:cNvPr id="245" name="Google Shape;245;p36"/>
          <p:cNvSpPr txBox="1"/>
          <p:nvPr/>
        </p:nvSpPr>
        <p:spPr>
          <a:xfrm>
            <a:off x="43825" y="398725"/>
            <a:ext cx="44373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200" b="1">
                <a:solidFill>
                  <a:srgbClr val="FF0000"/>
                </a:solidFill>
                <a:latin typeface="Calibri"/>
                <a:ea typeface="Calibri"/>
                <a:cs typeface="Calibri"/>
                <a:sym typeface="Calibri"/>
              </a:rPr>
              <a:t>Pulsia AI - Company That Runs 3,300 Companies</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3"/>
              </a:rPr>
              <a:t>https://polsia.com</a:t>
            </a:r>
            <a:r>
              <a:rPr lang="en" sz="1100">
                <a:latin typeface="Calibri"/>
                <a:ea typeface="Calibri"/>
                <a:cs typeface="Calibri"/>
                <a:sym typeface="Calibri"/>
              </a:rPr>
              <a:t> - Created by Ben Serra.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These are micro-businesses, outreach bots that </a:t>
            </a:r>
            <a:r>
              <a:rPr lang="en" sz="1100">
                <a:solidFill>
                  <a:schemeClr val="dk1"/>
                </a:solidFill>
                <a:latin typeface="Calibri"/>
                <a:ea typeface="Calibri"/>
                <a:cs typeface="Calibri"/>
                <a:sym typeface="Calibri"/>
              </a:rPr>
              <a:t>perate continuously without human intervention, negotiate deals, sell </a:t>
            </a:r>
            <a:r>
              <a:rPr lang="en" sz="1100">
                <a:latin typeface="Calibri"/>
                <a:ea typeface="Calibri"/>
                <a:cs typeface="Calibri"/>
                <a:sym typeface="Calibri"/>
              </a:rPr>
              <a:t>products through Stripe.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cost of launching a company is now ~$50/mo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Legal problems - who is liable when an AI-run company commits fraud, breaches a contract, or harms a customer?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future: one human overseeing dozens or hundreds of AI agents, each running a business. Think of it as a one-person private equity firm, except instead of buying companies, you’re spawning them</a:t>
            </a:r>
            <a:endParaRPr sz="1100">
              <a:latin typeface="Calibri"/>
              <a:ea typeface="Calibri"/>
              <a:cs typeface="Calibri"/>
              <a:sym typeface="Calibri"/>
            </a:endParaRPr>
          </a:p>
        </p:txBody>
      </p:sp>
      <p:pic>
        <p:nvPicPr>
          <p:cNvPr id="246" name="Google Shape;246;p3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63288" y="2213649"/>
            <a:ext cx="4198376" cy="2854926"/>
          </a:xfrm>
          <a:prstGeom prst="rect">
            <a:avLst/>
          </a:prstGeom>
          <a:noFill/>
          <a:ln w="9525" cap="flat" cmpd="sng">
            <a:solidFill>
              <a:srgbClr val="FF0000"/>
            </a:solidFill>
            <a:prstDash val="solid"/>
            <a:round/>
            <a:headEnd type="none" w="sm" len="sm"/>
            <a:tailEnd type="none" w="sm" len="sm"/>
          </a:ln>
        </p:spPr>
      </p:pic>
      <p:pic>
        <p:nvPicPr>
          <p:cNvPr id="247" name="Google Shape;247;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94920" y="152400"/>
            <a:ext cx="3225800" cy="48387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7"/>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Apple vs Nvidia</a:t>
            </a:r>
            <a:endParaRPr sz="2000" b="1">
              <a:solidFill>
                <a:schemeClr val="dk1"/>
              </a:solidFill>
              <a:latin typeface="Calibri"/>
              <a:ea typeface="Calibri"/>
              <a:cs typeface="Calibri"/>
              <a:sym typeface="Calibri"/>
            </a:endParaRPr>
          </a:p>
        </p:txBody>
      </p:sp>
      <p:sp>
        <p:nvSpPr>
          <p:cNvPr id="253" name="Google Shape;253;p37"/>
          <p:cNvSpPr txBox="1"/>
          <p:nvPr/>
        </p:nvSpPr>
        <p:spPr>
          <a:xfrm>
            <a:off x="55070" y="502908"/>
            <a:ext cx="45039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Apple is running LLMs on its own Apple Silicone chips </a:t>
            </a:r>
            <a:r>
              <a:rPr lang="en" sz="1100">
                <a:latin typeface="Calibri"/>
                <a:ea typeface="Calibri"/>
                <a:cs typeface="Calibri"/>
                <a:sym typeface="Calibri"/>
              </a:rPr>
              <a:t>and planning to deploy its own AI server chips in 2027 (</a:t>
            </a:r>
            <a:r>
              <a:rPr lang="en" sz="1100" b="1">
                <a:solidFill>
                  <a:srgbClr val="FF0000"/>
                </a:solidFill>
                <a:latin typeface="Calibri"/>
                <a:ea typeface="Calibri"/>
                <a:cs typeface="Calibri"/>
                <a:sym typeface="Calibri"/>
              </a:rPr>
              <a:t>ACDC = Apple Chips in Data Center</a:t>
            </a: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Apple shifts from Nvidia customer to a competitor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Nvidia monopoly is breaking up as Apple, Google, Amazon, and Meta are now relying on their own custom AI silicon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TSMC’s most advanced nodes, Apple and Nvidia now compete head‑to‑head for scarce manufacturing capacity - every 3 nm or 2 nm wafer allocated to Apple’s processors is one less wafer for Nvidia AI GPUs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Apple’s tight integration of hardware, software, and services—extending from iPhone chips to in‑house AI data centers—aims to keep AI processing and user data inside the Apple ecosystem</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If Apple’s approach proves cost‑effective and performant, it encourages other large players to double down on their own custom accelerators, further eroding Nvidia’s long‑term leverage in AI infrastructure</a:t>
            </a:r>
            <a:endParaRPr sz="1100">
              <a:latin typeface="Calibri"/>
              <a:ea typeface="Calibri"/>
              <a:cs typeface="Calibri"/>
              <a:sym typeface="Calibri"/>
            </a:endParaRPr>
          </a:p>
        </p:txBody>
      </p:sp>
      <p:pic>
        <p:nvPicPr>
          <p:cNvPr id="254" name="Google Shape;254;p37"/>
          <p:cNvPicPr preferRelativeResize="0"/>
          <p:nvPr/>
        </p:nvPicPr>
        <p:blipFill>
          <a:blip r:embed="rId3">
            <a:alphaModFix/>
          </a:blip>
          <a:stretch>
            <a:fillRect/>
          </a:stretch>
        </p:blipFill>
        <p:spPr>
          <a:xfrm>
            <a:off x="5297345" y="738375"/>
            <a:ext cx="2857500" cy="1600200"/>
          </a:xfrm>
          <a:prstGeom prst="rect">
            <a:avLst/>
          </a:prstGeom>
          <a:noFill/>
          <a:ln w="9525" cap="flat" cmpd="sng">
            <a:solidFill>
              <a:srgbClr val="FF0000"/>
            </a:solidFill>
            <a:prstDash val="solid"/>
            <a:round/>
            <a:headEnd type="none" w="sm" len="sm"/>
            <a:tailEnd type="none" w="sm" len="sm"/>
          </a:ln>
        </p:spPr>
      </p:pic>
      <p:sp>
        <p:nvSpPr>
          <p:cNvPr id="255" name="Google Shape;255;p37"/>
          <p:cNvSpPr txBox="1"/>
          <p:nvPr/>
        </p:nvSpPr>
        <p:spPr>
          <a:xfrm>
            <a:off x="55070" y="3004658"/>
            <a:ext cx="4503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Facebook buys Moltbook (Team &amp; Operations)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https://www.youtube.com/watch?v=Lfvmlr2vhLY</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Moltbook was an AI agent social network that emerged during the "open claw saga," where AI agents supposedly interacted on a Reddit-style platform, though it was largely humans prompting the interactions.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acquisition positions Meta to capitalize on the evolving social network landscape where AI agents will likely handle more user tasks like shopping, creating new advertising opportunities through sophisticated prompt injection techniques</a:t>
            </a:r>
            <a:endParaRPr sz="11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8"/>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1" name="Google Shape;261;p38"/>
          <p:cNvSpPr txBox="1"/>
          <p:nvPr/>
        </p:nvSpPr>
        <p:spPr>
          <a:xfrm>
            <a:off x="55070" y="502908"/>
            <a:ext cx="4503900" cy="54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sues Pentagon</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Anthropic has filed a federal lawsuit against the U.S. Department of Defense after the Pentagon designated the AI company a “supply-chain risk”</a:t>
            </a:r>
            <a:endParaRPr sz="1100">
              <a:latin typeface="Calibri"/>
              <a:ea typeface="Calibri"/>
              <a:cs typeface="Calibri"/>
              <a:sym typeface="Calibri"/>
            </a:endParaRPr>
          </a:p>
        </p:txBody>
      </p:sp>
      <p:sp>
        <p:nvSpPr>
          <p:cNvPr id="262" name="Google Shape;262;p38"/>
          <p:cNvSpPr txBox="1"/>
          <p:nvPr/>
        </p:nvSpPr>
        <p:spPr>
          <a:xfrm>
            <a:off x="55070" y="2120008"/>
            <a:ext cx="4503900" cy="291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has launched Claude Marketplace</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new platform allows enterprise customers with existing Anthropic spending commitments to purchase third-party applications powered by Claude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Such as tools from GitLab, Harvey, Replit, Snowflake, and others, with billing handled directly through Anthropic</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goal is to simplify procurement and consolidate AI spending while making it easier for companies to access specialized Claude-powered tools built by partners for specific industries and workflows.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move signals that Anthropic sees continued value in SaaS applications enhanced with AI rather than fully replacing them with custom AI workflows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Marketplace could allow enterprises to use Claude as a central orchestrator that connects to approved tools and services, though its success will depend on whether businesses adopt the marketplace instead of continuing to build their own AI integrations or using existing partner APIs</a:t>
            </a:r>
            <a:endParaRPr sz="1100">
              <a:latin typeface="Calibri"/>
              <a:ea typeface="Calibri"/>
              <a:cs typeface="Calibri"/>
              <a:sym typeface="Calibri"/>
            </a:endParaRPr>
          </a:p>
        </p:txBody>
      </p:sp>
      <p:sp>
        <p:nvSpPr>
          <p:cNvPr id="263" name="Google Shape;263;p38"/>
          <p:cNvSpPr txBox="1"/>
          <p:nvPr/>
        </p:nvSpPr>
        <p:spPr>
          <a:xfrm>
            <a:off x="55070" y="1142258"/>
            <a:ext cx="45039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200" b="1">
                <a:solidFill>
                  <a:srgbClr val="FF0000"/>
                </a:solidFill>
                <a:latin typeface="Calibri"/>
                <a:ea typeface="Calibri"/>
                <a:cs typeface="Calibri"/>
                <a:sym typeface="Calibri"/>
              </a:rPr>
              <a:t>OpenAI revises military AI deal with US Government</a:t>
            </a:r>
            <a:br>
              <a:rPr lang="en" sz="1100">
                <a:latin typeface="Calibri"/>
                <a:ea typeface="Calibri"/>
                <a:cs typeface="Calibri"/>
                <a:sym typeface="Calibri"/>
              </a:rPr>
            </a:br>
            <a:r>
              <a:rPr lang="en" sz="1100">
                <a:latin typeface="Calibri"/>
                <a:ea typeface="Calibri"/>
                <a:cs typeface="Calibri"/>
                <a:sym typeface="Calibri"/>
              </a:rPr>
              <a:t>after criticism that the original deal was rushed and lacked clear safeguards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updated terms explicitly prohibit using OpenAI’s systems for domestic surveillance of U.S. citizens and require additional approval before intelligence agencies like the NSA can use the technology.</a:t>
            </a:r>
            <a:endParaRPr sz="1100">
              <a:latin typeface="Calibri"/>
              <a:ea typeface="Calibri"/>
              <a:cs typeface="Calibri"/>
              <a:sym typeface="Calibri"/>
            </a:endParaRPr>
          </a:p>
        </p:txBody>
      </p:sp>
      <p:pic>
        <p:nvPicPr>
          <p:cNvPr id="264" name="Google Shape;264;p3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19425" y="63650"/>
            <a:ext cx="3482861" cy="1959101"/>
          </a:xfrm>
          <a:prstGeom prst="rect">
            <a:avLst/>
          </a:prstGeom>
          <a:noFill/>
          <a:ln w="9525" cap="flat" cmpd="sng">
            <a:solidFill>
              <a:srgbClr val="FF0000"/>
            </a:solidFill>
            <a:prstDash val="solid"/>
            <a:round/>
            <a:headEnd type="none" w="sm" len="sm"/>
            <a:tailEnd type="none" w="sm" len="sm"/>
          </a:ln>
        </p:spPr>
      </p:pic>
      <p:pic>
        <p:nvPicPr>
          <p:cNvPr id="265" name="Google Shape;265;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11374" y="2175150"/>
            <a:ext cx="3726700" cy="15528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9"/>
          <p:cNvSpPr txBox="1"/>
          <p:nvPr/>
        </p:nvSpPr>
        <p:spPr>
          <a:xfrm>
            <a:off x="55075" y="63650"/>
            <a:ext cx="431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Intel 18A Manufacturing Process</a:t>
            </a:r>
            <a:endParaRPr sz="2000" b="1">
              <a:solidFill>
                <a:schemeClr val="dk1"/>
              </a:solidFill>
              <a:latin typeface="Calibri"/>
              <a:ea typeface="Calibri"/>
              <a:cs typeface="Calibri"/>
              <a:sym typeface="Calibri"/>
            </a:endParaRPr>
          </a:p>
        </p:txBody>
      </p:sp>
      <p:sp>
        <p:nvSpPr>
          <p:cNvPr id="271" name="Google Shape;271;p39"/>
          <p:cNvSpPr txBox="1"/>
          <p:nvPr/>
        </p:nvSpPr>
        <p:spPr>
          <a:xfrm>
            <a:off x="4648950" y="2142050"/>
            <a:ext cx="43998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2021: Intel announces “5 nodes in 4 years” (Intel 4, 3, 20A, 18A), with RibbonFET and PowerVia planned for 20A/18A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2022–2023: Intel 4 and then Intel 3 enter production for Meteor Lake client and Xeon data‑center chips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March 2023: Intel finalizes process rules for Intel 20A and 18A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Mid‑2023: PowerVia test chips demonstrate working backside power delivery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2024: Intel deprioritizes 20A for high‑volume client products (Arrow Lake leans heavily on TSMC), using 20A mainly as a learning node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2025: Intel 18A achieves production‑viable defect density and begins risk/early production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January 2026: Intel 18A enters high‑volume production; first 18A‑based Core Ultra Series 3 mobile CPUs are announced, with systems shipping during 2026</a:t>
            </a:r>
            <a:endParaRPr sz="1200">
              <a:latin typeface="Calibri"/>
              <a:ea typeface="Calibri"/>
              <a:cs typeface="Calibri"/>
              <a:sym typeface="Calibri"/>
            </a:endParaRPr>
          </a:p>
        </p:txBody>
      </p:sp>
      <p:sp>
        <p:nvSpPr>
          <p:cNvPr id="272" name="Google Shape;272;p39"/>
          <p:cNvSpPr txBox="1"/>
          <p:nvPr/>
        </p:nvSpPr>
        <p:spPr>
          <a:xfrm>
            <a:off x="55075" y="587675"/>
            <a:ext cx="43998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Intel 18A process, RibbonFET, PowerVia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"18A" name refers to 1.8 nm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RibbonFET - new type of transistor where the gate surrounds the channel on all sides. This replaces the older "FinFET" design to provide better control over electricity, reducing leaks and heat while allowing the chips to get even smaller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PowerVia (moving power delivery to the back of the chip) - reduces power loss by 30% and allows for much higher transistor density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While TSMC and Samsung are working on similar backside power technologies, they aren't expected to release them until late 2026 or 2027. Intel, however, is already launching products using 18A in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Intel Core Ultra Series 3 (Panther Lake architecture)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Major manufacturers like Acer, Dell, and Samsung are already releasing laptops with these processors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Intel is also targeting the handheld gaming market, claiming a 70% performance boost for portable devices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Ultimately, the 18A process is Intel’s "all-in" bet to reclaim its crown as the world's leading chipmaker</a:t>
            </a:r>
            <a:endParaRPr sz="1200">
              <a:latin typeface="Calibri"/>
              <a:ea typeface="Calibri"/>
              <a:cs typeface="Calibri"/>
              <a:sym typeface="Calibri"/>
            </a:endParaRPr>
          </a:p>
        </p:txBody>
      </p:sp>
      <p:pic>
        <p:nvPicPr>
          <p:cNvPr id="273" name="Google Shape;273;p3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438200" y="194800"/>
            <a:ext cx="3610545" cy="18372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40"/>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Leopold Aschenbrenner Investments </a:t>
            </a:r>
            <a:endParaRPr sz="2000" b="1">
              <a:solidFill>
                <a:schemeClr val="dk1"/>
              </a:solidFill>
              <a:latin typeface="Calibri"/>
              <a:ea typeface="Calibri"/>
              <a:cs typeface="Calibri"/>
              <a:sym typeface="Calibri"/>
            </a:endParaRPr>
          </a:p>
        </p:txBody>
      </p:sp>
      <p:sp>
        <p:nvSpPr>
          <p:cNvPr id="279" name="Google Shape;279;p40"/>
          <p:cNvSpPr txBox="1"/>
          <p:nvPr/>
        </p:nvSpPr>
        <p:spPr>
          <a:xfrm>
            <a:off x="108125" y="488725"/>
            <a:ext cx="4405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$255 Mln into $5.5 Bln in ~1.5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Leopold Aschenbrenner, - 24 y.old investor</a:t>
            </a:r>
            <a:br>
              <a:rPr lang="en" sz="1100">
                <a:latin typeface="Calibri"/>
                <a:ea typeface="Calibri"/>
                <a:cs typeface="Calibri"/>
                <a:sym typeface="Calibri"/>
              </a:rPr>
            </a:br>
            <a:r>
              <a:rPr lang="en" sz="1100">
                <a:latin typeface="Calibri"/>
                <a:ea typeface="Calibri"/>
                <a:cs typeface="Calibri"/>
                <a:sym typeface="Calibri"/>
              </a:rPr>
              <a:t>SITUATIONAL AWARENESS LP (SALP) - hedge fund with 2 clients</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3"/>
              </a:rPr>
              <a:t>https://situationalawarenesslp.com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His investment strategy is laid out in his 165‑page essay “Situational Awareness,” where he predicts AGI by 2027 how the AI boom will unfold</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4"/>
              </a:rPr>
              <a:t>https://situational-awareness.ai/wp-content/uploads/2024/06/situationalawareness.pdf</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is a former OpenAI researcher, famously fired after ~ 1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Leopold first rode the GPU/chip boom but is now pivoting from “chips to infrastructure.”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has exited major chip names like Nvidia, Broadcom, TSMC, and Micron, arguing that by 2025–2026 the market will have fully priced in GPUs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believes the new bottleneck is energy and infrastructure - so his largest new positions are highly concentrated bets on power and infrastructure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top holding is Bloom Energy, around 20% of the portfolio, which makes modular solid oxide fuel‑cell systems that can generate electricity from natural gas on‑site next to data centers, bypassing stressed local grids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also invests heavily in CoreWeave, a “neo‑cloud” provider that buys GPUs and handles all the painful physical work - racks, power, cooling, engineering - for AI labs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also invests in Core Scientific - a major supplier that helps set up energy grids for CoreWeave</a:t>
            </a:r>
            <a:endParaRPr sz="1100">
              <a:latin typeface="Calibri"/>
              <a:ea typeface="Calibri"/>
              <a:cs typeface="Calibri"/>
              <a:sym typeface="Calibri"/>
            </a:endParaRPr>
          </a:p>
        </p:txBody>
      </p:sp>
      <p:pic>
        <p:nvPicPr>
          <p:cNvPr id="280" name="Google Shape;280;p4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588339" y="390050"/>
            <a:ext cx="1424188" cy="1853379"/>
          </a:xfrm>
          <a:prstGeom prst="rect">
            <a:avLst/>
          </a:prstGeom>
          <a:noFill/>
          <a:ln w="9525" cap="flat" cmpd="sng">
            <a:solidFill>
              <a:srgbClr val="FF0000"/>
            </a:solidFill>
            <a:prstDash val="solid"/>
            <a:round/>
            <a:headEnd type="none" w="sm" len="sm"/>
            <a:tailEnd type="none" w="sm" len="sm"/>
          </a:ln>
        </p:spPr>
      </p:pic>
      <p:sp>
        <p:nvSpPr>
          <p:cNvPr id="281" name="Google Shape;281;p40"/>
          <p:cNvSpPr txBox="1"/>
          <p:nvPr/>
        </p:nvSpPr>
        <p:spPr>
          <a:xfrm>
            <a:off x="4582970" y="2320783"/>
            <a:ext cx="45039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hosts highlight that this lets him sidestep slow, painful permitting: instead of waiting years for grid access like big tech companies, he buys firms that already have it and repurposes them. They admire the simplicity of his logic—Bitcoin miners already have energy and space, AI desperately needs energy and space—and how consistently his earlier GPU thesis has played out.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Leopold shorted </a:t>
            </a:r>
            <a:r>
              <a:rPr lang="en" sz="1100">
                <a:latin typeface="Calibri"/>
                <a:ea typeface="Calibri"/>
                <a:cs typeface="Calibri"/>
                <a:sym typeface="Calibri"/>
              </a:rPr>
              <a:t>Infosys, an Indian IT outsourcing company whose model relies on cheap human labor. He’s betting that modern AI coding and IT tools are now good enough to automate much of this work, making such labor‑arbitrage businesses structurally vulnerable.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AGI‑by‑2027 prediction, noting a Polymarket contract that puts the probability of OpenAI declaring AGI before 2027 at around 13%. They suggest his investment thesis on infrastructure may still be right even if his timing on AGI is off, and emphasize that so far he has correctly anticipated both the GPU rush and, they think, the emerging energy‑infrastructure rush.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6"/>
              </a:rPr>
              <a:t>https://www.youtube.com/watch?v=04Kutj1vAiw</a:t>
            </a:r>
            <a:r>
              <a:rPr lang="en" sz="1100">
                <a:latin typeface="Calibri"/>
                <a:ea typeface="Calibri"/>
                <a:cs typeface="Calibri"/>
                <a:sym typeface="Calibri"/>
              </a:rPr>
              <a:t> </a:t>
            </a:r>
            <a:endParaRPr sz="1100">
              <a:latin typeface="Calibri"/>
              <a:ea typeface="Calibri"/>
              <a:cs typeface="Calibri"/>
              <a:sym typeface="Calibri"/>
            </a:endParaRPr>
          </a:p>
        </p:txBody>
      </p:sp>
      <p:sp>
        <p:nvSpPr>
          <p:cNvPr id="282" name="Google Shape;282;p40"/>
          <p:cNvSpPr txBox="1"/>
          <p:nvPr/>
        </p:nvSpPr>
        <p:spPr>
          <a:xfrm>
            <a:off x="6103942" y="886624"/>
            <a:ext cx="29799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has bought sizable stakes in Bitcoin mining companies, not for crypto, but for their two scarce assets: power hookups and permitted industrial real estate. The thesis is that these miners can pivot their sites from mining to AI data centers (or sell rights/permits), giving Leopold indirect exposure to critical energy and land</a:t>
            </a:r>
            <a:endParaRPr sz="11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41"/>
          <p:cNvSpPr txBox="1"/>
          <p:nvPr/>
        </p:nvSpPr>
        <p:spPr>
          <a:xfrm>
            <a:off x="55075" y="63650"/>
            <a:ext cx="4375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Autoresearch from Andrej Karpathy</a:t>
            </a:r>
            <a:endParaRPr sz="2000" b="1">
              <a:solidFill>
                <a:schemeClr val="dk1"/>
              </a:solidFill>
              <a:latin typeface="Calibri"/>
              <a:ea typeface="Calibri"/>
              <a:cs typeface="Calibri"/>
              <a:sym typeface="Calibri"/>
            </a:endParaRPr>
          </a:p>
        </p:txBody>
      </p:sp>
      <p:sp>
        <p:nvSpPr>
          <p:cNvPr id="288" name="Google Shape;288;p41"/>
          <p:cNvSpPr txBox="1"/>
          <p:nvPr/>
        </p:nvSpPr>
        <p:spPr>
          <a:xfrm>
            <a:off x="55070" y="455183"/>
            <a:ext cx="45039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Autoresearch from Andrej Karpathy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Andrej Karpathy recently introduced autoresearch, an open-source project that transforms a single GPU into an autonomous AI research lab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uses an AI agent to conduct overnight LLM training experiments without human intervention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agent iteratively modifies a single training file, runs five-minute experiments on a nanochat model, and evaluates performance using validation bits per byte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By fixing the time budget, the agent can complete approximately twelve experiments per hour, searching for the most efficient model architecture and hyperparameters for the specific hardware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project demonstrates a shift toward agentic engineering, where AI researchers move from manual coding to overseeing autonomous agents that handle the low-level iteration and optimization of neural networks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https://github.com/karpathy/autoresearch</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https://x.com/karpathy</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https://www.youtube.com/shorts/g7V0UJv9gT4</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https://garryslist.org/posts/karpathy-just-turned-one-gpu-into-a-research-lab-f55754a6</a:t>
            </a:r>
            <a:r>
              <a:rPr lang="en" sz="900">
                <a:latin typeface="Calibri"/>
                <a:ea typeface="Calibri"/>
                <a:cs typeface="Calibri"/>
                <a:sym typeface="Calibri"/>
              </a:rPr>
              <a:t> </a:t>
            </a:r>
            <a:endParaRPr sz="900">
              <a:latin typeface="Calibri"/>
              <a:ea typeface="Calibri"/>
              <a:cs typeface="Calibri"/>
              <a:sym typeface="Calibri"/>
            </a:endParaRPr>
          </a:p>
        </p:txBody>
      </p:sp>
      <p:pic>
        <p:nvPicPr>
          <p:cNvPr id="289" name="Google Shape;289;p41"/>
          <p:cNvPicPr preferRelativeResize="0"/>
          <p:nvPr/>
        </p:nvPicPr>
        <p:blipFill>
          <a:blip r:embed="rId7">
            <a:alphaModFix/>
          </a:blip>
          <a:stretch>
            <a:fillRect/>
          </a:stretch>
        </p:blipFill>
        <p:spPr>
          <a:xfrm>
            <a:off x="4693495" y="152424"/>
            <a:ext cx="3028950" cy="1514475"/>
          </a:xfrm>
          <a:prstGeom prst="rect">
            <a:avLst/>
          </a:prstGeom>
          <a:noFill/>
          <a:ln w="9525" cap="flat" cmpd="sng">
            <a:solidFill>
              <a:srgbClr val="FF0000"/>
            </a:solidFill>
            <a:prstDash val="solid"/>
            <a:round/>
            <a:headEnd type="none" w="sm" len="sm"/>
            <a:tailEnd type="none" w="sm" len="sm"/>
          </a:ln>
        </p:spPr>
      </p:pic>
      <p:sp>
        <p:nvSpPr>
          <p:cNvPr id="290" name="Google Shape;290;p41"/>
          <p:cNvSpPr txBox="1"/>
          <p:nvPr/>
        </p:nvSpPr>
        <p:spPr>
          <a:xfrm>
            <a:off x="4687075" y="1781582"/>
            <a:ext cx="43758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Modeling a fruit fly brain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wired as in nature, inside a 3D simulated fly body so behaviors emerge from biology, not trained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“uploaded” animal walks and reacts realistically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1 year: from a 302‑neuron worm to a ~125k‑neuron fly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Humans ~ 30...80 Bln (only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https://flywire.ai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9"/>
              </a:rPr>
              <a:t>https://x.com/michaelandregg/status/2030764512488677736</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0"/>
              </a:rPr>
              <a:t>https://www.youtube.com/watch?v=N2ccho6ug1w</a:t>
            </a:r>
            <a:r>
              <a:rPr lang="en" sz="1200">
                <a:latin typeface="Calibri"/>
                <a:ea typeface="Calibri"/>
                <a:cs typeface="Calibri"/>
                <a:sym typeface="Calibri"/>
              </a:rPr>
              <a:t> - video</a:t>
            </a:r>
            <a:endParaRPr sz="1200">
              <a:latin typeface="Calibri"/>
              <a:ea typeface="Calibri"/>
              <a:cs typeface="Calibri"/>
              <a:sym typeface="Calibri"/>
            </a:endParaRPr>
          </a:p>
        </p:txBody>
      </p:sp>
      <p:pic>
        <p:nvPicPr>
          <p:cNvPr id="291" name="Google Shape;291;p41"/>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700675" y="3529713"/>
            <a:ext cx="2362200" cy="15144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42"/>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Alibaba’s Qwen Team Restructuring</a:t>
            </a:r>
            <a:endParaRPr sz="2000" b="1">
              <a:solidFill>
                <a:schemeClr val="dk1"/>
              </a:solidFill>
              <a:latin typeface="Calibri"/>
              <a:ea typeface="Calibri"/>
              <a:cs typeface="Calibri"/>
              <a:sym typeface="Calibri"/>
            </a:endParaRPr>
          </a:p>
        </p:txBody>
      </p:sp>
      <p:sp>
        <p:nvSpPr>
          <p:cNvPr id="297" name="Google Shape;297;p42"/>
          <p:cNvSpPr txBox="1"/>
          <p:nvPr/>
        </p:nvSpPr>
        <p:spPr>
          <a:xfrm>
            <a:off x="43820" y="515926"/>
            <a:ext cx="4503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Massive leadership exodus from Alibaba’s Qwen team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Tech lead Junyang Lynn and several core contributors resigned</a:t>
            </a:r>
            <a:r>
              <a:rPr lang="en" sz="1200">
                <a:latin typeface="Calibri"/>
                <a:ea typeface="Calibri"/>
                <a:cs typeface="Calibri"/>
                <a:sym typeface="Calibri"/>
              </a:rPr>
              <a:t> after a corporate restructuring that shifted the team from a fast-moving, vertically integrated unit to a fragmented, "horizontal" module system managed by Alibaba Cloud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This "geminification" prioritizes commercial applications over the development of underlying open-source model capabilities.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Qwen is currently the world’s most downloaded open-source model family, uniquely specializing in small, efficient language models that run on consumer hardware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However, the intense "consumer AI war" in China against ByteDance has weakened Alibaba's incentive to give away high-performance models for free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If Qwen stops its open-source output, it will leave a massive gap in the practical AI ecosystem that no other company is currently positioned to fill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https://www.youtube.com/watch?v=TJ5okrPNmWQ</a:t>
            </a:r>
            <a:endParaRPr sz="1200">
              <a:latin typeface="Calibri"/>
              <a:ea typeface="Calibri"/>
              <a:cs typeface="Calibri"/>
              <a:sym typeface="Calibri"/>
            </a:endParaRPr>
          </a:p>
        </p:txBody>
      </p:sp>
      <p:pic>
        <p:nvPicPr>
          <p:cNvPr id="298" name="Google Shape;298;p4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28398" y="1023321"/>
            <a:ext cx="2931749" cy="1601325"/>
          </a:xfrm>
          <a:prstGeom prst="rect">
            <a:avLst/>
          </a:prstGeom>
          <a:noFill/>
          <a:ln w="9525" cap="flat" cmpd="sng">
            <a:solidFill>
              <a:srgbClr val="FF0000"/>
            </a:solidFill>
            <a:prstDash val="solid"/>
            <a:round/>
            <a:headEnd type="none" w="sm" len="sm"/>
            <a:tailEnd type="none" w="sm" len="sm"/>
          </a:ln>
        </p:spPr>
      </p:pic>
      <p:sp>
        <p:nvSpPr>
          <p:cNvPr id="299" name="Google Shape;299;p42"/>
          <p:cNvSpPr txBox="1"/>
          <p:nvPr/>
        </p:nvSpPr>
        <p:spPr>
          <a:xfrm>
            <a:off x="4828399" y="3787700"/>
            <a:ext cx="34518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Alibaba Qwen 3.5 Medium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v.3.5 35-Bln outperforms </a:t>
            </a:r>
            <a:r>
              <a:rPr lang="en" sz="1100">
                <a:solidFill>
                  <a:schemeClr val="dk1"/>
                </a:solidFill>
                <a:latin typeface="Calibri"/>
                <a:ea typeface="Calibri"/>
                <a:cs typeface="Calibri"/>
                <a:sym typeface="Calibri"/>
              </a:rPr>
              <a:t>v.3.0 </a:t>
            </a:r>
            <a:r>
              <a:rPr lang="en" sz="1100">
                <a:latin typeface="Calibri"/>
                <a:ea typeface="Calibri"/>
                <a:cs typeface="Calibri"/>
                <a:sym typeface="Calibri"/>
              </a:rPr>
              <a:t>235-Bln params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Model efficiency is advancing faster than model scale. </a:t>
            </a:r>
            <a:endParaRPr sz="1100">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43"/>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05" name="Google Shape;305;p43"/>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06" name="Google Shape;306;p43"/>
          <p:cNvSpPr txBox="1"/>
          <p:nvPr/>
        </p:nvSpPr>
        <p:spPr>
          <a:xfrm>
            <a:off x="5259000" y="37989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39K  in 2026 </a:t>
            </a:r>
            <a:r>
              <a:rPr lang="en" sz="1000" b="1">
                <a:solidFill>
                  <a:schemeClr val="dk1"/>
                </a:solidFill>
                <a:latin typeface="Roboto Mono"/>
                <a:ea typeface="Roboto Mono"/>
                <a:cs typeface="Roboto Mono"/>
                <a:sym typeface="Roboto Mono"/>
              </a:rPr>
              <a:t>(as of March 13,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07" name="Google Shape;307;p43"/>
          <p:cNvSpPr txBox="1"/>
          <p:nvPr/>
        </p:nvSpPr>
        <p:spPr>
          <a:xfrm>
            <a:off x="5549900" y="1719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55,775</a:t>
            </a:r>
            <a:r>
              <a:rPr lang="en" sz="1200">
                <a:latin typeface="Calibri"/>
                <a:ea typeface="Calibri"/>
                <a:cs typeface="Calibri"/>
                <a:sym typeface="Calibri"/>
              </a:rPr>
              <a:t> people laid off (775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08" name="Google Shape;308;p4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75" y="419550"/>
            <a:ext cx="5137522" cy="2689438"/>
          </a:xfrm>
          <a:prstGeom prst="rect">
            <a:avLst/>
          </a:prstGeom>
          <a:noFill/>
          <a:ln w="9525" cap="flat" cmpd="sng">
            <a:solidFill>
              <a:srgbClr val="FF0000"/>
            </a:solidFill>
            <a:prstDash val="solid"/>
            <a:round/>
            <a:headEnd type="none" w="sm" len="sm"/>
            <a:tailEnd type="none" w="sm" len="sm"/>
          </a:ln>
        </p:spPr>
      </p:pic>
      <p:pic>
        <p:nvPicPr>
          <p:cNvPr id="309" name="Google Shape;309;p4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3179354"/>
            <a:ext cx="5137523" cy="1930859"/>
          </a:xfrm>
          <a:prstGeom prst="rect">
            <a:avLst/>
          </a:prstGeom>
          <a:noFill/>
          <a:ln w="9525" cap="flat" cmpd="sng">
            <a:solidFill>
              <a:srgbClr val="FF0000"/>
            </a:solidFill>
            <a:prstDash val="solid"/>
            <a:round/>
            <a:headEnd type="none" w="sm" len="sm"/>
            <a:tailEnd type="none" w="sm" len="sm"/>
          </a:ln>
        </p:spPr>
      </p:pic>
      <p:pic>
        <p:nvPicPr>
          <p:cNvPr id="310" name="Google Shape;310;p4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59000" y="1209726"/>
            <a:ext cx="3884999" cy="2279052"/>
          </a:xfrm>
          <a:prstGeom prst="rect">
            <a:avLst/>
          </a:prstGeom>
          <a:noFill/>
          <a:ln w="9525" cap="flat" cmpd="sng">
            <a:solidFill>
              <a:srgbClr val="FF0000"/>
            </a:solidFill>
            <a:prstDash val="solid"/>
            <a:round/>
            <a:headEnd type="none" w="sm" len="sm"/>
            <a:tailEnd type="none" w="sm" len="sm"/>
          </a:ln>
        </p:spPr>
      </p:pic>
      <p:sp>
        <p:nvSpPr>
          <p:cNvPr id="311" name="Google Shape;311;p43"/>
          <p:cNvSpPr txBox="1"/>
          <p:nvPr/>
        </p:nvSpPr>
        <p:spPr>
          <a:xfrm>
            <a:off x="7555150" y="1277750"/>
            <a:ext cx="13350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u="sng">
                <a:solidFill>
                  <a:schemeClr val="hlink"/>
                </a:solidFill>
                <a:hlinkClick r:id="rId8"/>
              </a:rPr>
              <a:t>https://jobloss.ai</a:t>
            </a:r>
            <a:endParaRPr sz="11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pic>
        <p:nvPicPr>
          <p:cNvPr id="316" name="Google Shape;316;p4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17" name="Google Shape;317;p4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18" name="Google Shape;318;p4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19" name="Google Shape;319;p4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20" name="Google Shape;320;p44"/>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21" name="Google Shape;321;p44"/>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45"/>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6555</Words>
  <Application>Microsoft Macintosh PowerPoint</Application>
  <PresentationFormat>On-screen Show (16:9)</PresentationFormat>
  <Paragraphs>613</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2026-03-13T17:41:22Z</dcterms:modified>
</cp:coreProperties>
</file>